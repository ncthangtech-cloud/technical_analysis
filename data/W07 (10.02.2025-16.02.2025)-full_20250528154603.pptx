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theme/themeOverride1.xml" ContentType="application/vnd.openxmlformats-officedocument.themeOverride+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7.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8.xml" ContentType="application/vnd.openxmlformats-officedocument.presentationml.notesSlid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9.xml" ContentType="application/vnd.openxmlformats-officedocument.presentationml.notesSl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0.xml" ContentType="application/vnd.openxmlformats-officedocument.presentationml.notesSlid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charts/chart14.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rts/chart15.xml" ContentType="application/vnd.openxmlformats-officedocument.drawingml.chart+xml"/>
  <Override PartName="/ppt/notesSlides/notesSlide38.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2.xml" ContentType="application/vnd.openxmlformats-officedocument.themeOverride+xml"/>
  <Override PartName="/ppt/notesSlides/notesSlide39.xml" ContentType="application/vnd.openxmlformats-officedocument.presentationml.notesSlid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3.xml" ContentType="application/vnd.openxmlformats-officedocument.themeOverride+xml"/>
  <Override PartName="/ppt/notesSlides/notesSlide40.xml" ContentType="application/vnd.openxmlformats-officedocument.presentationml.notesSlid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4.xml" ContentType="application/vnd.openxmlformats-officedocument.themeOverr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 id="2147483702" r:id="rId5"/>
  </p:sldMasterIdLst>
  <p:notesMasterIdLst>
    <p:notesMasterId r:id="rId77"/>
  </p:notesMasterIdLst>
  <p:sldIdLst>
    <p:sldId id="11486" r:id="rId6"/>
    <p:sldId id="11487" r:id="rId7"/>
    <p:sldId id="11488" r:id="rId8"/>
    <p:sldId id="11666" r:id="rId9"/>
    <p:sldId id="11667" r:id="rId10"/>
    <p:sldId id="11492" r:id="rId11"/>
    <p:sldId id="11493" r:id="rId12"/>
    <p:sldId id="11668" r:id="rId13"/>
    <p:sldId id="11669" r:id="rId14"/>
    <p:sldId id="11670" r:id="rId15"/>
    <p:sldId id="11671" r:id="rId16"/>
    <p:sldId id="11505" r:id="rId17"/>
    <p:sldId id="11672" r:id="rId18"/>
    <p:sldId id="11659" r:id="rId19"/>
    <p:sldId id="11660" r:id="rId20"/>
    <p:sldId id="11673" r:id="rId21"/>
    <p:sldId id="11661" r:id="rId22"/>
    <p:sldId id="11662" r:id="rId23"/>
    <p:sldId id="11674" r:id="rId24"/>
    <p:sldId id="11675" r:id="rId25"/>
    <p:sldId id="11677" r:id="rId26"/>
    <p:sldId id="11678" r:id="rId27"/>
    <p:sldId id="11695" r:id="rId28"/>
    <p:sldId id="11679" r:id="rId29"/>
    <p:sldId id="11680" r:id="rId30"/>
    <p:sldId id="11681" r:id="rId31"/>
    <p:sldId id="11682" r:id="rId32"/>
    <p:sldId id="11683" r:id="rId33"/>
    <p:sldId id="11684" r:id="rId34"/>
    <p:sldId id="11685" r:id="rId35"/>
    <p:sldId id="11686" r:id="rId36"/>
    <p:sldId id="11687" r:id="rId37"/>
    <p:sldId id="11688" r:id="rId38"/>
    <p:sldId id="11689" r:id="rId39"/>
    <p:sldId id="11690" r:id="rId40"/>
    <p:sldId id="11691" r:id="rId41"/>
    <p:sldId id="11692" r:id="rId42"/>
    <p:sldId id="11693" r:id="rId43"/>
    <p:sldId id="11694" r:id="rId44"/>
    <p:sldId id="11663" r:id="rId45"/>
    <p:sldId id="11664" r:id="rId46"/>
    <p:sldId id="11665" r:id="rId47"/>
    <p:sldId id="11656" r:id="rId48"/>
    <p:sldId id="11657" r:id="rId49"/>
    <p:sldId id="11658" r:id="rId50"/>
    <p:sldId id="11655" r:id="rId51"/>
    <p:sldId id="11545" r:id="rId52"/>
    <p:sldId id="11632" r:id="rId53"/>
    <p:sldId id="11633" r:id="rId54"/>
    <p:sldId id="11634" r:id="rId55"/>
    <p:sldId id="11635" r:id="rId56"/>
    <p:sldId id="11636" r:id="rId57"/>
    <p:sldId id="11637" r:id="rId58"/>
    <p:sldId id="11638" r:id="rId59"/>
    <p:sldId id="11639" r:id="rId60"/>
    <p:sldId id="11640" r:id="rId61"/>
    <p:sldId id="11641" r:id="rId62"/>
    <p:sldId id="11642" r:id="rId63"/>
    <p:sldId id="11643" r:id="rId64"/>
    <p:sldId id="11644" r:id="rId65"/>
    <p:sldId id="11645" r:id="rId66"/>
    <p:sldId id="11646" r:id="rId67"/>
    <p:sldId id="11647" r:id="rId68"/>
    <p:sldId id="11648" r:id="rId69"/>
    <p:sldId id="11649" r:id="rId70"/>
    <p:sldId id="11650" r:id="rId71"/>
    <p:sldId id="11651" r:id="rId72"/>
    <p:sldId id="11652" r:id="rId73"/>
    <p:sldId id="11653" r:id="rId74"/>
    <p:sldId id="11654" r:id="rId75"/>
    <p:sldId id="11570" r:id="rId76"/>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499" autoAdjust="0"/>
    <p:restoredTop sz="95337" autoAdjust="0"/>
  </p:normalViewPr>
  <p:slideViewPr>
    <p:cSldViewPr>
      <p:cViewPr varScale="1">
        <p:scale>
          <a:sx n="85" d="100"/>
          <a:sy n="85" d="100"/>
        </p:scale>
        <p:origin x="62" y="120"/>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slide" Target="slides/slide69.xml"/><Relationship Id="rId79"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6.xml"/><Relationship Id="rId82"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dmin\Desktop\TAI%20LIEU%20LAM%20VIEC\MOC\BC_Tu&#226;n\2025\W7\W07%20(10.02.2025-16.02.2025).xlsx"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C:\Users\admin\Desktop\TAI%20LIEU%20LAM%20VIEC\MOC\BC_Tu&#226;n\2025\W7\W07%20(10.02.2025-16.02.2025).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dmin\Desktop\TAI%20LIEU%20LAM%20VIEC\MOC\BC_Tu&#226;n\2025\W7\W07%20(10.02.2025-16.02.2025).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2" Type="http://schemas.openxmlformats.org/officeDocument/2006/relationships/oleObject" Target="file:///C:\Users\admin\Desktop\TAI%20LIEU%20LAM%20VIEC\MOC\BC_Tu&#226;n\2025\W7\W07%20(10.02.2025-16.02.2025).xlsx" TargetMode="External"/><Relationship Id="rId1" Type="http://schemas.openxmlformats.org/officeDocument/2006/relationships/themeOverride" Target="../theme/themeOverride1.xml"/></Relationships>
</file>

<file path=ppt/charts/_rels/chart5.xml.rels><?xml version="1.0" encoding="UTF-8" standalone="yes"?>
<Relationships xmlns="http://schemas.openxmlformats.org/package/2006/relationships"><Relationship Id="rId1" Type="http://schemas.openxmlformats.org/officeDocument/2006/relationships/oleObject" Target="file:///C:\Users\admin\Desktop\TAI%20LIEU%20LAM%20VIEC\MOC\BC_Tu&#226;n\2025\W7\W07%20(10.02.2025-16.02.2025).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admin\Desktop\TAI%20LIEU%20LAM%20VIEC\MOC\BC_Tu&#226;n\2025\W7\W07%20(10.02.2025-16.02.2025).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07\DR\DR-W07.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Ora\AppData\Local\Microsoft\Windows\INetCache\Content.Outlook\8UZL1J7F\Ngu&#7891;n%20l&#7921;c%20&#273;&#7897;ng%20c&#417;%20A321NEO%2013-02-25.xlsx" TargetMode="External"/><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Ora\AppData\Local\Microsoft\Windows\INetCache\Content.Outlook\8UZL1J7F\Ngu&#7891;n%20l&#7921;c%20&#273;&#7897;ng%20c&#417;%20A350%20-%2013-02-25.xlsx" TargetMode="External"/><Relationship Id="rId2" Type="http://schemas.microsoft.com/office/2011/relationships/chartColorStyle" Target="colors8.xml"/><Relationship Id="rId1" Type="http://schemas.microsoft.com/office/2011/relationships/chartStyle" Target="style8.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9.xml"/><Relationship Id="rId1" Type="http://schemas.microsoft.com/office/2011/relationships/chartStyle" Target="style9.xml"/></Relationships>
</file>

<file path=ppt/charts/_rels/chart15.xml.rels><?xml version="1.0" encoding="UTF-8" standalone="yes"?>
<Relationships xmlns="http://schemas.openxmlformats.org/package/2006/relationships"><Relationship Id="rId1" Type="http://schemas.openxmlformats.org/officeDocument/2006/relationships/oleObject" Target="file:///C:\Users\admin\Desktop\TAI%20LIEU%20LAM%20VIEC\MOC\BC_Tu&#226;n\2025\W7\W07%20(10.02.2025-16.02.2025).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B&#225;o%20c&#225;o%20tu&#7847;n\L&#7883;ch%20bay%20h&#224;ng%20tu&#7847;n%202025.xlsx" TargetMode="Externa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layout/>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Chart'!$C$19</c:f>
              <c:strCache>
                <c:ptCount val="1"/>
                <c:pt idx="0">
                  <c:v>Last week</c:v>
                </c:pt>
              </c:strCache>
              <c:extLst xmlns:c15="http://schemas.microsoft.com/office/drawing/2012/chart" xmlns:c16r2="http://schemas.microsoft.com/office/drawing/2015/06/chart"/>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xmlns:c16r2="http://schemas.microsoft.com/office/drawing/2015/06/chart">
              <c:ext xmlns:c15="http://schemas.microsoft.com/office/drawing/2012/chart" uri="{CE6537A1-D6FC-4f65-9D91-7224C49458BB}">
                <c15:layout/>
                <c15:showLeaderLines val="0"/>
              </c:ext>
            </c:extLst>
          </c:dLbls>
          <c:cat>
            <c:strRef>
              <c:f>'Data Chart'!$B$20:$B$25</c:f>
              <c:strCache>
                <c:ptCount val="6"/>
                <c:pt idx="0">
                  <c:v>A320</c:v>
                </c:pt>
                <c:pt idx="1">
                  <c:v>A321</c:v>
                </c:pt>
                <c:pt idx="2">
                  <c:v>A350</c:v>
                </c:pt>
                <c:pt idx="3">
                  <c:v>B787</c:v>
                </c:pt>
                <c:pt idx="4">
                  <c:v>ATR72</c:v>
                </c:pt>
                <c:pt idx="5">
                  <c:v>Tất cả</c:v>
                </c:pt>
              </c:strCache>
              <c:extLst xmlns:c15="http://schemas.microsoft.com/office/drawing/2012/chart" xmlns:c16r2="http://schemas.microsoft.com/office/drawing/2015/06/chart"/>
            </c:strRef>
          </c:cat>
          <c:val>
            <c:numRef>
              <c:f>'Data Chart'!$C$20:$C$25</c:f>
              <c:numCache>
                <c:formatCode>General</c:formatCode>
                <c:ptCount val="6"/>
                <c:pt idx="0">
                  <c:v>0</c:v>
                </c:pt>
                <c:pt idx="1">
                  <c:v>0</c:v>
                </c:pt>
                <c:pt idx="2">
                  <c:v>0</c:v>
                </c:pt>
                <c:pt idx="3">
                  <c:v>1</c:v>
                </c:pt>
                <c:pt idx="4">
                  <c:v>0</c:v>
                </c:pt>
                <c:pt idx="5">
                  <c:v>1</c:v>
                </c:pt>
              </c:numCache>
              <c:extLst xmlns:c15="http://schemas.microsoft.com/office/drawing/2012/chart" xmlns:c16r2="http://schemas.microsoft.com/office/drawing/2015/06/chart"/>
            </c:numRef>
          </c:val>
          <c:extLst xmlns:c15="http://schemas.microsoft.com/office/drawing/2012/chart" xmlns:c16r2="http://schemas.microsoft.com/office/drawing/2015/06/chart">
            <c:ext xmlns:c16="http://schemas.microsoft.com/office/drawing/2014/chart" uri="{C3380CC4-5D6E-409C-BE32-E72D297353CC}">
              <c16:uniqueId val="{00000000-0E35-42B1-820D-A766D43F353C}"/>
            </c:ext>
          </c:extLst>
        </c:ser>
        <c:ser>
          <c:idx val="1"/>
          <c:order val="1"/>
          <c:tx>
            <c:strRef>
              <c:f>'Data Chart'!$D$19</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'Data Chart'!$B$20:$B$25</c:f>
              <c:strCache>
                <c:ptCount val="6"/>
                <c:pt idx="0">
                  <c:v>A320</c:v>
                </c:pt>
                <c:pt idx="1">
                  <c:v>A321</c:v>
                </c:pt>
                <c:pt idx="2">
                  <c:v>A350</c:v>
                </c:pt>
                <c:pt idx="3">
                  <c:v>B787</c:v>
                </c:pt>
                <c:pt idx="4">
                  <c:v>ATR72</c:v>
                </c:pt>
                <c:pt idx="5">
                  <c:v>Tất cả</c:v>
                </c:pt>
              </c:strCache>
            </c:strRef>
          </c:cat>
          <c:val>
            <c:numRef>
              <c:f>'Data Chart'!$D$20:$D$25</c:f>
              <c:numCache>
                <c:formatCode>General</c:formatCode>
                <c:ptCount val="6"/>
                <c:pt idx="0">
                  <c:v>0</c:v>
                </c:pt>
                <c:pt idx="1">
                  <c:v>1</c:v>
                </c:pt>
                <c:pt idx="2">
                  <c:v>0</c:v>
                </c:pt>
                <c:pt idx="3">
                  <c:v>0</c:v>
                </c:pt>
                <c:pt idx="4">
                  <c:v>2</c:v>
                </c:pt>
                <c:pt idx="5">
                  <c:v>3</c:v>
                </c:pt>
              </c:numCache>
            </c:numRef>
          </c:val>
          <c:extLst xmlns:c16r2="http://schemas.microsoft.com/office/drawing/2015/06/chart">
            <c:ext xmlns:c16="http://schemas.microsoft.com/office/drawing/2014/chart" uri="{C3380CC4-5D6E-409C-BE32-E72D297353CC}">
              <c16:uniqueId val="{00000001-0E35-42B1-820D-A766D43F353C}"/>
            </c:ext>
          </c:extLst>
        </c:ser>
        <c:dLbls>
          <c:showLegendKey val="0"/>
          <c:showVal val="0"/>
          <c:showCatName val="0"/>
          <c:showSerName val="0"/>
          <c:showPercent val="0"/>
          <c:showBubbleSize val="0"/>
        </c:dLbls>
        <c:gapWidth val="219"/>
        <c:overlap val="-27"/>
        <c:axId val="247595136"/>
        <c:axId val="247608664"/>
        <c:extLst xmlns:c16r2="http://schemas.microsoft.com/office/drawing/2015/06/chart"/>
      </c:barChart>
      <c:catAx>
        <c:axId val="2475951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47608664"/>
        <c:crosses val="autoZero"/>
        <c:auto val="1"/>
        <c:lblAlgn val="ctr"/>
        <c:lblOffset val="100"/>
        <c:noMultiLvlLbl val="0"/>
      </c:catAx>
      <c:valAx>
        <c:axId val="2476086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47595136"/>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Chart'!$C$1</c:f>
              <c:strCache>
                <c:ptCount val="1"/>
                <c:pt idx="0">
                  <c:v>Last week</c:v>
                </c:pt>
              </c:strCache>
              <c:extLst xmlns:c15="http://schemas.microsoft.com/office/drawing/2012/chart" xmlns:c16r2="http://schemas.microsoft.com/office/drawing/2015/06/chart"/>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xmlns:c16r2="http://schemas.microsoft.com/office/drawing/2015/06/chart">
              <c:ext xmlns:c15="http://schemas.microsoft.com/office/drawing/2012/chart" uri="{CE6537A1-D6FC-4f65-9D91-7224C49458BB}">
                <c15:layout/>
                <c15:showLeaderLines val="0"/>
              </c:ext>
            </c:extLst>
          </c:dLbls>
          <c:cat>
            <c:strRef>
              <c:f>'Data Chart'!$B$2:$B$7</c:f>
              <c:strCache>
                <c:ptCount val="6"/>
                <c:pt idx="0">
                  <c:v>A320</c:v>
                </c:pt>
                <c:pt idx="1">
                  <c:v>A321</c:v>
                </c:pt>
                <c:pt idx="2">
                  <c:v>A350</c:v>
                </c:pt>
                <c:pt idx="3">
                  <c:v>B787</c:v>
                </c:pt>
                <c:pt idx="4">
                  <c:v>ATR72</c:v>
                </c:pt>
                <c:pt idx="5">
                  <c:v>Tất cả</c:v>
                </c:pt>
              </c:strCache>
              <c:extLst xmlns:c15="http://schemas.microsoft.com/office/drawing/2012/chart" xmlns:c16r2="http://schemas.microsoft.com/office/drawing/2015/06/chart"/>
            </c:strRef>
          </c:cat>
          <c:val>
            <c:numRef>
              <c:f>'Data Chart'!$C$2:$C$7</c:f>
              <c:numCache>
                <c:formatCode>General</c:formatCode>
                <c:ptCount val="6"/>
                <c:pt idx="0">
                  <c:v>0</c:v>
                </c:pt>
                <c:pt idx="1">
                  <c:v>0</c:v>
                </c:pt>
                <c:pt idx="2">
                  <c:v>0</c:v>
                </c:pt>
                <c:pt idx="3">
                  <c:v>0</c:v>
                </c:pt>
                <c:pt idx="4">
                  <c:v>0</c:v>
                </c:pt>
                <c:pt idx="5">
                  <c:v>0</c:v>
                </c:pt>
              </c:numCache>
              <c:extLst xmlns:c15="http://schemas.microsoft.com/office/drawing/2012/chart" xmlns:c16r2="http://schemas.microsoft.com/office/drawing/2015/06/chart"/>
            </c:numRef>
          </c:val>
          <c:extLst xmlns:c15="http://schemas.microsoft.com/office/drawing/2012/chart" xmlns:c16r2="http://schemas.microsoft.com/office/drawing/2015/06/chart">
            <c:ext xmlns:c16="http://schemas.microsoft.com/office/drawing/2014/chart" uri="{C3380CC4-5D6E-409C-BE32-E72D297353CC}">
              <c16:uniqueId val="{00000000-862B-4DB2-A40D-ADE911E9E1B4}"/>
            </c:ext>
          </c:extLst>
        </c:ser>
        <c:ser>
          <c:idx val="1"/>
          <c:order val="1"/>
          <c:tx>
            <c:strRef>
              <c:f>'Data Chart'!$D$1</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'Data Chart'!$B$2:$B$7</c:f>
              <c:strCache>
                <c:ptCount val="6"/>
                <c:pt idx="0">
                  <c:v>A320</c:v>
                </c:pt>
                <c:pt idx="1">
                  <c:v>A321</c:v>
                </c:pt>
                <c:pt idx="2">
                  <c:v>A350</c:v>
                </c:pt>
                <c:pt idx="3">
                  <c:v>B787</c:v>
                </c:pt>
                <c:pt idx="4">
                  <c:v>ATR72</c:v>
                </c:pt>
                <c:pt idx="5">
                  <c:v>Tất cả</c:v>
                </c:pt>
              </c:strCache>
            </c:strRef>
          </c:cat>
          <c:val>
            <c:numRef>
              <c:f>'Data Chart'!$D$2:$D$7</c:f>
              <c:numCache>
                <c:formatCode>General</c:formatCode>
                <c:ptCount val="6"/>
                <c:pt idx="0">
                  <c:v>0</c:v>
                </c:pt>
                <c:pt idx="1">
                  <c:v>1</c:v>
                </c:pt>
                <c:pt idx="2">
                  <c:v>0</c:v>
                </c:pt>
                <c:pt idx="3">
                  <c:v>0</c:v>
                </c:pt>
                <c:pt idx="4">
                  <c:v>1</c:v>
                </c:pt>
                <c:pt idx="5">
                  <c:v>2</c:v>
                </c:pt>
              </c:numCache>
            </c:numRef>
          </c:val>
          <c:extLst xmlns:c16r2="http://schemas.microsoft.com/office/drawing/2015/06/chart">
            <c:ext xmlns:c16="http://schemas.microsoft.com/office/drawing/2014/chart" uri="{C3380CC4-5D6E-409C-BE32-E72D297353CC}">
              <c16:uniqueId val="{00000001-862B-4DB2-A40D-ADE911E9E1B4}"/>
            </c:ext>
          </c:extLst>
        </c:ser>
        <c:dLbls>
          <c:dLblPos val="outEnd"/>
          <c:showLegendKey val="0"/>
          <c:showVal val="1"/>
          <c:showCatName val="0"/>
          <c:showSerName val="0"/>
          <c:showPercent val="0"/>
          <c:showBubbleSize val="0"/>
        </c:dLbls>
        <c:gapWidth val="219"/>
        <c:overlap val="-27"/>
        <c:axId val="247096120"/>
        <c:axId val="275338168"/>
        <c:extLst xmlns:c16r2="http://schemas.microsoft.com/office/drawing/2015/06/chart"/>
      </c:barChart>
      <c:catAx>
        <c:axId val="247096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5338168"/>
        <c:crosses val="autoZero"/>
        <c:auto val="1"/>
        <c:lblAlgn val="ctr"/>
        <c:lblOffset val="100"/>
        <c:noMultiLvlLbl val="0"/>
      </c:catAx>
      <c:valAx>
        <c:axId val="275338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47096120"/>
        <c:crosses val="autoZero"/>
        <c:crossBetween val="between"/>
        <c:majorUnit val="3"/>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Chart'!$C$26</c:f>
              <c:strCache>
                <c:ptCount val="1"/>
                <c:pt idx="0">
                  <c:v>Last week</c:v>
                </c:pt>
              </c:strCache>
              <c:extLst xmlns:c15="http://schemas.microsoft.com/office/drawing/2012/chart" xmlns:c16r2="http://schemas.microsoft.com/office/drawing/2015/06/chart"/>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xmlns:c16r2="http://schemas.microsoft.com/office/drawing/2015/06/chart">
              <c:ext xmlns:c15="http://schemas.microsoft.com/office/drawing/2012/chart" uri="{CE6537A1-D6FC-4f65-9D91-7224C49458BB}">
                <c15:layout/>
                <c15:showLeaderLines val="0"/>
              </c:ext>
            </c:extLst>
          </c:dLbls>
          <c:cat>
            <c:strRef>
              <c:f>'Data Chart'!$B$27:$B$32</c:f>
              <c:strCache>
                <c:ptCount val="6"/>
                <c:pt idx="0">
                  <c:v>A320</c:v>
                </c:pt>
                <c:pt idx="1">
                  <c:v>A321</c:v>
                </c:pt>
                <c:pt idx="2">
                  <c:v>A350</c:v>
                </c:pt>
                <c:pt idx="3">
                  <c:v>B787</c:v>
                </c:pt>
                <c:pt idx="4">
                  <c:v>ATR72</c:v>
                </c:pt>
                <c:pt idx="5">
                  <c:v>Tất cả</c:v>
                </c:pt>
              </c:strCache>
              <c:extLst xmlns:c15="http://schemas.microsoft.com/office/drawing/2012/chart" xmlns:c16r2="http://schemas.microsoft.com/office/drawing/2015/06/chart"/>
            </c:strRef>
          </c:cat>
          <c:val>
            <c:numRef>
              <c:f>'Data Chart'!$C$27:$C$32</c:f>
              <c:numCache>
                <c:formatCode>General</c:formatCode>
                <c:ptCount val="6"/>
                <c:pt idx="0">
                  <c:v>0</c:v>
                </c:pt>
                <c:pt idx="1">
                  <c:v>0</c:v>
                </c:pt>
                <c:pt idx="2">
                  <c:v>0</c:v>
                </c:pt>
                <c:pt idx="3">
                  <c:v>0</c:v>
                </c:pt>
                <c:pt idx="4">
                  <c:v>0</c:v>
                </c:pt>
                <c:pt idx="5">
                  <c:v>0</c:v>
                </c:pt>
              </c:numCache>
              <c:extLst xmlns:c15="http://schemas.microsoft.com/office/drawing/2012/chart" xmlns:c16r2="http://schemas.microsoft.com/office/drawing/2015/06/chart"/>
            </c:numRef>
          </c:val>
          <c:extLst xmlns:c15="http://schemas.microsoft.com/office/drawing/2012/chart" xmlns:c16r2="http://schemas.microsoft.com/office/drawing/2015/06/chart">
            <c:ext xmlns:c16="http://schemas.microsoft.com/office/drawing/2014/chart" uri="{C3380CC4-5D6E-409C-BE32-E72D297353CC}">
              <c16:uniqueId val="{00000000-48D5-40BD-BEF8-F3AC7FAF9995}"/>
            </c:ext>
          </c:extLst>
        </c:ser>
        <c:ser>
          <c:idx val="1"/>
          <c:order val="1"/>
          <c:tx>
            <c:strRef>
              <c:f>'Data Chart'!$D$26</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'Data Chart'!$B$27:$B$32</c:f>
              <c:strCache>
                <c:ptCount val="6"/>
                <c:pt idx="0">
                  <c:v>A320</c:v>
                </c:pt>
                <c:pt idx="1">
                  <c:v>A321</c:v>
                </c:pt>
                <c:pt idx="2">
                  <c:v>A350</c:v>
                </c:pt>
                <c:pt idx="3">
                  <c:v>B787</c:v>
                </c:pt>
                <c:pt idx="4">
                  <c:v>ATR72</c:v>
                </c:pt>
                <c:pt idx="5">
                  <c:v>Tất cả</c:v>
                </c:pt>
              </c:strCache>
            </c:strRef>
          </c:cat>
          <c:val>
            <c:numRef>
              <c:f>'Data Chart'!$D$27:$D$32</c:f>
              <c:numCache>
                <c:formatCode>General</c:formatCode>
                <c:ptCount val="6"/>
                <c:pt idx="0">
                  <c:v>0</c:v>
                </c:pt>
                <c:pt idx="1">
                  <c:v>0</c:v>
                </c:pt>
                <c:pt idx="2">
                  <c:v>0</c:v>
                </c:pt>
                <c:pt idx="3">
                  <c:v>0</c:v>
                </c:pt>
                <c:pt idx="4">
                  <c:v>0</c:v>
                </c:pt>
                <c:pt idx="5">
                  <c:v>0</c:v>
                </c:pt>
              </c:numCache>
            </c:numRef>
          </c:val>
          <c:extLst xmlns:c16r2="http://schemas.microsoft.com/office/drawing/2015/06/chart">
            <c:ext xmlns:c16="http://schemas.microsoft.com/office/drawing/2014/chart" uri="{C3380CC4-5D6E-409C-BE32-E72D297353CC}">
              <c16:uniqueId val="{00000001-48D5-40BD-BEF8-F3AC7FAF9995}"/>
            </c:ext>
          </c:extLst>
        </c:ser>
        <c:dLbls>
          <c:showLegendKey val="0"/>
          <c:showVal val="0"/>
          <c:showCatName val="0"/>
          <c:showSerName val="0"/>
          <c:showPercent val="0"/>
          <c:showBubbleSize val="0"/>
        </c:dLbls>
        <c:gapWidth val="219"/>
        <c:overlap val="-27"/>
        <c:axId val="247748960"/>
        <c:axId val="247749344"/>
        <c:extLst xmlns:c16r2="http://schemas.microsoft.com/office/drawing/2015/06/chart"/>
      </c:barChart>
      <c:catAx>
        <c:axId val="247748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47749344"/>
        <c:crosses val="autoZero"/>
        <c:auto val="1"/>
        <c:lblAlgn val="ctr"/>
        <c:lblOffset val="100"/>
        <c:noMultiLvlLbl val="0"/>
      </c:catAx>
      <c:valAx>
        <c:axId val="2477493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47748960"/>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Chart'!$C$9</c:f>
              <c:strCache>
                <c:ptCount val="1"/>
                <c:pt idx="0">
                  <c:v>Last week</c:v>
                </c:pt>
              </c:strCache>
              <c:extLst xmlns:c16r2="http://schemas.microsoft.com/office/drawing/2015/06/chart" xmlns:c15="http://schemas.microsoft.com/office/drawing/2012/chart"/>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xmlns:c15="http://schemas.microsoft.com/office/drawing/2012/chart">
              <c:ext xmlns:c15="http://schemas.microsoft.com/office/drawing/2012/chart" uri="{CE6537A1-D6FC-4f65-9D91-7224C49458BB}">
                <c15:layout/>
                <c15:showLeaderLines val="0"/>
              </c:ext>
            </c:extLst>
          </c:dLbls>
          <c:cat>
            <c:strRef>
              <c:f>'Data Chart'!$B$10:$B$15</c:f>
              <c:strCache>
                <c:ptCount val="6"/>
                <c:pt idx="0">
                  <c:v>A320</c:v>
                </c:pt>
                <c:pt idx="1">
                  <c:v>A321</c:v>
                </c:pt>
                <c:pt idx="2">
                  <c:v>A350</c:v>
                </c:pt>
                <c:pt idx="3">
                  <c:v>B787</c:v>
                </c:pt>
                <c:pt idx="4">
                  <c:v>ATR72</c:v>
                </c:pt>
                <c:pt idx="5">
                  <c:v>Tất cả</c:v>
                </c:pt>
              </c:strCache>
              <c:extLst xmlns:c16r2="http://schemas.microsoft.com/office/drawing/2015/06/chart" xmlns:c15="http://schemas.microsoft.com/office/drawing/2012/chart"/>
            </c:strRef>
          </c:cat>
          <c:val>
            <c:numRef>
              <c:f>'Data Chart'!$C$10:$C$15</c:f>
              <c:numCache>
                <c:formatCode>General</c:formatCode>
                <c:ptCount val="6"/>
                <c:pt idx="0">
                  <c:v>0</c:v>
                </c:pt>
                <c:pt idx="1">
                  <c:v>2</c:v>
                </c:pt>
                <c:pt idx="2">
                  <c:v>4</c:v>
                </c:pt>
                <c:pt idx="3">
                  <c:v>4</c:v>
                </c:pt>
                <c:pt idx="4">
                  <c:v>1</c:v>
                </c:pt>
                <c:pt idx="5">
                  <c:v>11</c:v>
                </c:pt>
              </c:numCache>
              <c:extLst xmlns:c16r2="http://schemas.microsoft.com/office/drawing/2015/06/chart" xmlns:c15="http://schemas.microsoft.com/office/drawing/2012/chart"/>
            </c:numRef>
          </c:val>
          <c:extLst xmlns:c16r2="http://schemas.microsoft.com/office/drawing/2015/06/chart" xmlns:c15="http://schemas.microsoft.com/office/drawing/2012/chart">
            <c:ext xmlns:c16="http://schemas.microsoft.com/office/drawing/2014/chart" uri="{C3380CC4-5D6E-409C-BE32-E72D297353CC}">
              <c16:uniqueId val="{00000000-74B8-4464-8585-BDAC8333DAD3}"/>
            </c:ext>
          </c:extLst>
        </c:ser>
        <c:ser>
          <c:idx val="1"/>
          <c:order val="1"/>
          <c:tx>
            <c:strRef>
              <c:f>'Data Chart'!$D$9</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'Data Chart'!$B$10:$B$15</c:f>
              <c:strCache>
                <c:ptCount val="6"/>
                <c:pt idx="0">
                  <c:v>A320</c:v>
                </c:pt>
                <c:pt idx="1">
                  <c:v>A321</c:v>
                </c:pt>
                <c:pt idx="2">
                  <c:v>A350</c:v>
                </c:pt>
                <c:pt idx="3">
                  <c:v>B787</c:v>
                </c:pt>
                <c:pt idx="4">
                  <c:v>ATR72</c:v>
                </c:pt>
                <c:pt idx="5">
                  <c:v>Tất cả</c:v>
                </c:pt>
              </c:strCache>
            </c:strRef>
          </c:cat>
          <c:val>
            <c:numRef>
              <c:f>'Data Chart'!$D$10:$D$15</c:f>
              <c:numCache>
                <c:formatCode>General</c:formatCode>
                <c:ptCount val="6"/>
                <c:pt idx="0">
                  <c:v>0</c:v>
                </c:pt>
                <c:pt idx="1">
                  <c:v>2</c:v>
                </c:pt>
                <c:pt idx="2">
                  <c:v>0</c:v>
                </c:pt>
                <c:pt idx="3">
                  <c:v>1</c:v>
                </c:pt>
                <c:pt idx="4">
                  <c:v>2</c:v>
                </c:pt>
                <c:pt idx="5">
                  <c:v>5</c:v>
                </c:pt>
              </c:numCache>
            </c:numRef>
          </c:val>
          <c:extLst xmlns:c16r2="http://schemas.microsoft.com/office/drawing/2015/06/chart">
            <c:ext xmlns:c16="http://schemas.microsoft.com/office/drawing/2014/chart" uri="{C3380CC4-5D6E-409C-BE32-E72D297353CC}">
              <c16:uniqueId val="{00000001-74B8-4464-8585-BDAC8333DAD3}"/>
            </c:ext>
          </c:extLst>
        </c:ser>
        <c:dLbls>
          <c:dLblPos val="outEnd"/>
          <c:showLegendKey val="0"/>
          <c:showVal val="1"/>
          <c:showCatName val="0"/>
          <c:showSerName val="0"/>
          <c:showPercent val="0"/>
          <c:showBubbleSize val="0"/>
        </c:dLbls>
        <c:gapWidth val="219"/>
        <c:overlap val="-27"/>
        <c:axId val="246576472"/>
        <c:axId val="246577256"/>
        <c:extLst xmlns:c16r2="http://schemas.microsoft.com/office/drawing/2015/06/chart"/>
      </c:barChart>
      <c:catAx>
        <c:axId val="2465764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246577256"/>
        <c:crosses val="autoZero"/>
        <c:auto val="1"/>
        <c:lblAlgn val="ctr"/>
        <c:lblOffset val="100"/>
        <c:noMultiLvlLbl val="0"/>
      </c:catAx>
      <c:valAx>
        <c:axId val="2465772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246576472"/>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layout/>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xmlns:c16r2="http://schemas.microsoft.com/office/drawing/2015/06/chart">
            <c:ext xmlns:c16="http://schemas.microsoft.com/office/drawing/2014/chart" uri="{C3380CC4-5D6E-409C-BE32-E72D297353CC}">
              <c16:uniqueId val="{00000000-7947-47E7-8A47-4B54E005FA44}"/>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pt idx="5">
                  <c:v>0</c:v>
                </c:pt>
                <c:pt idx="6">
                  <c:v>0</c:v>
                </c:pt>
              </c:numCache>
            </c:numRef>
          </c:val>
          <c:smooth val="0"/>
          <c:extLst xmlns:c16r2="http://schemas.microsoft.com/office/drawing/2015/06/chart">
            <c:ext xmlns:c16="http://schemas.microsoft.com/office/drawing/2014/chart" uri="{C3380CC4-5D6E-409C-BE32-E72D297353CC}">
              <c16:uniqueId val="{00000001-7947-47E7-8A47-4B54E005FA44}"/>
            </c:ext>
          </c:extLst>
        </c:ser>
        <c:dLbls>
          <c:showLegendKey val="0"/>
          <c:showVal val="0"/>
          <c:showCatName val="0"/>
          <c:showSerName val="0"/>
          <c:showPercent val="0"/>
          <c:showBubbleSize val="0"/>
        </c:dLbls>
        <c:marker val="1"/>
        <c:smooth val="0"/>
        <c:axId val="246575688"/>
        <c:axId val="246574120"/>
      </c:lineChart>
      <c:catAx>
        <c:axId val="24657568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46574120"/>
        <c:crosses val="autoZero"/>
        <c:auto val="1"/>
        <c:lblAlgn val="ctr"/>
        <c:lblOffset val="100"/>
        <c:noMultiLvlLbl val="0"/>
      </c:catAx>
      <c:valAx>
        <c:axId val="246574120"/>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46575688"/>
        <c:crosses val="autoZero"/>
        <c:crossBetween val="between"/>
        <c:majorUnit val="1"/>
        <c:minorUnit val="1"/>
      </c:valAx>
      <c:spPr>
        <a:noFill/>
        <a:ln>
          <a:solidFill>
            <a:schemeClr val="tx1">
              <a:lumMod val="25000"/>
              <a:lumOff val="75000"/>
            </a:schemeClr>
          </a:solid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layout/>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xmlns:c16r2="http://schemas.microsoft.com/office/drawing/2015/06/chart">
            <c:ext xmlns:c16="http://schemas.microsoft.com/office/drawing/2014/chart" uri="{C3380CC4-5D6E-409C-BE32-E72D297353CC}">
              <c16:uniqueId val="{00000000-8DC2-4125-B660-531F5DDD8413}"/>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pt idx="6">
                  <c:v>3</c:v>
                </c:pt>
              </c:numCache>
            </c:numRef>
          </c:val>
          <c:smooth val="0"/>
          <c:extLst xmlns:c16r2="http://schemas.microsoft.com/office/drawing/2015/06/chart">
            <c:ext xmlns:c16="http://schemas.microsoft.com/office/drawing/2014/chart" uri="{C3380CC4-5D6E-409C-BE32-E72D297353CC}">
              <c16:uniqueId val="{00000001-8DC2-4125-B660-531F5DDD8413}"/>
            </c:ext>
          </c:extLst>
        </c:ser>
        <c:dLbls>
          <c:showLegendKey val="0"/>
          <c:showVal val="0"/>
          <c:showCatName val="0"/>
          <c:showSerName val="0"/>
          <c:showPercent val="0"/>
          <c:showBubbleSize val="0"/>
        </c:dLbls>
        <c:marker val="1"/>
        <c:smooth val="0"/>
        <c:axId val="274821688"/>
        <c:axId val="274822864"/>
      </c:lineChart>
      <c:catAx>
        <c:axId val="27482168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4822864"/>
        <c:crosses val="autoZero"/>
        <c:auto val="1"/>
        <c:lblAlgn val="ctr"/>
        <c:lblOffset val="100"/>
        <c:noMultiLvlLbl val="0"/>
      </c:catAx>
      <c:valAx>
        <c:axId val="27482286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4821688"/>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W06</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0-F728-4CC5-B548-D449FDFEFC91}"/>
                </c:ext>
                <c:ext xmlns:c15="http://schemas.microsoft.com/office/drawing/2012/chart" uri="{CE6537A1-D6FC-4f65-9D91-7224C49458BB}">
                  <c15:layout>
                    <c:manualLayout>
                      <c:w val="4.8703937780973254E-2"/>
                      <c:h val="6.3644067796610151E-2"/>
                    </c:manualLayout>
                  </c15:layout>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99.928341096381232</c:v>
                </c:pt>
                <c:pt idx="1">
                  <c:v>98.648648648648646</c:v>
                </c:pt>
                <c:pt idx="2">
                  <c:v>99.300699300699307</c:v>
                </c:pt>
                <c:pt idx="3">
                  <c:v>99.621212121212125</c:v>
                </c:pt>
              </c:numCache>
            </c:numRef>
          </c:val>
          <c:extLst xmlns:c16r2="http://schemas.microsoft.com/office/drawing/2015/06/chart">
            <c:ext xmlns:c16="http://schemas.microsoft.com/office/drawing/2014/chart" uri="{C3380CC4-5D6E-409C-BE32-E72D297353CC}">
              <c16:uniqueId val="{00000001-F728-4CC5-B548-D449FDFEFC91}"/>
            </c:ext>
          </c:extLst>
        </c:ser>
        <c:ser>
          <c:idx val="1"/>
          <c:order val="1"/>
          <c:tx>
            <c:strRef>
              <c:f>DR!$D$3</c:f>
              <c:strCache>
                <c:ptCount val="1"/>
                <c:pt idx="0">
                  <c:v>W07</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99.860074626865668</c:v>
                </c:pt>
                <c:pt idx="1">
                  <c:v>100</c:v>
                </c:pt>
                <c:pt idx="2">
                  <c:v>99.728997289972895</c:v>
                </c:pt>
                <c:pt idx="3">
                  <c:v>99.285714285714292</c:v>
                </c:pt>
              </c:numCache>
            </c:numRef>
          </c:val>
          <c:extLst xmlns:c16r2="http://schemas.microsoft.com/office/drawing/2015/06/chart">
            <c:ext xmlns:c16="http://schemas.microsoft.com/office/drawing/2014/chart" uri="{C3380CC4-5D6E-409C-BE32-E72D297353CC}">
              <c16:uniqueId val="{00000002-F728-4CC5-B548-D449FDFEFC91}"/>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F728-4CC5-B548-D449FDFEFC91}"/>
                </c:ext>
                <c:ext xmlns:c15="http://schemas.microsoft.com/office/drawing/2012/chart" uri="{CE6537A1-D6FC-4f65-9D91-7224C49458BB}">
                  <c15:spPr xmlns:c15="http://schemas.microsoft.com/office/drawing/2012/chart">
                    <a:prstGeom prst="rect">
                      <a:avLst/>
                    </a:prstGeom>
                  </c15:spPr>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xmlns:c16r2="http://schemas.microsoft.com/office/drawing/2015/06/chart">
            <c:ext xmlns:c16="http://schemas.microsoft.com/office/drawing/2014/chart" uri="{C3380CC4-5D6E-409C-BE32-E72D297353CC}">
              <c16:uniqueId val="{00000004-F728-4CC5-B548-D449FDFEFC91}"/>
            </c:ext>
          </c:extLst>
        </c:ser>
        <c:dLbls>
          <c:showLegendKey val="0"/>
          <c:showVal val="0"/>
          <c:showCatName val="0"/>
          <c:showSerName val="0"/>
          <c:showPercent val="0"/>
          <c:showBubbleSize val="0"/>
        </c:dLbls>
        <c:gapWidth val="219"/>
        <c:overlap val="-27"/>
        <c:axId val="274822080"/>
        <c:axId val="274820120"/>
        <c:extLst xmlns:c16r2="http://schemas.microsoft.com/office/drawing/2015/06/chart">
          <c:ext xmlns:c15="http://schemas.microsoft.com/office/drawing/2012/chart" uri="{02D57815-91ED-43cb-92C2-25804820EDAC}">
            <c15:filteredBarSeries>
              <c15:ser>
                <c:idx val="3"/>
                <c:order val="2"/>
                <c:tx>
                  <c:strRef>
                    <c:extLst xmlns:c16r2="http://schemas.microsoft.com/office/drawing/2015/06/char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uri="{CE6537A1-D6FC-4f65-9D91-7224C49458BB}">
                      <c15:showLeaderLines val="1"/>
                    </c:ext>
                  </c:extLst>
                </c:dLbls>
                <c:cat>
                  <c:strRef>
                    <c:extLst xmlns:c16r2="http://schemas.microsoft.com/office/drawing/2015/06/chart">
                      <c:ext uri="{02D57815-91ED-43cb-92C2-25804820EDAC}">
                        <c15:formulaRef>
                          <c15:sqref>DR!$B$5:$B$8</c15:sqref>
                        </c15:formulaRef>
                      </c:ext>
                    </c:extLst>
                    <c:strCache>
                      <c:ptCount val="4"/>
                      <c:pt idx="0">
                        <c:v>A321</c:v>
                      </c:pt>
                      <c:pt idx="1">
                        <c:v>A350</c:v>
                      </c:pt>
                      <c:pt idx="2">
                        <c:v>B787</c:v>
                      </c:pt>
                      <c:pt idx="3">
                        <c:v>ATR72</c:v>
                      </c:pt>
                    </c:strCache>
                  </c:strRef>
                </c:cat>
                <c:val>
                  <c:numRef>
                    <c:extLst xmlns:c16r2="http://schemas.microsoft.com/office/drawing/2015/06/chart">
                      <c:ext uri="{02D57815-91ED-43cb-92C2-25804820EDAC}">
                        <c15:formulaRef>
                          <c15:sqref>DR!$E$5:$E$8</c15:sqref>
                        </c15:formulaRef>
                      </c:ext>
                    </c:extLst>
                    <c:numCache>
                      <c:formatCode>General</c:formatCode>
                      <c:ptCount val="4"/>
                    </c:numCache>
                  </c:numRef>
                </c:val>
                <c:extLst xmlns:c16r2="http://schemas.microsoft.com/office/drawing/2015/06/chart">
                  <c:ext xmlns:c16="http://schemas.microsoft.com/office/drawing/2014/chart" uri="{C3380CC4-5D6E-409C-BE32-E72D297353CC}">
                    <c16:uniqueId val="{00000005-F728-4CC5-B548-D449FDFEFC91}"/>
                  </c:ext>
                </c:extLst>
              </c15:ser>
            </c15:filteredBarSeries>
          </c:ext>
        </c:extLst>
      </c:barChart>
      <c:catAx>
        <c:axId val="274822080"/>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274820120"/>
        <c:crosses val="autoZero"/>
        <c:auto val="1"/>
        <c:lblAlgn val="ctr"/>
        <c:lblOffset val="100"/>
        <c:noMultiLvlLbl val="0"/>
      </c:catAx>
      <c:valAx>
        <c:axId val="274820120"/>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274822080"/>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789942122619287E-2"/>
          <c:y val="4.4293689684825485E-2"/>
          <c:w val="0.93681234355610998"/>
          <c:h val="0.8358298845569484"/>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Sheet1!$D$8:$AC$8</c:f>
              <c:numCache>
                <c:formatCode>General</c:formatCode>
                <c:ptCount val="6"/>
                <c:pt idx="0">
                  <c:v>0</c:v>
                </c:pt>
                <c:pt idx="1">
                  <c:v>0</c:v>
                </c:pt>
                <c:pt idx="2">
                  <c:v>0</c:v>
                </c:pt>
                <c:pt idx="3">
                  <c:v>0</c:v>
                </c:pt>
                <c:pt idx="4">
                  <c:v>0</c:v>
                </c:pt>
                <c:pt idx="5">
                  <c:v>0</c:v>
                </c:pt>
              </c:numCache>
            </c:numRef>
          </c:val>
          <c:smooth val="0"/>
          <c:extLst xmlns:c16r2="http://schemas.microsoft.com/office/drawing/2015/06/chart">
            <c:ext xmlns:c16="http://schemas.microsoft.com/office/drawing/2014/chart" uri="{C3380CC4-5D6E-409C-BE32-E72D297353CC}">
              <c16:uniqueId val="{00000000-D6AD-4063-8EE1-45911A2334ED}"/>
            </c:ext>
          </c:extLst>
        </c:ser>
        <c:ser>
          <c:idx val="2"/>
          <c:order val="2"/>
          <c:tx>
            <c:strRef>
              <c:f>Sheet1!$C$10</c:f>
              <c:strCache>
                <c:ptCount val="1"/>
                <c:pt idx="0">
                  <c:v>A350</c:v>
                </c:pt>
              </c:strCache>
            </c:strRef>
          </c:tx>
          <c:spPr>
            <a:ln w="19050" cap="rnd">
              <a:solidFill>
                <a:srgbClr val="00B0F0"/>
              </a:solidFill>
              <a:round/>
            </a:ln>
            <a:effectLst/>
          </c:spPr>
          <c:marker>
            <c:symbol val="circle"/>
            <c:size val="23"/>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Sheet1!$D$10:$AC$10</c:f>
              <c:numCache>
                <c:formatCode>General</c:formatCode>
                <c:ptCount val="6"/>
                <c:pt idx="0">
                  <c:v>8</c:v>
                </c:pt>
                <c:pt idx="1">
                  <c:v>8.5</c:v>
                </c:pt>
                <c:pt idx="2">
                  <c:v>8</c:v>
                </c:pt>
                <c:pt idx="3">
                  <c:v>7</c:v>
                </c:pt>
                <c:pt idx="4">
                  <c:v>6</c:v>
                </c:pt>
                <c:pt idx="5">
                  <c:v>4</c:v>
                </c:pt>
              </c:numCache>
            </c:numRef>
          </c:val>
          <c:smooth val="0"/>
          <c:extLst xmlns:c16r2="http://schemas.microsoft.com/office/drawing/2015/06/chart">
            <c:ext xmlns:c16="http://schemas.microsoft.com/office/drawing/2014/chart" uri="{C3380CC4-5D6E-409C-BE32-E72D297353CC}">
              <c16:uniqueId val="{00000001-D6AD-4063-8EE1-45911A2334ED}"/>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Sheet1!$D$11:$AC$11</c:f>
              <c:numCache>
                <c:formatCode>General</c:formatCode>
                <c:ptCount val="6"/>
                <c:pt idx="0">
                  <c:v>0</c:v>
                </c:pt>
                <c:pt idx="1">
                  <c:v>0</c:v>
                </c:pt>
                <c:pt idx="2">
                  <c:v>0</c:v>
                </c:pt>
                <c:pt idx="3">
                  <c:v>0</c:v>
                </c:pt>
                <c:pt idx="4">
                  <c:v>0</c:v>
                </c:pt>
                <c:pt idx="5">
                  <c:v>0</c:v>
                </c:pt>
              </c:numCache>
            </c:numRef>
          </c:val>
          <c:smooth val="0"/>
          <c:extLst xmlns:c16r2="http://schemas.microsoft.com/office/drawing/2015/06/chart">
            <c:ext xmlns:c16="http://schemas.microsoft.com/office/drawing/2014/chart" uri="{C3380CC4-5D6E-409C-BE32-E72D297353CC}">
              <c16:uniqueId val="{00000002-D6AD-4063-8EE1-45911A2334ED}"/>
            </c:ext>
          </c:extLst>
        </c:ser>
        <c:dLbls>
          <c:dLblPos val="ctr"/>
          <c:showLegendKey val="0"/>
          <c:showVal val="1"/>
          <c:showCatName val="0"/>
          <c:showSerName val="0"/>
          <c:showPercent val="0"/>
          <c:showBubbleSize val="0"/>
        </c:dLbls>
        <c:marker val="1"/>
        <c:smooth val="0"/>
        <c:axId val="365416112"/>
        <c:axId val="365416896"/>
      </c:lineChart>
      <c:lineChart>
        <c:grouping val="standard"/>
        <c:varyColors val="0"/>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Sheet1!$D$9:$AC$9</c:f>
              <c:numCache>
                <c:formatCode>General</c:formatCode>
                <c:ptCount val="6"/>
                <c:pt idx="0">
                  <c:v>28.5</c:v>
                </c:pt>
                <c:pt idx="1">
                  <c:v>27.5</c:v>
                </c:pt>
                <c:pt idx="2">
                  <c:v>29</c:v>
                </c:pt>
                <c:pt idx="3">
                  <c:v>27</c:v>
                </c:pt>
                <c:pt idx="4">
                  <c:v>26</c:v>
                </c:pt>
                <c:pt idx="5">
                  <c:v>24</c:v>
                </c:pt>
              </c:numCache>
            </c:numRef>
          </c:val>
          <c:smooth val="0"/>
          <c:extLst xmlns:c16r2="http://schemas.microsoft.com/office/drawing/2015/06/chart">
            <c:ext xmlns:c16="http://schemas.microsoft.com/office/drawing/2014/chart" uri="{C3380CC4-5D6E-409C-BE32-E72D297353CC}">
              <c16:uniqueId val="{00000003-D6AD-4063-8EE1-45911A2334ED}"/>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Sheet1!$D$12:$AC$12</c:f>
              <c:numCache>
                <c:formatCode>General</c:formatCode>
                <c:ptCount val="6"/>
                <c:pt idx="0">
                  <c:v>0</c:v>
                </c:pt>
                <c:pt idx="1">
                  <c:v>0</c:v>
                </c:pt>
                <c:pt idx="2">
                  <c:v>0</c:v>
                </c:pt>
                <c:pt idx="3">
                  <c:v>0</c:v>
                </c:pt>
                <c:pt idx="4">
                  <c:v>0</c:v>
                </c:pt>
                <c:pt idx="5">
                  <c:v>0</c:v>
                </c:pt>
              </c:numCache>
            </c:numRef>
          </c:val>
          <c:smooth val="0"/>
          <c:extLst xmlns:c16r2="http://schemas.microsoft.com/office/drawing/2015/06/chart">
            <c:ext xmlns:c16="http://schemas.microsoft.com/office/drawing/2014/chart" uri="{C3380CC4-5D6E-409C-BE32-E72D297353CC}">
              <c16:uniqueId val="{00000004-D6AD-4063-8EE1-45911A2334ED}"/>
            </c:ext>
          </c:extLst>
        </c:ser>
        <c:dLbls>
          <c:showLegendKey val="0"/>
          <c:showVal val="0"/>
          <c:showCatName val="0"/>
          <c:showSerName val="0"/>
          <c:showPercent val="0"/>
          <c:showBubbleSize val="0"/>
        </c:dLbls>
        <c:marker val="1"/>
        <c:smooth val="0"/>
        <c:axId val="367853056"/>
        <c:axId val="365417288"/>
      </c:lineChart>
      <c:catAx>
        <c:axId val="36541611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5416896"/>
        <c:crosses val="autoZero"/>
        <c:auto val="1"/>
        <c:lblAlgn val="ctr"/>
        <c:lblOffset val="100"/>
        <c:noMultiLvlLbl val="0"/>
      </c:catAx>
      <c:valAx>
        <c:axId val="365416896"/>
        <c:scaling>
          <c:orientation val="minMax"/>
          <c:max val="2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5416112"/>
        <c:crosses val="autoZero"/>
        <c:crossBetween val="between"/>
      </c:valAx>
      <c:valAx>
        <c:axId val="365417288"/>
        <c:scaling>
          <c:orientation val="minMax"/>
          <c:max val="35"/>
          <c:min val="0"/>
        </c:scaling>
        <c:delete val="0"/>
        <c:axPos val="r"/>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7853056"/>
        <c:crosses val="max"/>
        <c:crossBetween val="between"/>
      </c:valAx>
      <c:catAx>
        <c:axId val="367853056"/>
        <c:scaling>
          <c:orientation val="minMax"/>
        </c:scaling>
        <c:delete val="1"/>
        <c:axPos val="b"/>
        <c:numFmt formatCode="General" sourceLinked="1"/>
        <c:majorTickMark val="out"/>
        <c:minorTickMark val="none"/>
        <c:tickLblPos val="nextTo"/>
        <c:crossAx val="365417288"/>
        <c:crosses val="autoZero"/>
        <c:auto val="1"/>
        <c:lblAlgn val="ctr"/>
        <c:lblOffset val="100"/>
        <c:noMultiLvlLbl val="0"/>
      </c:catAx>
      <c:spPr>
        <a:noFill/>
        <a:ln>
          <a:noFill/>
        </a:ln>
        <a:effectLst/>
      </c:spPr>
    </c:plotArea>
    <c:legend>
      <c:legendPos val="b"/>
      <c:layout>
        <c:manualLayout>
          <c:xMode val="edge"/>
          <c:yMode val="edge"/>
          <c:x val="3.2108065818695741E-2"/>
          <c:y val="1.3638679970698371E-2"/>
          <c:w val="0.89903166467431961"/>
          <c:h val="7.3197199055431955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Sheet1!$D$8:$AM$8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xmlns:c16r2="http://schemas.microsoft.com/office/drawing/2015/06/char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Sheet1!$D$9:$AM$9</c:f>
              <c:numCache>
                <c:formatCode>General</c:formatCode>
                <c:ptCount val="12"/>
                <c:pt idx="0">
                  <c:v>26</c:v>
                </c:pt>
                <c:pt idx="1">
                  <c:v>26</c:v>
                </c:pt>
                <c:pt idx="2">
                  <c:v>30</c:v>
                </c:pt>
                <c:pt idx="3">
                  <c:v>29</c:v>
                </c:pt>
                <c:pt idx="4">
                  <c:v>30</c:v>
                </c:pt>
                <c:pt idx="5">
                  <c:v>29</c:v>
                </c:pt>
                <c:pt idx="6">
                  <c:v>29</c:v>
                </c:pt>
                <c:pt idx="7">
                  <c:v>28</c:v>
                </c:pt>
                <c:pt idx="8">
                  <c:v>28</c:v>
                </c:pt>
                <c:pt idx="9">
                  <c:v>27</c:v>
                </c:pt>
                <c:pt idx="10">
                  <c:v>27</c:v>
                </c:pt>
                <c:pt idx="11">
                  <c:v>26</c:v>
                </c:pt>
              </c:numCache>
            </c:numRef>
          </c:val>
          <c:smooth val="0"/>
          <c:extLst xmlns:c16r2="http://schemas.microsoft.com/office/drawing/2015/06/char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chemeClr val="accent6"/>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Sheet1!$D$10:$AM$10</c:f>
              <c:numCache>
                <c:formatCode>General</c:formatCode>
                <c:ptCount val="12"/>
                <c:pt idx="0">
                  <c:v>8</c:v>
                </c:pt>
                <c:pt idx="1">
                  <c:v>8</c:v>
                </c:pt>
                <c:pt idx="2">
                  <c:v>9</c:v>
                </c:pt>
                <c:pt idx="3">
                  <c:v>8</c:v>
                </c:pt>
                <c:pt idx="4">
                  <c:v>8</c:v>
                </c:pt>
                <c:pt idx="5">
                  <c:v>8</c:v>
                </c:pt>
                <c:pt idx="6">
                  <c:v>8</c:v>
                </c:pt>
                <c:pt idx="7">
                  <c:v>7</c:v>
                </c:pt>
                <c:pt idx="8">
                  <c:v>8</c:v>
                </c:pt>
                <c:pt idx="9">
                  <c:v>8</c:v>
                </c:pt>
                <c:pt idx="10">
                  <c:v>7</c:v>
                </c:pt>
                <c:pt idx="11">
                  <c:v>7</c:v>
                </c:pt>
              </c:numCache>
            </c:numRef>
          </c:val>
          <c:smooth val="0"/>
          <c:extLst xmlns:c16r2="http://schemas.microsoft.com/office/drawing/2015/06/char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chemeClr val="accent2">
                  <a:lumMod val="50000"/>
                </a:schemeClr>
              </a:solidFill>
              <a:ln w="9525">
                <a:solidFill>
                  <a:schemeClr val="accent2">
                    <a:lumMod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Sheet1!$D$11:$AM$11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xmlns:c16r2="http://schemas.microsoft.com/office/drawing/2015/06/char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rgbClr val="FFC000"/>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Sheet1!$D$12:$AM$12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xmlns:c16r2="http://schemas.microsoft.com/office/drawing/2015/06/char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367850312"/>
        <c:axId val="367850704"/>
      </c:lineChart>
      <c:catAx>
        <c:axId val="36785031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7850704"/>
        <c:crosses val="autoZero"/>
        <c:auto val="1"/>
        <c:lblAlgn val="ctr"/>
        <c:lblOffset val="100"/>
        <c:tickMarkSkip val="1"/>
        <c:noMultiLvlLbl val="0"/>
      </c:catAx>
      <c:valAx>
        <c:axId val="367850704"/>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7850312"/>
        <c:crosses val="autoZero"/>
        <c:crossBetween val="between"/>
      </c:valAx>
      <c:spPr>
        <a:noFill/>
        <a:ln>
          <a:noFill/>
        </a:ln>
        <a:effectLst/>
      </c:spPr>
    </c:plotArea>
    <c:legend>
      <c:legendPos val="b"/>
      <c:layout>
        <c:manualLayout>
          <c:xMode val="edge"/>
          <c:yMode val="edge"/>
          <c:x val="0.45427866677955575"/>
          <c:y val="0.36957218535300551"/>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'Nguồn lực'!$B$3</c:f>
              <c:strCache>
                <c:ptCount val="1"/>
                <c:pt idx="0">
                  <c:v>KB Cũ</c:v>
                </c:pt>
              </c:strCache>
            </c:strRef>
          </c:tx>
          <c:spPr>
            <a:solidFill>
              <a:schemeClr val="bg1">
                <a:lumMod val="85000"/>
                <a:alpha val="50000"/>
              </a:schemeClr>
            </a:solidFill>
            <a:ln>
              <a:noFill/>
            </a:ln>
            <a:effectLst/>
          </c:spPr>
          <c:dLbls>
            <c:delete val="1"/>
          </c:dLbls>
          <c:val>
            <c:numRef>
              <c:f>'Nguồn lực'!$C$3:$AD$3</c:f>
              <c:numCache>
                <c:formatCode>[=0]\ 0;0.##</c:formatCode>
                <c:ptCount val="12"/>
                <c:pt idx="0">
                  <c:v>13</c:v>
                </c:pt>
                <c:pt idx="1">
                  <c:v>12.5</c:v>
                </c:pt>
                <c:pt idx="2">
                  <c:v>14</c:v>
                </c:pt>
                <c:pt idx="3">
                  <c:v>13</c:v>
                </c:pt>
                <c:pt idx="4">
                  <c:v>13</c:v>
                </c:pt>
                <c:pt idx="5">
                  <c:v>12</c:v>
                </c:pt>
                <c:pt idx="6">
                  <c:v>12</c:v>
                </c:pt>
                <c:pt idx="7">
                  <c:v>11</c:v>
                </c:pt>
                <c:pt idx="8">
                  <c:v>11</c:v>
                </c:pt>
                <c:pt idx="9">
                  <c:v>11</c:v>
                </c:pt>
                <c:pt idx="10">
                  <c:v>10</c:v>
                </c:pt>
                <c:pt idx="11">
                  <c:v>10</c:v>
                </c:pt>
              </c:numCache>
            </c:numRef>
          </c:val>
          <c:extLst xmlns:c16r2="http://schemas.microsoft.com/office/drawing/2015/06/chart">
            <c:ext xmlns:c16="http://schemas.microsoft.com/office/drawing/2014/chart" uri="{C3380CC4-5D6E-409C-BE32-E72D297353CC}">
              <c16:uniqueId val="{00000000-27AA-45D6-AC3F-B940A5C29AE9}"/>
            </c:ext>
          </c:extLst>
        </c:ser>
        <c:dLbls>
          <c:showLegendKey val="0"/>
          <c:showVal val="1"/>
          <c:showCatName val="0"/>
          <c:showSerName val="0"/>
          <c:showPercent val="0"/>
          <c:showBubbleSize val="0"/>
        </c:dLbls>
        <c:axId val="274819728"/>
        <c:axId val="274817768"/>
      </c:areaChart>
      <c:lineChart>
        <c:grouping val="standard"/>
        <c:varyColors val="0"/>
        <c:ser>
          <c:idx val="1"/>
          <c:order val="1"/>
          <c:tx>
            <c:strRef>
              <c:f>'Nguồn lực'!$B$4</c:f>
              <c:strCache>
                <c:ptCount val="1"/>
                <c:pt idx="0">
                  <c:v>KB tốt</c:v>
                </c:pt>
              </c:strCache>
            </c:strRef>
          </c:tx>
          <c:spPr>
            <a:ln w="38100" cap="rnd">
              <a:solidFill>
                <a:srgbClr val="00B0F0"/>
              </a:solidFill>
              <a:round/>
            </a:ln>
            <a:effectLst/>
          </c:spPr>
          <c:marker>
            <c:symbol val="circle"/>
            <c:size val="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'Nguồn lực'!$C$4:$AD$4</c:f>
              <c:numCache>
                <c:formatCode>[=0]\ 0;0.##</c:formatCode>
                <c:ptCount val="12"/>
                <c:pt idx="0">
                  <c:v>14.25</c:v>
                </c:pt>
                <c:pt idx="1">
                  <c:v>13.75</c:v>
                </c:pt>
                <c:pt idx="2">
                  <c:v>14.5</c:v>
                </c:pt>
                <c:pt idx="3">
                  <c:v>13.5</c:v>
                </c:pt>
                <c:pt idx="4">
                  <c:v>13</c:v>
                </c:pt>
                <c:pt idx="5">
                  <c:v>12</c:v>
                </c:pt>
                <c:pt idx="6">
                  <c:v>11.5</c:v>
                </c:pt>
                <c:pt idx="7">
                  <c:v>12</c:v>
                </c:pt>
                <c:pt idx="8">
                  <c:v>12</c:v>
                </c:pt>
                <c:pt idx="9">
                  <c:v>12</c:v>
                </c:pt>
                <c:pt idx="10">
                  <c:v>12</c:v>
                </c:pt>
                <c:pt idx="11">
                  <c:v>11</c:v>
                </c:pt>
              </c:numCache>
            </c:numRef>
          </c:val>
          <c:smooth val="0"/>
          <c:extLst xmlns:c16r2="http://schemas.microsoft.com/office/drawing/2015/06/chart">
            <c:ext xmlns:c16="http://schemas.microsoft.com/office/drawing/2014/chart" uri="{C3380CC4-5D6E-409C-BE32-E72D297353CC}">
              <c16:uniqueId val="{00000001-27AA-45D6-AC3F-B940A5C29AE9}"/>
            </c:ext>
          </c:extLst>
        </c:ser>
        <c:ser>
          <c:idx val="2"/>
          <c:order val="2"/>
          <c:tx>
            <c:strRef>
              <c:f>'Nguồn lực'!$B$5</c:f>
              <c:strCache>
                <c:ptCount val="1"/>
                <c:pt idx="0">
                  <c:v>KB tốt + giữ giờ</c:v>
                </c:pt>
              </c:strCache>
            </c:strRef>
          </c:tx>
          <c:spPr>
            <a:ln w="19050" cap="rnd">
              <a:solidFill>
                <a:srgbClr val="00B050"/>
              </a:solidFill>
              <a:prstDash val="sysDot"/>
              <a:round/>
            </a:ln>
            <a:effectLst/>
          </c:spPr>
          <c:marker>
            <c:symbol val="circle"/>
            <c:size val="5"/>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'Nguồn lực'!$C$5:$AD$5</c:f>
              <c:numCache>
                <c:formatCode>[=0]\ 0;0.##</c:formatCode>
                <c:ptCount val="12"/>
                <c:pt idx="0">
                  <c:v>14.25</c:v>
                </c:pt>
                <c:pt idx="1">
                  <c:v>13.75</c:v>
                </c:pt>
                <c:pt idx="2">
                  <c:v>14.5</c:v>
                </c:pt>
                <c:pt idx="3">
                  <c:v>14</c:v>
                </c:pt>
                <c:pt idx="4">
                  <c:v>14</c:v>
                </c:pt>
                <c:pt idx="5">
                  <c:v>12</c:v>
                </c:pt>
                <c:pt idx="6">
                  <c:v>11</c:v>
                </c:pt>
                <c:pt idx="7">
                  <c:v>11.5</c:v>
                </c:pt>
                <c:pt idx="8">
                  <c:v>12</c:v>
                </c:pt>
                <c:pt idx="9">
                  <c:v>12</c:v>
                </c:pt>
                <c:pt idx="10">
                  <c:v>12</c:v>
                </c:pt>
                <c:pt idx="11">
                  <c:v>11</c:v>
                </c:pt>
              </c:numCache>
            </c:numRef>
          </c:val>
          <c:smooth val="0"/>
          <c:extLst xmlns:c16r2="http://schemas.microsoft.com/office/drawing/2015/06/chart">
            <c:ext xmlns:c16="http://schemas.microsoft.com/office/drawing/2014/chart" uri="{C3380CC4-5D6E-409C-BE32-E72D297353CC}">
              <c16:uniqueId val="{00000002-27AA-45D6-AC3F-B940A5C29AE9}"/>
            </c:ext>
          </c:extLst>
        </c:ser>
        <c:ser>
          <c:idx val="3"/>
          <c:order val="3"/>
          <c:tx>
            <c:strRef>
              <c:f>'Nguồn lực'!$B$6</c:f>
              <c:strCache>
                <c:ptCount val="1"/>
                <c:pt idx="0">
                  <c:v>KB xấu</c:v>
                </c:pt>
              </c:strCache>
            </c:strRef>
          </c:tx>
          <c:spPr>
            <a:ln w="38100" cap="rnd">
              <a:solidFill>
                <a:srgbClr val="FF0000"/>
              </a:solidFill>
              <a:round/>
            </a:ln>
            <a:effectLst/>
          </c:spPr>
          <c:marker>
            <c:symbol val="circle"/>
            <c:size val="5"/>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'Nguồn lực'!$C$6:$AD$6</c:f>
              <c:numCache>
                <c:formatCode>[=0]\ 0;0.##</c:formatCode>
                <c:ptCount val="12"/>
                <c:pt idx="0">
                  <c:v>14.25</c:v>
                </c:pt>
                <c:pt idx="1">
                  <c:v>13.75</c:v>
                </c:pt>
                <c:pt idx="2">
                  <c:v>15.5</c:v>
                </c:pt>
                <c:pt idx="3">
                  <c:v>14.5</c:v>
                </c:pt>
                <c:pt idx="4">
                  <c:v>13.5</c:v>
                </c:pt>
                <c:pt idx="5">
                  <c:v>12.5</c:v>
                </c:pt>
                <c:pt idx="6">
                  <c:v>12</c:v>
                </c:pt>
                <c:pt idx="7">
                  <c:v>12</c:v>
                </c:pt>
                <c:pt idx="8">
                  <c:v>13</c:v>
                </c:pt>
                <c:pt idx="9">
                  <c:v>12</c:v>
                </c:pt>
                <c:pt idx="10">
                  <c:v>13</c:v>
                </c:pt>
                <c:pt idx="11">
                  <c:v>12</c:v>
                </c:pt>
              </c:numCache>
            </c:numRef>
          </c:val>
          <c:smooth val="0"/>
          <c:extLst xmlns:c16r2="http://schemas.microsoft.com/office/drawing/2015/06/chart">
            <c:ext xmlns:c16="http://schemas.microsoft.com/office/drawing/2014/chart" uri="{C3380CC4-5D6E-409C-BE32-E72D297353CC}">
              <c16:uniqueId val="{00000003-27AA-45D6-AC3F-B940A5C29AE9}"/>
            </c:ext>
          </c:extLst>
        </c:ser>
        <c:ser>
          <c:idx val="4"/>
          <c:order val="4"/>
          <c:tx>
            <c:strRef>
              <c:f>'Nguồn lực'!$B$7</c:f>
              <c:strCache>
                <c:ptCount val="1"/>
                <c:pt idx="0">
                  <c:v>KB Xấu + giữ giờ</c:v>
                </c:pt>
              </c:strCache>
            </c:strRef>
          </c:tx>
          <c:spPr>
            <a:ln w="19050" cap="rnd">
              <a:solidFill>
                <a:srgbClr val="FFC000"/>
              </a:solidFill>
              <a:prstDash val="sysDot"/>
              <a:round/>
            </a:ln>
            <a:effectLst/>
          </c:spPr>
          <c:marker>
            <c:symbol val="circle"/>
            <c:size val="5"/>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'Nguồn lực'!$C$7:$AD$7</c:f>
              <c:numCache>
                <c:formatCode>[=0]\ 0;0.##</c:formatCode>
                <c:ptCount val="12"/>
                <c:pt idx="0">
                  <c:v>14.25</c:v>
                </c:pt>
                <c:pt idx="1">
                  <c:v>13.75</c:v>
                </c:pt>
                <c:pt idx="2">
                  <c:v>15.5</c:v>
                </c:pt>
                <c:pt idx="3">
                  <c:v>15</c:v>
                </c:pt>
                <c:pt idx="4">
                  <c:v>14.5</c:v>
                </c:pt>
                <c:pt idx="5">
                  <c:v>12.5</c:v>
                </c:pt>
                <c:pt idx="6">
                  <c:v>11.5</c:v>
                </c:pt>
                <c:pt idx="7">
                  <c:v>11.5</c:v>
                </c:pt>
                <c:pt idx="8">
                  <c:v>13</c:v>
                </c:pt>
                <c:pt idx="9">
                  <c:v>12</c:v>
                </c:pt>
                <c:pt idx="10">
                  <c:v>13</c:v>
                </c:pt>
                <c:pt idx="11">
                  <c:v>12</c:v>
                </c:pt>
              </c:numCache>
            </c:numRef>
          </c:val>
          <c:smooth val="0"/>
          <c:extLst xmlns:c16r2="http://schemas.microsoft.com/office/drawing/2015/06/chart">
            <c:ext xmlns:c16="http://schemas.microsoft.com/office/drawing/2014/chart" uri="{C3380CC4-5D6E-409C-BE32-E72D297353CC}">
              <c16:uniqueId val="{00000004-27AA-45D6-AC3F-B940A5C29AE9}"/>
            </c:ext>
          </c:extLst>
        </c:ser>
        <c:dLbls>
          <c:showLegendKey val="0"/>
          <c:showVal val="1"/>
          <c:showCatName val="0"/>
          <c:showSerName val="0"/>
          <c:showPercent val="0"/>
          <c:showBubbleSize val="0"/>
        </c:dLbls>
        <c:marker val="1"/>
        <c:smooth val="0"/>
        <c:axId val="274823256"/>
        <c:axId val="274817376"/>
      </c:lineChart>
      <c:catAx>
        <c:axId val="274823256"/>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crossAx val="274817376"/>
        <c:crosses val="autoZero"/>
        <c:auto val="1"/>
        <c:lblAlgn val="ctr"/>
        <c:lblOffset val="100"/>
        <c:noMultiLvlLbl val="0"/>
      </c:catAx>
      <c:valAx>
        <c:axId val="274817376"/>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0]\ 0;0.##"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274823256"/>
        <c:crosses val="autoZero"/>
        <c:crossBetween val="between"/>
      </c:valAx>
      <c:valAx>
        <c:axId val="274817768"/>
        <c:scaling>
          <c:orientation val="minMax"/>
          <c:max val="16"/>
          <c:min val="8"/>
        </c:scaling>
        <c:delete val="0"/>
        <c:axPos val="r"/>
        <c:numFmt formatCode="[=0]\ 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74819728"/>
        <c:crosses val="max"/>
        <c:crossBetween val="between"/>
      </c:valAx>
      <c:catAx>
        <c:axId val="274819728"/>
        <c:scaling>
          <c:orientation val="minMax"/>
        </c:scaling>
        <c:delete val="1"/>
        <c:axPos val="b"/>
        <c:majorTickMark val="out"/>
        <c:minorTickMark val="none"/>
        <c:tickLblPos val="nextTo"/>
        <c:crossAx val="274817768"/>
        <c:crosses val="autoZero"/>
        <c:auto val="1"/>
        <c:lblAlgn val="ctr"/>
        <c:lblOffset val="100"/>
        <c:noMultiLvlLbl val="0"/>
      </c:catAx>
      <c:spPr>
        <a:noFill/>
        <a:ln>
          <a:noFill/>
        </a:ln>
        <a:effectLst/>
      </c:spPr>
    </c:plotArea>
    <c:legend>
      <c:legendPos val="b"/>
      <c:layout>
        <c:manualLayout>
          <c:xMode val="edge"/>
          <c:yMode val="edge"/>
          <c:x val="0.15144093610372283"/>
          <c:y val="0.93521153495255305"/>
          <c:w val="0.75508914228530799"/>
          <c:h val="5.1455128914462765E-2"/>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9400996275743063"/>
        </c:manualLayout>
      </c:layout>
      <c:lineChart>
        <c:grouping val="standard"/>
        <c:varyColors val="0"/>
        <c:ser>
          <c:idx val="5"/>
          <c:order val="0"/>
          <c:tx>
            <c:strRef>
              <c:f>Sheet1!$G$1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Sheet1!$A$104:$A$115</c:f>
              <c:strCache>
                <c:ptCount val="12"/>
                <c:pt idx="0">
                  <c:v>Jan-W1</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Sheet1!$G$104:$G$115</c:f>
              <c:numCache>
                <c:formatCode>General</c:formatCode>
                <c:ptCount val="12"/>
                <c:pt idx="0">
                  <c:v>17</c:v>
                </c:pt>
                <c:pt idx="1">
                  <c:v>17</c:v>
                </c:pt>
                <c:pt idx="2">
                  <c:v>17</c:v>
                </c:pt>
                <c:pt idx="3">
                  <c:v>17</c:v>
                </c:pt>
                <c:pt idx="4">
                  <c:v>17</c:v>
                </c:pt>
                <c:pt idx="5">
                  <c:v>17</c:v>
                </c:pt>
                <c:pt idx="6">
                  <c:v>17</c:v>
                </c:pt>
                <c:pt idx="7">
                  <c:v>17</c:v>
                </c:pt>
                <c:pt idx="8">
                  <c:v>17</c:v>
                </c:pt>
                <c:pt idx="9">
                  <c:v>17</c:v>
                </c:pt>
                <c:pt idx="10">
                  <c:v>17</c:v>
                </c:pt>
                <c:pt idx="11">
                  <c:v>17</c:v>
                </c:pt>
              </c:numCache>
            </c:numRef>
          </c:val>
          <c:smooth val="0"/>
          <c:extLst xmlns:c16r2="http://schemas.microsoft.com/office/drawing/2015/06/char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370913184"/>
        <c:axId val="370913576"/>
      </c:lineChart>
      <c:catAx>
        <c:axId val="370913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70913576"/>
        <c:crosses val="autoZero"/>
        <c:auto val="1"/>
        <c:lblAlgn val="ctr"/>
        <c:lblOffset val="100"/>
        <c:noMultiLvlLbl val="0"/>
      </c:catAx>
      <c:valAx>
        <c:axId val="370913576"/>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70913184"/>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400" b="1">
                <a:solidFill>
                  <a:schemeClr val="tx1"/>
                </a:solidFill>
              </a:rPr>
              <a:t>Số</a:t>
            </a:r>
            <a:r>
              <a:rPr lang="en-US" sz="1400" b="1" baseline="0">
                <a:solidFill>
                  <a:schemeClr val="tx1"/>
                </a:solidFill>
              </a:rPr>
              <a:t> lượng A350 thiếu động cơ</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4.9428675307576782E-2"/>
          <c:y val="0.11299278803028311"/>
          <c:w val="0.943893299494588"/>
          <c:h val="0.77445073016708332"/>
        </c:manualLayout>
      </c:layout>
      <c:lineChart>
        <c:grouping val="standard"/>
        <c:varyColors val="0"/>
        <c:ser>
          <c:idx val="0"/>
          <c:order val="0"/>
          <c:tx>
            <c:strRef>
              <c:f>Sheet1!$B$1</c:f>
              <c:strCache>
                <c:ptCount val="1"/>
                <c:pt idx="0">
                  <c:v>NL báo KHPT</c:v>
                </c:pt>
              </c:strCache>
            </c:strRef>
          </c:tx>
          <c:spPr>
            <a:ln w="28575" cap="rnd">
              <a:solidFill>
                <a:schemeClr val="accent1"/>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Sheet1!$A$9:$A$28</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Sheet1!$B$9:$B$28</c:f>
            </c:numRef>
          </c:val>
          <c:smooth val="1"/>
          <c:extLst xmlns:c16r2="http://schemas.microsoft.com/office/drawing/2015/06/chart">
            <c:ext xmlns:c16="http://schemas.microsoft.com/office/drawing/2014/chart" uri="{C3380CC4-5D6E-409C-BE32-E72D297353CC}">
              <c16:uniqueId val="{00000000-7DB7-40A0-96F5-1D2E7AF0F464}"/>
            </c:ext>
          </c:extLst>
        </c:ser>
        <c:ser>
          <c:idx val="1"/>
          <c:order val="1"/>
          <c:tx>
            <c:strRef>
              <c:f>Sheet1!$C$1</c:f>
              <c:strCache>
                <c:ptCount val="1"/>
                <c:pt idx="0">
                  <c:v>KH hiện tại</c:v>
                </c:pt>
              </c:strCache>
            </c:strRef>
          </c:tx>
          <c:spPr>
            <a:ln w="28575"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Sheet1!$A$9:$A$28</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Sheet1!$C$9:$C$28</c:f>
              <c:numCache>
                <c:formatCode>General</c:formatCode>
                <c:ptCount val="12"/>
                <c:pt idx="0">
                  <c:v>4</c:v>
                </c:pt>
                <c:pt idx="1">
                  <c:v>4</c:v>
                </c:pt>
                <c:pt idx="2">
                  <c:v>5</c:v>
                </c:pt>
                <c:pt idx="3">
                  <c:v>4</c:v>
                </c:pt>
                <c:pt idx="4">
                  <c:v>4</c:v>
                </c:pt>
                <c:pt idx="5">
                  <c:v>4</c:v>
                </c:pt>
                <c:pt idx="6">
                  <c:v>4</c:v>
                </c:pt>
                <c:pt idx="7">
                  <c:v>4</c:v>
                </c:pt>
                <c:pt idx="8">
                  <c:v>4</c:v>
                </c:pt>
                <c:pt idx="9">
                  <c:v>4</c:v>
                </c:pt>
                <c:pt idx="10">
                  <c:v>3</c:v>
                </c:pt>
                <c:pt idx="11">
                  <c:v>3</c:v>
                </c:pt>
              </c:numCache>
            </c:numRef>
          </c:val>
          <c:smooth val="1"/>
          <c:extLst xmlns:c16r2="http://schemas.microsoft.com/office/drawing/2015/06/chart">
            <c:ext xmlns:c16="http://schemas.microsoft.com/office/drawing/2014/chart" uri="{C3380CC4-5D6E-409C-BE32-E72D297353CC}">
              <c16:uniqueId val="{00000001-7DB7-40A0-96F5-1D2E7AF0F464}"/>
            </c:ext>
          </c:extLst>
        </c:ser>
        <c:dLbls>
          <c:showLegendKey val="0"/>
          <c:showVal val="0"/>
          <c:showCatName val="0"/>
          <c:showSerName val="0"/>
          <c:showPercent val="0"/>
          <c:showBubbleSize val="0"/>
        </c:dLbls>
        <c:marker val="1"/>
        <c:smooth val="0"/>
        <c:axId val="372332568"/>
        <c:axId val="372333744"/>
      </c:lineChart>
      <c:catAx>
        <c:axId val="372332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72333744"/>
        <c:crosses val="autoZero"/>
        <c:auto val="1"/>
        <c:lblAlgn val="ctr"/>
        <c:lblOffset val="100"/>
        <c:noMultiLvlLbl val="0"/>
      </c:catAx>
      <c:valAx>
        <c:axId val="372333744"/>
        <c:scaling>
          <c:orientation val="minMax"/>
          <c:max val="6"/>
          <c:min val="1"/>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72332568"/>
        <c:crosses val="autoZero"/>
        <c:crossBetween val="between"/>
        <c:majorUnit val="1"/>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'Nguồn lực'!$B$3</c:f>
              <c:strCache>
                <c:ptCount val="1"/>
                <c:pt idx="0">
                  <c:v>KB Cũ</c:v>
                </c:pt>
              </c:strCache>
            </c:strRef>
          </c:tx>
          <c:spPr>
            <a:solidFill>
              <a:schemeClr val="bg1">
                <a:lumMod val="85000"/>
                <a:alpha val="50000"/>
              </a:schemeClr>
            </a:solidFill>
            <a:ln>
              <a:noFill/>
            </a:ln>
            <a:effectLst/>
          </c:spPr>
          <c:dLbls>
            <c:delete val="1"/>
          </c:dLbls>
          <c:val>
            <c:numRef>
              <c:f>'Nguồn lực'!$C$3:$AD$3</c:f>
              <c:numCache>
                <c:formatCode>[=0]\ 0;0.##</c:formatCode>
                <c:ptCount val="12"/>
                <c:pt idx="0">
                  <c:v>4</c:v>
                </c:pt>
                <c:pt idx="1">
                  <c:v>4.5</c:v>
                </c:pt>
                <c:pt idx="2">
                  <c:v>4.5</c:v>
                </c:pt>
                <c:pt idx="3">
                  <c:v>4</c:v>
                </c:pt>
                <c:pt idx="4">
                  <c:v>3.5</c:v>
                </c:pt>
                <c:pt idx="5">
                  <c:v>0.5</c:v>
                </c:pt>
                <c:pt idx="6">
                  <c:v>0.5</c:v>
                </c:pt>
                <c:pt idx="7">
                  <c:v>1</c:v>
                </c:pt>
                <c:pt idx="8">
                  <c:v>2</c:v>
                </c:pt>
                <c:pt idx="9">
                  <c:v>2</c:v>
                </c:pt>
                <c:pt idx="10">
                  <c:v>2</c:v>
                </c:pt>
                <c:pt idx="11">
                  <c:v>1</c:v>
                </c:pt>
              </c:numCache>
            </c:numRef>
          </c:val>
          <c:extLst xmlns:c16r2="http://schemas.microsoft.com/office/drawing/2015/06/chart">
            <c:ext xmlns:c16="http://schemas.microsoft.com/office/drawing/2014/chart" uri="{C3380CC4-5D6E-409C-BE32-E72D297353CC}">
              <c16:uniqueId val="{00000000-4D65-4133-A13A-D06D51E9FDF7}"/>
            </c:ext>
          </c:extLst>
        </c:ser>
        <c:dLbls>
          <c:showLegendKey val="0"/>
          <c:showVal val="1"/>
          <c:showCatName val="0"/>
          <c:showSerName val="0"/>
          <c:showPercent val="0"/>
          <c:showBubbleSize val="0"/>
        </c:dLbls>
        <c:axId val="274822472"/>
        <c:axId val="274824040"/>
      </c:areaChart>
      <c:lineChart>
        <c:grouping val="standard"/>
        <c:varyColors val="0"/>
        <c:ser>
          <c:idx val="1"/>
          <c:order val="1"/>
          <c:tx>
            <c:strRef>
              <c:f>'Nguồn lực'!$B$4</c:f>
              <c:strCache>
                <c:ptCount val="1"/>
                <c:pt idx="0">
                  <c:v>KB tốt</c:v>
                </c:pt>
              </c:strCache>
            </c:strRef>
          </c:tx>
          <c:spPr>
            <a:ln w="38100" cap="rnd">
              <a:solidFill>
                <a:srgbClr val="00B0F0"/>
              </a:solidFill>
              <a:round/>
            </a:ln>
            <a:effectLst/>
          </c:spPr>
          <c:marker>
            <c:symbol val="circle"/>
            <c:size val="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'Nguồn lực'!$C$4:$AD$4</c:f>
              <c:numCache>
                <c:formatCode>[=0]\ 0;0.##</c:formatCode>
                <c:ptCount val="12"/>
                <c:pt idx="0">
                  <c:v>4</c:v>
                </c:pt>
                <c:pt idx="1">
                  <c:v>4.25</c:v>
                </c:pt>
                <c:pt idx="2">
                  <c:v>4</c:v>
                </c:pt>
                <c:pt idx="3">
                  <c:v>3.5</c:v>
                </c:pt>
                <c:pt idx="4">
                  <c:v>3</c:v>
                </c:pt>
                <c:pt idx="5">
                  <c:v>2</c:v>
                </c:pt>
                <c:pt idx="6">
                  <c:v>1.25</c:v>
                </c:pt>
                <c:pt idx="7">
                  <c:v>1</c:v>
                </c:pt>
                <c:pt idx="8">
                  <c:v>2</c:v>
                </c:pt>
                <c:pt idx="9">
                  <c:v>1.5</c:v>
                </c:pt>
                <c:pt idx="10">
                  <c:v>1.5</c:v>
                </c:pt>
                <c:pt idx="11">
                  <c:v>2</c:v>
                </c:pt>
              </c:numCache>
            </c:numRef>
          </c:val>
          <c:smooth val="0"/>
          <c:extLst xmlns:c16r2="http://schemas.microsoft.com/office/drawing/2015/06/chart">
            <c:ext xmlns:c16="http://schemas.microsoft.com/office/drawing/2014/chart" uri="{C3380CC4-5D6E-409C-BE32-E72D297353CC}">
              <c16:uniqueId val="{00000001-4D65-4133-A13A-D06D51E9FDF7}"/>
            </c:ext>
          </c:extLst>
        </c:ser>
        <c:ser>
          <c:idx val="2"/>
          <c:order val="2"/>
          <c:tx>
            <c:strRef>
              <c:f>'Nguồn lực'!$B$5</c:f>
              <c:strCache>
                <c:ptCount val="1"/>
                <c:pt idx="0">
                  <c:v>KB tốt + giữ giờ</c:v>
                </c:pt>
              </c:strCache>
            </c:strRef>
          </c:tx>
          <c:spPr>
            <a:ln w="19050" cap="rnd">
              <a:solidFill>
                <a:srgbClr val="00B050"/>
              </a:solidFill>
              <a:prstDash val="sysDot"/>
              <a:round/>
            </a:ln>
            <a:effectLst/>
          </c:spPr>
          <c:marker>
            <c:symbol val="circle"/>
            <c:size val="5"/>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'Nguồn lực'!$C$5:$AD$5</c:f>
              <c:numCache>
                <c:formatCode>[=0]\ 0;0.##</c:formatCode>
                <c:ptCount val="12"/>
                <c:pt idx="0">
                  <c:v>4</c:v>
                </c:pt>
                <c:pt idx="1">
                  <c:v>4.25</c:v>
                </c:pt>
                <c:pt idx="2">
                  <c:v>4</c:v>
                </c:pt>
                <c:pt idx="3">
                  <c:v>4</c:v>
                </c:pt>
                <c:pt idx="4">
                  <c:v>4</c:v>
                </c:pt>
                <c:pt idx="5">
                  <c:v>1.5</c:v>
                </c:pt>
                <c:pt idx="6">
                  <c:v>0.5</c:v>
                </c:pt>
                <c:pt idx="7">
                  <c:v>0.5</c:v>
                </c:pt>
                <c:pt idx="8">
                  <c:v>2</c:v>
                </c:pt>
                <c:pt idx="9">
                  <c:v>1.5</c:v>
                </c:pt>
                <c:pt idx="10">
                  <c:v>1.5</c:v>
                </c:pt>
                <c:pt idx="11">
                  <c:v>2</c:v>
                </c:pt>
              </c:numCache>
            </c:numRef>
          </c:val>
          <c:smooth val="0"/>
          <c:extLst xmlns:c16r2="http://schemas.microsoft.com/office/drawing/2015/06/chart">
            <c:ext xmlns:c16="http://schemas.microsoft.com/office/drawing/2014/chart" uri="{C3380CC4-5D6E-409C-BE32-E72D297353CC}">
              <c16:uniqueId val="{00000002-4D65-4133-A13A-D06D51E9FDF7}"/>
            </c:ext>
          </c:extLst>
        </c:ser>
        <c:ser>
          <c:idx val="3"/>
          <c:order val="3"/>
          <c:tx>
            <c:strRef>
              <c:f>'Nguồn lực'!$B$6</c:f>
              <c:strCache>
                <c:ptCount val="1"/>
                <c:pt idx="0">
                  <c:v>KB xấu</c:v>
                </c:pt>
              </c:strCache>
            </c:strRef>
          </c:tx>
          <c:spPr>
            <a:ln w="38100" cap="rnd">
              <a:solidFill>
                <a:srgbClr val="FF0000"/>
              </a:solidFill>
              <a:round/>
            </a:ln>
            <a:effectLst/>
          </c:spPr>
          <c:marker>
            <c:symbol val="circle"/>
            <c:size val="5"/>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'Nguồn lực'!$C$6:$AD$6</c:f>
              <c:numCache>
                <c:formatCode>[=0]\ 0;0.##</c:formatCode>
                <c:ptCount val="12"/>
                <c:pt idx="0">
                  <c:v>4</c:v>
                </c:pt>
                <c:pt idx="1">
                  <c:v>4.25</c:v>
                </c:pt>
                <c:pt idx="2">
                  <c:v>4</c:v>
                </c:pt>
                <c:pt idx="3">
                  <c:v>4</c:v>
                </c:pt>
                <c:pt idx="4">
                  <c:v>3.5</c:v>
                </c:pt>
                <c:pt idx="5">
                  <c:v>3</c:v>
                </c:pt>
                <c:pt idx="6">
                  <c:v>2.5</c:v>
                </c:pt>
                <c:pt idx="7">
                  <c:v>2</c:v>
                </c:pt>
                <c:pt idx="8">
                  <c:v>2</c:v>
                </c:pt>
                <c:pt idx="9">
                  <c:v>2.75</c:v>
                </c:pt>
                <c:pt idx="10">
                  <c:v>2</c:v>
                </c:pt>
                <c:pt idx="11">
                  <c:v>2</c:v>
                </c:pt>
              </c:numCache>
            </c:numRef>
          </c:val>
          <c:smooth val="0"/>
          <c:extLst xmlns:c16r2="http://schemas.microsoft.com/office/drawing/2015/06/chart">
            <c:ext xmlns:c16="http://schemas.microsoft.com/office/drawing/2014/chart" uri="{C3380CC4-5D6E-409C-BE32-E72D297353CC}">
              <c16:uniqueId val="{00000003-4D65-4133-A13A-D06D51E9FDF7}"/>
            </c:ext>
          </c:extLst>
        </c:ser>
        <c:ser>
          <c:idx val="4"/>
          <c:order val="4"/>
          <c:tx>
            <c:strRef>
              <c:f>'Nguồn lực'!$B$7</c:f>
              <c:strCache>
                <c:ptCount val="1"/>
                <c:pt idx="0">
                  <c:v>KB Xấu + giữ giờ</c:v>
                </c:pt>
              </c:strCache>
            </c:strRef>
          </c:tx>
          <c:spPr>
            <a:ln w="19050" cap="rnd">
              <a:solidFill>
                <a:srgbClr val="FFC000"/>
              </a:solidFill>
              <a:prstDash val="sysDot"/>
              <a:round/>
            </a:ln>
            <a:effectLst/>
          </c:spPr>
          <c:marker>
            <c:symbol val="circle"/>
            <c:size val="5"/>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'Nguồn lực'!$C$7:$AD$7</c:f>
              <c:numCache>
                <c:formatCode>[=0]\ 0;0.##</c:formatCode>
                <c:ptCount val="12"/>
                <c:pt idx="0">
                  <c:v>4</c:v>
                </c:pt>
                <c:pt idx="1">
                  <c:v>4.25</c:v>
                </c:pt>
                <c:pt idx="2">
                  <c:v>4</c:v>
                </c:pt>
                <c:pt idx="3">
                  <c:v>4.5</c:v>
                </c:pt>
                <c:pt idx="4">
                  <c:v>4.5</c:v>
                </c:pt>
                <c:pt idx="5">
                  <c:v>3</c:v>
                </c:pt>
                <c:pt idx="6">
                  <c:v>1.5</c:v>
                </c:pt>
                <c:pt idx="7">
                  <c:v>1.5</c:v>
                </c:pt>
                <c:pt idx="8">
                  <c:v>2</c:v>
                </c:pt>
                <c:pt idx="9">
                  <c:v>2.75</c:v>
                </c:pt>
                <c:pt idx="10">
                  <c:v>2</c:v>
                </c:pt>
                <c:pt idx="11">
                  <c:v>2</c:v>
                </c:pt>
              </c:numCache>
            </c:numRef>
          </c:val>
          <c:smooth val="0"/>
          <c:extLst xmlns:c16r2="http://schemas.microsoft.com/office/drawing/2015/06/chart">
            <c:ext xmlns:c16="http://schemas.microsoft.com/office/drawing/2014/chart" uri="{C3380CC4-5D6E-409C-BE32-E72D297353CC}">
              <c16:uniqueId val="{00000004-4D65-4133-A13A-D06D51E9FDF7}"/>
            </c:ext>
          </c:extLst>
        </c:ser>
        <c:dLbls>
          <c:showLegendKey val="0"/>
          <c:showVal val="1"/>
          <c:showCatName val="0"/>
          <c:showSerName val="0"/>
          <c:showPercent val="0"/>
          <c:showBubbleSize val="0"/>
        </c:dLbls>
        <c:marker val="1"/>
        <c:smooth val="0"/>
        <c:axId val="274818160"/>
        <c:axId val="274823648"/>
      </c:lineChart>
      <c:catAx>
        <c:axId val="274818160"/>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274823648"/>
        <c:crosses val="autoZero"/>
        <c:auto val="1"/>
        <c:lblAlgn val="ctr"/>
        <c:lblOffset val="100"/>
        <c:noMultiLvlLbl val="0"/>
      </c:catAx>
      <c:valAx>
        <c:axId val="274823648"/>
        <c:scaling>
          <c:orientation val="minMax"/>
        </c:scaling>
        <c:delete val="0"/>
        <c:axPos val="l"/>
        <c:majorGridlines>
          <c:spPr>
            <a:ln w="9525" cap="flat" cmpd="sng" algn="ctr">
              <a:solidFill>
                <a:schemeClr val="tx1">
                  <a:lumMod val="15000"/>
                  <a:lumOff val="85000"/>
                </a:schemeClr>
              </a:solidFill>
              <a:round/>
            </a:ln>
            <a:effectLst/>
          </c:spPr>
        </c:majorGridlines>
        <c:numFmt formatCode="[=0]\ 0;0.##"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274818160"/>
        <c:crosses val="autoZero"/>
        <c:crossBetween val="between"/>
        <c:majorUnit val="1"/>
      </c:valAx>
      <c:valAx>
        <c:axId val="274824040"/>
        <c:scaling>
          <c:orientation val="minMax"/>
          <c:max val="5"/>
        </c:scaling>
        <c:delete val="0"/>
        <c:axPos val="r"/>
        <c:numFmt formatCode="[=0]\ 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74822472"/>
        <c:crosses val="max"/>
        <c:crossBetween val="between"/>
      </c:valAx>
      <c:catAx>
        <c:axId val="274822472"/>
        <c:scaling>
          <c:orientation val="minMax"/>
        </c:scaling>
        <c:delete val="1"/>
        <c:axPos val="b"/>
        <c:majorTickMark val="out"/>
        <c:minorTickMark val="none"/>
        <c:tickLblPos val="nextTo"/>
        <c:crossAx val="274824040"/>
        <c:crosses val="autoZero"/>
        <c:auto val="1"/>
        <c:lblAlgn val="ctr"/>
        <c:lblOffset val="100"/>
        <c:noMultiLvlLbl val="0"/>
      </c:catAx>
      <c:spPr>
        <a:noFill/>
        <a:ln>
          <a:noFill/>
        </a:ln>
        <a:effectLst/>
      </c:spPr>
    </c:plotArea>
    <c:legend>
      <c:legendPos val="b"/>
      <c:layout>
        <c:manualLayout>
          <c:xMode val="edge"/>
          <c:yMode val="edge"/>
          <c:x val="0.15144093610372283"/>
          <c:y val="0.93521153495255305"/>
          <c:w val="0.75508914228530799"/>
          <c:h val="5.1455128914462765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rPr>
              <a:t>ĐỘI</a:t>
            </a:r>
            <a:r>
              <a:rPr lang="en-US" sz="1000" baseline="0" dirty="0">
                <a:solidFill>
                  <a:schemeClr val="tx1"/>
                </a:solidFill>
              </a:rPr>
              <a:t> </a:t>
            </a:r>
            <a:r>
              <a:rPr lang="en-US" sz="1000" baseline="0">
                <a:solidFill>
                  <a:schemeClr val="tx1"/>
                </a:solidFill>
              </a:rPr>
              <a:t>BAY ATR72</a:t>
            </a:r>
            <a:endParaRPr lang="en-US" sz="1000" dirty="0">
              <a:solidFill>
                <a:schemeClr val="tx1"/>
              </a:solidFill>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xmlns:c16r2="http://schemas.microsoft.com/office/drawing/2015/06/chart">
            <c:ext xmlns:c16="http://schemas.microsoft.com/office/drawing/2014/chart" uri="{C3380CC4-5D6E-409C-BE32-E72D297353CC}">
              <c16:uniqueId val="{00000000-5DD9-45B0-A857-E17C1999913E}"/>
            </c:ext>
          </c:extLst>
        </c:ser>
        <c:dLbls>
          <c:dLblPos val="ctr"/>
          <c:showLegendKey val="0"/>
          <c:showVal val="1"/>
          <c:showCatName val="0"/>
          <c:showSerName val="0"/>
          <c:showPercent val="0"/>
          <c:showBubbleSize val="0"/>
        </c:dLbls>
        <c:gapWidth val="150"/>
        <c:axId val="370909264"/>
        <c:axId val="370909656"/>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6</c:v>
                </c:pt>
                <c:pt idx="7">
                  <c:v>6</c:v>
                </c:pt>
                <c:pt idx="8">
                  <c:v>6</c:v>
                </c:pt>
                <c:pt idx="9">
                  <c:v>6</c:v>
                </c:pt>
                <c:pt idx="10">
                  <c:v>6</c:v>
                </c:pt>
                <c:pt idx="11">
                  <c:v>6</c:v>
                </c:pt>
              </c:numCache>
            </c:numRef>
          </c:val>
          <c:smooth val="0"/>
          <c:extLst xmlns:c16r2="http://schemas.microsoft.com/office/drawing/2015/06/chart">
            <c:ext xmlns:c16="http://schemas.microsoft.com/office/drawing/2014/chart" uri="{C3380CC4-5D6E-409C-BE32-E72D297353CC}">
              <c16:uniqueId val="{00000001-5DD9-45B0-A857-E17C1999913E}"/>
            </c:ext>
          </c:extLst>
        </c:ser>
        <c:dLbls>
          <c:showLegendKey val="0"/>
          <c:showVal val="0"/>
          <c:showCatName val="0"/>
          <c:showSerName val="0"/>
          <c:showPercent val="0"/>
          <c:showBubbleSize val="0"/>
        </c:dLbls>
        <c:marker val="1"/>
        <c:smooth val="0"/>
        <c:axId val="370909264"/>
        <c:axId val="370909656"/>
      </c:lineChart>
      <c:catAx>
        <c:axId val="3709092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70909656"/>
        <c:crosses val="autoZero"/>
        <c:auto val="1"/>
        <c:lblAlgn val="ctr"/>
        <c:lblOffset val="100"/>
        <c:noMultiLvlLbl val="0"/>
      </c:catAx>
      <c:valAx>
        <c:axId val="370909656"/>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70909264"/>
        <c:crosses val="autoZero"/>
        <c:crossBetween val="between"/>
      </c:valAx>
      <c:spPr>
        <a:noFill/>
        <a:ln>
          <a:noFill/>
        </a:ln>
        <a:effectLst/>
      </c:spPr>
    </c:plotArea>
    <c:legend>
      <c:legendPos val="b"/>
      <c:layout>
        <c:manualLayout>
          <c:xMode val="edge"/>
          <c:yMode val="edge"/>
          <c:x val="0.67513027291531713"/>
          <c:y val="6.004108159602075E-2"/>
          <c:w val="0.30713392618610735"/>
          <c:h val="5.4412364558412099E-2"/>
        </c:manualLayout>
      </c:layout>
      <c:overlay val="0"/>
      <c:spPr>
        <a:solidFill>
          <a:schemeClr val="bg1"/>
        </a:solidFill>
        <a:ln>
          <a:solidFill>
            <a:srgbClr val="00FF0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sz="1600"/>
              <a:t>Số nhân nhượng theo tuần</a:t>
            </a:r>
            <a:endParaRPr lang="vi-VN" sz="1600"/>
          </a:p>
        </c:rich>
      </c:tx>
      <c:overlay val="0"/>
    </c:title>
    <c:autoTitleDeleted val="0"/>
    <c:plotArea>
      <c:layout/>
      <c:barChart>
        <c:barDir val="col"/>
        <c:grouping val="clustered"/>
        <c:varyColors val="0"/>
        <c:ser>
          <c:idx val="0"/>
          <c:order val="0"/>
          <c:tx>
            <c:strRef>
              <c:f>'Data Chart'!$C$34</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'Data Chart'!$A$35:$B$40</c:f>
              <c:strCache>
                <c:ptCount val="6"/>
                <c:pt idx="0">
                  <c:v>A320</c:v>
                </c:pt>
                <c:pt idx="1">
                  <c:v>A321</c:v>
                </c:pt>
                <c:pt idx="2">
                  <c:v>A350</c:v>
                </c:pt>
                <c:pt idx="3">
                  <c:v>B787</c:v>
                </c:pt>
                <c:pt idx="4">
                  <c:v>ATR72</c:v>
                </c:pt>
                <c:pt idx="5">
                  <c:v>Tất cả</c:v>
                </c:pt>
              </c:strCache>
            </c:strRef>
          </c:cat>
          <c:val>
            <c:numRef>
              <c:f>'Data Chart'!$C$35:$C$40</c:f>
              <c:numCache>
                <c:formatCode>General</c:formatCode>
                <c:ptCount val="6"/>
                <c:pt idx="0">
                  <c:v>0</c:v>
                </c:pt>
                <c:pt idx="1">
                  <c:v>4</c:v>
                </c:pt>
                <c:pt idx="2">
                  <c:v>0</c:v>
                </c:pt>
                <c:pt idx="3">
                  <c:v>2</c:v>
                </c:pt>
                <c:pt idx="4">
                  <c:v>0</c:v>
                </c:pt>
                <c:pt idx="5" formatCode="0">
                  <c:v>6</c:v>
                </c:pt>
              </c:numCache>
            </c:numRef>
          </c:val>
          <c:extLst xmlns:c16r2="http://schemas.microsoft.com/office/drawing/2015/06/chart">
            <c:ext xmlns:c16="http://schemas.microsoft.com/office/drawing/2014/chart" uri="{C3380CC4-5D6E-409C-BE32-E72D297353CC}">
              <c16:uniqueId val="{00000000-EC7F-4364-89A8-487C5DDB8DF5}"/>
            </c:ext>
          </c:extLst>
        </c:ser>
        <c:ser>
          <c:idx val="1"/>
          <c:order val="1"/>
          <c:tx>
            <c:strRef>
              <c:f>'Data Chart'!$D$34</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'Data Chart'!$A$35:$B$40</c:f>
              <c:strCache>
                <c:ptCount val="6"/>
                <c:pt idx="0">
                  <c:v>A320</c:v>
                </c:pt>
                <c:pt idx="1">
                  <c:v>A321</c:v>
                </c:pt>
                <c:pt idx="2">
                  <c:v>A350</c:v>
                </c:pt>
                <c:pt idx="3">
                  <c:v>B787</c:v>
                </c:pt>
                <c:pt idx="4">
                  <c:v>ATR72</c:v>
                </c:pt>
                <c:pt idx="5">
                  <c:v>Tất cả</c:v>
                </c:pt>
              </c:strCache>
            </c:strRef>
          </c:cat>
          <c:val>
            <c:numRef>
              <c:f>'Data Chart'!$D$35:$D$40</c:f>
              <c:numCache>
                <c:formatCode>General</c:formatCode>
                <c:ptCount val="6"/>
                <c:pt idx="0">
                  <c:v>0</c:v>
                </c:pt>
                <c:pt idx="1">
                  <c:v>1</c:v>
                </c:pt>
                <c:pt idx="2">
                  <c:v>0</c:v>
                </c:pt>
                <c:pt idx="3">
                  <c:v>2</c:v>
                </c:pt>
                <c:pt idx="4">
                  <c:v>0</c:v>
                </c:pt>
                <c:pt idx="5" formatCode="0">
                  <c:v>3</c:v>
                </c:pt>
              </c:numCache>
            </c:numRef>
          </c:val>
          <c:extLst xmlns:c16r2="http://schemas.microsoft.com/office/drawing/2015/06/chart">
            <c:ext xmlns:c16="http://schemas.microsoft.com/office/drawing/2014/chart" uri="{C3380CC4-5D6E-409C-BE32-E72D297353CC}">
              <c16:uniqueId val="{00000001-EC7F-4364-89A8-487C5DDB8DF5}"/>
            </c:ext>
          </c:extLst>
        </c:ser>
        <c:dLbls>
          <c:showLegendKey val="0"/>
          <c:showVal val="0"/>
          <c:showCatName val="0"/>
          <c:showSerName val="0"/>
          <c:showPercent val="0"/>
          <c:showBubbleSize val="0"/>
        </c:dLbls>
        <c:gapWidth val="150"/>
        <c:axId val="274819336"/>
        <c:axId val="274821296"/>
      </c:barChart>
      <c:catAx>
        <c:axId val="274819336"/>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274821296"/>
        <c:crosses val="autoZero"/>
        <c:auto val="1"/>
        <c:lblAlgn val="ctr"/>
        <c:lblOffset val="100"/>
        <c:noMultiLvlLbl val="0"/>
      </c:catAx>
      <c:valAx>
        <c:axId val="274821296"/>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274819336"/>
        <c:crosses val="autoZero"/>
        <c:crossBetween val="between"/>
        <c:majorUnit val="4"/>
        <c:minorUnit val="2"/>
      </c:valAx>
    </c:plotArea>
    <c:legend>
      <c:legendPos val="b"/>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6.3555743243243229E-2</c:v>
                </c:pt>
                <c:pt idx="1">
                  <c:v>7.9221315845596149E-2</c:v>
                </c:pt>
                <c:pt idx="2">
                  <c:v>9.2217657798643743E-2</c:v>
                </c:pt>
                <c:pt idx="3">
                  <c:v>0.18499677002583975</c:v>
                </c:pt>
                <c:pt idx="4">
                  <c:v>0.26877670940170961</c:v>
                </c:pt>
                <c:pt idx="5">
                  <c:v>0.24139887436456092</c:v>
                </c:pt>
                <c:pt idx="6">
                  <c:v>0.15519514767932496</c:v>
                </c:pt>
                <c:pt idx="7">
                  <c:v>0.14149305555555564</c:v>
                </c:pt>
                <c:pt idx="8">
                  <c:v>4.3179563492063561E-2</c:v>
                </c:pt>
              </c:numCache>
            </c:numRef>
          </c:val>
          <c:extLst xmlns:c16r2="http://schemas.microsoft.com/office/drawing/2015/06/chart">
            <c:ext xmlns:c16="http://schemas.microsoft.com/office/drawing/2014/chart" uri="{C3380CC4-5D6E-409C-BE32-E72D297353CC}">
              <c16:uniqueId val="{00000000-60B7-454D-B591-26D8CCFAD46D}"/>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6.4273049645390087E-2</c:v>
                </c:pt>
                <c:pt idx="1">
                  <c:v>8.0261839708561128E-2</c:v>
                </c:pt>
                <c:pt idx="2">
                  <c:v>9.2129629629629659E-2</c:v>
                </c:pt>
                <c:pt idx="3">
                  <c:v>0.1744414251207729</c:v>
                </c:pt>
                <c:pt idx="4">
                  <c:v>0.28500683060109311</c:v>
                </c:pt>
                <c:pt idx="5">
                  <c:v>0.248203185703186</c:v>
                </c:pt>
                <c:pt idx="6">
                  <c:v>0.1476521164021164</c:v>
                </c:pt>
                <c:pt idx="7">
                  <c:v>0.1428807634164779</c:v>
                </c:pt>
                <c:pt idx="8">
                  <c:v>4.3443152454780407E-2</c:v>
                </c:pt>
              </c:numCache>
            </c:numRef>
          </c:val>
          <c:extLst xmlns:c16r2="http://schemas.microsoft.com/office/drawing/2015/06/chart">
            <c:ext xmlns:c16="http://schemas.microsoft.com/office/drawing/2014/chart" uri="{C3380CC4-5D6E-409C-BE32-E72D297353CC}">
              <c16:uniqueId val="{00000001-60B7-454D-B591-26D8CCFAD46D}"/>
            </c:ext>
          </c:extLst>
        </c:ser>
        <c:dLbls>
          <c:showLegendKey val="0"/>
          <c:showVal val="0"/>
          <c:showCatName val="0"/>
          <c:showSerName val="0"/>
          <c:showPercent val="0"/>
          <c:showBubbleSize val="0"/>
        </c:dLbls>
        <c:gapWidth val="75"/>
        <c:axId val="276032848"/>
        <c:axId val="276033240"/>
      </c:barChart>
      <c:catAx>
        <c:axId val="27603284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033240"/>
        <c:crosses val="autoZero"/>
        <c:auto val="1"/>
        <c:lblAlgn val="ctr"/>
        <c:lblOffset val="100"/>
        <c:noMultiLvlLbl val="0"/>
      </c:catAx>
      <c:valAx>
        <c:axId val="27603324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0328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7.0476190476190483</c:v>
                </c:pt>
                <c:pt idx="1">
                  <c:v>5.7252747252747245</c:v>
                </c:pt>
                <c:pt idx="2">
                  <c:v>4.3469387755102042</c:v>
                </c:pt>
                <c:pt idx="3">
                  <c:v>2.4714285714285715</c:v>
                </c:pt>
                <c:pt idx="4">
                  <c:v>3.0924369747899161</c:v>
                </c:pt>
                <c:pt idx="5">
                  <c:v>8</c:v>
                </c:pt>
              </c:numCache>
            </c:numRef>
          </c:val>
          <c:extLst xmlns:c16r2="http://schemas.microsoft.com/office/drawing/2015/06/chart">
            <c:ext xmlns:c16="http://schemas.microsoft.com/office/drawing/2014/chart" uri="{C3380CC4-5D6E-409C-BE32-E72D297353CC}">
              <c16:uniqueId val="{00000000-125A-407E-9B29-8C24CF8C4E49}"/>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6.7142857142857144</c:v>
                </c:pt>
                <c:pt idx="1">
                  <c:v>5.5860805860805858</c:v>
                </c:pt>
                <c:pt idx="2">
                  <c:v>4.7142857142857144</c:v>
                </c:pt>
                <c:pt idx="3">
                  <c:v>2.4</c:v>
                </c:pt>
                <c:pt idx="4">
                  <c:v>3.1428571428571423</c:v>
                </c:pt>
                <c:pt idx="5">
                  <c:v>7.3714285714285719</c:v>
                </c:pt>
              </c:numCache>
            </c:numRef>
          </c:val>
          <c:extLst xmlns:c16r2="http://schemas.microsoft.com/office/drawing/2015/06/chart">
            <c:ext xmlns:c16="http://schemas.microsoft.com/office/drawing/2014/chart" uri="{C3380CC4-5D6E-409C-BE32-E72D297353CC}">
              <c16:uniqueId val="{00000001-125A-407E-9B29-8C24CF8C4E49}"/>
            </c:ext>
          </c:extLst>
        </c:ser>
        <c:dLbls>
          <c:showLegendKey val="0"/>
          <c:showVal val="1"/>
          <c:showCatName val="0"/>
          <c:showSerName val="0"/>
          <c:showPercent val="0"/>
          <c:showBubbleSize val="0"/>
        </c:dLbls>
        <c:gapWidth val="150"/>
        <c:axId val="276032064"/>
        <c:axId val="276033632"/>
      </c:barChart>
      <c:catAx>
        <c:axId val="27603206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033632"/>
        <c:crosses val="autoZero"/>
        <c:auto val="1"/>
        <c:lblAlgn val="ctr"/>
        <c:lblOffset val="100"/>
        <c:noMultiLvlLbl val="0"/>
      </c:catAx>
      <c:valAx>
        <c:axId val="276033632"/>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0320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1-6F0A-4FC6-B396-D8E7783FA001}"/>
              </c:ext>
            </c:extLst>
          </c:dPt>
          <c:dPt>
            <c:idx val="1"/>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3-6F0A-4FC6-B396-D8E7783FA001}"/>
              </c:ext>
            </c:extLst>
          </c:dPt>
          <c:dPt>
            <c:idx val="2"/>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5-6F0A-4FC6-B396-D8E7783FA001}"/>
              </c:ext>
            </c:extLst>
          </c:dPt>
          <c:dPt>
            <c:idx val="3"/>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7-6F0A-4FC6-B396-D8E7783FA001}"/>
              </c:ext>
            </c:extLst>
          </c:dPt>
          <c:dPt>
            <c:idx val="4"/>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9-6F0A-4FC6-B396-D8E7783FA001}"/>
              </c:ext>
            </c:extLst>
          </c:dPt>
          <c:dPt>
            <c:idx val="5"/>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B-6F0A-4FC6-B396-D8E7783FA001}"/>
              </c:ext>
            </c:extLst>
          </c:dPt>
          <c:dPt>
            <c:idx val="6"/>
            <c:invertIfNegative val="0"/>
            <c:bubble3D val="0"/>
            <c:spPr>
              <a:solidFill>
                <a:srgbClr val="ED7D31"/>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D-6F0A-4FC6-B396-D8E7783FA001}"/>
              </c:ext>
            </c:extLst>
          </c:dPt>
          <c:dPt>
            <c:idx val="15"/>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F-6F0A-4FC6-B396-D8E7783FA001}"/>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Week!$B$35:$BQ$35</c:f>
              <c:numCache>
                <c:formatCode>d\-mmm</c:formatCode>
                <c:ptCount val="68"/>
                <c:pt idx="0">
                  <c:v>45698</c:v>
                </c:pt>
                <c:pt idx="1">
                  <c:v>45699</c:v>
                </c:pt>
                <c:pt idx="2">
                  <c:v>45700</c:v>
                </c:pt>
                <c:pt idx="3">
                  <c:v>45701</c:v>
                </c:pt>
                <c:pt idx="4">
                  <c:v>45702</c:v>
                </c:pt>
                <c:pt idx="5">
                  <c:v>45703</c:v>
                </c:pt>
                <c:pt idx="6">
                  <c:v>45704</c:v>
                </c:pt>
                <c:pt idx="7">
                  <c:v>45705</c:v>
                </c:pt>
                <c:pt idx="8">
                  <c:v>45706</c:v>
                </c:pt>
                <c:pt idx="9">
                  <c:v>45707</c:v>
                </c:pt>
                <c:pt idx="10">
                  <c:v>45708</c:v>
                </c:pt>
                <c:pt idx="11">
                  <c:v>45709</c:v>
                </c:pt>
                <c:pt idx="12">
                  <c:v>45710</c:v>
                </c:pt>
                <c:pt idx="13">
                  <c:v>45711</c:v>
                </c:pt>
                <c:pt idx="14">
                  <c:v>45712</c:v>
                </c:pt>
                <c:pt idx="15">
                  <c:v>45713</c:v>
                </c:pt>
                <c:pt idx="16">
                  <c:v>45714</c:v>
                </c:pt>
                <c:pt idx="17">
                  <c:v>45715</c:v>
                </c:pt>
                <c:pt idx="18">
                  <c:v>45716</c:v>
                </c:pt>
                <c:pt idx="19">
                  <c:v>45717</c:v>
                </c:pt>
                <c:pt idx="20">
                  <c:v>45718</c:v>
                </c:pt>
                <c:pt idx="21">
                  <c:v>45719</c:v>
                </c:pt>
                <c:pt idx="22">
                  <c:v>45720</c:v>
                </c:pt>
                <c:pt idx="23">
                  <c:v>45721</c:v>
                </c:pt>
                <c:pt idx="24">
                  <c:v>45722</c:v>
                </c:pt>
                <c:pt idx="25">
                  <c:v>45723</c:v>
                </c:pt>
                <c:pt idx="26">
                  <c:v>45724</c:v>
                </c:pt>
                <c:pt idx="27">
                  <c:v>45725</c:v>
                </c:pt>
                <c:pt idx="28">
                  <c:v>45726</c:v>
                </c:pt>
                <c:pt idx="29">
                  <c:v>45727</c:v>
                </c:pt>
                <c:pt idx="30">
                  <c:v>45728</c:v>
                </c:pt>
                <c:pt idx="31">
                  <c:v>45729</c:v>
                </c:pt>
                <c:pt idx="32">
                  <c:v>45730</c:v>
                </c:pt>
                <c:pt idx="33">
                  <c:v>45731</c:v>
                </c:pt>
                <c:pt idx="34">
                  <c:v>45732</c:v>
                </c:pt>
                <c:pt idx="35">
                  <c:v>45733</c:v>
                </c:pt>
                <c:pt idx="36">
                  <c:v>45734</c:v>
                </c:pt>
                <c:pt idx="37">
                  <c:v>45735</c:v>
                </c:pt>
                <c:pt idx="38">
                  <c:v>45736</c:v>
                </c:pt>
                <c:pt idx="39">
                  <c:v>45737</c:v>
                </c:pt>
                <c:pt idx="40">
                  <c:v>45738</c:v>
                </c:pt>
                <c:pt idx="41">
                  <c:v>45739</c:v>
                </c:pt>
                <c:pt idx="42">
                  <c:v>45740</c:v>
                </c:pt>
                <c:pt idx="43">
                  <c:v>45741</c:v>
                </c:pt>
                <c:pt idx="44">
                  <c:v>45742</c:v>
                </c:pt>
                <c:pt idx="45">
                  <c:v>45743</c:v>
                </c:pt>
                <c:pt idx="46">
                  <c:v>45744</c:v>
                </c:pt>
                <c:pt idx="47">
                  <c:v>45745</c:v>
                </c:pt>
                <c:pt idx="48">
                  <c:v>45746</c:v>
                </c:pt>
                <c:pt idx="49">
                  <c:v>45747</c:v>
                </c:pt>
              </c:numCache>
            </c:numRef>
          </c:cat>
          <c:val>
            <c:numRef>
              <c:f>Week!$B$36:$BQ$36</c:f>
              <c:numCache>
                <c:formatCode>General</c:formatCode>
                <c:ptCount val="68"/>
                <c:pt idx="0">
                  <c:v>468</c:v>
                </c:pt>
                <c:pt idx="1">
                  <c:v>421</c:v>
                </c:pt>
                <c:pt idx="2">
                  <c:v>426</c:v>
                </c:pt>
                <c:pt idx="3">
                  <c:v>416</c:v>
                </c:pt>
                <c:pt idx="4">
                  <c:v>409</c:v>
                </c:pt>
                <c:pt idx="5">
                  <c:v>401</c:v>
                </c:pt>
                <c:pt idx="6">
                  <c:v>425</c:v>
                </c:pt>
                <c:pt idx="7">
                  <c:v>396</c:v>
                </c:pt>
                <c:pt idx="8">
                  <c:v>383</c:v>
                </c:pt>
                <c:pt idx="9">
                  <c:v>394</c:v>
                </c:pt>
                <c:pt idx="10">
                  <c:v>387</c:v>
                </c:pt>
                <c:pt idx="11">
                  <c:v>410</c:v>
                </c:pt>
                <c:pt idx="12">
                  <c:v>400</c:v>
                </c:pt>
                <c:pt idx="13">
                  <c:v>415</c:v>
                </c:pt>
                <c:pt idx="14">
                  <c:v>396</c:v>
                </c:pt>
                <c:pt idx="15">
                  <c:v>400</c:v>
                </c:pt>
                <c:pt idx="16">
                  <c:v>406</c:v>
                </c:pt>
                <c:pt idx="17">
                  <c:v>407</c:v>
                </c:pt>
                <c:pt idx="18">
                  <c:v>405</c:v>
                </c:pt>
                <c:pt idx="19">
                  <c:v>412</c:v>
                </c:pt>
                <c:pt idx="20">
                  <c:v>415</c:v>
                </c:pt>
                <c:pt idx="21">
                  <c:v>404</c:v>
                </c:pt>
                <c:pt idx="22">
                  <c:v>405</c:v>
                </c:pt>
                <c:pt idx="23">
                  <c:v>405</c:v>
                </c:pt>
                <c:pt idx="24">
                  <c:v>406</c:v>
                </c:pt>
                <c:pt idx="25">
                  <c:v>421</c:v>
                </c:pt>
                <c:pt idx="26">
                  <c:v>416</c:v>
                </c:pt>
                <c:pt idx="27">
                  <c:v>419</c:v>
                </c:pt>
                <c:pt idx="28">
                  <c:v>412</c:v>
                </c:pt>
                <c:pt idx="29">
                  <c:v>399</c:v>
                </c:pt>
                <c:pt idx="30">
                  <c:v>405</c:v>
                </c:pt>
                <c:pt idx="31">
                  <c:v>414</c:v>
                </c:pt>
                <c:pt idx="32">
                  <c:v>423</c:v>
                </c:pt>
                <c:pt idx="33">
                  <c:v>424</c:v>
                </c:pt>
                <c:pt idx="34">
                  <c:v>426</c:v>
                </c:pt>
                <c:pt idx="35">
                  <c:v>414</c:v>
                </c:pt>
                <c:pt idx="36">
                  <c:v>412</c:v>
                </c:pt>
                <c:pt idx="37">
                  <c:v>414</c:v>
                </c:pt>
                <c:pt idx="38">
                  <c:v>419</c:v>
                </c:pt>
                <c:pt idx="39">
                  <c:v>428</c:v>
                </c:pt>
                <c:pt idx="40">
                  <c:v>420</c:v>
                </c:pt>
                <c:pt idx="41">
                  <c:v>424</c:v>
                </c:pt>
                <c:pt idx="42">
                  <c:v>421</c:v>
                </c:pt>
                <c:pt idx="43">
                  <c:v>422</c:v>
                </c:pt>
                <c:pt idx="44">
                  <c:v>415</c:v>
                </c:pt>
                <c:pt idx="45">
                  <c:v>410</c:v>
                </c:pt>
                <c:pt idx="46">
                  <c:v>417</c:v>
                </c:pt>
                <c:pt idx="47">
                  <c:v>423</c:v>
                </c:pt>
                <c:pt idx="48">
                  <c:v>425</c:v>
                </c:pt>
                <c:pt idx="49">
                  <c:v>426</c:v>
                </c:pt>
              </c:numCache>
            </c:numRef>
          </c:val>
          <c:extLst xmlns:c16r2="http://schemas.microsoft.com/office/drawing/2015/06/chart">
            <c:ext xmlns:c16="http://schemas.microsoft.com/office/drawing/2014/chart" uri="{C3380CC4-5D6E-409C-BE32-E72D297353CC}">
              <c16:uniqueId val="{00000010-6F0A-4FC6-B396-D8E7783FA001}"/>
            </c:ext>
          </c:extLst>
        </c:ser>
        <c:dLbls>
          <c:showLegendKey val="0"/>
          <c:showVal val="1"/>
          <c:showCatName val="0"/>
          <c:showSerName val="0"/>
          <c:showPercent val="0"/>
          <c:showBubbleSize val="0"/>
        </c:dLbls>
        <c:gapWidth val="75"/>
        <c:axId val="276036376"/>
        <c:axId val="276029712"/>
      </c:barChart>
      <c:dateAx>
        <c:axId val="276036376"/>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029712"/>
        <c:crosses val="autoZero"/>
        <c:auto val="1"/>
        <c:lblOffset val="100"/>
        <c:baseTimeUnit val="days"/>
      </c:dateAx>
      <c:valAx>
        <c:axId val="276029712"/>
        <c:scaling>
          <c:orientation val="minMax"/>
          <c:max val="480"/>
          <c:min val="30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036376"/>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16-Feb-25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40003650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839633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Slide Image Placeholder 1"/>
          <p:cNvSpPr>
            <a:spLocks noGrp="1" noRot="1" noChangeAspect="1"/>
          </p:cNvSpPr>
          <p:nvPr>
            <p:ph type="sldImg"/>
          </p:nvPr>
        </p:nvSpPr>
        <p:spPr/>
      </p:sp>
      <p:sp>
        <p:nvSpPr>
          <p:cNvPr id="1048600" name="Notes Placeholder 2"/>
          <p:cNvSpPr>
            <a:spLocks noGrp="1"/>
          </p:cNvSpPr>
          <p:nvPr>
            <p:ph type="body" idx="1"/>
          </p:nvPr>
        </p:nvSpPr>
        <p:spPr/>
        <p:txBody>
          <a:bodyPr/>
          <a:lstStyle/>
          <a:p>
            <a:endParaRPr lang="en-US" dirty="0"/>
          </a:p>
        </p:txBody>
      </p:sp>
      <p:sp>
        <p:nvSpPr>
          <p:cNvPr id="1048601"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2172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6</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040696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227850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14-Dec </a:t>
            </a:r>
            <a:endParaRPr lang="en-US"/>
          </a:p>
        </p:txBody>
      </p:sp>
      <p:sp>
        <p:nvSpPr>
          <p:cNvPr id="4" name="Slide Number Placeholder 3"/>
          <p:cNvSpPr>
            <a:spLocks noGrp="1"/>
          </p:cNvSpPr>
          <p:nvPr>
            <p:ph type="sldNum" sz="quarter" idx="10"/>
          </p:nvPr>
        </p:nvSpPr>
        <p:spPr/>
        <p:txBody>
          <a:bodyPr/>
          <a:lstStyle/>
          <a:p>
            <a:fld id="{D27FAC9D-6C4D-45A1-835A-6091318B370B}" type="slidenum">
              <a:rPr lang="en-US" smtClean="0"/>
              <a:pPr/>
              <a:t>9</a:t>
            </a:fld>
            <a:endParaRPr lang="en-US" dirty="0"/>
          </a:p>
        </p:txBody>
      </p:sp>
    </p:spTree>
    <p:extLst>
      <p:ext uri="{BB962C8B-B14F-4D97-AF65-F5344CB8AC3E}">
        <p14:creationId xmlns:p14="http://schemas.microsoft.com/office/powerpoint/2010/main" val="832512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7701C3-2D30-4640-8F77-E546D80A15CA}" type="slidenum">
              <a:rPr lang="en-US" smtClean="0"/>
              <a:t>10</a:t>
            </a:fld>
            <a:endParaRPr lang="en-US"/>
          </a:p>
        </p:txBody>
      </p:sp>
    </p:spTree>
    <p:extLst>
      <p:ext uri="{BB962C8B-B14F-4D97-AF65-F5344CB8AC3E}">
        <p14:creationId xmlns:p14="http://schemas.microsoft.com/office/powerpoint/2010/main" val="1503873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A07728F-659E-4563-8681-F0461742A695}" type="slidenum">
              <a:rPr lang="en-US" altLang="en-US" smtClean="0">
                <a:solidFill>
                  <a:srgbClr val="000000"/>
                </a:solidFill>
              </a:rPr>
              <a:pPr fontAlgn="base">
                <a:spcBef>
                  <a:spcPct val="0"/>
                </a:spcBef>
                <a:spcAft>
                  <a:spcPct val="0"/>
                </a:spcAft>
              </a:pPr>
              <a:t>11</a:t>
            </a:fld>
            <a:endParaRPr lang="en-US" altLang="en-US">
              <a:solidFill>
                <a:srgbClr val="000000"/>
              </a:solidFill>
            </a:endParaRPr>
          </a:p>
        </p:txBody>
      </p:sp>
    </p:spTree>
    <p:extLst>
      <p:ext uri="{BB962C8B-B14F-4D97-AF65-F5344CB8AC3E}">
        <p14:creationId xmlns:p14="http://schemas.microsoft.com/office/powerpoint/2010/main" val="4135933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A9B2C098-1399-3AC6-C11E-41BDFEAE79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0BEB6950-9C70-A6C1-BC2E-0C640CD5F3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5E37D5B6-F191-5366-455B-BA1C5133AF4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6E1ADCC2-0F01-8374-40FF-BA8375C81A2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442701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13</a:t>
            </a:fld>
            <a:endParaRPr/>
          </a:p>
        </p:txBody>
      </p:sp>
    </p:spTree>
    <p:extLst>
      <p:ext uri="{BB962C8B-B14F-4D97-AF65-F5344CB8AC3E}">
        <p14:creationId xmlns:p14="http://schemas.microsoft.com/office/powerpoint/2010/main" val="3040357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14</a:t>
            </a:fld>
            <a:endParaRPr/>
          </a:p>
        </p:txBody>
      </p:sp>
    </p:spTree>
    <p:extLst>
      <p:ext uri="{BB962C8B-B14F-4D97-AF65-F5344CB8AC3E}">
        <p14:creationId xmlns:p14="http://schemas.microsoft.com/office/powerpoint/2010/main" val="24614913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6D6698A7-A523-FA8F-1560-38B78DE6C5C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8FD2FE96-8DD4-7F86-2AD5-717EFC1A57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7893F7A7-EB19-4D7A-3CFF-F28D2ED9E1F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3163EDE2-855A-FFA1-3437-7A3D1A0D74D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251658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16</a:t>
            </a:fld>
            <a:endParaRPr/>
          </a:p>
        </p:txBody>
      </p:sp>
    </p:spTree>
    <p:extLst>
      <p:ext uri="{BB962C8B-B14F-4D97-AF65-F5344CB8AC3E}">
        <p14:creationId xmlns:p14="http://schemas.microsoft.com/office/powerpoint/2010/main" val="1044442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17</a:t>
            </a:fld>
            <a:endParaRPr/>
          </a:p>
        </p:txBody>
      </p:sp>
    </p:spTree>
    <p:extLst>
      <p:ext uri="{BB962C8B-B14F-4D97-AF65-F5344CB8AC3E}">
        <p14:creationId xmlns:p14="http://schemas.microsoft.com/office/powerpoint/2010/main" val="17335307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F9B03CD1-C0E6-1C7C-34ED-254B01290D96}"/>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DBBAABCF-6E17-65AB-19CF-B8E318AFA7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9D557719-C459-58BF-9F1E-C946E9A38F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9EE1A640-ADF2-5D4E-64B5-18E39B9B4A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94916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60569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Đồng hồ trong kho lắp lên P/N 4863-503-80-10, S/N 738 được Ban QLVT mua từ 04/2017 của một hãng khác, </a:t>
            </a:r>
          </a:p>
          <a:p>
            <a:r>
              <a:rPr lang="vi-VN" smtClean="0"/>
              <a:t>- Theo SFR trước khi mua thì khối này đã khai thác được 31,461 FC và 32,495 FH. được gửi đi sửa do lỗi chỉ thi của Rudder bị sai lệch.</a:t>
            </a:r>
          </a:p>
          <a:p>
            <a:r>
              <a:rPr lang="vi-VN" smtClean="0"/>
              <a:t>- Sau khi mua về 20/Aug/2018, lắp lên cho B225.</a:t>
            </a:r>
          </a:p>
          <a:p>
            <a:r>
              <a:rPr lang="vi-VN" smtClean="0"/>
              <a:t>- Ngày 18/Nov/2018, khai thác được trên B225 đc 467 FC, 334 FH thì phải tháo xuống đi sửa chữa. theo SFR thì nguyên nhân do lỗi chỉ thị của Rudder và Trim position bị sai lệch</a:t>
            </a:r>
          </a:p>
          <a:p>
            <a:r>
              <a:rPr lang="vi-VN" smtClean="0"/>
              <a:t>- Sau khi đi sửa chữa về thì lưu kho đến bây giờ và lắp lên B223 hôm qua thì phát hiện lỗi.</a:t>
            </a:r>
          </a:p>
          <a:p>
            <a:endParaRPr lang="vi-VN" smtClean="0"/>
          </a:p>
          <a:p>
            <a:r>
              <a:rPr lang="vi-VN" smtClean="0"/>
              <a:t>=&gt; Như vậy, khối indicator trong kho được mua cũ từ 2017, khai thác rất cao giờ, và có lịch sử bị sai lỗi chỉ thị</a:t>
            </a:r>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20</a:t>
            </a:fld>
            <a:endParaRPr lang="en-US"/>
          </a:p>
        </p:txBody>
      </p:sp>
    </p:spTree>
    <p:extLst>
      <p:ext uri="{BB962C8B-B14F-4D97-AF65-F5344CB8AC3E}">
        <p14:creationId xmlns:p14="http://schemas.microsoft.com/office/powerpoint/2010/main" val="2928380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7FAC9D-6C4D-45A1-835A-6091318B370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341140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A07728F-659E-4563-8681-F0461742A695}" type="slidenum">
              <a:rPr lang="en-US" altLang="en-US" smtClean="0">
                <a:solidFill>
                  <a:srgbClr val="000000"/>
                </a:solidFill>
              </a:rPr>
              <a:pPr fontAlgn="base">
                <a:spcBef>
                  <a:spcPct val="0"/>
                </a:spcBef>
                <a:spcAft>
                  <a:spcPct val="0"/>
                </a:spcAft>
              </a:pPr>
              <a:t>22</a:t>
            </a:fld>
            <a:endParaRPr lang="en-US" altLang="en-US">
              <a:solidFill>
                <a:srgbClr val="000000"/>
              </a:solidFill>
            </a:endParaRPr>
          </a:p>
        </p:txBody>
      </p:sp>
    </p:spTree>
    <p:extLst>
      <p:ext uri="{BB962C8B-B14F-4D97-AF65-F5344CB8AC3E}">
        <p14:creationId xmlns:p14="http://schemas.microsoft.com/office/powerpoint/2010/main" val="17595380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879499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24</a:t>
            </a:fld>
            <a:endParaRPr/>
          </a:p>
        </p:txBody>
      </p:sp>
    </p:spTree>
    <p:extLst>
      <p:ext uri="{BB962C8B-B14F-4D97-AF65-F5344CB8AC3E}">
        <p14:creationId xmlns:p14="http://schemas.microsoft.com/office/powerpoint/2010/main" val="11966546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25</a:t>
            </a:fld>
            <a:endParaRPr/>
          </a:p>
        </p:txBody>
      </p:sp>
    </p:spTree>
    <p:extLst>
      <p:ext uri="{BB962C8B-B14F-4D97-AF65-F5344CB8AC3E}">
        <p14:creationId xmlns:p14="http://schemas.microsoft.com/office/powerpoint/2010/main" val="8239059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92C2FA8-72AD-740C-B2A4-D59CA329E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1713B04E-D2CA-6404-597A-9282068096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xmlns="" id="{1EE61739-826D-7AAF-B33B-18FF92150DF4}"/>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xmlns="" id="{676FAD88-11AB-C429-5B65-435A43FFA94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362822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27</a:t>
            </a:fld>
            <a:endParaRPr/>
          </a:p>
        </p:txBody>
      </p:sp>
    </p:spTree>
    <p:extLst>
      <p:ext uri="{BB962C8B-B14F-4D97-AF65-F5344CB8AC3E}">
        <p14:creationId xmlns:p14="http://schemas.microsoft.com/office/powerpoint/2010/main" val="36312596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E26068CF-38DB-1D6C-6DC7-F7D2D084AA3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65B994C1-1E18-D0D0-66A3-BAFA78B7E1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2F0393F5-5A1F-BE21-BFE8-F6468BBE15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4DCB08EB-58F1-3868-A15A-E5412B0FB1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28</a:t>
            </a:fld>
            <a:endParaRPr/>
          </a:p>
        </p:txBody>
      </p:sp>
    </p:spTree>
    <p:extLst>
      <p:ext uri="{BB962C8B-B14F-4D97-AF65-F5344CB8AC3E}">
        <p14:creationId xmlns:p14="http://schemas.microsoft.com/office/powerpoint/2010/main" val="18963904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345BC7C4-A2AF-0A92-C797-AFA7332B9B7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1DE54FAD-9C5B-FBB2-4944-B4F81AD9AC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8D2EAB10-7BA4-F850-28F0-A084C51F22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8983371B-1407-FBAF-7F23-5A67DD72E0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29</a:t>
            </a:fld>
            <a:endParaRPr/>
          </a:p>
        </p:txBody>
      </p:sp>
    </p:spTree>
    <p:extLst>
      <p:ext uri="{BB962C8B-B14F-4D97-AF65-F5344CB8AC3E}">
        <p14:creationId xmlns:p14="http://schemas.microsoft.com/office/powerpoint/2010/main" val="23661189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39</a:t>
            </a:fld>
            <a:endParaRPr/>
          </a:p>
        </p:txBody>
      </p:sp>
    </p:spTree>
    <p:extLst>
      <p:ext uri="{BB962C8B-B14F-4D97-AF65-F5344CB8AC3E}">
        <p14:creationId xmlns:p14="http://schemas.microsoft.com/office/powerpoint/2010/main" val="28088708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40</a:t>
            </a:fld>
            <a:endParaRPr/>
          </a:p>
        </p:txBody>
      </p:sp>
    </p:spTree>
    <p:extLst>
      <p:ext uri="{BB962C8B-B14F-4D97-AF65-F5344CB8AC3E}">
        <p14:creationId xmlns:p14="http://schemas.microsoft.com/office/powerpoint/2010/main" val="38676341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41</a:t>
            </a:fld>
            <a:endParaRPr/>
          </a:p>
        </p:txBody>
      </p:sp>
    </p:spTree>
    <p:extLst>
      <p:ext uri="{BB962C8B-B14F-4D97-AF65-F5344CB8AC3E}">
        <p14:creationId xmlns:p14="http://schemas.microsoft.com/office/powerpoint/2010/main" val="39246483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42</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2946697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43</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5815070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01f5ae314a_0_3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g301f5ae314a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45166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46</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382393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669552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723993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50</a:t>
            </a:fld>
            <a:endParaRPr/>
          </a:p>
        </p:txBody>
      </p:sp>
    </p:spTree>
    <p:extLst>
      <p:ext uri="{BB962C8B-B14F-4D97-AF65-F5344CB8AC3E}">
        <p14:creationId xmlns:p14="http://schemas.microsoft.com/office/powerpoint/2010/main" val="10345475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1ccdae391d_0_27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1ccdae391d_0_27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1ccdae391d_0_27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51</a:t>
            </a:fld>
            <a:endParaRPr sz="1200">
              <a:latin typeface="Calibri"/>
              <a:ea typeface="Calibri"/>
              <a:cs typeface="Calibri"/>
              <a:sym typeface="Calibri"/>
            </a:endParaRPr>
          </a:p>
        </p:txBody>
      </p:sp>
    </p:spTree>
    <p:extLst>
      <p:ext uri="{BB962C8B-B14F-4D97-AF65-F5344CB8AC3E}">
        <p14:creationId xmlns:p14="http://schemas.microsoft.com/office/powerpoint/2010/main" val="36672444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52</a:t>
            </a:fld>
            <a:endParaRPr sz="1200">
              <a:latin typeface="Calibri"/>
              <a:ea typeface="Calibri"/>
              <a:cs typeface="Calibri"/>
              <a:sym typeface="Calibri"/>
            </a:endParaRPr>
          </a:p>
        </p:txBody>
      </p:sp>
    </p:spTree>
    <p:extLst>
      <p:ext uri="{BB962C8B-B14F-4D97-AF65-F5344CB8AC3E}">
        <p14:creationId xmlns:p14="http://schemas.microsoft.com/office/powerpoint/2010/main" val="34393621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53</a:t>
            </a:fld>
            <a:endParaRPr sz="1200">
              <a:latin typeface="Calibri"/>
              <a:ea typeface="Calibri"/>
              <a:cs typeface="Calibri"/>
              <a:sym typeface="Calibri"/>
            </a:endParaRPr>
          </a:p>
        </p:txBody>
      </p:sp>
    </p:spTree>
    <p:extLst>
      <p:ext uri="{BB962C8B-B14F-4D97-AF65-F5344CB8AC3E}">
        <p14:creationId xmlns:p14="http://schemas.microsoft.com/office/powerpoint/2010/main" val="39754180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1ccdae391d_0_29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g31ccdae391d_0_29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g31ccdae391d_0_29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54</a:t>
            </a:fld>
            <a:endParaRPr sz="1200">
              <a:latin typeface="Calibri"/>
              <a:ea typeface="Calibri"/>
              <a:cs typeface="Calibri"/>
              <a:sym typeface="Calibri"/>
            </a:endParaRPr>
          </a:p>
        </p:txBody>
      </p:sp>
    </p:spTree>
    <p:extLst>
      <p:ext uri="{BB962C8B-B14F-4D97-AF65-F5344CB8AC3E}">
        <p14:creationId xmlns:p14="http://schemas.microsoft.com/office/powerpoint/2010/main" val="29703519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55</a:t>
            </a:fld>
            <a:endParaRPr/>
          </a:p>
        </p:txBody>
      </p:sp>
    </p:spTree>
    <p:extLst>
      <p:ext uri="{BB962C8B-B14F-4D97-AF65-F5344CB8AC3E}">
        <p14:creationId xmlns:p14="http://schemas.microsoft.com/office/powerpoint/2010/main" val="32275252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56</a:t>
            </a:fld>
            <a:endParaRPr sz="1200">
              <a:latin typeface="Calibri"/>
              <a:ea typeface="Calibri"/>
              <a:cs typeface="Calibri"/>
              <a:sym typeface="Calibri"/>
            </a:endParaRPr>
          </a:p>
        </p:txBody>
      </p:sp>
    </p:spTree>
    <p:extLst>
      <p:ext uri="{BB962C8B-B14F-4D97-AF65-F5344CB8AC3E}">
        <p14:creationId xmlns:p14="http://schemas.microsoft.com/office/powerpoint/2010/main" val="132681315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57</a:t>
            </a:fld>
            <a:endParaRPr/>
          </a:p>
        </p:txBody>
      </p:sp>
    </p:spTree>
    <p:extLst>
      <p:ext uri="{BB962C8B-B14F-4D97-AF65-F5344CB8AC3E}">
        <p14:creationId xmlns:p14="http://schemas.microsoft.com/office/powerpoint/2010/main" val="36175743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58</a:t>
            </a:fld>
            <a:endParaRPr/>
          </a:p>
        </p:txBody>
      </p:sp>
    </p:spTree>
    <p:extLst>
      <p:ext uri="{BB962C8B-B14F-4D97-AF65-F5344CB8AC3E}">
        <p14:creationId xmlns:p14="http://schemas.microsoft.com/office/powerpoint/2010/main" val="35038820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59</a:t>
            </a:fld>
            <a:endParaRPr sz="1200">
              <a:latin typeface="Calibri"/>
              <a:ea typeface="Calibri"/>
              <a:cs typeface="Calibri"/>
              <a:sym typeface="Calibri"/>
            </a:endParaRPr>
          </a:p>
        </p:txBody>
      </p:sp>
    </p:spTree>
    <p:extLst>
      <p:ext uri="{BB962C8B-B14F-4D97-AF65-F5344CB8AC3E}">
        <p14:creationId xmlns:p14="http://schemas.microsoft.com/office/powerpoint/2010/main" val="208587938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60</a:t>
            </a:fld>
            <a:endParaRPr/>
          </a:p>
        </p:txBody>
      </p:sp>
    </p:spTree>
    <p:extLst>
      <p:ext uri="{BB962C8B-B14F-4D97-AF65-F5344CB8AC3E}">
        <p14:creationId xmlns:p14="http://schemas.microsoft.com/office/powerpoint/2010/main" val="66710754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61</a:t>
            </a:fld>
            <a:endParaRPr sz="1200">
              <a:latin typeface="Calibri"/>
              <a:ea typeface="Calibri"/>
              <a:cs typeface="Calibri"/>
              <a:sym typeface="Calibri"/>
            </a:endParaRPr>
          </a:p>
        </p:txBody>
      </p:sp>
    </p:spTree>
    <p:extLst>
      <p:ext uri="{BB962C8B-B14F-4D97-AF65-F5344CB8AC3E}">
        <p14:creationId xmlns:p14="http://schemas.microsoft.com/office/powerpoint/2010/main" val="41518436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62</a:t>
            </a:fld>
            <a:endParaRPr sz="1200">
              <a:latin typeface="Calibri"/>
              <a:ea typeface="Calibri"/>
              <a:cs typeface="Calibri"/>
              <a:sym typeface="Calibri"/>
            </a:endParaRPr>
          </a:p>
        </p:txBody>
      </p:sp>
    </p:spTree>
    <p:extLst>
      <p:ext uri="{BB962C8B-B14F-4D97-AF65-F5344CB8AC3E}">
        <p14:creationId xmlns:p14="http://schemas.microsoft.com/office/powerpoint/2010/main" val="353160857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63</a:t>
            </a:fld>
            <a:endParaRPr sz="1200">
              <a:latin typeface="Calibri"/>
              <a:ea typeface="Calibri"/>
              <a:cs typeface="Calibri"/>
              <a:sym typeface="Calibri"/>
            </a:endParaRPr>
          </a:p>
        </p:txBody>
      </p:sp>
    </p:spTree>
    <p:extLst>
      <p:ext uri="{BB962C8B-B14F-4D97-AF65-F5344CB8AC3E}">
        <p14:creationId xmlns:p14="http://schemas.microsoft.com/office/powerpoint/2010/main" val="28900215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64</a:t>
            </a:fld>
            <a:endParaRPr sz="1200">
              <a:latin typeface="Calibri"/>
              <a:ea typeface="Calibri"/>
              <a:cs typeface="Calibri"/>
              <a:sym typeface="Calibri"/>
            </a:endParaRPr>
          </a:p>
        </p:txBody>
      </p:sp>
    </p:spTree>
    <p:extLst>
      <p:ext uri="{BB962C8B-B14F-4D97-AF65-F5344CB8AC3E}">
        <p14:creationId xmlns:p14="http://schemas.microsoft.com/office/powerpoint/2010/main" val="180663601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65</a:t>
            </a:fld>
            <a:endParaRPr sz="1200">
              <a:latin typeface="Calibri"/>
              <a:ea typeface="Calibri"/>
              <a:cs typeface="Calibri"/>
              <a:sym typeface="Calibri"/>
            </a:endParaRPr>
          </a:p>
        </p:txBody>
      </p:sp>
    </p:spTree>
    <p:extLst>
      <p:ext uri="{BB962C8B-B14F-4D97-AF65-F5344CB8AC3E}">
        <p14:creationId xmlns:p14="http://schemas.microsoft.com/office/powerpoint/2010/main" val="143226105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66</a:t>
            </a:fld>
            <a:endParaRPr sz="1200">
              <a:latin typeface="Calibri"/>
              <a:ea typeface="Calibri"/>
              <a:cs typeface="Calibri"/>
              <a:sym typeface="Calibri"/>
            </a:endParaRPr>
          </a:p>
        </p:txBody>
      </p:sp>
    </p:spTree>
    <p:extLst>
      <p:ext uri="{BB962C8B-B14F-4D97-AF65-F5344CB8AC3E}">
        <p14:creationId xmlns:p14="http://schemas.microsoft.com/office/powerpoint/2010/main" val="357854530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67</a:t>
            </a:fld>
            <a:endParaRPr sz="1200">
              <a:latin typeface="Calibri"/>
              <a:ea typeface="Calibri"/>
              <a:cs typeface="Calibri"/>
              <a:sym typeface="Calibri"/>
            </a:endParaRPr>
          </a:p>
        </p:txBody>
      </p:sp>
    </p:spTree>
    <p:extLst>
      <p:ext uri="{BB962C8B-B14F-4D97-AF65-F5344CB8AC3E}">
        <p14:creationId xmlns:p14="http://schemas.microsoft.com/office/powerpoint/2010/main" val="32237160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68</a:t>
            </a:fld>
            <a:endParaRPr sz="1200">
              <a:latin typeface="Calibri"/>
              <a:ea typeface="Calibri"/>
              <a:cs typeface="Calibri"/>
              <a:sym typeface="Calibri"/>
            </a:endParaRPr>
          </a:p>
        </p:txBody>
      </p:sp>
    </p:spTree>
    <p:extLst>
      <p:ext uri="{BB962C8B-B14F-4D97-AF65-F5344CB8AC3E}">
        <p14:creationId xmlns:p14="http://schemas.microsoft.com/office/powerpoint/2010/main" val="10649943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69</a:t>
            </a:fld>
            <a:endParaRPr sz="1200">
              <a:latin typeface="Calibri"/>
              <a:ea typeface="Calibri"/>
              <a:cs typeface="Calibri"/>
              <a:sym typeface="Calibri"/>
            </a:endParaRPr>
          </a:p>
        </p:txBody>
      </p:sp>
    </p:spTree>
    <p:extLst>
      <p:ext uri="{BB962C8B-B14F-4D97-AF65-F5344CB8AC3E}">
        <p14:creationId xmlns:p14="http://schemas.microsoft.com/office/powerpoint/2010/main" val="143557546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7637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xmlns=""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xmlns="" id="{7CD31424-8E36-40E6-9371-E332C871D5A5}"/>
              </a:ext>
            </a:extLst>
          </p:cNvPr>
          <p:cNvSpPr txBox="1">
            <a:spLocks/>
          </p:cNvSpPr>
          <p:nvPr userDrawn="1"/>
        </p:nvSpPr>
        <p:spPr>
          <a:xfrm>
            <a:off x="11486223" y="6421949"/>
            <a:ext cx="611905" cy="365125"/>
          </a:xfrm>
          <a:prstGeom prst="rect">
            <a:avLst/>
          </a:prstGeom>
        </p:spPr>
        <p:txBody>
          <a:bodyPr vert="horz" lIns="91440" tIns="45720" rIns="91440" bIns="45720" rtlCol="0" anchor="ctr"/>
          <a:lstStyle>
            <a:defPPr>
              <a:defRPr lang="x-none"/>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3A1DAE-E79D-4DA5-B482-81DDF4B01157}" type="slidenum">
              <a:rPr lang="x-none" sz="1200" smtClean="0">
                <a:solidFill>
                  <a:schemeClr val="bg1"/>
                </a:solidFill>
                <a:latin typeface="Exo"/>
              </a:rPr>
              <a:t>‹#›</a:t>
            </a:fld>
            <a:endParaRPr lang="x-none" sz="1200" dirty="0">
              <a:solidFill>
                <a:schemeClr val="bg1"/>
              </a:solidFill>
              <a:latin typeface="Exo"/>
            </a:endParaRPr>
          </a:p>
        </p:txBody>
      </p:sp>
      <p:pic>
        <p:nvPicPr>
          <p:cNvPr id="11" name="Picture 10">
            <a:extLst>
              <a:ext uri="{FF2B5EF4-FFF2-40B4-BE49-F238E27FC236}">
                <a16:creationId xmlns:a16="http://schemas.microsoft.com/office/drawing/2014/main" xmlns="" id="{E46A7E23-6711-4728-BF6F-BC4B89E39E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0096" y="136257"/>
            <a:ext cx="537821" cy="505652"/>
          </a:xfrm>
          <a:prstGeom prst="rect">
            <a:avLst/>
          </a:prstGeom>
        </p:spPr>
      </p:pic>
    </p:spTree>
    <p:extLst>
      <p:ext uri="{BB962C8B-B14F-4D97-AF65-F5344CB8AC3E}">
        <p14:creationId xmlns:p14="http://schemas.microsoft.com/office/powerpoint/2010/main" val="33008223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fld id="{00000000-1234-1234-1234-123412341234}" type="slidenum">
              <a:rPr lang="en-US"/>
              <a:pPr/>
              <a:t>‹#›</a:t>
            </a:fld>
            <a:endParaRPr/>
          </a:p>
        </p:txBody>
      </p:sp>
    </p:spTree>
    <p:extLst>
      <p:ext uri="{BB962C8B-B14F-4D97-AF65-F5344CB8AC3E}">
        <p14:creationId xmlns:p14="http://schemas.microsoft.com/office/powerpoint/2010/main" val="1362562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2"/>
        <p:cNvGrpSpPr/>
        <p:nvPr/>
      </p:nvGrpSpPr>
      <p:grpSpPr>
        <a:xfrm>
          <a:off x="0" y="0"/>
          <a:ext cx="0" cy="0"/>
          <a:chOff x="0" y="0"/>
          <a:chExt cx="0" cy="0"/>
        </a:xfrm>
      </p:grpSpPr>
      <p:sp>
        <p:nvSpPr>
          <p:cNvPr id="83" name="Google Shape;83;g31ccdae391d_0_42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g31ccdae391d_0_42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5" name="Google Shape;85;g31ccdae391d_0_42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g31ccdae391d_0_4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g31ccdae391d_0_4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38017092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88"/>
        <p:cNvGrpSpPr/>
        <p:nvPr/>
      </p:nvGrpSpPr>
      <p:grpSpPr>
        <a:xfrm>
          <a:off x="0" y="0"/>
          <a:ext cx="0" cy="0"/>
          <a:chOff x="0" y="0"/>
          <a:chExt cx="0" cy="0"/>
        </a:xfrm>
      </p:grpSpPr>
      <p:sp>
        <p:nvSpPr>
          <p:cNvPr id="89" name="Google Shape;89;g31ccdae391d_0_4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g31ccdae391d_0_4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g31ccdae391d_0_4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g31ccdae391d_0_4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g31ccdae391d_0_4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30057601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4"/>
        <p:cNvGrpSpPr/>
        <p:nvPr/>
      </p:nvGrpSpPr>
      <p:grpSpPr>
        <a:xfrm>
          <a:off x="0" y="0"/>
          <a:ext cx="0" cy="0"/>
          <a:chOff x="0" y="0"/>
          <a:chExt cx="0" cy="0"/>
        </a:xfrm>
      </p:grpSpPr>
      <p:sp>
        <p:nvSpPr>
          <p:cNvPr id="95" name="Google Shape;95;g31ccdae391d_0_433"/>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g31ccdae391d_0_433"/>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7" name="Google Shape;97;g31ccdae391d_0_43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g31ccdae391d_0_43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g31ccdae391d_0_43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33649462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00"/>
        <p:cNvGrpSpPr/>
        <p:nvPr/>
      </p:nvGrpSpPr>
      <p:grpSpPr>
        <a:xfrm>
          <a:off x="0" y="0"/>
          <a:ext cx="0" cy="0"/>
          <a:chOff x="0" y="0"/>
          <a:chExt cx="0" cy="0"/>
        </a:xfrm>
      </p:grpSpPr>
      <p:sp>
        <p:nvSpPr>
          <p:cNvPr id="101" name="Google Shape;101;g31ccdae391d_0_43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g31ccdae391d_0_43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g31ccdae391d_0_43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g31ccdae391d_0_43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g31ccdae391d_0_43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g31ccdae391d_0_43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32562595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07"/>
        <p:cNvGrpSpPr/>
        <p:nvPr/>
      </p:nvGrpSpPr>
      <p:grpSpPr>
        <a:xfrm>
          <a:off x="0" y="0"/>
          <a:ext cx="0" cy="0"/>
          <a:chOff x="0" y="0"/>
          <a:chExt cx="0" cy="0"/>
        </a:xfrm>
      </p:grpSpPr>
      <p:sp>
        <p:nvSpPr>
          <p:cNvPr id="108" name="Google Shape;108;g31ccdae391d_0_446"/>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g31ccdae391d_0_446"/>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0" name="Google Shape;110;g31ccdae391d_0_446"/>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g31ccdae391d_0_446"/>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2" name="Google Shape;112;g31ccdae391d_0_446"/>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g31ccdae391d_0_44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g31ccdae391d_0_44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g31ccdae391d_0_44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32615006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16"/>
        <p:cNvGrpSpPr/>
        <p:nvPr/>
      </p:nvGrpSpPr>
      <p:grpSpPr>
        <a:xfrm>
          <a:off x="0" y="0"/>
          <a:ext cx="0" cy="0"/>
          <a:chOff x="0" y="0"/>
          <a:chExt cx="0" cy="0"/>
        </a:xfrm>
      </p:grpSpPr>
      <p:sp>
        <p:nvSpPr>
          <p:cNvPr id="117" name="Google Shape;117;g31ccdae391d_0_4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g31ccdae391d_0_4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g31ccdae391d_0_4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g31ccdae391d_0_45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19365928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1"/>
        <p:cNvGrpSpPr/>
        <p:nvPr/>
      </p:nvGrpSpPr>
      <p:grpSpPr>
        <a:xfrm>
          <a:off x="0" y="0"/>
          <a:ext cx="0" cy="0"/>
          <a:chOff x="0" y="0"/>
          <a:chExt cx="0" cy="0"/>
        </a:xfrm>
      </p:grpSpPr>
      <p:sp>
        <p:nvSpPr>
          <p:cNvPr id="122" name="Google Shape;122;g31ccdae391d_0_46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g31ccdae391d_0_46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g31ccdae391d_0_46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26082714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25"/>
        <p:cNvGrpSpPr/>
        <p:nvPr/>
      </p:nvGrpSpPr>
      <p:grpSpPr>
        <a:xfrm>
          <a:off x="0" y="0"/>
          <a:ext cx="0" cy="0"/>
          <a:chOff x="0" y="0"/>
          <a:chExt cx="0" cy="0"/>
        </a:xfrm>
      </p:grpSpPr>
      <p:sp>
        <p:nvSpPr>
          <p:cNvPr id="126" name="Google Shape;126;g31ccdae391d_0_46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g31ccdae391d_0_464"/>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28" name="Google Shape;128;g31ccdae391d_0_464"/>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9" name="Google Shape;129;g31ccdae391d_0_46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g31ccdae391d_0_46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g31ccdae391d_0_46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6140980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32"/>
        <p:cNvGrpSpPr/>
        <p:nvPr/>
      </p:nvGrpSpPr>
      <p:grpSpPr>
        <a:xfrm>
          <a:off x="0" y="0"/>
          <a:ext cx="0" cy="0"/>
          <a:chOff x="0" y="0"/>
          <a:chExt cx="0" cy="0"/>
        </a:xfrm>
      </p:grpSpPr>
      <p:sp>
        <p:nvSpPr>
          <p:cNvPr id="133" name="Google Shape;133;g31ccdae391d_0_47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g31ccdae391d_0_471"/>
          <p:cNvSpPr>
            <a:spLocks noGrp="1"/>
          </p:cNvSpPr>
          <p:nvPr>
            <p:ph type="pic" idx="2"/>
          </p:nvPr>
        </p:nvSpPr>
        <p:spPr>
          <a:xfrm>
            <a:off x="5183188" y="987425"/>
            <a:ext cx="6172200" cy="4873500"/>
          </a:xfrm>
          <a:prstGeom prst="rect">
            <a:avLst/>
          </a:prstGeom>
          <a:noFill/>
          <a:ln>
            <a:noFill/>
          </a:ln>
        </p:spPr>
      </p:sp>
      <p:sp>
        <p:nvSpPr>
          <p:cNvPr id="135" name="Google Shape;135;g31ccdae391d_0_47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6" name="Google Shape;136;g31ccdae391d_0_47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g31ccdae391d_0_47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g31ccdae391d_0_47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2846275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39"/>
        <p:cNvGrpSpPr/>
        <p:nvPr/>
      </p:nvGrpSpPr>
      <p:grpSpPr>
        <a:xfrm>
          <a:off x="0" y="0"/>
          <a:ext cx="0" cy="0"/>
          <a:chOff x="0" y="0"/>
          <a:chExt cx="0" cy="0"/>
        </a:xfrm>
      </p:grpSpPr>
      <p:sp>
        <p:nvSpPr>
          <p:cNvPr id="140" name="Google Shape;140;g31ccdae391d_0_47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g31ccdae391d_0_478"/>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g31ccdae391d_0_47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g31ccdae391d_0_47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4" name="Google Shape;144;g31ccdae391d_0_47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2368993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45"/>
        <p:cNvGrpSpPr/>
        <p:nvPr/>
      </p:nvGrpSpPr>
      <p:grpSpPr>
        <a:xfrm>
          <a:off x="0" y="0"/>
          <a:ext cx="0" cy="0"/>
          <a:chOff x="0" y="0"/>
          <a:chExt cx="0" cy="0"/>
        </a:xfrm>
      </p:grpSpPr>
      <p:sp>
        <p:nvSpPr>
          <p:cNvPr id="146" name="Google Shape;146;g31ccdae391d_0_484"/>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g31ccdae391d_0_484"/>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g31ccdae391d_0_48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g31ccdae391d_0_48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g31ccdae391d_0_48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2397819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6.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16-Feb-25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71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72"/>
        <p:cNvGrpSpPr/>
        <p:nvPr/>
      </p:nvGrpSpPr>
      <p:grpSpPr>
        <a:xfrm>
          <a:off x="0" y="0"/>
          <a:ext cx="0" cy="0"/>
          <a:chOff x="0" y="0"/>
          <a:chExt cx="0" cy="0"/>
        </a:xfrm>
      </p:grpSpPr>
      <p:sp>
        <p:nvSpPr>
          <p:cNvPr id="73" name="Google Shape;73;g31ccdae391d_0_4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g31ccdae391d_0_41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g31ccdae391d_0_4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a:buClr>
                <a:srgbClr val="000000"/>
              </a:buClr>
              <a:buFont typeface="Arial"/>
              <a:buNone/>
            </a:pPr>
            <a:endParaRPr kern="0"/>
          </a:p>
        </p:txBody>
      </p:sp>
      <p:sp>
        <p:nvSpPr>
          <p:cNvPr id="76" name="Google Shape;76;g31ccdae391d_0_4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a:buClr>
                <a:srgbClr val="000000"/>
              </a:buClr>
              <a:buFont typeface="Arial"/>
              <a:buNone/>
            </a:pPr>
            <a:endParaRPr kern="0"/>
          </a:p>
        </p:txBody>
      </p:sp>
      <p:sp>
        <p:nvSpPr>
          <p:cNvPr id="77" name="Google Shape;77;g31ccdae391d_0_4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fld id="{00000000-1234-1234-1234-123412341234}" type="slidenum">
              <a:rPr lang="en-US" kern="0"/>
              <a:pPr/>
              <a:t>‹#›</a:t>
            </a:fld>
            <a:endParaRPr kern="0"/>
          </a:p>
        </p:txBody>
      </p:sp>
    </p:spTree>
    <p:extLst>
      <p:ext uri="{BB962C8B-B14F-4D97-AF65-F5344CB8AC3E}">
        <p14:creationId xmlns:p14="http://schemas.microsoft.com/office/powerpoint/2010/main" val="896302982"/>
      </p:ext>
    </p:extLst>
  </p:cSld>
  <p:clrMap bg1="lt1" tx1="dk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15.png"/><Relationship Id="rId2" Type="http://schemas.openxmlformats.org/officeDocument/2006/relationships/slideLayout" Target="../slideLayouts/slideLayout6.xml"/><Relationship Id="rId1" Type="http://schemas.openxmlformats.org/officeDocument/2006/relationships/tags" Target="../tags/tag3.xml"/><Relationship Id="rId6" Type="http://schemas.openxmlformats.org/officeDocument/2006/relationships/image" Target="../media/image11.png"/><Relationship Id="rId5" Type="http://schemas.openxmlformats.org/officeDocument/2006/relationships/image" Target="../media/image14.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0.xml"/><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1.xml"/><Relationship Id="rId5" Type="http://schemas.openxmlformats.org/officeDocument/2006/relationships/image" Target="../media/image19.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0.xml"/><Relationship Id="rId4" Type="http://schemas.openxmlformats.org/officeDocument/2006/relationships/chart" Target="../charts/chart17.xml"/></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0.xml"/><Relationship Id="rId4" Type="http://schemas.openxmlformats.org/officeDocument/2006/relationships/chart" Target="../charts/chart18.xml"/></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07</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10/02/2025</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16</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02</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10" name="Chart 9">
            <a:extLst>
              <a:ext uri="{FF2B5EF4-FFF2-40B4-BE49-F238E27FC236}">
                <a16:creationId xmlns:lc="http://schemas.openxmlformats.org/drawingml/2006/lockedCanvas" xmlns="" xmlns:a16="http://schemas.microsoft.com/office/drawing/2014/main" xmlns:xdr="http://schemas.openxmlformats.org/drawingml/2006/spreadsheetDrawing" id="{00000000-0008-0000-0900-000005000000}"/>
              </a:ext>
            </a:extLst>
          </p:cNvPr>
          <p:cNvGraphicFramePr>
            <a:graphicFrameLocks/>
          </p:cNvGraphicFramePr>
          <p:nvPr>
            <p:extLst>
              <p:ext uri="{D42A27DB-BD31-4B8C-83A1-F6EECF244321}">
                <p14:modId xmlns:p14="http://schemas.microsoft.com/office/powerpoint/2010/main" val="1613968589"/>
              </p:ext>
            </p:extLst>
          </p:nvPr>
        </p:nvGraphicFramePr>
        <p:xfrm>
          <a:off x="1685212" y="3605378"/>
          <a:ext cx="4097655" cy="237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lc="http://schemas.openxmlformats.org/drawingml/2006/lockedCanvas" xmlns="" xmlns:a16="http://schemas.microsoft.com/office/drawing/2014/main" xmlns:xdr="http://schemas.openxmlformats.org/drawingml/2006/spreadsheetDrawing" id="{00000000-0008-0000-0900-00000F000000}"/>
              </a:ext>
            </a:extLst>
          </p:cNvPr>
          <p:cNvGraphicFramePr>
            <a:graphicFrameLocks/>
          </p:cNvGraphicFramePr>
          <p:nvPr>
            <p:extLst>
              <p:ext uri="{D42A27DB-BD31-4B8C-83A1-F6EECF244321}">
                <p14:modId xmlns:p14="http://schemas.microsoft.com/office/powerpoint/2010/main" val="1665014406"/>
              </p:ext>
            </p:extLst>
          </p:nvPr>
        </p:nvGraphicFramePr>
        <p:xfrm>
          <a:off x="1675687" y="871703"/>
          <a:ext cx="4116705" cy="237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Chart 12">
            <a:extLst>
              <a:ext uri="{FF2B5EF4-FFF2-40B4-BE49-F238E27FC236}">
                <a16:creationId xmlns:lc="http://schemas.openxmlformats.org/drawingml/2006/lockedCanvas" xmlns="" xmlns:a16="http://schemas.microsoft.com/office/drawing/2014/main" xmlns:xdr="http://schemas.openxmlformats.org/drawingml/2006/spreadsheetDrawing" id="{8347F7AA-5E77-475C-B68E-49E6EF5DA0A7}"/>
              </a:ext>
            </a:extLst>
          </p:cNvPr>
          <p:cNvGraphicFramePr>
            <a:graphicFrameLocks/>
          </p:cNvGraphicFramePr>
          <p:nvPr>
            <p:extLst>
              <p:ext uri="{D42A27DB-BD31-4B8C-83A1-F6EECF244321}">
                <p14:modId xmlns:p14="http://schemas.microsoft.com/office/powerpoint/2010/main" val="2594910529"/>
              </p:ext>
            </p:extLst>
          </p:nvPr>
        </p:nvGraphicFramePr>
        <p:xfrm>
          <a:off x="6340312" y="3614107"/>
          <a:ext cx="4176000" cy="2376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8" name="Chart 7">
            <a:extLst>
              <a:ext uri="{FF2B5EF4-FFF2-40B4-BE49-F238E27FC236}">
                <a16:creationId xmlns:lc="http://schemas.openxmlformats.org/drawingml/2006/lockedCanvas" xmlns:a16="http://schemas.microsoft.com/office/drawing/2014/main" xmlns="" xmlns:xdr="http://schemas.openxmlformats.org/drawingml/2006/spreadsheetDrawing" id="{00000000-0008-0000-0900-000004000000}"/>
              </a:ext>
            </a:extLst>
          </p:cNvPr>
          <p:cNvGraphicFramePr>
            <a:graphicFrameLocks/>
          </p:cNvGraphicFramePr>
          <p:nvPr>
            <p:extLst>
              <p:ext uri="{D42A27DB-BD31-4B8C-83A1-F6EECF244321}">
                <p14:modId xmlns:p14="http://schemas.microsoft.com/office/powerpoint/2010/main" val="2409654458"/>
              </p:ext>
            </p:extLst>
          </p:nvPr>
        </p:nvGraphicFramePr>
        <p:xfrm>
          <a:off x="6324600" y="838200"/>
          <a:ext cx="4176000" cy="237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lc="http://schemas.openxmlformats.org/drawingml/2006/lockedCanvas" xmlns="" xmlns:a16="http://schemas.microsoft.com/office/drawing/2014/main" xmlns:xdr="http://schemas.openxmlformats.org/drawingml/2006/spreadsheetDrawing" id="{00000000-0008-0000-0600-000004000000}"/>
              </a:ext>
            </a:extLst>
          </p:cNvPr>
          <p:cNvGraphicFramePr>
            <a:graphicFrameLocks/>
          </p:cNvGraphicFramePr>
          <p:nvPr>
            <p:extLst>
              <p:ext uri="{D42A27DB-BD31-4B8C-83A1-F6EECF244321}">
                <p14:modId xmlns:p14="http://schemas.microsoft.com/office/powerpoint/2010/main" val="2982849052"/>
              </p:ext>
            </p:extLst>
          </p:nvPr>
        </p:nvGraphicFramePr>
        <p:xfrm>
          <a:off x="1295400" y="838200"/>
          <a:ext cx="9603316" cy="2794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lc="http://schemas.openxmlformats.org/drawingml/2006/lockedCanvas" xmlns="" xmlns:a16="http://schemas.microsoft.com/office/drawing/2014/main" xmlns:xdr="http://schemas.openxmlformats.org/drawingml/2006/spreadsheetDrawing" id="{00000000-0008-0000-0600-000005000000}"/>
              </a:ext>
            </a:extLst>
          </p:cNvPr>
          <p:cNvGraphicFramePr>
            <a:graphicFrameLocks/>
          </p:cNvGraphicFramePr>
          <p:nvPr>
            <p:extLst>
              <p:ext uri="{D42A27DB-BD31-4B8C-83A1-F6EECF244321}">
                <p14:modId xmlns:p14="http://schemas.microsoft.com/office/powerpoint/2010/main" val="3475159663"/>
              </p:ext>
            </p:extLst>
          </p:nvPr>
        </p:nvGraphicFramePr>
        <p:xfrm>
          <a:off x="1293640" y="3808942"/>
          <a:ext cx="9593011" cy="279061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xmlns="" id="{CFEE23C1-B7EA-476A-9DFD-176A034D5BAE}"/>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vi-VN"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02</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3" name="Table 2"/>
          <p:cNvGraphicFramePr>
            <a:graphicFrameLocks noGrp="1"/>
          </p:cNvGraphicFramePr>
          <p:nvPr>
            <p:extLst/>
          </p:nvPr>
        </p:nvGraphicFramePr>
        <p:xfrm>
          <a:off x="228602" y="1089938"/>
          <a:ext cx="11553282" cy="4933158"/>
        </p:xfrm>
        <a:graphic>
          <a:graphicData uri="http://schemas.openxmlformats.org/drawingml/2006/table">
            <a:tbl>
              <a:tblPr/>
              <a:tblGrid>
                <a:gridCol w="408113">
                  <a:extLst>
                    <a:ext uri="{9D8B030D-6E8A-4147-A177-3AD203B41FA5}">
                      <a16:colId xmlns:a16="http://schemas.microsoft.com/office/drawing/2014/main" xmlns="" val="2069637928"/>
                    </a:ext>
                  </a:extLst>
                </a:gridCol>
                <a:gridCol w="353885">
                  <a:extLst>
                    <a:ext uri="{9D8B030D-6E8A-4147-A177-3AD203B41FA5}">
                      <a16:colId xmlns:a16="http://schemas.microsoft.com/office/drawing/2014/main" xmlns="" val="464945370"/>
                    </a:ext>
                  </a:extLst>
                </a:gridCol>
                <a:gridCol w="457200">
                  <a:extLst>
                    <a:ext uri="{9D8B030D-6E8A-4147-A177-3AD203B41FA5}">
                      <a16:colId xmlns:a16="http://schemas.microsoft.com/office/drawing/2014/main" xmlns="" val="983633470"/>
                    </a:ext>
                  </a:extLst>
                </a:gridCol>
                <a:gridCol w="457200">
                  <a:extLst>
                    <a:ext uri="{9D8B030D-6E8A-4147-A177-3AD203B41FA5}">
                      <a16:colId xmlns:a16="http://schemas.microsoft.com/office/drawing/2014/main" xmlns="" val="3546262789"/>
                    </a:ext>
                  </a:extLst>
                </a:gridCol>
                <a:gridCol w="533400">
                  <a:extLst>
                    <a:ext uri="{9D8B030D-6E8A-4147-A177-3AD203B41FA5}">
                      <a16:colId xmlns:a16="http://schemas.microsoft.com/office/drawing/2014/main" xmlns="" val="1884039996"/>
                    </a:ext>
                  </a:extLst>
                </a:gridCol>
                <a:gridCol w="533400">
                  <a:extLst>
                    <a:ext uri="{9D8B030D-6E8A-4147-A177-3AD203B41FA5}">
                      <a16:colId xmlns:a16="http://schemas.microsoft.com/office/drawing/2014/main" xmlns="" val="3708349863"/>
                    </a:ext>
                  </a:extLst>
                </a:gridCol>
                <a:gridCol w="685800">
                  <a:extLst>
                    <a:ext uri="{9D8B030D-6E8A-4147-A177-3AD203B41FA5}">
                      <a16:colId xmlns:a16="http://schemas.microsoft.com/office/drawing/2014/main" xmlns="" val="2348454438"/>
                    </a:ext>
                  </a:extLst>
                </a:gridCol>
                <a:gridCol w="533400">
                  <a:extLst>
                    <a:ext uri="{9D8B030D-6E8A-4147-A177-3AD203B41FA5}">
                      <a16:colId xmlns:a16="http://schemas.microsoft.com/office/drawing/2014/main" xmlns="" val="546762004"/>
                    </a:ext>
                  </a:extLst>
                </a:gridCol>
                <a:gridCol w="1600200">
                  <a:extLst>
                    <a:ext uri="{9D8B030D-6E8A-4147-A177-3AD203B41FA5}">
                      <a16:colId xmlns:a16="http://schemas.microsoft.com/office/drawing/2014/main" xmlns="" val="995365909"/>
                    </a:ext>
                  </a:extLst>
                </a:gridCol>
                <a:gridCol w="1981200">
                  <a:extLst>
                    <a:ext uri="{9D8B030D-6E8A-4147-A177-3AD203B41FA5}">
                      <a16:colId xmlns:a16="http://schemas.microsoft.com/office/drawing/2014/main" xmlns="" val="2373089142"/>
                    </a:ext>
                  </a:extLst>
                </a:gridCol>
                <a:gridCol w="381000">
                  <a:extLst>
                    <a:ext uri="{9D8B030D-6E8A-4147-A177-3AD203B41FA5}">
                      <a16:colId xmlns:a16="http://schemas.microsoft.com/office/drawing/2014/main" xmlns="" val="403226314"/>
                    </a:ext>
                  </a:extLst>
                </a:gridCol>
                <a:gridCol w="3628484">
                  <a:extLst>
                    <a:ext uri="{9D8B030D-6E8A-4147-A177-3AD203B41FA5}">
                      <a16:colId xmlns:a16="http://schemas.microsoft.com/office/drawing/2014/main" xmlns="" val="1024986741"/>
                    </a:ext>
                  </a:extLst>
                </a:gridCol>
              </a:tblGrid>
              <a:tr h="163879">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DATE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EVENT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REASON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1960306995"/>
                  </a:ext>
                </a:extLst>
              </a:tr>
              <a:tr h="1311036">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VN587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KHH -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07:18 14/02/2025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OGTB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F/CTL ELAC PITCH FAULT. A339 GTB.</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C/O RPLD ELEV SERVO  ELAC #2, ENG RUN UP SATIS. ACTION EVENT CLOSED EVENT CLOSED EVENT CLOSED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Hỏng hóc liên quan đến khối servo control và ELAC. Theo báo cáo của VAECO, sau khi thực hiện swap ELAC thì nổ máy vẫn xuất hiện msg nên đã phải tiến hành thay thế servo control. Tuy nhiên sau khi thay xong servo control thì msg vẫn xuất hiện intermitten nên Vaeco đã cho thay cả ELAC để đảm bảo không bắn lại msg. Hiện khối servo control đang sử dụng trên đội bay A321 là loại mới nhất và AIB không có topic nào liên quan đến ĐTC của khối này. Khối tháo xuống từ A339 đã khai thác được hơn 27K FH và 20K FC. Theo thống kê số lượng tháo lắp </a:t>
                      </a:r>
                      <a:r>
                        <a:rPr lang="vi-VN" sz="1000" b="0" i="0" u="none" strike="noStrike" kern="1200" smtClean="0">
                          <a:solidFill>
                            <a:srgbClr val="000000"/>
                          </a:solidFill>
                          <a:effectLst/>
                          <a:latin typeface="Times New Roman" panose="02020603050405020304" pitchFamily="18" charset="0"/>
                          <a:ea typeface="+mn-ea"/>
                          <a:cs typeface="Times New Roman" panose="02020603050405020304" pitchFamily="18" charset="0"/>
                        </a:rPr>
                        <a:t>trong 03 năm gần nhất </a:t>
                      </a:r>
                      <a:r>
                        <a:rPr lang="en-US" sz="1000" b="0" i="0" u="none" strike="noStrike" kern="1200" smtClean="0">
                          <a:solidFill>
                            <a:srgbClr val="000000"/>
                          </a:solidFill>
                          <a:effectLst/>
                          <a:latin typeface="Times New Roman" panose="02020603050405020304" pitchFamily="18" charset="0"/>
                          <a:ea typeface="+mn-ea"/>
                          <a:cs typeface="Times New Roman" panose="02020603050405020304" pitchFamily="18" charset="0"/>
                        </a:rPr>
                        <a:t>Servo Control P/N 31075-840</a:t>
                      </a:r>
                      <a:r>
                        <a:rPr lang="vi-VN" sz="1000" b="0" i="0" u="none" strike="noStrike" kern="1200" smtClean="0">
                          <a:solidFill>
                            <a:srgbClr val="000000"/>
                          </a:solidFill>
                          <a:effectLst/>
                          <a:latin typeface="Times New Roman" panose="02020603050405020304" pitchFamily="18" charset="0"/>
                          <a:ea typeface="+mn-ea"/>
                          <a:cs typeface="Times New Roman" panose="02020603050405020304" pitchFamily="18" charset="0"/>
                        </a:rPr>
                        <a:t> từ 2022-2024 là </a:t>
                      </a:r>
                      <a:r>
                        <a:rPr lang="en-US" sz="1000" b="0" i="0" u="none" strike="noStrike" kern="1200" smtClean="0">
                          <a:solidFill>
                            <a:srgbClr val="000000"/>
                          </a:solidFill>
                          <a:effectLst/>
                          <a:latin typeface="Times New Roman" panose="02020603050405020304" pitchFamily="18" charset="0"/>
                          <a:ea typeface="+mn-ea"/>
                          <a:cs typeface="Times New Roman" panose="02020603050405020304" pitchFamily="18" charset="0"/>
                        </a:rPr>
                        <a:t>11</a:t>
                      </a:r>
                      <a:r>
                        <a:rPr lang="vi-VN" sz="1000" b="0" i="0" u="none" strike="noStrike" kern="1200" smtClean="0">
                          <a:solidFill>
                            <a:srgbClr val="000000"/>
                          </a:solidFill>
                          <a:effectLst/>
                          <a:latin typeface="Times New Roman" panose="02020603050405020304" pitchFamily="18" charset="0"/>
                          <a:ea typeface="+mn-ea"/>
                          <a:cs typeface="Times New Roman" panose="02020603050405020304" pitchFamily="18" charset="0"/>
                        </a:rPr>
                        <a:t>-1</a:t>
                      </a:r>
                      <a:r>
                        <a:rPr lang="en-US" sz="1000" b="0" i="0" u="none" strike="noStrike" kern="1200" smtClean="0">
                          <a:solidFill>
                            <a:srgbClr val="000000"/>
                          </a:solidFill>
                          <a:effectLst/>
                          <a:latin typeface="Times New Roman" panose="02020603050405020304" pitchFamily="18" charset="0"/>
                          <a:ea typeface="+mn-ea"/>
                          <a:cs typeface="Times New Roman" panose="02020603050405020304" pitchFamily="18" charset="0"/>
                        </a:rPr>
                        <a:t>0</a:t>
                      </a:r>
                      <a:r>
                        <a:rPr lang="vi-VN" sz="1000" b="0" i="0" u="none" strike="noStrike" kern="1200" smtClean="0">
                          <a:solidFill>
                            <a:srgbClr val="000000"/>
                          </a:solidFill>
                          <a:effectLst/>
                          <a:latin typeface="Times New Roman" panose="02020603050405020304" pitchFamily="18" charset="0"/>
                          <a:ea typeface="+mn-ea"/>
                          <a:cs typeface="Times New Roman" panose="02020603050405020304" pitchFamily="18" charset="0"/>
                        </a:rPr>
                        <a:t>-</a:t>
                      </a:r>
                      <a:r>
                        <a:rPr lang="en-US" sz="1000" b="0" i="0" u="none" strike="noStrike" kern="1200" smtClean="0">
                          <a:solidFill>
                            <a:srgbClr val="000000"/>
                          </a:solidFill>
                          <a:effectLst/>
                          <a:latin typeface="Times New Roman" panose="02020603050405020304" pitchFamily="18" charset="0"/>
                          <a:ea typeface="+mn-ea"/>
                          <a:cs typeface="Times New Roman" panose="02020603050405020304" pitchFamily="18" charset="0"/>
                        </a:rPr>
                        <a:t>9</a:t>
                      </a:r>
                      <a:r>
                        <a:rPr lang="vi-VN" sz="1000" b="0" i="0" u="none" strike="noStrike" kern="1200" smtClean="0">
                          <a:solidFill>
                            <a:srgbClr val="000000"/>
                          </a:solidFill>
                          <a:effectLst/>
                          <a:latin typeface="Times New Roman" panose="02020603050405020304" pitchFamily="18" charset="0"/>
                          <a:ea typeface="+mn-ea"/>
                          <a:cs typeface="Times New Roman" panose="02020603050405020304" pitchFamily="18" charset="0"/>
                        </a:rPr>
                        <a:t> lần; MTBUR&gt;G-MTBUR (36K FH). Ngoài ra, khối </a:t>
                      </a: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ELAC tháo xuống là khối mới, mới khai thác được khoảng 5K FH do đó đánh giá là không bị ảnh hưởng b</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ở</a:t>
                      </a: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i issue relay bị già. Do không có cảnh báo SHM/SPM từ trước nên không có phương án đặt vật tư dự phòng hay thay chủ động để hạn chế OI. Hiện ban KT đang triển khai chương trình thay thế relay cho các khối ELAC cao giờ khi gửi đi shop. Đối với các khối servo control, ban KT sẽ đánh giá thêm SFR và làm việc với NSX để tìm biện pháp hạn chế hỏng hóc.</a:t>
                      </a:r>
                      <a:endParaRPr lang="vi-VN"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620185624"/>
                  </a:ext>
                </a:extLst>
              </a:tr>
              <a:tr h="1311036">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B223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VN1857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SGN-VCS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09:20 15/02/2025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OGTB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B223+GTB+AHRS 1 LOSS SIGNAL DURING TAXI CAPT CALL VHF : A/C HAS DEFFECT: AHRS 1 LOSS SIGNAL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FINAL ACTION: C/O RPLD AHRU#1 , OPS TEST SATIS, A/C SERVICEABLE. AHRS 1 LOSS SIGNAL A/C GTB EVENT CLOSED FINAL ACTION: C/O RPLD AHRU#1 , OPS TEST SATIS, A/C SERVICEABLE. DURING TAXI CAPT CALL VHF : A/C HAS DEFFECT: AHRS 1 LOSS SIGNALDURING TAXI CAPT CALL VHF : A/C HAS: DEFFECT: AHRS 1 LOSS </a:t>
                      </a:r>
                      <a:r>
                        <a:rPr lang="en-US" sz="1000" b="0" i="0" u="none" strike="noStrike" smtClean="0">
                          <a:solidFill>
                            <a:srgbClr val="000000"/>
                          </a:solidFill>
                          <a:effectLst/>
                          <a:latin typeface="Times New Roman" panose="02020603050405020304" pitchFamily="18" charset="0"/>
                          <a:cs typeface="Times New Roman" panose="02020603050405020304" pitchFamily="18" charset="0"/>
                        </a:rPr>
                        <a:t>SIGNAL</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34-21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000" smtClean="0">
                          <a:latin typeface="Times New Roman" panose="02020603050405020304" pitchFamily="18" charset="0"/>
                          <a:cs typeface="Times New Roman" panose="02020603050405020304" pitchFamily="18" charset="0"/>
                        </a:rPr>
                        <a:t>AHRU#1 PN 7003360-946, SN 09085259 là khối on-wing từ 2009, chưa gửi đi sửa lần nào (TSN 24519).</a:t>
                      </a:r>
                    </a:p>
                    <a:p>
                      <a:pPr algn="l" fontAlgn="ctr"/>
                      <a:r>
                        <a:rPr lang="vi-VN" sz="1000" smtClean="0">
                          <a:latin typeface="Times New Roman" panose="02020603050405020304" pitchFamily="18" charset="0"/>
                          <a:cs typeface="Times New Roman" panose="02020603050405020304" pitchFamily="18" charset="0"/>
                        </a:rPr>
                        <a:t>Theo thống kê ĐTC, từ 2020 đến nay hỏng 9 lần (4 lần 2020, 1 lần 2021, 3 lần 2022, 1 lần 2025), độ tin cậy của khối tương đối tốt, các lần hỏng hóc gần đây nguyên nhân do khối khai thác lâu ngày, dẫn đến linh kiện hao mòn cần thay thế, hiệu chỉnh hoặc thiết bị bị contaminated by external liquid.</a:t>
                      </a:r>
                    </a:p>
                    <a:p>
                      <a:pPr algn="l" fontAlgn="ctr"/>
                      <a:r>
                        <a:rPr lang="vi-VN" sz="1000" smtClean="0">
                          <a:latin typeface="Times New Roman" panose="02020603050405020304" pitchFamily="18" charset="0"/>
                          <a:cs typeface="Times New Roman" panose="02020603050405020304" pitchFamily="18" charset="0"/>
                        </a:rPr>
                        <a:t>Theo báo cáo từ VAECO, tàu vẫn nháy lại hỏng hóc sau khi bay 04 leg từ khi thay thế AHRU#1 =&gt;Hỏng hóc còn có thể liên quan đến wiring hoặc connector liên quan đến AHRU #1 (rung lắc khi taxi hoặc lúc cất hạ cánh có thể sẽ xuất hiện hỏng hóc). VAECO đã kiểm tra nguồn cấp AHRU, kết qủa tốt, tiếp tục theo dõi.</a:t>
                      </a:r>
                      <a:endParaRPr lang="vi-VN"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124265741"/>
                  </a:ext>
                </a:extLst>
              </a:tr>
            </a:tbl>
          </a:graphicData>
        </a:graphic>
      </p:graphicFrame>
    </p:spTree>
    <p:custDataLst>
      <p:tags r:id="rId1"/>
    </p:custDataLst>
    <p:extLst>
      <p:ext uri="{BB962C8B-B14F-4D97-AF65-F5344CB8AC3E}">
        <p14:creationId xmlns:p14="http://schemas.microsoft.com/office/powerpoint/2010/main" val="2669002575"/>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xmlns="" id="{CFEE23C1-B7EA-476A-9DFD-176A034D5BAE}"/>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vi-VN"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02</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3" name="Table 2"/>
          <p:cNvGraphicFramePr>
            <a:graphicFrameLocks noGrp="1"/>
          </p:cNvGraphicFramePr>
          <p:nvPr>
            <p:extLst/>
          </p:nvPr>
        </p:nvGraphicFramePr>
        <p:xfrm>
          <a:off x="228602" y="1089938"/>
          <a:ext cx="11553282" cy="5548473"/>
        </p:xfrm>
        <a:graphic>
          <a:graphicData uri="http://schemas.openxmlformats.org/drawingml/2006/table">
            <a:tbl>
              <a:tblPr/>
              <a:tblGrid>
                <a:gridCol w="408113">
                  <a:extLst>
                    <a:ext uri="{9D8B030D-6E8A-4147-A177-3AD203B41FA5}">
                      <a16:colId xmlns:a16="http://schemas.microsoft.com/office/drawing/2014/main" xmlns="" val="2069637928"/>
                    </a:ext>
                  </a:extLst>
                </a:gridCol>
                <a:gridCol w="430085">
                  <a:extLst>
                    <a:ext uri="{9D8B030D-6E8A-4147-A177-3AD203B41FA5}">
                      <a16:colId xmlns:a16="http://schemas.microsoft.com/office/drawing/2014/main" xmlns="" val="464945370"/>
                    </a:ext>
                  </a:extLst>
                </a:gridCol>
                <a:gridCol w="457200">
                  <a:extLst>
                    <a:ext uri="{9D8B030D-6E8A-4147-A177-3AD203B41FA5}">
                      <a16:colId xmlns:a16="http://schemas.microsoft.com/office/drawing/2014/main" xmlns="" val="983633470"/>
                    </a:ext>
                  </a:extLst>
                </a:gridCol>
                <a:gridCol w="304800">
                  <a:extLst>
                    <a:ext uri="{9D8B030D-6E8A-4147-A177-3AD203B41FA5}">
                      <a16:colId xmlns:a16="http://schemas.microsoft.com/office/drawing/2014/main" xmlns="" val="3546262789"/>
                    </a:ext>
                  </a:extLst>
                </a:gridCol>
                <a:gridCol w="381000">
                  <a:extLst>
                    <a:ext uri="{9D8B030D-6E8A-4147-A177-3AD203B41FA5}">
                      <a16:colId xmlns:a16="http://schemas.microsoft.com/office/drawing/2014/main" xmlns="" val="1884039996"/>
                    </a:ext>
                  </a:extLst>
                </a:gridCol>
                <a:gridCol w="533400">
                  <a:extLst>
                    <a:ext uri="{9D8B030D-6E8A-4147-A177-3AD203B41FA5}">
                      <a16:colId xmlns:a16="http://schemas.microsoft.com/office/drawing/2014/main" xmlns="" val="3708349863"/>
                    </a:ext>
                  </a:extLst>
                </a:gridCol>
                <a:gridCol w="533400">
                  <a:extLst>
                    <a:ext uri="{9D8B030D-6E8A-4147-A177-3AD203B41FA5}">
                      <a16:colId xmlns:a16="http://schemas.microsoft.com/office/drawing/2014/main" xmlns="" val="2348454438"/>
                    </a:ext>
                  </a:extLst>
                </a:gridCol>
                <a:gridCol w="457200">
                  <a:extLst>
                    <a:ext uri="{9D8B030D-6E8A-4147-A177-3AD203B41FA5}">
                      <a16:colId xmlns:a16="http://schemas.microsoft.com/office/drawing/2014/main" xmlns="" val="546762004"/>
                    </a:ext>
                  </a:extLst>
                </a:gridCol>
                <a:gridCol w="2209800">
                  <a:extLst>
                    <a:ext uri="{9D8B030D-6E8A-4147-A177-3AD203B41FA5}">
                      <a16:colId xmlns:a16="http://schemas.microsoft.com/office/drawing/2014/main" xmlns="" val="995365909"/>
                    </a:ext>
                  </a:extLst>
                </a:gridCol>
                <a:gridCol w="1371600">
                  <a:extLst>
                    <a:ext uri="{9D8B030D-6E8A-4147-A177-3AD203B41FA5}">
                      <a16:colId xmlns:a16="http://schemas.microsoft.com/office/drawing/2014/main" xmlns="" val="2373089142"/>
                    </a:ext>
                  </a:extLst>
                </a:gridCol>
                <a:gridCol w="457200">
                  <a:extLst>
                    <a:ext uri="{9D8B030D-6E8A-4147-A177-3AD203B41FA5}">
                      <a16:colId xmlns:a16="http://schemas.microsoft.com/office/drawing/2014/main" xmlns="" val="403226314"/>
                    </a:ext>
                  </a:extLst>
                </a:gridCol>
                <a:gridCol w="4009484">
                  <a:extLst>
                    <a:ext uri="{9D8B030D-6E8A-4147-A177-3AD203B41FA5}">
                      <a16:colId xmlns:a16="http://schemas.microsoft.com/office/drawing/2014/main" xmlns="" val="1024986741"/>
                    </a:ext>
                  </a:extLst>
                </a:gridCol>
              </a:tblGrid>
              <a:tr h="163879">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DATE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EVENT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REASON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1960306995"/>
                  </a:ext>
                </a:extLst>
              </a:tr>
              <a:tr h="1311036">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B223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VN1893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09:00 16/02/2025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smtClean="0">
                          <a:solidFill>
                            <a:srgbClr val="FF0000"/>
                          </a:solidFill>
                          <a:effectLst/>
                          <a:latin typeface="Times New Roman" panose="02020603050405020304" pitchFamily="18" charset="0"/>
                          <a:cs typeface="Times New Roman" panose="02020603050405020304" pitchFamily="18" charset="0"/>
                        </a:rPr>
                        <a:t>RTO</a:t>
                      </a:r>
                      <a:endParaRPr lang="en-US" sz="1000" b="0" i="0" u="none" strike="noStrike">
                        <a:solidFill>
                          <a:srgbClr val="FF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B223 GTB/MOR DUE TO TAKE OFF CONFIG "FLT CTL"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000" b="0" i="0" u="none" strike="noStrike" smtClean="0">
                          <a:solidFill>
                            <a:srgbClr val="000000"/>
                          </a:solidFill>
                          <a:effectLst/>
                          <a:latin typeface="Times New Roman" panose="02020603050405020304" pitchFamily="18" charset="0"/>
                          <a:cs typeface="Times New Roman" panose="02020603050405020304" pitchFamily="18" charset="0"/>
                        </a:rPr>
                        <a:t> FINAL </a:t>
                      </a:r>
                      <a:r>
                        <a:rPr lang="vi-VN" sz="1000" b="0" i="0" u="none" strike="noStrike">
                          <a:solidFill>
                            <a:srgbClr val="000000"/>
                          </a:solidFill>
                          <a:effectLst/>
                          <a:latin typeface="Times New Roman" panose="02020603050405020304" pitchFamily="18" charset="0"/>
                          <a:cs typeface="Times New Roman" panose="02020603050405020304" pitchFamily="18" charset="0"/>
                        </a:rPr>
                        <a:t>ACTION: C/O CLEAN 2CT CONNECTOR. C/O TAKE OFF CONFIG TEST CHECK SATIS. A/C SERVICEABLE TAKE OFF CONFIG "FLT CTL"  TOTAL DELAY: 238 MINS. TECH DELAY: 165 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000" smtClean="0">
                          <a:latin typeface="Times New Roman" panose="02020603050405020304" pitchFamily="18" charset="0"/>
                          <a:cs typeface="Times New Roman" panose="02020603050405020304" pitchFamily="18" charset="0"/>
                        </a:rPr>
                        <a:t>Hỏng hóc "TO CONFIG" chỉ xảy ra trên B223. Hỏng hóc lặp lại nhiều lần nhưng khó troubleshooting, gây ra các lần gián đoạn khai thác:</a:t>
                      </a:r>
                    </a:p>
                    <a:p>
                      <a:pPr algn="l" fontAlgn="ctr"/>
                      <a:r>
                        <a:rPr lang="vi-VN" sz="1000" smtClean="0">
                          <a:latin typeface="Times New Roman" panose="02020603050405020304" pitchFamily="18" charset="0"/>
                          <a:cs typeface="Times New Roman" panose="02020603050405020304" pitchFamily="18" charset="0"/>
                        </a:rPr>
                        <a:t>- 09/Dec/2024- GTB</a:t>
                      </a:r>
                    </a:p>
                    <a:p>
                      <a:pPr algn="l" fontAlgn="ctr"/>
                      <a:r>
                        <a:rPr lang="vi-VN" sz="1000" smtClean="0">
                          <a:latin typeface="Times New Roman" panose="02020603050405020304" pitchFamily="18" charset="0"/>
                          <a:cs typeface="Times New Roman" panose="02020603050405020304" pitchFamily="18" charset="0"/>
                        </a:rPr>
                        <a:t>- 20/Dec/2025- GTB</a:t>
                      </a:r>
                    </a:p>
                    <a:p>
                      <a:pPr algn="l" fontAlgn="ctr"/>
                      <a:r>
                        <a:rPr lang="vi-VN" sz="1000" smtClean="0">
                          <a:latin typeface="Times New Roman" panose="02020603050405020304" pitchFamily="18" charset="0"/>
                          <a:cs typeface="Times New Roman" panose="02020603050405020304" pitchFamily="18" charset="0"/>
                        </a:rPr>
                        <a:t>- 04/Jan/2025 - GTB</a:t>
                      </a:r>
                    </a:p>
                    <a:p>
                      <a:pPr algn="l" fontAlgn="ctr"/>
                      <a:r>
                        <a:rPr lang="vi-VN" sz="1000" smtClean="0">
                          <a:latin typeface="Times New Roman" panose="02020603050405020304" pitchFamily="18" charset="0"/>
                          <a:cs typeface="Times New Roman" panose="02020603050405020304" pitchFamily="18" charset="0"/>
                        </a:rPr>
                        <a:t>- 16/Feb/2025- RTO</a:t>
                      </a:r>
                    </a:p>
                    <a:p>
                      <a:pPr algn="l" fontAlgn="ctr"/>
                      <a:r>
                        <a:rPr lang="vi-VN" sz="1000" smtClean="0">
                          <a:latin typeface="Times New Roman" panose="02020603050405020304" pitchFamily="18" charset="0"/>
                          <a:cs typeface="Times New Roman" panose="02020603050405020304" pitchFamily="18" charset="0"/>
                        </a:rPr>
                        <a:t>Có 4 nguyên nhân có khả năng gây ra hỏng hóc này:</a:t>
                      </a:r>
                    </a:p>
                    <a:p>
                      <a:pPr algn="l" fontAlgn="ctr"/>
                      <a:r>
                        <a:rPr lang="vi-VN" sz="1000" smtClean="0">
                          <a:latin typeface="Times New Roman" panose="02020603050405020304" pitchFamily="18" charset="0"/>
                          <a:cs typeface="Times New Roman" panose="02020603050405020304" pitchFamily="18" charset="0"/>
                        </a:rPr>
                        <a:t> ♦pitch trim is out of take-off range (green arc),</a:t>
                      </a:r>
                    </a:p>
                    <a:p>
                      <a:pPr algn="l" fontAlgn="ctr"/>
                      <a:r>
                        <a:rPr lang="vi-VN" sz="1000" smtClean="0">
                          <a:latin typeface="Times New Roman" panose="02020603050405020304" pitchFamily="18" charset="0"/>
                          <a:cs typeface="Times New Roman" panose="02020603050405020304" pitchFamily="18" charset="0"/>
                        </a:rPr>
                        <a:t> ♦flaps are not at take-off position (15°),</a:t>
                      </a:r>
                    </a:p>
                    <a:p>
                      <a:pPr algn="l" fontAlgn="ctr"/>
                      <a:r>
                        <a:rPr lang="vi-VN" sz="1000" smtClean="0">
                          <a:latin typeface="Times New Roman" panose="02020603050405020304" pitchFamily="18" charset="0"/>
                          <a:cs typeface="Times New Roman" panose="02020603050405020304" pitchFamily="18" charset="0"/>
                        </a:rPr>
                        <a:t> ♦a TLU is in HI SPD position (LO SPEED extinguished),</a:t>
                      </a:r>
                    </a:p>
                    <a:p>
                      <a:pPr algn="l" fontAlgn="ctr"/>
                      <a:r>
                        <a:rPr lang="vi-VN" sz="1000" smtClean="0">
                          <a:latin typeface="Times New Roman" panose="02020603050405020304" pitchFamily="18" charset="0"/>
                          <a:cs typeface="Times New Roman" panose="02020603050405020304" pitchFamily="18" charset="0"/>
                        </a:rPr>
                        <a:t> ♦aileron spring tab is locked (ail lock illuminated on pedestal).</a:t>
                      </a:r>
                    </a:p>
                    <a:p>
                      <a:pPr algn="l" fontAlgn="ctr"/>
                      <a:r>
                        <a:rPr lang="vi-VN" sz="1000" smtClean="0">
                          <a:latin typeface="Times New Roman" panose="02020603050405020304" pitchFamily="18" charset="0"/>
                          <a:cs typeface="Times New Roman" panose="02020603050405020304" pitchFamily="18" charset="0"/>
                        </a:rPr>
                        <a:t>Với trường hợp bị RTO ngày 16/Feb/2025, </a:t>
                      </a:r>
                    </a:p>
                    <a:p>
                      <a:pPr algn="l" fontAlgn="ctr"/>
                      <a:r>
                        <a:rPr lang="vi-VN" sz="1000" smtClean="0">
                          <a:latin typeface="Times New Roman" panose="02020603050405020304" pitchFamily="18" charset="0"/>
                          <a:cs typeface="Times New Roman" panose="02020603050405020304" pitchFamily="18" charset="0"/>
                        </a:rPr>
                        <a:t>CRS phát hiện khi vị trí  Pitch trim nằm trong dải green band từ 1.3 đến 2.5 nhưng cảnh báo vẫn CONFIG xuất hiện, giá trị giữa đồng hồ chỉ vị và giá trị trên máy tính bị sai lệch. </a:t>
                      </a:r>
                    </a:p>
                    <a:p>
                      <a:pPr algn="l" fontAlgn="ctr"/>
                      <a:r>
                        <a:rPr lang="vi-VN" sz="1000" smtClean="0">
                          <a:latin typeface="Times New Roman" panose="02020603050405020304" pitchFamily="18" charset="0"/>
                          <a:cs typeface="Times New Roman" panose="02020603050405020304" pitchFamily="18" charset="0"/>
                        </a:rPr>
                        <a:t>Trước đó, tối ngày 15/Feb/2025, VAECO thực hiện thay Pitch trim indicator =&gt; nghi ngờ thiết bị trong kho bị lỗi, gây ra sai chỉ thị.</a:t>
                      </a:r>
                    </a:p>
                    <a:p>
                      <a:pPr algn="l" fontAlgn="ctr"/>
                      <a:r>
                        <a:rPr lang="vi-VN" sz="1000" smtClean="0">
                          <a:latin typeface="Times New Roman" panose="02020603050405020304" pitchFamily="18" charset="0"/>
                          <a:cs typeface="Times New Roman" panose="02020603050405020304" pitchFamily="18" charset="0"/>
                        </a:rPr>
                        <a:t>Với hỏng hóc TO CONFIG trên B223, đã thực hiện thay nhiều thiết bị liên quan, và kiểm tra, đo dây nhưng vẫn chưa phát hiện được nguyên nhân, vẫn đang làm việc với ATR để tìm nguyên nhân</a:t>
                      </a:r>
                    </a:p>
                    <a:p>
                      <a:pPr algn="l" fontAlgn="ctr"/>
                      <a:endParaRPr lang="vi-VN" sz="1000" smtClean="0">
                        <a:latin typeface="Times New Roman" panose="02020603050405020304" pitchFamily="18" charset="0"/>
                        <a:cs typeface="Times New Roman" panose="02020603050405020304" pitchFamily="18" charset="0"/>
                      </a:endParaRPr>
                    </a:p>
                    <a:p>
                      <a:pPr algn="l" fontAlgn="ctr"/>
                      <a:r>
                        <a:rPr lang="vi-VN" sz="1000" smtClean="0">
                          <a:latin typeface="Times New Roman" panose="02020603050405020304" pitchFamily="18" charset="0"/>
                          <a:cs typeface="Times New Roman" panose="02020603050405020304" pitchFamily="18" charset="0"/>
                        </a:rPr>
                        <a:t>Đồng hồ trong kho lắp lên P/N 4863-503-80-10, S/N 738 được Ban QLVT mua từ 04/2017 của một hãng khác, </a:t>
                      </a:r>
                    </a:p>
                    <a:p>
                      <a:pPr algn="l" fontAlgn="ctr"/>
                      <a:r>
                        <a:rPr lang="vi-VN" sz="1000" smtClean="0">
                          <a:latin typeface="Times New Roman" panose="02020603050405020304" pitchFamily="18" charset="0"/>
                          <a:cs typeface="Times New Roman" panose="02020603050405020304" pitchFamily="18" charset="0"/>
                        </a:rPr>
                        <a:t>- Theo SFR trước khi mua thì khối này đã khai thác được 31,461 FC và 32,495 FH. được gửi đi sửa do lỗi chỉ thi của Rudder bị sai lệch.</a:t>
                      </a:r>
                    </a:p>
                    <a:p>
                      <a:pPr algn="l" fontAlgn="ctr"/>
                      <a:r>
                        <a:rPr lang="vi-VN" sz="1000" smtClean="0">
                          <a:latin typeface="Times New Roman" panose="02020603050405020304" pitchFamily="18" charset="0"/>
                          <a:cs typeface="Times New Roman" panose="02020603050405020304" pitchFamily="18" charset="0"/>
                        </a:rPr>
                        <a:t>- Sau khi mua về 20/Aug/2018, lắp lên cho B225.</a:t>
                      </a:r>
                    </a:p>
                    <a:p>
                      <a:pPr algn="l" fontAlgn="ctr"/>
                      <a:r>
                        <a:rPr lang="vi-VN" sz="1000" smtClean="0">
                          <a:latin typeface="Times New Roman" panose="02020603050405020304" pitchFamily="18" charset="0"/>
                          <a:cs typeface="Times New Roman" panose="02020603050405020304" pitchFamily="18" charset="0"/>
                        </a:rPr>
                        <a:t>- Ngày 18/Nov/2018, khai thác được trên B225 đc 467 FC, 334 FH thì phải tháo xuống đi sửa chữa. theo SFR thì nguyên nhân do lỗi chỉ thị của Rudder và Trim position bị sai lệch</a:t>
                      </a:r>
                    </a:p>
                    <a:p>
                      <a:pPr algn="l" fontAlgn="ctr"/>
                      <a:r>
                        <a:rPr lang="vi-VN" sz="1000" smtClean="0">
                          <a:latin typeface="Times New Roman" panose="02020603050405020304" pitchFamily="18" charset="0"/>
                          <a:cs typeface="Times New Roman" panose="02020603050405020304" pitchFamily="18" charset="0"/>
                        </a:rPr>
                        <a:t>- Sau khi đi sửa chữa về thì lưu kho đến bây giờ và lắp lên B223 hôm qua thì phát hiện lỗi.</a:t>
                      </a:r>
                    </a:p>
                    <a:p>
                      <a:pPr algn="l" fontAlgn="ctr"/>
                      <a:r>
                        <a:rPr lang="vi-VN" sz="1000" smtClean="0">
                          <a:latin typeface="Times New Roman" panose="02020603050405020304" pitchFamily="18" charset="0"/>
                          <a:cs typeface="Times New Roman" panose="02020603050405020304" pitchFamily="18" charset="0"/>
                        </a:rPr>
                        <a:t>=&gt; Như vậy, khối indicator trong kho được mua cũ từ 2017, khai thác rất cao giờ, và có lịch sử bị sai lỗi chỉ thị</a:t>
                      </a:r>
                      <a:endParaRPr lang="vi-VN" sz="1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137136288"/>
                  </a:ext>
                </a:extLst>
              </a:tr>
            </a:tbl>
          </a:graphicData>
        </a:graphic>
      </p:graphicFrame>
    </p:spTree>
    <p:custDataLst>
      <p:tags r:id="rId1"/>
    </p:custDataLst>
    <p:extLst>
      <p:ext uri="{BB962C8B-B14F-4D97-AF65-F5344CB8AC3E}">
        <p14:creationId xmlns:p14="http://schemas.microsoft.com/office/powerpoint/2010/main" val="563283642"/>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t>5</a:t>
            </a:fld>
            <a:endParaRPr kumimoji="0" lang="en-US" sz="1200" b="0" i="0" u="none" strike="noStrike" kern="1200" cap="none" spc="0" normalizeH="0" baseline="0" noProof="0">
              <a:ln>
                <a:noFill/>
              </a:ln>
              <a:solidFill>
                <a:srgbClr val="D2A43B"/>
              </a:solidFill>
              <a:effectLst/>
              <a:uLnTx/>
              <a:uFillTx/>
              <a:latin typeface="Montserrat" pitchFamily="2" charset="77"/>
              <a:ea typeface="+mn-ea"/>
              <a:cs typeface="+mn-cs"/>
            </a:endParaRPr>
          </a:p>
        </p:txBody>
      </p:sp>
      <p:sp>
        <p:nvSpPr>
          <p:cNvPr id="1048595" name="Title 4"/>
          <p:cNvSpPr>
            <a:spLocks noGrp="1"/>
          </p:cNvSpPr>
          <p:nvPr>
            <p:ph type="title"/>
          </p:nvPr>
        </p:nvSpPr>
        <p:spPr>
          <a:xfrm>
            <a:off x="381000" y="290517"/>
            <a:ext cx="11277597" cy="428634"/>
          </a:xfrm>
        </p:spPr>
        <p:txBody>
          <a:bodyPr>
            <a:normAutofit fontScale="90000"/>
          </a:bodyPr>
          <a:lstStyle/>
          <a:p>
            <a:pPr algn="ctr"/>
            <a:r>
              <a:rPr kumimoji="0" lang="en-US" sz="2800" b="1" i="0" u="none" strike="noStrike" kern="1200" cap="none" spc="0" normalizeH="0" baseline="0" noProof="0">
                <a:ln>
                  <a:noFill/>
                </a:ln>
                <a:solidFill>
                  <a:srgbClr val="FFC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CÁC SỰ KIỆN </a:t>
            </a:r>
            <a:r>
              <a:rPr 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MOR</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3485436"/>
              </p:ext>
            </p:extLst>
          </p:nvPr>
        </p:nvGraphicFramePr>
        <p:xfrm>
          <a:off x="533400" y="990600"/>
          <a:ext cx="10515602" cy="2877114"/>
        </p:xfrm>
        <a:graphic>
          <a:graphicData uri="http://schemas.openxmlformats.org/drawingml/2006/table">
            <a:tbl>
              <a:tblPr/>
              <a:tblGrid>
                <a:gridCol w="544850"/>
                <a:gridCol w="446777"/>
                <a:gridCol w="501262"/>
                <a:gridCol w="512159"/>
                <a:gridCol w="468571"/>
                <a:gridCol w="403189"/>
                <a:gridCol w="544850"/>
                <a:gridCol w="642923"/>
                <a:gridCol w="2571691"/>
                <a:gridCol w="3279995"/>
                <a:gridCol w="599335"/>
              </a:tblGrid>
              <a:tr h="156917">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REG.</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YEAR</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MONTH</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DATE</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FLIGHT</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DEP-ARV</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DEFECT</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CORRECTIVE ACTION</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r>
              <a:tr h="1412251">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B223</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ATR72</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2025</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02</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15</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VN1857</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SGN-VCS</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B223+GTB+AHRS 1 LOSS SIGNAL DURING TAXI CAPT CALL VHF : A/C HAS DEFFECT: AHRS 1 LOSS SIGNAL</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FINAL ACTION: C/O RPLD AHRU#1 , OPS TEST SATIS, A/C SERVICEABLE. AHRS 1 LOSS SIGNAL A/C GTB EVENT CLOSED FINAL ACTION: C/O RPLD AHRU#1 , OPS TEST SATIS, A/C SERVICEABLE. DURING TAXI CAPT CALL VHF : A/C HAS DEFFECT: AHRS 1 LOSS SIGNALDURING TAXI CAPT CALL VHF : A/C HAS: DEFFECT: AHRS 1 LOSS SIGNAL</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A/C TOTAL DELAY: 50mins, TECH: 20mins.</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34-21</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13833">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B223</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ATR72</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2025</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16</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SGN</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VN1893</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SGN-VCS</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B223 GTB/MOR DUE TO TAKE OFF CONFIG "FLT CTL"</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FINAL ACTION: C/O CLEAN 2CT CONNECTOR. C/O TAKE OFF CONFIG TEST CHECK SATIS. A/C SERVICEABLE</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13833">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A339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A321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2025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02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KHH</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VN587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KHH-</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F/CTL ELAC PITCH FAULT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C/O RPLD ELEV SERVO </a:t>
                      </a:r>
                      <a:r>
                        <a:rPr lang="en-US" sz="1100" b="0" i="0" u="none" strike="noStrike" dirty="0" smtClean="0">
                          <a:solidFill>
                            <a:srgbClr val="000000"/>
                          </a:solidFill>
                          <a:effectLst/>
                          <a:latin typeface="Calibri" panose="020F0502020204030204" pitchFamily="34" charset="0"/>
                        </a:rPr>
                        <a:t>; </a:t>
                      </a:r>
                      <a:r>
                        <a:rPr lang="en-US" sz="1100" b="0" i="0" u="none" strike="noStrike" dirty="0">
                          <a:solidFill>
                            <a:srgbClr val="000000"/>
                          </a:solidFill>
                          <a:effectLst/>
                          <a:latin typeface="Calibri" panose="020F0502020204030204" pitchFamily="34" charset="0"/>
                        </a:rPr>
                        <a:t>ELAC #2, ENG RUN UP SATIS. ACTION EVENT CLOSED EVENT CLOSED EVENT CLOSED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167133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6</a:t>
            </a:fld>
            <a:endParaRPr/>
          </a:p>
        </p:txBody>
      </p:sp>
      <p:sp>
        <p:nvSpPr>
          <p:cNvPr id="4" name="Google Shape;82;p7">
            <a:extLst>
              <a:ext uri="{FF2B5EF4-FFF2-40B4-BE49-F238E27FC236}">
                <a16:creationId xmlns:a16="http://schemas.microsoft.com/office/drawing/2014/main" xmlns=""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xmlns="" id="{2A0D8269-7016-40C9-871E-187A7FEACF1F}"/>
              </a:ext>
            </a:extLst>
          </p:cNvPr>
          <p:cNvSpPr txBox="1"/>
          <p:nvPr/>
        </p:nvSpPr>
        <p:spPr>
          <a:xfrm>
            <a:off x="302664" y="1053717"/>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sp>
        <p:nvSpPr>
          <p:cNvPr id="7" name="TextBox 6">
            <a:extLst>
              <a:ext uri="{FF2B5EF4-FFF2-40B4-BE49-F238E27FC236}">
                <a16:creationId xmlns:a16="http://schemas.microsoft.com/office/drawing/2014/main" xmlns="" id="{380D0EF5-CAED-4228-924A-DD9228564476}"/>
              </a:ext>
            </a:extLst>
          </p:cNvPr>
          <p:cNvSpPr txBox="1"/>
          <p:nvPr/>
        </p:nvSpPr>
        <p:spPr>
          <a:xfrm>
            <a:off x="302664" y="2467387"/>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a:t>
            </a:r>
          </a:p>
        </p:txBody>
      </p:sp>
      <p:graphicFrame>
        <p:nvGraphicFramePr>
          <p:cNvPr id="3" name="Table 2"/>
          <p:cNvGraphicFramePr>
            <a:graphicFrameLocks noGrp="1"/>
          </p:cNvGraphicFramePr>
          <p:nvPr>
            <p:extLst>
              <p:ext uri="{D42A27DB-BD31-4B8C-83A1-F6EECF244321}">
                <p14:modId xmlns:p14="http://schemas.microsoft.com/office/powerpoint/2010/main" val="1096776633"/>
              </p:ext>
            </p:extLst>
          </p:nvPr>
        </p:nvGraphicFramePr>
        <p:xfrm>
          <a:off x="301591" y="1389962"/>
          <a:ext cx="11463226" cy="868299"/>
        </p:xfrm>
        <a:graphic>
          <a:graphicData uri="http://schemas.openxmlformats.org/drawingml/2006/table">
            <a:tbl>
              <a:tblPr/>
              <a:tblGrid>
                <a:gridCol w="427560">
                  <a:extLst>
                    <a:ext uri="{9D8B030D-6E8A-4147-A177-3AD203B41FA5}">
                      <a16:colId xmlns:a16="http://schemas.microsoft.com/office/drawing/2014/main" xmlns="" val="1400939127"/>
                    </a:ext>
                  </a:extLst>
                </a:gridCol>
                <a:gridCol w="531561">
                  <a:extLst>
                    <a:ext uri="{9D8B030D-6E8A-4147-A177-3AD203B41FA5}">
                      <a16:colId xmlns:a16="http://schemas.microsoft.com/office/drawing/2014/main" xmlns="" val="815328117"/>
                    </a:ext>
                  </a:extLst>
                </a:gridCol>
                <a:gridCol w="381337">
                  <a:extLst>
                    <a:ext uri="{9D8B030D-6E8A-4147-A177-3AD203B41FA5}">
                      <a16:colId xmlns:a16="http://schemas.microsoft.com/office/drawing/2014/main" xmlns="" val="1720360630"/>
                    </a:ext>
                  </a:extLst>
                </a:gridCol>
                <a:gridCol w="1155567">
                  <a:extLst>
                    <a:ext uri="{9D8B030D-6E8A-4147-A177-3AD203B41FA5}">
                      <a16:colId xmlns:a16="http://schemas.microsoft.com/office/drawing/2014/main" xmlns="" val="1684777201"/>
                    </a:ext>
                  </a:extLst>
                </a:gridCol>
                <a:gridCol w="392893">
                  <a:extLst>
                    <a:ext uri="{9D8B030D-6E8A-4147-A177-3AD203B41FA5}">
                      <a16:colId xmlns:a16="http://schemas.microsoft.com/office/drawing/2014/main" xmlns="" val="1451179484"/>
                    </a:ext>
                  </a:extLst>
                </a:gridCol>
                <a:gridCol w="751118">
                  <a:extLst>
                    <a:ext uri="{9D8B030D-6E8A-4147-A177-3AD203B41FA5}">
                      <a16:colId xmlns:a16="http://schemas.microsoft.com/office/drawing/2014/main" xmlns="" val="2273417757"/>
                    </a:ext>
                  </a:extLst>
                </a:gridCol>
                <a:gridCol w="658673">
                  <a:extLst>
                    <a:ext uri="{9D8B030D-6E8A-4147-A177-3AD203B41FA5}">
                      <a16:colId xmlns:a16="http://schemas.microsoft.com/office/drawing/2014/main" xmlns="" val="3922052826"/>
                    </a:ext>
                  </a:extLst>
                </a:gridCol>
                <a:gridCol w="774230">
                  <a:extLst>
                    <a:ext uri="{9D8B030D-6E8A-4147-A177-3AD203B41FA5}">
                      <a16:colId xmlns:a16="http://schemas.microsoft.com/office/drawing/2014/main" xmlns="" val="3029852354"/>
                    </a:ext>
                  </a:extLst>
                </a:gridCol>
                <a:gridCol w="2403580">
                  <a:extLst>
                    <a:ext uri="{9D8B030D-6E8A-4147-A177-3AD203B41FA5}">
                      <a16:colId xmlns:a16="http://schemas.microsoft.com/office/drawing/2014/main" xmlns="" val="2636508086"/>
                    </a:ext>
                  </a:extLst>
                </a:gridCol>
                <a:gridCol w="3986707">
                  <a:extLst>
                    <a:ext uri="{9D8B030D-6E8A-4147-A177-3AD203B41FA5}">
                      <a16:colId xmlns:a16="http://schemas.microsoft.com/office/drawing/2014/main" xmlns="" val="1882276902"/>
                    </a:ext>
                  </a:extLst>
                </a:gridCol>
              </a:tblGrid>
              <a:tr h="289698">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1039288818"/>
                  </a:ext>
                </a:extLst>
              </a:tr>
              <a:tr h="496179">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A321</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A620</a:t>
                      </a:r>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1</a:t>
                      </a:r>
                      <a:r>
                        <a:rPr lang="vi-VN" sz="1200" b="0" i="0" u="none" strike="noStrike" smtClean="0">
                          <a:solidFill>
                            <a:srgbClr val="000000"/>
                          </a:solidFill>
                          <a:effectLst/>
                          <a:latin typeface="Times New Roman" panose="02020603050405020304" pitchFamily="18" charset="0"/>
                          <a:cs typeface="Times New Roman" panose="02020603050405020304" pitchFamily="18" charset="0"/>
                        </a:rPr>
                        <a:t>3/02/2025</a:t>
                      </a:r>
                      <a:endParaRPr lang="vi-V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SGN</a:t>
                      </a:r>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11</a:t>
                      </a:r>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VN522</a:t>
                      </a:r>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SGN-PVG</a:t>
                      </a:r>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AFTER BOARDING FOUND MSG: SINGLE PTT STUCK</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dirty="0" smtClean="0">
                          <a:solidFill>
                            <a:srgbClr val="121111"/>
                          </a:solidFill>
                          <a:effectLst/>
                          <a:latin typeface="Arial" panose="020B0604020202020204" pitchFamily="34" charset="0"/>
                        </a:rPr>
                        <a:t>RESET CHECK SATIS. A/C CLOSE ALL DOOR</a:t>
                      </a:r>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697811605"/>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981417400"/>
              </p:ext>
            </p:extLst>
          </p:nvPr>
        </p:nvGraphicFramePr>
        <p:xfrm>
          <a:off x="303898" y="2801323"/>
          <a:ext cx="11460918" cy="3572663"/>
        </p:xfrm>
        <a:graphic>
          <a:graphicData uri="http://schemas.openxmlformats.org/drawingml/2006/table">
            <a:tbl>
              <a:tblPr/>
              <a:tblGrid>
                <a:gridCol w="566212">
                  <a:extLst>
                    <a:ext uri="{9D8B030D-6E8A-4147-A177-3AD203B41FA5}">
                      <a16:colId xmlns:a16="http://schemas.microsoft.com/office/drawing/2014/main" xmlns="" val="4045100793"/>
                    </a:ext>
                  </a:extLst>
                </a:gridCol>
                <a:gridCol w="566212">
                  <a:extLst>
                    <a:ext uri="{9D8B030D-6E8A-4147-A177-3AD203B41FA5}">
                      <a16:colId xmlns:a16="http://schemas.microsoft.com/office/drawing/2014/main" xmlns="" val="1652234844"/>
                    </a:ext>
                  </a:extLst>
                </a:gridCol>
                <a:gridCol w="1005515">
                  <a:extLst>
                    <a:ext uri="{9D8B030D-6E8A-4147-A177-3AD203B41FA5}">
                      <a16:colId xmlns:a16="http://schemas.microsoft.com/office/drawing/2014/main" xmlns="" val="1400423213"/>
                    </a:ext>
                  </a:extLst>
                </a:gridCol>
                <a:gridCol w="566212">
                  <a:extLst>
                    <a:ext uri="{9D8B030D-6E8A-4147-A177-3AD203B41FA5}">
                      <a16:colId xmlns:a16="http://schemas.microsoft.com/office/drawing/2014/main" xmlns="" val="3660012446"/>
                    </a:ext>
                  </a:extLst>
                </a:gridCol>
                <a:gridCol w="400254">
                  <a:extLst>
                    <a:ext uri="{9D8B030D-6E8A-4147-A177-3AD203B41FA5}">
                      <a16:colId xmlns:a16="http://schemas.microsoft.com/office/drawing/2014/main" xmlns="" val="12374685"/>
                    </a:ext>
                  </a:extLst>
                </a:gridCol>
                <a:gridCol w="634549">
                  <a:extLst>
                    <a:ext uri="{9D8B030D-6E8A-4147-A177-3AD203B41FA5}">
                      <a16:colId xmlns:a16="http://schemas.microsoft.com/office/drawing/2014/main" xmlns="" val="2639714955"/>
                    </a:ext>
                  </a:extLst>
                </a:gridCol>
                <a:gridCol w="741933">
                  <a:extLst>
                    <a:ext uri="{9D8B030D-6E8A-4147-A177-3AD203B41FA5}">
                      <a16:colId xmlns:a16="http://schemas.microsoft.com/office/drawing/2014/main" xmlns="" val="2357613929"/>
                    </a:ext>
                  </a:extLst>
                </a:gridCol>
                <a:gridCol w="2948209">
                  <a:extLst>
                    <a:ext uri="{9D8B030D-6E8A-4147-A177-3AD203B41FA5}">
                      <a16:colId xmlns:a16="http://schemas.microsoft.com/office/drawing/2014/main" xmlns="" val="4084521324"/>
                    </a:ext>
                  </a:extLst>
                </a:gridCol>
                <a:gridCol w="3465610">
                  <a:extLst>
                    <a:ext uri="{9D8B030D-6E8A-4147-A177-3AD203B41FA5}">
                      <a16:colId xmlns:a16="http://schemas.microsoft.com/office/drawing/2014/main" xmlns="" val="3467743997"/>
                    </a:ext>
                  </a:extLst>
                </a:gridCol>
                <a:gridCol w="566212">
                  <a:extLst>
                    <a:ext uri="{9D8B030D-6E8A-4147-A177-3AD203B41FA5}">
                      <a16:colId xmlns:a16="http://schemas.microsoft.com/office/drawing/2014/main" xmlns="" val="3105483654"/>
                    </a:ext>
                  </a:extLst>
                </a:gridCol>
              </a:tblGrid>
              <a:tr h="370823">
                <a:tc>
                  <a:txBody>
                    <a:bodyPr/>
                    <a:lstStyle/>
                    <a:p>
                      <a:pPr algn="ctr" fontAlgn="t"/>
                      <a:r>
                        <a:rPr lang="en-US" sz="1200" b="0" i="0" u="none" strike="noStrike" dirty="0">
                          <a:solidFill>
                            <a:srgbClr val="000000"/>
                          </a:solidFill>
                          <a:effectLst/>
                          <a:latin typeface="Times New Roman" panose="02020603050405020304" pitchFamily="18" charset="0"/>
                          <a:cs typeface="Times New Roman" panose="02020603050405020304" pitchFamily="18" charset="0"/>
                        </a:rPr>
                        <a:t>FLEET</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A/C</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STA</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ATA</a:t>
                      </a: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547802021"/>
                  </a:ext>
                </a:extLst>
              </a:tr>
              <a:tr h="247215">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ATR72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B223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14:30 11/02/2025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VN8097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SGN-VCS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MW #3 TREAD  WORN TO LIMIT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TRANSIT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CHECK FOUND MW #3 TREAD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WORN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TO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LIMIT</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smtClean="0">
                          <a:solidFill>
                            <a:srgbClr val="000000"/>
                          </a:solidFill>
                          <a:effectLst/>
                          <a:latin typeface="Times New Roman" panose="02020603050405020304" pitchFamily="18" charset="0"/>
                          <a:cs typeface="Times New Roman" panose="02020603050405020304" pitchFamily="18" charset="0"/>
                        </a:rPr>
                        <a:t>TRANSIT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CHECK FOUND MW #3 TREAD  WORN TO LIMIT EVENT CLOSED </a:t>
                      </a:r>
                      <a:r>
                        <a:rPr lang="vi-VN" sz="1100" b="0" i="0" u="none" strike="noStrike" dirty="0" smtClean="0">
                          <a:solidFill>
                            <a:srgbClr val="000000"/>
                          </a:solidFill>
                          <a:effectLst/>
                          <a:latin typeface="Times New Roman" panose="02020603050405020304" pitchFamily="18" charset="0"/>
                          <a:cs typeface="Times New Roman" panose="02020603050405020304" pitchFamily="18" charset="0"/>
                        </a:rPr>
                        <a:t>ACTION</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 C/O RPLD MW #3 SATIS, A/C </a:t>
                      </a:r>
                      <a:r>
                        <a:rPr lang="vi-VN" sz="1100" b="0" i="0" u="none" strike="noStrike" dirty="0" smtClean="0">
                          <a:solidFill>
                            <a:srgbClr val="000000"/>
                          </a:solidFill>
                          <a:effectLst/>
                          <a:latin typeface="Times New Roman" panose="02020603050405020304" pitchFamily="18" charset="0"/>
                          <a:cs typeface="Times New Roman" panose="02020603050405020304" pitchFamily="18" charset="0"/>
                        </a:rPr>
                        <a:t>SERVICEABLE</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smtClean="0">
                          <a:solidFill>
                            <a:srgbClr val="000000"/>
                          </a:solidFill>
                          <a:effectLst/>
                          <a:latin typeface="Times New Roman" panose="02020603050405020304" pitchFamily="18" charset="0"/>
                          <a:cs typeface="Times New Roman" panose="02020603050405020304" pitchFamily="18" charset="0"/>
                        </a:rPr>
                        <a:t>A/C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TOTAL &amp;#160;DELAY: 31mins, TECH: 0mins, A/C ARRIVE LATE: </a:t>
                      </a:r>
                      <a:r>
                        <a:rPr lang="vi-VN" sz="1100" b="0" i="0" u="none" strike="noStrike" dirty="0" smtClean="0">
                          <a:solidFill>
                            <a:srgbClr val="000000"/>
                          </a:solidFill>
                          <a:effectLst/>
                          <a:latin typeface="Times New Roman" panose="02020603050405020304" pitchFamily="18" charset="0"/>
                          <a:cs typeface="Times New Roman" panose="02020603050405020304" pitchFamily="18" charset="0"/>
                        </a:rPr>
                        <a:t>15mins</a:t>
                      </a:r>
                      <a:endParaRPr lang="vi-V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32-00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076871730"/>
                  </a:ext>
                </a:extLst>
              </a:tr>
              <a:tr h="247215">
                <a:tc>
                  <a:txBody>
                    <a:bodyPr/>
                    <a:lstStyle/>
                    <a:p>
                      <a:pPr algn="l" fontAlgn="t"/>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B878</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74" marR="5374" marT="5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A868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15:04 14/02/2025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VN214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TRANSIT CHECK FOUND MW #1 SHOULDER WORN TO LIMIT (ABNORMAL)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smtClean="0">
                          <a:solidFill>
                            <a:srgbClr val="000000"/>
                          </a:solidFill>
                          <a:effectLst/>
                          <a:latin typeface="Times New Roman" panose="02020603050405020304" pitchFamily="18" charset="0"/>
                          <a:cs typeface="Times New Roman" panose="02020603050405020304" pitchFamily="18" charset="0"/>
                        </a:rPr>
                        <a:t>TRANSIT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CHECK FOUND MW #1 SHOULDER WORN TO LIMIT (ABNORMAL</a:t>
                      </a:r>
                      <a:r>
                        <a:rPr lang="vi-VN" sz="1100" b="0" i="0" u="none" strike="noStrike" dirty="0" smtClean="0">
                          <a:solidFill>
                            <a:srgbClr val="000000"/>
                          </a:solidFill>
                          <a:effectLst/>
                          <a:latin typeface="Times New Roman" panose="02020603050405020304" pitchFamily="18" charset="0"/>
                          <a:cs typeface="Times New Roman" panose="02020603050405020304" pitchFamily="18" charset="0"/>
                        </a:rPr>
                        <a:t>)</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smtClean="0">
                          <a:solidFill>
                            <a:srgbClr val="000000"/>
                          </a:solidFill>
                          <a:effectLst/>
                          <a:latin typeface="Times New Roman" panose="02020603050405020304" pitchFamily="18" charset="0"/>
                          <a:cs typeface="Times New Roman" panose="02020603050405020304" pitchFamily="18" charset="0"/>
                        </a:rPr>
                        <a:t>TOTAL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DELAY 22MINS, TECH DELAY 0 </a:t>
                      </a:r>
                      <a:r>
                        <a:rPr lang="vi-VN" sz="1100" b="0" i="0" u="none" strike="noStrike" dirty="0" smtClean="0">
                          <a:solidFill>
                            <a:srgbClr val="000000"/>
                          </a:solidFill>
                          <a:effectLst/>
                          <a:latin typeface="Times New Roman" panose="02020603050405020304" pitchFamily="18" charset="0"/>
                          <a:cs typeface="Times New Roman" panose="02020603050405020304" pitchFamily="18" charset="0"/>
                        </a:rPr>
                        <a:t>MINS</a:t>
                      </a:r>
                      <a:endParaRPr lang="vi-V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32-00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891109976"/>
                  </a:ext>
                </a:extLst>
              </a:tr>
              <a:tr h="247215">
                <a:tc>
                  <a:txBody>
                    <a:bodyPr/>
                    <a:lstStyle/>
                    <a:p>
                      <a:pPr algn="l" fontAlgn="t"/>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A321</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74" marR="5374" marT="537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A327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11:40 15/02/2025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VN130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SGN-DAD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MW #3 SHOULDER WORN TO LIMIT (ABNORMAL)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TRANSIT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CHECK FOUND MW #3 SHOULDER WORN TO LIMIT (ABNORMAL</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smtClean="0">
                          <a:solidFill>
                            <a:srgbClr val="000000"/>
                          </a:solidFill>
                          <a:effectLst/>
                          <a:latin typeface="Times New Roman" panose="02020603050405020304" pitchFamily="18" charset="0"/>
                          <a:cs typeface="Times New Roman" panose="02020603050405020304" pitchFamily="18" charset="0"/>
                        </a:rPr>
                        <a:t>MW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#3 SHOULDER WORN TO LIMIT (ABNORMAL) </a:t>
                      </a:r>
                      <a:r>
                        <a:rPr lang="vi-VN" sz="1100" b="0" i="0" u="none" strike="noStrike" dirty="0" smtClean="0">
                          <a:solidFill>
                            <a:srgbClr val="000000"/>
                          </a:solidFill>
                          <a:effectLst/>
                          <a:latin typeface="Times New Roman" panose="02020603050405020304" pitchFamily="18" charset="0"/>
                          <a:cs typeface="Times New Roman" panose="02020603050405020304" pitchFamily="18" charset="0"/>
                        </a:rPr>
                        <a:t>FINAL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ACTION: C/O RPLD MW#3 , CHECK SATIS ,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smtClean="0">
                          <a:solidFill>
                            <a:srgbClr val="000000"/>
                          </a:solidFill>
                          <a:effectLst/>
                          <a:latin typeface="Times New Roman" panose="02020603050405020304" pitchFamily="18" charset="0"/>
                          <a:cs typeface="Times New Roman" panose="02020603050405020304" pitchFamily="18" charset="0"/>
                        </a:rPr>
                        <a:t>A/C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TOTAL </a:t>
                      </a:r>
                      <a:r>
                        <a:rPr lang="vi-VN" sz="1100" b="0" i="0" u="none" strike="noStrike" dirty="0" smtClean="0">
                          <a:solidFill>
                            <a:srgbClr val="000000"/>
                          </a:solidFill>
                          <a:effectLst/>
                          <a:latin typeface="Times New Roman" panose="02020603050405020304" pitchFamily="18" charset="0"/>
                          <a:cs typeface="Times New Roman" panose="02020603050405020304" pitchFamily="18" charset="0"/>
                        </a:rPr>
                        <a:t>DELAY</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 19mins, TECH: </a:t>
                      </a:r>
                      <a:r>
                        <a:rPr lang="vi-VN" sz="1100" b="0" i="0" u="none" strike="noStrike" dirty="0" smtClean="0">
                          <a:solidFill>
                            <a:srgbClr val="000000"/>
                          </a:solidFill>
                          <a:effectLst/>
                          <a:latin typeface="Times New Roman" panose="02020603050405020304" pitchFamily="18" charset="0"/>
                          <a:cs typeface="Times New Roman" panose="02020603050405020304" pitchFamily="18" charset="0"/>
                        </a:rPr>
                        <a:t>0mins</a:t>
                      </a:r>
                      <a:endParaRPr lang="vi-V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32-00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8094339"/>
                  </a:ext>
                </a:extLst>
              </a:tr>
              <a:tr h="247215">
                <a:tc>
                  <a:txBody>
                    <a:bodyPr/>
                    <a:lstStyle/>
                    <a:p>
                      <a:pPr algn="ctr" fontAlgn="t"/>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A321</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A331</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16/02/2025</a:t>
                      </a:r>
                      <a:endParaRPr lang="aa-ET"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SGN</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endParaRPr lang="aa-ET"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VN570</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SGN-TPE</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TRANSIT CHECK FOUND MW #3 SHOULDER WORN TO LIMIT (ABNORMAL)</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C/O RPLD MW#3 SATIS , A/C SERVICEABLE</a:t>
                      </a:r>
                    </a:p>
                    <a:p>
                      <a:pPr algn="l" fontAlgn="t"/>
                      <a:r>
                        <a:rPr lang="en-US" sz="1200" b="0" i="0" u="none" strike="noStrike" dirty="0" smtClean="0">
                          <a:solidFill>
                            <a:srgbClr val="000000"/>
                          </a:solidFill>
                          <a:effectLst/>
                          <a:latin typeface="Times New Roman" panose="02020603050405020304" pitchFamily="18" charset="0"/>
                          <a:cs typeface="Times New Roman" panose="02020603050405020304" pitchFamily="18" charset="0"/>
                        </a:rPr>
                        <a:t>TOTAL DELAY: 16 MINS, TECH: 0 MIN</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endParaRPr lang="aa-ET"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995622103"/>
                  </a:ext>
                </a:extLst>
              </a:tr>
              <a:tr h="247215">
                <a:tc>
                  <a:txBody>
                    <a:bodyPr/>
                    <a:lstStyle/>
                    <a:p>
                      <a:pPr algn="ctr" fontAlgn="t"/>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endParaRPr lang="aa-ET"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endParaRPr lang="aa-ET"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endParaRPr lang="aa-ET"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374" marR="5374" marT="537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011379213"/>
                  </a:ext>
                </a:extLst>
              </a:tr>
            </a:tbl>
          </a:graphicData>
        </a:graphic>
      </p:graphicFrame>
    </p:spTree>
    <p:extLst>
      <p:ext uri="{BB962C8B-B14F-4D97-AF65-F5344CB8AC3E}">
        <p14:creationId xmlns:p14="http://schemas.microsoft.com/office/powerpoint/2010/main" val="550881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F0CA75EA-080A-64A9-246F-8C137B5AAA1A}"/>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xmlns=""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xmlns="" id="{5FE3B712-9690-42A3-A50E-24E99475755A}"/>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xmlns="" id="{A8AA4BD9-FDEC-2CC2-1A85-C72F397A4621}"/>
              </a:ext>
            </a:extLst>
          </p:cNvPr>
          <p:cNvGraphicFramePr>
            <a:graphicFrameLocks noGrp="1"/>
          </p:cNvGraphicFramePr>
          <p:nvPr>
            <p:extLst/>
          </p:nvPr>
        </p:nvGraphicFramePr>
        <p:xfrm>
          <a:off x="170509" y="1553215"/>
          <a:ext cx="11670605" cy="2983320"/>
        </p:xfrm>
        <a:graphic>
          <a:graphicData uri="http://schemas.openxmlformats.org/drawingml/2006/table">
            <a:tbl>
              <a:tblPr/>
              <a:tblGrid>
                <a:gridCol w="375833">
                  <a:extLst>
                    <a:ext uri="{9D8B030D-6E8A-4147-A177-3AD203B41FA5}">
                      <a16:colId xmlns:a16="http://schemas.microsoft.com/office/drawing/2014/main" xmlns="" val="435942644"/>
                    </a:ext>
                  </a:extLst>
                </a:gridCol>
                <a:gridCol w="901458">
                  <a:extLst>
                    <a:ext uri="{9D8B030D-6E8A-4147-A177-3AD203B41FA5}">
                      <a16:colId xmlns:a16="http://schemas.microsoft.com/office/drawing/2014/main" xmlns="" val="276862112"/>
                    </a:ext>
                  </a:extLst>
                </a:gridCol>
                <a:gridCol w="838200">
                  <a:extLst>
                    <a:ext uri="{9D8B030D-6E8A-4147-A177-3AD203B41FA5}">
                      <a16:colId xmlns:a16="http://schemas.microsoft.com/office/drawing/2014/main" xmlns="" val="2191467762"/>
                    </a:ext>
                  </a:extLst>
                </a:gridCol>
                <a:gridCol w="457200">
                  <a:extLst>
                    <a:ext uri="{9D8B030D-6E8A-4147-A177-3AD203B41FA5}">
                      <a16:colId xmlns:a16="http://schemas.microsoft.com/office/drawing/2014/main" xmlns="" val="2342651692"/>
                    </a:ext>
                  </a:extLst>
                </a:gridCol>
                <a:gridCol w="2209800">
                  <a:extLst>
                    <a:ext uri="{9D8B030D-6E8A-4147-A177-3AD203B41FA5}">
                      <a16:colId xmlns:a16="http://schemas.microsoft.com/office/drawing/2014/main" xmlns="" val="3654957790"/>
                    </a:ext>
                  </a:extLst>
                </a:gridCol>
                <a:gridCol w="1905000">
                  <a:extLst>
                    <a:ext uri="{9D8B030D-6E8A-4147-A177-3AD203B41FA5}">
                      <a16:colId xmlns:a16="http://schemas.microsoft.com/office/drawing/2014/main" xmlns="" val="3278939196"/>
                    </a:ext>
                  </a:extLst>
                </a:gridCol>
                <a:gridCol w="381000">
                  <a:extLst>
                    <a:ext uri="{9D8B030D-6E8A-4147-A177-3AD203B41FA5}">
                      <a16:colId xmlns:a16="http://schemas.microsoft.com/office/drawing/2014/main" xmlns="" val="3446310582"/>
                    </a:ext>
                  </a:extLst>
                </a:gridCol>
                <a:gridCol w="4602114">
                  <a:extLst>
                    <a:ext uri="{9D8B030D-6E8A-4147-A177-3AD203B41FA5}">
                      <a16:colId xmlns:a16="http://schemas.microsoft.com/office/drawing/2014/main" xmlns="" val="1400684824"/>
                    </a:ext>
                  </a:extLst>
                </a:gridCol>
              </a:tblGrid>
              <a:tr h="129110">
                <a:tc>
                  <a:txBody>
                    <a:bodyPr/>
                    <a:lstStyle/>
                    <a:p>
                      <a:pPr algn="ctr" fontAlgn="ctr"/>
                      <a:r>
                        <a:rPr lang="en-US" sz="1100" b="0" i="0" u="none" strike="noStrike">
                          <a:solidFill>
                            <a:srgbClr val="000000"/>
                          </a:solidFill>
                          <a:effectLst/>
                          <a:latin typeface="Times New Roman" panose="02020603050405020304" pitchFamily="18" charset="0"/>
                        </a:rPr>
                        <a:t>A/C</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OPEN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CLOSED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STA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DEFECT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ACTION</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ATA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Engineering Assessment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394249764"/>
                  </a:ext>
                </a:extLst>
              </a:tr>
              <a:tr h="2643584">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07:18 14/02/2025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06:20 15/02/2025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KHH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F/CTL ELAC PITCH FAULT. A339 GTB</a:t>
                      </a:r>
                      <a:br>
                        <a:rPr lang="en-US" sz="1100" b="0" i="0" u="none" strike="noStrike">
                          <a:solidFill>
                            <a:srgbClr val="000000"/>
                          </a:solidFill>
                          <a:effectLst/>
                          <a:latin typeface="Times New Roman" panose="02020603050405020304" pitchFamily="18" charset="0"/>
                          <a:cs typeface="Times New Roman" panose="02020603050405020304" pitchFamily="18" charset="0"/>
                        </a:rPr>
                      </a:b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C/O RPLD ELEV SERVO  ELAC #2, ENG RUN UP SATIS. ACTION EVENT CLOSED EVENT CLOSED EVENT CLOSED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Hỏng hóc liên quan đến khối servo control và ELAC. Theo báo cáo của VAECO, sau khi thực hiện swap ELAC thì nổ máy vẫn xuất hiện msg nên đã phải tiến hành thay thế servo control. Tuy nhiên sau khi thay xong servo control thì msg vẫn xuất hiện intermitten nên Vaeco đã cho thay cả ELAC để đảm bảo không bắn lại msg. Hiện khối servo control đang sử dụng trên đội bay A321 là loại mới nhất và AIB không có topic nào liên quan đến ĐTC của khối này. Khối tháo xuống từ A339 đã khai thác được hơn 27K FH và 20K FC. Theo thống kê số lượng tháo lắp trong 03 năm gần nhất  từ 2022-2024 là 11-10-9 lần; MTBUR&gt;G-MTBUR (36K FH). Ngoài ra, khối ELAC tháo xuống là khối mới, mới khai thác được khoảng 5K FH do đó đánh giá là không bị ảnh hưởng bơi issue relay bị già. Do không có cảnh báo SHM/SPM từ trước nên không có phương án đặt vật tư dự phòng hay thay chủ động để hạn chế OI. Hiện ban KT đang triển khai chương trình thay thế relay cho các khối ELAC cao giờ khi gửi đi shop. Đối với các khối servo control, ban KT sẽ đánh giá thêm SFR và làm việc với NSX để tìm biện pháp hạn chế hỏng hóc.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867600614"/>
                  </a:ext>
                </a:extLst>
              </a:tr>
            </a:tbl>
          </a:graphicData>
        </a:graphic>
      </p:graphicFrame>
    </p:spTree>
    <p:extLst>
      <p:ext uri="{BB962C8B-B14F-4D97-AF65-F5344CB8AC3E}">
        <p14:creationId xmlns:p14="http://schemas.microsoft.com/office/powerpoint/2010/main" val="1059085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xmlns=""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xmlns=""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r>
              <a:rPr kumimoji="0" lang="en-US" sz="1600" b="1" i="0" u="none" strike="noStrike" kern="1200" cap="none" spc="0" normalizeH="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A63AE000-73D5-A499-5571-75ACA673658F}"/>
              </a:ext>
            </a:extLst>
          </p:cNvPr>
          <p:cNvGraphicFramePr>
            <a:graphicFrameLocks noGrp="1"/>
          </p:cNvGraphicFramePr>
          <p:nvPr>
            <p:extLst/>
          </p:nvPr>
        </p:nvGraphicFramePr>
        <p:xfrm>
          <a:off x="152399" y="1570679"/>
          <a:ext cx="11688717" cy="4213068"/>
        </p:xfrm>
        <a:graphic>
          <a:graphicData uri="http://schemas.openxmlformats.org/drawingml/2006/table">
            <a:tbl>
              <a:tblPr/>
              <a:tblGrid>
                <a:gridCol w="381001">
                  <a:extLst>
                    <a:ext uri="{9D8B030D-6E8A-4147-A177-3AD203B41FA5}">
                      <a16:colId xmlns:a16="http://schemas.microsoft.com/office/drawing/2014/main" xmlns="" val="3316182388"/>
                    </a:ext>
                  </a:extLst>
                </a:gridCol>
                <a:gridCol w="685800">
                  <a:extLst>
                    <a:ext uri="{9D8B030D-6E8A-4147-A177-3AD203B41FA5}">
                      <a16:colId xmlns:a16="http://schemas.microsoft.com/office/drawing/2014/main" xmlns="" val="4104333813"/>
                    </a:ext>
                  </a:extLst>
                </a:gridCol>
                <a:gridCol w="304800">
                  <a:extLst>
                    <a:ext uri="{9D8B030D-6E8A-4147-A177-3AD203B41FA5}">
                      <a16:colId xmlns:a16="http://schemas.microsoft.com/office/drawing/2014/main" xmlns="" val="2544045720"/>
                    </a:ext>
                  </a:extLst>
                </a:gridCol>
                <a:gridCol w="533400">
                  <a:extLst>
                    <a:ext uri="{9D8B030D-6E8A-4147-A177-3AD203B41FA5}">
                      <a16:colId xmlns:a16="http://schemas.microsoft.com/office/drawing/2014/main" xmlns="" val="3951547359"/>
                    </a:ext>
                  </a:extLst>
                </a:gridCol>
                <a:gridCol w="457200">
                  <a:extLst>
                    <a:ext uri="{9D8B030D-6E8A-4147-A177-3AD203B41FA5}">
                      <a16:colId xmlns:a16="http://schemas.microsoft.com/office/drawing/2014/main" xmlns="" val="379936116"/>
                    </a:ext>
                  </a:extLst>
                </a:gridCol>
                <a:gridCol w="533400">
                  <a:extLst>
                    <a:ext uri="{9D8B030D-6E8A-4147-A177-3AD203B41FA5}">
                      <a16:colId xmlns:a16="http://schemas.microsoft.com/office/drawing/2014/main" xmlns="" val="905265164"/>
                    </a:ext>
                  </a:extLst>
                </a:gridCol>
                <a:gridCol w="1828800">
                  <a:extLst>
                    <a:ext uri="{9D8B030D-6E8A-4147-A177-3AD203B41FA5}">
                      <a16:colId xmlns:a16="http://schemas.microsoft.com/office/drawing/2014/main" xmlns="" val="1766184023"/>
                    </a:ext>
                  </a:extLst>
                </a:gridCol>
                <a:gridCol w="2438400">
                  <a:extLst>
                    <a:ext uri="{9D8B030D-6E8A-4147-A177-3AD203B41FA5}">
                      <a16:colId xmlns:a16="http://schemas.microsoft.com/office/drawing/2014/main" xmlns="" val="3411328682"/>
                    </a:ext>
                  </a:extLst>
                </a:gridCol>
                <a:gridCol w="381000">
                  <a:extLst>
                    <a:ext uri="{9D8B030D-6E8A-4147-A177-3AD203B41FA5}">
                      <a16:colId xmlns:a16="http://schemas.microsoft.com/office/drawing/2014/main" xmlns="" val="3312070597"/>
                    </a:ext>
                  </a:extLst>
                </a:gridCol>
                <a:gridCol w="4144916">
                  <a:extLst>
                    <a:ext uri="{9D8B030D-6E8A-4147-A177-3AD203B41FA5}">
                      <a16:colId xmlns:a16="http://schemas.microsoft.com/office/drawing/2014/main" xmlns="" val="1807191619"/>
                    </a:ext>
                  </a:extLst>
                </a:gridCol>
              </a:tblGrid>
              <a:tr h="29521">
                <a:tc>
                  <a:txBody>
                    <a:bodyPr/>
                    <a:lstStyle/>
                    <a:p>
                      <a:pPr algn="ctr" fontAlgn="t"/>
                      <a:r>
                        <a:rPr lang="en-US" sz="1100" b="0" i="0" u="none" strike="noStrike">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3809290284"/>
                  </a:ext>
                </a:extLst>
              </a:tr>
              <a:tr h="666583">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A605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19:40 14/02/2025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VN7837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SGN-PQC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FOUND "ENG 2 ELEC PUMP &amp; ENG 2 PUMP PUSH BT FAULT LIGHT" BEFORE BOARDING FOUND ENG 2 ELEC PUMP  ENG 2 PUMP PUSH BT FAULT LIGHT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C/O TSM TO MAKE DEFECT SATIS WITH MEL, RAISED ADD BLUE ELEC PUMP PB-SW FAULT LIGHT RAISED ADD "BLUE ELEC PUMP PB-SW FAULT LIGHT" EVENT CLOSED  TOTAL DELAY: 53 MINS, TECH DELAY: 30 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29-00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Hỏng hóc liên quan đến đèn chỉ thị của nút bấm, ít khi xảy ra. Nguyên nhân có thể do đèn sử dụng lây dẫn đến hỏng hóc. Tiếp tục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88696778"/>
                  </a:ext>
                </a:extLst>
              </a:tr>
              <a:tr h="1253323">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A602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07:01 10/02/2025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NGO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VN349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NGO-HAN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NAV TCAS INTERMITTENT FAULT NAV TCAS INTERMITTENT FAULT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NAV TCAS INTERMITTENT FAULT, AFTER MESG GONE, A/C DISPATCH. ACT: EVENT CLOSED EVENT CLOSED! NAV TCAS INTERMITTENT FAULT</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TOTAL DELAY 10HRS 14 MINS, TECH 03HRS 30MINS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34-43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Hỏng hóc liên quan đến TCAS antenna PN 622-8973-104. Hỏng hóc được khắc phục sau khi thay part.</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Part được lắp lên tàu từ t3/2013, TSN/CSN: 32736:06/16'207. Part có ĐTC tốt MTBUR/GMTBUR: 43,694/25500. </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Hỏng hóc xảy ra có thể do antenna bị nhiễm nước. Hỏng hóc tương tự gần nhất vào t7/2024, trong năm 2024 có 2 TH gây delay. Hiện tượng này đã được AIB nhận diện (TFU 34.43.00048). AIB đang nghiên cứu giải pháp tạm thời: dán băng dính ở connector để chống nước nhưng dự kiến cuối Q1 2025 mới triển khai.</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Trong t8/2024 , ban KT từng triển khai chương trình đánh chặn (Kiểm tra điện trở chủ động để phát hiện hỏng hóc sớm) nhưng không có hiệu quả nên đã tạm dừng.</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Hỏng hóc từng xuất hiện vào ngày 6/2/2025, được khắc phục sau khi thay khối máy tính TCAS, do không đủ thời gian nên chưa thay được TCAS antenna.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495640721"/>
                  </a:ext>
                </a:extLst>
              </a:tr>
            </a:tbl>
          </a:graphicData>
        </a:graphic>
      </p:graphicFrame>
    </p:spTree>
    <p:extLst>
      <p:ext uri="{BB962C8B-B14F-4D97-AF65-F5344CB8AC3E}">
        <p14:creationId xmlns:p14="http://schemas.microsoft.com/office/powerpoint/2010/main" val="2735181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xmlns="" id="{331A5E89-8330-4CC5-8E86-DC6C55D3DE22}"/>
              </a:ext>
            </a:extLst>
          </p:cNvPr>
          <p:cNvSpPr txBox="1"/>
          <p:nvPr/>
        </p:nvSpPr>
        <p:spPr>
          <a:xfrm>
            <a:off x="737417" y="168860"/>
            <a:ext cx="10293572" cy="523220"/>
          </a:xfrm>
          <a:prstGeom prst="rect">
            <a:avLst/>
          </a:prstGeom>
          <a:noFill/>
        </p:spPr>
        <p:txBody>
          <a:bodyPr wrap="square" rtlCol="0">
            <a:spAutoFit/>
          </a:bodyPr>
          <a:lstStyle/>
          <a:p>
            <a:pPr algn="just"/>
            <a:r>
              <a:rPr lang="en-US" sz="2800" b="1" dirty="0">
                <a:solidFill>
                  <a:srgbClr val="DEA610"/>
                </a:solidFill>
                <a:latin typeface="Times New Roman" panose="02020603050405020304" pitchFamily="18" charset="0"/>
                <a:cs typeface="Times New Roman" panose="02020603050405020304" pitchFamily="18" charset="0"/>
              </a:rPr>
              <a:t>A321 – ATA 27 – F/CTL PITCH FAULT</a:t>
            </a:r>
          </a:p>
        </p:txBody>
      </p:sp>
      <p:sp>
        <p:nvSpPr>
          <p:cNvPr id="25" name="Rectangle: Single Corner Rounded 24">
            <a:extLst>
              <a:ext uri="{FF2B5EF4-FFF2-40B4-BE49-F238E27FC236}">
                <a16:creationId xmlns:a16="http://schemas.microsoft.com/office/drawing/2014/main" xmlns="" id="{D5DADBD9-6852-441A-BF72-7DAFAE15B1FD}"/>
              </a:ext>
            </a:extLst>
          </p:cNvPr>
          <p:cNvSpPr/>
          <p:nvPr/>
        </p:nvSpPr>
        <p:spPr>
          <a:xfrm flipH="1" flipV="1">
            <a:off x="302018" y="790661"/>
            <a:ext cx="11496864" cy="1298365"/>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xmlns="" id="{CB07695F-044B-46D6-B43C-B700EFBA7248}"/>
              </a:ext>
            </a:extLst>
          </p:cNvPr>
          <p:cNvSpPr/>
          <p:nvPr/>
        </p:nvSpPr>
        <p:spPr>
          <a:xfrm>
            <a:off x="782968" y="785145"/>
            <a:ext cx="10069062" cy="461665"/>
          </a:xfrm>
          <a:prstGeom prst="rect">
            <a:avLst/>
          </a:prstGeom>
        </p:spPr>
        <p:txBody>
          <a:bodyPr wrap="square">
            <a:spAutoFit/>
          </a:bodyPr>
          <a:lstStyle/>
          <a:p>
            <a:pPr lvl="0">
              <a:defRPr/>
            </a:pP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A339 </a:t>
            </a:r>
            <a:r>
              <a:rPr lang="en-US" sz="24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G</a:t>
            </a: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TB due to F/CTL PITCH FAULT</a:t>
            </a:r>
            <a:r>
              <a:rPr lang="en-US" sz="24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	</a:t>
            </a:r>
          </a:p>
        </p:txBody>
      </p:sp>
      <p:sp>
        <p:nvSpPr>
          <p:cNvPr id="27" name="Rectangle 26">
            <a:extLst>
              <a:ext uri="{FF2B5EF4-FFF2-40B4-BE49-F238E27FC236}">
                <a16:creationId xmlns:a16="http://schemas.microsoft.com/office/drawing/2014/main" xmlns="" id="{367F70C2-5165-479E-AFB9-34EDD474B128}"/>
              </a:ext>
            </a:extLst>
          </p:cNvPr>
          <p:cNvSpPr/>
          <p:nvPr/>
        </p:nvSpPr>
        <p:spPr>
          <a:xfrm>
            <a:off x="737417" y="1210054"/>
            <a:ext cx="10882536" cy="600164"/>
          </a:xfrm>
          <a:prstGeom prst="rect">
            <a:avLst/>
          </a:prstGeom>
        </p:spPr>
        <p:txBody>
          <a:bodyPr wrap="square">
            <a:spAutoFit/>
          </a:bodyPr>
          <a:lstStyle/>
          <a:p>
            <a:pPr marL="285750" indent="-285750">
              <a:spcBef>
                <a:spcPts val="600"/>
              </a:spcBef>
              <a:buFont typeface="Arial" panose="020B0604020202020204" pitchFamily="34" charset="0"/>
              <a:buChar char="•"/>
            </a:pP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A339/GTB/VN578/KHH GTB DUE TO ECAM MSG:F/CTL ELAC 2 PITCH FAULT DURING ENG START</a:t>
            </a:r>
          </a:p>
          <a:p>
            <a:pPr marL="285750" indent="-285750">
              <a:spcBef>
                <a:spcPts val="600"/>
              </a:spcBef>
              <a:buFont typeface="Arial" panose="020B0604020202020204" pitchFamily="34" charset="0"/>
              <a:buChar char="•"/>
            </a:pP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Sau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khi</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thay</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servo control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và</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ELAC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tàu</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serviceable</a:t>
            </a:r>
            <a:endParaRPr lang="en-US" sz="1400" dirty="0">
              <a:solidFill>
                <a:srgbClr val="203864"/>
              </a:solidFill>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xmlns="" id="{4210CCF0-33AF-4035-BD27-3303A8633E6C}"/>
              </a:ext>
            </a:extLst>
          </p:cNvPr>
          <p:cNvSpPr txBox="1"/>
          <p:nvPr/>
        </p:nvSpPr>
        <p:spPr>
          <a:xfrm>
            <a:off x="795408" y="2477974"/>
            <a:ext cx="2662062" cy="369332"/>
          </a:xfrm>
          <a:prstGeom prst="rect">
            <a:avLst/>
          </a:prstGeom>
          <a:noFill/>
        </p:spPr>
        <p:txBody>
          <a:bodyPr wrap="square" rtlCol="0">
            <a:spAutoFit/>
          </a:bodyPr>
          <a:lstStyle/>
          <a:p>
            <a:pPr lvl="0" algn="just">
              <a:spcBef>
                <a:spcPts val="600"/>
              </a:spcBef>
              <a:defRPr/>
            </a:pP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Phân</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tích</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Đánh</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giá</a:t>
            </a:r>
            <a:endPar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102" name="TextBox 101">
            <a:extLst>
              <a:ext uri="{FF2B5EF4-FFF2-40B4-BE49-F238E27FC236}">
                <a16:creationId xmlns:a16="http://schemas.microsoft.com/office/drawing/2014/main" xmlns="" id="{E05FED27-E33B-4C7E-85F6-BC470EC52ECB}"/>
              </a:ext>
            </a:extLst>
          </p:cNvPr>
          <p:cNvSpPr txBox="1"/>
          <p:nvPr/>
        </p:nvSpPr>
        <p:spPr>
          <a:xfrm>
            <a:off x="795407" y="2990319"/>
            <a:ext cx="6700767" cy="1908215"/>
          </a:xfrm>
          <a:prstGeom prst="rect">
            <a:avLst/>
          </a:prstGeom>
          <a:noFill/>
        </p:spPr>
        <p:txBody>
          <a:bodyPr wrap="square" rtlCol="0">
            <a:spAutoFit/>
          </a:bodyPr>
          <a:lstStyle/>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Sau </a:t>
            </a:r>
            <a:r>
              <a:rPr lang="en-US" sz="1400" dirty="0" err="1">
                <a:solidFill>
                  <a:srgbClr val="203864"/>
                </a:solidFill>
                <a:latin typeface="Times New Roman" panose="02020603050405020304" pitchFamily="18" charset="0"/>
                <a:cs typeface="Times New Roman" panose="02020603050405020304" pitchFamily="18" charset="0"/>
              </a:rPr>
              <a:t>khi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thực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hiện</a:t>
            </a:r>
            <a:r>
              <a:rPr lang="en-US" sz="1400" dirty="0">
                <a:solidFill>
                  <a:srgbClr val="203864"/>
                </a:solidFill>
                <a:latin typeface="Times New Roman" panose="02020603050405020304" pitchFamily="18" charset="0"/>
                <a:cs typeface="Times New Roman" panose="02020603050405020304" pitchFamily="18" charset="0"/>
              </a:rPr>
              <a:t> swap ELAC, msg </a:t>
            </a:r>
            <a:r>
              <a:rPr lang="en-US" sz="1400" dirty="0" err="1">
                <a:solidFill>
                  <a:srgbClr val="203864"/>
                </a:solidFill>
                <a:latin typeface="Times New Roman" panose="02020603050405020304" pitchFamily="18" charset="0"/>
                <a:cs typeface="Times New Roman" panose="02020603050405020304" pitchFamily="18" charset="0"/>
              </a:rPr>
              <a:t>vẫn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xuất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hiện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sau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nổ</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máy</a:t>
            </a:r>
            <a:r>
              <a:rPr lang="en-US" sz="1400" dirty="0">
                <a:solidFill>
                  <a:srgbClr val="203864"/>
                </a:solidFill>
                <a:latin typeface="Times New Roman" panose="02020603050405020304" pitchFamily="18" charset="0"/>
                <a:cs typeface="Times New Roman" panose="02020603050405020304" pitchFamily="18" charset="0"/>
              </a:rPr>
              <a:t> =&gt; </a:t>
            </a:r>
            <a:r>
              <a:rPr lang="en-US" sz="1400" dirty="0" err="1">
                <a:solidFill>
                  <a:srgbClr val="203864"/>
                </a:solidFill>
                <a:latin typeface="Times New Roman" panose="02020603050405020304" pitchFamily="18" charset="0"/>
                <a:cs typeface="Times New Roman" panose="02020603050405020304" pitchFamily="18" charset="0"/>
              </a:rPr>
              <a:t>nguyên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nhân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chính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là</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hỏng</a:t>
            </a:r>
            <a:r>
              <a:rPr lang="en-US" sz="1400" dirty="0">
                <a:solidFill>
                  <a:srgbClr val="203864"/>
                </a:solidFill>
                <a:latin typeface="Times New Roman" panose="02020603050405020304" pitchFamily="18" charset="0"/>
                <a:cs typeface="Times New Roman" panose="02020603050405020304" pitchFamily="18" charset="0"/>
              </a:rPr>
              <a:t> servo control. </a:t>
            </a:r>
            <a:r>
              <a:rPr lang="en-US" sz="1400" dirty="0" err="1">
                <a:solidFill>
                  <a:srgbClr val="203864"/>
                </a:solidFill>
                <a:latin typeface="Times New Roman" panose="02020603050405020304" pitchFamily="18" charset="0"/>
                <a:cs typeface="Times New Roman" panose="02020603050405020304" pitchFamily="18" charset="0"/>
              </a:rPr>
              <a:t>Thiết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bị</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này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đã</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khai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thác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được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hơn</a:t>
            </a:r>
            <a:r>
              <a:rPr lang="en-US" sz="1400" dirty="0">
                <a:solidFill>
                  <a:srgbClr val="203864"/>
                </a:solidFill>
                <a:latin typeface="Times New Roman" panose="02020603050405020304" pitchFamily="18" charset="0"/>
                <a:cs typeface="Times New Roman" panose="02020603050405020304" pitchFamily="18" charset="0"/>
              </a:rPr>
              <a:t> 27K FH, </a:t>
            </a:r>
            <a:r>
              <a:rPr lang="en-US" sz="1400" dirty="0" err="1">
                <a:solidFill>
                  <a:srgbClr val="203864"/>
                </a:solidFill>
                <a:latin typeface="Times New Roman" panose="02020603050405020304" pitchFamily="18" charset="0"/>
                <a:cs typeface="Times New Roman" panose="02020603050405020304" pitchFamily="18" charset="0"/>
              </a:rPr>
              <a:t>là</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loại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mới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nhất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đang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sử</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dụng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đội</a:t>
            </a:r>
            <a:r>
              <a:rPr lang="en-US" sz="1400" dirty="0">
                <a:solidFill>
                  <a:srgbClr val="203864"/>
                </a:solidFill>
                <a:latin typeface="Times New Roman" panose="02020603050405020304" pitchFamily="18" charset="0"/>
                <a:cs typeface="Times New Roman" panose="02020603050405020304" pitchFamily="18" charset="0"/>
              </a:rPr>
              <a:t> bay </a:t>
            </a:r>
            <a:r>
              <a:rPr lang="en-US" sz="1400" dirty="0" err="1">
                <a:solidFill>
                  <a:srgbClr val="203864"/>
                </a:solidFill>
                <a:latin typeface="Times New Roman" panose="02020603050405020304" pitchFamily="18" charset="0"/>
                <a:cs typeface="Times New Roman" panose="02020603050405020304" pitchFamily="18" charset="0"/>
              </a:rPr>
              <a:t>và</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không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có</a:t>
            </a:r>
            <a:r>
              <a:rPr lang="en-US" sz="1400" dirty="0">
                <a:solidFill>
                  <a:srgbClr val="203864"/>
                </a:solidFill>
                <a:latin typeface="Times New Roman" panose="02020603050405020304" pitchFamily="18" charset="0"/>
                <a:cs typeface="Times New Roman" panose="02020603050405020304" pitchFamily="18" charset="0"/>
              </a:rPr>
              <a:t> issue </a:t>
            </a:r>
            <a:r>
              <a:rPr lang="en-US" sz="1400" dirty="0" err="1">
                <a:solidFill>
                  <a:srgbClr val="203864"/>
                </a:solidFill>
                <a:latin typeface="Times New Roman" panose="02020603050405020304" pitchFamily="18" charset="0"/>
                <a:cs typeface="Times New Roman" panose="02020603050405020304" pitchFamily="18" charset="0"/>
              </a:rPr>
              <a:t>liên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quan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đến</a:t>
            </a:r>
            <a:r>
              <a:rPr lang="en-US" sz="1400" dirty="0">
                <a:solidFill>
                  <a:srgbClr val="203864"/>
                </a:solidFill>
                <a:latin typeface="Times New Roman" panose="02020603050405020304" pitchFamily="18" charset="0"/>
                <a:cs typeface="Times New Roman" panose="02020603050405020304" pitchFamily="18" charset="0"/>
              </a:rPr>
              <a:t> ĐTC </a:t>
            </a:r>
            <a:r>
              <a:rPr lang="en-US" sz="1400" dirty="0" err="1">
                <a:solidFill>
                  <a:srgbClr val="203864"/>
                </a:solidFill>
                <a:latin typeface="Times New Roman" panose="02020603050405020304" pitchFamily="18" charset="0"/>
                <a:cs typeface="Times New Roman" panose="02020603050405020304" pitchFamily="18" charset="0"/>
              </a:rPr>
              <a:t>của</a:t>
            </a:r>
            <a:r>
              <a:rPr lang="en-US" sz="1400" dirty="0">
                <a:solidFill>
                  <a:srgbClr val="203864"/>
                </a:solidFill>
                <a:latin typeface="Times New Roman" panose="02020603050405020304" pitchFamily="18" charset="0"/>
                <a:cs typeface="Times New Roman" panose="02020603050405020304" pitchFamily="18" charset="0"/>
              </a:rPr>
              <a:t> TB</a:t>
            </a:r>
          </a:p>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MTBUR </a:t>
            </a:r>
            <a:r>
              <a:rPr lang="en-US" sz="1400" dirty="0" err="1">
                <a:solidFill>
                  <a:srgbClr val="203864"/>
                </a:solidFill>
                <a:latin typeface="Times New Roman" panose="02020603050405020304" pitchFamily="18" charset="0"/>
                <a:cs typeface="Times New Roman" panose="02020603050405020304" pitchFamily="18" charset="0"/>
              </a:rPr>
              <a:t>từ</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năm</a:t>
            </a:r>
            <a:r>
              <a:rPr lang="en-US" sz="1400" dirty="0">
                <a:solidFill>
                  <a:srgbClr val="203864"/>
                </a:solidFill>
                <a:latin typeface="Times New Roman" panose="02020603050405020304" pitchFamily="18" charset="0"/>
                <a:cs typeface="Times New Roman" panose="02020603050405020304" pitchFamily="18" charset="0"/>
              </a:rPr>
              <a:t> 2022 </a:t>
            </a:r>
            <a:r>
              <a:rPr lang="en-US" sz="1400" dirty="0" err="1">
                <a:solidFill>
                  <a:srgbClr val="203864"/>
                </a:solidFill>
                <a:latin typeface="Times New Roman" panose="02020603050405020304" pitchFamily="18" charset="0"/>
                <a:cs typeface="Times New Roman" panose="02020603050405020304" pitchFamily="18" charset="0"/>
              </a:rPr>
              <a:t>đến</a:t>
            </a:r>
            <a:r>
              <a:rPr lang="en-US" sz="1400" dirty="0">
                <a:solidFill>
                  <a:srgbClr val="203864"/>
                </a:solidFill>
                <a:latin typeface="Times New Roman" panose="02020603050405020304" pitchFamily="18" charset="0"/>
                <a:cs typeface="Times New Roman" panose="02020603050405020304" pitchFamily="18" charset="0"/>
              </a:rPr>
              <a:t> nay </a:t>
            </a:r>
            <a:r>
              <a:rPr lang="en-US" sz="1400" dirty="0" err="1">
                <a:solidFill>
                  <a:srgbClr val="203864"/>
                </a:solidFill>
                <a:latin typeface="Times New Roman" panose="02020603050405020304" pitchFamily="18" charset="0"/>
                <a:cs typeface="Times New Roman" panose="02020603050405020304" pitchFamily="18" charset="0"/>
              </a:rPr>
              <a:t>luôn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cao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hơn</a:t>
            </a:r>
            <a:r>
              <a:rPr lang="en-US" sz="1400" dirty="0">
                <a:solidFill>
                  <a:srgbClr val="203864"/>
                </a:solidFill>
                <a:latin typeface="Times New Roman" panose="02020603050405020304" pitchFamily="18" charset="0"/>
                <a:cs typeface="Times New Roman" panose="02020603050405020304" pitchFamily="18" charset="0"/>
              </a:rPr>
              <a:t> G-MTBUR (36.000FH)</a:t>
            </a:r>
          </a:p>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Sau </a:t>
            </a:r>
            <a:r>
              <a:rPr lang="en-US" sz="1400" dirty="0" err="1">
                <a:solidFill>
                  <a:srgbClr val="203864"/>
                </a:solidFill>
                <a:latin typeface="Times New Roman" panose="02020603050405020304" pitchFamily="18" charset="0"/>
                <a:cs typeface="Times New Roman" panose="02020603050405020304" pitchFamily="18" charset="0"/>
              </a:rPr>
              <a:t>khi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thay</a:t>
            </a:r>
            <a:r>
              <a:rPr lang="en-US" sz="1400" dirty="0">
                <a:solidFill>
                  <a:srgbClr val="203864"/>
                </a:solidFill>
                <a:latin typeface="Times New Roman" panose="02020603050405020304" pitchFamily="18" charset="0"/>
                <a:cs typeface="Times New Roman" panose="02020603050405020304" pitchFamily="18" charset="0"/>
              </a:rPr>
              <a:t> servo control </a:t>
            </a:r>
            <a:r>
              <a:rPr lang="en-US" sz="1400" dirty="0" err="1">
                <a:solidFill>
                  <a:srgbClr val="203864"/>
                </a:solidFill>
                <a:latin typeface="Times New Roman" panose="02020603050405020304" pitchFamily="18" charset="0"/>
                <a:cs typeface="Times New Roman" panose="02020603050405020304" pitchFamily="18" charset="0"/>
              </a:rPr>
              <a:t>thì</a:t>
            </a:r>
            <a:r>
              <a:rPr lang="en-US" sz="1400" dirty="0">
                <a:solidFill>
                  <a:srgbClr val="203864"/>
                </a:solidFill>
                <a:latin typeface="Times New Roman" panose="02020603050405020304" pitchFamily="18" charset="0"/>
                <a:cs typeface="Times New Roman" panose="02020603050405020304" pitchFamily="18" charset="0"/>
              </a:rPr>
              <a:t> msg </a:t>
            </a:r>
            <a:r>
              <a:rPr lang="en-US" sz="1400" dirty="0" err="1">
                <a:solidFill>
                  <a:srgbClr val="203864"/>
                </a:solidFill>
                <a:latin typeface="Times New Roman" panose="02020603050405020304" pitchFamily="18" charset="0"/>
                <a:cs typeface="Times New Roman" panose="02020603050405020304" pitchFamily="18" charset="0"/>
              </a:rPr>
              <a:t>vẫn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xuất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hiện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intermitten</a:t>
            </a:r>
            <a:r>
              <a:rPr lang="en-US" sz="1400" dirty="0">
                <a:solidFill>
                  <a:srgbClr val="203864"/>
                </a:solidFill>
                <a:latin typeface="Times New Roman" panose="02020603050405020304" pitchFamily="18" charset="0"/>
                <a:cs typeface="Times New Roman" panose="02020603050405020304" pitchFamily="18" charset="0"/>
              </a:rPr>
              <a:t> =&gt; </a:t>
            </a:r>
            <a:r>
              <a:rPr lang="en-US" sz="1400" dirty="0" err="1">
                <a:solidFill>
                  <a:srgbClr val="203864"/>
                </a:solidFill>
                <a:latin typeface="Times New Roman" panose="02020603050405020304" pitchFamily="18" charset="0"/>
                <a:cs typeface="Times New Roman" panose="02020603050405020304" pitchFamily="18" charset="0"/>
              </a:rPr>
              <a:t>tiếp</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tục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thay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thế</a:t>
            </a:r>
            <a:r>
              <a:rPr lang="en-US" sz="1400" dirty="0">
                <a:solidFill>
                  <a:srgbClr val="203864"/>
                </a:solidFill>
                <a:latin typeface="Times New Roman" panose="02020603050405020304" pitchFamily="18" charset="0"/>
                <a:cs typeface="Times New Roman" panose="02020603050405020304" pitchFamily="18" charset="0"/>
              </a:rPr>
              <a:t> ELAC </a:t>
            </a:r>
            <a:r>
              <a:rPr lang="en-US" sz="1400" dirty="0" err="1">
                <a:solidFill>
                  <a:srgbClr val="203864"/>
                </a:solidFill>
                <a:latin typeface="Times New Roman" panose="02020603050405020304" pitchFamily="18" charset="0"/>
                <a:cs typeface="Times New Roman" panose="02020603050405020304" pitchFamily="18" charset="0"/>
              </a:rPr>
              <a:t>thì</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không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còn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cảnh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báo</a:t>
            </a:r>
            <a:r>
              <a:rPr lang="en-US" sz="1400" dirty="0">
                <a:solidFill>
                  <a:srgbClr val="203864"/>
                </a:solidFill>
                <a:latin typeface="Times New Roman" panose="02020603050405020304" pitchFamily="18" charset="0"/>
                <a:cs typeface="Times New Roman" panose="02020603050405020304" pitchFamily="18" charset="0"/>
              </a:rPr>
              <a:t> =&gt; ELAC </a:t>
            </a:r>
            <a:r>
              <a:rPr lang="en-US" sz="1400" dirty="0" err="1">
                <a:solidFill>
                  <a:srgbClr val="203864"/>
                </a:solidFill>
                <a:latin typeface="Times New Roman" panose="02020603050405020304" pitchFamily="18" charset="0"/>
                <a:cs typeface="Times New Roman" panose="02020603050405020304" pitchFamily="18" charset="0"/>
              </a:rPr>
              <a:t>có</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thể</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hỏng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thật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hoặc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báo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giả</a:t>
            </a:r>
            <a:r>
              <a:rPr lang="en-US" sz="1400" dirty="0">
                <a:solidFill>
                  <a:srgbClr val="203864"/>
                </a:solidFill>
                <a:latin typeface="Times New Roman" panose="02020603050405020304" pitchFamily="18" charset="0"/>
                <a:cs typeface="Times New Roman" panose="02020603050405020304" pitchFamily="18" charset="0"/>
              </a:rPr>
              <a:t> do </a:t>
            </a:r>
            <a:r>
              <a:rPr lang="en-US" sz="1400" dirty="0" err="1">
                <a:solidFill>
                  <a:srgbClr val="203864"/>
                </a:solidFill>
                <a:latin typeface="Times New Roman" panose="02020603050405020304" pitchFamily="18" charset="0"/>
                <a:cs typeface="Times New Roman" panose="02020603050405020304" pitchFamily="18" charset="0"/>
              </a:rPr>
              <a:t>khối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này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còn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tương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đối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mới</a:t>
            </a:r>
            <a:r>
              <a:rPr lang="en-US" sz="1400" dirty="0">
                <a:solidFill>
                  <a:srgbClr val="203864"/>
                </a:solidFill>
                <a:latin typeface="Times New Roman" panose="02020603050405020304" pitchFamily="18" charset="0"/>
                <a:cs typeface="Times New Roman" panose="02020603050405020304" pitchFamily="18" charset="0"/>
              </a:rPr>
              <a:t> (TSN </a:t>
            </a:r>
            <a:r>
              <a:rPr lang="en-US" sz="1400" dirty="0" err="1">
                <a:solidFill>
                  <a:srgbClr val="203864"/>
                </a:solidFill>
                <a:latin typeface="Times New Roman" panose="02020603050405020304" pitchFamily="18" charset="0"/>
                <a:cs typeface="Times New Roman" panose="02020603050405020304" pitchFamily="18" charset="0"/>
              </a:rPr>
              <a:t>gần</a:t>
            </a:r>
            <a:r>
              <a:rPr lang="en-US" sz="1400" dirty="0">
                <a:solidFill>
                  <a:srgbClr val="203864"/>
                </a:solidFill>
                <a:latin typeface="Times New Roman" panose="02020603050405020304" pitchFamily="18" charset="0"/>
                <a:cs typeface="Times New Roman" panose="02020603050405020304" pitchFamily="18" charset="0"/>
              </a:rPr>
              <a:t> 5000FH) =&gt; </a:t>
            </a:r>
            <a:r>
              <a:rPr lang="en-US" sz="1400" dirty="0" err="1">
                <a:solidFill>
                  <a:srgbClr val="203864"/>
                </a:solidFill>
                <a:latin typeface="Times New Roman" panose="02020603050405020304" pitchFamily="18" charset="0"/>
                <a:cs typeface="Times New Roman" panose="02020603050405020304" pitchFamily="18" charset="0"/>
              </a:rPr>
              <a:t>có</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thể</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loại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bỏ</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nguyên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nhân</a:t>
            </a:r>
            <a:r>
              <a:rPr lang="en-US" sz="1400" dirty="0">
                <a:solidFill>
                  <a:srgbClr val="203864"/>
                </a:solidFill>
                <a:latin typeface="Times New Roman" panose="02020603050405020304" pitchFamily="18" charset="0"/>
                <a:cs typeface="Times New Roman" panose="02020603050405020304" pitchFamily="18" charset="0"/>
              </a:rPr>
              <a:t> do relay </a:t>
            </a:r>
            <a:r>
              <a:rPr lang="en-US" sz="1400" dirty="0" err="1">
                <a:solidFill>
                  <a:srgbClr val="203864"/>
                </a:solidFill>
                <a:latin typeface="Times New Roman" panose="02020603050405020304" pitchFamily="18" charset="0"/>
                <a:cs typeface="Times New Roman" panose="02020603050405020304" pitchFamily="18" charset="0"/>
              </a:rPr>
              <a:t>bị</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lão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hóa</a:t>
            </a:r>
            <a:endParaRPr lang="en-US" sz="1400" dirty="0">
              <a:solidFill>
                <a:srgbClr val="203864"/>
              </a:solidFill>
              <a:latin typeface="Times New Roman" panose="02020603050405020304" pitchFamily="18" charset="0"/>
              <a:cs typeface="Times New Roman" panose="02020603050405020304" pitchFamily="18" charset="0"/>
            </a:endParaRPr>
          </a:p>
        </p:txBody>
      </p:sp>
      <p:pic>
        <p:nvPicPr>
          <p:cNvPr id="105" name="Picture 104">
            <a:extLst>
              <a:ext uri="{FF2B5EF4-FFF2-40B4-BE49-F238E27FC236}">
                <a16:creationId xmlns:a16="http://schemas.microsoft.com/office/drawing/2014/main" xmlns="" id="{6C0963AF-2C0C-426C-8070-5E29C3C95D73}"/>
              </a:ext>
            </a:extLst>
          </p:cNvPr>
          <p:cNvPicPr>
            <a:picLocks noChangeAspect="1"/>
          </p:cNvPicPr>
          <p:nvPr/>
        </p:nvPicPr>
        <p:blipFill>
          <a:blip r:embed="rId3"/>
          <a:stretch>
            <a:fillRect/>
          </a:stretch>
        </p:blipFill>
        <p:spPr>
          <a:xfrm>
            <a:off x="365624" y="2419483"/>
            <a:ext cx="510877" cy="512345"/>
          </a:xfrm>
          <a:prstGeom prst="rect">
            <a:avLst/>
          </a:prstGeom>
        </p:spPr>
      </p:pic>
      <p:grpSp>
        <p:nvGrpSpPr>
          <p:cNvPr id="43" name="Group 42">
            <a:extLst>
              <a:ext uri="{FF2B5EF4-FFF2-40B4-BE49-F238E27FC236}">
                <a16:creationId xmlns:a16="http://schemas.microsoft.com/office/drawing/2014/main" xmlns="" id="{96848787-7A9F-4F52-ABC0-1107EA34F5F0}"/>
              </a:ext>
            </a:extLst>
          </p:cNvPr>
          <p:cNvGrpSpPr/>
          <p:nvPr/>
        </p:nvGrpSpPr>
        <p:grpSpPr>
          <a:xfrm>
            <a:off x="795408" y="288234"/>
            <a:ext cx="11396592" cy="678753"/>
            <a:chOff x="976560" y="323070"/>
            <a:chExt cx="10755065" cy="678753"/>
          </a:xfrm>
        </p:grpSpPr>
        <p:cxnSp>
          <p:nvCxnSpPr>
            <p:cNvPr id="44" name="Straight Connector 43">
              <a:extLst>
                <a:ext uri="{FF2B5EF4-FFF2-40B4-BE49-F238E27FC236}">
                  <a16:creationId xmlns:a16="http://schemas.microsoft.com/office/drawing/2014/main" xmlns="" id="{EF38EC88-2153-4950-B37C-5AA23CFFE443}"/>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xmlns="" id="{E261425C-3820-49B8-A55E-025BA5C93B4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3" name="Rectangle 2">
            <a:extLst>
              <a:ext uri="{FF2B5EF4-FFF2-40B4-BE49-F238E27FC236}">
                <a16:creationId xmlns:a16="http://schemas.microsoft.com/office/drawing/2014/main" xmlns="" id="{44661636-EB8A-415F-84D1-76873A64495B}"/>
              </a:ext>
            </a:extLst>
          </p:cNvPr>
          <p:cNvSpPr/>
          <p:nvPr/>
        </p:nvSpPr>
        <p:spPr>
          <a:xfrm>
            <a:off x="347568" y="753635"/>
            <a:ext cx="389850" cy="369332"/>
          </a:xfrm>
          <a:prstGeom prst="rect">
            <a:avLst/>
          </a:prstGeom>
        </p:spPr>
        <p:txBody>
          <a:bodyPr wrap="none">
            <a:spAutoFit/>
          </a:bodyPr>
          <a:lstStyle/>
          <a:p>
            <a:r>
              <a:rPr lang="en-US" b="1">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sym typeface="Wingdings" panose="05000000000000000000" pitchFamily="2" charset="2"/>
              </a:rPr>
              <a:t></a:t>
            </a:r>
            <a:endParaRPr lang="en-US"/>
          </a:p>
        </p:txBody>
      </p:sp>
      <p:sp>
        <p:nvSpPr>
          <p:cNvPr id="18" name="TextBox 17">
            <a:extLst>
              <a:ext uri="{FF2B5EF4-FFF2-40B4-BE49-F238E27FC236}">
                <a16:creationId xmlns:a16="http://schemas.microsoft.com/office/drawing/2014/main" xmlns="" id="{B299EA22-CE66-4152-AA3B-0EE67E068BED}"/>
              </a:ext>
            </a:extLst>
          </p:cNvPr>
          <p:cNvSpPr txBox="1"/>
          <p:nvPr/>
        </p:nvSpPr>
        <p:spPr>
          <a:xfrm>
            <a:off x="876501" y="4991800"/>
            <a:ext cx="1969253" cy="369332"/>
          </a:xfrm>
          <a:prstGeom prst="rect">
            <a:avLst/>
          </a:prstGeom>
          <a:noFill/>
        </p:spPr>
        <p:txBody>
          <a:bodyPr wrap="square" rtlCol="0">
            <a:spAutoFit/>
          </a:bodyPr>
          <a:lstStyle/>
          <a:p>
            <a:pPr algn="just">
              <a:spcBef>
                <a:spcPts val="600"/>
              </a:spcBef>
              <a:defRPr/>
            </a:pP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Giải</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pháp</a:t>
            </a:r>
            <a:endPar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xmlns="" id="{24EBB0B7-3B29-442D-AB18-AC8C4C118BD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1972" y="4577067"/>
            <a:ext cx="550890" cy="464480"/>
          </a:xfrm>
          <a:prstGeom prst="rect">
            <a:avLst/>
          </a:prstGeom>
        </p:spPr>
      </p:pic>
      <p:sp>
        <p:nvSpPr>
          <p:cNvPr id="6" name="Rectangle 5">
            <a:extLst>
              <a:ext uri="{FF2B5EF4-FFF2-40B4-BE49-F238E27FC236}">
                <a16:creationId xmlns:a16="http://schemas.microsoft.com/office/drawing/2014/main" xmlns="" id="{8577CEAE-802D-4767-9717-645CEE87B488}"/>
              </a:ext>
            </a:extLst>
          </p:cNvPr>
          <p:cNvSpPr/>
          <p:nvPr/>
        </p:nvSpPr>
        <p:spPr>
          <a:xfrm>
            <a:off x="795407" y="5427256"/>
            <a:ext cx="8305869" cy="1046440"/>
          </a:xfrm>
          <a:prstGeom prst="rect">
            <a:avLst/>
          </a:prstGeom>
        </p:spPr>
        <p:txBody>
          <a:bodyPr wrap="square">
            <a:spAutoFit/>
          </a:bodyPr>
          <a:lstStyle/>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Đặt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dự</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phòng</a:t>
            </a:r>
            <a:r>
              <a:rPr lang="en-US" sz="1400" dirty="0">
                <a:solidFill>
                  <a:srgbClr val="203864"/>
                </a:solidFill>
                <a:latin typeface="Times New Roman" panose="02020603050405020304" pitchFamily="18" charset="0"/>
                <a:cs typeface="Times New Roman" panose="02020603050405020304" pitchFamily="18" charset="0"/>
              </a:rPr>
              <a:t> servo control ở </a:t>
            </a:r>
            <a:r>
              <a:rPr lang="en-US" sz="1400" dirty="0" err="1">
                <a:solidFill>
                  <a:srgbClr val="203864"/>
                </a:solidFill>
                <a:latin typeface="Times New Roman" panose="02020603050405020304" pitchFamily="18" charset="0"/>
                <a:cs typeface="Times New Roman" panose="02020603050405020304" pitchFamily="18" charset="0"/>
              </a:rPr>
              <a:t>các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đầu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sân</a:t>
            </a:r>
            <a:r>
              <a:rPr lang="en-US" sz="1400" dirty="0">
                <a:solidFill>
                  <a:srgbClr val="203864"/>
                </a:solidFill>
                <a:latin typeface="Times New Roman" panose="02020603050405020304" pitchFamily="18" charset="0"/>
                <a:cs typeface="Times New Roman" panose="02020603050405020304" pitchFamily="18" charset="0"/>
              </a:rPr>
              <a:t> bay </a:t>
            </a:r>
            <a:r>
              <a:rPr lang="en-US" sz="1400" dirty="0" err="1">
                <a:solidFill>
                  <a:srgbClr val="203864"/>
                </a:solidFill>
                <a:latin typeface="Times New Roman" panose="02020603050405020304" pitchFamily="18" charset="0"/>
                <a:cs typeface="Times New Roman" panose="02020603050405020304" pitchFamily="18" charset="0"/>
              </a:rPr>
              <a:t>chính</a:t>
            </a:r>
            <a:endParaRPr lang="en-US" sz="1400" dirty="0">
              <a:solidFill>
                <a:srgbClr val="203864"/>
              </a:solidFill>
              <a:latin typeface="Times New Roman" panose="02020603050405020304" pitchFamily="18" charset="0"/>
              <a:cs typeface="Times New Roman" panose="02020603050405020304" pitchFamily="18" charset="0"/>
            </a:endParaRPr>
          </a:p>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Làm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việc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thêm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với</a:t>
            </a:r>
            <a:r>
              <a:rPr lang="en-US" sz="1400" dirty="0">
                <a:solidFill>
                  <a:srgbClr val="203864"/>
                </a:solidFill>
                <a:latin typeface="Times New Roman" panose="02020603050405020304" pitchFamily="18" charset="0"/>
                <a:cs typeface="Times New Roman" panose="02020603050405020304" pitchFamily="18" charset="0"/>
              </a:rPr>
              <a:t> NSX </a:t>
            </a:r>
            <a:r>
              <a:rPr lang="en-US" sz="1400" dirty="0" err="1">
                <a:solidFill>
                  <a:srgbClr val="203864"/>
                </a:solidFill>
                <a:latin typeface="Times New Roman" panose="02020603050405020304" pitchFamily="18" charset="0"/>
                <a:cs typeface="Times New Roman" panose="02020603050405020304" pitchFamily="18" charset="0"/>
              </a:rPr>
              <a:t>về</a:t>
            </a:r>
            <a:r>
              <a:rPr lang="en-US" sz="1400" dirty="0">
                <a:solidFill>
                  <a:srgbClr val="203864"/>
                </a:solidFill>
                <a:latin typeface="Times New Roman" panose="02020603050405020304" pitchFamily="18" charset="0"/>
                <a:cs typeface="Times New Roman" panose="02020603050405020304" pitchFamily="18" charset="0"/>
              </a:rPr>
              <a:t> ĐTC </a:t>
            </a:r>
            <a:r>
              <a:rPr lang="en-US" sz="1400" dirty="0" err="1">
                <a:solidFill>
                  <a:srgbClr val="203864"/>
                </a:solidFill>
                <a:latin typeface="Times New Roman" panose="02020603050405020304" pitchFamily="18" charset="0"/>
                <a:cs typeface="Times New Roman" panose="02020603050405020304" pitchFamily="18" charset="0"/>
              </a:rPr>
              <a:t>của</a:t>
            </a:r>
            <a:r>
              <a:rPr lang="en-US" sz="1400" dirty="0">
                <a:solidFill>
                  <a:srgbClr val="203864"/>
                </a:solidFill>
                <a:latin typeface="Times New Roman" panose="02020603050405020304" pitchFamily="18" charset="0"/>
                <a:cs typeface="Times New Roman" panose="02020603050405020304" pitchFamily="18" charset="0"/>
              </a:rPr>
              <a:t> servo control</a:t>
            </a:r>
          </a:p>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Tiếp</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tục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thực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hiện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thay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thế</a:t>
            </a:r>
            <a:r>
              <a:rPr lang="en-US" sz="1400" dirty="0">
                <a:solidFill>
                  <a:srgbClr val="203864"/>
                </a:solidFill>
                <a:latin typeface="Times New Roman" panose="02020603050405020304" pitchFamily="18" charset="0"/>
                <a:cs typeface="Times New Roman" panose="02020603050405020304" pitchFamily="18" charset="0"/>
              </a:rPr>
              <a:t> relay </a:t>
            </a:r>
            <a:r>
              <a:rPr lang="en-US" sz="1400" dirty="0" err="1">
                <a:solidFill>
                  <a:srgbClr val="203864"/>
                </a:solidFill>
                <a:latin typeface="Times New Roman" panose="02020603050405020304" pitchFamily="18" charset="0"/>
                <a:cs typeface="Times New Roman" panose="02020603050405020304" pitchFamily="18" charset="0"/>
              </a:rPr>
              <a:t>cho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các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khối</a:t>
            </a:r>
            <a:r>
              <a:rPr lang="en-US" sz="1400" dirty="0">
                <a:solidFill>
                  <a:srgbClr val="203864"/>
                </a:solidFill>
                <a:latin typeface="Times New Roman" panose="02020603050405020304" pitchFamily="18" charset="0"/>
                <a:cs typeface="Times New Roman" panose="02020603050405020304" pitchFamily="18" charset="0"/>
              </a:rPr>
              <a:t> ELAC </a:t>
            </a:r>
            <a:r>
              <a:rPr lang="en-US" sz="1400" dirty="0" err="1">
                <a:solidFill>
                  <a:srgbClr val="203864"/>
                </a:solidFill>
                <a:latin typeface="Times New Roman" panose="02020603050405020304" pitchFamily="18" charset="0"/>
                <a:cs typeface="Times New Roman" panose="02020603050405020304" pitchFamily="18" charset="0"/>
              </a:rPr>
              <a:t>cao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giờ</a:t>
            </a:r>
            <a:r>
              <a:rPr lang="en-US" sz="1400" dirty="0">
                <a:solidFill>
                  <a:srgbClr val="203864"/>
                </a:solidFill>
                <a:latin typeface="Times New Roman" panose="02020603050405020304" pitchFamily="18" charset="0"/>
                <a:cs typeface="Times New Roman" panose="02020603050405020304" pitchFamily="18" charset="0"/>
              </a:rPr>
              <a:t> (on attrition)</a:t>
            </a:r>
          </a:p>
        </p:txBody>
      </p:sp>
      <p:pic>
        <p:nvPicPr>
          <p:cNvPr id="5" name="Picture 4">
            <a:extLst>
              <a:ext uri="{FF2B5EF4-FFF2-40B4-BE49-F238E27FC236}">
                <a16:creationId xmlns:a16="http://schemas.microsoft.com/office/drawing/2014/main" xmlns="" id="{25ABFF53-1CEC-2A3F-CAC9-A5EA289A6521}"/>
              </a:ext>
            </a:extLst>
          </p:cNvPr>
          <p:cNvPicPr>
            <a:picLocks noChangeAspect="1"/>
          </p:cNvPicPr>
          <p:nvPr/>
        </p:nvPicPr>
        <p:blipFill>
          <a:blip r:embed="rId6"/>
          <a:stretch>
            <a:fillRect/>
          </a:stretch>
        </p:blipFill>
        <p:spPr>
          <a:xfrm>
            <a:off x="9110747" y="635525"/>
            <a:ext cx="2710910" cy="1467081"/>
          </a:xfrm>
          <a:prstGeom prst="rect">
            <a:avLst/>
          </a:prstGeom>
        </p:spPr>
      </p:pic>
      <p:pic>
        <p:nvPicPr>
          <p:cNvPr id="10" name="Picture 9">
            <a:extLst>
              <a:ext uri="{FF2B5EF4-FFF2-40B4-BE49-F238E27FC236}">
                <a16:creationId xmlns:a16="http://schemas.microsoft.com/office/drawing/2014/main" xmlns="" id="{E198AA56-2DAB-7491-F185-746E95DE24D4}"/>
              </a:ext>
            </a:extLst>
          </p:cNvPr>
          <p:cNvPicPr>
            <a:picLocks noChangeAspect="1"/>
          </p:cNvPicPr>
          <p:nvPr/>
        </p:nvPicPr>
        <p:blipFill>
          <a:blip r:embed="rId7"/>
          <a:stretch>
            <a:fillRect/>
          </a:stretch>
        </p:blipFill>
        <p:spPr>
          <a:xfrm>
            <a:off x="9189098" y="2386035"/>
            <a:ext cx="2075036" cy="1998498"/>
          </a:xfrm>
          <a:prstGeom prst="rect">
            <a:avLst/>
          </a:prstGeom>
        </p:spPr>
      </p:pic>
    </p:spTree>
    <p:extLst>
      <p:ext uri="{BB962C8B-B14F-4D97-AF65-F5344CB8AC3E}">
        <p14:creationId xmlns:p14="http://schemas.microsoft.com/office/powerpoint/2010/main" val="2111538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Single Corner Rounded 30">
            <a:extLst>
              <a:ext uri="{FF2B5EF4-FFF2-40B4-BE49-F238E27FC236}">
                <a16:creationId xmlns:a16="http://schemas.microsoft.com/office/drawing/2014/main" xmlns="" id="{2808C5EC-9343-4686-B4B1-4758E42C4551}"/>
              </a:ext>
            </a:extLst>
          </p:cNvPr>
          <p:cNvSpPr/>
          <p:nvPr/>
        </p:nvSpPr>
        <p:spPr>
          <a:xfrm flipH="1" flipV="1">
            <a:off x="465675" y="749277"/>
            <a:ext cx="11452753" cy="2786164"/>
          </a:xfrm>
          <a:prstGeom prst="round1Rect">
            <a:avLst/>
          </a:prstGeom>
          <a:pattFill prst="lgGrid">
            <a:fgClr>
              <a:schemeClr val="accent1">
                <a:lumMod val="40000"/>
                <a:lumOff val="60000"/>
              </a:schemeClr>
            </a:fgClr>
            <a:bgClr>
              <a:schemeClr val="accent5">
                <a:lumMod val="20000"/>
                <a:lumOff val="80000"/>
              </a:schemeClr>
            </a:bgClr>
          </a:patt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0" name="Rectangle 4"/>
          <p:cNvSpPr>
            <a:spLocks noChangeArrowheads="1"/>
          </p:cNvSpPr>
          <p:nvPr/>
        </p:nvSpPr>
        <p:spPr bwMode="auto">
          <a:xfrm>
            <a:off x="0" y="26823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1"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2"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3"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4" name="Picture 13">
            <a:extLst>
              <a:ext uri="{FF2B5EF4-FFF2-40B4-BE49-F238E27FC236}">
                <a16:creationId xmlns:a16="http://schemas.microsoft.com/office/drawing/2014/main" xmlns="" id="{9AC171E4-B7C3-487F-9250-B7099A792C3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0522" y="134657"/>
            <a:ext cx="537821" cy="505652"/>
          </a:xfrm>
          <a:prstGeom prst="rect">
            <a:avLst/>
          </a:prstGeom>
        </p:spPr>
      </p:pic>
      <p:sp>
        <p:nvSpPr>
          <p:cNvPr id="15" name="AutoShape 2" descr="https://w3.airbus.com/1H43/MEFO_AW/ISI/MDAuMDAuMDA0Mzc=/html/bpHEScontentext/Aspose.Words.d1192d83-b481-4a56-93e5-9ad2352fe3cd.00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6" name="AutoShape 2" descr="https://w3.airbus.com/1H43/MEFO_AW/ISI/MDAuMDAuMDA0Mzc=/html/bpHEScontentext/Aspose.Words.d1192d83-b481-4a56-93e5-9ad2352fe3cd.003.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7" name="AutoShape 2" descr="https://w3.airbus.com/1H43/MEFO_AW/ISI/MDAuMDAuMDA0Mzc=/html/bpHEScontentext/Aspose.Words.d1192d83-b481-4a56-93e5-9ad2352fe3cd.004.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8" name="AutoShape 4" descr="https://w3.airbus.com/1H43/MEFO_AW/ISI/MDAuMDAuMDA0Mzc=/html/bpHEScontentext/Aspose.Words.d1192d83-b481-4a56-93e5-9ad2352fe3cd.004.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9" name="AutoShape 2" descr="https://w3.airbus.com/1H43/MEFO_AW/ISI/MDAuMDAuMDA0Mzc=/html/bpHEScontentext/Aspose.Words.d1192d83-b481-4a56-93e5-9ad2352fe3cd.031.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0" name="AutoShape 4" descr="https://w3.airbus.com/1H43/MEFO_AW/ISI/MDAuMDAuMDA0Mzc=/html/bpHEScontentext/Aspose.Words.d1192d83-b481-4a56-93e5-9ad2352fe3cd.028.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cxnSp>
        <p:nvCxnSpPr>
          <p:cNvPr id="21" name="Straight Connector 20">
            <a:extLst>
              <a:ext uri="{FF2B5EF4-FFF2-40B4-BE49-F238E27FC236}">
                <a16:creationId xmlns:a16="http://schemas.microsoft.com/office/drawing/2014/main" xmlns="" id="{9F5E9139-8C7A-459E-8697-0AFC14D23879}"/>
              </a:ext>
            </a:extLst>
          </p:cNvPr>
          <p:cNvCxnSpPr>
            <a:cxnSpLocks/>
          </p:cNvCxnSpPr>
          <p:nvPr/>
        </p:nvCxnSpPr>
        <p:spPr>
          <a:xfrm>
            <a:off x="798343" y="1128263"/>
            <a:ext cx="6557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xmlns="" id="{B0959498-11B2-4444-99B1-B42D92E2B619}"/>
              </a:ext>
            </a:extLst>
          </p:cNvPr>
          <p:cNvSpPr/>
          <p:nvPr/>
        </p:nvSpPr>
        <p:spPr>
          <a:xfrm>
            <a:off x="612775" y="789709"/>
            <a:ext cx="6743213" cy="338554"/>
          </a:xfrm>
          <a:prstGeom prst="rect">
            <a:avLst/>
          </a:prstGeom>
        </p:spPr>
        <p:txBody>
          <a:bodyPr wrap="square">
            <a:spAutoFit/>
          </a:bodyPr>
          <a:lstStyle/>
          <a:p>
            <a:pPr lvl="0" indent="114300">
              <a:defRPr/>
            </a:pPr>
            <a:r>
              <a:rPr kumimoji="0" lang="en-US" sz="1600" b="1" i="0" u="none" strike="noStrike" kern="1200" cap="none" spc="0" normalizeH="0" baseline="0" noProof="0" dirty="0" smtClean="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A602</a:t>
            </a:r>
            <a:r>
              <a:rPr kumimoji="0" lang="en-US" sz="1600" b="1" i="0" u="none" strike="noStrike" kern="1200" cap="none" spc="0" normalizeH="0" noProof="0" dirty="0" smtClean="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 AOG NGO (10/02/2025)</a:t>
            </a:r>
            <a:endParaRPr kumimoji="0" lang="en-US" sz="16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endParaRPr>
          </a:p>
        </p:txBody>
      </p:sp>
      <p:sp>
        <p:nvSpPr>
          <p:cNvPr id="24" name="TextBox 23">
            <a:extLst>
              <a:ext uri="{FF2B5EF4-FFF2-40B4-BE49-F238E27FC236}">
                <a16:creationId xmlns:a16="http://schemas.microsoft.com/office/drawing/2014/main" xmlns="" id="{02C261E8-9107-4B19-8E39-7FAD7508571C}"/>
              </a:ext>
            </a:extLst>
          </p:cNvPr>
          <p:cNvSpPr txBox="1"/>
          <p:nvPr/>
        </p:nvSpPr>
        <p:spPr>
          <a:xfrm>
            <a:off x="722764" y="1172429"/>
            <a:ext cx="6723415" cy="2277547"/>
          </a:xfrm>
          <a:prstGeom prst="rect">
            <a:avLst/>
          </a:prstGeom>
          <a:noFill/>
        </p:spPr>
        <p:txBody>
          <a:bodyPr wrap="square" rtlCol="0">
            <a:spAutoFit/>
          </a:bodyPr>
          <a:lstStyle/>
          <a:p>
            <a:pPr marL="285750" indent="-285750">
              <a:spcBef>
                <a:spcPts val="1200"/>
              </a:spcBef>
              <a:buFont typeface="Arial" panose="020B0604020202020204" pitchFamily="34" charset="0"/>
              <a:buChar char="•"/>
              <a:defRPr/>
            </a:pPr>
            <a:r>
              <a:rPr lang="vi-VN"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Hỏng hóc từng xuất hiện vào ngày 6/2/2025, được khắc phục sau khi thay khối máy tính TCAS, do không đủ thời gian nên chưa thay được TCAS antenna. </a:t>
            </a:r>
            <a:endPar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endParaRPr>
          </a:p>
          <a:p>
            <a:pPr marL="285750" indent="-285750">
              <a:spcBef>
                <a:spcPts val="1200"/>
              </a:spcBef>
              <a:buFont typeface="Arial" panose="020B0604020202020204" pitchFamily="34" charset="0"/>
              <a:buChar char="•"/>
              <a:defRPr/>
            </a:pPr>
            <a:r>
              <a:rPr lang="vi-VN"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Hỏng </a:t>
            </a:r>
            <a:r>
              <a:rPr lang="vi-VN"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hóc TCAS antenna dẫn đến </a:t>
            </a:r>
            <a:r>
              <a:rPr lang="en-US"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AOG</a:t>
            </a:r>
            <a:r>
              <a:rPr lang="vi-VN"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a:t>
            </a:r>
            <a:r>
              <a:rPr lang="en-US"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h</a:t>
            </a:r>
            <a:r>
              <a:rPr lang="vi-VN"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ỏng </a:t>
            </a:r>
            <a:r>
              <a:rPr lang="vi-VN"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hóc xảy ra có thể do antenna bị nhiễm nước.</a:t>
            </a:r>
            <a:r>
              <a:rPr lang="vi-VN"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Năm</a:t>
            </a:r>
            <a:r>
              <a:rPr lang="en-US"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2024  </a:t>
            </a:r>
            <a:r>
              <a:rPr lang="en-US" sz="1600" dirty="0" err="1"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có</a:t>
            </a:r>
            <a:r>
              <a:rPr lang="en-US"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2 </a:t>
            </a:r>
            <a:r>
              <a:rPr lang="en-US" sz="1600" dirty="0" err="1"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trường</a:t>
            </a:r>
            <a:r>
              <a:rPr lang="en-US"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hợp</a:t>
            </a:r>
            <a:r>
              <a:rPr lang="en-US"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gây</a:t>
            </a:r>
            <a:r>
              <a:rPr lang="en-US"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OI </a:t>
            </a:r>
            <a:r>
              <a:rPr lang="vi-VN"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(1 </a:t>
            </a:r>
            <a:r>
              <a:rPr lang="vi-VN"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Delay + 1 ATB)</a:t>
            </a:r>
          </a:p>
          <a:p>
            <a:pPr marL="285750" lvl="0" indent="-285750">
              <a:spcBef>
                <a:spcPts val="1200"/>
              </a:spcBef>
              <a:buFont typeface="Arial" panose="020B0604020202020204" pitchFamily="34" charset="0"/>
              <a:buChar char="•"/>
              <a:defRPr/>
            </a:pPr>
            <a:r>
              <a:rPr lang="vi-VN"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Part </a:t>
            </a:r>
            <a:r>
              <a:rPr lang="vi-VN"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được lắp lên tàu từ </a:t>
            </a:r>
            <a:r>
              <a:rPr lang="en-US"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a:t>
            </a:r>
            <a:r>
              <a:rPr lang="vi-VN"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3/2013</a:t>
            </a:r>
            <a:r>
              <a:rPr lang="vi-VN"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TSN/CSN: </a:t>
            </a:r>
            <a:r>
              <a:rPr lang="vi-VN"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32736/16207</a:t>
            </a:r>
            <a:endParaRPr lang="en-US"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endParaRPr>
          </a:p>
          <a:p>
            <a:pPr marL="285750" lvl="0" indent="-285750">
              <a:spcBef>
                <a:spcPts val="1200"/>
              </a:spcBef>
              <a:buFont typeface="Arial" panose="020B0604020202020204" pitchFamily="34" charset="0"/>
              <a:buChar char="•"/>
              <a:defRPr/>
            </a:pPr>
            <a:r>
              <a:rPr lang="en-US"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Part </a:t>
            </a:r>
            <a:r>
              <a:rPr lang="en-US" sz="1600" dirty="0" err="1"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có</a:t>
            </a:r>
            <a:r>
              <a:rPr lang="en-US"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MTBUR/GMTBUR</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smtClean="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43251/25500</a:t>
            </a:r>
            <a:endParaRPr kumimoji="0" lang="en-US" sz="16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endParaRPr>
          </a:p>
        </p:txBody>
      </p:sp>
      <p:sp>
        <p:nvSpPr>
          <p:cNvPr id="25" name="Title 1">
            <a:extLst>
              <a:ext uri="{FF2B5EF4-FFF2-40B4-BE49-F238E27FC236}">
                <a16:creationId xmlns:a16="http://schemas.microsoft.com/office/drawing/2014/main" xmlns="" id="{88D62ACE-92F7-43A9-A921-E66AF898547E}"/>
              </a:ext>
            </a:extLst>
          </p:cNvPr>
          <p:cNvSpPr txBox="1">
            <a:spLocks/>
          </p:cNvSpPr>
          <p:nvPr/>
        </p:nvSpPr>
        <p:spPr>
          <a:xfrm>
            <a:off x="871239" y="203760"/>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lvl="0">
              <a:defRPr/>
            </a:pPr>
            <a:r>
              <a:rPr lang="en-US" sz="2800" b="1" dirty="0" smtClean="0">
                <a:solidFill>
                  <a:srgbClr val="D2A43B"/>
                </a:solidFill>
                <a:ea typeface="Tahoma" pitchFamily="34" charset="0"/>
                <a:cs typeface="Times New Roman" panose="02020603050405020304" pitchFamily="18" charset="0"/>
              </a:rPr>
              <a:t>A321</a:t>
            </a:r>
            <a:r>
              <a:rPr kumimoji="0" lang="en-US" sz="2800" b="1" i="0" u="none" strike="noStrike" kern="1200" cap="none" spc="0" normalizeH="0" baseline="0" noProof="0" dirty="0" smtClean="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 </a:t>
            </a:r>
            <a:r>
              <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 ATA </a:t>
            </a:r>
            <a:r>
              <a:rPr lang="en-US" sz="2800" b="1" dirty="0" smtClean="0">
                <a:solidFill>
                  <a:srgbClr val="D2A43B"/>
                </a:solidFill>
                <a:ea typeface="Tahoma" pitchFamily="34" charset="0"/>
                <a:cs typeface="Times New Roman" panose="02020603050405020304" pitchFamily="18" charset="0"/>
              </a:rPr>
              <a:t>34</a:t>
            </a:r>
            <a:r>
              <a:rPr kumimoji="0" lang="en-US" sz="2800" b="1" i="0" u="none" strike="noStrike" kern="1200" cap="none" spc="0" normalizeH="0" baseline="0" noProof="0" dirty="0" smtClean="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 </a:t>
            </a:r>
            <a:r>
              <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 </a:t>
            </a:r>
            <a:r>
              <a:rPr lang="en-US" sz="2800" b="1" dirty="0">
                <a:solidFill>
                  <a:srgbClr val="D2A43B"/>
                </a:solidFill>
                <a:ea typeface="Tahoma" pitchFamily="34" charset="0"/>
                <a:cs typeface="Times New Roman" panose="02020603050405020304" pitchFamily="18" charset="0"/>
              </a:rPr>
              <a:t>TCAS antenna PN </a:t>
            </a:r>
            <a:r>
              <a:rPr lang="en-US" sz="2800" b="1" dirty="0" smtClean="0">
                <a:solidFill>
                  <a:srgbClr val="D2A43B"/>
                </a:solidFill>
                <a:ea typeface="Tahoma" pitchFamily="34" charset="0"/>
                <a:cs typeface="Times New Roman" panose="02020603050405020304" pitchFamily="18" charset="0"/>
              </a:rPr>
              <a:t>622-8973-104</a:t>
            </a:r>
            <a:endPar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endParaRPr>
          </a:p>
        </p:txBody>
      </p:sp>
      <p:grpSp>
        <p:nvGrpSpPr>
          <p:cNvPr id="27" name="Group 26"/>
          <p:cNvGrpSpPr/>
          <p:nvPr/>
        </p:nvGrpSpPr>
        <p:grpSpPr>
          <a:xfrm>
            <a:off x="184731" y="3741366"/>
            <a:ext cx="4310244" cy="2065020"/>
            <a:chOff x="348174" y="2896265"/>
            <a:chExt cx="2985085" cy="2065020"/>
          </a:xfrm>
        </p:grpSpPr>
        <p:sp>
          <p:nvSpPr>
            <p:cNvPr id="28" name="TextBox 27">
              <a:extLst>
                <a:ext uri="{FF2B5EF4-FFF2-40B4-BE49-F238E27FC236}">
                  <a16:creationId xmlns:a16="http://schemas.microsoft.com/office/drawing/2014/main" xmlns="" id="{4FBB82BB-9691-4886-8645-5B1C95F325C4}"/>
                </a:ext>
              </a:extLst>
            </p:cNvPr>
            <p:cNvSpPr txBox="1"/>
            <p:nvPr/>
          </p:nvSpPr>
          <p:spPr>
            <a:xfrm>
              <a:off x="722765" y="2929960"/>
              <a:ext cx="2610494" cy="2031325"/>
            </a:xfrm>
            <a:prstGeom prst="rect">
              <a:avLst/>
            </a:prstGeom>
            <a:noFill/>
          </p:spPr>
          <p:txBody>
            <a:bodyPr wrap="square" rtlCol="0">
              <a:spAutoFit/>
            </a:bodyPr>
            <a:lstStyle/>
            <a:p>
              <a:pPr marL="0" marR="0" lvl="0" indent="0" algn="just" defTabSz="914400" rtl="0" eaLnBrk="1" fontAlgn="auto" latinLnBrk="0" hangingPunct="1">
                <a:spcBef>
                  <a:spcPts val="1200"/>
                </a:spcBef>
                <a:spcAft>
                  <a:spcPts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Root Cause / </a:t>
              </a:r>
              <a:r>
                <a:rPr kumimoji="0" lang="en-US" sz="1600" b="1" i="0" u="none" strike="noStrike" kern="1200" cap="none" spc="0" normalizeH="0" baseline="0" noProof="0" dirty="0" smtClean="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Investigation</a:t>
              </a:r>
            </a:p>
            <a:p>
              <a:pPr lvl="0" algn="just">
                <a:spcBef>
                  <a:spcPts val="1200"/>
                </a:spcBef>
                <a:defRPr/>
              </a:pPr>
              <a:r>
                <a:rPr lang="en-US" sz="1600" dirty="0" smtClean="0">
                  <a:solidFill>
                    <a:srgbClr val="002060"/>
                  </a:solidFill>
                  <a:latin typeface="Times New Roman" panose="02020603050405020304" pitchFamily="18" charset="0"/>
                  <a:ea typeface="Cambria" panose="02040503050406030204" pitchFamily="18" charset="0"/>
                  <a:cs typeface="Times New Roman" panose="02020603050405020304" pitchFamily="18" charset="0"/>
                </a:rPr>
                <a:t>Theo </a:t>
              </a:r>
              <a:r>
                <a:rPr lang="vi-VN" sz="1600" dirty="0" smtClean="0">
                  <a:solidFill>
                    <a:srgbClr val="002060"/>
                  </a:solidFill>
                  <a:latin typeface="Times New Roman" panose="02020603050405020304" pitchFamily="18" charset="0"/>
                  <a:ea typeface="Cambria" panose="02040503050406030204" pitchFamily="18" charset="0"/>
                  <a:cs typeface="Times New Roman" panose="02020603050405020304" pitchFamily="18" charset="0"/>
                </a:rPr>
                <a:t>TFU 34.43.00048</a:t>
              </a:r>
              <a:r>
                <a:rPr lang="en-US" sz="1600" dirty="0" smtClean="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vi-VN"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antenna bị nhiễm nước </a:t>
              </a:r>
              <a:r>
                <a:rPr lang="vi-VN" sz="1600" dirty="0" smtClean="0">
                  <a:solidFill>
                    <a:srgbClr val="002060"/>
                  </a:solidFill>
                  <a:latin typeface="Times New Roman" panose="02020603050405020304" pitchFamily="18" charset="0"/>
                  <a:ea typeface="Cambria" panose="02040503050406030204" pitchFamily="18" charset="0"/>
                  <a:cs typeface="Times New Roman" panose="02020603050405020304" pitchFamily="18" charset="0"/>
                </a:rPr>
                <a:t>có </a:t>
              </a:r>
              <a:r>
                <a:rPr lang="vi-VN"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thể </a:t>
              </a:r>
              <a:r>
                <a:rPr lang="vi-VN" sz="1600" dirty="0" smtClean="0">
                  <a:solidFill>
                    <a:srgbClr val="002060"/>
                  </a:solidFill>
                  <a:latin typeface="Times New Roman" panose="02020603050405020304" pitchFamily="18" charset="0"/>
                  <a:ea typeface="Cambria" panose="02040503050406030204" pitchFamily="18" charset="0"/>
                  <a:cs typeface="Times New Roman" panose="02020603050405020304" pitchFamily="18" charset="0"/>
                </a:rPr>
                <a:t>do</a:t>
              </a:r>
              <a:r>
                <a:rPr lang="en-US" sz="1600" dirty="0" smtClean="0">
                  <a:solidFill>
                    <a:srgbClr val="002060"/>
                  </a:solidFill>
                  <a:latin typeface="Times New Roman" panose="02020603050405020304" pitchFamily="18" charset="0"/>
                  <a:ea typeface="Cambria" panose="02040503050406030204" pitchFamily="18" charset="0"/>
                  <a:cs typeface="Times New Roman" panose="02020603050405020304" pitchFamily="18" charset="0"/>
                </a:rPr>
                <a:t>:</a:t>
              </a:r>
              <a:r>
                <a:rPr lang="vi-VN" sz="1600" dirty="0" smtClean="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endParaRPr kumimoji="0" lang="en-US" sz="1600" i="0" u="none" strike="noStrike" kern="1200" cap="none" spc="0" normalizeH="0" baseline="0" noProof="0" dirty="0" smtClean="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endParaRPr>
            </a:p>
            <a:p>
              <a:pPr marL="285750" indent="-285750" algn="just">
                <a:spcBef>
                  <a:spcPts val="1200"/>
                </a:spcBef>
                <a:buFont typeface="Arial" panose="020B0604020202020204" pitchFamily="34" charset="0"/>
                <a:buChar char="•"/>
                <a:defRPr/>
              </a:pPr>
              <a:r>
                <a:rPr lang="vi-VN" sz="1600" dirty="0" smtClean="0">
                  <a:solidFill>
                    <a:srgbClr val="4472C4">
                      <a:lumMod val="50000"/>
                    </a:srgbClr>
                  </a:solidFill>
                  <a:latin typeface="Times New Roman" panose="02020603050405020304" pitchFamily="18" charset="0"/>
                  <a:ea typeface="Cambria" panose="02040503050406030204" pitchFamily="18" charset="0"/>
                </a:rPr>
                <a:t>Sự </a:t>
              </a:r>
              <a:r>
                <a:rPr lang="vi-VN" sz="1600" dirty="0">
                  <a:solidFill>
                    <a:srgbClr val="4472C4">
                      <a:lumMod val="50000"/>
                    </a:srgbClr>
                  </a:solidFill>
                  <a:latin typeface="Times New Roman" panose="02020603050405020304" pitchFamily="18" charset="0"/>
                  <a:ea typeface="Cambria" panose="02040503050406030204" pitchFamily="18" charset="0"/>
                </a:rPr>
                <a:t>ngưng tụ của không khí ẩm trong cabin</a:t>
              </a:r>
            </a:p>
            <a:p>
              <a:pPr marL="285750" indent="-285750" algn="just">
                <a:spcBef>
                  <a:spcPts val="1200"/>
                </a:spcBef>
                <a:buFont typeface="Arial" panose="020B0604020202020204" pitchFamily="34" charset="0"/>
                <a:buChar char="•"/>
                <a:defRPr/>
              </a:pPr>
              <a:r>
                <a:rPr lang="vi-VN" sz="1600" dirty="0">
                  <a:solidFill>
                    <a:srgbClr val="4472C4">
                      <a:lumMod val="50000"/>
                    </a:srgbClr>
                  </a:solidFill>
                  <a:latin typeface="Times New Roman" panose="02020603050405020304" pitchFamily="18" charset="0"/>
                  <a:ea typeface="Cambria" panose="02040503050406030204" pitchFamily="18" charset="0"/>
                </a:rPr>
                <a:t>Nước xâm nhập từ bên ngoài máy bay</a:t>
              </a:r>
              <a:endParaRPr lang="en-US" sz="1600" dirty="0" smtClean="0">
                <a:solidFill>
                  <a:srgbClr val="4472C4">
                    <a:lumMod val="50000"/>
                  </a:srgbClr>
                </a:solidFill>
                <a:latin typeface="Times New Roman" panose="02020603050405020304" pitchFamily="18" charset="0"/>
                <a:ea typeface="Cambria" panose="02040503050406030204" pitchFamily="18" charset="0"/>
              </a:endParaRPr>
            </a:p>
          </p:txBody>
        </p:sp>
        <p:pic>
          <p:nvPicPr>
            <p:cNvPr id="29" name="Picture 28">
              <a:extLst>
                <a:ext uri="{FF2B5EF4-FFF2-40B4-BE49-F238E27FC236}">
                  <a16:creationId xmlns:a16="http://schemas.microsoft.com/office/drawing/2014/main" xmlns="" id="{0969630F-CCFF-4E5C-A701-27D11B7F73C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48174" y="2896265"/>
              <a:ext cx="374590" cy="502242"/>
            </a:xfrm>
            <a:prstGeom prst="rect">
              <a:avLst/>
            </a:prstGeom>
          </p:spPr>
        </p:pic>
      </p:grpSp>
      <p:grpSp>
        <p:nvGrpSpPr>
          <p:cNvPr id="30" name="Group 29"/>
          <p:cNvGrpSpPr/>
          <p:nvPr/>
        </p:nvGrpSpPr>
        <p:grpSpPr>
          <a:xfrm>
            <a:off x="4711834" y="3667180"/>
            <a:ext cx="7206594" cy="3067722"/>
            <a:chOff x="3740472" y="1939602"/>
            <a:chExt cx="6956948" cy="3067722"/>
          </a:xfrm>
        </p:grpSpPr>
        <p:pic>
          <p:nvPicPr>
            <p:cNvPr id="31" name="Picture 30">
              <a:extLst>
                <a:ext uri="{FF2B5EF4-FFF2-40B4-BE49-F238E27FC236}">
                  <a16:creationId xmlns:a16="http://schemas.microsoft.com/office/drawing/2014/main" xmlns="" id="{F1E75855-BFF9-4060-8514-50C2582B62B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40472" y="1939602"/>
              <a:ext cx="537821" cy="502241"/>
            </a:xfrm>
            <a:prstGeom prst="rect">
              <a:avLst/>
            </a:prstGeom>
          </p:spPr>
        </p:pic>
        <p:sp>
          <p:nvSpPr>
            <p:cNvPr id="32" name="TextBox 31">
              <a:extLst>
                <a:ext uri="{FF2B5EF4-FFF2-40B4-BE49-F238E27FC236}">
                  <a16:creationId xmlns:a16="http://schemas.microsoft.com/office/drawing/2014/main" xmlns="" id="{3FDC07A6-2071-4D02-9540-D46ECD1C61E5}"/>
                </a:ext>
              </a:extLst>
            </p:cNvPr>
            <p:cNvSpPr txBox="1"/>
            <p:nvPr/>
          </p:nvSpPr>
          <p:spPr>
            <a:xfrm>
              <a:off x="4278293" y="1991114"/>
              <a:ext cx="6419127" cy="301621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1200"/>
                </a:spcBef>
                <a:spcAft>
                  <a:spcPts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Mitigation / Interim </a:t>
              </a:r>
              <a:r>
                <a:rPr kumimoji="0" lang="en-US" sz="1600" b="1" i="0" u="none" strike="noStrike" kern="1200" cap="none" spc="0" normalizeH="0" baseline="0" noProof="0" dirty="0" smtClean="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Action</a:t>
              </a:r>
            </a:p>
            <a:p>
              <a:pPr marL="285750" lvl="0" indent="-285750" algn="just">
                <a:spcBef>
                  <a:spcPts val="1200"/>
                </a:spcBef>
                <a:buFont typeface="Wingdings" panose="05000000000000000000" pitchFamily="2" charset="2"/>
                <a:buChar char="v"/>
                <a:defRPr/>
              </a:pPr>
              <a:r>
                <a:rPr lang="vi-VN"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Một vòng đệm xốp được lắp ở top-antenna của TCAS (MOD </a:t>
              </a:r>
              <a:r>
                <a:rPr lang="vi-VN" sz="1600" dirty="0" smtClean="0">
                  <a:solidFill>
                    <a:srgbClr val="002060"/>
                  </a:solidFill>
                  <a:latin typeface="Times New Roman" panose="02020603050405020304" pitchFamily="18" charset="0"/>
                  <a:ea typeface="Cambria" panose="02040503050406030204" pitchFamily="18" charset="0"/>
                  <a:cs typeface="Times New Roman" panose="02020603050405020304" pitchFamily="18" charset="0"/>
                </a:rPr>
                <a:t>25583</a:t>
              </a:r>
              <a:r>
                <a:rPr lang="en-US" sz="1600" dirty="0" smtClean="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600" dirty="0" err="1" smtClean="0">
                  <a:solidFill>
                    <a:srgbClr val="002060"/>
                  </a:solidFill>
                  <a:latin typeface="Times New Roman" panose="02020603050405020304" pitchFamily="18" charset="0"/>
                  <a:ea typeface="Cambria" panose="02040503050406030204" pitchFamily="18" charset="0"/>
                  <a:cs typeface="Times New Roman" panose="02020603050405020304" pitchFamily="18" charset="0"/>
                </a:rPr>
                <a:t>đã</a:t>
              </a:r>
              <a:r>
                <a:rPr lang="en-US" sz="1600" dirty="0" smtClean="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apply </a:t>
              </a:r>
              <a:r>
                <a:rPr lang="en-US" sz="1600" dirty="0" err="1" smtClean="0">
                  <a:solidFill>
                    <a:srgbClr val="002060"/>
                  </a:solidFill>
                  <a:latin typeface="Times New Roman" panose="02020603050405020304" pitchFamily="18" charset="0"/>
                  <a:ea typeface="Cambria" panose="02040503050406030204" pitchFamily="18" charset="0"/>
                  <a:cs typeface="Times New Roman" panose="02020603050405020304" pitchFamily="18" charset="0"/>
                </a:rPr>
                <a:t>cho</a:t>
              </a:r>
              <a:r>
                <a:rPr lang="en-US" sz="1600" dirty="0" smtClean="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fleet A321</a:t>
              </a:r>
              <a:r>
                <a:rPr lang="vi-VN" sz="1600" dirty="0" smtClean="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vi-VN"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Vòng đệm này được kì vọng sẽ làm giảm nguy cơ hỏng hóc do sự ngưng tụ của không khí ẩm trong cabin.</a:t>
              </a:r>
            </a:p>
            <a:p>
              <a:pPr marL="285750" lvl="0" indent="-285750" algn="just">
                <a:spcBef>
                  <a:spcPts val="1200"/>
                </a:spcBef>
                <a:buFont typeface="Wingdings" panose="05000000000000000000" pitchFamily="2" charset="2"/>
                <a:buChar char="v"/>
                <a:defRPr/>
              </a:pPr>
              <a:r>
                <a:rPr lang="vi-VN"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In-service evaluation (ISE) đang diễn ra để kiểm tra việc dán băng dính trên các đầu nối top-antenna của TCAS để bảo vệ chúng khỏi sự xâm nhập của độ ẩm/nước. Kết quả ISE dự kiến sẽ có ​​vào </a:t>
              </a:r>
              <a:r>
                <a:rPr lang="en-US" sz="1600" dirty="0" err="1" smtClean="0">
                  <a:solidFill>
                    <a:srgbClr val="002060"/>
                  </a:solidFill>
                  <a:latin typeface="Times New Roman" panose="02020603050405020304" pitchFamily="18" charset="0"/>
                  <a:ea typeface="Cambria" panose="02040503050406030204" pitchFamily="18" charset="0"/>
                  <a:cs typeface="Times New Roman" panose="02020603050405020304" pitchFamily="18" charset="0"/>
                </a:rPr>
                <a:t>cuối</a:t>
              </a:r>
              <a:r>
                <a:rPr lang="en-US" sz="1600" dirty="0" smtClean="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Q1 </a:t>
              </a:r>
              <a:r>
                <a:rPr lang="vi-VN" sz="1600" dirty="0" smtClean="0">
                  <a:solidFill>
                    <a:srgbClr val="002060"/>
                  </a:solidFill>
                  <a:latin typeface="Times New Roman" panose="02020603050405020304" pitchFamily="18" charset="0"/>
                  <a:ea typeface="Cambria" panose="02040503050406030204" pitchFamily="18" charset="0"/>
                  <a:cs typeface="Times New Roman" panose="02020603050405020304" pitchFamily="18" charset="0"/>
                </a:rPr>
                <a:t>2025</a:t>
              </a:r>
              <a:endParaRPr lang="vi-VN"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endParaRPr>
            </a:p>
            <a:p>
              <a:pPr marL="285750" lvl="0" indent="-285750" algn="just">
                <a:spcBef>
                  <a:spcPts val="1200"/>
                </a:spcBef>
                <a:buFont typeface="Wingdings" panose="05000000000000000000" pitchFamily="2" charset="2"/>
                <a:buChar char="v"/>
                <a:defRPr/>
              </a:pPr>
              <a:r>
                <a:rPr lang="vi-VN"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Trong </a:t>
              </a:r>
              <a:r>
                <a:rPr lang="en-US" sz="1600" dirty="0" smtClean="0">
                  <a:solidFill>
                    <a:srgbClr val="002060"/>
                  </a:solidFill>
                  <a:latin typeface="Times New Roman" panose="02020603050405020304" pitchFamily="18" charset="0"/>
                  <a:ea typeface="Cambria" panose="02040503050406030204" pitchFamily="18" charset="0"/>
                  <a:cs typeface="Times New Roman" panose="02020603050405020304" pitchFamily="18" charset="0"/>
                </a:rPr>
                <a:t>T</a:t>
              </a:r>
              <a:r>
                <a:rPr lang="vi-VN" sz="1600" dirty="0" smtClean="0">
                  <a:solidFill>
                    <a:srgbClr val="002060"/>
                  </a:solidFill>
                  <a:latin typeface="Times New Roman" panose="02020603050405020304" pitchFamily="18" charset="0"/>
                  <a:ea typeface="Cambria" panose="02040503050406030204" pitchFamily="18" charset="0"/>
                  <a:cs typeface="Times New Roman" panose="02020603050405020304" pitchFamily="18" charset="0"/>
                </a:rPr>
                <a:t>8/2024 </a:t>
              </a:r>
              <a:r>
                <a:rPr lang="vi-VN" sz="16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ban KT từng triển khai chương trình đánh chặn (Kiểm tra điện trở chủ động để phát hiện hỏng hóc sớm) nhưng không có hiệu quả nên đã tạm dừng</a:t>
              </a:r>
            </a:p>
          </p:txBody>
        </p:sp>
      </p:grpSp>
      <p:cxnSp>
        <p:nvCxnSpPr>
          <p:cNvPr id="33" name="Straight Connector 32">
            <a:extLst>
              <a:ext uri="{FF2B5EF4-FFF2-40B4-BE49-F238E27FC236}">
                <a16:creationId xmlns:a16="http://schemas.microsoft.com/office/drawing/2014/main" xmlns="" id="{DD7E6793-5C7D-44CB-AC75-538AC111FB74}"/>
              </a:ext>
            </a:extLst>
          </p:cNvPr>
          <p:cNvCxnSpPr>
            <a:cxnSpLocks/>
          </p:cNvCxnSpPr>
          <p:nvPr/>
        </p:nvCxnSpPr>
        <p:spPr>
          <a:xfrm>
            <a:off x="12102616" y="12322565"/>
            <a:ext cx="4930821"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03088" y="999791"/>
            <a:ext cx="4281496" cy="2281754"/>
          </a:xfrm>
          <a:prstGeom prst="rect">
            <a:avLst/>
          </a:prstGeom>
        </p:spPr>
      </p:pic>
    </p:spTree>
    <p:custDataLst>
      <p:tags r:id="rId1"/>
    </p:custDataLst>
    <p:extLst>
      <p:ext uri="{BB962C8B-B14F-4D97-AF65-F5344CB8AC3E}">
        <p14:creationId xmlns:p14="http://schemas.microsoft.com/office/powerpoint/2010/main" val="33873528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4F79AF3-24C5-47EC-8B09-710ADAA97244}" type="slidenum">
              <a:rPr lang="en-US" altLang="en-US" sz="1200" smtClean="0">
                <a:solidFill>
                  <a:srgbClr val="D2A43B"/>
                </a:solidFill>
                <a:latin typeface="Montserrat"/>
              </a:rPr>
              <a:pPr fontAlgn="base">
                <a:lnSpc>
                  <a:spcPct val="100000"/>
                </a:lnSpc>
                <a:spcBef>
                  <a:spcPct val="0"/>
                </a:spcBef>
                <a:spcAft>
                  <a:spcPct val="0"/>
                </a:spcAft>
                <a:buFontTx/>
                <a:buNone/>
              </a:pPr>
              <a:t>11</a:t>
            </a:fld>
            <a:endParaRPr lang="en-US" altLang="en-US" sz="1200">
              <a:solidFill>
                <a:srgbClr val="D2A43B"/>
              </a:solidFill>
              <a:latin typeface="Montserrat"/>
            </a:endParaRPr>
          </a:p>
        </p:txBody>
      </p:sp>
      <p:sp>
        <p:nvSpPr>
          <p:cNvPr id="1048638" name="Title 4"/>
          <p:cNvSpPr>
            <a:spLocks noGrp="1"/>
          </p:cNvSpPr>
          <p:nvPr>
            <p:ph type="title"/>
          </p:nvPr>
        </p:nvSpPr>
        <p:spPr>
          <a:xfrm>
            <a:off x="1047482" y="228600"/>
            <a:ext cx="8686799" cy="609600"/>
          </a:xfrm>
        </p:spPr>
        <p:txBody>
          <a:bodyPr rtlCol="0">
            <a:normAutofit/>
          </a:bodyPr>
          <a:lstStyle/>
          <a:p>
            <a:pPr eaLnBrk="1" fontAlgn="auto" hangingPunct="1">
              <a:spcAft>
                <a:spcPts val="0"/>
              </a:spcAft>
              <a:defRPr/>
            </a:pPr>
            <a:r>
              <a:rPr lang="en-US" sz="2400" dirty="0">
                <a:ln w="0"/>
                <a:solidFill>
                  <a:schemeClr val="accent4"/>
                </a:solidFill>
                <a:latin typeface="Times New Roman" panose="02020603050405020304" pitchFamily="18" charset="0"/>
                <a:cs typeface="Times New Roman" panose="02020603050405020304" pitchFamily="18" charset="0"/>
              </a:rPr>
              <a:t>TÌNH TRẠNG KỸ THUẬT ĐỘI BAY A320/ A321 </a:t>
            </a:r>
            <a:endParaRPr lang="vi-VN" sz="2400"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4311CC99-42A4-BD10-390B-EE6B3A4DC329}"/>
              </a:ext>
            </a:extLst>
          </p:cNvPr>
          <p:cNvSpPr txBox="1"/>
          <p:nvPr/>
        </p:nvSpPr>
        <p:spPr>
          <a:xfrm>
            <a:off x="1066800" y="838200"/>
            <a:ext cx="10229811" cy="2400657"/>
          </a:xfrm>
          <a:prstGeom prst="rect">
            <a:avLst/>
          </a:prstGeom>
          <a:noFill/>
        </p:spPr>
        <p:txBody>
          <a:bodyPr wrap="square">
            <a:spAutoFit/>
          </a:bodyPr>
          <a:lstStyle/>
          <a:p>
            <a:pPr lvl="0" algn="just">
              <a:defRPr/>
            </a:pPr>
            <a:r>
              <a:rPr lang="en-US" sz="1500" b="1" dirty="0" err="1">
                <a:latin typeface="Times New Roman" panose="02020603050405020304" pitchFamily="18" charset="0"/>
                <a:cs typeface="Times New Roman" panose="02020603050405020304" pitchFamily="18" charset="0"/>
              </a:rPr>
              <a:t>Nhận</a:t>
            </a: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xét</a:t>
            </a:r>
            <a:r>
              <a:rPr lang="en-US" sz="1500" b="1" dirty="0">
                <a:latin typeface="Times New Roman" panose="02020603050405020304" pitchFamily="18" charset="0"/>
                <a:cs typeface="Times New Roman" panose="02020603050405020304" pitchFamily="18" charset="0"/>
              </a:rPr>
              <a:t>: </a:t>
            </a:r>
            <a:r>
              <a:rPr lang="vi-VN" sz="1500" dirty="0" smtClean="0">
                <a:latin typeface="Times New Roman" panose="02020603050405020304" pitchFamily="18" charset="0"/>
                <a:cs typeface="Times New Roman" panose="02020603050405020304" pitchFamily="18" charset="0"/>
              </a:rPr>
              <a:t>Trong </a:t>
            </a:r>
            <a:r>
              <a:rPr lang="vi-VN" sz="1500" dirty="0">
                <a:latin typeface="Times New Roman" panose="02020603050405020304" pitchFamily="18" charset="0"/>
                <a:cs typeface="Times New Roman" panose="02020603050405020304" pitchFamily="18" charset="0"/>
              </a:rPr>
              <a:t>tuần không phát sinh các trường </a:t>
            </a:r>
            <a:r>
              <a:rPr lang="vi-VN" sz="1500" dirty="0" smtClean="0">
                <a:latin typeface="Times New Roman" panose="02020603050405020304" pitchFamily="18" charset="0"/>
                <a:cs typeface="Times New Roman" panose="02020603050405020304" pitchFamily="18" charset="0"/>
              </a:rPr>
              <a:t>hợp</a:t>
            </a:r>
            <a:r>
              <a:rPr lang="en-US" sz="1500" dirty="0" smtClean="0">
                <a:latin typeface="Times New Roman" panose="02020603050405020304" pitchFamily="18" charset="0"/>
                <a:cs typeface="Times New Roman" panose="02020603050405020304" pitchFamily="18" charset="0"/>
              </a:rPr>
              <a:t> </a:t>
            </a:r>
            <a:r>
              <a:rPr lang="en-US" sz="1500" dirty="0" err="1" smtClean="0">
                <a:latin typeface="Times New Roman" panose="02020603050405020304" pitchFamily="18" charset="0"/>
                <a:cs typeface="Times New Roman" panose="02020603050405020304" pitchFamily="18" charset="0"/>
              </a:rPr>
              <a:t>hỏng</a:t>
            </a:r>
            <a:r>
              <a:rPr lang="en-US" sz="1500" dirty="0" smtClean="0">
                <a:latin typeface="Times New Roman" panose="02020603050405020304" pitchFamily="18" charset="0"/>
                <a:cs typeface="Times New Roman" panose="02020603050405020304" pitchFamily="18" charset="0"/>
              </a:rPr>
              <a:t> </a:t>
            </a:r>
            <a:r>
              <a:rPr lang="en-US" sz="1500" dirty="0" err="1" smtClean="0">
                <a:latin typeface="Times New Roman" panose="02020603050405020304" pitchFamily="18" charset="0"/>
                <a:cs typeface="Times New Roman" panose="02020603050405020304" pitchFamily="18" charset="0"/>
              </a:rPr>
              <a:t>hóc</a:t>
            </a:r>
            <a:r>
              <a:rPr lang="en-US" sz="1500" dirty="0" smtClean="0">
                <a:latin typeface="Times New Roman" panose="02020603050405020304" pitchFamily="18" charset="0"/>
                <a:cs typeface="Times New Roman" panose="02020603050405020304" pitchFamily="18" charset="0"/>
              </a:rPr>
              <a:t> </a:t>
            </a:r>
            <a:r>
              <a:rPr lang="en-US" sz="1500" dirty="0" err="1" smtClean="0">
                <a:latin typeface="Times New Roman" panose="02020603050405020304" pitchFamily="18" charset="0"/>
                <a:cs typeface="Times New Roman" panose="02020603050405020304" pitchFamily="18" charset="0"/>
              </a:rPr>
              <a:t>sau</a:t>
            </a:r>
            <a:r>
              <a:rPr lang="en-US" sz="1500" dirty="0" smtClean="0">
                <a:latin typeface="Times New Roman" panose="02020603050405020304" pitchFamily="18" charset="0"/>
                <a:cs typeface="Times New Roman" panose="02020603050405020304" pitchFamily="18" charset="0"/>
              </a:rPr>
              <a:t>:</a:t>
            </a:r>
          </a:p>
          <a:p>
            <a:pPr marL="285750" lvl="0" indent="-285750" algn="just">
              <a:buFont typeface="Arial" panose="020B0604020202020204" pitchFamily="34" charset="0"/>
              <a:buChar char="•"/>
              <a:defRPr/>
            </a:pPr>
            <a:r>
              <a:rPr lang="vi-VN" sz="1500" dirty="0" smtClean="0">
                <a:cs typeface="Times New Roman" panose="02020603050405020304" pitchFamily="18" charset="0"/>
              </a:rPr>
              <a:t>A610 </a:t>
            </a:r>
            <a:r>
              <a:rPr lang="vi-VN" sz="1500" dirty="0">
                <a:cs typeface="Times New Roman" panose="02020603050405020304" pitchFamily="18" charset="0"/>
              </a:rPr>
              <a:t>phát sinh Mess hỏng TCAS phải delay 10H tại NGO, FE theo tàu đã reset lại nhưng không hết, đã kiểm tra connector của TCAS antenna nhưng cũng không khắc phục được và </a:t>
            </a:r>
            <a:r>
              <a:rPr lang="vi-VN" sz="1500" dirty="0" smtClean="0">
                <a:cs typeface="Times New Roman" panose="02020603050405020304" pitchFamily="18" charset="0"/>
              </a:rPr>
              <a:t>phải</a:t>
            </a:r>
            <a:r>
              <a:rPr lang="en-US" sz="1500" dirty="0" smtClean="0">
                <a:cs typeface="Times New Roman" panose="02020603050405020304" pitchFamily="18" charset="0"/>
              </a:rPr>
              <a:t> </a:t>
            </a:r>
            <a:r>
              <a:rPr lang="en-US" sz="1500" dirty="0" err="1" smtClean="0">
                <a:cs typeface="Times New Roman" panose="02020603050405020304" pitchFamily="18" charset="0"/>
              </a:rPr>
              <a:t>đổi</a:t>
            </a:r>
            <a:r>
              <a:rPr lang="en-US" sz="1500" dirty="0" smtClean="0">
                <a:cs typeface="Times New Roman" panose="02020603050405020304" pitchFamily="18" charset="0"/>
              </a:rPr>
              <a:t> </a:t>
            </a:r>
            <a:r>
              <a:rPr lang="en-US" sz="1500" dirty="0" err="1" smtClean="0">
                <a:cs typeface="Times New Roman" panose="02020603050405020304" pitchFamily="18" charset="0"/>
              </a:rPr>
              <a:t>đường</a:t>
            </a:r>
            <a:r>
              <a:rPr lang="en-US" sz="1500" dirty="0" smtClean="0">
                <a:cs typeface="Times New Roman" panose="02020603050405020304" pitchFamily="18" charset="0"/>
              </a:rPr>
              <a:t> bay </a:t>
            </a:r>
            <a:r>
              <a:rPr lang="en-US" sz="1500" dirty="0" err="1" smtClean="0">
                <a:cs typeface="Times New Roman" panose="02020603050405020304" pitchFamily="18" charset="0"/>
              </a:rPr>
              <a:t>để</a:t>
            </a:r>
            <a:r>
              <a:rPr lang="en-US" sz="1500" dirty="0" smtClean="0">
                <a:cs typeface="Times New Roman" panose="02020603050405020304" pitchFamily="18" charset="0"/>
              </a:rPr>
              <a:t> bay </a:t>
            </a:r>
            <a:r>
              <a:rPr lang="en-US" sz="1500" dirty="0" err="1" smtClean="0">
                <a:cs typeface="Times New Roman" panose="02020603050405020304" pitchFamily="18" charset="0"/>
              </a:rPr>
              <a:t>về</a:t>
            </a:r>
            <a:r>
              <a:rPr lang="vi-VN" sz="1500" dirty="0" smtClean="0">
                <a:cs typeface="Times New Roman" panose="02020603050405020304" pitchFamily="18" charset="0"/>
              </a:rPr>
              <a:t>. </a:t>
            </a:r>
            <a:r>
              <a:rPr lang="vi-VN" sz="1500" dirty="0">
                <a:cs typeface="Times New Roman" panose="02020603050405020304" pitchFamily="18" charset="0"/>
              </a:rPr>
              <a:t>Trước đó ngày 06/02 tàu có phát sinh Mess này nhưng đã thực hiện thay TCAS computer, tàu sau đó bay 10 chuyến thì đến ngày 07/02 có xuất hiện lại mess, đã thực hiện test và reset thì hết, sau 14 chuyến thì lại bị lại lỗi kia ở NGO. Tàu sau đó đã thay TCAS </a:t>
            </a:r>
            <a:r>
              <a:rPr lang="vi-VN" sz="1500" dirty="0" smtClean="0">
                <a:cs typeface="Times New Roman" panose="02020603050405020304" pitchFamily="18" charset="0"/>
              </a:rPr>
              <a:t>antenna</a:t>
            </a:r>
            <a:r>
              <a:rPr lang="en-US" sz="1500" dirty="0" smtClean="0">
                <a:cs typeface="Times New Roman" panose="02020603050405020304" pitchFamily="18" charset="0"/>
              </a:rPr>
              <a:t>.</a:t>
            </a:r>
            <a:endParaRPr lang="vi-VN" sz="1500" dirty="0">
              <a:cs typeface="Times New Roman" panose="02020603050405020304" pitchFamily="18" charset="0"/>
            </a:endParaRPr>
          </a:p>
          <a:p>
            <a:pPr marL="285750" lvl="0" indent="-285750" algn="just">
              <a:buFont typeface="Arial" panose="020B0604020202020204" pitchFamily="34" charset="0"/>
              <a:buChar char="•"/>
              <a:defRPr/>
            </a:pPr>
            <a:r>
              <a:rPr lang="vi-VN" sz="1500" dirty="0" smtClean="0">
                <a:cs typeface="Times New Roman" panose="02020603050405020304" pitchFamily="18" charset="0"/>
              </a:rPr>
              <a:t>A339 </a:t>
            </a:r>
            <a:r>
              <a:rPr lang="vi-VN" sz="1500" dirty="0">
                <a:cs typeface="Times New Roman" panose="02020603050405020304" pitchFamily="18" charset="0"/>
              </a:rPr>
              <a:t>phát sinh hỏng hóc ELAC2 (NO GO mess) tại KHH và phải thay servo control và </a:t>
            </a:r>
            <a:r>
              <a:rPr lang="vi-VN" sz="1500" dirty="0" smtClean="0">
                <a:cs typeface="Times New Roman" panose="02020603050405020304" pitchFamily="18" charset="0"/>
              </a:rPr>
              <a:t>ELAC#2</a:t>
            </a:r>
            <a:r>
              <a:rPr lang="en-US" sz="1500" dirty="0" smtClean="0">
                <a:cs typeface="Times New Roman" panose="02020603050405020304" pitchFamily="18" charset="0"/>
              </a:rPr>
              <a:t>.</a:t>
            </a:r>
            <a:endParaRPr lang="vi-VN" sz="1500" dirty="0">
              <a:cs typeface="Times New Roman" panose="02020603050405020304" pitchFamily="18" charset="0"/>
            </a:endParaRPr>
          </a:p>
          <a:p>
            <a:pPr marL="285750" lvl="0" indent="-285750" algn="just">
              <a:buFont typeface="Arial" panose="020B0604020202020204" pitchFamily="34" charset="0"/>
              <a:buChar char="•"/>
              <a:defRPr/>
            </a:pPr>
            <a:r>
              <a:rPr lang="vi-VN" sz="1500" dirty="0" smtClean="0">
                <a:cs typeface="Times New Roman" panose="02020603050405020304" pitchFamily="18" charset="0"/>
              </a:rPr>
              <a:t>Ngoài </a:t>
            </a:r>
            <a:r>
              <a:rPr lang="vi-VN" sz="1500" dirty="0">
                <a:cs typeface="Times New Roman" panose="02020603050405020304" pitchFamily="18" charset="0"/>
              </a:rPr>
              <a:t>ra liên quan đến tàu A610 có hỏng hóc về HPV (trước đây tàu đã thay HPV 6 lần, 4 lần đều có dấu hiệu hỏng hóc ở khối HPV, 2 lần gần nhất hiện chưa có SFR). Ngày 11/02 đã bố trí downtime 14H ca ngày để khắc phục, tuy nhiên khi kiểm tra dây dẫn, đầu cắm thì không phát hiện vấn đề gì, tàu đã thay HPV ngày 15/2</a:t>
            </a:r>
          </a:p>
          <a:p>
            <a:pPr marL="285750" lvl="0" indent="-285750" algn="just">
              <a:buFont typeface="Arial" panose="020B0604020202020204" pitchFamily="34" charset="0"/>
              <a:buChar char="•"/>
              <a:defRPr/>
            </a:pP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0225025"/>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4C773CCA-50EF-9047-3B43-17B793B9D30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E22311FB-BEC8-026B-A2D2-6AA6A7EF2AC2}"/>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E604DA61-E459-7D42-3904-510AE3B0432E}"/>
              </a:ext>
            </a:extLst>
          </p:cNvPr>
          <p:cNvSpPr>
            <a:spLocks noGrp="1"/>
          </p:cNvSpPr>
          <p:nvPr>
            <p:ph type="title"/>
          </p:nvPr>
        </p:nvSpPr>
        <p:spPr>
          <a:xfrm>
            <a:off x="152398" y="28337"/>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dirty="0">
                <a:ln w="0"/>
                <a:solidFill>
                  <a:schemeClr val="accent4"/>
                </a:solidFill>
                <a:latin typeface="Times New Roman" panose="02020603050405020304" pitchFamily="18" charset="0"/>
                <a:cs typeface="Times New Roman" panose="02020603050405020304" pitchFamily="18" charset="0"/>
              </a:rPr>
              <a:t>A350</a:t>
            </a:r>
          </a:p>
        </p:txBody>
      </p:sp>
      <p:sp>
        <p:nvSpPr>
          <p:cNvPr id="8" name="TextBox 7">
            <a:extLst>
              <a:ext uri="{FF2B5EF4-FFF2-40B4-BE49-F238E27FC236}">
                <a16:creationId xmlns:a16="http://schemas.microsoft.com/office/drawing/2014/main" xmlns="" id="{704078EF-7094-5C98-4A5B-6721CC4526F5}"/>
              </a:ext>
            </a:extLst>
          </p:cNvPr>
          <p:cNvSpPr txBox="1"/>
          <p:nvPr/>
        </p:nvSpPr>
        <p:spPr>
          <a:xfrm>
            <a:off x="152398" y="78833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00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sp>
        <p:nvSpPr>
          <p:cNvPr id="3" name="TextBox 2"/>
          <p:cNvSpPr txBox="1"/>
          <p:nvPr/>
        </p:nvSpPr>
        <p:spPr>
          <a:xfrm>
            <a:off x="228600" y="1447800"/>
            <a:ext cx="11612513" cy="338554"/>
          </a:xfrm>
          <a:prstGeom prst="rect">
            <a:avLst/>
          </a:prstGeom>
          <a:noFill/>
        </p:spPr>
        <p:txBody>
          <a:bodyPr wrap="square" rtlCol="0">
            <a:spAutoFit/>
          </a:bodyPr>
          <a:lstStyle/>
          <a:p>
            <a:r>
              <a:rPr lang="en-US" sz="1600" smtClean="0">
                <a:solidFill>
                  <a:srgbClr val="D2A43B"/>
                </a:solidFill>
                <a:latin typeface="Times New Roman" panose="02020603050405020304" pitchFamily="18" charset="0"/>
                <a:cs typeface="Times New Roman" panose="02020603050405020304" pitchFamily="18" charset="0"/>
              </a:rPr>
              <a:t>Trong tuần đội A350 có tình trạng kỹ thuật tốt, không có sự kiện AOG/ Delay/ gián đoạn khai thác nào.</a:t>
            </a:r>
            <a:endParaRPr lang="en-US" sz="1600" dirty="0">
              <a:solidFill>
                <a:srgbClr val="D2A43B"/>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6287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13</a:t>
            </a:fld>
            <a:endParaRPr/>
          </a:p>
        </p:txBody>
      </p:sp>
      <p:sp>
        <p:nvSpPr>
          <p:cNvPr id="4" name="Google Shape;82;p7">
            <a:extLst>
              <a:ext uri="{FF2B5EF4-FFF2-40B4-BE49-F238E27FC236}">
                <a16:creationId xmlns:a16="http://schemas.microsoft.com/office/drawing/2014/main" xmlns=""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xmlns="" id="{5A7DFD9E-1938-C3D2-63F7-64ACA38DF5D6}"/>
              </a:ext>
            </a:extLst>
          </p:cNvPr>
          <p:cNvGraphicFramePr>
            <a:graphicFrameLocks noGrp="1"/>
          </p:cNvGraphicFramePr>
          <p:nvPr>
            <p:extLst/>
          </p:nvPr>
        </p:nvGraphicFramePr>
        <p:xfrm>
          <a:off x="127724" y="565157"/>
          <a:ext cx="11806698" cy="6264750"/>
        </p:xfrm>
        <a:graphic>
          <a:graphicData uri="http://schemas.openxmlformats.org/drawingml/2006/table">
            <a:tbl>
              <a:tblPr/>
              <a:tblGrid>
                <a:gridCol w="397623">
                  <a:extLst>
                    <a:ext uri="{9D8B030D-6E8A-4147-A177-3AD203B41FA5}">
                      <a16:colId xmlns:a16="http://schemas.microsoft.com/office/drawing/2014/main" xmlns="" val="944810151"/>
                    </a:ext>
                  </a:extLst>
                </a:gridCol>
                <a:gridCol w="455960">
                  <a:extLst>
                    <a:ext uri="{9D8B030D-6E8A-4147-A177-3AD203B41FA5}">
                      <a16:colId xmlns:a16="http://schemas.microsoft.com/office/drawing/2014/main" xmlns="" val="3717804538"/>
                    </a:ext>
                  </a:extLst>
                </a:gridCol>
                <a:gridCol w="545172">
                  <a:extLst>
                    <a:ext uri="{9D8B030D-6E8A-4147-A177-3AD203B41FA5}">
                      <a16:colId xmlns:a16="http://schemas.microsoft.com/office/drawing/2014/main" xmlns="" val="4193963524"/>
                    </a:ext>
                  </a:extLst>
                </a:gridCol>
                <a:gridCol w="1318321">
                  <a:extLst>
                    <a:ext uri="{9D8B030D-6E8A-4147-A177-3AD203B41FA5}">
                      <a16:colId xmlns:a16="http://schemas.microsoft.com/office/drawing/2014/main" xmlns="" val="2621624683"/>
                    </a:ext>
                  </a:extLst>
                </a:gridCol>
                <a:gridCol w="1239024">
                  <a:extLst>
                    <a:ext uri="{9D8B030D-6E8A-4147-A177-3AD203B41FA5}">
                      <a16:colId xmlns:a16="http://schemas.microsoft.com/office/drawing/2014/main" xmlns="" val="3921905023"/>
                    </a:ext>
                  </a:extLst>
                </a:gridCol>
                <a:gridCol w="1476917">
                  <a:extLst>
                    <a:ext uri="{9D8B030D-6E8A-4147-A177-3AD203B41FA5}">
                      <a16:colId xmlns:a16="http://schemas.microsoft.com/office/drawing/2014/main" xmlns="" val="1480188736"/>
                    </a:ext>
                  </a:extLst>
                </a:gridCol>
                <a:gridCol w="6373681">
                  <a:extLst>
                    <a:ext uri="{9D8B030D-6E8A-4147-A177-3AD203B41FA5}">
                      <a16:colId xmlns:a16="http://schemas.microsoft.com/office/drawing/2014/main" xmlns="" val="2244100167"/>
                    </a:ext>
                  </a:extLst>
                </a:gridCol>
              </a:tblGrid>
              <a:tr h="205739">
                <a:tc>
                  <a:txBody>
                    <a:bodyPr/>
                    <a:lstStyle/>
                    <a:p>
                      <a:pPr algn="ctr" fontAlgn="ctr"/>
                      <a:r>
                        <a:rPr lang="en-US" sz="1300" b="0" i="0" u="none" strike="noStrike">
                          <a:solidFill>
                            <a:srgbClr val="000000"/>
                          </a:solidFill>
                          <a:effectLst/>
                          <a:latin typeface="Calibri" panose="020F0502020204030204" pitchFamily="34" charset="0"/>
                        </a:rPr>
                        <a:t>No</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43892989"/>
                  </a:ext>
                </a:extLst>
              </a:tr>
              <a:tr h="612139">
                <a:tc>
                  <a:txBody>
                    <a:bodyPr/>
                    <a:lstStyle/>
                    <a:p>
                      <a:pPr algn="ctr" fontAlgn="ctr"/>
                      <a:r>
                        <a:rPr lang="en-US" sz="1300" b="0" i="0" u="none" strike="noStrike">
                          <a:solidFill>
                            <a:srgbClr val="000000"/>
                          </a:solidFill>
                          <a:effectLst/>
                          <a:latin typeface="Calibri" panose="020F0502020204030204" pitchFamily="34" charset="0"/>
                        </a:rPr>
                        <a:t>1</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A886</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ADD B1372 RAISED DM AIR REDUNDANCY LOSS ON FUEL INERTING</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B1379 RAISED PACK 1 REGULATION REDUNDANCY</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B1381 RAISED F/CTL R OUT R AILERON G ACTUATOR</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627272572"/>
                  </a:ext>
                </a:extLst>
              </a:tr>
              <a:tr h="205739">
                <a:tc>
                  <a:txBody>
                    <a:bodyPr/>
                    <a:lstStyle/>
                    <a:p>
                      <a:pPr algn="ctr" fontAlgn="ctr"/>
                      <a:r>
                        <a:rPr lang="en-US" sz="1300" b="0" i="0" u="none" strike="noStrike">
                          <a:solidFill>
                            <a:srgbClr val="000000"/>
                          </a:solidFill>
                          <a:effectLst/>
                          <a:latin typeface="Calibri" panose="020F0502020204030204" pitchFamily="34" charset="0"/>
                        </a:rPr>
                        <a:t>2</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A887</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B1246 RAISED AIR PACK 2 REGUL REDUNDANCY</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295035478"/>
                  </a:ext>
                </a:extLst>
              </a:tr>
              <a:tr h="205739">
                <a:tc>
                  <a:txBody>
                    <a:bodyPr/>
                    <a:lstStyle/>
                    <a:p>
                      <a:pPr algn="ctr" fontAlgn="ctr"/>
                      <a:r>
                        <a:rPr lang="en-US" sz="1300" b="0" i="0" u="none" strike="noStrike">
                          <a:solidFill>
                            <a:srgbClr val="000000"/>
                          </a:solidFill>
                          <a:effectLst/>
                          <a:latin typeface="Calibri" panose="020F0502020204030204" pitchFamily="34" charset="0"/>
                        </a:rPr>
                        <a:t>3</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A888</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B1364 “CAPT EFB DOCKING STATION”</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775223213"/>
                  </a:ext>
                </a:extLst>
              </a:tr>
              <a:tr h="408939">
                <a:tc>
                  <a:txBody>
                    <a:bodyPr/>
                    <a:lstStyle/>
                    <a:p>
                      <a:pPr algn="ctr" fontAlgn="ctr"/>
                      <a:r>
                        <a:rPr lang="en-US" sz="1300" b="0" i="0" u="none" strike="noStrike">
                          <a:solidFill>
                            <a:srgbClr val="000000"/>
                          </a:solidFill>
                          <a:effectLst/>
                          <a:latin typeface="Calibri" panose="020F0502020204030204" pitchFamily="34" charset="0"/>
                        </a:rPr>
                        <a:t>4</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A889</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21088 giảm tần suất soi HPT blade 1200FH/150FC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B1211 RAISED APU DEACTIVATED DUE TO CRACK AT APU COMPRESSOR HOUSING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223190463"/>
                  </a:ext>
                </a:extLst>
              </a:tr>
              <a:tr h="205739">
                <a:tc>
                  <a:txBody>
                    <a:bodyPr/>
                    <a:lstStyle/>
                    <a:p>
                      <a:pPr algn="ctr" fontAlgn="ctr"/>
                      <a:r>
                        <a:rPr lang="en-US" sz="1300" b="0" i="0" u="none" strike="noStrike">
                          <a:solidFill>
                            <a:srgbClr val="000000"/>
                          </a:solidFill>
                          <a:effectLst/>
                          <a:latin typeface="Calibri" panose="020F0502020204030204" pitchFamily="34" charset="0"/>
                        </a:rPr>
                        <a:t>5</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81489576: PREVENTIVE RECOMMENDATION PACK 2 INTERNAL LEAKAGE</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787954611"/>
                  </a:ext>
                </a:extLst>
              </a:tr>
              <a:tr h="205739">
                <a:tc>
                  <a:txBody>
                    <a:bodyPr/>
                    <a:lstStyle/>
                    <a:p>
                      <a:pPr algn="ctr" fontAlgn="ctr"/>
                      <a:r>
                        <a:rPr lang="en-US" sz="1300" b="0" i="0" u="none" strike="noStrike">
                          <a:solidFill>
                            <a:srgbClr val="000000"/>
                          </a:solidFill>
                          <a:effectLst/>
                          <a:latin typeface="Calibri" panose="020F0502020204030204" pitchFamily="34" charset="0"/>
                        </a:rPr>
                        <a:t>6</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A891</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151939610"/>
                  </a:ext>
                </a:extLst>
              </a:tr>
              <a:tr h="205739">
                <a:tc>
                  <a:txBody>
                    <a:bodyPr/>
                    <a:lstStyle/>
                    <a:p>
                      <a:pPr algn="ctr" fontAlgn="ctr"/>
                      <a:r>
                        <a:rPr lang="en-US" sz="1300" b="0" i="0" u="none" strike="noStrike">
                          <a:solidFill>
                            <a:srgbClr val="000000"/>
                          </a:solidFill>
                          <a:effectLst/>
                          <a:latin typeface="Calibri" panose="020F0502020204030204" pitchFamily="34" charset="0"/>
                        </a:rPr>
                        <a:t>7</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A892</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B1455 RAISED THE DROOP-NOSE END-FILLING PANEL AT R/H MISSING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368427979"/>
                  </a:ext>
                </a:extLst>
              </a:tr>
              <a:tr h="612139">
                <a:tc>
                  <a:txBody>
                    <a:bodyPr/>
                    <a:lstStyle/>
                    <a:p>
                      <a:pPr algn="ctr" fontAlgn="ctr"/>
                      <a:r>
                        <a:rPr lang="en-US" sz="1300" b="0" i="0" u="none" strike="noStrike">
                          <a:solidFill>
                            <a:srgbClr val="000000"/>
                          </a:solidFill>
                          <a:effectLst/>
                          <a:latin typeface="Calibri" panose="020F0502020204030204" pitchFamily="34" charset="0"/>
                        </a:rPr>
                        <a:t>8</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A893</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1. Không chọn chuyên cơ do động cơ số 2 S/N 21369 tiêu hao dầu nhờn cao</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2. ADD B1309 RAISED APU INOP</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3. TR 81538418: PACK 1 INTERNAL LEAKAGE</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821508437"/>
                  </a:ext>
                </a:extLst>
              </a:tr>
              <a:tr h="205739">
                <a:tc>
                  <a:txBody>
                    <a:bodyPr/>
                    <a:lstStyle/>
                    <a:p>
                      <a:pPr algn="ctr" fontAlgn="ctr"/>
                      <a:r>
                        <a:rPr lang="en-US" sz="1300" b="0" i="0" u="none" strike="noStrike">
                          <a:solidFill>
                            <a:srgbClr val="000000"/>
                          </a:solidFill>
                          <a:effectLst/>
                          <a:latin typeface="Calibri" panose="020F0502020204030204" pitchFamily="34" charset="0"/>
                        </a:rPr>
                        <a:t>9</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A894</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21425 giảm tần suất soi HPT blade 800FH/100FC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759676045"/>
                  </a:ext>
                </a:extLst>
              </a:tr>
              <a:tr h="408939">
                <a:tc>
                  <a:txBody>
                    <a:bodyPr/>
                    <a:lstStyle/>
                    <a:p>
                      <a:pPr algn="ctr" fontAlgn="ctr"/>
                      <a:r>
                        <a:rPr lang="en-US" sz="1300" b="0" i="0" u="none" strike="noStrike">
                          <a:solidFill>
                            <a:srgbClr val="000000"/>
                          </a:solidFill>
                          <a:effectLst/>
                          <a:latin typeface="Calibri" panose="020F0502020204030204" pitchFamily="34" charset="0"/>
                        </a:rPr>
                        <a:t>10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A895</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B995 RAISED ENGINE #1 SN 21604 HAVE LOW LIFE TIME </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2. ADD B996 RAISED ENGINE #2 SN 21414 HAVE LOW LIFE TIME</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452667872"/>
                  </a:ext>
                </a:extLst>
              </a:tr>
              <a:tr h="1018539">
                <a:tc>
                  <a:txBody>
                    <a:bodyPr/>
                    <a:lstStyle/>
                    <a:p>
                      <a:pPr algn="ctr" fontAlgn="ctr"/>
                      <a:r>
                        <a:rPr lang="en-US" sz="1300" b="0" i="0" u="none" strike="noStrike">
                          <a:solidFill>
                            <a:srgbClr val="000000"/>
                          </a:solidFill>
                          <a:effectLst/>
                          <a:latin typeface="Calibri" panose="020F0502020204030204" pitchFamily="34" charset="0"/>
                        </a:rPr>
                        <a:t>11</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A896</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ADD B954 UPPER LATCH ASSY OF COCKPIT DOOR BOLTING SYSTEM IS NOT FULLY LOCKED </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TR 81416394: PREVENTIVE RECOMMENDATION PACK 1 INTERNAL LEAKAGE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TR 81524640/007: PACK 1 EXTERNAL LEAKAGE =&gt; đã ktra tốt, chờ AIB theo dõi trả lời </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4. TR 81542676: PREVENTIVE RECOMMENDATION SERVO CTL-R INBD AIL,Y (3CR2) PRESSURE SENSOR FAILURE</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073255134"/>
                  </a:ext>
                </a:extLst>
              </a:tr>
              <a:tr h="815339">
                <a:tc>
                  <a:txBody>
                    <a:bodyPr/>
                    <a:lstStyle/>
                    <a:p>
                      <a:pPr algn="ctr" fontAlgn="ctr"/>
                      <a:r>
                        <a:rPr lang="en-US" sz="1300" b="0" i="0" u="none" strike="noStrike">
                          <a:solidFill>
                            <a:srgbClr val="000000"/>
                          </a:solidFill>
                          <a:effectLst/>
                          <a:latin typeface="Calibri" panose="020F0502020204030204" pitchFamily="34" charset="0"/>
                        </a:rPr>
                        <a:t>12</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A897</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Định kỳ</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21214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A897 có logo Skyteam</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FM: PROBE 3-N1 TURBINE SPEED,ENG2(4088KS32)</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4. DOOR 3R/H NOISY DURING IN FLIGHT </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594513845"/>
                  </a:ext>
                </a:extLst>
              </a:tr>
              <a:tr h="539604">
                <a:tc>
                  <a:txBody>
                    <a:bodyPr/>
                    <a:lstStyle/>
                    <a:p>
                      <a:pPr algn="ctr" fontAlgn="ctr"/>
                      <a:r>
                        <a:rPr lang="en-US" sz="1300" b="0" i="0" u="none" strike="noStrike">
                          <a:solidFill>
                            <a:srgbClr val="000000"/>
                          </a:solidFill>
                          <a:effectLst/>
                          <a:latin typeface="Calibri" panose="020F0502020204030204" pitchFamily="34" charset="0"/>
                        </a:rPr>
                        <a:t>13</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A898</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21214 giảm tần suất soi heatshield 2400FH/400FC. Eng 2 21268 giảm tần suất soi HPT blade 800FH/100FC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181769684"/>
                  </a:ext>
                </a:extLst>
              </a:tr>
              <a:tr h="408939">
                <a:tc>
                  <a:txBody>
                    <a:bodyPr/>
                    <a:lstStyle/>
                    <a:p>
                      <a:pPr algn="ctr" fontAlgn="ctr"/>
                      <a:r>
                        <a:rPr lang="en-US" sz="1300" b="0" i="0" u="none" strike="noStrike">
                          <a:solidFill>
                            <a:srgbClr val="000000"/>
                          </a:solidFill>
                          <a:effectLst/>
                          <a:latin typeface="Calibri" panose="020F0502020204030204" pitchFamily="34" charset="0"/>
                        </a:rPr>
                        <a:t>14</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A899</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21048 giảm tần suất soi HPT blade 800FH/100FC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B1002 RAISED FOR AIR PACK#1 REGUL DEGRADED</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765289285"/>
                  </a:ext>
                </a:extLst>
              </a:tr>
            </a:tbl>
          </a:graphicData>
        </a:graphic>
      </p:graphicFrame>
    </p:spTree>
    <p:extLst>
      <p:ext uri="{BB962C8B-B14F-4D97-AF65-F5344CB8AC3E}">
        <p14:creationId xmlns:p14="http://schemas.microsoft.com/office/powerpoint/2010/main" val="3398854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xmlns=""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xmlns="" id="{5914447B-A879-4C97-AD62-7AFABAF9410A}"/>
              </a:ext>
            </a:extLst>
          </p:cNvPr>
          <p:cNvSpPr/>
          <p:nvPr/>
        </p:nvSpPr>
        <p:spPr>
          <a:xfrm>
            <a:off x="210231" y="535899"/>
            <a:ext cx="11769687" cy="2062103"/>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A3</a:t>
            </a:r>
            <a:r>
              <a:rPr lang="en-US" sz="1600">
                <a:solidFill>
                  <a:prstClr val="black"/>
                </a:solidFill>
                <a:latin typeface="Times New Roman" panose="02020603050405020304" pitchFamily="18" charset="0"/>
                <a:cs typeface="Times New Roman" panose="02020603050405020304" pitchFamily="18" charset="0"/>
              </a:rPr>
              <a:t>50 trong tuần 07 tốt.</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US" sz="1600">
                <a:latin typeface="Times New Roman" panose="02020603050405020304" pitchFamily="18" charset="0"/>
                <a:cs typeface="Times New Roman" panose="02020603050405020304" pitchFamily="18" charset="0"/>
              </a:rPr>
              <a:t>+ A897 thực hiện định kỳ A04 từ 15-17/02 phát sinh </a:t>
            </a:r>
            <a:r>
              <a:rPr lang="en-SG" sz="1600">
                <a:latin typeface="Times New Roman" panose="02020603050405020304" pitchFamily="18" charset="0"/>
                <a:cs typeface="Times New Roman" panose="02020603050405020304" pitchFamily="18" charset="0"/>
              </a:rPr>
              <a:t>CRACK AT CENTER LOWER SIDE (AT POSITION OF WELD POINT) BETWEEN MAIN AND PRIMARY HEAT EXCHANGER  OF PACK #1 -&gt; Cần phải rob Main HX từ A898 để khắc phục, dự kiến kéo dài thêm 01 ngày đến 18/02.</a:t>
            </a:r>
            <a:endParaRPr lang="en-US" sz="1600">
              <a:latin typeface="Times New Roman" panose="02020603050405020304" pitchFamily="18" charset="0"/>
              <a:cs typeface="Times New Roman" panose="02020603050405020304" pitchFamily="18" charset="0"/>
            </a:endParaRPr>
          </a:p>
          <a:p>
            <a:pPr marL="609585" lvl="1" algn="just"/>
            <a:r>
              <a:rPr lang="en-US" sz="1600">
                <a:latin typeface="Times New Roman" panose="02020603050405020304" pitchFamily="18" charset="0"/>
                <a:cs typeface="Times New Roman" panose="02020603050405020304" pitchFamily="18" charset="0"/>
              </a:rPr>
              <a:t>+ A889 có APU INOP, đã có APU KH thay ngày 18/02</a:t>
            </a:r>
          </a:p>
          <a:p>
            <a:pPr marL="609585" lvl="1" algn="just"/>
            <a:r>
              <a:rPr lang="en-US" sz="1600">
                <a:latin typeface="Times New Roman" panose="02020603050405020304" pitchFamily="18" charset="0"/>
                <a:cs typeface="Times New Roman" panose="02020603050405020304" pitchFamily="18" charset="0"/>
              </a:rPr>
              <a:t>+ A893 có ADD APU INOP tuy nhiên không có APU, KH rob từ A887 (BQDB) và khắc phục ngày 21/02.</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7105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2D70F59A-F75E-2F2B-E505-E3D07F7E24A1}"/>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AEA3FCE7-A57A-5EAD-1892-C0E7A4FE0C3C}"/>
              </a:ext>
            </a:extLst>
          </p:cNvPr>
          <p:cNvSpPr txBox="1">
            <a:spLocks noGrp="1"/>
          </p:cNvSpPr>
          <p:nvPr>
            <p:ph type="sldNum" idx="12"/>
          </p:nvPr>
        </p:nvSpPr>
        <p:spPr>
          <a:xfrm>
            <a:off x="11484784" y="6310756"/>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34276AA2-D940-E01C-D7BC-0F3A4DE83381}"/>
              </a:ext>
            </a:extLst>
          </p:cNvPr>
          <p:cNvSpPr>
            <a:spLocks noGrp="1"/>
          </p:cNvSpPr>
          <p:nvPr>
            <p:ph type="title"/>
          </p:nvPr>
        </p:nvSpPr>
        <p:spPr>
          <a:xfrm>
            <a:off x="228600" y="93133"/>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dirty="0">
                <a:ln w="0"/>
                <a:solidFill>
                  <a:schemeClr val="accent4"/>
                </a:solidFill>
                <a:latin typeface="Times New Roman" panose="02020603050405020304" pitchFamily="18" charset="0"/>
                <a:cs typeface="Times New Roman" panose="02020603050405020304" pitchFamily="18" charset="0"/>
              </a:rPr>
              <a:t>B787</a:t>
            </a:r>
          </a:p>
        </p:txBody>
      </p:sp>
      <p:sp>
        <p:nvSpPr>
          <p:cNvPr id="8" name="TextBox 7">
            <a:extLst>
              <a:ext uri="{FF2B5EF4-FFF2-40B4-BE49-F238E27FC236}">
                <a16:creationId xmlns:a16="http://schemas.microsoft.com/office/drawing/2014/main" xmlns="" id="{707FA246-4B8B-393F-FE30-333DDD45FBD4}"/>
              </a:ext>
            </a:extLst>
          </p:cNvPr>
          <p:cNvSpPr txBox="1"/>
          <p:nvPr/>
        </p:nvSpPr>
        <p:spPr>
          <a:xfrm>
            <a:off x="152397"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xmlns="" id="{D81119D0-6F80-6B55-5FD9-8175EDB24096}"/>
              </a:ext>
            </a:extLst>
          </p:cNvPr>
          <p:cNvSpPr txBox="1"/>
          <p:nvPr/>
        </p:nvSpPr>
        <p:spPr>
          <a:xfrm>
            <a:off x="152397" y="1236922"/>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4" name="Table 3">
            <a:extLst>
              <a:ext uri="{FF2B5EF4-FFF2-40B4-BE49-F238E27FC236}">
                <a16:creationId xmlns:a16="http://schemas.microsoft.com/office/drawing/2014/main" xmlns="" id="{36D228A3-2957-9776-AA00-6ED0500D28D6}"/>
              </a:ext>
            </a:extLst>
          </p:cNvPr>
          <p:cNvGraphicFramePr>
            <a:graphicFrameLocks noGrp="1"/>
          </p:cNvGraphicFramePr>
          <p:nvPr>
            <p:extLst/>
          </p:nvPr>
        </p:nvGraphicFramePr>
        <p:xfrm>
          <a:off x="152397" y="1774593"/>
          <a:ext cx="11688716" cy="2694783"/>
        </p:xfrm>
        <a:graphic>
          <a:graphicData uri="http://schemas.openxmlformats.org/drawingml/2006/table">
            <a:tbl>
              <a:tblPr/>
              <a:tblGrid>
                <a:gridCol w="420683">
                  <a:extLst>
                    <a:ext uri="{9D8B030D-6E8A-4147-A177-3AD203B41FA5}">
                      <a16:colId xmlns:a16="http://schemas.microsoft.com/office/drawing/2014/main" xmlns="" val="3532412126"/>
                    </a:ext>
                  </a:extLst>
                </a:gridCol>
                <a:gridCol w="727397">
                  <a:extLst>
                    <a:ext uri="{9D8B030D-6E8A-4147-A177-3AD203B41FA5}">
                      <a16:colId xmlns:a16="http://schemas.microsoft.com/office/drawing/2014/main" xmlns="" val="2246453922"/>
                    </a:ext>
                  </a:extLst>
                </a:gridCol>
                <a:gridCol w="375923">
                  <a:extLst>
                    <a:ext uri="{9D8B030D-6E8A-4147-A177-3AD203B41FA5}">
                      <a16:colId xmlns:a16="http://schemas.microsoft.com/office/drawing/2014/main" xmlns="" val="3831941748"/>
                    </a:ext>
                  </a:extLst>
                </a:gridCol>
                <a:gridCol w="685800">
                  <a:extLst>
                    <a:ext uri="{9D8B030D-6E8A-4147-A177-3AD203B41FA5}">
                      <a16:colId xmlns:a16="http://schemas.microsoft.com/office/drawing/2014/main" xmlns="" val="961761706"/>
                    </a:ext>
                  </a:extLst>
                </a:gridCol>
                <a:gridCol w="457200">
                  <a:extLst>
                    <a:ext uri="{9D8B030D-6E8A-4147-A177-3AD203B41FA5}">
                      <a16:colId xmlns:a16="http://schemas.microsoft.com/office/drawing/2014/main" xmlns="" val="1638648152"/>
                    </a:ext>
                  </a:extLst>
                </a:gridCol>
                <a:gridCol w="838200">
                  <a:extLst>
                    <a:ext uri="{9D8B030D-6E8A-4147-A177-3AD203B41FA5}">
                      <a16:colId xmlns:a16="http://schemas.microsoft.com/office/drawing/2014/main" xmlns="" val="1768356610"/>
                    </a:ext>
                  </a:extLst>
                </a:gridCol>
                <a:gridCol w="2590800">
                  <a:extLst>
                    <a:ext uri="{9D8B030D-6E8A-4147-A177-3AD203B41FA5}">
                      <a16:colId xmlns:a16="http://schemas.microsoft.com/office/drawing/2014/main" xmlns="" val="3401757400"/>
                    </a:ext>
                  </a:extLst>
                </a:gridCol>
                <a:gridCol w="2514600">
                  <a:extLst>
                    <a:ext uri="{9D8B030D-6E8A-4147-A177-3AD203B41FA5}">
                      <a16:colId xmlns:a16="http://schemas.microsoft.com/office/drawing/2014/main" xmlns="" val="3320069203"/>
                    </a:ext>
                  </a:extLst>
                </a:gridCol>
                <a:gridCol w="457200">
                  <a:extLst>
                    <a:ext uri="{9D8B030D-6E8A-4147-A177-3AD203B41FA5}">
                      <a16:colId xmlns:a16="http://schemas.microsoft.com/office/drawing/2014/main" xmlns="" val="4279825923"/>
                    </a:ext>
                  </a:extLst>
                </a:gridCol>
                <a:gridCol w="2620913">
                  <a:extLst>
                    <a:ext uri="{9D8B030D-6E8A-4147-A177-3AD203B41FA5}">
                      <a16:colId xmlns:a16="http://schemas.microsoft.com/office/drawing/2014/main" xmlns="" val="1988727542"/>
                    </a:ext>
                  </a:extLst>
                </a:gridCol>
              </a:tblGrid>
              <a:tr h="87529">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1627700936"/>
                  </a:ext>
                </a:extLst>
              </a:tr>
              <a:tr h="1331349">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17:30 13/02/2025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VN214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MSG “ELEC GEN SYS APU R” BEFORE DEPARTURE STS MSG “ELEC GEN SYS APU R” SHOW</a:t>
                      </a:r>
                      <a:br>
                        <a:rPr lang="en-US" sz="1100" b="0" i="0" u="none" strike="noStrike">
                          <a:solidFill>
                            <a:srgbClr val="000000"/>
                          </a:solidFill>
                          <a:effectLst/>
                          <a:latin typeface="Times New Roman" panose="02020603050405020304" pitchFamily="18" charset="0"/>
                          <a:cs typeface="Times New Roman" panose="02020603050405020304" pitchFamily="18" charset="0"/>
                        </a:rPr>
                      </a:b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EVENT CLOSED  - 17:30 CRS báo before departure appeared msg ELEC GEN SYS APU R  ELEC MAIN AC BUS ISLN R</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Thực hiện cyc contactor clear msg ELEC MAIN AC BUS ISLN R và raised defect cho ELEC GEN SYS APU R IAW MEL 24-22-02-04</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- 17:58 Tàu đóng cửa</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Tech delay 28 mins</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24-22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ASG (PN: 7000021H01, SN: AAEE001181) trên A865 khối gốc là của A868 lắp lên từ 2016. TSN=27237FH, GMTBUR=16000FH. Final action: thay ASG, ADD clear. Hiện không có vấn đề nổi cộm liên quan đến khối ASG trên worldwide. Tiếp tục theo dõi và làm việc thêm với Collins về việc cải tiến thiết bị trong thời gian tới.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886760425"/>
                  </a:ext>
                </a:extLst>
              </a:tr>
            </a:tbl>
          </a:graphicData>
        </a:graphic>
      </p:graphicFrame>
    </p:spTree>
    <p:extLst>
      <p:ext uri="{BB962C8B-B14F-4D97-AF65-F5344CB8AC3E}">
        <p14:creationId xmlns:p14="http://schemas.microsoft.com/office/powerpoint/2010/main" val="2600917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16</a:t>
            </a:fld>
            <a:endParaRPr/>
          </a:p>
        </p:txBody>
      </p:sp>
      <p:sp>
        <p:nvSpPr>
          <p:cNvPr id="4" name="Google Shape;82;p7">
            <a:extLst>
              <a:ext uri="{FF2B5EF4-FFF2-40B4-BE49-F238E27FC236}">
                <a16:creationId xmlns:a16="http://schemas.microsoft.com/office/drawing/2014/main" xmlns=""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xmlns="" id="{C3028E54-00F2-FA3E-CEB2-987ADED245EE}"/>
              </a:ext>
            </a:extLst>
          </p:cNvPr>
          <p:cNvGraphicFramePr>
            <a:graphicFrameLocks noGrp="1"/>
          </p:cNvGraphicFramePr>
          <p:nvPr>
            <p:extLst/>
          </p:nvPr>
        </p:nvGraphicFramePr>
        <p:xfrm>
          <a:off x="175690" y="501466"/>
          <a:ext cx="11840622" cy="6321048"/>
        </p:xfrm>
        <a:graphic>
          <a:graphicData uri="http://schemas.openxmlformats.org/drawingml/2006/table">
            <a:tbl>
              <a:tblPr/>
              <a:tblGrid>
                <a:gridCol w="597461">
                  <a:extLst>
                    <a:ext uri="{9D8B030D-6E8A-4147-A177-3AD203B41FA5}">
                      <a16:colId xmlns:a16="http://schemas.microsoft.com/office/drawing/2014/main" xmlns="" val="3806193598"/>
                    </a:ext>
                  </a:extLst>
                </a:gridCol>
                <a:gridCol w="693855">
                  <a:extLst>
                    <a:ext uri="{9D8B030D-6E8A-4147-A177-3AD203B41FA5}">
                      <a16:colId xmlns:a16="http://schemas.microsoft.com/office/drawing/2014/main" xmlns="" val="4122337819"/>
                    </a:ext>
                  </a:extLst>
                </a:gridCol>
                <a:gridCol w="614556">
                  <a:extLst>
                    <a:ext uri="{9D8B030D-6E8A-4147-A177-3AD203B41FA5}">
                      <a16:colId xmlns:a16="http://schemas.microsoft.com/office/drawing/2014/main" xmlns="" val="2216915028"/>
                    </a:ext>
                  </a:extLst>
                </a:gridCol>
                <a:gridCol w="1318321">
                  <a:extLst>
                    <a:ext uri="{9D8B030D-6E8A-4147-A177-3AD203B41FA5}">
                      <a16:colId xmlns:a16="http://schemas.microsoft.com/office/drawing/2014/main" xmlns="" val="3510177741"/>
                    </a:ext>
                  </a:extLst>
                </a:gridCol>
                <a:gridCol w="1209288">
                  <a:extLst>
                    <a:ext uri="{9D8B030D-6E8A-4147-A177-3AD203B41FA5}">
                      <a16:colId xmlns:a16="http://schemas.microsoft.com/office/drawing/2014/main" xmlns="" val="2089366218"/>
                    </a:ext>
                  </a:extLst>
                </a:gridCol>
                <a:gridCol w="1635512">
                  <a:extLst>
                    <a:ext uri="{9D8B030D-6E8A-4147-A177-3AD203B41FA5}">
                      <a16:colId xmlns:a16="http://schemas.microsoft.com/office/drawing/2014/main" xmlns="" val="1920401473"/>
                    </a:ext>
                  </a:extLst>
                </a:gridCol>
                <a:gridCol w="5771629">
                  <a:extLst>
                    <a:ext uri="{9D8B030D-6E8A-4147-A177-3AD203B41FA5}">
                      <a16:colId xmlns:a16="http://schemas.microsoft.com/office/drawing/2014/main" xmlns="" val="1552012082"/>
                    </a:ext>
                  </a:extLst>
                </a:gridCol>
              </a:tblGrid>
              <a:tr h="240252">
                <a:tc>
                  <a:txBody>
                    <a:bodyPr/>
                    <a:lstStyle/>
                    <a:p>
                      <a:pPr algn="ctr" fontAlgn="ctr"/>
                      <a:r>
                        <a:rPr lang="en-US" sz="1300" b="0" i="0" u="none" strike="noStrike">
                          <a:solidFill>
                            <a:srgbClr val="000000"/>
                          </a:solidFill>
                          <a:effectLst/>
                          <a:latin typeface="Calibri" panose="020F0502020204030204" pitchFamily="34" charset="0"/>
                        </a:rPr>
                        <a:t>No</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302659911"/>
                  </a:ext>
                </a:extLst>
              </a:tr>
              <a:tr h="207807">
                <a:tc>
                  <a:txBody>
                    <a:bodyPr/>
                    <a:lstStyle/>
                    <a:p>
                      <a:pPr algn="ctr" fontAlgn="ctr"/>
                      <a:r>
                        <a:rPr lang="en-US" sz="1300" b="0" i="0" u="none" strike="noStrike">
                          <a:solidFill>
                            <a:srgbClr val="000000"/>
                          </a:solidFill>
                          <a:effectLst/>
                          <a:latin typeface="Calibri" panose="020F0502020204030204" pitchFamily="34" charset="0"/>
                        </a:rPr>
                        <a:t>1</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A861</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38903925"/>
                  </a:ext>
                </a:extLst>
              </a:tr>
              <a:tr h="207807">
                <a:tc>
                  <a:txBody>
                    <a:bodyPr/>
                    <a:lstStyle/>
                    <a:p>
                      <a:pPr algn="ctr" fontAlgn="ctr"/>
                      <a:r>
                        <a:rPr lang="en-US" sz="1300" b="0" i="0" u="none" strike="noStrike">
                          <a:solidFill>
                            <a:srgbClr val="000000"/>
                          </a:solidFill>
                          <a:effectLst/>
                          <a:latin typeface="Calibri" panose="020F0502020204030204" pitchFamily="34" charset="0"/>
                        </a:rPr>
                        <a:t>2</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A862</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B1297 LIQUID COOLING RIGHT PUMP 1</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827226846"/>
                  </a:ext>
                </a:extLst>
              </a:tr>
              <a:tr h="411007">
                <a:tc>
                  <a:txBody>
                    <a:bodyPr/>
                    <a:lstStyle/>
                    <a:p>
                      <a:pPr algn="ctr" fontAlgn="ctr"/>
                      <a:r>
                        <a:rPr lang="en-US" sz="1300" b="0" i="0" u="none" strike="noStrike">
                          <a:solidFill>
                            <a:srgbClr val="000000"/>
                          </a:solidFill>
                          <a:effectLst/>
                          <a:latin typeface="Calibri" panose="020F0502020204030204" pitchFamily="34" charset="0"/>
                        </a:rPr>
                        <a:t>3</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A863</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(958170) HPT 1B có hỏng hóc (giảm tần suất 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B1601 STS TAIL AIRFLOW SYS</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690504438"/>
                  </a:ext>
                </a:extLst>
              </a:tr>
              <a:tr h="240252">
                <a:tc>
                  <a:txBody>
                    <a:bodyPr/>
                    <a:lstStyle/>
                    <a:p>
                      <a:pPr algn="ctr" fontAlgn="ctr"/>
                      <a:r>
                        <a:rPr lang="en-US" sz="1300" b="0" i="0" u="none" strike="noStrike">
                          <a:solidFill>
                            <a:srgbClr val="000000"/>
                          </a:solidFill>
                          <a:effectLst/>
                          <a:latin typeface="Calibri" panose="020F0502020204030204" pitchFamily="34" charset="0"/>
                        </a:rPr>
                        <a:t>4</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A864</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2 (956577) HPT 1B có hỏng hóc (giảm tần suất 50FC)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700784807"/>
                  </a:ext>
                </a:extLst>
              </a:tr>
              <a:tr h="207807">
                <a:tc>
                  <a:txBody>
                    <a:bodyPr/>
                    <a:lstStyle/>
                    <a:p>
                      <a:pPr algn="ctr" fontAlgn="ctr"/>
                      <a:r>
                        <a:rPr lang="en-US" sz="1300" b="0" i="0" u="none" strike="noStrike">
                          <a:solidFill>
                            <a:srgbClr val="000000"/>
                          </a:solidFill>
                          <a:effectLst/>
                          <a:latin typeface="Calibri" panose="020F0502020204030204" pitchFamily="34" charset="0"/>
                        </a:rPr>
                        <a:t>5</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A865</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300" b="0" i="0" u="none" strike="noStrike">
                          <a:solidFill>
                            <a:srgbClr val="000000"/>
                          </a:solidFill>
                          <a:effectLst/>
                          <a:latin typeface="Calibri" panose="020F0502020204030204" pitchFamily="34" charset="0"/>
                        </a:rPr>
                        <a:t>B1258 ELEC GEN SYS APU R</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689382277"/>
                  </a:ext>
                </a:extLst>
              </a:tr>
              <a:tr h="411007">
                <a:tc>
                  <a:txBody>
                    <a:bodyPr/>
                    <a:lstStyle/>
                    <a:p>
                      <a:pPr algn="ctr" fontAlgn="ctr"/>
                      <a:r>
                        <a:rPr lang="en-US" sz="1300" b="0" i="0" u="none" strike="noStrike">
                          <a:solidFill>
                            <a:srgbClr val="000000"/>
                          </a:solidFill>
                          <a:effectLst/>
                          <a:latin typeface="Calibri" panose="020F0502020204030204" pitchFamily="34" charset="0"/>
                        </a:rPr>
                        <a:t>6</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A866</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100 FC HPTS1B missing material theo Departure Recommendation 01643368 Revision 0.0</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557980822"/>
                  </a:ext>
                </a:extLst>
              </a:tr>
              <a:tr h="614207">
                <a:tc>
                  <a:txBody>
                    <a:bodyPr/>
                    <a:lstStyle/>
                    <a:p>
                      <a:pPr algn="ctr" fontAlgn="ctr"/>
                      <a:r>
                        <a:rPr lang="en-US" sz="1300" b="0" i="0" u="none" strike="noStrike">
                          <a:solidFill>
                            <a:srgbClr val="000000"/>
                          </a:solidFill>
                          <a:effectLst/>
                          <a:latin typeface="Calibri" panose="020F0502020204030204" pitchFamily="34" charset="0"/>
                        </a:rPr>
                        <a:t>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STG 2 CRACK, giảm tần suất soi 250 FC theo DR Recommendation 01379322 Revision 0.0</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B1528 AFT CARGO HANDLING SYS INOP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795355417"/>
                  </a:ext>
                </a:extLst>
              </a:tr>
              <a:tr h="411007">
                <a:tc>
                  <a:txBody>
                    <a:bodyPr/>
                    <a:lstStyle/>
                    <a:p>
                      <a:pPr algn="ctr" fontAlgn="ctr"/>
                      <a:r>
                        <a:rPr lang="en-US" sz="1300" b="0" i="0" u="none" strike="noStrike">
                          <a:solidFill>
                            <a:srgbClr val="000000"/>
                          </a:solidFill>
                          <a:effectLst/>
                          <a:latin typeface="Calibri" panose="020F0502020204030204" pitchFamily="34" charset="0"/>
                        </a:rPr>
                        <a:t>8</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A868</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B1061 RAISED: ENG#1 REPLACE OR RE-INSPECT NOT TO EXCEED 50 CYCLES, REF DR#02104796, EXP: 6074 FC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050589745"/>
                  </a:ext>
                </a:extLst>
              </a:tr>
              <a:tr h="411007">
                <a:tc>
                  <a:txBody>
                    <a:bodyPr/>
                    <a:lstStyle/>
                    <a:p>
                      <a:pPr algn="ctr" fontAlgn="ctr"/>
                      <a:r>
                        <a:rPr lang="en-US" sz="1300" b="0" i="0" u="none" strike="noStrike">
                          <a:solidFill>
                            <a:srgbClr val="000000"/>
                          </a:solidFill>
                          <a:effectLst/>
                          <a:latin typeface="Calibri" panose="020F0502020204030204" pitchFamily="34" charset="0"/>
                        </a:rPr>
                        <a:t>9</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A869</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115959836"/>
                  </a:ext>
                </a:extLst>
              </a:tr>
              <a:tr h="411007">
                <a:tc>
                  <a:txBody>
                    <a:bodyPr/>
                    <a:lstStyle/>
                    <a:p>
                      <a:pPr algn="ctr" fontAlgn="ctr"/>
                      <a:r>
                        <a:rPr lang="en-US" sz="1300" b="0" i="0" u="none" strike="noStrike">
                          <a:solidFill>
                            <a:srgbClr val="000000"/>
                          </a:solidFill>
                          <a:effectLst/>
                          <a:latin typeface="Calibri" panose="020F0502020204030204" pitchFamily="34" charset="0"/>
                        </a:rPr>
                        <a:t>10</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A870</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B1374 TAIL AIRFLOW SYS</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B1381 BRAKE NO1 INOP</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311639892"/>
                  </a:ext>
                </a:extLst>
              </a:tr>
              <a:tr h="240252">
                <a:tc>
                  <a:txBody>
                    <a:bodyPr/>
                    <a:lstStyle/>
                    <a:p>
                      <a:pPr algn="ctr" fontAlgn="ctr"/>
                      <a:r>
                        <a:rPr lang="en-US" sz="1300" b="0" i="0" u="none" strike="noStrike">
                          <a:solidFill>
                            <a:srgbClr val="000000"/>
                          </a:solidFill>
                          <a:effectLst/>
                          <a:latin typeface="Calibri" panose="020F0502020204030204" pitchFamily="34" charset="0"/>
                        </a:rPr>
                        <a:t>11</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A871</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(956913) HPT 1B có hỏng hóc (giảm tần suất 50FC)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964464461"/>
                  </a:ext>
                </a:extLst>
              </a:tr>
              <a:tr h="207807">
                <a:tc>
                  <a:txBody>
                    <a:bodyPr/>
                    <a:lstStyle/>
                    <a:p>
                      <a:pPr algn="ctr" fontAlgn="ctr"/>
                      <a:r>
                        <a:rPr lang="en-US" sz="1300" b="0" i="0" u="none" strike="noStrike">
                          <a:solidFill>
                            <a:srgbClr val="000000"/>
                          </a:solidFill>
                          <a:effectLst/>
                          <a:latin typeface="Calibri" panose="020F0502020204030204" pitchFamily="34" charset="0"/>
                        </a:rPr>
                        <a:t>12</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A872</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34771601"/>
                  </a:ext>
                </a:extLst>
              </a:tr>
              <a:tr h="614207">
                <a:tc>
                  <a:txBody>
                    <a:bodyPr/>
                    <a:lstStyle/>
                    <a:p>
                      <a:pPr algn="ctr" fontAlgn="ctr"/>
                      <a:r>
                        <a:rPr lang="en-US" sz="1300" b="0" i="0" u="none" strike="noStrike">
                          <a:solidFill>
                            <a:srgbClr val="000000"/>
                          </a:solidFill>
                          <a:effectLst/>
                          <a:latin typeface="Calibri" panose="020F0502020204030204" pitchFamily="34" charset="0"/>
                        </a:rPr>
                        <a:t>13</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A873</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B489 AFT CARGO HANDLING SYS INOP</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B501 APU INOP DUE TO OIL LEAK</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36552653"/>
                  </a:ext>
                </a:extLst>
              </a:tr>
              <a:tr h="240252">
                <a:tc>
                  <a:txBody>
                    <a:bodyPr/>
                    <a:lstStyle/>
                    <a:p>
                      <a:pPr algn="ctr" fontAlgn="ctr"/>
                      <a:r>
                        <a:rPr lang="en-US" sz="1300" b="0" i="0" u="none" strike="noStrike">
                          <a:solidFill>
                            <a:srgbClr val="000000"/>
                          </a:solidFill>
                          <a:effectLst/>
                          <a:latin typeface="Calibri" panose="020F0502020204030204" pitchFamily="34" charset="0"/>
                        </a:rPr>
                        <a:t>14</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A874</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76378460"/>
                  </a:ext>
                </a:extLst>
              </a:tr>
              <a:tr h="207807">
                <a:tc>
                  <a:txBody>
                    <a:bodyPr/>
                    <a:lstStyle/>
                    <a:p>
                      <a:pPr algn="ctr" fontAlgn="ctr"/>
                      <a:r>
                        <a:rPr lang="en-US" sz="1300" b="0" i="0" u="none" strike="noStrike">
                          <a:solidFill>
                            <a:srgbClr val="000000"/>
                          </a:solidFill>
                          <a:effectLst/>
                          <a:latin typeface="Calibri" panose="020F0502020204030204" pitchFamily="34" charset="0"/>
                        </a:rPr>
                        <a:t>15</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628549522"/>
                  </a:ext>
                </a:extLst>
              </a:tr>
              <a:tr h="207807">
                <a:tc>
                  <a:txBody>
                    <a:bodyPr/>
                    <a:lstStyle/>
                    <a:p>
                      <a:pPr algn="ctr" fontAlgn="ctr"/>
                      <a:r>
                        <a:rPr lang="en-US" sz="1300" b="0" i="0" u="none" strike="noStrike">
                          <a:solidFill>
                            <a:srgbClr val="000000"/>
                          </a:solidFill>
                          <a:effectLst/>
                          <a:latin typeface="Calibri" panose="020F0502020204030204" pitchFamily="34" charset="0"/>
                        </a:rPr>
                        <a:t>16</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A878</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371446963"/>
                  </a:ext>
                </a:extLst>
              </a:tr>
              <a:tr h="829749">
                <a:tc>
                  <a:txBody>
                    <a:bodyPr/>
                    <a:lstStyle/>
                    <a:p>
                      <a:pPr algn="ctr" fontAlgn="ctr"/>
                      <a:r>
                        <a:rPr lang="en-US" sz="1300" b="0" i="0" u="none" strike="noStrike">
                          <a:solidFill>
                            <a:srgbClr val="000000"/>
                          </a:solidFill>
                          <a:effectLst/>
                          <a:latin typeface="Calibri" panose="020F0502020204030204" pitchFamily="34" charset="0"/>
                        </a:rPr>
                        <a:t>17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A879</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Định kỳ</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B498 FWD CARGO HANDLING SYSTEM INOP (ELECTRICAL POWER NOT AVAIL)</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B543 BRAKE 2 WORN TO LIMIT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033524282"/>
                  </a:ext>
                </a:extLst>
              </a:tr>
            </a:tbl>
          </a:graphicData>
        </a:graphic>
      </p:graphicFrame>
    </p:spTree>
    <p:extLst>
      <p:ext uri="{BB962C8B-B14F-4D97-AF65-F5344CB8AC3E}">
        <p14:creationId xmlns:p14="http://schemas.microsoft.com/office/powerpoint/2010/main" val="324364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17</a:t>
            </a:fld>
            <a:endParaRPr/>
          </a:p>
        </p:txBody>
      </p:sp>
      <p:sp>
        <p:nvSpPr>
          <p:cNvPr id="4" name="Google Shape;82;p7">
            <a:extLst>
              <a:ext uri="{FF2B5EF4-FFF2-40B4-BE49-F238E27FC236}">
                <a16:creationId xmlns:a16="http://schemas.microsoft.com/office/drawing/2014/main" xmlns=""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xmlns="" id="{795CC2F9-72E9-47BD-A040-3231760CEEDB}"/>
              </a:ext>
            </a:extLst>
          </p:cNvPr>
          <p:cNvSpPr/>
          <p:nvPr/>
        </p:nvSpPr>
        <p:spPr>
          <a:xfrm>
            <a:off x="250650" y="594263"/>
            <a:ext cx="11690701" cy="2062103"/>
          </a:xfrm>
          <a:prstGeom prst="rect">
            <a:avLst/>
          </a:prstGeom>
        </p:spPr>
        <p:txBody>
          <a:bodyPr wrap="square">
            <a:spAutoFit/>
          </a:bodyPr>
          <a:lstStyle/>
          <a:p>
            <a:pPr algn="just">
              <a:buClrTx/>
              <a:buFontTx/>
              <a:buNone/>
            </a:pPr>
            <a:r>
              <a:rPr lang="en-US" sz="1600" b="1" dirty="0" err="1">
                <a:solidFill>
                  <a:prstClr val="black"/>
                </a:solidFill>
                <a:latin typeface="Times New Roman" panose="02020603050405020304" pitchFamily="18" charset="0"/>
                <a:cs typeface="Times New Roman" panose="02020603050405020304" pitchFamily="18" charset="0"/>
              </a:rPr>
              <a:t>Nhận</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xét</a:t>
            </a:r>
            <a:r>
              <a:rPr lang="en-US" sz="1600" b="1" dirty="0">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dirty="0">
                <a:solidFill>
                  <a:prstClr val="black"/>
                </a:solidFill>
                <a:latin typeface="Times New Roman" panose="02020603050405020304" pitchFamily="18" charset="0"/>
                <a:cs typeface="Times New Roman" panose="02020603050405020304" pitchFamily="18" charset="0"/>
              </a:rPr>
              <a:t>Tình hình kỹ thuật đội bay </a:t>
            </a:r>
            <a:r>
              <a:rPr lang="en-US" sz="1600" dirty="0">
                <a:solidFill>
                  <a:prstClr val="black"/>
                </a:solidFill>
                <a:latin typeface="Times New Roman" panose="02020603050405020304" pitchFamily="18" charset="0"/>
                <a:cs typeface="Times New Roman" panose="02020603050405020304" pitchFamily="18" charset="0"/>
              </a:rPr>
              <a:t>B787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07 </a:t>
            </a:r>
            <a:r>
              <a:rPr lang="en-US" sz="1600" dirty="0" err="1">
                <a:solidFill>
                  <a:prstClr val="black"/>
                </a:solidFill>
                <a:latin typeface="Times New Roman" panose="02020603050405020304" pitchFamily="18" charset="0"/>
                <a:cs typeface="Times New Roman" panose="02020603050405020304" pitchFamily="18" charset="0"/>
              </a:rPr>
              <a:t>tốt</a:t>
            </a:r>
            <a:r>
              <a:rPr lang="en-US" sz="1600" dirty="0">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en-US" sz="1600" dirty="0" err="1">
                <a:solidFill>
                  <a:prstClr val="black"/>
                </a:solidFill>
                <a:latin typeface="Times New Roman" panose="02020603050405020304" pitchFamily="18" charset="0"/>
                <a:cs typeface="Times New Roman" panose="02020603050405020304" pitchFamily="18" charset="0"/>
              </a:rPr>
              <a:t>Hỏng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hóc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nổi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cộm</a:t>
            </a:r>
            <a:r>
              <a:rPr lang="en-US" sz="1600" dirty="0">
                <a:solidFill>
                  <a:prstClr val="black"/>
                </a:solidFill>
                <a:latin typeface="Times New Roman" panose="02020603050405020304" pitchFamily="18" charset="0"/>
                <a:cs typeface="Times New Roman" panose="02020603050405020304" pitchFamily="18" charset="0"/>
              </a:rPr>
              <a:t>: </a:t>
            </a:r>
          </a:p>
          <a:p>
            <a:pPr lvl="1" algn="just"/>
            <a:r>
              <a:rPr lang="en-SG" sz="1600" dirty="0">
                <a:solidFill>
                  <a:prstClr val="black"/>
                </a:solidFill>
                <a:latin typeface="Times New Roman" panose="02020603050405020304" pitchFamily="18" charset="0"/>
                <a:cs typeface="Times New Roman" panose="02020603050405020304" pitchFamily="18" charset="0"/>
              </a:rPr>
              <a:t>+ </a:t>
            </a:r>
            <a:r>
              <a:rPr lang="en-SG" sz="1600" dirty="0" smtClean="0">
                <a:solidFill>
                  <a:prstClr val="black"/>
                </a:solidFill>
                <a:latin typeface="Times New Roman" panose="02020603050405020304" pitchFamily="18" charset="0"/>
                <a:cs typeface="Times New Roman" panose="02020603050405020304" pitchFamily="18" charset="0"/>
              </a:rPr>
              <a:t>A870 </a:t>
            </a:r>
            <a:r>
              <a:rPr lang="en-SG" sz="1600" dirty="0" err="1">
                <a:solidFill>
                  <a:prstClr val="black"/>
                </a:solidFill>
                <a:latin typeface="Times New Roman" panose="02020603050405020304" pitchFamily="18" charset="0"/>
                <a:cs typeface="Times New Roman" panose="02020603050405020304" pitchFamily="18" charset="0"/>
              </a:rPr>
              <a:t>soi</a:t>
            </a:r>
            <a:r>
              <a:rPr lang="en-SG" sz="1600" dirty="0">
                <a:solidFill>
                  <a:prstClr val="black"/>
                </a:solidFill>
                <a:latin typeface="Times New Roman" panose="02020603050405020304" pitchFamily="18" charset="0"/>
                <a:cs typeface="Times New Roman" panose="02020603050405020304" pitchFamily="18" charset="0"/>
              </a:rPr>
              <a:t> HPT ENG2 (</a:t>
            </a:r>
            <a:r>
              <a:rPr lang="en-SG" sz="1600" dirty="0" err="1">
                <a:solidFill>
                  <a:prstClr val="black"/>
                </a:solidFill>
                <a:latin typeface="Times New Roman" panose="02020603050405020304" pitchFamily="18" charset="0"/>
                <a:cs typeface="Times New Roman" panose="02020603050405020304" pitchFamily="18" charset="0"/>
              </a:rPr>
              <a:t>tần</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suất</a:t>
            </a:r>
            <a:r>
              <a:rPr lang="en-SG" sz="1600" dirty="0">
                <a:solidFill>
                  <a:prstClr val="black"/>
                </a:solidFill>
                <a:latin typeface="Times New Roman" panose="02020603050405020304" pitchFamily="18" charset="0"/>
                <a:cs typeface="Times New Roman" panose="02020603050405020304" pitchFamily="18" charset="0"/>
              </a:rPr>
              <a:t> 100FC) </a:t>
            </a:r>
            <a:r>
              <a:rPr lang="en-SG" sz="1600" dirty="0" err="1">
                <a:solidFill>
                  <a:prstClr val="black"/>
                </a:solidFill>
                <a:latin typeface="Times New Roman" panose="02020603050405020304" pitchFamily="18" charset="0"/>
                <a:cs typeface="Times New Roman" panose="02020603050405020304" pitchFamily="18" charset="0"/>
              </a:rPr>
              <a:t>ngày</a:t>
            </a:r>
            <a:r>
              <a:rPr lang="en-SG" sz="1600" dirty="0">
                <a:solidFill>
                  <a:prstClr val="black"/>
                </a:solidFill>
                <a:latin typeface="Times New Roman" panose="02020603050405020304" pitchFamily="18" charset="0"/>
                <a:cs typeface="Times New Roman" panose="02020603050405020304" pitchFamily="18" charset="0"/>
              </a:rPr>
              <a:t> 15/02 </a:t>
            </a:r>
            <a:r>
              <a:rPr lang="en-SG" sz="1600" dirty="0" err="1">
                <a:solidFill>
                  <a:prstClr val="black"/>
                </a:solidFill>
                <a:latin typeface="Times New Roman" panose="02020603050405020304" pitchFamily="18" charset="0"/>
                <a:cs typeface="Times New Roman" panose="02020603050405020304" pitchFamily="18" charset="0"/>
              </a:rPr>
              <a:t>phát</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sinh</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hỏng</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hóc</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trên</a:t>
            </a:r>
            <a:r>
              <a:rPr lang="en-SG" sz="1600" dirty="0">
                <a:solidFill>
                  <a:prstClr val="black"/>
                </a:solidFill>
                <a:latin typeface="Times New Roman" panose="02020603050405020304" pitchFamily="18" charset="0"/>
                <a:cs typeface="Times New Roman" panose="02020603050405020304" pitchFamily="18" charset="0"/>
              </a:rPr>
              <a:t> T1 Blade </a:t>
            </a:r>
            <a:r>
              <a:rPr lang="en-SG" sz="1600" dirty="0" err="1">
                <a:solidFill>
                  <a:prstClr val="black"/>
                </a:solidFill>
                <a:latin typeface="Times New Roman" panose="02020603050405020304" pitchFamily="18" charset="0"/>
                <a:cs typeface="Times New Roman" panose="02020603050405020304" pitchFamily="18" charset="0"/>
              </a:rPr>
              <a:t>phải</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tháo</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trong</a:t>
            </a:r>
            <a:r>
              <a:rPr lang="en-SG" sz="1600" dirty="0">
                <a:solidFill>
                  <a:prstClr val="black"/>
                </a:solidFill>
                <a:latin typeface="Times New Roman" panose="02020603050405020304" pitchFamily="18" charset="0"/>
                <a:cs typeface="Times New Roman" panose="02020603050405020304" pitchFamily="18" charset="0"/>
              </a:rPr>
              <a:t> 25FC. </a:t>
            </a:r>
            <a:r>
              <a:rPr lang="en-SG" sz="1600" dirty="0" err="1">
                <a:solidFill>
                  <a:prstClr val="black"/>
                </a:solidFill>
                <a:latin typeface="Times New Roman" panose="02020603050405020304" pitchFamily="18" charset="0"/>
                <a:cs typeface="Times New Roman" panose="02020603050405020304" pitchFamily="18" charset="0"/>
              </a:rPr>
              <a:t>Động</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cơ</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dự</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phòng</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dự</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kiến</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về</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ngày</a:t>
            </a:r>
            <a:r>
              <a:rPr lang="en-SG" sz="1600" dirty="0">
                <a:solidFill>
                  <a:prstClr val="black"/>
                </a:solidFill>
                <a:latin typeface="Times New Roman" panose="02020603050405020304" pitchFamily="18" charset="0"/>
                <a:cs typeface="Times New Roman" panose="02020603050405020304" pitchFamily="18" charset="0"/>
              </a:rPr>
              <a:t> 26-28/02, </a:t>
            </a:r>
            <a:r>
              <a:rPr lang="en-SG" sz="1600" dirty="0" err="1">
                <a:solidFill>
                  <a:prstClr val="black"/>
                </a:solidFill>
                <a:latin typeface="Times New Roman" panose="02020603050405020304" pitchFamily="18" charset="0"/>
                <a:cs typeface="Times New Roman" panose="02020603050405020304" pitchFamily="18" charset="0"/>
              </a:rPr>
              <a:t>đang</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yêu</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cầu</a:t>
            </a:r>
            <a:r>
              <a:rPr lang="en-SG" sz="1600" dirty="0">
                <a:solidFill>
                  <a:prstClr val="black"/>
                </a:solidFill>
                <a:latin typeface="Times New Roman" panose="02020603050405020304" pitchFamily="18" charset="0"/>
                <a:cs typeface="Times New Roman" panose="02020603050405020304" pitchFamily="18" charset="0"/>
              </a:rPr>
              <a:t> OCC </a:t>
            </a:r>
            <a:r>
              <a:rPr lang="en-SG" sz="1600" dirty="0" err="1">
                <a:solidFill>
                  <a:prstClr val="black"/>
                </a:solidFill>
                <a:latin typeface="Times New Roman" panose="02020603050405020304" pitchFamily="18" charset="0"/>
                <a:cs typeface="Times New Roman" panose="02020603050405020304" pitchFamily="18" charset="0"/>
              </a:rPr>
              <a:t>hạn</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chế</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khai</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thác</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để</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bố</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trí</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thay</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động</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cơ</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Phối</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hợp</a:t>
            </a:r>
            <a:r>
              <a:rPr lang="en-SG" sz="1600" dirty="0">
                <a:solidFill>
                  <a:prstClr val="black"/>
                </a:solidFill>
                <a:latin typeface="Times New Roman" panose="02020603050405020304" pitchFamily="18" charset="0"/>
                <a:cs typeface="Times New Roman" panose="02020603050405020304" pitchFamily="18" charset="0"/>
              </a:rPr>
              <a:t> MPP, MCC </a:t>
            </a:r>
            <a:r>
              <a:rPr lang="en-SG" sz="1600" dirty="0" err="1">
                <a:solidFill>
                  <a:prstClr val="black"/>
                </a:solidFill>
                <a:latin typeface="Times New Roman" panose="02020603050405020304" pitchFamily="18" charset="0"/>
                <a:cs typeface="Times New Roman" panose="02020603050405020304" pitchFamily="18" charset="0"/>
              </a:rPr>
              <a:t>xem</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xét</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rút</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nội</a:t>
            </a:r>
            <a:r>
              <a:rPr lang="en-SG" sz="1600" dirty="0">
                <a:solidFill>
                  <a:prstClr val="black"/>
                </a:solidFill>
                <a:latin typeface="Times New Roman" panose="02020603050405020304" pitchFamily="18" charset="0"/>
                <a:cs typeface="Times New Roman" panose="02020603050405020304" pitchFamily="18" charset="0"/>
              </a:rPr>
              <a:t> dung C01 </a:t>
            </a:r>
            <a:r>
              <a:rPr lang="en-SG" sz="1600" dirty="0" err="1">
                <a:solidFill>
                  <a:prstClr val="black"/>
                </a:solidFill>
                <a:latin typeface="Times New Roman" panose="02020603050405020304" pitchFamily="18" charset="0"/>
                <a:cs typeface="Times New Roman" panose="02020603050405020304" pitchFamily="18" charset="0"/>
              </a:rPr>
              <a:t>của</a:t>
            </a:r>
            <a:r>
              <a:rPr lang="en-SG" sz="1600" dirty="0">
                <a:solidFill>
                  <a:prstClr val="black"/>
                </a:solidFill>
                <a:latin typeface="Times New Roman" panose="02020603050405020304" pitchFamily="18" charset="0"/>
                <a:cs typeface="Times New Roman" panose="02020603050405020304" pitchFamily="18" charset="0"/>
              </a:rPr>
              <a:t> A864, </a:t>
            </a:r>
            <a:r>
              <a:rPr lang="en-SG" sz="1600" dirty="0" err="1">
                <a:solidFill>
                  <a:prstClr val="black"/>
                </a:solidFill>
                <a:latin typeface="Times New Roman" panose="02020603050405020304" pitchFamily="18" charset="0"/>
                <a:cs typeface="Times New Roman" panose="02020603050405020304" pitchFamily="18" charset="0"/>
              </a:rPr>
              <a:t>chỉ</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thực</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hiện</a:t>
            </a:r>
            <a:r>
              <a:rPr lang="en-SG" sz="1600" dirty="0">
                <a:solidFill>
                  <a:prstClr val="black"/>
                </a:solidFill>
                <a:latin typeface="Times New Roman" panose="02020603050405020304" pitchFamily="18" charset="0"/>
                <a:cs typeface="Times New Roman" panose="02020603050405020304" pitchFamily="18" charset="0"/>
              </a:rPr>
              <a:t> A check </a:t>
            </a:r>
            <a:r>
              <a:rPr lang="en-SG" sz="1600" dirty="0" err="1">
                <a:solidFill>
                  <a:prstClr val="black"/>
                </a:solidFill>
                <a:latin typeface="Times New Roman" panose="02020603050405020304" pitchFamily="18" charset="0"/>
                <a:cs typeface="Times New Roman" panose="02020603050405020304" pitchFamily="18" charset="0"/>
              </a:rPr>
              <a:t>ngày</a:t>
            </a:r>
            <a:r>
              <a:rPr lang="en-SG" sz="1600" dirty="0">
                <a:solidFill>
                  <a:prstClr val="black"/>
                </a:solidFill>
                <a:latin typeface="Times New Roman" panose="02020603050405020304" pitchFamily="18" charset="0"/>
                <a:cs typeface="Times New Roman" panose="02020603050405020304" pitchFamily="18" charset="0"/>
              </a:rPr>
              <a:t> 23-24/02 </a:t>
            </a:r>
            <a:r>
              <a:rPr lang="en-SG" sz="1600" dirty="0" err="1">
                <a:solidFill>
                  <a:prstClr val="black"/>
                </a:solidFill>
                <a:latin typeface="Times New Roman" panose="02020603050405020304" pitchFamily="18" charset="0"/>
                <a:cs typeface="Times New Roman" panose="02020603050405020304" pitchFamily="18" charset="0"/>
              </a:rPr>
              <a:t>thay</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vì</a:t>
            </a:r>
            <a:r>
              <a:rPr lang="en-SG" sz="1600" dirty="0">
                <a:solidFill>
                  <a:prstClr val="black"/>
                </a:solidFill>
                <a:latin typeface="Times New Roman" panose="02020603050405020304" pitchFamily="18" charset="0"/>
                <a:cs typeface="Times New Roman" panose="02020603050405020304" pitchFamily="18" charset="0"/>
              </a:rPr>
              <a:t> KH 23-28/02 </a:t>
            </a:r>
            <a:r>
              <a:rPr lang="en-SG" sz="1600" dirty="0" err="1">
                <a:solidFill>
                  <a:prstClr val="black"/>
                </a:solidFill>
                <a:latin typeface="Times New Roman" panose="02020603050405020304" pitchFamily="18" charset="0"/>
                <a:cs typeface="Times New Roman" panose="02020603050405020304" pitchFamily="18" charset="0"/>
              </a:rPr>
              <a:t>để</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triển</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khai</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thay</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động</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cơ</a:t>
            </a:r>
            <a:r>
              <a:rPr lang="en-SG" sz="1600" dirty="0">
                <a:solidFill>
                  <a:prstClr val="black"/>
                </a:solidFill>
                <a:latin typeface="Times New Roman" panose="02020603050405020304" pitchFamily="18" charset="0"/>
                <a:cs typeface="Times New Roman" panose="02020603050405020304" pitchFamily="18" charset="0"/>
              </a:rPr>
              <a:t> A870 </a:t>
            </a:r>
            <a:r>
              <a:rPr lang="en-SG" sz="1600" dirty="0" err="1">
                <a:solidFill>
                  <a:prstClr val="black"/>
                </a:solidFill>
                <a:latin typeface="Times New Roman" panose="02020603050405020304" pitchFamily="18" charset="0"/>
                <a:cs typeface="Times New Roman" panose="02020603050405020304" pitchFamily="18" charset="0"/>
              </a:rPr>
              <a:t>từ</a:t>
            </a:r>
            <a:r>
              <a:rPr lang="en-SG" sz="1600" dirty="0">
                <a:solidFill>
                  <a:prstClr val="black"/>
                </a:solidFill>
                <a:latin typeface="Times New Roman" panose="02020603050405020304" pitchFamily="18" charset="0"/>
                <a:cs typeface="Times New Roman" panose="02020603050405020304" pitchFamily="18" charset="0"/>
              </a:rPr>
              <a:t> 25/02-02/03 </a:t>
            </a:r>
            <a:r>
              <a:rPr lang="en-SG" sz="1600" dirty="0" err="1">
                <a:solidFill>
                  <a:prstClr val="black"/>
                </a:solidFill>
                <a:latin typeface="Times New Roman" panose="02020603050405020304" pitchFamily="18" charset="0"/>
                <a:cs typeface="Times New Roman" panose="02020603050405020304" pitchFamily="18" charset="0"/>
              </a:rPr>
              <a:t>kết</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hợp</a:t>
            </a:r>
            <a:r>
              <a:rPr lang="en-SG" sz="1600" dirty="0">
                <a:solidFill>
                  <a:prstClr val="black"/>
                </a:solidFill>
                <a:latin typeface="Times New Roman" panose="02020603050405020304" pitchFamily="18" charset="0"/>
                <a:cs typeface="Times New Roman" panose="02020603050405020304" pitchFamily="18" charset="0"/>
              </a:rPr>
              <a:t> check A08).</a:t>
            </a:r>
          </a:p>
          <a:p>
            <a:pPr marL="609585" lvl="1" algn="just"/>
            <a:r>
              <a:rPr lang="en-SG" sz="1600" dirty="0" smtClean="0">
                <a:solidFill>
                  <a:prstClr val="black"/>
                </a:solidFill>
                <a:latin typeface="Times New Roman" panose="02020603050405020304" pitchFamily="18" charset="0"/>
                <a:cs typeface="Times New Roman" panose="02020603050405020304" pitchFamily="18" charset="0"/>
              </a:rPr>
              <a:t>+ </a:t>
            </a:r>
            <a:r>
              <a:rPr lang="en-SG" sz="1600" dirty="0">
                <a:solidFill>
                  <a:prstClr val="black"/>
                </a:solidFill>
                <a:latin typeface="Times New Roman" panose="02020603050405020304" pitchFamily="18" charset="0"/>
                <a:cs typeface="Times New Roman" panose="02020603050405020304" pitchFamily="18" charset="0"/>
              </a:rPr>
              <a:t>A873 APU INOP due to oil leak, </a:t>
            </a:r>
            <a:r>
              <a:rPr lang="en-SG" sz="1600" dirty="0" err="1">
                <a:solidFill>
                  <a:prstClr val="black"/>
                </a:solidFill>
                <a:latin typeface="Times New Roman" panose="02020603050405020304" pitchFamily="18" charset="0"/>
                <a:cs typeface="Times New Roman" panose="02020603050405020304" pitchFamily="18" charset="0"/>
              </a:rPr>
              <a:t>đã</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thay</a:t>
            </a:r>
            <a:r>
              <a:rPr lang="en-SG" sz="1600" dirty="0">
                <a:solidFill>
                  <a:prstClr val="black"/>
                </a:solidFill>
                <a:latin typeface="Times New Roman" panose="02020603050405020304" pitchFamily="18" charset="0"/>
                <a:cs typeface="Times New Roman" panose="02020603050405020304" pitchFamily="18" charset="0"/>
              </a:rPr>
              <a:t> APU </a:t>
            </a:r>
            <a:r>
              <a:rPr lang="en-SG" sz="1600" dirty="0" err="1">
                <a:solidFill>
                  <a:prstClr val="black"/>
                </a:solidFill>
                <a:latin typeface="Times New Roman" panose="02020603050405020304" pitchFamily="18" charset="0"/>
                <a:cs typeface="Times New Roman" panose="02020603050405020304" pitchFamily="18" charset="0"/>
              </a:rPr>
              <a:t>khắc</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phục</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ngày</a:t>
            </a:r>
            <a:r>
              <a:rPr lang="en-SG" sz="1600" dirty="0">
                <a:solidFill>
                  <a:prstClr val="black"/>
                </a:solidFill>
                <a:latin typeface="Times New Roman" panose="02020603050405020304" pitchFamily="18" charset="0"/>
                <a:cs typeface="Times New Roman" panose="02020603050405020304" pitchFamily="18" charset="0"/>
              </a:rPr>
              <a:t> 15/02.</a:t>
            </a:r>
            <a:endParaRPr lang="en-SG" sz="16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1446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A476C5B5-892D-948C-6A62-5F0A81B70EE9}"/>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1270B0ED-F204-41B3-2E66-DD5670BD262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DA890C71-1523-DF69-F2F4-F1A43D90FFFF}"/>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xmlns="" id="{DA2E25CF-F09B-0F7D-8BE1-4832D15B9FCD}"/>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xmlns="" id="{861D9ECE-5420-4C7C-5994-BC6CB7BCF3FC}"/>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8" name="Table 7">
            <a:extLst>
              <a:ext uri="{FF2B5EF4-FFF2-40B4-BE49-F238E27FC236}">
                <a16:creationId xmlns:a16="http://schemas.microsoft.com/office/drawing/2014/main" xmlns="" id="{A8AA4BD9-FDEC-2CC2-1A85-C72F397A4621}"/>
              </a:ext>
            </a:extLst>
          </p:cNvPr>
          <p:cNvGraphicFramePr>
            <a:graphicFrameLocks noGrp="1"/>
          </p:cNvGraphicFramePr>
          <p:nvPr>
            <p:extLst>
              <p:ext uri="{D42A27DB-BD31-4B8C-83A1-F6EECF244321}">
                <p14:modId xmlns:p14="http://schemas.microsoft.com/office/powerpoint/2010/main" val="521832890"/>
              </p:ext>
            </p:extLst>
          </p:nvPr>
        </p:nvGraphicFramePr>
        <p:xfrm>
          <a:off x="170509" y="1553215"/>
          <a:ext cx="11670607" cy="5378461"/>
        </p:xfrm>
        <a:graphic>
          <a:graphicData uri="http://schemas.openxmlformats.org/drawingml/2006/table">
            <a:tbl>
              <a:tblPr/>
              <a:tblGrid>
                <a:gridCol w="348885">
                  <a:extLst>
                    <a:ext uri="{9D8B030D-6E8A-4147-A177-3AD203B41FA5}">
                      <a16:colId xmlns:a16="http://schemas.microsoft.com/office/drawing/2014/main" xmlns="" val="435942644"/>
                    </a:ext>
                  </a:extLst>
                </a:gridCol>
                <a:gridCol w="836821"/>
                <a:gridCol w="836821">
                  <a:extLst>
                    <a:ext uri="{9D8B030D-6E8A-4147-A177-3AD203B41FA5}">
                      <a16:colId xmlns:a16="http://schemas.microsoft.com/office/drawing/2014/main" xmlns="" val="276862112"/>
                    </a:ext>
                  </a:extLst>
                </a:gridCol>
                <a:gridCol w="778098">
                  <a:extLst>
                    <a:ext uri="{9D8B030D-6E8A-4147-A177-3AD203B41FA5}">
                      <a16:colId xmlns:a16="http://schemas.microsoft.com/office/drawing/2014/main" xmlns="" val="2191467762"/>
                    </a:ext>
                  </a:extLst>
                </a:gridCol>
                <a:gridCol w="424417">
                  <a:extLst>
                    <a:ext uri="{9D8B030D-6E8A-4147-A177-3AD203B41FA5}">
                      <a16:colId xmlns:a16="http://schemas.microsoft.com/office/drawing/2014/main" xmlns="" val="2342651692"/>
                    </a:ext>
                  </a:extLst>
                </a:gridCol>
                <a:gridCol w="1556197">
                  <a:extLst>
                    <a:ext uri="{9D8B030D-6E8A-4147-A177-3AD203B41FA5}">
                      <a16:colId xmlns:a16="http://schemas.microsoft.com/office/drawing/2014/main" xmlns="" val="3654957790"/>
                    </a:ext>
                  </a:extLst>
                </a:gridCol>
                <a:gridCol w="1556197">
                  <a:extLst>
                    <a:ext uri="{9D8B030D-6E8A-4147-A177-3AD203B41FA5}">
                      <a16:colId xmlns:a16="http://schemas.microsoft.com/office/drawing/2014/main" xmlns="" val="3278939196"/>
                    </a:ext>
                  </a:extLst>
                </a:gridCol>
                <a:gridCol w="636626">
                  <a:extLst>
                    <a:ext uri="{9D8B030D-6E8A-4147-A177-3AD203B41FA5}">
                      <a16:colId xmlns:a16="http://schemas.microsoft.com/office/drawing/2014/main" xmlns="" val="3446310582"/>
                    </a:ext>
                  </a:extLst>
                </a:gridCol>
                <a:gridCol w="4696545">
                  <a:extLst>
                    <a:ext uri="{9D8B030D-6E8A-4147-A177-3AD203B41FA5}">
                      <a16:colId xmlns:a16="http://schemas.microsoft.com/office/drawing/2014/main" xmlns="" val="1400684824"/>
                    </a:ext>
                  </a:extLst>
                </a:gridCol>
              </a:tblGrid>
              <a:tr h="129110">
                <a:tc>
                  <a:txBody>
                    <a:bodyPr/>
                    <a:lstStyle/>
                    <a:p>
                      <a:pPr algn="ctr" fontAlgn="ctr"/>
                      <a:r>
                        <a:rPr lang="en-US" sz="1100" b="0" i="0" u="none" strike="noStrike" dirty="0">
                          <a:solidFill>
                            <a:srgbClr val="000000"/>
                          </a:solidFill>
                          <a:effectLst/>
                          <a:latin typeface="Times New Roman" panose="02020603050405020304" pitchFamily="18" charset="0"/>
                        </a:rPr>
                        <a:t>A/C</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smtClean="0">
                          <a:solidFill>
                            <a:srgbClr val="000000"/>
                          </a:solidFill>
                          <a:effectLst/>
                          <a:latin typeface="Times New Roman" panose="02020603050405020304" pitchFamily="18" charset="0"/>
                        </a:rPr>
                        <a:t>Status</a:t>
                      </a:r>
                      <a:endParaRPr lang="en-US" sz="1100" b="0" i="0" u="none" strike="noStrike" dirty="0">
                        <a:solidFill>
                          <a:srgbClr val="000000"/>
                        </a:solidFill>
                        <a:effectLst/>
                        <a:latin typeface="Times New Roman" panose="02020603050405020304" pitchFamily="18" charset="0"/>
                      </a:endParaRP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rPr>
                        <a:t>OPEN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CLOSED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STA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DEFECT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ACTION</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ATA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Engineering Assessment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394249764"/>
                  </a:ext>
                </a:extLst>
              </a:tr>
              <a:tr h="2643584">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B223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dirty="0" smtClean="0">
                          <a:solidFill>
                            <a:srgbClr val="000000"/>
                          </a:solidFill>
                          <a:effectLst/>
                          <a:latin typeface="Times New Roman" panose="02020603050405020304" pitchFamily="18" charset="0"/>
                          <a:cs typeface="Times New Roman" panose="02020603050405020304" pitchFamily="18" charset="0"/>
                        </a:rPr>
                        <a:t>DELAY, AOG</a:t>
                      </a: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dirty="0">
                          <a:solidFill>
                            <a:srgbClr val="000000"/>
                          </a:solidFill>
                          <a:effectLst/>
                          <a:latin typeface="Times New Roman" panose="02020603050405020304" pitchFamily="18" charset="0"/>
                          <a:cs typeface="Times New Roman" panose="02020603050405020304" pitchFamily="18" charset="0"/>
                        </a:rPr>
                        <a:t>09:00 16/02/2025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11:15 16/02/2025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B223 GTB/MOR DUE TO TAKE OFF CONFIG "FLT CTL"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000" b="0" i="0" u="none" strike="noStrike">
                          <a:solidFill>
                            <a:srgbClr val="000000"/>
                          </a:solidFill>
                          <a:effectLst/>
                          <a:latin typeface="Times New Roman" panose="02020603050405020304" pitchFamily="18" charset="0"/>
                          <a:cs typeface="Times New Roman" panose="02020603050405020304" pitchFamily="18" charset="0"/>
                        </a:rPr>
                        <a:t>- 01:30 CAPT INFORMED VIA VHF: A/C REJECT TAKE OFF AND RETURN TO GATE DUE TO TAKE OFF CONFIG (CHẠY ĐÀ ĐƯỢC CHÚT)</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- 02:00 BÁO AOG  ĐỔI TÀU, XIN TẠM DỪNG TỚI 12H</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- 02:30 OCC ĐỔI B225 BAY VN1893/NETD 12:05LT THAY B223, B223 ĐỔI BAY VN1859/STD 12:05LT</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- 03:45 T/S PHÁT HIỆN SAI LỆCH GIỮA CHỈ THỊ ĐỒNG HỒ  MÁY TÍNH HỆ THỐNG PITCH TRIM. NGHI NGỜ PITCH TRIM INDICATOR. FOUND CONNECTOR 2CT TRIM INDICATOR DIRTY</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- 04:15 FINAL ACTION: C/O CLEAN 2CT CONNECTOR. C/O TAKE OFF CONFIG TEST CHECK SATIS. A/C SERVICEABLE TAKE OFF CONFIG "FLT CTL"  TOTAL DELAY: 238 MINS. TECH DELAY: 165 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000" b="0" i="0" u="none" strike="noStrike">
                          <a:solidFill>
                            <a:srgbClr val="000000"/>
                          </a:solidFill>
                          <a:effectLst/>
                          <a:latin typeface="Times New Roman" panose="02020603050405020304" pitchFamily="18" charset="0"/>
                          <a:cs typeface="Times New Roman" panose="02020603050405020304" pitchFamily="18" charset="0"/>
                        </a:rPr>
                        <a:t>Hỏng hóc "TO CONFIG" chỉ xảy ra trên B223. Hỏng hóc lặp lại nhiều lần nhưng khó troubleshooting, gây ra các lần gián đoạn khai thác:</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- 09/Dec/2024- GTB</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- 20/Dec/2025- GTB</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- 04/Jan/2025 - GTB</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- 16/Feb/2025- RTO</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Có 4 nguyên nhân có khả năng gây ra hỏng hóc này:</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♦pitch trim is out of take-off range (green arc),</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♦flaps are not at take-off position (15°),</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♦a TLU is in HI SPD position (LO SPEED extinguished),</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♦aileron spring tab is locked (ail lock illuminated on pedestal).</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Với trường hợp bị RTO ngày 16/Feb/2025, </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CRS phát hiện khi vị trí  Pitch trim nằm trong dải green band từ 1.3 đến 2.5 nhưng cảnh báo vẫn CONFIG xuất hiện, giá trị giữa đồng hồ chỉ vị và giá trị trên máy tính bị sai lệch. </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Trước đó, tối ngày 15/Feb/2025, VAECO thực hiện thay Pitch trim indicator =&gt; nghi ngờ thiết bị trong kho bị lỗi, gây ra sai chỉ thị.</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Với hỏng hóc TO CONFIG trên B223, đã thực hiện thay nhiều thiết bị liên quan, và kiểm tra, đo dây nhưng vẫn chưa phát hiện được nguyên nhân, vẫn đang làm việc với ATR để tìm nguyên nhân</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Đồng hồ trong kho lắp lên P/N 4863-503-80-10, S/N 738 được Ban QLVT mua từ 04/2017 của một hãng khác, </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Theo SFR trước khi mua thì khối này đã khai thác được 31,461 FC và 32,495 FH. được gửi đi sửa do lỗi chỉ thi của Rudder bị sai lệch.</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Sau khi mua về 20/Aug/2018, lắp lên cho B225.</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Ngày 18/Nov/2018, khai thác được trên B225 đc 467 FC, 334 FH thì phải tháo xuống đi sửa chữa. theo SFR thì nguyên nhân do lỗi chỉ thị của Rudder và Trim position bị sai lệch</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Sau khi đi sửa chữa về thì lưu kho đến bây giờ và lắp lên B223 hôm qua thì phát hiện lỗi.</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=&gt; Như vậy, khối indicator trong kho được mua cũ từ 2017, khai thác rất cao giờ, và có lịch sử bị sai lỗi chỉ thị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867600614"/>
                  </a:ext>
                </a:extLst>
              </a:tr>
            </a:tbl>
          </a:graphicData>
        </a:graphic>
      </p:graphicFrame>
    </p:spTree>
    <p:extLst>
      <p:ext uri="{BB962C8B-B14F-4D97-AF65-F5344CB8AC3E}">
        <p14:creationId xmlns:p14="http://schemas.microsoft.com/office/powerpoint/2010/main" val="11365415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ATR72</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D6315A99-7C22-BCBB-51AE-B39776276C50}"/>
              </a:ext>
            </a:extLst>
          </p:cNvPr>
          <p:cNvSpPr txBox="1"/>
          <p:nvPr/>
        </p:nvSpPr>
        <p:spPr>
          <a:xfrm>
            <a:off x="457199" y="974924"/>
            <a:ext cx="11383915" cy="33855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xmlns="" id="{6F27D0E6-6319-F9BB-EBF8-9A0BC977766E}"/>
              </a:ext>
            </a:extLst>
          </p:cNvPr>
          <p:cNvSpPr txBox="1"/>
          <p:nvPr/>
        </p:nvSpPr>
        <p:spPr>
          <a:xfrm>
            <a:off x="457200" y="1447800"/>
            <a:ext cx="11360150" cy="33855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xmlns="" id="{92666C20-307F-48D4-06E3-46E4784DF667}"/>
              </a:ext>
            </a:extLst>
          </p:cNvPr>
          <p:cNvGraphicFramePr>
            <a:graphicFrameLocks noGrp="1"/>
          </p:cNvGraphicFramePr>
          <p:nvPr>
            <p:extLst/>
          </p:nvPr>
        </p:nvGraphicFramePr>
        <p:xfrm>
          <a:off x="457199" y="1923818"/>
          <a:ext cx="11360150" cy="3871445"/>
        </p:xfrm>
        <a:graphic>
          <a:graphicData uri="http://schemas.openxmlformats.org/drawingml/2006/table">
            <a:tbl>
              <a:tblPr/>
              <a:tblGrid>
                <a:gridCol w="381001">
                  <a:extLst>
                    <a:ext uri="{9D8B030D-6E8A-4147-A177-3AD203B41FA5}">
                      <a16:colId xmlns:a16="http://schemas.microsoft.com/office/drawing/2014/main" xmlns="" val="2102544248"/>
                    </a:ext>
                  </a:extLst>
                </a:gridCol>
                <a:gridCol w="685800">
                  <a:extLst>
                    <a:ext uri="{9D8B030D-6E8A-4147-A177-3AD203B41FA5}">
                      <a16:colId xmlns:a16="http://schemas.microsoft.com/office/drawing/2014/main" xmlns="" val="1963927053"/>
                    </a:ext>
                  </a:extLst>
                </a:gridCol>
                <a:gridCol w="304800">
                  <a:extLst>
                    <a:ext uri="{9D8B030D-6E8A-4147-A177-3AD203B41FA5}">
                      <a16:colId xmlns:a16="http://schemas.microsoft.com/office/drawing/2014/main" xmlns="" val="3840043019"/>
                    </a:ext>
                  </a:extLst>
                </a:gridCol>
                <a:gridCol w="685800">
                  <a:extLst>
                    <a:ext uri="{9D8B030D-6E8A-4147-A177-3AD203B41FA5}">
                      <a16:colId xmlns:a16="http://schemas.microsoft.com/office/drawing/2014/main" xmlns="" val="3600809505"/>
                    </a:ext>
                  </a:extLst>
                </a:gridCol>
                <a:gridCol w="609600">
                  <a:extLst>
                    <a:ext uri="{9D8B030D-6E8A-4147-A177-3AD203B41FA5}">
                      <a16:colId xmlns:a16="http://schemas.microsoft.com/office/drawing/2014/main" xmlns="" val="3227864369"/>
                    </a:ext>
                  </a:extLst>
                </a:gridCol>
                <a:gridCol w="762000">
                  <a:extLst>
                    <a:ext uri="{9D8B030D-6E8A-4147-A177-3AD203B41FA5}">
                      <a16:colId xmlns:a16="http://schemas.microsoft.com/office/drawing/2014/main" xmlns="" val="82454695"/>
                    </a:ext>
                  </a:extLst>
                </a:gridCol>
                <a:gridCol w="1295400">
                  <a:extLst>
                    <a:ext uri="{9D8B030D-6E8A-4147-A177-3AD203B41FA5}">
                      <a16:colId xmlns:a16="http://schemas.microsoft.com/office/drawing/2014/main" xmlns="" val="879352902"/>
                    </a:ext>
                  </a:extLst>
                </a:gridCol>
                <a:gridCol w="3200400">
                  <a:extLst>
                    <a:ext uri="{9D8B030D-6E8A-4147-A177-3AD203B41FA5}">
                      <a16:colId xmlns:a16="http://schemas.microsoft.com/office/drawing/2014/main" xmlns="" val="354175309"/>
                    </a:ext>
                  </a:extLst>
                </a:gridCol>
                <a:gridCol w="383368">
                  <a:extLst>
                    <a:ext uri="{9D8B030D-6E8A-4147-A177-3AD203B41FA5}">
                      <a16:colId xmlns:a16="http://schemas.microsoft.com/office/drawing/2014/main" xmlns="" val="503895615"/>
                    </a:ext>
                  </a:extLst>
                </a:gridCol>
                <a:gridCol w="3051981">
                  <a:extLst>
                    <a:ext uri="{9D8B030D-6E8A-4147-A177-3AD203B41FA5}">
                      <a16:colId xmlns:a16="http://schemas.microsoft.com/office/drawing/2014/main" xmlns="" val="817022626"/>
                    </a:ext>
                  </a:extLst>
                </a:gridCol>
              </a:tblGrid>
              <a:tr h="676760">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DELAY MINUTES</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ROUTINE</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261" marR="3261" marT="32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1307967990"/>
                  </a:ext>
                </a:extLst>
              </a:tr>
              <a:tr h="1079551">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B223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09:20 15/02/2025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VN1857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SGN-VCS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B223+GTB+AHRS 1 LOSS SIGNAL DURING TAXI CAPT CALL VHF : A/C HAS DEFFECT: AHRS 1 LOSS SIGNAL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- 09:05: TÀU ĐÓNG CỬA VÀ ĐẨY LẦN 1</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- 09:15: DURING ON TAXI WAY CAPT CALL VHF : INFORM A/C HAS DEFFECT: AHRS LOSS SIGNAL. CAPT DECIDED A/C GTB AT PARKING 06.</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- 09:25: CRS B CÓ MẶT TẠI BÃI ĐÓN TÀU</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- 09:30: TÀU VÀO BÃI SỐ 6</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- 09:50: THAY XONG MÁY TÍNH AHRU 1 , BÁO TÀU SER</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- 09:55: TÀU ĐÓNG CỬA VÀ ĐẨY LẦN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2</a:t>
                      </a: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FINAL ACTION: C/O RPLD AHRU#1 , OPS TEST SATIS, A/C SERVICEABLE. AHRS 1 LOSS SIGNAL A/C GTB EVENT CLOSED FINAL ACTION: C/O RPLD AHRU#1 , OPS TEST SATIS, A/C SERVICEABLE. DURING TAXI CAPT CALL VHF : A/C HAS DEFFECT: AHRS 1 LOSS SIGNALDURING TAXI CAPT CALL VHF : A/C HAS: DEFFECT: AHRS 1 LOSS SIGNAL</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A/C TOTAL DELAY: 50mins, TECH: 20mins.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34-21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AHRU#1 PN 7003360-946, SN 09085259 là khối on-wing từ 2009, chưa gửi đi sửa lần nào (TSN 24519).</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Theo thống kê ĐTC, từ 2020 đến nay hỏng 9 lần (4 lần 2020, 1 lần 2021, 3 lần 2022, 1 lần 2025), độ tin cậy của khối tương đối tốt, các lần hỏng hóc gần đây nguyên nhân do khối khai thác lâu ngày, dẫn đến linh kiện hao mòn cần thay thế, hiệu chỉnh hoặc thiết bị bị contaminated by external liquid.</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Theo báo cáo từ VAECO, tàu vẫn nháy lại hỏng hóc sau khi bay 04 leg từ khi thay thế AHRU#1 =&gt;Hỏng hóc còn có thể liên quan đến wiring hoặc connector liên quan đến AHRU #1 (rung lắc khi taxi hoặc lúc cất hạ cánh có thể sẽ xuất hiện hỏng hóc). VAECO đã kiểm tra nguồn cấp AHRU, kết qủa tốt, tiếp tục theo dõi.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273246091"/>
                  </a:ext>
                </a:extLst>
              </a:tr>
            </a:tbl>
          </a:graphicData>
        </a:graphic>
      </p:graphicFrame>
    </p:spTree>
    <p:extLst>
      <p:ext uri="{BB962C8B-B14F-4D97-AF65-F5344CB8AC3E}">
        <p14:creationId xmlns:p14="http://schemas.microsoft.com/office/powerpoint/2010/main" val="1881265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20</a:t>
            </a:fld>
            <a:endParaRPr lang="en-US"/>
          </a:p>
        </p:txBody>
      </p:sp>
      <p:sp>
        <p:nvSpPr>
          <p:cNvPr id="5" name="Title 4"/>
          <p:cNvSpPr>
            <a:spLocks noGrp="1"/>
          </p:cNvSpPr>
          <p:nvPr>
            <p:ph type="title"/>
          </p:nvPr>
        </p:nvSpPr>
        <p:spPr>
          <a:xfrm>
            <a:off x="381000" y="76200"/>
            <a:ext cx="11277600" cy="815200"/>
          </a:xfrm>
        </p:spPr>
        <p:txBody>
          <a:bodyPr>
            <a:normAutofit/>
          </a:bodyPr>
          <a:lstStyle/>
          <a:p>
            <a:r>
              <a:rPr lang="en-US" sz="2800" dirty="0">
                <a:ln w="0"/>
                <a:solidFill>
                  <a:srgbClr val="FFC000"/>
                </a:solidFill>
                <a:latin typeface="Times New Roman" panose="02020603050405020304" pitchFamily="18" charset="0"/>
                <a:cs typeface="Times New Roman" panose="02020603050405020304" pitchFamily="18" charset="0"/>
              </a:rPr>
              <a:t>B223-GTB </a:t>
            </a:r>
            <a:r>
              <a:rPr lang="en-US" dirty="0">
                <a:ln w="0"/>
                <a:solidFill>
                  <a:srgbClr val="FFC000"/>
                </a:solidFill>
                <a:latin typeface="Times New Roman" panose="02020603050405020304" pitchFamily="18" charset="0"/>
                <a:cs typeface="Times New Roman" panose="02020603050405020304" pitchFamily="18" charset="0"/>
              </a:rPr>
              <a:t>due to </a:t>
            </a:r>
            <a:r>
              <a:rPr lang="en-US" dirty="0" err="1">
                <a:ln w="0"/>
                <a:solidFill>
                  <a:srgbClr val="FF0000"/>
                </a:solidFill>
                <a:latin typeface="Times New Roman" panose="02020603050405020304" pitchFamily="18" charset="0"/>
                <a:cs typeface="Times New Roman" panose="02020603050405020304" pitchFamily="18" charset="0"/>
              </a:rPr>
              <a:t>TO</a:t>
            </a:r>
            <a:r>
              <a:rPr lang="en-US" dirty="0">
                <a:ln w="0"/>
                <a:solidFill>
                  <a:srgbClr val="FF0000"/>
                </a:solidFill>
                <a:latin typeface="Times New Roman" panose="02020603050405020304" pitchFamily="18" charset="0"/>
                <a:cs typeface="Times New Roman" panose="02020603050405020304" pitchFamily="18" charset="0"/>
              </a:rPr>
              <a:t> CONFIG</a:t>
            </a:r>
            <a:endParaRPr lang="vi-VN" sz="2800" dirty="0">
              <a:ln w="0"/>
              <a:solidFill>
                <a:srgbClr val="FF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BDC0E96D-68E0-8586-2D38-AA83269AAE71}"/>
              </a:ext>
            </a:extLst>
          </p:cNvPr>
          <p:cNvSpPr txBox="1"/>
          <p:nvPr/>
        </p:nvSpPr>
        <p:spPr>
          <a:xfrm>
            <a:off x="381001" y="685221"/>
            <a:ext cx="7890544" cy="1231106"/>
          </a:xfrm>
          <a:prstGeom prst="rect">
            <a:avLst/>
          </a:prstGeom>
          <a:noFill/>
        </p:spPr>
        <p:txBody>
          <a:bodyPr wrap="square" rtlCol="0">
            <a:spAutoFit/>
          </a:bodyPr>
          <a:lstStyle/>
          <a:p>
            <a:pPr marL="285750" indent="-285750">
              <a:buFont typeface="Wingdings" panose="05000000000000000000" pitchFamily="2" charset="2"/>
              <a:buChar char="q"/>
            </a:pPr>
            <a:r>
              <a:rPr lang="vi-VN" b="1" dirty="0">
                <a:solidFill>
                  <a:srgbClr val="7030A0"/>
                </a:solidFill>
                <a:latin typeface="+mj-lt"/>
              </a:rPr>
              <a:t>Đánh giá: </a:t>
            </a:r>
          </a:p>
          <a:p>
            <a:r>
              <a:rPr lang="vi-VN" sz="1400" dirty="0">
                <a:latin typeface="+mj-lt"/>
              </a:rPr>
              <a:t>Hỏng hóc "TO CONFIG" chỉ xảy ra trên B223</a:t>
            </a:r>
            <a:r>
              <a:rPr lang="en-US" sz="1400" dirty="0">
                <a:latin typeface="+mj-lt"/>
              </a:rPr>
              <a:t>. </a:t>
            </a:r>
            <a:r>
              <a:rPr lang="vi-VN" sz="1400" dirty="0">
                <a:latin typeface="+mj-lt"/>
              </a:rPr>
              <a:t>Hỏng hóc lặp lại nhiều lần nhưng khó troubleshooting</a:t>
            </a:r>
            <a:r>
              <a:rPr lang="en-US" sz="1400" dirty="0">
                <a:latin typeface="+mj-lt"/>
              </a:rPr>
              <a: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gây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ra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các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lần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gián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đoạn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khai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thác</a:t>
            </a:r>
            <a:r>
              <a:rPr lang="en-US" sz="14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09/Dec/2024- GTB</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20/Dec/2025- GTB</a:t>
            </a:r>
          </a:p>
        </p:txBody>
      </p:sp>
      <p:sp>
        <p:nvSpPr>
          <p:cNvPr id="10" name="Rectangle 9">
            <a:extLst>
              <a:ext uri="{FF2B5EF4-FFF2-40B4-BE49-F238E27FC236}">
                <a16:creationId xmlns:a16="http://schemas.microsoft.com/office/drawing/2014/main" xmlns="" id="{AC7B7B7E-974B-1768-DBD0-3EAA91BE4E97}"/>
              </a:ext>
            </a:extLst>
          </p:cNvPr>
          <p:cNvSpPr/>
          <p:nvPr/>
        </p:nvSpPr>
        <p:spPr>
          <a:xfrm>
            <a:off x="381000" y="6078789"/>
            <a:ext cx="10558946" cy="553998"/>
          </a:xfrm>
          <a:prstGeom prst="rect">
            <a:avLst/>
          </a:prstGeom>
        </p:spPr>
        <p:txBody>
          <a:bodyPr wrap="square">
            <a:spAutoFit/>
          </a:bodyPr>
          <a:lstStyle/>
          <a:p>
            <a:pPr marL="285750" indent="-285750">
              <a:buFont typeface="Wingdings" panose="05000000000000000000" pitchFamily="2" charset="2"/>
              <a:buChar char="q"/>
            </a:pPr>
            <a:r>
              <a:rPr lang="vi-VN" sz="1600" b="1" dirty="0">
                <a:solidFill>
                  <a:srgbClr val="7030A0"/>
                </a:solidFill>
                <a:latin typeface="+mj-lt"/>
              </a:rPr>
              <a:t> Kết luận: </a:t>
            </a:r>
            <a:endParaRPr lang="en-US" sz="1600" b="1" dirty="0">
              <a:solidFill>
                <a:srgbClr val="7030A0"/>
              </a:solidFill>
              <a:latin typeface="+mj-lt"/>
            </a:endParaRPr>
          </a:p>
          <a:p>
            <a:pPr marL="742950" lvl="1" indent="-285750">
              <a:buFont typeface="Wingdings" panose="05000000000000000000" pitchFamily="2" charset="2"/>
              <a:buChar char="§"/>
            </a:pPr>
            <a:r>
              <a:rPr lang="vi-VN" sz="1400" dirty="0">
                <a:solidFill>
                  <a:srgbClr val="121111"/>
                </a:solidFill>
                <a:latin typeface="+mj-lt"/>
              </a:rPr>
              <a:t>Đây là hỏng hóc đơn lẻ, chỉ xảy ra trên B22</a:t>
            </a:r>
            <a:r>
              <a:rPr lang="en-US" sz="1400" dirty="0">
                <a:solidFill>
                  <a:srgbClr val="121111"/>
                </a:solidFill>
                <a:latin typeface="Times New Roman" panose="02020603050405020304" pitchFamily="18" charset="0"/>
                <a:cs typeface="Times New Roman" panose="02020603050405020304" pitchFamily="18" charset="0"/>
              </a:rPr>
              <a:t>3, </a:t>
            </a:r>
            <a:r>
              <a:rPr lang="en-US" sz="1400" dirty="0" err="1">
                <a:solidFill>
                  <a:srgbClr val="121111"/>
                </a:solidFill>
                <a:latin typeface="Times New Roman" panose="02020603050405020304" pitchFamily="18" charset="0"/>
                <a:cs typeface="Times New Roman" panose="02020603050405020304" pitchFamily="18" charset="0"/>
              </a:rPr>
              <a:t>vẫn</a:t>
            </a:r>
            <a:r>
              <a:rPr lang="en-US" sz="1400" dirty="0">
                <a:solidFill>
                  <a:srgbClr val="121111"/>
                </a:solidFill>
                <a:latin typeface="Times New Roman" panose="02020603050405020304" pitchFamily="18" charset="0"/>
                <a:cs typeface="Times New Roman" panose="02020603050405020304" pitchFamily="18" charset="0"/>
              </a:rPr>
              <a:t> </a:t>
            </a:r>
            <a:r>
              <a:rPr lang="en-US" sz="1400" dirty="0" err="1">
                <a:solidFill>
                  <a:srgbClr val="121111"/>
                </a:solidFill>
                <a:latin typeface="Times New Roman" panose="02020603050405020304" pitchFamily="18" charset="0"/>
                <a:cs typeface="Times New Roman" panose="02020603050405020304" pitchFamily="18" charset="0"/>
              </a:rPr>
              <a:t>đang</a:t>
            </a:r>
            <a:r>
              <a:rPr lang="en-US" sz="1400" dirty="0">
                <a:solidFill>
                  <a:srgbClr val="121111"/>
                </a:solidFill>
                <a:latin typeface="Times New Roman" panose="02020603050405020304" pitchFamily="18" charset="0"/>
                <a:cs typeface="Times New Roman" panose="02020603050405020304" pitchFamily="18" charset="0"/>
              </a:rPr>
              <a:t> </a:t>
            </a:r>
            <a:r>
              <a:rPr lang="en-US" sz="1400" dirty="0" err="1">
                <a:solidFill>
                  <a:srgbClr val="121111"/>
                </a:solidFill>
                <a:latin typeface="Times New Roman" panose="02020603050405020304" pitchFamily="18" charset="0"/>
                <a:cs typeface="Times New Roman" panose="02020603050405020304" pitchFamily="18" charset="0"/>
              </a:rPr>
              <a:t>tiếp</a:t>
            </a:r>
            <a:r>
              <a:rPr lang="en-US" sz="1400" dirty="0">
                <a:solidFill>
                  <a:srgbClr val="121111"/>
                </a:solidFill>
                <a:latin typeface="Times New Roman" panose="02020603050405020304" pitchFamily="18" charset="0"/>
                <a:cs typeface="Times New Roman" panose="02020603050405020304" pitchFamily="18" charset="0"/>
              </a:rPr>
              <a:t> </a:t>
            </a:r>
            <a:r>
              <a:rPr lang="en-US" sz="1400" dirty="0" err="1">
                <a:solidFill>
                  <a:srgbClr val="121111"/>
                </a:solidFill>
                <a:latin typeface="Times New Roman" panose="02020603050405020304" pitchFamily="18" charset="0"/>
                <a:cs typeface="Times New Roman" panose="02020603050405020304" pitchFamily="18" charset="0"/>
              </a:rPr>
              <a:t>tục</a:t>
            </a:r>
            <a:r>
              <a:rPr lang="en-US" sz="1400" dirty="0">
                <a:solidFill>
                  <a:srgbClr val="121111"/>
                </a:solidFill>
                <a:latin typeface="Times New Roman" panose="02020603050405020304" pitchFamily="18" charset="0"/>
                <a:cs typeface="Times New Roman" panose="02020603050405020304" pitchFamily="18" charset="0"/>
              </a:rPr>
              <a:t> </a:t>
            </a:r>
            <a:r>
              <a:rPr lang="en-US" sz="1400" dirty="0" err="1">
                <a:solidFill>
                  <a:srgbClr val="121111"/>
                </a:solidFill>
                <a:latin typeface="Times New Roman" panose="02020603050405020304" pitchFamily="18" charset="0"/>
                <a:cs typeface="Times New Roman" panose="02020603050405020304" pitchFamily="18" charset="0"/>
              </a:rPr>
              <a:t>làm</a:t>
            </a:r>
            <a:r>
              <a:rPr lang="en-US" sz="1400" dirty="0">
                <a:solidFill>
                  <a:srgbClr val="121111"/>
                </a:solidFill>
                <a:latin typeface="Times New Roman" panose="02020603050405020304" pitchFamily="18" charset="0"/>
                <a:cs typeface="Times New Roman" panose="02020603050405020304" pitchFamily="18" charset="0"/>
              </a:rPr>
              <a:t> </a:t>
            </a:r>
            <a:r>
              <a:rPr lang="en-US" sz="1400" dirty="0" err="1">
                <a:solidFill>
                  <a:srgbClr val="121111"/>
                </a:solidFill>
                <a:latin typeface="Times New Roman" panose="02020603050405020304" pitchFamily="18" charset="0"/>
                <a:cs typeface="Times New Roman" panose="02020603050405020304" pitchFamily="18" charset="0"/>
              </a:rPr>
              <a:t>việc</a:t>
            </a:r>
            <a:r>
              <a:rPr lang="en-US" sz="1400" dirty="0">
                <a:solidFill>
                  <a:srgbClr val="121111"/>
                </a:solidFill>
                <a:latin typeface="Times New Roman" panose="02020603050405020304" pitchFamily="18" charset="0"/>
                <a:cs typeface="Times New Roman" panose="02020603050405020304" pitchFamily="18" charset="0"/>
              </a:rPr>
              <a:t> </a:t>
            </a:r>
            <a:r>
              <a:rPr lang="en-US" sz="1400" dirty="0" err="1">
                <a:solidFill>
                  <a:srgbClr val="121111"/>
                </a:solidFill>
                <a:latin typeface="Times New Roman" panose="02020603050405020304" pitchFamily="18" charset="0"/>
                <a:cs typeface="Times New Roman" panose="02020603050405020304" pitchFamily="18" charset="0"/>
              </a:rPr>
              <a:t>với</a:t>
            </a:r>
            <a:r>
              <a:rPr lang="en-US" sz="1400" dirty="0">
                <a:solidFill>
                  <a:srgbClr val="121111"/>
                </a:solidFill>
                <a:latin typeface="Times New Roman" panose="02020603050405020304" pitchFamily="18" charset="0"/>
                <a:cs typeface="Times New Roman" panose="02020603050405020304" pitchFamily="18" charset="0"/>
              </a:rPr>
              <a:t> ATR </a:t>
            </a:r>
            <a:r>
              <a:rPr lang="en-US" sz="1400" dirty="0" err="1">
                <a:solidFill>
                  <a:srgbClr val="121111"/>
                </a:solidFill>
                <a:latin typeface="Times New Roman" panose="02020603050405020304" pitchFamily="18" charset="0"/>
                <a:cs typeface="Times New Roman" panose="02020603050405020304" pitchFamily="18" charset="0"/>
              </a:rPr>
              <a:t>để</a:t>
            </a:r>
            <a:r>
              <a:rPr lang="en-US" sz="1400" dirty="0">
                <a:solidFill>
                  <a:srgbClr val="121111"/>
                </a:solidFill>
                <a:latin typeface="Times New Roman" panose="02020603050405020304" pitchFamily="18" charset="0"/>
                <a:cs typeface="Times New Roman" panose="02020603050405020304" pitchFamily="18" charset="0"/>
              </a:rPr>
              <a:t> </a:t>
            </a:r>
            <a:r>
              <a:rPr lang="en-US" sz="1400" dirty="0" err="1">
                <a:solidFill>
                  <a:srgbClr val="121111"/>
                </a:solidFill>
                <a:latin typeface="Times New Roman" panose="02020603050405020304" pitchFamily="18" charset="0"/>
                <a:cs typeface="Times New Roman" panose="02020603050405020304" pitchFamily="18" charset="0"/>
              </a:rPr>
              <a:t>tìm</a:t>
            </a:r>
            <a:r>
              <a:rPr lang="en-US" sz="1400" dirty="0">
                <a:solidFill>
                  <a:srgbClr val="121111"/>
                </a:solidFill>
                <a:latin typeface="Times New Roman" panose="02020603050405020304" pitchFamily="18" charset="0"/>
                <a:cs typeface="Times New Roman" panose="02020603050405020304" pitchFamily="18" charset="0"/>
              </a:rPr>
              <a:t> </a:t>
            </a:r>
            <a:r>
              <a:rPr lang="en-US" sz="1400" dirty="0" err="1">
                <a:solidFill>
                  <a:srgbClr val="121111"/>
                </a:solidFill>
                <a:latin typeface="Times New Roman" panose="02020603050405020304" pitchFamily="18" charset="0"/>
                <a:cs typeface="Times New Roman" panose="02020603050405020304" pitchFamily="18" charset="0"/>
              </a:rPr>
              <a:t>nguyên</a:t>
            </a:r>
            <a:r>
              <a:rPr lang="en-US" sz="1400" dirty="0">
                <a:solidFill>
                  <a:srgbClr val="121111"/>
                </a:solidFill>
                <a:latin typeface="Times New Roman" panose="02020603050405020304" pitchFamily="18" charset="0"/>
                <a:cs typeface="Times New Roman" panose="02020603050405020304" pitchFamily="18" charset="0"/>
              </a:rPr>
              <a:t> </a:t>
            </a:r>
            <a:r>
              <a:rPr lang="en-US" sz="1400" dirty="0" err="1">
                <a:solidFill>
                  <a:srgbClr val="121111"/>
                </a:solidFill>
                <a:latin typeface="Times New Roman" panose="02020603050405020304" pitchFamily="18" charset="0"/>
                <a:cs typeface="Times New Roman" panose="02020603050405020304" pitchFamily="18" charset="0"/>
              </a:rPr>
              <a:t>nhân</a:t>
            </a:r>
            <a:endParaRPr lang="en-US" sz="1400" dirty="0">
              <a:solidFill>
                <a:srgbClr val="12111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xmlns="" id="{F53AEDC9-EC53-4810-79E9-B4EF78C523EB}"/>
              </a:ext>
            </a:extLst>
          </p:cNvPr>
          <p:cNvSpPr txBox="1"/>
          <p:nvPr/>
        </p:nvSpPr>
        <p:spPr>
          <a:xfrm>
            <a:off x="480690" y="2169039"/>
            <a:ext cx="6322782" cy="307777"/>
          </a:xfrm>
          <a:prstGeom prst="rect">
            <a:avLst/>
          </a:prstGeom>
          <a:noFill/>
        </p:spPr>
        <p:txBody>
          <a:bodyPr wrap="square">
            <a:spAutoFit/>
          </a:bodyPr>
          <a:lstStyle/>
          <a:p>
            <a:pPr marL="285750" indent="-285750">
              <a:buFont typeface="Wingdings" panose="05000000000000000000" pitchFamily="2" charset="2"/>
              <a:buChar char="v"/>
            </a:pPr>
            <a:r>
              <a:rPr lang="en-US" sz="1400" b="1" dirty="0" err="1">
                <a:latin typeface="Times New Roman" panose="02020603050405020304" pitchFamily="18" charset="0"/>
                <a:cs typeface="Times New Roman" panose="02020603050405020304" pitchFamily="18" charset="0"/>
              </a:rPr>
              <a:t>Có</a:t>
            </a:r>
            <a:r>
              <a:rPr lang="en-US" sz="1400" b="1" dirty="0">
                <a:latin typeface="Times New Roman" panose="02020603050405020304" pitchFamily="18" charset="0"/>
                <a:cs typeface="Times New Roman" panose="02020603050405020304" pitchFamily="18" charset="0"/>
              </a:rPr>
              <a:t> 4 </a:t>
            </a:r>
            <a:r>
              <a:rPr lang="en-US" sz="1400" b="1" dirty="0" err="1">
                <a:latin typeface="Times New Roman" panose="02020603050405020304" pitchFamily="18" charset="0"/>
                <a:cs typeface="Times New Roman" panose="02020603050405020304" pitchFamily="18" charset="0"/>
              </a:rPr>
              <a:t>nguyên</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nhân</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có</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khả</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năng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gây</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ra</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hóc</a:t>
            </a:r>
            <a:r>
              <a:rPr lang="en-US" sz="1400" b="1" dirty="0">
                <a:latin typeface="Times New Roman" panose="02020603050405020304" pitchFamily="18" charset="0"/>
                <a:cs typeface="Times New Roman" panose="02020603050405020304" pitchFamily="18" charset="0"/>
              </a:rPr>
              <a:t> này</a:t>
            </a:r>
            <a:r>
              <a:rPr lang="en-US" sz="1400" dirty="0">
                <a:latin typeface="Times New Roman" panose="02020603050405020304" pitchFamily="18" charset="0"/>
                <a:cs typeface="Times New Roman" panose="02020603050405020304" pitchFamily="18" charset="0"/>
              </a:rPr>
              <a:t>:</a:t>
            </a:r>
          </a:p>
        </p:txBody>
      </p:sp>
      <p:pic>
        <p:nvPicPr>
          <p:cNvPr id="8" name="Picture 7">
            <a:extLst>
              <a:ext uri="{FF2B5EF4-FFF2-40B4-BE49-F238E27FC236}">
                <a16:creationId xmlns:a16="http://schemas.microsoft.com/office/drawing/2014/main" xmlns="" id="{DF9C12F4-AF82-71C0-04E4-46BEC1C41E5C}"/>
              </a:ext>
            </a:extLst>
          </p:cNvPr>
          <p:cNvPicPr>
            <a:picLocks noChangeAspect="1"/>
          </p:cNvPicPr>
          <p:nvPr/>
        </p:nvPicPr>
        <p:blipFill>
          <a:blip r:embed="rId3"/>
          <a:stretch>
            <a:fillRect/>
          </a:stretch>
        </p:blipFill>
        <p:spPr>
          <a:xfrm>
            <a:off x="9472524" y="685221"/>
            <a:ext cx="2149067" cy="2291847"/>
          </a:xfrm>
          <a:prstGeom prst="rect">
            <a:avLst/>
          </a:prstGeom>
        </p:spPr>
      </p:pic>
      <p:pic>
        <p:nvPicPr>
          <p:cNvPr id="11" name="Picture 10">
            <a:extLst>
              <a:ext uri="{FF2B5EF4-FFF2-40B4-BE49-F238E27FC236}">
                <a16:creationId xmlns:a16="http://schemas.microsoft.com/office/drawing/2014/main" xmlns="" id="{D8F2DADD-F8AA-2F96-D02F-C6823F500B0A}"/>
              </a:ext>
            </a:extLst>
          </p:cNvPr>
          <p:cNvPicPr>
            <a:picLocks noChangeAspect="1"/>
          </p:cNvPicPr>
          <p:nvPr/>
        </p:nvPicPr>
        <p:blipFill>
          <a:blip r:embed="rId4"/>
          <a:stretch>
            <a:fillRect/>
          </a:stretch>
        </p:blipFill>
        <p:spPr>
          <a:xfrm>
            <a:off x="6245985" y="2081885"/>
            <a:ext cx="1635089" cy="1641291"/>
          </a:xfrm>
          <a:prstGeom prst="rect">
            <a:avLst/>
          </a:prstGeom>
        </p:spPr>
      </p:pic>
      <p:pic>
        <p:nvPicPr>
          <p:cNvPr id="14" name="Picture 13">
            <a:extLst>
              <a:ext uri="{FF2B5EF4-FFF2-40B4-BE49-F238E27FC236}">
                <a16:creationId xmlns:a16="http://schemas.microsoft.com/office/drawing/2014/main" xmlns="" id="{F08F1101-44DA-E3B6-8824-EEB206B365C5}"/>
              </a:ext>
            </a:extLst>
          </p:cNvPr>
          <p:cNvPicPr>
            <a:picLocks noChangeAspect="1"/>
          </p:cNvPicPr>
          <p:nvPr/>
        </p:nvPicPr>
        <p:blipFill>
          <a:blip r:embed="rId5"/>
          <a:stretch>
            <a:fillRect/>
          </a:stretch>
        </p:blipFill>
        <p:spPr>
          <a:xfrm>
            <a:off x="924842" y="2497190"/>
            <a:ext cx="4837935" cy="1327146"/>
          </a:xfrm>
          <a:prstGeom prst="rect">
            <a:avLst/>
          </a:prstGeom>
        </p:spPr>
      </p:pic>
      <p:cxnSp>
        <p:nvCxnSpPr>
          <p:cNvPr id="16" name="Straight Arrow Connector 15">
            <a:extLst>
              <a:ext uri="{FF2B5EF4-FFF2-40B4-BE49-F238E27FC236}">
                <a16:creationId xmlns:a16="http://schemas.microsoft.com/office/drawing/2014/main" xmlns="" id="{FFE693BA-92CB-80B6-1574-713FD2203B1D}"/>
              </a:ext>
            </a:extLst>
          </p:cNvPr>
          <p:cNvCxnSpPr/>
          <p:nvPr/>
        </p:nvCxnSpPr>
        <p:spPr>
          <a:xfrm>
            <a:off x="4647502" y="2977068"/>
            <a:ext cx="1554480" cy="0"/>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
        <p:nvSpPr>
          <p:cNvPr id="17" name="TextBox 16">
            <a:extLst>
              <a:ext uri="{FF2B5EF4-FFF2-40B4-BE49-F238E27FC236}">
                <a16:creationId xmlns:a16="http://schemas.microsoft.com/office/drawing/2014/main" xmlns="" id="{5829A3B0-E5C8-E6DF-D59F-177C2581669A}"/>
              </a:ext>
            </a:extLst>
          </p:cNvPr>
          <p:cNvSpPr txBox="1"/>
          <p:nvPr/>
        </p:nvSpPr>
        <p:spPr>
          <a:xfrm>
            <a:off x="553672" y="4104484"/>
            <a:ext cx="10486240" cy="954107"/>
          </a:xfrm>
          <a:prstGeom prst="rect">
            <a:avLst/>
          </a:prstGeom>
          <a:noFill/>
        </p:spPr>
        <p:txBody>
          <a:bodyPr wrap="square" rtlCol="0">
            <a:spAutoFit/>
          </a:bodyPr>
          <a:lstStyle/>
          <a:p>
            <a:pPr marL="285750" indent="-285750">
              <a:buFont typeface="Wingdings" panose="05000000000000000000" pitchFamily="2" charset="2"/>
              <a:buChar char="§"/>
            </a:pP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trường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hợp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bị</a:t>
            </a:r>
            <a:r>
              <a:rPr lang="en-US" sz="1400" dirty="0">
                <a:latin typeface="Times New Roman" panose="02020603050405020304" pitchFamily="18" charset="0"/>
                <a:cs typeface="Times New Roman" panose="02020603050405020304" pitchFamily="18" charset="0"/>
              </a:rPr>
              <a:t> RTO </a:t>
            </a:r>
            <a:r>
              <a:rPr lang="en-US" sz="1400" dirty="0" err="1">
                <a:latin typeface="Times New Roman" panose="02020603050405020304" pitchFamily="18" charset="0"/>
                <a:cs typeface="Times New Roman" panose="02020603050405020304" pitchFamily="18" charset="0"/>
              </a:rPr>
              <a:t>ngày</a:t>
            </a:r>
            <a:r>
              <a:rPr lang="en-US" sz="1400" dirty="0">
                <a:latin typeface="Times New Roman" panose="02020603050405020304" pitchFamily="18" charset="0"/>
                <a:cs typeface="Times New Roman" panose="02020603050405020304" pitchFamily="18" charset="0"/>
              </a:rPr>
              <a:t> 16/Feb/2025, </a:t>
            </a:r>
          </a:p>
          <a:p>
            <a:pPr marL="742950" lvl="1" indent="-285750">
              <a:buFont typeface="Courier New" panose="02070309020205020404" pitchFamily="49" charset="0"/>
              <a:buChar char="o"/>
            </a:pPr>
            <a:r>
              <a:rPr lang="en-US" sz="1400" dirty="0">
                <a:latin typeface="Times New Roman" panose="02020603050405020304" pitchFamily="18" charset="0"/>
                <a:cs typeface="Times New Roman" panose="02020603050405020304" pitchFamily="18" charset="0"/>
              </a:rPr>
              <a:t>CRS </a:t>
            </a:r>
            <a:r>
              <a:rPr lang="en-US" sz="1400" dirty="0" err="1">
                <a:latin typeface="Times New Roman" panose="02020603050405020304" pitchFamily="18" charset="0"/>
                <a:cs typeface="Times New Roman" panose="02020603050405020304" pitchFamily="18" charset="0"/>
              </a:rPr>
              <a:t>phát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hiện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trí</a:t>
            </a:r>
            <a:r>
              <a:rPr lang="en-US" sz="1400" dirty="0">
                <a:latin typeface="Times New Roman" panose="02020603050405020304" pitchFamily="18" charset="0"/>
                <a:cs typeface="Times New Roman" panose="02020603050405020304" pitchFamily="18" charset="0"/>
              </a:rPr>
              <a:t>  Pitch trim </a:t>
            </a:r>
            <a:r>
              <a:rPr lang="en-US" sz="1400" dirty="0" err="1">
                <a:latin typeface="Times New Roman" panose="02020603050405020304" pitchFamily="18" charset="0"/>
                <a:cs typeface="Times New Roman" panose="02020603050405020304" pitchFamily="18" charset="0"/>
              </a:rPr>
              <a:t>nằm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trong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dải</a:t>
            </a:r>
            <a:r>
              <a:rPr lang="en-US" sz="1400" dirty="0">
                <a:latin typeface="Times New Roman" panose="02020603050405020304" pitchFamily="18" charset="0"/>
                <a:cs typeface="Times New Roman" panose="02020603050405020304" pitchFamily="18" charset="0"/>
              </a:rPr>
              <a:t> green band </a:t>
            </a:r>
            <a:r>
              <a:rPr lang="en-US" sz="1400" dirty="0" err="1">
                <a:latin typeface="Times New Roman" panose="02020603050405020304" pitchFamily="18" charset="0"/>
                <a:cs typeface="Times New Roman" panose="02020603050405020304" pitchFamily="18" charset="0"/>
              </a:rPr>
              <a:t>từ</a:t>
            </a:r>
            <a:r>
              <a:rPr lang="en-US" sz="1400" dirty="0">
                <a:latin typeface="Times New Roman" panose="02020603050405020304" pitchFamily="18" charset="0"/>
                <a:cs typeface="Times New Roman" panose="02020603050405020304" pitchFamily="18" charset="0"/>
              </a:rPr>
              <a:t> 1.3 </a:t>
            </a:r>
            <a:r>
              <a:rPr lang="en-US" sz="1400" dirty="0" err="1">
                <a:latin typeface="Times New Roman" panose="02020603050405020304" pitchFamily="18" charset="0"/>
                <a:cs typeface="Times New Roman" panose="02020603050405020304" pitchFamily="18" charset="0"/>
              </a:rPr>
              <a:t>đến</a:t>
            </a:r>
            <a:r>
              <a:rPr lang="en-US" sz="1400" dirty="0">
                <a:latin typeface="Times New Roman" panose="02020603050405020304" pitchFamily="18" charset="0"/>
                <a:cs typeface="Times New Roman" panose="02020603050405020304" pitchFamily="18" charset="0"/>
              </a:rPr>
              <a:t> 2.5 </a:t>
            </a:r>
            <a:r>
              <a:rPr lang="en-US" sz="1400" dirty="0" err="1">
                <a:latin typeface="Times New Roman" panose="02020603050405020304" pitchFamily="18" charset="0"/>
                <a:cs typeface="Times New Roman" panose="02020603050405020304" pitchFamily="18" charset="0"/>
              </a:rPr>
              <a:t>nhưng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cảnh</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báo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vẫn</a:t>
            </a:r>
            <a:r>
              <a:rPr lang="en-US" sz="1400" dirty="0">
                <a:latin typeface="Times New Roman" panose="02020603050405020304" pitchFamily="18" charset="0"/>
                <a:cs typeface="Times New Roman" panose="02020603050405020304" pitchFamily="18" charset="0"/>
              </a:rPr>
              <a:t> CONFIG </a:t>
            </a:r>
            <a:r>
              <a:rPr lang="en-US" sz="1400" dirty="0" err="1">
                <a:latin typeface="Times New Roman" panose="02020603050405020304" pitchFamily="18" charset="0"/>
                <a:cs typeface="Times New Roman" panose="02020603050405020304" pitchFamily="18" charset="0"/>
              </a:rPr>
              <a:t>xuất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hiện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giá</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giữa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đồng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hồ</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chỉ</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và</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giá</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trên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máy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tính</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sai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lệch</a:t>
            </a:r>
            <a:r>
              <a:rPr lang="en-US" sz="1400" dirty="0">
                <a:latin typeface="Times New Roman" panose="02020603050405020304" pitchFamily="18" charset="0"/>
                <a:cs typeface="Times New Roman" panose="02020603050405020304" pitchFamily="18" charset="0"/>
              </a:rPr>
              <a:t>. </a:t>
            </a:r>
          </a:p>
          <a:p>
            <a:pPr marL="742950" lvl="1" indent="-285750">
              <a:buFont typeface="Courier New" panose="02070309020205020404" pitchFamily="49" charset="0"/>
              <a:buChar char="o"/>
            </a:pPr>
            <a:r>
              <a:rPr lang="en-US" sz="1400" dirty="0" err="1">
                <a:latin typeface="Times New Roman" panose="02020603050405020304" pitchFamily="18" charset="0"/>
                <a:cs typeface="Times New Roman" panose="02020603050405020304" pitchFamily="18" charset="0"/>
              </a:rPr>
              <a:t>Trước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đó</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tối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ngày</a:t>
            </a:r>
            <a:r>
              <a:rPr lang="en-US" sz="1400" dirty="0">
                <a:latin typeface="Times New Roman" panose="02020603050405020304" pitchFamily="18" charset="0"/>
                <a:cs typeface="Times New Roman" panose="02020603050405020304" pitchFamily="18" charset="0"/>
              </a:rPr>
              <a:t> 15/Feb/2025, VAECO </a:t>
            </a:r>
            <a:r>
              <a:rPr lang="en-US" sz="1400" dirty="0" err="1">
                <a:latin typeface="Times New Roman" panose="02020603050405020304" pitchFamily="18" charset="0"/>
                <a:cs typeface="Times New Roman" panose="02020603050405020304" pitchFamily="18" charset="0"/>
              </a:rPr>
              <a:t>thực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hiện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thay</a:t>
            </a:r>
            <a:r>
              <a:rPr lang="en-US" sz="1400" dirty="0">
                <a:latin typeface="Times New Roman" panose="02020603050405020304" pitchFamily="18" charset="0"/>
                <a:cs typeface="Times New Roman" panose="02020603050405020304" pitchFamily="18" charset="0"/>
              </a:rPr>
              <a:t> Pitch trim indicator =&gt; </a:t>
            </a:r>
            <a:r>
              <a:rPr lang="en-US" sz="1400" dirty="0" err="1">
                <a:latin typeface="Times New Roman" panose="02020603050405020304" pitchFamily="18" charset="0"/>
                <a:cs typeface="Times New Roman" panose="02020603050405020304" pitchFamily="18" charset="0"/>
              </a:rPr>
              <a:t>nghi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ngờ</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thiết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trong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lỗi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gây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ra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sai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chỉ</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thị</a:t>
            </a:r>
            <a:r>
              <a:rPr lang="en-US" sz="1400" dirty="0">
                <a:latin typeface="Times New Roman" panose="02020603050405020304" pitchFamily="18" charset="0"/>
                <a:cs typeface="Times New Roman" panose="02020603050405020304" pitchFamily="18" charset="0"/>
              </a:rPr>
              <a:t>.</a:t>
            </a:r>
          </a:p>
        </p:txBody>
      </p:sp>
      <p:sp>
        <p:nvSpPr>
          <p:cNvPr id="18" name="TextBox 17">
            <a:extLst>
              <a:ext uri="{FF2B5EF4-FFF2-40B4-BE49-F238E27FC236}">
                <a16:creationId xmlns:a16="http://schemas.microsoft.com/office/drawing/2014/main" xmlns="" id="{10F58F51-CDF8-F03D-7CE6-962BE5AA5263}"/>
              </a:ext>
            </a:extLst>
          </p:cNvPr>
          <p:cNvSpPr txBox="1"/>
          <p:nvPr/>
        </p:nvSpPr>
        <p:spPr>
          <a:xfrm>
            <a:off x="6306108" y="3728535"/>
            <a:ext cx="1618969" cy="307777"/>
          </a:xfrm>
          <a:prstGeom prst="rect">
            <a:avLst/>
          </a:prstGeom>
          <a:noFill/>
        </p:spPr>
        <p:txBody>
          <a:bodyPr wrap="none" rtlCol="0">
            <a:spAutoFit/>
          </a:bodyPr>
          <a:lstStyle/>
          <a:p>
            <a:r>
              <a:rPr lang="en-US" sz="1400" b="1" i="1" dirty="0"/>
              <a:t>Pitch trim indicator</a:t>
            </a:r>
          </a:p>
        </p:txBody>
      </p:sp>
      <p:sp>
        <p:nvSpPr>
          <p:cNvPr id="20" name="TextBox 19">
            <a:extLst>
              <a:ext uri="{FF2B5EF4-FFF2-40B4-BE49-F238E27FC236}">
                <a16:creationId xmlns:a16="http://schemas.microsoft.com/office/drawing/2014/main" xmlns="" id="{37D46220-C527-C757-1FD4-2EFF167DE36C}"/>
              </a:ext>
            </a:extLst>
          </p:cNvPr>
          <p:cNvSpPr txBox="1"/>
          <p:nvPr/>
        </p:nvSpPr>
        <p:spPr>
          <a:xfrm>
            <a:off x="2969241" y="1432685"/>
            <a:ext cx="6098796" cy="523220"/>
          </a:xfrm>
          <a:prstGeom prst="rect">
            <a:avLst/>
          </a:prstGeom>
          <a:noFill/>
        </p:spPr>
        <p:txBody>
          <a:bodyPr wrap="square">
            <a:spAutoFit/>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04/Jan/2025 - GTB</a:t>
            </a:r>
          </a:p>
          <a:p>
            <a:pPr marL="285750" indent="-285750">
              <a:buFont typeface="Arial" panose="020B0604020202020204" pitchFamily="34" charset="0"/>
              <a:buChar char="•"/>
            </a:pPr>
            <a:r>
              <a:rPr lang="en-US" sz="1400" dirty="0">
                <a:solidFill>
                  <a:srgbClr val="FF0000"/>
                </a:solidFill>
                <a:latin typeface="Times New Roman" panose="02020603050405020304" pitchFamily="18" charset="0"/>
                <a:cs typeface="Times New Roman" panose="02020603050405020304" pitchFamily="18" charset="0"/>
              </a:rPr>
              <a:t>16/Feb/2025- RTO</a:t>
            </a:r>
          </a:p>
        </p:txBody>
      </p:sp>
      <p:sp>
        <p:nvSpPr>
          <p:cNvPr id="21" name="TextBox 20">
            <a:extLst>
              <a:ext uri="{FF2B5EF4-FFF2-40B4-BE49-F238E27FC236}">
                <a16:creationId xmlns:a16="http://schemas.microsoft.com/office/drawing/2014/main" xmlns="" id="{14ED23C7-6044-849F-2A26-FB48D22CC1DD}"/>
              </a:ext>
            </a:extLst>
          </p:cNvPr>
          <p:cNvSpPr txBox="1"/>
          <p:nvPr/>
        </p:nvSpPr>
        <p:spPr>
          <a:xfrm>
            <a:off x="545284" y="5196457"/>
            <a:ext cx="10016455" cy="523220"/>
          </a:xfrm>
          <a:prstGeom prst="rect">
            <a:avLst/>
          </a:prstGeom>
          <a:noFill/>
        </p:spPr>
        <p:txBody>
          <a:bodyPr wrap="square" rtlCol="0">
            <a:spAutoFit/>
          </a:bodyPr>
          <a:lstStyle/>
          <a:p>
            <a:pPr marL="285750" indent="-285750">
              <a:buFont typeface="Wingdings" panose="05000000000000000000" pitchFamily="2" charset="2"/>
              <a:buChar char="§"/>
            </a:pP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hỏng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hóc</a:t>
            </a:r>
            <a:r>
              <a:rPr lang="en-US" sz="1400" dirty="0">
                <a:latin typeface="Times New Roman" panose="02020603050405020304" pitchFamily="18" charset="0"/>
                <a:cs typeface="Times New Roman" panose="02020603050405020304" pitchFamily="18" charset="0"/>
              </a:rPr>
              <a:t> TO CONFIG </a:t>
            </a:r>
            <a:r>
              <a:rPr lang="en-US" sz="1400" dirty="0" err="1">
                <a:latin typeface="Times New Roman" panose="02020603050405020304" pitchFamily="18" charset="0"/>
                <a:cs typeface="Times New Roman" panose="02020603050405020304" pitchFamily="18" charset="0"/>
              </a:rPr>
              <a:t>trên</a:t>
            </a:r>
            <a:r>
              <a:rPr lang="en-US" sz="1400" dirty="0">
                <a:latin typeface="Times New Roman" panose="02020603050405020304" pitchFamily="18" charset="0"/>
                <a:cs typeface="Times New Roman" panose="02020603050405020304" pitchFamily="18" charset="0"/>
              </a:rPr>
              <a:t> B223, </a:t>
            </a:r>
            <a:r>
              <a:rPr lang="en-US" sz="1400" dirty="0" err="1">
                <a:latin typeface="Times New Roman" panose="02020603050405020304" pitchFamily="18" charset="0"/>
                <a:cs typeface="Times New Roman" panose="02020603050405020304" pitchFamily="18" charset="0"/>
              </a:rPr>
              <a:t>đã</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thực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hiện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thay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nhiều</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thiết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liên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quan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và</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kiểm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dây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nhưng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vẫn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chưa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phát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hiện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được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nguyên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nhân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vẫn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đang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làm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việc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ATR </a:t>
            </a:r>
            <a:r>
              <a:rPr lang="en-US" sz="1400" dirty="0" err="1">
                <a:latin typeface="Times New Roman" panose="02020603050405020304" pitchFamily="18" charset="0"/>
                <a:cs typeface="Times New Roman" panose="02020603050405020304" pitchFamily="18" charset="0"/>
              </a:rPr>
              <a:t>để</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tìm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nguyên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nhân</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07948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xmlns="" id="{331A5E89-8330-4CC5-8E86-DC6C55D3DE22}"/>
              </a:ext>
            </a:extLst>
          </p:cNvPr>
          <p:cNvSpPr txBox="1"/>
          <p:nvPr/>
        </p:nvSpPr>
        <p:spPr>
          <a:xfrm>
            <a:off x="762001" y="168860"/>
            <a:ext cx="8142717" cy="52322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DEA610"/>
                </a:solidFill>
                <a:effectLst/>
                <a:uLnTx/>
                <a:uFillTx/>
                <a:latin typeface="Montserrat SemiBold" pitchFamily="2" charset="77"/>
                <a:ea typeface="+mn-ea"/>
                <a:cs typeface="+mn-cs"/>
              </a:rPr>
              <a:t>ATR – ATA 34 – </a:t>
            </a:r>
            <a:r>
              <a:rPr lang="en-US" sz="2800" b="1" dirty="0">
                <a:solidFill>
                  <a:srgbClr val="DEA610"/>
                </a:solidFill>
                <a:latin typeface="Montserrat SemiBold" pitchFamily="2" charset="77"/>
              </a:rPr>
              <a:t>AHRS  LOSS SIGNAL</a:t>
            </a:r>
          </a:p>
        </p:txBody>
      </p:sp>
      <p:grpSp>
        <p:nvGrpSpPr>
          <p:cNvPr id="5" name="Group 4">
            <a:extLst>
              <a:ext uri="{FF2B5EF4-FFF2-40B4-BE49-F238E27FC236}">
                <a16:creationId xmlns:a16="http://schemas.microsoft.com/office/drawing/2014/main" xmlns="" id="{31CFA35B-D41B-4739-B276-3E12557F67C8}"/>
              </a:ext>
            </a:extLst>
          </p:cNvPr>
          <p:cNvGrpSpPr/>
          <p:nvPr/>
        </p:nvGrpSpPr>
        <p:grpSpPr>
          <a:xfrm>
            <a:off x="395080" y="763173"/>
            <a:ext cx="11598000" cy="5946909"/>
            <a:chOff x="709281" y="757061"/>
            <a:chExt cx="11134842" cy="4863325"/>
          </a:xfrm>
        </p:grpSpPr>
        <p:sp>
          <p:nvSpPr>
            <p:cNvPr id="25" name="Rectangle: Single Corner Rounded 24">
              <a:extLst>
                <a:ext uri="{FF2B5EF4-FFF2-40B4-BE49-F238E27FC236}">
                  <a16:creationId xmlns:a16="http://schemas.microsoft.com/office/drawing/2014/main" xmlns="" id="{D5DADBD9-6852-441A-BF72-7DAFAE15B1FD}"/>
                </a:ext>
              </a:extLst>
            </p:cNvPr>
            <p:cNvSpPr/>
            <p:nvPr/>
          </p:nvSpPr>
          <p:spPr>
            <a:xfrm flipH="1" flipV="1">
              <a:off x="709281" y="790587"/>
              <a:ext cx="11134842" cy="580503"/>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xmlns="" id="{CB07695F-044B-46D6-B43C-B700EFBA7248}"/>
                </a:ext>
              </a:extLst>
            </p:cNvPr>
            <p:cNvSpPr/>
            <p:nvPr/>
          </p:nvSpPr>
          <p:spPr>
            <a:xfrm>
              <a:off x="802466" y="757061"/>
              <a:ext cx="10445094" cy="377545"/>
            </a:xfrm>
            <a:prstGeom prst="rect">
              <a:avLst/>
            </a:prstGeom>
          </p:spPr>
          <p:txBody>
            <a:bodyPr wrap="square">
              <a:spAutoFit/>
            </a:bodyPr>
            <a:lstStyle/>
            <a:p>
              <a:pPr marL="0" marR="0" lvl="0" indent="230188"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B223 GTB VN1857, SGN-VCS 15/02/2025</a:t>
              </a:r>
            </a:p>
          </p:txBody>
        </p:sp>
        <p:sp>
          <p:nvSpPr>
            <p:cNvPr id="27" name="Rectangle 26">
              <a:extLst>
                <a:ext uri="{FF2B5EF4-FFF2-40B4-BE49-F238E27FC236}">
                  <a16:creationId xmlns:a16="http://schemas.microsoft.com/office/drawing/2014/main" xmlns="" id="{367F70C2-5165-479E-AFB9-34EDD474B128}"/>
                </a:ext>
              </a:extLst>
            </p:cNvPr>
            <p:cNvSpPr/>
            <p:nvPr/>
          </p:nvSpPr>
          <p:spPr>
            <a:xfrm>
              <a:off x="855068" y="1933029"/>
              <a:ext cx="8100911" cy="3687357"/>
            </a:xfrm>
            <a:prstGeom prst="rect">
              <a:avLst/>
            </a:prstGeom>
          </p:spPr>
          <p:txBody>
            <a:bodyPr wrap="square">
              <a:spAutoFit/>
            </a:bodyPr>
            <a:lstStyle/>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1"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Hỏng</a:t>
              </a:r>
              <a:r>
                <a:rPr kumimoji="0" lang="en-US" sz="1400" b="1"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1"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hóc</a:t>
              </a:r>
              <a:r>
                <a:rPr kumimoji="0" lang="en-US" sz="1400" b="1"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lang="en-US" sz="1400" b="1"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Attitude Heading </a:t>
              </a:r>
              <a:r>
                <a:rPr lang="en-US" sz="1400" b="1"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Refercence</a:t>
              </a:r>
              <a:r>
                <a:rPr lang="en-US" sz="1400" b="1"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Unit (AHRU): </a:t>
              </a:r>
            </a:p>
            <a:p>
              <a:pPr marL="285750" marR="0" lvl="0" indent="-285750" algn="l" defTabSz="914400" rtl="0" eaLnBrk="1" fontAlgn="auto" latinLnBrk="0" hangingPunct="1">
                <a:lnSpc>
                  <a:spcPct val="100000"/>
                </a:lnSpc>
                <a:spcBef>
                  <a:spcPts val="600"/>
                </a:spcBef>
                <a:spcAft>
                  <a:spcPts val="0"/>
                </a:spcAft>
                <a:buClrTx/>
                <a:buSzTx/>
                <a:buFontTx/>
                <a:buChar char="-"/>
                <a:tabLst/>
                <a:defRPr/>
              </a:pP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Hỏng</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hóc</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gây</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GTB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chuyến</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bay VN1857, SGN-VCS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ngày</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15/02/2025,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phải</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thay</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thế</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AHRU#1 PN 7003360-946, SN 09085259</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Khối</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này</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là khối on-wing từ 2009, chưa</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từng</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gửi đi sửa lần nào (TSN 24519).</a:t>
              </a:r>
            </a:p>
            <a:p>
              <a:pPr marL="285750" marR="0" lvl="0" indent="-285750" algn="l" defTabSz="914400" rtl="0" eaLnBrk="1" fontAlgn="auto" latinLnBrk="0" hangingPunct="1">
                <a:lnSpc>
                  <a:spcPct val="100000"/>
                </a:lnSpc>
                <a:spcBef>
                  <a:spcPts val="600"/>
                </a:spcBef>
                <a:spcAft>
                  <a:spcPts val="0"/>
                </a:spcAft>
                <a:buClrTx/>
                <a:buSzTx/>
                <a:buFontTx/>
                <a:buChar char="-"/>
                <a:tabLst/>
                <a:defRPr/>
              </a:pP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Theo báo cáo từ VAECO, tàu vẫn nháy lại hỏng hóc</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rồi</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biến</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mất</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sau khi bay 04 leg từ khi thay thế AHRU#1</a:t>
              </a:r>
              <a:endParaRPr lang="en-US" sz="1400" b="1"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US" sz="1400" b="1" dirty="0" err="1">
                  <a:solidFill>
                    <a:srgbClr val="203864"/>
                  </a:solidFill>
                  <a:latin typeface="Cambria" panose="02040503050406030204" pitchFamily="18" charset="0"/>
                  <a:ea typeface="Cambria" panose="02040503050406030204" pitchFamily="18" charset="0"/>
                  <a:cs typeface="Times New Roman" panose="02020603050405020304" pitchFamily="18" charset="0"/>
                </a:rPr>
                <a:t>Độ</a:t>
              </a:r>
              <a:r>
                <a:rPr lang="en-US" sz="1400" b="1" dirty="0">
                  <a:solidFill>
                    <a:srgbClr val="203864"/>
                  </a:solidFill>
                  <a:latin typeface="Cambria" panose="02040503050406030204" pitchFamily="18" charset="0"/>
                  <a:ea typeface="Cambria" panose="02040503050406030204" pitchFamily="18" charset="0"/>
                  <a:cs typeface="Times New Roman" panose="02020603050405020304" pitchFamily="18" charset="0"/>
                </a:rPr>
                <a:t> tin </a:t>
              </a:r>
              <a:r>
                <a:rPr lang="en-US" sz="1400" b="1" dirty="0" err="1">
                  <a:solidFill>
                    <a:srgbClr val="203864"/>
                  </a:solidFill>
                  <a:latin typeface="Cambria" panose="02040503050406030204" pitchFamily="18" charset="0"/>
                  <a:ea typeface="Cambria" panose="02040503050406030204" pitchFamily="18" charset="0"/>
                  <a:cs typeface="Times New Roman" panose="02020603050405020304" pitchFamily="18" charset="0"/>
                </a:rPr>
                <a:t>cậy</a:t>
              </a:r>
              <a:r>
                <a:rPr lang="en-US" sz="1400" b="1" dirty="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b="1" dirty="0" err="1">
                  <a:solidFill>
                    <a:srgbClr val="203864"/>
                  </a:solidFill>
                  <a:latin typeface="Cambria" panose="02040503050406030204" pitchFamily="18" charset="0"/>
                  <a:ea typeface="Cambria" panose="02040503050406030204" pitchFamily="18" charset="0"/>
                  <a:cs typeface="Times New Roman" panose="02020603050405020304" pitchFamily="18" charset="0"/>
                </a:rPr>
                <a:t>thiết</a:t>
              </a:r>
              <a:r>
                <a:rPr lang="en-US" sz="1400" b="1" dirty="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b="1" dirty="0" err="1">
                  <a:solidFill>
                    <a:srgbClr val="203864"/>
                  </a:solidFill>
                  <a:latin typeface="Cambria" panose="02040503050406030204" pitchFamily="18" charset="0"/>
                  <a:ea typeface="Cambria" panose="02040503050406030204" pitchFamily="18" charset="0"/>
                  <a:cs typeface="Times New Roman" panose="02020603050405020304" pitchFamily="18" charset="0"/>
                </a:rPr>
                <a:t>bị</a:t>
              </a:r>
              <a:r>
                <a:rPr kumimoji="0" lang="en-US" sz="1400" b="0" i="0" u="none" strike="noStrike" kern="1200" cap="none" spc="0" normalizeH="0" baseline="0" noProof="0" dirty="0">
                  <a:ln>
                    <a:noFill/>
                  </a:ln>
                  <a:solidFill>
                    <a:srgbClr val="203864"/>
                  </a:solidFill>
                  <a:effectLst/>
                  <a:uLnTx/>
                  <a:uFillTx/>
                  <a:latin typeface="Cambria" panose="02040503050406030204" pitchFamily="18" charset="0"/>
                  <a:ea typeface="Cambria" panose="02040503050406030204" pitchFamily="18" charset="0"/>
                  <a:cs typeface="Times New Roman" panose="02020603050405020304" pitchFamily="18" charset="0"/>
                </a:rPr>
                <a:t>:</a:t>
              </a:r>
              <a:endParaRPr lang="en-US" sz="1400" dirty="0">
                <a:solidFill>
                  <a:srgbClr val="203864"/>
                </a:solidFill>
                <a:latin typeface="Cambria" panose="02040503050406030204" pitchFamily="18" charset="0"/>
                <a:ea typeface="Cambria" panose="02040503050406030204" pitchFamily="18" charset="0"/>
                <a:cs typeface="Times New Roman" panose="02020603050405020304" pitchFamily="18" charset="0"/>
              </a:endParaRPr>
            </a:p>
            <a:p>
              <a:pPr marL="285750" indent="-285750">
                <a:spcBef>
                  <a:spcPts val="600"/>
                </a:spcBef>
                <a:buFontTx/>
                <a:buChar char="-"/>
              </a:pP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Theo thống kê ĐTC, từ 2020 đến nay hỏng 9 lần (4 lần 2020, 1 lần 2021, 3 lần 2022, 1 lần 2025), độ tin cậy của khối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gần</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đây</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tương đối tốt</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2023-2024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không</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hỏng</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khối</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nào</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MTBUR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từ</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2015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đạt</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12398 FH.</a:t>
              </a:r>
            </a:p>
            <a:p>
              <a:pPr marL="285750" indent="-285750">
                <a:buFont typeface="Wingdings" panose="05000000000000000000" pitchFamily="2" charset="2"/>
                <a:buChar char="v"/>
              </a:pPr>
              <a:r>
                <a:rPr lang="en-US" sz="1400" b="1" dirty="0" err="1">
                  <a:solidFill>
                    <a:srgbClr val="203864"/>
                  </a:solidFill>
                  <a:latin typeface="Cambria" panose="02040503050406030204" pitchFamily="18" charset="0"/>
                  <a:ea typeface="Cambria" panose="02040503050406030204" pitchFamily="18" charset="0"/>
                  <a:cs typeface="Times New Roman" panose="02020603050405020304" pitchFamily="18" charset="0"/>
                </a:rPr>
                <a:t>Đánh</a:t>
              </a:r>
              <a:r>
                <a:rPr lang="en-US" sz="1400" b="1" dirty="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b="1" dirty="0" err="1">
                  <a:solidFill>
                    <a:srgbClr val="203864"/>
                  </a:solidFill>
                  <a:latin typeface="Cambria" panose="02040503050406030204" pitchFamily="18" charset="0"/>
                  <a:ea typeface="Cambria" panose="02040503050406030204" pitchFamily="18" charset="0"/>
                  <a:cs typeface="Times New Roman" panose="02020603050405020304" pitchFamily="18" charset="0"/>
                </a:rPr>
                <a:t>giá</a:t>
              </a:r>
              <a:r>
                <a:rPr lang="en-US" sz="1400" b="1" dirty="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b="1" dirty="0" err="1">
                  <a:solidFill>
                    <a:srgbClr val="203864"/>
                  </a:solidFill>
                  <a:latin typeface="Cambria" panose="02040503050406030204" pitchFamily="18" charset="0"/>
                  <a:ea typeface="Cambria" panose="02040503050406030204" pitchFamily="18" charset="0"/>
                  <a:cs typeface="Times New Roman" panose="02020603050405020304" pitchFamily="18" charset="0"/>
                </a:rPr>
                <a:t>nguyên</a:t>
              </a:r>
              <a:r>
                <a:rPr lang="en-US" sz="1400" b="1" dirty="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b="1" dirty="0" err="1">
                  <a:solidFill>
                    <a:srgbClr val="203864"/>
                  </a:solidFill>
                  <a:latin typeface="Cambria" panose="02040503050406030204" pitchFamily="18" charset="0"/>
                  <a:ea typeface="Cambria" panose="02040503050406030204" pitchFamily="18" charset="0"/>
                  <a:cs typeface="Times New Roman" panose="02020603050405020304" pitchFamily="18" charset="0"/>
                </a:rPr>
                <a:t>nhân</a:t>
              </a:r>
              <a:endParaRPr lang="en-US" sz="1400" b="1" dirty="0">
                <a:solidFill>
                  <a:srgbClr val="203864"/>
                </a:solidFill>
                <a:latin typeface="Cambria" panose="02040503050406030204" pitchFamily="18" charset="0"/>
                <a:ea typeface="Cambria" panose="02040503050406030204" pitchFamily="18" charset="0"/>
                <a:cs typeface="Times New Roman" panose="02020603050405020304" pitchFamily="18" charset="0"/>
              </a:endParaRPr>
            </a:p>
            <a:p>
              <a:pPr marL="285750" indent="-285750">
                <a:spcBef>
                  <a:spcPts val="600"/>
                </a:spcBef>
                <a:buFontTx/>
                <a:buChar char="-"/>
              </a:pP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Hiện</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ATR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không</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có</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TPS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liên</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quan</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đến</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hỏng</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hóc</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này</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c</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ác lần hỏng hóc gần đây nguyên nhân do khối khai thác lâu ngày, dẫn đến linh kiện hao mòn cần thay thế, hiệu chỉnh hoặc thiết bị bị contaminated by external liquid.</a:t>
              </a:r>
              <a:endPar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endParaRPr>
            </a:p>
            <a:p>
              <a:pPr marL="285750" indent="-285750">
                <a:spcBef>
                  <a:spcPts val="600"/>
                </a:spcBef>
                <a:buFontTx/>
                <a:buChar char="-"/>
              </a:pP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Theo báo cáo từ VAECO, tàu vẫn nháy lại hỏng hóc</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rồi</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biến</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mất</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sau khi bay 04 leg từ khi thay thế AHRU#1 =&gt;Hỏng hóc còn có thể liên quan đến wiring hoặc connector liên quan đến AHRU #1 (rung lắc khi taxi hoặc lúc cất hạ cánh có thể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xuất</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hiện hỏng hóc). VAECO đã kiểm tra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thêm</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nguồn cấp AHRU, kết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quả</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tốt, tiếp tục theo dõi</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để</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T/S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triệt</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để</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a:t>
              </a:r>
              <a:endParaRPr lang="en-US" sz="1400" b="1"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endParaRPr>
            </a:p>
            <a:p>
              <a:pPr marL="285750" indent="-285750">
                <a:spcBef>
                  <a:spcPts val="600"/>
                </a:spcBef>
                <a:buFontTx/>
                <a:buChar char="-"/>
              </a:pPr>
              <a:endPar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endParaRPr>
            </a:p>
            <a:p>
              <a:pPr marL="285750" indent="-285750">
                <a:spcBef>
                  <a:spcPts val="600"/>
                </a:spcBef>
                <a:buFontTx/>
                <a:buChar char="-"/>
              </a:pPr>
              <a:endPar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endParaRPr>
            </a:p>
          </p:txBody>
        </p:sp>
      </p:grpSp>
      <p:sp>
        <p:nvSpPr>
          <p:cNvPr id="39" name="TextBox 38">
            <a:extLst>
              <a:ext uri="{FF2B5EF4-FFF2-40B4-BE49-F238E27FC236}">
                <a16:creationId xmlns:a16="http://schemas.microsoft.com/office/drawing/2014/main" xmlns="" id="{4210CCF0-33AF-4035-BD27-3303A8633E6C}"/>
              </a:ext>
            </a:extLst>
          </p:cNvPr>
          <p:cNvSpPr txBox="1"/>
          <p:nvPr/>
        </p:nvSpPr>
        <p:spPr>
          <a:xfrm>
            <a:off x="894716" y="1769934"/>
            <a:ext cx="2662062"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600"/>
              </a:spcBef>
              <a:spcAft>
                <a:spcPts val="0"/>
              </a:spcAft>
              <a:buClrTx/>
              <a:buSzTx/>
              <a:buFontTx/>
              <a:buNone/>
              <a:tabLst/>
              <a:defRPr/>
            </a:pPr>
            <a:r>
              <a:rPr kumimoji="0" lang="en-US" sz="1800" b="1" i="0" u="none" strike="noStrike" kern="1200" cap="none" spc="0" normalizeH="0" baseline="0" noProof="0">
                <a:ln>
                  <a:noFill/>
                </a:ln>
                <a:solidFill>
                  <a:srgbClr val="006885"/>
                </a:solidFill>
                <a:effectLst/>
                <a:uLnTx/>
                <a:uFillTx/>
                <a:latin typeface="Montserrat SemiBold"/>
                <a:ea typeface="Cambria" panose="02040503050406030204" pitchFamily="18" charset="0"/>
                <a:cs typeface="Times New Roman" panose="02020603050405020304" pitchFamily="18" charset="0"/>
              </a:rPr>
              <a:t>Phân tích/Đánh giá</a:t>
            </a:r>
          </a:p>
        </p:txBody>
      </p:sp>
      <p:pic>
        <p:nvPicPr>
          <p:cNvPr id="105" name="Picture 104">
            <a:extLst>
              <a:ext uri="{FF2B5EF4-FFF2-40B4-BE49-F238E27FC236}">
                <a16:creationId xmlns:a16="http://schemas.microsoft.com/office/drawing/2014/main" xmlns="" id="{6C0963AF-2C0C-426C-8070-5E29C3C95D73}"/>
              </a:ext>
            </a:extLst>
          </p:cNvPr>
          <p:cNvPicPr>
            <a:picLocks noChangeAspect="1"/>
          </p:cNvPicPr>
          <p:nvPr/>
        </p:nvPicPr>
        <p:blipFill>
          <a:blip r:embed="rId3"/>
          <a:stretch>
            <a:fillRect/>
          </a:stretch>
        </p:blipFill>
        <p:spPr>
          <a:xfrm>
            <a:off x="464932" y="1711443"/>
            <a:ext cx="510877" cy="512345"/>
          </a:xfrm>
          <a:prstGeom prst="rect">
            <a:avLst/>
          </a:prstGeom>
        </p:spPr>
      </p:pic>
      <p:grpSp>
        <p:nvGrpSpPr>
          <p:cNvPr id="43" name="Group 42">
            <a:extLst>
              <a:ext uri="{FF2B5EF4-FFF2-40B4-BE49-F238E27FC236}">
                <a16:creationId xmlns:a16="http://schemas.microsoft.com/office/drawing/2014/main" xmlns="" id="{A8154242-FDDD-4D8E-A79C-6854A056CF08}"/>
              </a:ext>
            </a:extLst>
          </p:cNvPr>
          <p:cNvGrpSpPr/>
          <p:nvPr/>
        </p:nvGrpSpPr>
        <p:grpSpPr>
          <a:xfrm>
            <a:off x="795408" y="288234"/>
            <a:ext cx="11197675" cy="678753"/>
            <a:chOff x="976560" y="323070"/>
            <a:chExt cx="10755065" cy="678753"/>
          </a:xfrm>
        </p:grpSpPr>
        <p:cxnSp>
          <p:nvCxnSpPr>
            <p:cNvPr id="44" name="Straight Connector 43">
              <a:extLst>
                <a:ext uri="{FF2B5EF4-FFF2-40B4-BE49-F238E27FC236}">
                  <a16:creationId xmlns:a16="http://schemas.microsoft.com/office/drawing/2014/main" xmlns="" id="{5B26A273-2C1B-4A95-9610-BA78822ABAD5}"/>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xmlns="" id="{87BF5C6C-A4D8-4EC9-8FA1-2D78BAD3BA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pic>
        <p:nvPicPr>
          <p:cNvPr id="8" name="Picture 7">
            <a:extLst>
              <a:ext uri="{FF2B5EF4-FFF2-40B4-BE49-F238E27FC236}">
                <a16:creationId xmlns:a16="http://schemas.microsoft.com/office/drawing/2014/main" xmlns="" id="{C65D9E4A-4ED3-E793-6DD3-9D8814CBAD83}"/>
              </a:ext>
            </a:extLst>
          </p:cNvPr>
          <p:cNvPicPr>
            <a:picLocks noChangeAspect="1"/>
          </p:cNvPicPr>
          <p:nvPr/>
        </p:nvPicPr>
        <p:blipFill>
          <a:blip r:embed="rId5"/>
          <a:stretch>
            <a:fillRect/>
          </a:stretch>
        </p:blipFill>
        <p:spPr>
          <a:xfrm>
            <a:off x="8826986" y="2139266"/>
            <a:ext cx="3035938" cy="3502009"/>
          </a:xfrm>
          <a:prstGeom prst="rect">
            <a:avLst/>
          </a:prstGeom>
        </p:spPr>
      </p:pic>
    </p:spTree>
    <p:extLst>
      <p:ext uri="{BB962C8B-B14F-4D97-AF65-F5344CB8AC3E}">
        <p14:creationId xmlns:p14="http://schemas.microsoft.com/office/powerpoint/2010/main" val="16898506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4F79AF3-24C5-47EC-8B09-710ADAA97244}" type="slidenum">
              <a:rPr lang="en-US" altLang="en-US" sz="1200" smtClean="0">
                <a:solidFill>
                  <a:srgbClr val="D2A43B"/>
                </a:solidFill>
                <a:latin typeface="Montserrat"/>
              </a:rPr>
              <a:pPr fontAlgn="base">
                <a:lnSpc>
                  <a:spcPct val="100000"/>
                </a:lnSpc>
                <a:spcBef>
                  <a:spcPct val="0"/>
                </a:spcBef>
                <a:spcAft>
                  <a:spcPct val="0"/>
                </a:spcAft>
                <a:buFontTx/>
                <a:buNone/>
              </a:pPr>
              <a:t>22</a:t>
            </a:fld>
            <a:endParaRPr lang="en-US" altLang="en-US" sz="1200">
              <a:solidFill>
                <a:srgbClr val="D2A43B"/>
              </a:solidFill>
              <a:latin typeface="Montserrat"/>
            </a:endParaRPr>
          </a:p>
        </p:txBody>
      </p:sp>
      <p:sp>
        <p:nvSpPr>
          <p:cNvPr id="1048638" name="Title 4"/>
          <p:cNvSpPr>
            <a:spLocks noGrp="1"/>
          </p:cNvSpPr>
          <p:nvPr>
            <p:ph type="title"/>
          </p:nvPr>
        </p:nvSpPr>
        <p:spPr>
          <a:xfrm>
            <a:off x="152400" y="76200"/>
            <a:ext cx="8686799" cy="815200"/>
          </a:xfrm>
        </p:spPr>
        <p:txBody>
          <a:bodyPr rtlCol="0">
            <a:normAutofit/>
          </a:bodyPr>
          <a:lstStyle/>
          <a:p>
            <a:pPr eaLnBrk="1" fontAlgn="auto" hangingPunct="1">
              <a:spcAft>
                <a:spcPts val="0"/>
              </a:spcAft>
              <a:defRPr/>
            </a:pPr>
            <a:r>
              <a:rPr lang="en-US" sz="2800" dirty="0">
                <a:ln w="0"/>
                <a:solidFill>
                  <a:schemeClr val="accent4"/>
                </a:solidFill>
                <a:latin typeface="Times New Roman" panose="02020603050405020304" pitchFamily="18" charset="0"/>
                <a:cs typeface="Times New Roman" panose="02020603050405020304" pitchFamily="18" charset="0"/>
              </a:rPr>
              <a:t>TÌNH TRẠNG KỸ THUẬT ĐỘI BAY ATR72 </a:t>
            </a:r>
            <a:endParaRPr lang="vi-VN" sz="2800" dirty="0">
              <a:ln w="0"/>
              <a:solidFill>
                <a:schemeClr val="accent4"/>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252C54B9-AD3B-54B9-0F8F-0728352A297E}"/>
              </a:ext>
            </a:extLst>
          </p:cNvPr>
          <p:cNvSpPr txBox="1"/>
          <p:nvPr/>
        </p:nvSpPr>
        <p:spPr>
          <a:xfrm>
            <a:off x="380999" y="762000"/>
            <a:ext cx="10915611" cy="2062103"/>
          </a:xfrm>
          <a:prstGeom prst="rect">
            <a:avLst/>
          </a:prstGeom>
          <a:noFill/>
        </p:spPr>
        <p:txBody>
          <a:bodyPr wrap="square">
            <a:spAutoFit/>
          </a:bodyPr>
          <a:lstStyle/>
          <a:p>
            <a:pPr lvl="0" algn="just">
              <a:defRPr/>
            </a:pPr>
            <a:r>
              <a:rPr lang="en-US" sz="1600" b="1" dirty="0" err="1">
                <a:latin typeface="Times New Roman" panose="02020603050405020304" pitchFamily="18" charset="0"/>
                <a:cs typeface="Times New Roman" panose="02020603050405020304" pitchFamily="18" charset="0"/>
              </a:rPr>
              <a:t>Nhận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xét</a:t>
            </a:r>
            <a:r>
              <a:rPr lang="en-US" sz="1600" b="1">
                <a:latin typeface="Times New Roman" panose="02020603050405020304" pitchFamily="18" charset="0"/>
                <a:cs typeface="Times New Roman" panose="02020603050405020304" pitchFamily="18" charset="0"/>
              </a:rPr>
              <a:t>: </a:t>
            </a:r>
            <a:r>
              <a:rPr lang="en-US" sz="1600">
                <a:latin typeface="Times New Roman" panose="02020603050405020304" pitchFamily="18" charset="0"/>
                <a:cs typeface="Times New Roman" panose="02020603050405020304" pitchFamily="18" charset="0"/>
              </a:rPr>
              <a:t>Tình trạng kỹ thuật ATR72 trong tuần </a:t>
            </a:r>
            <a:r>
              <a:rPr lang="en-US" sz="1600" smtClean="0">
                <a:latin typeface="Times New Roman" panose="02020603050405020304" pitchFamily="18" charset="0"/>
                <a:cs typeface="Times New Roman" panose="02020603050405020304" pitchFamily="18" charset="0"/>
              </a:rPr>
              <a:t>không tốt, nổi cộm phát </a:t>
            </a:r>
            <a:r>
              <a:rPr lang="en-US" sz="1600" err="1">
                <a:latin typeface="Times New Roman" panose="02020603050405020304" pitchFamily="18" charset="0"/>
                <a:cs typeface="Times New Roman" panose="02020603050405020304" pitchFamily="18" charset="0"/>
              </a:rPr>
              <a:t>sinh</a:t>
            </a:r>
            <a:r>
              <a:rPr lang="en-US" sz="1600">
                <a:latin typeface="Times New Roman" panose="02020603050405020304" pitchFamily="18" charset="0"/>
                <a:cs typeface="Times New Roman" panose="02020603050405020304" pitchFamily="18" charset="0"/>
              </a:rPr>
              <a:t> 01 </a:t>
            </a:r>
            <a:r>
              <a:rPr lang="en-US" sz="1600" err="1">
                <a:latin typeface="Times New Roman" panose="02020603050405020304" pitchFamily="18" charset="0"/>
                <a:cs typeface="Times New Roman" panose="02020603050405020304" pitchFamily="18" charset="0"/>
              </a:rPr>
              <a:t>trường</a:t>
            </a:r>
            <a:r>
              <a:rPr lang="en-US" sz="1600">
                <a:latin typeface="Times New Roman" panose="02020603050405020304" pitchFamily="18" charset="0"/>
                <a:cs typeface="Times New Roman" panose="02020603050405020304" pitchFamily="18" charset="0"/>
              </a:rPr>
              <a:t> </a:t>
            </a:r>
            <a:r>
              <a:rPr lang="en-US" sz="1600" smtClean="0">
                <a:latin typeface="Times New Roman" panose="02020603050405020304" pitchFamily="18" charset="0"/>
                <a:cs typeface="Times New Roman" panose="02020603050405020304" pitchFamily="18" charset="0"/>
              </a:rPr>
              <a:t>hợp RTO và 01 trường hợp AOG đều của tàu B223, cụ thể:</a:t>
            </a:r>
          </a:p>
          <a:p>
            <a:pPr marL="285750" lvl="0" indent="-285750" algn="just">
              <a:buFontTx/>
              <a:buChar char="-"/>
              <a:defRPr/>
            </a:pPr>
            <a:r>
              <a:rPr lang="en-US" sz="1600" smtClean="0">
                <a:latin typeface="Times New Roman" panose="02020603050405020304" pitchFamily="18" charset="0"/>
                <a:cs typeface="Times New Roman" panose="02020603050405020304" pitchFamily="18" charset="0"/>
              </a:rPr>
              <a:t>GTB: B223 ngày 15/02/2025 </a:t>
            </a:r>
            <a:r>
              <a:rPr lang="en-US" sz="1600">
                <a:latin typeface="Times New Roman" panose="02020603050405020304" pitchFamily="18" charset="0"/>
                <a:cs typeface="Times New Roman" panose="02020603050405020304" pitchFamily="18" charset="0"/>
              </a:rPr>
              <a:t>VN1857 </a:t>
            </a:r>
            <a:r>
              <a:rPr lang="en-US" sz="1600" smtClean="0">
                <a:latin typeface="Times New Roman" panose="02020603050405020304" pitchFamily="18" charset="0"/>
                <a:cs typeface="Times New Roman" panose="02020603050405020304" pitchFamily="18" charset="0"/>
              </a:rPr>
              <a:t>SGN-VCS taxi </a:t>
            </a:r>
            <a:r>
              <a:rPr lang="en-US" sz="1600">
                <a:latin typeface="Times New Roman" panose="02020603050405020304" pitchFamily="18" charset="0"/>
                <a:cs typeface="Times New Roman" panose="02020603050405020304" pitchFamily="18" charset="0"/>
              </a:rPr>
              <a:t>out quay lại do </a:t>
            </a:r>
            <a:r>
              <a:rPr lang="en-US" sz="1600" smtClean="0">
                <a:latin typeface="Times New Roman" panose="02020603050405020304" pitchFamily="18" charset="0"/>
                <a:cs typeface="Times New Roman" panose="02020603050405020304" pitchFamily="18" charset="0"/>
              </a:rPr>
              <a:t>CAPT báo phát sinh “AHRS </a:t>
            </a:r>
            <a:r>
              <a:rPr lang="en-US" sz="1600">
                <a:latin typeface="Times New Roman" panose="02020603050405020304" pitchFamily="18" charset="0"/>
                <a:cs typeface="Times New Roman" panose="02020603050405020304" pitchFamily="18" charset="0"/>
              </a:rPr>
              <a:t>1 LOSS SIGNAL”. Đã thay thế khối máy tính AHRU #1 để tàu tiếp tục khai thác trở lại. Tuy nhiên, trong quá trình khai thác sau đó, tàu vẫn nháy lại hỏng hóc (4 leg) nên có thể còn liên quan đến cả wiring hoặc connector. Đang tiếp tục theo </a:t>
            </a:r>
            <a:r>
              <a:rPr lang="en-US" sz="1600" smtClean="0">
                <a:latin typeface="Times New Roman" panose="02020603050405020304" pitchFamily="18" charset="0"/>
                <a:cs typeface="Times New Roman" panose="02020603050405020304" pitchFamily="18" charset="0"/>
              </a:rPr>
              <a:t>dõi.</a:t>
            </a:r>
            <a:endParaRPr lang="en-US" sz="1600">
              <a:latin typeface="Times New Roman" panose="02020603050405020304" pitchFamily="18" charset="0"/>
              <a:cs typeface="Times New Roman" panose="02020603050405020304" pitchFamily="18" charset="0"/>
            </a:endParaRPr>
          </a:p>
          <a:p>
            <a:pPr marL="285750" lvl="0" indent="-285750" algn="just">
              <a:buFontTx/>
              <a:buChar char="-"/>
              <a:defRPr/>
            </a:pPr>
            <a:r>
              <a:rPr lang="en-US" sz="1600" smtClean="0">
                <a:latin typeface="Times New Roman" panose="02020603050405020304" pitchFamily="18" charset="0"/>
                <a:cs typeface="Times New Roman" panose="02020603050405020304" pitchFamily="18" charset="0"/>
              </a:rPr>
              <a:t>RTO: B225 ngày 16/02/2025 VN1893 SGN-VCS vừa chạy đà thì Capt báo RTO và GTB do TAKE OFF CONFIG. Khi tàu quay lại đã thực hiện vệ sinh lại connector 2CT và tàu tiếp tục khai thác (có cử CRS B bay theo). Hiện tại nghi ngờ nhiều nhất vẫn là thiết bị đồng hồ Pitch Trim Indicator bị lỗi gây ra sai chỉ thị. Đang theo dõi tiếp để tìm nguyên nhân.</a:t>
            </a:r>
            <a:endParaRPr lang="vi-V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421295"/>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smtClean="0">
                <a:ln w="0"/>
                <a:solidFill>
                  <a:schemeClr val="accent4"/>
                </a:solidFill>
                <a:latin typeface="Times New Roman" panose="02020603050405020304" pitchFamily="18" charset="0"/>
                <a:cs typeface="Times New Roman" panose="02020603050405020304" pitchFamily="18" charset="0"/>
              </a:rPr>
              <a:t>DISPATCH RELIABILITY W07 </a:t>
            </a:r>
            <a:r>
              <a:rPr lang="vi-VN" smtClean="0">
                <a:ln w="0"/>
                <a:solidFill>
                  <a:schemeClr val="accent4"/>
                </a:solidFill>
                <a:latin typeface="Times New Roman" panose="02020603050405020304" pitchFamily="18" charset="0"/>
                <a:cs typeface="Times New Roman" panose="02020603050405020304" pitchFamily="18" charset="0"/>
              </a:rPr>
              <a:t>(</a:t>
            </a:r>
            <a:r>
              <a:rPr lang="en-US" smtClean="0">
                <a:ln w="0"/>
                <a:solidFill>
                  <a:schemeClr val="accent4"/>
                </a:solidFill>
                <a:latin typeface="Times New Roman" panose="02020603050405020304" pitchFamily="18" charset="0"/>
                <a:cs typeface="Times New Roman" panose="02020603050405020304" pitchFamily="18" charset="0"/>
              </a:rPr>
              <a:t>10/02/2025-16/02/20</a:t>
            </a:r>
            <a:r>
              <a:rPr lang="vi-VN" smtClean="0">
                <a:ln w="0"/>
                <a:solidFill>
                  <a:schemeClr val="accent4"/>
                </a:solidFill>
                <a:latin typeface="Times New Roman" panose="02020603050405020304" pitchFamily="18" charset="0"/>
                <a:cs typeface="Times New Roman" panose="02020603050405020304" pitchFamily="18" charset="0"/>
              </a:rPr>
              <a:t>2</a:t>
            </a:r>
            <a:r>
              <a:rPr lang="en-US" smtClean="0">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7" name="Chart 6"/>
          <p:cNvGraphicFramePr>
            <a:graphicFrameLocks/>
          </p:cNvGraphicFramePr>
          <p:nvPr/>
        </p:nvGraphicFramePr>
        <p:xfrm>
          <a:off x="392969" y="732346"/>
          <a:ext cx="11155680" cy="321945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552666" y="4395787"/>
            <a:ext cx="7073084" cy="14927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a:t>
            </a:r>
            <a:r>
              <a:rPr kumimoji="0" lang="en-US" sz="1300" b="0" i="0" u="none" strike="noStrike" kern="1200" cap="none" spc="0" normalizeH="0" baseline="0" noProof="0" smtClean="0">
                <a:ln>
                  <a:noFill/>
                </a:ln>
                <a:solidFill>
                  <a:prstClr val="black"/>
                </a:solidFill>
                <a:effectLst/>
                <a:uLnTx/>
                <a:uFillTx/>
                <a:latin typeface="Times New Roman" panose="02020603050405020304" pitchFamily="18" charset="0"/>
                <a:cs typeface="Times New Roman" panose="02020603050405020304" pitchFamily="18" charset="0"/>
              </a:rPr>
              <a:t>07/2025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tin cậy cất </a:t>
            </a:r>
            <a:r>
              <a:rPr kumimoji="0" lang="en-US" sz="1300" b="0" i="0" u="none" strike="noStrike" kern="1200" cap="none" spc="0" normalizeH="0" baseline="0" noProof="0" smtClean="0">
                <a:ln>
                  <a:noFill/>
                </a:ln>
                <a:solidFill>
                  <a:prstClr val="black"/>
                </a:solidFill>
                <a:effectLst/>
                <a:uLnTx/>
                <a:uFillTx/>
                <a:latin typeface="Times New Roman" panose="02020603050405020304" pitchFamily="18" charset="0"/>
                <a:cs typeface="Times New Roman" panose="02020603050405020304" pitchFamily="18" charset="0"/>
              </a:rPr>
              <a:t>cánh</a:t>
            </a:r>
            <a:r>
              <a:rPr lang="en-US" sz="1300">
                <a:solidFill>
                  <a:prstClr val="black"/>
                </a:solidFill>
                <a:latin typeface="Times New Roman" panose="02020603050405020304" pitchFamily="18" charset="0"/>
                <a:cs typeface="Times New Roman" panose="02020603050405020304" pitchFamily="18" charset="0"/>
              </a:rPr>
              <a:t> </a:t>
            </a:r>
            <a:r>
              <a:rPr lang="en-US" sz="1300" smtClean="0">
                <a:solidFill>
                  <a:prstClr val="black"/>
                </a:solidFill>
                <a:latin typeface="Times New Roman" panose="02020603050405020304" pitchFamily="18" charset="0"/>
                <a:cs typeface="Times New Roman" panose="02020603050405020304" pitchFamily="18" charset="0"/>
              </a:rPr>
              <a:t>đội A321, A350, B787  đạt mục tiêu, riêng đội ATR72 không đạt mục tiêu:</a:t>
            </a:r>
            <a:endParaRPr kumimoji="0" lang="en-US" sz="1300" b="0" i="0" u="none" strike="noStrike" kern="1200" cap="none" spc="0" normalizeH="0" baseline="0" noProof="0" dirty="0" smtClean="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300" dirty="0" smtClean="0">
                <a:solidFill>
                  <a:prstClr val="black"/>
                </a:solidFill>
                <a:latin typeface="Times New Roman" panose="02020603050405020304" pitchFamily="18" charset="0"/>
                <a:cs typeface="Times New Roman" panose="02020603050405020304" pitchFamily="18" charset="0"/>
              </a:rPr>
              <a:t>A3</a:t>
            </a:r>
            <a:r>
              <a:rPr lang="vi-VN" sz="1300" dirty="0" smtClean="0">
                <a:solidFill>
                  <a:prstClr val="black"/>
                </a:solidFill>
                <a:latin typeface="Times New Roman" panose="02020603050405020304" pitchFamily="18" charset="0"/>
                <a:cs typeface="Times New Roman" panose="02020603050405020304" pitchFamily="18" charset="0"/>
              </a:rPr>
              <a:t>21</a:t>
            </a:r>
            <a:r>
              <a:rPr lang="en-US" sz="1300" smtClean="0">
                <a:solidFill>
                  <a:prstClr val="black"/>
                </a:solidFill>
                <a:latin typeface="Times New Roman" panose="02020603050405020304" pitchFamily="18" charset="0"/>
                <a:cs typeface="Times New Roman" panose="02020603050405020304" pitchFamily="18" charset="0"/>
              </a:rPr>
              <a:t>: 99,86% cao hơn 0,23% </a:t>
            </a:r>
            <a:r>
              <a:rPr lang="en-US" sz="1300" dirty="0" smtClean="0">
                <a:solidFill>
                  <a:prstClr val="black"/>
                </a:solidFill>
                <a:latin typeface="Times New Roman" panose="02020603050405020304" pitchFamily="18" charset="0"/>
                <a:cs typeface="Times New Roman" panose="02020603050405020304" pitchFamily="18" charset="0"/>
              </a:rPr>
              <a:t>so với </a:t>
            </a:r>
            <a:r>
              <a:rPr lang="en-US" sz="1300" smtClean="0">
                <a:solidFill>
                  <a:prstClr val="black"/>
                </a:solidFill>
                <a:latin typeface="Times New Roman" panose="02020603050405020304" pitchFamily="18" charset="0"/>
                <a:cs typeface="Times New Roman" panose="02020603050405020304" pitchFamily="18" charset="0"/>
              </a:rPr>
              <a:t>mục tiêu.</a:t>
            </a:r>
            <a:endParaRPr lang="vi-VN" sz="1300" dirty="0" smtClean="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300" dirty="0" smtClean="0">
                <a:solidFill>
                  <a:prstClr val="black"/>
                </a:solidFill>
                <a:latin typeface="Times New Roman" panose="02020603050405020304" pitchFamily="18" charset="0"/>
                <a:cs typeface="Times New Roman" panose="02020603050405020304" pitchFamily="18" charset="0"/>
              </a:rPr>
              <a:t>A350</a:t>
            </a:r>
            <a:r>
              <a:rPr lang="en-US" sz="1300">
                <a:solidFill>
                  <a:prstClr val="black"/>
                </a:solidFill>
                <a:latin typeface="Times New Roman" panose="02020603050405020304" pitchFamily="18" charset="0"/>
                <a:cs typeface="Times New Roman" panose="02020603050405020304" pitchFamily="18" charset="0"/>
              </a:rPr>
              <a:t>: </a:t>
            </a:r>
            <a:r>
              <a:rPr lang="en-US" sz="1300" smtClean="0">
                <a:solidFill>
                  <a:prstClr val="black"/>
                </a:solidFill>
                <a:latin typeface="Times New Roman" panose="02020603050405020304" pitchFamily="18" charset="0"/>
                <a:cs typeface="Times New Roman" panose="02020603050405020304" pitchFamily="18" charset="0"/>
              </a:rPr>
              <a:t>100% cao  hơn 0,56% </a:t>
            </a:r>
            <a:r>
              <a:rPr lang="en-US" sz="1300" dirty="0" smtClean="0">
                <a:solidFill>
                  <a:prstClr val="black"/>
                </a:solidFill>
                <a:latin typeface="Times New Roman" panose="02020603050405020304" pitchFamily="18" charset="0"/>
                <a:cs typeface="Times New Roman" panose="02020603050405020304" pitchFamily="18" charset="0"/>
              </a:rPr>
              <a:t>so với </a:t>
            </a:r>
            <a:r>
              <a:rPr lang="en-US" sz="1300" smtClean="0">
                <a:solidFill>
                  <a:prstClr val="black"/>
                </a:solidFill>
                <a:latin typeface="Times New Roman" panose="02020603050405020304" pitchFamily="18" charset="0"/>
                <a:cs typeface="Times New Roman" panose="02020603050405020304" pitchFamily="18" charset="0"/>
              </a:rPr>
              <a:t>mục tiêu. </a:t>
            </a:r>
          </a:p>
          <a:p>
            <a:pPr marL="285750" indent="-285750">
              <a:buFont typeface="Wingdings" panose="05000000000000000000" pitchFamily="2" charset="2"/>
              <a:buChar char="v"/>
              <a:defRPr/>
            </a:pPr>
            <a:r>
              <a:rPr lang="en-US" sz="1300" smtClean="0">
                <a:solidFill>
                  <a:prstClr val="black"/>
                </a:solidFill>
                <a:latin typeface="Times New Roman" panose="02020603050405020304" pitchFamily="18" charset="0"/>
                <a:cs typeface="Times New Roman" panose="02020603050405020304" pitchFamily="18" charset="0"/>
              </a:rPr>
              <a:t>B787</a:t>
            </a:r>
            <a:r>
              <a:rPr lang="en-US" sz="1300">
                <a:solidFill>
                  <a:prstClr val="black"/>
                </a:solidFill>
                <a:latin typeface="Times New Roman" panose="02020603050405020304" pitchFamily="18" charset="0"/>
                <a:cs typeface="Times New Roman" panose="02020603050405020304" pitchFamily="18" charset="0"/>
              </a:rPr>
              <a:t>: </a:t>
            </a:r>
            <a:r>
              <a:rPr lang="en-US" sz="1300" smtClean="0">
                <a:solidFill>
                  <a:prstClr val="black"/>
                </a:solidFill>
                <a:latin typeface="Times New Roman" panose="02020603050405020304" pitchFamily="18" charset="0"/>
                <a:cs typeface="Times New Roman" panose="02020603050405020304" pitchFamily="18" charset="0"/>
              </a:rPr>
              <a:t>99,73% </a:t>
            </a:r>
            <a:r>
              <a:rPr lang="en-US" sz="1300" smtClean="0">
                <a:latin typeface="Times New Roman" panose="02020603050405020304" pitchFamily="18" charset="0"/>
                <a:cs typeface="Times New Roman" panose="02020603050405020304" pitchFamily="18" charset="0"/>
              </a:rPr>
              <a:t>cao hơn 0,37 so với mục tiêu.</a:t>
            </a:r>
          </a:p>
          <a:p>
            <a:pPr marL="285750" indent="-285750">
              <a:buFont typeface="Wingdings" panose="05000000000000000000" pitchFamily="2" charset="2"/>
              <a:buChar char="v"/>
              <a:defRPr/>
            </a:pPr>
            <a:r>
              <a:rPr lang="en-US" sz="1300" smtClean="0">
                <a:solidFill>
                  <a:prstClr val="black"/>
                </a:solidFill>
                <a:latin typeface="Times New Roman" panose="02020603050405020304" pitchFamily="18" charset="0"/>
                <a:cs typeface="Times New Roman" panose="02020603050405020304" pitchFamily="18" charset="0"/>
              </a:rPr>
              <a:t>ATR72: 99,29% thấp hơn 0,36%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a:t>
            </a:r>
            <a:r>
              <a:rPr lang="en-US" sz="1300" smtClean="0">
                <a:solidFill>
                  <a:prstClr val="black"/>
                </a:solidFill>
                <a:latin typeface="Times New Roman" panose="02020603050405020304" pitchFamily="18" charset="0"/>
                <a:cs typeface="Times New Roman" panose="02020603050405020304" pitchFamily="18" charset="0"/>
              </a:rPr>
              <a:t>tiêu </a:t>
            </a:r>
            <a:r>
              <a:rPr lang="en-US" sz="1300">
                <a:solidFill>
                  <a:prstClr val="black"/>
                </a:solidFill>
                <a:latin typeface="Times New Roman" panose="02020603050405020304" pitchFamily="18" charset="0"/>
                <a:cs typeface="Times New Roman" panose="02020603050405020304" pitchFamily="18" charset="0"/>
              </a:rPr>
              <a:t>do có </a:t>
            </a:r>
            <a:r>
              <a:rPr lang="en-US" sz="1300" smtClean="0">
                <a:solidFill>
                  <a:prstClr val="black"/>
                </a:solidFill>
                <a:latin typeface="Times New Roman" panose="02020603050405020304" pitchFamily="18" charset="0"/>
                <a:cs typeface="Times New Roman" panose="02020603050405020304" pitchFamily="18" charset="0"/>
              </a:rPr>
              <a:t>02 </a:t>
            </a:r>
            <a:r>
              <a:rPr lang="en-US" sz="1300">
                <a:solidFill>
                  <a:prstClr val="black"/>
                </a:solidFill>
                <a:latin typeface="Times New Roman" panose="02020603050405020304" pitchFamily="18" charset="0"/>
                <a:cs typeface="Times New Roman" panose="02020603050405020304" pitchFamily="18" charset="0"/>
              </a:rPr>
              <a:t>sự kiện </a:t>
            </a:r>
            <a:r>
              <a:rPr lang="en-US" sz="1300" smtClean="0">
                <a:solidFill>
                  <a:prstClr val="black"/>
                </a:solidFill>
                <a:latin typeface="Times New Roman" panose="02020603050405020304" pitchFamily="18" charset="0"/>
                <a:cs typeface="Times New Roman" panose="02020603050405020304" pitchFamily="18" charset="0"/>
              </a:rPr>
              <a:t>liên quan tới hỏng hóc AHRU và TO CONFIG trên tàu B223.</a:t>
            </a:r>
            <a:endParaRPr lang="en-US" sz="13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xmlns="" id="{29C63447-9F0E-F5EB-F621-78A1848A848E}"/>
              </a:ext>
            </a:extLst>
          </p:cNvPr>
          <p:cNvGraphicFramePr>
            <a:graphicFrameLocks noGrp="1"/>
          </p:cNvGraphicFramePr>
          <p:nvPr>
            <p:extLst/>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xmlns="" val="2169649306"/>
                    </a:ext>
                  </a:extLst>
                </a:gridCol>
                <a:gridCol w="1496650">
                  <a:extLst>
                    <a:ext uri="{9D8B030D-6E8A-4147-A177-3AD203B41FA5}">
                      <a16:colId xmlns:a16="http://schemas.microsoft.com/office/drawing/2014/main" xmlns="" val="3397981216"/>
                    </a:ext>
                  </a:extLst>
                </a:gridCol>
                <a:gridCol w="1330690">
                  <a:extLst>
                    <a:ext uri="{9D8B030D-6E8A-4147-A177-3AD203B41FA5}">
                      <a16:colId xmlns:a16="http://schemas.microsoft.com/office/drawing/2014/main" xmlns=""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smtClean="0">
                          <a:solidFill>
                            <a:srgbClr val="00B050"/>
                          </a:solidFill>
                          <a:effectLst/>
                          <a:latin typeface="Times New Roman" panose="02020603050405020304" pitchFamily="18" charset="0"/>
                        </a:rPr>
                        <a:t>Số chuyến chậm, </a:t>
                      </a:r>
                      <a:br>
                        <a:rPr lang="en-US" sz="1400" b="1" i="0" u="none" strike="noStrike" smtClean="0">
                          <a:solidFill>
                            <a:srgbClr val="00B050"/>
                          </a:solidFill>
                          <a:effectLst/>
                          <a:latin typeface="Times New Roman" panose="02020603050405020304" pitchFamily="18" charset="0"/>
                        </a:rPr>
                      </a:br>
                      <a:r>
                        <a:rPr lang="en-US" sz="1400" b="1" i="0" u="none" strike="noStrike" smtClean="0">
                          <a:solidFill>
                            <a:srgbClr val="00B050"/>
                          </a:solidFill>
                          <a:effectLst/>
                          <a:latin typeface="Times New Roman" panose="02020603050405020304" pitchFamily="18" charset="0"/>
                        </a:rPr>
                        <a:t>hủy chuyến KT</a:t>
                      </a:r>
                      <a:endParaRPr lang="en-US" sz="1400" b="1" i="0" u="none" strike="noStrike">
                        <a:solidFill>
                          <a:srgbClr val="00B05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2144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xmlns=""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xmlns=""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xmlns=""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xmlns="" val="804591176"/>
                  </a:ext>
                </a:extLst>
              </a:tr>
            </a:tbl>
          </a:graphicData>
        </a:graphic>
      </p:graphicFrame>
    </p:spTree>
    <p:extLst>
      <p:ext uri="{BB962C8B-B14F-4D97-AF65-F5344CB8AC3E}">
        <p14:creationId xmlns:p14="http://schemas.microsoft.com/office/powerpoint/2010/main" val="21215120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24</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xmlns=""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xmlns="" id="{B51B125A-92E0-55D4-355A-A287D3D9C84E}"/>
              </a:ext>
            </a:extLst>
          </p:cNvPr>
          <p:cNvGraphicFramePr>
            <a:graphicFrameLocks/>
          </p:cNvGraphicFramePr>
          <p:nvPr>
            <p:extLst/>
          </p:nvPr>
        </p:nvGraphicFramePr>
        <p:xfrm>
          <a:off x="156783" y="508000"/>
          <a:ext cx="11878434" cy="6246849"/>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xmlns="" val="2758273930"/>
                    </a:ext>
                  </a:extLst>
                </a:gridCol>
                <a:gridCol w="1182943">
                  <a:extLst>
                    <a:ext uri="{9D8B030D-6E8A-4147-A177-3AD203B41FA5}">
                      <a16:colId xmlns:a16="http://schemas.microsoft.com/office/drawing/2014/main" xmlns="" val="221963637"/>
                    </a:ext>
                  </a:extLst>
                </a:gridCol>
                <a:gridCol w="8899599">
                  <a:extLst>
                    <a:ext uri="{9D8B030D-6E8A-4147-A177-3AD203B41FA5}">
                      <a16:colId xmlns:a16="http://schemas.microsoft.com/office/drawing/2014/main" xmlns="" val="426833219"/>
                    </a:ext>
                  </a:extLst>
                </a:gridCol>
                <a:gridCol w="1373165">
                  <a:extLst>
                    <a:ext uri="{9D8B030D-6E8A-4147-A177-3AD203B41FA5}">
                      <a16:colId xmlns:a16="http://schemas.microsoft.com/office/drawing/2014/main" xmlns="" val="3649942957"/>
                    </a:ext>
                  </a:extLst>
                </a:gridCol>
              </a:tblGrid>
              <a:tr h="542151">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xmlns="" val="2423454521"/>
                  </a:ext>
                </a:extLst>
              </a:tr>
              <a:tr h="1762312">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06/04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11k$/</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9k$/</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75tr,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kèm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một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điều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13.5k/10k,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90M.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bao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gồm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2022.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23/10: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Shop)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a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l</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SV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vẫn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giữ</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nguyên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07/11: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xác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T12 </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17 slot.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29/12: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PW &amp;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hành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 10/2, Senior Customer Support Director của PW đã sang làm việc với VNA và có cam kết sẽ tăng thêm slot sửa chữa cho VNA trong năm 2025 cho động c</a:t>
                      </a:r>
                      <a:r>
                        <a:rPr lang="vi-VN"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GTF. </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625972957"/>
                  </a:ext>
                </a:extLst>
              </a:tr>
              <a:tr h="187019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28 (02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đco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956556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T11/2023 induct 12/07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956533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T01/2024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T9/2024)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total 05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ESN 956695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a:t>
                      </a:r>
                      <a:endPar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Group 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chế</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02 ĐC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đáp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ứng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gói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sắp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Letter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Airshow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23/07/2025.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26/11: EVP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cập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bay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GE Leadership</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vi-VN" sz="1300" u="none" strike="noStrike" kern="1200" baseline="0">
                          <a:solidFill>
                            <a:srgbClr val="FF0000"/>
                          </a:solidFill>
                          <a:effectLst/>
                          <a:latin typeface="+mn-lt"/>
                          <a:ea typeface="+mn-ea"/>
                          <a:cs typeface="Times New Roman" panose="02020603050405020304" pitchFamily="18" charset="0"/>
                          <a:sym typeface="Wingdings" panose="05000000000000000000" pitchFamily="2" charset="2"/>
                        </a:rPr>
                        <a:t>Ngày 11/02</a:t>
                      </a:r>
                      <a:r>
                        <a:rPr lang="en-US" sz="1300" u="none" strike="noStrike" kern="1200" baseline="0">
                          <a:solidFill>
                            <a:srgbClr val="FF0000"/>
                          </a:solidFill>
                          <a:effectLst/>
                          <a:latin typeface="+mn-lt"/>
                          <a:ea typeface="+mn-ea"/>
                          <a:cs typeface="Times New Roman" panose="02020603050405020304" pitchFamily="18" charset="0"/>
                          <a:sym typeface="Wingdings" panose="05000000000000000000" pitchFamily="2" charset="2"/>
                        </a:rPr>
                        <a:t>:</a:t>
                      </a:r>
                      <a:r>
                        <a:rPr lang="vi-VN" sz="1300" u="none" strike="noStrike" kern="1200" baseline="0">
                          <a:solidFill>
                            <a:srgbClr val="FF0000"/>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a:solidFill>
                            <a:srgbClr val="FF0000"/>
                          </a:solidFill>
                          <a:effectLst/>
                          <a:latin typeface="+mn-lt"/>
                          <a:ea typeface="+mn-ea"/>
                          <a:cs typeface="Times New Roman" panose="02020603050405020304" pitchFamily="18" charset="0"/>
                          <a:sym typeface="Wingdings" panose="05000000000000000000" pitchFamily="2" charset="2"/>
                        </a:rPr>
                        <a:t>Đ</a:t>
                      </a:r>
                      <a:r>
                        <a:rPr lang="vi-VN" sz="1300" u="none" strike="noStrike" kern="1200" baseline="0">
                          <a:solidFill>
                            <a:srgbClr val="FF0000"/>
                          </a:solidFill>
                          <a:effectLst/>
                          <a:latin typeface="+mn-lt"/>
                          <a:ea typeface="+mn-ea"/>
                          <a:cs typeface="Times New Roman" panose="02020603050405020304" pitchFamily="18" charset="0"/>
                          <a:sym typeface="Wingdings" panose="05000000000000000000" pitchFamily="2" charset="2"/>
                        </a:rPr>
                        <a:t>ã họp telecon giữa VNA và GE dưới sự chị đạo của EVP về tình trạng động cơ GEnx hiện tại</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25107005"/>
                  </a:ext>
                </a:extLst>
              </a:tr>
              <a:tr h="1846952">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VP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A350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SV...).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QLVT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toán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nhằm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HĐ TCA.</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Trong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buổi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MRO Asia,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bổ</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T10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giai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đoạn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17/12 SVP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CEO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đạt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cụ</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thể</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rPr>
                        <a:t>Ngày 11/02, SVP của RRPF đã sang làm việc với VNA để đánh giá nhu cầu thuê động c</a:t>
                      </a:r>
                      <a:r>
                        <a:rPr lang="vi-VN" sz="1300" u="none" strike="noStrike" kern="1200" baseline="0">
                          <a:solidFill>
                            <a:srgbClr val="FF0000"/>
                          </a:solidFill>
                          <a:effectLst/>
                          <a:latin typeface="Times New Roman" panose="02020603050405020304" pitchFamily="18" charset="0"/>
                          <a:ea typeface="+mn-ea"/>
                          <a:cs typeface="Times New Roman" panose="02020603050405020304" pitchFamily="18" charset="0"/>
                        </a:rPr>
                        <a:t>ơ</a:t>
                      </a: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rPr>
                        <a:t> ngắn và giải hạn nhằm giảm AOG cho VNA. Dự kiến cuối tháng 2 RRPF sẽ tiếp tục sang làm việc.  </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599920082"/>
                  </a:ext>
                </a:extLst>
              </a:tr>
            </a:tbl>
          </a:graphicData>
        </a:graphic>
      </p:graphicFrame>
    </p:spTree>
    <p:extLst>
      <p:ext uri="{BB962C8B-B14F-4D97-AF65-F5344CB8AC3E}">
        <p14:creationId xmlns:p14="http://schemas.microsoft.com/office/powerpoint/2010/main" val="4305231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xmlns=""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13036765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DC22A72-54FF-8086-CABE-943B9F79B5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xmlns="" id="{84848883-0D37-D0EE-F00E-CA550378B7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23" y="134658"/>
            <a:ext cx="537821" cy="505652"/>
          </a:xfrm>
          <a:prstGeom prst="rect">
            <a:avLst/>
          </a:prstGeom>
        </p:spPr>
      </p:pic>
      <p:sp>
        <p:nvSpPr>
          <p:cNvPr id="7" name="Title 1">
            <a:extLst>
              <a:ext uri="{FF2B5EF4-FFF2-40B4-BE49-F238E27FC236}">
                <a16:creationId xmlns:a16="http://schemas.microsoft.com/office/drawing/2014/main" xmlns="" id="{209F39F1-CDB6-3B62-4B32-ACAA9A730526}"/>
              </a:ext>
            </a:extLst>
          </p:cNvPr>
          <p:cNvSpPr txBox="1">
            <a:spLocks/>
          </p:cNvSpPr>
          <p:nvPr/>
        </p:nvSpPr>
        <p:spPr>
          <a:xfrm>
            <a:off x="844871" y="203761"/>
            <a:ext cx="9132732" cy="458687"/>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2800" b="1">
                <a:solidFill>
                  <a:srgbClr val="D2A43B"/>
                </a:solidFill>
                <a:latin typeface="Times New Roman" panose="02020603050405020304" pitchFamily="18" charset="0"/>
                <a:ea typeface="Tahoma" pitchFamily="34" charset="0"/>
                <a:cs typeface="Times New Roman" panose="02020603050405020304" pitchFamily="18" charset="0"/>
              </a:defRPr>
            </a:lvl1pPr>
          </a:lstStyle>
          <a:p>
            <a:pPr defTabSz="914377">
              <a:defRPr/>
            </a:pPr>
            <a:r>
              <a:rPr lang="en-US" dirty="0"/>
              <a:t>NHU CẦU ĐỘNG CƠ DỰ </a:t>
            </a:r>
            <a:r>
              <a:rPr lang="en-US"/>
              <a:t>PHÒNG Q1-Q2/2025</a:t>
            </a:r>
            <a:endParaRPr lang="vi-VN" dirty="0"/>
          </a:p>
        </p:txBody>
      </p:sp>
      <p:grpSp>
        <p:nvGrpSpPr>
          <p:cNvPr id="8" name="Group 7">
            <a:extLst>
              <a:ext uri="{FF2B5EF4-FFF2-40B4-BE49-F238E27FC236}">
                <a16:creationId xmlns:a16="http://schemas.microsoft.com/office/drawing/2014/main" xmlns="" id="{9743D403-841B-4C88-9A8E-7F9B02422512}"/>
              </a:ext>
            </a:extLst>
          </p:cNvPr>
          <p:cNvGrpSpPr/>
          <p:nvPr/>
        </p:nvGrpSpPr>
        <p:grpSpPr>
          <a:xfrm>
            <a:off x="932601" y="288236"/>
            <a:ext cx="10799027" cy="678753"/>
            <a:chOff x="1363421" y="323070"/>
            <a:chExt cx="10799027" cy="678753"/>
          </a:xfrm>
        </p:grpSpPr>
        <p:cxnSp>
          <p:nvCxnSpPr>
            <p:cNvPr id="9" name="Straight Connector 8">
              <a:extLst>
                <a:ext uri="{FF2B5EF4-FFF2-40B4-BE49-F238E27FC236}">
                  <a16:creationId xmlns:a16="http://schemas.microsoft.com/office/drawing/2014/main" xmlns="" id="{02D9B4C5-DC85-8A40-532D-EB022CFB7B1B}"/>
                </a:ext>
              </a:extLst>
            </p:cNvPr>
            <p:cNvCxnSpPr/>
            <p:nvPr/>
          </p:nvCxnSpPr>
          <p:spPr>
            <a:xfrm>
              <a:off x="1363421"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xmlns="" id="{C0941FC1-E581-6BDB-582E-7D9D8FDE8A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709946" y="323070"/>
              <a:ext cx="452502" cy="678753"/>
            </a:xfrm>
            <a:prstGeom prst="rect">
              <a:avLst/>
            </a:prstGeom>
          </p:spPr>
        </p:pic>
      </p:grpSp>
      <p:graphicFrame>
        <p:nvGraphicFramePr>
          <p:cNvPr id="19" name="Chart 18">
            <a:extLst>
              <a:ext uri="{FF2B5EF4-FFF2-40B4-BE49-F238E27FC236}">
                <a16:creationId xmlns:a16="http://schemas.microsoft.com/office/drawing/2014/main" xmlns="" id="{211010DD-A36B-7A4B-2FF6-01A604A6123F}"/>
              </a:ext>
            </a:extLst>
          </p:cNvPr>
          <p:cNvGraphicFramePr>
            <a:graphicFrameLocks/>
          </p:cNvGraphicFramePr>
          <p:nvPr>
            <p:extLst/>
          </p:nvPr>
        </p:nvGraphicFramePr>
        <p:xfrm>
          <a:off x="495300" y="801732"/>
          <a:ext cx="11236328" cy="4607249"/>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a:extLst>
              <a:ext uri="{FF2B5EF4-FFF2-40B4-BE49-F238E27FC236}">
                <a16:creationId xmlns:a16="http://schemas.microsoft.com/office/drawing/2014/main" xmlns="" id="{4DD2277F-2B8A-7B9C-24AD-6310EB414239}"/>
              </a:ext>
            </a:extLst>
          </p:cNvPr>
          <p:cNvSpPr txBox="1"/>
          <p:nvPr/>
        </p:nvSpPr>
        <p:spPr>
          <a:xfrm>
            <a:off x="477836" y="5458746"/>
            <a:ext cx="11236328" cy="1323054"/>
          </a:xfrm>
          <a:prstGeom prst="rect">
            <a:avLst/>
          </a:prstGeom>
          <a:noFill/>
          <a:ln>
            <a:solidFill>
              <a:schemeClr val="accent1"/>
            </a:solidFill>
          </a:ln>
        </p:spPr>
        <p:txBody>
          <a:bodyPr wrap="square" rtlCol="0">
            <a:spAutoFit/>
          </a:bodyPr>
          <a:lstStyle/>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*A321CEO: </a:t>
            </a:r>
            <a:r>
              <a:rPr lang="en-US" sz="1333" dirty="0" err="1">
                <a:solidFill>
                  <a:prstClr val="black"/>
                </a:solidFill>
                <a:latin typeface="Times New Roman" panose="02020603050405020304" pitchFamily="18" charset="0"/>
                <a:cs typeface="Times New Roman" panose="02020603050405020304" pitchFamily="18" charset="0"/>
              </a:rPr>
              <a:t>Đang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có</a:t>
            </a:r>
            <a:r>
              <a:rPr lang="en-US" sz="1333" dirty="0">
                <a:solidFill>
                  <a:prstClr val="black"/>
                </a:solidFill>
                <a:latin typeface="Times New Roman" panose="02020603050405020304" pitchFamily="18" charset="0"/>
                <a:cs typeface="Times New Roman" panose="02020603050405020304" pitchFamily="18" charset="0"/>
              </a:rPr>
              <a:t> 02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phòng</a:t>
            </a:r>
            <a:r>
              <a:rPr lang="en-US" sz="1333" dirty="0">
                <a:solidFill>
                  <a:prstClr val="black"/>
                </a:solidFill>
                <a:latin typeface="Times New Roman" panose="02020603050405020304" pitchFamily="18" charset="0"/>
                <a:cs typeface="Times New Roman" panose="02020603050405020304" pitchFamily="18" charset="0"/>
              </a:rPr>
              <a:t>.</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*A321NEO</a:t>
            </a:r>
            <a:r>
              <a:rPr lang="en-US" sz="1333" dirty="0">
                <a:solidFill>
                  <a:prstClr val="black"/>
                </a:solidFill>
                <a:latin typeface="Times New Roman" panose="02020603050405020304" pitchFamily="18" charset="0"/>
                <a:cs typeface="Times New Roman" panose="02020603050405020304" pitchFamily="18" charset="0"/>
              </a:rPr>
              <a:t>: </a:t>
            </a:r>
            <a:r>
              <a:rPr lang="vi-VN" sz="1333" dirty="0">
                <a:solidFill>
                  <a:prstClr val="black"/>
                </a:solidFill>
                <a:latin typeface="Times New Roman" panose="02020603050405020304" pitchFamily="18" charset="0"/>
                <a:cs typeface="Times New Roman" panose="02020603050405020304" pitchFamily="18" charset="0"/>
              </a:rPr>
              <a:t>Rủi ro động cơ đi shop về muộn (thực tế đã bị shop delay nhiều lần) và rủi ro tháo động cơ </a:t>
            </a:r>
            <a:r>
              <a:rPr lang="vi-VN" sz="1333" dirty="0">
                <a:latin typeface="Times New Roman" panose="02020603050405020304" pitchFamily="18" charset="0"/>
                <a:cs typeface="Times New Roman" panose="02020603050405020304" pitchFamily="18" charset="0"/>
              </a:rPr>
              <a:t>ngoài KH do Vibration, Oil Leak…08 động cơ đang sửa chữa bị delay nhiều lần từ đầu tháng 12, với tổng ~ 366 days, tương ứng ~ 183 AOG days.</a:t>
            </a:r>
            <a:endParaRPr lang="en-US" sz="1333" dirty="0">
              <a:highlight>
                <a:srgbClr val="FFFF00"/>
              </a:highlight>
              <a:latin typeface="Times New Roman" panose="02020603050405020304" pitchFamily="18" charset="0"/>
              <a:cs typeface="Times New Roman" panose="02020603050405020304" pitchFamily="18" charset="0"/>
            </a:endParaRP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*B787: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trên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kế</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hoạch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nhận</a:t>
            </a:r>
            <a:r>
              <a:rPr lang="en-US" sz="1333" dirty="0">
                <a:solidFill>
                  <a:prstClr val="black"/>
                </a:solidFill>
                <a:latin typeface="Times New Roman" panose="02020603050405020304" pitchFamily="18" charset="0"/>
                <a:cs typeface="Times New Roman" panose="02020603050405020304" pitchFamily="18" charset="0"/>
              </a:rPr>
              <a:t> 02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thuê</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vào</a:t>
            </a:r>
            <a:r>
              <a:rPr lang="en-US" sz="1333" dirty="0">
                <a:solidFill>
                  <a:prstClr val="black"/>
                </a:solidFill>
                <a:latin typeface="Times New Roman" panose="02020603050405020304" pitchFamily="18" charset="0"/>
                <a:cs typeface="Times New Roman" panose="02020603050405020304" pitchFamily="18" charset="0"/>
              </a:rPr>
              <a:t> T9 </a:t>
            </a:r>
            <a:r>
              <a:rPr lang="en-US" sz="1333" dirty="0" err="1">
                <a:solidFill>
                  <a:prstClr val="black"/>
                </a:solidFill>
                <a:latin typeface="Times New Roman" panose="02020603050405020304" pitchFamily="18" charset="0"/>
                <a:cs typeface="Times New Roman" panose="02020603050405020304" pitchFamily="18" charset="0"/>
              </a:rPr>
              <a:t>và</a:t>
            </a:r>
            <a:r>
              <a:rPr lang="en-US" sz="1333" dirty="0">
                <a:solidFill>
                  <a:prstClr val="black"/>
                </a:solidFill>
                <a:latin typeface="Times New Roman" panose="02020603050405020304" pitchFamily="18" charset="0"/>
                <a:cs typeface="Times New Roman" panose="02020603050405020304" pitchFamily="18" charset="0"/>
              </a:rPr>
              <a:t> T11.</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*ATR: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này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đã</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tính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nguồn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lực</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cho</a:t>
            </a:r>
            <a:r>
              <a:rPr lang="en-US" sz="1333" dirty="0">
                <a:solidFill>
                  <a:prstClr val="black"/>
                </a:solidFill>
                <a:latin typeface="Times New Roman" panose="02020603050405020304" pitchFamily="18" charset="0"/>
                <a:cs typeface="Times New Roman" panose="02020603050405020304" pitchFamily="18" charset="0"/>
              </a:rPr>
              <a:t> 05 </a:t>
            </a:r>
            <a:r>
              <a:rPr lang="en-US" sz="1333" dirty="0" err="1">
                <a:solidFill>
                  <a:prstClr val="black"/>
                </a:solidFill>
                <a:latin typeface="Times New Roman" panose="02020603050405020304" pitchFamily="18" charset="0"/>
                <a:cs typeface="Times New Roman" panose="02020603050405020304" pitchFamily="18" charset="0"/>
              </a:rPr>
              <a:t>tàu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gồm</a:t>
            </a:r>
            <a:r>
              <a:rPr lang="en-US" sz="1333" dirty="0">
                <a:solidFill>
                  <a:prstClr val="black"/>
                </a:solidFill>
                <a:latin typeface="Times New Roman" panose="02020603050405020304" pitchFamily="18" charset="0"/>
                <a:cs typeface="Times New Roman" panose="02020603050405020304" pitchFamily="18" charset="0"/>
              </a:rPr>
              <a:t> B225 RTS </a:t>
            </a:r>
            <a:r>
              <a:rPr lang="en-US" sz="1333" dirty="0" err="1">
                <a:solidFill>
                  <a:prstClr val="black"/>
                </a:solidFill>
                <a:latin typeface="Times New Roman" panose="02020603050405020304" pitchFamily="18" charset="0"/>
                <a:cs typeface="Times New Roman" panose="02020603050405020304" pitchFamily="18" charset="0"/>
              </a:rPr>
              <a:t>từ</a:t>
            </a:r>
            <a:r>
              <a:rPr lang="en-US" sz="1333" dirty="0">
                <a:solidFill>
                  <a:prstClr val="black"/>
                </a:solidFill>
                <a:latin typeface="Times New Roman" panose="02020603050405020304" pitchFamily="18" charset="0"/>
                <a:cs typeface="Times New Roman" panose="02020603050405020304" pitchFamily="18" charset="0"/>
              </a:rPr>
              <a:t> T1/2025).</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*A350</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Rủi</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tháo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c</a:t>
            </a:r>
            <a:r>
              <a:rPr lang="vi-VN" sz="1333" dirty="0">
                <a:solidFill>
                  <a:prstClr val="black"/>
                </a:solidFill>
                <a:latin typeface="Times New Roman" panose="02020603050405020304" pitchFamily="18" charset="0"/>
                <a:cs typeface="Times New Roman" panose="02020603050405020304" pitchFamily="18" charset="0"/>
              </a:rPr>
              <a:t>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ngoài</a:t>
            </a:r>
            <a:r>
              <a:rPr lang="en-US" sz="1333" dirty="0">
                <a:solidFill>
                  <a:prstClr val="black"/>
                </a:solidFill>
                <a:latin typeface="Times New Roman" panose="02020603050405020304" pitchFamily="18" charset="0"/>
                <a:cs typeface="Times New Roman" panose="02020603050405020304" pitchFamily="18" charset="0"/>
              </a:rPr>
              <a:t> KH do High oil consumption, HPT Blade</a:t>
            </a:r>
          </a:p>
        </p:txBody>
      </p:sp>
    </p:spTree>
    <p:extLst>
      <p:ext uri="{BB962C8B-B14F-4D97-AF65-F5344CB8AC3E}">
        <p14:creationId xmlns:p14="http://schemas.microsoft.com/office/powerpoint/2010/main" val="27921799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xmlns=""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27</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xmlns="" id="{ECD7242A-6EC4-6B1A-A438-79B9107F1CD6}"/>
              </a:ext>
            </a:extLst>
          </p:cNvPr>
          <p:cNvSpPr txBox="1"/>
          <p:nvPr/>
        </p:nvSpPr>
        <p:spPr>
          <a:xfrm>
            <a:off x="203197" y="0"/>
            <a:ext cx="15341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a:t>
            </a:r>
            <a:r>
              <a:rPr lang="en-US" sz="2667" b="1">
                <a:ln w="0"/>
                <a:solidFill>
                  <a:srgbClr val="FBAC00"/>
                </a:solidFill>
                <a:latin typeface="Times New Roman" panose="02020603050405020304" pitchFamily="18" charset="0"/>
                <a:cs typeface="Times New Roman" panose="02020603050405020304" pitchFamily="18" charset="0"/>
              </a:rPr>
              <a:t>FLEET T2-T4/2025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xmlns="" id="{3AE6B01F-84E3-881B-E0A6-2DB2CB883A49}"/>
              </a:ext>
            </a:extLst>
          </p:cNvPr>
          <p:cNvGraphicFramePr>
            <a:graphicFrameLocks/>
          </p:cNvGraphicFramePr>
          <p:nvPr>
            <p:extLst/>
          </p:nvPr>
        </p:nvGraphicFramePr>
        <p:xfrm>
          <a:off x="190500" y="592815"/>
          <a:ext cx="11811000" cy="467367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xmlns="" id="{6E40E499-B08B-C67F-623B-F023D733338B}"/>
              </a:ext>
            </a:extLst>
          </p:cNvPr>
          <p:cNvSpPr txBox="1"/>
          <p:nvPr/>
        </p:nvSpPr>
        <p:spPr>
          <a:xfrm>
            <a:off x="190500" y="5266487"/>
            <a:ext cx="11811000" cy="1384995"/>
          </a:xfrm>
          <a:prstGeom prst="rect">
            <a:avLst/>
          </a:prstGeom>
          <a:noFill/>
          <a:ln>
            <a:solidFill>
              <a:schemeClr val="accent1"/>
            </a:solidFill>
          </a:ln>
        </p:spPr>
        <p:txBody>
          <a:bodyPr wrap="square" rtlCol="0">
            <a:spAutoFit/>
          </a:bodyPr>
          <a:lstStyle/>
          <a:p>
            <a:r>
              <a:rPr lang="en-US" sz="1200" b="1" dirty="0">
                <a:latin typeface="Times New Roman" panose="02020603050405020304" pitchFamily="18" charset="0"/>
                <a:cs typeface="Times New Roman" panose="02020603050405020304" pitchFamily="18" charset="0"/>
              </a:rPr>
              <a:t>Action </a:t>
            </a:r>
            <a:r>
              <a:rPr lang="en-US" sz="1200" b="1" dirty="0" err="1">
                <a:latin typeface="Times New Roman" panose="02020603050405020304" pitchFamily="18" charset="0"/>
                <a:cs typeface="Times New Roman" panose="02020603050405020304" pitchFamily="18" charset="0"/>
              </a:rPr>
              <a:t>ngắn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hạn</a:t>
            </a:r>
            <a:r>
              <a:rPr lang="en-US" sz="1200" b="1" dirty="0">
                <a:latin typeface="Times New Roman" panose="02020603050405020304" pitchFamily="18" charset="0"/>
                <a:cs typeface="Times New Roman" panose="02020603050405020304" pitchFamily="18" charset="0"/>
              </a:rPr>
              <a:t> &amp; </a:t>
            </a:r>
            <a:r>
              <a:rPr lang="en-US" sz="1200" b="1" dirty="0" err="1">
                <a:latin typeface="Times New Roman" panose="02020603050405020304" pitchFamily="18" charset="0"/>
                <a:cs typeface="Times New Roman" panose="02020603050405020304" pitchFamily="18" charset="0"/>
              </a:rPr>
              <a:t>rủi</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ro</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nhận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diện</a:t>
            </a:r>
            <a:r>
              <a:rPr lang="en-US" sz="1200" dirty="0">
                <a:latin typeface="Times New Roman" panose="02020603050405020304" pitchFamily="18" charset="0"/>
                <a:cs typeface="Times New Roman" panose="02020603050405020304" pitchFamily="18" charset="0"/>
              </a:rPr>
              <a:t>:</a:t>
            </a:r>
          </a:p>
          <a:p>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A321CEO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Đang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có</a:t>
            </a:r>
            <a:r>
              <a:rPr lang="en-US" sz="1200" dirty="0">
                <a:latin typeface="Times New Roman" panose="02020603050405020304" pitchFamily="18" charset="0"/>
                <a:cs typeface="Times New Roman" panose="02020603050405020304" pitchFamily="18" charset="0"/>
              </a:rPr>
              <a:t> 02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phòng</a:t>
            </a:r>
            <a:r>
              <a:rPr lang="en-US" sz="1200" dirty="0">
                <a:latin typeface="Times New Roman" panose="02020603050405020304" pitchFamily="18" charset="0"/>
                <a:cs typeface="Times New Roman" panose="02020603050405020304" pitchFamily="18" charset="0"/>
              </a:rPr>
              <a:t>.</a:t>
            </a:r>
          </a:p>
          <a:p>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A321NEO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đi</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muộn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thực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đã</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bị</a:t>
            </a:r>
            <a:r>
              <a:rPr lang="en-US" sz="1200" dirty="0">
                <a:latin typeface="Times New Roman" panose="02020603050405020304" pitchFamily="18" charset="0"/>
                <a:cs typeface="Times New Roman" panose="02020603050405020304" pitchFamily="18" charset="0"/>
              </a:rPr>
              <a:t> shop delay </a:t>
            </a:r>
            <a:r>
              <a:rPr lang="en-US" sz="1200" dirty="0" err="1">
                <a:latin typeface="Times New Roman" panose="02020603050405020304" pitchFamily="18" charset="0"/>
                <a:cs typeface="Times New Roman" panose="02020603050405020304" pitchFamily="18" charset="0"/>
              </a:rPr>
              <a:t>nhiều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lần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ngoài</a:t>
            </a:r>
            <a:r>
              <a:rPr lang="en-US" sz="1200" dirty="0">
                <a:latin typeface="Times New Roman" panose="02020603050405020304" pitchFamily="18" charset="0"/>
                <a:cs typeface="Times New Roman" panose="02020603050405020304" pitchFamily="18" charset="0"/>
              </a:rPr>
              <a:t> KH do Vibration, Oil Leak, HPT </a:t>
            </a:r>
            <a:r>
              <a:rPr lang="en-US" sz="1200" dirty="0" err="1">
                <a:latin typeface="Times New Roman" panose="02020603050405020304" pitchFamily="18" charset="0"/>
                <a:cs typeface="Times New Roman" panose="02020603050405020304" pitchFamily="18" charset="0"/>
              </a:rPr>
              <a:t>Balde</a:t>
            </a:r>
            <a:r>
              <a:rPr lang="en-US" sz="1200" dirty="0">
                <a:latin typeface="Times New Roman" panose="02020603050405020304" pitchFamily="18" charset="0"/>
                <a:cs typeface="Times New Roman" panose="02020603050405020304" pitchFamily="18" charset="0"/>
              </a:rPr>
              <a:t>…</a:t>
            </a:r>
            <a:r>
              <a:rPr lang="vi-VN" sz="1200" dirty="0">
                <a:cs typeface="Times New Roman" panose="02020603050405020304" pitchFamily="18" charset="0"/>
              </a:rPr>
              <a:t>08 động cơ đang sửa chữa bị delay nhiều lần từ đầu tháng 12, với tổng ~ 366 days, tương ứng ~ 183 AOG days</a:t>
            </a:r>
            <a:r>
              <a:rPr lang="vi-VN" sz="1200" dirty="0">
                <a:solidFill>
                  <a:srgbClr val="FF0000"/>
                </a:solidFill>
                <a:cs typeface="Times New Roman" panose="02020603050405020304" pitchFamily="18" charset="0"/>
              </a:rPr>
              <a:t>.</a:t>
            </a:r>
            <a:endParaRPr lang="en-US" sz="1200" dirty="0">
              <a:highlight>
                <a:srgbClr val="FFFF00"/>
              </a:highlight>
              <a:latin typeface="Times New Roman" panose="02020603050405020304" pitchFamily="18" charset="0"/>
              <a:cs typeface="Times New Roman" panose="02020603050405020304" pitchFamily="18" charset="0"/>
            </a:endParaRP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B787 </a:t>
            </a:r>
            <a:r>
              <a:rPr lang="en-US" sz="1200" dirty="0">
                <a:latin typeface="Times New Roman" panose="02020603050405020304" pitchFamily="18" charset="0"/>
                <a:cs typeface="Times New Roman" panose="02020603050405020304" pitchFamily="18" charset="0"/>
              </a:rPr>
              <a:t>: Nhu </a:t>
            </a:r>
            <a:r>
              <a:rPr lang="en-US" sz="1200" dirty="0" err="1">
                <a:latin typeface="Times New Roman" panose="02020603050405020304" pitchFamily="18" charset="0"/>
                <a:cs typeface="Times New Roman" panose="02020603050405020304" pitchFamily="18" charset="0"/>
              </a:rPr>
              <a:t>cầu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cập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nhật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sau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có</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hoạch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nhận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thêm</a:t>
            </a:r>
            <a:r>
              <a:rPr lang="en-US" sz="1200" dirty="0">
                <a:latin typeface="Times New Roman" panose="02020603050405020304" pitchFamily="18" charset="0"/>
                <a:cs typeface="Times New Roman" panose="02020603050405020304" pitchFamily="18" charset="0"/>
              </a:rPr>
              <a:t> 02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thuê</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T9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T12/2024.</a:t>
            </a: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A350: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ngoài</a:t>
            </a:r>
            <a:r>
              <a:rPr lang="en-US" sz="1200" dirty="0">
                <a:latin typeface="Times New Roman" panose="02020603050405020304" pitchFamily="18" charset="0"/>
                <a:cs typeface="Times New Roman" panose="02020603050405020304" pitchFamily="18" charset="0"/>
              </a:rPr>
              <a:t> KH do High oil consumption, HPT Blade</a:t>
            </a:r>
          </a:p>
          <a:p>
            <a:pPr marL="0" lvl="1"/>
            <a:r>
              <a:rPr lang="en-US" sz="1200" b="1" dirty="0">
                <a:latin typeface="Times New Roman" panose="02020603050405020304" pitchFamily="18" charset="0"/>
                <a:cs typeface="Times New Roman" panose="02020603050405020304" pitchFamily="18" charset="0"/>
              </a:rPr>
              <a:t>*ATR72: </a:t>
            </a:r>
            <a:r>
              <a:rPr lang="vi-VN" sz="1200" dirty="0">
                <a:latin typeface="Times New Roman" panose="02020603050405020304" pitchFamily="18" charset="0"/>
                <a:cs typeface="Times New Roman" panose="02020603050405020304" pitchFamily="18" charset="0"/>
              </a:rPr>
              <a:t>B225</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dùng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ED0214 </a:t>
            </a:r>
            <a:r>
              <a:rPr lang="en-US" sz="1200" dirty="0" err="1">
                <a:latin typeface="Times New Roman" panose="02020603050405020304" pitchFamily="18" charset="0"/>
                <a:cs typeface="Times New Roman" panose="02020603050405020304" pitchFamily="18" charset="0"/>
              </a:rPr>
              <a:t>trong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151 FC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ED0241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giữa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tháng</a:t>
            </a:r>
            <a:r>
              <a:rPr lang="en-US" sz="1200" dirty="0">
                <a:latin typeface="Times New Roman" panose="02020603050405020304" pitchFamily="18" charset="0"/>
                <a:cs typeface="Times New Roman" panose="02020603050405020304" pitchFamily="18" charset="0"/>
              </a:rPr>
              <a:t> 1/25 </a:t>
            </a:r>
            <a:r>
              <a:rPr lang="en-US" sz="1200" dirty="0" err="1">
                <a:latin typeface="Times New Roman" panose="02020603050405020304" pitchFamily="18" charset="0"/>
                <a:cs typeface="Times New Roman" panose="02020603050405020304" pitchFamily="18" charset="0"/>
              </a:rPr>
              <a:t>sẽ</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lấy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ED0181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thay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cho</a:t>
            </a:r>
            <a:r>
              <a:rPr lang="en-US" sz="1200" dirty="0">
                <a:latin typeface="Times New Roman" panose="02020603050405020304" pitchFamily="18" charset="0"/>
                <a:cs typeface="Times New Roman" panose="02020603050405020304" pitchFamily="18" charset="0"/>
              </a:rPr>
              <a:t> ED0214.</a:t>
            </a:r>
          </a:p>
        </p:txBody>
      </p:sp>
    </p:spTree>
    <p:extLst>
      <p:ext uri="{BB962C8B-B14F-4D97-AF65-F5344CB8AC3E}">
        <p14:creationId xmlns:p14="http://schemas.microsoft.com/office/powerpoint/2010/main" val="13176041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366920A6-6915-5AA0-8C7B-86FFAA7C8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936F650-D34B-32F5-0EFD-8481BE8666F3}"/>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AOG </a:t>
            </a:r>
            <a:r>
              <a:rPr lang="en-US" sz="2667" b="1">
                <a:ln w="0"/>
                <a:solidFill>
                  <a:srgbClr val="FBAC00"/>
                </a:solidFill>
                <a:latin typeface="Times New Roman" panose="02020603050405020304" pitchFamily="18" charset="0"/>
                <a:cs typeface="Times New Roman" panose="02020603050405020304" pitchFamily="18" charset="0"/>
              </a:rPr>
              <a:t>A321NEO 2025 </a:t>
            </a:r>
            <a:r>
              <a:rPr lang="en-US" sz="2667" b="1" dirty="0">
                <a:ln w="0"/>
                <a:solidFill>
                  <a:srgbClr val="FBAC00"/>
                </a:solidFill>
                <a:latin typeface="Times New Roman" panose="02020603050405020304" pitchFamily="18" charset="0"/>
                <a:cs typeface="Times New Roman" panose="02020603050405020304" pitchFamily="18" charset="0"/>
              </a:rPr>
              <a:t>DO HPT HUB</a:t>
            </a:r>
          </a:p>
        </p:txBody>
      </p:sp>
      <p:graphicFrame>
        <p:nvGraphicFramePr>
          <p:cNvPr id="5" name="Chart 4">
            <a:extLst>
              <a:ext uri="{FF2B5EF4-FFF2-40B4-BE49-F238E27FC236}">
                <a16:creationId xmlns:a16="http://schemas.microsoft.com/office/drawing/2014/main" xmlns="" id="{427FA992-4418-43FA-AD23-E8F7BA3359A3}"/>
              </a:ext>
            </a:extLst>
          </p:cNvPr>
          <p:cNvGraphicFramePr>
            <a:graphicFrameLocks/>
          </p:cNvGraphicFramePr>
          <p:nvPr>
            <p:extLst/>
          </p:nvPr>
        </p:nvGraphicFramePr>
        <p:xfrm>
          <a:off x="304800" y="618734"/>
          <a:ext cx="11506200" cy="5324866"/>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xmlns="" id="{F732C424-6503-4AF0-A801-38325F00ECC8}"/>
              </a:ext>
            </a:extLst>
          </p:cNvPr>
          <p:cNvSpPr/>
          <p:nvPr/>
        </p:nvSpPr>
        <p:spPr>
          <a:xfrm>
            <a:off x="228600" y="6077034"/>
            <a:ext cx="9982200" cy="738664"/>
          </a:xfrm>
          <a:prstGeom prst="rect">
            <a:avLst/>
          </a:prstGeom>
          <a:solidFill>
            <a:srgbClr val="FFFF00"/>
          </a:solidFill>
          <a:ln>
            <a:solidFill>
              <a:schemeClr val="accent1"/>
            </a:solidFill>
          </a:ln>
        </p:spPr>
        <p:txBody>
          <a:bodyPr wrap="square">
            <a:spAutoFit/>
          </a:bodyPr>
          <a:lstStyle/>
          <a:p>
            <a:pPr algn="ctr"/>
            <a:r>
              <a:rPr lang="en-US" sz="1400" b="1"/>
              <a:t>PH</a:t>
            </a:r>
            <a:r>
              <a:rPr lang="vi-VN" sz="1400" b="1"/>
              <a:t>Ư</a:t>
            </a:r>
            <a:r>
              <a:rPr lang="en-US" sz="1400" b="1"/>
              <a:t>ƠNG ÁN GIỮ GIỜ</a:t>
            </a:r>
          </a:p>
          <a:p>
            <a:r>
              <a:rPr lang="en-US" sz="1400"/>
              <a:t>-</a:t>
            </a:r>
            <a:r>
              <a:rPr lang="vi-VN" sz="1400"/>
              <a:t>Giữ giờ động cơ P771710</a:t>
            </a:r>
            <a:r>
              <a:rPr lang="en-US" sz="1400"/>
              <a:t> trên A621</a:t>
            </a:r>
            <a:r>
              <a:rPr lang="vi-VN" sz="1400"/>
              <a:t> (hết hạn 05/07) và P772905 </a:t>
            </a:r>
            <a:r>
              <a:rPr lang="en-US" sz="1400"/>
              <a:t>trên A620 </a:t>
            </a:r>
            <a:r>
              <a:rPr lang="vi-VN" sz="1400"/>
              <a:t>(</a:t>
            </a:r>
            <a:r>
              <a:rPr lang="en-US" sz="1400"/>
              <a:t>hết hạn </a:t>
            </a:r>
            <a:r>
              <a:rPr lang="vi-VN" sz="1400"/>
              <a:t>19/07) sang sau cao điểm hè (15/8) để có thêm 1 tàu từ giữa T7.</a:t>
            </a:r>
            <a:endParaRPr lang="en-US" sz="1400"/>
          </a:p>
        </p:txBody>
      </p:sp>
    </p:spTree>
    <p:extLst>
      <p:ext uri="{BB962C8B-B14F-4D97-AF65-F5344CB8AC3E}">
        <p14:creationId xmlns:p14="http://schemas.microsoft.com/office/powerpoint/2010/main" val="17542364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CF201DCB-0F48-45FA-23D1-D69FC207E9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97759506-148F-6ED1-3F13-4D127FBBC4FC}"/>
              </a:ext>
            </a:extLst>
          </p:cNvPr>
          <p:cNvSpPr txBox="1"/>
          <p:nvPr/>
        </p:nvSpPr>
        <p:spPr>
          <a:xfrm>
            <a:off x="153472" y="517989"/>
            <a:ext cx="42672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xmlns="" id="{1AC2A46E-4E4A-6339-72C3-1800A18927D9}"/>
              </a:ext>
            </a:extLst>
          </p:cNvPr>
          <p:cNvGraphicFramePr>
            <a:graphicFrameLocks noGrp="1"/>
          </p:cNvGraphicFramePr>
          <p:nvPr>
            <p:extLst/>
          </p:nvPr>
        </p:nvGraphicFramePr>
        <p:xfrm>
          <a:off x="162461" y="1051467"/>
          <a:ext cx="11867079" cy="5352146"/>
        </p:xfrm>
        <a:graphic>
          <a:graphicData uri="http://schemas.openxmlformats.org/drawingml/2006/table">
            <a:tbl>
              <a:tblPr firstRow="1" bandRow="1">
                <a:tableStyleId>{5C22544A-7EE6-4342-B048-85BDC9FD1C3A}</a:tableStyleId>
              </a:tblPr>
              <a:tblGrid>
                <a:gridCol w="474684">
                  <a:extLst>
                    <a:ext uri="{9D8B030D-6E8A-4147-A177-3AD203B41FA5}">
                      <a16:colId xmlns:a16="http://schemas.microsoft.com/office/drawing/2014/main" xmlns="" val="1598605427"/>
                    </a:ext>
                  </a:extLst>
                </a:gridCol>
                <a:gridCol w="870252">
                  <a:extLst>
                    <a:ext uri="{9D8B030D-6E8A-4147-A177-3AD203B41FA5}">
                      <a16:colId xmlns:a16="http://schemas.microsoft.com/office/drawing/2014/main" xmlns="" val="3845954792"/>
                    </a:ext>
                  </a:extLst>
                </a:gridCol>
                <a:gridCol w="1186707">
                  <a:extLst>
                    <a:ext uri="{9D8B030D-6E8A-4147-A177-3AD203B41FA5}">
                      <a16:colId xmlns:a16="http://schemas.microsoft.com/office/drawing/2014/main" xmlns="" val="2148822928"/>
                    </a:ext>
                  </a:extLst>
                </a:gridCol>
                <a:gridCol w="1265823">
                  <a:extLst>
                    <a:ext uri="{9D8B030D-6E8A-4147-A177-3AD203B41FA5}">
                      <a16:colId xmlns:a16="http://schemas.microsoft.com/office/drawing/2014/main" xmlns="" val="2136763095"/>
                    </a:ext>
                  </a:extLst>
                </a:gridCol>
                <a:gridCol w="1740505">
                  <a:extLst>
                    <a:ext uri="{9D8B030D-6E8A-4147-A177-3AD203B41FA5}">
                      <a16:colId xmlns:a16="http://schemas.microsoft.com/office/drawing/2014/main" xmlns="" val="1185879436"/>
                    </a:ext>
                  </a:extLst>
                </a:gridCol>
                <a:gridCol w="2768984">
                  <a:extLst>
                    <a:ext uri="{9D8B030D-6E8A-4147-A177-3AD203B41FA5}">
                      <a16:colId xmlns:a16="http://schemas.microsoft.com/office/drawing/2014/main" xmlns="" val="3807119371"/>
                    </a:ext>
                  </a:extLst>
                </a:gridCol>
                <a:gridCol w="3560124">
                  <a:extLst>
                    <a:ext uri="{9D8B030D-6E8A-4147-A177-3AD203B41FA5}">
                      <a16:colId xmlns:a16="http://schemas.microsoft.com/office/drawing/2014/main" xmlns="" val="3735753066"/>
                    </a:ext>
                  </a:extLst>
                </a:gridCol>
              </a:tblGrid>
              <a:tr h="450741">
                <a:tc>
                  <a:txBody>
                    <a:bodyPr/>
                    <a:lstStyle/>
                    <a:p>
                      <a:pPr algn="ctr"/>
                      <a:r>
                        <a:rPr lang="en-GB" sz="11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34812354"/>
                  </a:ext>
                </a:extLst>
              </a:tr>
              <a:tr h="460013">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P770903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b="0" kern="1200" dirty="0">
                          <a:solidFill>
                            <a:schemeClr val="tx1"/>
                          </a:solidFill>
                          <a:latin typeface="Times New Roman" panose="02020603050405020304" pitchFamily="18" charset="0"/>
                          <a:ea typeface="+mn-ea"/>
                          <a:cs typeface="Times New Roman" panose="02020603050405020304" pitchFamily="18" charset="0"/>
                        </a:rPr>
                        <a:t>18/07/2024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26/04/2025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kern="1200" noProof="0">
                          <a:solidFill>
                            <a:schemeClr val="tx1"/>
                          </a:solidFill>
                          <a:latin typeface="Times New Roman" panose="02020603050405020304" pitchFamily="18" charset="0"/>
                          <a:ea typeface="+mn-ea"/>
                          <a:cs typeface="Times New Roman" panose="02020603050405020304" pitchFamily="18" charset="0"/>
                        </a:rPr>
                        <a:t>RTS A625</a:t>
                      </a:r>
                      <a:endParaRPr lang="en-GB" sz="1100" b="0" kern="1200" noProof="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1967959161"/>
                  </a:ext>
                </a:extLst>
              </a:tr>
              <a:tr h="697685">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100" dirty="0">
                          <a:solidFill>
                            <a:schemeClr val="tx1"/>
                          </a:solidFill>
                          <a:effectLst/>
                          <a:latin typeface="Times New Roman" panose="02020603050405020304" pitchFamily="18" charset="0"/>
                          <a:cs typeface="Times New Roman" panose="02020603050405020304" pitchFamily="18" charset="0"/>
                        </a:rPr>
                        <a:t>P770904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22/04/2024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11/03/2025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A501</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Delay do post test </a:t>
                      </a:r>
                      <a:r>
                        <a:rPr lang="en-US" sz="1100">
                          <a:solidFill>
                            <a:schemeClr val="tx1"/>
                          </a:solidFill>
                          <a:latin typeface="Times New Roman" panose="02020603050405020304" pitchFamily="18" charset="0"/>
                          <a:cs typeface="Times New Roman" panose="02020603050405020304" pitchFamily="18" charset="0"/>
                        </a:rPr>
                        <a:t>BSI finding on IBR6 &amp; TB1. Re-induct, dự kiến delay sang T2/2025.</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410844604"/>
                  </a:ext>
                </a:extLst>
              </a:tr>
              <a:tr h="460013">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P771075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25/07/2024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07/03/2025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A501</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1036697217"/>
                  </a:ext>
                </a:extLst>
              </a:tr>
              <a:tr h="460013">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P771414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09/08/2024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13/02/2025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A507#2 ENG CHANGE</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2518084637"/>
                  </a:ext>
                </a:extLst>
              </a:tr>
              <a:tr h="460013">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P771130</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13/04/2025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A625</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753673127"/>
                  </a:ext>
                </a:extLst>
              </a:tr>
              <a:tr h="460013">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P771391</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Inducted</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11/10/2024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1502614763"/>
                  </a:ext>
                </a:extLst>
              </a:tr>
              <a:tr h="460013">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P771077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24/10/2024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17/05/2025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1991877321"/>
                  </a:ext>
                </a:extLst>
              </a:tr>
              <a:tr h="460013">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P771387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dirty="0">
                          <a:solidFill>
                            <a:schemeClr val="tx1"/>
                          </a:solidFill>
                          <a:effectLst/>
                          <a:latin typeface="Times New Roman" panose="02020603050405020304" pitchFamily="18" charset="0"/>
                          <a:ea typeface="+mn-ea"/>
                          <a:cs typeface="Times New Roman" panose="02020603050405020304" pitchFamily="18" charset="0"/>
                        </a:rPr>
                        <a:t>Target build ~4280 FC do HPT Hub not affected by AD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3806751762"/>
                  </a:ext>
                </a:extLst>
              </a:tr>
              <a:tr h="523616">
                <a:tc>
                  <a:txBody>
                    <a:bodyPr/>
                    <a:lstStyle/>
                    <a:p>
                      <a:pPr algn="ctr"/>
                      <a:r>
                        <a:rPr lang="en-GB" sz="1100">
                          <a:solidFill>
                            <a:schemeClr val="tx1"/>
                          </a:solidFill>
                          <a:latin typeface="Times New Roman" panose="02020603050405020304" pitchFamily="18" charset="0"/>
                          <a:cs typeface="Times New Roman" panose="02020603050405020304" pitchFamily="18" charset="0"/>
                        </a:rPr>
                        <a:t>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P771373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20/02/2025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29/08/2025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179968567"/>
                  </a:ext>
                </a:extLst>
              </a:tr>
              <a:tr h="460013">
                <a:tc>
                  <a:txBody>
                    <a:bodyPr/>
                    <a:lstStyle/>
                    <a:p>
                      <a:pPr algn="ctr"/>
                      <a:r>
                        <a:rPr lang="en-GB" sz="1100">
                          <a:solidFill>
                            <a:schemeClr val="tx1"/>
                          </a:solidFill>
                          <a:latin typeface="Times New Roman" panose="02020603050405020304" pitchFamily="18" charset="0"/>
                          <a:cs typeface="Times New Roman" panose="02020603050405020304" pitchFamily="18" charset="0"/>
                        </a:rPr>
                        <a:t>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P771041</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19/03/2025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TBD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TBD</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692465008"/>
                  </a:ext>
                </a:extLst>
              </a:tr>
            </a:tbl>
          </a:graphicData>
        </a:graphic>
      </p:graphicFrame>
      <p:sp>
        <p:nvSpPr>
          <p:cNvPr id="4" name="TextBox 3">
            <a:extLst>
              <a:ext uri="{FF2B5EF4-FFF2-40B4-BE49-F238E27FC236}">
                <a16:creationId xmlns:a16="http://schemas.microsoft.com/office/drawing/2014/main" xmlns="" id="{8E657E58-C6AA-4957-1D5D-8F4F96FE5488}"/>
              </a:ext>
            </a:extLst>
          </p:cNvPr>
          <p:cNvSpPr txBox="1"/>
          <p:nvPr/>
        </p:nvSpPr>
        <p:spPr>
          <a:xfrm>
            <a:off x="153473" y="103041"/>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72996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F7566C40-78C1-9EC0-1727-A8DD49C3FD9B}"/>
              </a:ext>
            </a:extLst>
          </p:cNvPr>
          <p:cNvSpPr>
            <a:spLocks noGrp="1"/>
          </p:cNvSpPr>
          <p:nvPr>
            <p:ph type="sldNum" idx="12"/>
          </p:nvPr>
        </p:nvSpPr>
        <p:spPr/>
        <p:txBody>
          <a:bodyPr/>
          <a:lstStyle/>
          <a:p>
            <a:fld id="{00000000-1234-1234-1234-123412341234}" type="slidenum">
              <a:rPr lang="vi" smtClean="0"/>
              <a:pPr/>
              <a:t>30</a:t>
            </a:fld>
            <a:endParaRPr lang="vi"/>
          </a:p>
        </p:txBody>
      </p:sp>
      <p:sp>
        <p:nvSpPr>
          <p:cNvPr id="16" name="TextBox 15">
            <a:extLst>
              <a:ext uri="{FF2B5EF4-FFF2-40B4-BE49-F238E27FC236}">
                <a16:creationId xmlns:a16="http://schemas.microsoft.com/office/drawing/2014/main" xmlns="" id="{A2528A14-5474-03B4-BF8A-AFDB59E54730}"/>
              </a:ext>
            </a:extLst>
          </p:cNvPr>
          <p:cNvSpPr txBox="1"/>
          <p:nvPr/>
        </p:nvSpPr>
        <p:spPr>
          <a:xfrm>
            <a:off x="0" y="431801"/>
            <a:ext cx="7890933"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Kế</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hoạch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thay</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động</a:t>
            </a:r>
            <a:r>
              <a:rPr lang="en-US" sz="2400" b="1" dirty="0">
                <a:solidFill>
                  <a:srgbClr val="002060"/>
                </a:solidFill>
                <a:latin typeface="Times New Roman" panose="02020603050405020304" pitchFamily="18" charset="0"/>
                <a:cs typeface="Times New Roman" panose="02020603050405020304" pitchFamily="18" charset="0"/>
              </a:rPr>
              <a:t> c</a:t>
            </a:r>
            <a:r>
              <a:rPr lang="vi-VN" sz="2400" b="1" dirty="0">
                <a:solidFill>
                  <a:srgbClr val="002060"/>
                </a:solidFill>
                <a:latin typeface="Times New Roman" panose="02020603050405020304" pitchFamily="18" charset="0"/>
                <a:cs typeface="Times New Roman" panose="02020603050405020304" pitchFamily="18" charset="0"/>
              </a:rPr>
              <a:t>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a:solidFill>
                  <a:srgbClr val="002060"/>
                </a:solidFill>
                <a:latin typeface="Times New Roman" panose="02020603050405020304" pitchFamily="18" charset="0"/>
                <a:cs typeface="Times New Roman" panose="02020603050405020304" pitchFamily="18" charset="0"/>
              </a:rPr>
              <a:t>A321NEO T2-T3/25</a:t>
            </a:r>
            <a:endParaRPr lang="en-GB" sz="2400" b="1" dirty="0">
              <a:solidFill>
                <a:srgbClr val="00206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xmlns="" id="{FF648BE0-3FB3-B153-2A56-6AAF25C6C6E2}"/>
              </a:ext>
            </a:extLst>
          </p:cNvPr>
          <p:cNvSpPr txBox="1"/>
          <p:nvPr/>
        </p:nvSpPr>
        <p:spPr>
          <a:xfrm>
            <a:off x="1" y="-5952"/>
            <a:ext cx="9584267"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18" name="Table 2">
            <a:extLst>
              <a:ext uri="{FF2B5EF4-FFF2-40B4-BE49-F238E27FC236}">
                <a16:creationId xmlns:a16="http://schemas.microsoft.com/office/drawing/2014/main" xmlns="" id="{6F2FE8BC-4850-BD1B-EABA-12CA92CD86BA}"/>
              </a:ext>
            </a:extLst>
          </p:cNvPr>
          <p:cNvGraphicFramePr>
            <a:graphicFrameLocks noGrp="1"/>
          </p:cNvGraphicFramePr>
          <p:nvPr>
            <p:extLst/>
          </p:nvPr>
        </p:nvGraphicFramePr>
        <p:xfrm>
          <a:off x="163789" y="1032931"/>
          <a:ext cx="11864421" cy="5596465"/>
        </p:xfrm>
        <a:graphic>
          <a:graphicData uri="http://schemas.openxmlformats.org/drawingml/2006/table">
            <a:tbl>
              <a:tblPr firstRow="1" bandRow="1">
                <a:tableStyleId>{5C22544A-7EE6-4342-B048-85BDC9FD1C3A}</a:tableStyleId>
              </a:tblPr>
              <a:tblGrid>
                <a:gridCol w="518103">
                  <a:extLst>
                    <a:ext uri="{9D8B030D-6E8A-4147-A177-3AD203B41FA5}">
                      <a16:colId xmlns:a16="http://schemas.microsoft.com/office/drawing/2014/main" xmlns="" val="1598605427"/>
                    </a:ext>
                  </a:extLst>
                </a:gridCol>
                <a:gridCol w="1162593">
                  <a:extLst>
                    <a:ext uri="{9D8B030D-6E8A-4147-A177-3AD203B41FA5}">
                      <a16:colId xmlns:a16="http://schemas.microsoft.com/office/drawing/2014/main" xmlns="" val="3845954792"/>
                    </a:ext>
                  </a:extLst>
                </a:gridCol>
                <a:gridCol w="1190421">
                  <a:extLst>
                    <a:ext uri="{9D8B030D-6E8A-4147-A177-3AD203B41FA5}">
                      <a16:colId xmlns:a16="http://schemas.microsoft.com/office/drawing/2014/main" xmlns="" val="2148822928"/>
                    </a:ext>
                  </a:extLst>
                </a:gridCol>
                <a:gridCol w="1190421">
                  <a:extLst>
                    <a:ext uri="{9D8B030D-6E8A-4147-A177-3AD203B41FA5}">
                      <a16:colId xmlns:a16="http://schemas.microsoft.com/office/drawing/2014/main" xmlns="" val="2136763095"/>
                    </a:ext>
                  </a:extLst>
                </a:gridCol>
                <a:gridCol w="1190421">
                  <a:extLst>
                    <a:ext uri="{9D8B030D-6E8A-4147-A177-3AD203B41FA5}">
                      <a16:colId xmlns:a16="http://schemas.microsoft.com/office/drawing/2014/main" xmlns="" val="4058157000"/>
                    </a:ext>
                  </a:extLst>
                </a:gridCol>
                <a:gridCol w="1190421">
                  <a:extLst>
                    <a:ext uri="{9D8B030D-6E8A-4147-A177-3AD203B41FA5}">
                      <a16:colId xmlns:a16="http://schemas.microsoft.com/office/drawing/2014/main" xmlns="" val="1185879436"/>
                    </a:ext>
                  </a:extLst>
                </a:gridCol>
                <a:gridCol w="1190421">
                  <a:extLst>
                    <a:ext uri="{9D8B030D-6E8A-4147-A177-3AD203B41FA5}">
                      <a16:colId xmlns:a16="http://schemas.microsoft.com/office/drawing/2014/main" xmlns="" val="3807119371"/>
                    </a:ext>
                  </a:extLst>
                </a:gridCol>
                <a:gridCol w="890210">
                  <a:extLst>
                    <a:ext uri="{9D8B030D-6E8A-4147-A177-3AD203B41FA5}">
                      <a16:colId xmlns:a16="http://schemas.microsoft.com/office/drawing/2014/main" xmlns="" val="2251645117"/>
                    </a:ext>
                  </a:extLst>
                </a:gridCol>
                <a:gridCol w="3341410">
                  <a:extLst>
                    <a:ext uri="{9D8B030D-6E8A-4147-A177-3AD203B41FA5}">
                      <a16:colId xmlns:a16="http://schemas.microsoft.com/office/drawing/2014/main" xmlns="" val="3735753066"/>
                    </a:ext>
                  </a:extLst>
                </a:gridCol>
              </a:tblGrid>
              <a:tr h="529521">
                <a:tc>
                  <a:txBody>
                    <a:bodyPr/>
                    <a:lstStyle/>
                    <a:p>
                      <a:pPr algn="ctr"/>
                      <a:r>
                        <a:rPr lang="en-GB" sz="12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ESN OFF</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ESN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Remove from</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dirty="0">
                          <a:solidFill>
                            <a:schemeClr val="lt1"/>
                          </a:solidFill>
                          <a:latin typeface="Times New Roman" panose="02020603050405020304" pitchFamily="18" charset="0"/>
                          <a:ea typeface="+mn-ea"/>
                          <a:cs typeface="Times New Roman" panose="02020603050405020304" pitchFamily="18" charset="0"/>
                        </a:rPr>
                        <a:t>Removal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Shopvisit</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200">
                          <a:latin typeface="Times New Roman" panose="02020603050405020304" pitchFamily="18" charset="0"/>
                          <a:cs typeface="Times New Roman" panose="02020603050405020304" pitchFamily="18" charset="0"/>
                        </a:rPr>
                        <a:t>Remark</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34812354"/>
                  </a:ext>
                </a:extLst>
              </a:tr>
              <a:tr h="449085">
                <a:tc>
                  <a:txBody>
                    <a:bodyPr/>
                    <a:lstStyle/>
                    <a:p>
                      <a:pPr algn="ctr"/>
                      <a:r>
                        <a:rPr lang="en-US" sz="1200" b="0" i="0" u="none" strike="noStrike" kern="1200">
                          <a:solidFill>
                            <a:schemeClr val="tx1"/>
                          </a:solidFill>
                          <a:effectLst/>
                          <a:latin typeface="Calibri" panose="020F0502020204030204" pitchFamily="34" charset="0"/>
                          <a:ea typeface="+mn-ea"/>
                          <a:cs typeface="+mn-cs"/>
                        </a:rPr>
                        <a:t>1</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P772905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P771668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15-Feb-25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17-Feb-25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Calibri" panose="020F0502020204030204" pitchFamily="34" charset="0"/>
                        </a:rPr>
                        <a:t>Swap engine with A619, A620 </a:t>
                      </a:r>
                      <a:r>
                        <a:rPr lang="en-US" sz="1200" b="0" i="0" u="none" strike="noStrike" dirty="0" err="1">
                          <a:solidFill>
                            <a:schemeClr val="tx1"/>
                          </a:solidFill>
                          <a:effectLst/>
                          <a:latin typeface="Calibri" panose="020F0502020204030204" pitchFamily="34" charset="0"/>
                        </a:rPr>
                        <a:t>dừng</a:t>
                      </a:r>
                      <a:r>
                        <a:rPr lang="en-US" sz="1200" b="0" i="0" u="none" strike="noStrike" dirty="0">
                          <a:solidFill>
                            <a:schemeClr val="tx1"/>
                          </a:solidFill>
                          <a:effectLst/>
                          <a:latin typeface="Calibri" panose="020F0502020204030204" pitchFamily="34" charset="0"/>
                        </a:rPr>
                        <a:t> </a:t>
                      </a:r>
                      <a:r>
                        <a:rPr lang="en-US" sz="1200" b="0" i="0" u="none" strike="noStrike" dirty="0" err="1">
                          <a:solidFill>
                            <a:schemeClr val="tx1"/>
                          </a:solidFill>
                          <a:effectLst/>
                          <a:latin typeface="Calibri" panose="020F0502020204030204" pitchFamily="34" charset="0"/>
                        </a:rPr>
                        <a:t>làm</a:t>
                      </a:r>
                      <a:r>
                        <a:rPr lang="en-US" sz="1200" b="0" i="0" u="none" strike="noStrike" dirty="0">
                          <a:solidFill>
                            <a:schemeClr val="tx1"/>
                          </a:solidFill>
                          <a:effectLst/>
                          <a:latin typeface="Calibri" panose="020F0502020204030204" pitchFamily="34" charset="0"/>
                        </a:rPr>
                        <a:t> check</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883596114"/>
                  </a:ext>
                </a:extLst>
              </a:tr>
              <a:tr h="457702">
                <a:tc>
                  <a:txBody>
                    <a:bodyPr/>
                    <a:lstStyle/>
                    <a:p>
                      <a:pPr algn="ctr"/>
                      <a:r>
                        <a:rPr lang="en-GB" sz="1200" b="0" i="0" u="none" strike="noStrike" kern="1200">
                          <a:solidFill>
                            <a:schemeClr val="tx1"/>
                          </a:solidFill>
                          <a:effectLst/>
                          <a:latin typeface="Calibri" panose="020F0502020204030204" pitchFamily="34" charset="0"/>
                          <a:ea typeface="+mn-ea"/>
                          <a:cs typeface="+mn-cs"/>
                        </a:rPr>
                        <a:t>2</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P771668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P772905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Calibri" panose="020F0502020204030204" pitchFamily="34" charset="0"/>
                        </a:rPr>
                        <a:t>15-Feb-25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17-Feb-25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Calibri" panose="020F0502020204030204" pitchFamily="34" charset="0"/>
                        </a:rPr>
                        <a:t>Swap engine with A620, A619 </a:t>
                      </a:r>
                      <a:r>
                        <a:rPr lang="en-US" sz="1200" b="0" i="0" u="none" strike="noStrike" dirty="0" err="1">
                          <a:solidFill>
                            <a:schemeClr val="tx1"/>
                          </a:solidFill>
                          <a:effectLst/>
                          <a:latin typeface="Calibri" panose="020F0502020204030204" pitchFamily="34" charset="0"/>
                        </a:rPr>
                        <a:t>tiếp</a:t>
                      </a:r>
                      <a:r>
                        <a:rPr lang="en-US" sz="1200" b="0" i="0" u="none" strike="noStrike" dirty="0">
                          <a:solidFill>
                            <a:schemeClr val="tx1"/>
                          </a:solidFill>
                          <a:effectLst/>
                          <a:latin typeface="Calibri" panose="020F0502020204030204" pitchFamily="34" charset="0"/>
                        </a:rPr>
                        <a:t> </a:t>
                      </a:r>
                      <a:r>
                        <a:rPr lang="en-US" sz="1200" b="0" i="0" u="none" strike="noStrike" dirty="0" err="1">
                          <a:solidFill>
                            <a:schemeClr val="tx1"/>
                          </a:solidFill>
                          <a:effectLst/>
                          <a:latin typeface="Calibri" panose="020F0502020204030204" pitchFamily="34" charset="0"/>
                        </a:rPr>
                        <a:t>tục</a:t>
                      </a:r>
                      <a:r>
                        <a:rPr lang="en-US" sz="1200" b="0" i="0" u="none" strike="noStrike" dirty="0">
                          <a:solidFill>
                            <a:schemeClr val="tx1"/>
                          </a:solidFill>
                          <a:effectLst/>
                          <a:latin typeface="Calibri" panose="020F0502020204030204" pitchFamily="34" charset="0"/>
                        </a:rPr>
                        <a:t> </a:t>
                      </a:r>
                      <a:r>
                        <a:rPr lang="en-US" sz="1200" b="0" i="0" u="none" strike="noStrike" dirty="0" err="1">
                          <a:solidFill>
                            <a:schemeClr val="tx1"/>
                          </a:solidFill>
                          <a:effectLst/>
                          <a:latin typeface="Calibri" panose="020F0502020204030204" pitchFamily="34" charset="0"/>
                        </a:rPr>
                        <a:t>khai</a:t>
                      </a:r>
                      <a:r>
                        <a:rPr lang="en-US" sz="1200" b="0" i="0" u="none" strike="noStrike" dirty="0">
                          <a:solidFill>
                            <a:schemeClr val="tx1"/>
                          </a:solidFill>
                          <a:effectLst/>
                          <a:latin typeface="Calibri" panose="020F0502020204030204" pitchFamily="34" charset="0"/>
                        </a:rPr>
                        <a:t> </a:t>
                      </a:r>
                      <a:r>
                        <a:rPr lang="en-US" sz="1200" b="0" i="0" u="none" strike="noStrike" dirty="0" err="1">
                          <a:solidFill>
                            <a:schemeClr val="tx1"/>
                          </a:solidFill>
                          <a:effectLst/>
                          <a:latin typeface="Calibri" panose="020F0502020204030204" pitchFamily="34" charset="0"/>
                        </a:rPr>
                        <a:t>thác</a:t>
                      </a:r>
                      <a:endParaRPr lang="en-US" sz="1200" b="0" i="0" u="none" strike="noStrike" dirty="0">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119894405"/>
                  </a:ext>
                </a:extLst>
              </a:tr>
              <a:tr h="457702">
                <a:tc>
                  <a:txBody>
                    <a:bodyPr/>
                    <a:lstStyle/>
                    <a:p>
                      <a:pPr algn="ctr"/>
                      <a:r>
                        <a:rPr lang="en-GB" sz="1200" b="0" i="0" u="none" strike="noStrike" kern="1200">
                          <a:solidFill>
                            <a:schemeClr val="tx1"/>
                          </a:solidFill>
                          <a:effectLst/>
                          <a:latin typeface="Calibri" panose="020F0502020204030204" pitchFamily="34" charset="0"/>
                          <a:ea typeface="+mn-ea"/>
                          <a:cs typeface="+mn-cs"/>
                        </a:rPr>
                        <a:t>3</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P771488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a:t>
                      </a:r>
                      <a:r>
                        <a:rPr lang="vi-VN" sz="1200" b="0" i="0" u="none" strike="noStrike">
                          <a:solidFill>
                            <a:schemeClr val="tx1"/>
                          </a:solidFill>
                          <a:effectLst/>
                          <a:latin typeface="Calibri" panose="020F0502020204030204" pitchFamily="34" charset="0"/>
                        </a:rPr>
                        <a:t>414</a:t>
                      </a:r>
                      <a:endParaRPr lang="en-US" sz="1200" b="0" i="0" u="none" strike="noStrike">
                        <a:solidFill>
                          <a:schemeClr val="tx1"/>
                        </a:solidFill>
                        <a:effectLst/>
                        <a:latin typeface="Calibri" panose="020F0502020204030204" pitchFamily="34" charset="0"/>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26-Feb-25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28-Feb-25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096505085"/>
                  </a:ext>
                </a:extLst>
              </a:tr>
              <a:tr h="457702">
                <a:tc>
                  <a:txBody>
                    <a:bodyPr/>
                    <a:lstStyle/>
                    <a:p>
                      <a:pPr algn="ctr"/>
                      <a:r>
                        <a:rPr lang="en-GB" sz="1200" b="0" i="0" u="none" strike="noStrike" kern="1200">
                          <a:solidFill>
                            <a:schemeClr val="tx1"/>
                          </a:solidFill>
                          <a:effectLst/>
                          <a:latin typeface="Calibri" panose="020F0502020204030204" pitchFamily="34" charset="0"/>
                          <a:ea typeface="+mn-ea"/>
                          <a:cs typeface="+mn-cs"/>
                        </a:rPr>
                        <a:t>4</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P771488</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562066291"/>
                  </a:ext>
                </a:extLst>
              </a:tr>
              <a:tr h="457702">
                <a:tc>
                  <a:txBody>
                    <a:bodyPr/>
                    <a:lstStyle/>
                    <a:p>
                      <a:pPr algn="ctr"/>
                      <a:r>
                        <a:rPr lang="en-GB" sz="1200" b="0" i="0" u="none" strike="noStrike" kern="1200">
                          <a:solidFill>
                            <a:schemeClr val="tx1"/>
                          </a:solidFill>
                          <a:effectLst/>
                          <a:latin typeface="Calibri" panose="020F0502020204030204" pitchFamily="34" charset="0"/>
                          <a:ea typeface="+mn-ea"/>
                          <a:cs typeface="+mn-cs"/>
                        </a:rPr>
                        <a:t>5</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P771041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A616#2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20-Feb-25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ENG REMOVAL</a:t>
                      </a: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 QT Shop Visit</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784227953"/>
                  </a:ext>
                </a:extLst>
              </a:tr>
              <a:tr h="498541">
                <a:tc>
                  <a:txBody>
                    <a:bodyPr/>
                    <a:lstStyle/>
                    <a:p>
                      <a:pPr algn="ctr"/>
                      <a:r>
                        <a:rPr lang="en-GB" sz="1200" b="0" i="0" u="none" strike="noStrike" kern="1200">
                          <a:solidFill>
                            <a:schemeClr val="tx1"/>
                          </a:solidFill>
                          <a:effectLst/>
                          <a:latin typeface="Calibri" panose="020F0502020204030204" pitchFamily="34" charset="0"/>
                          <a:ea typeface="+mn-ea"/>
                          <a:cs typeface="+mn-cs"/>
                        </a:rPr>
                        <a:t>6</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P771090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A616#1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8-Mar-25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ENG REMOVAL</a:t>
                      </a:r>
                      <a:endPar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Rob for A506#2 for 7 day engine run-up interval</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981565641"/>
                  </a:ext>
                </a:extLst>
              </a:tr>
              <a:tr h="457702">
                <a:tc>
                  <a:txBody>
                    <a:bodyPr/>
                    <a:lstStyle/>
                    <a:p>
                      <a:pPr algn="ctr"/>
                      <a:r>
                        <a:rPr lang="en-GB" sz="1200" b="0" i="0" u="none" strike="noStrike" kern="1200">
                          <a:solidFill>
                            <a:schemeClr val="tx1"/>
                          </a:solidFill>
                          <a:effectLst/>
                          <a:latin typeface="Calibri" panose="020F0502020204030204" pitchFamily="34" charset="0"/>
                          <a:ea typeface="+mn-ea"/>
                          <a:cs typeface="+mn-cs"/>
                        </a:rPr>
                        <a:t>7</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P771423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cap="none">
                          <a:solidFill>
                            <a:schemeClr val="tx1"/>
                          </a:solidFill>
                          <a:effectLst/>
                          <a:latin typeface="Calibri" panose="020F0502020204030204" pitchFamily="34" charset="0"/>
                          <a:ea typeface="+mn-ea"/>
                          <a:cs typeface="+mn-cs"/>
                          <a:sym typeface="Arial"/>
                        </a:rPr>
                        <a:t>P771090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A506#2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8-Mar-25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10-Mar-25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QT Shop Visit</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584390368"/>
                  </a:ext>
                </a:extLst>
              </a:tr>
              <a:tr h="457702">
                <a:tc>
                  <a:txBody>
                    <a:bodyPr/>
                    <a:lstStyle/>
                    <a:p>
                      <a:pPr algn="ctr"/>
                      <a:r>
                        <a:rPr lang="en-GB" sz="1200" b="0" i="0" u="none" strike="noStrike" kern="1200">
                          <a:solidFill>
                            <a:schemeClr val="tx1"/>
                          </a:solidFill>
                          <a:effectLst/>
                          <a:latin typeface="Calibri" panose="020F0502020204030204" pitchFamily="34" charset="0"/>
                          <a:ea typeface="+mn-ea"/>
                          <a:cs typeface="+mn-cs"/>
                        </a:rPr>
                        <a:t>8</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cap="none">
                          <a:solidFill>
                            <a:schemeClr val="tx1"/>
                          </a:solidFill>
                          <a:effectLst/>
                          <a:latin typeface="Calibri" panose="020F0502020204030204" pitchFamily="34" charset="0"/>
                          <a:ea typeface="+mn-ea"/>
                          <a:cs typeface="+mn-cs"/>
                          <a:sym typeface="Arial"/>
                        </a:rPr>
                        <a:t>P771075</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3-Mar-25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RTS</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602644935"/>
                  </a:ext>
                </a:extLst>
              </a:tr>
              <a:tr h="457702">
                <a:tc>
                  <a:txBody>
                    <a:bodyPr/>
                    <a:lstStyle/>
                    <a:p>
                      <a:pPr algn="ctr"/>
                      <a:r>
                        <a:rPr lang="vi-VN" sz="1200" b="0" i="0" u="none" strike="noStrike" kern="1200">
                          <a:solidFill>
                            <a:schemeClr val="tx1"/>
                          </a:solidFill>
                          <a:effectLst/>
                          <a:latin typeface="Calibri" panose="020F0502020204030204" pitchFamily="34" charset="0"/>
                          <a:ea typeface="+mn-ea"/>
                          <a:cs typeface="+mn-cs"/>
                        </a:rPr>
                        <a:t>9</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cap="none">
                          <a:solidFill>
                            <a:schemeClr val="tx1"/>
                          </a:solidFill>
                          <a:effectLst/>
                          <a:latin typeface="Calibri" panose="020F0502020204030204" pitchFamily="34" charset="0"/>
                          <a:ea typeface="+mn-ea"/>
                          <a:cs typeface="+mn-cs"/>
                          <a:sym typeface="Arial"/>
                        </a:rPr>
                        <a:t>P770904</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10-Mar-25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12-Mar-25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RTS</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761236811"/>
                  </a:ext>
                </a:extLst>
              </a:tr>
              <a:tr h="457702">
                <a:tc>
                  <a:txBody>
                    <a:bodyPr/>
                    <a:lstStyle/>
                    <a:p>
                      <a:pPr algn="ctr"/>
                      <a:r>
                        <a:rPr lang="en-GB" sz="1200" b="0" i="0" u="none" strike="noStrike" kern="1200">
                          <a:solidFill>
                            <a:schemeClr val="tx1"/>
                          </a:solidFill>
                          <a:effectLst/>
                          <a:latin typeface="Calibri" panose="020F0502020204030204" pitchFamily="34" charset="0"/>
                          <a:ea typeface="+mn-ea"/>
                          <a:cs typeface="+mn-cs"/>
                        </a:rPr>
                        <a:t>10</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P771110</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7-Mar-25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9-Mar-25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615520155"/>
                  </a:ext>
                </a:extLst>
              </a:tr>
              <a:tr h="457702">
                <a:tc>
                  <a:txBody>
                    <a:bodyPr/>
                    <a:lstStyle/>
                    <a:p>
                      <a:pPr algn="ctr"/>
                      <a:r>
                        <a:rPr lang="en-GB" sz="1200" b="0" i="0" u="none" strike="noStrike" kern="1200">
                          <a:solidFill>
                            <a:schemeClr val="tx1"/>
                          </a:solidFill>
                          <a:effectLst/>
                          <a:latin typeface="Calibri" panose="020F0502020204030204" pitchFamily="34" charset="0"/>
                          <a:ea typeface="+mn-ea"/>
                          <a:cs typeface="+mn-cs"/>
                        </a:rPr>
                        <a:t>11</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P771131</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a:solidFill>
                            <a:srgbClr val="000000"/>
                          </a:solidFill>
                          <a:effectLst/>
                          <a:latin typeface="Calibri" panose="020F0502020204030204" pitchFamily="34" charset="0"/>
                        </a:rPr>
                        <a:t>A623#2</a:t>
                      </a: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15-Mar-25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81110417"/>
                  </a:ext>
                </a:extLst>
              </a:tr>
            </a:tbl>
          </a:graphicData>
        </a:graphic>
      </p:graphicFrame>
    </p:spTree>
    <p:extLst>
      <p:ext uri="{BB962C8B-B14F-4D97-AF65-F5344CB8AC3E}">
        <p14:creationId xmlns:p14="http://schemas.microsoft.com/office/powerpoint/2010/main" val="23521581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980AF8DC-DB52-2B80-A0CB-44CC8F1F6223}"/>
              </a:ext>
            </a:extLst>
          </p:cNvPr>
          <p:cNvSpPr>
            <a:spLocks noGrp="1"/>
          </p:cNvSpPr>
          <p:nvPr>
            <p:ph type="sldNum" idx="12"/>
          </p:nvPr>
        </p:nvSpPr>
        <p:spPr/>
        <p:txBody>
          <a:bodyPr/>
          <a:lstStyle/>
          <a:p>
            <a:fld id="{00000000-1234-1234-1234-123412341234}" type="slidenum">
              <a:rPr lang="vi" smtClean="0"/>
              <a:pPr/>
              <a:t>31</a:t>
            </a:fld>
            <a:endParaRPr lang="vi"/>
          </a:p>
        </p:txBody>
      </p:sp>
      <p:sp>
        <p:nvSpPr>
          <p:cNvPr id="4" name="TextBox 3">
            <a:extLst>
              <a:ext uri="{FF2B5EF4-FFF2-40B4-BE49-F238E27FC236}">
                <a16:creationId xmlns:a16="http://schemas.microsoft.com/office/drawing/2014/main" xmlns=""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xmlns=""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xmlns="" val="1598605427"/>
                    </a:ext>
                  </a:extLst>
                </a:gridCol>
                <a:gridCol w="701211">
                  <a:extLst>
                    <a:ext uri="{9D8B030D-6E8A-4147-A177-3AD203B41FA5}">
                      <a16:colId xmlns:a16="http://schemas.microsoft.com/office/drawing/2014/main" xmlns="" val="3845954792"/>
                    </a:ext>
                  </a:extLst>
                </a:gridCol>
                <a:gridCol w="1023768">
                  <a:extLst>
                    <a:ext uri="{9D8B030D-6E8A-4147-A177-3AD203B41FA5}">
                      <a16:colId xmlns:a16="http://schemas.microsoft.com/office/drawing/2014/main" xmlns="" val="2148822928"/>
                    </a:ext>
                  </a:extLst>
                </a:gridCol>
                <a:gridCol w="872619">
                  <a:extLst>
                    <a:ext uri="{9D8B030D-6E8A-4147-A177-3AD203B41FA5}">
                      <a16:colId xmlns:a16="http://schemas.microsoft.com/office/drawing/2014/main" xmlns="" val="1185879436"/>
                    </a:ext>
                  </a:extLst>
                </a:gridCol>
                <a:gridCol w="2310880">
                  <a:extLst>
                    <a:ext uri="{9D8B030D-6E8A-4147-A177-3AD203B41FA5}">
                      <a16:colId xmlns:a16="http://schemas.microsoft.com/office/drawing/2014/main" xmlns=""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34812354"/>
                  </a:ext>
                </a:extLst>
              </a:tr>
              <a:tr h="195070">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V15851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28/01/2024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rgbClr val="FF0000"/>
                          </a:solidFill>
                          <a:latin typeface="Times New Roman" panose="02020603050405020304" pitchFamily="18" charset="0"/>
                          <a:cs typeface="Times New Roman" panose="02020603050405020304" pitchFamily="18" charset="0"/>
                        </a:rPr>
                        <a:t>Đã</a:t>
                      </a:r>
                      <a:r>
                        <a:rPr lang="en-GB" sz="1100" dirty="0">
                          <a:solidFill>
                            <a:srgbClr val="FF0000"/>
                          </a:solidFill>
                          <a:latin typeface="Times New Roman" panose="02020603050405020304" pitchFamily="18" charset="0"/>
                          <a:cs typeface="Times New Roman" panose="02020603050405020304" pitchFamily="18" charset="0"/>
                        </a:rPr>
                        <a:t> </a:t>
                      </a:r>
                      <a:r>
                        <a:rPr lang="en-GB" sz="1100" dirty="0" err="1">
                          <a:solidFill>
                            <a:srgbClr val="FF0000"/>
                          </a:solidFill>
                          <a:latin typeface="Times New Roman" panose="02020603050405020304" pitchFamily="18" charset="0"/>
                          <a:cs typeface="Times New Roman" panose="02020603050405020304" pitchFamily="18" charset="0"/>
                        </a:rPr>
                        <a:t>giao</a:t>
                      </a:r>
                      <a:r>
                        <a:rPr lang="en-GB" sz="1100" dirty="0">
                          <a:solidFill>
                            <a:srgbClr val="FF0000"/>
                          </a:solidFill>
                          <a:latin typeface="Times New Roman" panose="02020603050405020304" pitchFamily="18" charset="0"/>
                          <a:cs typeface="Times New Roman" panose="02020603050405020304" pitchFamily="18" charset="0"/>
                        </a:rPr>
                        <a:t> </a:t>
                      </a:r>
                      <a:r>
                        <a:rPr lang="en-GB" sz="1100" dirty="0" err="1">
                          <a:solidFill>
                            <a:srgbClr val="FF0000"/>
                          </a:solidFill>
                          <a:latin typeface="Times New Roman" panose="02020603050405020304" pitchFamily="18" charset="0"/>
                          <a:cs typeface="Times New Roman" panose="02020603050405020304" pitchFamily="18" charset="0"/>
                        </a:rPr>
                        <a:t>Vaeco</a:t>
                      </a:r>
                      <a:r>
                        <a:rPr lang="en-GB" sz="1100" dirty="0">
                          <a:solidFill>
                            <a:srgbClr val="FF0000"/>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24237589"/>
                  </a:ext>
                </a:extLst>
              </a:tr>
              <a:tr h="173734">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2</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V17951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26/12/2024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Đã</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giao</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Vaeco</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704525903"/>
                  </a:ext>
                </a:extLst>
              </a:tr>
              <a:tr h="259882">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3</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V16037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15/03/2025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22/03/2025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05220057"/>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V16338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15/04/2025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22/04/2025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0"/>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30/04/2025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13/05/2025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2"/>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03/05/2025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3"/>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V12505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19/03/2025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19/03/2025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26/03)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08/06/2025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5"/>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07/06/2025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14/06/2025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7"/>
                  </a:ext>
                </a:extLst>
              </a:tr>
              <a:tr h="19699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24/02 induct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22"/>
                  </a:ext>
                </a:extLst>
              </a:tr>
            </a:tbl>
          </a:graphicData>
        </a:graphic>
      </p:graphicFrame>
      <p:sp>
        <p:nvSpPr>
          <p:cNvPr id="10" name="TextBox 9">
            <a:extLst>
              <a:ext uri="{FF2B5EF4-FFF2-40B4-BE49-F238E27FC236}">
                <a16:creationId xmlns:a16="http://schemas.microsoft.com/office/drawing/2014/main" xmlns=""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Q1-Q2/2025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xmlns="" id="{798A4453-6D37-A3D5-A532-1D65A56E72A5}"/>
              </a:ext>
            </a:extLst>
          </p:cNvPr>
          <p:cNvGraphicFramePr>
            <a:graphicFrameLocks noGrp="1"/>
          </p:cNvGraphicFramePr>
          <p:nvPr/>
        </p:nvGraphicFramePr>
        <p:xfrm>
          <a:off x="5737199" y="1035392"/>
          <a:ext cx="6207275" cy="2295530"/>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xmlns="" val="4292553957"/>
                    </a:ext>
                  </a:extLst>
                </a:gridCol>
                <a:gridCol w="835915">
                  <a:extLst>
                    <a:ext uri="{9D8B030D-6E8A-4147-A177-3AD203B41FA5}">
                      <a16:colId xmlns:a16="http://schemas.microsoft.com/office/drawing/2014/main" xmlns="" val="4057841190"/>
                    </a:ext>
                  </a:extLst>
                </a:gridCol>
                <a:gridCol w="826627">
                  <a:extLst>
                    <a:ext uri="{9D8B030D-6E8A-4147-A177-3AD203B41FA5}">
                      <a16:colId xmlns:a16="http://schemas.microsoft.com/office/drawing/2014/main" xmlns="" val="4208667331"/>
                    </a:ext>
                  </a:extLst>
                </a:gridCol>
                <a:gridCol w="1263161">
                  <a:extLst>
                    <a:ext uri="{9D8B030D-6E8A-4147-A177-3AD203B41FA5}">
                      <a16:colId xmlns:a16="http://schemas.microsoft.com/office/drawing/2014/main" xmlns="" val="4243809776"/>
                    </a:ext>
                  </a:extLst>
                </a:gridCol>
                <a:gridCol w="2745170">
                  <a:extLst>
                    <a:ext uri="{9D8B030D-6E8A-4147-A177-3AD203B41FA5}">
                      <a16:colId xmlns:a16="http://schemas.microsoft.com/office/drawing/2014/main" xmlns=""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V11752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A354#2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14-16/03/2025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83960055"/>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V16512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A357#2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09-11/04/2025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V17951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921377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V15876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13-15/04/2025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V16037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V16462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XU350#2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15-17/04/2025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AD Hub,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783875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V11694</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A359#1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26-28/04/2025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Sửa HSR, lắp V16338</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A392#2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05-07/05/2025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V16456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154226108"/>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V11704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17-19/05/2025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223618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V16570</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A329#2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12-14/06/2025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8607678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V16799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8688097"/>
                  </a:ext>
                </a:extLst>
              </a:tr>
            </a:tbl>
          </a:graphicData>
        </a:graphic>
      </p:graphicFrame>
      <p:sp>
        <p:nvSpPr>
          <p:cNvPr id="3" name="TextBox 2">
            <a:extLst>
              <a:ext uri="{FF2B5EF4-FFF2-40B4-BE49-F238E27FC236}">
                <a16:creationId xmlns:a16="http://schemas.microsoft.com/office/drawing/2014/main" xmlns="" id="{4DE6CC1A-C4DC-6FC8-06CD-779939B6893C}"/>
              </a:ext>
            </a:extLst>
          </p:cNvPr>
          <p:cNvSpPr txBox="1"/>
          <p:nvPr/>
        </p:nvSpPr>
        <p:spPr>
          <a:xfrm>
            <a:off x="7340536" y="3378394"/>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8E7616FB-C309-B068-5BA6-2EC84567F23C}"/>
              </a:ext>
            </a:extLst>
          </p:cNvPr>
          <p:cNvGraphicFramePr>
            <a:graphicFrameLocks noGrp="1"/>
          </p:cNvGraphicFramePr>
          <p:nvPr/>
        </p:nvGraphicFramePr>
        <p:xfrm>
          <a:off x="5760208" y="3861966"/>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xmlns="" val="4292553957"/>
                    </a:ext>
                  </a:extLst>
                </a:gridCol>
                <a:gridCol w="835915">
                  <a:extLst>
                    <a:ext uri="{9D8B030D-6E8A-4147-A177-3AD203B41FA5}">
                      <a16:colId xmlns:a16="http://schemas.microsoft.com/office/drawing/2014/main" xmlns="" val="4057841190"/>
                    </a:ext>
                  </a:extLst>
                </a:gridCol>
                <a:gridCol w="826627">
                  <a:extLst>
                    <a:ext uri="{9D8B030D-6E8A-4147-A177-3AD203B41FA5}">
                      <a16:colId xmlns:a16="http://schemas.microsoft.com/office/drawing/2014/main" xmlns="" val="4208667331"/>
                    </a:ext>
                  </a:extLst>
                </a:gridCol>
                <a:gridCol w="1263161">
                  <a:extLst>
                    <a:ext uri="{9D8B030D-6E8A-4147-A177-3AD203B41FA5}">
                      <a16:colId xmlns:a16="http://schemas.microsoft.com/office/drawing/2014/main" xmlns="" val="4243809776"/>
                    </a:ext>
                  </a:extLst>
                </a:gridCol>
                <a:gridCol w="2745170">
                  <a:extLst>
                    <a:ext uri="{9D8B030D-6E8A-4147-A177-3AD203B41FA5}">
                      <a16:colId xmlns:a16="http://schemas.microsoft.com/office/drawing/2014/main" xmlns=""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55628123"/>
                  </a:ext>
                </a:extLst>
              </a:tr>
            </a:tbl>
          </a:graphicData>
        </a:graphic>
      </p:graphicFrame>
    </p:spTree>
    <p:extLst>
      <p:ext uri="{BB962C8B-B14F-4D97-AF65-F5344CB8AC3E}">
        <p14:creationId xmlns:p14="http://schemas.microsoft.com/office/powerpoint/2010/main" val="20617075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278AFE3E-3844-01D3-D72D-0F4786BACA0F}"/>
              </a:ext>
            </a:extLst>
          </p:cNvPr>
          <p:cNvSpPr>
            <a:spLocks noGrp="1"/>
          </p:cNvSpPr>
          <p:nvPr>
            <p:ph type="sldNum" idx="12"/>
          </p:nvPr>
        </p:nvSpPr>
        <p:spPr/>
        <p:txBody>
          <a:bodyPr/>
          <a:lstStyle/>
          <a:p>
            <a:fld id="{00000000-1234-1234-1234-123412341234}" type="slidenum">
              <a:rPr lang="vi"/>
              <a:pPr/>
              <a:t>32</a:t>
            </a:fld>
            <a:endParaRPr lang="vi"/>
          </a:p>
        </p:txBody>
      </p:sp>
      <p:sp>
        <p:nvSpPr>
          <p:cNvPr id="3" name="Slide Number Placeholder 3">
            <a:extLst>
              <a:ext uri="{FF2B5EF4-FFF2-40B4-BE49-F238E27FC236}">
                <a16:creationId xmlns:a16="http://schemas.microsoft.com/office/drawing/2014/main" xmlns=""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32</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xmlns="" id="{C6B0DA9E-4175-8F90-5644-7AB7D854EA46}"/>
              </a:ext>
            </a:extLst>
          </p:cNvPr>
          <p:cNvGraphicFramePr/>
          <p:nvPr>
            <p:extLst/>
          </p:nvPr>
        </p:nvGraphicFramePr>
        <p:xfrm>
          <a:off x="6867116" y="445510"/>
          <a:ext cx="5236309" cy="4256509"/>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xmlns="" id="{B830FD37-0C62-DD9A-7EAB-6CFC0D17CDB3}"/>
              </a:ext>
            </a:extLst>
          </p:cNvPr>
          <p:cNvSpPr txBox="1"/>
          <p:nvPr/>
        </p:nvSpPr>
        <p:spPr>
          <a:xfrm>
            <a:off x="88572" y="4702019"/>
            <a:ext cx="12014853" cy="2124236"/>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dự</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phòng</a:t>
            </a:r>
            <a:r>
              <a:rPr lang="en-US" sz="1467">
                <a:solidFill>
                  <a:schemeClr val="tx1"/>
                </a:solidFill>
                <a:latin typeface="Times New Roman" panose="02020603050405020304" pitchFamily="18" charset="0"/>
                <a:cs typeface="Times New Roman" panose="02020603050405020304" pitchFamily="18" charset="0"/>
              </a:rPr>
              <a:t>:</a:t>
            </a:r>
            <a:r>
              <a:rPr lang="en-US" sz="1467">
                <a:solidFill>
                  <a:srgbClr val="ED0000"/>
                </a:solidFill>
                <a:latin typeface="Times New Roman" panose="02020603050405020304" pitchFamily="18" charset="0"/>
                <a:cs typeface="Times New Roman" panose="02020603050405020304" pitchFamily="18" charset="0"/>
              </a:rPr>
              <a:t> 9</a:t>
            </a:r>
            <a:r>
              <a:rPr lang="vi-VN" sz="1467">
                <a:solidFill>
                  <a:srgbClr val="FF0000"/>
                </a:solidFill>
                <a:latin typeface="Times New Roman" panose="02020603050405020304" pitchFamily="18" charset="0"/>
                <a:cs typeface="Times New Roman" panose="02020603050405020304" pitchFamily="18" charset="0"/>
              </a:rPr>
              <a:t>58395  vừa tháo từ A872 hiện khai thác được 25 FC &amp; được soi lại/đánh giá lại; đang được giữ làm hot spare. Lịch nhận ĐCDP tiếp theo: 958537 dự kiến sửa xong 20/02, ship về VN 26 - 28/02</a:t>
            </a:r>
            <a:r>
              <a:rPr lang="en-US" sz="1467">
                <a:solidFill>
                  <a:srgbClr val="FF0000"/>
                </a:solidFill>
                <a:latin typeface="Times New Roman" panose="02020603050405020304" pitchFamily="18" charset="0"/>
                <a:cs typeface="Times New Roman" panose="02020603050405020304" pitchFamily="18" charset="0"/>
              </a:rPr>
              <a:t>.</a:t>
            </a:r>
            <a:endParaRPr lang="en-US" sz="1467" dirty="0">
              <a:solidFill>
                <a:srgbClr val="FF0000"/>
              </a:solidFill>
              <a:latin typeface="Times New Roman" panose="02020603050405020304" pitchFamily="18" charset="0"/>
              <a:cs typeface="Times New Roman" panose="02020603050405020304" pitchFamily="18" charset="0"/>
            </a:endParaRPr>
          </a:p>
          <a:p>
            <a:pPr marL="380990" indent="-380990" defTabSz="1219170">
              <a:buFontTx/>
              <a:buChar char="-"/>
              <a:defRPr/>
            </a:pP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on-watch:</a:t>
            </a:r>
            <a:endParaRPr lang="en-US" sz="1467" dirty="0">
              <a:solidFill>
                <a:srgbClr val="FF9933"/>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vi-VN" sz="1467">
                <a:solidFill>
                  <a:srgbClr val="FF0000"/>
                </a:solidFill>
                <a:latin typeface="Times New Roman" panose="02020603050405020304" pitchFamily="18" charset="0"/>
                <a:cs typeface="Times New Roman" panose="02020603050405020304" pitchFamily="18" charset="0"/>
              </a:rPr>
              <a:t>956638 (A870) – Remove in 25 cyc và không được GE cấp DR (tần suất trước đó 100 cyc); Thực hiện thay động cơ cuối T2 khi ĐCDP sửa chữa về. </a:t>
            </a:r>
          </a:p>
          <a:p>
            <a:pPr marL="548640" indent="-182880">
              <a:buFont typeface="Wingdings" panose="05000000000000000000" pitchFamily="2" charset="2"/>
              <a:buChar char="§"/>
              <a:defRPr/>
            </a:pPr>
            <a:r>
              <a:rPr lang="vi-VN" sz="1467">
                <a:solidFill>
                  <a:schemeClr val="tx1"/>
                </a:solidFill>
                <a:latin typeface="Times New Roman" panose="02020603050405020304" pitchFamily="18" charset="0"/>
                <a:cs typeface="Times New Roman" panose="02020603050405020304" pitchFamily="18" charset="0"/>
              </a:rPr>
              <a:t>956913 (A871) – Remove in 50 cyc or reinspect;</a:t>
            </a:r>
          </a:p>
          <a:p>
            <a:pPr marL="548640" indent="-182880">
              <a:buFont typeface="Wingdings" panose="05000000000000000000" pitchFamily="2" charset="2"/>
              <a:buChar char="§"/>
              <a:defRPr/>
            </a:pPr>
            <a:r>
              <a:rPr lang="vi-VN" sz="1467">
                <a:solidFill>
                  <a:schemeClr val="tx1"/>
                </a:solidFill>
                <a:latin typeface="Times New Roman" panose="02020603050405020304" pitchFamily="18" charset="0"/>
                <a:cs typeface="Times New Roman" panose="02020603050405020304" pitchFamily="18" charset="0"/>
              </a:rPr>
              <a:t>958170 (A863) – Remove in 50 cyc or reinspect;</a:t>
            </a:r>
          </a:p>
          <a:p>
            <a:pPr marL="548640" indent="-182880">
              <a:buFont typeface="Wingdings" panose="05000000000000000000" pitchFamily="2" charset="2"/>
              <a:buChar char="§"/>
              <a:defRPr/>
            </a:pPr>
            <a:r>
              <a:rPr lang="vi-VN" sz="1467">
                <a:solidFill>
                  <a:schemeClr val="tx1"/>
                </a:solidFill>
                <a:latin typeface="Times New Roman" panose="02020603050405020304" pitchFamily="18" charset="0"/>
                <a:cs typeface="Times New Roman" panose="02020603050405020304" pitchFamily="18" charset="0"/>
              </a:rPr>
              <a:t>956769 (A868) – Remove in 50 cyc or reinspect;</a:t>
            </a:r>
          </a:p>
          <a:p>
            <a:pPr marL="548640" indent="-182880">
              <a:buFont typeface="Wingdings" panose="05000000000000000000" pitchFamily="2" charset="2"/>
              <a:buChar char="§"/>
              <a:defRPr/>
            </a:pPr>
            <a:r>
              <a:rPr lang="vi-VN" sz="1467">
                <a:solidFill>
                  <a:schemeClr val="tx1"/>
                </a:solidFill>
                <a:latin typeface="Times New Roman" panose="02020603050405020304" pitchFamily="18" charset="0"/>
                <a:cs typeface="Times New Roman" panose="02020603050405020304" pitchFamily="18" charset="0"/>
              </a:rPr>
              <a:t>956577 (A864) – Repetitive 50 cyc;</a:t>
            </a:r>
          </a:p>
          <a:p>
            <a:pPr marL="548640" indent="-182880">
              <a:buFont typeface="Wingdings" panose="05000000000000000000" pitchFamily="2" charset="2"/>
              <a:buChar char="§"/>
              <a:defRPr/>
            </a:pPr>
            <a:r>
              <a:rPr lang="vi-VN" sz="1467">
                <a:solidFill>
                  <a:schemeClr val="tx1"/>
                </a:solidFill>
                <a:latin typeface="Times New Roman" panose="02020603050405020304" pitchFamily="18" charset="0"/>
                <a:cs typeface="Times New Roman" panose="02020603050405020304" pitchFamily="18" charset="0"/>
              </a:rPr>
              <a:t>100 cycle – 01 ĐC;  150 cycle – 01 ĐC; 250 cycle – 02 ĐC</a:t>
            </a:r>
            <a:r>
              <a:rPr lang="en-US" sz="1467">
                <a:solidFill>
                  <a:schemeClr val="tx1"/>
                </a:solidFill>
                <a:latin typeface="Times New Roman" panose="02020603050405020304" pitchFamily="18" charset="0"/>
                <a:cs typeface="Times New Roman" panose="02020603050405020304" pitchFamily="18" charset="0"/>
              </a:rPr>
              <a:t>. </a:t>
            </a:r>
            <a:endParaRPr lang="en-US" sz="1467" dirty="0">
              <a:solidFill>
                <a:schemeClr val="tx1"/>
              </a:solidFill>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xmlns="" id="{66BC6617-EF33-BB90-B1C0-6DFD65C9FC16}"/>
              </a:ext>
            </a:extLst>
          </p:cNvPr>
          <p:cNvGraphicFramePr>
            <a:graphicFrameLocks noGrp="1"/>
          </p:cNvGraphicFramePr>
          <p:nvPr>
            <p:extLst/>
          </p:nvPr>
        </p:nvGraphicFramePr>
        <p:xfrm>
          <a:off x="88572" y="445510"/>
          <a:ext cx="6778543" cy="4256510"/>
        </p:xfrm>
        <a:graphic>
          <a:graphicData uri="http://schemas.openxmlformats.org/drawingml/2006/table">
            <a:tbl>
              <a:tblPr firstRow="1" bandRow="1">
                <a:tableStyleId>{7DF18680-E054-41AD-8BC1-D1AEF772440D}</a:tableStyleId>
              </a:tblPr>
              <a:tblGrid>
                <a:gridCol w="680205">
                  <a:extLst>
                    <a:ext uri="{9D8B030D-6E8A-4147-A177-3AD203B41FA5}">
                      <a16:colId xmlns:a16="http://schemas.microsoft.com/office/drawing/2014/main" xmlns="" val="1598605427"/>
                    </a:ext>
                  </a:extLst>
                </a:gridCol>
                <a:gridCol w="669252">
                  <a:extLst>
                    <a:ext uri="{9D8B030D-6E8A-4147-A177-3AD203B41FA5}">
                      <a16:colId xmlns:a16="http://schemas.microsoft.com/office/drawing/2014/main" xmlns="" val="3845954792"/>
                    </a:ext>
                  </a:extLst>
                </a:gridCol>
                <a:gridCol w="849128">
                  <a:extLst>
                    <a:ext uri="{9D8B030D-6E8A-4147-A177-3AD203B41FA5}">
                      <a16:colId xmlns:a16="http://schemas.microsoft.com/office/drawing/2014/main" xmlns="" val="3803391337"/>
                    </a:ext>
                  </a:extLst>
                </a:gridCol>
                <a:gridCol w="1797456">
                  <a:extLst>
                    <a:ext uri="{9D8B030D-6E8A-4147-A177-3AD203B41FA5}">
                      <a16:colId xmlns:a16="http://schemas.microsoft.com/office/drawing/2014/main" xmlns="" val="2148822928"/>
                    </a:ext>
                  </a:extLst>
                </a:gridCol>
                <a:gridCol w="954581">
                  <a:extLst>
                    <a:ext uri="{9D8B030D-6E8A-4147-A177-3AD203B41FA5}">
                      <a16:colId xmlns:a16="http://schemas.microsoft.com/office/drawing/2014/main" xmlns="" val="1106888684"/>
                    </a:ext>
                  </a:extLst>
                </a:gridCol>
                <a:gridCol w="721013">
                  <a:extLst>
                    <a:ext uri="{9D8B030D-6E8A-4147-A177-3AD203B41FA5}">
                      <a16:colId xmlns:a16="http://schemas.microsoft.com/office/drawing/2014/main" xmlns="" val="1185879436"/>
                    </a:ext>
                  </a:extLst>
                </a:gridCol>
                <a:gridCol w="1106908">
                  <a:extLst>
                    <a:ext uri="{9D8B030D-6E8A-4147-A177-3AD203B41FA5}">
                      <a16:colId xmlns:a16="http://schemas.microsoft.com/office/drawing/2014/main" xmlns="" val="558551088"/>
                    </a:ext>
                  </a:extLst>
                </a:gridCol>
              </a:tblGrid>
              <a:tr h="467909">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err="1">
                          <a:solidFill>
                            <a:schemeClr val="bg1"/>
                          </a:solidFill>
                          <a:effectLst/>
                          <a:latin typeface="+mn-lt"/>
                        </a:rPr>
                        <a:t>Dùng</a:t>
                      </a:r>
                      <a:r>
                        <a:rPr lang="en-US" sz="1200" u="none" strike="noStrike" dirty="0">
                          <a:solidFill>
                            <a:schemeClr val="bg1"/>
                          </a:solidFill>
                          <a:effectLst/>
                          <a:latin typeface="+mn-lt"/>
                        </a:rPr>
                        <a:t> </a:t>
                      </a:r>
                      <a:r>
                        <a:rPr lang="en-US" sz="1200" u="none" strike="noStrike" dirty="0" err="1">
                          <a:solidFill>
                            <a:schemeClr val="bg1"/>
                          </a:solidFill>
                          <a:effectLst/>
                          <a:latin typeface="+mn-lt"/>
                        </a:rPr>
                        <a:t>cho</a:t>
                      </a:r>
                      <a:r>
                        <a:rPr lang="en-US" sz="1200" u="none" strike="noStrike" dirty="0">
                          <a:solidFill>
                            <a:schemeClr val="bg1"/>
                          </a:solidFill>
                          <a:effectLst/>
                          <a:latin typeface="+mn-lt"/>
                        </a:rPr>
                        <a:t> </a:t>
                      </a:r>
                      <a:r>
                        <a:rPr lang="en-US" sz="1200" u="none" strike="noStrike" dirty="0" err="1">
                          <a:solidFill>
                            <a:schemeClr val="bg1"/>
                          </a:solidFill>
                          <a:effectLst/>
                          <a:latin typeface="+mn-lt"/>
                        </a:rPr>
                        <a:t>tàu</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tháo</a:t>
                      </a:r>
                      <a:r>
                        <a:rPr lang="en-US" sz="1200" b="1" u="none" strike="noStrike" dirty="0">
                          <a:solidFill>
                            <a:schemeClr val="bg1"/>
                          </a:solidFill>
                          <a:effectLst/>
                          <a:latin typeface="+mn-lt"/>
                        </a:rPr>
                        <a:t> ĐC </a:t>
                      </a:r>
                      <a:r>
                        <a:rPr lang="en-US" sz="1200" b="1" u="none" strike="noStrike" dirty="0" err="1">
                          <a:solidFill>
                            <a:schemeClr val="bg1"/>
                          </a:solidFill>
                          <a:effectLst/>
                          <a:latin typeface="+mn-lt"/>
                        </a:rPr>
                        <a:t>tiếp</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xmlns="" val="1234812354"/>
                  </a:ext>
                </a:extLst>
              </a:tr>
              <a:tr h="409987">
                <a:tc>
                  <a:txBody>
                    <a:bodyPr/>
                    <a:lstStyle/>
                    <a:p>
                      <a:pPr algn="ctr" fontAlgn="ctr"/>
                      <a:r>
                        <a:rPr lang="en-US" sz="1200" b="0" u="none" strike="noStrike" dirty="0">
                          <a:solidFill>
                            <a:schemeClr val="tx1"/>
                          </a:solidFill>
                          <a:effectLst/>
                          <a:latin typeface="+mn-lt"/>
                        </a:rPr>
                        <a:t>956556</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20/11/2023</a:t>
                      </a:r>
                    </a:p>
                  </a:txBody>
                  <a:tcPr marL="12700" marR="12700" marT="12700" marB="0" anchor="ctr"/>
                </a:tc>
                <a:tc>
                  <a:txBody>
                    <a:bodyPr/>
                    <a:lstStyle/>
                    <a:p>
                      <a:pPr algn="ctr" fontAlgn="ctr"/>
                      <a:r>
                        <a:rPr lang="en-US" sz="1200" u="none" strike="noStrike" dirty="0">
                          <a:solidFill>
                            <a:schemeClr val="tx1"/>
                          </a:solidFill>
                          <a:effectLst/>
                          <a:latin typeface="+mn-lt"/>
                        </a:rPr>
                        <a:t>End of Mar/2025</a:t>
                      </a:r>
                    </a:p>
                    <a:p>
                      <a:pPr algn="ctr" fontAlgn="ctr"/>
                      <a:r>
                        <a:rPr lang="en-US" sz="1200" u="none" strike="noStrike" dirty="0">
                          <a:solidFill>
                            <a:schemeClr val="tx1"/>
                          </a:solidFill>
                          <a:effectLst/>
                          <a:latin typeface="+mn-lt"/>
                        </a:rPr>
                        <a:t>Induct 12/08/2024</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2610276437"/>
                  </a:ext>
                </a:extLst>
              </a:tr>
              <a:tr h="428984">
                <a:tc>
                  <a:txBody>
                    <a:bodyPr/>
                    <a:lstStyle/>
                    <a:p>
                      <a:pPr algn="ctr" fontAlgn="ctr"/>
                      <a:r>
                        <a:rPr lang="en-US" sz="1200" b="0" u="none" strike="noStrike" dirty="0">
                          <a:solidFill>
                            <a:schemeClr val="tx1"/>
                          </a:solidFill>
                          <a:effectLst/>
                          <a:latin typeface="+mn-lt"/>
                        </a:rPr>
                        <a:t>956533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26/01/2024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05/10/2024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1880068930"/>
                  </a:ext>
                </a:extLst>
              </a:tr>
              <a:tr h="470767">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12/11/2024</a:t>
                      </a:r>
                    </a:p>
                  </a:txBody>
                  <a:tcPr marL="12700" marR="12700" marT="12700" marB="0" anchor="ctr"/>
                </a:tc>
                <a:tc>
                  <a:txBody>
                    <a:bodyPr/>
                    <a:lstStyle/>
                    <a:p>
                      <a:pPr marL="0" algn="ctr" defTabSz="914400" rtl="0" eaLnBrk="1" fontAlgn="ctr" latinLnBrk="0" hangingPunct="1"/>
                      <a:r>
                        <a:rPr lang="en-US" sz="1200" b="0" i="0" u="none" strike="noStrike" dirty="0">
                          <a:solidFill>
                            <a:schemeClr val="tx1"/>
                          </a:solidFill>
                          <a:effectLst/>
                          <a:latin typeface="+mn-lt"/>
                          <a:cs typeface="Times New Roman" panose="02020603050405020304" pitchFamily="18" charset="0"/>
                        </a:rPr>
                        <a:t>TBD</a:t>
                      </a:r>
                      <a:endParaRPr lang="en-US" sz="1200" b="1" i="0" u="none" strike="noStrike" kern="1200" dirty="0">
                        <a:solidFill>
                          <a:srgbClr val="0070C0"/>
                        </a:solidFill>
                        <a:effectLst/>
                        <a:latin typeface="+mn-lt"/>
                        <a:ea typeface="+mn-ea"/>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408617102"/>
                  </a:ext>
                </a:extLst>
              </a:tr>
              <a:tr h="404556">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17/07/2024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endParaRPr lang="en-US" sz="1200" b="1" i="0" u="none" strike="noStrike" dirty="0">
                        <a:solidFill>
                          <a:srgbClr val="0070C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1168631574"/>
                  </a:ext>
                </a:extLst>
              </a:tr>
              <a:tr h="423872">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26/11/2024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3167051134"/>
                  </a:ext>
                </a:extLst>
              </a:tr>
              <a:tr h="378460">
                <a:tc>
                  <a:txBody>
                    <a:bodyPr/>
                    <a:lstStyle/>
                    <a:p>
                      <a:pPr algn="ctr" fontAlgn="ctr"/>
                      <a:r>
                        <a:rPr lang="en-US" sz="1200" b="0" i="0" u="none" strike="noStrike" dirty="0">
                          <a:solidFill>
                            <a:schemeClr val="tx1"/>
                          </a:solidFill>
                          <a:effectLst/>
                          <a:latin typeface="+mn-lt"/>
                          <a:cs typeface="Times New Roman" panose="02020603050405020304" pitchFamily="18" charset="0"/>
                        </a:rPr>
                        <a:t>958537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17/09/2024</a:t>
                      </a:r>
                    </a:p>
                  </a:txBody>
                  <a:tcPr marL="12700" marR="12700" marT="12700" marB="0" anchor="ctr"/>
                </a:tc>
                <a:tc>
                  <a:txBody>
                    <a:bodyPr/>
                    <a:lstStyle/>
                    <a:p>
                      <a:pPr algn="ctr" fontAlgn="ctr"/>
                      <a:r>
                        <a:rPr lang="en-US" sz="1200" b="0" u="none" strike="noStrike" kern="1200">
                          <a:solidFill>
                            <a:srgbClr val="FF0000"/>
                          </a:solidFill>
                          <a:effectLst/>
                          <a:latin typeface="+mn-lt"/>
                          <a:ea typeface="+mn-ea"/>
                          <a:cs typeface="Times New Roman" panose="02020603050405020304" pitchFamily="18" charset="0"/>
                        </a:rPr>
                        <a:t>20/</a:t>
                      </a:r>
                      <a:r>
                        <a:rPr lang="en-US" sz="1200" b="0" u="none" strike="noStrike" kern="1200" dirty="0">
                          <a:solidFill>
                            <a:srgbClr val="FF0000"/>
                          </a:solidFill>
                          <a:effectLst/>
                          <a:latin typeface="+mn-lt"/>
                          <a:ea typeface="+mn-ea"/>
                          <a:cs typeface="Times New Roman" panose="02020603050405020304" pitchFamily="18" charset="0"/>
                        </a:rPr>
                        <a:t>Feb/2025</a:t>
                      </a:r>
                    </a:p>
                    <a:p>
                      <a:pPr algn="ctr" fontAlgn="ctr"/>
                      <a:r>
                        <a:rPr lang="en-US" sz="1200" b="0" u="none" strike="noStrike" kern="1200" dirty="0">
                          <a:solidFill>
                            <a:srgbClr val="FF0000"/>
                          </a:solidFill>
                          <a:effectLst/>
                          <a:latin typeface="+mn-lt"/>
                          <a:ea typeface="+mn-ea"/>
                          <a:cs typeface="Times New Roman" panose="02020603050405020304" pitchFamily="18" charset="0"/>
                        </a:rPr>
                        <a:t>Induct 04/11</a:t>
                      </a:r>
                    </a:p>
                  </a:txBody>
                  <a:tcPr marL="12700" marR="12700" marT="12700" marB="0" anchor="ctr"/>
                </a:tc>
                <a:tc>
                  <a:txBody>
                    <a:bodyPr/>
                    <a:lstStyle/>
                    <a:p>
                      <a:pPr algn="ctr" fontAlgn="ctr"/>
                      <a:r>
                        <a:rPr lang="en-US" sz="1200" b="0" u="none" strike="noStrike" kern="1200" dirty="0">
                          <a:solidFill>
                            <a:srgbClr val="FF0000"/>
                          </a:solidFill>
                          <a:effectLst/>
                          <a:latin typeface="+mn-lt"/>
                          <a:ea typeface="+mn-ea"/>
                          <a:cs typeface="Times New Roman" panose="02020603050405020304" pitchFamily="18" charset="0"/>
                        </a:rPr>
                        <a:t>28/Feb/25</a:t>
                      </a:r>
                    </a:p>
                  </a:txBody>
                  <a:tcPr marL="12700" marR="12700" marT="12700" marB="0" anchor="ctr"/>
                </a:tc>
                <a:tc>
                  <a:txBody>
                    <a:bodyPr/>
                    <a:lstStyle/>
                    <a:p>
                      <a:pPr algn="ctr" fontAlgn="ctr"/>
                      <a:endParaRPr lang="en-US" sz="1200" b="0" i="0" u="none" strike="noStrike" dirty="0">
                        <a:solidFill>
                          <a:srgbClr val="008ECC"/>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rgbClr val="008ECC"/>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2980115374"/>
                  </a:ext>
                </a:extLst>
              </a:tr>
              <a:tr h="400604">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rgbClr val="FF0000"/>
                          </a:solidFill>
                          <a:effectLst/>
                          <a:latin typeface="+mn-lt"/>
                          <a:cs typeface="Times New Roman" panose="02020603050405020304" pitchFamily="18" charset="0"/>
                        </a:rPr>
                        <a:t>Induct 04/Mar        </a:t>
                      </a:r>
                    </a:p>
                    <a:p>
                      <a:pPr algn="ctr" fontAlgn="ctr"/>
                      <a:r>
                        <a:rPr lang="en-US" sz="1200" b="0" u="none" strike="noStrike" dirty="0">
                          <a:solidFill>
                            <a:srgbClr val="FF0000"/>
                          </a:solidFill>
                          <a:effectLst/>
                          <a:latin typeface="+mn-lt"/>
                          <a:cs typeface="Times New Roman" panose="02020603050405020304" pitchFamily="18" charset="0"/>
                        </a:rPr>
                        <a:t>(KH </a:t>
                      </a:r>
                      <a:r>
                        <a:rPr lang="en-US" sz="1200" b="0" u="none" strike="noStrike" dirty="0" err="1">
                          <a:solidFill>
                            <a:srgbClr val="FF0000"/>
                          </a:solidFill>
                          <a:effectLst/>
                          <a:latin typeface="+mn-lt"/>
                          <a:cs typeface="Times New Roman" panose="02020603050405020304" pitchFamily="18" charset="0"/>
                        </a:rPr>
                        <a:t>cũ</a:t>
                      </a:r>
                      <a:r>
                        <a:rPr lang="en-US" sz="1200" b="0" u="none" strike="noStrike" dirty="0">
                          <a:solidFill>
                            <a:srgbClr val="FF0000"/>
                          </a:solidFill>
                          <a:effectLst/>
                          <a:latin typeface="+mn-lt"/>
                          <a:cs typeface="Times New Roman" panose="02020603050405020304" pitchFamily="18" charset="0"/>
                        </a:rPr>
                        <a:t> 16/12)</a:t>
                      </a:r>
                    </a:p>
                  </a:txBody>
                  <a:tcPr marL="12700" marR="12700" marT="12700" marB="0" anchor="ctr"/>
                </a:tc>
                <a:tc>
                  <a:txBody>
                    <a:bodyPr/>
                    <a:lstStyle/>
                    <a:p>
                      <a:pPr algn="ctr" fontAlgn="ctr"/>
                      <a:r>
                        <a:rPr lang="en-US" sz="1200" b="0" i="0" u="none" strike="noStrike" dirty="0">
                          <a:solidFill>
                            <a:srgbClr val="FF0000"/>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1090409908"/>
                  </a:ext>
                </a:extLst>
              </a:tr>
              <a:tr h="400604">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rgbClr val="FF0000"/>
                          </a:solidFill>
                          <a:effectLst/>
                          <a:latin typeface="+mn-lt"/>
                          <a:cs typeface="Times New Roman" panose="02020603050405020304" pitchFamily="18" charset="0"/>
                        </a:rPr>
                        <a:t>TBD</a:t>
                      </a:r>
                      <a:br>
                        <a:rPr lang="en-US" sz="1200" b="0" u="none" strike="noStrike" dirty="0">
                          <a:solidFill>
                            <a:srgbClr val="FF0000"/>
                          </a:solidFill>
                          <a:effectLst/>
                          <a:latin typeface="+mn-lt"/>
                          <a:cs typeface="Times New Roman" panose="02020603050405020304" pitchFamily="18" charset="0"/>
                        </a:rPr>
                      </a:br>
                      <a:r>
                        <a:rPr lang="en-US" sz="1200" b="0" u="none" strike="noStrike" dirty="0">
                          <a:solidFill>
                            <a:srgbClr val="FF0000"/>
                          </a:solidFill>
                          <a:effectLst/>
                          <a:latin typeface="+mn-lt"/>
                          <a:cs typeface="Times New Roman" panose="02020603050405020304" pitchFamily="18" charset="0"/>
                        </a:rPr>
                        <a:t>Induction TBD</a:t>
                      </a:r>
                    </a:p>
                  </a:txBody>
                  <a:tcPr marL="12700" marR="12700" marT="12700" marB="0" anchor="ctr"/>
                </a:tc>
                <a:tc>
                  <a:txBody>
                    <a:bodyPr/>
                    <a:lstStyle/>
                    <a:p>
                      <a:pPr algn="ctr" fontAlgn="ctr"/>
                      <a:r>
                        <a:rPr lang="en-US" sz="1200" b="0" i="0" u="none" strike="noStrike" dirty="0">
                          <a:solidFill>
                            <a:srgbClr val="FF0000"/>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764472465"/>
                  </a:ext>
                </a:extLst>
              </a:tr>
              <a:tr h="470767">
                <a:tc>
                  <a:txBody>
                    <a:bodyPr/>
                    <a:lstStyle/>
                    <a:p>
                      <a:pPr algn="ctr" fontAlgn="ctr"/>
                      <a:r>
                        <a:rPr lang="en-US" sz="1200" b="0" i="0" u="none" strike="noStrike" dirty="0">
                          <a:solidFill>
                            <a:schemeClr val="tx1"/>
                          </a:solidFill>
                          <a:effectLst/>
                          <a:latin typeface="+mn-lt"/>
                          <a:cs typeface="Times New Roman" panose="02020603050405020304" pitchFamily="18" charset="0"/>
                        </a:rPr>
                        <a:t>958541</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15/09/2024</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1" u="none" strike="noStrike" dirty="0">
                          <a:solidFill>
                            <a:srgbClr val="006C00"/>
                          </a:solidFill>
                          <a:effectLst/>
                          <a:latin typeface="+mn-lt"/>
                          <a:cs typeface="Times New Roman" panose="02020603050405020304" pitchFamily="18" charset="0"/>
                        </a:rPr>
                        <a:t>31/12/2024</a:t>
                      </a:r>
                    </a:p>
                    <a:p>
                      <a:pPr algn="ctr" fontAlgn="ctr"/>
                      <a:r>
                        <a:rPr lang="en-US" sz="1200" b="1" u="none" strike="noStrike" dirty="0">
                          <a:solidFill>
                            <a:srgbClr val="006C00"/>
                          </a:solidFill>
                          <a:effectLst/>
                          <a:latin typeface="+mn-lt"/>
                          <a:cs typeface="Times New Roman" panose="02020603050405020304" pitchFamily="18" charset="0"/>
                        </a:rPr>
                        <a:t>Induct 02/10/2024</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1" i="0" u="none" strike="noStrike" dirty="0">
                          <a:solidFill>
                            <a:srgbClr val="006C00"/>
                          </a:solidFill>
                          <a:effectLst/>
                          <a:latin typeface="+mn-lt"/>
                          <a:cs typeface="Times New Roman" panose="02020603050405020304" pitchFamily="18" charset="0"/>
                        </a:rPr>
                        <a:t>12/01/2025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49697906"/>
                  </a:ext>
                </a:extLst>
              </a:tr>
            </a:tbl>
          </a:graphicData>
        </a:graphic>
      </p:graphicFrame>
      <p:sp>
        <p:nvSpPr>
          <p:cNvPr id="7" name="TextBox 6">
            <a:extLst>
              <a:ext uri="{FF2B5EF4-FFF2-40B4-BE49-F238E27FC236}">
                <a16:creationId xmlns:a16="http://schemas.microsoft.com/office/drawing/2014/main" xmlns="" id="{1D51DD3A-A3BC-37D8-A7BC-C2D1AAF32241}"/>
              </a:ext>
            </a:extLst>
          </p:cNvPr>
          <p:cNvSpPr txBox="1"/>
          <p:nvPr/>
        </p:nvSpPr>
        <p:spPr>
          <a:xfrm>
            <a:off x="-80108" y="-47303"/>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76504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33</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xmlns=""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33</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xmlns="" id="{EF695E52-C896-9BB0-D877-6900CC294C68}"/>
              </a:ext>
            </a:extLst>
          </p:cNvPr>
          <p:cNvSpPr txBox="1"/>
          <p:nvPr/>
        </p:nvSpPr>
        <p:spPr>
          <a:xfrm>
            <a:off x="59590" y="0"/>
            <a:ext cx="14875495"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A350</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9BAFF210-6A48-BE4D-D3F6-9B8EEEA5040F}"/>
              </a:ext>
            </a:extLst>
          </p:cNvPr>
          <p:cNvGraphicFramePr>
            <a:graphicFrameLocks noGrp="1"/>
          </p:cNvGraphicFramePr>
          <p:nvPr>
            <p:extLst/>
          </p:nvPr>
        </p:nvGraphicFramePr>
        <p:xfrm>
          <a:off x="59590" y="875396"/>
          <a:ext cx="5905159" cy="3230880"/>
        </p:xfrm>
        <a:graphic>
          <a:graphicData uri="http://schemas.openxmlformats.org/drawingml/2006/table">
            <a:tbl>
              <a:tblPr firstRow="1" bandRow="1">
                <a:tableStyleId>{5C22544A-7EE6-4342-B048-85BDC9FD1C3A}</a:tableStyleId>
              </a:tblPr>
              <a:tblGrid>
                <a:gridCol w="1042345">
                  <a:extLst>
                    <a:ext uri="{9D8B030D-6E8A-4147-A177-3AD203B41FA5}">
                      <a16:colId xmlns:a16="http://schemas.microsoft.com/office/drawing/2014/main" xmlns="" val="1930757539"/>
                    </a:ext>
                  </a:extLst>
                </a:gridCol>
                <a:gridCol w="1565065">
                  <a:extLst>
                    <a:ext uri="{9D8B030D-6E8A-4147-A177-3AD203B41FA5}">
                      <a16:colId xmlns:a16="http://schemas.microsoft.com/office/drawing/2014/main" xmlns="" val="1674463010"/>
                    </a:ext>
                  </a:extLst>
                </a:gridCol>
                <a:gridCol w="1334759">
                  <a:extLst>
                    <a:ext uri="{9D8B030D-6E8A-4147-A177-3AD203B41FA5}">
                      <a16:colId xmlns:a16="http://schemas.microsoft.com/office/drawing/2014/main" xmlns="" val="1549944897"/>
                    </a:ext>
                  </a:extLst>
                </a:gridCol>
                <a:gridCol w="942235">
                  <a:extLst>
                    <a:ext uri="{9D8B030D-6E8A-4147-A177-3AD203B41FA5}">
                      <a16:colId xmlns:a16="http://schemas.microsoft.com/office/drawing/2014/main" xmlns="" val="3687717734"/>
                    </a:ext>
                  </a:extLst>
                </a:gridCol>
                <a:gridCol w="1020755">
                  <a:extLst>
                    <a:ext uri="{9D8B030D-6E8A-4147-A177-3AD203B41FA5}">
                      <a16:colId xmlns:a16="http://schemas.microsoft.com/office/drawing/2014/main" xmlns="" val="4100307886"/>
                    </a:ext>
                  </a:extLst>
                </a:gridCol>
              </a:tblGrid>
              <a:tr h="164309">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err="1">
                          <a:latin typeface="Times New Roman" panose="02020603050405020304" pitchFamily="18" charset="0"/>
                          <a:cs typeface="Times New Roman" panose="02020603050405020304" pitchFamily="18" charset="0"/>
                        </a:rPr>
                        <a:t>Ngày</a:t>
                      </a:r>
                      <a:r>
                        <a:rPr lang="en-US" sz="1200">
                          <a:latin typeface="Times New Roman" panose="02020603050405020304" pitchFamily="18" charset="0"/>
                          <a:cs typeface="Times New Roman" panose="02020603050405020304" pitchFamily="18" charset="0"/>
                        </a:rPr>
                        <a:t> xong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1532058823"/>
                  </a:ext>
                </a:extLst>
              </a:tr>
              <a:tr h="0">
                <a:tc>
                  <a:txBody>
                    <a:bodyPr/>
                    <a:lstStyle/>
                    <a:p>
                      <a:r>
                        <a:rPr lang="en-US" sz="1200" b="1" dirty="0">
                          <a:latin typeface="Times New Roman" panose="02020603050405020304" pitchFamily="18" charset="0"/>
                          <a:cs typeface="Times New Roman" panose="02020603050405020304" pitchFamily="18" charset="0"/>
                        </a:rPr>
                        <a:t>21047</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N3 </a:t>
                      </a:r>
                      <a:r>
                        <a:rPr lang="en-GB" sz="1200" dirty="0">
                          <a:latin typeface="Times New Roman" panose="02020603050405020304" pitchFamily="18" charset="0"/>
                          <a:cs typeface="Times New Roman" panose="02020603050405020304" pitchFamily="18" charset="0"/>
                        </a:rPr>
                        <a:t>– 2RF</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14/08/24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02/03/</a:t>
                      </a:r>
                      <a:r>
                        <a:rPr lang="vi-VN" sz="1200" b="0" dirty="0">
                          <a:solidFill>
                            <a:schemeClr val="tx1"/>
                          </a:solidFill>
                          <a:latin typeface="Times New Roman" panose="02020603050405020304" pitchFamily="18" charset="0"/>
                          <a:cs typeface="Times New Roman" panose="02020603050405020304" pitchFamily="18" charset="0"/>
                        </a:rPr>
                        <a:t>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12/03/</a:t>
                      </a:r>
                      <a:r>
                        <a:rPr lang="vi-VN" sz="1200" b="0" dirty="0">
                          <a:solidFill>
                            <a:schemeClr val="tx1"/>
                          </a:solidFill>
                          <a:latin typeface="Times New Roman" panose="02020603050405020304" pitchFamily="18" charset="0"/>
                          <a:cs typeface="Times New Roman" panose="02020603050405020304" pitchFamily="18" charset="0"/>
                        </a:rPr>
                        <a:t>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2082573017"/>
                  </a:ext>
                </a:extLst>
              </a:tr>
              <a:tr h="0">
                <a:tc>
                  <a:txBody>
                    <a:bodyPr/>
                    <a:lstStyle/>
                    <a:p>
                      <a:r>
                        <a:rPr lang="en-US" sz="1200" b="1">
                          <a:latin typeface="Times New Roman" panose="02020603050405020304" pitchFamily="18" charset="0"/>
                          <a:cs typeface="Times New Roman" panose="02020603050405020304" pitchFamily="18" charset="0"/>
                        </a:rPr>
                        <a:t>21043</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N3 </a:t>
                      </a:r>
                      <a:r>
                        <a:rPr lang="en-US" sz="1200" dirty="0">
                          <a:latin typeface="Times New Roman" panose="02020603050405020304" pitchFamily="18" charset="0"/>
                          <a:cs typeface="Times New Roman" panose="02020603050405020304" pitchFamily="18" charset="0"/>
                        </a:rPr>
                        <a:t>– 2RF</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14/11/24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02/06/25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10/06/25</a:t>
                      </a:r>
                    </a:p>
                  </a:txBody>
                  <a:tcPr marL="121920" marR="121920" marT="60960" marB="60960" anchor="ctr"/>
                </a:tc>
                <a:extLst>
                  <a:ext uri="{0D108BD9-81ED-4DB2-BD59-A6C34878D82A}">
                    <a16:rowId xmlns:a16="http://schemas.microsoft.com/office/drawing/2014/main" xmlns="" val="83465224"/>
                  </a:ext>
                </a:extLst>
              </a:tr>
              <a:tr h="164309">
                <a:tc>
                  <a:txBody>
                    <a:bodyPr/>
                    <a:lstStyle/>
                    <a:p>
                      <a:r>
                        <a:rPr lang="en-US" sz="1200" b="1" dirty="0">
                          <a:latin typeface="Times New Roman" panose="02020603050405020304" pitchFamily="18" charset="0"/>
                          <a:cs typeface="Times New Roman" panose="02020603050405020304" pitchFamily="18" charset="0"/>
                        </a:rPr>
                        <a:t>21316</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a:t>
                      </a:r>
                      <a:r>
                        <a:rPr lang="en-US" sz="1200" dirty="0">
                          <a:latin typeface="Times New Roman" panose="02020603050405020304" pitchFamily="18" charset="0"/>
                          <a:cs typeface="Times New Roman" panose="02020603050405020304" pitchFamily="18" charset="0"/>
                        </a:rPr>
                        <a:t>– QT</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20/11/24</a:t>
                      </a: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17/02/25</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23/02/25</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3218884716"/>
                  </a:ext>
                </a:extLst>
              </a:tr>
              <a:tr h="0">
                <a:tc>
                  <a:txBody>
                    <a:bodyPr/>
                    <a:lstStyle/>
                    <a:p>
                      <a:r>
                        <a:rPr lang="en-US" sz="1200" b="1">
                          <a:latin typeface="Times New Roman" panose="02020603050405020304" pitchFamily="18" charset="0"/>
                          <a:cs typeface="Times New Roman" panose="02020603050405020304" pitchFamily="18" charset="0"/>
                        </a:rPr>
                        <a:t>21137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N3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12/12/24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20/06/25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30/06/25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1733553736"/>
                  </a:ext>
                </a:extLst>
              </a:tr>
              <a:tr h="164309">
                <a:tc>
                  <a:txBody>
                    <a:bodyPr/>
                    <a:lstStyle/>
                    <a:p>
                      <a:r>
                        <a:rPr lang="en-US" sz="1200" b="1">
                          <a:latin typeface="Times New Roman" panose="02020603050405020304" pitchFamily="18" charset="0"/>
                          <a:cs typeface="Times New Roman" panose="02020603050405020304" pitchFamily="18" charset="0"/>
                        </a:rPr>
                        <a:t>21422</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1RF – 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21/12/24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algn="l" defTabSz="914400" rtl="0" eaLnBrk="1" latinLnBrk="0" hangingPunct="1"/>
                      <a:r>
                        <a:rPr lang="en-US" sz="1200" b="0" kern="1200">
                          <a:solidFill>
                            <a:schemeClr val="tx1"/>
                          </a:solidFill>
                          <a:latin typeface="Times New Roman" panose="02020603050405020304" pitchFamily="18" charset="0"/>
                          <a:ea typeface="+mn-ea"/>
                          <a:cs typeface="Times New Roman" panose="02020603050405020304" pitchFamily="18" charset="0"/>
                        </a:rPr>
                        <a:t>30/03/25</a:t>
                      </a:r>
                      <a:endParaRPr lang="en-US" sz="1200" b="0"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tc>
                <a:tc>
                  <a:txBody>
                    <a:bodyPr/>
                    <a:lstStyle/>
                    <a:p>
                      <a:pPr marL="0" algn="l" defTabSz="914400" rtl="0" eaLnBrk="1" latinLnBrk="0" hangingPunct="1"/>
                      <a:r>
                        <a:rPr lang="en-US" sz="1200" b="0" kern="1200">
                          <a:solidFill>
                            <a:schemeClr val="tx1"/>
                          </a:solidFill>
                          <a:latin typeface="Times New Roman" panose="02020603050405020304" pitchFamily="18" charset="0"/>
                          <a:ea typeface="+mn-ea"/>
                          <a:cs typeface="Times New Roman" panose="02020603050405020304" pitchFamily="18" charset="0"/>
                        </a:rPr>
                        <a:t>10/04/25</a:t>
                      </a:r>
                      <a:endParaRPr lang="en-US" sz="1200" b="0"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875011403"/>
                  </a:ext>
                </a:extLst>
              </a:tr>
              <a:tr h="164309">
                <a:tc>
                  <a:txBody>
                    <a:bodyPr/>
                    <a:lstStyle/>
                    <a:p>
                      <a:r>
                        <a:rPr lang="en-US" sz="1200" b="1">
                          <a:latin typeface="Times New Roman" panose="02020603050405020304" pitchFamily="18" charset="0"/>
                          <a:cs typeface="Times New Roman" panose="02020603050405020304" pitchFamily="18" charset="0"/>
                        </a:rPr>
                        <a:t>21201</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28/12/24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29/04/25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727372545"/>
                  </a:ext>
                </a:extLst>
              </a:tr>
              <a:tr h="164309">
                <a:tc>
                  <a:txBody>
                    <a:bodyPr/>
                    <a:lstStyle/>
                    <a:p>
                      <a:r>
                        <a:rPr lang="en-US" sz="1200" b="1">
                          <a:latin typeface="Times New Roman" panose="02020603050405020304" pitchFamily="18" charset="0"/>
                          <a:cs typeface="Times New Roman" panose="02020603050405020304" pitchFamily="18" charset="0"/>
                        </a:rPr>
                        <a:t>21584</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 – 1RF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23/01/25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23/05/25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02/06/25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829074625"/>
                  </a:ext>
                </a:extLst>
              </a:tr>
              <a:tr h="164309">
                <a:tc>
                  <a:txBody>
                    <a:bodyPr/>
                    <a:lstStyle/>
                    <a:p>
                      <a:r>
                        <a:rPr lang="en-US" sz="1200" b="1">
                          <a:latin typeface="Times New Roman" panose="02020603050405020304" pitchFamily="18" charset="0"/>
                          <a:cs typeface="Times New Roman" panose="02020603050405020304" pitchFamily="18" charset="0"/>
                        </a:rPr>
                        <a:t>21269</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 QT</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27/01/25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13/04/25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23/04/25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1733130508"/>
                  </a:ext>
                </a:extLst>
              </a:tr>
              <a:tr h="164309">
                <a:tc>
                  <a:txBody>
                    <a:bodyPr/>
                    <a:lstStyle/>
                    <a:p>
                      <a:r>
                        <a:rPr lang="en-US" sz="1200" b="1">
                          <a:latin typeface="Times New Roman" panose="02020603050405020304" pitchFamily="18" charset="0"/>
                          <a:cs typeface="Times New Roman" panose="02020603050405020304" pitchFamily="18" charset="0"/>
                        </a:rPr>
                        <a:t>21040</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07/02/25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07/06/25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3135666374"/>
                  </a:ext>
                </a:extLst>
              </a:tr>
            </a:tbl>
          </a:graphicData>
        </a:graphic>
      </p:graphicFrame>
      <p:graphicFrame>
        <p:nvGraphicFramePr>
          <p:cNvPr id="6" name="Table 5">
            <a:extLst>
              <a:ext uri="{FF2B5EF4-FFF2-40B4-BE49-F238E27FC236}">
                <a16:creationId xmlns:a16="http://schemas.microsoft.com/office/drawing/2014/main" xmlns="" id="{7BFB9EC9-2DB3-4DC1-4221-D1E337486ABA}"/>
              </a:ext>
            </a:extLst>
          </p:cNvPr>
          <p:cNvGraphicFramePr>
            <a:graphicFrameLocks noGrp="1"/>
          </p:cNvGraphicFramePr>
          <p:nvPr>
            <p:extLst/>
          </p:nvPr>
        </p:nvGraphicFramePr>
        <p:xfrm>
          <a:off x="86463" y="4685550"/>
          <a:ext cx="5867400" cy="2133600"/>
        </p:xfrm>
        <a:graphic>
          <a:graphicData uri="http://schemas.openxmlformats.org/drawingml/2006/table">
            <a:tbl>
              <a:tblPr firstRow="1" bandRow="1">
                <a:tableStyleId>{21E4AEA4-8DFA-4A89-87EB-49C32662AFE0}</a:tableStyleId>
              </a:tblPr>
              <a:tblGrid>
                <a:gridCol w="979469">
                  <a:extLst>
                    <a:ext uri="{9D8B030D-6E8A-4147-A177-3AD203B41FA5}">
                      <a16:colId xmlns:a16="http://schemas.microsoft.com/office/drawing/2014/main" xmlns="" val="1930757539"/>
                    </a:ext>
                  </a:extLst>
                </a:gridCol>
                <a:gridCol w="1042096">
                  <a:extLst>
                    <a:ext uri="{9D8B030D-6E8A-4147-A177-3AD203B41FA5}">
                      <a16:colId xmlns:a16="http://schemas.microsoft.com/office/drawing/2014/main" xmlns="" val="1674463010"/>
                    </a:ext>
                  </a:extLst>
                </a:gridCol>
                <a:gridCol w="1823000">
                  <a:extLst>
                    <a:ext uri="{9D8B030D-6E8A-4147-A177-3AD203B41FA5}">
                      <a16:colId xmlns:a16="http://schemas.microsoft.com/office/drawing/2014/main" xmlns="" val="1549944897"/>
                    </a:ext>
                  </a:extLst>
                </a:gridCol>
                <a:gridCol w="2022835">
                  <a:extLst>
                    <a:ext uri="{9D8B030D-6E8A-4147-A177-3AD203B41FA5}">
                      <a16:colId xmlns:a16="http://schemas.microsoft.com/office/drawing/2014/main" xmlns="" val="3366431274"/>
                    </a:ext>
                  </a:extLst>
                </a:gridCol>
              </a:tblGrid>
              <a:tr h="238699">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Remark</a:t>
                      </a:r>
                    </a:p>
                  </a:txBody>
                  <a:tcPr marL="121920" marR="121920" marT="60960" marB="60960" anchor="ctr"/>
                </a:tc>
                <a:extLst>
                  <a:ext uri="{0D108BD9-81ED-4DB2-BD59-A6C34878D82A}">
                    <a16:rowId xmlns:a16="http://schemas.microsoft.com/office/drawing/2014/main" xmlns="" val="1532058823"/>
                  </a:ext>
                </a:extLst>
              </a:tr>
              <a:tr h="238699">
                <a:tc>
                  <a:txBody>
                    <a:bodyPr/>
                    <a:lstStyle/>
                    <a:p>
                      <a:r>
                        <a:rPr lang="en-GB" sz="1200" b="1" dirty="0">
                          <a:latin typeface="Times New Roman" panose="02020603050405020304" pitchFamily="18" charset="0"/>
                          <a:cs typeface="Times New Roman" panose="02020603050405020304" pitchFamily="18" charset="0"/>
                        </a:rPr>
                        <a:t>21035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A887</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4282079846"/>
                  </a:ext>
                </a:extLst>
              </a:tr>
              <a:tr h="247506">
                <a:tc>
                  <a:txBody>
                    <a:bodyPr/>
                    <a:lstStyle/>
                    <a:p>
                      <a:r>
                        <a:rPr lang="en-GB" sz="1200" b="1" dirty="0">
                          <a:latin typeface="Times New Roman" panose="02020603050405020304" pitchFamily="18" charset="0"/>
                          <a:cs typeface="Times New Roman" panose="02020603050405020304" pitchFamily="18" charset="0"/>
                        </a:rPr>
                        <a:t>21268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A898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xmlns="" val="4177050543"/>
                  </a:ext>
                </a:extLst>
              </a:tr>
              <a:tr h="238699">
                <a:tc>
                  <a:txBody>
                    <a:bodyPr/>
                    <a:lstStyle/>
                    <a:p>
                      <a:r>
                        <a:rPr lang="en-GB" sz="1200" b="1" dirty="0">
                          <a:latin typeface="Times New Roman" panose="02020603050405020304" pitchFamily="18" charset="0"/>
                          <a:cs typeface="Times New Roman" panose="02020603050405020304" pitchFamily="18" charset="0"/>
                        </a:rPr>
                        <a:t>21136</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A898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xmlns="" val="4001673644"/>
                  </a:ext>
                </a:extLst>
              </a:tr>
              <a:tr h="238699">
                <a:tc>
                  <a:txBody>
                    <a:bodyPr/>
                    <a:lstStyle/>
                    <a:p>
                      <a:r>
                        <a:rPr lang="en-GB" sz="1200" b="1" dirty="0">
                          <a:latin typeface="Times New Roman" panose="02020603050405020304" pitchFamily="18" charset="0"/>
                          <a:cs typeface="Times New Roman" panose="02020603050405020304" pitchFamily="18" charset="0"/>
                        </a:rPr>
                        <a:t>21414</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Transporting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T2/25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1927641313"/>
                  </a:ext>
                </a:extLst>
              </a:tr>
              <a:tr h="238699">
                <a:tc>
                  <a:txBody>
                    <a:bodyPr/>
                    <a:lstStyle/>
                    <a:p>
                      <a:r>
                        <a:rPr lang="en-GB" sz="1200" b="1" dirty="0">
                          <a:latin typeface="Times New Roman" panose="02020603050405020304" pitchFamily="18" charset="0"/>
                          <a:cs typeface="Times New Roman" panose="02020603050405020304" pitchFamily="18" charset="0"/>
                        </a:rPr>
                        <a:t>21604</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Off-Wing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863729012"/>
                  </a:ext>
                </a:extLst>
              </a:tr>
              <a:tr h="238699">
                <a:tc>
                  <a:txBody>
                    <a:bodyPr/>
                    <a:lstStyle/>
                    <a:p>
                      <a:r>
                        <a:rPr lang="en-GB" sz="1200" b="1">
                          <a:latin typeface="Times New Roman" panose="02020603050405020304" pitchFamily="18" charset="0"/>
                          <a:cs typeface="Times New Roman" panose="02020603050405020304" pitchFamily="18" charset="0"/>
                        </a:rPr>
                        <a:t>21024</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Off-Wing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T4/25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3958768938"/>
                  </a:ext>
                </a:extLst>
              </a:tr>
            </a:tbl>
          </a:graphicData>
        </a:graphic>
      </p:graphicFrame>
      <p:sp>
        <p:nvSpPr>
          <p:cNvPr id="7" name="TextBox 6">
            <a:extLst>
              <a:ext uri="{FF2B5EF4-FFF2-40B4-BE49-F238E27FC236}">
                <a16:creationId xmlns:a16="http://schemas.microsoft.com/office/drawing/2014/main" xmlns="" id="{3665DF89-9C1E-039A-24B3-2AC39417A7A0}"/>
              </a:ext>
            </a:extLst>
          </p:cNvPr>
          <p:cNvSpPr txBox="1"/>
          <p:nvPr/>
        </p:nvSpPr>
        <p:spPr>
          <a:xfrm>
            <a:off x="-486043" y="380920"/>
            <a:ext cx="6705299" cy="420564"/>
          </a:xfrm>
          <a:prstGeom prst="rect">
            <a:avLst/>
          </a:prstGeom>
          <a:noFill/>
        </p:spPr>
        <p:txBody>
          <a:bodyPr wrap="square" rtlCol="0">
            <a:spAutoFit/>
          </a:bodyPr>
          <a:lstStyle/>
          <a:p>
            <a:pPr algn="ctr" defTabSz="1219170">
              <a:defRPr/>
            </a:pPr>
            <a:r>
              <a:rPr lang="en-GB" sz="2133" b="1" dirty="0" err="1">
                <a:solidFill>
                  <a:srgbClr val="002060"/>
                </a:solidFill>
                <a:latin typeface="Times New Roman" panose="02020603050405020304" pitchFamily="18" charset="0"/>
                <a:cs typeface="Times New Roman" panose="02020603050405020304" pitchFamily="18" charset="0"/>
              </a:rPr>
              <a:t>Các</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err="1">
                <a:solidFill>
                  <a:srgbClr val="002060"/>
                </a:solidFill>
                <a:latin typeface="Times New Roman" panose="02020603050405020304" pitchFamily="18" charset="0"/>
                <a:cs typeface="Times New Roman" panose="02020603050405020304" pitchFamily="18" charset="0"/>
              </a:rPr>
              <a:t>cơ</a:t>
            </a:r>
            <a:r>
              <a:rPr lang="en-GB" sz="2133" b="1">
                <a:solidFill>
                  <a:srgbClr val="002060"/>
                </a:solidFill>
                <a:latin typeface="Times New Roman" panose="02020603050405020304" pitchFamily="18" charset="0"/>
                <a:cs typeface="Times New Roman" panose="02020603050405020304" pitchFamily="18" charset="0"/>
              </a:rPr>
              <a:t> đang trong shop (09 động c</a:t>
            </a:r>
            <a:r>
              <a:rPr lang="en-US" sz="2133" b="1">
                <a:solidFill>
                  <a:srgbClr val="002060"/>
                </a:solidFill>
                <a:latin typeface="Times New Roman" panose="02020603050405020304" pitchFamily="18" charset="0"/>
                <a:cs typeface="Times New Roman" panose="02020603050405020304" pitchFamily="18" charset="0"/>
              </a:rPr>
              <a:t>ơ)</a:t>
            </a:r>
            <a:endParaRPr lang="en-GB" sz="2133" b="1" dirty="0">
              <a:solidFill>
                <a:srgbClr val="00206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19C2447A-358B-03A9-2203-B477C2215D4C}"/>
              </a:ext>
            </a:extLst>
          </p:cNvPr>
          <p:cNvSpPr txBox="1"/>
          <p:nvPr/>
        </p:nvSpPr>
        <p:spPr>
          <a:xfrm>
            <a:off x="422467" y="4180188"/>
            <a:ext cx="5195392" cy="420564"/>
          </a:xfrm>
          <a:prstGeom prst="rect">
            <a:avLst/>
          </a:prstGeom>
          <a:noFill/>
        </p:spPr>
        <p:txBody>
          <a:bodyPr wrap="square" rtlCol="0">
            <a:spAutoFit/>
          </a:bodyPr>
          <a:lstStyle/>
          <a:p>
            <a:pPr algn="ctr" defTabSz="1219170">
              <a:defRPr/>
            </a:pPr>
            <a:r>
              <a:rPr lang="en-GB" sz="2133" b="1" dirty="0" err="1">
                <a:solidFill>
                  <a:srgbClr val="002060"/>
                </a:solidFill>
                <a:latin typeface="Times New Roman" panose="02020603050405020304" pitchFamily="18" charset="0"/>
                <a:cs typeface="Times New Roman" panose="02020603050405020304" pitchFamily="18" charset="0"/>
              </a:rPr>
              <a:t>Các</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err="1">
                <a:solidFill>
                  <a:srgbClr val="002060"/>
                </a:solidFill>
                <a:latin typeface="Times New Roman" panose="02020603050405020304" pitchFamily="18" charset="0"/>
                <a:cs typeface="Times New Roman" panose="02020603050405020304" pitchFamily="18" charset="0"/>
              </a:rPr>
              <a:t>cơ</a:t>
            </a:r>
            <a:r>
              <a:rPr lang="en-GB" sz="2133" b="1">
                <a:solidFill>
                  <a:srgbClr val="002060"/>
                </a:solidFill>
                <a:latin typeface="Times New Roman" panose="02020603050405020304" pitchFamily="18" charset="0"/>
                <a:cs typeface="Times New Roman" panose="02020603050405020304" pitchFamily="18" charset="0"/>
              </a:rPr>
              <a:t> đến hạn tháo (06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xmlns="" id="{E1A7F173-F863-E486-EAEF-8B51EDF0DABA}"/>
              </a:ext>
            </a:extLst>
          </p:cNvPr>
          <p:cNvSpPr txBox="1"/>
          <p:nvPr/>
        </p:nvSpPr>
        <p:spPr>
          <a:xfrm>
            <a:off x="6495328" y="2727634"/>
            <a:ext cx="5167083" cy="461665"/>
          </a:xfrm>
          <a:prstGeom prst="rect">
            <a:avLst/>
          </a:prstGeom>
          <a:noFill/>
        </p:spPr>
        <p:txBody>
          <a:bodyPr wrap="square" rtlCol="0">
            <a:spAutoFit/>
          </a:bodyPr>
          <a:lstStyle/>
          <a:p>
            <a:pPr algn="ctr" defTabSz="1219170">
              <a:defRPr/>
            </a:pPr>
            <a:r>
              <a:rPr lang="en-US" sz="2400" b="1">
                <a:solidFill>
                  <a:srgbClr val="002060"/>
                </a:solidFill>
                <a:latin typeface="Times New Roman" panose="02020603050405020304" pitchFamily="18" charset="0"/>
                <a:cs typeface="Times New Roman" panose="02020603050405020304" pitchFamily="18" charset="0"/>
              </a:rPr>
              <a:t>Số tàu AOG (kb tốt)</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1" name="Chart 10">
            <a:extLst>
              <a:ext uri="{FF2B5EF4-FFF2-40B4-BE49-F238E27FC236}">
                <a16:creationId xmlns:a16="http://schemas.microsoft.com/office/drawing/2014/main" xmlns="" id="{39ED28EB-EF54-433B-60B3-87892499A24D}"/>
              </a:ext>
            </a:extLst>
          </p:cNvPr>
          <p:cNvGraphicFramePr/>
          <p:nvPr>
            <p:extLst/>
          </p:nvPr>
        </p:nvGraphicFramePr>
        <p:xfrm>
          <a:off x="6274810" y="3133124"/>
          <a:ext cx="5808956" cy="209027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Table 11">
            <a:extLst>
              <a:ext uri="{FF2B5EF4-FFF2-40B4-BE49-F238E27FC236}">
                <a16:creationId xmlns:a16="http://schemas.microsoft.com/office/drawing/2014/main" xmlns="" id="{4BCF0C24-45DA-44DA-8EDA-2C6618ED53DE}"/>
              </a:ext>
            </a:extLst>
          </p:cNvPr>
          <p:cNvGraphicFramePr>
            <a:graphicFrameLocks noGrp="1"/>
          </p:cNvGraphicFramePr>
          <p:nvPr>
            <p:extLst/>
          </p:nvPr>
        </p:nvGraphicFramePr>
        <p:xfrm>
          <a:off x="6229534" y="907137"/>
          <a:ext cx="5625452" cy="1706880"/>
        </p:xfrm>
        <a:graphic>
          <a:graphicData uri="http://schemas.openxmlformats.org/drawingml/2006/table">
            <a:tbl>
              <a:tblPr firstRow="1" bandRow="1">
                <a:tableStyleId>{93296810-A885-4BE3-A3E7-6D5BEEA58F35}</a:tableStyleId>
              </a:tblPr>
              <a:tblGrid>
                <a:gridCol w="1004609">
                  <a:extLst>
                    <a:ext uri="{9D8B030D-6E8A-4147-A177-3AD203B41FA5}">
                      <a16:colId xmlns:a16="http://schemas.microsoft.com/office/drawing/2014/main" xmlns="" val="1930757539"/>
                    </a:ext>
                  </a:extLst>
                </a:gridCol>
                <a:gridCol w="4620843">
                  <a:extLst>
                    <a:ext uri="{9D8B030D-6E8A-4147-A177-3AD203B41FA5}">
                      <a16:colId xmlns:a16="http://schemas.microsoft.com/office/drawing/2014/main" xmlns="" val="1674463010"/>
                    </a:ext>
                  </a:extLst>
                </a:gridCol>
              </a:tblGrid>
              <a:tr h="191279">
                <a:tc>
                  <a:txBody>
                    <a:bodyPr/>
                    <a:lstStyle/>
                    <a:p>
                      <a:r>
                        <a:rPr lang="en-US" sz="1200">
                          <a:latin typeface="Times New Roman" panose="02020603050405020304" pitchFamily="18" charset="0"/>
                          <a:cs typeface="Times New Roman" panose="02020603050405020304" pitchFamily="18" charset="0"/>
                        </a:rPr>
                        <a:t>Tàu</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Tình trạng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1532058823"/>
                  </a:ext>
                </a:extLst>
              </a:tr>
              <a:tr h="191279">
                <a:tc>
                  <a:txBody>
                    <a:bodyPr/>
                    <a:lstStyle/>
                    <a:p>
                      <a:r>
                        <a:rPr lang="en-US" sz="1200">
                          <a:latin typeface="Times New Roman" panose="02020603050405020304" pitchFamily="18" charset="0"/>
                          <a:cs typeface="Times New Roman" panose="02020603050405020304" pitchFamily="18" charset="0"/>
                        </a:rPr>
                        <a:t>A886</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2082573017"/>
                  </a:ext>
                </a:extLst>
              </a:tr>
              <a:tr h="306046">
                <a:tc>
                  <a:txBody>
                    <a:bodyPr/>
                    <a:lstStyle/>
                    <a:p>
                      <a:r>
                        <a:rPr lang="en-US" sz="1200">
                          <a:latin typeface="Times New Roman" panose="02020603050405020304" pitchFamily="18" charset="0"/>
                          <a:cs typeface="Times New Roman" panose="02020603050405020304" pitchFamily="18" charset="0"/>
                        </a:rPr>
                        <a:t>A887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1 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83465224"/>
                  </a:ext>
                </a:extLst>
              </a:tr>
              <a:tr h="270381">
                <a:tc>
                  <a:txBody>
                    <a:bodyPr/>
                    <a:lstStyle/>
                    <a:p>
                      <a:r>
                        <a:rPr lang="en-US" sz="1200">
                          <a:latin typeface="Times New Roman" panose="02020603050405020304" pitchFamily="18" charset="0"/>
                          <a:cs typeface="Times New Roman" panose="02020603050405020304" pitchFamily="18" charset="0"/>
                        </a:rPr>
                        <a:t>A895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3218884716"/>
                  </a:ext>
                </a:extLst>
              </a:tr>
              <a:tr h="191279">
                <a:tc>
                  <a:txBody>
                    <a:bodyPr/>
                    <a:lstStyle/>
                    <a:p>
                      <a:r>
                        <a:rPr lang="en-US" sz="1200">
                          <a:latin typeface="Times New Roman" panose="02020603050405020304" pitchFamily="18" charset="0"/>
                          <a:cs typeface="Times New Roman" panose="02020603050405020304" pitchFamily="18" charset="0"/>
                        </a:rPr>
                        <a:t>A898</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2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p>
                  </a:txBody>
                  <a:tcPr marL="121920" marR="121920" marT="60960" marB="60960" anchor="ctr"/>
                </a:tc>
                <a:extLst>
                  <a:ext uri="{0D108BD9-81ED-4DB2-BD59-A6C34878D82A}">
                    <a16:rowId xmlns:a16="http://schemas.microsoft.com/office/drawing/2014/main" xmlns="" val="1733553736"/>
                  </a:ext>
                </a:extLst>
              </a:tr>
            </a:tbl>
          </a:graphicData>
        </a:graphic>
      </p:graphicFrame>
      <p:sp>
        <p:nvSpPr>
          <p:cNvPr id="13" name="TextBox 12">
            <a:extLst>
              <a:ext uri="{FF2B5EF4-FFF2-40B4-BE49-F238E27FC236}">
                <a16:creationId xmlns:a16="http://schemas.microsoft.com/office/drawing/2014/main" xmlns="" id="{90C76007-F5F9-4B91-90BD-15B1D817EC54}"/>
              </a:ext>
            </a:extLst>
          </p:cNvPr>
          <p:cNvSpPr txBox="1"/>
          <p:nvPr/>
        </p:nvSpPr>
        <p:spPr>
          <a:xfrm>
            <a:off x="6014053" y="423991"/>
            <a:ext cx="6705299" cy="420564"/>
          </a:xfrm>
          <a:prstGeom prst="rect">
            <a:avLst/>
          </a:prstGeom>
          <a:noFill/>
        </p:spPr>
        <p:txBody>
          <a:bodyPr wrap="square" rtlCol="0">
            <a:spAutoFit/>
          </a:bodyPr>
          <a:lstStyle/>
          <a:p>
            <a:pPr algn="ctr" defTabSz="1219170">
              <a:defRPr/>
            </a:pPr>
            <a:r>
              <a:rPr lang="en-US" sz="2133" b="1">
                <a:solidFill>
                  <a:srgbClr val="002060"/>
                </a:solidFill>
                <a:latin typeface="Times New Roman" panose="02020603050405020304" pitchFamily="18" charset="0"/>
                <a:cs typeface="Times New Roman" panose="02020603050405020304" pitchFamily="18" charset="0"/>
              </a:rPr>
              <a:t>Các tàu đang AOG (04 tàu)</a:t>
            </a:r>
            <a:endParaRPr lang="en-GB" sz="2133"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4" name="Table 13">
            <a:extLst>
              <a:ext uri="{FF2B5EF4-FFF2-40B4-BE49-F238E27FC236}">
                <a16:creationId xmlns:a16="http://schemas.microsoft.com/office/drawing/2014/main" xmlns="" id="{D9F410EA-3499-42B9-9D33-D1C7A580DB12}"/>
              </a:ext>
            </a:extLst>
          </p:cNvPr>
          <p:cNvGraphicFramePr>
            <a:graphicFrameLocks noGrp="1"/>
          </p:cNvGraphicFramePr>
          <p:nvPr>
            <p:extLst/>
          </p:nvPr>
        </p:nvGraphicFramePr>
        <p:xfrm>
          <a:off x="6238135" y="5982604"/>
          <a:ext cx="5867401" cy="736241"/>
        </p:xfrm>
        <a:graphic>
          <a:graphicData uri="http://schemas.openxmlformats.org/drawingml/2006/table">
            <a:tbl>
              <a:tblPr firstRow="1" bandRow="1">
                <a:tableStyleId>{93296810-A885-4BE3-A3E7-6D5BEEA58F35}</a:tableStyleId>
              </a:tblPr>
              <a:tblGrid>
                <a:gridCol w="696879">
                  <a:extLst>
                    <a:ext uri="{9D8B030D-6E8A-4147-A177-3AD203B41FA5}">
                      <a16:colId xmlns:a16="http://schemas.microsoft.com/office/drawing/2014/main" xmlns="" val="4208667331"/>
                    </a:ext>
                  </a:extLst>
                </a:gridCol>
                <a:gridCol w="5170522">
                  <a:extLst>
                    <a:ext uri="{9D8B030D-6E8A-4147-A177-3AD203B41FA5}">
                      <a16:colId xmlns:a16="http://schemas.microsoft.com/office/drawing/2014/main" xmlns="" val="1351526185"/>
                    </a:ext>
                  </a:extLst>
                </a:gridCol>
              </a:tblGrid>
              <a:tr h="249088">
                <a:tc>
                  <a:txBody>
                    <a:bodyPr/>
                    <a:lstStyle/>
                    <a:p>
                      <a:pPr algn="ctr" fontAlgn="t"/>
                      <a:r>
                        <a:rPr lang="en-US" sz="1200" b="1" i="0" u="none" strike="noStrike" dirty="0" err="1">
                          <a:solidFill>
                            <a:schemeClr val="bg1"/>
                          </a:solidFill>
                          <a:effectLst/>
                          <a:latin typeface="Times New Roman" panose="02020603050405020304" pitchFamily="18" charset="0"/>
                        </a:rPr>
                        <a:t>Tàu</a:t>
                      </a:r>
                      <a:endParaRPr lang="en-US" sz="1200" b="1" i="0" u="none" strike="noStrike" dirty="0">
                        <a:solidFill>
                          <a:schemeClr val="bg1"/>
                        </a:solidFill>
                        <a:effectLst/>
                        <a:latin typeface="Times New Roman" panose="02020603050405020304" pitchFamily="18" charset="0"/>
                      </a:endParaRPr>
                    </a:p>
                  </a:txBody>
                  <a:tcPr marL="8467" marR="8467" marT="8467" marB="0" anchor="ctr"/>
                </a:tc>
                <a:tc>
                  <a:txBody>
                    <a:bodyPr/>
                    <a:lstStyle/>
                    <a:p>
                      <a:pPr algn="ctr" fontAlgn="t"/>
                      <a:r>
                        <a:rPr lang="en-US" sz="1200" b="1" i="0" u="none" strike="noStrike" dirty="0" err="1">
                          <a:solidFill>
                            <a:schemeClr val="bg1"/>
                          </a:solidFill>
                          <a:effectLst/>
                          <a:latin typeface="Times New Roman" panose="02020603050405020304" pitchFamily="18" charset="0"/>
                        </a:rPr>
                        <a:t>Phương</a:t>
                      </a:r>
                      <a:r>
                        <a:rPr lang="en-US" sz="1200" b="1" i="0" u="none" strike="noStrike" dirty="0">
                          <a:solidFill>
                            <a:schemeClr val="bg1"/>
                          </a:solidFill>
                          <a:effectLst/>
                          <a:latin typeface="Times New Roman" panose="02020603050405020304" pitchFamily="18" charset="0"/>
                        </a:rPr>
                        <a:t> </a:t>
                      </a:r>
                      <a:r>
                        <a:rPr lang="en-US" sz="1200" b="1" i="0" u="none" strike="noStrike" dirty="0" err="1">
                          <a:solidFill>
                            <a:schemeClr val="bg1"/>
                          </a:solidFill>
                          <a:effectLst/>
                          <a:latin typeface="Times New Roman" panose="02020603050405020304" pitchFamily="18" charset="0"/>
                        </a:rPr>
                        <a:t>án</a:t>
                      </a:r>
                      <a:endParaRPr lang="en-US" sz="1200" b="1" i="0" u="none" strike="noStrike" dirty="0">
                        <a:solidFill>
                          <a:schemeClr val="bg1"/>
                        </a:solidFill>
                        <a:effectLst/>
                        <a:latin typeface="Times New Roman" panose="02020603050405020304" pitchFamily="18" charset="0"/>
                      </a:endParaRPr>
                    </a:p>
                  </a:txBody>
                  <a:tcPr marL="8467" marR="8467" marT="8467" marB="0" anchor="ctr"/>
                </a:tc>
                <a:extLst>
                  <a:ext uri="{0D108BD9-81ED-4DB2-BD59-A6C34878D82A}">
                    <a16:rowId xmlns:a16="http://schemas.microsoft.com/office/drawing/2014/main" xmlns="" val="1286781906"/>
                  </a:ext>
                </a:extLst>
              </a:tr>
              <a:tr h="487153">
                <a:tc>
                  <a:txBody>
                    <a:bodyPr/>
                    <a:lstStyle/>
                    <a:p>
                      <a:pPr algn="ctr" fontAlgn="ctr"/>
                      <a:r>
                        <a:rPr lang="en-US" sz="1200" b="0" i="0" u="none" strike="noStrike">
                          <a:solidFill>
                            <a:schemeClr val="tx1"/>
                          </a:solidFill>
                          <a:effectLst/>
                          <a:latin typeface="Times New Roman" panose="02020603050405020304" pitchFamily="18" charset="0"/>
                        </a:rPr>
                        <a:t>A899</a:t>
                      </a:r>
                      <a:endParaRPr lang="en-US" sz="1200" b="0" i="0" u="none" strike="noStrike" dirty="0">
                        <a:solidFill>
                          <a:schemeClr val="tx1"/>
                        </a:solidFill>
                        <a:effectLst/>
                        <a:latin typeface="Times New Roman" panose="02020603050405020304" pitchFamily="18" charset="0"/>
                      </a:endParaRPr>
                    </a:p>
                  </a:txBody>
                  <a:tcPr marL="8467" marR="8467" marT="8467"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Times New Roman" panose="02020603050405020304" pitchFamily="18" charset="0"/>
                          <a:cs typeface="Times New Roman" panose="02020603050405020304" pitchFamily="18" charset="0"/>
                        </a:rPr>
                        <a:t>Thay 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21048 do hết LLP. Dự kiên 23/2 có 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đi shop về để thay thế. </a:t>
                      </a:r>
                      <a:endParaRPr lang="en-US" sz="1200" dirty="0">
                        <a:solidFill>
                          <a:schemeClr val="tx1"/>
                        </a:solidFill>
                        <a:latin typeface="Times New Roman" panose="02020603050405020304" pitchFamily="18" charset="0"/>
                        <a:cs typeface="Times New Roman" panose="02020603050405020304" pitchFamily="18" charset="0"/>
                      </a:endParaRPr>
                    </a:p>
                  </a:txBody>
                  <a:tcPr marL="8467" marR="8467" marT="8467" marB="0" anchor="ctr"/>
                </a:tc>
                <a:extLst>
                  <a:ext uri="{0D108BD9-81ED-4DB2-BD59-A6C34878D82A}">
                    <a16:rowId xmlns:a16="http://schemas.microsoft.com/office/drawing/2014/main" xmlns="" val="3138330128"/>
                  </a:ext>
                </a:extLst>
              </a:tr>
            </a:tbl>
          </a:graphicData>
        </a:graphic>
      </p:graphicFrame>
      <p:sp>
        <p:nvSpPr>
          <p:cNvPr id="15" name="TextBox 14">
            <a:extLst>
              <a:ext uri="{FF2B5EF4-FFF2-40B4-BE49-F238E27FC236}">
                <a16:creationId xmlns:a16="http://schemas.microsoft.com/office/drawing/2014/main" xmlns="" id="{70D2EB9E-D0C2-460A-95BF-57FFF64A893D}"/>
              </a:ext>
            </a:extLst>
          </p:cNvPr>
          <p:cNvSpPr txBox="1"/>
          <p:nvPr/>
        </p:nvSpPr>
        <p:spPr>
          <a:xfrm>
            <a:off x="6274810" y="5284077"/>
            <a:ext cx="5808956" cy="615553"/>
          </a:xfrm>
          <a:prstGeom prst="rect">
            <a:avLst/>
          </a:prstGeom>
          <a:noFill/>
        </p:spPr>
        <p:txBody>
          <a:bodyPr wrap="square" rtlCol="0">
            <a:spAutoFit/>
          </a:bodyPr>
          <a:lstStyle/>
          <a:p>
            <a:pPr algn="ctr" defTabSz="1219170">
              <a:defRPr/>
            </a:pPr>
            <a:r>
              <a:rPr lang="en-US" sz="2000" b="1" dirty="0" err="1">
                <a:solidFill>
                  <a:srgbClr val="002060"/>
                </a:solidFill>
                <a:latin typeface="Times New Roman" panose="02020603050405020304" pitchFamily="18" charset="0"/>
                <a:cs typeface="Times New Roman" panose="02020603050405020304" pitchFamily="18" charset="0"/>
              </a:rPr>
              <a:t>Kế</a:t>
            </a:r>
            <a:r>
              <a:rPr lang="en-US" sz="2000" b="1" dirty="0">
                <a:solidFill>
                  <a:srgbClr val="002060"/>
                </a:solidFill>
                <a:latin typeface="Times New Roman" panose="02020603050405020304" pitchFamily="18" charset="0"/>
                <a:cs typeface="Times New Roman" panose="02020603050405020304" pitchFamily="18" charset="0"/>
              </a:rPr>
              <a:t> </a:t>
            </a:r>
            <a:r>
              <a:rPr lang="en-US" sz="2000" b="1" dirty="0" err="1">
                <a:solidFill>
                  <a:srgbClr val="002060"/>
                </a:solidFill>
                <a:latin typeface="Times New Roman" panose="02020603050405020304" pitchFamily="18" charset="0"/>
                <a:cs typeface="Times New Roman" panose="02020603050405020304" pitchFamily="18" charset="0"/>
              </a:rPr>
              <a:t>hoạch</a:t>
            </a:r>
            <a:r>
              <a:rPr lang="en-US" sz="2000" b="1" dirty="0">
                <a:solidFill>
                  <a:srgbClr val="002060"/>
                </a:solidFill>
                <a:latin typeface="Times New Roman" panose="02020603050405020304" pitchFamily="18" charset="0"/>
                <a:cs typeface="Times New Roman" panose="02020603050405020304" pitchFamily="18" charset="0"/>
              </a:rPr>
              <a:t> </a:t>
            </a:r>
            <a:r>
              <a:rPr lang="en-US" sz="2000" b="1" dirty="0" err="1">
                <a:solidFill>
                  <a:srgbClr val="002060"/>
                </a:solidFill>
                <a:latin typeface="Times New Roman" panose="02020603050405020304" pitchFamily="18" charset="0"/>
                <a:cs typeface="Times New Roman" panose="02020603050405020304" pitchFamily="18" charset="0"/>
              </a:rPr>
              <a:t>thay</a:t>
            </a:r>
            <a:r>
              <a:rPr lang="en-US" sz="2000" b="1" dirty="0">
                <a:solidFill>
                  <a:srgbClr val="002060"/>
                </a:solidFill>
                <a:latin typeface="Times New Roman" panose="02020603050405020304" pitchFamily="18" charset="0"/>
                <a:cs typeface="Times New Roman" panose="02020603050405020304" pitchFamily="18" charset="0"/>
              </a:rPr>
              <a:t> </a:t>
            </a:r>
            <a:r>
              <a:rPr lang="en-US" sz="2000" b="1" dirty="0" err="1">
                <a:solidFill>
                  <a:srgbClr val="002060"/>
                </a:solidFill>
                <a:latin typeface="Times New Roman" panose="02020603050405020304" pitchFamily="18" charset="0"/>
                <a:cs typeface="Times New Roman" panose="02020603050405020304" pitchFamily="18" charset="0"/>
              </a:rPr>
              <a:t>động</a:t>
            </a:r>
            <a:r>
              <a:rPr lang="en-US" sz="2000" b="1" dirty="0">
                <a:solidFill>
                  <a:srgbClr val="002060"/>
                </a:solidFill>
                <a:latin typeface="Times New Roman" panose="02020603050405020304" pitchFamily="18" charset="0"/>
                <a:cs typeface="Times New Roman" panose="02020603050405020304" pitchFamily="18" charset="0"/>
              </a:rPr>
              <a:t> c</a:t>
            </a:r>
            <a:r>
              <a:rPr lang="vi-VN" sz="2000" b="1" dirty="0">
                <a:solidFill>
                  <a:srgbClr val="002060"/>
                </a:solidFill>
                <a:latin typeface="Times New Roman" panose="02020603050405020304" pitchFamily="18" charset="0"/>
                <a:cs typeface="Times New Roman" panose="02020603050405020304" pitchFamily="18" charset="0"/>
              </a:rPr>
              <a:t>ơ</a:t>
            </a:r>
            <a:r>
              <a:rPr lang="en-US" sz="2000" b="1" dirty="0">
                <a:solidFill>
                  <a:srgbClr val="002060"/>
                </a:solidFill>
                <a:latin typeface="Times New Roman" panose="02020603050405020304" pitchFamily="18" charset="0"/>
                <a:cs typeface="Times New Roman" panose="02020603050405020304" pitchFamily="18" charset="0"/>
              </a:rPr>
              <a:t> A350 </a:t>
            </a:r>
          </a:p>
          <a:p>
            <a:pPr algn="ctr" defTabSz="1219170">
              <a:defRPr/>
            </a:pPr>
            <a:r>
              <a:rPr lang="en-US" sz="1400" b="1" i="1" dirty="0">
                <a:solidFill>
                  <a:srgbClr val="002060"/>
                </a:solidFill>
                <a:latin typeface="Times New Roman" panose="02020603050405020304" pitchFamily="18" charset="0"/>
                <a:cs typeface="Times New Roman" panose="02020603050405020304" pitchFamily="18" charset="0"/>
              </a:rPr>
              <a:t>(</a:t>
            </a:r>
            <a:r>
              <a:rPr lang="en-US" sz="1400" b="1" i="1" dirty="0" err="1">
                <a:solidFill>
                  <a:srgbClr val="002060"/>
                </a:solidFill>
                <a:latin typeface="Times New Roman" panose="02020603050405020304" pitchFamily="18" charset="0"/>
                <a:cs typeface="Times New Roman" panose="02020603050405020304" pitchFamily="18" charset="0"/>
              </a:rPr>
              <a:t>các</a:t>
            </a:r>
            <a:r>
              <a:rPr lang="en-US" sz="1400" b="1" i="1" dirty="0">
                <a:solidFill>
                  <a:srgbClr val="002060"/>
                </a:solidFill>
                <a:latin typeface="Times New Roman" panose="02020603050405020304" pitchFamily="18" charset="0"/>
                <a:cs typeface="Times New Roman" panose="02020603050405020304" pitchFamily="18" charset="0"/>
              </a:rPr>
              <a:t> </a:t>
            </a:r>
            <a:r>
              <a:rPr lang="en-US" sz="1400" b="1" i="1" dirty="0" err="1">
                <a:solidFill>
                  <a:srgbClr val="002060"/>
                </a:solidFill>
                <a:latin typeface="Times New Roman" panose="02020603050405020304" pitchFamily="18" charset="0"/>
                <a:cs typeface="Times New Roman" panose="02020603050405020304" pitchFamily="18" charset="0"/>
              </a:rPr>
              <a:t>tàu</a:t>
            </a:r>
            <a:r>
              <a:rPr lang="en-US" sz="1400" b="1" i="1" dirty="0">
                <a:solidFill>
                  <a:srgbClr val="002060"/>
                </a:solidFill>
                <a:latin typeface="Times New Roman" panose="02020603050405020304" pitchFamily="18" charset="0"/>
                <a:cs typeface="Times New Roman" panose="02020603050405020304" pitchFamily="18" charset="0"/>
              </a:rPr>
              <a:t> </a:t>
            </a:r>
            <a:r>
              <a:rPr lang="en-US" sz="1400" b="1" i="1" dirty="0" err="1">
                <a:solidFill>
                  <a:srgbClr val="002060"/>
                </a:solidFill>
                <a:latin typeface="Times New Roman" panose="02020603050405020304" pitchFamily="18" charset="0"/>
                <a:cs typeface="Times New Roman" panose="02020603050405020304" pitchFamily="18" charset="0"/>
              </a:rPr>
              <a:t>ảnh</a:t>
            </a:r>
            <a:r>
              <a:rPr lang="en-US" sz="1400" b="1" i="1" dirty="0">
                <a:solidFill>
                  <a:srgbClr val="002060"/>
                </a:solidFill>
                <a:latin typeface="Times New Roman" panose="02020603050405020304" pitchFamily="18" charset="0"/>
                <a:cs typeface="Times New Roman" panose="02020603050405020304" pitchFamily="18" charset="0"/>
              </a:rPr>
              <a:t> h</a:t>
            </a:r>
            <a:r>
              <a:rPr lang="vi-VN" sz="1400" b="1" i="1" dirty="0">
                <a:solidFill>
                  <a:srgbClr val="002060"/>
                </a:solidFill>
                <a:latin typeface="Times New Roman" panose="02020603050405020304" pitchFamily="18" charset="0"/>
                <a:cs typeface="Times New Roman" panose="02020603050405020304" pitchFamily="18" charset="0"/>
              </a:rPr>
              <a:t>ư</a:t>
            </a:r>
            <a:r>
              <a:rPr lang="en-US" sz="1400" b="1" i="1" dirty="0" err="1">
                <a:solidFill>
                  <a:srgbClr val="002060"/>
                </a:solidFill>
                <a:latin typeface="Times New Roman" panose="02020603050405020304" pitchFamily="18" charset="0"/>
                <a:cs typeface="Times New Roman" panose="02020603050405020304" pitchFamily="18" charset="0"/>
              </a:rPr>
              <a:t>ởng</a:t>
            </a:r>
            <a:r>
              <a:rPr lang="en-US" sz="1400" b="1" i="1" dirty="0">
                <a:solidFill>
                  <a:srgbClr val="002060"/>
                </a:solidFill>
                <a:latin typeface="Times New Roman" panose="02020603050405020304" pitchFamily="18" charset="0"/>
                <a:cs typeface="Times New Roman" panose="02020603050405020304" pitchFamily="18" charset="0"/>
              </a:rPr>
              <a:t> </a:t>
            </a:r>
            <a:r>
              <a:rPr lang="en-US" sz="1400" b="1" i="1" dirty="0" err="1">
                <a:solidFill>
                  <a:srgbClr val="002060"/>
                </a:solidFill>
                <a:latin typeface="Times New Roman" panose="02020603050405020304" pitchFamily="18" charset="0"/>
                <a:cs typeface="Times New Roman" panose="02020603050405020304" pitchFamily="18" charset="0"/>
              </a:rPr>
              <a:t>nguồn</a:t>
            </a:r>
            <a:r>
              <a:rPr lang="en-US" sz="1400" b="1" i="1" dirty="0">
                <a:solidFill>
                  <a:srgbClr val="002060"/>
                </a:solidFill>
                <a:latin typeface="Times New Roman" panose="02020603050405020304" pitchFamily="18" charset="0"/>
                <a:cs typeface="Times New Roman" panose="02020603050405020304" pitchFamily="18" charset="0"/>
              </a:rPr>
              <a:t> </a:t>
            </a:r>
            <a:r>
              <a:rPr lang="en-US" sz="1400" b="1" i="1" dirty="0" err="1">
                <a:solidFill>
                  <a:srgbClr val="002060"/>
                </a:solidFill>
                <a:latin typeface="Times New Roman" panose="02020603050405020304" pitchFamily="18" charset="0"/>
                <a:cs typeface="Times New Roman" panose="02020603050405020304" pitchFamily="18" charset="0"/>
              </a:rPr>
              <a:t>lực</a:t>
            </a:r>
            <a:r>
              <a:rPr lang="en-US" sz="1400" b="1" i="1" dirty="0">
                <a:solidFill>
                  <a:srgbClr val="002060"/>
                </a:solidFill>
                <a:latin typeface="Times New Roman" panose="02020603050405020304" pitchFamily="18" charset="0"/>
                <a:cs typeface="Times New Roman" panose="02020603050405020304" pitchFamily="18" charset="0"/>
              </a:rPr>
              <a:t>)</a:t>
            </a:r>
            <a:endParaRPr lang="en-GB" sz="2000" b="1" i="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92252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xmlns="" id="{83F1044C-49FE-4761-AB6C-08C2C66EE4F0}"/>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t>
            </a:r>
            <a:r>
              <a:rPr lang="en-US" sz="2667" b="1">
                <a:ln w="0"/>
                <a:solidFill>
                  <a:srgbClr val="FBAC00"/>
                </a:solidFill>
                <a:latin typeface="Times New Roman" panose="02020603050405020304" pitchFamily="18" charset="0"/>
                <a:cs typeface="Times New Roman" panose="02020603050405020304" pitchFamily="18" charset="0"/>
              </a:rPr>
              <a:t>AOG A350 2025 DO THIẾU ĐỘNG C</a:t>
            </a:r>
            <a:r>
              <a:rPr lang="vi-VN" sz="2667" b="1">
                <a:ln w="0"/>
                <a:solidFill>
                  <a:srgbClr val="FBAC00"/>
                </a:solidFill>
                <a:latin typeface="Times New Roman" panose="02020603050405020304" pitchFamily="18" charset="0"/>
                <a:cs typeface="Times New Roman" panose="02020603050405020304" pitchFamily="18" charset="0"/>
              </a:rPr>
              <a:t>Ơ</a:t>
            </a:r>
            <a:endParaRPr lang="en-US"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16" name="Chart 15">
            <a:extLst>
              <a:ext uri="{FF2B5EF4-FFF2-40B4-BE49-F238E27FC236}">
                <a16:creationId xmlns:a16="http://schemas.microsoft.com/office/drawing/2014/main" xmlns="" id="{A3E8964E-6605-453B-87FD-34C390A534B1}"/>
              </a:ext>
            </a:extLst>
          </p:cNvPr>
          <p:cNvGraphicFramePr>
            <a:graphicFrameLocks/>
          </p:cNvGraphicFramePr>
          <p:nvPr>
            <p:extLst/>
          </p:nvPr>
        </p:nvGraphicFramePr>
        <p:xfrm>
          <a:off x="304800" y="533400"/>
          <a:ext cx="11430000" cy="5562600"/>
        </p:xfrm>
        <a:graphic>
          <a:graphicData uri="http://schemas.openxmlformats.org/drawingml/2006/chart">
            <c:chart xmlns:c="http://schemas.openxmlformats.org/drawingml/2006/chart" xmlns:r="http://schemas.openxmlformats.org/officeDocument/2006/relationships" r:id="rId2"/>
          </a:graphicData>
        </a:graphic>
      </p:graphicFrame>
      <p:sp>
        <p:nvSpPr>
          <p:cNvPr id="17" name="Rectangle 16">
            <a:extLst>
              <a:ext uri="{FF2B5EF4-FFF2-40B4-BE49-F238E27FC236}">
                <a16:creationId xmlns:a16="http://schemas.microsoft.com/office/drawing/2014/main" xmlns="" id="{E9C07DA6-E964-4FA0-BC5D-1A4F09D3658F}"/>
              </a:ext>
            </a:extLst>
          </p:cNvPr>
          <p:cNvSpPr/>
          <p:nvPr/>
        </p:nvSpPr>
        <p:spPr>
          <a:xfrm>
            <a:off x="228600" y="6111240"/>
            <a:ext cx="9982200" cy="738664"/>
          </a:xfrm>
          <a:prstGeom prst="rect">
            <a:avLst/>
          </a:prstGeom>
          <a:solidFill>
            <a:srgbClr val="FFFF00"/>
          </a:solidFill>
          <a:ln>
            <a:solidFill>
              <a:schemeClr val="accent1"/>
            </a:solidFill>
          </a:ln>
        </p:spPr>
        <p:txBody>
          <a:bodyPr wrap="square">
            <a:spAutoFit/>
          </a:bodyPr>
          <a:lstStyle/>
          <a:p>
            <a:pPr algn="ctr"/>
            <a:r>
              <a:rPr lang="en-US" sz="1400" b="1"/>
              <a:t>PH</a:t>
            </a:r>
            <a:r>
              <a:rPr lang="vi-VN" sz="1400" b="1"/>
              <a:t>Ư</a:t>
            </a:r>
            <a:r>
              <a:rPr lang="en-US" sz="1400" b="1"/>
              <a:t>ƠNG ÁN GIỮ GIỜ</a:t>
            </a:r>
          </a:p>
          <a:p>
            <a:r>
              <a:rPr lang="en-US" sz="1400"/>
              <a:t>- Giữ giờ 21346 trên A891 bằng spare trong 20 ngày, sau đó lắp lên A890 giữ giờ cùng 21418 trong 45 ngày; </a:t>
            </a:r>
          </a:p>
          <a:p>
            <a:r>
              <a:rPr lang="en-US" sz="1400"/>
              <a:t>- 21317 trên A897 hạn chế khai thác để extend 20 ngày. </a:t>
            </a:r>
          </a:p>
        </p:txBody>
      </p:sp>
    </p:spTree>
    <p:extLst>
      <p:ext uri="{BB962C8B-B14F-4D97-AF65-F5344CB8AC3E}">
        <p14:creationId xmlns:p14="http://schemas.microsoft.com/office/powerpoint/2010/main" val="31477735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426EF2E-39D3-88C6-5607-59E0B3AACB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6CA0A6B4-0D57-91D1-E90B-8552E0AD5555}"/>
              </a:ext>
            </a:extLst>
          </p:cNvPr>
          <p:cNvSpPr>
            <a:spLocks noGrp="1"/>
          </p:cNvSpPr>
          <p:nvPr>
            <p:ph type="sldNum" idx="12"/>
          </p:nvPr>
        </p:nvSpPr>
        <p:spPr/>
        <p:txBody>
          <a:bodyPr/>
          <a:lstStyle/>
          <a:p>
            <a:fld id="{00000000-1234-1234-1234-123412341234}" type="slidenum">
              <a:rPr lang="vi" smtClean="0"/>
              <a:pPr/>
              <a:t>35</a:t>
            </a:fld>
            <a:endParaRPr lang="vi"/>
          </a:p>
        </p:txBody>
      </p:sp>
      <p:sp>
        <p:nvSpPr>
          <p:cNvPr id="8" name="Slide Number Placeholder 3">
            <a:extLst>
              <a:ext uri="{FF2B5EF4-FFF2-40B4-BE49-F238E27FC236}">
                <a16:creationId xmlns:a16="http://schemas.microsoft.com/office/drawing/2014/main" xmlns="" id="{A871A205-15F4-FDCC-D904-DBF790C9581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35</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9" name="TextBox 8">
            <a:extLst>
              <a:ext uri="{FF2B5EF4-FFF2-40B4-BE49-F238E27FC236}">
                <a16:creationId xmlns:a16="http://schemas.microsoft.com/office/drawing/2014/main" xmlns="" id="{45661717-286B-9E25-9E8B-05A140AC533E}"/>
              </a:ext>
            </a:extLst>
          </p:cNvPr>
          <p:cNvSpPr txBox="1"/>
          <p:nvPr/>
        </p:nvSpPr>
        <p:spPr>
          <a:xfrm>
            <a:off x="317020" y="5056389"/>
            <a:ext cx="11557960" cy="37125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Từ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11/2024,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với</a:t>
            </a:r>
            <a:r>
              <a:rPr lang="en-US" sz="1600" dirty="0">
                <a:solidFill>
                  <a:schemeClr val="tx1"/>
                </a:solidFill>
                <a:latin typeface="Times New Roman" panose="02020603050405020304" pitchFamily="18" charset="0"/>
                <a:cs typeface="Times New Roman" panose="02020603050405020304" pitchFamily="18" charset="0"/>
              </a:rPr>
              <a:t> 05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do </a:t>
            </a:r>
            <a:r>
              <a:rPr lang="en-US" sz="1600" dirty="0" err="1">
                <a:solidFill>
                  <a:schemeClr val="tx1"/>
                </a:solidFill>
                <a:latin typeface="Times New Roman" panose="02020603050405020304" pitchFamily="18" charset="0"/>
                <a:cs typeface="Times New Roman" panose="02020603050405020304" pitchFamily="18" charset="0"/>
              </a:rPr>
              <a:t>đã</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cho</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thuê</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khô</a:t>
            </a:r>
            <a:r>
              <a:rPr lang="en-US" sz="1600" dirty="0">
                <a:solidFill>
                  <a:schemeClr val="tx1"/>
                </a:solidFill>
                <a:latin typeface="Times New Roman" panose="02020603050405020304" pitchFamily="18" charset="0"/>
                <a:cs typeface="Times New Roman" panose="02020603050405020304" pitchFamily="18" charset="0"/>
              </a:rPr>
              <a:t> B220.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7/2025 </a:t>
            </a:r>
            <a:r>
              <a:rPr lang="en-US" sz="1600" dirty="0" err="1">
                <a:solidFill>
                  <a:schemeClr val="tx1"/>
                </a:solidFill>
                <a:latin typeface="Times New Roman" panose="02020603050405020304" pitchFamily="18" charset="0"/>
                <a:cs typeface="Times New Roman" panose="02020603050405020304" pitchFamily="18" charset="0"/>
              </a:rPr>
              <a:t>sẽ</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trở</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lại</a:t>
            </a:r>
            <a:r>
              <a:rPr lang="en-US" sz="1600" dirty="0">
                <a:solidFill>
                  <a:schemeClr val="tx1"/>
                </a:solidFill>
                <a:latin typeface="Times New Roman" panose="02020603050405020304" pitchFamily="18" charset="0"/>
                <a:cs typeface="Times New Roman" panose="02020603050405020304" pitchFamily="18" charset="0"/>
              </a:rPr>
              <a:t> 06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sau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khi</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trả</a:t>
            </a:r>
            <a:r>
              <a:rPr lang="en-US" sz="1600" dirty="0">
                <a:solidFill>
                  <a:schemeClr val="tx1"/>
                </a:solidFill>
                <a:latin typeface="Times New Roman" panose="02020603050405020304" pitchFamily="18" charset="0"/>
                <a:cs typeface="Times New Roman" panose="02020603050405020304" pitchFamily="18" charset="0"/>
              </a:rPr>
              <a:t> B220.</a:t>
            </a:r>
          </a:p>
        </p:txBody>
      </p:sp>
      <p:graphicFrame>
        <p:nvGraphicFramePr>
          <p:cNvPr id="10" name="Chart 9">
            <a:extLst>
              <a:ext uri="{FF2B5EF4-FFF2-40B4-BE49-F238E27FC236}">
                <a16:creationId xmlns:a16="http://schemas.microsoft.com/office/drawing/2014/main" xmlns="" id="{76DFC592-D88A-43FC-09E5-06AD8D727013}"/>
              </a:ext>
            </a:extLst>
          </p:cNvPr>
          <p:cNvGraphicFramePr/>
          <p:nvPr/>
        </p:nvGraphicFramePr>
        <p:xfrm>
          <a:off x="295373" y="770468"/>
          <a:ext cx="11557960" cy="42164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xmlns="" id="{0AA8E0DF-2FF0-D5DB-6896-3F1AD07908A4}"/>
              </a:ext>
            </a:extLst>
          </p:cNvPr>
          <p:cNvSpPr txBox="1"/>
          <p:nvPr/>
        </p:nvSpPr>
        <p:spPr>
          <a:xfrm>
            <a:off x="0" y="88859"/>
            <a:ext cx="11142133"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ATR72</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35112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xmlns="" id="{C0E34002-24DE-E466-318F-A982D9E240D3}"/>
              </a:ext>
            </a:extLst>
          </p:cNvPr>
          <p:cNvSpPr txBox="1"/>
          <p:nvPr/>
        </p:nvSpPr>
        <p:spPr>
          <a:xfrm>
            <a:off x="0" y="475864"/>
            <a:ext cx="41656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4" name="Table 2">
            <a:extLst>
              <a:ext uri="{FF2B5EF4-FFF2-40B4-BE49-F238E27FC236}">
                <a16:creationId xmlns:a16="http://schemas.microsoft.com/office/drawing/2014/main" xmlns="" id="{C9E599B2-7A6B-AE61-6B47-ABFA60F331B8}"/>
              </a:ext>
            </a:extLst>
          </p:cNvPr>
          <p:cNvGraphicFramePr>
            <a:graphicFrameLocks noGrp="1"/>
          </p:cNvGraphicFramePr>
          <p:nvPr>
            <p:extLst/>
          </p:nvPr>
        </p:nvGraphicFramePr>
        <p:xfrm>
          <a:off x="291533" y="1134199"/>
          <a:ext cx="11460202" cy="1863582"/>
        </p:xfrm>
        <a:graphic>
          <a:graphicData uri="http://schemas.openxmlformats.org/drawingml/2006/table">
            <a:tbl>
              <a:tblPr firstRow="1" bandRow="1">
                <a:tableStyleId>{5C22544A-7EE6-4342-B048-85BDC9FD1C3A}</a:tableStyleId>
              </a:tblPr>
              <a:tblGrid>
                <a:gridCol w="533157">
                  <a:extLst>
                    <a:ext uri="{9D8B030D-6E8A-4147-A177-3AD203B41FA5}">
                      <a16:colId xmlns:a16="http://schemas.microsoft.com/office/drawing/2014/main" xmlns="" val="1598605427"/>
                    </a:ext>
                  </a:extLst>
                </a:gridCol>
                <a:gridCol w="1147672">
                  <a:extLst>
                    <a:ext uri="{9D8B030D-6E8A-4147-A177-3AD203B41FA5}">
                      <a16:colId xmlns:a16="http://schemas.microsoft.com/office/drawing/2014/main" xmlns="" val="3845954792"/>
                    </a:ext>
                  </a:extLst>
                </a:gridCol>
                <a:gridCol w="1298823">
                  <a:extLst>
                    <a:ext uri="{9D8B030D-6E8A-4147-A177-3AD203B41FA5}">
                      <a16:colId xmlns:a16="http://schemas.microsoft.com/office/drawing/2014/main" xmlns="" val="2148822928"/>
                    </a:ext>
                  </a:extLst>
                </a:gridCol>
                <a:gridCol w="2062836">
                  <a:extLst>
                    <a:ext uri="{9D8B030D-6E8A-4147-A177-3AD203B41FA5}">
                      <a16:colId xmlns:a16="http://schemas.microsoft.com/office/drawing/2014/main" xmlns="" val="2136763095"/>
                    </a:ext>
                  </a:extLst>
                </a:gridCol>
                <a:gridCol w="2139239">
                  <a:extLst>
                    <a:ext uri="{9D8B030D-6E8A-4147-A177-3AD203B41FA5}">
                      <a16:colId xmlns:a16="http://schemas.microsoft.com/office/drawing/2014/main" xmlns="" val="1185879436"/>
                    </a:ext>
                  </a:extLst>
                </a:gridCol>
                <a:gridCol w="1986435">
                  <a:extLst>
                    <a:ext uri="{9D8B030D-6E8A-4147-A177-3AD203B41FA5}">
                      <a16:colId xmlns:a16="http://schemas.microsoft.com/office/drawing/2014/main" xmlns="" val="3807119371"/>
                    </a:ext>
                  </a:extLst>
                </a:gridCol>
                <a:gridCol w="2292040">
                  <a:extLst>
                    <a:ext uri="{9D8B030D-6E8A-4147-A177-3AD203B41FA5}">
                      <a16:colId xmlns:a16="http://schemas.microsoft.com/office/drawing/2014/main" xmlns="" val="3735753066"/>
                    </a:ext>
                  </a:extLst>
                </a:gridCol>
              </a:tblGrid>
              <a:tr h="709240">
                <a:tc>
                  <a:txBody>
                    <a:bodyPr/>
                    <a:lstStyle/>
                    <a:p>
                      <a:pPr algn="ctr"/>
                      <a:r>
                        <a:rPr lang="en-GB" sz="1500">
                          <a:latin typeface="Times New Roman" panose="02020603050405020304" pitchFamily="18" charset="0"/>
                          <a:cs typeface="Times New Roman" panose="02020603050405020304" pitchFamily="18" charset="0"/>
                        </a:rPr>
                        <a:t>No.</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ESN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Status</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Induction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err="1">
                          <a:latin typeface="Times New Roman" panose="02020603050405020304" pitchFamily="18" charset="0"/>
                          <a:cs typeface="Times New Roman" panose="02020603050405020304" pitchFamily="18" charset="0"/>
                        </a:rPr>
                        <a:t>Dự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kiến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KH Sử dụng</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Remark</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34812354"/>
                  </a:ext>
                </a:extLst>
              </a:tr>
              <a:tr h="577171">
                <a:tc>
                  <a:txBody>
                    <a:bodyPr/>
                    <a:lstStyle/>
                    <a:p>
                      <a:pPr algn="ctr"/>
                      <a:r>
                        <a:rPr lang="vi-VN" sz="1500">
                          <a:latin typeface="Times New Roman" panose="02020603050405020304" pitchFamily="18" charset="0"/>
                          <a:cs typeface="Times New Roman" panose="02020603050405020304" pitchFamily="18" charset="0"/>
                        </a:rPr>
                        <a:t>1</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16/10/2024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15/04/2025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3227979002"/>
                  </a:ext>
                </a:extLst>
              </a:tr>
              <a:tr h="577171">
                <a:tc>
                  <a:txBody>
                    <a:bodyPr/>
                    <a:lstStyle/>
                    <a:p>
                      <a:pPr algn="ctr"/>
                      <a:r>
                        <a:rPr lang="vi-VN" sz="1500">
                          <a:latin typeface="Times New Roman" panose="02020603050405020304" pitchFamily="18" charset="0"/>
                          <a:cs typeface="Times New Roman" panose="02020603050405020304" pitchFamily="18" charset="0"/>
                        </a:rPr>
                        <a:t>2</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ED238</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24/01/2025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817893171"/>
                  </a:ext>
                </a:extLst>
              </a:tr>
            </a:tbl>
          </a:graphicData>
        </a:graphic>
      </p:graphicFrame>
      <p:sp>
        <p:nvSpPr>
          <p:cNvPr id="15" name="TextBox 14">
            <a:extLst>
              <a:ext uri="{FF2B5EF4-FFF2-40B4-BE49-F238E27FC236}">
                <a16:creationId xmlns:a16="http://schemas.microsoft.com/office/drawing/2014/main" xmlns="" id="{A3B0CE8D-D087-9B22-2C61-0CD1AD45567F}"/>
              </a:ext>
            </a:extLst>
          </p:cNvPr>
          <p:cNvSpPr txBox="1"/>
          <p:nvPr/>
        </p:nvSpPr>
        <p:spPr>
          <a:xfrm>
            <a:off x="1" y="805"/>
            <a:ext cx="11418041"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ATR</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xmlns="" id="{86965A40-485F-F6CF-1E94-FB69A37B616A}"/>
              </a:ext>
            </a:extLst>
          </p:cNvPr>
          <p:cNvSpPr txBox="1"/>
          <p:nvPr/>
        </p:nvSpPr>
        <p:spPr>
          <a:xfrm>
            <a:off x="0" y="3198167"/>
            <a:ext cx="7239699"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động</a:t>
            </a:r>
            <a:r>
              <a:rPr lang="en-US" sz="2400" b="1" dirty="0">
                <a:solidFill>
                  <a:srgbClr val="002060"/>
                </a:solidFill>
                <a:latin typeface="Times New Roman" panose="02020603050405020304" pitchFamily="18" charset="0"/>
                <a:cs typeface="Times New Roman" panose="02020603050405020304" pitchFamily="18" charset="0"/>
              </a:rPr>
              <a:t> cơ </a:t>
            </a:r>
            <a:r>
              <a:rPr lang="en-US" sz="2400" b="1" dirty="0" err="1">
                <a:solidFill>
                  <a:srgbClr val="002060"/>
                </a:solidFill>
                <a:latin typeface="Times New Roman" panose="02020603050405020304" pitchFamily="18" charset="0"/>
                <a:cs typeface="Times New Roman" panose="02020603050405020304" pitchFamily="18" charset="0"/>
              </a:rPr>
              <a:t>cơ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đội</a:t>
            </a:r>
            <a:r>
              <a:rPr lang="en-US" sz="2400" b="1" dirty="0">
                <a:solidFill>
                  <a:srgbClr val="002060"/>
                </a:solidFill>
                <a:latin typeface="Times New Roman" panose="02020603050405020304" pitchFamily="18" charset="0"/>
                <a:cs typeface="Times New Roman" panose="02020603050405020304" pitchFamily="18" charset="0"/>
              </a:rPr>
              <a:t> bay</a:t>
            </a:r>
            <a:endParaRPr lang="en-GB" sz="2400" b="1" dirty="0">
              <a:solidFill>
                <a:srgbClr val="00206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xmlns="" id="{E8A28E79-E20A-AF25-AF54-BB552A4A1E80}"/>
              </a:ext>
            </a:extLst>
          </p:cNvPr>
          <p:cNvSpPr txBox="1"/>
          <p:nvPr/>
        </p:nvSpPr>
        <p:spPr>
          <a:xfrm>
            <a:off x="76200" y="3733800"/>
            <a:ext cx="11460201" cy="1692771"/>
          </a:xfrm>
          <a:prstGeom prst="rect">
            <a:avLst/>
          </a:prstGeom>
          <a:noFill/>
        </p:spPr>
        <p:txBody>
          <a:bodyPr wrap="square" rtlCol="0">
            <a:spAutoFit/>
          </a:bodyPr>
          <a:lstStyle/>
          <a:p>
            <a:pPr marL="380990" indent="-380990">
              <a:spcBef>
                <a:spcPts val="800"/>
              </a:spcBef>
              <a:spcAft>
                <a:spcPts val="800"/>
              </a:spcAft>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ED0217 (</a:t>
            </a:r>
            <a:r>
              <a:rPr lang="en-US" sz="1600" dirty="0" err="1">
                <a:latin typeface="Times New Roman" panose="02020603050405020304" pitchFamily="18" charset="0"/>
                <a:cs typeface="Times New Roman" panose="02020603050405020304" pitchFamily="18" charset="0"/>
              </a:rPr>
              <a:t>hỏng</a:t>
            </a:r>
            <a:r>
              <a:rPr lang="en-US" sz="1600" dirty="0">
                <a:latin typeface="Times New Roman" panose="02020603050405020304" pitchFamily="18" charset="0"/>
                <a:cs typeface="Times New Roman" panose="02020603050405020304" pitchFamily="18" charset="0"/>
              </a:rPr>
              <a:t> HPT Vane </a:t>
            </a:r>
            <a:r>
              <a:rPr lang="en-US" sz="1600" dirty="0" err="1">
                <a:latin typeface="Times New Roman" panose="02020603050405020304" pitchFamily="18" charset="0"/>
                <a:cs typeface="Times New Roman" panose="02020603050405020304" pitchFamily="18" charset="0"/>
              </a:rPr>
              <a:t>còn</a:t>
            </a:r>
            <a:r>
              <a:rPr lang="en-US" sz="1600" dirty="0">
                <a:latin typeface="Times New Roman" panose="02020603050405020304" pitchFamily="18" charset="0"/>
                <a:cs typeface="Times New Roman" panose="02020603050405020304" pitchFamily="18" charset="0"/>
              </a:rPr>
              <a:t> 38 FH), ED0233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LLP, </a:t>
            </a:r>
            <a:r>
              <a:rPr lang="en-US" sz="1600" dirty="0" err="1">
                <a:latin typeface="Times New Roman" panose="02020603050405020304" pitchFamily="18" charset="0"/>
                <a:cs typeface="Times New Roman" panose="02020603050405020304" pitchFamily="18" charset="0"/>
              </a:rPr>
              <a:t>còn</a:t>
            </a:r>
            <a:r>
              <a:rPr lang="en-US" sz="1600" dirty="0">
                <a:latin typeface="Times New Roman" panose="02020603050405020304" pitchFamily="18" charset="0"/>
                <a:cs typeface="Times New Roman" panose="02020603050405020304" pitchFamily="18" charset="0"/>
              </a:rPr>
              <a:t> 78 FC), ED0214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LLP, </a:t>
            </a:r>
            <a:r>
              <a:rPr lang="en-US" sz="1600" err="1">
                <a:latin typeface="Times New Roman" panose="02020603050405020304" pitchFamily="18" charset="0"/>
                <a:cs typeface="Times New Roman" panose="02020603050405020304" pitchFamily="18" charset="0"/>
              </a:rPr>
              <a:t>còn</a:t>
            </a:r>
            <a:r>
              <a:rPr lang="en-US" sz="1600">
                <a:latin typeface="Times New Roman" panose="02020603050405020304" pitchFamily="18" charset="0"/>
                <a:cs typeface="Times New Roman" panose="02020603050405020304" pitchFamily="18" charset="0"/>
              </a:rPr>
              <a:t> 39 FC)</a:t>
            </a:r>
          </a:p>
          <a:p>
            <a:pPr marL="380990" indent="-380990">
              <a:spcBef>
                <a:spcPts val="800"/>
              </a:spcBef>
              <a:spcAft>
                <a:spcPts val="800"/>
              </a:spcAft>
              <a:buFont typeface="Arial" panose="020B0604020202020204" pitchFamily="34" charset="0"/>
              <a:buChar char="•"/>
            </a:pPr>
            <a:r>
              <a:rPr lang="en-US" sz="1600">
                <a:latin typeface="Times New Roman" panose="02020603050405020304" pitchFamily="18" charset="0"/>
                <a:cs typeface="Times New Roman" panose="02020603050405020304" pitchFamily="18" charset="0"/>
              </a:rPr>
              <a:t>Động cơ dự phòng: ED0192. KH Stagger sau cao điểm tết.</a:t>
            </a:r>
          </a:p>
          <a:p>
            <a:pPr marL="380990" indent="-380990">
              <a:spcBef>
                <a:spcPts val="800"/>
              </a:spcBef>
              <a:spcAft>
                <a:spcPts val="800"/>
              </a:spcAft>
              <a:buFont typeface="Arial" panose="020B0604020202020204" pitchFamily="34" charset="0"/>
              <a:buChar char="•"/>
            </a:pPr>
            <a:r>
              <a:rPr lang="it-IT" sz="1600">
                <a:latin typeface="Times New Roman" panose="02020603050405020304" pitchFamily="18" charset="0"/>
                <a:cs typeface="Times New Roman" panose="02020603050405020304" pitchFamily="18" charset="0"/>
              </a:rPr>
              <a:t>Động </a:t>
            </a:r>
            <a:r>
              <a:rPr lang="it-IT" sz="1600" dirty="0">
                <a:latin typeface="Times New Roman" panose="02020603050405020304" pitchFamily="18" charset="0"/>
                <a:cs typeface="Times New Roman" panose="02020603050405020304" pitchFamily="18" charset="0"/>
              </a:rPr>
              <a:t>cơ thuê: ED0321, ED0036 và ED0715</a:t>
            </a:r>
          </a:p>
          <a:p>
            <a:pPr marL="380990" indent="-380990">
              <a:spcBef>
                <a:spcPts val="800"/>
              </a:spcBef>
              <a:spcAft>
                <a:spcPts val="800"/>
              </a:spcAft>
              <a:buFont typeface="Arial" panose="020B0604020202020204" pitchFamily="34" charset="0"/>
              <a:buChar char="•"/>
            </a:pPr>
            <a:r>
              <a:rPr lang="it-IT" sz="1600" dirty="0">
                <a:latin typeface="Times New Roman" panose="02020603050405020304" pitchFamily="18" charset="0"/>
                <a:cs typeface="Times New Roman" panose="02020603050405020304" pitchFamily="18" charset="0"/>
              </a:rPr>
              <a:t>Động cơ cao giờ: NIL</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42794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xmlns="" id="{3AEDC4A0-D9E4-308A-B81A-C497E56EC867}"/>
              </a:ext>
            </a:extLst>
          </p:cNvPr>
          <p:cNvSpPr>
            <a:spLocks noGrp="1"/>
          </p:cNvSpPr>
          <p:nvPr>
            <p:ph type="sldNum" sz="quarter" idx="12"/>
          </p:nvPr>
        </p:nvSpPr>
        <p:spPr>
          <a:xfrm>
            <a:off x="11469279" y="8154511"/>
            <a:ext cx="3657600" cy="486833"/>
          </a:xfrm>
        </p:spPr>
        <p:txBody>
          <a:bodyPr>
            <a:normAutofit/>
          </a:bodyPr>
          <a:lstStyle/>
          <a:p>
            <a:pPr defTabSz="1219170">
              <a:defRPr/>
            </a:pPr>
            <a:r>
              <a:rPr lang="en-US" sz="1600" dirty="0">
                <a:solidFill>
                  <a:srgbClr val="D2A43B"/>
                </a:solidFill>
                <a:latin typeface="Montserrat" pitchFamily="2" charset="77"/>
              </a:rPr>
              <a:t>1</a:t>
            </a:r>
          </a:p>
        </p:txBody>
      </p:sp>
      <p:sp>
        <p:nvSpPr>
          <p:cNvPr id="4" name="TextBox 3">
            <a:extLst>
              <a:ext uri="{FF2B5EF4-FFF2-40B4-BE49-F238E27FC236}">
                <a16:creationId xmlns:a16="http://schemas.microsoft.com/office/drawing/2014/main" xmlns="" id="{5039FD0F-D84D-F582-FC95-7FD457F3C903}"/>
              </a:ext>
            </a:extLst>
          </p:cNvPr>
          <p:cNvSpPr txBox="1"/>
          <p:nvPr/>
        </p:nvSpPr>
        <p:spPr>
          <a:xfrm>
            <a:off x="61186" y="565752"/>
            <a:ext cx="12054615" cy="1077218"/>
          </a:xfrm>
          <a:prstGeom prst="rect">
            <a:avLst/>
          </a:prstGeom>
          <a:noFill/>
          <a:ln>
            <a:solidFill>
              <a:schemeClr val="tx1"/>
            </a:solidFill>
          </a:ln>
        </p:spPr>
        <p:txBody>
          <a:bodyPr wrap="square" rtlCol="0">
            <a:spAutoFit/>
          </a:bodyPr>
          <a:lstStyle/>
          <a:p>
            <a:pPr defTabSz="1219170">
              <a:defRPr/>
            </a:pP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10/02/2025 – 16/02/2025:</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A889, A865.</a:t>
            </a:r>
          </a:p>
          <a:p>
            <a:pPr marL="380990" indent="-38099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A614-A356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Generator), A610 (wash APU), A329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Starter Motor).</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04 APU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A873, A893, A889, A865.</a:t>
            </a:r>
          </a:p>
        </p:txBody>
      </p:sp>
      <p:graphicFrame>
        <p:nvGraphicFramePr>
          <p:cNvPr id="3" name="Table 2">
            <a:extLst>
              <a:ext uri="{FF2B5EF4-FFF2-40B4-BE49-F238E27FC236}">
                <a16:creationId xmlns:a16="http://schemas.microsoft.com/office/drawing/2014/main" xmlns="" id="{6684DBD8-A2D2-50A1-B1FB-698DABA16090}"/>
              </a:ext>
            </a:extLst>
          </p:cNvPr>
          <p:cNvGraphicFramePr>
            <a:graphicFrameLocks noGrp="1"/>
          </p:cNvGraphicFramePr>
          <p:nvPr>
            <p:extLst/>
          </p:nvPr>
        </p:nvGraphicFramePr>
        <p:xfrm>
          <a:off x="61186" y="1787549"/>
          <a:ext cx="12054615" cy="4918053"/>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xmlns="" val="1827702162"/>
                    </a:ext>
                  </a:extLst>
                </a:gridCol>
                <a:gridCol w="1715656">
                  <a:extLst>
                    <a:ext uri="{9D8B030D-6E8A-4147-A177-3AD203B41FA5}">
                      <a16:colId xmlns:a16="http://schemas.microsoft.com/office/drawing/2014/main" xmlns="" val="2395768341"/>
                    </a:ext>
                  </a:extLst>
                </a:gridCol>
                <a:gridCol w="4013376">
                  <a:extLst>
                    <a:ext uri="{9D8B030D-6E8A-4147-A177-3AD203B41FA5}">
                      <a16:colId xmlns:a16="http://schemas.microsoft.com/office/drawing/2014/main" xmlns="" val="4155011410"/>
                    </a:ext>
                  </a:extLst>
                </a:gridCol>
                <a:gridCol w="5689791">
                  <a:extLst>
                    <a:ext uri="{9D8B030D-6E8A-4147-A177-3AD203B41FA5}">
                      <a16:colId xmlns:a16="http://schemas.microsoft.com/office/drawing/2014/main" xmlns="" val="1412321077"/>
                    </a:ext>
                  </a:extLst>
                </a:gridCol>
              </a:tblGrid>
              <a:tr h="325989">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435328572"/>
                  </a:ext>
                </a:extLst>
              </a:tr>
              <a:tr h="1148016">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A873</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28/01.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Cần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theo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khuyến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của</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NSX. KH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16/02.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kế</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hoạch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03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tại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A889.</a:t>
                      </a:r>
                    </a:p>
                    <a:p>
                      <a:pPr marL="285750" marR="0" lvl="0" indent="-285750" algn="l" defTabSz="914400" rtl="0" eaLnBrk="1" fontAlgn="auto" latinLnBrk="0" hangingPunct="1">
                        <a:lnSpc>
                          <a:spcPct val="114000"/>
                        </a:lnSpc>
                        <a:spcBef>
                          <a:spcPts val="0"/>
                        </a:spcBef>
                        <a:spcAft>
                          <a:spcPts val="0"/>
                        </a:spcAft>
                        <a:buClrTx/>
                        <a:buSzTx/>
                        <a:buFont typeface="Arial" panose="020B0604020202020204" pitchFamily="34" charset="0"/>
                        <a:buChar char="•"/>
                        <a:tabLst>
                          <a:tab pos="388620" algn="l"/>
                        </a:tabLst>
                        <a:defRPr/>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A873.</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736034225"/>
                  </a:ext>
                </a:extLst>
              </a:tr>
              <a:tr h="1148016">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A893</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31/01.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Cần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do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Power Section. KH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21/02 (rob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xmlns="" val="1485791511"/>
                  </a:ext>
                </a:extLst>
              </a:tr>
              <a:tr h="1148016">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A889</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09/01.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Cần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do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compressor case. KH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18/02.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tc>
                <a:extLst>
                  <a:ext uri="{0D108BD9-81ED-4DB2-BD59-A6C34878D82A}">
                    <a16:rowId xmlns:a16="http://schemas.microsoft.com/office/drawing/2014/main" xmlns="" val="3144562193"/>
                  </a:ext>
                </a:extLst>
              </a:tr>
              <a:tr h="1148016">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A865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GEN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12/02. KH T/S SGN 16/02.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xmlns="" val="3636160297"/>
                  </a:ext>
                </a:extLst>
              </a:tr>
            </a:tbl>
          </a:graphicData>
        </a:graphic>
      </p:graphicFrame>
      <p:sp>
        <p:nvSpPr>
          <p:cNvPr id="5" name="TextBox 4">
            <a:extLst>
              <a:ext uri="{FF2B5EF4-FFF2-40B4-BE49-F238E27FC236}">
                <a16:creationId xmlns:a16="http://schemas.microsoft.com/office/drawing/2014/main" xmlns="" id="{C90E461A-8FB3-5729-0D39-FAC90BDE96E0}"/>
              </a:ext>
            </a:extLst>
          </p:cNvPr>
          <p:cNvSpPr txBox="1"/>
          <p:nvPr/>
        </p:nvSpPr>
        <p:spPr>
          <a:xfrm>
            <a:off x="0" y="4175"/>
            <a:ext cx="10155179"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HỎNG HÓC APU TRONG TUẦN</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3028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xmlns="" id="{44E34AA5-0AD7-89EB-D556-85A4E3C161E2}"/>
              </a:ext>
            </a:extLst>
          </p:cNvPr>
          <p:cNvGraphicFramePr>
            <a:graphicFrameLocks noGrp="1"/>
          </p:cNvGraphicFramePr>
          <p:nvPr>
            <p:extLst/>
          </p:nvPr>
        </p:nvGraphicFramePr>
        <p:xfrm>
          <a:off x="548320" y="609600"/>
          <a:ext cx="11169547" cy="4419600"/>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xmlns="" val="1598605427"/>
                    </a:ext>
                  </a:extLst>
                </a:gridCol>
                <a:gridCol w="1692295">
                  <a:extLst>
                    <a:ext uri="{9D8B030D-6E8A-4147-A177-3AD203B41FA5}">
                      <a16:colId xmlns:a16="http://schemas.microsoft.com/office/drawing/2014/main" xmlns="" val="3845954792"/>
                    </a:ext>
                  </a:extLst>
                </a:gridCol>
                <a:gridCol w="3352017">
                  <a:extLst>
                    <a:ext uri="{9D8B030D-6E8A-4147-A177-3AD203B41FA5}">
                      <a16:colId xmlns:a16="http://schemas.microsoft.com/office/drawing/2014/main" xmlns="" val="2148822928"/>
                    </a:ext>
                  </a:extLst>
                </a:gridCol>
                <a:gridCol w="2161848">
                  <a:extLst>
                    <a:ext uri="{9D8B030D-6E8A-4147-A177-3AD203B41FA5}">
                      <a16:colId xmlns:a16="http://schemas.microsoft.com/office/drawing/2014/main" xmlns="" val="1106888684"/>
                    </a:ext>
                  </a:extLst>
                </a:gridCol>
                <a:gridCol w="2161848">
                  <a:extLst>
                    <a:ext uri="{9D8B030D-6E8A-4147-A177-3AD203B41FA5}">
                      <a16:colId xmlns:a16="http://schemas.microsoft.com/office/drawing/2014/main" xmlns="" val="571731565"/>
                    </a:ext>
                  </a:extLst>
                </a:gridCol>
              </a:tblGrid>
              <a:tr h="580121">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xmlns="" val="1234812354"/>
                  </a:ext>
                </a:extLst>
              </a:tr>
              <a:tr h="54849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EPCOR</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22-May-24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05-Mar-24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xmlns="" val="3716492321"/>
                  </a:ext>
                </a:extLst>
              </a:tr>
              <a:tr h="54849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P-8524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07-Nov-24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21-Feb-25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A329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xmlns="" val="3287019261"/>
                  </a:ext>
                </a:extLst>
              </a:tr>
              <a:tr h="54849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A617</a:t>
                      </a:r>
                    </a:p>
                  </a:txBody>
                  <a:tcPr marL="12700" marR="12700" marT="12700" marB="0" anchor="ctr">
                    <a:solidFill>
                      <a:schemeClr val="accent1">
                        <a:lumMod val="20000"/>
                        <a:lumOff val="80000"/>
                      </a:schemeClr>
                    </a:solidFill>
                  </a:tcPr>
                </a:tc>
                <a:extLst>
                  <a:ext uri="{0D108BD9-81ED-4DB2-BD59-A6C34878D82A}">
                    <a16:rowId xmlns:a16="http://schemas.microsoft.com/office/drawing/2014/main" xmlns="" val="3841585950"/>
                  </a:ext>
                </a:extLst>
              </a:tr>
              <a:tr h="54849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P-4708</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AMECO</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17-Dec-24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17-Feb-25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A614</a:t>
                      </a:r>
                    </a:p>
                  </a:txBody>
                  <a:tcPr marL="12700" marR="12700" marT="12700" marB="0" anchor="ctr">
                    <a:solidFill>
                      <a:schemeClr val="accent1">
                        <a:lumMod val="20000"/>
                        <a:lumOff val="80000"/>
                      </a:schemeClr>
                    </a:solidFill>
                  </a:tcPr>
                </a:tc>
                <a:extLst>
                  <a:ext uri="{0D108BD9-81ED-4DB2-BD59-A6C34878D82A}">
                    <a16:rowId xmlns:a16="http://schemas.microsoft.com/office/drawing/2014/main" xmlns="" val="702873862"/>
                  </a:ext>
                </a:extLst>
              </a:tr>
              <a:tr h="54849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P-5222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AMECO</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17-Dec-24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17-Feb-25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xmlns="" val="28517020"/>
                  </a:ext>
                </a:extLst>
              </a:tr>
              <a:tr h="54849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PWC-Z925500</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22-Dec-24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15-Mar-25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A871</a:t>
                      </a:r>
                    </a:p>
                  </a:txBody>
                  <a:tcPr marL="12700" marR="12700" marT="12700" marB="0" anchor="ctr">
                    <a:solidFill>
                      <a:schemeClr val="accent6">
                        <a:lumMod val="20000"/>
                        <a:lumOff val="80000"/>
                      </a:schemeClr>
                    </a:solidFill>
                  </a:tcPr>
                </a:tc>
                <a:extLst>
                  <a:ext uri="{0D108BD9-81ED-4DB2-BD59-A6C34878D82A}">
                    <a16:rowId xmlns:a16="http://schemas.microsoft.com/office/drawing/2014/main" xmlns="" val="3190860515"/>
                  </a:ext>
                </a:extLst>
              </a:tr>
              <a:tr h="54849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P-00255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10-Oct-24</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20-Mar-25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A886</a:t>
                      </a:r>
                    </a:p>
                  </a:txBody>
                  <a:tcPr marL="12700" marR="12700" marT="12700" marB="0" anchor="ctr">
                    <a:solidFill>
                      <a:schemeClr val="accent2">
                        <a:lumMod val="40000"/>
                        <a:lumOff val="60000"/>
                      </a:schemeClr>
                    </a:solidFill>
                  </a:tcPr>
                </a:tc>
                <a:extLst>
                  <a:ext uri="{0D108BD9-81ED-4DB2-BD59-A6C34878D82A}">
                    <a16:rowId xmlns:a16="http://schemas.microsoft.com/office/drawing/2014/main" xmlns="" val="148885825"/>
                  </a:ext>
                </a:extLst>
              </a:tr>
            </a:tbl>
          </a:graphicData>
        </a:graphic>
      </p:graphicFrame>
      <p:sp>
        <p:nvSpPr>
          <p:cNvPr id="3" name="TextBox 2">
            <a:extLst>
              <a:ext uri="{FF2B5EF4-FFF2-40B4-BE49-F238E27FC236}">
                <a16:creationId xmlns:a16="http://schemas.microsoft.com/office/drawing/2014/main" xmlns="" id="{683815DC-3726-60C6-9F9A-C1A095C6A727}"/>
              </a:ext>
            </a:extLst>
          </p:cNvPr>
          <p:cNvSpPr txBox="1"/>
          <p:nvPr/>
        </p:nvSpPr>
        <p:spPr>
          <a:xfrm>
            <a:off x="508019" y="5151765"/>
            <a:ext cx="11169547" cy="1241622"/>
          </a:xfrm>
          <a:prstGeom prst="rect">
            <a:avLst/>
          </a:prstGeom>
          <a:noFill/>
        </p:spPr>
        <p:txBody>
          <a:bodyPr wrap="square" rtlCol="0">
            <a:spAutoFit/>
          </a:bodyPr>
          <a:lstStyle/>
          <a:p>
            <a:pPr defTabSz="1219170">
              <a:defRPr/>
            </a:pPr>
            <a:r>
              <a:rPr lang="en-US" sz="1867" b="1" dirty="0" err="1">
                <a:solidFill>
                  <a:prstClr val="black"/>
                </a:solidFill>
                <a:latin typeface="Times New Roman" panose="02020603050405020304" pitchFamily="18" charset="0"/>
                <a:cs typeface="Times New Roman" panose="02020603050405020304" pitchFamily="18" charset="0"/>
              </a:rPr>
              <a:t>Đánh</a:t>
            </a:r>
            <a:r>
              <a:rPr lang="en-US" sz="1867" b="1" dirty="0">
                <a:solidFill>
                  <a:prstClr val="black"/>
                </a:solidFill>
                <a:latin typeface="Times New Roman" panose="02020603050405020304" pitchFamily="18" charset="0"/>
                <a:cs typeface="Times New Roman" panose="02020603050405020304" pitchFamily="18" charset="0"/>
              </a:rPr>
              <a:t> </a:t>
            </a:r>
            <a:r>
              <a:rPr lang="en-US" sz="1867" b="1" dirty="0" err="1">
                <a:solidFill>
                  <a:prstClr val="black"/>
                </a:solidFill>
                <a:latin typeface="Times New Roman" panose="02020603050405020304" pitchFamily="18" charset="0"/>
                <a:cs typeface="Times New Roman" panose="02020603050405020304" pitchFamily="18" charset="0"/>
              </a:rPr>
              <a:t>giá</a:t>
            </a:r>
            <a:r>
              <a:rPr lang="en-US" sz="1867" b="1" dirty="0">
                <a:solidFill>
                  <a:prstClr val="black"/>
                </a:solidFill>
                <a:latin typeface="Times New Roman" panose="02020603050405020304" pitchFamily="18" charset="0"/>
                <a:cs typeface="Times New Roman" panose="02020603050405020304" pitchFamily="18" charset="0"/>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rPr>
              <a:t>Đội</a:t>
            </a:r>
            <a:r>
              <a:rPr lang="en-US" sz="1867" dirty="0">
                <a:solidFill>
                  <a:prstClr val="black"/>
                </a:solidFill>
                <a:latin typeface="Times New Roman" panose="02020603050405020304" pitchFamily="18" charset="0"/>
                <a:cs typeface="Times New Roman" panose="02020603050405020304" pitchFamily="18" charset="0"/>
              </a:rPr>
              <a:t> bay A321: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A350: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B787: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xmlns="" id="{2A0F6081-1E4E-10D7-02C6-BC54E456A673}"/>
              </a:ext>
            </a:extLst>
          </p:cNvPr>
          <p:cNvSpPr txBox="1"/>
          <p:nvPr/>
        </p:nvSpPr>
        <p:spPr>
          <a:xfrm>
            <a:off x="1" y="1"/>
            <a:ext cx="752162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SỬA CHỮA APU TẠI SHOP</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62030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39</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5" name="Google Shape;75;p2">
            <a:extLst>
              <a:ext uri="{FF2B5EF4-FFF2-40B4-BE49-F238E27FC236}">
                <a16:creationId xmlns="" xmlns:a16="http://schemas.microsoft.com/office/drawing/2014/main" id="{637BC1EA-95C9-6D4F-9E46-CF744FAC7800}"/>
              </a:ext>
            </a:extLst>
          </p:cNvPr>
          <p:cNvSpPr txBox="1">
            <a:spLocks/>
          </p:cNvSpPr>
          <p:nvPr/>
        </p:nvSpPr>
        <p:spPr>
          <a:xfrm>
            <a:off x="240717" y="635566"/>
            <a:ext cx="10820399" cy="6239851"/>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n-US" sz="1600" b="1" dirty="0">
                <a:cs typeface="Times New Roman" panose="02020603050405020304" pitchFamily="18" charset="0"/>
              </a:rPr>
              <a:t>BQDB: </a:t>
            </a:r>
            <a:r>
              <a:rPr lang="pt-BR" sz="1600" b="1" dirty="0">
                <a:cs typeface="Times New Roman" panose="02020603050405020304" pitchFamily="18" charset="0"/>
              </a:rPr>
              <a:t>HAN (03/05/06/08/10/11, A622/23, A886/887/895/898) /</a:t>
            </a:r>
            <a:r>
              <a:rPr lang="pt-BR" sz="1600" b="1" dirty="0">
                <a:solidFill>
                  <a:schemeClr val="accent1">
                    <a:lumMod val="75000"/>
                  </a:schemeClr>
                </a:solidFill>
                <a:cs typeface="Times New Roman" panose="02020603050405020304" pitchFamily="18" charset="0"/>
              </a:rPr>
              <a:t> SGN (A617).</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cs typeface="Times New Roman" panose="02020603050405020304" pitchFamily="18" charset="0"/>
              </a:rPr>
              <a:t>BDĐK: A321: A620, A358;</a:t>
            </a:r>
          </a:p>
          <a:p>
            <a:pPr marL="12700" indent="0" algn="just">
              <a:buSzPts val="1100"/>
              <a:buFont typeface="Arial" panose="020B0604020202020204" pitchFamily="34" charset="0"/>
              <a:buNone/>
            </a:pPr>
            <a:r>
              <a:rPr lang="en-US" sz="1600" b="1" dirty="0">
                <a:solidFill>
                  <a:schemeClr val="accent1"/>
                </a:solidFill>
                <a:cs typeface="Times New Roman" panose="02020603050405020304" pitchFamily="18" charset="0"/>
              </a:rPr>
              <a:t>              A350: A897</a:t>
            </a:r>
          </a:p>
          <a:p>
            <a:pPr marL="12700" indent="0" algn="just">
              <a:buClr>
                <a:schemeClr val="dk1"/>
              </a:buClr>
              <a:buSzPts val="1100"/>
              <a:buFont typeface="Arial" panose="020B0604020202020204" pitchFamily="34" charset="0"/>
              <a:buNone/>
            </a:pPr>
            <a:r>
              <a:rPr lang="en-US" sz="1600" b="1" dirty="0">
                <a:cs typeface="Times New Roman" panose="02020603050405020304" pitchFamily="18" charset="0"/>
              </a:rPr>
              <a:t>              B787: A879;</a:t>
            </a:r>
          </a:p>
          <a:p>
            <a:pPr marL="12700" indent="0" algn="just">
              <a:buClr>
                <a:schemeClr val="dk1"/>
              </a:buClr>
              <a:buSzPts val="1100"/>
              <a:buFont typeface="Arial" panose="020B0604020202020204" pitchFamily="34" charset="0"/>
              <a:buNone/>
            </a:pPr>
            <a:r>
              <a:rPr lang="en-US" sz="1600" b="1" dirty="0">
                <a:cs typeface="Times New Roman" panose="02020603050405020304" pitchFamily="18" charset="0"/>
              </a:rPr>
              <a:t>RTS: A501, A624, A616</a:t>
            </a:r>
            <a:endParaRPr lang="pt-BR" sz="1600" b="1" dirty="0">
              <a:cs typeface="Times New Roman" panose="02020603050405020304" pitchFamily="18" charset="0"/>
            </a:endParaRPr>
          </a:p>
          <a:p>
            <a:pPr marL="12700" indent="0" algn="just">
              <a:buClr>
                <a:schemeClr val="dk1"/>
              </a:buClr>
              <a:buSzPts val="1100"/>
              <a:buNone/>
            </a:pPr>
            <a:r>
              <a:rPr lang="en-US" sz="1600" b="1" dirty="0">
                <a:cs typeface="Times New Roman" panose="02020603050405020304" pitchFamily="18" charset="0"/>
              </a:rPr>
              <a:t>I. A321: </a:t>
            </a:r>
          </a:p>
          <a:p>
            <a:pPr marL="12700" indent="0" algn="just">
              <a:buSzPts val="1100"/>
              <a:buNone/>
            </a:pPr>
            <a:r>
              <a:rPr lang="es-ES" sz="1600" b="1" dirty="0">
                <a:solidFill>
                  <a:srgbClr val="FF0000"/>
                </a:solidFill>
                <a:cs typeface="Times New Roman" panose="02020603050405020304" pitchFamily="18" charset="0"/>
                <a:sym typeface="Wingdings" panose="05000000000000000000" pitchFamily="2" charset="2"/>
              </a:rPr>
              <a:t>1</a:t>
            </a:r>
            <a:r>
              <a:rPr lang="es-ES" sz="1600" dirty="0">
                <a:cs typeface="Times New Roman" panose="02020603050405020304" pitchFamily="18" charset="0"/>
                <a:sym typeface="Wingdings" panose="05000000000000000000" pitchFamily="2" charset="2"/>
              </a:rPr>
              <a:t>. </a:t>
            </a:r>
            <a:r>
              <a:rPr lang="es-ES" sz="1600" b="1" dirty="0">
                <a:solidFill>
                  <a:srgbClr val="FF0000"/>
                </a:solidFill>
                <a:cs typeface="Times New Roman" panose="02020603050405020304" pitchFamily="18" charset="0"/>
                <a:sym typeface="Wingdings" panose="05000000000000000000" pitchFamily="2" charset="2"/>
              </a:rPr>
              <a:t>A616: EA05, RTS (13-18/02/2025):</a:t>
            </a:r>
          </a:p>
          <a:p>
            <a:pPr marL="12700" indent="0" algn="just">
              <a:buSzPts val="1100"/>
              <a:buNone/>
            </a:pPr>
            <a:r>
              <a:rPr lang="es-ES" sz="1600" b="1" dirty="0">
                <a:solidFill>
                  <a:srgbClr val="FF0000"/>
                </a:solidFill>
                <a:cs typeface="Times New Roman" panose="02020603050405020304" pitchFamily="18" charset="0"/>
                <a:sym typeface="Wingdings" panose="05000000000000000000" pitchFamily="2" charset="2"/>
              </a:rPr>
              <a:t>   </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Tàu</a:t>
            </a:r>
            <a:r>
              <a:rPr lang="es-ES" sz="1600" dirty="0">
                <a:cs typeface="Times New Roman" panose="02020603050405020304" pitchFamily="18" charset="0"/>
                <a:sym typeface="Wingdings" panose="05000000000000000000" pitchFamily="2" charset="2"/>
              </a:rPr>
              <a:t> RTS </a:t>
            </a:r>
            <a:r>
              <a:rPr lang="es-ES" sz="1600" dirty="0" err="1">
                <a:cs typeface="Times New Roman" panose="02020603050405020304" pitchFamily="18" charset="0"/>
                <a:sym typeface="Wingdings" panose="05000000000000000000" pitchFamily="2" charset="2"/>
              </a:rPr>
              <a:t>đê</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bay</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ra</a:t>
            </a:r>
            <a:r>
              <a:rPr lang="es-ES" sz="1600" dirty="0">
                <a:cs typeface="Times New Roman" panose="02020603050405020304" pitchFamily="18" charset="0"/>
                <a:sym typeface="Wingdings" panose="05000000000000000000" pitchFamily="2" charset="2"/>
              </a:rPr>
              <a:t> HAN </a:t>
            </a:r>
            <a:r>
              <a:rPr lang="es-ES" sz="1600" dirty="0" err="1">
                <a:cs typeface="Times New Roman" panose="02020603050405020304" pitchFamily="18" charset="0"/>
                <a:sym typeface="Wingdings" panose="05000000000000000000" pitchFamily="2" charset="2"/>
              </a:rPr>
              <a:t>tháo</a:t>
            </a:r>
            <a:r>
              <a:rPr lang="es-ES" sz="1600" dirty="0">
                <a:cs typeface="Times New Roman" panose="02020603050405020304" pitchFamily="18" charset="0"/>
                <a:sym typeface="Wingdings" panose="05000000000000000000" pitchFamily="2" charset="2"/>
              </a:rPr>
              <a:t> ENG, </a:t>
            </a:r>
            <a:r>
              <a:rPr lang="es-ES" sz="1600" dirty="0" err="1">
                <a:cs typeface="Times New Roman" panose="02020603050405020304" pitchFamily="18" charset="0"/>
                <a:sym typeface="Wingdings" panose="05000000000000000000" pitchFamily="2" charset="2"/>
              </a:rPr>
              <a:t>sau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đo</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tiếp</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tục</a:t>
            </a:r>
            <a:r>
              <a:rPr lang="es-ES" sz="1600" dirty="0">
                <a:cs typeface="Times New Roman" panose="02020603050405020304" pitchFamily="18" charset="0"/>
                <a:sym typeface="Wingdings" panose="05000000000000000000" pitchFamily="2" charset="2"/>
              </a:rPr>
              <a:t> BQDB</a:t>
            </a:r>
            <a:endParaRPr lang="es-ES" sz="1600" b="1" dirty="0">
              <a:solidFill>
                <a:srgbClr val="FF0000"/>
              </a:solidFill>
              <a:cs typeface="Times New Roman" panose="02020603050405020304" pitchFamily="18" charset="0"/>
              <a:sym typeface="Wingdings" panose="05000000000000000000" pitchFamily="2" charset="2"/>
            </a:endParaRPr>
          </a:p>
          <a:p>
            <a:pPr marL="12700" indent="0" algn="just">
              <a:buSzPts val="1100"/>
              <a:buNone/>
            </a:pPr>
            <a:r>
              <a:rPr lang="en-US" sz="1600" dirty="0">
                <a:cs typeface="Times New Roman" panose="02020603050405020304" pitchFamily="18" charset="0"/>
                <a:sym typeface="Wingdings" panose="05000000000000000000" pitchFamily="2" charset="2"/>
              </a:rPr>
              <a:t>   - ADD </a:t>
            </a:r>
            <a:r>
              <a:rPr lang="en-US" sz="1600" dirty="0" err="1">
                <a:cs typeface="Times New Roman" panose="02020603050405020304" pitchFamily="18" charset="0"/>
                <a:sym typeface="Wingdings" panose="05000000000000000000" pitchFamily="2" charset="2"/>
              </a:rPr>
              <a:t>cho</a:t>
            </a:r>
            <a:r>
              <a:rPr lang="en-US" sz="1600" dirty="0">
                <a:cs typeface="Times New Roman" panose="02020603050405020304" pitchFamily="18" charset="0"/>
                <a:sym typeface="Wingdings" panose="05000000000000000000" pitchFamily="2" charset="2"/>
              </a:rPr>
              <a:t> Rain repellent chỉ </a:t>
            </a:r>
            <a:r>
              <a:rPr lang="en-US" sz="1600" dirty="0" err="1">
                <a:cs typeface="Times New Roman" panose="02020603050405020304" pitchFamily="18" charset="0"/>
                <a:sym typeface="Wingdings" panose="05000000000000000000" pitchFamily="2" charset="2"/>
              </a:rPr>
              <a:t>còn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hạn</a:t>
            </a:r>
            <a:r>
              <a:rPr lang="en-US" sz="1600" dirty="0">
                <a:cs typeface="Times New Roman" panose="02020603050405020304" pitchFamily="18" charset="0"/>
                <a:sym typeface="Wingdings" panose="05000000000000000000" pitchFamily="2" charset="2"/>
              </a:rPr>
              <a:t> 1 CYC.</a:t>
            </a:r>
          </a:p>
          <a:p>
            <a:pPr marL="12700" indent="0" algn="just">
              <a:buSzPts val="1100"/>
              <a:buNone/>
            </a:pPr>
            <a:r>
              <a:rPr lang="en-US" sz="1600" dirty="0">
                <a:cs typeface="Times New Roman" panose="02020603050405020304" pitchFamily="18" charset="0"/>
                <a:sym typeface="Wingdings" panose="05000000000000000000" pitchFamily="2" charset="2"/>
              </a:rPr>
              <a:t> </a:t>
            </a:r>
          </a:p>
          <a:p>
            <a:pPr marL="12700" indent="0" algn="just">
              <a:buSzPts val="1100"/>
              <a:buNone/>
            </a:pPr>
            <a:r>
              <a:rPr lang="es-ES" sz="1600" b="1" dirty="0">
                <a:solidFill>
                  <a:srgbClr val="FF0000"/>
                </a:solidFill>
                <a:cs typeface="Times New Roman" panose="02020603050405020304" pitchFamily="18" charset="0"/>
                <a:sym typeface="Wingdings" panose="05000000000000000000" pitchFamily="2" charset="2"/>
              </a:rPr>
              <a:t>2</a:t>
            </a:r>
            <a:r>
              <a:rPr lang="es-ES" sz="1600" dirty="0">
                <a:cs typeface="Times New Roman" panose="02020603050405020304" pitchFamily="18" charset="0"/>
                <a:sym typeface="Wingdings" panose="05000000000000000000" pitchFamily="2" charset="2"/>
              </a:rPr>
              <a:t>. </a:t>
            </a:r>
            <a:r>
              <a:rPr lang="es-ES" sz="1600" b="1" dirty="0">
                <a:solidFill>
                  <a:srgbClr val="FF0000"/>
                </a:solidFill>
                <a:cs typeface="Times New Roman" panose="02020603050405020304" pitchFamily="18" charset="0"/>
                <a:sym typeface="Wingdings" panose="05000000000000000000" pitchFamily="2" charset="2"/>
              </a:rPr>
              <a:t>A358_HAN_Y01 + EA09 (16-22/02): </a:t>
            </a:r>
            <a:r>
              <a:rPr lang="es-ES" sz="1600" b="1" dirty="0" err="1">
                <a:cs typeface="Times New Roman" panose="02020603050405020304" pitchFamily="18" charset="0"/>
                <a:sym typeface="Wingdings" panose="05000000000000000000" pitchFamily="2" charset="2"/>
              </a:rPr>
              <a:t>On</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sked</a:t>
            </a:r>
            <a:endParaRPr lang="es-ES" sz="1600" b="1" dirty="0">
              <a:cs typeface="Times New Roman" panose="02020603050405020304" pitchFamily="18" charset="0"/>
              <a:sym typeface="Wingdings" panose="05000000000000000000" pitchFamily="2" charset="2"/>
            </a:endParaRPr>
          </a:p>
          <a:p>
            <a:pPr marL="12700" indent="0" algn="just">
              <a:buSzPts val="1100"/>
              <a:buNone/>
            </a:pPr>
            <a:endParaRPr lang="es-ES" sz="1600" b="1" dirty="0">
              <a:solidFill>
                <a:srgbClr val="FF0000"/>
              </a:solidFill>
              <a:cs typeface="Times New Roman" panose="02020603050405020304" pitchFamily="18" charset="0"/>
              <a:sym typeface="Wingdings" panose="05000000000000000000" pitchFamily="2" charset="2"/>
            </a:endParaRPr>
          </a:p>
          <a:p>
            <a:pPr marL="12700" indent="0" algn="just">
              <a:buSzPts val="1100"/>
              <a:buNone/>
            </a:pPr>
            <a:r>
              <a:rPr lang="en-US" sz="1600" b="1" dirty="0">
                <a:solidFill>
                  <a:srgbClr val="FF0000"/>
                </a:solidFill>
                <a:cs typeface="Times New Roman" panose="02020603050405020304" pitchFamily="18" charset="0"/>
                <a:sym typeface="Wingdings" panose="05000000000000000000" pitchFamily="2" charset="2"/>
              </a:rPr>
              <a:t>3.A620: C01+C03+Y01+Y06+EA08,09+ SWAP ENG WITH A619 (14/02 -23/03)</a:t>
            </a:r>
          </a:p>
          <a:p>
            <a:pPr marL="12700" indent="0" algn="just">
              <a:buSzPts val="1100"/>
              <a:buNone/>
            </a:pPr>
            <a:r>
              <a:rPr lang="en-US" sz="1600" b="1" dirty="0">
                <a:solidFill>
                  <a:srgbClr val="FF0000"/>
                </a:solidFill>
                <a:cs typeface="Times New Roman" panose="02020603050405020304" pitchFamily="18" charset="0"/>
                <a:sym typeface="Wingdings" panose="05000000000000000000" pitchFamily="2" charset="2"/>
              </a:rPr>
              <a:t>    - </a:t>
            </a:r>
            <a:r>
              <a:rPr lang="en-US" sz="1600" dirty="0" err="1">
                <a:cs typeface="Times New Roman" panose="02020603050405020304" pitchFamily="18" charset="0"/>
                <a:sym typeface="Wingdings" panose="05000000000000000000" pitchFamily="2" charset="2"/>
              </a:rPr>
              <a:t>Tàu</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hiện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đang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thiếu</a:t>
            </a:r>
            <a:r>
              <a:rPr lang="en-US" sz="1600" dirty="0">
                <a:cs typeface="Times New Roman" panose="02020603050405020304" pitchFamily="18" charset="0"/>
                <a:sym typeface="Wingdings" panose="05000000000000000000" pitchFamily="2" charset="2"/>
              </a:rPr>
              <a:t> ENG, </a:t>
            </a:r>
            <a:r>
              <a:rPr lang="en-US" sz="1600" dirty="0" err="1">
                <a:cs typeface="Times New Roman" panose="02020603050405020304" pitchFamily="18" charset="0"/>
                <a:sym typeface="Wingdings" panose="05000000000000000000" pitchFamily="2" charset="2"/>
              </a:rPr>
              <a:t>dư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kiến</a:t>
            </a:r>
            <a:r>
              <a:rPr lang="en-US" sz="1600" dirty="0">
                <a:cs typeface="Times New Roman" panose="02020603050405020304" pitchFamily="18" charset="0"/>
                <a:sym typeface="Wingdings" panose="05000000000000000000" pitchFamily="2" charset="2"/>
              </a:rPr>
              <a:t> sẽ BQDB </a:t>
            </a:r>
            <a:r>
              <a:rPr lang="en-US" sz="1600" dirty="0" err="1">
                <a:cs typeface="Times New Roman" panose="02020603050405020304" pitchFamily="18" charset="0"/>
                <a:sym typeface="Wingdings" panose="05000000000000000000" pitchFamily="2" charset="2"/>
              </a:rPr>
              <a:t>sau</a:t>
            </a:r>
            <a:r>
              <a:rPr lang="en-US" sz="1600" dirty="0">
                <a:cs typeface="Times New Roman" panose="02020603050405020304" pitchFamily="18" charset="0"/>
                <a:sym typeface="Wingdings" panose="05000000000000000000" pitchFamily="2" charset="2"/>
              </a:rPr>
              <a:t> Check,</a:t>
            </a:r>
            <a:endParaRPr lang="es-E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3684113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40</a:t>
            </a:fld>
            <a:endParaRPr dirty="0"/>
          </a:p>
        </p:txBody>
      </p:sp>
      <p:sp>
        <p:nvSpPr>
          <p:cNvPr id="76" name="Google Shape;76;p2"/>
          <p:cNvSpPr txBox="1">
            <a:spLocks noGrp="1"/>
          </p:cNvSpPr>
          <p:nvPr>
            <p:ph type="title"/>
          </p:nvPr>
        </p:nvSpPr>
        <p:spPr>
          <a:xfrm>
            <a:off x="838200" y="152400"/>
            <a:ext cx="9777833" cy="609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 xmlns:a16="http://schemas.microsoft.com/office/drawing/2014/main" id="{312CF2C2-6EB0-B14C-95A4-C4BAAE6ACB25}"/>
              </a:ext>
            </a:extLst>
          </p:cNvPr>
          <p:cNvSpPr txBox="1">
            <a:spLocks/>
          </p:cNvSpPr>
          <p:nvPr/>
        </p:nvSpPr>
        <p:spPr>
          <a:xfrm>
            <a:off x="838200" y="762000"/>
            <a:ext cx="10591800" cy="57912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nSpc>
                <a:spcPct val="120000"/>
              </a:lnSpc>
              <a:buSzPts val="1100"/>
              <a:buFont typeface="Arial" panose="020B0604020202020204" pitchFamily="34" charset="0"/>
              <a:buNone/>
            </a:pPr>
            <a:r>
              <a:rPr lang="en-US" sz="1600" b="1" dirty="0">
                <a:cs typeface="Times New Roman" panose="02020603050405020304" pitchFamily="18" charset="0"/>
              </a:rPr>
              <a:t>II. A350:</a:t>
            </a:r>
            <a:r>
              <a:rPr lang="es-ES" sz="1600" i="1" dirty="0">
                <a:cs typeface="Times New Roman" panose="02020603050405020304" pitchFamily="18" charset="0"/>
                <a:sym typeface="Wingdings" panose="05000000000000000000" pitchFamily="2" charset="2"/>
              </a:rPr>
              <a:t> </a:t>
            </a:r>
          </a:p>
          <a:p>
            <a:pPr marL="12700" indent="0" algn="just">
              <a:buSzPts val="1100"/>
              <a:buNone/>
            </a:pPr>
            <a:r>
              <a:rPr lang="es-ES" sz="1600" b="1" dirty="0">
                <a:solidFill>
                  <a:srgbClr val="FF0000"/>
                </a:solidFill>
                <a:cs typeface="Times New Roman" panose="02020603050405020304" pitchFamily="18" charset="0"/>
                <a:sym typeface="Wingdings" panose="05000000000000000000" pitchFamily="2" charset="2"/>
              </a:rPr>
              <a:t>1</a:t>
            </a:r>
            <a:r>
              <a:rPr lang="es-ES" sz="1600" dirty="0">
                <a:cs typeface="Times New Roman" panose="02020603050405020304" pitchFamily="18" charset="0"/>
                <a:sym typeface="Wingdings" panose="05000000000000000000" pitchFamily="2" charset="2"/>
              </a:rPr>
              <a:t>. </a:t>
            </a:r>
            <a:r>
              <a:rPr lang="en-US" sz="1600" b="1" dirty="0">
                <a:solidFill>
                  <a:srgbClr val="FF0000"/>
                </a:solidFill>
                <a:cs typeface="Times New Roman" panose="02020603050405020304" pitchFamily="18" charset="0"/>
                <a:sym typeface="Wingdings" panose="05000000000000000000" pitchFamily="2" charset="2"/>
              </a:rPr>
              <a:t>A897_HAN_A04 (15-17/02): Est release 18/02:</a:t>
            </a:r>
          </a:p>
          <a:p>
            <a:pPr marL="12700" indent="0" algn="just">
              <a:buSzPts val="1100"/>
              <a:buNone/>
            </a:pPr>
            <a:r>
              <a:rPr lang="en-US" sz="1600" b="1" dirty="0">
                <a:solidFill>
                  <a:srgbClr val="FF0000"/>
                </a:solidFill>
                <a:cs typeface="Times New Roman" panose="02020603050405020304" pitchFamily="18" charset="0"/>
                <a:sym typeface="Wingdings" panose="05000000000000000000" pitchFamily="2" charset="2"/>
              </a:rPr>
              <a:t>    </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Trưa</a:t>
            </a:r>
            <a:r>
              <a:rPr lang="en-US" sz="1600" dirty="0">
                <a:cs typeface="Times New Roman" panose="02020603050405020304" pitchFamily="18" charset="0"/>
                <a:sym typeface="Wingdings" panose="05000000000000000000" pitchFamily="2" charset="2"/>
              </a:rPr>
              <a:t> 16/2, Khi </a:t>
            </a:r>
            <a:r>
              <a:rPr lang="en-US" sz="1600" dirty="0" err="1">
                <a:cs typeface="Times New Roman" panose="02020603050405020304" pitchFamily="18" charset="0"/>
                <a:sym typeface="Wingdings" panose="05000000000000000000" pitchFamily="2" charset="2"/>
              </a:rPr>
              <a:t>thực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hiện</a:t>
            </a:r>
            <a:r>
              <a:rPr lang="en-US" sz="1600" dirty="0">
                <a:cs typeface="Times New Roman" panose="02020603050405020304" pitchFamily="18" charset="0"/>
                <a:sym typeface="Wingdings" panose="05000000000000000000" pitchFamily="2" charset="2"/>
              </a:rPr>
              <a:t> EO check leak Pack #1 </a:t>
            </a:r>
            <a:r>
              <a:rPr lang="en-US" sz="1600" dirty="0" err="1">
                <a:cs typeface="Times New Roman" panose="02020603050405020304" pitchFamily="18" charset="0"/>
                <a:sym typeface="Wingdings" panose="05000000000000000000" pitchFamily="2" charset="2"/>
              </a:rPr>
              <a:t>phát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hiện</a:t>
            </a:r>
            <a:r>
              <a:rPr lang="en-US" sz="1600" dirty="0">
                <a:cs typeface="Times New Roman" panose="02020603050405020304" pitchFamily="18" charset="0"/>
                <a:sym typeface="Wingdings" panose="05000000000000000000" pitchFamily="2" charset="2"/>
              </a:rPr>
              <a:t> crack </a:t>
            </a:r>
            <a:r>
              <a:rPr lang="en-US" sz="1600" dirty="0" err="1">
                <a:cs typeface="Times New Roman" panose="02020603050405020304" pitchFamily="18" charset="0"/>
                <a:sym typeface="Wingdings" panose="05000000000000000000" pitchFamily="2" charset="2"/>
              </a:rPr>
              <a:t>va</a:t>
            </a:r>
            <a:r>
              <a:rPr lang="en-US" sz="1600" dirty="0">
                <a:cs typeface="Times New Roman" panose="02020603050405020304" pitchFamily="18" charset="0"/>
                <a:sym typeface="Wingdings" panose="05000000000000000000" pitchFamily="2" charset="2"/>
              </a:rPr>
              <a:t>̀ leak HX </a:t>
            </a:r>
            <a:r>
              <a:rPr lang="en-US" sz="1600" dirty="0" err="1">
                <a:cs typeface="Times New Roman" panose="02020603050405020304" pitchFamily="18" charset="0"/>
                <a:sym typeface="Wingdings" panose="05000000000000000000" pitchFamily="2" charset="2"/>
              </a:rPr>
              <a:t>cần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thay</a:t>
            </a:r>
            <a:r>
              <a:rPr lang="en-US" sz="1600" dirty="0">
                <a:cs typeface="Times New Roman" panose="02020603050405020304" pitchFamily="18" charset="0"/>
                <a:sym typeface="Wingdings" panose="05000000000000000000" pitchFamily="2" charset="2"/>
              </a:rPr>
              <a:t> HX: 67200152-00/ 01</a:t>
            </a:r>
            <a:endParaRPr lang="es-ES" sz="1600" dirty="0">
              <a:cs typeface="Times New Roman" panose="02020603050405020304" pitchFamily="18" charset="0"/>
              <a:sym typeface="Wingdings" panose="05000000000000000000" pitchFamily="2" charset="2"/>
            </a:endParaRPr>
          </a:p>
          <a:p>
            <a:pPr marL="12700" indent="0" algn="just">
              <a:buSzPts val="1100"/>
              <a:buNone/>
            </a:pPr>
            <a:r>
              <a:rPr lang="es-ES" sz="1600" dirty="0">
                <a:cs typeface="Times New Roman" panose="02020603050405020304" pitchFamily="18" charset="0"/>
                <a:sym typeface="Wingdings" panose="05000000000000000000" pitchFamily="2" charset="2"/>
              </a:rPr>
              <a:t>    - </a:t>
            </a:r>
            <a:r>
              <a:rPr lang="es-ES" sz="1600" dirty="0" err="1">
                <a:cs typeface="Times New Roman" panose="02020603050405020304" pitchFamily="18" charset="0"/>
                <a:sym typeface="Wingdings" panose="05000000000000000000" pitchFamily="2" charset="2"/>
              </a:rPr>
              <a:t>Dư</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kiến</a:t>
            </a:r>
            <a:r>
              <a:rPr lang="es-ES" sz="1600" dirty="0">
                <a:cs typeface="Times New Roman" panose="02020603050405020304" pitchFamily="18" charset="0"/>
                <a:sym typeface="Wingdings" panose="05000000000000000000" pitchFamily="2" charset="2"/>
              </a:rPr>
              <a:t> sẽ </a:t>
            </a:r>
            <a:r>
              <a:rPr lang="es-ES" sz="1600" dirty="0" err="1">
                <a:cs typeface="Times New Roman" panose="02020603050405020304" pitchFamily="18" charset="0"/>
                <a:sym typeface="Wingdings" panose="05000000000000000000" pitchFamily="2" charset="2"/>
              </a:rPr>
              <a:t>cần</a:t>
            </a:r>
            <a:r>
              <a:rPr lang="es-ES" sz="1600" dirty="0">
                <a:cs typeface="Times New Roman" panose="02020603050405020304" pitchFamily="18" charset="0"/>
                <a:sym typeface="Wingdings" panose="05000000000000000000" pitchFamily="2" charset="2"/>
              </a:rPr>
              <a:t> Rob HX  </a:t>
            </a:r>
            <a:r>
              <a:rPr lang="es-ES" sz="1600" dirty="0" err="1">
                <a:cs typeface="Times New Roman" panose="02020603050405020304" pitchFamily="18" charset="0"/>
                <a:sym typeface="Wingdings" panose="05000000000000000000" pitchFamily="2" charset="2"/>
              </a:rPr>
              <a:t>tư</a:t>
            </a:r>
            <a:r>
              <a:rPr lang="es-ES" sz="1600" dirty="0">
                <a:cs typeface="Times New Roman" panose="02020603050405020304" pitchFamily="18" charset="0"/>
                <a:sym typeface="Wingdings" panose="05000000000000000000" pitchFamily="2" charset="2"/>
              </a:rPr>
              <a:t>̀ A898</a:t>
            </a:r>
            <a:endParaRPr lang="es-ES" sz="1600" b="1" dirty="0">
              <a:solidFill>
                <a:srgbClr val="FF0000"/>
              </a:solidFill>
              <a:cs typeface="Times New Roman" panose="02020603050405020304" pitchFamily="18" charset="0"/>
              <a:sym typeface="Wingdings" panose="05000000000000000000" pitchFamily="2" charset="2"/>
            </a:endParaRPr>
          </a:p>
          <a:p>
            <a:pPr marL="12700" indent="0" algn="just">
              <a:buSzPts val="1100"/>
              <a:buNone/>
            </a:pPr>
            <a:r>
              <a:rPr lang="es-ES" sz="1600" dirty="0">
                <a:cs typeface="Times New Roman" panose="02020603050405020304" pitchFamily="18" charset="0"/>
                <a:sym typeface="Wingdings" panose="05000000000000000000" pitchFamily="2" charset="2"/>
              </a:rPr>
              <a:t>   -  </a:t>
            </a:r>
            <a:r>
              <a:rPr lang="es-ES" sz="1600" dirty="0" err="1">
                <a:cs typeface="Times New Roman" panose="02020603050405020304" pitchFamily="18" charset="0"/>
                <a:sym typeface="Wingdings" panose="05000000000000000000" pitchFamily="2" charset="2"/>
              </a:rPr>
              <a:t>Check</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dư</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kéo</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dài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thêm</a:t>
            </a:r>
            <a:r>
              <a:rPr lang="es-ES" sz="1600" dirty="0">
                <a:cs typeface="Times New Roman" panose="02020603050405020304" pitchFamily="18" charset="0"/>
                <a:sym typeface="Wingdings" panose="05000000000000000000" pitchFamily="2" charset="2"/>
              </a:rPr>
              <a:t> 1 </a:t>
            </a:r>
            <a:r>
              <a:rPr lang="es-ES" sz="1600" dirty="0" err="1">
                <a:cs typeface="Times New Roman" panose="02020603050405020304" pitchFamily="18" charset="0"/>
                <a:sym typeface="Wingdings" panose="05000000000000000000" pitchFamily="2" charset="2"/>
              </a:rPr>
              <a:t>ngày</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đê</a:t>
            </a:r>
            <a:r>
              <a:rPr lang="es-ES" sz="1600" dirty="0">
                <a:cs typeface="Times New Roman" panose="02020603050405020304" pitchFamily="18" charset="0"/>
                <a:sym typeface="Wingdings" panose="05000000000000000000" pitchFamily="2" charset="2"/>
              </a:rPr>
              <a:t>̉ Rob và </a:t>
            </a:r>
            <a:r>
              <a:rPr lang="es-ES" sz="1600" dirty="0" err="1">
                <a:cs typeface="Times New Roman" panose="02020603050405020304" pitchFamily="18" charset="0"/>
                <a:sym typeface="Wingdings" panose="05000000000000000000" pitchFamily="2" charset="2"/>
              </a:rPr>
              <a:t>thay</a:t>
            </a:r>
            <a:r>
              <a:rPr lang="es-ES" sz="1600" dirty="0">
                <a:cs typeface="Times New Roman" panose="02020603050405020304" pitchFamily="18" charset="0"/>
                <a:sym typeface="Wingdings" panose="05000000000000000000" pitchFamily="2" charset="2"/>
              </a:rPr>
              <a:t> HX cho A897</a:t>
            </a:r>
          </a:p>
          <a:p>
            <a:pPr marL="12700" indent="0" algn="just">
              <a:buSzPts val="1100"/>
              <a:buNone/>
            </a:pPr>
            <a:endParaRPr lang="es-ES" sz="1600" dirty="0">
              <a:cs typeface="Times New Roman" panose="02020603050405020304" pitchFamily="18" charset="0"/>
              <a:sym typeface="Wingdings" panose="05000000000000000000" pitchFamily="2" charset="2"/>
            </a:endParaRPr>
          </a:p>
          <a:p>
            <a:pPr marL="12700" indent="0">
              <a:lnSpc>
                <a:spcPct val="120000"/>
              </a:lnSpc>
              <a:spcBef>
                <a:spcPts val="600"/>
              </a:spcBef>
              <a:buSzPts val="1100"/>
              <a:buFont typeface="Arial" panose="020B0604020202020204" pitchFamily="34" charset="0"/>
              <a:buNone/>
            </a:pPr>
            <a:r>
              <a:rPr lang="en-US" sz="1600" b="1" dirty="0">
                <a:cs typeface="Times New Roman" panose="02020603050405020304" pitchFamily="18" charset="0"/>
              </a:rPr>
              <a:t>III. B787: </a:t>
            </a:r>
          </a:p>
          <a:p>
            <a:pPr marL="12700" indent="0">
              <a:lnSpc>
                <a:spcPct val="120000"/>
              </a:lnSpc>
              <a:spcBef>
                <a:spcPts val="600"/>
              </a:spcBef>
              <a:buSzPts val="1100"/>
              <a:buNone/>
            </a:pPr>
            <a:r>
              <a:rPr lang="es-ES" sz="1600" b="1" dirty="0">
                <a:solidFill>
                  <a:srgbClr val="FF0000"/>
                </a:solidFill>
                <a:cs typeface="Times New Roman" panose="02020603050405020304" pitchFamily="18" charset="0"/>
                <a:sym typeface="Wingdings" panose="05000000000000000000" pitchFamily="2" charset="2"/>
              </a:rPr>
              <a:t>1. A879_SGN_ C01 (16/02-22/02): </a:t>
            </a:r>
            <a:r>
              <a:rPr lang="en-US" sz="1600" b="1" dirty="0" smtClean="0">
                <a:solidFill>
                  <a:srgbClr val="FF0000"/>
                </a:solidFill>
                <a:cs typeface="Times New Roman" panose="02020603050405020304" pitchFamily="18" charset="0"/>
                <a:sym typeface="Wingdings" panose="05000000000000000000" pitchFamily="2" charset="2"/>
              </a:rPr>
              <a:t>T</a:t>
            </a:r>
            <a:r>
              <a:rPr lang="vi-VN" sz="1600" b="1" dirty="0" smtClean="0">
                <a:solidFill>
                  <a:srgbClr val="FF0000"/>
                </a:solidFill>
                <a:cs typeface="Times New Roman" panose="02020603050405020304" pitchFamily="18" charset="0"/>
                <a:sym typeface="Wingdings" panose="05000000000000000000" pitchFamily="2" charset="2"/>
              </a:rPr>
              <a:t>ask </a:t>
            </a:r>
            <a:r>
              <a:rPr lang="vi-VN" sz="1600" b="1" dirty="0">
                <a:solidFill>
                  <a:srgbClr val="FF0000"/>
                </a:solidFill>
                <a:cs typeface="Times New Roman" panose="02020603050405020304" pitchFamily="18" charset="0"/>
                <a:sym typeface="Wingdings" panose="05000000000000000000" pitchFamily="2" charset="2"/>
              </a:rPr>
              <a:t>PI phát sinh: LH Refuel Access Panel 01 Latch Broken, Cần vật tư: Nut P/N: BACN10YT08CD, 2ea trước 20/2 để tránh hưởng tiến độ </a:t>
            </a:r>
            <a:endParaRPr lang="es-ES" sz="1600" b="1" dirty="0">
              <a:cs typeface="Times New Roman" panose="02020603050405020304" pitchFamily="18" charset="0"/>
              <a:sym typeface="Wingdings" panose="05000000000000000000" pitchFamily="2" charset="2"/>
            </a:endParaRPr>
          </a:p>
          <a:p>
            <a:pPr marL="12700" indent="0">
              <a:lnSpc>
                <a:spcPct val="120000"/>
              </a:lnSpc>
              <a:spcBef>
                <a:spcPts val="600"/>
              </a:spcBef>
              <a:buSzPts val="1100"/>
              <a:buNone/>
            </a:pPr>
            <a:endParaRPr lang="es-ES" sz="1600" b="1" dirty="0">
              <a:cs typeface="Times New Roman" panose="02020603050405020304" pitchFamily="18" charset="0"/>
              <a:sym typeface="Wingdings" panose="05000000000000000000" pitchFamily="2" charset="2"/>
            </a:endParaRPr>
          </a:p>
          <a:p>
            <a:pPr marL="12700" indent="0" algn="just">
              <a:buSzPts val="1100"/>
              <a:buFont typeface="Arial" panose="020B0604020202020204" pitchFamily="34" charset="0"/>
              <a:buNone/>
            </a:pPr>
            <a:r>
              <a:rPr lang="es-ES" sz="1600" b="1" dirty="0">
                <a:cs typeface="Times New Roman" panose="02020603050405020304" pitchFamily="18" charset="0"/>
                <a:sym typeface="Wingdings" panose="05000000000000000000" pitchFamily="2" charset="2"/>
              </a:rPr>
              <a:t>IV. ATR72</a:t>
            </a:r>
          </a:p>
          <a:p>
            <a:pPr marL="12700" indent="0" algn="just">
              <a:buSzPts val="1100"/>
              <a:buFont typeface="Arial" panose="020B0604020202020204" pitchFamily="34" charset="0"/>
              <a:buNone/>
            </a:pPr>
            <a:r>
              <a:rPr lang="es-ES" sz="1600" b="1" dirty="0">
                <a:solidFill>
                  <a:srgbClr val="FF0000"/>
                </a:solidFill>
                <a:cs typeface="Times New Roman" panose="02020603050405020304" pitchFamily="18" charset="0"/>
                <a:sym typeface="Wingdings" panose="05000000000000000000" pitchFamily="2" charset="2"/>
              </a:rPr>
              <a:t>Nil</a:t>
            </a:r>
          </a:p>
          <a:p>
            <a:pPr marL="12700" indent="0" algn="just">
              <a:buSzPts val="1100"/>
              <a:buNone/>
            </a:pPr>
            <a:endParaRPr lang="es-ES" sz="1400" dirty="0">
              <a:cs typeface="Times New Roman" panose="02020603050405020304" pitchFamily="18" charset="0"/>
              <a:sym typeface="Wingdings" panose="05000000000000000000" pitchFamily="2" charset="2"/>
            </a:endParaRPr>
          </a:p>
          <a:p>
            <a:pPr marL="12700" indent="0" algn="just">
              <a:buSzPts val="1100"/>
              <a:buNone/>
            </a:pPr>
            <a:endParaRPr lang="es-ES" sz="1400" b="1" dirty="0">
              <a:solidFill>
                <a:srgbClr val="FF0000"/>
              </a:solidFill>
              <a:cs typeface="Times New Roman" panose="02020603050405020304" pitchFamily="18" charset="0"/>
              <a:sym typeface="Wingdings" panose="05000000000000000000" pitchFamily="2" charset="2"/>
            </a:endParaRPr>
          </a:p>
          <a:p>
            <a:pPr marL="12700" indent="0" algn="just">
              <a:buSzPts val="1100"/>
              <a:buNone/>
            </a:pPr>
            <a:endParaRPr lang="en-US" sz="1400" dirty="0">
              <a:cs typeface="Times New Roman" panose="02020603050405020304" pitchFamily="18" charset="0"/>
              <a:sym typeface="Wingdings" panose="05000000000000000000" pitchFamily="2" charset="2"/>
            </a:endParaRPr>
          </a:p>
          <a:p>
            <a:pPr marL="12700" indent="0">
              <a:buSzPts val="1100"/>
              <a:buFont typeface="Arial" panose="020B0604020202020204" pitchFamily="34" charset="0"/>
              <a:buNone/>
            </a:pPr>
            <a:endParaRPr lang="es-ES" sz="2100" b="1" dirty="0">
              <a:solidFill>
                <a:srgbClr val="FF0000"/>
              </a:solidFill>
              <a:cs typeface="Times New Roman" panose="02020603050405020304" pitchFamily="18" charset="0"/>
              <a:sym typeface="Wingdings" panose="05000000000000000000" pitchFamily="2" charset="2"/>
            </a:endParaRPr>
          </a:p>
          <a:p>
            <a:pPr marL="50800" indent="0">
              <a:buFont typeface="Arial" panose="020B0604020202020204" pitchFamily="34" charset="0"/>
              <a:buNone/>
            </a:pPr>
            <a:endParaRPr lang="x-none" dirty="0"/>
          </a:p>
        </p:txBody>
      </p:sp>
    </p:spTree>
    <p:extLst>
      <p:ext uri="{BB962C8B-B14F-4D97-AF65-F5344CB8AC3E}">
        <p14:creationId xmlns:p14="http://schemas.microsoft.com/office/powerpoint/2010/main" val="42735402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41</a:t>
            </a:fld>
            <a:endParaRPr dirty="0"/>
          </a:p>
        </p:txBody>
      </p:sp>
      <p:sp>
        <p:nvSpPr>
          <p:cNvPr id="76" name="Google Shape;76;p2"/>
          <p:cNvSpPr txBox="1">
            <a:spLocks noGrp="1"/>
          </p:cNvSpPr>
          <p:nvPr>
            <p:ph type="title"/>
          </p:nvPr>
        </p:nvSpPr>
        <p:spPr>
          <a:xfrm>
            <a:off x="918210" y="40462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 xmlns:a16="http://schemas.microsoft.com/office/drawing/2014/main" id="{B9199712-3F74-CE43-A89F-22D9CF338BBE}"/>
              </a:ext>
            </a:extLst>
          </p:cNvPr>
          <p:cNvSpPr txBox="1">
            <a:spLocks/>
          </p:cNvSpPr>
          <p:nvPr/>
        </p:nvSpPr>
        <p:spPr>
          <a:xfrm>
            <a:off x="918210" y="990600"/>
            <a:ext cx="10744201" cy="56230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endParaRPr lang="es-ES" sz="1600" b="1" dirty="0">
              <a:solidFill>
                <a:srgbClr val="FF0000"/>
              </a:solidFill>
              <a:cs typeface="Times New Roman" panose="02020603050405020304" pitchFamily="18" charset="0"/>
              <a:sym typeface="Wingdings" panose="05000000000000000000" pitchFamily="2" charset="2"/>
            </a:endParaRPr>
          </a:p>
          <a:p>
            <a:pPr marL="12700" indent="0" algn="just">
              <a:buSzPts val="1100"/>
              <a:buFont typeface="Arial" panose="020B0604020202020204" pitchFamily="34" charset="0"/>
              <a:buNone/>
            </a:pPr>
            <a:r>
              <a:rPr lang="es-ES" sz="1600" b="1" dirty="0">
                <a:cs typeface="Times New Roman" panose="02020603050405020304" pitchFamily="18" charset="0"/>
                <a:sym typeface="Wingdings" panose="05000000000000000000" pitchFamily="2" charset="2"/>
              </a:rPr>
              <a:t>V. BQDB:</a:t>
            </a:r>
          </a:p>
          <a:p>
            <a:pPr marL="355600" indent="-342900" algn="just">
              <a:buSzPts val="1100"/>
              <a:buFont typeface="Arial" panose="020B0604020202020204" pitchFamily="34" charset="0"/>
              <a:buAutoNum type="arabicPeriod"/>
            </a:pPr>
            <a:r>
              <a:rPr lang="es-ES" sz="1600" b="1" dirty="0" err="1">
                <a:cs typeface="Times New Roman" panose="02020603050405020304" pitchFamily="18" charset="0"/>
                <a:sym typeface="Wingdings" panose="05000000000000000000" pitchFamily="2" charset="2"/>
              </a:rPr>
              <a:t>Tăng</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cường</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ra</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soát</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cập</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nhật</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công</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tác</a:t>
            </a:r>
            <a:r>
              <a:rPr lang="es-ES" sz="1600" b="1" dirty="0">
                <a:cs typeface="Times New Roman" panose="02020603050405020304" pitchFamily="18" charset="0"/>
                <a:sym typeface="Wingdings" panose="05000000000000000000" pitchFamily="2" charset="2"/>
              </a:rPr>
              <a:t> BQDB: </a:t>
            </a:r>
          </a:p>
          <a:p>
            <a:pPr marL="12700" indent="0" algn="just">
              <a:buSzPts val="1100"/>
              <a:buNone/>
            </a:pP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nay</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miền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Bắc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đang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bước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vào</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giai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đoạn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nồm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ẩm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với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đô</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ẩm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không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khi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rất</a:t>
            </a:r>
            <a:r>
              <a:rPr lang="es-ES" sz="1600" dirty="0">
                <a:cs typeface="Times New Roman" panose="02020603050405020304" pitchFamily="18" charset="0"/>
                <a:sym typeface="Wingdings" panose="05000000000000000000" pitchFamily="2" charset="2"/>
              </a:rPr>
              <a:t> cao, </a:t>
            </a:r>
            <a:r>
              <a:rPr lang="es-ES" sz="1600" dirty="0" err="1">
                <a:cs typeface="Times New Roman" panose="02020603050405020304" pitchFamily="18" charset="0"/>
                <a:sym typeface="Wingdings" panose="05000000000000000000" pitchFamily="2" charset="2"/>
              </a:rPr>
              <a:t>co</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thê</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ảnh</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hưởng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tới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các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thiết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tư</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cấu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trúc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tàu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bay</a:t>
            </a:r>
            <a:r>
              <a:rPr lang="es-ES" sz="1600" dirty="0">
                <a:cs typeface="Times New Roman" panose="02020603050405020304" pitchFamily="18" charset="0"/>
                <a:sym typeface="Wingdings" panose="05000000000000000000" pitchFamily="2" charset="2"/>
              </a:rPr>
              <a:t> = &gt; Đ/n VAECO: </a:t>
            </a:r>
          </a:p>
          <a:p>
            <a:pPr marL="12700" indent="0" algn="just">
              <a:buSzPts val="1100"/>
              <a:buNone/>
            </a:pPr>
            <a:r>
              <a:rPr lang="es-ES" sz="1600" dirty="0">
                <a:cs typeface="Times New Roman" panose="02020603050405020304" pitchFamily="18" charset="0"/>
                <a:sym typeface="Wingdings" panose="05000000000000000000" pitchFamily="2" charset="2"/>
              </a:rPr>
              <a:t> - </a:t>
            </a:r>
            <a:r>
              <a:rPr lang="es-ES" sz="1600" dirty="0" err="1">
                <a:cs typeface="Times New Roman" panose="02020603050405020304" pitchFamily="18" charset="0"/>
                <a:sym typeface="Wingdings" panose="05000000000000000000" pitchFamily="2" charset="2"/>
              </a:rPr>
              <a:t>Thường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xuyên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ra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soát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kiểm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tình</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trạng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trạng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các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tàu</a:t>
            </a:r>
            <a:r>
              <a:rPr lang="es-ES" sz="1600" dirty="0">
                <a:cs typeface="Times New Roman" panose="02020603050405020304" pitchFamily="18" charset="0"/>
                <a:sym typeface="Wingdings" panose="05000000000000000000" pitchFamily="2" charset="2"/>
              </a:rPr>
              <a:t> BQDB, </a:t>
            </a:r>
            <a:r>
              <a:rPr lang="es-ES" sz="1600" dirty="0" err="1">
                <a:cs typeface="Times New Roman" panose="02020603050405020304" pitchFamily="18" charset="0"/>
                <a:sym typeface="Wingdings" panose="05000000000000000000" pitchFamily="2" charset="2"/>
              </a:rPr>
              <a:t>hạn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chê</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đọng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nước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bụi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bẩn</a:t>
            </a:r>
            <a:r>
              <a:rPr lang="es-ES" sz="1600" dirty="0">
                <a:cs typeface="Times New Roman" panose="02020603050405020304" pitchFamily="18" charset="0"/>
                <a:sym typeface="Wingdings" panose="05000000000000000000" pitchFamily="2" charset="2"/>
              </a:rPr>
              <a:t> ở </a:t>
            </a:r>
            <a:r>
              <a:rPr lang="es-ES" sz="1600" dirty="0" err="1">
                <a:cs typeface="Times New Roman" panose="02020603050405020304" pitchFamily="18" charset="0"/>
                <a:sym typeface="Wingdings" panose="05000000000000000000" pitchFamily="2" charset="2"/>
              </a:rPr>
              <a:t>các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khu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vực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co</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thê</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gây</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ra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ăn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mòn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hỏng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hóc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thiết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bi</a:t>
            </a:r>
            <a:r>
              <a:rPr lang="es-ES" sz="1600" dirty="0">
                <a:cs typeface="Times New Roman" panose="02020603050405020304" pitchFamily="18" charset="0"/>
                <a:sym typeface="Wingdings" panose="05000000000000000000" pitchFamily="2" charset="2"/>
              </a:rPr>
              <a:t>̣,</a:t>
            </a:r>
          </a:p>
          <a:p>
            <a:pPr marL="12700" indent="0" algn="just">
              <a:buSzPts val="1100"/>
              <a:buNone/>
            </a:pPr>
            <a:r>
              <a:rPr lang="es-ES" sz="1600" dirty="0">
                <a:cs typeface="Times New Roman" panose="02020603050405020304" pitchFamily="18" charset="0"/>
                <a:sym typeface="Wingdings" panose="05000000000000000000" pitchFamily="2" charset="2"/>
              </a:rPr>
              <a:t>  - </a:t>
            </a:r>
            <a:r>
              <a:rPr lang="es-ES" sz="1600" dirty="0" err="1">
                <a:cs typeface="Times New Roman" panose="02020603050405020304" pitchFamily="18" charset="0"/>
                <a:sym typeface="Wingdings" panose="05000000000000000000" pitchFamily="2" charset="2"/>
              </a:rPr>
              <a:t>Xem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xét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giải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pháp</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đặt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thêm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chất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hút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ầm</a:t>
            </a:r>
            <a:r>
              <a:rPr lang="es-ES" sz="1600" dirty="0">
                <a:cs typeface="Times New Roman" panose="02020603050405020304" pitchFamily="18" charset="0"/>
                <a:sym typeface="Wingdings" panose="05000000000000000000" pitchFamily="2" charset="2"/>
              </a:rPr>
              <a:t> ở </a:t>
            </a:r>
            <a:r>
              <a:rPr lang="es-ES" sz="1600" dirty="0" err="1">
                <a:cs typeface="Times New Roman" panose="02020603050405020304" pitchFamily="18" charset="0"/>
                <a:sym typeface="Wingdings" panose="05000000000000000000" pitchFamily="2" charset="2"/>
              </a:rPr>
              <a:t>khu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vực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buồng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tư</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của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các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tàu</a:t>
            </a:r>
            <a:r>
              <a:rPr lang="es-ES" sz="1600" dirty="0">
                <a:cs typeface="Times New Roman" panose="02020603050405020304" pitchFamily="18" charset="0"/>
                <a:sym typeface="Wingdings" panose="05000000000000000000" pitchFamily="2" charset="2"/>
              </a:rPr>
              <a:t> BQDB </a:t>
            </a:r>
            <a:r>
              <a:rPr lang="es-ES" sz="1600" dirty="0" err="1">
                <a:cs typeface="Times New Roman" panose="02020603050405020304" pitchFamily="18" charset="0"/>
                <a:sym typeface="Wingdings" panose="05000000000000000000" pitchFamily="2" charset="2"/>
              </a:rPr>
              <a:t>dài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ngày</a:t>
            </a:r>
            <a:endParaRPr lang="es-ES" sz="1600" dirty="0">
              <a:cs typeface="Times New Roman" panose="02020603050405020304" pitchFamily="18" charset="0"/>
              <a:sym typeface="Wingdings" panose="05000000000000000000" pitchFamily="2" charset="2"/>
            </a:endParaRPr>
          </a:p>
          <a:p>
            <a:pPr marL="50800" indent="0">
              <a:buFont typeface="Arial" panose="020B0604020202020204" pitchFamily="34" charset="0"/>
              <a:buNone/>
            </a:pPr>
            <a:endParaRPr lang="x-none" dirty="0"/>
          </a:p>
        </p:txBody>
      </p:sp>
    </p:spTree>
    <p:extLst>
      <p:ext uri="{BB962C8B-B14F-4D97-AF65-F5344CB8AC3E}">
        <p14:creationId xmlns:p14="http://schemas.microsoft.com/office/powerpoint/2010/main" val="16621965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800" b="1" dirty="0">
                <a:solidFill>
                  <a:srgbClr val="FFC000"/>
                </a:solidFill>
                <a:ea typeface="Tahoma" pitchFamily="34" charset="0"/>
                <a:cs typeface="Times New Roman" panose="02020603050405020304" pitchFamily="18" charset="0"/>
              </a:rPr>
              <a:t>NGUỒN LỰC TÀU BAY – A321</a:t>
            </a:r>
          </a:p>
        </p:txBody>
      </p:sp>
      <p:graphicFrame>
        <p:nvGraphicFramePr>
          <p:cNvPr id="2" name="Table 1"/>
          <p:cNvGraphicFramePr>
            <a:graphicFrameLocks noGrp="1"/>
          </p:cNvGraphicFramePr>
          <p:nvPr>
            <p:extLst/>
          </p:nvPr>
        </p:nvGraphicFramePr>
        <p:xfrm>
          <a:off x="304800" y="1219200"/>
          <a:ext cx="11658601" cy="5029199"/>
        </p:xfrm>
        <a:graphic>
          <a:graphicData uri="http://schemas.openxmlformats.org/drawingml/2006/table">
            <a:tbl>
              <a:tblPr/>
              <a:tblGrid>
                <a:gridCol w="353720">
                  <a:extLst>
                    <a:ext uri="{9D8B030D-6E8A-4147-A177-3AD203B41FA5}">
                      <a16:colId xmlns="" xmlns:a16="http://schemas.microsoft.com/office/drawing/2014/main" val="518275903"/>
                    </a:ext>
                  </a:extLst>
                </a:gridCol>
                <a:gridCol w="2490186">
                  <a:extLst>
                    <a:ext uri="{9D8B030D-6E8A-4147-A177-3AD203B41FA5}">
                      <a16:colId xmlns="" xmlns:a16="http://schemas.microsoft.com/office/drawing/2014/main" val="3003385190"/>
                    </a:ext>
                  </a:extLst>
                </a:gridCol>
                <a:gridCol w="523505">
                  <a:extLst>
                    <a:ext uri="{9D8B030D-6E8A-4147-A177-3AD203B41FA5}">
                      <a16:colId xmlns="" xmlns:a16="http://schemas.microsoft.com/office/drawing/2014/main" val="2264614465"/>
                    </a:ext>
                  </a:extLst>
                </a:gridCol>
                <a:gridCol w="523505">
                  <a:extLst>
                    <a:ext uri="{9D8B030D-6E8A-4147-A177-3AD203B41FA5}">
                      <a16:colId xmlns="" xmlns:a16="http://schemas.microsoft.com/office/drawing/2014/main" val="1265703711"/>
                    </a:ext>
                  </a:extLst>
                </a:gridCol>
                <a:gridCol w="537654">
                  <a:extLst>
                    <a:ext uri="{9D8B030D-6E8A-4147-A177-3AD203B41FA5}">
                      <a16:colId xmlns="" xmlns:a16="http://schemas.microsoft.com/office/drawing/2014/main" val="2631740259"/>
                    </a:ext>
                  </a:extLst>
                </a:gridCol>
                <a:gridCol w="537654">
                  <a:extLst>
                    <a:ext uri="{9D8B030D-6E8A-4147-A177-3AD203B41FA5}">
                      <a16:colId xmlns="" xmlns:a16="http://schemas.microsoft.com/office/drawing/2014/main" val="956168742"/>
                    </a:ext>
                  </a:extLst>
                </a:gridCol>
                <a:gridCol w="537654">
                  <a:extLst>
                    <a:ext uri="{9D8B030D-6E8A-4147-A177-3AD203B41FA5}">
                      <a16:colId xmlns="" xmlns:a16="http://schemas.microsoft.com/office/drawing/2014/main" val="350075798"/>
                    </a:ext>
                  </a:extLst>
                </a:gridCol>
                <a:gridCol w="537654">
                  <a:extLst>
                    <a:ext uri="{9D8B030D-6E8A-4147-A177-3AD203B41FA5}">
                      <a16:colId xmlns="" xmlns:a16="http://schemas.microsoft.com/office/drawing/2014/main" val="3947237098"/>
                    </a:ext>
                  </a:extLst>
                </a:gridCol>
                <a:gridCol w="537654">
                  <a:extLst>
                    <a:ext uri="{9D8B030D-6E8A-4147-A177-3AD203B41FA5}">
                      <a16:colId xmlns="" xmlns:a16="http://schemas.microsoft.com/office/drawing/2014/main" val="1124429547"/>
                    </a:ext>
                  </a:extLst>
                </a:gridCol>
                <a:gridCol w="537654">
                  <a:extLst>
                    <a:ext uri="{9D8B030D-6E8A-4147-A177-3AD203B41FA5}">
                      <a16:colId xmlns="" xmlns:a16="http://schemas.microsoft.com/office/drawing/2014/main" val="4081450170"/>
                    </a:ext>
                  </a:extLst>
                </a:gridCol>
                <a:gridCol w="537654">
                  <a:extLst>
                    <a:ext uri="{9D8B030D-6E8A-4147-A177-3AD203B41FA5}">
                      <a16:colId xmlns="" xmlns:a16="http://schemas.microsoft.com/office/drawing/2014/main" val="1632489250"/>
                    </a:ext>
                  </a:extLst>
                </a:gridCol>
                <a:gridCol w="537654">
                  <a:extLst>
                    <a:ext uri="{9D8B030D-6E8A-4147-A177-3AD203B41FA5}">
                      <a16:colId xmlns="" xmlns:a16="http://schemas.microsoft.com/office/drawing/2014/main" val="4086721559"/>
                    </a:ext>
                  </a:extLst>
                </a:gridCol>
                <a:gridCol w="537654">
                  <a:extLst>
                    <a:ext uri="{9D8B030D-6E8A-4147-A177-3AD203B41FA5}">
                      <a16:colId xmlns="" xmlns:a16="http://schemas.microsoft.com/office/drawing/2014/main" val="2396631809"/>
                    </a:ext>
                  </a:extLst>
                </a:gridCol>
                <a:gridCol w="2928799">
                  <a:extLst>
                    <a:ext uri="{9D8B030D-6E8A-4147-A177-3AD203B41FA5}">
                      <a16:colId xmlns="" xmlns:a16="http://schemas.microsoft.com/office/drawing/2014/main" val="2027850900"/>
                    </a:ext>
                  </a:extLst>
                </a:gridCol>
              </a:tblGrid>
              <a:tr h="448793">
                <a:tc gridSpan="14">
                  <a:txBody>
                    <a:bodyPr/>
                    <a:lstStyle/>
                    <a:p>
                      <a:pPr algn="ctr" fontAlgn="ctr"/>
                      <a:r>
                        <a:rPr lang="en-US" sz="1600" b="1" i="0" u="none" strike="noStrike" dirty="0">
                          <a:solidFill>
                            <a:srgbClr val="000000"/>
                          </a:solidFill>
                          <a:effectLst/>
                          <a:latin typeface="Times New Roman" panose="02020603050405020304" pitchFamily="18" charset="0"/>
                          <a:cs typeface="Times New Roman" panose="02020603050405020304" pitchFamily="18" charset="0"/>
                        </a:rPr>
                        <a:t>NGUỒN LỰC KỸ THUÂT FLEET A321 (UPDATED 16/02)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3523085080"/>
                  </a:ext>
                </a:extLst>
              </a:tr>
              <a:tr h="543992">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Feb-25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2678918673"/>
                  </a:ext>
                </a:extLst>
              </a:tr>
              <a:tr h="837746">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cs typeface="Times New Roman" panose="02020603050405020304" pitchFamily="18" charset="0"/>
                        </a:rPr>
                        <a:t>A321 NEO AOG</a:t>
                      </a:r>
                      <a:br>
                        <a:rPr lang="pt-BR" sz="1200" b="1" i="0" u="none" strike="noStrike">
                          <a:solidFill>
                            <a:srgbClr val="000000"/>
                          </a:solidFill>
                          <a:effectLst/>
                          <a:latin typeface="Times New Roman" panose="02020603050405020304" pitchFamily="18" charset="0"/>
                          <a:cs typeface="Times New Roman" panose="02020603050405020304" pitchFamily="18" charset="0"/>
                        </a:rPr>
                      </a:br>
                      <a:r>
                        <a:rPr lang="pt-BR" sz="1200" b="1" i="0" u="none" strike="noStrike">
                          <a:solidFill>
                            <a:srgbClr val="000000"/>
                          </a:solidFill>
                          <a:effectLst/>
                          <a:latin typeface="Times New Roman" panose="02020603050405020304" pitchFamily="18" charset="0"/>
                          <a:cs typeface="Times New Roman" panose="02020603050405020304" pitchFamily="18" charset="0"/>
                        </a:rPr>
                        <a:t>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02/2025: thêm 01 tàu dừng do ENG về muộn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681618177"/>
                  </a:ext>
                </a:extLst>
              </a:tr>
              <a:tr h="761588">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cs typeface="Times New Roman" panose="02020603050405020304" pitchFamily="18" charset="0"/>
                        </a:rPr>
                        <a:t>A321 CEO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 xmlns:a16="http://schemas.microsoft.com/office/drawing/2014/main" val="4009964370"/>
                  </a:ext>
                </a:extLst>
              </a:tr>
              <a:tr h="1000944">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A321 dừng thực hiện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0.80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Times New Roman" panose="02020603050405020304" pitchFamily="18" charset="0"/>
                          <a:cs typeface="Times New Roman" panose="02020603050405020304" pitchFamily="18" charset="0"/>
                        </a:rPr>
                        <a:t>- Giảm 0.3 tàu dừng BD từ 18-27/03 để bay bù A870 sơn cánh.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798850522"/>
                  </a:ext>
                </a:extLst>
              </a:tr>
              <a:tr h="718068">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(Do thiếu ENG + BD)</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(4) = (1) + (2)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14.80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 xmlns:a16="http://schemas.microsoft.com/office/drawing/2014/main" val="2646678370"/>
                  </a:ext>
                </a:extLst>
              </a:tr>
              <a:tr h="718068">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Tổng số tàu A321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dirty="0">
                          <a:solidFill>
                            <a:srgbClr val="000000"/>
                          </a:solidFill>
                          <a:effectLst/>
                          <a:latin typeface="Times New Roman" panose="02020603050405020304" pitchFamily="18" charset="0"/>
                          <a:cs typeface="Times New Roman" panose="02020603050405020304" pitchFamily="18" charset="0"/>
                        </a:rPr>
                        <a:t>Chưa bao gồm các tàu thuê ướt khai thác cao điểm têt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462114489"/>
                  </a:ext>
                </a:extLst>
              </a:tr>
            </a:tbl>
          </a:graphicData>
        </a:graphic>
      </p:graphicFrame>
    </p:spTree>
    <p:extLst>
      <p:ext uri="{BB962C8B-B14F-4D97-AF65-F5344CB8AC3E}">
        <p14:creationId xmlns:p14="http://schemas.microsoft.com/office/powerpoint/2010/main" val="8339609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 xmlns:a16="http://schemas.microsoft.com/office/drawing/2014/main" id="{5781951A-75AB-4FD9-911A-99894057CF57}"/>
              </a:ext>
            </a:extLst>
          </p:cNvPr>
          <p:cNvSpPr txBox="1">
            <a:spLocks/>
          </p:cNvSpPr>
          <p:nvPr/>
        </p:nvSpPr>
        <p:spPr>
          <a:xfrm>
            <a:off x="457200" y="152400"/>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800" b="1" dirty="0">
                <a:solidFill>
                  <a:srgbClr val="FFC000"/>
                </a:solidFill>
                <a:ea typeface="Tahoma" pitchFamily="34" charset="0"/>
                <a:cs typeface="Times New Roman" panose="02020603050405020304" pitchFamily="18" charset="0"/>
              </a:rPr>
              <a:t>NGUỒN LỰC TÀU BAY – A350/B787</a:t>
            </a:r>
          </a:p>
        </p:txBody>
      </p:sp>
      <p:graphicFrame>
        <p:nvGraphicFramePr>
          <p:cNvPr id="5" name="Table 4"/>
          <p:cNvGraphicFramePr>
            <a:graphicFrameLocks noGrp="1"/>
          </p:cNvGraphicFramePr>
          <p:nvPr>
            <p:extLst/>
          </p:nvPr>
        </p:nvGraphicFramePr>
        <p:xfrm>
          <a:off x="304798" y="838202"/>
          <a:ext cx="11582403" cy="5721788"/>
        </p:xfrm>
        <a:graphic>
          <a:graphicData uri="http://schemas.openxmlformats.org/drawingml/2006/table">
            <a:tbl>
              <a:tblPr/>
              <a:tblGrid>
                <a:gridCol w="391981">
                  <a:extLst>
                    <a:ext uri="{9D8B030D-6E8A-4147-A177-3AD203B41FA5}">
                      <a16:colId xmlns="" xmlns:a16="http://schemas.microsoft.com/office/drawing/2014/main" val="1753071256"/>
                    </a:ext>
                  </a:extLst>
                </a:gridCol>
                <a:gridCol w="2680642">
                  <a:extLst>
                    <a:ext uri="{9D8B030D-6E8A-4147-A177-3AD203B41FA5}">
                      <a16:colId xmlns="" xmlns:a16="http://schemas.microsoft.com/office/drawing/2014/main" val="2947096315"/>
                    </a:ext>
                  </a:extLst>
                </a:gridCol>
                <a:gridCol w="467848">
                  <a:extLst>
                    <a:ext uri="{9D8B030D-6E8A-4147-A177-3AD203B41FA5}">
                      <a16:colId xmlns="" xmlns:a16="http://schemas.microsoft.com/office/drawing/2014/main" val="3300722697"/>
                    </a:ext>
                  </a:extLst>
                </a:gridCol>
                <a:gridCol w="505783">
                  <a:extLst>
                    <a:ext uri="{9D8B030D-6E8A-4147-A177-3AD203B41FA5}">
                      <a16:colId xmlns="" xmlns:a16="http://schemas.microsoft.com/office/drawing/2014/main" val="1289788644"/>
                    </a:ext>
                  </a:extLst>
                </a:gridCol>
                <a:gridCol w="480492">
                  <a:extLst>
                    <a:ext uri="{9D8B030D-6E8A-4147-A177-3AD203B41FA5}">
                      <a16:colId xmlns="" xmlns:a16="http://schemas.microsoft.com/office/drawing/2014/main" val="1629325320"/>
                    </a:ext>
                  </a:extLst>
                </a:gridCol>
                <a:gridCol w="518427">
                  <a:extLst>
                    <a:ext uri="{9D8B030D-6E8A-4147-A177-3AD203B41FA5}">
                      <a16:colId xmlns="" xmlns:a16="http://schemas.microsoft.com/office/drawing/2014/main" val="210721973"/>
                    </a:ext>
                  </a:extLst>
                </a:gridCol>
                <a:gridCol w="480492">
                  <a:extLst>
                    <a:ext uri="{9D8B030D-6E8A-4147-A177-3AD203B41FA5}">
                      <a16:colId xmlns="" xmlns:a16="http://schemas.microsoft.com/office/drawing/2014/main" val="705961958"/>
                    </a:ext>
                  </a:extLst>
                </a:gridCol>
                <a:gridCol w="480492">
                  <a:extLst>
                    <a:ext uri="{9D8B030D-6E8A-4147-A177-3AD203B41FA5}">
                      <a16:colId xmlns="" xmlns:a16="http://schemas.microsoft.com/office/drawing/2014/main" val="3404254323"/>
                    </a:ext>
                  </a:extLst>
                </a:gridCol>
                <a:gridCol w="505783">
                  <a:extLst>
                    <a:ext uri="{9D8B030D-6E8A-4147-A177-3AD203B41FA5}">
                      <a16:colId xmlns="" xmlns:a16="http://schemas.microsoft.com/office/drawing/2014/main" val="2830128422"/>
                    </a:ext>
                  </a:extLst>
                </a:gridCol>
                <a:gridCol w="505783">
                  <a:extLst>
                    <a:ext uri="{9D8B030D-6E8A-4147-A177-3AD203B41FA5}">
                      <a16:colId xmlns="" xmlns:a16="http://schemas.microsoft.com/office/drawing/2014/main" val="1215853238"/>
                    </a:ext>
                  </a:extLst>
                </a:gridCol>
                <a:gridCol w="480492">
                  <a:extLst>
                    <a:ext uri="{9D8B030D-6E8A-4147-A177-3AD203B41FA5}">
                      <a16:colId xmlns="" xmlns:a16="http://schemas.microsoft.com/office/drawing/2014/main" val="278736069"/>
                    </a:ext>
                  </a:extLst>
                </a:gridCol>
                <a:gridCol w="480492">
                  <a:extLst>
                    <a:ext uri="{9D8B030D-6E8A-4147-A177-3AD203B41FA5}">
                      <a16:colId xmlns="" xmlns:a16="http://schemas.microsoft.com/office/drawing/2014/main" val="4084203640"/>
                    </a:ext>
                  </a:extLst>
                </a:gridCol>
                <a:gridCol w="505783">
                  <a:extLst>
                    <a:ext uri="{9D8B030D-6E8A-4147-A177-3AD203B41FA5}">
                      <a16:colId xmlns="" xmlns:a16="http://schemas.microsoft.com/office/drawing/2014/main" val="636530962"/>
                    </a:ext>
                  </a:extLst>
                </a:gridCol>
                <a:gridCol w="3097913">
                  <a:extLst>
                    <a:ext uri="{9D8B030D-6E8A-4147-A177-3AD203B41FA5}">
                      <a16:colId xmlns="" xmlns:a16="http://schemas.microsoft.com/office/drawing/2014/main" val="278586061"/>
                    </a:ext>
                  </a:extLst>
                </a:gridCol>
              </a:tblGrid>
              <a:tr h="457198">
                <a:tc gridSpan="14">
                  <a:txBody>
                    <a:bodyPr/>
                    <a:lstStyle/>
                    <a:p>
                      <a:pPr algn="ctr" fontAlgn="ctr"/>
                      <a:r>
                        <a:rPr lang="en-US" sz="1600" b="1" i="0" u="none" strike="noStrike" dirty="0">
                          <a:solidFill>
                            <a:srgbClr val="000000"/>
                          </a:solidFill>
                          <a:effectLst/>
                          <a:latin typeface="Times New Roman" panose="02020603050405020304" pitchFamily="18" charset="0"/>
                          <a:cs typeface="Times New Roman" panose="02020603050405020304" pitchFamily="18" charset="0"/>
                        </a:rPr>
                        <a:t>NGUỒN LỰC KỸ THUÂT A350/B787 (updated 16/02)</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1589122198"/>
                  </a:ext>
                </a:extLst>
              </a:tr>
              <a:tr h="316589">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Feb-25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 xmlns:a16="http://schemas.microsoft.com/office/drawing/2014/main" val="2573089930"/>
                  </a:ext>
                </a:extLst>
              </a:tr>
              <a:tr h="1112417">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cs typeface="Times New Roman" panose="02020603050405020304" pitchFamily="18" charset="0"/>
                        </a:rPr>
                        <a:t>A350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FF0000"/>
                          </a:solidFill>
                          <a:effectLst/>
                          <a:latin typeface="Times New Roman" panose="02020603050405020304" pitchFamily="18" charset="0"/>
                          <a:cs typeface="Times New Roman" panose="02020603050405020304" pitchFamily="18" charset="0"/>
                        </a:rPr>
                        <a:t>KB tốt giữ giờ 03 động cơ tháo trong cao điểm hè có thể đẩy lùi: </a:t>
                      </a:r>
                      <a:br>
                        <a:rPr lang="vi-VN" sz="1200" b="0" i="0" u="none" strike="noStrike">
                          <a:solidFill>
                            <a:srgbClr val="FF0000"/>
                          </a:solidFill>
                          <a:effectLst/>
                          <a:latin typeface="Times New Roman" panose="02020603050405020304" pitchFamily="18" charset="0"/>
                          <a:cs typeface="Times New Roman" panose="02020603050405020304" pitchFamily="18" charset="0"/>
                        </a:rPr>
                      </a:br>
                      <a:r>
                        <a:rPr lang="vi-VN" sz="1200" b="0" i="0" u="none" strike="noStrike">
                          <a:solidFill>
                            <a:srgbClr val="FF0000"/>
                          </a:solidFill>
                          <a:effectLst/>
                          <a:latin typeface="Times New Roman" panose="02020603050405020304" pitchFamily="18" charset="0"/>
                          <a:cs typeface="Times New Roman" panose="02020603050405020304" pitchFamily="18" charset="0"/>
                        </a:rPr>
                        <a:t>- Giữ giờ 21346 bằng spare trong 20 ngày, sau đó lắp lên A890 giữ giờ cùng 21418 trong 45 ngày; </a:t>
                      </a:r>
                      <a:br>
                        <a:rPr lang="vi-VN" sz="1200" b="0" i="0" u="none" strike="noStrike">
                          <a:solidFill>
                            <a:srgbClr val="FF0000"/>
                          </a:solidFill>
                          <a:effectLst/>
                          <a:latin typeface="Times New Roman" panose="02020603050405020304" pitchFamily="18" charset="0"/>
                          <a:cs typeface="Times New Roman" panose="02020603050405020304" pitchFamily="18" charset="0"/>
                        </a:rPr>
                      </a:br>
                      <a:r>
                        <a:rPr lang="vi-VN" sz="1200" b="0" i="0" u="none" strike="noStrike">
                          <a:solidFill>
                            <a:srgbClr val="FF0000"/>
                          </a:solidFill>
                          <a:effectLst/>
                          <a:latin typeface="Times New Roman" panose="02020603050405020304" pitchFamily="18" charset="0"/>
                          <a:cs typeface="Times New Roman" panose="02020603050405020304" pitchFamily="18" charset="0"/>
                        </a:rPr>
                        <a:t>- 21317 trên A897 hạn chế khai thác để extend 20 ngày.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52426252"/>
                  </a:ext>
                </a:extLst>
              </a:tr>
              <a:tr h="405882">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 xmlns:a16="http://schemas.microsoft.com/office/drawing/2014/main" val="3933576933"/>
                  </a:ext>
                </a:extLst>
              </a:tr>
              <a:tr h="405882">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(3) = (1) +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476041711"/>
                  </a:ext>
                </a:extLst>
              </a:tr>
              <a:tr h="405882">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(4) = 14 -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 xmlns:a16="http://schemas.microsoft.com/office/drawing/2014/main" val="1088814472"/>
                  </a:ext>
                </a:extLst>
              </a:tr>
              <a:tr h="588528">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cs typeface="Times New Roman" panose="02020603050405020304" pitchFamily="18" charset="0"/>
                        </a:rPr>
                        <a:t>B787 rủi ro AOG do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474398718"/>
                  </a:ext>
                </a:extLst>
              </a:tr>
              <a:tr h="405882">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B787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a:solidFill>
                            <a:srgbClr val="000000"/>
                          </a:solidFill>
                          <a:effectLst/>
                          <a:latin typeface="Times New Roman" panose="02020603050405020304" pitchFamily="18" charset="0"/>
                          <a:cs typeface="Times New Roman" panose="02020603050405020304" pitchFamily="18" charset="0"/>
                        </a:rPr>
                        <a:t>03/2025: tăng 0.3 tàu dừng do bổ sung sơn cánh A870 từ 18-27/03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 xmlns:a16="http://schemas.microsoft.com/office/drawing/2014/main" val="1501774473"/>
                  </a:ext>
                </a:extLst>
              </a:tr>
              <a:tr h="405882">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nb-NO" sz="1200" b="1" i="0" u="none" strike="noStrike">
                          <a:solidFill>
                            <a:srgbClr val="000000"/>
                          </a:solidFill>
                          <a:effectLst/>
                          <a:latin typeface="Times New Roman" panose="02020603050405020304" pitchFamily="18" charset="0"/>
                          <a:cs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cs typeface="Times New Roman" panose="02020603050405020304" pitchFamily="18" charset="0"/>
                        </a:rPr>
                      </a:br>
                      <a:r>
                        <a:rPr lang="nb-NO" sz="1200" b="1" i="0" u="none" strike="noStrike">
                          <a:solidFill>
                            <a:srgbClr val="000000"/>
                          </a:solidFill>
                          <a:effectLst/>
                          <a:latin typeface="Times New Roman" panose="02020603050405020304" pitchFamily="18" charset="0"/>
                          <a:cs typeface="Times New Roman" panose="02020603050405020304" pitchFamily="18" charset="0"/>
                        </a:rPr>
                        <a:t>(7) = (5) + (6)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809645284"/>
                  </a:ext>
                </a:extLst>
              </a:tr>
              <a:tr h="405882">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B787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 xmlns:a16="http://schemas.microsoft.com/office/drawing/2014/main" val="3402681601"/>
                  </a:ext>
                </a:extLst>
              </a:tr>
              <a:tr h="405882">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(9) = (3) + (7)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730715993"/>
                  </a:ext>
                </a:extLst>
              </a:tr>
              <a:tr h="405882">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A350/B787 thực tế có thể khai thác</a:t>
                      </a:r>
                      <a:br>
                        <a:rPr lang="en-US" sz="1200" b="1" i="0" u="none" strike="noStrike">
                          <a:solidFill>
                            <a:srgbClr val="000000"/>
                          </a:solidFill>
                          <a:effectLst/>
                          <a:latin typeface="Times New Roman" panose="02020603050405020304" pitchFamily="18" charset="0"/>
                          <a:cs typeface="Times New Roman" panose="02020603050405020304" pitchFamily="18" charset="0"/>
                        </a:rPr>
                      </a:br>
                      <a:r>
                        <a:rPr lang="en-US" sz="1200" b="1" i="0" u="none" strike="noStrike">
                          <a:solidFill>
                            <a:srgbClr val="000000"/>
                          </a:solidFill>
                          <a:effectLst/>
                          <a:latin typeface="Times New Roman" panose="02020603050405020304" pitchFamily="18" charset="0"/>
                          <a:cs typeface="Times New Roman" panose="02020603050405020304" pitchFamily="18" charset="0"/>
                        </a:rPr>
                        <a:t>(10) = (8) +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 xmlns:a16="http://schemas.microsoft.com/office/drawing/2014/main" val="191554674"/>
                  </a:ext>
                </a:extLst>
              </a:tr>
            </a:tbl>
          </a:graphicData>
        </a:graphic>
      </p:graphicFrame>
    </p:spTree>
    <p:extLst>
      <p:ext uri="{BB962C8B-B14F-4D97-AF65-F5344CB8AC3E}">
        <p14:creationId xmlns:p14="http://schemas.microsoft.com/office/powerpoint/2010/main" val="35130712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6162545"/>
            <a:ext cx="2743200" cy="365125"/>
          </a:xfrm>
        </p:spPr>
        <p:txBody>
          <a:bodyPr>
            <a:normAutofit/>
          </a:bodyPr>
          <a:lstStyle/>
          <a:p>
            <a:fld id="{6C6B6B8D-D74E-47CD-B5EE-156060B7CD17}" type="slidenum">
              <a:rPr lang="en-US" sz="1100" smtClean="0"/>
              <a:pPr/>
              <a:t>44</a:t>
            </a:fld>
            <a:endParaRPr lang="en-US" sz="1100" dirty="0"/>
          </a:p>
        </p:txBody>
      </p:sp>
      <p:sp>
        <p:nvSpPr>
          <p:cNvPr id="21" name="TextBox 20"/>
          <p:cNvSpPr txBox="1"/>
          <p:nvPr/>
        </p:nvSpPr>
        <p:spPr>
          <a:xfrm>
            <a:off x="228600" y="63766"/>
            <a:ext cx="12184930" cy="52322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800" dirty="0"/>
              <a:t>HỎNG HÓC CABIN ẢNH HƯỞNG KHAI THÁC VÀ PTVT – TUẦN </a:t>
            </a:r>
            <a:r>
              <a:rPr lang="en-US" sz="2800" dirty="0" smtClean="0"/>
              <a:t>07</a:t>
            </a:r>
            <a:endParaRPr lang="vi-VN" sz="2800" dirty="0"/>
          </a:p>
        </p:txBody>
      </p:sp>
      <p:sp>
        <p:nvSpPr>
          <p:cNvPr id="24" name="TextBox 23"/>
          <p:cNvSpPr txBox="1"/>
          <p:nvPr/>
        </p:nvSpPr>
        <p:spPr>
          <a:xfrm>
            <a:off x="348661" y="4102534"/>
            <a:ext cx="10876298" cy="2733056"/>
          </a:xfrm>
          <a:prstGeom prst="rect">
            <a:avLst/>
          </a:prstGeom>
          <a:noFill/>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30000"/>
              </a:lnSpc>
            </a:pPr>
            <a:r>
              <a:rPr lang="en-US" sz="1100" b="1" dirty="0" err="1">
                <a:latin typeface="Times New Roman" panose="02020603050405020304" pitchFamily="18" charset="0"/>
                <a:cs typeface="Times New Roman" panose="02020603050405020304" pitchFamily="18" charset="0"/>
              </a:rPr>
              <a:t>Nội</a:t>
            </a:r>
            <a:r>
              <a:rPr lang="en-US" sz="1100" b="1" dirty="0">
                <a:latin typeface="Times New Roman" panose="02020603050405020304" pitchFamily="18" charset="0"/>
                <a:cs typeface="Times New Roman" panose="02020603050405020304" pitchFamily="18" charset="0"/>
              </a:rPr>
              <a:t> dung </a:t>
            </a:r>
            <a:r>
              <a:rPr lang="en-US" sz="1100" b="1" dirty="0" err="1">
                <a:latin typeface="Times New Roman" panose="02020603050405020304" pitchFamily="18" charset="0"/>
                <a:cs typeface="Times New Roman" panose="02020603050405020304" pitchFamily="18" charset="0"/>
              </a:rPr>
              <a:t>khác</a:t>
            </a:r>
            <a:r>
              <a:rPr lang="en-US" sz="1100" b="1" dirty="0">
                <a:latin typeface="Times New Roman" panose="02020603050405020304" pitchFamily="18" charset="0"/>
                <a:cs typeface="Times New Roman" panose="02020603050405020304" pitchFamily="18" charset="0"/>
              </a:rPr>
              <a:t>:</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Tháo PCU 787: </a:t>
            </a:r>
            <a:r>
              <a:rPr lang="en-US" sz="1100" dirty="0">
                <a:solidFill>
                  <a:schemeClr val="tx1"/>
                </a:solidFill>
                <a:latin typeface="Times New Roman" panose="02020603050405020304" pitchFamily="18" charset="0"/>
                <a:cs typeface="Times New Roman" panose="02020603050405020304" pitchFamily="18" charset="0"/>
              </a:rPr>
              <a:t>Đã thực hiện 07 tàu A861, A862 ,A863, A865, A866, A867, A868 (trong tuần thực hiện 01 tàu ) =&gt; tiếp tục thực hiện 04 tàu còn lại sau </a:t>
            </a:r>
            <a:r>
              <a:rPr lang="en-US" sz="1100" dirty="0" err="1">
                <a:solidFill>
                  <a:schemeClr val="tx1"/>
                </a:solidFill>
                <a:latin typeface="Times New Roman" panose="02020603050405020304" pitchFamily="18" charset="0"/>
                <a:cs typeface="Times New Roman" panose="02020603050405020304" pitchFamily="18" charset="0"/>
              </a:rPr>
              <a:t>cao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điểm</a:t>
            </a:r>
            <a:endParaRPr lang="en-US" sz="1100" dirty="0">
              <a:solidFill>
                <a:schemeClr val="tx1"/>
              </a:solidFill>
              <a:latin typeface="Times New Roman" panose="02020603050405020304" pitchFamily="18" charset="0"/>
              <a:cs typeface="Times New Roman" panose="02020603050405020304" pitchFamily="18" charset="0"/>
            </a:endParaRP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IFC 10 tàu A350: </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phát PO mua vật tư dự phòng, PO mua tài liệu TSM</a:t>
            </a:r>
            <a:r>
              <a:rPr lang="en-US" sz="1100" dirty="0" smtClean="0">
                <a:solidFill>
                  <a:schemeClr val="tx1"/>
                </a:solidFill>
                <a:latin typeface="Times New Roman" panose="02020603050405020304" pitchFamily="18" charset="0"/>
                <a:cs typeface="Times New Roman" panose="02020603050405020304" pitchFamily="18" charset="0"/>
              </a:rPr>
              <a:t>.: </a:t>
            </a:r>
            <a:r>
              <a:rPr lang="en-US" sz="1100" b="1" dirty="0" smtClean="0">
                <a:solidFill>
                  <a:schemeClr val="tx1"/>
                </a:solidFill>
                <a:latin typeface="Times New Roman" panose="02020603050405020304" pitchFamily="18" charset="0"/>
                <a:cs typeface="Times New Roman" panose="02020603050405020304" pitchFamily="18" charset="0"/>
              </a:rPr>
              <a:t>giao cuối tháng 2/2025</a:t>
            </a:r>
          </a:p>
          <a:p>
            <a:pPr marL="742950" lvl="1" indent="-285750">
              <a:lnSpc>
                <a:spcPct val="130000"/>
              </a:lnSpc>
              <a:buFontTx/>
              <a:buChar char="-"/>
            </a:pPr>
            <a:r>
              <a:rPr lang="en-US" sz="1100" dirty="0" smtClean="0">
                <a:solidFill>
                  <a:schemeClr val="tx1"/>
                </a:solidFill>
                <a:latin typeface="Times New Roman" panose="02020603050405020304" pitchFamily="18" charset="0"/>
                <a:cs typeface="Times New Roman" panose="02020603050405020304" pitchFamily="18" charset="0"/>
              </a:rPr>
              <a:t>Vật </a:t>
            </a:r>
            <a:r>
              <a:rPr lang="en-US" sz="1100" dirty="0">
                <a:solidFill>
                  <a:schemeClr val="tx1"/>
                </a:solidFill>
                <a:latin typeface="Times New Roman" panose="02020603050405020304" pitchFamily="18" charset="0"/>
                <a:cs typeface="Times New Roman" panose="02020603050405020304" pitchFamily="18" charset="0"/>
              </a:rPr>
              <a:t>tư dự phòng bắt đầu giao </a:t>
            </a:r>
            <a:r>
              <a:rPr lang="en-US" sz="1100" dirty="0" smtClean="0">
                <a:solidFill>
                  <a:schemeClr val="tx1"/>
                </a:solidFill>
                <a:latin typeface="Times New Roman" panose="02020603050405020304" pitchFamily="18" charset="0"/>
                <a:cs typeface="Times New Roman" panose="02020603050405020304" pitchFamily="18" charset="0"/>
              </a:rPr>
              <a:t>2/2025: KFRU 2ea đã giao, MODMAN 2ea, KANDU 2ea giao cuối tháng 2/2025, </a:t>
            </a:r>
            <a:r>
              <a:rPr lang="en-US" sz="1100" dirty="0" smtClean="0">
                <a:solidFill>
                  <a:srgbClr val="FF0000"/>
                </a:solidFill>
                <a:latin typeface="Times New Roman" panose="02020603050405020304" pitchFamily="18" charset="0"/>
                <a:cs typeface="Times New Roman" panose="02020603050405020304" pitchFamily="18" charset="0"/>
              </a:rPr>
              <a:t>FMA 01ea (</a:t>
            </a:r>
            <a:r>
              <a:rPr lang="en-US" sz="1100" dirty="0" err="1" smtClean="0">
                <a:solidFill>
                  <a:srgbClr val="FF0000"/>
                </a:solidFill>
                <a:latin typeface="Times New Roman" panose="02020603050405020304" pitchFamily="18" charset="0"/>
                <a:cs typeface="Times New Roman" panose="02020603050405020304" pitchFamily="18" charset="0"/>
              </a:rPr>
              <a:t>mua</a:t>
            </a:r>
            <a:r>
              <a:rPr lang="en-US" sz="1100" dirty="0" smtClean="0">
                <a:solidFill>
                  <a:srgbClr val="FF0000"/>
                </a:solidFill>
                <a:latin typeface="Times New Roman" panose="02020603050405020304" pitchFamily="18" charset="0"/>
                <a:cs typeface="Times New Roman" panose="02020603050405020304" pitchFamily="18" charset="0"/>
              </a:rPr>
              <a:t> </a:t>
            </a:r>
            <a:r>
              <a:rPr lang="en-US" sz="1100" dirty="0" err="1" smtClean="0">
                <a:solidFill>
                  <a:srgbClr val="FF0000"/>
                </a:solidFill>
                <a:latin typeface="Times New Roman" panose="02020603050405020304" pitchFamily="18" charset="0"/>
                <a:cs typeface="Times New Roman" panose="02020603050405020304" pitchFamily="18" charset="0"/>
              </a:rPr>
              <a:t>mới</a:t>
            </a:r>
            <a:r>
              <a:rPr lang="en-US" sz="1100" dirty="0" smtClean="0">
                <a:solidFill>
                  <a:srgbClr val="FF0000"/>
                </a:solidFill>
                <a:latin typeface="Times New Roman" panose="02020603050405020304" pitchFamily="18" charset="0"/>
                <a:cs typeface="Times New Roman" panose="02020603050405020304" pitchFamily="18" charset="0"/>
              </a:rPr>
              <a:t>) </a:t>
            </a:r>
            <a:r>
              <a:rPr lang="en-US" sz="1100" dirty="0" err="1" smtClean="0">
                <a:solidFill>
                  <a:srgbClr val="FF0000"/>
                </a:solidFill>
                <a:latin typeface="Times New Roman" panose="02020603050405020304" pitchFamily="18" charset="0"/>
                <a:cs typeface="Times New Roman" panose="02020603050405020304" pitchFamily="18" charset="0"/>
              </a:rPr>
              <a:t>giao</a:t>
            </a:r>
            <a:r>
              <a:rPr lang="en-US" sz="1100" dirty="0" smtClean="0">
                <a:solidFill>
                  <a:srgbClr val="FF0000"/>
                </a:solidFill>
                <a:latin typeface="Times New Roman" panose="02020603050405020304" pitchFamily="18" charset="0"/>
                <a:cs typeface="Times New Roman" panose="02020603050405020304" pitchFamily="18" charset="0"/>
              </a:rPr>
              <a:t> tháng 7/2025 (tiếp tục giục Thales)</a:t>
            </a:r>
          </a:p>
          <a:p>
            <a:pPr marL="742950" lvl="1" indent="-285750">
              <a:lnSpc>
                <a:spcPct val="130000"/>
              </a:lnSpc>
              <a:buFontTx/>
              <a:buChar char="-"/>
            </a:pPr>
            <a:r>
              <a:rPr lang="en-US" sz="1100" dirty="0" smtClean="0">
                <a:solidFill>
                  <a:schemeClr val="tx1"/>
                </a:solidFill>
                <a:latin typeface="Times New Roman" panose="02020603050405020304" pitchFamily="18" charset="0"/>
                <a:cs typeface="Times New Roman" panose="02020603050405020304" pitchFamily="18" charset="0"/>
              </a:rPr>
              <a:t> </a:t>
            </a:r>
            <a:r>
              <a:rPr lang="en-US" sz="1100" dirty="0">
                <a:solidFill>
                  <a:schemeClr val="tx1"/>
                </a:solidFill>
                <a:latin typeface="Times New Roman" panose="02020603050405020304" pitchFamily="18" charset="0"/>
                <a:cs typeface="Times New Roman" panose="02020603050405020304" pitchFamily="18" charset="0"/>
              </a:rPr>
              <a:t>MPS và FSAT ban giao </a:t>
            </a:r>
            <a:r>
              <a:rPr lang="en-US" sz="1100" dirty="0" smtClean="0">
                <a:solidFill>
                  <a:schemeClr val="tx1"/>
                </a:solidFill>
                <a:latin typeface="Times New Roman" panose="02020603050405020304" pitchFamily="18" charset="0"/>
                <a:cs typeface="Times New Roman" panose="02020603050405020304" pitchFamily="18" charset="0"/>
              </a:rPr>
              <a:t>3/2025</a:t>
            </a:r>
            <a:r>
              <a:rPr lang="en-US" sz="1100" dirty="0" smtClean="0">
                <a:solidFill>
                  <a:srgbClr val="FF0000"/>
                </a:solidFill>
                <a:latin typeface="Times New Roman" panose="02020603050405020304" pitchFamily="18" charset="0"/>
                <a:cs typeface="Times New Roman" panose="02020603050405020304" pitchFamily="18" charset="0"/>
              </a:rPr>
              <a:t>. Tuy nhiên mod kit chậm, dự kiến 5/2025 (tiệc tục giục Thales)</a:t>
            </a:r>
            <a:endParaRPr lang="en-US" sz="1100" dirty="0">
              <a:solidFill>
                <a:srgbClr val="FF0000"/>
              </a:solidFill>
              <a:latin typeface="Times New Roman" panose="02020603050405020304" pitchFamily="18" charset="0"/>
              <a:cs typeface="Times New Roman" panose="02020603050405020304" pitchFamily="18" charset="0"/>
            </a:endParaRP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gửi 02 shipset tàu bảo quản đi nâng cấp firmwarre, TAT 60-70 ngày </a:t>
            </a:r>
            <a:r>
              <a:rPr lang="en-US" sz="1100" dirty="0">
                <a:solidFill>
                  <a:srgbClr val="FF0000"/>
                </a:solidFill>
                <a:latin typeface="Times New Roman" panose="02020603050405020304" pitchFamily="18" charset="0"/>
                <a:cs typeface="Times New Roman" panose="02020603050405020304" pitchFamily="18" charset="0"/>
              </a:rPr>
              <a:t>=&gt; tiếp tục giục Thales &amp; Honeywell, </a:t>
            </a:r>
            <a:r>
              <a:rPr lang="en-US" sz="1100" dirty="0" err="1">
                <a:solidFill>
                  <a:srgbClr val="FF0000"/>
                </a:solidFill>
                <a:latin typeface="Times New Roman" panose="02020603050405020304" pitchFamily="18" charset="0"/>
                <a:cs typeface="Times New Roman" panose="02020603050405020304" pitchFamily="18" charset="0"/>
              </a:rPr>
              <a:t>vật</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tư</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đã</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đến</a:t>
            </a:r>
            <a:r>
              <a:rPr lang="en-US" sz="1100" dirty="0">
                <a:solidFill>
                  <a:srgbClr val="FF0000"/>
                </a:solidFill>
                <a:latin typeface="Times New Roman" panose="02020603050405020304" pitchFamily="18" charset="0"/>
                <a:cs typeface="Times New Roman" panose="02020603050405020304" pitchFamily="18" charset="0"/>
              </a:rPr>
              <a:t> shop</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02 antena gửi sửa chữa </a:t>
            </a:r>
            <a:r>
              <a:rPr lang="en-US" sz="1100" dirty="0" smtClean="0">
                <a:solidFill>
                  <a:schemeClr val="tx1"/>
                </a:solidFill>
                <a:latin typeface="Times New Roman" panose="02020603050405020304" pitchFamily="18" charset="0"/>
                <a:cs typeface="Times New Roman" panose="02020603050405020304" pitchFamily="18" charset="0"/>
              </a:rPr>
              <a:t>shop: </a:t>
            </a:r>
            <a:r>
              <a:rPr lang="en-US" sz="1100" b="1" dirty="0" smtClean="0">
                <a:solidFill>
                  <a:schemeClr val="tx1"/>
                </a:solidFill>
                <a:latin typeface="Times New Roman" panose="02020603050405020304" pitchFamily="18" charset="0"/>
                <a:cs typeface="Times New Roman" panose="02020603050405020304" pitchFamily="18" charset="0"/>
              </a:rPr>
              <a:t>đã về 01 khối + 01 khối về trong tháng 2/2025</a:t>
            </a:r>
            <a:endParaRPr lang="en-US" sz="1100" b="1" dirty="0">
              <a:solidFill>
                <a:schemeClr val="tx1"/>
              </a:solidFill>
              <a:latin typeface="Times New Roman" panose="02020603050405020304" pitchFamily="18" charset="0"/>
              <a:cs typeface="Times New Roman" panose="02020603050405020304" pitchFamily="18" charset="0"/>
            </a:endParaRP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Đào tạo IFC VAECO dự kiến </a:t>
            </a:r>
            <a:r>
              <a:rPr lang="en-US" sz="1100" dirty="0" err="1">
                <a:solidFill>
                  <a:schemeClr val="tx1"/>
                </a:solidFill>
                <a:latin typeface="Times New Roman" panose="02020603050405020304" pitchFamily="18" charset="0"/>
                <a:cs typeface="Times New Roman" panose="02020603050405020304" pitchFamily="18" charset="0"/>
              </a:rPr>
              <a:t>tháng</a:t>
            </a:r>
            <a:r>
              <a:rPr lang="en-US" sz="1100" dirty="0">
                <a:solidFill>
                  <a:schemeClr val="tx1"/>
                </a:solidFill>
                <a:latin typeface="Times New Roman" panose="02020603050405020304" pitchFamily="18" charset="0"/>
                <a:cs typeface="Times New Roman" panose="02020603050405020304" pitchFamily="18" charset="0"/>
              </a:rPr>
              <a:t> 19-20/2/2025</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CĐCH ghế 23 tàu A321CEO:</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phát HSYC lần 1, tổ đã làm rõ bản chào lần 1 của đối tác. </a:t>
            </a:r>
            <a:endParaRPr lang="en-US" sz="1100" dirty="0" smtClean="0">
              <a:solidFill>
                <a:schemeClr val="tx1"/>
              </a:solidFill>
              <a:latin typeface="Times New Roman" panose="02020603050405020304" pitchFamily="18" charset="0"/>
              <a:cs typeface="Times New Roman" panose="02020603050405020304" pitchFamily="18" charset="0"/>
            </a:endParaRPr>
          </a:p>
          <a:p>
            <a:pPr marL="742950" lvl="1" indent="-285750">
              <a:lnSpc>
                <a:spcPct val="130000"/>
              </a:lnSpc>
              <a:buFontTx/>
              <a:buChar char="-"/>
            </a:pPr>
            <a:r>
              <a:rPr lang="en-US" sz="1100" dirty="0" smtClean="0">
                <a:solidFill>
                  <a:schemeClr val="tx1"/>
                </a:solidFill>
                <a:latin typeface="Times New Roman" panose="02020603050405020304" pitchFamily="18" charset="0"/>
                <a:cs typeface="Times New Roman" panose="02020603050405020304" pitchFamily="18" charset="0"/>
              </a:rPr>
              <a:t>Tổ </a:t>
            </a:r>
            <a:r>
              <a:rPr lang="en-US" sz="1100" dirty="0">
                <a:solidFill>
                  <a:schemeClr val="tx1"/>
                </a:solidFill>
                <a:latin typeface="Times New Roman" panose="02020603050405020304" pitchFamily="18" charset="0"/>
                <a:cs typeface="Times New Roman" panose="02020603050405020304" pitchFamily="18" charset="0"/>
              </a:rPr>
              <a:t>đã trình HSYC lần 2, </a:t>
            </a:r>
            <a:r>
              <a:rPr lang="en-US" sz="1100" dirty="0" smtClean="0">
                <a:solidFill>
                  <a:schemeClr val="tx1"/>
                </a:solidFill>
                <a:latin typeface="Times New Roman" panose="02020603050405020304" pitchFamily="18" charset="0"/>
                <a:cs typeface="Times New Roman" panose="02020603050405020304" pitchFamily="18" charset="0"/>
              </a:rPr>
              <a:t>và phát HSYC lần 2 (hạn gửi bản chào 17/2/2025). =&gt; Từ 17/2, Tổ sẽ đánh giá bản chào và triển khai các bước tiếp theo</a:t>
            </a:r>
            <a:endParaRPr lang="en-US" sz="1100" dirty="0">
              <a:solidFill>
                <a:schemeClr val="tx1"/>
              </a:solidFill>
              <a:latin typeface="Times New Roman" panose="02020603050405020304" pitchFamily="18" charset="0"/>
              <a:cs typeface="Times New Roman" panose="02020603050405020304" pitchFamily="18" charset="0"/>
            </a:endParaRPr>
          </a:p>
        </p:txBody>
      </p:sp>
      <p:sp>
        <p:nvSpPr>
          <p:cNvPr id="22" name="TextBox 21"/>
          <p:cNvSpPr txBox="1"/>
          <p:nvPr/>
        </p:nvSpPr>
        <p:spPr>
          <a:xfrm>
            <a:off x="366570" y="3141696"/>
            <a:ext cx="10862852" cy="93871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Galley:</a:t>
            </a:r>
          </a:p>
          <a:p>
            <a:pPr marL="285750" indent="-285750">
              <a:buFontTx/>
              <a:buChar char="-"/>
            </a:pPr>
            <a:r>
              <a:rPr lang="en-US" sz="1100" b="1" dirty="0">
                <a:latin typeface="Times New Roman" panose="02020603050405020304" pitchFamily="18" charset="0"/>
                <a:cs typeface="Times New Roman" panose="02020603050405020304" pitchFamily="18" charset="0"/>
              </a:rPr>
              <a:t>Hỏng hóc wine chiller</a:t>
            </a:r>
            <a:r>
              <a:rPr lang="en-US" sz="1100" dirty="0">
                <a:latin typeface="Times New Roman" panose="02020603050405020304" pitchFamily="18" charset="0"/>
                <a:cs typeface="Times New Roman" panose="02020603050405020304" pitchFamily="18" charset="0"/>
              </a:rPr>
              <a:t>: </a:t>
            </a:r>
            <a:r>
              <a:rPr lang="en-US" sz="1100" dirty="0">
                <a:solidFill>
                  <a:srgbClr val="FF0000"/>
                </a:solidFill>
                <a:latin typeface="Times New Roman" panose="02020603050405020304" pitchFamily="18" charset="0"/>
                <a:cs typeface="Times New Roman" panose="02020603050405020304" pitchFamily="18" charset="0"/>
              </a:rPr>
              <a:t>còn hỏng </a:t>
            </a:r>
            <a:r>
              <a:rPr lang="en-US" sz="1100" dirty="0" smtClean="0">
                <a:solidFill>
                  <a:srgbClr val="FF0000"/>
                </a:solidFill>
                <a:latin typeface="Times New Roman" panose="02020603050405020304" pitchFamily="18" charset="0"/>
                <a:cs typeface="Times New Roman" panose="02020603050405020304" pitchFamily="18" charset="0"/>
              </a:rPr>
              <a:t>12 </a:t>
            </a:r>
            <a:r>
              <a:rPr lang="en-US" sz="1100" dirty="0">
                <a:solidFill>
                  <a:srgbClr val="FF0000"/>
                </a:solidFill>
                <a:latin typeface="Times New Roman" panose="02020603050405020304" pitchFamily="18" charset="0"/>
                <a:cs typeface="Times New Roman" panose="02020603050405020304" pitchFamily="18" charset="0"/>
              </a:rPr>
              <a:t>ea.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Tiến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độ</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sửa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chữa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tại</a:t>
            </a:r>
            <a:r>
              <a:rPr lang="en-US" sz="1100" dirty="0">
                <a:solidFill>
                  <a:schemeClr val="tx1"/>
                </a:solidFill>
                <a:latin typeface="Times New Roman" panose="02020603050405020304" pitchFamily="18" charset="0"/>
                <a:cs typeface="Times New Roman" panose="02020603050405020304" pitchFamily="18" charset="0"/>
              </a:rPr>
              <a:t> shop</a:t>
            </a: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B787: </a:t>
            </a:r>
            <a:r>
              <a:rPr lang="en-US" sz="1100" dirty="0" smtClean="0">
                <a:latin typeface="Times New Roman" panose="02020603050405020304" pitchFamily="18" charset="0"/>
                <a:cs typeface="Times New Roman" panose="02020603050405020304" pitchFamily="18" charset="0"/>
              </a:rPr>
              <a:t>06</a:t>
            </a:r>
            <a:r>
              <a:rPr lang="vi-VN" sz="1100" dirty="0" smtClean="0">
                <a:latin typeface="Times New Roman" panose="02020603050405020304" pitchFamily="18" charset="0"/>
                <a:cs typeface="Times New Roman" panose="02020603050405020304" pitchFamily="18" charset="0"/>
              </a:rPr>
              <a:t> </a:t>
            </a:r>
            <a:r>
              <a:rPr lang="vi-VN" sz="1100" dirty="0">
                <a:latin typeface="Times New Roman" panose="02020603050405020304" pitchFamily="18" charset="0"/>
                <a:cs typeface="Times New Roman" panose="02020603050405020304" pitchFamily="18" charset="0"/>
              </a:rPr>
              <a:t>ADD; </a:t>
            </a:r>
            <a:r>
              <a:rPr lang="en-US" sz="1100" dirty="0">
                <a:latin typeface="Times New Roman"/>
                <a:ea typeface="Times New Roman"/>
                <a:cs typeface="Times New Roman"/>
                <a:sym typeface="Times New Roman"/>
              </a:rPr>
              <a:t>04RO </a:t>
            </a:r>
            <a:r>
              <a:rPr lang="vi-VN" sz="1100" dirty="0">
                <a:latin typeface="Times New Roman" panose="02020603050405020304" pitchFamily="18" charset="0"/>
                <a:cs typeface="Times New Roman" panose="02020603050405020304" pitchFamily="18" charset="0"/>
              </a:rPr>
              <a:t>chưa có EDD</a:t>
            </a:r>
            <a:r>
              <a:rPr lang="en-US" sz="1100" dirty="0">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A350: </a:t>
            </a:r>
            <a:r>
              <a:rPr lang="en-US" sz="1100" dirty="0">
                <a:latin typeface="Times New Roman" panose="02020603050405020304" pitchFamily="18" charset="0"/>
                <a:cs typeface="Times New Roman" panose="02020603050405020304" pitchFamily="18" charset="0"/>
              </a:rPr>
              <a:t>06  ADD; </a:t>
            </a:r>
            <a:r>
              <a:rPr lang="en-US" sz="1100" dirty="0">
                <a:latin typeface="Times New Roman"/>
                <a:cs typeface="Times New Roman"/>
                <a:sym typeface="Times New Roman"/>
              </a:rPr>
              <a:t>05</a:t>
            </a:r>
            <a:r>
              <a:rPr lang="en-US" sz="1100" dirty="0">
                <a:latin typeface="Times New Roman"/>
                <a:ea typeface="Times New Roman"/>
                <a:cs typeface="Times New Roman"/>
                <a:sym typeface="Times New Roman"/>
              </a:rPr>
              <a:t> RO, </a:t>
            </a:r>
            <a:r>
              <a:rPr lang="vi-VN" sz="1100" dirty="0">
                <a:latin typeface="Times New Roman" panose="02020603050405020304" pitchFamily="18" charset="0"/>
                <a:cs typeface="Times New Roman" panose="02020603050405020304" pitchFamily="18" charset="0"/>
              </a:rPr>
              <a:t>chưa có EDD</a:t>
            </a:r>
            <a:endParaRPr lang="en-US" sz="1100" dirty="0">
              <a:latin typeface="Times New Roman"/>
              <a:cs typeface="Times New Roman"/>
              <a:sym typeface="Times New Roman"/>
            </a:endParaRPr>
          </a:p>
          <a:p>
            <a:pPr marL="285750" indent="-285750">
              <a:buClr>
                <a:srgbClr val="000000"/>
              </a:buClr>
              <a:buSzPts val="1300"/>
              <a:buFont typeface="Times New Roman" panose="02020603050405020304" pitchFamily="18" charset="0"/>
              <a:buChar char="⁃"/>
            </a:pPr>
            <a:r>
              <a:rPr lang="en-US" sz="1100" dirty="0">
                <a:latin typeface="Times New Roman" panose="02020603050405020304" pitchFamily="18" charset="0"/>
                <a:cs typeface="Times New Roman" panose="02020603050405020304" pitchFamily="18" charset="0"/>
              </a:rPr>
              <a:t>Hỏng hóc oven: </a:t>
            </a:r>
            <a:r>
              <a:rPr lang="en-US" sz="1100" dirty="0">
                <a:solidFill>
                  <a:srgbClr val="FF0000"/>
                </a:solidFill>
                <a:latin typeface="Times New Roman" panose="02020603050405020304" pitchFamily="18" charset="0"/>
                <a:cs typeface="Times New Roman" panose="02020603050405020304" pitchFamily="18" charset="0"/>
              </a:rPr>
              <a:t>hỏng hóc </a:t>
            </a:r>
            <a:r>
              <a:rPr lang="en-US" sz="1100" dirty="0" smtClean="0">
                <a:solidFill>
                  <a:srgbClr val="FF0000"/>
                </a:solidFill>
                <a:latin typeface="Times New Roman" panose="02020603050405020304" pitchFamily="18" charset="0"/>
                <a:cs typeface="Times New Roman" panose="02020603050405020304" pitchFamily="18" charset="0"/>
              </a:rPr>
              <a:t>14ea</a:t>
            </a:r>
            <a:r>
              <a:rPr lang="en-US" sz="1100" dirty="0">
                <a:solidFill>
                  <a:srgbClr val="FF0000"/>
                </a:solidFill>
                <a:latin typeface="Times New Roman" panose="02020603050405020304" pitchFamily="18" charset="0"/>
                <a:cs typeface="Times New Roman" panose="02020603050405020304" pitchFamily="18" charset="0"/>
              </a:rPr>
              <a:t>, khắc phục </a:t>
            </a:r>
            <a:r>
              <a:rPr lang="en-US" sz="1100" dirty="0" smtClean="0">
                <a:solidFill>
                  <a:srgbClr val="FF0000"/>
                </a:solidFill>
                <a:latin typeface="Times New Roman" panose="02020603050405020304" pitchFamily="18" charset="0"/>
                <a:cs typeface="Times New Roman" panose="02020603050405020304" pitchFamily="18" charset="0"/>
              </a:rPr>
              <a:t>12ea</a:t>
            </a:r>
            <a:r>
              <a:rPr lang="en-US" sz="1100" dirty="0">
                <a:solidFill>
                  <a:srgbClr val="FF0000"/>
                </a:solidFill>
                <a:latin typeface="Times New Roman" panose="02020603050405020304" pitchFamily="18" charset="0"/>
                <a:cs typeface="Times New Roman" panose="02020603050405020304" pitchFamily="18" charset="0"/>
              </a:rPr>
              <a:t>, tồn </a:t>
            </a:r>
            <a:r>
              <a:rPr lang="en-US" sz="1100" dirty="0" smtClean="0">
                <a:solidFill>
                  <a:srgbClr val="FF0000"/>
                </a:solidFill>
                <a:latin typeface="Times New Roman" panose="02020603050405020304" pitchFamily="18" charset="0"/>
                <a:cs typeface="Times New Roman" panose="02020603050405020304" pitchFamily="18" charset="0"/>
              </a:rPr>
              <a:t>02ea</a:t>
            </a:r>
            <a:endParaRPr lang="en-US" sz="1100" dirty="0">
              <a:solidFill>
                <a:srgbClr val="FF0000"/>
              </a:solidFill>
              <a:latin typeface="Times New Roman" panose="02020603050405020304" pitchFamily="18" charset="0"/>
              <a:cs typeface="Times New Roman" panose="02020603050405020304" pitchFamily="18" charset="0"/>
            </a:endParaRPr>
          </a:p>
        </p:txBody>
      </p:sp>
      <p:sp>
        <p:nvSpPr>
          <p:cNvPr id="23" name="TextBox 22"/>
          <p:cNvSpPr txBox="1"/>
          <p:nvPr/>
        </p:nvSpPr>
        <p:spPr>
          <a:xfrm>
            <a:off x="366570" y="1860589"/>
            <a:ext cx="10867915" cy="61555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IFE: Thales SVDU (A350/B787): </a:t>
            </a:r>
            <a:r>
              <a:rPr lang="en-US" sz="1100" dirty="0">
                <a:latin typeface="Times New Roman" panose="02020603050405020304" pitchFamily="18" charset="0"/>
                <a:cs typeface="Times New Roman" panose="02020603050405020304" pitchFamily="18" charset="0"/>
              </a:rPr>
              <a:t>replaced </a:t>
            </a:r>
            <a:r>
              <a:rPr lang="en-GB" sz="1100" b="1" dirty="0">
                <a:solidFill>
                  <a:schemeClr val="tx1"/>
                </a:solidFill>
                <a:latin typeface="Times New Roman" panose="02020603050405020304" pitchFamily="18" charset="0"/>
                <a:cs typeface="Times New Roman" panose="02020603050405020304" pitchFamily="18" charset="0"/>
              </a:rPr>
              <a:t>2</a:t>
            </a:r>
            <a:r>
              <a:rPr lang="en-US" sz="1100" b="1" dirty="0">
                <a:solidFill>
                  <a:schemeClr val="tx1"/>
                </a:solidFill>
                <a:latin typeface="Times New Roman" panose="02020603050405020304" pitchFamily="18" charset="0"/>
                <a:cs typeface="Times New Roman" panose="02020603050405020304" pitchFamily="18" charset="0"/>
              </a:rPr>
              <a:t>682</a:t>
            </a:r>
            <a:r>
              <a:rPr lang="en-GB" sz="1100" b="1" dirty="0">
                <a:solidFill>
                  <a:schemeClr val="tx1"/>
                </a:solidFill>
                <a:latin typeface="Times New Roman" panose="02020603050405020304" pitchFamily="18" charset="0"/>
                <a:cs typeface="Times New Roman" panose="02020603050405020304" pitchFamily="18" charset="0"/>
              </a:rPr>
              <a:t>/3</a:t>
            </a:r>
            <a:r>
              <a:rPr lang="en-US" sz="1100" b="1" dirty="0" smtClean="0">
                <a:solidFill>
                  <a:schemeClr val="tx1"/>
                </a:solidFill>
                <a:latin typeface="Times New Roman" panose="02020603050405020304" pitchFamily="18" charset="0"/>
                <a:cs typeface="Times New Roman" panose="02020603050405020304" pitchFamily="18" charset="0"/>
              </a:rPr>
              <a:t>090 </a:t>
            </a:r>
            <a:r>
              <a:rPr lang="en-US" sz="1100" b="1" dirty="0">
                <a:latin typeface="Times New Roman" panose="02020603050405020304" pitchFamily="18" charset="0"/>
                <a:cs typeface="Times New Roman" panose="02020603050405020304" pitchFamily="18" charset="0"/>
              </a:rPr>
              <a:t>SVDU (còn </a:t>
            </a:r>
            <a:r>
              <a:rPr lang="en-US" sz="1100" b="1" dirty="0" smtClean="0">
                <a:latin typeface="Times New Roman" panose="02020603050405020304" pitchFamily="18" charset="0"/>
                <a:cs typeface="Times New Roman" panose="02020603050405020304" pitchFamily="18" charset="0"/>
              </a:rPr>
              <a:t>378 </a:t>
            </a:r>
            <a:r>
              <a:rPr lang="en-US" sz="1100" b="1" dirty="0">
                <a:latin typeface="Times New Roman" panose="02020603050405020304" pitchFamily="18" charset="0"/>
                <a:cs typeface="Times New Roman" panose="02020603050405020304" pitchFamily="18" charset="0"/>
              </a:rPr>
              <a:t>INOP SVDU). </a:t>
            </a:r>
            <a:r>
              <a:rPr lang="en-US" sz="1100" dirty="0">
                <a:solidFill>
                  <a:srgbClr val="FF0000"/>
                </a:solidFill>
                <a:latin typeface="Times New Roman" panose="02020603050405020304" pitchFamily="18" charset="0"/>
                <a:cs typeface="Times New Roman" panose="02020603050405020304" pitchFamily="18" charset="0"/>
              </a:rPr>
              <a:t>Trong tuần 7</a:t>
            </a:r>
            <a:r>
              <a:rPr lang="en-US" sz="1100" dirty="0" smtClean="0">
                <a:solidFill>
                  <a:srgbClr val="FF0000"/>
                </a:solidFill>
                <a:latin typeface="Times New Roman" panose="02020603050405020304" pitchFamily="18" charset="0"/>
                <a:cs typeface="Times New Roman" panose="02020603050405020304" pitchFamily="18" charset="0"/>
              </a:rPr>
              <a:t>:  </a:t>
            </a:r>
            <a:r>
              <a:rPr lang="en-US" sz="1100" dirty="0">
                <a:solidFill>
                  <a:srgbClr val="FF0000"/>
                </a:solidFill>
                <a:latin typeface="Times New Roman" panose="02020603050405020304" pitchFamily="18" charset="0"/>
                <a:cs typeface="Times New Roman" panose="02020603050405020304" pitchFamily="18" charset="0"/>
              </a:rPr>
              <a:t>hỏng mới </a:t>
            </a:r>
            <a:r>
              <a:rPr lang="en-US" sz="1100" dirty="0" smtClean="0">
                <a:solidFill>
                  <a:srgbClr val="FF0000"/>
                </a:solidFill>
                <a:latin typeface="Times New Roman" panose="02020603050405020304" pitchFamily="18" charset="0"/>
                <a:cs typeface="Times New Roman" panose="02020603050405020304" pitchFamily="18" charset="0"/>
              </a:rPr>
              <a:t>10 </a:t>
            </a:r>
            <a:r>
              <a:rPr lang="en-US" sz="1100" dirty="0">
                <a:solidFill>
                  <a:srgbClr val="FF0000"/>
                </a:solidFill>
                <a:latin typeface="Times New Roman" panose="02020603050405020304" pitchFamily="18" charset="0"/>
                <a:cs typeface="Times New Roman" panose="02020603050405020304" pitchFamily="18" charset="0"/>
              </a:rPr>
              <a:t>ea, khắc phục </a:t>
            </a:r>
            <a:r>
              <a:rPr lang="en-US" sz="1100" dirty="0" smtClean="0">
                <a:solidFill>
                  <a:srgbClr val="FF0000"/>
                </a:solidFill>
                <a:latin typeface="Times New Roman" panose="02020603050405020304" pitchFamily="18" charset="0"/>
                <a:cs typeface="Times New Roman" panose="02020603050405020304" pitchFamily="18" charset="0"/>
              </a:rPr>
              <a:t>30ea</a:t>
            </a:r>
            <a:r>
              <a:rPr lang="en-US" sz="1100" dirty="0">
                <a:solidFill>
                  <a:schemeClr val="tx1"/>
                </a:solidFill>
                <a:latin typeface="Times New Roman" panose="02020603050405020304" pitchFamily="18" charset="0"/>
                <a:cs typeface="Times New Roman" panose="02020603050405020304" pitchFamily="18" charset="0"/>
              </a:rPr>
              <a:t>. </a:t>
            </a:r>
            <a:endParaRPr lang="en-GB" sz="1100" dirty="0">
              <a:solidFill>
                <a:schemeClr val="tx1"/>
              </a:solidFill>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 -       Hỏng hóc đội bay A350: đã được khắc phục và kiểm soát</a:t>
            </a:r>
          </a:p>
          <a:p>
            <a:r>
              <a:rPr lang="en-US" sz="1100" dirty="0">
                <a:solidFill>
                  <a:schemeClr val="tx1"/>
                </a:solidFill>
                <a:latin typeface="Times New Roman" panose="02020603050405020304" pitchFamily="18" charset="0"/>
                <a:cs typeface="Times New Roman" panose="02020603050405020304" pitchFamily="18" charset="0"/>
              </a:rPr>
              <a:t>-        Hỏng hóc tồn đọng: tập trung đội bay B787, số lượng quay vòng ít </a:t>
            </a:r>
            <a:r>
              <a:rPr lang="en-US" sz="1100" dirty="0" smtClean="0">
                <a:solidFill>
                  <a:schemeClr val="tx1"/>
                </a:solidFill>
                <a:latin typeface="Times New Roman" panose="02020603050405020304" pitchFamily="18" charset="0"/>
                <a:cs typeface="Times New Roman" panose="02020603050405020304" pitchFamily="18" charset="0"/>
              </a:rPr>
              <a:t>(80ea). =&gt; Thales dự kiến bổ sung 30 SVDU trong tháng 3/2025</a:t>
            </a:r>
            <a:endParaRPr lang="en-US" sz="1100" dirty="0">
              <a:solidFill>
                <a:schemeClr val="tx1"/>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366570" y="2519413"/>
            <a:ext cx="10860609"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LAV:</a:t>
            </a:r>
          </a:p>
          <a:p>
            <a:pPr marL="285750" indent="-285750">
              <a:buFontTx/>
              <a:buChar char="-"/>
            </a:pPr>
            <a:r>
              <a:rPr lang="en-US" sz="1100" b="1" dirty="0">
                <a:latin typeface="Times New Roman" panose="02020603050405020304" pitchFamily="18" charset="0"/>
                <a:cs typeface="Times New Roman" panose="02020603050405020304" pitchFamily="18" charset="0"/>
              </a:rPr>
              <a:t>Toilet Assy</a:t>
            </a:r>
            <a:r>
              <a:rPr lang="en-US" sz="1100" b="1" dirty="0">
                <a:solidFill>
                  <a:srgbClr val="FF0000"/>
                </a:solidFill>
                <a:latin typeface="Times New Roman" panose="02020603050405020304" pitchFamily="18" charset="0"/>
                <a:cs typeface="Times New Roman" panose="02020603050405020304" pitchFamily="18" charset="0"/>
              </a:rPr>
              <a:t>: </a:t>
            </a:r>
            <a:r>
              <a:rPr lang="en-US" sz="1100" dirty="0">
                <a:solidFill>
                  <a:srgbClr val="FF0000"/>
                </a:solidFill>
                <a:latin typeface="Times New Roman" panose="02020603050405020304" pitchFamily="18" charset="0"/>
                <a:cs typeface="Times New Roman" panose="02020603050405020304" pitchFamily="18" charset="0"/>
              </a:rPr>
              <a:t>hỏng </a:t>
            </a:r>
            <a:r>
              <a:rPr lang="en-US" sz="1100" dirty="0" smtClean="0">
                <a:solidFill>
                  <a:srgbClr val="FF0000"/>
                </a:solidFill>
                <a:latin typeface="Times New Roman" panose="02020603050405020304" pitchFamily="18" charset="0"/>
                <a:cs typeface="Times New Roman" panose="02020603050405020304" pitchFamily="18" charset="0"/>
              </a:rPr>
              <a:t>03 </a:t>
            </a:r>
            <a:r>
              <a:rPr lang="en-US" sz="1100" dirty="0">
                <a:solidFill>
                  <a:srgbClr val="FF0000"/>
                </a:solidFill>
                <a:latin typeface="Times New Roman" panose="02020603050405020304" pitchFamily="18" charset="0"/>
                <a:cs typeface="Times New Roman" panose="02020603050405020304" pitchFamily="18" charset="0"/>
              </a:rPr>
              <a:t>ea, khắc phục </a:t>
            </a:r>
            <a:r>
              <a:rPr lang="en-US" sz="1100" dirty="0" smtClean="0">
                <a:solidFill>
                  <a:srgbClr val="FF0000"/>
                </a:solidFill>
                <a:latin typeface="Times New Roman" panose="02020603050405020304" pitchFamily="18" charset="0"/>
                <a:cs typeface="Times New Roman" panose="02020603050405020304" pitchFamily="18" charset="0"/>
              </a:rPr>
              <a:t>01ea</a:t>
            </a:r>
            <a:r>
              <a:rPr lang="en-US" sz="1100" dirty="0">
                <a:solidFill>
                  <a:srgbClr val="FF0000"/>
                </a:solidFill>
                <a:latin typeface="Times New Roman" panose="02020603050405020304" pitchFamily="18" charset="0"/>
                <a:cs typeface="Times New Roman" panose="02020603050405020304" pitchFamily="18" charset="0"/>
              </a:rPr>
              <a:t>, tồn </a:t>
            </a:r>
            <a:r>
              <a:rPr lang="en-US" sz="1100" dirty="0" smtClean="0">
                <a:solidFill>
                  <a:srgbClr val="FF0000"/>
                </a:solidFill>
                <a:latin typeface="Times New Roman" panose="02020603050405020304" pitchFamily="18" charset="0"/>
                <a:cs typeface="Times New Roman" panose="02020603050405020304" pitchFamily="18" charset="0"/>
              </a:rPr>
              <a:t>02ea</a:t>
            </a:r>
            <a:endParaRPr lang="en-US" sz="1100" dirty="0">
              <a:solidFill>
                <a:schemeClr val="tx1"/>
              </a:solidFill>
              <a:latin typeface="Times New Roman" panose="02020603050405020304" pitchFamily="18" charset="0"/>
              <a:cs typeface="Times New Roman" panose="02020603050405020304" pitchFamily="18" charset="0"/>
            </a:endParaRPr>
          </a:p>
          <a:p>
            <a:pPr marL="285750" indent="-285750">
              <a:buFontTx/>
              <a:buChar char="-"/>
            </a:pPr>
            <a:r>
              <a:rPr lang="en-US" sz="1100" b="1" dirty="0">
                <a:latin typeface="Times New Roman" panose="02020603050405020304" pitchFamily="18" charset="0"/>
                <a:cs typeface="Times New Roman" panose="02020603050405020304" pitchFamily="18" charset="0"/>
              </a:rPr>
              <a:t>Faucet Assy: </a:t>
            </a:r>
            <a:r>
              <a:rPr lang="en-US" sz="1100" dirty="0">
                <a:solidFill>
                  <a:srgbClr val="FF0000"/>
                </a:solidFill>
                <a:latin typeface="Times New Roman" panose="02020603050405020304" pitchFamily="18" charset="0"/>
                <a:cs typeface="Times New Roman" panose="02020603050405020304" pitchFamily="18" charset="0"/>
              </a:rPr>
              <a:t>hỏng </a:t>
            </a:r>
            <a:r>
              <a:rPr lang="en-US" sz="1100" dirty="0" smtClean="0">
                <a:solidFill>
                  <a:srgbClr val="FF0000"/>
                </a:solidFill>
                <a:latin typeface="Times New Roman" panose="02020603050405020304" pitchFamily="18" charset="0"/>
                <a:cs typeface="Times New Roman" panose="02020603050405020304" pitchFamily="18" charset="0"/>
              </a:rPr>
              <a:t>02ea</a:t>
            </a:r>
            <a:r>
              <a:rPr lang="en-US" sz="1100" dirty="0">
                <a:solidFill>
                  <a:srgbClr val="FF0000"/>
                </a:solidFill>
                <a:latin typeface="Times New Roman" panose="02020603050405020304" pitchFamily="18" charset="0"/>
                <a:cs typeface="Times New Roman" panose="02020603050405020304" pitchFamily="18" charset="0"/>
              </a:rPr>
              <a:t>, khắc phục </a:t>
            </a:r>
            <a:r>
              <a:rPr lang="en-US" sz="1100" dirty="0" smtClean="0">
                <a:solidFill>
                  <a:srgbClr val="FF0000"/>
                </a:solidFill>
                <a:latin typeface="Times New Roman" panose="02020603050405020304" pitchFamily="18" charset="0"/>
                <a:cs typeface="Times New Roman" panose="02020603050405020304" pitchFamily="18" charset="0"/>
              </a:rPr>
              <a:t>0ea</a:t>
            </a:r>
            <a:r>
              <a:rPr lang="en-US" sz="1100" dirty="0">
                <a:solidFill>
                  <a:srgbClr val="FF0000"/>
                </a:solidFill>
                <a:latin typeface="Times New Roman" panose="02020603050405020304" pitchFamily="18" charset="0"/>
                <a:cs typeface="Times New Roman" panose="02020603050405020304" pitchFamily="18" charset="0"/>
              </a:rPr>
              <a:t>, tồn </a:t>
            </a:r>
            <a:r>
              <a:rPr lang="en-US" sz="1100" dirty="0" smtClean="0">
                <a:solidFill>
                  <a:srgbClr val="FF0000"/>
                </a:solidFill>
                <a:latin typeface="Times New Roman" panose="02020603050405020304" pitchFamily="18" charset="0"/>
                <a:cs typeface="Times New Roman" panose="02020603050405020304" pitchFamily="18" charset="0"/>
              </a:rPr>
              <a:t>02ea</a:t>
            </a:r>
            <a:endParaRPr lang="en-US" sz="1100" dirty="0">
              <a:solidFill>
                <a:srgbClr val="FF0000"/>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364349" y="762000"/>
            <a:ext cx="10844923" cy="43088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ADD ảnh hưởng dịch vụ tuần </a:t>
            </a:r>
            <a:r>
              <a:rPr lang="en-US" sz="1100" b="1" dirty="0" smtClean="0">
                <a:latin typeface="Times New Roman" panose="02020603050405020304" pitchFamily="18" charset="0"/>
                <a:cs typeface="Times New Roman" panose="02020603050405020304" pitchFamily="18" charset="0"/>
              </a:rPr>
              <a:t>07: </a:t>
            </a:r>
            <a:r>
              <a:rPr lang="en-US" sz="1100" dirty="0">
                <a:latin typeface="Times New Roman" panose="02020603050405020304" pitchFamily="18" charset="0"/>
                <a:cs typeface="Times New Roman" panose="02020603050405020304" pitchFamily="18" charset="0"/>
              </a:rPr>
              <a:t>Tổng </a:t>
            </a:r>
            <a:r>
              <a:rPr lang="en-US" sz="1100" dirty="0" smtClean="0">
                <a:latin typeface="Times New Roman" panose="02020603050405020304" pitchFamily="18" charset="0"/>
                <a:cs typeface="Times New Roman" panose="02020603050405020304" pitchFamily="18" charset="0"/>
              </a:rPr>
              <a:t>216 </a:t>
            </a:r>
            <a:r>
              <a:rPr lang="en-US" sz="1100" dirty="0">
                <a:latin typeface="Times New Roman" panose="02020603050405020304" pitchFamily="18" charset="0"/>
                <a:cs typeface="Times New Roman" panose="02020603050405020304" pitchFamily="18" charset="0"/>
              </a:rPr>
              <a:t>(giảm </a:t>
            </a:r>
            <a:r>
              <a:rPr lang="en-US" sz="1100" dirty="0" smtClean="0">
                <a:latin typeface="Times New Roman" panose="02020603050405020304" pitchFamily="18" charset="0"/>
                <a:cs typeface="Times New Roman" panose="02020603050405020304" pitchFamily="18" charset="0"/>
              </a:rPr>
              <a:t>8% </a:t>
            </a:r>
            <a:r>
              <a:rPr lang="en-US" sz="1100" dirty="0">
                <a:latin typeface="Times New Roman" panose="02020603050405020304" pitchFamily="18" charset="0"/>
                <a:cs typeface="Times New Roman" panose="02020603050405020304" pitchFamily="18" charset="0"/>
              </a:rPr>
              <a:t>tuần </a:t>
            </a:r>
            <a:r>
              <a:rPr lang="en-US" sz="1100" dirty="0" smtClean="0">
                <a:latin typeface="Times New Roman" panose="02020603050405020304" pitchFamily="18" charset="0"/>
                <a:cs typeface="Times New Roman" panose="02020603050405020304" pitchFamily="18" charset="0"/>
              </a:rPr>
              <a:t>06), </a:t>
            </a:r>
            <a:r>
              <a:rPr lang="en-US" sz="1100" dirty="0">
                <a:latin typeface="Times New Roman" panose="02020603050405020304" pitchFamily="18" charset="0"/>
                <a:cs typeface="Times New Roman" panose="02020603050405020304" pitchFamily="18" charset="0"/>
              </a:rPr>
              <a:t>khắc phục </a:t>
            </a:r>
            <a:r>
              <a:rPr lang="en-US" sz="1100" dirty="0" smtClean="0">
                <a:latin typeface="Times New Roman" panose="02020603050405020304" pitchFamily="18" charset="0"/>
                <a:cs typeface="Times New Roman" panose="02020603050405020304" pitchFamily="18" charset="0"/>
              </a:rPr>
              <a:t>73ADD </a:t>
            </a:r>
            <a:r>
              <a:rPr lang="en-US" sz="1100" dirty="0">
                <a:latin typeface="Times New Roman" panose="02020603050405020304" pitchFamily="18" charset="0"/>
                <a:cs typeface="Times New Roman" panose="02020603050405020304" pitchFamily="18" charset="0"/>
              </a:rPr>
              <a:t>=&gt; tồn đọng </a:t>
            </a:r>
            <a:r>
              <a:rPr lang="en-US" sz="1100" b="1" dirty="0" smtClean="0">
                <a:latin typeface="Times New Roman" panose="02020603050405020304" pitchFamily="18" charset="0"/>
                <a:cs typeface="Times New Roman" panose="02020603050405020304" pitchFamily="18" charset="0"/>
              </a:rPr>
              <a:t>143ADD</a:t>
            </a:r>
            <a:r>
              <a:rPr lang="en-US" sz="1100" dirty="0" smtClean="0">
                <a:latin typeface="Times New Roman" panose="02020603050405020304" pitchFamily="18" charset="0"/>
                <a:cs typeface="Times New Roman" panose="02020603050405020304" pitchFamily="18" charset="0"/>
              </a:rPr>
              <a:t> </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(giảm </a:t>
            </a:r>
            <a:r>
              <a:rPr lang="en-US" sz="1100" dirty="0" smtClean="0">
                <a:solidFill>
                  <a:schemeClr val="tx1">
                    <a:lumMod val="65000"/>
                    <a:lumOff val="35000"/>
                  </a:schemeClr>
                </a:solidFill>
                <a:latin typeface="Times New Roman" panose="02020603050405020304" pitchFamily="18" charset="0"/>
                <a:cs typeface="Times New Roman" panose="02020603050405020304" pitchFamily="18" charset="0"/>
              </a:rPr>
              <a:t>6% </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so với tuần </a:t>
            </a:r>
            <a:r>
              <a:rPr lang="en-US" sz="1100" dirty="0" smtClean="0">
                <a:solidFill>
                  <a:schemeClr val="tx1">
                    <a:lumMod val="65000"/>
                    <a:lumOff val="35000"/>
                  </a:schemeClr>
                </a:solidFill>
                <a:latin typeface="Times New Roman" panose="02020603050405020304" pitchFamily="18" charset="0"/>
                <a:cs typeface="Times New Roman" panose="02020603050405020304" pitchFamily="18" charset="0"/>
              </a:rPr>
              <a:t>6/2025</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a:t>
            </a:r>
          </a:p>
          <a:p>
            <a:endParaRPr lang="en-US" sz="11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75533" y="1233251"/>
            <a:ext cx="10867915"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Hỏng hóc Ghế thuộc diện cắt khách tuần </a:t>
            </a:r>
            <a:r>
              <a:rPr lang="en-US" sz="1100" b="1" dirty="0" smtClean="0">
                <a:latin typeface="Times New Roman" panose="02020603050405020304" pitchFamily="18" charset="0"/>
                <a:cs typeface="Times New Roman" panose="02020603050405020304" pitchFamily="18" charset="0"/>
              </a:rPr>
              <a:t>07</a:t>
            </a:r>
            <a:endParaRPr lang="en-US" sz="1100" b="1" dirty="0">
              <a:latin typeface="Times New Roman" panose="02020603050405020304" pitchFamily="18" charset="0"/>
              <a:cs typeface="Times New Roman" panose="02020603050405020304" pitchFamily="18" charset="0"/>
            </a:endParaRPr>
          </a:p>
          <a:p>
            <a:pPr marL="285750" indent="-285750">
              <a:buFontTx/>
              <a:buChar char="-"/>
            </a:pPr>
            <a:r>
              <a:rPr lang="en-US" sz="1100" b="1" dirty="0">
                <a:latin typeface="Times New Roman" panose="02020603050405020304" pitchFamily="18" charset="0"/>
                <a:cs typeface="Times New Roman" panose="02020603050405020304" pitchFamily="18" charset="0"/>
              </a:rPr>
              <a:t>Ghế C</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02, đã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02,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00.</a:t>
            </a:r>
          </a:p>
          <a:p>
            <a:pPr marL="285750" indent="-285750">
              <a:buFontTx/>
              <a:buChar char="-"/>
            </a:pPr>
            <a:r>
              <a:rPr lang="en-US" sz="1100" b="1" dirty="0">
                <a:latin typeface="Times New Roman" panose="02020603050405020304" pitchFamily="18" charset="0"/>
                <a:cs typeface="Times New Roman" panose="02020603050405020304" pitchFamily="18" charset="0"/>
              </a:rPr>
              <a:t>Ghế Y</a:t>
            </a:r>
            <a:r>
              <a:rPr lang="en-US" sz="1100" b="1" dirty="0">
                <a:solidFill>
                  <a:srgbClr val="FF0000"/>
                </a:solidFill>
                <a:latin typeface="Times New Roman" panose="02020603050405020304" pitchFamily="18" charset="0"/>
                <a:cs typeface="Times New Roman" panose="02020603050405020304" pitchFamily="18" charset="0"/>
              </a:rPr>
              <a:t>: </a:t>
            </a:r>
            <a:r>
              <a:rPr lang="en-US" sz="1100" dirty="0">
                <a:solidFill>
                  <a:srgbClr val="FF0000"/>
                </a:solidFill>
                <a:latin typeface="Times New Roman" panose="02020603050405020304" pitchFamily="18" charset="0"/>
                <a:cs typeface="Times New Roman" panose="02020603050405020304" pitchFamily="18" charset="0"/>
              </a:rPr>
              <a:t>hỏng 6</a:t>
            </a:r>
            <a:r>
              <a:rPr lang="en-US" sz="1100" dirty="0" smtClean="0">
                <a:solidFill>
                  <a:srgbClr val="FF0000"/>
                </a:solidFill>
                <a:latin typeface="Times New Roman" panose="02020603050405020304" pitchFamily="18" charset="0"/>
                <a:cs typeface="Times New Roman" panose="02020603050405020304" pitchFamily="18" charset="0"/>
              </a:rPr>
              <a:t>, </a:t>
            </a:r>
            <a:r>
              <a:rPr lang="en-US" sz="1100" dirty="0">
                <a:solidFill>
                  <a:srgbClr val="FF0000"/>
                </a:solidFill>
                <a:latin typeface="Times New Roman" panose="02020603050405020304" pitchFamily="18" charset="0"/>
                <a:cs typeface="Times New Roman" panose="02020603050405020304" pitchFamily="18" charset="0"/>
              </a:rPr>
              <a:t>đã khắc phục </a:t>
            </a:r>
            <a:r>
              <a:rPr lang="en-US" sz="1100" dirty="0" smtClean="0">
                <a:solidFill>
                  <a:srgbClr val="FF0000"/>
                </a:solidFill>
                <a:latin typeface="Times New Roman" panose="02020603050405020304" pitchFamily="18" charset="0"/>
                <a:cs typeface="Times New Roman" panose="02020603050405020304" pitchFamily="18" charset="0"/>
              </a:rPr>
              <a:t>4, </a:t>
            </a:r>
            <a:r>
              <a:rPr lang="en-US" sz="1100" dirty="0">
                <a:solidFill>
                  <a:srgbClr val="FF0000"/>
                </a:solidFill>
                <a:latin typeface="Times New Roman" panose="02020603050405020304" pitchFamily="18" charset="0"/>
                <a:cs typeface="Times New Roman" panose="02020603050405020304" pitchFamily="18" charset="0"/>
              </a:rPr>
              <a:t>tồn 02</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5167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6"/>
          <p:cNvSpPr txBox="1"/>
          <p:nvPr/>
        </p:nvSpPr>
        <p:spPr>
          <a:xfrm>
            <a:off x="761998" y="527600"/>
            <a:ext cx="10820401" cy="543635"/>
          </a:xfrm>
          <a:prstGeom prst="rect">
            <a:avLst/>
          </a:prstGeom>
          <a:noFill/>
          <a:ln>
            <a:noFill/>
          </a:ln>
        </p:spPr>
        <p:txBody>
          <a:bodyPr spcFirstLastPara="1" wrap="square" lIns="91433" tIns="45700" rIns="91433" bIns="45700" anchor="t" anchorCtr="0">
            <a:spAutoFit/>
          </a:bodyPr>
          <a:lstStyle/>
          <a:p>
            <a:pPr lvl="0"/>
            <a:r>
              <a:rPr lang="en-US" sz="2800" b="1" dirty="0">
                <a:ln w="0"/>
                <a:solidFill>
                  <a:srgbClr val="FBAC00"/>
                </a:solidFill>
                <a:latin typeface="Times New Roman" panose="02020603050405020304" pitchFamily="18" charset="0"/>
                <a:cs typeface="Times New Roman" panose="02020603050405020304" pitchFamily="18" charset="0"/>
              </a:rPr>
              <a:t>CÔNG TÁC BÁN TRẢ/TIẾP NHẬN/BÀN GIAO TÀU BAY</a:t>
            </a:r>
            <a:endParaRPr sz="2800" dirty="0"/>
          </a:p>
        </p:txBody>
      </p:sp>
      <p:sp>
        <p:nvSpPr>
          <p:cNvPr id="66" name="Google Shape;66;p6"/>
          <p:cNvSpPr txBox="1"/>
          <p:nvPr/>
        </p:nvSpPr>
        <p:spPr>
          <a:xfrm>
            <a:off x="761999" y="1317577"/>
            <a:ext cx="10820401" cy="4154943"/>
          </a:xfrm>
          <a:prstGeom prst="rect">
            <a:avLst/>
          </a:prstGeom>
          <a:noFill/>
          <a:ln>
            <a:noFill/>
          </a:ln>
        </p:spPr>
        <p:txBody>
          <a:bodyPr spcFirstLastPara="1" wrap="square" lIns="91433" tIns="45700" rIns="91433" bIns="45700" anchor="t" anchorCtr="0">
            <a:spAutoFit/>
          </a:bodyPr>
          <a:lstStyle/>
          <a:p>
            <a:pPr lvl="2" algn="just"/>
            <a:endParaRPr lang="en-US" sz="1600" b="1" dirty="0">
              <a:latin typeface="Times New Roman" panose="02020603050405020304" pitchFamily="18" charset="0"/>
              <a:cs typeface="Times New Roman" panose="02020603050405020304" pitchFamily="18" charset="0"/>
            </a:endParaRPr>
          </a:p>
          <a:p>
            <a:pPr lvl="0" algn="just"/>
            <a:r>
              <a:rPr lang="en-US" sz="1600" b="1" dirty="0">
                <a:latin typeface="Times New Roman" panose="02020603050405020304" pitchFamily="18" charset="0"/>
                <a:cs typeface="Times New Roman" panose="02020603050405020304" pitchFamily="18" charset="0"/>
              </a:rPr>
              <a:t>GIA HẠN THUÊ 10 TÀU VALC </a:t>
            </a:r>
          </a:p>
          <a:p>
            <a:pPr algn="just"/>
            <a:r>
              <a:rPr lang="en-US" sz="1600" dirty="0">
                <a:latin typeface="Times New Roman" panose="02020603050405020304" pitchFamily="18" charset="0"/>
                <a:cs typeface="Times New Roman" panose="02020603050405020304" pitchFamily="18" charset="0"/>
              </a:rPr>
              <a:t>VNA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VALC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đồng</a:t>
            </a:r>
            <a:r>
              <a:rPr lang="en-US" sz="1600" dirty="0">
                <a:latin typeface="Times New Roman" panose="02020603050405020304" pitchFamily="18" charset="0"/>
                <a:cs typeface="Times New Roman" panose="02020603050405020304" pitchFamily="18" charset="0"/>
              </a:rPr>
              <a:t> ý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tạm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thời</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31/03/2025.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02 </a:t>
            </a:r>
            <a:r>
              <a:rPr lang="en-US" sz="1600" dirty="0" err="1">
                <a:latin typeface="Times New Roman" panose="02020603050405020304" pitchFamily="18" charset="0"/>
                <a:cs typeface="Times New Roman" panose="02020603050405020304" pitchFamily="18" charset="0"/>
              </a:rPr>
              <a:t>đối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tâm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mua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là</a:t>
            </a:r>
            <a:r>
              <a:rPr lang="en-US" sz="1600" dirty="0">
                <a:latin typeface="Times New Roman" panose="02020603050405020304" pitchFamily="18" charset="0"/>
                <a:cs typeface="Times New Roman" panose="02020603050405020304" pitchFamily="18" charset="0"/>
              </a:rPr>
              <a:t> Arena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FTAI. </a:t>
            </a:r>
            <a:r>
              <a:rPr lang="en-US" sz="1600" dirty="0" err="1">
                <a:latin typeface="Times New Roman" panose="02020603050405020304" pitchFamily="18" charset="0"/>
                <a:cs typeface="Times New Roman" panose="02020603050405020304" pitchFamily="18" charset="0"/>
              </a:rPr>
              <a:t>Thủ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tục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của</a:t>
            </a:r>
            <a:r>
              <a:rPr lang="en-US" sz="1600" dirty="0">
                <a:latin typeface="Times New Roman" panose="02020603050405020304" pitchFamily="18" charset="0"/>
                <a:cs typeface="Times New Roman" panose="02020603050405020304" pitchFamily="18" charset="0"/>
              </a:rPr>
              <a:t> VALC </a:t>
            </a:r>
            <a:r>
              <a:rPr lang="en-US" sz="1600" dirty="0" err="1">
                <a:latin typeface="Times New Roman" panose="02020603050405020304" pitchFamily="18" charset="0"/>
                <a:cs typeface="Times New Roman" panose="02020603050405020304" pitchFamily="18" charset="0"/>
              </a:rPr>
              <a:t>chậm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năng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hợp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đồng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tiếp</a:t>
            </a:r>
            <a:r>
              <a:rPr lang="en-US" sz="1600" dirty="0">
                <a:latin typeface="Times New Roman" panose="02020603050405020304" pitchFamily="18" charset="0"/>
                <a:cs typeface="Times New Roman" panose="02020603050405020304" pitchFamily="18" charset="0"/>
              </a:rPr>
              <a:t> 3 </a:t>
            </a:r>
            <a:r>
              <a:rPr lang="en-US" sz="1600" dirty="0" err="1">
                <a:latin typeface="Times New Roman" panose="02020603050405020304" pitchFamily="18" charset="0"/>
                <a:cs typeface="Times New Roman" panose="02020603050405020304" pitchFamily="18" charset="0"/>
              </a:rPr>
              <a:t>tháng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30/06/2025.</a:t>
            </a:r>
          </a:p>
          <a:p>
            <a:pPr lvl="0" algn="just"/>
            <a:r>
              <a:rPr lang="en-US" sz="1600" dirty="0">
                <a:latin typeface="Times New Roman" panose="02020603050405020304" pitchFamily="18" charset="0"/>
                <a:cs typeface="Times New Roman" panose="02020603050405020304" pitchFamily="18" charset="0"/>
              </a:rPr>
              <a:t>1,  Arena: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A321 </a:t>
            </a:r>
            <a:r>
              <a:rPr lang="en-US" sz="1600" dirty="0" err="1">
                <a:latin typeface="Times New Roman" panose="02020603050405020304" pitchFamily="18" charset="0"/>
                <a:cs typeface="Times New Roman" panose="02020603050405020304" pitchFamily="18" charset="0"/>
              </a:rPr>
              <a:t>với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thời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trung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bình</a:t>
            </a:r>
            <a:r>
              <a:rPr lang="en-US" sz="1600" dirty="0">
                <a:latin typeface="Times New Roman" panose="02020603050405020304" pitchFamily="18" charset="0"/>
                <a:cs typeface="Times New Roman" panose="02020603050405020304" pitchFamily="18" charset="0"/>
              </a:rPr>
              <a:t> 5 </a:t>
            </a:r>
            <a:r>
              <a:rPr lang="en-US" sz="1600" dirty="0" err="1">
                <a:latin typeface="Times New Roman" panose="02020603050405020304" pitchFamily="18" charset="0"/>
                <a:cs typeface="Times New Roman" panose="02020603050405020304" pitchFamily="18" charset="0"/>
              </a:rPr>
              <a:t>năm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đàm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đàm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thống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nhất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nội</a:t>
            </a:r>
            <a:r>
              <a:rPr lang="en-US" sz="1600" dirty="0">
                <a:latin typeface="Times New Roman" panose="02020603050405020304" pitchFamily="18" charset="0"/>
                <a:cs typeface="Times New Roman" panose="02020603050405020304" pitchFamily="18" charset="0"/>
              </a:rPr>
              <a:t> dung </a:t>
            </a:r>
            <a:r>
              <a:rPr lang="en-US" sz="1600" dirty="0" err="1">
                <a:latin typeface="Times New Roman" panose="02020603050405020304" pitchFamily="18" charset="0"/>
                <a:cs typeface="Times New Roman" panose="02020603050405020304" pitchFamily="18" charset="0"/>
              </a:rPr>
              <a:t>liên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tới</a:t>
            </a:r>
            <a:r>
              <a:rPr lang="en-US" sz="1600" dirty="0">
                <a:latin typeface="Times New Roman" panose="02020603050405020304" pitchFamily="18" charset="0"/>
                <a:cs typeface="Times New Roman" panose="02020603050405020304" pitchFamily="18" charset="0"/>
              </a:rPr>
              <a:t> KT</a:t>
            </a:r>
          </a:p>
          <a:p>
            <a:pPr lvl="0" algn="just"/>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vấn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đề</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lớn</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Arena </a:t>
            </a:r>
            <a:r>
              <a:rPr lang="en-US" sz="1600" dirty="0" err="1">
                <a:latin typeface="Times New Roman" panose="02020603050405020304" pitchFamily="18" charset="0"/>
                <a:cs typeface="Times New Roman" panose="02020603050405020304" pitchFamily="18" charset="0"/>
              </a:rPr>
              <a:t>đang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đề</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xuất</a:t>
            </a:r>
            <a:r>
              <a:rPr lang="en-US" sz="1600" dirty="0">
                <a:latin typeface="Times New Roman" panose="02020603050405020304" pitchFamily="18" charset="0"/>
                <a:cs typeface="Times New Roman" panose="02020603050405020304" pitchFamily="18" charset="0"/>
              </a:rPr>
              <a:t>:</a:t>
            </a:r>
          </a:p>
          <a:p>
            <a:pPr lvl="1" algn="just">
              <a:spcBef>
                <a:spcPts val="600"/>
              </a:spcBef>
              <a:spcAft>
                <a:spcPts val="600"/>
              </a:spcAft>
            </a:pPr>
            <a:r>
              <a:rPr lang="en-US" sz="1600" dirty="0">
                <a:latin typeface="Times New Roman" panose="02020603050405020304" pitchFamily="18" charset="0"/>
                <a:cs typeface="Times New Roman" panose="02020603050405020304" pitchFamily="18" charset="0"/>
              </a:rPr>
              <a:t>a.  </a:t>
            </a:r>
            <a:r>
              <a:rPr lang="vi-VN" sz="1600" dirty="0">
                <a:latin typeface="Times New Roman" panose="02020603050405020304" pitchFamily="18" charset="0"/>
                <a:cs typeface="Times New Roman" panose="02020603050405020304" pitchFamily="18" charset="0"/>
              </a:rPr>
              <a:t>10 tàu bay cần được duy trì khả năng khai thác sau khi hết hợp đồng gia hạn với Arena.</a:t>
            </a:r>
          </a:p>
          <a:p>
            <a:pPr lvl="1" algn="just">
              <a:spcBef>
                <a:spcPts val="600"/>
              </a:spcBef>
              <a:spcAft>
                <a:spcPts val="600"/>
              </a:spcAft>
            </a:pPr>
            <a:r>
              <a:rPr lang="en-US" sz="1600" dirty="0">
                <a:latin typeface="Times New Roman" panose="02020603050405020304" pitchFamily="18" charset="0"/>
                <a:cs typeface="Times New Roman" panose="02020603050405020304" pitchFamily="18" charset="0"/>
              </a:rPr>
              <a:t>b.  </a:t>
            </a:r>
            <a:r>
              <a:rPr lang="vi-VN" sz="1600" dirty="0">
                <a:latin typeface="Times New Roman" panose="02020603050405020304" pitchFamily="18" charset="0"/>
                <a:cs typeface="Times New Roman" panose="02020603050405020304" pitchFamily="18" charset="0"/>
              </a:rPr>
              <a:t>Thực hiện balancing quỹ bảo dưỡng sau khi kết thúc gia hạn thuê.</a:t>
            </a:r>
          </a:p>
          <a:p>
            <a:pPr lvl="1" algn="just">
              <a:spcBef>
                <a:spcPts val="600"/>
              </a:spcBef>
              <a:spcAft>
                <a:spcPts val="600"/>
              </a:spcAft>
            </a:pPr>
            <a:r>
              <a:rPr lang="en-US" sz="1600" dirty="0">
                <a:latin typeface="Times New Roman" panose="02020603050405020304" pitchFamily="18" charset="0"/>
                <a:cs typeface="Times New Roman" panose="02020603050405020304" pitchFamily="18" charset="0"/>
              </a:rPr>
              <a:t>c.  </a:t>
            </a:r>
            <a:r>
              <a:rPr lang="vi-VN" sz="1600" dirty="0">
                <a:latin typeface="Times New Roman" panose="02020603050405020304" pitchFamily="18" charset="0"/>
                <a:cs typeface="Times New Roman" panose="02020603050405020304" pitchFamily="18" charset="0"/>
              </a:rPr>
              <a:t>Đồng ý giảm MR và đề xuất phương án buy-out</a:t>
            </a:r>
            <a:r>
              <a:rPr lang="en-US" sz="1600"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cho </a:t>
            </a:r>
            <a:r>
              <a:rPr lang="en-US" sz="1600" dirty="0" err="1">
                <a:latin typeface="Times New Roman" panose="02020603050405020304" pitchFamily="18" charset="0"/>
                <a:cs typeface="Times New Roman" panose="02020603050405020304" pitchFamily="18" charset="0"/>
              </a:rPr>
              <a:t>một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số</a:t>
            </a:r>
            <a:r>
              <a:rPr lang="en-US" sz="1600"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điều kiện trả</a:t>
            </a:r>
            <a:r>
              <a:rPr lang="en-US" sz="1600" dirty="0">
                <a:latin typeface="Times New Roman" panose="02020603050405020304" pitchFamily="18" charset="0"/>
                <a:cs typeface="Times New Roman" panose="02020603050405020304" pitchFamily="18" charset="0"/>
              </a:rPr>
              <a:t>.</a:t>
            </a:r>
          </a:p>
          <a:p>
            <a:pPr algn="just">
              <a:spcBef>
                <a:spcPts val="600"/>
              </a:spcBef>
              <a:spcAft>
                <a:spcPts val="600"/>
              </a:spcAft>
            </a:pPr>
            <a:r>
              <a:rPr lang="en-US" sz="1600" dirty="0">
                <a:latin typeface="Times New Roman" panose="02020603050405020304" pitchFamily="18" charset="0"/>
                <a:cs typeface="Times New Roman" panose="02020603050405020304" pitchFamily="18" charset="0"/>
              </a:rPr>
              <a:t>2,  FTAI: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A321 </a:t>
            </a:r>
            <a:r>
              <a:rPr lang="en-US" sz="1600" dirty="0" err="1">
                <a:latin typeface="Times New Roman" panose="02020603050405020304" pitchFamily="18" charset="0"/>
                <a:cs typeface="Times New Roman" panose="02020603050405020304" pitchFamily="18" charset="0"/>
              </a:rPr>
              <a:t>với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điều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là</a:t>
            </a:r>
            <a:r>
              <a:rPr lang="en-US" sz="1600" dirty="0">
                <a:latin typeface="Times New Roman" panose="02020603050405020304" pitchFamily="18" charset="0"/>
                <a:cs typeface="Times New Roman" panose="02020603050405020304" pitchFamily="18" charset="0"/>
              </a:rPr>
              <a:t> As-is,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đảm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hỗ</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run-out.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thực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đóng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quỹ</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ngoại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trừ</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Bàn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nhiều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thuận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cho</a:t>
            </a:r>
            <a:r>
              <a:rPr lang="en-US" sz="1600" dirty="0">
                <a:latin typeface="Times New Roman" panose="02020603050405020304" pitchFamily="18" charset="0"/>
                <a:cs typeface="Times New Roman" panose="02020603050405020304" pitchFamily="18" charset="0"/>
              </a:rPr>
              <a:t> VNA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p>
          <a:p>
            <a:pPr lvl="2"/>
            <a:endParaRPr lang="en-US" sz="1600" b="1" dirty="0">
              <a:solidFill>
                <a:srgbClr val="006880"/>
              </a:solidFill>
              <a:latin typeface="Times New Roman" panose="02020603050405020304" pitchFamily="18" charset="0"/>
              <a:cs typeface="Times New Roman" panose="02020603050405020304" pitchFamily="18" charset="0"/>
            </a:endParaRPr>
          </a:p>
          <a:p>
            <a:endParaRPr sz="1600" b="1" dirty="0">
              <a:solidFill>
                <a:srgbClr val="006880"/>
              </a:solidFill>
              <a:latin typeface="Times New Roman" panose="02020603050405020304" pitchFamily="18" charset="0"/>
              <a:cs typeface="Times New Roman" panose="02020603050405020304" pitchFamily="18" charset="0"/>
            </a:endParaRPr>
          </a:p>
        </p:txBody>
      </p:sp>
      <p:sp>
        <p:nvSpPr>
          <p:cNvPr id="76" name="Google Shape;76;p6"/>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45</a:t>
            </a:fld>
            <a:endParaRPr/>
          </a:p>
        </p:txBody>
      </p:sp>
    </p:spTree>
    <p:extLst>
      <p:ext uri="{BB962C8B-B14F-4D97-AF65-F5344CB8AC3E}">
        <p14:creationId xmlns:p14="http://schemas.microsoft.com/office/powerpoint/2010/main" val="32957286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46</a:t>
            </a:fld>
            <a:endParaRPr lang="en-US"/>
          </a:p>
        </p:txBody>
      </p:sp>
      <p:sp>
        <p:nvSpPr>
          <p:cNvPr id="5" name="Title 4"/>
          <p:cNvSpPr>
            <a:spLocks noGrp="1"/>
          </p:cNvSpPr>
          <p:nvPr>
            <p:ph type="title"/>
          </p:nvPr>
        </p:nvSpPr>
        <p:spPr>
          <a:xfrm>
            <a:off x="228600" y="460710"/>
            <a:ext cx="5663033" cy="482045"/>
          </a:xfrm>
        </p:spPr>
        <p:txBody>
          <a:bodyPr>
            <a:noAutofit/>
          </a:bodyPr>
          <a:lstStyle/>
          <a:p>
            <a:r>
              <a:rPr lang="en-US" sz="2400">
                <a:ln w="0"/>
                <a:solidFill>
                  <a:srgbClr val="FFC000"/>
                </a:solidFill>
                <a:latin typeface="Times New Roman" panose="02020603050405020304" pitchFamily="18" charset="0"/>
                <a:ea typeface="+mn-ea"/>
                <a:cs typeface="Times New Roman" panose="02020603050405020304" pitchFamily="18" charset="0"/>
              </a:rPr>
              <a:t>NHÂN NHƯỢNG TRONG TUẦN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6" name="Chart 5">
            <a:extLst>
              <a:ext uri="{FF2B5EF4-FFF2-40B4-BE49-F238E27FC236}">
                <a16:creationId xmlns:xdr="http://schemas.openxmlformats.org/drawingml/2006/spreadsheetDrawing" xmlns="" xmlns:a16="http://schemas.microsoft.com/office/drawing/2014/main" xmlns:lc="http://schemas.openxmlformats.org/drawingml/2006/lockedCanvas" id="{00000000-0008-0000-0900-000007000000}"/>
              </a:ext>
            </a:extLst>
          </p:cNvPr>
          <p:cNvGraphicFramePr>
            <a:graphicFrameLocks/>
          </p:cNvGraphicFramePr>
          <p:nvPr>
            <p:extLst>
              <p:ext uri="{D42A27DB-BD31-4B8C-83A1-F6EECF244321}">
                <p14:modId xmlns:p14="http://schemas.microsoft.com/office/powerpoint/2010/main" val="2315581180"/>
              </p:ext>
            </p:extLst>
          </p:nvPr>
        </p:nvGraphicFramePr>
        <p:xfrm>
          <a:off x="3733800" y="942755"/>
          <a:ext cx="4116876" cy="23593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578495923"/>
              </p:ext>
            </p:extLst>
          </p:nvPr>
        </p:nvGraphicFramePr>
        <p:xfrm>
          <a:off x="633833" y="3429000"/>
          <a:ext cx="10515600" cy="1852227"/>
        </p:xfrm>
        <a:graphic>
          <a:graphicData uri="http://schemas.openxmlformats.org/drawingml/2006/table">
            <a:tbl>
              <a:tblPr/>
              <a:tblGrid>
                <a:gridCol w="204769"/>
                <a:gridCol w="1309279"/>
                <a:gridCol w="421948"/>
                <a:gridCol w="455042"/>
                <a:gridCol w="5274347"/>
                <a:gridCol w="508819"/>
                <a:gridCol w="663947"/>
                <a:gridCol w="1323758"/>
                <a:gridCol w="353691"/>
              </a:tblGrid>
              <a:tr h="226142">
                <a:tc gridSpan="9">
                  <a:txBody>
                    <a:bodyPr/>
                    <a:lstStyle/>
                    <a:p>
                      <a:pPr algn="ctr" fontAlgn="ctr"/>
                      <a:r>
                        <a:rPr lang="vi-VN" sz="1050" b="1" i="0" u="none" strike="noStrike">
                          <a:solidFill>
                            <a:srgbClr val="000000"/>
                          </a:solidFill>
                          <a:effectLst/>
                          <a:latin typeface="Times New Roman" panose="02020603050405020304" pitchFamily="18" charset="0"/>
                        </a:rPr>
                        <a:t>BẢNG TỔNG HỢP VÀ THEO DÕI NHÂN NHƯỢNG - VIETNAM AIRLINES</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26142">
                <a:tc>
                  <a:txBody>
                    <a:bodyPr/>
                    <a:lstStyle/>
                    <a:p>
                      <a:pPr algn="ctr" fontAlgn="ctr"/>
                      <a:r>
                        <a:rPr lang="en-US" sz="1050" b="1" i="0" u="none" strike="noStrike">
                          <a:solidFill>
                            <a:srgbClr val="000000"/>
                          </a:solidFill>
                          <a:effectLst/>
                          <a:latin typeface="Times New Roman" panose="02020603050405020304" pitchFamily="18" charset="0"/>
                        </a:rPr>
                        <a:t>No</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Concession No.</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Type</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Reg</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Description</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Issued By</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Issued Date</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ADD/CHK/Task No</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Status</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33438">
                <a:tc>
                  <a:txBody>
                    <a:bodyPr/>
                    <a:lstStyle/>
                    <a:p>
                      <a:pPr algn="ctr" fontAlgn="ctr"/>
                      <a:r>
                        <a:rPr lang="en-US" sz="1050" b="0" i="0" u="none" strike="noStrike">
                          <a:solidFill>
                            <a:srgbClr val="000000"/>
                          </a:solidFill>
                          <a:effectLst/>
                          <a:latin typeface="Times New Roman" panose="02020603050405020304" pitchFamily="18" charset="0"/>
                        </a:rPr>
                        <a:t>1</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HVN/VN-A605/2025-0-11</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ADD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A605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ADD B1718 RAIN REPELLENT SYSTEM INOP RAISED IAW MEL 30-45-03A REV06/24. CAT D. EXP: 11/02/2025 </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CAAV</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11-Feb-2025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ADD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 </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33438">
                <a:tc>
                  <a:txBody>
                    <a:bodyPr/>
                    <a:lstStyle/>
                    <a:p>
                      <a:pPr algn="ctr" fontAlgn="ctr"/>
                      <a:r>
                        <a:rPr lang="en-US" sz="1050" b="0" i="0" u="none" strike="noStrike">
                          <a:solidFill>
                            <a:srgbClr val="000000"/>
                          </a:solidFill>
                          <a:effectLst/>
                          <a:latin typeface="Times New Roman" panose="02020603050405020304" pitchFamily="18" charset="0"/>
                        </a:rPr>
                        <a:t>2</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HVN/VN-A873/2025-0-12</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ADD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A873</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ADD B501 &amp; B502 APU INOP &amp; EDTO BEYOND 180 MINS IS NOT CONDUCTED. Hết hạn nn lần 1 ngày 12/2 </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CAAV</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12-Feb-2025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ADD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 </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33438">
                <a:tc>
                  <a:txBody>
                    <a:bodyPr/>
                    <a:lstStyle/>
                    <a:p>
                      <a:pPr algn="ctr" fontAlgn="ctr"/>
                      <a:r>
                        <a:rPr lang="en-US" sz="1050" b="0" i="0" u="none" strike="noStrike">
                          <a:solidFill>
                            <a:srgbClr val="000000"/>
                          </a:solidFill>
                          <a:effectLst/>
                          <a:latin typeface="Times New Roman" panose="02020603050405020304" pitchFamily="18" charset="0"/>
                        </a:rPr>
                        <a:t>3</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870-02/25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ADD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A870</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dirty="0">
                          <a:solidFill>
                            <a:srgbClr val="000000"/>
                          </a:solidFill>
                          <a:effectLst/>
                          <a:latin typeface="Times New Roman" panose="02020603050405020304" pitchFamily="18" charset="0"/>
                        </a:rPr>
                        <a:t>A870: ADD B1381 RAISED FOR BRAKE NO1 INOP IAW MEL 32-45-01 REV09, CAT C, EXP DATE: 15FEB2025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SQD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15-Feb-2025</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ADD</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Times New Roman" panose="02020603050405020304" pitchFamily="18" charset="0"/>
                        </a:rPr>
                        <a:t> </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1779567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059507" y="520783"/>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xmlns="" val="4293334556"/>
                    </a:ext>
                  </a:extLst>
                </a:gridCol>
                <a:gridCol w="1118287">
                  <a:extLst>
                    <a:ext uri="{9D8B030D-6E8A-4147-A177-3AD203B41FA5}">
                      <a16:colId xmlns:a16="http://schemas.microsoft.com/office/drawing/2014/main" xmlns="" val="3593396119"/>
                    </a:ext>
                  </a:extLst>
                </a:gridCol>
                <a:gridCol w="948420">
                  <a:extLst>
                    <a:ext uri="{9D8B030D-6E8A-4147-A177-3AD203B41FA5}">
                      <a16:colId xmlns:a16="http://schemas.microsoft.com/office/drawing/2014/main" xmlns="" val="1444269426"/>
                    </a:ext>
                  </a:extLst>
                </a:gridCol>
                <a:gridCol w="990886">
                  <a:extLst>
                    <a:ext uri="{9D8B030D-6E8A-4147-A177-3AD203B41FA5}">
                      <a16:colId xmlns:a16="http://schemas.microsoft.com/office/drawing/2014/main" xmlns="" val="2696731085"/>
                    </a:ext>
                  </a:extLst>
                </a:gridCol>
                <a:gridCol w="1104130">
                  <a:extLst>
                    <a:ext uri="{9D8B030D-6E8A-4147-A177-3AD203B41FA5}">
                      <a16:colId xmlns:a16="http://schemas.microsoft.com/office/drawing/2014/main" xmlns=""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32964238"/>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225:45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123.82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1563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471:25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190:55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838:35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886:25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461:50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83284901"/>
                  </a:ext>
                </a:extLst>
              </a:tr>
            </a:tbl>
          </a:graphicData>
        </a:graphic>
      </p:graphicFrame>
      <p:graphicFrame>
        <p:nvGraphicFramePr>
          <p:cNvPr id="9" name="Table 8"/>
          <p:cNvGraphicFramePr>
            <a:graphicFrameLocks noGrp="1"/>
          </p:cNvGraphicFramePr>
          <p:nvPr>
            <p:extLst/>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xmlns="" val="4293334556"/>
                    </a:ext>
                  </a:extLst>
                </a:gridCol>
                <a:gridCol w="1155092">
                  <a:extLst>
                    <a:ext uri="{9D8B030D-6E8A-4147-A177-3AD203B41FA5}">
                      <a16:colId xmlns:a16="http://schemas.microsoft.com/office/drawing/2014/main" xmlns="" val="3593396119"/>
                    </a:ext>
                  </a:extLst>
                </a:gridCol>
                <a:gridCol w="979634">
                  <a:extLst>
                    <a:ext uri="{9D8B030D-6E8A-4147-A177-3AD203B41FA5}">
                      <a16:colId xmlns:a16="http://schemas.microsoft.com/office/drawing/2014/main" xmlns="" val="1444269426"/>
                    </a:ext>
                  </a:extLst>
                </a:gridCol>
                <a:gridCol w="1023497">
                  <a:extLst>
                    <a:ext uri="{9D8B030D-6E8A-4147-A177-3AD203B41FA5}">
                      <a16:colId xmlns:a16="http://schemas.microsoft.com/office/drawing/2014/main" xmlns="" val="2696731085"/>
                    </a:ext>
                  </a:extLst>
                </a:gridCol>
                <a:gridCol w="1140468">
                  <a:extLst>
                    <a:ext uri="{9D8B030D-6E8A-4147-A177-3AD203B41FA5}">
                      <a16:colId xmlns:a16="http://schemas.microsoft.com/office/drawing/2014/main" xmlns=""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217:30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122.40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364:50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192:35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834:30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297:40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504:05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269:00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83284901"/>
                  </a:ext>
                </a:extLst>
              </a:tr>
            </a:tbl>
          </a:graphicData>
        </a:graphic>
      </p:graphicFrame>
      <p:graphicFrame>
        <p:nvGraphicFramePr>
          <p:cNvPr id="11" name="Chart 10"/>
          <p:cNvGraphicFramePr>
            <a:graphicFrameLocks/>
          </p:cNvGraphicFramePr>
          <p:nvPr>
            <p:extLst/>
          </p:nvPr>
        </p:nvGraphicFramePr>
        <p:xfrm>
          <a:off x="1059507" y="1219200"/>
          <a:ext cx="10370491" cy="252440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958121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xmlns="" val="4007203340"/>
                    </a:ext>
                  </a:extLst>
                </a:gridCol>
                <a:gridCol w="664419">
                  <a:extLst>
                    <a:ext uri="{9D8B030D-6E8A-4147-A177-3AD203B41FA5}">
                      <a16:colId xmlns:a16="http://schemas.microsoft.com/office/drawing/2014/main" xmlns="" val="426832351"/>
                    </a:ext>
                  </a:extLst>
                </a:gridCol>
                <a:gridCol w="558394">
                  <a:extLst>
                    <a:ext uri="{9D8B030D-6E8A-4147-A177-3AD203B41FA5}">
                      <a16:colId xmlns:a16="http://schemas.microsoft.com/office/drawing/2014/main" xmlns="" val="1721542108"/>
                    </a:ext>
                  </a:extLst>
                </a:gridCol>
                <a:gridCol w="558394">
                  <a:extLst>
                    <a:ext uri="{9D8B030D-6E8A-4147-A177-3AD203B41FA5}">
                      <a16:colId xmlns:a16="http://schemas.microsoft.com/office/drawing/2014/main" xmlns="" val="1471932876"/>
                    </a:ext>
                  </a:extLst>
                </a:gridCol>
                <a:gridCol w="558394">
                  <a:extLst>
                    <a:ext uri="{9D8B030D-6E8A-4147-A177-3AD203B41FA5}">
                      <a16:colId xmlns:a16="http://schemas.microsoft.com/office/drawing/2014/main" xmlns="" val="4014421323"/>
                    </a:ext>
                  </a:extLst>
                </a:gridCol>
                <a:gridCol w="558394">
                  <a:extLst>
                    <a:ext uri="{9D8B030D-6E8A-4147-A177-3AD203B41FA5}">
                      <a16:colId xmlns:a16="http://schemas.microsoft.com/office/drawing/2014/main" xmlns="" val="3056975398"/>
                    </a:ext>
                  </a:extLst>
                </a:gridCol>
                <a:gridCol w="558394">
                  <a:extLst>
                    <a:ext uri="{9D8B030D-6E8A-4147-A177-3AD203B41FA5}">
                      <a16:colId xmlns:a16="http://schemas.microsoft.com/office/drawing/2014/main" xmlns="" val="3963358169"/>
                    </a:ext>
                  </a:extLst>
                </a:gridCol>
                <a:gridCol w="643214">
                  <a:extLst>
                    <a:ext uri="{9D8B030D-6E8A-4147-A177-3AD203B41FA5}">
                      <a16:colId xmlns:a16="http://schemas.microsoft.com/office/drawing/2014/main" xmlns="" val="2287965264"/>
                    </a:ext>
                  </a:extLst>
                </a:gridCol>
                <a:gridCol w="558394">
                  <a:extLst>
                    <a:ext uri="{9D8B030D-6E8A-4147-A177-3AD203B41FA5}">
                      <a16:colId xmlns:a16="http://schemas.microsoft.com/office/drawing/2014/main" xmlns=""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14-Feb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16-Feb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75160127"/>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801804899"/>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085196478"/>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xmlns="" val="3551115474"/>
                    </a:ext>
                  </a:extLst>
                </a:gridCol>
                <a:gridCol w="566020">
                  <a:extLst>
                    <a:ext uri="{9D8B030D-6E8A-4147-A177-3AD203B41FA5}">
                      <a16:colId xmlns:a16="http://schemas.microsoft.com/office/drawing/2014/main" xmlns="" val="1314180557"/>
                    </a:ext>
                  </a:extLst>
                </a:gridCol>
                <a:gridCol w="566020">
                  <a:extLst>
                    <a:ext uri="{9D8B030D-6E8A-4147-A177-3AD203B41FA5}">
                      <a16:colId xmlns:a16="http://schemas.microsoft.com/office/drawing/2014/main" xmlns="" val="2680264810"/>
                    </a:ext>
                  </a:extLst>
                </a:gridCol>
                <a:gridCol w="566020">
                  <a:extLst>
                    <a:ext uri="{9D8B030D-6E8A-4147-A177-3AD203B41FA5}">
                      <a16:colId xmlns:a16="http://schemas.microsoft.com/office/drawing/2014/main" xmlns="" val="184617242"/>
                    </a:ext>
                  </a:extLst>
                </a:gridCol>
                <a:gridCol w="566020">
                  <a:extLst>
                    <a:ext uri="{9D8B030D-6E8A-4147-A177-3AD203B41FA5}">
                      <a16:colId xmlns:a16="http://schemas.microsoft.com/office/drawing/2014/main" xmlns="" val="3552461699"/>
                    </a:ext>
                  </a:extLst>
                </a:gridCol>
                <a:gridCol w="566020">
                  <a:extLst>
                    <a:ext uri="{9D8B030D-6E8A-4147-A177-3AD203B41FA5}">
                      <a16:colId xmlns:a16="http://schemas.microsoft.com/office/drawing/2014/main" xmlns="" val="3621213656"/>
                    </a:ext>
                  </a:extLst>
                </a:gridCol>
                <a:gridCol w="566020">
                  <a:extLst>
                    <a:ext uri="{9D8B030D-6E8A-4147-A177-3AD203B41FA5}">
                      <a16:colId xmlns:a16="http://schemas.microsoft.com/office/drawing/2014/main" xmlns="" val="4002416887"/>
                    </a:ext>
                  </a:extLst>
                </a:gridCol>
                <a:gridCol w="566020">
                  <a:extLst>
                    <a:ext uri="{9D8B030D-6E8A-4147-A177-3AD203B41FA5}">
                      <a16:colId xmlns:a16="http://schemas.microsoft.com/office/drawing/2014/main" xmlns="" val="2192548362"/>
                    </a:ext>
                  </a:extLst>
                </a:gridCol>
                <a:gridCol w="566020">
                  <a:extLst>
                    <a:ext uri="{9D8B030D-6E8A-4147-A177-3AD203B41FA5}">
                      <a16:colId xmlns:a16="http://schemas.microsoft.com/office/drawing/2014/main" xmlns=""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17-Feb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18-Feb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19-Feb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22-Feb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614169036"/>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613065108"/>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257632801"/>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55859539"/>
                  </a:ext>
                </a:extLst>
              </a:tr>
            </a:tbl>
          </a:graphicData>
        </a:graphic>
      </p:graphicFrame>
      <p:graphicFrame>
        <p:nvGraphicFramePr>
          <p:cNvPr id="9" name="Chart 8"/>
          <p:cNvGraphicFramePr>
            <a:graphicFrameLocks/>
          </p:cNvGraphicFramePr>
          <p:nvPr>
            <p:extLst/>
          </p:nvPr>
        </p:nvGraphicFramePr>
        <p:xfrm>
          <a:off x="925418" y="1219201"/>
          <a:ext cx="10521106" cy="217689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4023344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6" name="Chart 5"/>
          <p:cNvGraphicFramePr>
            <a:graphicFrameLocks/>
          </p:cNvGraphicFramePr>
          <p:nvPr>
            <p:extLst/>
          </p:nvPr>
        </p:nvGraphicFramePr>
        <p:xfrm>
          <a:off x="838201" y="1371600"/>
          <a:ext cx="10820400" cy="51054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479216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50</a:t>
            </a:fld>
            <a:endParaRPr/>
          </a:p>
        </p:txBody>
      </p:sp>
      <p:sp>
        <p:nvSpPr>
          <p:cNvPr id="158" name="Google Shape;158;g31ccdae391d_0_248"/>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algn="just">
              <a:buClr>
                <a:srgbClr val="000000"/>
              </a:buClr>
              <a:buSzPts val="2000"/>
              <a:buFont typeface="Arial"/>
              <a:buNone/>
            </a:pPr>
            <a:r>
              <a:rPr lang="en-US" sz="2000" b="1" kern="0">
                <a:solidFill>
                  <a:srgbClr val="FF0000"/>
                </a:solidFill>
                <a:latin typeface="Times New Roman"/>
                <a:ea typeface="Times New Roman"/>
                <a:cs typeface="Times New Roman"/>
                <a:sym typeface="Times New Roman"/>
              </a:rPr>
              <a:t>Tình trạng vật tư cho hỏng hóc trên đội bay</a:t>
            </a:r>
            <a:endParaRPr sz="2000" b="1" kern="0">
              <a:solidFill>
                <a:srgbClr val="FF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Tàu AOG: NIL</a:t>
            </a:r>
            <a:endParaRPr sz="1500" kern="0">
              <a:solidFill>
                <a:srgbClr val="00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Tình hình tàu check: </a:t>
            </a:r>
            <a:r>
              <a:rPr lang="en-US" sz="1500" kern="0">
                <a:solidFill>
                  <a:srgbClr val="000000"/>
                </a:solidFill>
                <a:latin typeface="Times New Roman"/>
                <a:ea typeface="Times New Roman"/>
                <a:cs typeface="Times New Roman"/>
                <a:sym typeface="Times New Roman"/>
              </a:rPr>
              <a:t>NIL.</a:t>
            </a:r>
            <a:endParaRPr sz="1500" kern="0">
              <a:solidFill>
                <a:srgbClr val="000000"/>
              </a:solidFill>
              <a:latin typeface="Times New Roman"/>
              <a:ea typeface="Times New Roman"/>
              <a:cs typeface="Times New Roman"/>
              <a:sym typeface="Times New Roman"/>
            </a:endParaRPr>
          </a:p>
          <a:p>
            <a:pPr marL="457200" indent="-323850" algn="just">
              <a:lnSpc>
                <a:spcPct val="110000"/>
              </a:lnSpc>
              <a:spcBef>
                <a:spcPts val="600"/>
              </a:spcBef>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Hỏng hóc ảnh hưởng khai thác: Không có vướng mắc vật tư</a:t>
            </a:r>
            <a:endParaRPr sz="1500" b="1" kern="0">
              <a:solidFill>
                <a:srgbClr val="000000"/>
              </a:solidFill>
              <a:latin typeface="Times New Roman"/>
              <a:ea typeface="Times New Roman"/>
              <a:cs typeface="Times New Roman"/>
              <a:sym typeface="Times New Roman"/>
            </a:endParaRPr>
          </a:p>
          <a:p>
            <a:pPr marL="457200" indent="-323850" algn="just">
              <a:lnSpc>
                <a:spcPct val="110000"/>
              </a:lnSpc>
              <a:spcBef>
                <a:spcPts val="600"/>
              </a:spcBef>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Hỏng hóc B defect hết hạn trong 10 ngày cần giục vật tư (đã loại các defect có stock):</a:t>
            </a: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marL="457200" algn="just">
              <a:lnSpc>
                <a:spcPct val="110000"/>
              </a:lnSpc>
              <a:spcBef>
                <a:spcPts val="600"/>
              </a:spcBef>
              <a:buClr>
                <a:srgbClr val="000000"/>
              </a:buClr>
              <a:buFont typeface="Arial"/>
              <a:buNone/>
            </a:pPr>
            <a:endParaRPr sz="1500" kern="0">
              <a:solidFill>
                <a:srgbClr val="000000"/>
              </a:solidFill>
              <a:latin typeface="Times New Roman"/>
              <a:ea typeface="Times New Roman"/>
              <a:cs typeface="Times New Roman"/>
              <a:sym typeface="Times New Roman"/>
            </a:endParaRPr>
          </a:p>
          <a:p>
            <a:pPr marL="457200" algn="just">
              <a:buClr>
                <a:srgbClr val="000000"/>
              </a:buClr>
              <a:buSzPts val="1500"/>
              <a:buFont typeface="Arial"/>
              <a:buNone/>
            </a:pPr>
            <a:endParaRPr sz="1500" b="1" kern="0">
              <a:solidFill>
                <a:srgbClr val="000000"/>
              </a:solidFill>
              <a:latin typeface="Times New Roman"/>
              <a:ea typeface="Times New Roman"/>
              <a:cs typeface="Times New Roman"/>
              <a:sym typeface="Times New Roman"/>
            </a:endParaRPr>
          </a:p>
          <a:p>
            <a:pPr marL="914400"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buClr>
                <a:srgbClr val="000000"/>
              </a:buClr>
              <a:buSzPts val="2000"/>
              <a:buFont typeface="Arial"/>
              <a:buNone/>
            </a:pPr>
            <a:endParaRPr sz="1500" kern="0">
              <a:solidFill>
                <a:srgbClr val="000000"/>
              </a:solidFill>
              <a:latin typeface="Times New Roman"/>
              <a:ea typeface="Times New Roman"/>
              <a:cs typeface="Times New Roman"/>
              <a:sym typeface="Times New Roman"/>
            </a:endParaRPr>
          </a:p>
          <a:p>
            <a:pPr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664775" y="2478450"/>
            <a:ext cx="10172700" cy="876300"/>
          </a:xfrm>
          <a:prstGeom prst="rect">
            <a:avLst/>
          </a:prstGeom>
          <a:noFill/>
          <a:ln>
            <a:noFill/>
          </a:ln>
        </p:spPr>
      </p:pic>
    </p:spTree>
    <p:extLst>
      <p:ext uri="{BB962C8B-B14F-4D97-AF65-F5344CB8AC3E}">
        <p14:creationId xmlns:p14="http://schemas.microsoft.com/office/powerpoint/2010/main" val="395408502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1ccdae391d_0_271"/>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1ccdae391d_0_27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51</a:t>
            </a:fld>
            <a:endParaRPr/>
          </a:p>
        </p:txBody>
      </p:sp>
      <p:graphicFrame>
        <p:nvGraphicFramePr>
          <p:cNvPr id="167" name="Google Shape;167;g31ccdae391d_0_271"/>
          <p:cNvGraphicFramePr/>
          <p:nvPr/>
        </p:nvGraphicFramePr>
        <p:xfrm>
          <a:off x="489114" y="611396"/>
          <a:ext cx="11570675" cy="4203202"/>
        </p:xfrm>
        <a:graphic>
          <a:graphicData uri="http://schemas.openxmlformats.org/drawingml/2006/table">
            <a:tbl>
              <a:tblPr>
                <a:noFill/>
              </a:tblPr>
              <a:tblGrid>
                <a:gridCol w="741275"/>
                <a:gridCol w="1946125"/>
                <a:gridCol w="1285550"/>
                <a:gridCol w="5174925"/>
                <a:gridCol w="2422800"/>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2000" b="1" u="none" strike="noStrike" cap="none">
                          <a:solidFill>
                            <a:srgbClr val="FF0000"/>
                          </a:solidFill>
                          <a:latin typeface="Times New Roman"/>
                          <a:ea typeface="Times New Roman"/>
                          <a:cs typeface="Times New Roman"/>
                          <a:sym typeface="Times New Roman"/>
                        </a:rPr>
                        <a:t>DANH MỤC VẬT TƯ CRITICAL</a:t>
                      </a:r>
                      <a:endParaRPr sz="20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STT</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Tên thiết bị</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P/N</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Tình trạng vật tư</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Note</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4202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FDRV</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17300G11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alt PN </a:t>
                      </a:r>
                      <a:r>
                        <a:rPr lang="en-US" sz="1600" u="none" strike="noStrike" cap="none">
                          <a:solidFill>
                            <a:schemeClr val="dk1"/>
                          </a:solidFill>
                          <a:latin typeface="Times New Roman"/>
                          <a:ea typeface="Times New Roman"/>
                          <a:cs typeface="Times New Roman"/>
                          <a:sym typeface="Times New Roman"/>
                        </a:rPr>
                        <a:t>17300G12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4177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SSTU</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321000M03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NIL, mới gửi đi sửa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04400">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CNA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745-1101-507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16325">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LH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3665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5</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RH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NIL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373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AIR INLET COWL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745-3400-507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IPCV NEO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5325192 (1020925-3)</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8</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EIU NEO</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777461-1-1</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a:latin typeface="Times New Roman"/>
                          <a:ea typeface="Times New Roman"/>
                          <a:cs typeface="Times New Roman"/>
                          <a:sym typeface="Times New Roman"/>
                        </a:rPr>
                        <a:t>stock 4ea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18556627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74" name="Google Shape;174;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52</a:t>
            </a:fld>
            <a:endParaRPr/>
          </a:p>
        </p:txBody>
      </p:sp>
      <p:graphicFrame>
        <p:nvGraphicFramePr>
          <p:cNvPr id="175" name="Google Shape;175;g31ccdae391d_0_278"/>
          <p:cNvGraphicFramePr/>
          <p:nvPr/>
        </p:nvGraphicFramePr>
        <p:xfrm>
          <a:off x="558675" y="462325"/>
          <a:ext cx="10287000" cy="6130632"/>
        </p:xfrm>
        <a:graphic>
          <a:graphicData uri="http://schemas.openxmlformats.org/drawingml/2006/table">
            <a:tbl>
              <a:tblPr>
                <a:noFill/>
              </a:tblPr>
              <a:tblGrid>
                <a:gridCol w="382850"/>
                <a:gridCol w="2130900"/>
                <a:gridCol w="2382725"/>
                <a:gridCol w="1051825"/>
                <a:gridCol w="4338700"/>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r>
                        <a:rPr lang="en-US" sz="1300">
                          <a:solidFill>
                            <a:schemeClr val="dk1"/>
                          </a:solidFill>
                          <a:latin typeface="Times New Roman"/>
                          <a:ea typeface="Times New Roman"/>
                          <a:cs typeface="Times New Roman"/>
                          <a:sym typeface="Times New Roman"/>
                        </a:rPr>
                        <a:t> đang đặt mua nhưng Airbuskhông có stock</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 </a:t>
                      </a:r>
                      <a:r>
                        <a:rPr lang="en-US" sz="1300">
                          <a:solidFill>
                            <a:schemeClr val="dk1"/>
                          </a:solidFill>
                          <a:latin typeface="Times New Roman"/>
                          <a:ea typeface="Times New Roman"/>
                          <a:cs typeface="Times New Roman"/>
                          <a:sym typeface="Times New Roman"/>
                        </a:rPr>
                        <a:t> 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1RO có TAT tại Honeywell dài</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2ea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a:t>
                      </a:r>
                      <a:r>
                        <a:rPr lang="en-US" sz="1300">
                          <a:solidFill>
                            <a:schemeClr val="dk1"/>
                          </a:solidFill>
                          <a:latin typeface="Times New Roman"/>
                          <a:ea typeface="Times New Roman"/>
                          <a:cs typeface="Times New Roman"/>
                          <a:sym typeface="Times New Roman"/>
                        </a:rPr>
                        <a:t>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tr>
            </a:tbl>
          </a:graphicData>
        </a:graphic>
      </p:graphicFrame>
    </p:spTree>
    <p:extLst>
      <p:ext uri="{BB962C8B-B14F-4D97-AF65-F5344CB8AC3E}">
        <p14:creationId xmlns:p14="http://schemas.microsoft.com/office/powerpoint/2010/main" val="455788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182" name="Google Shape;182;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53</a:t>
            </a:fld>
            <a:endParaRPr/>
          </a:p>
        </p:txBody>
      </p:sp>
      <p:graphicFrame>
        <p:nvGraphicFramePr>
          <p:cNvPr id="183" name="Google Shape;183;g31ccdae391d_0_285"/>
          <p:cNvGraphicFramePr/>
          <p:nvPr/>
        </p:nvGraphicFramePr>
        <p:xfrm>
          <a:off x="438751" y="690871"/>
          <a:ext cx="11570675" cy="3855160"/>
        </p:xfrm>
        <a:graphic>
          <a:graphicData uri="http://schemas.openxmlformats.org/drawingml/2006/table">
            <a:tbl>
              <a:tblPr>
                <a:noFill/>
              </a:tblPr>
              <a:tblGrid>
                <a:gridCol w="741275"/>
                <a:gridCol w="1442775"/>
                <a:gridCol w="1263625"/>
                <a:gridCol w="4061500"/>
                <a:gridCol w="4061500"/>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u="none" strike="noStrike" cap="none">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020850">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Rotating mech MLG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4133801011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nhiều tuy nhiên ST cấp hàng chậm với lý do các thiết bị gửi đi sửa chữa có TAT dài, PO mua mới tới OEM Safran có leadtime dài. Hiện đã phải dừng chương trình kiểm tra theo khuyến cáo của OEM để có đủ vật tư cho các tàu tháo bảo quản.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a:latin typeface="Times New Roman"/>
                          <a:ea typeface="Times New Roman"/>
                          <a:cs typeface="Times New Roman"/>
                          <a:sym typeface="Times New Roman"/>
                        </a:rPr>
                        <a:t>Hiện mua 6ea nhưng Safran không có stock, đang giục đối tác cấp hàng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2</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thiết bị IFE của Panasonic:</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LCD</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VSEB</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RD-AV9844-01</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RD-KA3303-05</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phát sinh nhiều trong khai thác trong khi Panasonic sửa chữa có TAT dài, chủ yếu với lý do thiếu PTVT sửa chữa, thay thế. Các PTVT này hiện đều là đời cũ, VSEB đã dừng sản xuất. </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Phối hợp với Panasonic để đổi PTVT, rút ngắn TAT</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Đề nghị Ban KT xem xét phương án tìm PN thay thế</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68057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Jetpipe</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745-1107-503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Disbond: TAT nhanh (&lt;30 ngày), chi phí sửa thấp (8k - 10k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1 vị trí: TAT khoảng 40-50 ngày, chi phí sửa khoảng 20k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2 vị trí trở lên: TAT dài 60-80 ngày, chi phí sửa &gt;40kUSD </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150" u="none" strike="noStrike" cap="none">
                          <a:latin typeface="Times New Roman"/>
                          <a:ea typeface="Times New Roman"/>
                          <a:cs typeface="Times New Roman"/>
                          <a:sym typeface="Times New Roman"/>
                        </a:rPr>
                        <a:t>Tình trạng kho: 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 </a:t>
                      </a:r>
                      <a:r>
                        <a:rPr lang="en-US" sz="1150" u="none" strike="noStrike" cap="none">
                          <a:latin typeface="Times New Roman"/>
                          <a:ea typeface="Times New Roman"/>
                          <a:cs typeface="Times New Roman"/>
                          <a:sym typeface="Times New Roman"/>
                        </a:rPr>
                        <a:t>Đề nghị VAECO có đánh giá hỏng hóc (SDR) sớm và gửi Ban QLVT để hỏi repair cap và chọn cơ sở sửa chữa phù hợp.</a:t>
                      </a:r>
                      <a:endParaRPr sz="115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a:t>
                      </a:r>
                      <a:r>
                        <a:rPr lang="en-US" sz="1150" b="0" i="0" u="none" strike="noStrike" cap="none">
                          <a:solidFill>
                            <a:srgbClr val="000000"/>
                          </a:solidFill>
                          <a:latin typeface="Times New Roman"/>
                          <a:ea typeface="Times New Roman"/>
                          <a:cs typeface="Times New Roman"/>
                          <a:sym typeface="Times New Roman"/>
                        </a:rPr>
                        <a:t>Ban QLVT tiếp tục làm việc với</a:t>
                      </a:r>
                      <a:r>
                        <a:rPr lang="en-US" sz="1150" u="none" strike="noStrike" cap="none">
                          <a:latin typeface="Times New Roman"/>
                          <a:ea typeface="Times New Roman"/>
                          <a:cs typeface="Times New Roman"/>
                          <a:sym typeface="Times New Roman"/>
                        </a:rPr>
                        <a:t> cơ sở sửa chữa để rút ngắn TAT</a:t>
                      </a:r>
                      <a:r>
                        <a:rPr lang="en-US" sz="1150" b="0" i="0" u="none" strike="noStrike" cap="none">
                          <a:solidFill>
                            <a:srgbClr val="000000"/>
                          </a:solidFill>
                          <a:latin typeface="Times New Roman"/>
                          <a:ea typeface="Times New Roman"/>
                          <a:cs typeface="Times New Roman"/>
                          <a:sym typeface="Times New Roman"/>
                        </a:rPr>
                        <a:t/>
                      </a:r>
                      <a:br>
                        <a:rPr lang="en-US" sz="1150" b="0" i="0" u="none" strike="noStrike" cap="none">
                          <a:solidFill>
                            <a:srgbClr val="000000"/>
                          </a:solidFill>
                          <a:latin typeface="Times New Roman"/>
                          <a:ea typeface="Times New Roman"/>
                          <a:cs typeface="Times New Roman"/>
                          <a:sym typeface="Times New Roman"/>
                        </a:rPr>
                      </a:br>
                      <a:r>
                        <a:rPr lang="en-US" sz="1150" b="0" i="0" u="none" strike="noStrike" cap="none">
                          <a:solidFill>
                            <a:srgbClr val="000000"/>
                          </a:solidFill>
                          <a:latin typeface="Times New Roman"/>
                          <a:ea typeface="Times New Roman"/>
                          <a:cs typeface="Times New Roman"/>
                          <a:sym typeface="Times New Roman"/>
                        </a:rPr>
                        <a:t>- Đề nghị Ban KT/Vaeco có giải pháp hạn chế hỏng hóc</a:t>
                      </a:r>
                      <a:r>
                        <a:rPr lang="en-US" sz="1150" u="none" strike="noStrike" cap="none">
                          <a:latin typeface="Times New Roman"/>
                          <a:ea typeface="Times New Roman"/>
                          <a:cs typeface="Times New Roman"/>
                          <a:sym typeface="Times New Roman"/>
                        </a:rPr>
                        <a:t> bằng các phương án kiểm tra chủ động, thay thế khi bị disbond sẽ tiết kiệm chi phí sửa và TAT ngắn.</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Với các hỏng hóc phát sinh, đề nghị xem xét phương án mở defect để Ban QLVT chủ động phương án cung ứng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158172453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31ccdae391d_0_292"/>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VƯỚNG MẮC VẬT TƯ VAECO</a:t>
            </a:r>
            <a:endParaRPr sz="2800">
              <a:solidFill>
                <a:srgbClr val="FFC000"/>
              </a:solidFill>
              <a:latin typeface="Times New Roman"/>
              <a:ea typeface="Times New Roman"/>
              <a:cs typeface="Times New Roman"/>
              <a:sym typeface="Times New Roman"/>
            </a:endParaRPr>
          </a:p>
        </p:txBody>
      </p:sp>
      <p:sp>
        <p:nvSpPr>
          <p:cNvPr id="190" name="Google Shape;190;g31ccdae391d_0_29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54</a:t>
            </a:fld>
            <a:endParaRPr/>
          </a:p>
        </p:txBody>
      </p:sp>
      <p:graphicFrame>
        <p:nvGraphicFramePr>
          <p:cNvPr id="191" name="Google Shape;191;g31ccdae391d_0_292"/>
          <p:cNvGraphicFramePr/>
          <p:nvPr/>
        </p:nvGraphicFramePr>
        <p:xfrm>
          <a:off x="414739" y="1604714"/>
          <a:ext cx="11570675" cy="1823565"/>
        </p:xfrm>
        <a:graphic>
          <a:graphicData uri="http://schemas.openxmlformats.org/drawingml/2006/table">
            <a:tbl>
              <a:tblPr>
                <a:noFill/>
              </a:tblPr>
              <a:tblGrid>
                <a:gridCol w="741275"/>
                <a:gridCol w="1429625"/>
                <a:gridCol w="1269800"/>
                <a:gridCol w="4068475"/>
                <a:gridCol w="4061500"/>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FF0000"/>
                          </a:solidFill>
                          <a:latin typeface="Times New Roman"/>
                          <a:ea typeface="Times New Roman"/>
                          <a:cs typeface="Times New Roman"/>
                          <a:sym typeface="Times New Roman"/>
                        </a:rPr>
                        <a:t>A321 – VAECO</a:t>
                      </a:r>
                      <a:endParaRPr sz="14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1</a:t>
                      </a:r>
                      <a:endParaRPr sz="1150"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solidFill>
                            <a:schemeClr val="dk1"/>
                          </a:solidFill>
                          <a:highlight>
                            <a:srgbClr val="FFFFFF"/>
                          </a:highlight>
                          <a:latin typeface="Times New Roman"/>
                          <a:ea typeface="Times New Roman"/>
                          <a:cs typeface="Times New Roman"/>
                          <a:sym typeface="Times New Roman"/>
                        </a:rPr>
                        <a:t>BELOW</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solidFill>
                            <a:schemeClr val="dk1"/>
                          </a:solidFill>
                          <a:highlight>
                            <a:srgbClr val="FFFFFF"/>
                          </a:highlight>
                          <a:latin typeface="Times New Roman"/>
                          <a:ea typeface="Times New Roman"/>
                          <a:cs typeface="Times New Roman"/>
                          <a:sym typeface="Times New Roman"/>
                        </a:rPr>
                        <a:t>D2157160120000</a:t>
                      </a:r>
                      <a:endParaRPr sz="1150" u="none" strike="noStrike" cap="none">
                        <a:solidFill>
                          <a:schemeClr val="dk1"/>
                        </a:solidFill>
                        <a:highlight>
                          <a:srgbClr val="FFFFFF"/>
                        </a:highlight>
                        <a:latin typeface="Times New Roman"/>
                        <a:ea typeface="Times New Roman"/>
                        <a:cs typeface="Times New Roman"/>
                        <a:sym typeface="Times New Roman"/>
                      </a:endParaRPr>
                    </a:p>
                    <a:p>
                      <a:pPr marL="0" marR="0" lvl="0" indent="0" algn="l" rtl="0">
                        <a:spcBef>
                          <a:spcPts val="0"/>
                        </a:spcBef>
                        <a:spcAft>
                          <a:spcPts val="0"/>
                        </a:spcAft>
                        <a:buClr>
                          <a:schemeClr val="dk1"/>
                        </a:buClr>
                        <a:buSzPts val="1150"/>
                        <a:buFont typeface="Arial"/>
                        <a:buNone/>
                      </a:pPr>
                      <a:r>
                        <a:rPr lang="en-US" sz="1150" u="none" strike="noStrike" cap="none">
                          <a:solidFill>
                            <a:schemeClr val="dk1"/>
                          </a:solidFill>
                          <a:highlight>
                            <a:schemeClr val="lt1"/>
                          </a:highlight>
                          <a:latin typeface="Times New Roman"/>
                          <a:ea typeface="Times New Roman"/>
                          <a:cs typeface="Times New Roman"/>
                          <a:sym typeface="Times New Roman"/>
                        </a:rPr>
                        <a:t>D2157160000000</a:t>
                      </a:r>
                      <a:endParaRPr sz="1150" u="none" strike="noStrike" cap="none">
                        <a:solidFill>
                          <a:schemeClr val="dk1"/>
                        </a:solidFill>
                        <a:highlight>
                          <a:srgbClr val="FFFFFF"/>
                        </a:highlight>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gây A359 AOG hỏng Bellow của hệ thống Pack. Các tàu trong check có task kiểm tra hệ thống Pack đều phát hiện ra hỏng Bellow. Ngoài ra, Ban KT triển khai việc kiểm tra chủ động nhưng Airbus không cấp được hàng.</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VAECO vẫn mua dự phòng nhưng gần đây Airbus cấp hàng chậm.</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Tình trạng:</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PN D2157160120000 stock 5ea</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PN D2157160000000 stock 3EA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Arial"/>
                        <a:buChar char="-"/>
                      </a:pPr>
                      <a:r>
                        <a:rPr lang="en-US" sz="1150" u="none" strike="noStrike" cap="none">
                          <a:solidFill>
                            <a:schemeClr val="dk1"/>
                          </a:solidFill>
                          <a:latin typeface="Times New Roman"/>
                          <a:ea typeface="Times New Roman"/>
                          <a:cs typeface="Times New Roman"/>
                          <a:sym typeface="Times New Roman"/>
                        </a:rPr>
                        <a:t>Ban QLVT đã hỗ trợ claim Airbus đồng thời tìm kiếm nguồn cung ứng giúp VAECO tuy nhiên việc cung ứng vẫn rất khó khăn do thiếu raw materials, Airbus chỉ cấp hàng AOG và chưa đồng ý cấp cho chương trình đánh chặn. Hiện Airbus chưa có dự kiến ngày ship</a:t>
                      </a:r>
                      <a:endParaRPr sz="115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20492271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198" name="Google Shape;198;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55</a:t>
            </a:fld>
            <a:endParaRPr/>
          </a:p>
        </p:txBody>
      </p:sp>
      <p:sp>
        <p:nvSpPr>
          <p:cNvPr id="199" name="Google Shape;199;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algn="just">
              <a:buClr>
                <a:srgbClr val="000000"/>
              </a:buClr>
              <a:buSzPts val="2000"/>
              <a:buFont typeface="Arial"/>
              <a:buNone/>
            </a:pPr>
            <a:r>
              <a:rPr lang="en-US" sz="2000" b="1" kern="0">
                <a:solidFill>
                  <a:srgbClr val="FF0000"/>
                </a:solidFill>
                <a:latin typeface="Times New Roman"/>
                <a:ea typeface="Times New Roman"/>
                <a:cs typeface="Times New Roman"/>
                <a:sym typeface="Times New Roman"/>
              </a:rPr>
              <a:t>Tình trạng đơn hàng Pooling: 25 đơn hàng quá hạn trong tổng số 37 đơn hàng đang open</a:t>
            </a:r>
            <a:endParaRPr sz="2000" b="1" kern="0">
              <a:solidFill>
                <a:srgbClr val="FF0000"/>
              </a:solidFill>
              <a:ea typeface="Arial"/>
              <a:cs typeface="Arial"/>
              <a:sym typeface="Arial"/>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lấp đầy kho MBK: </a:t>
            </a:r>
            <a:r>
              <a:rPr lang="en-US" sz="1500" kern="0">
                <a:solidFill>
                  <a:srgbClr val="000000"/>
                </a:solidFill>
                <a:latin typeface="Times New Roman"/>
                <a:ea typeface="Times New Roman"/>
                <a:cs typeface="Times New Roman"/>
                <a:sym typeface="Times New Roman"/>
              </a:rPr>
              <a:t> overdue 16 LO / total  19 LO</a:t>
            </a:r>
            <a:endParaRPr sz="1500" kern="0">
              <a:solidFill>
                <a:srgbClr val="00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khác (Defect, Hardtime): </a:t>
            </a:r>
            <a:r>
              <a:rPr lang="en-US" sz="1500" kern="0">
                <a:solidFill>
                  <a:srgbClr val="000000"/>
                </a:solidFill>
                <a:latin typeface="Times New Roman"/>
                <a:ea typeface="Times New Roman"/>
                <a:cs typeface="Times New Roman"/>
                <a:sym typeface="Times New Roman"/>
              </a:rPr>
              <a:t>overdue 09 EO / total 18 EO </a:t>
            </a:r>
            <a:endParaRPr sz="1500" kern="0">
              <a:solidFill>
                <a:srgbClr val="1F497D"/>
              </a:solidFill>
              <a:latin typeface="Times New Roman"/>
              <a:ea typeface="Times New Roman"/>
              <a:cs typeface="Times New Roman"/>
              <a:sym typeface="Times New Roman"/>
            </a:endParaRPr>
          </a:p>
          <a:p>
            <a:pPr algn="just">
              <a:lnSpc>
                <a:spcPct val="110000"/>
              </a:lnSpc>
              <a:spcBef>
                <a:spcPts val="600"/>
              </a:spcBef>
              <a:buClr>
                <a:srgbClr val="000000"/>
              </a:buClr>
              <a:buSzPts val="1500"/>
              <a:buFont typeface="Arial"/>
              <a:buNone/>
            </a:pPr>
            <a:endParaRPr sz="1500" b="1" kern="0">
              <a:solidFill>
                <a:srgbClr val="FF0000"/>
              </a:solidFill>
              <a:latin typeface="Times New Roman"/>
              <a:ea typeface="Times New Roman"/>
              <a:cs typeface="Times New Roman"/>
              <a:sym typeface="Times New Roman"/>
            </a:endParaRPr>
          </a:p>
          <a:p>
            <a:pPr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sp>
        <p:nvSpPr>
          <p:cNvPr id="200" name="Google Shape;200;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a:buClr>
                <a:srgbClr val="000000"/>
              </a:buClr>
              <a:buSzPts val="2800"/>
              <a:buFont typeface="Arial"/>
              <a:buNone/>
            </a:pPr>
            <a:endParaRPr sz="2800" kern="0">
              <a:solidFill>
                <a:srgbClr val="000000"/>
              </a:solidFill>
              <a:latin typeface="Calibri"/>
              <a:ea typeface="Calibri"/>
              <a:cs typeface="Calibri"/>
              <a:sym typeface="Calibri"/>
            </a:endParaRPr>
          </a:p>
        </p:txBody>
      </p:sp>
      <p:pic>
        <p:nvPicPr>
          <p:cNvPr id="201" name="Google Shape;201;g31ccdae391d_0_299"/>
          <p:cNvPicPr preferRelativeResize="0"/>
          <p:nvPr/>
        </p:nvPicPr>
        <p:blipFill>
          <a:blip r:embed="rId3">
            <a:alphaModFix/>
          </a:blip>
          <a:stretch>
            <a:fillRect/>
          </a:stretch>
        </p:blipFill>
        <p:spPr>
          <a:xfrm>
            <a:off x="2105025" y="1686524"/>
            <a:ext cx="7686675" cy="4671426"/>
          </a:xfrm>
          <a:prstGeom prst="rect">
            <a:avLst/>
          </a:prstGeom>
          <a:noFill/>
          <a:ln>
            <a:noFill/>
          </a:ln>
        </p:spPr>
      </p:pic>
    </p:spTree>
    <p:extLst>
      <p:ext uri="{BB962C8B-B14F-4D97-AF65-F5344CB8AC3E}">
        <p14:creationId xmlns:p14="http://schemas.microsoft.com/office/powerpoint/2010/main" val="182022989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8" name="Google Shape;208;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56</a:t>
            </a:fld>
            <a:endParaRPr/>
          </a:p>
        </p:txBody>
      </p:sp>
      <p:graphicFrame>
        <p:nvGraphicFramePr>
          <p:cNvPr id="209" name="Google Shape;209;g31ccdae391d_0_308"/>
          <p:cNvGraphicFramePr/>
          <p:nvPr/>
        </p:nvGraphicFramePr>
        <p:xfrm>
          <a:off x="607288" y="787650"/>
          <a:ext cx="11227800" cy="4578145"/>
        </p:xfrm>
        <a:graphic>
          <a:graphicData uri="http://schemas.openxmlformats.org/drawingml/2006/table">
            <a:tbl>
              <a:tblPr>
                <a:noFill/>
              </a:tblPr>
              <a:tblGrid>
                <a:gridCol w="756400"/>
                <a:gridCol w="1531850"/>
                <a:gridCol w="1753750"/>
                <a:gridCol w="3592900"/>
                <a:gridCol w="3592900"/>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a:solidFill>
                            <a:srgbClr val="FF0000"/>
                          </a:solidFill>
                          <a:latin typeface="Times New Roman"/>
                          <a:ea typeface="Times New Roman"/>
                          <a:cs typeface="Times New Roman"/>
                          <a:sym typeface="Times New Roman"/>
                        </a:rPr>
                        <a:t> </a:t>
                      </a:r>
                      <a:endParaRPr sz="1600" b="1" i="0" u="none" strike="noStrike" cap="none">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02ea in stock.</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3</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về SGN trong tuần 08.</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EDD 10Mar.</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+ 03ea chưa có EDD.</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Arial"/>
                        <a:buNone/>
                      </a:pPr>
                      <a:r>
                        <a:rPr lang="en-US" sz="1200">
                          <a:solidFill>
                            <a:schemeClr val="dk1"/>
                          </a:solidFill>
                          <a:latin typeface="Times New Roman"/>
                          <a:ea typeface="Times New Roman"/>
                          <a:cs typeface="Times New Roman"/>
                          <a:sym typeface="Times New Roman"/>
                        </a:rPr>
                        <a:t>- 01ea dự phòng giao SGN ngày 17/02.</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Hiện không có hỏng hóc.</a:t>
                      </a:r>
                      <a:endParaRPr sz="1300">
                        <a:latin typeface="Times New Roman"/>
                        <a:ea typeface="Times New Roman"/>
                        <a:cs typeface="Times New Roman"/>
                        <a:sym typeface="Times New Roman"/>
                      </a:endParaRPr>
                    </a:p>
                    <a:p>
                      <a:pPr marL="0" marR="0" lvl="0" indent="0" algn="l" rtl="0">
                        <a:spcBef>
                          <a:spcPts val="0"/>
                        </a:spcBef>
                        <a:spcAft>
                          <a:spcPts val="0"/>
                        </a:spcAft>
                        <a:buNone/>
                      </a:pPr>
                      <a:r>
                        <a:rPr lang="en-US" sz="1300">
                          <a:latin typeface="Times New Roman"/>
                          <a:ea typeface="Times New Roman"/>
                          <a:cs typeface="Times New Roman"/>
                          <a:sym typeface="Times New Roman"/>
                        </a:rPr>
                        <a:t>-Card led: </a:t>
                      </a:r>
                      <a:endParaRPr sz="1300" u="none" strike="noStrike" cap="none">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01ea in stock.</a:t>
                      </a:r>
                      <a:endParaRPr sz="13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+ 02ea PO  EDD 10/2025.</a:t>
                      </a:r>
                      <a:endParaRPr sz="130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178048685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6" name="Google Shape;216;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57</a:t>
            </a:fld>
            <a:endParaRPr/>
          </a:p>
        </p:txBody>
      </p:sp>
      <p:sp>
        <p:nvSpPr>
          <p:cNvPr id="217" name="Google Shape;217;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algn="just">
              <a:buClr>
                <a:srgbClr val="000000"/>
              </a:buClr>
              <a:buSzPts val="2000"/>
              <a:buFont typeface="Arial"/>
              <a:buNone/>
            </a:pPr>
            <a:endParaRPr sz="2000" b="1" kern="0" dirty="0">
              <a:solidFill>
                <a:srgbClr val="FF0000"/>
              </a:solidFill>
              <a:latin typeface="Times New Roman"/>
              <a:ea typeface="Times New Roman"/>
              <a:cs typeface="Times New Roman"/>
              <a:sym typeface="Times New Roman"/>
            </a:endParaRPr>
          </a:p>
          <a:p>
            <a:pPr marL="457200" indent="-355600" algn="just">
              <a:buClr>
                <a:srgbClr val="FF0000"/>
              </a:buClr>
              <a:buSzPts val="2000"/>
              <a:buFont typeface="Times New Roman"/>
              <a:buChar char="-"/>
            </a:pPr>
            <a:r>
              <a:rPr lang="en-US" sz="2000" b="1" kern="0" dirty="0" err="1">
                <a:solidFill>
                  <a:srgbClr val="FF0000"/>
                </a:solidFill>
                <a:latin typeface="Times New Roman"/>
                <a:ea typeface="Times New Roman"/>
                <a:cs typeface="Times New Roman"/>
                <a:sym typeface="Times New Roman"/>
              </a:rPr>
              <a:t>Một</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số</a:t>
            </a:r>
            <a:r>
              <a:rPr lang="en-US" sz="2000" b="1" kern="0" dirty="0">
                <a:solidFill>
                  <a:srgbClr val="FF0000"/>
                </a:solidFill>
                <a:latin typeface="Times New Roman"/>
                <a:ea typeface="Times New Roman"/>
                <a:cs typeface="Times New Roman"/>
                <a:sym typeface="Times New Roman"/>
              </a:rPr>
              <a:t> PTVT </a:t>
            </a:r>
            <a:r>
              <a:rPr lang="en-US" sz="2000" b="1" kern="0" dirty="0" err="1">
                <a:solidFill>
                  <a:srgbClr val="FF0000"/>
                </a:solidFill>
                <a:latin typeface="Times New Roman"/>
                <a:ea typeface="Times New Roman"/>
                <a:cs typeface="Times New Roman"/>
                <a:sym typeface="Times New Roman"/>
              </a:rPr>
              <a:t>cần</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lưu</a:t>
            </a:r>
            <a:r>
              <a:rPr lang="en-US" sz="2000" b="1" kern="0" dirty="0">
                <a:solidFill>
                  <a:srgbClr val="FF0000"/>
                </a:solidFill>
                <a:latin typeface="Times New Roman"/>
                <a:ea typeface="Times New Roman"/>
                <a:cs typeface="Times New Roman"/>
                <a:sym typeface="Times New Roman"/>
              </a:rPr>
              <a:t> ý</a:t>
            </a:r>
            <a:r>
              <a:rPr lang="en-US" sz="1600" kern="0" dirty="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marL="457200" indent="-330200" algn="just">
              <a:buClr>
                <a:srgbClr val="000000"/>
              </a:buClr>
              <a:buSzPts val="1600"/>
              <a:buFont typeface="Times New Roman"/>
              <a:buChar char="+"/>
            </a:pPr>
            <a:r>
              <a:rPr lang="en-US" sz="1600" kern="0" dirty="0">
                <a:solidFill>
                  <a:srgbClr val="000000"/>
                </a:solidFill>
                <a:latin typeface="Times New Roman"/>
                <a:ea typeface="Times New Roman"/>
                <a:cs typeface="Times New Roman"/>
                <a:sym typeface="Times New Roman"/>
              </a:rPr>
              <a:t>PTVT </a:t>
            </a:r>
            <a:r>
              <a:rPr lang="en-US" sz="1600" kern="0" dirty="0" err="1">
                <a:solidFill>
                  <a:srgbClr val="000000"/>
                </a:solidFill>
                <a:latin typeface="Times New Roman"/>
                <a:ea typeface="Times New Roman"/>
                <a:cs typeface="Times New Roman"/>
                <a:sym typeface="Times New Roman"/>
              </a:rPr>
              <a:t>thay</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nhiều</a:t>
            </a:r>
            <a:r>
              <a:rPr lang="en-US" sz="1600" kern="0" dirty="0">
                <a:solidFill>
                  <a:srgbClr val="000000"/>
                </a:solidFill>
                <a:latin typeface="Times New Roman"/>
                <a:ea typeface="Times New Roman"/>
                <a:cs typeface="Times New Roman"/>
                <a:sym typeface="Times New Roman"/>
              </a:rPr>
              <a:t>: VFSG, GPM, NSG, CAC, Pump Pack, FMU, GWIV, </a:t>
            </a:r>
            <a:r>
              <a:rPr lang="en-US" sz="1600" kern="0" dirty="0" err="1">
                <a:solidFill>
                  <a:srgbClr val="000000"/>
                </a:solidFill>
                <a:latin typeface="Times New Roman"/>
                <a:ea typeface="Times New Roman"/>
                <a:cs typeface="Times New Roman"/>
                <a:sym typeface="Times New Roman"/>
              </a:rPr>
              <a:t>Tailcone</a:t>
            </a:r>
            <a:r>
              <a:rPr lang="en-US" sz="1600" kern="0" dirty="0">
                <a:solidFill>
                  <a:srgbClr val="000000"/>
                </a:solidFill>
                <a:latin typeface="Times New Roman"/>
                <a:ea typeface="Times New Roman"/>
                <a:cs typeface="Times New Roman"/>
                <a:sym typeface="Times New Roman"/>
              </a:rPr>
              <a:t> light (</a:t>
            </a:r>
            <a:r>
              <a:rPr lang="en-US" sz="1600" kern="0" dirty="0" err="1">
                <a:solidFill>
                  <a:srgbClr val="000000"/>
                </a:solidFill>
                <a:latin typeface="Times New Roman"/>
                <a:ea typeface="Times New Roman"/>
                <a:cs typeface="Times New Roman"/>
                <a:sym typeface="Times New Roman"/>
              </a:rPr>
              <a:t>hỏng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hóc</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rất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nhiều</a:t>
            </a:r>
            <a:r>
              <a:rPr lang="en-US" sz="1600" kern="0" dirty="0">
                <a:solidFill>
                  <a:srgbClr val="000000"/>
                </a:solidFill>
                <a:latin typeface="Times New Roman"/>
                <a:ea typeface="Times New Roman"/>
                <a:cs typeface="Times New Roman"/>
                <a:sym typeface="Times New Roman"/>
              </a:rPr>
              <a:t> sub card led). </a:t>
            </a:r>
            <a:endParaRPr sz="1600" kern="0" dirty="0">
              <a:solidFill>
                <a:srgbClr val="000000"/>
              </a:solidFill>
              <a:latin typeface="Times New Roman"/>
              <a:ea typeface="Times New Roman"/>
              <a:cs typeface="Times New Roman"/>
              <a:sym typeface="Times New Roman"/>
            </a:endParaRPr>
          </a:p>
          <a:p>
            <a:pPr algn="just">
              <a:buClr>
                <a:srgbClr val="000000"/>
              </a:buClr>
              <a:buSzPts val="2000"/>
              <a:buFont typeface="Arial"/>
              <a:buNone/>
            </a:pPr>
            <a:endParaRPr sz="1600" kern="0" dirty="0">
              <a:solidFill>
                <a:srgbClr val="000000"/>
              </a:solidFill>
              <a:latin typeface="Times New Roman"/>
              <a:ea typeface="Times New Roman"/>
              <a:cs typeface="Times New Roman"/>
              <a:sym typeface="Times New Roman"/>
            </a:endParaRPr>
          </a:p>
          <a:p>
            <a:pPr marL="457200" indent="-355600" algn="just">
              <a:buClr>
                <a:srgbClr val="FF0000"/>
              </a:buClr>
              <a:buSzPts val="2000"/>
              <a:buFont typeface="Times New Roman"/>
              <a:buChar char="-"/>
            </a:pPr>
            <a:r>
              <a:rPr lang="en-US" sz="2000" b="1" kern="0" dirty="0" err="1">
                <a:solidFill>
                  <a:srgbClr val="FF0000"/>
                </a:solidFill>
                <a:latin typeface="Times New Roman"/>
                <a:ea typeface="Times New Roman"/>
                <a:cs typeface="Times New Roman"/>
                <a:sym typeface="Times New Roman"/>
              </a:rPr>
              <a:t>Hỏng</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hóc</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ảnh</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hưởng</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cần</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lưu</a:t>
            </a:r>
            <a:r>
              <a:rPr lang="en-US" sz="2000" b="1" kern="0" dirty="0">
                <a:solidFill>
                  <a:srgbClr val="FF0000"/>
                </a:solidFill>
                <a:latin typeface="Times New Roman"/>
                <a:ea typeface="Times New Roman"/>
                <a:cs typeface="Times New Roman"/>
                <a:sym typeface="Times New Roman"/>
              </a:rPr>
              <a:t> ý:</a:t>
            </a:r>
            <a:r>
              <a:rPr lang="en-US" sz="1600" kern="0" dirty="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marL="457200" algn="just">
              <a:buClr>
                <a:srgbClr val="000000"/>
              </a:buClr>
              <a:buFont typeface="Arial"/>
              <a:buNone/>
            </a:pPr>
            <a:r>
              <a:rPr lang="en-US" sz="1600" kern="0" dirty="0">
                <a:solidFill>
                  <a:srgbClr val="000000"/>
                </a:solidFill>
                <a:latin typeface="Times New Roman"/>
                <a:ea typeface="Times New Roman"/>
                <a:cs typeface="Times New Roman"/>
                <a:sym typeface="Times New Roman"/>
              </a:rPr>
              <a:t>• A879 - BRAKE WORN TO LIMIT: in stock.</a:t>
            </a: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 A873, A879 - CARGO HANDLING SYS INOP: </a:t>
            </a:r>
            <a:r>
              <a:rPr lang="en-US" sz="1600" kern="0" dirty="0" err="1">
                <a:solidFill>
                  <a:srgbClr val="000000"/>
                </a:solidFill>
                <a:latin typeface="Times New Roman"/>
                <a:ea typeface="Times New Roman"/>
                <a:cs typeface="Times New Roman"/>
                <a:sym typeface="Times New Roman"/>
              </a:rPr>
              <a:t>đặt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hàng</a:t>
            </a:r>
            <a:r>
              <a:rPr lang="en-US" sz="1600" kern="0" dirty="0">
                <a:solidFill>
                  <a:srgbClr val="000000"/>
                </a:solidFill>
                <a:latin typeface="Times New Roman"/>
                <a:ea typeface="Times New Roman"/>
                <a:cs typeface="Times New Roman"/>
                <a:sym typeface="Times New Roman"/>
              </a:rPr>
              <a:t> CMDU, </a:t>
            </a:r>
            <a:r>
              <a:rPr lang="en-US" sz="1600" kern="0" dirty="0" err="1">
                <a:solidFill>
                  <a:srgbClr val="000000"/>
                </a:solidFill>
                <a:latin typeface="Times New Roman"/>
                <a:ea typeface="Times New Roman"/>
                <a:cs typeface="Times New Roman"/>
                <a:sym typeface="Times New Roman"/>
              </a:rPr>
              <a:t>đang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chờ</a:t>
            </a:r>
            <a:r>
              <a:rPr lang="en-US" sz="1600" kern="0" dirty="0">
                <a:solidFill>
                  <a:srgbClr val="000000"/>
                </a:solidFill>
                <a:latin typeface="Times New Roman"/>
                <a:ea typeface="Times New Roman"/>
                <a:cs typeface="Times New Roman"/>
                <a:sym typeface="Times New Roman"/>
              </a:rPr>
              <a:t> KLM </a:t>
            </a:r>
            <a:r>
              <a:rPr lang="en-US" sz="1600" kern="0" dirty="0" err="1">
                <a:solidFill>
                  <a:srgbClr val="000000"/>
                </a:solidFill>
                <a:latin typeface="Times New Roman"/>
                <a:ea typeface="Times New Roman"/>
                <a:cs typeface="Times New Roman"/>
                <a:sym typeface="Times New Roman"/>
              </a:rPr>
              <a:t>gửi</a:t>
            </a:r>
            <a:r>
              <a:rPr lang="en-US" sz="1600" kern="0" dirty="0">
                <a:solidFill>
                  <a:srgbClr val="000000"/>
                </a:solidFill>
                <a:latin typeface="Times New Roman"/>
                <a:ea typeface="Times New Roman"/>
                <a:cs typeface="Times New Roman"/>
                <a:sym typeface="Times New Roman"/>
              </a:rPr>
              <a:t> CMDU sang shop load SW -10</a:t>
            </a:r>
            <a:r>
              <a:rPr lang="en-US" sz="1600" kern="0" dirty="0" smtClean="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100"/>
              <a:buFont typeface="Arial"/>
              <a:buNone/>
            </a:pP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algn="just">
              <a:buClr>
                <a:srgbClr val="000000"/>
              </a:buClr>
              <a:buSzPts val="1100"/>
              <a:buFont typeface="Arial"/>
              <a:buNone/>
            </a:pPr>
            <a:endParaRPr sz="1600" kern="0" dirty="0">
              <a:solidFill>
                <a:srgbClr val="FF0000"/>
              </a:solidFill>
              <a:latin typeface="Times New Roman"/>
              <a:ea typeface="Times New Roman"/>
              <a:cs typeface="Times New Roman"/>
              <a:sym typeface="Times New Roman"/>
            </a:endParaRPr>
          </a:p>
          <a:p>
            <a:pPr algn="just">
              <a:buClr>
                <a:srgbClr val="000000"/>
              </a:buClr>
              <a:buSzPts val="1100"/>
              <a:buFont typeface="Arial"/>
              <a:buNone/>
            </a:pPr>
            <a:endParaRPr sz="1600" kern="0" dirty="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b="1" kern="0" dirty="0">
              <a:solidFill>
                <a:srgbClr val="FF0000"/>
              </a:solidFill>
              <a:latin typeface="Times New Roman"/>
              <a:ea typeface="Times New Roman"/>
              <a:cs typeface="Times New Roman"/>
              <a:sym typeface="Times New Roman"/>
            </a:endParaRPr>
          </a:p>
        </p:txBody>
      </p:sp>
      <p:pic>
        <p:nvPicPr>
          <p:cNvPr id="218" name="Google Shape;218;g31ccdae391d_0_315"/>
          <p:cNvPicPr preferRelativeResize="0"/>
          <p:nvPr/>
        </p:nvPicPr>
        <p:blipFill>
          <a:blip r:embed="rId3">
            <a:alphaModFix/>
          </a:blip>
          <a:stretch>
            <a:fillRect/>
          </a:stretch>
        </p:blipFill>
        <p:spPr>
          <a:xfrm>
            <a:off x="1172827" y="3098551"/>
            <a:ext cx="10233374" cy="1575175"/>
          </a:xfrm>
          <a:prstGeom prst="rect">
            <a:avLst/>
          </a:prstGeom>
          <a:noFill/>
          <a:ln>
            <a:noFill/>
          </a:ln>
        </p:spPr>
      </p:pic>
    </p:spTree>
    <p:extLst>
      <p:ext uri="{BB962C8B-B14F-4D97-AF65-F5344CB8AC3E}">
        <p14:creationId xmlns:p14="http://schemas.microsoft.com/office/powerpoint/2010/main" val="388009904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5" name="Google Shape;225;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58</a:t>
            </a:fld>
            <a:endParaRPr/>
          </a:p>
        </p:txBody>
      </p:sp>
      <p:sp>
        <p:nvSpPr>
          <p:cNvPr id="226" name="Google Shape;226;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algn="just">
              <a:buClr>
                <a:srgbClr val="000000"/>
              </a:buClr>
              <a:buSzPts val="2000"/>
              <a:buFont typeface="Arial"/>
              <a:buNone/>
            </a:pPr>
            <a:r>
              <a:rPr lang="en-US" sz="2000" b="1" kern="0">
                <a:solidFill>
                  <a:srgbClr val="FF0000"/>
                </a:solidFill>
                <a:latin typeface="Times New Roman"/>
                <a:ea typeface="Times New Roman"/>
                <a:cs typeface="Times New Roman"/>
                <a:sym typeface="Times New Roman"/>
              </a:rPr>
              <a:t>Tình trạng đơn hàng Pooling: 34 đơn hàng quá hạn trong tổng số 44 đơn hàng đang open</a:t>
            </a:r>
            <a:endParaRPr sz="2000" b="1" kern="0">
              <a:solidFill>
                <a:srgbClr val="FF0000"/>
              </a:solidFill>
              <a:ea typeface="Arial"/>
              <a:cs typeface="Arial"/>
              <a:sym typeface="Arial"/>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lấp đầy kho OSS: </a:t>
            </a:r>
            <a:r>
              <a:rPr lang="en-US" sz="1500" kern="0">
                <a:solidFill>
                  <a:srgbClr val="000000"/>
                </a:solidFill>
                <a:latin typeface="Times New Roman"/>
                <a:ea typeface="Times New Roman"/>
                <a:cs typeface="Times New Roman"/>
                <a:sym typeface="Times New Roman"/>
              </a:rPr>
              <a:t>09 overdue LO / total 11 LO</a:t>
            </a:r>
            <a:endParaRPr sz="1500" kern="0">
              <a:solidFill>
                <a:srgbClr val="00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khác (Defect, Hardtime): </a:t>
            </a:r>
            <a:r>
              <a:rPr lang="en-US" sz="1500" kern="0">
                <a:solidFill>
                  <a:srgbClr val="000000"/>
                </a:solidFill>
                <a:latin typeface="Times New Roman"/>
                <a:ea typeface="Times New Roman"/>
                <a:cs typeface="Times New Roman"/>
                <a:sym typeface="Times New Roman"/>
              </a:rPr>
              <a:t>25 overdue EO / total  31 EO </a:t>
            </a:r>
            <a:endParaRPr sz="1500" kern="0">
              <a:solidFill>
                <a:srgbClr val="1F497D"/>
              </a:solidFill>
              <a:latin typeface="Times New Roman"/>
              <a:ea typeface="Times New Roman"/>
              <a:cs typeface="Times New Roman"/>
              <a:sym typeface="Times New Roman"/>
            </a:endParaRPr>
          </a:p>
          <a:p>
            <a:pPr marL="457200" indent="-323850" algn="just">
              <a:lnSpc>
                <a:spcPct val="110000"/>
              </a:lnSpc>
              <a:spcBef>
                <a:spcPts val="600"/>
              </a:spcBef>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Tình trạng đơn hàng pool trong 4 tuần gần nhất:</a:t>
            </a:r>
            <a:endParaRPr sz="1500" b="1" kern="0">
              <a:solidFill>
                <a:srgbClr val="000000"/>
              </a:solidFill>
              <a:latin typeface="Times New Roman"/>
              <a:ea typeface="Times New Roman"/>
              <a:cs typeface="Times New Roman"/>
              <a:sym typeface="Times New Roman"/>
            </a:endParaRPr>
          </a:p>
          <a:p>
            <a:pPr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sp>
        <p:nvSpPr>
          <p:cNvPr id="227" name="Google Shape;227;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a:buClr>
                <a:srgbClr val="000000"/>
              </a:buClr>
              <a:buSzPts val="2800"/>
              <a:buFont typeface="Arial"/>
              <a:buNone/>
            </a:pPr>
            <a:endParaRPr sz="2800" kern="0">
              <a:solidFill>
                <a:srgbClr val="000000"/>
              </a:solidFill>
              <a:latin typeface="Calibri"/>
              <a:ea typeface="Calibri"/>
              <a:cs typeface="Calibri"/>
              <a:sym typeface="Calibri"/>
            </a:endParaRPr>
          </a:p>
        </p:txBody>
      </p:sp>
      <p:pic>
        <p:nvPicPr>
          <p:cNvPr id="228" name="Google Shape;228;g31ccdae391d_0_323"/>
          <p:cNvPicPr preferRelativeResize="0"/>
          <p:nvPr/>
        </p:nvPicPr>
        <p:blipFill>
          <a:blip r:embed="rId3">
            <a:alphaModFix/>
          </a:blip>
          <a:stretch>
            <a:fillRect/>
          </a:stretch>
        </p:blipFill>
        <p:spPr>
          <a:xfrm>
            <a:off x="2662250" y="2234825"/>
            <a:ext cx="6335299" cy="4342200"/>
          </a:xfrm>
          <a:prstGeom prst="rect">
            <a:avLst/>
          </a:prstGeom>
          <a:noFill/>
          <a:ln>
            <a:noFill/>
          </a:ln>
        </p:spPr>
      </p:pic>
    </p:spTree>
    <p:extLst>
      <p:ext uri="{BB962C8B-B14F-4D97-AF65-F5344CB8AC3E}">
        <p14:creationId xmlns:p14="http://schemas.microsoft.com/office/powerpoint/2010/main" val="12232299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5" name="Google Shape;235;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59</a:t>
            </a:fld>
            <a:endParaRPr/>
          </a:p>
        </p:txBody>
      </p:sp>
      <p:graphicFrame>
        <p:nvGraphicFramePr>
          <p:cNvPr id="236" name="Google Shape;236;g31ccdae391d_0_332"/>
          <p:cNvGraphicFramePr/>
          <p:nvPr/>
        </p:nvGraphicFramePr>
        <p:xfrm>
          <a:off x="474783" y="301869"/>
          <a:ext cx="11561850" cy="5404125"/>
        </p:xfrm>
        <a:graphic>
          <a:graphicData uri="http://schemas.openxmlformats.org/drawingml/2006/table">
            <a:tbl>
              <a:tblPr>
                <a:noFill/>
              </a:tblPr>
              <a:tblGrid>
                <a:gridCol w="778900"/>
                <a:gridCol w="1783525"/>
                <a:gridCol w="1599825"/>
                <a:gridCol w="3699800"/>
                <a:gridCol w="3699800"/>
              </a:tblGrid>
              <a:tr h="338375">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383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1385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01ea in  stock.</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u="none" strike="noStrike" cap="none">
                          <a:solidFill>
                            <a:schemeClr val="dk1"/>
                          </a:solidFill>
                          <a:latin typeface="Times New Roman"/>
                          <a:ea typeface="Times New Roman"/>
                          <a:cs typeface="Times New Roman"/>
                          <a:sym typeface="Times New Roman"/>
                        </a:rPr>
                        <a:t>0</a:t>
                      </a:r>
                      <a:r>
                        <a:rPr lang="en-US" sz="1300">
                          <a:solidFill>
                            <a:schemeClr val="dk1"/>
                          </a:solidFill>
                          <a:latin typeface="Times New Roman"/>
                          <a:ea typeface="Times New Roman"/>
                          <a:cs typeface="Times New Roman"/>
                          <a:sym typeface="Times New Roman"/>
                        </a:rPr>
                        <a:t>5e</a:t>
                      </a:r>
                      <a:r>
                        <a:rPr lang="en-US" sz="1300" u="none" strike="noStrike" cap="none">
                          <a:solidFill>
                            <a:schemeClr val="dk1"/>
                          </a:solidFill>
                          <a:latin typeface="Times New Roman"/>
                          <a:ea typeface="Times New Roman"/>
                          <a:cs typeface="Times New Roman"/>
                          <a:sym typeface="Times New Roman"/>
                        </a:rPr>
                        <a:t>a in stock</a:t>
                      </a:r>
                      <a:r>
                        <a:rPr lang="en-US" sz="1300">
                          <a:solidFill>
                            <a:schemeClr val="dk1"/>
                          </a:solidFill>
                          <a:latin typeface="Times New Roman"/>
                          <a:ea typeface="Times New Roman"/>
                          <a:cs typeface="Times New Roman"/>
                          <a:sym typeface="Times New Roman"/>
                        </a:rPr>
                        <a:t>.</a:t>
                      </a:r>
                      <a:r>
                        <a:rPr lang="en-US" sz="1300">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r>
              <a:tr h="13118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8</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10</a:t>
                      </a:r>
                      <a:r>
                        <a:rPr lang="en-US" sz="1300" u="none" strike="noStrike" cap="none">
                          <a:latin typeface="Times New Roman"/>
                          <a:ea typeface="Times New Roman"/>
                          <a:cs typeface="Times New Roman"/>
                          <a:sym typeface="Times New Roman"/>
                        </a:rPr>
                        <a:t> hỏng hóc + 08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- 0</a:t>
                      </a:r>
                      <a:r>
                        <a:rPr lang="en-US" sz="1300">
                          <a:solidFill>
                            <a:schemeClr val="dk1"/>
                          </a:solidFill>
                          <a:latin typeface="Times New Roman"/>
                          <a:ea typeface="Times New Roman"/>
                          <a:cs typeface="Times New Roman"/>
                          <a:sym typeface="Times New Roman"/>
                        </a:rPr>
                        <a:t>1</a:t>
                      </a:r>
                      <a:r>
                        <a:rPr lang="en-US" sz="1300" u="none" strike="noStrike" cap="none">
                          <a:solidFill>
                            <a:schemeClr val="dk1"/>
                          </a:solidFill>
                          <a:latin typeface="Times New Roman"/>
                          <a:ea typeface="Times New Roman"/>
                          <a:cs typeface="Times New Roman"/>
                          <a:sym typeface="Times New Roman"/>
                        </a:rPr>
                        <a:t>ea in stock</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a:t>
                      </a:r>
                      <a:r>
                        <a:rPr lang="en-US" sz="1300" u="none" strike="noStrike" cap="none">
                          <a:solidFill>
                            <a:schemeClr val="dk1"/>
                          </a:solidFill>
                          <a:latin typeface="Times New Roman"/>
                          <a:ea typeface="Times New Roman"/>
                          <a:cs typeface="Times New Roman"/>
                          <a:sym typeface="Times New Roman"/>
                        </a:rPr>
                        <a:t>1</a:t>
                      </a:r>
                      <a:r>
                        <a:rPr lang="en-US" sz="1300">
                          <a:solidFill>
                            <a:schemeClr val="dk1"/>
                          </a:solidFill>
                          <a:latin typeface="Times New Roman"/>
                          <a:ea typeface="Times New Roman"/>
                          <a:cs typeface="Times New Roman"/>
                          <a:sym typeface="Times New Roman"/>
                        </a:rPr>
                        <a:t>3</a:t>
                      </a:r>
                      <a:r>
                        <a:rPr lang="en-US" sz="1300" u="none" strike="noStrike" cap="none">
                          <a:solidFill>
                            <a:schemeClr val="dk1"/>
                          </a:solidFill>
                          <a:latin typeface="Times New Roman"/>
                          <a:ea typeface="Times New Roman"/>
                          <a:cs typeface="Times New Roman"/>
                          <a:sym typeface="Times New Roman"/>
                        </a:rPr>
                        <a:t>RO, trong đó: </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04ea EDD 24/02.</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+ 09ea EDD 27/03.</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phát sinh sẽ phải cắt tải, tiềm ẩn AOG.</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Vẫn hỏng hóc nhiều trên fleet A350.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11</a:t>
                      </a:r>
                      <a:r>
                        <a:rPr lang="en-US" sz="1300" u="none" strike="noStrike" cap="none">
                          <a:solidFill>
                            <a:schemeClr val="dk1"/>
                          </a:solidFill>
                          <a:latin typeface="Times New Roman"/>
                          <a:ea typeface="Times New Roman"/>
                          <a:cs typeface="Times New Roman"/>
                          <a:sym typeface="Times New Roman"/>
                        </a:rPr>
                        <a:t>ea in stock (061110ea của tàu BQ).</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err="1">
                          <a:solidFill>
                            <a:schemeClr val="dk1"/>
                          </a:solidFill>
                          <a:latin typeface="Times New Roman"/>
                          <a:ea typeface="Times New Roman"/>
                          <a:cs typeface="Times New Roman"/>
                          <a:sym typeface="Times New Roman"/>
                        </a:rPr>
                        <a:t>Hiện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chưa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lịch</a:t>
                      </a:r>
                      <a:r>
                        <a:rPr lang="en-US" sz="1300" dirty="0">
                          <a:solidFill>
                            <a:schemeClr val="dk1"/>
                          </a:solidFill>
                          <a:latin typeface="Times New Roman"/>
                          <a:ea typeface="Times New Roman"/>
                          <a:cs typeface="Times New Roman"/>
                          <a:sym typeface="Times New Roman"/>
                        </a:rPr>
                        <a:t> ship </a:t>
                      </a:r>
                      <a:r>
                        <a:rPr lang="en-US" sz="1300" dirty="0" err="1">
                          <a:solidFill>
                            <a:schemeClr val="dk1"/>
                          </a:solidFill>
                          <a:latin typeface="Times New Roman"/>
                          <a:ea typeface="Times New Roman"/>
                          <a:cs typeface="Times New Roman"/>
                          <a:sym typeface="Times New Roman"/>
                        </a:rPr>
                        <a:t>từ</a:t>
                      </a:r>
                      <a:r>
                        <a:rPr lang="en-US" sz="1300" dirty="0">
                          <a:solidFill>
                            <a:schemeClr val="dk1"/>
                          </a:solidFill>
                          <a:latin typeface="Times New Roman"/>
                          <a:ea typeface="Times New Roman"/>
                          <a:cs typeface="Times New Roman"/>
                          <a:sym typeface="Times New Roman"/>
                        </a:rPr>
                        <a:t> FHS.</a:t>
                      </a:r>
                      <a:endParaRPr sz="1300" dirty="0">
                        <a:solidFill>
                          <a:schemeClr val="dk1"/>
                        </a:solidFill>
                        <a:latin typeface="Times New Roman"/>
                        <a:ea typeface="Times New Roman"/>
                        <a:cs typeface="Times New Roman"/>
                        <a:sym typeface="Times New Roman"/>
                      </a:endParaRPr>
                    </a:p>
                  </a:txBody>
                  <a:tcPr marL="9525" marR="9525" marT="9525" marB="0" anchor="ctr"/>
                </a:tc>
              </a:tr>
            </a:tbl>
          </a:graphicData>
        </a:graphic>
      </p:graphicFrame>
    </p:spTree>
    <p:extLst>
      <p:ext uri="{BB962C8B-B14F-4D97-AF65-F5344CB8AC3E}">
        <p14:creationId xmlns:p14="http://schemas.microsoft.com/office/powerpoint/2010/main" val="252443791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3" name="Google Shape;243;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60</a:t>
            </a:fld>
            <a:endParaRPr/>
          </a:p>
        </p:txBody>
      </p:sp>
      <p:sp>
        <p:nvSpPr>
          <p:cNvPr id="244" name="Google Shape;244;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indent="-355600" algn="just">
              <a:buClr>
                <a:srgbClr val="FF0000"/>
              </a:buClr>
              <a:buSzPts val="2000"/>
              <a:buFont typeface="Times New Roman"/>
              <a:buChar char="-"/>
            </a:pPr>
            <a:r>
              <a:rPr lang="en-US" sz="2000" b="1" kern="0">
                <a:solidFill>
                  <a:srgbClr val="FF0000"/>
                </a:solidFill>
                <a:latin typeface="Times New Roman"/>
                <a:ea typeface="Times New Roman"/>
                <a:cs typeface="Times New Roman"/>
                <a:sym typeface="Times New Roman"/>
              </a:rPr>
              <a:t>Một số PTVT cần lưu ý:</a:t>
            </a: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r>
              <a:rPr lang="en-US" sz="1600" kern="0">
                <a:solidFill>
                  <a:srgbClr val="000000"/>
                </a:solidFill>
                <a:latin typeface="Times New Roman"/>
                <a:ea typeface="Times New Roman"/>
                <a:cs typeface="Times New Roman"/>
                <a:sym typeface="Times New Roman"/>
              </a:rPr>
              <a:t>  +    Một số thiết bị pooling của OEM Honeywell liên quan hệ thống Chiller (VCRU, Motor Controler) TAT vẫn rất dài.</a:t>
            </a:r>
            <a:endParaRPr sz="1600" kern="0">
              <a:solidFill>
                <a:srgbClr val="000000"/>
              </a:solidFill>
              <a:latin typeface="Times New Roman"/>
              <a:ea typeface="Times New Roman"/>
              <a:cs typeface="Times New Roman"/>
              <a:sym typeface="Times New Roman"/>
            </a:endParaRPr>
          </a:p>
          <a:p>
            <a:pPr marL="914400" indent="-330200" algn="just">
              <a:buClr>
                <a:srgbClr val="000000"/>
              </a:buClr>
              <a:buSzPts val="1600"/>
              <a:buFont typeface="Times New Roman"/>
              <a:buChar char="+"/>
            </a:pPr>
            <a:r>
              <a:rPr lang="en-US" sz="1600" kern="0">
                <a:solidFill>
                  <a:srgbClr val="000000"/>
                </a:solidFill>
                <a:latin typeface="Times New Roman"/>
                <a:ea typeface="Times New Roman"/>
                <a:cs typeface="Times New Roman"/>
                <a:sym typeface="Times New Roman"/>
              </a:rPr>
              <a:t>EDP vẫn hỏng hóc nhiều.</a:t>
            </a: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a:solidFill>
                <a:srgbClr val="FF0000"/>
              </a:solidFill>
              <a:latin typeface="Times New Roman"/>
              <a:ea typeface="Times New Roman"/>
              <a:cs typeface="Times New Roman"/>
              <a:sym typeface="Times New Roman"/>
            </a:endParaRPr>
          </a:p>
          <a:p>
            <a:pPr marL="457200" indent="-355600" algn="just">
              <a:buClr>
                <a:srgbClr val="FF0000"/>
              </a:buClr>
              <a:buSzPts val="2000"/>
              <a:buFont typeface="Times New Roman"/>
              <a:buChar char="-"/>
            </a:pPr>
            <a:r>
              <a:rPr lang="en-US" sz="2000" b="1" kern="0">
                <a:solidFill>
                  <a:srgbClr val="FF0000"/>
                </a:solidFill>
                <a:latin typeface="Times New Roman"/>
                <a:ea typeface="Times New Roman"/>
                <a:cs typeface="Times New Roman"/>
                <a:sym typeface="Times New Roman"/>
              </a:rPr>
              <a:t>Hỏng hóc ảnh hưởng cần lưu ý:</a:t>
            </a: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r>
              <a:rPr lang="en-US" sz="1600" kern="0">
                <a:solidFill>
                  <a:srgbClr val="000000"/>
                </a:solidFill>
                <a:latin typeface="Times New Roman"/>
                <a:ea typeface="Times New Roman"/>
                <a:cs typeface="Times New Roman"/>
                <a:sym typeface="Times New Roman"/>
              </a:rPr>
              <a:t>• A889- APU DEACTIVATED: đã có APU (giao HAN 14/02).</a:t>
            </a: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r>
              <a:rPr lang="en-US" sz="1600" kern="0">
                <a:solidFill>
                  <a:srgbClr val="000000"/>
                </a:solidFill>
                <a:latin typeface="Times New Roman"/>
                <a:ea typeface="Times New Roman"/>
                <a:cs typeface="Times New Roman"/>
                <a:sym typeface="Times New Roman"/>
              </a:rPr>
              <a:t>• A893 - APU INOP: Dự kiến lấy APU từ A887 BQDB và lắp lên trong định kỳ 22-24/02/25.</a:t>
            </a: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r>
              <a:rPr lang="en-US" sz="1600" kern="0">
                <a:solidFill>
                  <a:srgbClr val="000000"/>
                </a:solidFill>
                <a:latin typeface="Times New Roman"/>
                <a:ea typeface="Times New Roman"/>
                <a:cs typeface="Times New Roman"/>
                <a:sym typeface="Times New Roman"/>
              </a:rPr>
              <a:t>• A893 - BRK #5 INOP: phanh dự kiến 20/02 ra shop VSTEA (chờ vật tư tiêu hao để ra shop).</a:t>
            </a: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r>
              <a:rPr lang="en-US" sz="1600" kern="0">
                <a:solidFill>
                  <a:srgbClr val="000000"/>
                </a:solidFill>
                <a:latin typeface="Times New Roman"/>
                <a:ea typeface="Times New Roman"/>
                <a:cs typeface="Times New Roman"/>
                <a:sym typeface="Times New Roman"/>
              </a:rPr>
              <a:t>• A897 - CHILLER SYSTEM INOP: đặt hàng VCRU, chưa có EDD. </a:t>
            </a: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r>
              <a:rPr lang="en-US" sz="1600" kern="0">
                <a:solidFill>
                  <a:srgbClr val="000000"/>
                </a:solidFill>
                <a:latin typeface="Times New Roman"/>
                <a:ea typeface="Times New Roman"/>
                <a:cs typeface="Times New Roman"/>
                <a:sym typeface="Times New Roman"/>
              </a:rPr>
              <a:t> </a:t>
            </a: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r>
              <a:rPr lang="en-US" sz="1600" kern="0">
                <a:solidFill>
                  <a:srgbClr val="000000"/>
                </a:solidFill>
                <a:latin typeface="Times New Roman"/>
                <a:ea typeface="Times New Roman"/>
                <a:cs typeface="Times New Roman"/>
                <a:sym typeface="Times New Roman"/>
              </a:rPr>
              <a:t>.</a:t>
            </a: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20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pic>
        <p:nvPicPr>
          <p:cNvPr id="245" name="Google Shape;245;g31ccdae391d_0_339"/>
          <p:cNvPicPr preferRelativeResize="0"/>
          <p:nvPr/>
        </p:nvPicPr>
        <p:blipFill>
          <a:blip r:embed="rId3">
            <a:alphaModFix/>
          </a:blip>
          <a:stretch>
            <a:fillRect/>
          </a:stretch>
        </p:blipFill>
        <p:spPr>
          <a:xfrm>
            <a:off x="1145975" y="3295650"/>
            <a:ext cx="9807776" cy="615550"/>
          </a:xfrm>
          <a:prstGeom prst="rect">
            <a:avLst/>
          </a:prstGeom>
          <a:noFill/>
          <a:ln>
            <a:noFill/>
          </a:ln>
        </p:spPr>
      </p:pic>
    </p:spTree>
    <p:extLst>
      <p:ext uri="{BB962C8B-B14F-4D97-AF65-F5344CB8AC3E}">
        <p14:creationId xmlns:p14="http://schemas.microsoft.com/office/powerpoint/2010/main" val="218748467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52" name="Google Shape;252;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61</a:t>
            </a:fld>
            <a:endParaRPr/>
          </a:p>
        </p:txBody>
      </p:sp>
      <p:graphicFrame>
        <p:nvGraphicFramePr>
          <p:cNvPr id="253" name="Google Shape;253;g31ccdae391d_0_347"/>
          <p:cNvGraphicFramePr/>
          <p:nvPr/>
        </p:nvGraphicFramePr>
        <p:xfrm>
          <a:off x="439614" y="221847"/>
          <a:ext cx="11611325" cy="6311045"/>
        </p:xfrm>
        <a:graphic>
          <a:graphicData uri="http://schemas.openxmlformats.org/drawingml/2006/table">
            <a:tbl>
              <a:tblPr>
                <a:noFill/>
              </a:tblPr>
              <a:tblGrid>
                <a:gridCol w="548675"/>
                <a:gridCol w="1774900"/>
                <a:gridCol w="1550950"/>
                <a:gridCol w="2501400"/>
                <a:gridCol w="5235400"/>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05</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endParaRPr sz="14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0</a:t>
                      </a:r>
                      <a:r>
                        <a:rPr lang="en-US">
                          <a:latin typeface="Times New Roman"/>
                          <a:ea typeface="Times New Roman"/>
                          <a:cs typeface="Times New Roman"/>
                          <a:sym typeface="Times New Roman"/>
                        </a:rPr>
                        <a:t>1</a:t>
                      </a:r>
                      <a:r>
                        <a:rPr lang="en-US" sz="1400" u="none" strike="noStrike" cap="none">
                          <a:latin typeface="Times New Roman"/>
                          <a:ea typeface="Times New Roman"/>
                          <a:cs typeface="Times New Roman"/>
                          <a:sym typeface="Times New Roman"/>
                        </a:rPr>
                        <a:t>EA</a:t>
                      </a:r>
                      <a:r>
                        <a:rPr lang="en-US">
                          <a:latin typeface="Times New Roman"/>
                          <a:ea typeface="Times New Roman"/>
                          <a:cs typeface="Times New Roman"/>
                          <a:sym typeface="Times New Roman"/>
                        </a:rPr>
                        <a:t> PO: đang vận chuyển từ SIN về</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r>
                        <a:rPr lang="en-US" sz="1400" u="none" strike="noStrike" cap="none">
                          <a:latin typeface="Times New Roman"/>
                          <a:ea typeface="Times New Roman"/>
                          <a:cs typeface="Times New Roman"/>
                          <a:sym typeface="Times New Roman"/>
                        </a:rPr>
                        <a:t>01</a:t>
                      </a:r>
                      <a:r>
                        <a:rPr lang="en-US">
                          <a:latin typeface="Times New Roman"/>
                          <a:ea typeface="Times New Roman"/>
                          <a:cs typeface="Times New Roman"/>
                          <a:sym typeface="Times New Roman"/>
                        </a:rPr>
                        <a:t>EA YO: đang vận chuyển từ Mỹ về</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815470-2</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01EA: STK SGN P/N S5741212100810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816332-5-401</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STK = 0</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NO ORDER OUTSIDE</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01RO: đang vận chuyển từ Pháp về (hàng đổi)</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01RO: chưa có thông tin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317319999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60" name="Google Shape;260;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62</a:t>
            </a:fld>
            <a:endParaRPr/>
          </a:p>
        </p:txBody>
      </p:sp>
      <p:graphicFrame>
        <p:nvGraphicFramePr>
          <p:cNvPr id="261" name="Google Shape;261;g31ccdae391d_0_354"/>
          <p:cNvGraphicFramePr/>
          <p:nvPr>
            <p:extLst/>
          </p:nvPr>
        </p:nvGraphicFramePr>
        <p:xfrm>
          <a:off x="392714" y="718223"/>
          <a:ext cx="11570675" cy="5310995"/>
        </p:xfrm>
        <a:graphic>
          <a:graphicData uri="http://schemas.openxmlformats.org/drawingml/2006/table">
            <a:tbl>
              <a:tblPr>
                <a:noFill/>
              </a:tblPr>
              <a:tblGrid>
                <a:gridCol w="741275"/>
                <a:gridCol w="1235450"/>
                <a:gridCol w="1470950"/>
                <a:gridCol w="4061500"/>
                <a:gridCol w="4061500"/>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dirty="0" err="1">
                          <a:latin typeface="Times New Roman"/>
                          <a:ea typeface="Times New Roman"/>
                          <a:cs typeface="Times New Roman"/>
                          <a:sym typeface="Times New Roman"/>
                        </a:rPr>
                        <a:t>Lốp</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các</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loại</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đủ</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dự</a:t>
                      </a:r>
                      <a:r>
                        <a:rPr lang="en-US" sz="1400" u="none" strike="noStrike" cap="none" dirty="0">
                          <a:latin typeface="Times New Roman"/>
                          <a:ea typeface="Times New Roman"/>
                          <a:cs typeface="Times New Roman"/>
                          <a:sym typeface="Times New Roman"/>
                        </a:rPr>
                        <a:t> </a:t>
                      </a:r>
                      <a:r>
                        <a:rPr lang="en-US" sz="1400" u="none" strike="noStrike" cap="none" dirty="0" err="1" smtClean="0">
                          <a:latin typeface="Times New Roman"/>
                          <a:ea typeface="Times New Roman"/>
                          <a:cs typeface="Times New Roman"/>
                          <a:sym typeface="Times New Roman"/>
                        </a:rPr>
                        <a:t>phòng</a:t>
                      </a:r>
                      <a:r>
                        <a:rPr lang="en-US" sz="1400" u="none" strike="noStrike" cap="none" dirty="0" smtClean="0">
                          <a:latin typeface="Times New Roman"/>
                          <a:ea typeface="Times New Roman"/>
                          <a:cs typeface="Times New Roman"/>
                          <a:sym typeface="Times New Roman"/>
                        </a:rPr>
                        <a:t>.</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Kho có </a:t>
                      </a:r>
                      <a:r>
                        <a:rPr lang="en-US">
                          <a:latin typeface="Times New Roman"/>
                          <a:ea typeface="Times New Roman"/>
                          <a:cs typeface="Times New Roman"/>
                          <a:sym typeface="Times New Roman"/>
                        </a:rPr>
                        <a:t>01</a:t>
                      </a:r>
                      <a:r>
                        <a:rPr lang="en-US" sz="1400" u="none" strike="noStrike" cap="none">
                          <a:latin typeface="Times New Roman"/>
                          <a:ea typeface="Times New Roman"/>
                          <a:cs typeface="Times New Roman"/>
                          <a:sym typeface="Times New Roman"/>
                        </a:rPr>
                        <a:t>a dự phòng. </a:t>
                      </a:r>
                      <a:r>
                        <a:rPr lang="en-US">
                          <a:latin typeface="Times New Roman"/>
                          <a:ea typeface="Times New Roman"/>
                          <a:cs typeface="Times New Roman"/>
                          <a:sym typeface="Times New Roman"/>
                        </a:rPr>
                        <a:t>01ea dự kiến giao SGN 17/02.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NIL stock, 05ea sẽ ra shop VSTEA trong tuần 08.</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Kho có </a:t>
                      </a:r>
                      <a:r>
                        <a:rPr lang="en-US">
                          <a:latin typeface="Times New Roman"/>
                          <a:ea typeface="Times New Roman"/>
                          <a:cs typeface="Times New Roman"/>
                          <a:sym typeface="Times New Roman"/>
                        </a:rPr>
                        <a:t>04 </a:t>
                      </a:r>
                      <a:r>
                        <a:rPr lang="en-US" sz="1400" u="none" strike="noStrike" cap="none">
                          <a:latin typeface="Times New Roman"/>
                          <a:ea typeface="Times New Roman"/>
                          <a:cs typeface="Times New Roman"/>
                          <a:sym typeface="Times New Roman"/>
                        </a:rPr>
                        <a:t>ea</a:t>
                      </a:r>
                      <a:r>
                        <a:rPr lang="en-US" sz="1400" u="none" strike="noStrike" cap="none">
                          <a:solidFill>
                            <a:schemeClr val="dk1"/>
                          </a:solidFill>
                          <a:latin typeface="Times New Roman"/>
                          <a:ea typeface="Times New Roman"/>
                          <a:cs typeface="Times New Roman"/>
                          <a:sym typeface="Times New Roman"/>
                        </a:rPr>
                        <a:t> dự phòng</a:t>
                      </a:r>
                      <a:r>
                        <a:rPr lang="en-US">
                          <a:solidFill>
                            <a:schemeClr val="dk1"/>
                          </a:solidFill>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104135981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68" name="Google Shape;268;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63</a:t>
            </a:fld>
            <a:endParaRPr/>
          </a:p>
        </p:txBody>
      </p:sp>
      <p:sp>
        <p:nvSpPr>
          <p:cNvPr id="269" name="Google Shape;269;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algn="just">
              <a:buClr>
                <a:srgbClr val="000000"/>
              </a:buClr>
              <a:buSzPts val="1500"/>
              <a:buFont typeface="Arial"/>
              <a:buNone/>
            </a:pPr>
            <a:r>
              <a:rPr lang="en-US" sz="1500" kern="0">
                <a:solidFill>
                  <a:srgbClr val="000000"/>
                </a:solidFill>
                <a:highlight>
                  <a:srgbClr val="FFFFFF"/>
                </a:highlight>
                <a:latin typeface="Times New Roman"/>
                <a:ea typeface="Times New Roman"/>
                <a:cs typeface="Times New Roman"/>
                <a:sym typeface="Times New Roman"/>
              </a:rPr>
              <a:t>- </a:t>
            </a:r>
            <a:r>
              <a:rPr lang="en-US" sz="1500" b="1" kern="0">
                <a:solidFill>
                  <a:srgbClr val="FF0000"/>
                </a:solidFill>
                <a:highlight>
                  <a:srgbClr val="FFFFFF"/>
                </a:highlight>
                <a:latin typeface="Times New Roman"/>
                <a:ea typeface="Times New Roman"/>
                <a:cs typeface="Times New Roman"/>
                <a:sym typeface="Times New Roman"/>
              </a:rPr>
              <a:t>Đội bay A350:</a:t>
            </a:r>
            <a:endParaRPr sz="1500" b="1" kern="0">
              <a:solidFill>
                <a:srgbClr val="FF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a:solidFill>
                  <a:srgbClr val="000000"/>
                </a:solidFill>
                <a:highlight>
                  <a:srgbClr val="FFFFFF"/>
                </a:highlight>
                <a:latin typeface="Times New Roman"/>
                <a:ea typeface="Times New Roman"/>
                <a:cs typeface="Times New Roman"/>
                <a:sym typeface="Times New Roman"/>
              </a:rPr>
              <a:t>• Số lượng dự phòng: 03ea (thuê dài hạn) &amp; 03 động cơ thuê ngắn hạn + 01 động cơ new (giao HAN 22/01).</a:t>
            </a:r>
            <a:endParaRPr sz="1500" kern="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a:solidFill>
                  <a:srgbClr val="000000"/>
                </a:solidFill>
                <a:highlight>
                  <a:srgbClr val="FFFFFF"/>
                </a:highlight>
                <a:latin typeface="Times New Roman"/>
                <a:ea typeface="Times New Roman"/>
                <a:cs typeface="Times New Roman"/>
                <a:sym typeface="Times New Roman"/>
              </a:rPr>
              <a:t>• Số lượng trong kho: 0</a:t>
            </a:r>
            <a:endParaRPr sz="1500" kern="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a:solidFill>
                  <a:srgbClr val="000000"/>
                </a:solidFill>
                <a:highlight>
                  <a:srgbClr val="FFFFFF"/>
                </a:highlight>
                <a:latin typeface="Times New Roman"/>
                <a:ea typeface="Times New Roman"/>
                <a:cs typeface="Times New Roman"/>
                <a:sym typeface="Times New Roman"/>
              </a:rPr>
              <a:t>• Số lượng động cơ đang tại shop sửa chữa: 06ea (03 động cơ 21047 và 21043 và 21317 sửa tại N3 và 02 động cơ 21422 &amp; 21316 &amp; 21201 sửa tại HAESL). Trong đó 21316 đã sửa xong , pick up 15/02 và dự kiến giao HAN 21/02.</a:t>
            </a:r>
            <a:endParaRPr sz="1500" kern="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a:solidFill>
                  <a:srgbClr val="000000"/>
                </a:solidFill>
                <a:highlight>
                  <a:srgbClr val="FFFFFF"/>
                </a:highlight>
                <a:latin typeface="Times New Roman"/>
                <a:ea typeface="Times New Roman"/>
                <a:cs typeface="Times New Roman"/>
                <a:sym typeface="Times New Roman"/>
              </a:rPr>
              <a:t>• Tháng 01 thêm 02 động cơ induction (01 tại HAESL và 01 tại SEASL).</a:t>
            </a:r>
            <a:endParaRPr sz="1500" kern="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a:solidFill>
                  <a:srgbClr val="000000"/>
                </a:solidFill>
                <a:highlight>
                  <a:srgbClr val="FFFFFF"/>
                </a:highlight>
                <a:latin typeface="Times New Roman"/>
                <a:ea typeface="Times New Roman"/>
                <a:cs typeface="Times New Roman"/>
                <a:sym typeface="Times New Roman"/>
              </a:rPr>
              <a:t>Đã thu xếp chuyển 01 core engine stand từ N3 về để swap động cơ vào tháo tiếp động cơ gửi đi shop.</a:t>
            </a:r>
            <a:endParaRPr sz="1500" kern="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b="1" kern="0">
                <a:solidFill>
                  <a:srgbClr val="FF0000"/>
                </a:solidFill>
                <a:highlight>
                  <a:srgbClr val="FFFFFF"/>
                </a:highlight>
                <a:latin typeface="Times New Roman"/>
                <a:ea typeface="Times New Roman"/>
                <a:cs typeface="Times New Roman"/>
                <a:sym typeface="Times New Roman"/>
              </a:rPr>
              <a:t>- Đội bay B787:</a:t>
            </a:r>
            <a:endParaRPr sz="1500" b="1" kern="0">
              <a:solidFill>
                <a:srgbClr val="FF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a:solidFill>
                  <a:srgbClr val="000000"/>
                </a:solidFill>
                <a:highlight>
                  <a:srgbClr val="FFFFFF"/>
                </a:highlight>
                <a:latin typeface="Times New Roman"/>
                <a:ea typeface="Times New Roman"/>
                <a:cs typeface="Times New Roman"/>
                <a:sym typeface="Times New Roman"/>
              </a:rPr>
              <a:t>• Số lượng dự phòng: 07ea (2 sở hữu, 2 dài hạn và 3 ngắn hạn) đã ký thêm 02 hđ thuê đc với Aercap.</a:t>
            </a:r>
            <a:endParaRPr sz="1500" kern="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a:solidFill>
                  <a:srgbClr val="000000"/>
                </a:solidFill>
                <a:highlight>
                  <a:srgbClr val="FFFFFF"/>
                </a:highlight>
                <a:latin typeface="Times New Roman"/>
                <a:ea typeface="Times New Roman"/>
                <a:cs typeface="Times New Roman"/>
                <a:sym typeface="Times New Roman"/>
              </a:rPr>
              <a:t>• Số lượng trong kho: NIL</a:t>
            </a:r>
            <a:endParaRPr sz="1500" b="1" kern="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a:solidFill>
                  <a:srgbClr val="000000"/>
                </a:solidFill>
                <a:highlight>
                  <a:srgbClr val="FFFFFF"/>
                </a:highlight>
                <a:latin typeface="Times New Roman"/>
                <a:ea typeface="Times New Roman"/>
                <a:cs typeface="Times New Roman"/>
                <a:sym typeface="Times New Roman"/>
              </a:rPr>
              <a:t>• Số lượng động cơ đang tại shop sửa chữa:</a:t>
            </a:r>
            <a:endParaRPr sz="1500" kern="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a:solidFill>
                  <a:srgbClr val="000000"/>
                </a:solidFill>
                <a:highlight>
                  <a:srgbClr val="FFFFFF"/>
                </a:highlight>
                <a:latin typeface="Times New Roman"/>
                <a:ea typeface="Times New Roman"/>
                <a:cs typeface="Times New Roman"/>
                <a:sym typeface="Times New Roman"/>
              </a:rPr>
              <a:t>+05 động cơ ở KLM shop : 956556, 956569, 956533, 956599 và 956947.</a:t>
            </a:r>
            <a:endParaRPr sz="1500" kern="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a:solidFill>
                  <a:srgbClr val="000000"/>
                </a:solidFill>
                <a:highlight>
                  <a:srgbClr val="FFFFFF"/>
                </a:highlight>
                <a:latin typeface="Times New Roman"/>
                <a:ea typeface="Times New Roman"/>
                <a:cs typeface="Times New Roman"/>
                <a:sym typeface="Times New Roman"/>
              </a:rPr>
              <a:t>+02 động cơ ở GE shop :958398 (delay in GEEVES), 958537. </a:t>
            </a:r>
            <a:endParaRPr sz="1500" kern="0">
              <a:solidFill>
                <a:srgbClr val="000000"/>
              </a:solidFill>
              <a:highlight>
                <a:srgbClr val="FFFF00"/>
              </a:highlight>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a:solidFill>
                  <a:srgbClr val="000000"/>
                </a:solidFill>
                <a:highlight>
                  <a:srgbClr val="FFFFFF"/>
                </a:highlight>
                <a:latin typeface="Times New Roman"/>
                <a:ea typeface="Times New Roman"/>
                <a:cs typeface="Times New Roman"/>
                <a:sym typeface="Times New Roman"/>
              </a:rPr>
              <a:t>• Thuê động cơ đáp ứng KH sửa 2024-2025: B787 có 04 dự phòng và đang thuê 05 của Aercap (956933; 958266 và 958934 958966 và 956626) dự kiến cần thuê 01 động cơ nữa Q1 trong năm 2025.  </a:t>
            </a:r>
            <a:endParaRPr sz="1500" kern="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2843245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6" name="Google Shape;276;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64</a:t>
            </a:fld>
            <a:endParaRPr/>
          </a:p>
        </p:txBody>
      </p:sp>
      <p:sp>
        <p:nvSpPr>
          <p:cNvPr id="277" name="Google Shape;277;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b="1" kern="0">
                <a:solidFill>
                  <a:srgbClr val="FF0000"/>
                </a:solidFill>
                <a:latin typeface="Times New Roman"/>
                <a:ea typeface="Times New Roman"/>
                <a:cs typeface="Times New Roman"/>
                <a:sym typeface="Times New Roman"/>
              </a:rPr>
              <a:t>- Đội bay A321 Ceo:</a:t>
            </a:r>
            <a:endParaRPr sz="1600" b="1"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Số lượng dự phòng: 13 (3 sở hữu, 10 thuê ngắn hạn)</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Số lượng trong kho: 02ea V17951, V15851</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Số lượng US chờ chuyển đi: V17403 (dự kiến 15/2/2025 ship đi MTUZ)</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Số lượng động cơ đang sửa tại shop: 10ea</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Động cơ thuê đang hoàn tất thủ tục hoàn trả đối tác: V12175 (WILLIS) - đã giao WILLIS 18/11/2024, V18951- đã giao WILLIS 6/1/2025, đang hoàn thiện thủ tục</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b="1" kern="0">
                <a:solidFill>
                  <a:srgbClr val="FF0000"/>
                </a:solidFill>
                <a:latin typeface="Times New Roman"/>
                <a:ea typeface="Times New Roman"/>
                <a:cs typeface="Times New Roman"/>
                <a:sym typeface="Times New Roman"/>
              </a:rPr>
              <a:t>-</a:t>
            </a:r>
            <a:r>
              <a:rPr lang="en-US" sz="1600" b="1" kern="0">
                <a:solidFill>
                  <a:srgbClr val="000000"/>
                </a:solidFill>
                <a:latin typeface="Times New Roman"/>
                <a:ea typeface="Times New Roman"/>
                <a:cs typeface="Times New Roman"/>
                <a:sym typeface="Times New Roman"/>
              </a:rPr>
              <a:t> </a:t>
            </a:r>
            <a:r>
              <a:rPr lang="en-US" sz="1600" b="1" kern="0">
                <a:solidFill>
                  <a:srgbClr val="FF0000"/>
                </a:solidFill>
                <a:latin typeface="Times New Roman"/>
                <a:ea typeface="Times New Roman"/>
                <a:cs typeface="Times New Roman"/>
                <a:sym typeface="Times New Roman"/>
              </a:rPr>
              <a:t>Vướng mắc:</a:t>
            </a:r>
            <a:endParaRPr sz="1600" b="1"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Danh mục missing part list của động cơ sửa chữa về</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b="1" kern="0">
                <a:solidFill>
                  <a:srgbClr val="FF0000"/>
                </a:solidFill>
                <a:latin typeface="Times New Roman"/>
                <a:ea typeface="Times New Roman"/>
                <a:cs typeface="Times New Roman"/>
                <a:sym typeface="Times New Roman"/>
              </a:rPr>
              <a:t>-</a:t>
            </a:r>
            <a:r>
              <a:rPr lang="en-US" sz="1600" b="1" kern="0">
                <a:solidFill>
                  <a:srgbClr val="000000"/>
                </a:solidFill>
                <a:latin typeface="Times New Roman"/>
                <a:ea typeface="Times New Roman"/>
                <a:cs typeface="Times New Roman"/>
                <a:sym typeface="Times New Roman"/>
              </a:rPr>
              <a:t> </a:t>
            </a:r>
            <a:r>
              <a:rPr lang="en-US" sz="1600" b="1" kern="0">
                <a:solidFill>
                  <a:srgbClr val="FF0000"/>
                </a:solidFill>
                <a:latin typeface="Times New Roman"/>
                <a:ea typeface="Times New Roman"/>
                <a:cs typeface="Times New Roman"/>
                <a:sym typeface="Times New Roman"/>
              </a:rPr>
              <a:t>Giải pháp:</a:t>
            </a:r>
            <a:endParaRPr sz="1600" b="1"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Thúc đẩy việc sửa chữa động cơ tại shop</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Làm việc với Ban KT về KH động cơ về, tháo trả.</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b="1" kern="0">
              <a:solidFill>
                <a:srgbClr val="FF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r>
              <a:rPr lang="en-US" kern="0">
                <a:solidFill>
                  <a:srgbClr val="000000"/>
                </a:solidFill>
                <a:latin typeface="Times New Roman"/>
                <a:ea typeface="Times New Roman"/>
                <a:cs typeface="Times New Roman"/>
                <a:sym typeface="Times New Roman"/>
              </a:rPr>
              <a:t>  </a:t>
            </a: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6855445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84" name="Google Shape;284;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65</a:t>
            </a:fld>
            <a:endParaRPr/>
          </a:p>
        </p:txBody>
      </p:sp>
      <p:sp>
        <p:nvSpPr>
          <p:cNvPr id="285" name="Google Shape;285;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b="1" kern="0">
                <a:solidFill>
                  <a:srgbClr val="FF0000"/>
                </a:solidFill>
                <a:latin typeface="Times New Roman"/>
                <a:ea typeface="Times New Roman"/>
                <a:cs typeface="Times New Roman"/>
                <a:sym typeface="Times New Roman"/>
              </a:rPr>
              <a:t>- Tình trạng trả động cơ thuê 2024</a:t>
            </a:r>
            <a:endParaRPr sz="1600" b="1"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b="1" kern="0">
              <a:solidFill>
                <a:srgbClr val="FF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r>
              <a:rPr lang="en-US" kern="0">
                <a:solidFill>
                  <a:srgbClr val="000000"/>
                </a:solidFill>
                <a:latin typeface="Times New Roman"/>
                <a:ea typeface="Times New Roman"/>
                <a:cs typeface="Times New Roman"/>
                <a:sym typeface="Times New Roman"/>
              </a:rPr>
              <a:t>  </a:t>
            </a: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pic>
        <p:nvPicPr>
          <p:cNvPr id="286" name="Google Shape;286;g31ccdae391d_0_375"/>
          <p:cNvPicPr preferRelativeResize="0"/>
          <p:nvPr/>
        </p:nvPicPr>
        <p:blipFill>
          <a:blip r:embed="rId3">
            <a:alphaModFix/>
          </a:blip>
          <a:stretch>
            <a:fillRect/>
          </a:stretch>
        </p:blipFill>
        <p:spPr>
          <a:xfrm>
            <a:off x="657450" y="1476113"/>
            <a:ext cx="11178450" cy="3718536"/>
          </a:xfrm>
          <a:prstGeom prst="rect">
            <a:avLst/>
          </a:prstGeom>
          <a:noFill/>
          <a:ln>
            <a:noFill/>
          </a:ln>
        </p:spPr>
      </p:pic>
    </p:spTree>
    <p:extLst>
      <p:ext uri="{BB962C8B-B14F-4D97-AF65-F5344CB8AC3E}">
        <p14:creationId xmlns:p14="http://schemas.microsoft.com/office/powerpoint/2010/main" val="175090384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66</a:t>
            </a:fld>
            <a:endParaRPr/>
          </a:p>
        </p:txBody>
      </p:sp>
      <p:sp>
        <p:nvSpPr>
          <p:cNvPr id="293" name="Google Shape;293;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algn="just">
              <a:buClr>
                <a:srgbClr val="000000"/>
              </a:buClr>
              <a:buSzPts val="1800"/>
              <a:buFont typeface="Arial"/>
              <a:buNone/>
            </a:pPr>
            <a:endParaRPr sz="15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b="1" kern="0" dirty="0">
                <a:solidFill>
                  <a:srgbClr val="FF0000"/>
                </a:solidFill>
                <a:latin typeface="Times New Roman"/>
                <a:ea typeface="Times New Roman"/>
                <a:cs typeface="Times New Roman"/>
                <a:sym typeface="Times New Roman"/>
              </a:rPr>
              <a:t>- Đội bay A321 Neo:</a:t>
            </a:r>
            <a:endParaRPr sz="1500" b="1" kern="0" dirty="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Số</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lượng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dự</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phòng</a:t>
            </a:r>
            <a:r>
              <a:rPr lang="en-US" sz="1500" kern="0" dirty="0">
                <a:solidFill>
                  <a:srgbClr val="000000"/>
                </a:solidFill>
                <a:latin typeface="Times New Roman"/>
                <a:ea typeface="Times New Roman"/>
                <a:cs typeface="Times New Roman"/>
                <a:sym typeface="Times New Roman"/>
              </a:rPr>
              <a:t>: 05ea (2 </a:t>
            </a:r>
            <a:r>
              <a:rPr lang="en-US" sz="1500" kern="0" dirty="0" err="1">
                <a:solidFill>
                  <a:srgbClr val="000000"/>
                </a:solidFill>
                <a:latin typeface="Times New Roman"/>
                <a:ea typeface="Times New Roman"/>
                <a:cs typeface="Times New Roman"/>
                <a:sym typeface="Times New Roman"/>
              </a:rPr>
              <a:t>sở</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hữu</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đang</a:t>
            </a:r>
            <a:r>
              <a:rPr lang="en-US" sz="1500" kern="0" dirty="0">
                <a:solidFill>
                  <a:srgbClr val="000000"/>
                </a:solidFill>
                <a:latin typeface="Times New Roman"/>
                <a:ea typeface="Times New Roman"/>
                <a:cs typeface="Times New Roman"/>
                <a:sym typeface="Times New Roman"/>
              </a:rPr>
              <a:t> SLB), 2 </a:t>
            </a:r>
            <a:r>
              <a:rPr lang="en-US" sz="1500" kern="0" dirty="0" err="1">
                <a:solidFill>
                  <a:srgbClr val="000000"/>
                </a:solidFill>
                <a:latin typeface="Times New Roman"/>
                <a:ea typeface="Times New Roman"/>
                <a:cs typeface="Times New Roman"/>
                <a:sym typeface="Times New Roman"/>
              </a:rPr>
              <a:t>dài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hạn</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và</a:t>
            </a:r>
            <a:r>
              <a:rPr lang="en-US" sz="1500" kern="0" dirty="0">
                <a:solidFill>
                  <a:srgbClr val="000000"/>
                </a:solidFill>
                <a:latin typeface="Times New Roman"/>
                <a:ea typeface="Times New Roman"/>
                <a:cs typeface="Times New Roman"/>
                <a:sym typeface="Times New Roman"/>
              </a:rPr>
              <a:t> 01 </a:t>
            </a:r>
            <a:r>
              <a:rPr lang="en-US" sz="1500" kern="0" dirty="0" err="1">
                <a:solidFill>
                  <a:srgbClr val="000000"/>
                </a:solidFill>
                <a:latin typeface="Times New Roman"/>
                <a:ea typeface="Times New Roman"/>
                <a:cs typeface="Times New Roman"/>
                <a:sym typeface="Times New Roman"/>
              </a:rPr>
              <a:t>thuê</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ngắn</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hạn</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thuê</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của</a:t>
            </a:r>
            <a:r>
              <a:rPr lang="en-US" sz="1500" kern="0" dirty="0">
                <a:solidFill>
                  <a:srgbClr val="000000"/>
                </a:solidFill>
                <a:latin typeface="Times New Roman"/>
                <a:ea typeface="Times New Roman"/>
                <a:cs typeface="Times New Roman"/>
                <a:sym typeface="Times New Roman"/>
              </a:rPr>
              <a:t> PW).</a:t>
            </a:r>
            <a:endParaRPr sz="15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Số</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lượng</a:t>
            </a:r>
            <a:r>
              <a:rPr lang="en-US" sz="1500" kern="0" dirty="0">
                <a:solidFill>
                  <a:srgbClr val="000000"/>
                </a:solidFill>
                <a:latin typeface="Times New Roman"/>
                <a:ea typeface="Times New Roman"/>
                <a:cs typeface="Times New Roman"/>
                <a:sym typeface="Times New Roman"/>
              </a:rPr>
              <a:t> trong </a:t>
            </a:r>
            <a:r>
              <a:rPr lang="en-US" sz="1500" kern="0" dirty="0" err="1">
                <a:solidFill>
                  <a:srgbClr val="000000"/>
                </a:solidFill>
                <a:latin typeface="Times New Roman"/>
                <a:ea typeface="Times New Roman"/>
                <a:cs typeface="Times New Roman"/>
                <a:sym typeface="Times New Roman"/>
              </a:rPr>
              <a:t>kho</a:t>
            </a:r>
            <a:r>
              <a:rPr lang="en-US" sz="1500" kern="0" dirty="0">
                <a:solidFill>
                  <a:srgbClr val="000000"/>
                </a:solidFill>
                <a:latin typeface="Times New Roman"/>
                <a:ea typeface="Times New Roman"/>
                <a:cs typeface="Times New Roman"/>
                <a:sym typeface="Times New Roman"/>
              </a:rPr>
              <a:t>: NIL.</a:t>
            </a:r>
            <a:endParaRPr sz="15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Số</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lượng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động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cơ</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sửa</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chữa</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có</a:t>
            </a:r>
            <a:r>
              <a:rPr lang="en-US" sz="1500" kern="0" dirty="0">
                <a:solidFill>
                  <a:srgbClr val="000000"/>
                </a:solidFill>
                <a:latin typeface="Times New Roman"/>
                <a:ea typeface="Times New Roman"/>
                <a:cs typeface="Times New Roman"/>
                <a:sym typeface="Times New Roman"/>
              </a:rPr>
              <a:t> 8 </a:t>
            </a:r>
            <a:r>
              <a:rPr lang="en-US" sz="1500" kern="0" dirty="0" err="1">
                <a:solidFill>
                  <a:srgbClr val="000000"/>
                </a:solidFill>
                <a:latin typeface="Times New Roman"/>
                <a:ea typeface="Times New Roman"/>
                <a:cs typeface="Times New Roman"/>
                <a:sym typeface="Times New Roman"/>
              </a:rPr>
              <a:t>động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cơ</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đang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sửa</a:t>
            </a:r>
            <a:r>
              <a:rPr lang="en-US" sz="1500" kern="0" dirty="0">
                <a:solidFill>
                  <a:srgbClr val="000000"/>
                </a:solidFill>
                <a:latin typeface="Times New Roman"/>
                <a:ea typeface="Times New Roman"/>
                <a:cs typeface="Times New Roman"/>
                <a:sym typeface="Times New Roman"/>
              </a:rPr>
              <a:t> (06 </a:t>
            </a:r>
            <a:r>
              <a:rPr lang="en-US" sz="1500" kern="0" dirty="0" err="1">
                <a:solidFill>
                  <a:srgbClr val="000000"/>
                </a:solidFill>
                <a:latin typeface="Times New Roman"/>
                <a:ea typeface="Times New Roman"/>
                <a:cs typeface="Times New Roman"/>
                <a:sym typeface="Times New Roman"/>
              </a:rPr>
              <a:t>tại</a:t>
            </a:r>
            <a:r>
              <a:rPr lang="en-US" sz="1500" kern="0" dirty="0">
                <a:solidFill>
                  <a:srgbClr val="000000"/>
                </a:solidFill>
                <a:latin typeface="Times New Roman"/>
                <a:ea typeface="Times New Roman"/>
                <a:cs typeface="Times New Roman"/>
                <a:sym typeface="Times New Roman"/>
              </a:rPr>
              <a:t> ESA </a:t>
            </a:r>
            <a:r>
              <a:rPr lang="en-US" sz="1500" kern="0" dirty="0" err="1">
                <a:solidFill>
                  <a:srgbClr val="000000"/>
                </a:solidFill>
                <a:latin typeface="Times New Roman"/>
                <a:ea typeface="Times New Roman"/>
                <a:cs typeface="Times New Roman"/>
                <a:sym typeface="Times New Roman"/>
              </a:rPr>
              <a:t>và</a:t>
            </a:r>
            <a:r>
              <a:rPr lang="en-US" sz="1500" kern="0" dirty="0">
                <a:solidFill>
                  <a:srgbClr val="000000"/>
                </a:solidFill>
                <a:latin typeface="Times New Roman"/>
                <a:ea typeface="Times New Roman"/>
                <a:cs typeface="Times New Roman"/>
                <a:sym typeface="Times New Roman"/>
              </a:rPr>
              <a:t> 02 </a:t>
            </a:r>
            <a:r>
              <a:rPr lang="en-US" sz="1500" kern="0" dirty="0" err="1">
                <a:solidFill>
                  <a:srgbClr val="000000"/>
                </a:solidFill>
                <a:latin typeface="Times New Roman"/>
                <a:ea typeface="Times New Roman"/>
                <a:cs typeface="Times New Roman"/>
                <a:sym typeface="Times New Roman"/>
              </a:rPr>
              <a:t>tại</a:t>
            </a:r>
            <a:r>
              <a:rPr lang="en-US" sz="1500" kern="0" dirty="0">
                <a:solidFill>
                  <a:srgbClr val="000000"/>
                </a:solidFill>
                <a:latin typeface="Times New Roman"/>
                <a:ea typeface="Times New Roman"/>
                <a:cs typeface="Times New Roman"/>
                <a:sym typeface="Times New Roman"/>
              </a:rPr>
              <a:t> IHI)</a:t>
            </a:r>
            <a:endParaRPr sz="15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Dự</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kiến</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thuê</a:t>
            </a:r>
            <a:r>
              <a:rPr lang="en-US" sz="1500" kern="0" dirty="0">
                <a:solidFill>
                  <a:srgbClr val="000000"/>
                </a:solidFill>
                <a:latin typeface="Times New Roman"/>
                <a:ea typeface="Times New Roman"/>
                <a:cs typeface="Times New Roman"/>
                <a:sym typeface="Times New Roman"/>
              </a:rPr>
              <a:t> 2 Eng </a:t>
            </a:r>
            <a:r>
              <a:rPr lang="en-US" sz="1500" kern="0" dirty="0" err="1">
                <a:solidFill>
                  <a:srgbClr val="000000"/>
                </a:solidFill>
                <a:latin typeface="Times New Roman"/>
                <a:ea typeface="Times New Roman"/>
                <a:cs typeface="Times New Roman"/>
                <a:sym typeface="Times New Roman"/>
              </a:rPr>
              <a:t>mới</a:t>
            </a:r>
            <a:r>
              <a:rPr lang="en-US" sz="1500" kern="0" dirty="0">
                <a:solidFill>
                  <a:srgbClr val="000000"/>
                </a:solidFill>
                <a:latin typeface="Times New Roman"/>
                <a:ea typeface="Times New Roman"/>
                <a:cs typeface="Times New Roman"/>
                <a:sym typeface="Times New Roman"/>
              </a:rPr>
              <a:t> trong Q2/2025  (Willis </a:t>
            </a:r>
            <a:r>
              <a:rPr lang="en-US" sz="1500" kern="0" dirty="0" err="1">
                <a:solidFill>
                  <a:srgbClr val="000000"/>
                </a:solidFill>
                <a:latin typeface="Times New Roman"/>
                <a:ea typeface="Times New Roman"/>
                <a:cs typeface="Times New Roman"/>
                <a:sym typeface="Times New Roman"/>
              </a:rPr>
              <a:t>và</a:t>
            </a:r>
            <a:r>
              <a:rPr lang="en-US" sz="1500" kern="0" dirty="0">
                <a:solidFill>
                  <a:srgbClr val="000000"/>
                </a:solidFill>
                <a:latin typeface="Times New Roman"/>
                <a:ea typeface="Times New Roman"/>
                <a:cs typeface="Times New Roman"/>
                <a:sym typeface="Times New Roman"/>
              </a:rPr>
              <a:t> ELFC)</a:t>
            </a:r>
            <a:endParaRPr sz="1500" kern="0" dirty="0">
              <a:solidFill>
                <a:srgbClr val="000000"/>
              </a:solidFill>
              <a:latin typeface="Times New Roman"/>
              <a:ea typeface="Times New Roman"/>
              <a:cs typeface="Times New Roman"/>
              <a:sym typeface="Times New Roman"/>
            </a:endParaRPr>
          </a:p>
          <a:p>
            <a:pPr>
              <a:lnSpc>
                <a:spcPct val="115000"/>
              </a:lnSpc>
              <a:buClr>
                <a:srgbClr val="000000"/>
              </a:buClr>
              <a:buSzPts val="1500"/>
              <a:buFont typeface="Arial"/>
              <a:buNone/>
            </a:pPr>
            <a:r>
              <a:rPr lang="en-US" sz="1500" kern="0" dirty="0">
                <a:solidFill>
                  <a:srgbClr val="000000"/>
                </a:solidFill>
                <a:latin typeface="Times New Roman"/>
                <a:ea typeface="Times New Roman"/>
                <a:cs typeface="Times New Roman"/>
                <a:sym typeface="Times New Roman"/>
              </a:rPr>
              <a:t>Trong </a:t>
            </a:r>
            <a:r>
              <a:rPr lang="en-US" sz="1500" kern="0" dirty="0" err="1">
                <a:solidFill>
                  <a:srgbClr val="000000"/>
                </a:solidFill>
                <a:latin typeface="Times New Roman"/>
                <a:ea typeface="Times New Roman"/>
                <a:cs typeface="Times New Roman"/>
                <a:sym typeface="Times New Roman"/>
              </a:rPr>
              <a:t>đó</a:t>
            </a:r>
            <a:r>
              <a:rPr lang="en-US" sz="1500" kern="0" dirty="0">
                <a:solidFill>
                  <a:srgbClr val="000000"/>
                </a:solidFill>
                <a:latin typeface="Times New Roman"/>
                <a:ea typeface="Times New Roman"/>
                <a:cs typeface="Times New Roman"/>
                <a:sym typeface="Times New Roman"/>
              </a:rPr>
              <a:t>: </a:t>
            </a:r>
            <a:endParaRPr sz="1500" kern="0" dirty="0">
              <a:solidFill>
                <a:srgbClr val="000000"/>
              </a:solidFill>
              <a:latin typeface="Times New Roman"/>
              <a:ea typeface="Times New Roman"/>
              <a:cs typeface="Times New Roman"/>
              <a:sym typeface="Times New Roman"/>
            </a:endParaRPr>
          </a:p>
          <a:p>
            <a:pPr>
              <a:lnSpc>
                <a:spcPct val="115000"/>
              </a:lnSpc>
              <a:buClr>
                <a:srgbClr val="000000"/>
              </a:buClr>
              <a:buSzPts val="1500"/>
              <a:buFont typeface="Arial"/>
              <a:buNone/>
            </a:pPr>
            <a:r>
              <a:rPr lang="en-US" sz="1500" kern="0" dirty="0">
                <a:solidFill>
                  <a:srgbClr val="000000"/>
                </a:solidFill>
                <a:latin typeface="Times New Roman"/>
                <a:ea typeface="Times New Roman"/>
                <a:cs typeface="Times New Roman"/>
                <a:sym typeface="Times New Roman"/>
              </a:rPr>
              <a:t>+ P771373:  </a:t>
            </a:r>
            <a:r>
              <a:rPr lang="en-US" sz="1500" kern="0" dirty="0" err="1">
                <a:solidFill>
                  <a:srgbClr val="000000"/>
                </a:solidFill>
                <a:latin typeface="Times New Roman"/>
                <a:ea typeface="Times New Roman"/>
                <a:cs typeface="Times New Roman"/>
                <a:sym typeface="Times New Roman"/>
              </a:rPr>
              <a:t>Thiếu</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hụt</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khí</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tài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Dự</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kiến</a:t>
            </a:r>
            <a:r>
              <a:rPr lang="en-US" sz="1500" kern="0" dirty="0">
                <a:solidFill>
                  <a:srgbClr val="000000"/>
                </a:solidFill>
                <a:latin typeface="Times New Roman"/>
                <a:ea typeface="Times New Roman"/>
                <a:cs typeface="Times New Roman"/>
                <a:sym typeface="Times New Roman"/>
              </a:rPr>
              <a:t> Induct </a:t>
            </a:r>
            <a:r>
              <a:rPr lang="en-US" sz="1500" kern="0" dirty="0" err="1">
                <a:solidFill>
                  <a:srgbClr val="000000"/>
                </a:solidFill>
                <a:latin typeface="Times New Roman"/>
                <a:ea typeface="Times New Roman"/>
                <a:cs typeface="Times New Roman"/>
                <a:sym typeface="Times New Roman"/>
              </a:rPr>
              <a:t>tại</a:t>
            </a:r>
            <a:r>
              <a:rPr lang="en-US" sz="1500" kern="0" dirty="0">
                <a:solidFill>
                  <a:srgbClr val="000000"/>
                </a:solidFill>
                <a:latin typeface="Times New Roman"/>
                <a:ea typeface="Times New Roman"/>
                <a:cs typeface="Times New Roman"/>
                <a:sym typeface="Times New Roman"/>
              </a:rPr>
              <a:t> IHI </a:t>
            </a:r>
            <a:r>
              <a:rPr lang="en-US" sz="1500" kern="0" dirty="0" err="1">
                <a:solidFill>
                  <a:srgbClr val="000000"/>
                </a:solidFill>
                <a:latin typeface="Times New Roman"/>
                <a:ea typeface="Times New Roman"/>
                <a:cs typeface="Times New Roman"/>
                <a:sym typeface="Times New Roman"/>
              </a:rPr>
              <a:t>lùi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xuống</a:t>
            </a:r>
            <a:r>
              <a:rPr lang="en-US" sz="1500" kern="0" dirty="0">
                <a:solidFill>
                  <a:srgbClr val="000000"/>
                </a:solidFill>
                <a:latin typeface="Times New Roman"/>
                <a:ea typeface="Times New Roman"/>
                <a:cs typeface="Times New Roman"/>
                <a:sym typeface="Times New Roman"/>
              </a:rPr>
              <a:t> </a:t>
            </a:r>
            <a:r>
              <a:rPr lang="en-US" sz="1500" kern="0" dirty="0">
                <a:solidFill>
                  <a:srgbClr val="FF0000"/>
                </a:solidFill>
                <a:latin typeface="Times New Roman"/>
                <a:ea typeface="Times New Roman"/>
                <a:cs typeface="Times New Roman"/>
                <a:sym typeface="Times New Roman"/>
              </a:rPr>
              <a:t>20</a:t>
            </a:r>
            <a:r>
              <a:rPr lang="en-US" sz="1500" kern="0" dirty="0">
                <a:solidFill>
                  <a:srgbClr val="000000"/>
                </a:solidFill>
                <a:latin typeface="Times New Roman"/>
                <a:ea typeface="Times New Roman"/>
                <a:cs typeface="Times New Roman"/>
                <a:sym typeface="Times New Roman"/>
              </a:rPr>
              <a:t>/2.</a:t>
            </a:r>
            <a:endParaRPr sz="1500" kern="0" dirty="0">
              <a:solidFill>
                <a:srgbClr val="000000"/>
              </a:solidFill>
              <a:latin typeface="Times New Roman"/>
              <a:ea typeface="Times New Roman"/>
              <a:cs typeface="Times New Roman"/>
              <a:sym typeface="Times New Roman"/>
            </a:endParaRPr>
          </a:p>
          <a:p>
            <a:pPr>
              <a:lnSpc>
                <a:spcPct val="115000"/>
              </a:lnSpc>
              <a:buClr>
                <a:srgbClr val="000000"/>
              </a:buClr>
              <a:buSzPts val="1500"/>
              <a:buFont typeface="Arial"/>
              <a:buNone/>
            </a:pPr>
            <a:r>
              <a:rPr lang="en-US" sz="1500" kern="0" dirty="0">
                <a:solidFill>
                  <a:srgbClr val="000000"/>
                </a:solidFill>
                <a:latin typeface="Times New Roman"/>
                <a:ea typeface="Times New Roman"/>
                <a:cs typeface="Times New Roman"/>
                <a:sym typeface="Times New Roman"/>
              </a:rPr>
              <a:t>+ P771041: </a:t>
            </a:r>
            <a:r>
              <a:rPr lang="en-US" sz="1500" kern="0" dirty="0" err="1">
                <a:solidFill>
                  <a:srgbClr val="000000"/>
                </a:solidFill>
                <a:latin typeface="Times New Roman"/>
                <a:ea typeface="Times New Roman"/>
                <a:cs typeface="Times New Roman"/>
                <a:sym typeface="Times New Roman"/>
              </a:rPr>
              <a:t>Dự</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kiến</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vận</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chuyển</a:t>
            </a:r>
            <a:r>
              <a:rPr lang="en-US" sz="1500" kern="0" dirty="0">
                <a:solidFill>
                  <a:srgbClr val="000000"/>
                </a:solidFill>
                <a:latin typeface="Times New Roman"/>
                <a:ea typeface="Times New Roman"/>
                <a:cs typeface="Times New Roman"/>
                <a:sym typeface="Times New Roman"/>
              </a:rPr>
              <a:t> 28/2 </a:t>
            </a:r>
            <a:r>
              <a:rPr lang="en-US" sz="1500" kern="0" dirty="0" err="1">
                <a:solidFill>
                  <a:srgbClr val="000000"/>
                </a:solidFill>
                <a:latin typeface="Times New Roman"/>
                <a:ea typeface="Times New Roman"/>
                <a:cs typeface="Times New Roman"/>
                <a:sym typeface="Times New Roman"/>
              </a:rPr>
              <a:t>tại</a:t>
            </a:r>
            <a:r>
              <a:rPr lang="en-US" sz="1500" kern="0" dirty="0">
                <a:solidFill>
                  <a:srgbClr val="000000"/>
                </a:solidFill>
                <a:latin typeface="Times New Roman"/>
                <a:ea typeface="Times New Roman"/>
                <a:cs typeface="Times New Roman"/>
                <a:sym typeface="Times New Roman"/>
              </a:rPr>
              <a:t> MTU. Induct </a:t>
            </a:r>
            <a:r>
              <a:rPr lang="en-US" sz="1500" kern="0" dirty="0" err="1">
                <a:solidFill>
                  <a:srgbClr val="000000"/>
                </a:solidFill>
                <a:latin typeface="Times New Roman"/>
                <a:ea typeface="Times New Roman"/>
                <a:cs typeface="Times New Roman"/>
                <a:sym typeface="Times New Roman"/>
              </a:rPr>
              <a:t>dự</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kiến</a:t>
            </a:r>
            <a:r>
              <a:rPr lang="en-US" sz="1500" kern="0" dirty="0">
                <a:solidFill>
                  <a:srgbClr val="000000"/>
                </a:solidFill>
                <a:latin typeface="Times New Roman"/>
                <a:ea typeface="Times New Roman"/>
                <a:cs typeface="Times New Roman"/>
                <a:sym typeface="Times New Roman"/>
              </a:rPr>
              <a:t> 19/3.</a:t>
            </a:r>
            <a:br>
              <a:rPr lang="en-US" sz="1500" kern="0" dirty="0">
                <a:solidFill>
                  <a:srgbClr val="000000"/>
                </a:solidFill>
                <a:latin typeface="Times New Roman"/>
                <a:ea typeface="Times New Roman"/>
                <a:cs typeface="Times New Roman"/>
                <a:sym typeface="Times New Roman"/>
              </a:rPr>
            </a:br>
            <a:r>
              <a:rPr lang="en-US" sz="1500" kern="0" dirty="0">
                <a:solidFill>
                  <a:srgbClr val="000000"/>
                </a:solidFill>
                <a:latin typeface="Times New Roman"/>
                <a:ea typeface="Times New Roman"/>
                <a:cs typeface="Times New Roman"/>
                <a:sym typeface="Times New Roman"/>
              </a:rPr>
              <a:t>+ P771391: </a:t>
            </a:r>
            <a:r>
              <a:rPr lang="en-US" sz="1500" kern="0" dirty="0" err="1">
                <a:solidFill>
                  <a:srgbClr val="000000"/>
                </a:solidFill>
                <a:latin typeface="Times New Roman"/>
                <a:ea typeface="Times New Roman"/>
                <a:cs typeface="Times New Roman"/>
                <a:sym typeface="Times New Roman"/>
              </a:rPr>
              <a:t>Lịch</a:t>
            </a:r>
            <a:r>
              <a:rPr lang="en-US" sz="1500" kern="0" dirty="0">
                <a:solidFill>
                  <a:srgbClr val="000000"/>
                </a:solidFill>
                <a:latin typeface="Times New Roman"/>
                <a:ea typeface="Times New Roman"/>
                <a:cs typeface="Times New Roman"/>
                <a:sym typeface="Times New Roman"/>
              </a:rPr>
              <a:t> release delay 39 </a:t>
            </a:r>
            <a:r>
              <a:rPr lang="en-US" sz="1500" kern="0" dirty="0" err="1">
                <a:solidFill>
                  <a:srgbClr val="000000"/>
                </a:solidFill>
                <a:latin typeface="Times New Roman"/>
                <a:ea typeface="Times New Roman"/>
                <a:cs typeface="Times New Roman"/>
                <a:sym typeface="Times New Roman"/>
              </a:rPr>
              <a:t>ngày</a:t>
            </a:r>
            <a:r>
              <a:rPr lang="en-US" sz="1500" kern="0" dirty="0">
                <a:solidFill>
                  <a:srgbClr val="000000"/>
                </a:solidFill>
                <a:latin typeface="Times New Roman"/>
                <a:ea typeface="Times New Roman"/>
                <a:cs typeface="Times New Roman"/>
                <a:sym typeface="Times New Roman"/>
              </a:rPr>
              <a:t>.</a:t>
            </a:r>
            <a:br>
              <a:rPr lang="en-US" sz="1500" kern="0" dirty="0">
                <a:solidFill>
                  <a:srgbClr val="000000"/>
                </a:solidFill>
                <a:latin typeface="Times New Roman"/>
                <a:ea typeface="Times New Roman"/>
                <a:cs typeface="Times New Roman"/>
                <a:sym typeface="Times New Roman"/>
              </a:rPr>
            </a:br>
            <a:r>
              <a:rPr lang="en-US" sz="1500" kern="0" dirty="0">
                <a:solidFill>
                  <a:srgbClr val="000000"/>
                </a:solidFill>
                <a:latin typeface="Times New Roman"/>
                <a:ea typeface="Times New Roman"/>
                <a:cs typeface="Times New Roman"/>
                <a:sym typeface="Times New Roman"/>
              </a:rPr>
              <a:t>+ P771077 - P770903: </a:t>
            </a:r>
            <a:r>
              <a:rPr lang="en-US" sz="1500" kern="0" dirty="0" err="1">
                <a:solidFill>
                  <a:srgbClr val="000000"/>
                </a:solidFill>
                <a:latin typeface="Times New Roman"/>
                <a:ea typeface="Times New Roman"/>
                <a:cs typeface="Times New Roman"/>
                <a:sym typeface="Times New Roman"/>
              </a:rPr>
              <a:t>Lịch</a:t>
            </a:r>
            <a:r>
              <a:rPr lang="en-US" sz="1500" kern="0" dirty="0">
                <a:solidFill>
                  <a:srgbClr val="000000"/>
                </a:solidFill>
                <a:latin typeface="Times New Roman"/>
                <a:ea typeface="Times New Roman"/>
                <a:cs typeface="Times New Roman"/>
                <a:sym typeface="Times New Roman"/>
              </a:rPr>
              <a:t> release delay 7 </a:t>
            </a:r>
            <a:r>
              <a:rPr lang="en-US" sz="1500" kern="0" dirty="0" err="1">
                <a:solidFill>
                  <a:srgbClr val="000000"/>
                </a:solidFill>
                <a:latin typeface="Times New Roman"/>
                <a:ea typeface="Times New Roman"/>
                <a:cs typeface="Times New Roman"/>
                <a:sym typeface="Times New Roman"/>
              </a:rPr>
              <a:t>ngày</a:t>
            </a:r>
            <a:r>
              <a:rPr lang="en-US" sz="1500" kern="0" dirty="0">
                <a:solidFill>
                  <a:srgbClr val="000000"/>
                </a:solidFill>
                <a:latin typeface="Times New Roman"/>
                <a:ea typeface="Times New Roman"/>
                <a:cs typeface="Times New Roman"/>
                <a:sym typeface="Times New Roman"/>
              </a:rPr>
              <a:t>.</a:t>
            </a:r>
            <a:endParaRPr sz="1500" kern="0" dirty="0">
              <a:solidFill>
                <a:srgbClr val="000000"/>
              </a:solidFill>
              <a:highlight>
                <a:srgbClr val="FFFFFF"/>
              </a:highlight>
              <a:latin typeface="Times New Roman"/>
              <a:ea typeface="Times New Roman"/>
              <a:cs typeface="Times New Roman"/>
              <a:sym typeface="Times New Roman"/>
            </a:endParaRPr>
          </a:p>
          <a:p>
            <a:pPr algn="just">
              <a:lnSpc>
                <a:spcPct val="115000"/>
              </a:lnSpc>
              <a:buClr>
                <a:srgbClr val="000000"/>
              </a:buClr>
              <a:buSzPts val="1500"/>
              <a:buFont typeface="Arial"/>
              <a:buNone/>
            </a:pPr>
            <a:r>
              <a:rPr lang="en-US" sz="1500" kern="0" dirty="0" err="1">
                <a:solidFill>
                  <a:srgbClr val="FF0000"/>
                </a:solidFill>
                <a:latin typeface="Times New Roman"/>
                <a:ea typeface="Times New Roman"/>
                <a:cs typeface="Times New Roman"/>
                <a:sym typeface="Times New Roman"/>
              </a:rPr>
              <a:t>Vướng</a:t>
            </a:r>
            <a:r>
              <a:rPr lang="en-US" sz="1500" kern="0" dirty="0">
                <a:solidFill>
                  <a:srgbClr val="FF0000"/>
                </a:solidFill>
                <a:latin typeface="Times New Roman"/>
                <a:ea typeface="Times New Roman"/>
                <a:cs typeface="Times New Roman"/>
                <a:sym typeface="Times New Roman"/>
              </a:rPr>
              <a:t> </a:t>
            </a:r>
            <a:r>
              <a:rPr lang="en-US" sz="1500" kern="0" dirty="0" err="1">
                <a:solidFill>
                  <a:srgbClr val="FF0000"/>
                </a:solidFill>
                <a:latin typeface="Times New Roman"/>
                <a:ea typeface="Times New Roman"/>
                <a:cs typeface="Times New Roman"/>
                <a:sym typeface="Times New Roman"/>
              </a:rPr>
              <a:t>mắc</a:t>
            </a:r>
            <a:r>
              <a:rPr lang="en-US" sz="1500" kern="0" dirty="0">
                <a:solidFill>
                  <a:srgbClr val="FF0000"/>
                </a:solidFill>
                <a:latin typeface="Times New Roman"/>
                <a:ea typeface="Times New Roman"/>
                <a:cs typeface="Times New Roman"/>
                <a:sym typeface="Times New Roman"/>
              </a:rPr>
              <a:t>:</a:t>
            </a:r>
            <a:endParaRPr sz="1500" kern="0" dirty="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dirty="0">
                <a:solidFill>
                  <a:srgbClr val="000000"/>
                </a:solidFill>
                <a:latin typeface="Times New Roman"/>
                <a:ea typeface="Times New Roman"/>
                <a:cs typeface="Times New Roman"/>
                <a:sym typeface="Times New Roman"/>
              </a:rPr>
              <a:t>+ TAT </a:t>
            </a:r>
            <a:r>
              <a:rPr lang="en-US" sz="1500" kern="0" dirty="0" err="1">
                <a:solidFill>
                  <a:srgbClr val="000000"/>
                </a:solidFill>
                <a:latin typeface="Times New Roman"/>
                <a:ea typeface="Times New Roman"/>
                <a:cs typeface="Times New Roman"/>
                <a:sym typeface="Times New Roman"/>
              </a:rPr>
              <a:t>tại</a:t>
            </a:r>
            <a:r>
              <a:rPr lang="en-US" sz="1500" kern="0" dirty="0">
                <a:solidFill>
                  <a:srgbClr val="000000"/>
                </a:solidFill>
                <a:latin typeface="Times New Roman"/>
                <a:ea typeface="Times New Roman"/>
                <a:cs typeface="Times New Roman"/>
                <a:sym typeface="Times New Roman"/>
              </a:rPr>
              <a:t> shop </a:t>
            </a:r>
            <a:r>
              <a:rPr lang="en-US" sz="1500" kern="0" dirty="0" err="1">
                <a:solidFill>
                  <a:srgbClr val="000000"/>
                </a:solidFill>
                <a:latin typeface="Times New Roman"/>
                <a:ea typeface="Times New Roman"/>
                <a:cs typeface="Times New Roman"/>
                <a:sym typeface="Times New Roman"/>
              </a:rPr>
              <a:t>kéo</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dài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hiện</a:t>
            </a:r>
            <a:r>
              <a:rPr lang="en-US" sz="1500" kern="0" dirty="0">
                <a:solidFill>
                  <a:srgbClr val="000000"/>
                </a:solidFill>
                <a:latin typeface="Times New Roman"/>
                <a:ea typeface="Times New Roman"/>
                <a:cs typeface="Times New Roman"/>
                <a:sym typeface="Times New Roman"/>
              </a:rPr>
              <a:t> do shop </a:t>
            </a:r>
            <a:r>
              <a:rPr lang="en-US" sz="1500" kern="0" dirty="0" err="1">
                <a:solidFill>
                  <a:srgbClr val="000000"/>
                </a:solidFill>
                <a:latin typeface="Times New Roman"/>
                <a:ea typeface="Times New Roman"/>
                <a:cs typeface="Times New Roman"/>
                <a:sym typeface="Times New Roman"/>
              </a:rPr>
              <a:t>quá</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tải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các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động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cơ</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tháo</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cung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phải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đợi</a:t>
            </a:r>
            <a:r>
              <a:rPr lang="en-US" sz="1500" kern="0" dirty="0">
                <a:solidFill>
                  <a:srgbClr val="000000"/>
                </a:solidFill>
                <a:latin typeface="Times New Roman"/>
                <a:ea typeface="Times New Roman"/>
                <a:cs typeface="Times New Roman"/>
                <a:sym typeface="Times New Roman"/>
              </a:rPr>
              <a:t> slot </a:t>
            </a:r>
            <a:r>
              <a:rPr lang="en-US" sz="1500" kern="0" dirty="0" err="1">
                <a:solidFill>
                  <a:srgbClr val="000000"/>
                </a:solidFill>
                <a:latin typeface="Times New Roman"/>
                <a:ea typeface="Times New Roman"/>
                <a:cs typeface="Times New Roman"/>
                <a:sym typeface="Times New Roman"/>
              </a:rPr>
              <a:t>lên</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đến</a:t>
            </a:r>
            <a:r>
              <a:rPr lang="en-US" sz="1500" kern="0" dirty="0">
                <a:solidFill>
                  <a:srgbClr val="000000"/>
                </a:solidFill>
                <a:latin typeface="Times New Roman"/>
                <a:ea typeface="Times New Roman"/>
                <a:cs typeface="Times New Roman"/>
                <a:sym typeface="Times New Roman"/>
              </a:rPr>
              <a:t> 200 </a:t>
            </a:r>
            <a:r>
              <a:rPr lang="en-US" sz="1500" kern="0" dirty="0" err="1">
                <a:solidFill>
                  <a:srgbClr val="000000"/>
                </a:solidFill>
                <a:latin typeface="Times New Roman"/>
                <a:ea typeface="Times New Roman"/>
                <a:cs typeface="Times New Roman"/>
                <a:sym typeface="Times New Roman"/>
              </a:rPr>
              <a:t>ngày</a:t>
            </a:r>
            <a:r>
              <a:rPr lang="en-US" sz="1500" kern="0" dirty="0">
                <a:solidFill>
                  <a:srgbClr val="000000"/>
                </a:solidFill>
                <a:latin typeface="Times New Roman"/>
                <a:ea typeface="Times New Roman"/>
                <a:cs typeface="Times New Roman"/>
                <a:sym typeface="Times New Roman"/>
              </a:rPr>
              <a:t>.</a:t>
            </a:r>
            <a:endParaRPr sz="15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Các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động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cơ</a:t>
            </a:r>
            <a:r>
              <a:rPr lang="en-US" sz="1500" kern="0" dirty="0">
                <a:solidFill>
                  <a:srgbClr val="000000"/>
                </a:solidFill>
                <a:latin typeface="Times New Roman"/>
                <a:ea typeface="Times New Roman"/>
                <a:cs typeface="Times New Roman"/>
                <a:sym typeface="Times New Roman"/>
              </a:rPr>
              <a:t> A321 NEO </a:t>
            </a:r>
            <a:r>
              <a:rPr lang="en-US" sz="1500" kern="0" dirty="0" err="1">
                <a:solidFill>
                  <a:srgbClr val="000000"/>
                </a:solidFill>
                <a:latin typeface="Times New Roman"/>
                <a:ea typeface="Times New Roman"/>
                <a:cs typeface="Times New Roman"/>
                <a:sym typeface="Times New Roman"/>
              </a:rPr>
              <a:t>tháo</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sửa</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trước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đây</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không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có</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lắp</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lên</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khi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tháo</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trả</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thuê</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thiếu</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nhiều</a:t>
            </a:r>
            <a:r>
              <a:rPr lang="en-US" sz="1500" kern="0" dirty="0">
                <a:solidFill>
                  <a:srgbClr val="000000"/>
                </a:solidFill>
                <a:latin typeface="Times New Roman"/>
                <a:ea typeface="Times New Roman"/>
                <a:cs typeface="Times New Roman"/>
                <a:sym typeface="Times New Roman"/>
              </a:rPr>
              <a:t> LRUs </a:t>
            </a:r>
            <a:r>
              <a:rPr lang="en-US" sz="1500" kern="0" dirty="0" err="1">
                <a:solidFill>
                  <a:srgbClr val="000000"/>
                </a:solidFill>
                <a:latin typeface="Times New Roman"/>
                <a:ea typeface="Times New Roman"/>
                <a:cs typeface="Times New Roman"/>
                <a:sym typeface="Times New Roman"/>
              </a:rPr>
              <a:t>đang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cùng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sửa</a:t>
            </a:r>
            <a:r>
              <a:rPr lang="en-US" sz="1500" kern="0" dirty="0">
                <a:solidFill>
                  <a:srgbClr val="000000"/>
                </a:solidFill>
                <a:latin typeface="Times New Roman"/>
                <a:ea typeface="Times New Roman"/>
                <a:cs typeface="Times New Roman"/>
                <a:sym typeface="Times New Roman"/>
              </a:rPr>
              <a:t>.</a:t>
            </a:r>
            <a:br>
              <a:rPr lang="en-US" sz="1500" kern="0" dirty="0">
                <a:solidFill>
                  <a:srgbClr val="000000"/>
                </a:solidFill>
                <a:latin typeface="Times New Roman"/>
                <a:ea typeface="Times New Roman"/>
                <a:cs typeface="Times New Roman"/>
                <a:sym typeface="Times New Roman"/>
              </a:rPr>
            </a:b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Khoảng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thời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gian</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cao</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điểm</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nghỉ</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lễ</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thiếu</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hụt</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phụ</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tùng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vật</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liệu</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sự</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gia</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tăng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các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lỗi</a:t>
            </a:r>
            <a:r>
              <a:rPr lang="en-US" sz="1500" kern="0" dirty="0">
                <a:solidFill>
                  <a:srgbClr val="000000"/>
                </a:solidFill>
                <a:latin typeface="Times New Roman"/>
                <a:ea typeface="Times New Roman"/>
                <a:cs typeface="Times New Roman"/>
                <a:sym typeface="Times New Roman"/>
              </a:rPr>
              <a:t> Rejection trong </a:t>
            </a:r>
            <a:r>
              <a:rPr lang="en-US" sz="1500" kern="0" dirty="0" err="1">
                <a:solidFill>
                  <a:srgbClr val="000000"/>
                </a:solidFill>
                <a:latin typeface="Times New Roman"/>
                <a:ea typeface="Times New Roman"/>
                <a:cs typeface="Times New Roman"/>
                <a:sym typeface="Times New Roman"/>
              </a:rPr>
              <a:t>kiểm</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tra</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sau</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thử</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nghiệm</a:t>
            </a:r>
            <a:r>
              <a:rPr lang="en-US" sz="1500" kern="0" dirty="0">
                <a:solidFill>
                  <a:srgbClr val="000000"/>
                </a:solidFill>
                <a:latin typeface="Times New Roman"/>
                <a:ea typeface="Times New Roman"/>
                <a:cs typeface="Times New Roman"/>
                <a:sym typeface="Times New Roman"/>
              </a:rPr>
              <a:t>.</a:t>
            </a:r>
            <a:endParaRPr sz="15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dirty="0" err="1">
                <a:solidFill>
                  <a:srgbClr val="FF0000"/>
                </a:solidFill>
                <a:latin typeface="Times New Roman"/>
                <a:ea typeface="Times New Roman"/>
                <a:cs typeface="Times New Roman"/>
                <a:sym typeface="Times New Roman"/>
              </a:rPr>
              <a:t>Giải</a:t>
            </a:r>
            <a:r>
              <a:rPr lang="en-US" sz="1500" kern="0" dirty="0">
                <a:solidFill>
                  <a:srgbClr val="FF0000"/>
                </a:solidFill>
                <a:latin typeface="Times New Roman"/>
                <a:ea typeface="Times New Roman"/>
                <a:cs typeface="Times New Roman"/>
                <a:sym typeface="Times New Roman"/>
              </a:rPr>
              <a:t> </a:t>
            </a:r>
            <a:r>
              <a:rPr lang="en-US" sz="1500" kern="0" dirty="0" err="1">
                <a:solidFill>
                  <a:srgbClr val="FF0000"/>
                </a:solidFill>
                <a:latin typeface="Times New Roman"/>
                <a:ea typeface="Times New Roman"/>
                <a:cs typeface="Times New Roman"/>
                <a:sym typeface="Times New Roman"/>
              </a:rPr>
              <a:t>pháp</a:t>
            </a:r>
            <a:r>
              <a:rPr lang="en-US" sz="1500" kern="0" dirty="0">
                <a:solidFill>
                  <a:srgbClr val="FF0000"/>
                </a:solidFill>
                <a:latin typeface="Times New Roman"/>
                <a:ea typeface="Times New Roman"/>
                <a:cs typeface="Times New Roman"/>
                <a:sym typeface="Times New Roman"/>
              </a:rPr>
              <a:t>:</a:t>
            </a:r>
            <a:endParaRPr sz="1500" kern="0" dirty="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Thúc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đẩy</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động</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cơ</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sửa</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chữa</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tại</a:t>
            </a:r>
            <a:r>
              <a:rPr lang="en-US" sz="1500" kern="0" dirty="0">
                <a:solidFill>
                  <a:srgbClr val="000000"/>
                </a:solidFill>
                <a:latin typeface="Times New Roman"/>
                <a:ea typeface="Times New Roman"/>
                <a:cs typeface="Times New Roman"/>
                <a:sym typeface="Times New Roman"/>
              </a:rPr>
              <a:t> shop.</a:t>
            </a:r>
            <a:endParaRPr sz="15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Tổ</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chức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họp</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và</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tìm</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giải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pháp</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với</a:t>
            </a:r>
            <a:r>
              <a:rPr lang="en-US" sz="1500" kern="0" dirty="0">
                <a:solidFill>
                  <a:srgbClr val="000000"/>
                </a:solidFill>
                <a:latin typeface="Times New Roman"/>
                <a:ea typeface="Times New Roman"/>
                <a:cs typeface="Times New Roman"/>
                <a:sym typeface="Times New Roman"/>
              </a:rPr>
              <a:t> Ban KT, VAECO </a:t>
            </a:r>
            <a:r>
              <a:rPr lang="en-US" sz="1500" kern="0" dirty="0" err="1">
                <a:solidFill>
                  <a:srgbClr val="000000"/>
                </a:solidFill>
                <a:latin typeface="Times New Roman"/>
                <a:ea typeface="Times New Roman"/>
                <a:cs typeface="Times New Roman"/>
                <a:sym typeface="Times New Roman"/>
              </a:rPr>
              <a:t>với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danh</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mục</a:t>
            </a:r>
            <a:r>
              <a:rPr lang="en-US" sz="1500" kern="0" dirty="0">
                <a:solidFill>
                  <a:srgbClr val="000000"/>
                </a:solidFill>
                <a:latin typeface="Times New Roman"/>
                <a:ea typeface="Times New Roman"/>
                <a:cs typeface="Times New Roman"/>
                <a:sym typeface="Times New Roman"/>
              </a:rPr>
              <a:t> MPL </a:t>
            </a:r>
            <a:r>
              <a:rPr lang="en-US" sz="1500" kern="0" dirty="0" err="1">
                <a:solidFill>
                  <a:srgbClr val="000000"/>
                </a:solidFill>
                <a:latin typeface="Times New Roman"/>
                <a:ea typeface="Times New Roman"/>
                <a:cs typeface="Times New Roman"/>
                <a:sym typeface="Times New Roman"/>
              </a:rPr>
              <a:t>đc</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tháo</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khi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gửi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đi</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sửa</a:t>
            </a:r>
            <a:r>
              <a:rPr lang="en-US" sz="1500" kern="0" dirty="0">
                <a:solidFill>
                  <a:srgbClr val="000000"/>
                </a:solidFill>
                <a:latin typeface="Times New Roman"/>
                <a:ea typeface="Times New Roman"/>
                <a:cs typeface="Times New Roman"/>
                <a:sym typeface="Times New Roman"/>
              </a:rPr>
              <a:t>.</a:t>
            </a:r>
            <a:endParaRPr sz="15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kern="0" dirty="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b="1" kern="0" dirty="0">
              <a:solidFill>
                <a:srgbClr val="FF0000"/>
              </a:solidFill>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0620742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67</a:t>
            </a:fld>
            <a:endParaRPr/>
          </a:p>
        </p:txBody>
      </p:sp>
      <p:sp>
        <p:nvSpPr>
          <p:cNvPr id="300" name="Google Shape;300;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algn="just">
              <a:buClr>
                <a:srgbClr val="000000"/>
              </a:buClr>
              <a:buSzPts val="1800"/>
              <a:buFont typeface="Arial"/>
              <a:buNone/>
            </a:pPr>
            <a:endParaRPr sz="1500" b="1" u="sng"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b="1" u="sng"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FF0000"/>
                </a:solidFill>
                <a:latin typeface="Times New Roman"/>
                <a:ea typeface="Times New Roman"/>
                <a:cs typeface="Times New Roman"/>
                <a:sym typeface="Times New Roman"/>
              </a:rPr>
              <a:t>-</a:t>
            </a:r>
            <a:r>
              <a:rPr lang="en-US" sz="1500" kern="0">
                <a:solidFill>
                  <a:srgbClr val="000000"/>
                </a:solidFill>
                <a:latin typeface="Times New Roman"/>
                <a:ea typeface="Times New Roman"/>
                <a:cs typeface="Times New Roman"/>
                <a:sym typeface="Times New Roman"/>
              </a:rPr>
              <a:t> </a:t>
            </a:r>
            <a:r>
              <a:rPr lang="en-US" sz="1500" kern="0">
                <a:solidFill>
                  <a:srgbClr val="FF0000"/>
                </a:solidFill>
                <a:latin typeface="Times New Roman"/>
                <a:ea typeface="Times New Roman"/>
                <a:cs typeface="Times New Roman"/>
                <a:sym typeface="Times New Roman"/>
              </a:rPr>
              <a:t>Đội bay ATR:</a:t>
            </a:r>
            <a:endParaRPr sz="1500"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Số lượng dự phòng: 06:  03 ENG sở hữu, 03 ENG thuê ngắn hạn: (ED0321) (ED0036) (ED0715). </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ED0238 đang sửa tại shop PWC tại SING.</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ED0239 đang sửa tại SA.</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a:t>
            </a:r>
            <a:r>
              <a:rPr lang="en-US" sz="1500" kern="0">
                <a:solidFill>
                  <a:srgbClr val="FF0000"/>
                </a:solidFill>
                <a:latin typeface="Times New Roman"/>
                <a:ea typeface="Times New Roman"/>
                <a:cs typeface="Times New Roman"/>
                <a:sym typeface="Times New Roman"/>
              </a:rPr>
              <a:t>Vướng mắc/ Khó khăn:</a:t>
            </a:r>
            <a:endParaRPr sz="1500"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Các shop vẫn đang gặp trình trạng thiếu part, dẫn đến TAT bị kéo dài tại cả 02 shop</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a:t>
            </a:r>
            <a:r>
              <a:rPr lang="en-US" sz="1500" kern="0">
                <a:solidFill>
                  <a:srgbClr val="FF0000"/>
                </a:solidFill>
                <a:latin typeface="Times New Roman"/>
                <a:ea typeface="Times New Roman"/>
                <a:cs typeface="Times New Roman"/>
                <a:sym typeface="Times New Roman"/>
              </a:rPr>
              <a:t>Giải pháp:</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Tiếp tục theo sát các động cơ đang sửa chữa tại PWC và StandardAero.</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b="1" u="sng"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b="1" u="sng" kern="0">
              <a:solidFill>
                <a:srgbClr val="000000"/>
              </a:solidFill>
              <a:latin typeface="Times New Roman"/>
              <a:ea typeface="Times New Roman"/>
              <a:cs typeface="Times New Roman"/>
              <a:sym typeface="Times New Roman"/>
            </a:endParaRPr>
          </a:p>
        </p:txBody>
      </p:sp>
      <p:pic>
        <p:nvPicPr>
          <p:cNvPr id="301" name="Google Shape;301;g31ccdae391d_0_389"/>
          <p:cNvPicPr preferRelativeResize="0"/>
          <p:nvPr/>
        </p:nvPicPr>
        <p:blipFill>
          <a:blip r:embed="rId3">
            <a:alphaModFix/>
          </a:blip>
          <a:stretch>
            <a:fillRect/>
          </a:stretch>
        </p:blipFill>
        <p:spPr>
          <a:xfrm>
            <a:off x="114650" y="2502625"/>
            <a:ext cx="11528250" cy="3025400"/>
          </a:xfrm>
          <a:prstGeom prst="rect">
            <a:avLst/>
          </a:prstGeom>
          <a:noFill/>
          <a:ln>
            <a:noFill/>
          </a:ln>
        </p:spPr>
      </p:pic>
    </p:spTree>
    <p:extLst>
      <p:ext uri="{BB962C8B-B14F-4D97-AF65-F5344CB8AC3E}">
        <p14:creationId xmlns:p14="http://schemas.microsoft.com/office/powerpoint/2010/main" val="85529413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g31ccdae391d_0_396"/>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08" name="Google Shape;308;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68</a:t>
            </a:fld>
            <a:endParaRPr/>
          </a:p>
        </p:txBody>
      </p:sp>
      <p:sp>
        <p:nvSpPr>
          <p:cNvPr id="309" name="Google Shape;309;g31ccdae391d_0_396"/>
          <p:cNvSpPr/>
          <p:nvPr/>
        </p:nvSpPr>
        <p:spPr>
          <a:xfrm>
            <a:off x="609900" y="268038"/>
            <a:ext cx="10972200" cy="6626700"/>
          </a:xfrm>
          <a:prstGeom prst="rect">
            <a:avLst/>
          </a:prstGeom>
          <a:noFill/>
          <a:ln>
            <a:noFill/>
          </a:ln>
        </p:spPr>
        <p:txBody>
          <a:bodyPr spcFirstLastPara="1" wrap="square" lIns="91425" tIns="45700" rIns="91425" bIns="45700" anchor="t" anchorCtr="0">
            <a:noAutofit/>
          </a:bodyPr>
          <a:lstStyle/>
          <a:p>
            <a:pPr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b="1" kern="0" dirty="0">
                <a:solidFill>
                  <a:srgbClr val="000000"/>
                </a:solidFill>
                <a:latin typeface="Times New Roman"/>
                <a:ea typeface="Times New Roman"/>
                <a:cs typeface="Times New Roman"/>
                <a:sym typeface="Times New Roman"/>
              </a:rPr>
              <a:t>A350: </a:t>
            </a:r>
            <a:r>
              <a:rPr lang="en-US" sz="1600" kern="0" dirty="0">
                <a:solidFill>
                  <a:srgbClr val="000000"/>
                </a:solidFill>
                <a:latin typeface="Times New Roman"/>
                <a:ea typeface="Times New Roman"/>
                <a:cs typeface="Times New Roman"/>
                <a:sym typeface="Times New Roman"/>
              </a:rPr>
              <a:t>NIL stock.</a:t>
            </a: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21316 </a:t>
            </a:r>
            <a:r>
              <a:rPr lang="en-US" sz="1600" kern="0" dirty="0" err="1">
                <a:solidFill>
                  <a:srgbClr val="000000"/>
                </a:solidFill>
                <a:latin typeface="Times New Roman"/>
                <a:ea typeface="Times New Roman"/>
                <a:cs typeface="Times New Roman"/>
                <a:sym typeface="Times New Roman"/>
              </a:rPr>
              <a:t>sửa</a:t>
            </a:r>
            <a:r>
              <a:rPr lang="en-US" sz="1600" kern="0" dirty="0">
                <a:solidFill>
                  <a:srgbClr val="000000"/>
                </a:solidFill>
                <a:latin typeface="Times New Roman"/>
                <a:ea typeface="Times New Roman"/>
                <a:cs typeface="Times New Roman"/>
                <a:sym typeface="Times New Roman"/>
              </a:rPr>
              <a:t> HAESL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giao</a:t>
            </a:r>
            <a:r>
              <a:rPr lang="en-US" sz="1600" kern="0" dirty="0">
                <a:solidFill>
                  <a:srgbClr val="000000"/>
                </a:solidFill>
                <a:latin typeface="Times New Roman"/>
                <a:ea typeface="Times New Roman"/>
                <a:cs typeface="Times New Roman"/>
                <a:sym typeface="Times New Roman"/>
              </a:rPr>
              <a:t> HAN 21/02.</a:t>
            </a:r>
            <a:endParaRPr sz="1600" kern="0" dirty="0">
              <a:solidFill>
                <a:srgbClr val="000000"/>
              </a:solidFill>
              <a:latin typeface="Times New Roman"/>
              <a:ea typeface="Times New Roman"/>
              <a:cs typeface="Times New Roman"/>
              <a:sym typeface="Times New Roman"/>
            </a:endParaRPr>
          </a:p>
          <a:p>
            <a:pPr marL="914400" algn="just">
              <a:lnSpc>
                <a:spcPct val="115000"/>
              </a:lnSpc>
              <a:buClr>
                <a:srgbClr val="000000"/>
              </a:buClr>
              <a:buFont typeface="Arial"/>
              <a:buNone/>
            </a:pP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b="1" kern="0" dirty="0">
                <a:solidFill>
                  <a:srgbClr val="000000"/>
                </a:solidFill>
                <a:latin typeface="Times New Roman"/>
                <a:ea typeface="Times New Roman"/>
                <a:cs typeface="Times New Roman"/>
                <a:sym typeface="Times New Roman"/>
              </a:rPr>
              <a:t>B787:</a:t>
            </a:r>
            <a:r>
              <a:rPr lang="en-US" sz="1600" kern="0" dirty="0">
                <a:solidFill>
                  <a:srgbClr val="000000"/>
                </a:solidFill>
                <a:latin typeface="Times New Roman"/>
                <a:ea typeface="Times New Roman"/>
                <a:cs typeface="Times New Roman"/>
                <a:sym typeface="Times New Roman"/>
              </a:rPr>
              <a:t> </a:t>
            </a:r>
            <a:r>
              <a:rPr lang="en-US" sz="1600" kern="0" dirty="0" smtClean="0">
                <a:solidFill>
                  <a:srgbClr val="000000"/>
                </a:solidFill>
                <a:latin typeface="Times New Roman"/>
                <a:ea typeface="Times New Roman"/>
                <a:cs typeface="Times New Roman"/>
                <a:sym typeface="Times New Roman"/>
              </a:rPr>
              <a:t>NIL stock.</a:t>
            </a:r>
            <a:endParaRPr sz="1600"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956537 </a:t>
            </a:r>
            <a:r>
              <a:rPr lang="en-US" sz="1600" kern="0" dirty="0" err="1">
                <a:solidFill>
                  <a:srgbClr val="000000"/>
                </a:solidFill>
                <a:latin typeface="Times New Roman"/>
                <a:ea typeface="Times New Roman"/>
                <a:cs typeface="Times New Roman"/>
                <a:sym typeface="Times New Roman"/>
              </a:rPr>
              <a:t>sửa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tại</a:t>
            </a:r>
            <a:r>
              <a:rPr lang="en-US" sz="1600" kern="0" dirty="0">
                <a:solidFill>
                  <a:srgbClr val="000000"/>
                </a:solidFill>
                <a:latin typeface="Times New Roman"/>
                <a:ea typeface="Times New Roman"/>
                <a:cs typeface="Times New Roman"/>
                <a:sym typeface="Times New Roman"/>
              </a:rPr>
              <a:t> GE_CAL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xong</a:t>
            </a:r>
            <a:r>
              <a:rPr lang="en-US" sz="1600" kern="0" dirty="0">
                <a:solidFill>
                  <a:srgbClr val="000000"/>
                </a:solidFill>
                <a:latin typeface="Times New Roman"/>
                <a:ea typeface="Times New Roman"/>
                <a:cs typeface="Times New Roman"/>
                <a:sym typeface="Times New Roman"/>
              </a:rPr>
              <a:t> 20/02,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SGN 28/02</a:t>
            </a:r>
            <a:endParaRPr sz="1600"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956556 </a:t>
            </a:r>
            <a:r>
              <a:rPr lang="en-US" sz="1600" kern="0" dirty="0" err="1">
                <a:solidFill>
                  <a:srgbClr val="000000"/>
                </a:solidFill>
                <a:latin typeface="Times New Roman"/>
                <a:ea typeface="Times New Roman"/>
                <a:cs typeface="Times New Roman"/>
                <a:sym typeface="Times New Roman"/>
              </a:rPr>
              <a:t>sửa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tại</a:t>
            </a:r>
            <a:r>
              <a:rPr lang="en-US" sz="1600" kern="0" dirty="0">
                <a:solidFill>
                  <a:srgbClr val="000000"/>
                </a:solidFill>
                <a:latin typeface="Times New Roman"/>
                <a:ea typeface="Times New Roman"/>
                <a:cs typeface="Times New Roman"/>
                <a:sym typeface="Times New Roman"/>
              </a:rPr>
              <a:t> KLM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xong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cuối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tháng</a:t>
            </a:r>
            <a:r>
              <a:rPr lang="en-US" sz="1600" kern="0" dirty="0">
                <a:solidFill>
                  <a:srgbClr val="000000"/>
                </a:solidFill>
                <a:latin typeface="Times New Roman"/>
                <a:ea typeface="Times New Roman"/>
                <a:cs typeface="Times New Roman"/>
                <a:sym typeface="Times New Roman"/>
              </a:rPr>
              <a:t> 3/2025</a:t>
            </a:r>
            <a:endParaRPr sz="16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b="1" kern="0" dirty="0">
                <a:solidFill>
                  <a:srgbClr val="000000"/>
                </a:solidFill>
                <a:latin typeface="Times New Roman"/>
                <a:ea typeface="Times New Roman"/>
                <a:cs typeface="Times New Roman"/>
                <a:sym typeface="Times New Roman"/>
              </a:rPr>
              <a:t>A321 CEO </a:t>
            </a:r>
            <a:r>
              <a:rPr lang="en-US" sz="1600" kern="0" dirty="0">
                <a:solidFill>
                  <a:srgbClr val="000000"/>
                </a:solidFill>
                <a:latin typeface="Times New Roman"/>
                <a:ea typeface="Times New Roman"/>
                <a:cs typeface="Times New Roman"/>
                <a:sym typeface="Times New Roman"/>
              </a:rPr>
              <a:t>: </a:t>
            </a: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trong </a:t>
            </a:r>
            <a:r>
              <a:rPr lang="en-US" sz="1600" kern="0" dirty="0" err="1">
                <a:solidFill>
                  <a:srgbClr val="000000"/>
                </a:solidFill>
                <a:latin typeface="Times New Roman"/>
                <a:ea typeface="Times New Roman"/>
                <a:cs typeface="Times New Roman"/>
                <a:sym typeface="Times New Roman"/>
              </a:rPr>
              <a:t>tháng</a:t>
            </a:r>
            <a:r>
              <a:rPr lang="en-US" sz="1600" kern="0" dirty="0">
                <a:solidFill>
                  <a:srgbClr val="000000"/>
                </a:solidFill>
                <a:latin typeface="Times New Roman"/>
                <a:ea typeface="Times New Roman"/>
                <a:cs typeface="Times New Roman"/>
                <a:sym typeface="Times New Roman"/>
              </a:rPr>
              <a:t> 2: NIL.</a:t>
            </a: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indent="-330200">
              <a:lnSpc>
                <a:spcPct val="115000"/>
              </a:lnSpc>
              <a:buClr>
                <a:srgbClr val="000000"/>
              </a:buClr>
              <a:buSzPts val="1600"/>
              <a:buFont typeface="Times New Roman"/>
              <a:buChar char="-"/>
            </a:pPr>
            <a:r>
              <a:rPr lang="en-US" sz="1600" b="1" kern="0" dirty="0">
                <a:solidFill>
                  <a:srgbClr val="000000"/>
                </a:solidFill>
                <a:latin typeface="Times New Roman"/>
                <a:ea typeface="Times New Roman"/>
                <a:cs typeface="Times New Roman"/>
                <a:sym typeface="Times New Roman"/>
              </a:rPr>
              <a:t>A321 NEO</a:t>
            </a:r>
            <a:r>
              <a:rPr lang="en-US" sz="1600" kern="0" dirty="0">
                <a:solidFill>
                  <a:srgbClr val="000000"/>
                </a:solidFill>
                <a:latin typeface="Times New Roman"/>
                <a:ea typeface="Times New Roman"/>
                <a:cs typeface="Times New Roman"/>
                <a:sym typeface="Times New Roman"/>
              </a:rPr>
              <a:t>:</a:t>
            </a:r>
            <a:r>
              <a:rPr lang="en-US" sz="1500" kern="0" dirty="0">
                <a:solidFill>
                  <a:srgbClr val="000000"/>
                </a:solidFill>
                <a:latin typeface="Times New Roman"/>
                <a:ea typeface="Times New Roman"/>
                <a:cs typeface="Times New Roman"/>
                <a:sym typeface="Times New Roman"/>
              </a:rPr>
              <a:t/>
            </a:r>
            <a:br>
              <a:rPr lang="en-US" sz="1500" kern="0" dirty="0">
                <a:solidFill>
                  <a:srgbClr val="000000"/>
                </a:solidFill>
                <a:latin typeface="Times New Roman"/>
                <a:ea typeface="Times New Roman"/>
                <a:cs typeface="Times New Roman"/>
                <a:sym typeface="Times New Roman"/>
              </a:rPr>
            </a:br>
            <a:r>
              <a:rPr lang="en-US" sz="1500" kern="0" dirty="0">
                <a:solidFill>
                  <a:srgbClr val="000000"/>
                </a:solidFill>
                <a:latin typeface="Times New Roman"/>
                <a:ea typeface="Times New Roman"/>
                <a:cs typeface="Times New Roman"/>
                <a:sym typeface="Times New Roman"/>
              </a:rPr>
              <a:t> + P771041: </a:t>
            </a:r>
            <a:r>
              <a:rPr lang="en-US" sz="1500" kern="0" dirty="0" err="1">
                <a:solidFill>
                  <a:srgbClr val="000000"/>
                </a:solidFill>
                <a:latin typeface="Times New Roman"/>
                <a:ea typeface="Times New Roman"/>
                <a:cs typeface="Times New Roman"/>
                <a:sym typeface="Times New Roman"/>
              </a:rPr>
              <a:t>Tháo</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và</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bàn</a:t>
            </a:r>
            <a:r>
              <a:rPr lang="en-US" sz="1500" kern="0" dirty="0">
                <a:solidFill>
                  <a:srgbClr val="000000"/>
                </a:solidFill>
                <a:latin typeface="Times New Roman"/>
                <a:ea typeface="Times New Roman"/>
                <a:cs typeface="Times New Roman"/>
                <a:sym typeface="Times New Roman"/>
              </a:rPr>
              <a:t> </a:t>
            </a:r>
            <a:r>
              <a:rPr lang="en-US" sz="1500" kern="0" dirty="0" err="1">
                <a:solidFill>
                  <a:srgbClr val="000000"/>
                </a:solidFill>
                <a:latin typeface="Times New Roman"/>
                <a:ea typeface="Times New Roman"/>
                <a:cs typeface="Times New Roman"/>
                <a:sym typeface="Times New Roman"/>
              </a:rPr>
              <a:t>giao</a:t>
            </a:r>
            <a:r>
              <a:rPr lang="en-US" sz="1500" kern="0" dirty="0">
                <a:solidFill>
                  <a:srgbClr val="000000"/>
                </a:solidFill>
                <a:latin typeface="Times New Roman"/>
                <a:ea typeface="Times New Roman"/>
                <a:cs typeface="Times New Roman"/>
                <a:sym typeface="Times New Roman"/>
              </a:rPr>
              <a:t> 28/2</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8/3 </a:t>
            </a:r>
            <a:r>
              <a:rPr lang="en-US" sz="1600" kern="0" dirty="0" err="1">
                <a:solidFill>
                  <a:srgbClr val="000000"/>
                </a:solidFill>
                <a:latin typeface="Times New Roman"/>
                <a:ea typeface="Times New Roman"/>
                <a:cs typeface="Times New Roman"/>
                <a:sym typeface="Times New Roman"/>
              </a:rPr>
              <a:t>có</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mặt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tại</a:t>
            </a:r>
            <a:r>
              <a:rPr lang="en-US" sz="1600" kern="0" dirty="0">
                <a:solidFill>
                  <a:srgbClr val="000000"/>
                </a:solidFill>
                <a:latin typeface="Times New Roman"/>
                <a:ea typeface="Times New Roman"/>
                <a:cs typeface="Times New Roman"/>
                <a:sym typeface="Times New Roman"/>
              </a:rPr>
              <a:t> MTU </a:t>
            </a:r>
            <a:r>
              <a:rPr lang="en-US" sz="1600" kern="0" dirty="0" err="1">
                <a:solidFill>
                  <a:srgbClr val="000000"/>
                </a:solidFill>
                <a:latin typeface="Times New Roman"/>
                <a:ea typeface="Times New Roman"/>
                <a:cs typeface="Times New Roman"/>
                <a:sym typeface="Times New Roman"/>
              </a:rPr>
              <a:t>để</a:t>
            </a:r>
            <a:r>
              <a:rPr lang="en-US" sz="1600" kern="0" dirty="0">
                <a:solidFill>
                  <a:srgbClr val="000000"/>
                </a:solidFill>
                <a:latin typeface="Times New Roman"/>
                <a:ea typeface="Times New Roman"/>
                <a:cs typeface="Times New Roman"/>
                <a:sym typeface="Times New Roman"/>
              </a:rPr>
              <a:t> inspect.</a:t>
            </a:r>
            <a:endParaRPr sz="1600" kern="0" dirty="0">
              <a:solidFill>
                <a:srgbClr val="000000"/>
              </a:solidFill>
              <a:latin typeface="Times New Roman"/>
              <a:ea typeface="Times New Roman"/>
              <a:cs typeface="Times New Roman"/>
              <a:sym typeface="Times New Roman"/>
            </a:endParaRPr>
          </a:p>
          <a:p>
            <a:pPr marL="914400"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b="1" kern="0" dirty="0">
                <a:solidFill>
                  <a:srgbClr val="000000"/>
                </a:solidFill>
                <a:latin typeface="Times New Roman"/>
                <a:ea typeface="Times New Roman"/>
                <a:cs typeface="Times New Roman"/>
                <a:sym typeface="Times New Roman"/>
              </a:rPr>
              <a:t>ATR:</a:t>
            </a:r>
            <a:r>
              <a:rPr lang="en-US" sz="1600" kern="0" dirty="0">
                <a:solidFill>
                  <a:srgbClr val="000000"/>
                </a:solidFill>
                <a:latin typeface="Times New Roman"/>
                <a:ea typeface="Times New Roman"/>
                <a:cs typeface="Times New Roman"/>
                <a:sym typeface="Times New Roman"/>
              </a:rPr>
              <a:t> 01 stock (ED0192).</a:t>
            </a:r>
            <a:endParaRPr sz="1600"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+ED0239 </a:t>
            </a:r>
            <a:r>
              <a:rPr lang="en-US" sz="1600" kern="0" dirty="0" err="1">
                <a:solidFill>
                  <a:srgbClr val="000000"/>
                </a:solidFill>
                <a:latin typeface="Times New Roman"/>
                <a:ea typeface="Times New Roman"/>
                <a:cs typeface="Times New Roman"/>
                <a:sym typeface="Times New Roman"/>
              </a:rPr>
              <a:t>sửa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chữa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tại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StandardAero</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release </a:t>
            </a:r>
            <a:r>
              <a:rPr lang="en-US" sz="1600" kern="0" dirty="0" err="1">
                <a:solidFill>
                  <a:srgbClr val="000000"/>
                </a:solidFill>
                <a:latin typeface="Times New Roman"/>
                <a:ea typeface="Times New Roman"/>
                <a:cs typeface="Times New Roman"/>
                <a:sym typeface="Times New Roman"/>
              </a:rPr>
              <a:t>ngày</a:t>
            </a:r>
            <a:r>
              <a:rPr lang="en-US" sz="1600" kern="0" dirty="0">
                <a:solidFill>
                  <a:srgbClr val="000000"/>
                </a:solidFill>
                <a:latin typeface="Times New Roman"/>
                <a:ea typeface="Times New Roman"/>
                <a:cs typeface="Times New Roman"/>
                <a:sym typeface="Times New Roman"/>
              </a:rPr>
              <a:t> 09/04/2025</a:t>
            </a:r>
            <a:endParaRPr sz="1600"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+ED0238 </a:t>
            </a:r>
            <a:r>
              <a:rPr lang="en-US" sz="1600" kern="0" dirty="0" err="1">
                <a:solidFill>
                  <a:srgbClr val="000000"/>
                </a:solidFill>
                <a:latin typeface="Times New Roman"/>
                <a:ea typeface="Times New Roman"/>
                <a:cs typeface="Times New Roman"/>
                <a:sym typeface="Times New Roman"/>
              </a:rPr>
              <a:t>sửa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chữa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tại</a:t>
            </a:r>
            <a:r>
              <a:rPr lang="en-US" sz="1600" kern="0" dirty="0">
                <a:solidFill>
                  <a:srgbClr val="000000"/>
                </a:solidFill>
                <a:latin typeface="Times New Roman"/>
                <a:ea typeface="Times New Roman"/>
                <a:cs typeface="Times New Roman"/>
                <a:sym typeface="Times New Roman"/>
              </a:rPr>
              <a:t> PWC: induct </a:t>
            </a:r>
            <a:r>
              <a:rPr lang="en-US" sz="1600" kern="0" dirty="0" err="1">
                <a:solidFill>
                  <a:srgbClr val="000000"/>
                </a:solidFill>
                <a:latin typeface="Times New Roman"/>
                <a:ea typeface="Times New Roman"/>
                <a:cs typeface="Times New Roman"/>
                <a:sym typeface="Times New Roman"/>
              </a:rPr>
              <a:t>ngày</a:t>
            </a:r>
            <a:r>
              <a:rPr lang="en-US" sz="1600" kern="0" dirty="0">
                <a:solidFill>
                  <a:srgbClr val="000000"/>
                </a:solidFill>
                <a:latin typeface="Times New Roman"/>
                <a:ea typeface="Times New Roman"/>
                <a:cs typeface="Times New Roman"/>
                <a:sym typeface="Times New Roman"/>
              </a:rPr>
              <a:t> 24/01/2025 </a:t>
            </a:r>
            <a:r>
              <a:rPr lang="en-US" sz="1600" kern="0" dirty="0" err="1">
                <a:solidFill>
                  <a:srgbClr val="000000"/>
                </a:solidFill>
                <a:latin typeface="Times New Roman"/>
                <a:ea typeface="Times New Roman"/>
                <a:cs typeface="Times New Roman"/>
                <a:sym typeface="Times New Roman"/>
              </a:rPr>
              <a:t>và</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chưa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có</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ngày</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600"/>
              <a:buFont typeface="Arial"/>
              <a:buNone/>
            </a:pPr>
            <a:endParaRPr sz="1600" b="1" kern="0" dirty="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b="1" kern="0" dirty="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b="1" kern="0" dirty="0">
              <a:solidFill>
                <a:srgbClr val="FF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r>
              <a:rPr lang="en-US" kern="0" dirty="0">
                <a:solidFill>
                  <a:srgbClr val="000000"/>
                </a:solidFill>
                <a:latin typeface="Times New Roman"/>
                <a:ea typeface="Times New Roman"/>
                <a:cs typeface="Times New Roman"/>
                <a:sym typeface="Times New Roman"/>
              </a:rPr>
              <a:t>  </a:t>
            </a: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8682558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16" name="Google Shape;316;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69</a:t>
            </a:fld>
            <a:endParaRPr/>
          </a:p>
        </p:txBody>
      </p:sp>
      <p:sp>
        <p:nvSpPr>
          <p:cNvPr id="317" name="Google Shape;317;g31ccdae391d_0_403"/>
          <p:cNvSpPr txBox="1"/>
          <p:nvPr/>
        </p:nvSpPr>
        <p:spPr>
          <a:xfrm>
            <a:off x="7059775" y="425750"/>
            <a:ext cx="4085700" cy="3958200"/>
          </a:xfrm>
          <a:prstGeom prst="rect">
            <a:avLst/>
          </a:prstGeom>
          <a:noFill/>
          <a:ln>
            <a:noFill/>
          </a:ln>
        </p:spPr>
        <p:txBody>
          <a:bodyPr spcFirstLastPara="1" wrap="square" lIns="91425" tIns="91425" rIns="91425" bIns="91425" anchor="t" anchorCtr="0">
            <a:spAutoFit/>
          </a:bodyPr>
          <a:lstStyle/>
          <a:p>
            <a:pPr algn="just">
              <a:lnSpc>
                <a:spcPct val="115000"/>
              </a:lnSpc>
              <a:buClr>
                <a:srgbClr val="000000"/>
              </a:buClr>
              <a:buSzPts val="1100"/>
              <a:buFont typeface="Arial"/>
              <a:buNone/>
            </a:pPr>
            <a:r>
              <a:rPr lang="en-US" sz="1600" b="1" kern="0" dirty="0">
                <a:solidFill>
                  <a:srgbClr val="000000"/>
                </a:solidFill>
                <a:latin typeface="Times New Roman"/>
                <a:ea typeface="Times New Roman"/>
                <a:cs typeface="Times New Roman"/>
                <a:sym typeface="Times New Roman"/>
              </a:rPr>
              <a:t>APU A321 </a:t>
            </a:r>
            <a:endParaRPr sz="1600" b="1"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700"/>
              <a:buFont typeface="Arial"/>
              <a:buNone/>
            </a:pPr>
            <a:r>
              <a:rPr lang="en-US" sz="1700" kern="0" dirty="0">
                <a:solidFill>
                  <a:srgbClr val="000000"/>
                </a:solidFill>
                <a:latin typeface="Times New Roman"/>
                <a:ea typeface="Times New Roman"/>
                <a:cs typeface="Times New Roman"/>
                <a:sym typeface="Times New Roman"/>
              </a:rPr>
              <a:t>+ </a:t>
            </a:r>
            <a:r>
              <a:rPr lang="en-US" sz="1400" kern="0" dirty="0">
                <a:solidFill>
                  <a:srgbClr val="000000"/>
                </a:solidFill>
                <a:latin typeface="Times New Roman"/>
                <a:ea typeface="Times New Roman"/>
                <a:cs typeface="Times New Roman"/>
                <a:sym typeface="Times New Roman"/>
              </a:rPr>
              <a:t>STK:  03 APU </a:t>
            </a:r>
            <a:r>
              <a:rPr lang="en-US" sz="1400" kern="0" dirty="0" err="1">
                <a:solidFill>
                  <a:srgbClr val="000000"/>
                </a:solidFill>
                <a:latin typeface="Times New Roman"/>
                <a:ea typeface="Times New Roman"/>
                <a:cs typeface="Times New Roman"/>
                <a:sym typeface="Times New Roman"/>
              </a:rPr>
              <a:t>tại</a:t>
            </a:r>
            <a:r>
              <a:rPr lang="en-US" sz="1400" kern="0" dirty="0">
                <a:solidFill>
                  <a:srgbClr val="000000"/>
                </a:solidFill>
                <a:latin typeface="Times New Roman"/>
                <a:ea typeface="Times New Roman"/>
                <a:cs typeface="Times New Roman"/>
                <a:sym typeface="Times New Roman"/>
              </a:rPr>
              <a:t> HAN. </a:t>
            </a:r>
            <a:endParaRPr sz="14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400"/>
              <a:buFont typeface="Arial"/>
              <a:buNone/>
            </a:pP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Tháng</a:t>
            </a:r>
            <a:r>
              <a:rPr lang="en-US" sz="1400" kern="0" dirty="0">
                <a:solidFill>
                  <a:srgbClr val="000000"/>
                </a:solidFill>
                <a:latin typeface="Times New Roman"/>
                <a:ea typeface="Times New Roman"/>
                <a:cs typeface="Times New Roman"/>
                <a:sym typeface="Times New Roman"/>
              </a:rPr>
              <a:t> 2: </a:t>
            </a:r>
            <a:r>
              <a:rPr lang="en-US" sz="1400" kern="0" dirty="0" err="1">
                <a:solidFill>
                  <a:srgbClr val="000000"/>
                </a:solidFill>
                <a:latin typeface="Times New Roman"/>
                <a:ea typeface="Times New Roman"/>
                <a:cs typeface="Times New Roman"/>
                <a:sym typeface="Times New Roman"/>
              </a:rPr>
              <a:t>dk</a:t>
            </a:r>
            <a:r>
              <a:rPr lang="en-US" sz="1400" kern="0" dirty="0">
                <a:solidFill>
                  <a:srgbClr val="000000"/>
                </a:solidFill>
                <a:latin typeface="Times New Roman"/>
                <a:ea typeface="Times New Roman"/>
                <a:cs typeface="Times New Roman"/>
                <a:sym typeface="Times New Roman"/>
              </a:rPr>
              <a:t> 01ea </a:t>
            </a:r>
            <a:r>
              <a:rPr lang="en-US" sz="1400" kern="0" dirty="0" err="1">
                <a:solidFill>
                  <a:srgbClr val="000000"/>
                </a:solidFill>
                <a:latin typeface="Times New Roman"/>
                <a:ea typeface="Times New Roman"/>
                <a:cs typeface="Times New Roman"/>
                <a:sym typeface="Times New Roman"/>
              </a:rPr>
              <a:t>về</a:t>
            </a:r>
            <a:r>
              <a:rPr lang="en-US" sz="1400" kern="0" dirty="0">
                <a:solidFill>
                  <a:srgbClr val="000000"/>
                </a:solidFill>
                <a:latin typeface="Times New Roman"/>
                <a:ea typeface="Times New Roman"/>
                <a:cs typeface="Times New Roman"/>
                <a:sym typeface="Times New Roman"/>
              </a:rPr>
              <a:t> HAN.</a:t>
            </a:r>
            <a:endParaRPr sz="14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b="1"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b="1" kern="0" dirty="0">
                <a:solidFill>
                  <a:srgbClr val="000000"/>
                </a:solidFill>
                <a:latin typeface="Times New Roman"/>
                <a:ea typeface="Times New Roman"/>
                <a:cs typeface="Times New Roman"/>
                <a:sym typeface="Times New Roman"/>
              </a:rPr>
              <a:t>APU A350</a:t>
            </a:r>
            <a:endParaRPr sz="1500" b="1"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 STK: 01 (P-00124 </a:t>
            </a:r>
            <a:r>
              <a:rPr lang="en-US" sz="1400" kern="0" dirty="0" err="1">
                <a:solidFill>
                  <a:srgbClr val="000000"/>
                </a:solidFill>
                <a:latin typeface="Times New Roman"/>
                <a:ea typeface="Times New Roman"/>
                <a:cs typeface="Times New Roman"/>
                <a:sym typeface="Times New Roman"/>
              </a:rPr>
              <a:t>thay</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cho</a:t>
            </a:r>
            <a:r>
              <a:rPr lang="en-US" sz="1400" kern="0" dirty="0">
                <a:solidFill>
                  <a:srgbClr val="000000"/>
                </a:solidFill>
                <a:latin typeface="Times New Roman"/>
                <a:ea typeface="Times New Roman"/>
                <a:cs typeface="Times New Roman"/>
                <a:sym typeface="Times New Roman"/>
              </a:rPr>
              <a:t> A893).</a:t>
            </a:r>
            <a:endParaRPr sz="14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400" kern="0" dirty="0" smtClean="0">
                <a:solidFill>
                  <a:srgbClr val="000000"/>
                </a:solidFill>
                <a:latin typeface="Times New Roman"/>
                <a:ea typeface="Times New Roman"/>
                <a:cs typeface="Times New Roman"/>
                <a:sym typeface="Times New Roman"/>
              </a:rPr>
              <a:t>+ 01 </a:t>
            </a:r>
            <a:r>
              <a:rPr lang="en-US" sz="1400" kern="0" dirty="0">
                <a:solidFill>
                  <a:srgbClr val="000000"/>
                </a:solidFill>
                <a:latin typeface="Times New Roman"/>
                <a:ea typeface="Times New Roman"/>
                <a:cs typeface="Times New Roman"/>
                <a:sym typeface="Times New Roman"/>
              </a:rPr>
              <a:t>APU (P-00255) </a:t>
            </a:r>
            <a:r>
              <a:rPr lang="en-US" sz="1400" kern="0" dirty="0" err="1">
                <a:solidFill>
                  <a:srgbClr val="000000"/>
                </a:solidFill>
                <a:latin typeface="Times New Roman"/>
                <a:ea typeface="Times New Roman"/>
                <a:cs typeface="Times New Roman"/>
                <a:sym typeface="Times New Roman"/>
              </a:rPr>
              <a:t>đang</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sửa</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chữa</a:t>
            </a:r>
            <a:r>
              <a:rPr lang="en-US" sz="1400" kern="0" dirty="0">
                <a:solidFill>
                  <a:srgbClr val="000000"/>
                </a:solidFill>
                <a:latin typeface="Times New Roman"/>
                <a:ea typeface="Times New Roman"/>
                <a:cs typeface="Times New Roman"/>
                <a:sym typeface="Times New Roman"/>
              </a:rPr>
              <a:t> tai shop Lufthansa, </a:t>
            </a:r>
            <a:r>
              <a:rPr lang="en-US" sz="1400" kern="0" dirty="0" err="1">
                <a:solidFill>
                  <a:srgbClr val="000000"/>
                </a:solidFill>
                <a:latin typeface="Times New Roman"/>
                <a:ea typeface="Times New Roman"/>
                <a:cs typeface="Times New Roman"/>
                <a:sym typeface="Times New Roman"/>
              </a:rPr>
              <a:t>dự</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kiến</a:t>
            </a:r>
            <a:r>
              <a:rPr lang="en-US" sz="1400" kern="0" dirty="0">
                <a:solidFill>
                  <a:srgbClr val="000000"/>
                </a:solidFill>
                <a:latin typeface="Times New Roman"/>
                <a:ea typeface="Times New Roman"/>
                <a:cs typeface="Times New Roman"/>
                <a:sym typeface="Times New Roman"/>
              </a:rPr>
              <a:t> release </a:t>
            </a:r>
            <a:r>
              <a:rPr lang="en-US" sz="1400" kern="0" dirty="0" err="1">
                <a:solidFill>
                  <a:srgbClr val="000000"/>
                </a:solidFill>
                <a:latin typeface="Times New Roman"/>
                <a:ea typeface="Times New Roman"/>
                <a:cs typeface="Times New Roman"/>
                <a:sym typeface="Times New Roman"/>
              </a:rPr>
              <a:t>ngày</a:t>
            </a:r>
            <a:r>
              <a:rPr lang="en-US" sz="1400" kern="0" dirty="0">
                <a:solidFill>
                  <a:srgbClr val="000000"/>
                </a:solidFill>
                <a:latin typeface="Times New Roman"/>
                <a:ea typeface="Times New Roman"/>
                <a:cs typeface="Times New Roman"/>
                <a:sym typeface="Times New Roman"/>
              </a:rPr>
              <a:t> 16/03/2025</a:t>
            </a:r>
            <a:endParaRPr sz="14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100" kern="0" dirty="0">
                <a:solidFill>
                  <a:srgbClr val="000000"/>
                </a:solidFill>
                <a:latin typeface="Times New Roman"/>
                <a:ea typeface="Times New Roman"/>
                <a:cs typeface="Times New Roman"/>
                <a:sym typeface="Times New Roman"/>
              </a:rPr>
              <a:t> </a:t>
            </a:r>
            <a:endParaRPr sz="11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b="1" kern="0" dirty="0">
                <a:solidFill>
                  <a:srgbClr val="000000"/>
                </a:solidFill>
                <a:latin typeface="Times New Roman"/>
                <a:ea typeface="Times New Roman"/>
                <a:cs typeface="Times New Roman"/>
                <a:sym typeface="Times New Roman"/>
              </a:rPr>
              <a:t>APU B787 </a:t>
            </a:r>
            <a:endParaRPr sz="1500" b="1"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 STK: </a:t>
            </a:r>
            <a:r>
              <a:rPr lang="en-US" sz="1400" kern="0" dirty="0" smtClean="0">
                <a:solidFill>
                  <a:srgbClr val="000000"/>
                </a:solidFill>
                <a:latin typeface="Times New Roman"/>
                <a:ea typeface="Times New Roman"/>
                <a:cs typeface="Times New Roman"/>
                <a:sym typeface="Times New Roman"/>
              </a:rPr>
              <a:t>NIL (HSC-E1525371PL </a:t>
            </a:r>
            <a:r>
              <a:rPr lang="en-US" sz="1400" kern="0" dirty="0" err="1" smtClean="0">
                <a:solidFill>
                  <a:srgbClr val="000000"/>
                </a:solidFill>
                <a:latin typeface="Times New Roman"/>
                <a:ea typeface="Times New Roman"/>
                <a:cs typeface="Times New Roman"/>
                <a:sym typeface="Times New Roman"/>
              </a:rPr>
              <a:t>đã</a:t>
            </a:r>
            <a:r>
              <a:rPr lang="en-US" sz="1400" kern="0" dirty="0" smtClean="0">
                <a:solidFill>
                  <a:srgbClr val="000000"/>
                </a:solidFill>
                <a:latin typeface="Times New Roman"/>
                <a:ea typeface="Times New Roman"/>
                <a:cs typeface="Times New Roman"/>
                <a:sym typeface="Times New Roman"/>
              </a:rPr>
              <a:t> </a:t>
            </a:r>
            <a:r>
              <a:rPr lang="en-US" sz="1400" kern="0" dirty="0" err="1" smtClean="0">
                <a:solidFill>
                  <a:srgbClr val="000000"/>
                </a:solidFill>
                <a:latin typeface="Times New Roman"/>
                <a:ea typeface="Times New Roman"/>
                <a:cs typeface="Times New Roman"/>
                <a:sym typeface="Times New Roman"/>
              </a:rPr>
              <a:t>thay</a:t>
            </a:r>
            <a:r>
              <a:rPr lang="en-US" sz="1400" kern="0" dirty="0" smtClean="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cho</a:t>
            </a:r>
            <a:r>
              <a:rPr lang="en-US" sz="1400" kern="0" dirty="0">
                <a:solidFill>
                  <a:srgbClr val="000000"/>
                </a:solidFill>
                <a:latin typeface="Times New Roman"/>
                <a:ea typeface="Times New Roman"/>
                <a:cs typeface="Times New Roman"/>
                <a:sym typeface="Times New Roman"/>
              </a:rPr>
              <a:t> A873).</a:t>
            </a:r>
            <a:endParaRPr sz="14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+ 01 APU ( PWC-Z925500) </a:t>
            </a:r>
            <a:r>
              <a:rPr lang="en-US" sz="1400" kern="0" dirty="0" err="1">
                <a:solidFill>
                  <a:srgbClr val="000000"/>
                </a:solidFill>
                <a:latin typeface="Times New Roman"/>
                <a:ea typeface="Times New Roman"/>
                <a:cs typeface="Times New Roman"/>
                <a:sym typeface="Times New Roman"/>
              </a:rPr>
              <a:t>đang</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sửa</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tại</a:t>
            </a:r>
            <a:r>
              <a:rPr lang="en-US" sz="1400" kern="0" dirty="0">
                <a:solidFill>
                  <a:srgbClr val="000000"/>
                </a:solidFill>
                <a:latin typeface="Times New Roman"/>
                <a:ea typeface="Times New Roman"/>
                <a:cs typeface="Times New Roman"/>
                <a:sym typeface="Times New Roman"/>
              </a:rPr>
              <a:t> shop PW Poland </a:t>
            </a:r>
            <a:r>
              <a:rPr lang="en-US" sz="1400" kern="0" dirty="0" err="1">
                <a:solidFill>
                  <a:srgbClr val="000000"/>
                </a:solidFill>
                <a:latin typeface="Times New Roman"/>
                <a:ea typeface="Times New Roman"/>
                <a:cs typeface="Times New Roman"/>
                <a:sym typeface="Times New Roman"/>
              </a:rPr>
              <a:t>gặp</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tình</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trạng</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kho</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khăn</a:t>
            </a:r>
            <a:r>
              <a:rPr lang="en-US" sz="1400" kern="0" dirty="0">
                <a:solidFill>
                  <a:srgbClr val="000000"/>
                </a:solidFill>
                <a:latin typeface="Times New Roman"/>
                <a:ea typeface="Times New Roman"/>
                <a:cs typeface="Times New Roman"/>
                <a:sym typeface="Times New Roman"/>
              </a:rPr>
              <a:t> trong </a:t>
            </a:r>
            <a:r>
              <a:rPr lang="en-US" sz="1400" kern="0" dirty="0" err="1">
                <a:solidFill>
                  <a:srgbClr val="000000"/>
                </a:solidFill>
                <a:latin typeface="Times New Roman"/>
                <a:ea typeface="Times New Roman"/>
                <a:cs typeface="Times New Roman"/>
                <a:sym typeface="Times New Roman"/>
              </a:rPr>
              <a:t>chuỗi</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cung</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ứng</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nên</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chưa</a:t>
            </a:r>
            <a:r>
              <a:rPr lang="en-US" sz="1400" kern="0" dirty="0">
                <a:solidFill>
                  <a:srgbClr val="000000"/>
                </a:solidFill>
                <a:latin typeface="Times New Roman"/>
                <a:ea typeface="Times New Roman"/>
                <a:cs typeface="Times New Roman"/>
                <a:sym typeface="Times New Roman"/>
              </a:rPr>
              <a:t> confirm </a:t>
            </a:r>
            <a:r>
              <a:rPr lang="en-US" sz="1400" kern="0" dirty="0" err="1">
                <a:solidFill>
                  <a:srgbClr val="000000"/>
                </a:solidFill>
                <a:latin typeface="Times New Roman"/>
                <a:ea typeface="Times New Roman"/>
                <a:cs typeface="Times New Roman"/>
                <a:sym typeface="Times New Roman"/>
              </a:rPr>
              <a:t>được</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ngày</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dk</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về</a:t>
            </a:r>
            <a:r>
              <a:rPr lang="en-US" sz="1400" kern="0" dirty="0">
                <a:solidFill>
                  <a:srgbClr val="000000"/>
                </a:solidFill>
                <a:latin typeface="Times New Roman"/>
                <a:ea typeface="Times New Roman"/>
                <a:cs typeface="Times New Roman"/>
                <a:sym typeface="Times New Roman"/>
              </a:rPr>
              <a:t>.</a:t>
            </a:r>
            <a:endParaRPr sz="14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400" kern="0" dirty="0">
              <a:solidFill>
                <a:srgbClr val="000000"/>
              </a:solidFill>
              <a:latin typeface="Times New Roman"/>
              <a:ea typeface="Times New Roman"/>
              <a:cs typeface="Times New Roman"/>
              <a:sym typeface="Times New Roman"/>
            </a:endParaRPr>
          </a:p>
        </p:txBody>
      </p:sp>
      <p:pic>
        <p:nvPicPr>
          <p:cNvPr id="318" name="Google Shape;318;g31ccdae391d_0_403"/>
          <p:cNvPicPr preferRelativeResize="0"/>
          <p:nvPr/>
        </p:nvPicPr>
        <p:blipFill>
          <a:blip r:embed="rId3">
            <a:alphaModFix/>
          </a:blip>
          <a:stretch>
            <a:fillRect/>
          </a:stretch>
        </p:blipFill>
        <p:spPr>
          <a:xfrm>
            <a:off x="461375" y="571500"/>
            <a:ext cx="6471558" cy="5547050"/>
          </a:xfrm>
          <a:prstGeom prst="rect">
            <a:avLst/>
          </a:prstGeom>
          <a:noFill/>
          <a:ln>
            <a:noFill/>
          </a:ln>
        </p:spPr>
      </p:pic>
    </p:spTree>
    <p:extLst>
      <p:ext uri="{BB962C8B-B14F-4D97-AF65-F5344CB8AC3E}">
        <p14:creationId xmlns:p14="http://schemas.microsoft.com/office/powerpoint/2010/main" val="64801435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2800726"/>
          </a:xfrm>
          <a:prstGeom prst="rect">
            <a:avLst/>
          </a:prstGeom>
          <a:noFill/>
          <a:ln>
            <a:noFill/>
          </a:ln>
        </p:spPr>
        <p:txBody>
          <a:bodyPr spcFirstLastPara="1" wrap="square" lIns="91433" tIns="45700" rIns="91433" bIns="45700" anchor="t" anchorCtr="0">
            <a:spAutoFit/>
          </a:bodyPr>
          <a:lstStyle/>
          <a:p>
            <a:r>
              <a:rPr lang="vi" sz="8800" b="1" i="1">
                <a:solidFill>
                  <a:schemeClr val="lt1"/>
                </a:solidFill>
                <a:latin typeface="Montserrat SemiBold"/>
                <a:ea typeface="Montserrat SemiBold"/>
                <a:cs typeface="Montserrat SemiBold"/>
                <a:sym typeface="Montserrat SemiBold"/>
              </a:rPr>
              <a:t>THANK YOU</a:t>
            </a:r>
            <a:endParaRPr sz="8800" b="1" i="1">
              <a:solidFill>
                <a:schemeClr val="lt1"/>
              </a:solidFill>
              <a:latin typeface="Montserrat SemiBold"/>
              <a:ea typeface="Montserrat SemiBold"/>
              <a:cs typeface="Montserrat SemiBold"/>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70</a:t>
            </a:fld>
            <a:endParaRPr/>
          </a:p>
        </p:txBody>
      </p:sp>
    </p:spTree>
    <p:extLst>
      <p:ext uri="{BB962C8B-B14F-4D97-AF65-F5344CB8AC3E}">
        <p14:creationId xmlns:p14="http://schemas.microsoft.com/office/powerpoint/2010/main" val="29060384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E18D4A-261A-4850-B6EF-E8D1177C057C}">
  <ds:schemaRefs>
    <ds:schemaRef ds:uri="http://schemas.microsoft.com/office/2006/metadata/properties"/>
    <ds:schemaRef ds:uri="http://purl.org/dc/terms/"/>
    <ds:schemaRef ds:uri="http://schemas.microsoft.com/office/2006/documentManagement/types"/>
    <ds:schemaRef ds:uri="http://schemas.openxmlformats.org/package/2006/metadata/core-properties"/>
    <ds:schemaRef ds:uri="e189f61e-1295-4779-a752-040c7fad5177"/>
    <ds:schemaRef ds:uri="http://purl.org/dc/elements/1.1/"/>
    <ds:schemaRef ds:uri="http://schemas.microsoft.com/office/infopath/2007/PartnerControls"/>
    <ds:schemaRef ds:uri="b6015720-aa74-4be3-ba0d-eab08776cb9b"/>
    <ds:schemaRef ds:uri="http://www.w3.org/XML/1998/namespace"/>
    <ds:schemaRef ds:uri="http://purl.org/dc/dcmitype/"/>
  </ds:schemaRefs>
</ds:datastoreItem>
</file>

<file path=customXml/itemProps2.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B911D9C-B9DB-42A8-B756-3CC928D524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72734</TotalTime>
  <Words>12340</Words>
  <Application>Microsoft Office PowerPoint</Application>
  <PresentationFormat>Widescreen</PresentationFormat>
  <Paragraphs>2571</Paragraphs>
  <Slides>71</Slides>
  <Notes>61</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71</vt:i4>
      </vt:variant>
    </vt:vector>
  </HeadingPairs>
  <TitlesOfParts>
    <vt:vector size="86" baseType="lpstr">
      <vt:lpstr>MS PGothic</vt:lpstr>
      <vt:lpstr>Aptos</vt:lpstr>
      <vt:lpstr>Arial</vt:lpstr>
      <vt:lpstr>Calibri</vt:lpstr>
      <vt:lpstr>Cambria</vt:lpstr>
      <vt:lpstr>Courier New</vt:lpstr>
      <vt:lpstr>Exo</vt:lpstr>
      <vt:lpstr>Franklin Gothic Medium Cond</vt:lpstr>
      <vt:lpstr>Montserrat</vt:lpstr>
      <vt:lpstr>Montserrat SemiBold</vt:lpstr>
      <vt:lpstr>Tahoma</vt:lpstr>
      <vt:lpstr>Times New Roman</vt:lpstr>
      <vt:lpstr>Wingdings</vt:lpstr>
      <vt:lpstr>16-9 MASTER TEMPLATE</vt:lpstr>
      <vt:lpstr>1_Office Theme</vt:lpstr>
      <vt:lpstr>BÁO CÁO KỸ THUẬT (Tuần 07: 10/02/2025 – 16/02/2025)</vt:lpstr>
      <vt:lpstr>TỔNG HỢP AOG, DELAY VÀ GTB/ATB/DIV</vt:lpstr>
      <vt:lpstr>ATB/GTB COMPARISON</vt:lpstr>
      <vt:lpstr>CÁC SỰ KIỆN ATB/GTB/DIV</vt:lpstr>
      <vt:lpstr>CÁC SỰ KIỆN ATB/GTB/DIV</vt:lpstr>
      <vt:lpstr>CÁC SỰ KIỆN MOR</vt:lpstr>
      <vt:lpstr>PowerPoint Presentation</vt:lpstr>
      <vt:lpstr>TÌNH TRẠNG KỸ THUẬT ĐỘI BAY – A320/A321</vt:lpstr>
      <vt:lpstr>TÌNH TRẠNG KỸ THUẬT ĐỘI BAY – A320/A321</vt:lpstr>
      <vt:lpstr>PowerPoint Presentation</vt:lpstr>
      <vt:lpstr>PowerPoint Presentation</vt:lpstr>
      <vt:lpstr>TÌNH TRẠNG KỸ THUẬT ĐỘI BAY A320/ A321 </vt:lpstr>
      <vt:lpstr>TÌNH TRẠNG KỸ THUẬT ĐỘI BAY – A350</vt:lpstr>
      <vt:lpstr>PowerPoint Presentation</vt:lpstr>
      <vt:lpstr>PowerPoint Presentation</vt:lpstr>
      <vt:lpstr>TÌNH TRẠNG KỸ THUẬT ĐỘI BAY – B787</vt:lpstr>
      <vt:lpstr>PowerPoint Presentation</vt:lpstr>
      <vt:lpstr>PowerPoint Presentation</vt:lpstr>
      <vt:lpstr>TÌNH TRẠNG KỸ THUẬT ĐỘI BAY – ATR72</vt:lpstr>
      <vt:lpstr>TÌNH TRẠNG KỸ THUẬT ĐỘI BAY – ATR72</vt:lpstr>
      <vt:lpstr>B223-GTB due to TO CONFIG</vt:lpstr>
      <vt:lpstr>PowerPoint Presentation</vt:lpstr>
      <vt:lpstr>TÌNH TRẠNG KỸ THUẬT ĐỘI BAY ATR72 </vt:lpstr>
      <vt:lpstr>DISPATCH RELIABILITY W07 (10/02/2025-16/02/2025)</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ĐỊNH KỲ (BDĐK)</vt:lpstr>
      <vt:lpstr>CÁC TÀU BQDB VÀ ĐANG TRONG BẢO DƯỠNG ĐỊNH KỲ (BDĐK)</vt:lpstr>
      <vt:lpstr>CÁC TÀU BQDB VÀ ĐANG TRONG BẢO DƯỠNG ĐỊNH KỲ (BDĐK)</vt:lpstr>
      <vt:lpstr>PowerPoint Presentation</vt:lpstr>
      <vt:lpstr>PowerPoint Presentation</vt:lpstr>
      <vt:lpstr>PowerPoint Presentation</vt:lpstr>
      <vt:lpstr>PowerPoint Presentation</vt:lpstr>
      <vt:lpstr>NHÂN NHƯỢNG TRONG TUẦN</vt:lpstr>
      <vt:lpstr>Giờ bay trung bình trong tuần các đội tàu</vt:lpstr>
      <vt:lpstr>Số chuyến bay theo ngày trong tuần các đội tàu</vt:lpstr>
      <vt:lpstr>Số chuyến bay khai thác theo ngày</vt:lpstr>
      <vt:lpstr>A321</vt:lpstr>
      <vt:lpstr>A321</vt:lpstr>
      <vt:lpstr>TÌNH TRẠNG APU LRU A321 </vt:lpstr>
      <vt:lpstr>A321 CÁC VẬT TƯ VƯỚNG MẮC KHÁC</vt:lpstr>
      <vt:lpstr>A321 VƯỚNG MẮC VẬT TƯ VAECO</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Microsoft account</cp:lastModifiedBy>
  <cp:revision>11560</cp:revision>
  <cp:lastPrinted>2019-03-27T09:25:07Z</cp:lastPrinted>
  <dcterms:created xsi:type="dcterms:W3CDTF">2018-12-27T04:50:36Z</dcterms:created>
  <dcterms:modified xsi:type="dcterms:W3CDTF">2025-02-16T14:04:06Z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