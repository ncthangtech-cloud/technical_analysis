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4.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5.xml" ContentType="application/vnd.openxmlformats-officedocument.presentationml.tags+xml"/>
  <Override PartName="/ppt/notesSlides/notesSlide27.xml" ContentType="application/vnd.openxmlformats-officedocument.presentationml.notesSlide+xml"/>
  <Override PartName="/ppt/charts/chart7.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3.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4.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5.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1.xml" ContentType="application/vnd.openxmlformats-officedocument.drawingml.chartshapes+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5.xml" ContentType="application/vnd.openxmlformats-officedocument.drawingml.chart+xml"/>
  <Override PartName="/ppt/theme/themeOverride2.xml" ContentType="application/vnd.openxmlformats-officedocument.themeOverride+xml"/>
  <Override PartName="/ppt/notesSlides/notesSlide41.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3.xml" ContentType="application/vnd.openxmlformats-officedocument.themeOverride+xml"/>
  <Override PartName="/ppt/notesSlides/notesSlide42.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4.xml" ContentType="application/vnd.openxmlformats-officedocument.themeOverride+xml"/>
  <Override PartName="/ppt/notesSlides/notesSlide43.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5.xml" ContentType="application/vnd.openxmlformats-officedocument.themeOverr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80"/>
  </p:notesMasterIdLst>
  <p:sldIdLst>
    <p:sldId id="11486" r:id="rId5"/>
    <p:sldId id="11487" r:id="rId6"/>
    <p:sldId id="11488" r:id="rId7"/>
    <p:sldId id="11808" r:id="rId8"/>
    <p:sldId id="11965" r:id="rId9"/>
    <p:sldId id="11966" r:id="rId10"/>
    <p:sldId id="11493" r:id="rId11"/>
    <p:sldId id="11972" r:id="rId12"/>
    <p:sldId id="11748" r:id="rId13"/>
    <p:sldId id="11750" r:id="rId14"/>
    <p:sldId id="11975" r:id="rId15"/>
    <p:sldId id="11978" r:id="rId16"/>
    <p:sldId id="11981" r:id="rId17"/>
    <p:sldId id="12061" r:id="rId18"/>
    <p:sldId id="11969" r:id="rId19"/>
    <p:sldId id="11970" r:id="rId20"/>
    <p:sldId id="11971" r:id="rId21"/>
    <p:sldId id="12059" r:id="rId22"/>
    <p:sldId id="12062" r:id="rId23"/>
    <p:sldId id="11806" r:id="rId24"/>
    <p:sldId id="12060" r:id="rId25"/>
    <p:sldId id="12063" r:id="rId26"/>
    <p:sldId id="11809" r:id="rId27"/>
    <p:sldId id="291" r:id="rId28"/>
    <p:sldId id="11967" r:id="rId29"/>
    <p:sldId id="11869" r:id="rId30"/>
    <p:sldId id="11982" r:id="rId31"/>
    <p:sldId id="11983" r:id="rId32"/>
    <p:sldId id="11964" r:id="rId33"/>
    <p:sldId id="12058" r:id="rId34"/>
    <p:sldId id="11922" r:id="rId35"/>
    <p:sldId id="11984" r:id="rId36"/>
    <p:sldId id="11985" r:id="rId37"/>
    <p:sldId id="12053" r:id="rId38"/>
    <p:sldId id="12054" r:id="rId39"/>
    <p:sldId id="11934" r:id="rId40"/>
    <p:sldId id="297" r:id="rId41"/>
    <p:sldId id="11936" r:id="rId42"/>
    <p:sldId id="12055" r:id="rId43"/>
    <p:sldId id="11988" r:id="rId44"/>
    <p:sldId id="11989" r:id="rId45"/>
    <p:sldId id="11935" r:id="rId46"/>
    <p:sldId id="11990" r:id="rId47"/>
    <p:sldId id="11991" r:id="rId48"/>
    <p:sldId id="12056" r:id="rId49"/>
    <p:sldId id="12057" r:id="rId50"/>
    <p:sldId id="11403" r:id="rId51"/>
    <p:sldId id="11404" r:id="rId52"/>
    <p:sldId id="11405" r:id="rId53"/>
    <p:sldId id="11408" r:id="rId54"/>
    <p:sldId id="11545" r:id="rId55"/>
    <p:sldId id="12051" r:id="rId56"/>
    <p:sldId id="12052" r:id="rId57"/>
    <p:sldId id="11489" r:id="rId58"/>
    <p:sldId id="256" r:id="rId59"/>
    <p:sldId id="257" r:id="rId60"/>
    <p:sldId id="258" r:id="rId61"/>
    <p:sldId id="259" r:id="rId62"/>
    <p:sldId id="260" r:id="rId63"/>
    <p:sldId id="261" r:id="rId64"/>
    <p:sldId id="262" r:id="rId65"/>
    <p:sldId id="263" r:id="rId66"/>
    <p:sldId id="264" r:id="rId67"/>
    <p:sldId id="265" r:id="rId68"/>
    <p:sldId id="266" r:id="rId69"/>
    <p:sldId id="267" r:id="rId70"/>
    <p:sldId id="268" r:id="rId71"/>
    <p:sldId id="269" r:id="rId72"/>
    <p:sldId id="270" r:id="rId73"/>
    <p:sldId id="271" r:id="rId74"/>
    <p:sldId id="272" r:id="rId75"/>
    <p:sldId id="273" r:id="rId76"/>
    <p:sldId id="274" r:id="rId77"/>
    <p:sldId id="275" r:id="rId78"/>
    <p:sldId id="11888" r:id="rId7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15" autoAdjust="0"/>
    <p:restoredTop sz="95337" autoAdjust="0"/>
  </p:normalViewPr>
  <p:slideViewPr>
    <p:cSldViewPr>
      <p:cViewPr varScale="1">
        <p:scale>
          <a:sx n="73" d="100"/>
          <a:sy n="73" d="100"/>
        </p:scale>
        <p:origin x="456" y="69"/>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14\W14%20(31.03-07.04.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1" Type="http://schemas.openxmlformats.org/officeDocument/2006/relationships/oleObject" Target="file:///D:\thanh_ggdrive\work\B&#193;O%20C&#193;O\B&#225;o%20c&#225;o%20tu&#7847;n\2025\Week%2014\W14%20(31.03-07.04.2025).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D:\thanh_ggdrive\work\B&#193;O%20C&#193;O\B&#225;o%20c&#225;o%20tu&#7847;n\2025\Week%2014\W14%20(31.03-07.04.2025).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oleObject" Target="file:///D:\thanh_ggdrive\work\B&#193;O%20C&#193;O\B&#225;o%20c&#225;o%20tu&#7847;n\2025\Week%2014\W14%20(31.03-07.04.2025).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oleObject" Target="file:///D:\thanh_ggdrive\work\B&#193;O%20C&#193;O\B&#225;o%20c&#225;o%20tu&#7847;n\2025\Week%2014\W14%20(31.03-07.04.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thanh_ggdrive\work\B&#193;O%20C&#193;O\B&#225;o%20c&#225;o%20tu&#7847;n\2025\Week%2014\W14%20(31.03-07.04.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14\DR\DR-W14.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1.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14\W14%20(31.03-07.04.2025).xlsx" TargetMode="External"/><Relationship Id="rId1" Type="http://schemas.openxmlformats.org/officeDocument/2006/relationships/themeOverride" Target="../theme/themeOverride2.xm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3</c:v>
                </c:pt>
                <c:pt idx="2">
                  <c:v>2</c:v>
                </c:pt>
                <c:pt idx="3">
                  <c:v>0</c:v>
                </c:pt>
                <c:pt idx="4">
                  <c:v>1</c:v>
                </c:pt>
                <c:pt idx="5">
                  <c:v>6</c:v>
                </c:pt>
              </c:numCache>
            </c:numRef>
          </c:val>
          <c:extLst xmlns:c15="http://schemas.microsoft.com/office/drawing/2012/chart">
            <c:ext xmlns:c16="http://schemas.microsoft.com/office/drawing/2014/chart" uri="{C3380CC4-5D6E-409C-BE32-E72D297353CC}">
              <c16:uniqueId val="{00000000-2C20-4EE0-BC24-A0D3365F4998}"/>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7</c:v>
                </c:pt>
                <c:pt idx="2">
                  <c:v>3</c:v>
                </c:pt>
                <c:pt idx="3">
                  <c:v>2</c:v>
                </c:pt>
                <c:pt idx="4">
                  <c:v>0</c:v>
                </c:pt>
                <c:pt idx="5">
                  <c:v>12</c:v>
                </c:pt>
              </c:numCache>
            </c:numRef>
          </c:val>
          <c:extLst>
            <c:ext xmlns:c16="http://schemas.microsoft.com/office/drawing/2014/chart" uri="{C3380CC4-5D6E-409C-BE32-E72D297353CC}">
              <c16:uniqueId val="{00000001-2C20-4EE0-BC24-A0D3365F4998}"/>
            </c:ext>
          </c:extLst>
        </c:ser>
        <c:dLbls>
          <c:dLblPos val="outEnd"/>
          <c:showLegendKey val="0"/>
          <c:showVal val="1"/>
          <c:showCatName val="0"/>
          <c:showSerName val="0"/>
          <c:showPercent val="0"/>
          <c:showBubbleSize val="0"/>
        </c:dLbls>
        <c:gapWidth val="219"/>
        <c:overlap val="-27"/>
        <c:axId val="390114688"/>
        <c:axId val="390116256"/>
        <c:extLst/>
      </c:barChart>
      <c:catAx>
        <c:axId val="390114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116256"/>
        <c:crosses val="autoZero"/>
        <c:auto val="1"/>
        <c:lblAlgn val="ctr"/>
        <c:lblOffset val="100"/>
        <c:noMultiLvlLbl val="0"/>
      </c:catAx>
      <c:valAx>
        <c:axId val="3901162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114688"/>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35B0-4582-B493-AF74D93187B1}"/>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0</c:v>
                </c:pt>
                <c:pt idx="2">
                  <c:v>1</c:v>
                </c:pt>
                <c:pt idx="3">
                  <c:v>1</c:v>
                </c:pt>
                <c:pt idx="4">
                  <c:v>1</c:v>
                </c:pt>
                <c:pt idx="5">
                  <c:v>3</c:v>
                </c:pt>
              </c:numCache>
            </c:numRef>
          </c:val>
          <c:extLst>
            <c:ext xmlns:c16="http://schemas.microsoft.com/office/drawing/2014/chart" uri="{C3380CC4-5D6E-409C-BE32-E72D297353CC}">
              <c16:uniqueId val="{00000001-35B0-4582-B493-AF74D93187B1}"/>
            </c:ext>
          </c:extLst>
        </c:ser>
        <c:dLbls>
          <c:showLegendKey val="0"/>
          <c:showVal val="0"/>
          <c:showCatName val="0"/>
          <c:showSerName val="0"/>
          <c:showPercent val="0"/>
          <c:showBubbleSize val="0"/>
        </c:dLbls>
        <c:gapWidth val="219"/>
        <c:overlap val="-27"/>
        <c:axId val="390115080"/>
        <c:axId val="390117432"/>
        <c:extLst/>
      </c:barChart>
      <c:catAx>
        <c:axId val="390115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17432"/>
        <c:crosses val="autoZero"/>
        <c:auto val="1"/>
        <c:lblAlgn val="ctr"/>
        <c:lblOffset val="100"/>
        <c:noMultiLvlLbl val="0"/>
      </c:catAx>
      <c:valAx>
        <c:axId val="3901174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15080"/>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1</c:v>
                </c:pt>
                <c:pt idx="2">
                  <c:v>0</c:v>
                </c:pt>
                <c:pt idx="3">
                  <c:v>1</c:v>
                </c:pt>
                <c:pt idx="4">
                  <c:v>0</c:v>
                </c:pt>
                <c:pt idx="5">
                  <c:v>2</c:v>
                </c:pt>
              </c:numCache>
            </c:numRef>
          </c:val>
          <c:extLst xmlns:c15="http://schemas.microsoft.com/office/drawing/2012/chart">
            <c:ext xmlns:c16="http://schemas.microsoft.com/office/drawing/2014/chart" uri="{C3380CC4-5D6E-409C-BE32-E72D297353CC}">
              <c16:uniqueId val="{00000000-0FE6-48C4-8F25-0C40FFFE48AA}"/>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2</c:v>
                </c:pt>
                <c:pt idx="2">
                  <c:v>0</c:v>
                </c:pt>
                <c:pt idx="3">
                  <c:v>0</c:v>
                </c:pt>
                <c:pt idx="4">
                  <c:v>1</c:v>
                </c:pt>
                <c:pt idx="5">
                  <c:v>3</c:v>
                </c:pt>
              </c:numCache>
            </c:numRef>
          </c:val>
          <c:extLst>
            <c:ext xmlns:c16="http://schemas.microsoft.com/office/drawing/2014/chart" uri="{C3380CC4-5D6E-409C-BE32-E72D297353CC}">
              <c16:uniqueId val="{00000001-0FE6-48C4-8F25-0C40FFFE48AA}"/>
            </c:ext>
          </c:extLst>
        </c:ser>
        <c:dLbls>
          <c:dLblPos val="outEnd"/>
          <c:showLegendKey val="0"/>
          <c:showVal val="1"/>
          <c:showCatName val="0"/>
          <c:showSerName val="0"/>
          <c:showPercent val="0"/>
          <c:showBubbleSize val="0"/>
        </c:dLbls>
        <c:gapWidth val="219"/>
        <c:overlap val="-27"/>
        <c:axId val="390129192"/>
        <c:axId val="390127232"/>
        <c:extLst/>
      </c:barChart>
      <c:catAx>
        <c:axId val="390129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27232"/>
        <c:crosses val="autoZero"/>
        <c:auto val="1"/>
        <c:lblAlgn val="ctr"/>
        <c:lblOffset val="100"/>
        <c:noMultiLvlLbl val="0"/>
      </c:catAx>
      <c:valAx>
        <c:axId val="390127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29192"/>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B8EC-488F-81AB-EC71C923FE52}"/>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B8EC-488F-81AB-EC71C923FE52}"/>
            </c:ext>
          </c:extLst>
        </c:ser>
        <c:dLbls>
          <c:showLegendKey val="0"/>
          <c:showVal val="0"/>
          <c:showCatName val="0"/>
          <c:showSerName val="0"/>
          <c:showPercent val="0"/>
          <c:showBubbleSize val="0"/>
        </c:dLbls>
        <c:gapWidth val="219"/>
        <c:overlap val="-27"/>
        <c:axId val="390129976"/>
        <c:axId val="334184144"/>
        <c:extLst/>
      </c:barChart>
      <c:catAx>
        <c:axId val="390129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4184144"/>
        <c:crosses val="autoZero"/>
        <c:auto val="1"/>
        <c:lblAlgn val="ctr"/>
        <c:lblOffset val="100"/>
        <c:noMultiLvlLbl val="0"/>
      </c:catAx>
      <c:valAx>
        <c:axId val="33418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90129976"/>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7026-4725-BE06-02857C1405A6}"/>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numCache>
            </c:numRef>
          </c:val>
          <c:smooth val="0"/>
          <c:extLst>
            <c:ext xmlns:c16="http://schemas.microsoft.com/office/drawing/2014/chart" uri="{C3380CC4-5D6E-409C-BE32-E72D297353CC}">
              <c16:uniqueId val="{00000001-7026-4725-BE06-02857C1405A6}"/>
            </c:ext>
          </c:extLst>
        </c:ser>
        <c:dLbls>
          <c:showLegendKey val="0"/>
          <c:showVal val="0"/>
          <c:showCatName val="0"/>
          <c:showSerName val="0"/>
          <c:showPercent val="0"/>
          <c:showBubbleSize val="0"/>
        </c:dLbls>
        <c:marker val="1"/>
        <c:smooth val="0"/>
        <c:axId val="329146496"/>
        <c:axId val="329144928"/>
      </c:lineChart>
      <c:catAx>
        <c:axId val="32914649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4928"/>
        <c:crosses val="autoZero"/>
        <c:auto val="1"/>
        <c:lblAlgn val="ctr"/>
        <c:lblOffset val="100"/>
        <c:noMultiLvlLbl val="0"/>
      </c:catAx>
      <c:valAx>
        <c:axId val="32914492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6496"/>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A74D-430E-AD30-AD7D20B21B99}"/>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numCache>
            </c:numRef>
          </c:val>
          <c:smooth val="0"/>
          <c:extLst>
            <c:ext xmlns:c16="http://schemas.microsoft.com/office/drawing/2014/chart" uri="{C3380CC4-5D6E-409C-BE32-E72D297353CC}">
              <c16:uniqueId val="{00000001-A74D-430E-AD30-AD7D20B21B99}"/>
            </c:ext>
          </c:extLst>
        </c:ser>
        <c:dLbls>
          <c:showLegendKey val="0"/>
          <c:showVal val="0"/>
          <c:showCatName val="0"/>
          <c:showSerName val="0"/>
          <c:showPercent val="0"/>
          <c:showBubbleSize val="0"/>
        </c:dLbls>
        <c:marker val="1"/>
        <c:smooth val="0"/>
        <c:axId val="329146888"/>
        <c:axId val="329145712"/>
      </c:lineChart>
      <c:catAx>
        <c:axId val="32914688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5712"/>
        <c:crosses val="autoZero"/>
        <c:auto val="1"/>
        <c:lblAlgn val="ctr"/>
        <c:lblOffset val="100"/>
        <c:noMultiLvlLbl val="0"/>
      </c:catAx>
      <c:valAx>
        <c:axId val="32914571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146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W13</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6F65-47DB-BFAE-E0C90F372D8C}"/>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99.800598205383849</c:v>
                </c:pt>
                <c:pt idx="1">
                  <c:v>99.354838709677423</c:v>
                </c:pt>
                <c:pt idx="2">
                  <c:v>99.721448467966567</c:v>
                </c:pt>
                <c:pt idx="3">
                  <c:v>99.557522123893804</c:v>
                </c:pt>
              </c:numCache>
            </c:numRef>
          </c:val>
          <c:extLst>
            <c:ext xmlns:c16="http://schemas.microsoft.com/office/drawing/2014/chart" uri="{C3380CC4-5D6E-409C-BE32-E72D297353CC}">
              <c16:uniqueId val="{00000001-6F65-47DB-BFAE-E0C90F372D8C}"/>
            </c:ext>
          </c:extLst>
        </c:ser>
        <c:ser>
          <c:idx val="1"/>
          <c:order val="1"/>
          <c:tx>
            <c:strRef>
              <c:f>DR!$D$3</c:f>
              <c:strCache>
                <c:ptCount val="1"/>
                <c:pt idx="0">
                  <c:v>W14</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99.671187833949858</c:v>
                </c:pt>
                <c:pt idx="1">
                  <c:v>98.265895953757223</c:v>
                </c:pt>
                <c:pt idx="2">
                  <c:v>99.496221662468514</c:v>
                </c:pt>
                <c:pt idx="3">
                  <c:v>100</c:v>
                </c:pt>
              </c:numCache>
            </c:numRef>
          </c:val>
          <c:extLst>
            <c:ext xmlns:c16="http://schemas.microsoft.com/office/drawing/2014/chart" uri="{C3380CC4-5D6E-409C-BE32-E72D297353CC}">
              <c16:uniqueId val="{00000002-6F65-47DB-BFAE-E0C90F372D8C}"/>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6F65-47DB-BFAE-E0C90F372D8C}"/>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6F65-47DB-BFAE-E0C90F372D8C}"/>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6F65-47DB-BFAE-E0C90F372D8C}"/>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8.5</c:v>
                </c:pt>
                <c:pt idx="2">
                  <c:v>8</c:v>
                </c:pt>
                <c:pt idx="3">
                  <c:v>7</c:v>
                </c:pt>
                <c:pt idx="4">
                  <c:v>6</c:v>
                </c:pt>
                <c:pt idx="5">
                  <c:v>3</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28.5</c:v>
                </c:pt>
                <c:pt idx="1">
                  <c:v>27.5</c:v>
                </c:pt>
                <c:pt idx="2">
                  <c:v>29.75</c:v>
                </c:pt>
                <c:pt idx="3">
                  <c:v>29</c:v>
                </c:pt>
                <c:pt idx="4">
                  <c:v>26.25</c:v>
                </c:pt>
                <c:pt idx="5">
                  <c:v>22.75</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Sheet1!$D$8:$AU$8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Sheet1!$D$9:$AU$9</c:f>
              <c:numCache>
                <c:formatCode>General</c:formatCode>
                <c:ptCount val="12"/>
                <c:pt idx="0">
                  <c:v>30</c:v>
                </c:pt>
                <c:pt idx="1">
                  <c:v>29</c:v>
                </c:pt>
                <c:pt idx="2">
                  <c:v>29</c:v>
                </c:pt>
                <c:pt idx="3">
                  <c:v>28</c:v>
                </c:pt>
                <c:pt idx="4">
                  <c:v>27</c:v>
                </c:pt>
                <c:pt idx="5">
                  <c:v>26</c:v>
                </c:pt>
                <c:pt idx="6">
                  <c:v>27</c:v>
                </c:pt>
                <c:pt idx="7">
                  <c:v>25</c:v>
                </c:pt>
                <c:pt idx="8">
                  <c:v>24</c:v>
                </c:pt>
                <c:pt idx="9">
                  <c:v>23</c:v>
                </c:pt>
                <c:pt idx="10">
                  <c:v>22</c:v>
                </c:pt>
                <c:pt idx="11">
                  <c:v>22</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Sheet1!$D$10:$AU$10</c:f>
              <c:numCache>
                <c:formatCode>General</c:formatCode>
                <c:ptCount val="12"/>
                <c:pt idx="0">
                  <c:v>7</c:v>
                </c:pt>
                <c:pt idx="1">
                  <c:v>7</c:v>
                </c:pt>
                <c:pt idx="2">
                  <c:v>7</c:v>
                </c:pt>
                <c:pt idx="3">
                  <c:v>6</c:v>
                </c:pt>
                <c:pt idx="4">
                  <c:v>6</c:v>
                </c:pt>
                <c:pt idx="5">
                  <c:v>6</c:v>
                </c:pt>
                <c:pt idx="6">
                  <c:v>6</c:v>
                </c:pt>
                <c:pt idx="7">
                  <c:v>6</c:v>
                </c:pt>
                <c:pt idx="8">
                  <c:v>5</c:v>
                </c:pt>
                <c:pt idx="9">
                  <c:v>4</c:v>
                </c:pt>
                <c:pt idx="10">
                  <c:v>3</c:v>
                </c:pt>
                <c:pt idx="11">
                  <c:v>2</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Sheet1!$D$11:$AU$11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Sheet1!$D$7:$AU$7</c:f>
              <c:strCache>
                <c:ptCount val="12"/>
                <c:pt idx="0">
                  <c:v>Apr-W1</c:v>
                </c:pt>
                <c:pt idx="1">
                  <c:v>Apr-W2</c:v>
                </c:pt>
                <c:pt idx="2">
                  <c:v>Apr-W3</c:v>
                </c:pt>
                <c:pt idx="3">
                  <c:v>Apr-W4</c:v>
                </c:pt>
                <c:pt idx="4">
                  <c:v>May-W1</c:v>
                </c:pt>
                <c:pt idx="5">
                  <c:v>May-W2</c:v>
                </c:pt>
                <c:pt idx="6">
                  <c:v>May-W3</c:v>
                </c:pt>
                <c:pt idx="7">
                  <c:v>May-W4</c:v>
                </c:pt>
                <c:pt idx="8">
                  <c:v>June-W1</c:v>
                </c:pt>
                <c:pt idx="9">
                  <c:v>June-W2</c:v>
                </c:pt>
                <c:pt idx="10">
                  <c:v>June-W3</c:v>
                </c:pt>
                <c:pt idx="11">
                  <c:v>June-W4</c:v>
                </c:pt>
              </c:strCache>
            </c:strRef>
          </c:cat>
          <c:val>
            <c:numRef>
              <c:f>Sheet1!$D$12:$AU$12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KB tốt + giữ giờ</c:v>
                </c:pt>
              </c:strCache>
            </c:strRef>
          </c:tx>
          <c:spPr>
            <a:ln w="31750" cap="rnd">
              <a:solidFill>
                <a:srgbClr val="FF0000"/>
              </a:solidFill>
              <a:round/>
            </a:ln>
            <a:effectLst/>
          </c:spPr>
          <c:marker>
            <c:symbol val="circle"/>
            <c:size val="27"/>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Sheet1!$D$8:$O$8</c:f>
              <c:numCache>
                <c:formatCode>General</c:formatCode>
                <c:ptCount val="12"/>
                <c:pt idx="0">
                  <c:v>14.25</c:v>
                </c:pt>
                <c:pt idx="1">
                  <c:v>13.75</c:v>
                </c:pt>
                <c:pt idx="2">
                  <c:v>15.25</c:v>
                </c:pt>
                <c:pt idx="3">
                  <c:v>14.5</c:v>
                </c:pt>
                <c:pt idx="4">
                  <c:v>14</c:v>
                </c:pt>
                <c:pt idx="5">
                  <c:v>12</c:v>
                </c:pt>
                <c:pt idx="6">
                  <c:v>11</c:v>
                </c:pt>
                <c:pt idx="7">
                  <c:v>11.5</c:v>
                </c:pt>
                <c:pt idx="8">
                  <c:v>12</c:v>
                </c:pt>
                <c:pt idx="9">
                  <c:v>12</c:v>
                </c:pt>
                <c:pt idx="10">
                  <c:v>12</c:v>
                </c:pt>
                <c:pt idx="11">
                  <c:v>11</c:v>
                </c:pt>
              </c:numCache>
            </c:numRef>
          </c:val>
          <c:smooth val="0"/>
          <c:extLst>
            <c:ext xmlns:c16="http://schemas.microsoft.com/office/drawing/2014/chart" uri="{C3380CC4-5D6E-409C-BE32-E72D297353CC}">
              <c16:uniqueId val="{00000000-004B-458A-8713-88F7F4F6F328}"/>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16"/>
          <c:min val="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majorUnit val="1"/>
      </c:valAx>
      <c:spPr>
        <a:noFill/>
        <a:ln>
          <a:noFill/>
        </a:ln>
        <a:effectLst/>
      </c:spPr>
    </c:plotArea>
    <c:legend>
      <c:legendPos val="b"/>
      <c:layout>
        <c:manualLayout>
          <c:xMode val="edge"/>
          <c:yMode val="edge"/>
          <c:x val="0.10266573533147068"/>
          <c:y val="0.71905697169733995"/>
          <c:w val="0.24463220726441454"/>
          <c:h val="7.8271204498086958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Sheet1!$B$2:$B$13</c:f>
              <c:numCache>
                <c:formatCode>General</c:formatCode>
                <c:ptCount val="12"/>
                <c:pt idx="0">
                  <c:v>17</c:v>
                </c:pt>
                <c:pt idx="1">
                  <c:v>17</c:v>
                </c:pt>
                <c:pt idx="2">
                  <c:v>17</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Sheet1!$B$9:$B$32</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Sheet1!$C$9:$C$32</c:f>
              <c:numCache>
                <c:formatCode>General</c:formatCode>
                <c:ptCount val="12"/>
                <c:pt idx="0">
                  <c:v>4</c:v>
                </c:pt>
                <c:pt idx="1">
                  <c:v>4</c:v>
                </c:pt>
                <c:pt idx="2">
                  <c:v>4</c:v>
                </c:pt>
                <c:pt idx="3">
                  <c:v>4</c:v>
                </c:pt>
                <c:pt idx="4">
                  <c:v>4</c:v>
                </c:pt>
                <c:pt idx="5">
                  <c:v>4</c:v>
                </c:pt>
                <c:pt idx="6">
                  <c:v>4</c:v>
                </c:pt>
                <c:pt idx="7">
                  <c:v>4</c:v>
                </c:pt>
                <c:pt idx="8">
                  <c:v>3</c:v>
                </c:pt>
                <c:pt idx="9">
                  <c:v>3</c:v>
                </c:pt>
                <c:pt idx="10">
                  <c:v>3</c:v>
                </c:pt>
                <c:pt idx="11">
                  <c:v>3</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6"/>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3"/>
          <c:order val="0"/>
          <c:tx>
            <c:strRef>
              <c:f>Sheet1!$B$1</c:f>
              <c:strCache>
                <c:ptCount val="1"/>
                <c:pt idx="0">
                  <c:v>KB Thực tế</c:v>
                </c:pt>
              </c:strCache>
            </c:strRef>
          </c:tx>
          <c:spPr>
            <a:ln w="28575" cap="rnd">
              <a:solidFill>
                <a:srgbClr val="0070C0"/>
              </a:solidFill>
              <a:round/>
            </a:ln>
            <a:effectLst/>
          </c:spPr>
          <c:marker>
            <c:symbol val="circle"/>
            <c:size val="25"/>
            <c:spPr>
              <a:solidFill>
                <a:srgbClr val="0070C0"/>
              </a:solidFill>
              <a:ln w="9525">
                <a:solidFill>
                  <a:srgbClr val="0070C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Sheet1!$B$10:$B$33</c:f>
              <c:numCache>
                <c:formatCode>General</c:formatCode>
                <c:ptCount val="12"/>
                <c:pt idx="0">
                  <c:v>4</c:v>
                </c:pt>
                <c:pt idx="1">
                  <c:v>4</c:v>
                </c:pt>
                <c:pt idx="2">
                  <c:v>4</c:v>
                </c:pt>
                <c:pt idx="3">
                  <c:v>4</c:v>
                </c:pt>
                <c:pt idx="4">
                  <c:v>3</c:v>
                </c:pt>
                <c:pt idx="5">
                  <c:v>1.5</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0-2B09-4F42-BD33-DCEFBD805B05}"/>
            </c:ext>
          </c:extLst>
        </c:ser>
        <c:ser>
          <c:idx val="4"/>
          <c:order val="1"/>
          <c:tx>
            <c:strRef>
              <c:f>Sheet1!$C$1</c:f>
              <c:strCache>
                <c:ptCount val="1"/>
                <c:pt idx="0">
                  <c:v>KB Gốc</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c:v>
                </c:pt>
                <c:pt idx="4">
                  <c:v>3</c:v>
                </c:pt>
                <c:pt idx="5">
                  <c:v>1.75</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1-2B09-4F42-BD33-DCEFBD805B05}"/>
            </c:ext>
          </c:extLst>
        </c:ser>
        <c:dLbls>
          <c:dLblPos val="ctr"/>
          <c:showLegendKey val="0"/>
          <c:showVal val="1"/>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4"/>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majorUnit val="1"/>
      </c:valAx>
      <c:spPr>
        <a:noFill/>
        <a:ln>
          <a:noFill/>
        </a:ln>
        <a:effectLst/>
      </c:spPr>
    </c:plotArea>
    <c:legend>
      <c:legendPos val="b"/>
      <c:layout>
        <c:manualLayout>
          <c:xMode val="edge"/>
          <c:yMode val="edge"/>
          <c:x val="0.40262546331705595"/>
          <c:y val="5.7621807879554947E-2"/>
          <c:w val="0.22456151431567511"/>
          <c:h val="0.11274844113498629"/>
        </c:manualLayout>
      </c:layout>
      <c:overlay val="0"/>
      <c:spPr>
        <a:solidFill>
          <a:schemeClr val="bg1"/>
        </a:solidFill>
        <a:ln>
          <a:solidFill>
            <a:srgbClr val="00FF00"/>
          </a:solidFill>
        </a:ln>
        <a:effectLst/>
      </c:spPr>
      <c:txPr>
        <a:bodyPr rot="0" spcFirstLastPara="1" vertOverflow="ellipsis" vert="horz" wrap="square" anchor="ctr" anchorCtr="1"/>
        <a:lstStyle/>
        <a:p>
          <a:pPr>
            <a:defRPr sz="15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rgbClr val="00B050"/>
      </a:solidFill>
    </a:ln>
    <a:effectLst/>
  </c:spPr>
  <c:txPr>
    <a:bodyPr/>
    <a:lstStyle/>
    <a:p>
      <a:pPr>
        <a:defRPr/>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5</c:v>
                </c:pt>
                <c:pt idx="2">
                  <c:v>0</c:v>
                </c:pt>
                <c:pt idx="3">
                  <c:v>3</c:v>
                </c:pt>
                <c:pt idx="4">
                  <c:v>1</c:v>
                </c:pt>
                <c:pt idx="5" formatCode="0">
                  <c:v>9</c:v>
                </c:pt>
              </c:numCache>
            </c:numRef>
          </c:val>
          <c:extLst>
            <c:ext xmlns:c16="http://schemas.microsoft.com/office/drawing/2014/chart" uri="{C3380CC4-5D6E-409C-BE32-E72D297353CC}">
              <c16:uniqueId val="{00000000-00F6-43F9-8BF5-7F90A16DE9BE}"/>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0</c:v>
                </c:pt>
                <c:pt idx="2">
                  <c:v>0</c:v>
                </c:pt>
                <c:pt idx="3">
                  <c:v>3</c:v>
                </c:pt>
                <c:pt idx="4">
                  <c:v>0</c:v>
                </c:pt>
                <c:pt idx="5" formatCode="0">
                  <c:v>3</c:v>
                </c:pt>
              </c:numCache>
            </c:numRef>
          </c:val>
          <c:extLst>
            <c:ext xmlns:c16="http://schemas.microsoft.com/office/drawing/2014/chart" uri="{C3380CC4-5D6E-409C-BE32-E72D297353CC}">
              <c16:uniqueId val="{00000001-00F6-43F9-8BF5-7F90A16DE9BE}"/>
            </c:ext>
          </c:extLst>
        </c:ser>
        <c:dLbls>
          <c:showLegendKey val="0"/>
          <c:showVal val="0"/>
          <c:showCatName val="0"/>
          <c:showSerName val="0"/>
          <c:showPercent val="0"/>
          <c:showBubbleSize val="0"/>
        </c:dLbls>
        <c:gapWidth val="150"/>
        <c:axId val="390115864"/>
        <c:axId val="390116648"/>
      </c:barChart>
      <c:catAx>
        <c:axId val="390115864"/>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90116648"/>
        <c:crosses val="autoZero"/>
        <c:auto val="1"/>
        <c:lblAlgn val="ctr"/>
        <c:lblOffset val="100"/>
        <c:noMultiLvlLbl val="0"/>
      </c:catAx>
      <c:valAx>
        <c:axId val="390116648"/>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90115864"/>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6.240802060338483E-2</c:v>
                </c:pt>
                <c:pt idx="1">
                  <c:v>7.9997564826010975E-2</c:v>
                </c:pt>
                <c:pt idx="2">
                  <c:v>9.3889586823003995E-2</c:v>
                </c:pt>
                <c:pt idx="3">
                  <c:v>0.16599893162393153</c:v>
                </c:pt>
                <c:pt idx="4">
                  <c:v>0.28950082508250846</c:v>
                </c:pt>
                <c:pt idx="5">
                  <c:v>0.30850168350168361</c:v>
                </c:pt>
                <c:pt idx="6">
                  <c:v>0.14271622474747481</c:v>
                </c:pt>
                <c:pt idx="7">
                  <c:v>0.14000262054507362</c:v>
                </c:pt>
                <c:pt idx="8">
                  <c:v>4.2086988304093617E-2</c:v>
                </c:pt>
              </c:numCache>
            </c:numRef>
          </c:val>
          <c:extLst>
            <c:ext xmlns:c16="http://schemas.microsoft.com/office/drawing/2014/chart" uri="{C3380CC4-5D6E-409C-BE32-E72D297353CC}">
              <c16:uniqueId val="{00000000-CD4B-4122-B203-9D61B0E044EA}"/>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6.2192932728646996E-2</c:v>
                </c:pt>
                <c:pt idx="1">
                  <c:v>7.9873616113111903E-2</c:v>
                </c:pt>
                <c:pt idx="2">
                  <c:v>9.3360260770975131E-2</c:v>
                </c:pt>
                <c:pt idx="3">
                  <c:v>0.17963435374149653</c:v>
                </c:pt>
                <c:pt idx="4">
                  <c:v>0.26085434173669497</c:v>
                </c:pt>
                <c:pt idx="5">
                  <c:v>0.28122032288698962</c:v>
                </c:pt>
                <c:pt idx="6">
                  <c:v>0.13341049382716047</c:v>
                </c:pt>
                <c:pt idx="7">
                  <c:v>0.13400462962962978</c:v>
                </c:pt>
                <c:pt idx="8">
                  <c:v>4.2286706349206386E-2</c:v>
                </c:pt>
              </c:numCache>
            </c:numRef>
          </c:val>
          <c:extLst>
            <c:ext xmlns:c16="http://schemas.microsoft.com/office/drawing/2014/chart" uri="{C3380CC4-5D6E-409C-BE32-E72D297353CC}">
              <c16:uniqueId val="{00000001-CD4B-4122-B203-9D61B0E044EA}"/>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7.1904761904761907</c:v>
                </c:pt>
                <c:pt idx="1">
                  <c:v>6.0586080586080584</c:v>
                </c:pt>
                <c:pt idx="2">
                  <c:v>5.6857142857142859</c:v>
                </c:pt>
                <c:pt idx="3">
                  <c:v>2.1857142857142855</c:v>
                </c:pt>
                <c:pt idx="4">
                  <c:v>3.0892857142857144</c:v>
                </c:pt>
                <c:pt idx="5">
                  <c:v>5.4285714285714288</c:v>
                </c:pt>
              </c:numCache>
            </c:numRef>
          </c:val>
          <c:extLst>
            <c:ext xmlns:c16="http://schemas.microsoft.com/office/drawing/2014/chart" uri="{C3380CC4-5D6E-409C-BE32-E72D297353CC}">
              <c16:uniqueId val="{00000000-449B-4EF2-845E-3F838FD2FC60}"/>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c:v>
                </c:pt>
                <c:pt idx="1">
                  <c:v>6.1025641025641022</c:v>
                </c:pt>
                <c:pt idx="2">
                  <c:v>5.6000000000000005</c:v>
                </c:pt>
                <c:pt idx="3">
                  <c:v>2.666666666666667</c:v>
                </c:pt>
                <c:pt idx="4">
                  <c:v>3.1875</c:v>
                </c:pt>
                <c:pt idx="5">
                  <c:v>8</c:v>
                </c:pt>
              </c:numCache>
            </c:numRef>
          </c:val>
          <c:extLst>
            <c:ext xmlns:c16="http://schemas.microsoft.com/office/drawing/2014/chart" uri="{C3380CC4-5D6E-409C-BE32-E72D297353CC}">
              <c16:uniqueId val="{00000001-449B-4EF2-845E-3F838FD2FC60}"/>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A118-4A91-A9F1-F329C27FED7A}"/>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A118-4A91-A9F1-F329C27FED7A}"/>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A118-4A91-A9F1-F329C27FED7A}"/>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A118-4A91-A9F1-F329C27FED7A}"/>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A118-4A91-A9F1-F329C27FED7A}"/>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A118-4A91-A9F1-F329C27FED7A}"/>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A118-4A91-A9F1-F329C27FED7A}"/>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A118-4A91-A9F1-F329C27FED7A}"/>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Week!$B$35:$BR$35</c:f>
              <c:numCache>
                <c:formatCode>d\-mmm</c:formatCode>
                <c:ptCount val="69"/>
                <c:pt idx="0">
                  <c:v>45747</c:v>
                </c:pt>
                <c:pt idx="1">
                  <c:v>45748</c:v>
                </c:pt>
                <c:pt idx="2">
                  <c:v>45749</c:v>
                </c:pt>
                <c:pt idx="3">
                  <c:v>45750</c:v>
                </c:pt>
                <c:pt idx="4">
                  <c:v>45751</c:v>
                </c:pt>
                <c:pt idx="5">
                  <c:v>45752</c:v>
                </c:pt>
                <c:pt idx="6">
                  <c:v>45753</c:v>
                </c:pt>
                <c:pt idx="7">
                  <c:v>45754</c:v>
                </c:pt>
                <c:pt idx="8">
                  <c:v>45755</c:v>
                </c:pt>
                <c:pt idx="9">
                  <c:v>45756</c:v>
                </c:pt>
                <c:pt idx="10">
                  <c:v>45757</c:v>
                </c:pt>
                <c:pt idx="11">
                  <c:v>45758</c:v>
                </c:pt>
                <c:pt idx="12">
                  <c:v>45759</c:v>
                </c:pt>
                <c:pt idx="13">
                  <c:v>45760</c:v>
                </c:pt>
                <c:pt idx="14">
                  <c:v>45761</c:v>
                </c:pt>
                <c:pt idx="15">
                  <c:v>45762</c:v>
                </c:pt>
                <c:pt idx="16">
                  <c:v>45763</c:v>
                </c:pt>
                <c:pt idx="17">
                  <c:v>45764</c:v>
                </c:pt>
                <c:pt idx="18">
                  <c:v>45765</c:v>
                </c:pt>
                <c:pt idx="19">
                  <c:v>45766</c:v>
                </c:pt>
                <c:pt idx="20">
                  <c:v>45767</c:v>
                </c:pt>
                <c:pt idx="21">
                  <c:v>45768</c:v>
                </c:pt>
                <c:pt idx="22">
                  <c:v>45769</c:v>
                </c:pt>
                <c:pt idx="23">
                  <c:v>45770</c:v>
                </c:pt>
                <c:pt idx="24">
                  <c:v>45771</c:v>
                </c:pt>
                <c:pt idx="25">
                  <c:v>45772</c:v>
                </c:pt>
                <c:pt idx="26">
                  <c:v>45773</c:v>
                </c:pt>
                <c:pt idx="27">
                  <c:v>45774</c:v>
                </c:pt>
                <c:pt idx="28">
                  <c:v>45775</c:v>
                </c:pt>
                <c:pt idx="29">
                  <c:v>45776</c:v>
                </c:pt>
                <c:pt idx="30">
                  <c:v>45777</c:v>
                </c:pt>
                <c:pt idx="31">
                  <c:v>45778</c:v>
                </c:pt>
                <c:pt idx="32">
                  <c:v>45779</c:v>
                </c:pt>
                <c:pt idx="33">
                  <c:v>45780</c:v>
                </c:pt>
                <c:pt idx="34">
                  <c:v>45781</c:v>
                </c:pt>
                <c:pt idx="35">
                  <c:v>45782</c:v>
                </c:pt>
                <c:pt idx="36">
                  <c:v>45783</c:v>
                </c:pt>
                <c:pt idx="37">
                  <c:v>45784</c:v>
                </c:pt>
                <c:pt idx="38">
                  <c:v>45785</c:v>
                </c:pt>
                <c:pt idx="39">
                  <c:v>45786</c:v>
                </c:pt>
                <c:pt idx="40">
                  <c:v>45787</c:v>
                </c:pt>
                <c:pt idx="41">
                  <c:v>45788</c:v>
                </c:pt>
                <c:pt idx="42">
                  <c:v>45789</c:v>
                </c:pt>
                <c:pt idx="43">
                  <c:v>45790</c:v>
                </c:pt>
                <c:pt idx="44">
                  <c:v>45791</c:v>
                </c:pt>
                <c:pt idx="45">
                  <c:v>45792</c:v>
                </c:pt>
                <c:pt idx="46">
                  <c:v>45793</c:v>
                </c:pt>
                <c:pt idx="47">
                  <c:v>45794</c:v>
                </c:pt>
                <c:pt idx="48">
                  <c:v>45795</c:v>
                </c:pt>
                <c:pt idx="49">
                  <c:v>45796</c:v>
                </c:pt>
                <c:pt idx="50">
                  <c:v>45797</c:v>
                </c:pt>
                <c:pt idx="51">
                  <c:v>45798</c:v>
                </c:pt>
                <c:pt idx="52">
                  <c:v>45799</c:v>
                </c:pt>
                <c:pt idx="53">
                  <c:v>45800</c:v>
                </c:pt>
                <c:pt idx="54">
                  <c:v>45801</c:v>
                </c:pt>
                <c:pt idx="55">
                  <c:v>45802</c:v>
                </c:pt>
                <c:pt idx="56">
                  <c:v>45803</c:v>
                </c:pt>
                <c:pt idx="57">
                  <c:v>45804</c:v>
                </c:pt>
                <c:pt idx="58">
                  <c:v>45805</c:v>
                </c:pt>
                <c:pt idx="59">
                  <c:v>45806</c:v>
                </c:pt>
                <c:pt idx="60">
                  <c:v>45807</c:v>
                </c:pt>
                <c:pt idx="61">
                  <c:v>45808</c:v>
                </c:pt>
              </c:numCache>
            </c:numRef>
          </c:cat>
          <c:val>
            <c:numRef>
              <c:f>Week!$B$36:$BR$36</c:f>
              <c:numCache>
                <c:formatCode>General</c:formatCode>
                <c:ptCount val="69"/>
                <c:pt idx="0">
                  <c:v>412</c:v>
                </c:pt>
                <c:pt idx="1">
                  <c:v>384</c:v>
                </c:pt>
                <c:pt idx="2">
                  <c:v>389</c:v>
                </c:pt>
                <c:pt idx="3">
                  <c:v>386</c:v>
                </c:pt>
                <c:pt idx="4">
                  <c:v>406</c:v>
                </c:pt>
                <c:pt idx="5">
                  <c:v>409</c:v>
                </c:pt>
                <c:pt idx="6">
                  <c:v>403</c:v>
                </c:pt>
                <c:pt idx="7">
                  <c:v>436</c:v>
                </c:pt>
                <c:pt idx="8">
                  <c:v>399</c:v>
                </c:pt>
                <c:pt idx="9">
                  <c:v>394</c:v>
                </c:pt>
                <c:pt idx="10">
                  <c:v>405</c:v>
                </c:pt>
                <c:pt idx="11">
                  <c:v>421</c:v>
                </c:pt>
                <c:pt idx="12">
                  <c:v>403</c:v>
                </c:pt>
                <c:pt idx="13">
                  <c:v>410</c:v>
                </c:pt>
                <c:pt idx="14">
                  <c:v>400</c:v>
                </c:pt>
                <c:pt idx="15">
                  <c:v>386</c:v>
                </c:pt>
                <c:pt idx="16">
                  <c:v>401</c:v>
                </c:pt>
                <c:pt idx="17">
                  <c:v>400</c:v>
                </c:pt>
                <c:pt idx="18">
                  <c:v>404</c:v>
                </c:pt>
                <c:pt idx="19">
                  <c:v>403</c:v>
                </c:pt>
                <c:pt idx="20">
                  <c:v>432</c:v>
                </c:pt>
                <c:pt idx="21">
                  <c:v>419</c:v>
                </c:pt>
                <c:pt idx="22">
                  <c:v>401</c:v>
                </c:pt>
                <c:pt idx="23">
                  <c:v>404</c:v>
                </c:pt>
                <c:pt idx="24">
                  <c:v>403</c:v>
                </c:pt>
                <c:pt idx="25">
                  <c:v>430</c:v>
                </c:pt>
                <c:pt idx="26">
                  <c:v>447</c:v>
                </c:pt>
                <c:pt idx="27">
                  <c:v>450</c:v>
                </c:pt>
                <c:pt idx="28">
                  <c:v>440</c:v>
                </c:pt>
                <c:pt idx="29">
                  <c:v>447</c:v>
                </c:pt>
                <c:pt idx="30">
                  <c:v>463</c:v>
                </c:pt>
                <c:pt idx="31">
                  <c:v>456</c:v>
                </c:pt>
                <c:pt idx="32">
                  <c:v>454</c:v>
                </c:pt>
                <c:pt idx="33">
                  <c:v>479</c:v>
                </c:pt>
                <c:pt idx="34">
                  <c:v>471</c:v>
                </c:pt>
                <c:pt idx="35">
                  <c:v>446</c:v>
                </c:pt>
                <c:pt idx="36">
                  <c:v>385</c:v>
                </c:pt>
                <c:pt idx="37">
                  <c:v>388</c:v>
                </c:pt>
                <c:pt idx="38">
                  <c:v>382</c:v>
                </c:pt>
                <c:pt idx="39">
                  <c:v>409</c:v>
                </c:pt>
                <c:pt idx="40">
                  <c:v>399</c:v>
                </c:pt>
                <c:pt idx="41">
                  <c:v>411</c:v>
                </c:pt>
                <c:pt idx="42">
                  <c:v>409</c:v>
                </c:pt>
                <c:pt idx="43">
                  <c:v>383</c:v>
                </c:pt>
                <c:pt idx="44">
                  <c:v>392</c:v>
                </c:pt>
                <c:pt idx="45">
                  <c:v>397</c:v>
                </c:pt>
                <c:pt idx="46">
                  <c:v>408</c:v>
                </c:pt>
                <c:pt idx="47">
                  <c:v>401</c:v>
                </c:pt>
                <c:pt idx="48">
                  <c:v>413</c:v>
                </c:pt>
                <c:pt idx="49">
                  <c:v>406</c:v>
                </c:pt>
                <c:pt idx="50">
                  <c:v>391</c:v>
                </c:pt>
                <c:pt idx="51">
                  <c:v>393</c:v>
                </c:pt>
                <c:pt idx="52">
                  <c:v>449</c:v>
                </c:pt>
                <c:pt idx="53">
                  <c:v>455</c:v>
                </c:pt>
                <c:pt idx="54">
                  <c:v>448</c:v>
                </c:pt>
                <c:pt idx="55">
                  <c:v>462</c:v>
                </c:pt>
                <c:pt idx="56">
                  <c:v>451</c:v>
                </c:pt>
                <c:pt idx="57">
                  <c:v>441</c:v>
                </c:pt>
                <c:pt idx="58">
                  <c:v>441</c:v>
                </c:pt>
                <c:pt idx="59">
                  <c:v>450</c:v>
                </c:pt>
                <c:pt idx="60">
                  <c:v>462</c:v>
                </c:pt>
                <c:pt idx="61">
                  <c:v>463</c:v>
                </c:pt>
              </c:numCache>
            </c:numRef>
          </c:val>
          <c:extLst>
            <c:ext xmlns:c16="http://schemas.microsoft.com/office/drawing/2014/chart" uri="{C3380CC4-5D6E-409C-BE32-E72D297353CC}">
              <c16:uniqueId val="{00000010-A118-4A91-A9F1-F329C27FED7A}"/>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00"/>
          <c:min val="3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0.07993</cdr:x>
      <cdr:y>0.68065</cdr:y>
    </cdr:from>
    <cdr:to>
      <cdr:x>0.3832</cdr:x>
      <cdr:y>0.78618</cdr:y>
    </cdr:to>
    <cdr:sp macro="" textlink="">
      <cdr:nvSpPr>
        <cdr:cNvPr id="2" name="TextBox 1">
          <a:extLst xmlns:a="http://schemas.openxmlformats.org/drawingml/2006/main">
            <a:ext uri="{FF2B5EF4-FFF2-40B4-BE49-F238E27FC236}">
              <a16:creationId xmlns:a16="http://schemas.microsoft.com/office/drawing/2014/main" id="{CD939C01-4FDE-4466-9481-5A3B05BD383C}"/>
            </a:ext>
          </a:extLst>
        </cdr:cNvPr>
        <cdr:cNvSpPr txBox="1"/>
      </cdr:nvSpPr>
      <cdr:spPr>
        <a:xfrm xmlns:a="http://schemas.openxmlformats.org/drawingml/2006/main">
          <a:off x="923827" y="3572932"/>
          <a:ext cx="3505200" cy="553998"/>
        </a:xfrm>
        <a:prstGeom xmlns:a="http://schemas.openxmlformats.org/drawingml/2006/main" prst="rect">
          <a:avLst/>
        </a:prstGeom>
        <a:solidFill xmlns:a="http://schemas.openxmlformats.org/drawingml/2006/main">
          <a:srgbClr val="FFFFCC"/>
        </a:solidFill>
        <a:ln xmlns:a="http://schemas.openxmlformats.org/drawingml/2006/main">
          <a:solidFill>
            <a:srgbClr val="FFC000"/>
          </a:solidFill>
        </a:ln>
      </cdr:spPr>
      <cdr:txBody>
        <a:bodyPr xmlns:a="http://schemas.openxmlformats.org/drawingml/2006/main" vertOverflow="clip" wrap="square" rtlCol="0">
          <a:spAutoFit/>
        </a:bodyPr>
        <a:lstStyle xmlns:a="http://schemas.openxmlformats.org/drawingml/2006/main"/>
        <a:p xmlns:a="http://schemas.openxmlformats.org/drawingml/2006/main">
          <a:r>
            <a:rPr lang="en-US" sz="1000" b="1">
              <a:solidFill>
                <a:srgbClr val="FF0000"/>
              </a:solidFill>
              <a:latin typeface="+mj-lt"/>
            </a:rPr>
            <a:t>Update thay đổi:</a:t>
          </a:r>
        </a:p>
        <a:p xmlns:a="http://schemas.openxmlformats.org/drawingml/2006/main">
          <a:r>
            <a:rPr lang="en-US" sz="1000">
              <a:solidFill>
                <a:schemeClr val="tx1"/>
              </a:solidFill>
              <a:latin typeface="+mj-lt"/>
            </a:rPr>
            <a:t>- </a:t>
          </a:r>
          <a:r>
            <a:rPr lang="en-US" sz="1000" b="1">
              <a:solidFill>
                <a:schemeClr val="tx1"/>
              </a:solidFill>
              <a:latin typeface="+mj-lt"/>
            </a:rPr>
            <a:t>Update 07/04: </a:t>
          </a:r>
          <a:r>
            <a:rPr lang="en-US" sz="1000">
              <a:solidFill>
                <a:schemeClr val="tx1"/>
              </a:solidFill>
              <a:latin typeface="+mj-lt"/>
            </a:rPr>
            <a:t>21137 và 21043 (shop N3) delay 1 tuần làm tăng 1 tuần AOG vào T6). </a:t>
          </a:r>
          <a:endParaRPr lang="en-US" sz="1000" dirty="0">
            <a:solidFill>
              <a:schemeClr val="tx1"/>
            </a:solidFill>
            <a:latin typeface="+mj-lt"/>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4/7/2025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477263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136205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669247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6</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5620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4424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37721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4593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7029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384751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0207263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887010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81116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39180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17</a:t>
            </a:fld>
            <a:endParaRPr/>
          </a:p>
        </p:txBody>
      </p:sp>
    </p:spTree>
    <p:extLst>
      <p:ext uri="{BB962C8B-B14F-4D97-AF65-F5344CB8AC3E}">
        <p14:creationId xmlns:p14="http://schemas.microsoft.com/office/powerpoint/2010/main" val="4176067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18</a:t>
            </a:fld>
            <a:endParaRPr/>
          </a:p>
        </p:txBody>
      </p:sp>
    </p:spTree>
    <p:extLst>
      <p:ext uri="{BB962C8B-B14F-4D97-AF65-F5344CB8AC3E}">
        <p14:creationId xmlns:p14="http://schemas.microsoft.com/office/powerpoint/2010/main" val="9771180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561243C-8838-2E44-36FA-6349D45CC3F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01A832F-70B6-DFCB-B1D0-900934A443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F2CE732-C85A-6302-3377-97B871BEE1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0B033D-71A0-3FA8-8692-53B0C366D2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382348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20</a:t>
            </a:fld>
            <a:endParaRPr/>
          </a:p>
        </p:txBody>
      </p:sp>
    </p:spTree>
    <p:extLst>
      <p:ext uri="{BB962C8B-B14F-4D97-AF65-F5344CB8AC3E}">
        <p14:creationId xmlns:p14="http://schemas.microsoft.com/office/powerpoint/2010/main" val="1131255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1939015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44E0767-5B1A-F998-1262-A19303E0387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3FCCA5D-F40D-0166-85CE-8EF586347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66C5365F-D5DA-C3A3-2AF6-43BFF787E3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D288B71-E817-876E-4F9E-12C672E9B3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951580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CD2E2088-A6AC-D92B-4BFC-B25F781917F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4AD0511-2BF4-A6D6-70F3-8BC72923DD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604A06C2-5F5A-2766-CA31-91369D8F150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473804E-1E00-59FB-61B5-C2F3825DADB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276131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959964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18346670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6480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985512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34975847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29</a:t>
            </a:fld>
            <a:endParaRPr/>
          </a:p>
        </p:txBody>
      </p:sp>
    </p:spTree>
    <p:extLst>
      <p:ext uri="{BB962C8B-B14F-4D97-AF65-F5344CB8AC3E}">
        <p14:creationId xmlns:p14="http://schemas.microsoft.com/office/powerpoint/2010/main" val="37763374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30</a:t>
            </a:fld>
            <a:endParaRPr/>
          </a:p>
        </p:txBody>
      </p:sp>
    </p:spTree>
    <p:extLst>
      <p:ext uri="{BB962C8B-B14F-4D97-AF65-F5344CB8AC3E}">
        <p14:creationId xmlns:p14="http://schemas.microsoft.com/office/powerpoint/2010/main" val="32043775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125758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598918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959964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952226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44</a:t>
            </a:fld>
            <a:endParaRPr/>
          </a:p>
        </p:txBody>
      </p:sp>
    </p:spTree>
    <p:extLst>
      <p:ext uri="{BB962C8B-B14F-4D97-AF65-F5344CB8AC3E}">
        <p14:creationId xmlns:p14="http://schemas.microsoft.com/office/powerpoint/2010/main" val="24405380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45</a:t>
            </a:fld>
            <a:endParaRPr/>
          </a:p>
        </p:txBody>
      </p:sp>
    </p:spTree>
    <p:extLst>
      <p:ext uri="{BB962C8B-B14F-4D97-AF65-F5344CB8AC3E}">
        <p14:creationId xmlns:p14="http://schemas.microsoft.com/office/powerpoint/2010/main" val="40055040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46</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918808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47</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3123175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50</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85193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405930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33899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54</a:t>
            </a:fld>
            <a:endParaRPr/>
          </a:p>
        </p:txBody>
      </p:sp>
    </p:spTree>
    <p:extLst>
      <p:ext uri="{BB962C8B-B14F-4D97-AF65-F5344CB8AC3E}">
        <p14:creationId xmlns:p14="http://schemas.microsoft.com/office/powerpoint/2010/main" val="2305047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283356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848804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339696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58</a:t>
            </a:fld>
            <a:endParaRPr/>
          </a:p>
        </p:txBody>
      </p:sp>
    </p:spTree>
    <p:extLst>
      <p:ext uri="{BB962C8B-B14F-4D97-AF65-F5344CB8AC3E}">
        <p14:creationId xmlns:p14="http://schemas.microsoft.com/office/powerpoint/2010/main" val="33943379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4609462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60</a:t>
            </a:fld>
            <a:endParaRPr/>
          </a:p>
        </p:txBody>
      </p:sp>
    </p:spTree>
    <p:extLst>
      <p:ext uri="{BB962C8B-B14F-4D97-AF65-F5344CB8AC3E}">
        <p14:creationId xmlns:p14="http://schemas.microsoft.com/office/powerpoint/2010/main" val="24330934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61</a:t>
            </a:fld>
            <a:endParaRPr/>
          </a:p>
        </p:txBody>
      </p:sp>
    </p:spTree>
    <p:extLst>
      <p:ext uri="{BB962C8B-B14F-4D97-AF65-F5344CB8AC3E}">
        <p14:creationId xmlns:p14="http://schemas.microsoft.com/office/powerpoint/2010/main" val="10458932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2482857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63</a:t>
            </a:fld>
            <a:endParaRPr/>
          </a:p>
        </p:txBody>
      </p:sp>
    </p:spTree>
    <p:extLst>
      <p:ext uri="{BB962C8B-B14F-4D97-AF65-F5344CB8AC3E}">
        <p14:creationId xmlns:p14="http://schemas.microsoft.com/office/powerpoint/2010/main" val="33383626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236297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5570122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66</a:t>
            </a:fld>
            <a:endParaRPr sz="1200">
              <a:latin typeface="Calibri"/>
              <a:ea typeface="Calibri"/>
              <a:cs typeface="Calibri"/>
              <a:sym typeface="Calibri"/>
            </a:endParaRPr>
          </a:p>
        </p:txBody>
      </p:sp>
    </p:spTree>
    <p:extLst>
      <p:ext uri="{BB962C8B-B14F-4D97-AF65-F5344CB8AC3E}">
        <p14:creationId xmlns:p14="http://schemas.microsoft.com/office/powerpoint/2010/main" val="299267261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67</a:t>
            </a:fld>
            <a:endParaRPr sz="1200">
              <a:latin typeface="Calibri"/>
              <a:ea typeface="Calibri"/>
              <a:cs typeface="Calibri"/>
              <a:sym typeface="Calibri"/>
            </a:endParaRPr>
          </a:p>
        </p:txBody>
      </p:sp>
    </p:spTree>
    <p:extLst>
      <p:ext uri="{BB962C8B-B14F-4D97-AF65-F5344CB8AC3E}">
        <p14:creationId xmlns:p14="http://schemas.microsoft.com/office/powerpoint/2010/main" val="35809211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68</a:t>
            </a:fld>
            <a:endParaRPr sz="1200">
              <a:latin typeface="Calibri"/>
              <a:ea typeface="Calibri"/>
              <a:cs typeface="Calibri"/>
              <a:sym typeface="Calibri"/>
            </a:endParaRPr>
          </a:p>
        </p:txBody>
      </p:sp>
    </p:spTree>
    <p:extLst>
      <p:ext uri="{BB962C8B-B14F-4D97-AF65-F5344CB8AC3E}">
        <p14:creationId xmlns:p14="http://schemas.microsoft.com/office/powerpoint/2010/main" val="1244292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69</a:t>
            </a:fld>
            <a:endParaRPr sz="1200">
              <a:latin typeface="Calibri"/>
              <a:ea typeface="Calibri"/>
              <a:cs typeface="Calibri"/>
              <a:sym typeface="Calibri"/>
            </a:endParaRPr>
          </a:p>
        </p:txBody>
      </p:sp>
    </p:spTree>
    <p:extLst>
      <p:ext uri="{BB962C8B-B14F-4D97-AF65-F5344CB8AC3E}">
        <p14:creationId xmlns:p14="http://schemas.microsoft.com/office/powerpoint/2010/main" val="9143297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70</a:t>
            </a:fld>
            <a:endParaRPr sz="1200">
              <a:latin typeface="Calibri"/>
              <a:ea typeface="Calibri"/>
              <a:cs typeface="Calibri"/>
              <a:sym typeface="Calibri"/>
            </a:endParaRPr>
          </a:p>
        </p:txBody>
      </p:sp>
    </p:spTree>
    <p:extLst>
      <p:ext uri="{BB962C8B-B14F-4D97-AF65-F5344CB8AC3E}">
        <p14:creationId xmlns:p14="http://schemas.microsoft.com/office/powerpoint/2010/main" val="10662135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71</a:t>
            </a:fld>
            <a:endParaRPr sz="1200">
              <a:latin typeface="Calibri"/>
              <a:ea typeface="Calibri"/>
              <a:cs typeface="Calibri"/>
              <a:sym typeface="Calibri"/>
            </a:endParaRPr>
          </a:p>
        </p:txBody>
      </p:sp>
    </p:spTree>
    <p:extLst>
      <p:ext uri="{BB962C8B-B14F-4D97-AF65-F5344CB8AC3E}">
        <p14:creationId xmlns:p14="http://schemas.microsoft.com/office/powerpoint/2010/main" val="23163905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36287274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1238364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32180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4/7/2025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67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5.xml"/><Relationship Id="rId4" Type="http://schemas.openxmlformats.org/officeDocument/2006/relationships/chart" Target="../charts/char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3.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51.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14</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31/03/2025</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07</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04</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1333435663"/>
              </p:ext>
            </p:extLst>
          </p:nvPr>
        </p:nvGraphicFramePr>
        <p:xfrm>
          <a:off x="6329507" y="963939"/>
          <a:ext cx="4176910" cy="22913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162007220"/>
              </p:ext>
            </p:extLst>
          </p:nvPr>
        </p:nvGraphicFramePr>
        <p:xfrm>
          <a:off x="1679597" y="3609756"/>
          <a:ext cx="4098451" cy="229138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2601454389"/>
              </p:ext>
            </p:extLst>
          </p:nvPr>
        </p:nvGraphicFramePr>
        <p:xfrm>
          <a:off x="1689122" y="948130"/>
          <a:ext cx="4117501" cy="229138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6">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2848715982"/>
              </p:ext>
            </p:extLst>
          </p:nvPr>
        </p:nvGraphicFramePr>
        <p:xfrm>
          <a:off x="6335493" y="3618485"/>
          <a:ext cx="4176910" cy="2291384"/>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3078822350"/>
              </p:ext>
            </p:extLst>
          </p:nvPr>
        </p:nvGraphicFramePr>
        <p:xfrm>
          <a:off x="1296111" y="990600"/>
          <a:ext cx="9599778" cy="26613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3677102082"/>
              </p:ext>
            </p:extLst>
          </p:nvPr>
        </p:nvGraphicFramePr>
        <p:xfrm>
          <a:off x="1294351" y="3819809"/>
          <a:ext cx="9589473" cy="265994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3 (01 Non-Tech)</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p:cNvGraphicFramePr>
            <a:graphicFrameLocks noGrp="1"/>
          </p:cNvGraphicFramePr>
          <p:nvPr/>
        </p:nvGraphicFramePr>
        <p:xfrm>
          <a:off x="233084" y="1287658"/>
          <a:ext cx="11612314" cy="4534232"/>
        </p:xfrm>
        <a:graphic>
          <a:graphicData uri="http://schemas.openxmlformats.org/drawingml/2006/table">
            <a:tbl>
              <a:tblPr/>
              <a:tblGrid>
                <a:gridCol w="376516">
                  <a:extLst>
                    <a:ext uri="{9D8B030D-6E8A-4147-A177-3AD203B41FA5}">
                      <a16:colId xmlns:a16="http://schemas.microsoft.com/office/drawing/2014/main" val="4038289466"/>
                    </a:ext>
                  </a:extLst>
                </a:gridCol>
                <a:gridCol w="304800">
                  <a:extLst>
                    <a:ext uri="{9D8B030D-6E8A-4147-A177-3AD203B41FA5}">
                      <a16:colId xmlns:a16="http://schemas.microsoft.com/office/drawing/2014/main" val="3957843482"/>
                    </a:ext>
                  </a:extLst>
                </a:gridCol>
                <a:gridCol w="533400">
                  <a:extLst>
                    <a:ext uri="{9D8B030D-6E8A-4147-A177-3AD203B41FA5}">
                      <a16:colId xmlns:a16="http://schemas.microsoft.com/office/drawing/2014/main" val="1490174247"/>
                    </a:ext>
                  </a:extLst>
                </a:gridCol>
                <a:gridCol w="533400">
                  <a:extLst>
                    <a:ext uri="{9D8B030D-6E8A-4147-A177-3AD203B41FA5}">
                      <a16:colId xmlns:a16="http://schemas.microsoft.com/office/drawing/2014/main" val="3566870774"/>
                    </a:ext>
                  </a:extLst>
                </a:gridCol>
                <a:gridCol w="685800">
                  <a:extLst>
                    <a:ext uri="{9D8B030D-6E8A-4147-A177-3AD203B41FA5}">
                      <a16:colId xmlns:a16="http://schemas.microsoft.com/office/drawing/2014/main" val="3134608598"/>
                    </a:ext>
                  </a:extLst>
                </a:gridCol>
                <a:gridCol w="609600">
                  <a:extLst>
                    <a:ext uri="{9D8B030D-6E8A-4147-A177-3AD203B41FA5}">
                      <a16:colId xmlns:a16="http://schemas.microsoft.com/office/drawing/2014/main" val="1407986645"/>
                    </a:ext>
                  </a:extLst>
                </a:gridCol>
                <a:gridCol w="1781217">
                  <a:extLst>
                    <a:ext uri="{9D8B030D-6E8A-4147-A177-3AD203B41FA5}">
                      <a16:colId xmlns:a16="http://schemas.microsoft.com/office/drawing/2014/main" val="2827963411"/>
                    </a:ext>
                  </a:extLst>
                </a:gridCol>
                <a:gridCol w="2104983">
                  <a:extLst>
                    <a:ext uri="{9D8B030D-6E8A-4147-A177-3AD203B41FA5}">
                      <a16:colId xmlns:a16="http://schemas.microsoft.com/office/drawing/2014/main" val="246680535"/>
                    </a:ext>
                  </a:extLst>
                </a:gridCol>
                <a:gridCol w="368315">
                  <a:extLst>
                    <a:ext uri="{9D8B030D-6E8A-4147-A177-3AD203B41FA5}">
                      <a16:colId xmlns:a16="http://schemas.microsoft.com/office/drawing/2014/main" val="1804046833"/>
                    </a:ext>
                  </a:extLst>
                </a:gridCol>
                <a:gridCol w="4314283">
                  <a:extLst>
                    <a:ext uri="{9D8B030D-6E8A-4147-A177-3AD203B41FA5}">
                      <a16:colId xmlns:a16="http://schemas.microsoft.com/office/drawing/2014/main" val="2477666348"/>
                    </a:ext>
                  </a:extLst>
                </a:gridCol>
              </a:tblGrid>
              <a:tr h="95416">
                <a:tc>
                  <a:txBody>
                    <a:bodyPr/>
                    <a:lstStyle/>
                    <a:p>
                      <a:pPr algn="ctr" fontAlgn="ctr"/>
                      <a:r>
                        <a:rPr lang="en-US" sz="1100" b="0" i="0" u="none" strike="noStrike" dirty="0">
                          <a:solidFill>
                            <a:srgbClr val="000000"/>
                          </a:solidFill>
                          <a:effectLst/>
                          <a:latin typeface="Calibri" panose="020F0502020204030204" pitchFamily="34" charset="0"/>
                        </a:rPr>
                        <a:t>A/C</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Calibri" panose="020F0502020204030204" pitchFamily="34" charset="0"/>
                        </a:rPr>
                        <a:t>STA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FLIGHT NO</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ROUTE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DATE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EVENT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REASON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ACTION TAKEN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ATA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Engineering Assessment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14998444"/>
                  </a:ext>
                </a:extLst>
              </a:tr>
              <a:tr h="1490870">
                <a:tc>
                  <a:txBody>
                    <a:bodyPr/>
                    <a:lstStyle/>
                    <a:p>
                      <a:pPr algn="l" fontAlgn="ctr"/>
                      <a:r>
                        <a:rPr lang="en-US" sz="1100" b="0" i="0" u="none" strike="noStrike">
                          <a:solidFill>
                            <a:srgbClr val="000000"/>
                          </a:solidFill>
                          <a:effectLst/>
                          <a:latin typeface="Calibri" panose="020F0502020204030204" pitchFamily="34" charset="0"/>
                        </a:rPr>
                        <a:t>B223</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VCS</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VN1884</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SGN-VCS</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16:30 05/04/2025</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RTO</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p>
                      <a:pPr algn="l" fontAlgn="ctr"/>
                      <a:r>
                        <a:rPr lang="en-US" sz="1100" b="0" i="0" u="none" strike="noStrike">
                          <a:solidFill>
                            <a:srgbClr val="000000"/>
                          </a:solidFill>
                          <a:effectLst/>
                          <a:latin typeface="Calibri" panose="020F0502020204030204" pitchFamily="34" charset="0"/>
                        </a:rPr>
                        <a:t>B223+ RTO DUE TO WARNING " CONFIG", " FLT CONTROL" APPEARED</a:t>
                      </a:r>
                    </a:p>
                    <a:p>
                      <a:pPr algn="l" fontAlgn="ctr"/>
                      <a:r>
                        <a:rPr lang="en-US" sz="1100" b="0" i="0" u="none" strike="noStrike">
                          <a:solidFill>
                            <a:srgbClr val="000000"/>
                          </a:solidFill>
                          <a:effectLst/>
                          <a:latin typeface="Calibri" panose="020F0502020204030204" pitchFamily="34" charset="0"/>
                        </a:rPr>
                        <a:t>DURING TAKE OFF CAPT INFORMED A/C HAS WARNING " CONFIG", " FLT CONTROL" APPEARED, A/C REJECT TAKE OFF AND THEN DEFECT DISAPPEAR , A/C NORMAL AND CAPT DECIDED RETURN TO THE RUNWAY FOR TAKE OFF  AGAIN&gt; TAKE OFF SUCCESSFUL (NO VHF)</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FINALACTION: C/O REPLACEMENT LH TRIM ELEVATOR IAW MP ATR-A-27-32-40-00001-520A-A ; ATR-A-27-32-40-00001-720A-A. CHECKED SATIS</a:t>
                      </a:r>
                    </a:p>
                    <a:p>
                      <a:pPr algn="l" fontAlgn="ctr"/>
                      <a:r>
                        <a:rPr lang="en-US" sz="1100" b="0" i="0" u="none" strike="noStrike">
                          <a:solidFill>
                            <a:srgbClr val="000000"/>
                          </a:solidFill>
                          <a:effectLst/>
                          <a:latin typeface="Calibri" panose="020F0502020204030204" pitchFamily="34" charset="0"/>
                        </a:rPr>
                        <a:t>ENG #1 : START A : IGNITER RPLD REF : 74-21-60-A1001-520/720A REV 01/2025 CHK SATIS</a:t>
                      </a:r>
                    </a:p>
                    <a:p>
                      <a:pPr algn="l" fontAlgn="ctr"/>
                      <a:endParaRPr lang="en-US" sz="1100" b="0" i="0" u="none" strike="noStrike">
                        <a:solidFill>
                          <a:srgbClr val="000000"/>
                        </a:solidFill>
                        <a:effectLst/>
                        <a:latin typeface="Calibri" panose="020F0502020204030204" pitchFamily="34" charset="0"/>
                      </a:endParaRPr>
                    </a:p>
                    <a:p>
                      <a:pPr algn="l" fontAlgn="ctr"/>
                      <a:r>
                        <a:rPr lang="en-US" sz="1100" b="0" i="0" u="none" strike="noStrike">
                          <a:solidFill>
                            <a:srgbClr val="000000"/>
                          </a:solidFill>
                          <a:effectLst/>
                          <a:latin typeface="Calibri" panose="020F0502020204030204" pitchFamily="34" charset="0"/>
                        </a:rPr>
                        <a:t>LH TRIM ELEVATOR AND ENG #1 : START A FAULT EVENT CLOSED</a:t>
                      </a:r>
                    </a:p>
                    <a:p>
                      <a:pPr algn="l" fontAlgn="ctr"/>
                      <a:r>
                        <a:rPr lang="en-US" sz="1100" b="0" i="0" u="none" strike="noStrike">
                          <a:solidFill>
                            <a:srgbClr val="000000"/>
                          </a:solidFill>
                          <a:effectLst/>
                          <a:latin typeface="Calibri" panose="020F0502020204030204" pitchFamily="34" charset="0"/>
                        </a:rPr>
                        <a:t>FINALACTION: C/O REPLACEMENT LH TRIM ELEVATOR IAW MP ATR-A-27-32-40-00001-520A-A ; ATR-A-27-32-40-00001-720A-A. CHECKED SATIS ENG #1 : START A : IGNITER RPLD REF : 74-21-60-A1001-520/720A REV 01/2025 CHK SATIS</a:t>
                      </a:r>
                    </a:p>
                    <a:p>
                      <a:pPr algn="l" fontAlgn="ctr"/>
                      <a:endParaRPr lang="en-US" sz="1100" b="0" i="0" u="none" strike="noStrike">
                        <a:solidFill>
                          <a:srgbClr val="000000"/>
                        </a:solidFill>
                        <a:effectLst/>
                        <a:latin typeface="Calibri" panose="020F0502020204030204" pitchFamily="34" charset="0"/>
                      </a:endParaRPr>
                    </a:p>
                    <a:p>
                      <a:pPr algn="l" fontAlgn="ctr"/>
                      <a:r>
                        <a:rPr lang="en-US" sz="1100" b="0" i="0" u="none" strike="noStrike">
                          <a:solidFill>
                            <a:srgbClr val="000000"/>
                          </a:solidFill>
                          <a:effectLst/>
                          <a:latin typeface="Calibri" panose="020F0502020204030204" pitchFamily="34" charset="0"/>
                        </a:rPr>
                        <a:t>B223+ RTO DUE TO WARNING " CONFIG", " FLT CONTROL" APPEARED</a:t>
                      </a:r>
                    </a:p>
                    <a:p>
                      <a:pPr algn="l" fontAlgn="ctr"/>
                      <a:endParaRPr lang="en-US" sz="1100" b="0" i="0" u="none" strike="noStrike">
                        <a:solidFill>
                          <a:srgbClr val="000000"/>
                        </a:solidFill>
                        <a:effectLst/>
                        <a:latin typeface="Calibri" panose="020F0502020204030204" pitchFamily="34" charset="0"/>
                      </a:endParaRPr>
                    </a:p>
                    <a:p>
                      <a:pPr algn="l" fontAlgn="ctr"/>
                      <a:r>
                        <a:rPr lang="en-US" sz="1100" b="0" i="0" u="none" strike="noStrike">
                          <a:solidFill>
                            <a:srgbClr val="000000"/>
                          </a:solidFill>
                          <a:effectLst/>
                          <a:latin typeface="Calibri" panose="020F0502020204030204" pitchFamily="34" charset="0"/>
                        </a:rPr>
                        <a:t>NO RETURN TO GATE, A/C TAKE OFF AGAIN SUCCESSFUL</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27-00</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Hỏng hóc chỉ xảy ra trên B223, đã thực hiện nhiều lần theo hướng dẫn của ATR như thay thế các thiết bị, kiểm tra dây, connector nhưng không khắc phục được hỏng hóc.</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Với 02 lần GTB ngày 09/12/2024 và 04/01/2025: Nghi ngờ do Inverter 1 bị lỗi gây ảnh hưởng đến cấp nguồn điện. Khối inverter này đang gửi đi shop và chờ SFR</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Với 01 lần RTO ngày 16/02/2025: Nguyên nhân do khối trim indicator trong kho bị lỗi, theo SFR =&gt; Fault confirmed</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Với 01 RTO ngày 06/04/2025: Nghi ngờ do khối LH elevator trim actuator lắp lên từ ngày 14/01/2025 có vấn đề (Do khi thợ máy thực hiện test thì phát hiện khối này bị nóng lên và hoạt động không ổn định khi pitch trim có giá trị lớn hơn hoặc bằng 1.3 ).  Khối này được Ban QLVT mua cũ từ đối tác, lần đi shop gần nhất là thực hiện OVH vào May/2024 (TSN &amp;CSN =UNK)  =&gt; Đang chờ SFR khối này.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4762513"/>
                  </a:ext>
                </a:extLst>
              </a:tr>
            </a:tbl>
          </a:graphicData>
        </a:graphic>
      </p:graphicFrame>
    </p:spTree>
    <p:custDataLst>
      <p:tags r:id="rId1"/>
    </p:custDataLst>
    <p:extLst>
      <p:ext uri="{BB962C8B-B14F-4D97-AF65-F5344CB8AC3E}">
        <p14:creationId xmlns:p14="http://schemas.microsoft.com/office/powerpoint/2010/main" val="3826261073"/>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3 (01 Non-Tech)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p:cNvGraphicFramePr>
            <a:graphicFrameLocks noGrp="1"/>
          </p:cNvGraphicFramePr>
          <p:nvPr/>
        </p:nvGraphicFramePr>
        <p:xfrm>
          <a:off x="233084" y="1287658"/>
          <a:ext cx="11548799" cy="4503542"/>
        </p:xfrm>
        <a:graphic>
          <a:graphicData uri="http://schemas.openxmlformats.org/drawingml/2006/table">
            <a:tbl>
              <a:tblPr/>
              <a:tblGrid>
                <a:gridCol w="376516">
                  <a:extLst>
                    <a:ext uri="{9D8B030D-6E8A-4147-A177-3AD203B41FA5}">
                      <a16:colId xmlns:a16="http://schemas.microsoft.com/office/drawing/2014/main" val="4038289466"/>
                    </a:ext>
                  </a:extLst>
                </a:gridCol>
                <a:gridCol w="381000">
                  <a:extLst>
                    <a:ext uri="{9D8B030D-6E8A-4147-A177-3AD203B41FA5}">
                      <a16:colId xmlns:a16="http://schemas.microsoft.com/office/drawing/2014/main" val="3957843482"/>
                    </a:ext>
                  </a:extLst>
                </a:gridCol>
                <a:gridCol w="533400">
                  <a:extLst>
                    <a:ext uri="{9D8B030D-6E8A-4147-A177-3AD203B41FA5}">
                      <a16:colId xmlns:a16="http://schemas.microsoft.com/office/drawing/2014/main" val="1490174247"/>
                    </a:ext>
                  </a:extLst>
                </a:gridCol>
                <a:gridCol w="457200">
                  <a:extLst>
                    <a:ext uri="{9D8B030D-6E8A-4147-A177-3AD203B41FA5}">
                      <a16:colId xmlns:a16="http://schemas.microsoft.com/office/drawing/2014/main" val="3566870774"/>
                    </a:ext>
                  </a:extLst>
                </a:gridCol>
                <a:gridCol w="762000">
                  <a:extLst>
                    <a:ext uri="{9D8B030D-6E8A-4147-A177-3AD203B41FA5}">
                      <a16:colId xmlns:a16="http://schemas.microsoft.com/office/drawing/2014/main" val="3134608598"/>
                    </a:ext>
                  </a:extLst>
                </a:gridCol>
                <a:gridCol w="762000">
                  <a:extLst>
                    <a:ext uri="{9D8B030D-6E8A-4147-A177-3AD203B41FA5}">
                      <a16:colId xmlns:a16="http://schemas.microsoft.com/office/drawing/2014/main" val="1407986645"/>
                    </a:ext>
                  </a:extLst>
                </a:gridCol>
                <a:gridCol w="1552617">
                  <a:extLst>
                    <a:ext uri="{9D8B030D-6E8A-4147-A177-3AD203B41FA5}">
                      <a16:colId xmlns:a16="http://schemas.microsoft.com/office/drawing/2014/main" val="2827963411"/>
                    </a:ext>
                  </a:extLst>
                </a:gridCol>
                <a:gridCol w="2104983">
                  <a:extLst>
                    <a:ext uri="{9D8B030D-6E8A-4147-A177-3AD203B41FA5}">
                      <a16:colId xmlns:a16="http://schemas.microsoft.com/office/drawing/2014/main" val="246680535"/>
                    </a:ext>
                  </a:extLst>
                </a:gridCol>
                <a:gridCol w="304800">
                  <a:extLst>
                    <a:ext uri="{9D8B030D-6E8A-4147-A177-3AD203B41FA5}">
                      <a16:colId xmlns:a16="http://schemas.microsoft.com/office/drawing/2014/main" val="1804046833"/>
                    </a:ext>
                  </a:extLst>
                </a:gridCol>
                <a:gridCol w="4314283">
                  <a:extLst>
                    <a:ext uri="{9D8B030D-6E8A-4147-A177-3AD203B41FA5}">
                      <a16:colId xmlns:a16="http://schemas.microsoft.com/office/drawing/2014/main" val="2477666348"/>
                    </a:ext>
                  </a:extLst>
                </a:gridCol>
              </a:tblGrid>
              <a:tr h="414976">
                <a:tc>
                  <a:txBody>
                    <a:bodyPr/>
                    <a:lstStyle/>
                    <a:p>
                      <a:pPr algn="ctr" fontAlgn="ctr"/>
                      <a:r>
                        <a:rPr lang="en-US" sz="1100" b="0" i="0" u="none" strike="noStrike" dirty="0">
                          <a:solidFill>
                            <a:srgbClr val="000000"/>
                          </a:solidFill>
                          <a:effectLst/>
                          <a:latin typeface="Calibri" panose="020F0502020204030204" pitchFamily="34" charset="0"/>
                        </a:rPr>
                        <a:t>A/C</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Calibri" panose="020F0502020204030204" pitchFamily="34" charset="0"/>
                        </a:rPr>
                        <a:t>STA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FLIGHT NO</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ROUTE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DATE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EVENT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REASON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ACTION TAKEN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ATA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Engineering Assessment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14998444"/>
                  </a:ext>
                </a:extLst>
              </a:tr>
              <a:tr h="2264941">
                <a:tc>
                  <a:txBody>
                    <a:bodyPr/>
                    <a:lstStyle/>
                    <a:p>
                      <a:pPr algn="l" fontAlgn="t"/>
                      <a:r>
                        <a:rPr lang="en-US" sz="1100" b="0" i="0" u="none" strike="noStrike">
                          <a:solidFill>
                            <a:srgbClr val="000000"/>
                          </a:solidFill>
                          <a:effectLst/>
                          <a:latin typeface="Calibri" panose="020F0502020204030204" pitchFamily="34" charset="0"/>
                        </a:rPr>
                        <a:t>A398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VN1394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15:00 06/04/2025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OGTB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A398 GTB DUE TO GPS LOST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&lt;p&gt;- 07:50 A/C GTB DUE TO GPS LOST (NO VHF FROM CAPT), BÁO TSV&lt;br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- 08:30 FINAL ACTION: C/O RESET &amp;amp; TEST SATIS. C/O RAISED ADD FOR ADS-B. A/C SERVICEABLE&lt;br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- 08:46 DOOR CLOSED (WAITTING FOR NEW PLAN)&lt;/p&gt; GPS LOST EVENT CLOSED &lt;p&gt;&lt;/p&gt; &lt;p&gt;TOTAL DELAY 77 MINS. TECH DELAY 40 MINS&lt;/p&gt;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34-50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Non-Tech</a:t>
                      </a:r>
                      <a:endParaRPr lang="vi-VN" sz="1100" b="0" i="0" u="none" strike="noStrike">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4762513"/>
                  </a:ext>
                </a:extLst>
              </a:tr>
              <a:tr h="1823625">
                <a:tc>
                  <a:txBody>
                    <a:bodyPr/>
                    <a:lstStyle/>
                    <a:p>
                      <a:pPr algn="l" fontAlgn="t"/>
                      <a:r>
                        <a:rPr lang="en-US" sz="1100" b="0" i="0" u="none" strike="noStrike">
                          <a:solidFill>
                            <a:srgbClr val="000000"/>
                          </a:solidFill>
                          <a:effectLst/>
                          <a:latin typeface="Calibri" panose="020F0502020204030204" pitchFamily="34" charset="0"/>
                        </a:rPr>
                        <a:t>A879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NRT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VN307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NRT-SGN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07:30 03/04/2025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OGTB</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A879 (GTB) NO GO MSG: ELEC P200 PANEL, A/C RETURN TO GATE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&lt;div&gt;&lt;strong&gt;MSG: ELEC P200 PANEL&lt;/strong&gt;&lt;/div&gt;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&lt;p&gt;&amp;#160;&lt;/p&gt;&lt;div&gt;&lt;strong&gt;MSG: ELEC P200 PANEL&lt;/strong&gt;&lt;/div&gt;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21-40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MSG intermittent, đã thực hiện reset được sau khi RTG. Tuy nhiên sau đó đã cho thay contactor (CK2143501 EXH FAN- FWD CARGO HT) để đánh chặn hỏng hóc. Hiện không có issue worldwide về contactor này. Thống kê tháo lắp trong các năm gần đây (2022: 1, 2023:0, 2024: 2, 2025: 1). Ngoài ra từ khi khai thác, có khoảng 100 sự vụ có liên quan đến FDE: ELEC P200, tuy nhiên đa số đều reset được, kiểm tra dây không có finding. Nhiều trường hợp FDE: ELEC P200 gắn với FDE và MMSG khác nên có nhiều nguyên nhân hỏng hóc khác nhau. Những trường hợp phải thay contactor ít. TIếp tục theo dõi.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3914887"/>
                  </a:ext>
                </a:extLst>
              </a:tr>
            </a:tbl>
          </a:graphicData>
        </a:graphic>
      </p:graphicFrame>
    </p:spTree>
    <p:custDataLst>
      <p:tags r:id="rId1"/>
    </p:custDataLst>
    <p:extLst>
      <p:ext uri="{BB962C8B-B14F-4D97-AF65-F5344CB8AC3E}">
        <p14:creationId xmlns:p14="http://schemas.microsoft.com/office/powerpoint/2010/main" val="3983642111"/>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3 (01 Non-Tech)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p:cNvGraphicFramePr>
            <a:graphicFrameLocks noGrp="1"/>
          </p:cNvGraphicFramePr>
          <p:nvPr/>
        </p:nvGraphicFramePr>
        <p:xfrm>
          <a:off x="233084" y="1287658"/>
          <a:ext cx="11548799" cy="4031312"/>
        </p:xfrm>
        <a:graphic>
          <a:graphicData uri="http://schemas.openxmlformats.org/drawingml/2006/table">
            <a:tbl>
              <a:tblPr/>
              <a:tblGrid>
                <a:gridCol w="376516">
                  <a:extLst>
                    <a:ext uri="{9D8B030D-6E8A-4147-A177-3AD203B41FA5}">
                      <a16:colId xmlns:a16="http://schemas.microsoft.com/office/drawing/2014/main" val="4038289466"/>
                    </a:ext>
                  </a:extLst>
                </a:gridCol>
                <a:gridCol w="381000">
                  <a:extLst>
                    <a:ext uri="{9D8B030D-6E8A-4147-A177-3AD203B41FA5}">
                      <a16:colId xmlns:a16="http://schemas.microsoft.com/office/drawing/2014/main" val="3957843482"/>
                    </a:ext>
                  </a:extLst>
                </a:gridCol>
                <a:gridCol w="457200">
                  <a:extLst>
                    <a:ext uri="{9D8B030D-6E8A-4147-A177-3AD203B41FA5}">
                      <a16:colId xmlns:a16="http://schemas.microsoft.com/office/drawing/2014/main" val="1490174247"/>
                    </a:ext>
                  </a:extLst>
                </a:gridCol>
                <a:gridCol w="533400">
                  <a:extLst>
                    <a:ext uri="{9D8B030D-6E8A-4147-A177-3AD203B41FA5}">
                      <a16:colId xmlns:a16="http://schemas.microsoft.com/office/drawing/2014/main" val="3566870774"/>
                    </a:ext>
                  </a:extLst>
                </a:gridCol>
                <a:gridCol w="762000">
                  <a:extLst>
                    <a:ext uri="{9D8B030D-6E8A-4147-A177-3AD203B41FA5}">
                      <a16:colId xmlns:a16="http://schemas.microsoft.com/office/drawing/2014/main" val="3134608598"/>
                    </a:ext>
                  </a:extLst>
                </a:gridCol>
                <a:gridCol w="609600">
                  <a:extLst>
                    <a:ext uri="{9D8B030D-6E8A-4147-A177-3AD203B41FA5}">
                      <a16:colId xmlns:a16="http://schemas.microsoft.com/office/drawing/2014/main" val="1407986645"/>
                    </a:ext>
                  </a:extLst>
                </a:gridCol>
                <a:gridCol w="1705017">
                  <a:extLst>
                    <a:ext uri="{9D8B030D-6E8A-4147-A177-3AD203B41FA5}">
                      <a16:colId xmlns:a16="http://schemas.microsoft.com/office/drawing/2014/main" val="2827963411"/>
                    </a:ext>
                  </a:extLst>
                </a:gridCol>
                <a:gridCol w="2790783">
                  <a:extLst>
                    <a:ext uri="{9D8B030D-6E8A-4147-A177-3AD203B41FA5}">
                      <a16:colId xmlns:a16="http://schemas.microsoft.com/office/drawing/2014/main" val="246680535"/>
                    </a:ext>
                  </a:extLst>
                </a:gridCol>
                <a:gridCol w="685800">
                  <a:extLst>
                    <a:ext uri="{9D8B030D-6E8A-4147-A177-3AD203B41FA5}">
                      <a16:colId xmlns:a16="http://schemas.microsoft.com/office/drawing/2014/main" val="1804046833"/>
                    </a:ext>
                  </a:extLst>
                </a:gridCol>
                <a:gridCol w="3247483">
                  <a:extLst>
                    <a:ext uri="{9D8B030D-6E8A-4147-A177-3AD203B41FA5}">
                      <a16:colId xmlns:a16="http://schemas.microsoft.com/office/drawing/2014/main" val="2477666348"/>
                    </a:ext>
                  </a:extLst>
                </a:gridCol>
              </a:tblGrid>
              <a:tr h="95416">
                <a:tc>
                  <a:txBody>
                    <a:bodyPr/>
                    <a:lstStyle/>
                    <a:p>
                      <a:pPr algn="ctr" fontAlgn="ctr"/>
                      <a:r>
                        <a:rPr lang="en-US" sz="1100" b="0" i="0" u="none" strike="noStrike" dirty="0">
                          <a:solidFill>
                            <a:srgbClr val="000000"/>
                          </a:solidFill>
                          <a:effectLst/>
                          <a:latin typeface="Calibri" panose="020F0502020204030204" pitchFamily="34" charset="0"/>
                        </a:rPr>
                        <a:t>A/C</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Calibri" panose="020F0502020204030204" pitchFamily="34" charset="0"/>
                        </a:rPr>
                        <a:t>STA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FLIGHT NO</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ROUTE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DATE</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EVENT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REASON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ACTION TAKEN</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ATA</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Calibri" panose="020F0502020204030204" pitchFamily="34" charset="0"/>
                        </a:rPr>
                        <a:t>Engineering Assessment</a:t>
                      </a: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14998444"/>
                  </a:ext>
                </a:extLst>
              </a:tr>
              <a:tr h="1490870">
                <a:tc>
                  <a:txBody>
                    <a:bodyPr/>
                    <a:lstStyle/>
                    <a:p>
                      <a:pPr algn="l" fontAlgn="ctr"/>
                      <a:r>
                        <a:rPr lang="en-US" sz="1100" b="0" i="0" u="none" strike="noStrike">
                          <a:solidFill>
                            <a:srgbClr val="000000"/>
                          </a:solidFill>
                          <a:effectLst/>
                          <a:latin typeface="Calibri" panose="020F0502020204030204" pitchFamily="34" charset="0"/>
                        </a:rPr>
                        <a:t>A891</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HAN</a:t>
                      </a:r>
                    </a:p>
                    <a:p>
                      <a:pPr algn="l" fontAlgn="ct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VN207</a:t>
                      </a:r>
                    </a:p>
                    <a:p>
                      <a:pPr algn="l" fontAlgn="ct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HAN-SGN</a:t>
                      </a:r>
                    </a:p>
                    <a:p>
                      <a:pPr algn="l" fontAlgn="ct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07:50 03/04/2025</a:t>
                      </a:r>
                    </a:p>
                    <a:p>
                      <a:pPr algn="l" fontAlgn="ct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GTB</a:t>
                      </a: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A891 [GTB] DUE TO FMS SYS INTERMITTENT FAULT &lt;p&gt;Tàu sau khi đẩy ra từ cầu 24, nổ máy tổ bay báo sai lệch CG ( PRIM : 31, FQMS( Flight plan) :44), tàu quay lại bãi 35&lt;/p&gt;</a:t>
                      </a:r>
                    </a:p>
                    <a:p>
                      <a:pPr algn="l" fontAlgn="ct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"&lt;p&gt;CRS đón tàu, tiếp cận kiểm tra hệ thống tàu bay-&amp;gt;không có cảnh báo bất thường.&lt;/p&gt;&lt;p&gt;RESET FMC A&amp;#43;B&amp;#43;C AND BITE IAW MP 22-7X-XX-00001-343A/A REV100 SATIS&lt;br /&gt;Thực hiện nhập lại Flight plan, nạp thêm 1 tấn dầu.&lt;br /&gt;Tàu đóng cửa, nổ máy hai động cơ tại bãi 35-&amp;gt; kiểm tra CG bình thường.&lt;br /&gt;&amp;#160;&lt;/p&gt; A891 [GTB] DUE TO FMS SYS INTERMITTENT FAULT EVENT CLOSED &lt;p&gt;&lt;/p&gt; &lt;div&gt;&lt;strong&gt;FMS SYS INTERMITTENT FAULT&lt;/strong&gt;&lt;/div&gt;&lt;p&gt;&amp;#160;&lt;/p&gt;&lt;p&gt;07:50 ASOC gọi điện báo VN207 GTB&lt;br /&gt;08:03 tàu vào bãi 35, CRS tiếp cận tàu kiểm tra&lt;br /&gt;08:10 CRS lên Cockpit kiểm tra hệ thống máy bay-&amp;gt;không có cảnh báo bất thường.&lt;br /&gt;Thực hiện rReset FMCA-B-C và nhập lại Flight plan.&lt;br /&gt;Tàu nạp thêm 1 tấn dầu.&lt;br /&gt;08:33 tàu đóng cửa, nổ máy hai động cơ-&amp;gt;kiểm tra CG satis&lt;br /&gt;VN207 dealy 57&amp;#96; (Tech delay 20&amp;#96;)&lt;/p&gt;"</a:t>
                      </a:r>
                    </a:p>
                    <a:p>
                      <a:pPr algn="l" fontAlgn="ct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22-00</a:t>
                      </a:r>
                    </a:p>
                    <a:p>
                      <a:pPr algn="l" fontAlgn="ctr"/>
                      <a:endParaRPr lang="en-US"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100" b="0" i="0" u="none" strike="noStrike">
                          <a:solidFill>
                            <a:srgbClr val="000000"/>
                          </a:solidFill>
                          <a:effectLst/>
                          <a:latin typeface="Calibri" panose="020F0502020204030204" pitchFamily="34" charset="0"/>
                        </a:rPr>
                        <a:t>Hỏng hóc này chưa từng xảy ra, và tàu bay không có hỏng hóc nào liên quan. Tàu bay được kiểm tra thì không có phát hiện bất thường. Vẫn đang làm việc với Airbus thông qua TR 81570868  để điều tra nguyên nhân"</a:t>
                      </a:r>
                    </a:p>
                    <a:p>
                      <a:pPr algn="l" fontAlgn="ctr"/>
                      <a:endParaRPr lang="vi-VN" sz="1100" b="0" i="0" u="none" strike="noStrike" dirty="0">
                        <a:solidFill>
                          <a:srgbClr val="000000"/>
                        </a:solidFill>
                        <a:effectLst/>
                        <a:latin typeface="Calibri" panose="020F0502020204030204" pitchFamily="34" charset="0"/>
                      </a:endParaRPr>
                    </a:p>
                  </a:txBody>
                  <a:tcPr marL="3976" marR="3976" marT="39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08642"/>
                  </a:ext>
                </a:extLst>
              </a:tr>
            </a:tbl>
          </a:graphicData>
        </a:graphic>
      </p:graphicFrame>
    </p:spTree>
    <p:custDataLst>
      <p:tags r:id="rId1"/>
    </p:custDataLst>
    <p:extLst>
      <p:ext uri="{BB962C8B-B14F-4D97-AF65-F5344CB8AC3E}">
        <p14:creationId xmlns:p14="http://schemas.microsoft.com/office/powerpoint/2010/main" val="2593178440"/>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2619854855"/>
              </p:ext>
            </p:extLst>
          </p:nvPr>
        </p:nvGraphicFramePr>
        <p:xfrm>
          <a:off x="301591" y="1079799"/>
          <a:ext cx="11463226" cy="868299"/>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0">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ctr"/>
                      <a:r>
                        <a:rPr lang="en-US" sz="1100" b="0" i="0" u="none" strike="noStrike" dirty="0">
                          <a:solidFill>
                            <a:srgbClr val="000000"/>
                          </a:solidFill>
                          <a:effectLst/>
                          <a:latin typeface="Times New Roman" panose="02020603050405020304" pitchFamily="18" charset="0"/>
                        </a:rPr>
                        <a:t>Nil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400672" y="220751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8" name="Table 7"/>
          <p:cNvGraphicFramePr>
            <a:graphicFrameLocks noGrp="1"/>
          </p:cNvGraphicFramePr>
          <p:nvPr>
            <p:extLst>
              <p:ext uri="{D42A27DB-BD31-4B8C-83A1-F6EECF244321}">
                <p14:modId xmlns:p14="http://schemas.microsoft.com/office/powerpoint/2010/main" val="4067659661"/>
              </p:ext>
            </p:extLst>
          </p:nvPr>
        </p:nvGraphicFramePr>
        <p:xfrm>
          <a:off x="301591" y="2525748"/>
          <a:ext cx="11463226" cy="4210120"/>
        </p:xfrm>
        <a:graphic>
          <a:graphicData uri="http://schemas.openxmlformats.org/drawingml/2006/table">
            <a:tbl>
              <a:tblPr/>
              <a:tblGrid>
                <a:gridCol w="580907">
                  <a:extLst>
                    <a:ext uri="{9D8B030D-6E8A-4147-A177-3AD203B41FA5}">
                      <a16:colId xmlns:a16="http://schemas.microsoft.com/office/drawing/2014/main" val="3674468684"/>
                    </a:ext>
                  </a:extLst>
                </a:gridCol>
                <a:gridCol w="348544">
                  <a:extLst>
                    <a:ext uri="{9D8B030D-6E8A-4147-A177-3AD203B41FA5}">
                      <a16:colId xmlns:a16="http://schemas.microsoft.com/office/drawing/2014/main" val="2661305286"/>
                    </a:ext>
                  </a:extLst>
                </a:gridCol>
                <a:gridCol w="1097269">
                  <a:extLst>
                    <a:ext uri="{9D8B030D-6E8A-4147-A177-3AD203B41FA5}">
                      <a16:colId xmlns:a16="http://schemas.microsoft.com/office/drawing/2014/main" val="2048303182"/>
                    </a:ext>
                  </a:extLst>
                </a:gridCol>
                <a:gridCol w="593816">
                  <a:extLst>
                    <a:ext uri="{9D8B030D-6E8A-4147-A177-3AD203B41FA5}">
                      <a16:colId xmlns:a16="http://schemas.microsoft.com/office/drawing/2014/main" val="2906750635"/>
                    </a:ext>
                  </a:extLst>
                </a:gridCol>
                <a:gridCol w="645452">
                  <a:extLst>
                    <a:ext uri="{9D8B030D-6E8A-4147-A177-3AD203B41FA5}">
                      <a16:colId xmlns:a16="http://schemas.microsoft.com/office/drawing/2014/main" val="756422633"/>
                    </a:ext>
                  </a:extLst>
                </a:gridCol>
                <a:gridCol w="619634">
                  <a:extLst>
                    <a:ext uri="{9D8B030D-6E8A-4147-A177-3AD203B41FA5}">
                      <a16:colId xmlns:a16="http://schemas.microsoft.com/office/drawing/2014/main" val="1916856600"/>
                    </a:ext>
                  </a:extLst>
                </a:gridCol>
                <a:gridCol w="567997">
                  <a:extLst>
                    <a:ext uri="{9D8B030D-6E8A-4147-A177-3AD203B41FA5}">
                      <a16:colId xmlns:a16="http://schemas.microsoft.com/office/drawing/2014/main" val="1098231851"/>
                    </a:ext>
                  </a:extLst>
                </a:gridCol>
                <a:gridCol w="2723807">
                  <a:extLst>
                    <a:ext uri="{9D8B030D-6E8A-4147-A177-3AD203B41FA5}">
                      <a16:colId xmlns:a16="http://schemas.microsoft.com/office/drawing/2014/main" val="244507178"/>
                    </a:ext>
                  </a:extLst>
                </a:gridCol>
                <a:gridCol w="4285800">
                  <a:extLst>
                    <a:ext uri="{9D8B030D-6E8A-4147-A177-3AD203B41FA5}">
                      <a16:colId xmlns:a16="http://schemas.microsoft.com/office/drawing/2014/main" val="278955444"/>
                    </a:ext>
                  </a:extLst>
                </a:gridCol>
              </a:tblGrid>
              <a:tr h="324938">
                <a:tc>
                  <a:txBody>
                    <a:bodyPr/>
                    <a:lstStyle/>
                    <a:p>
                      <a:pPr algn="l" fontAlgn="ctr"/>
                      <a:r>
                        <a:rPr lang="en-US" sz="1050" b="0"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A/C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STA</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05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7064" marR="7064" marT="70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52737485"/>
                  </a:ext>
                </a:extLst>
              </a:tr>
              <a:tr h="430895">
                <a:tc>
                  <a:txBody>
                    <a:bodyPr/>
                    <a:lstStyle/>
                    <a:p>
                      <a:pPr algn="l" fontAlgn="t"/>
                      <a:r>
                        <a:rPr lang="en-US" sz="1100" b="0" i="0" u="none" strike="noStrike">
                          <a:solidFill>
                            <a:srgbClr val="000000"/>
                          </a:solidFill>
                          <a:effectLst/>
                          <a:latin typeface="Calibri" panose="020F0502020204030204" pitchFamily="34" charset="0"/>
                        </a:rPr>
                        <a:t>A321</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A610</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23:19 06/04/2025</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29</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VN342</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SGN-NGO</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SG" sz="1100" b="0" i="0" u="none" strike="noStrike">
                          <a:solidFill>
                            <a:srgbClr val="000000"/>
                          </a:solidFill>
                          <a:effectLst/>
                          <a:latin typeface="Calibri" panose="020F0502020204030204" pitchFamily="34" charset="0"/>
                        </a:rPr>
                        <a:t>MW#3 INNER SHOULDER CORD EXPOSED, GROOVE DEPTH 0.7 MM &lt;p&gt;TRANSIT CHECK FOUND MW#3 INNER SHOULDER CORD EXPOSED, REMAINING SHOULDER GROOVE DEPTH IS 0.7 MM&lt;/p&gt;</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SG" sz="1100" b="0" i="0" u="none" strike="noStrike">
                          <a:solidFill>
                            <a:srgbClr val="000000"/>
                          </a:solidFill>
                          <a:effectLst/>
                          <a:latin typeface="Calibri" panose="020F0502020204030204" pitchFamily="34" charset="0"/>
                        </a:rPr>
                        <a:t> EVENT CLOSED &lt;p&gt;FINAL ACTION: REPLACED NEW MW#3 SATIS&lt;/p&gt; &lt;p&gt;TOTAL DELAY 29 MINS, TECH DELAY 0 MIN, A/C LATE ARRIVAL: 3 MINS&lt;/p&gt;</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8222249"/>
                  </a:ext>
                </a:extLst>
              </a:tr>
              <a:tr h="430895">
                <a:tc>
                  <a:txBody>
                    <a:bodyPr/>
                    <a:lstStyle/>
                    <a:p>
                      <a:pPr algn="l" fontAlgn="t"/>
                      <a:r>
                        <a:rPr lang="en-US" sz="1100" b="0" i="0" u="none" strike="noStrike">
                          <a:solidFill>
                            <a:srgbClr val="000000"/>
                          </a:solidFill>
                          <a:effectLst/>
                          <a:latin typeface="Calibri" panose="020F0502020204030204" pitchFamily="34" charset="0"/>
                        </a:rPr>
                        <a:t>A350</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A896</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19:58 03/04/2025</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45</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VN98</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SGN-SFO</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SG" sz="1100" b="0" i="0" u="none" strike="noStrike">
                          <a:solidFill>
                            <a:srgbClr val="000000"/>
                          </a:solidFill>
                          <a:effectLst/>
                          <a:latin typeface="Calibri" panose="020F0502020204030204" pitchFamily="34" charset="0"/>
                        </a:rPr>
                        <a:t>LH NW SHOULDER GROOVE DEPTH WORN LESS THAN 1 MM </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SG" sz="1100" b="0" i="0" u="none" strike="noStrike">
                          <a:solidFill>
                            <a:srgbClr val="000000"/>
                          </a:solidFill>
                          <a:effectLst/>
                          <a:latin typeface="Calibri" panose="020F0502020204030204" pitchFamily="34" charset="0"/>
                        </a:rPr>
                        <a:t>&lt;p&gt;REPLACED NEW LH NW. SATIS&lt;/p&gt; LH NW SHOULDER GROOVE DEPTH WORN LESS THAN 1 MM EVENT CLOSED &lt;p&gt;&lt;/p&gt; &lt;p&gt;TOTAL DELAY 45 MINS, TECH DELAY 0 MIN&lt;/p&gt;</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8375436"/>
                  </a:ext>
                </a:extLst>
              </a:tr>
              <a:tr h="430895">
                <a:tc>
                  <a:txBody>
                    <a:bodyPr/>
                    <a:lstStyle/>
                    <a:p>
                      <a:pPr algn="l" fontAlgn="t"/>
                      <a:r>
                        <a:rPr lang="en-US" sz="1100" b="0" i="0" u="none" strike="noStrike">
                          <a:solidFill>
                            <a:srgbClr val="000000"/>
                          </a:solidFill>
                          <a:effectLst/>
                          <a:latin typeface="Calibri" panose="020F0502020204030204" pitchFamily="34" charset="0"/>
                        </a:rPr>
                        <a:t>A321</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A618</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15:00 03/04/2025</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54</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VN1374</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SGN-HUI</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SG" sz="1100" b="0" i="0" u="none" strike="noStrike">
                          <a:solidFill>
                            <a:srgbClr val="000000"/>
                          </a:solidFill>
                          <a:effectLst/>
                          <a:latin typeface="Calibri" panose="020F0502020204030204" pitchFamily="34" charset="0"/>
                        </a:rPr>
                        <a:t>TRANSIT CHECK FOUND MW# 3 INNER SHOULDER CORD EXPOSED &lt;p&gt;TRANSIT CHECK FOUND MW# 3 INNER SHOULDER CORD EXPOSED, REMAINING SHOULDER GROOVE DEPTH IS 1,4 MM&lt;/p&gt;</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SG" sz="1100" b="0" i="0" u="none" strike="noStrike">
                          <a:solidFill>
                            <a:srgbClr val="000000"/>
                          </a:solidFill>
                          <a:effectLst/>
                          <a:latin typeface="Calibri" panose="020F0502020204030204" pitchFamily="34" charset="0"/>
                        </a:rPr>
                        <a:t>&lt;p&gt;REPLACED NEW MW#3 SATIS&lt;/p&gt; TRANSIT CHECK FOUND MW# 3 INNER SHOULDER CORD EXPOSED EVENT CLOSED &lt;p&gt;&lt;/p&gt; &lt;p&gt;TOTAL DELAY 54 MINS, TECH DELAY 0 MIN&lt;/p&gt;</a:t>
                      </a:r>
                      <a:br>
                        <a:rPr lang="en-SG" sz="1100" b="0" i="0" u="none" strike="noStrike">
                          <a:solidFill>
                            <a:srgbClr val="000000"/>
                          </a:solidFill>
                          <a:effectLst/>
                          <a:latin typeface="Calibri" panose="020F0502020204030204" pitchFamily="34" charset="0"/>
                        </a:rPr>
                      </a:b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&lt;p&gt;A/C ARRIVAL LATE 18 MINS&lt;/p&gt;</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6628917"/>
                  </a:ext>
                </a:extLst>
              </a:tr>
              <a:tr h="430895">
                <a:tc>
                  <a:txBody>
                    <a:bodyPr/>
                    <a:lstStyle/>
                    <a:p>
                      <a:pPr algn="l" fontAlgn="t"/>
                      <a:r>
                        <a:rPr lang="en-US" sz="1100" b="0" i="0" u="none" strike="noStrike">
                          <a:solidFill>
                            <a:srgbClr val="000000"/>
                          </a:solidFill>
                          <a:effectLst/>
                          <a:latin typeface="Calibri" panose="020F0502020204030204" pitchFamily="34" charset="0"/>
                        </a:rPr>
                        <a:t>A321</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A621</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22:10 31/03/2025</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DAD</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100" b="0" i="0" u="none" strike="noStrike">
                          <a:solidFill>
                            <a:srgbClr val="000000"/>
                          </a:solidFill>
                          <a:effectLst/>
                          <a:latin typeface="Calibri" panose="020F0502020204030204" pitchFamily="34" charset="0"/>
                        </a:rPr>
                        <a:t>51</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VN430</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DAD-ICN</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SG" sz="1100" b="0" i="0" u="none" strike="noStrike">
                          <a:solidFill>
                            <a:srgbClr val="000000"/>
                          </a:solidFill>
                          <a:effectLst/>
                          <a:latin typeface="Calibri" panose="020F0502020204030204" pitchFamily="34" charset="0"/>
                        </a:rPr>
                        <a:t>MW #1 SHOULDER CORD EXPOSED &lt;p&gt;TRANSIT CHECK FOUND MW #1 SHOULDER CORD EXPOSED, REMAINING SHOULDER GROOVE DEPTH IS 1MM&lt;/p&gt;</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&lt;p&gt;RPLD NEW MAIN WHEELL CHECK ALL SATIS IAW AMM 32-41-11-04(CONF00 REV 01FEB25). &amp;#160;&lt;/p&gt;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&lt;p&gt;&amp;#160;&lt;/p&gt; MW #1 SHOULDER CORD EXPOSED EVENT CLOSED &lt;p&gt;&lt;/p&gt; &lt;div&gt;&lt;strong&gt;MW #1 SHOULDER CORD EXPOSED&lt;/strong&gt;&lt;/div&gt;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 TÀU CHOCK ON 22H09&lt;/p&gt;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 BÁO CẦN THAY LỐP LÚC 22H10&lt;/p&gt;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 XE LỐP RA TÀU KHOẢNG 22H35&lt;/p&gt;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 Trong quá trình remove lốp phát hiện kích lốp bị hỏng và cần thay kích mới. Khi mới kích mới ra cũng không kích lốp được phải thực hiện bằng manual. Nên mất thời gian kích lốp lên chậm&lt;/p&gt;</a:t>
                      </a:r>
                    </a:p>
                  </a:txBody>
                  <a:tcPr marL="6824" marR="6824" marT="68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9857755"/>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p:cNvGraphicFramePr>
            <a:graphicFrameLocks noGrp="1"/>
          </p:cNvGraphicFramePr>
          <p:nvPr/>
        </p:nvGraphicFramePr>
        <p:xfrm>
          <a:off x="116181" y="1447800"/>
          <a:ext cx="11706824" cy="4439582"/>
        </p:xfrm>
        <a:graphic>
          <a:graphicData uri="http://schemas.openxmlformats.org/drawingml/2006/table">
            <a:tbl>
              <a:tblPr/>
              <a:tblGrid>
                <a:gridCol w="322909">
                  <a:extLst>
                    <a:ext uri="{9D8B030D-6E8A-4147-A177-3AD203B41FA5}">
                      <a16:colId xmlns:a16="http://schemas.microsoft.com/office/drawing/2014/main" val="1793832132"/>
                    </a:ext>
                  </a:extLst>
                </a:gridCol>
                <a:gridCol w="838200">
                  <a:extLst>
                    <a:ext uri="{9D8B030D-6E8A-4147-A177-3AD203B41FA5}">
                      <a16:colId xmlns:a16="http://schemas.microsoft.com/office/drawing/2014/main" val="109558353"/>
                    </a:ext>
                  </a:extLst>
                </a:gridCol>
                <a:gridCol w="685800">
                  <a:extLst>
                    <a:ext uri="{9D8B030D-6E8A-4147-A177-3AD203B41FA5}">
                      <a16:colId xmlns:a16="http://schemas.microsoft.com/office/drawing/2014/main" val="2981346840"/>
                    </a:ext>
                  </a:extLst>
                </a:gridCol>
                <a:gridCol w="381000">
                  <a:extLst>
                    <a:ext uri="{9D8B030D-6E8A-4147-A177-3AD203B41FA5}">
                      <a16:colId xmlns:a16="http://schemas.microsoft.com/office/drawing/2014/main" val="1585845206"/>
                    </a:ext>
                  </a:extLst>
                </a:gridCol>
                <a:gridCol w="3886200">
                  <a:extLst>
                    <a:ext uri="{9D8B030D-6E8A-4147-A177-3AD203B41FA5}">
                      <a16:colId xmlns:a16="http://schemas.microsoft.com/office/drawing/2014/main" val="1507092633"/>
                    </a:ext>
                  </a:extLst>
                </a:gridCol>
                <a:gridCol w="3048000">
                  <a:extLst>
                    <a:ext uri="{9D8B030D-6E8A-4147-A177-3AD203B41FA5}">
                      <a16:colId xmlns:a16="http://schemas.microsoft.com/office/drawing/2014/main" val="2589245263"/>
                    </a:ext>
                  </a:extLst>
                </a:gridCol>
                <a:gridCol w="381000">
                  <a:extLst>
                    <a:ext uri="{9D8B030D-6E8A-4147-A177-3AD203B41FA5}">
                      <a16:colId xmlns:a16="http://schemas.microsoft.com/office/drawing/2014/main" val="908218"/>
                    </a:ext>
                  </a:extLst>
                </a:gridCol>
                <a:gridCol w="2163715">
                  <a:extLst>
                    <a:ext uri="{9D8B030D-6E8A-4147-A177-3AD203B41FA5}">
                      <a16:colId xmlns:a16="http://schemas.microsoft.com/office/drawing/2014/main" val="649488762"/>
                    </a:ext>
                  </a:extLst>
                </a:gridCol>
              </a:tblGrid>
              <a:tr h="388827">
                <a:tc>
                  <a:txBody>
                    <a:bodyPr/>
                    <a:lstStyle/>
                    <a:p>
                      <a:pPr algn="ctr" fontAlgn="ctr"/>
                      <a:r>
                        <a:rPr lang="en-US" sz="1000" b="0" i="0" u="none" strike="noStrike">
                          <a:solidFill>
                            <a:srgbClr val="000000"/>
                          </a:solidFill>
                          <a:effectLst/>
                          <a:latin typeface="Calibri" panose="020F0502020204030204" pitchFamily="34" charset="0"/>
                        </a:rPr>
                        <a:t>A/C</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OPEN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CLOSED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STA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DEFECT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ACTION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22022239"/>
                  </a:ext>
                </a:extLst>
              </a:tr>
              <a:tr h="1360895">
                <a:tc>
                  <a:txBody>
                    <a:bodyPr/>
                    <a:lstStyle/>
                    <a:p>
                      <a:pPr algn="l" fontAlgn="t"/>
                      <a:r>
                        <a:rPr lang="en-US" sz="1100" b="0" i="0" u="none" strike="noStrike">
                          <a:solidFill>
                            <a:srgbClr val="000000"/>
                          </a:solidFill>
                          <a:effectLst/>
                          <a:latin typeface="Calibri" panose="020F0502020204030204" pitchFamily="34" charset="0"/>
                        </a:rPr>
                        <a:t>A399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14:02 06/04/2025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14:44 06/04/2025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FOUND SIGN OF HYD LEAK AT R/H MLG NORMAL BRK MANIFOL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&lt;p&gt;C/O replaced packing and seal ring between safety vlv and normal brk mainfold at R/H LDG, ops test and leak check found satis.&lt;/p&gt; REPLACED PACKING AND SEAL RING EVENT CLOSED &lt;p&gt;&lt;/p&gt; &lt;p&gt;Total Delay: 90MIN&lt;br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Tech delay: 73MIN&lt;/p&gt;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32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Nguyên nhân là do hỏng seal giữa safety valve và brake manofold, có thể là do lão hoá. Ban KT hiện đang phối hợp với Vaeco triển khai kiểm tra thuỷ lự theo chương trình mới sẽ tìm và thay thế sớm các seal tại các vị trí có dấu hiệu hỏng sớm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9177545"/>
                  </a:ext>
                </a:extLst>
              </a:tr>
              <a:tr h="1360895">
                <a:tc>
                  <a:txBody>
                    <a:bodyPr/>
                    <a:lstStyle/>
                    <a:p>
                      <a:pPr algn="l" fontAlgn="t"/>
                      <a:r>
                        <a:rPr lang="en-US" sz="1100" b="0" i="0" u="none" strike="noStrike">
                          <a:solidFill>
                            <a:srgbClr val="000000"/>
                          </a:solidFill>
                          <a:effectLst/>
                          <a:latin typeface="Calibri" panose="020F0502020204030204" pitchFamily="34" charset="0"/>
                        </a:rPr>
                        <a:t>A396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15:38 01/04/2025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04:00 02/04/2025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UIH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BRAKE FAN#1 BROKEN &lt;p&gt;Cause damage Tire pres transducer, Rotating mechanism, Tachometer, Wheel adapter, Guard Asy&lt;/p&gt;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&lt;p&gt;REF WO 7260872 C/O REPLACED ROTATING MECHANISIM, TPIS TRANSDUCER, IMPELLER , SUPPORT AND DEBRIS GUARD. AND CHECKED SATIS. A/C SERVICEABLE AT 04H00 (LT)&lt;/p&gt; BRAKE FAN#1 BROKEN EVENT CLOSED &lt;p&gt;&lt;/p&gt;EVENT CLOSED &lt;p&gt;&lt;/p&gt; &lt;p&gt;Cần điều chuyển phụ tùng vật tư từ DAD đến UIH : &amp;#160;&lt;br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Xe thứ nhất xuất phát từ DAD lúc 18:45 chờ theo VT-PT từ DAD và CRS B1 . Đến sân bay UIH &amp;#160;lúc: 00:27&amp;#43;&lt;br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Xe thứ hai xuất phát từ DAD lúc 22:21 chở VT-PT gửi từ HAN và SGN . Đến sân bay UIH lúc : 03:00&amp;#43;&lt;br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VT-PT từ HAN trên VN199 HAN-DAD lúc : 21H13&lt;br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VT-PT từ SGN trên VN140 SGN-DAD lúc: 21:41&lt;/p&gt;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32-00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A396 đã thực hiện kiểm tra rotating mech vào tháng 05/2024 và hạn kiểm tra tiếp theo vào tháng 05/2025. Có nhiều nguyên nhân có thể gây ra damage như nhiệt độ hoạt động cao, fod, rung lắc mạnh. Do đó hiện đang thực hiện chương trình kiểm tra chủ động hàng năm để phát hiện sớm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3809596"/>
                  </a:ext>
                </a:extLst>
              </a:tr>
            </a:tbl>
          </a:graphicData>
        </a:graphic>
      </p:graphicFrame>
    </p:spTree>
    <p:extLst>
      <p:ext uri="{BB962C8B-B14F-4D97-AF65-F5344CB8AC3E}">
        <p14:creationId xmlns:p14="http://schemas.microsoft.com/office/powerpoint/2010/main" val="2562106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p:cNvGraphicFramePr>
            <a:graphicFrameLocks noGrp="1"/>
          </p:cNvGraphicFramePr>
          <p:nvPr/>
        </p:nvGraphicFramePr>
        <p:xfrm>
          <a:off x="116181" y="1447800"/>
          <a:ext cx="11706824" cy="5258007"/>
        </p:xfrm>
        <a:graphic>
          <a:graphicData uri="http://schemas.openxmlformats.org/drawingml/2006/table">
            <a:tbl>
              <a:tblPr/>
              <a:tblGrid>
                <a:gridCol w="322909">
                  <a:extLst>
                    <a:ext uri="{9D8B030D-6E8A-4147-A177-3AD203B41FA5}">
                      <a16:colId xmlns:a16="http://schemas.microsoft.com/office/drawing/2014/main" val="1793832132"/>
                    </a:ext>
                  </a:extLst>
                </a:gridCol>
                <a:gridCol w="838200">
                  <a:extLst>
                    <a:ext uri="{9D8B030D-6E8A-4147-A177-3AD203B41FA5}">
                      <a16:colId xmlns:a16="http://schemas.microsoft.com/office/drawing/2014/main" val="109558353"/>
                    </a:ext>
                  </a:extLst>
                </a:gridCol>
                <a:gridCol w="685800">
                  <a:extLst>
                    <a:ext uri="{9D8B030D-6E8A-4147-A177-3AD203B41FA5}">
                      <a16:colId xmlns:a16="http://schemas.microsoft.com/office/drawing/2014/main" val="2981346840"/>
                    </a:ext>
                  </a:extLst>
                </a:gridCol>
                <a:gridCol w="381000">
                  <a:extLst>
                    <a:ext uri="{9D8B030D-6E8A-4147-A177-3AD203B41FA5}">
                      <a16:colId xmlns:a16="http://schemas.microsoft.com/office/drawing/2014/main" val="1585845206"/>
                    </a:ext>
                  </a:extLst>
                </a:gridCol>
                <a:gridCol w="1161110">
                  <a:extLst>
                    <a:ext uri="{9D8B030D-6E8A-4147-A177-3AD203B41FA5}">
                      <a16:colId xmlns:a16="http://schemas.microsoft.com/office/drawing/2014/main" val="1507092633"/>
                    </a:ext>
                  </a:extLst>
                </a:gridCol>
                <a:gridCol w="6324600">
                  <a:extLst>
                    <a:ext uri="{9D8B030D-6E8A-4147-A177-3AD203B41FA5}">
                      <a16:colId xmlns:a16="http://schemas.microsoft.com/office/drawing/2014/main" val="2589245263"/>
                    </a:ext>
                  </a:extLst>
                </a:gridCol>
                <a:gridCol w="457200">
                  <a:extLst>
                    <a:ext uri="{9D8B030D-6E8A-4147-A177-3AD203B41FA5}">
                      <a16:colId xmlns:a16="http://schemas.microsoft.com/office/drawing/2014/main" val="908218"/>
                    </a:ext>
                  </a:extLst>
                </a:gridCol>
                <a:gridCol w="1536005">
                  <a:extLst>
                    <a:ext uri="{9D8B030D-6E8A-4147-A177-3AD203B41FA5}">
                      <a16:colId xmlns:a16="http://schemas.microsoft.com/office/drawing/2014/main" val="649488762"/>
                    </a:ext>
                  </a:extLst>
                </a:gridCol>
              </a:tblGrid>
              <a:tr h="388827">
                <a:tc>
                  <a:txBody>
                    <a:bodyPr/>
                    <a:lstStyle/>
                    <a:p>
                      <a:pPr algn="ctr" fontAlgn="ctr"/>
                      <a:r>
                        <a:rPr lang="en-US" sz="1000" b="0" i="0" u="none" strike="noStrike">
                          <a:solidFill>
                            <a:srgbClr val="000000"/>
                          </a:solidFill>
                          <a:effectLst/>
                          <a:latin typeface="Calibri" panose="020F0502020204030204" pitchFamily="34" charset="0"/>
                        </a:rPr>
                        <a:t>A/C</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OPEN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CLOSED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STA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DEFECT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ACTION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22022239"/>
                  </a:ext>
                </a:extLst>
              </a:tr>
              <a:tr h="1749722">
                <a:tc>
                  <a:txBody>
                    <a:bodyPr/>
                    <a:lstStyle/>
                    <a:p>
                      <a:pPr algn="l" fontAlgn="t"/>
                      <a:r>
                        <a:rPr lang="en-US" sz="1100" b="0" i="0" u="none" strike="noStrike">
                          <a:solidFill>
                            <a:srgbClr val="000000"/>
                          </a:solidFill>
                          <a:effectLst/>
                          <a:latin typeface="Calibri" panose="020F0502020204030204" pitchFamily="34" charset="0"/>
                        </a:rPr>
                        <a:t>A339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08:30 04/04/2025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FOUND BIRDSTRIKE ON ENG 1 &lt;p&gt;AFTER HPH-SGN VN1171, FOUND BIRDSTRIKE ON ENG 1&lt;/p&gt;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&lt;p&gt;04/04&lt;/p&gt;</a:t>
                      </a:r>
                      <a:br>
                        <a:rPr lang="vi-VN" sz="1100" b="0" i="0" u="none" strike="noStrike">
                          <a:solidFill>
                            <a:srgbClr val="000000"/>
                          </a:solidFill>
                          <a:effectLst/>
                          <a:latin typeface="Calibri" panose="020F0502020204030204" pitchFamily="34" charset="0"/>
                        </a:rPr>
                      </a:b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&lt;p&gt;- 08:10 : TÀU ĐÁP VÀO BÃI ,&lt;br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- 08:15: CRS BÁO CÓ VẾT CHIM ĐẬP VÀO ENG#1 , CÓ DẤU HIỆU VÀO CORE , XIN KÉO TÀU VỀ BSI&lt;br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- 08:25: CRS B1 BÁO CẦN BSI :&lt;br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BSI LPC STG 1.5-2.5, HPC STG3-6&lt;br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- 08:30 : MOC, OCC BÁO ĐỔI TÀU A604 BAY VN651/SGN-SIN/ STD: 09:10 , THAY CHO TÀU A339 (NO DELAY)&lt;br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- 09:00 : TÀU KÉO VỀ TRƯỚC HG1 , CRS B TIẾN HÀNH MỞ PORT SOI &amp;#160;ĐỘNG CƠ&lt;br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- 09:30: MỞ XONG PORT SOI ĐỘNG, &amp;#160;BSI BẮT ĐẦU SOI TẦNG LPC&lt;br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- 10:50: BSI báo : &amp;#160;SAU KHI SOI LPC STAGE 1,5 &amp;amp; 2,5 , PHÁT HIỆN CÓ &amp;#34;DAMAGE (WITHIN REPAIRABLE LIMIT) AT HPC3 TRAILING EDGE&amp;#34;. THEO AMM PHẢI SOI FULL HPC (CÁC TẦNG CÒN LẠI)., HIỆN TẠI TỔ SOI ĐANG THỰC HIỆN SOI HPC STAGE 3 &amp;#160;&lt;br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-11:00: BSI báo : 13H CHIỀU THÌ SOI XONG CÁC TẦNG LPC 1,5; 2,5 VÀ HPC 3,6. NẾU DEFECT VỪA PHÁT HIỆN LÀ DEFECT MỚI THÌ BẮT BUỘC PHẢI SOI FULL HPC. TIẾN ĐỘ SOI HPC CÁC TẦNG CÒN LẠI &amp;#160;ĐẾN &amp;#160;KHOẢNG 22H ĐÊM NAY SẼ HOÀN THÀNH&lt;br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- 11:30: BKT KIỂM TRA VÀ PHẢN HỒI VẾT DAMAGE NÀY HIỆN TẠI CHƯA CÓ TRONG LỊCH SỬ . VÀ BSI PHẢN HỒI : &amp;#160;DEFECT VỪA PHÁT HIỆN LÀ DEFECT MỚI THÌ BẮT BUỘC PHẢI SOI FULL HPC , DỰ KIẾN SOI ĐẾN 22:00 ĐÊM NAY MỚI HOÀN THÀNH&lt;br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- 12:00: MOC, MCC BÁO TÀU ĐỔI LỊCH DỪNG HẾT NGÀY&lt;br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- 12:30: TRONG &amp;#160;KHI SOI PHÁT HIỆN HPC STAGE 6 &amp;#160;CÓ 1 LÁ FAN BỊ GẪY ,NDT THÔNG BÁO ĐỘNG CƠ ENG#1 U/S. BÁO MCC CHỜ PHƯƠNG ÁN.&lt;/p&gt;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&lt;p&gt;05/04&lt;/p&gt;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&lt;p&gt;- 09:30 BÀN GIAO TÀU CHO BASE ĐỂ THAY ENG&lt;/p&gt; TIMELINE (LOCAL TIME)  &lt;p&gt;DUE TO A339 FOUND BIRDSTRIKE ON ENG 1&lt;/p&gt;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&lt;p&gt;A/C TOTAL DELAY:08mins, TECH: 0mins&lt;/p&gt;&lt;p&gt;DUE TO A339 FOUND BIRDSTRIKE ON ENG 1&lt;/p&gt;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&lt;p&gt;- 08:30 : MOC, OCC BÁO ĐỔI TÀU A604 BAY VN651/SGN-SIN/ STD: 09:10 , THAY CHO TÀU A339&amp;#160;&lt;/p&gt;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&lt;p&gt;- 09:18: TÀU ĐÓNG CỬA&amp;#160;&lt;/p&gt;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&lt;p&gt;A/C TOTAL DELAY: 08mins, TECH: 0mins&lt;/p&gt;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Động cơ V16582 có TSN/CSN = 26302.18/18580; TSO/CSO = 9858.90/7081. Động cơ bị chim va gây ra gẫy lá HPC tầng 6. </a:t>
                      </a:r>
                      <a:endParaRPr lang="en-US" sz="1100" b="0" i="0" u="none" strike="noStrike">
                        <a:solidFill>
                          <a:srgbClr val="000000"/>
                        </a:solidFill>
                        <a:effectLst/>
                        <a:latin typeface="Calibri" panose="020F0502020204030204" pitchFamily="34" charset="0"/>
                      </a:endParaRPr>
                    </a:p>
                    <a:p>
                      <a:pPr algn="l" fontAlgn="t"/>
                      <a:r>
                        <a:rPr lang="vi-VN" sz="1100" b="0" i="0" u="none" strike="noStrike">
                          <a:solidFill>
                            <a:srgbClr val="000000"/>
                          </a:solidFill>
                          <a:effectLst/>
                          <a:latin typeface="Calibri" panose="020F0502020204030204" pitchFamily="34" charset="0"/>
                        </a:rPr>
                        <a:t>Non tech.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4848050"/>
                  </a:ext>
                </a:extLst>
              </a:tr>
            </a:tbl>
          </a:graphicData>
        </a:graphic>
      </p:graphicFrame>
    </p:spTree>
    <p:extLst>
      <p:ext uri="{BB962C8B-B14F-4D97-AF65-F5344CB8AC3E}">
        <p14:creationId xmlns:p14="http://schemas.microsoft.com/office/powerpoint/2010/main" val="1557563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07</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986383421"/>
              </p:ext>
            </p:extLst>
          </p:nvPr>
        </p:nvGraphicFramePr>
        <p:xfrm>
          <a:off x="152398" y="1530715"/>
          <a:ext cx="11902274" cy="3594191"/>
        </p:xfrm>
        <a:graphic>
          <a:graphicData uri="http://schemas.openxmlformats.org/drawingml/2006/table">
            <a:tbl>
              <a:tblPr/>
              <a:tblGrid>
                <a:gridCol w="381002">
                  <a:extLst>
                    <a:ext uri="{9D8B030D-6E8A-4147-A177-3AD203B41FA5}">
                      <a16:colId xmlns:a16="http://schemas.microsoft.com/office/drawing/2014/main" val="608974268"/>
                    </a:ext>
                  </a:extLst>
                </a:gridCol>
                <a:gridCol w="685800">
                  <a:extLst>
                    <a:ext uri="{9D8B030D-6E8A-4147-A177-3AD203B41FA5}">
                      <a16:colId xmlns:a16="http://schemas.microsoft.com/office/drawing/2014/main" val="2896819842"/>
                    </a:ext>
                  </a:extLst>
                </a:gridCol>
                <a:gridCol w="304800">
                  <a:extLst>
                    <a:ext uri="{9D8B030D-6E8A-4147-A177-3AD203B41FA5}">
                      <a16:colId xmlns:a16="http://schemas.microsoft.com/office/drawing/2014/main" val="4281250764"/>
                    </a:ext>
                  </a:extLst>
                </a:gridCol>
                <a:gridCol w="457200">
                  <a:extLst>
                    <a:ext uri="{9D8B030D-6E8A-4147-A177-3AD203B41FA5}">
                      <a16:colId xmlns:a16="http://schemas.microsoft.com/office/drawing/2014/main" val="736738989"/>
                    </a:ext>
                  </a:extLst>
                </a:gridCol>
                <a:gridCol w="457200">
                  <a:extLst>
                    <a:ext uri="{9D8B030D-6E8A-4147-A177-3AD203B41FA5}">
                      <a16:colId xmlns:a16="http://schemas.microsoft.com/office/drawing/2014/main" val="2638907757"/>
                    </a:ext>
                  </a:extLst>
                </a:gridCol>
                <a:gridCol w="533400">
                  <a:extLst>
                    <a:ext uri="{9D8B030D-6E8A-4147-A177-3AD203B41FA5}">
                      <a16:colId xmlns:a16="http://schemas.microsoft.com/office/drawing/2014/main" val="177343146"/>
                    </a:ext>
                  </a:extLst>
                </a:gridCol>
                <a:gridCol w="1447800">
                  <a:extLst>
                    <a:ext uri="{9D8B030D-6E8A-4147-A177-3AD203B41FA5}">
                      <a16:colId xmlns:a16="http://schemas.microsoft.com/office/drawing/2014/main" val="879939685"/>
                    </a:ext>
                  </a:extLst>
                </a:gridCol>
                <a:gridCol w="4495800">
                  <a:extLst>
                    <a:ext uri="{9D8B030D-6E8A-4147-A177-3AD203B41FA5}">
                      <a16:colId xmlns:a16="http://schemas.microsoft.com/office/drawing/2014/main" val="2266327883"/>
                    </a:ext>
                  </a:extLst>
                </a:gridCol>
                <a:gridCol w="304800">
                  <a:extLst>
                    <a:ext uri="{9D8B030D-6E8A-4147-A177-3AD203B41FA5}">
                      <a16:colId xmlns:a16="http://schemas.microsoft.com/office/drawing/2014/main" val="1602966887"/>
                    </a:ext>
                  </a:extLst>
                </a:gridCol>
                <a:gridCol w="2834472">
                  <a:extLst>
                    <a:ext uri="{9D8B030D-6E8A-4147-A177-3AD203B41FA5}">
                      <a16:colId xmlns:a16="http://schemas.microsoft.com/office/drawing/2014/main" val="3315154492"/>
                    </a:ext>
                  </a:extLst>
                </a:gridCol>
              </a:tblGrid>
              <a:tr h="802543">
                <a:tc>
                  <a:txBody>
                    <a:bodyPr/>
                    <a:lstStyle/>
                    <a:p>
                      <a:pPr algn="ctr" fontAlgn="ctr"/>
                      <a:r>
                        <a:rPr lang="en-US" sz="1000" b="0" i="0" u="none" strike="noStrike">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09565260"/>
                  </a:ext>
                </a:extLst>
              </a:tr>
              <a:tr h="1395824">
                <a:tc>
                  <a:txBody>
                    <a:bodyPr/>
                    <a:lstStyle/>
                    <a:p>
                      <a:pPr algn="l" fontAlgn="t"/>
                      <a:r>
                        <a:rPr lang="en-US" sz="1100" b="0" i="0" u="none" strike="noStrike">
                          <a:solidFill>
                            <a:srgbClr val="000000"/>
                          </a:solidFill>
                          <a:effectLst/>
                          <a:latin typeface="Calibri" panose="020F0502020204030204" pitchFamily="34" charset="0"/>
                        </a:rPr>
                        <a:t>A399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14:02 06/04/2025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VN246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HAN-DIN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FOUND SIGN OF HYD LEAK AT R/H MLG NORMAL BRK MANIFOL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&lt;p&gt;C/O replaced packing and seal ring between safety vlv and normal brk mainfold at R/H LDG, ops test and leak check found satis.&lt;/p&gt; REPLACED PACKING AND SEAL RING EVENT CLOSED &lt;p&gt;&lt;/p&gt; &lt;p&gt;Total Delay: 90MIN&lt;br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Tech delay: 73MIN&lt;/p&gt;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32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Nguyên nhân là do hỏng seal giữa safety valve và brake manofold, có thể là do lão hoá. Ban KT hiện đang phối hợp với Vaeco triển khai kiểm tra thuỷ lự theo chương trình mới sẽ tìm và thay thế sớm các seal tại các vị trí có dấu hiệu hỏng sớm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2869118"/>
                  </a:ext>
                </a:extLst>
              </a:tr>
              <a:tr h="1395824">
                <a:tc>
                  <a:txBody>
                    <a:bodyPr/>
                    <a:lstStyle/>
                    <a:p>
                      <a:pPr algn="l" fontAlgn="t"/>
                      <a:r>
                        <a:rPr lang="en-US" sz="1100" b="0" i="0" u="none" strike="noStrike">
                          <a:solidFill>
                            <a:srgbClr val="000000"/>
                          </a:solidFill>
                          <a:effectLst/>
                          <a:latin typeface="Calibri" panose="020F0502020204030204" pitchFamily="34" charset="0"/>
                        </a:rPr>
                        <a:t>A397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21:40 05/04/2025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DAD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41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VN199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DAD-HAN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FOUND BRK FAN #2 INOP &lt;p&gt;FOUND BRK TEMP #2 IS 255 DEGREE C ON M/W S/D PAGE&lt;/p&gt;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ADD B1507 IS RAISED FOR BRK FAN #2 INOP EVENT CLOSED &lt;p&gt;&lt;/p&gt; &lt;div&gt;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&lt;p&gt;BRK TEMP #2 IS 255 DEGREE C ON M/W S/D PAGE&lt;/p&gt;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&lt;p&gt;WAITING TEMP OF BRK #2 DOWNGREAD TO 150 DEGREE C&lt;/p&gt;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32-48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Có nhiều nguyên nhân gây hỏng fan như fod hoặc fan bị hỏng sau một thời gian dài khai thác dưới tác động của nhiệt độ cao. Hiện chưa có giải pháp nâng cấp hay khắc phục. Tiếp tục theo dõi thêm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4252712"/>
                  </a:ext>
                </a:extLst>
              </a:tr>
            </a:tbl>
          </a:graphicData>
        </a:graphic>
      </p:graphicFrame>
    </p:spTree>
    <p:extLst>
      <p:ext uri="{BB962C8B-B14F-4D97-AF65-F5344CB8AC3E}">
        <p14:creationId xmlns:p14="http://schemas.microsoft.com/office/powerpoint/2010/main" val="584049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07</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p:cNvGraphicFramePr>
            <a:graphicFrameLocks noGrp="1"/>
          </p:cNvGraphicFramePr>
          <p:nvPr/>
        </p:nvGraphicFramePr>
        <p:xfrm>
          <a:off x="152398" y="1530715"/>
          <a:ext cx="11902274" cy="4712959"/>
        </p:xfrm>
        <a:graphic>
          <a:graphicData uri="http://schemas.openxmlformats.org/drawingml/2006/table">
            <a:tbl>
              <a:tblPr/>
              <a:tblGrid>
                <a:gridCol w="381002">
                  <a:extLst>
                    <a:ext uri="{9D8B030D-6E8A-4147-A177-3AD203B41FA5}">
                      <a16:colId xmlns:a16="http://schemas.microsoft.com/office/drawing/2014/main" val="608974268"/>
                    </a:ext>
                  </a:extLst>
                </a:gridCol>
                <a:gridCol w="685800">
                  <a:extLst>
                    <a:ext uri="{9D8B030D-6E8A-4147-A177-3AD203B41FA5}">
                      <a16:colId xmlns:a16="http://schemas.microsoft.com/office/drawing/2014/main" val="2896819842"/>
                    </a:ext>
                  </a:extLst>
                </a:gridCol>
                <a:gridCol w="304800">
                  <a:extLst>
                    <a:ext uri="{9D8B030D-6E8A-4147-A177-3AD203B41FA5}">
                      <a16:colId xmlns:a16="http://schemas.microsoft.com/office/drawing/2014/main" val="4281250764"/>
                    </a:ext>
                  </a:extLst>
                </a:gridCol>
                <a:gridCol w="457200">
                  <a:extLst>
                    <a:ext uri="{9D8B030D-6E8A-4147-A177-3AD203B41FA5}">
                      <a16:colId xmlns:a16="http://schemas.microsoft.com/office/drawing/2014/main" val="736738989"/>
                    </a:ext>
                  </a:extLst>
                </a:gridCol>
                <a:gridCol w="457200">
                  <a:extLst>
                    <a:ext uri="{9D8B030D-6E8A-4147-A177-3AD203B41FA5}">
                      <a16:colId xmlns:a16="http://schemas.microsoft.com/office/drawing/2014/main" val="2638907757"/>
                    </a:ext>
                  </a:extLst>
                </a:gridCol>
                <a:gridCol w="533400">
                  <a:extLst>
                    <a:ext uri="{9D8B030D-6E8A-4147-A177-3AD203B41FA5}">
                      <a16:colId xmlns:a16="http://schemas.microsoft.com/office/drawing/2014/main" val="177343146"/>
                    </a:ext>
                  </a:extLst>
                </a:gridCol>
                <a:gridCol w="1447800">
                  <a:extLst>
                    <a:ext uri="{9D8B030D-6E8A-4147-A177-3AD203B41FA5}">
                      <a16:colId xmlns:a16="http://schemas.microsoft.com/office/drawing/2014/main" val="879939685"/>
                    </a:ext>
                  </a:extLst>
                </a:gridCol>
                <a:gridCol w="4495800">
                  <a:extLst>
                    <a:ext uri="{9D8B030D-6E8A-4147-A177-3AD203B41FA5}">
                      <a16:colId xmlns:a16="http://schemas.microsoft.com/office/drawing/2014/main" val="2266327883"/>
                    </a:ext>
                  </a:extLst>
                </a:gridCol>
                <a:gridCol w="304800">
                  <a:extLst>
                    <a:ext uri="{9D8B030D-6E8A-4147-A177-3AD203B41FA5}">
                      <a16:colId xmlns:a16="http://schemas.microsoft.com/office/drawing/2014/main" val="1602966887"/>
                    </a:ext>
                  </a:extLst>
                </a:gridCol>
                <a:gridCol w="2834472">
                  <a:extLst>
                    <a:ext uri="{9D8B030D-6E8A-4147-A177-3AD203B41FA5}">
                      <a16:colId xmlns:a16="http://schemas.microsoft.com/office/drawing/2014/main" val="3315154492"/>
                    </a:ext>
                  </a:extLst>
                </a:gridCol>
              </a:tblGrid>
              <a:tr h="802543">
                <a:tc>
                  <a:txBody>
                    <a:bodyPr/>
                    <a:lstStyle/>
                    <a:p>
                      <a:pPr algn="ctr" fontAlgn="ctr"/>
                      <a:r>
                        <a:rPr lang="en-US" sz="1000" b="0" i="0" u="none" strike="noStrike">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09565260"/>
                  </a:ext>
                </a:extLst>
              </a:tr>
              <a:tr h="1891116">
                <a:tc>
                  <a:txBody>
                    <a:bodyPr/>
                    <a:lstStyle/>
                    <a:p>
                      <a:pPr algn="l" fontAlgn="t"/>
                      <a:r>
                        <a:rPr lang="en-US" sz="1100" b="0" i="0" u="none" strike="noStrike">
                          <a:solidFill>
                            <a:srgbClr val="000000"/>
                          </a:solidFill>
                          <a:effectLst/>
                          <a:latin typeface="Calibri" panose="020F0502020204030204" pitchFamily="34" charset="0"/>
                        </a:rPr>
                        <a:t>A393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17:47 04/04/2025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VN1563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HAN-CXR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APPEAR MSG “AIR ENG1 BLEED ABNORM PR’. &lt;p&gt;A393 VN172/VN1563 DAD-HAN-CXR (TRANSIT): DURING BOARDING CAPT REPORT APPEAR MSG “AIR ENG1 BLEED ABNORM PR’.&lt;/p&gt;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EVENT CLOSED &lt;p&gt;C/O RESET -&gt; NIL HELP; C/O RAISED ADD B1503 AND B1504&lt;/p&gt; &lt;div&gt;&lt;strong&gt;MSG “AIR ENG1 BLEED ABNORM PR’.&lt;/strong&gt;&lt;/div&gt;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&lt;p&gt;VN1563 DELAY 35 PHÚT (TRONG ĐÓ TÀU VỀ MUỘN 15 PHÚT; KIỂM TRA KỸ THUẬT 20 PHÚT).&lt;/p&gt;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Hỏng hóc liên quan đến OPV. Theo đánh giá của AIB thì khi nâng cấp lên BMC std 12 sẽ giúp giảm thiểu cảnh báo và kéo dài time on wing của thiết bị. Hiện đang trong quá trình đàm phán với STA để thực hiện chương trình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8293273"/>
                  </a:ext>
                </a:extLst>
              </a:tr>
              <a:tr h="1395824">
                <a:tc>
                  <a:txBody>
                    <a:bodyPr/>
                    <a:lstStyle/>
                    <a:p>
                      <a:pPr algn="l" fontAlgn="t"/>
                      <a:r>
                        <a:rPr lang="en-US" sz="1100" b="0" i="0" u="none" strike="noStrike">
                          <a:solidFill>
                            <a:srgbClr val="000000"/>
                          </a:solidFill>
                          <a:effectLst/>
                          <a:latin typeface="Calibri" panose="020F0502020204030204" pitchFamily="34" charset="0"/>
                        </a:rPr>
                        <a:t>A357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14:20 04/04/2025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PQC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VN1826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PQC-SGN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FWS SDAC#1 FAULT &lt;p&gt;DURING TRANSIT CHECK FOUND &amp;#34;FWS SDAC#1 FAULT&amp;#34;&lt;/p&gt;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&lt;p&gt;&amp;#96;-14:05: TÀU ĐÁP VÀO BÃI&lt;br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- 14:10: CRS BÁO TÀU CÓ MSG &amp;#34;SDAC#1 FAULT&amp;#34;&lt;br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- 14:40: C/O CLEAN CONNECTOR AND RESET , OPS TEST SATIS, BÁO TÀU SERVICEBAL VÀ BOARDING&lt;br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- 15:00: TÀU ĐÓNG CỬA VÀ ĐẨY&lt;br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&amp;#160;FINAL ACTION: C/O CLEAN CONNECTOR AND RESET &amp;#160;SDAC#1 COMPUTER, &amp;#160;CHECK SATIS , A/C SERVICEABLE.&lt;/p&gt; SDAC#1 FAULT EVENT CLOSED &lt;p&gt;FINAL ACTION: C/O CLEAN CONNECTOR AND RESET  SDAC#1 COMPUTER,  CHECK SATIS , A/C SERVICEABLE. &lt;/p&gt; &lt;p&gt;DURING TRANSIT CHECK &amp;#160;FOUND &amp;#34;FWS SDAC#1 FAULT&amp;#34;&lt;/p&gt;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&lt;p&gt;A/C TOTAL DELAY: 20mins, TECH: 20mins.&lt;/p&gt;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31-00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Lỗi có thể do gián đoạn dữ liệu giữa SDAC1 tới FWC, lỗi đã được khắc phục sau khi kiểm tra và làm sạch đầu giắc cắm 2 máy tinh. Theo dõi thêm.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6563513"/>
                  </a:ext>
                </a:extLst>
              </a:tr>
            </a:tbl>
          </a:graphicData>
        </a:graphic>
      </p:graphicFrame>
    </p:spTree>
    <p:extLst>
      <p:ext uri="{BB962C8B-B14F-4D97-AF65-F5344CB8AC3E}">
        <p14:creationId xmlns:p14="http://schemas.microsoft.com/office/powerpoint/2010/main" val="3690022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07</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938026034"/>
              </p:ext>
            </p:extLst>
          </p:nvPr>
        </p:nvGraphicFramePr>
        <p:xfrm>
          <a:off x="152398" y="1530715"/>
          <a:ext cx="11902274" cy="5215879"/>
        </p:xfrm>
        <a:graphic>
          <a:graphicData uri="http://schemas.openxmlformats.org/drawingml/2006/table">
            <a:tbl>
              <a:tblPr/>
              <a:tblGrid>
                <a:gridCol w="381002">
                  <a:extLst>
                    <a:ext uri="{9D8B030D-6E8A-4147-A177-3AD203B41FA5}">
                      <a16:colId xmlns:a16="http://schemas.microsoft.com/office/drawing/2014/main" val="608974268"/>
                    </a:ext>
                  </a:extLst>
                </a:gridCol>
                <a:gridCol w="685800">
                  <a:extLst>
                    <a:ext uri="{9D8B030D-6E8A-4147-A177-3AD203B41FA5}">
                      <a16:colId xmlns:a16="http://schemas.microsoft.com/office/drawing/2014/main" val="2896819842"/>
                    </a:ext>
                  </a:extLst>
                </a:gridCol>
                <a:gridCol w="304800">
                  <a:extLst>
                    <a:ext uri="{9D8B030D-6E8A-4147-A177-3AD203B41FA5}">
                      <a16:colId xmlns:a16="http://schemas.microsoft.com/office/drawing/2014/main" val="4281250764"/>
                    </a:ext>
                  </a:extLst>
                </a:gridCol>
                <a:gridCol w="457200">
                  <a:extLst>
                    <a:ext uri="{9D8B030D-6E8A-4147-A177-3AD203B41FA5}">
                      <a16:colId xmlns:a16="http://schemas.microsoft.com/office/drawing/2014/main" val="736738989"/>
                    </a:ext>
                  </a:extLst>
                </a:gridCol>
                <a:gridCol w="457200">
                  <a:extLst>
                    <a:ext uri="{9D8B030D-6E8A-4147-A177-3AD203B41FA5}">
                      <a16:colId xmlns:a16="http://schemas.microsoft.com/office/drawing/2014/main" val="2638907757"/>
                    </a:ext>
                  </a:extLst>
                </a:gridCol>
                <a:gridCol w="533400">
                  <a:extLst>
                    <a:ext uri="{9D8B030D-6E8A-4147-A177-3AD203B41FA5}">
                      <a16:colId xmlns:a16="http://schemas.microsoft.com/office/drawing/2014/main" val="177343146"/>
                    </a:ext>
                  </a:extLst>
                </a:gridCol>
                <a:gridCol w="1447800">
                  <a:extLst>
                    <a:ext uri="{9D8B030D-6E8A-4147-A177-3AD203B41FA5}">
                      <a16:colId xmlns:a16="http://schemas.microsoft.com/office/drawing/2014/main" val="879939685"/>
                    </a:ext>
                  </a:extLst>
                </a:gridCol>
                <a:gridCol w="5181600">
                  <a:extLst>
                    <a:ext uri="{9D8B030D-6E8A-4147-A177-3AD203B41FA5}">
                      <a16:colId xmlns:a16="http://schemas.microsoft.com/office/drawing/2014/main" val="2266327883"/>
                    </a:ext>
                  </a:extLst>
                </a:gridCol>
                <a:gridCol w="381000">
                  <a:extLst>
                    <a:ext uri="{9D8B030D-6E8A-4147-A177-3AD203B41FA5}">
                      <a16:colId xmlns:a16="http://schemas.microsoft.com/office/drawing/2014/main" val="1602966887"/>
                    </a:ext>
                  </a:extLst>
                </a:gridCol>
                <a:gridCol w="2072472">
                  <a:extLst>
                    <a:ext uri="{9D8B030D-6E8A-4147-A177-3AD203B41FA5}">
                      <a16:colId xmlns:a16="http://schemas.microsoft.com/office/drawing/2014/main" val="3315154492"/>
                    </a:ext>
                  </a:extLst>
                </a:gridCol>
              </a:tblGrid>
              <a:tr h="802543">
                <a:tc>
                  <a:txBody>
                    <a:bodyPr/>
                    <a:lstStyle/>
                    <a:p>
                      <a:pPr algn="ctr" fontAlgn="ctr"/>
                      <a:r>
                        <a:rPr lang="en-US" sz="1000" b="0" i="0" u="none" strike="noStrike">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09565260"/>
                  </a:ext>
                </a:extLst>
              </a:tr>
              <a:tr h="1891116">
                <a:tc>
                  <a:txBody>
                    <a:bodyPr/>
                    <a:lstStyle/>
                    <a:p>
                      <a:pPr algn="l" fontAlgn="t"/>
                      <a:r>
                        <a:rPr lang="en-US" sz="1100" b="0" i="0" u="none" strike="noStrike">
                          <a:solidFill>
                            <a:srgbClr val="000000"/>
                          </a:solidFill>
                          <a:effectLst/>
                          <a:latin typeface="Calibri" panose="020F0502020204030204" pitchFamily="34" charset="0"/>
                        </a:rPr>
                        <a:t>A334</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23:15 31/03/2025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DLI</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16</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VN7383</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DLI-SGN</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T/X FOUND MSG AIR PACK 2 REGUL FAULT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EVENT CLOSED &lt;p&gt;- C/O RESET BUT NIL HELP. ADD B2510 RAISED FOR PACK #2 TURBINE BYPASS VALVE INOP. - TOTAL DELAY 30 MINS. TECH 16 MINS. A/C ARRIVAL LATE 14 MINS.&lt;/p&gt; &lt;div&gt;&lt;strong&gt;MSG AIR PACK 2 REGUL FAULT&lt;/strong&gt;&lt;/div&gt;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Hỏng hóc liên quan đến bypass valve ít khi xảy ra. Nguyên nhân có thể do valve bị kẹt sau một thời gian dài khai thác. Hiện ko có topic  nào liên quan đến thiết bị này. Theo dõi thêm.</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8293273"/>
                  </a:ext>
                </a:extLst>
              </a:tr>
              <a:tr h="1891116">
                <a:tc>
                  <a:txBody>
                    <a:bodyPr/>
                    <a:lstStyle/>
                    <a:p>
                      <a:pPr algn="l" fontAlgn="t"/>
                      <a:r>
                        <a:rPr lang="en-US" sz="1100" b="0" i="0" u="none" strike="noStrike">
                          <a:solidFill>
                            <a:srgbClr val="000000"/>
                          </a:solidFill>
                          <a:effectLst/>
                          <a:latin typeface="Calibri" panose="020F0502020204030204" pitchFamily="34" charset="0"/>
                        </a:rPr>
                        <a:t>A606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09:20 31/03/2025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BMV</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VN1602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BMV-HAN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SMOKE LAV DET FAULT &lt;p&gt;DURING TRANSIT CHECK FOUND: MSG : SMOKE LAV DET FAULT&lt;/p&gt;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&lt;p&gt;&amp;#96;- 09:10:TÀU ĐÁP VÀO BÃI&amp;#160;&lt;br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- 09:15: CRS LÊN TÀU &amp;#160;KT VÀ BÁO TÀU CÓ &amp;#160;MSG : SMOKE LAV DET FAULT,&amp;#160;&lt;br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- 09:30: THỰC HIÊN RESET &amp;gt; BUT NIL HEPL , CRS B TẠI BMV &amp;#160;BÁO SẼ THỰC HIỆN RAISED ADD&lt;br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- 09:50: CRS B TẠI BVM THỰC HIỆN RAISED ADD XONG VÀ BÁO &amp;#160;BOARDING&lt;br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- 10:10: TÀU ĐÓNG &amp;#160;CỬA&lt;/p&gt;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&lt;p&gt;FINAL ACTION: C/O RAISED ADD FOR: &amp;#160;SMOKE LAV DET FAULT,&amp;#160; A/C &amp;#160;SERVICEABLE&lt;/p&gt;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&amp;#160;&lt;/p&gt; SMOKE LAV DET FAULT, EVENT CLOSED &lt;p&gt;FINAL ACTION: C/O RAISED ADD FOR:  SMOKE LAV DET FAULT,  A/C  SERVICEABLE&lt;/p&gt; &lt;p&gt;MSG : SMOKE LAV DET FAULT&lt;/p&gt;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&lt;p&gt;A/C TOTAL DELAY 30mins, TECH: 20mins,&lt;/p&gt;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26-17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Hỏng hóc được khắc phục sau khi thực hiên reset CIDS. </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Theo TFU 23.73.00.112, cảnh báo giả SMOKE LAV DET FAULT có thể do kết nối yếu của DEU-B. Biện pháp khắc phục là reset CIDS hoặc thực hiện nâng cấp DEU-B lên P/N Z043H0100110. Part mới với nhiều cải tiến phần cứng đã khắc phục được một số cảnh báo giả của part cũ. Thực tế sau khi reset CIDS đã clear được lỗi và đưa tàu và khai thác. Theo dõi thêm.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4085075"/>
                  </a:ext>
                </a:extLst>
              </a:tr>
            </a:tbl>
          </a:graphicData>
        </a:graphic>
      </p:graphicFrame>
    </p:spTree>
    <p:extLst>
      <p:ext uri="{BB962C8B-B14F-4D97-AF65-F5344CB8AC3E}">
        <p14:creationId xmlns:p14="http://schemas.microsoft.com/office/powerpoint/2010/main" val="63699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07</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(01 Non-tech)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p:cNvGraphicFramePr>
            <a:graphicFrameLocks noGrp="1"/>
          </p:cNvGraphicFramePr>
          <p:nvPr/>
        </p:nvGraphicFramePr>
        <p:xfrm>
          <a:off x="152398" y="1530715"/>
          <a:ext cx="11902274" cy="4315271"/>
        </p:xfrm>
        <a:graphic>
          <a:graphicData uri="http://schemas.openxmlformats.org/drawingml/2006/table">
            <a:tbl>
              <a:tblPr/>
              <a:tblGrid>
                <a:gridCol w="381002">
                  <a:extLst>
                    <a:ext uri="{9D8B030D-6E8A-4147-A177-3AD203B41FA5}">
                      <a16:colId xmlns:a16="http://schemas.microsoft.com/office/drawing/2014/main" val="608974268"/>
                    </a:ext>
                  </a:extLst>
                </a:gridCol>
                <a:gridCol w="685800">
                  <a:extLst>
                    <a:ext uri="{9D8B030D-6E8A-4147-A177-3AD203B41FA5}">
                      <a16:colId xmlns:a16="http://schemas.microsoft.com/office/drawing/2014/main" val="2896819842"/>
                    </a:ext>
                  </a:extLst>
                </a:gridCol>
                <a:gridCol w="304800">
                  <a:extLst>
                    <a:ext uri="{9D8B030D-6E8A-4147-A177-3AD203B41FA5}">
                      <a16:colId xmlns:a16="http://schemas.microsoft.com/office/drawing/2014/main" val="4281250764"/>
                    </a:ext>
                  </a:extLst>
                </a:gridCol>
                <a:gridCol w="457200">
                  <a:extLst>
                    <a:ext uri="{9D8B030D-6E8A-4147-A177-3AD203B41FA5}">
                      <a16:colId xmlns:a16="http://schemas.microsoft.com/office/drawing/2014/main" val="736738989"/>
                    </a:ext>
                  </a:extLst>
                </a:gridCol>
                <a:gridCol w="457200">
                  <a:extLst>
                    <a:ext uri="{9D8B030D-6E8A-4147-A177-3AD203B41FA5}">
                      <a16:colId xmlns:a16="http://schemas.microsoft.com/office/drawing/2014/main" val="2638907757"/>
                    </a:ext>
                  </a:extLst>
                </a:gridCol>
                <a:gridCol w="533400">
                  <a:extLst>
                    <a:ext uri="{9D8B030D-6E8A-4147-A177-3AD203B41FA5}">
                      <a16:colId xmlns:a16="http://schemas.microsoft.com/office/drawing/2014/main" val="177343146"/>
                    </a:ext>
                  </a:extLst>
                </a:gridCol>
                <a:gridCol w="1447800">
                  <a:extLst>
                    <a:ext uri="{9D8B030D-6E8A-4147-A177-3AD203B41FA5}">
                      <a16:colId xmlns:a16="http://schemas.microsoft.com/office/drawing/2014/main" val="879939685"/>
                    </a:ext>
                  </a:extLst>
                </a:gridCol>
                <a:gridCol w="5181600">
                  <a:extLst>
                    <a:ext uri="{9D8B030D-6E8A-4147-A177-3AD203B41FA5}">
                      <a16:colId xmlns:a16="http://schemas.microsoft.com/office/drawing/2014/main" val="2266327883"/>
                    </a:ext>
                  </a:extLst>
                </a:gridCol>
                <a:gridCol w="381000">
                  <a:extLst>
                    <a:ext uri="{9D8B030D-6E8A-4147-A177-3AD203B41FA5}">
                      <a16:colId xmlns:a16="http://schemas.microsoft.com/office/drawing/2014/main" val="1602966887"/>
                    </a:ext>
                  </a:extLst>
                </a:gridCol>
                <a:gridCol w="2072472">
                  <a:extLst>
                    <a:ext uri="{9D8B030D-6E8A-4147-A177-3AD203B41FA5}">
                      <a16:colId xmlns:a16="http://schemas.microsoft.com/office/drawing/2014/main" val="3315154492"/>
                    </a:ext>
                  </a:extLst>
                </a:gridCol>
              </a:tblGrid>
              <a:tr h="946216">
                <a:tc>
                  <a:txBody>
                    <a:bodyPr/>
                    <a:lstStyle/>
                    <a:p>
                      <a:pPr algn="ctr" fontAlgn="ctr"/>
                      <a:r>
                        <a:rPr lang="en-US" sz="1000" b="0" i="0" u="none" strike="noStrike">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09565260"/>
                  </a:ext>
                </a:extLst>
              </a:tr>
              <a:tr h="3369055">
                <a:tc>
                  <a:txBody>
                    <a:bodyPr/>
                    <a:lstStyle/>
                    <a:p>
                      <a:pPr algn="l" fontAlgn="t"/>
                      <a:r>
                        <a:rPr lang="en-US" sz="1100" b="0" i="0" u="none" strike="noStrike">
                          <a:solidFill>
                            <a:srgbClr val="000000"/>
                          </a:solidFill>
                          <a:effectLst/>
                          <a:latin typeface="Calibri" panose="020F0502020204030204" pitchFamily="34" charset="0"/>
                        </a:rPr>
                        <a:t>A619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08:43 31/03/2025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VN1615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APPEAR MSG “COND TRIM AIR SYS FAULT” &lt;p&gt;AFTER ENGINE RUN UP FINISHED, PREPARE PUSHBACK, CAPT REPORT APPEAR MSG “COND TRIM AIR SYS FAULT”&lt;/p&gt;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EVENT CLOSED &lt;p&gt;REF TSM 21-63-00-810-804  -&gt; RESET AND TEST CABIN CKPT TEMP CONTROL SYS -&gt; SATIS; FOUND MESS VENT AVNCS SYS FAULT -&gt; REF TSM : 21-26-00-810-805 -&gt; C/O RESET AND TEST AEVC IAW AMM : 21-26-00-710-001 -&gt; SATIS. &lt;/p&gt; &lt;div&gt;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&lt;p&gt;MSG “COND TRIM AIR SYS FAULT”&lt;/p&gt;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Sau khi reset hệ thống hoạt đông bình thường, msg không xuất hiện lại. Theo dõi thêm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4502248"/>
                  </a:ext>
                </a:extLst>
              </a:tr>
            </a:tbl>
          </a:graphicData>
        </a:graphic>
      </p:graphicFrame>
    </p:spTree>
    <p:extLst>
      <p:ext uri="{BB962C8B-B14F-4D97-AF65-F5344CB8AC3E}">
        <p14:creationId xmlns:p14="http://schemas.microsoft.com/office/powerpoint/2010/main" val="3701955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8" name="Title 4"/>
          <p:cNvSpPr txBox="1">
            <a:spLocks/>
          </p:cNvSpPr>
          <p:nvPr/>
        </p:nvSpPr>
        <p:spPr>
          <a:xfrm>
            <a:off x="217211" y="228601"/>
            <a:ext cx="11811000" cy="533400"/>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400" b="1" dirty="0">
                <a:ln w="0"/>
                <a:solidFill>
                  <a:schemeClr val="accent4"/>
                </a:solidFill>
                <a:cs typeface="Times New Roman" panose="02020603050405020304" pitchFamily="18" charset="0"/>
              </a:rPr>
              <a:t>TÌNH TRẠNG KỸ THUẬT ĐỘI BAY A321</a:t>
            </a:r>
          </a:p>
          <a:p>
            <a:pPr>
              <a:defRPr/>
            </a:pPr>
            <a:endParaRPr lang="en-US" sz="2400" b="1" dirty="0">
              <a:ln w="0"/>
              <a:solidFill>
                <a:schemeClr val="accent4"/>
              </a:solidFill>
              <a:cs typeface="Times New Roman" panose="02020603050405020304" pitchFamily="18" charset="0"/>
            </a:endParaRPr>
          </a:p>
        </p:txBody>
      </p:sp>
      <p:sp>
        <p:nvSpPr>
          <p:cNvPr id="11" name="Text 2"/>
          <p:cNvSpPr/>
          <p:nvPr/>
        </p:nvSpPr>
        <p:spPr>
          <a:xfrm>
            <a:off x="304800" y="914400"/>
            <a:ext cx="11506200" cy="1828800"/>
          </a:xfrm>
          <a:prstGeom prst="rect">
            <a:avLst/>
          </a:prstGeom>
          <a:noFill/>
          <a:ln/>
        </p:spPr>
        <p:txBody>
          <a:bodyPr wrap="square" lIns="0" tIns="0" rIns="0" bIns="0" rtlCol="0" anchor="t"/>
          <a:lstStyle/>
          <a:p>
            <a:pPr marL="285739" indent="-285739">
              <a:lnSpc>
                <a:spcPts val="2125"/>
              </a:lnSpc>
              <a:buSzPct val="100000"/>
              <a:buFontTx/>
              <a:buChar char="•"/>
            </a:pP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A396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phát</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hiện</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phanh</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vỡ</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ở UIH,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tàu</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AOG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dài</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do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phải</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điểu</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chuyển</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vật</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tư</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nhân</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lực</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vào</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để</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khắc</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phục</a:t>
            </a:r>
            <a:endParaRPr lang="en-US" sz="1600" dirty="0">
              <a:latin typeface="Times New Roman" panose="02020603050405020304" pitchFamily="18" charset="0"/>
              <a:cs typeface="Times New Roman" panose="02020603050405020304" pitchFamily="18" charset="0"/>
            </a:endParaRPr>
          </a:p>
          <a:p>
            <a:pPr marL="285739" indent="-285739">
              <a:lnSpc>
                <a:spcPts val="2125"/>
              </a:lnSpc>
              <a:buSzPct val="100000"/>
              <a:buFontTx/>
              <a:buChar char="•"/>
            </a:pP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A399 leak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thủy</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lực</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ở manifold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càng</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phải</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đã</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thay</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paking</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và</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seal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thiết</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bị</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lão</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hóa</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a:t>
            </a:r>
          </a:p>
          <a:p>
            <a:pPr marL="285739" indent="-285739">
              <a:lnSpc>
                <a:spcPts val="2125"/>
              </a:lnSpc>
              <a:buSzPct val="100000"/>
              <a:buFontTx/>
              <a:buChar char="•"/>
            </a:pP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Ngoài</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ra</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trong</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tuần</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phát</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sinh</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một</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số</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trường</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hợp</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bị</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mất</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tín</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hiệu</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GPS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tại</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SGN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làm</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một</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số</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tàu</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ảnh</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sz="1600" dirty="0" err="1">
                <a:solidFill>
                  <a:srgbClr val="333F70"/>
                </a:solidFill>
                <a:latin typeface="Times New Roman" panose="02020603050405020304" pitchFamily="18" charset="0"/>
                <a:ea typeface="Open Sans" pitchFamily="34" charset="-122"/>
                <a:cs typeface="Times New Roman" panose="02020603050405020304" pitchFamily="18" charset="0"/>
              </a:rPr>
              <a:t>hưởng</a:t>
            </a:r>
            <a:r>
              <a:rPr lang="en-US" sz="1600" dirty="0">
                <a:solidFill>
                  <a:srgbClr val="333F70"/>
                </a:solidFill>
                <a:latin typeface="Times New Roman" panose="02020603050405020304" pitchFamily="18" charset="0"/>
                <a:ea typeface="Open Sans" pitchFamily="34" charset="-122"/>
                <a:cs typeface="Times New Roman" panose="02020603050405020304" pitchFamily="18" charset="0"/>
              </a:rPr>
              <a:t> : A398 (GTB), A335 </a:t>
            </a:r>
            <a:endParaRPr lang="en-US" sz="1600" dirty="0">
              <a:latin typeface="Times New Roman" panose="02020603050405020304" pitchFamily="18" charset="0"/>
              <a:cs typeface="Times New Roman" panose="02020603050405020304" pitchFamily="18" charset="0"/>
            </a:endParaRPr>
          </a:p>
          <a:p>
            <a:pPr>
              <a:lnSpc>
                <a:spcPts val="2125"/>
              </a:lnSpc>
              <a:buSzPct val="100000"/>
            </a:pPr>
            <a:endParaRPr lang="en-US" sz="16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1979541475"/>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03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sp>
        <p:nvSpPr>
          <p:cNvPr id="6" name="TextBox 5">
            <a:extLst>
              <a:ext uri="{FF2B5EF4-FFF2-40B4-BE49-F238E27FC236}">
                <a16:creationId xmlns:a16="http://schemas.microsoft.com/office/drawing/2014/main" id="{D0ACAA36-4783-43C8-B3E5-6E0FF11C9DB3}"/>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8" name="Table 7">
            <a:extLst>
              <a:ext uri="{FF2B5EF4-FFF2-40B4-BE49-F238E27FC236}">
                <a16:creationId xmlns:a16="http://schemas.microsoft.com/office/drawing/2014/main" id="{B188F748-74DB-4CFE-BF0B-5EF052B8167F}"/>
              </a:ext>
            </a:extLst>
          </p:cNvPr>
          <p:cNvGraphicFramePr>
            <a:graphicFrameLocks noGrp="1"/>
          </p:cNvGraphicFramePr>
          <p:nvPr>
            <p:extLst>
              <p:ext uri="{D42A27DB-BD31-4B8C-83A1-F6EECF244321}">
                <p14:modId xmlns:p14="http://schemas.microsoft.com/office/powerpoint/2010/main" val="1244518709"/>
              </p:ext>
            </p:extLst>
          </p:nvPr>
        </p:nvGraphicFramePr>
        <p:xfrm>
          <a:off x="144863" y="1530858"/>
          <a:ext cx="11742336" cy="4568794"/>
        </p:xfrm>
        <a:graphic>
          <a:graphicData uri="http://schemas.openxmlformats.org/drawingml/2006/table">
            <a:tbl>
              <a:tblPr/>
              <a:tblGrid>
                <a:gridCol w="375882">
                  <a:extLst>
                    <a:ext uri="{9D8B030D-6E8A-4147-A177-3AD203B41FA5}">
                      <a16:colId xmlns:a16="http://schemas.microsoft.com/office/drawing/2014/main" val="603126795"/>
                    </a:ext>
                  </a:extLst>
                </a:gridCol>
                <a:gridCol w="676585">
                  <a:extLst>
                    <a:ext uri="{9D8B030D-6E8A-4147-A177-3AD203B41FA5}">
                      <a16:colId xmlns:a16="http://schemas.microsoft.com/office/drawing/2014/main" val="2451011909"/>
                    </a:ext>
                  </a:extLst>
                </a:gridCol>
                <a:gridCol w="300704">
                  <a:extLst>
                    <a:ext uri="{9D8B030D-6E8A-4147-A177-3AD203B41FA5}">
                      <a16:colId xmlns:a16="http://schemas.microsoft.com/office/drawing/2014/main" val="260577687"/>
                    </a:ext>
                  </a:extLst>
                </a:gridCol>
                <a:gridCol w="451056">
                  <a:extLst>
                    <a:ext uri="{9D8B030D-6E8A-4147-A177-3AD203B41FA5}">
                      <a16:colId xmlns:a16="http://schemas.microsoft.com/office/drawing/2014/main" val="3261473425"/>
                    </a:ext>
                  </a:extLst>
                </a:gridCol>
                <a:gridCol w="451056">
                  <a:extLst>
                    <a:ext uri="{9D8B030D-6E8A-4147-A177-3AD203B41FA5}">
                      <a16:colId xmlns:a16="http://schemas.microsoft.com/office/drawing/2014/main" val="2049580462"/>
                    </a:ext>
                  </a:extLst>
                </a:gridCol>
                <a:gridCol w="526232">
                  <a:extLst>
                    <a:ext uri="{9D8B030D-6E8A-4147-A177-3AD203B41FA5}">
                      <a16:colId xmlns:a16="http://schemas.microsoft.com/office/drawing/2014/main" val="4028463644"/>
                    </a:ext>
                  </a:extLst>
                </a:gridCol>
                <a:gridCol w="1428345">
                  <a:extLst>
                    <a:ext uri="{9D8B030D-6E8A-4147-A177-3AD203B41FA5}">
                      <a16:colId xmlns:a16="http://schemas.microsoft.com/office/drawing/2014/main" val="4005879043"/>
                    </a:ext>
                  </a:extLst>
                </a:gridCol>
                <a:gridCol w="3798677">
                  <a:extLst>
                    <a:ext uri="{9D8B030D-6E8A-4147-A177-3AD203B41FA5}">
                      <a16:colId xmlns:a16="http://schemas.microsoft.com/office/drawing/2014/main" val="1098257785"/>
                    </a:ext>
                  </a:extLst>
                </a:gridCol>
                <a:gridCol w="457200">
                  <a:extLst>
                    <a:ext uri="{9D8B030D-6E8A-4147-A177-3AD203B41FA5}">
                      <a16:colId xmlns:a16="http://schemas.microsoft.com/office/drawing/2014/main" val="16425589"/>
                    </a:ext>
                  </a:extLst>
                </a:gridCol>
                <a:gridCol w="3276599">
                  <a:extLst>
                    <a:ext uri="{9D8B030D-6E8A-4147-A177-3AD203B41FA5}">
                      <a16:colId xmlns:a16="http://schemas.microsoft.com/office/drawing/2014/main" val="2915278220"/>
                    </a:ext>
                  </a:extLst>
                </a:gridCol>
              </a:tblGrid>
              <a:tr h="705454">
                <a:tc>
                  <a:txBody>
                    <a:bodyPr/>
                    <a:lstStyle/>
                    <a:p>
                      <a:pPr algn="ctr" fontAlgn="ctr"/>
                      <a:r>
                        <a:rPr lang="en-US" sz="1000" b="0" i="0" u="none" strike="noStrike" dirty="0">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04143824"/>
                  </a:ext>
                </a:extLst>
              </a:tr>
              <a:tr h="2272744">
                <a:tc>
                  <a:txBody>
                    <a:bodyPr/>
                    <a:lstStyle/>
                    <a:p>
                      <a:pPr algn="l" fontAlgn="t"/>
                      <a:r>
                        <a:rPr lang="en-US" sz="1100" b="0" i="0" u="none" strike="noStrike">
                          <a:solidFill>
                            <a:srgbClr val="000000"/>
                          </a:solidFill>
                          <a:effectLst/>
                          <a:latin typeface="Calibri" panose="020F0502020204030204" pitchFamily="34" charset="0"/>
                        </a:rPr>
                        <a:t>A891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07:50 03/04/2025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VN207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A891 [GTB] DUE TO FMS SYS INTERMITTENT FAULT &lt;p&gt;Tàu sau khi đẩy ra từ cầu 24, nổ máy tổ bay báo sai lệch CG ( PRIM : 31, FQMS( Flight plan) :44), tàu quay lại bãi 35&lt;/p&gt;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&lt;p&gt;CRS đón tàu, tiếp cận kiểm tra hệ thống tàu bay-&amp;gt;không có cảnh báo bất thường.&lt;/p&gt;</a:t>
                      </a:r>
                      <a:br>
                        <a:rPr lang="vi-VN" sz="1100" b="0" i="0" u="none" strike="noStrike">
                          <a:solidFill>
                            <a:srgbClr val="000000"/>
                          </a:solidFill>
                          <a:effectLst/>
                          <a:latin typeface="Calibri" panose="020F0502020204030204" pitchFamily="34" charset="0"/>
                        </a:rPr>
                      </a:b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&lt;p&gt;RESET FMC A&amp;#43;B&amp;#43;C AND BITE IAW MP 22-7X-XX-00001-343A/A REV100 SATIS&lt;br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Thực hiện nhập lại Flight plan, nạp thêm 1 tấn dầu.&lt;br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Tàu đóng cửa, nổ máy hai động cơ tại bãi 35-&amp;gt; kiểm tra CG bình thường.&lt;br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&amp;#160;&lt;/p&gt; A891 [GTB] DUE TO FMS SYS INTERMITTENT FAULT EVENT CLOSED &lt;p&gt;&lt;/p&gt; &lt;div&gt;&lt;strong&gt;FMS SYS INTERMITTENT FAULT&lt;/strong&gt;&lt;/div&gt;</a:t>
                      </a:r>
                      <a:br>
                        <a:rPr lang="vi-VN" sz="1100" b="0" i="0" u="none" strike="noStrike">
                          <a:solidFill>
                            <a:srgbClr val="000000"/>
                          </a:solidFill>
                          <a:effectLst/>
                          <a:latin typeface="Calibri" panose="020F0502020204030204" pitchFamily="34" charset="0"/>
                        </a:rPr>
                      </a:b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&lt;p&gt;&amp;#160;&lt;/p&gt;</a:t>
                      </a:r>
                      <a:br>
                        <a:rPr lang="vi-VN" sz="1100" b="0" i="0" u="none" strike="noStrike">
                          <a:solidFill>
                            <a:srgbClr val="000000"/>
                          </a:solidFill>
                          <a:effectLst/>
                          <a:latin typeface="Calibri" panose="020F0502020204030204" pitchFamily="34" charset="0"/>
                        </a:rPr>
                      </a:b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&lt;p&gt;07:50 ASOC gọi điện báo VN207 GTB&lt;br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08:03 tàu vào bãi 35, CRS tiếp cận tàu kiểm tra&lt;br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08:10 CRS lên Cockpit kiểm tra hệ thống máy bay-&amp;gt;không có cảnh báo bất thường.&lt;br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Thực hiện rReset FMCA-B-C và nhập lại Flight plan.&lt;br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Tàu nạp thêm 1 tấn dầu.&lt;br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08:33 tàu đóng cửa, nổ máy hai động cơ-&amp;gt;kiểm tra CG satis&lt;br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VN207 dealy 57&amp;#96; (Tech delay 20&amp;#96;)&lt;/p&gt;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22-00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Hỏng hóc này chưa từng xảy ra, và tàu bay không có hỏng hóc nào liên quan. Tàu bay được kiểm tra thì không có phát hiện bất thường. </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Vẫn đang làm việc với Airbus thông qua TR 81570868  để điều tra nguyên nhân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1743982"/>
                  </a:ext>
                </a:extLst>
              </a:tr>
            </a:tbl>
          </a:graphicData>
        </a:graphic>
      </p:graphicFrame>
    </p:spTree>
    <p:extLst>
      <p:ext uri="{BB962C8B-B14F-4D97-AF65-F5344CB8AC3E}">
        <p14:creationId xmlns:p14="http://schemas.microsoft.com/office/powerpoint/2010/main" val="3006767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03 	</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D0ACAA36-4783-43C8-B3E5-6E0FF11C9DB3}"/>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8" name="Table 7">
            <a:extLst>
              <a:ext uri="{FF2B5EF4-FFF2-40B4-BE49-F238E27FC236}">
                <a16:creationId xmlns:a16="http://schemas.microsoft.com/office/drawing/2014/main" id="{B188F748-74DB-4CFE-BF0B-5EF052B8167F}"/>
              </a:ext>
            </a:extLst>
          </p:cNvPr>
          <p:cNvGraphicFramePr>
            <a:graphicFrameLocks noGrp="1"/>
          </p:cNvGraphicFramePr>
          <p:nvPr/>
        </p:nvGraphicFramePr>
        <p:xfrm>
          <a:off x="144863" y="1530858"/>
          <a:ext cx="11742336" cy="5071714"/>
        </p:xfrm>
        <a:graphic>
          <a:graphicData uri="http://schemas.openxmlformats.org/drawingml/2006/table">
            <a:tbl>
              <a:tblPr/>
              <a:tblGrid>
                <a:gridCol w="375882">
                  <a:extLst>
                    <a:ext uri="{9D8B030D-6E8A-4147-A177-3AD203B41FA5}">
                      <a16:colId xmlns:a16="http://schemas.microsoft.com/office/drawing/2014/main" val="603126795"/>
                    </a:ext>
                  </a:extLst>
                </a:gridCol>
                <a:gridCol w="676585">
                  <a:extLst>
                    <a:ext uri="{9D8B030D-6E8A-4147-A177-3AD203B41FA5}">
                      <a16:colId xmlns:a16="http://schemas.microsoft.com/office/drawing/2014/main" val="2451011909"/>
                    </a:ext>
                  </a:extLst>
                </a:gridCol>
                <a:gridCol w="300704">
                  <a:extLst>
                    <a:ext uri="{9D8B030D-6E8A-4147-A177-3AD203B41FA5}">
                      <a16:colId xmlns:a16="http://schemas.microsoft.com/office/drawing/2014/main" val="260577687"/>
                    </a:ext>
                  </a:extLst>
                </a:gridCol>
                <a:gridCol w="451056">
                  <a:extLst>
                    <a:ext uri="{9D8B030D-6E8A-4147-A177-3AD203B41FA5}">
                      <a16:colId xmlns:a16="http://schemas.microsoft.com/office/drawing/2014/main" val="3261473425"/>
                    </a:ext>
                  </a:extLst>
                </a:gridCol>
                <a:gridCol w="451056">
                  <a:extLst>
                    <a:ext uri="{9D8B030D-6E8A-4147-A177-3AD203B41FA5}">
                      <a16:colId xmlns:a16="http://schemas.microsoft.com/office/drawing/2014/main" val="2049580462"/>
                    </a:ext>
                  </a:extLst>
                </a:gridCol>
                <a:gridCol w="526232">
                  <a:extLst>
                    <a:ext uri="{9D8B030D-6E8A-4147-A177-3AD203B41FA5}">
                      <a16:colId xmlns:a16="http://schemas.microsoft.com/office/drawing/2014/main" val="4028463644"/>
                    </a:ext>
                  </a:extLst>
                </a:gridCol>
                <a:gridCol w="883622">
                  <a:extLst>
                    <a:ext uri="{9D8B030D-6E8A-4147-A177-3AD203B41FA5}">
                      <a16:colId xmlns:a16="http://schemas.microsoft.com/office/drawing/2014/main" val="4005879043"/>
                    </a:ext>
                  </a:extLst>
                </a:gridCol>
                <a:gridCol w="1219200">
                  <a:extLst>
                    <a:ext uri="{9D8B030D-6E8A-4147-A177-3AD203B41FA5}">
                      <a16:colId xmlns:a16="http://schemas.microsoft.com/office/drawing/2014/main" val="1098257785"/>
                    </a:ext>
                  </a:extLst>
                </a:gridCol>
                <a:gridCol w="457200">
                  <a:extLst>
                    <a:ext uri="{9D8B030D-6E8A-4147-A177-3AD203B41FA5}">
                      <a16:colId xmlns:a16="http://schemas.microsoft.com/office/drawing/2014/main" val="16425589"/>
                    </a:ext>
                  </a:extLst>
                </a:gridCol>
                <a:gridCol w="6400799">
                  <a:extLst>
                    <a:ext uri="{9D8B030D-6E8A-4147-A177-3AD203B41FA5}">
                      <a16:colId xmlns:a16="http://schemas.microsoft.com/office/drawing/2014/main" val="2915278220"/>
                    </a:ext>
                  </a:extLst>
                </a:gridCol>
              </a:tblGrid>
              <a:tr h="705454">
                <a:tc>
                  <a:txBody>
                    <a:bodyPr/>
                    <a:lstStyle/>
                    <a:p>
                      <a:pPr algn="ctr" fontAlgn="ctr"/>
                      <a:r>
                        <a:rPr lang="en-US" sz="1000" b="0" i="0" u="none" strike="noStrike" dirty="0">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04143824"/>
                  </a:ext>
                </a:extLst>
              </a:tr>
              <a:tr h="2272744">
                <a:tc>
                  <a:txBody>
                    <a:bodyPr/>
                    <a:lstStyle/>
                    <a:p>
                      <a:pPr algn="l" fontAlgn="t"/>
                      <a:r>
                        <a:rPr lang="en-US" sz="1100" b="0" i="0" u="none" strike="noStrike">
                          <a:solidFill>
                            <a:srgbClr val="000000"/>
                          </a:solidFill>
                          <a:effectLst/>
                          <a:latin typeface="Calibri" panose="020F0502020204030204" pitchFamily="34" charset="0"/>
                        </a:rPr>
                        <a:t>A890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20:30 31/03/2025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80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SGN-CDG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T/X CHECK FOUND HYD ENG 2 G PUMP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EVENT CLOSED &lt;p&gt;- RPLD CHECK VLV, OPS TEST. SATIS. MSG GONE.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TOTAL DELAY 220 MINS, TECH 80 MINS.&lt;/p&gt; &lt;div&gt;&lt;strong&gt;HYD ENG 2 G PUMP&lt;/strong&gt;&lt;/div&gt;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Hỏng hóc xuất hiện tại phase taxi in (phase 11), theo logic phần mềm thì khi tắt ENG, hệ thống phần mềm thủy lực sẽ thực hiện Daily EDP Depress command.</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The daily EDP depress command will be triggered at engine shutdown, which is only allowed when flight phase is equal or higher 11 (taxi in)</a:t>
                      </a:r>
                      <a:br>
                        <a:rPr lang="vi-VN" sz="1100" b="0" i="0" u="none" strike="noStrike">
                          <a:solidFill>
                            <a:srgbClr val="000000"/>
                          </a:solidFill>
                          <a:effectLst/>
                          <a:latin typeface="Calibri" panose="020F0502020204030204" pitchFamily="34" charset="0"/>
                        </a:rPr>
                      </a:b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Khi hệ thống thực hiện lệnh này và tắt EDP thì có một phần thủy lực từ đường cao áp HP line chảy về đường thấp áp Case drain. </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Giữa đường cao áp HP line và đường thấp áp CD line có lắp một check valve gọi là Minimum Flow Orifices (MFO), connect the EDP HP delivery line (between EDP and EDP HP Filter Manifold) and EDP CD line LP (between EDP and EDP CD Filter Manifold) and ensure a minimum flow from HP lines to CD lines.</a:t>
                      </a:r>
                      <a:br>
                        <a:rPr lang="vi-VN" sz="1100" b="0" i="0" u="none" strike="noStrike">
                          <a:solidFill>
                            <a:srgbClr val="000000"/>
                          </a:solidFill>
                          <a:effectLst/>
                          <a:latin typeface="Calibri" panose="020F0502020204030204" pitchFamily="34" charset="0"/>
                        </a:rPr>
                      </a:b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Với tàu bay vừa mới nâng cấp phần mềm thủy lực HMCA sdt 6 (A890 vừa mới nâng cấp hôm 23/03/2025), nếu MFO bị tắc có thể sẽ gây ra cảnh báo HYD ENG 1(2) G(Y) PMP DM với FM: EDP PUMP DEPRESS.</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Đây là một trong những hỏng hóc mới khi thực hiện nâng cấp phần mềm thủy lực HMCA std 6 trên đội tàu bay A350.</a:t>
                      </a:r>
                      <a:br>
                        <a:rPr lang="vi-VN" sz="1100" b="0" i="0" u="none" strike="noStrike">
                          <a:solidFill>
                            <a:srgbClr val="000000"/>
                          </a:solidFill>
                          <a:effectLst/>
                          <a:latin typeface="Calibri" panose="020F0502020204030204" pitchFamily="34" charset="0"/>
                        </a:rPr>
                      </a:b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Các vấn đề mới đối với hệ thống thủy lực A350 sau khi nâng cấp HMCA std 6 bao gồm:</a:t>
                      </a:r>
                      <a:br>
                        <a:rPr lang="vi-VN" sz="1100" b="0" i="0" u="none" strike="noStrike">
                          <a:solidFill>
                            <a:srgbClr val="000000"/>
                          </a:solidFill>
                          <a:effectLst/>
                          <a:latin typeface="Calibri" panose="020F0502020204030204" pitchFamily="34" charset="0"/>
                        </a:rPr>
                      </a:b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1. Spurious CD filter clogging due to data acquisition chain and different sampling frequencies of the CD pressure values between CRDC &amp; HMCA S6</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2. Multiple "HYD G RSVR AIR BLEED" and/or "HYD Y RSVR AIR BLEED" DMs due to RSVR Auto Bleed Valve did not detect the presence of Air for too many flight cycles</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3. EDP depress test failure due to a clogged MFO </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4. LP filter clogging due to new logic  with HMCA S6, the filter clogging value is now temperature compensated</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5. HYD G(Y) ELEC PMP START DM has been reported during ENG start due to incorrect interface definition between HMCA and FWS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1743982"/>
                  </a:ext>
                </a:extLst>
              </a:tr>
            </a:tbl>
          </a:graphicData>
        </a:graphic>
      </p:graphicFrame>
    </p:spTree>
    <p:extLst>
      <p:ext uri="{BB962C8B-B14F-4D97-AF65-F5344CB8AC3E}">
        <p14:creationId xmlns:p14="http://schemas.microsoft.com/office/powerpoint/2010/main" val="504400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03 	</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D0ACAA36-4783-43C8-B3E5-6E0FF11C9DB3}"/>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8" name="Table 7">
            <a:extLst>
              <a:ext uri="{FF2B5EF4-FFF2-40B4-BE49-F238E27FC236}">
                <a16:creationId xmlns:a16="http://schemas.microsoft.com/office/drawing/2014/main" id="{B188F748-74DB-4CFE-BF0B-5EF052B8167F}"/>
              </a:ext>
            </a:extLst>
          </p:cNvPr>
          <p:cNvGraphicFramePr>
            <a:graphicFrameLocks noGrp="1"/>
          </p:cNvGraphicFramePr>
          <p:nvPr/>
        </p:nvGraphicFramePr>
        <p:xfrm>
          <a:off x="144863" y="1530858"/>
          <a:ext cx="11742336" cy="2978198"/>
        </p:xfrm>
        <a:graphic>
          <a:graphicData uri="http://schemas.openxmlformats.org/drawingml/2006/table">
            <a:tbl>
              <a:tblPr/>
              <a:tblGrid>
                <a:gridCol w="375882">
                  <a:extLst>
                    <a:ext uri="{9D8B030D-6E8A-4147-A177-3AD203B41FA5}">
                      <a16:colId xmlns:a16="http://schemas.microsoft.com/office/drawing/2014/main" val="603126795"/>
                    </a:ext>
                  </a:extLst>
                </a:gridCol>
                <a:gridCol w="676585">
                  <a:extLst>
                    <a:ext uri="{9D8B030D-6E8A-4147-A177-3AD203B41FA5}">
                      <a16:colId xmlns:a16="http://schemas.microsoft.com/office/drawing/2014/main" val="2451011909"/>
                    </a:ext>
                  </a:extLst>
                </a:gridCol>
                <a:gridCol w="300704">
                  <a:extLst>
                    <a:ext uri="{9D8B030D-6E8A-4147-A177-3AD203B41FA5}">
                      <a16:colId xmlns:a16="http://schemas.microsoft.com/office/drawing/2014/main" val="260577687"/>
                    </a:ext>
                  </a:extLst>
                </a:gridCol>
                <a:gridCol w="451056">
                  <a:extLst>
                    <a:ext uri="{9D8B030D-6E8A-4147-A177-3AD203B41FA5}">
                      <a16:colId xmlns:a16="http://schemas.microsoft.com/office/drawing/2014/main" val="3261473425"/>
                    </a:ext>
                  </a:extLst>
                </a:gridCol>
                <a:gridCol w="451056">
                  <a:extLst>
                    <a:ext uri="{9D8B030D-6E8A-4147-A177-3AD203B41FA5}">
                      <a16:colId xmlns:a16="http://schemas.microsoft.com/office/drawing/2014/main" val="2049580462"/>
                    </a:ext>
                  </a:extLst>
                </a:gridCol>
                <a:gridCol w="526232">
                  <a:extLst>
                    <a:ext uri="{9D8B030D-6E8A-4147-A177-3AD203B41FA5}">
                      <a16:colId xmlns:a16="http://schemas.microsoft.com/office/drawing/2014/main" val="4028463644"/>
                    </a:ext>
                  </a:extLst>
                </a:gridCol>
                <a:gridCol w="883622">
                  <a:extLst>
                    <a:ext uri="{9D8B030D-6E8A-4147-A177-3AD203B41FA5}">
                      <a16:colId xmlns:a16="http://schemas.microsoft.com/office/drawing/2014/main" val="4005879043"/>
                    </a:ext>
                  </a:extLst>
                </a:gridCol>
                <a:gridCol w="1219200">
                  <a:extLst>
                    <a:ext uri="{9D8B030D-6E8A-4147-A177-3AD203B41FA5}">
                      <a16:colId xmlns:a16="http://schemas.microsoft.com/office/drawing/2014/main" val="1098257785"/>
                    </a:ext>
                  </a:extLst>
                </a:gridCol>
                <a:gridCol w="457200">
                  <a:extLst>
                    <a:ext uri="{9D8B030D-6E8A-4147-A177-3AD203B41FA5}">
                      <a16:colId xmlns:a16="http://schemas.microsoft.com/office/drawing/2014/main" val="16425589"/>
                    </a:ext>
                  </a:extLst>
                </a:gridCol>
                <a:gridCol w="6400799">
                  <a:extLst>
                    <a:ext uri="{9D8B030D-6E8A-4147-A177-3AD203B41FA5}">
                      <a16:colId xmlns:a16="http://schemas.microsoft.com/office/drawing/2014/main" val="2915278220"/>
                    </a:ext>
                  </a:extLst>
                </a:gridCol>
              </a:tblGrid>
              <a:tr h="705454">
                <a:tc>
                  <a:txBody>
                    <a:bodyPr/>
                    <a:lstStyle/>
                    <a:p>
                      <a:pPr algn="ctr" fontAlgn="ctr"/>
                      <a:r>
                        <a:rPr lang="en-US" sz="1000" b="0" i="0" u="none" strike="noStrike" dirty="0">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04143824"/>
                  </a:ext>
                </a:extLst>
              </a:tr>
              <a:tr h="2272744">
                <a:tc>
                  <a:txBody>
                    <a:bodyPr/>
                    <a:lstStyle/>
                    <a:p>
                      <a:pPr algn="l" fontAlgn="t"/>
                      <a:r>
                        <a:rPr lang="en-US" sz="1100" b="0" i="0" u="none" strike="noStrike">
                          <a:solidFill>
                            <a:srgbClr val="000000"/>
                          </a:solidFill>
                          <a:effectLst/>
                          <a:latin typeface="Calibri" panose="020F0502020204030204" pitchFamily="34" charset="0"/>
                        </a:rPr>
                        <a:t>A890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16:04 06/04/2025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35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VN215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HAN-SGN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ENG 2 LP VALVE FAULT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REPLACED RELAY 26KS2, OPS TEST NORMAL EVENT CLOSED &lt;p&gt;&lt;/p&gt; &lt;p&gt;total delay 35MIN, tech 28MIN.&lt;/p&gt;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73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Nguyên nhân cảnh báo được xác định do Relay 26KS2 điều khiển LP Fuel Valve cấp nhiên liệu cho động cơ bị lỗi dẫn đến cảnh báo. Vấn đề được khắc phục bằng cách thay Relay này. </a:t>
                      </a:r>
                    </a:p>
                    <a:p>
                      <a:pPr algn="l" fontAlgn="t"/>
                      <a:r>
                        <a:rPr lang="vi-VN" sz="1100" b="0" i="0" u="none" strike="noStrike">
                          <a:solidFill>
                            <a:srgbClr val="000000"/>
                          </a:solidFill>
                          <a:effectLst/>
                          <a:latin typeface="Calibri" panose="020F0502020204030204" pitchFamily="34" charset="0"/>
                        </a:rPr>
                        <a:t>Vấn đề liên quan đế Relay 26KS2 (hoặc 26KS1) mới xuất hiện từ T12/2024 (A892), tiếp theo là T1/2025 (A889) và đây là trường hợp thứ 3. Đáng lưu ý là cả ba trường hợp này đều hỏng Relay Post SB 73-P010 (P/N E0671D28A0) các tàu mới được nâng cấp (A889 và A892 từ T8/2024 và A890 từ T3/2025). Đây là SB nâng cấp EIF software S-8 bao gồm cả việc thay thế Relay 26KS mới, nhằm phòng tránh lỗi IFSD động cơ do phi công đổ nước vào Control Panel. </a:t>
                      </a:r>
                    </a:p>
                    <a:p>
                      <a:pPr algn="l" fontAlgn="t"/>
                      <a:r>
                        <a:rPr lang="vi-VN" sz="1100" b="0" i="0" u="none" strike="noStrike">
                          <a:solidFill>
                            <a:srgbClr val="000000"/>
                          </a:solidFill>
                          <a:effectLst/>
                          <a:latin typeface="Calibri" panose="020F0502020204030204" pitchFamily="34" charset="0"/>
                        </a:rPr>
                        <a:t>Với việc xác định được độ tin cậy của Relay mới rất thấp, KTMB sẽ làm việc thêm với Airbus để đánh giá và tìm giải pháp phòng ngừa.</a:t>
                      </a:r>
                      <a:r>
                        <a:rPr lang="en-US" sz="11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1743982"/>
                  </a:ext>
                </a:extLst>
              </a:tr>
            </a:tbl>
          </a:graphicData>
        </a:graphic>
      </p:graphicFrame>
    </p:spTree>
    <p:extLst>
      <p:ext uri="{BB962C8B-B14F-4D97-AF65-F5344CB8AC3E}">
        <p14:creationId xmlns:p14="http://schemas.microsoft.com/office/powerpoint/2010/main" val="3690001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17</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DD438732-A8A8-7668-A0E5-EDEBE4E373AB}"/>
              </a:ext>
            </a:extLst>
          </p:cNvPr>
          <p:cNvGraphicFramePr>
            <a:graphicFrameLocks noGrp="1"/>
          </p:cNvGraphicFramePr>
          <p:nvPr/>
        </p:nvGraphicFramePr>
        <p:xfrm>
          <a:off x="179427" y="565153"/>
          <a:ext cx="11848781" cy="6140684"/>
        </p:xfrm>
        <a:graphic>
          <a:graphicData uri="http://schemas.openxmlformats.org/drawingml/2006/table">
            <a:tbl>
              <a:tblPr/>
              <a:tblGrid>
                <a:gridCol w="336008">
                  <a:extLst>
                    <a:ext uri="{9D8B030D-6E8A-4147-A177-3AD203B41FA5}">
                      <a16:colId xmlns:a16="http://schemas.microsoft.com/office/drawing/2014/main" val="1811437037"/>
                    </a:ext>
                  </a:extLst>
                </a:gridCol>
                <a:gridCol w="535259">
                  <a:extLst>
                    <a:ext uri="{9D8B030D-6E8A-4147-A177-3AD203B41FA5}">
                      <a16:colId xmlns:a16="http://schemas.microsoft.com/office/drawing/2014/main" val="3791467257"/>
                    </a:ext>
                  </a:extLst>
                </a:gridCol>
                <a:gridCol w="535257">
                  <a:extLst>
                    <a:ext uri="{9D8B030D-6E8A-4147-A177-3AD203B41FA5}">
                      <a16:colId xmlns:a16="http://schemas.microsoft.com/office/drawing/2014/main" val="42324567"/>
                    </a:ext>
                  </a:extLst>
                </a:gridCol>
                <a:gridCol w="1417444">
                  <a:extLst>
                    <a:ext uri="{9D8B030D-6E8A-4147-A177-3AD203B41FA5}">
                      <a16:colId xmlns:a16="http://schemas.microsoft.com/office/drawing/2014/main" val="1910726256"/>
                    </a:ext>
                  </a:extLst>
                </a:gridCol>
                <a:gridCol w="1090341">
                  <a:extLst>
                    <a:ext uri="{9D8B030D-6E8A-4147-A177-3AD203B41FA5}">
                      <a16:colId xmlns:a16="http://schemas.microsoft.com/office/drawing/2014/main" val="1658002325"/>
                    </a:ext>
                  </a:extLst>
                </a:gridCol>
                <a:gridCol w="1635513">
                  <a:extLst>
                    <a:ext uri="{9D8B030D-6E8A-4147-A177-3AD203B41FA5}">
                      <a16:colId xmlns:a16="http://schemas.microsoft.com/office/drawing/2014/main" val="3800731526"/>
                    </a:ext>
                  </a:extLst>
                </a:gridCol>
                <a:gridCol w="6298959">
                  <a:extLst>
                    <a:ext uri="{9D8B030D-6E8A-4147-A177-3AD203B41FA5}">
                      <a16:colId xmlns:a16="http://schemas.microsoft.com/office/drawing/2014/main" val="4166649646"/>
                    </a:ext>
                  </a:extLst>
                </a:gridCol>
              </a:tblGrid>
              <a:tr h="206272">
                <a:tc>
                  <a:txBody>
                    <a:bodyPr/>
                    <a:lstStyle/>
                    <a:p>
                      <a:pPr algn="ctr" fontAlgn="ctr"/>
                      <a:r>
                        <a:rPr lang="en-US" sz="1300" b="0" i="0" u="none" strike="noStrike">
                          <a:solidFill>
                            <a:srgbClr val="000000"/>
                          </a:solidFill>
                          <a:effectLst/>
                          <a:latin typeface="Calibri" panose="020F0502020204030204" pitchFamily="34" charset="0"/>
                        </a:rPr>
                        <a:t>No</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4555167"/>
                  </a:ext>
                </a:extLst>
              </a:tr>
              <a:tr h="612672">
                <a:tc>
                  <a:txBody>
                    <a:bodyPr/>
                    <a:lstStyle/>
                    <a:p>
                      <a:pPr algn="ctr" fontAlgn="ctr"/>
                      <a:r>
                        <a:rPr lang="en-US" sz="1300" b="0" i="0" u="none" strike="noStrike">
                          <a:solidFill>
                            <a:srgbClr val="000000"/>
                          </a:solidFill>
                          <a:effectLst/>
                          <a:latin typeface="Calibri" panose="020F0502020204030204" pitchFamily="34" charset="0"/>
                        </a:rPr>
                        <a:t>1</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ADD B1372 RAISED DM AIR REDUNDANCY LOSS ON FUEL INERTING</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B1379 RAISED PACK 1 REGULATION REDUNDANCY</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B1381 RAISED F/CTL R OUT R AILERON G ACTUATOR</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5900935"/>
                  </a:ext>
                </a:extLst>
              </a:tr>
              <a:tr h="206272">
                <a:tc>
                  <a:txBody>
                    <a:bodyPr/>
                    <a:lstStyle/>
                    <a:p>
                      <a:pPr algn="ctr" fontAlgn="ctr"/>
                      <a:r>
                        <a:rPr lang="en-US" sz="1300" b="0" i="0" u="none" strike="noStrike">
                          <a:solidFill>
                            <a:srgbClr val="000000"/>
                          </a:solidFill>
                          <a:effectLst/>
                          <a:latin typeface="Calibri" panose="020F0502020204030204" pitchFamily="34" charset="0"/>
                        </a:rPr>
                        <a:t>2</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B1246 RAISED AIR PACK 2 REGUL REDUNDANCY</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832106"/>
                  </a:ext>
                </a:extLst>
              </a:tr>
              <a:tr h="815872">
                <a:tc>
                  <a:txBody>
                    <a:bodyPr/>
                    <a:lstStyle/>
                    <a:p>
                      <a:pPr algn="ctr" fontAlgn="ctr"/>
                      <a:r>
                        <a:rPr lang="en-US" sz="1300" b="0" i="0" u="none" strike="noStrike">
                          <a:solidFill>
                            <a:srgbClr val="000000"/>
                          </a:solidFill>
                          <a:effectLst/>
                          <a:latin typeface="Calibri" panose="020F0502020204030204" pitchFamily="34" charset="0"/>
                        </a:rPr>
                        <a:t>3</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TR 81568074/005: PREVENTIVE RECOMMENDATION: HIGH TEMPERATURE YELLOW RESERVOIR</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B1394 RAISED CPIOM J12 INOP</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2925507"/>
                  </a:ext>
                </a:extLst>
              </a:tr>
              <a:tr h="206272">
                <a:tc>
                  <a:txBody>
                    <a:bodyPr/>
                    <a:lstStyle/>
                    <a:p>
                      <a:pPr algn="ctr" fontAlgn="ctr"/>
                      <a:r>
                        <a:rPr lang="en-US" sz="1300" b="0" i="0" u="none" strike="noStrike">
                          <a:solidFill>
                            <a:srgbClr val="000000"/>
                          </a:solidFill>
                          <a:effectLst/>
                          <a:latin typeface="Calibri" panose="020F0502020204030204" pitchFamily="34" charset="0"/>
                        </a:rPr>
                        <a:t>4</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5980955"/>
                  </a:ext>
                </a:extLst>
              </a:tr>
              <a:tr h="224621">
                <a:tc>
                  <a:txBody>
                    <a:bodyPr/>
                    <a:lstStyle/>
                    <a:p>
                      <a:pPr algn="ctr" fontAlgn="ctr"/>
                      <a:r>
                        <a:rPr lang="en-US" sz="1300" b="0" i="0" u="none" strike="noStrike">
                          <a:solidFill>
                            <a:srgbClr val="000000"/>
                          </a:solidFill>
                          <a:effectLst/>
                          <a:latin typeface="Calibri" panose="020F0502020204030204" pitchFamily="34" charset="0"/>
                        </a:rPr>
                        <a:t>5</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81489576: PREVENTIVE RECOMMENDATION PACK 2 INTERNAL LEAKAGE</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2591522"/>
                  </a:ext>
                </a:extLst>
              </a:tr>
              <a:tr h="206272">
                <a:tc>
                  <a:txBody>
                    <a:bodyPr/>
                    <a:lstStyle/>
                    <a:p>
                      <a:pPr algn="ctr" fontAlgn="ctr"/>
                      <a:r>
                        <a:rPr lang="en-US" sz="1300" b="0" i="0" u="none" strike="noStrike">
                          <a:solidFill>
                            <a:srgbClr val="000000"/>
                          </a:solidFill>
                          <a:effectLst/>
                          <a:latin typeface="Calibri" panose="020F0502020204030204" pitchFamily="34" charset="0"/>
                        </a:rPr>
                        <a:t>6</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6979110"/>
                  </a:ext>
                </a:extLst>
              </a:tr>
              <a:tr h="409472">
                <a:tc>
                  <a:txBody>
                    <a:bodyPr/>
                    <a:lstStyle/>
                    <a:p>
                      <a:pPr algn="ctr" fontAlgn="ctr"/>
                      <a:r>
                        <a:rPr lang="en-US" sz="1300" b="0" i="0" u="none" strike="noStrike">
                          <a:solidFill>
                            <a:srgbClr val="000000"/>
                          </a:solidFill>
                          <a:effectLst/>
                          <a:latin typeface="Calibri" panose="020F0502020204030204" pitchFamily="34" charset="0"/>
                        </a:rPr>
                        <a:t>7</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B1455 RAISED THE DROOP-NOSE END-FILLING PANEL AT R/H MISSING</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ENGINE: #2/21368 ON AIRCRAFT VN-A892: P25 MEASUREMENT ERROR</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8864"/>
                  </a:ext>
                </a:extLst>
              </a:tr>
              <a:tr h="409472">
                <a:tc>
                  <a:txBody>
                    <a:bodyPr/>
                    <a:lstStyle/>
                    <a:p>
                      <a:pPr algn="ctr" fontAlgn="ctr"/>
                      <a:r>
                        <a:rPr lang="en-US" sz="1300" b="0" i="0" u="none" strike="noStrike">
                          <a:solidFill>
                            <a:srgbClr val="000000"/>
                          </a:solidFill>
                          <a:effectLst/>
                          <a:latin typeface="Calibri" panose="020F0502020204030204" pitchFamily="34" charset="0"/>
                        </a:rPr>
                        <a:t>8</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 Rolls-Royce chưa đưa ra được giải pháp khắc phục.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8280987"/>
                  </a:ext>
                </a:extLst>
              </a:tr>
              <a:tr h="206272">
                <a:tc>
                  <a:txBody>
                    <a:bodyPr/>
                    <a:lstStyle/>
                    <a:p>
                      <a:pPr algn="ctr" fontAlgn="ctr"/>
                      <a:r>
                        <a:rPr lang="en-US" sz="1300" b="0" i="0" u="none" strike="noStrike">
                          <a:solidFill>
                            <a:srgbClr val="000000"/>
                          </a:solidFill>
                          <a:effectLst/>
                          <a:latin typeface="Calibri" panose="020F0502020204030204" pitchFamily="34" charset="0"/>
                        </a:rPr>
                        <a:t>9</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21425 giảm tần suất soi HPT blade 800FH/100FC ( giảm 600FH/75FC)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7644811"/>
                  </a:ext>
                </a:extLst>
              </a:tr>
              <a:tr h="409472">
                <a:tc>
                  <a:txBody>
                    <a:bodyPr/>
                    <a:lstStyle/>
                    <a:p>
                      <a:pPr algn="ctr" fontAlgn="ctr"/>
                      <a:r>
                        <a:rPr lang="en-US" sz="1300" b="0" i="0" u="none" strike="noStrike">
                          <a:solidFill>
                            <a:srgbClr val="000000"/>
                          </a:solidFill>
                          <a:effectLst/>
                          <a:latin typeface="Calibri" panose="020F0502020204030204" pitchFamily="34" charset="0"/>
                        </a:rPr>
                        <a:t>10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B995 RAISED ENGINE #1 SN 21604 HAVE LOW LIFE TIME </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ADD B996 RAISED ENGINE #2 SN 21414 HAVE LOW LIFE TIME</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200993"/>
                  </a:ext>
                </a:extLst>
              </a:tr>
              <a:tr h="612672">
                <a:tc>
                  <a:txBody>
                    <a:bodyPr/>
                    <a:lstStyle/>
                    <a:p>
                      <a:pPr algn="ctr" fontAlgn="ctr"/>
                      <a:r>
                        <a:rPr lang="en-US" sz="1300" b="0" i="0" u="none" strike="noStrike">
                          <a:solidFill>
                            <a:srgbClr val="000000"/>
                          </a:solidFill>
                          <a:effectLst/>
                          <a:latin typeface="Calibri" panose="020F0502020204030204" pitchFamily="34" charset="0"/>
                        </a:rPr>
                        <a:t>11</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B954 RAISED UPPER LATCH ASSY OF COCKPIT DOOR BOLTING SYSTEM IS NOT FULLY LOCKED </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TR 81416394: PREVENTIVE RECOMMENDATION PACK 1 INTERNAL LEAKAGE</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9776418"/>
                  </a:ext>
                </a:extLst>
              </a:tr>
              <a:tr h="409472">
                <a:tc>
                  <a:txBody>
                    <a:bodyPr/>
                    <a:lstStyle/>
                    <a:p>
                      <a:pPr algn="ctr" fontAlgn="ctr"/>
                      <a:r>
                        <a:rPr lang="en-US" sz="1300" b="0" i="0" u="none" strike="noStrike">
                          <a:solidFill>
                            <a:srgbClr val="000000"/>
                          </a:solidFill>
                          <a:effectLst/>
                          <a:latin typeface="Calibri" panose="020F0502020204030204" pitchFamily="34" charset="0"/>
                        </a:rPr>
                        <a:t>12</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2400397"/>
                  </a:ext>
                </a:extLst>
              </a:tr>
              <a:tr h="999327">
                <a:tc>
                  <a:txBody>
                    <a:bodyPr/>
                    <a:lstStyle/>
                    <a:p>
                      <a:pPr algn="ctr" fontAlgn="ctr"/>
                      <a:r>
                        <a:rPr lang="en-US" sz="1300" b="0" i="0" u="none" strike="noStrike">
                          <a:solidFill>
                            <a:srgbClr val="000000"/>
                          </a:solidFill>
                          <a:effectLst/>
                          <a:latin typeface="Calibri" panose="020F0502020204030204" pitchFamily="34" charset="0"/>
                        </a:rPr>
                        <a:t>13</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21214 giảm tần suất soi heatshield 2400FH/400FC. Eng 2 21268 giảm tần suất soi HPT blade 800FH/100FC</a:t>
                      </a:r>
                      <a:br>
                        <a:rPr lang="en-US" sz="1300" b="0" i="0" u="none" strike="noStrike">
                          <a:solidFill>
                            <a:srgbClr val="000000"/>
                          </a:solidFill>
                          <a:effectLst/>
                          <a:latin typeface="Calibri" panose="020F0502020204030204" pitchFamily="34" charset="0"/>
                        </a:rPr>
                      </a:br>
                      <a:endParaRPr lang="en-US" sz="1300" b="0" i="0" u="none" strike="noStrike">
                        <a:solidFill>
                          <a:srgbClr val="000000"/>
                        </a:solidFill>
                        <a:effectLst/>
                        <a:latin typeface="Calibri" panose="020F0502020204030204" pitchFamily="34" charset="0"/>
                      </a:endParaRP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0941568"/>
                  </a:ext>
                </a:extLst>
              </a:tr>
              <a:tr h="206272">
                <a:tc>
                  <a:txBody>
                    <a:bodyPr/>
                    <a:lstStyle/>
                    <a:p>
                      <a:pPr algn="ctr" fontAlgn="ctr"/>
                      <a:r>
                        <a:rPr lang="en-US" sz="1300" b="0" i="0" u="none" strike="noStrike">
                          <a:solidFill>
                            <a:srgbClr val="000000"/>
                          </a:solidFill>
                          <a:effectLst/>
                          <a:latin typeface="Calibri" panose="020F0502020204030204" pitchFamily="34" charset="0"/>
                        </a:rPr>
                        <a:t>14</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3072" marR="3072" marT="30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701034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210231" y="535899"/>
            <a:ext cx="11769687" cy="1569660"/>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chưa tốt với 01 TH GTB.</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US" sz="1600">
                <a:latin typeface="Times New Roman" panose="02020603050405020304" pitchFamily="18" charset="0"/>
                <a:cs typeface="Times New Roman" panose="02020603050405020304" pitchFamily="18" charset="0"/>
              </a:rPr>
              <a:t>+ A891 GTB ngày 03/04 </a:t>
            </a:r>
            <a:r>
              <a:rPr lang="en-SG" sz="1600">
                <a:latin typeface="Times New Roman" panose="02020603050405020304" pitchFamily="18" charset="0"/>
                <a:cs typeface="Times New Roman" panose="02020603050405020304" pitchFamily="18" charset="0"/>
              </a:rPr>
              <a:t>DUE TO FMS SYS INTERMITTENT FAULT -&gt; RESET FMC A+B+C AND BITE TEST</a:t>
            </a:r>
            <a:r>
              <a:rPr lang="en-US" sz="1600">
                <a:latin typeface="Times New Roman" panose="02020603050405020304" pitchFamily="18" charset="0"/>
                <a:cs typeface="Times New Roman" panose="02020603050405020304" pitchFamily="18" charset="0"/>
              </a:rPr>
              <a:t>.</a:t>
            </a:r>
          </a:p>
          <a:p>
            <a:pPr marL="609585" lvl="1" algn="just"/>
            <a:r>
              <a:rPr lang="vi-VN" sz="1600">
                <a:solidFill>
                  <a:srgbClr val="FF0000"/>
                </a:solidFill>
                <a:latin typeface="Times New Roman" panose="02020603050405020304" pitchFamily="18" charset="0"/>
                <a:cs typeface="Times New Roman" panose="02020603050405020304" pitchFamily="18" charset="0"/>
              </a:rPr>
              <a:t>Hỏng hóc này chưa từng xảy ra, và tàu bay không có hỏng hóc nào liên quan. Tàu bay được kiểm tra thì không có phát hiện bất thường. Vẫn đang làm việc với Airbus thông qua TR 81570868  để điều tra nguyên nhân</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050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2F7F1-EC77-040F-D02F-CB420ADAF06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FE098302-6DCD-71EE-1FBF-9F6961136E8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7340C5B-610F-40BC-689E-C441111B49A7}"/>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4" name="TextBox 3">
            <a:extLst>
              <a:ext uri="{FF2B5EF4-FFF2-40B4-BE49-F238E27FC236}">
                <a16:creationId xmlns:a16="http://schemas.microsoft.com/office/drawing/2014/main" id="{130C61D1-F425-C7FC-4F91-76E0FD4C2304}"/>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D48FB457-A375-1917-6C38-EA994CBDA891}"/>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66C9B353-AE1D-682E-712D-15F61AB3ACBC}"/>
              </a:ext>
            </a:extLst>
          </p:cNvPr>
          <p:cNvGraphicFramePr>
            <a:graphicFrameLocks noGrp="1"/>
          </p:cNvGraphicFramePr>
          <p:nvPr>
            <p:extLst>
              <p:ext uri="{D42A27DB-BD31-4B8C-83A1-F6EECF244321}">
                <p14:modId xmlns:p14="http://schemas.microsoft.com/office/powerpoint/2010/main" val="2005843856"/>
              </p:ext>
            </p:extLst>
          </p:nvPr>
        </p:nvGraphicFramePr>
        <p:xfrm>
          <a:off x="152398" y="1453890"/>
          <a:ext cx="11742336" cy="3978287"/>
        </p:xfrm>
        <a:graphic>
          <a:graphicData uri="http://schemas.openxmlformats.org/drawingml/2006/table">
            <a:tbl>
              <a:tblPr/>
              <a:tblGrid>
                <a:gridCol w="375882">
                  <a:extLst>
                    <a:ext uri="{9D8B030D-6E8A-4147-A177-3AD203B41FA5}">
                      <a16:colId xmlns:a16="http://schemas.microsoft.com/office/drawing/2014/main" val="603126795"/>
                    </a:ext>
                  </a:extLst>
                </a:gridCol>
                <a:gridCol w="676585">
                  <a:extLst>
                    <a:ext uri="{9D8B030D-6E8A-4147-A177-3AD203B41FA5}">
                      <a16:colId xmlns:a16="http://schemas.microsoft.com/office/drawing/2014/main" val="2451011909"/>
                    </a:ext>
                  </a:extLst>
                </a:gridCol>
                <a:gridCol w="300704">
                  <a:extLst>
                    <a:ext uri="{9D8B030D-6E8A-4147-A177-3AD203B41FA5}">
                      <a16:colId xmlns:a16="http://schemas.microsoft.com/office/drawing/2014/main" val="260577687"/>
                    </a:ext>
                  </a:extLst>
                </a:gridCol>
                <a:gridCol w="451056">
                  <a:extLst>
                    <a:ext uri="{9D8B030D-6E8A-4147-A177-3AD203B41FA5}">
                      <a16:colId xmlns:a16="http://schemas.microsoft.com/office/drawing/2014/main" val="3261473425"/>
                    </a:ext>
                  </a:extLst>
                </a:gridCol>
                <a:gridCol w="451056">
                  <a:extLst>
                    <a:ext uri="{9D8B030D-6E8A-4147-A177-3AD203B41FA5}">
                      <a16:colId xmlns:a16="http://schemas.microsoft.com/office/drawing/2014/main" val="2049580462"/>
                    </a:ext>
                  </a:extLst>
                </a:gridCol>
                <a:gridCol w="526232">
                  <a:extLst>
                    <a:ext uri="{9D8B030D-6E8A-4147-A177-3AD203B41FA5}">
                      <a16:colId xmlns:a16="http://schemas.microsoft.com/office/drawing/2014/main" val="4028463644"/>
                    </a:ext>
                  </a:extLst>
                </a:gridCol>
                <a:gridCol w="1428345">
                  <a:extLst>
                    <a:ext uri="{9D8B030D-6E8A-4147-A177-3AD203B41FA5}">
                      <a16:colId xmlns:a16="http://schemas.microsoft.com/office/drawing/2014/main" val="4005879043"/>
                    </a:ext>
                  </a:extLst>
                </a:gridCol>
                <a:gridCol w="3410142">
                  <a:extLst>
                    <a:ext uri="{9D8B030D-6E8A-4147-A177-3AD203B41FA5}">
                      <a16:colId xmlns:a16="http://schemas.microsoft.com/office/drawing/2014/main" val="1098257785"/>
                    </a:ext>
                  </a:extLst>
                </a:gridCol>
                <a:gridCol w="533400">
                  <a:extLst>
                    <a:ext uri="{9D8B030D-6E8A-4147-A177-3AD203B41FA5}">
                      <a16:colId xmlns:a16="http://schemas.microsoft.com/office/drawing/2014/main" val="16425589"/>
                    </a:ext>
                  </a:extLst>
                </a:gridCol>
                <a:gridCol w="3588934">
                  <a:extLst>
                    <a:ext uri="{9D8B030D-6E8A-4147-A177-3AD203B41FA5}">
                      <a16:colId xmlns:a16="http://schemas.microsoft.com/office/drawing/2014/main" val="2915278220"/>
                    </a:ext>
                  </a:extLst>
                </a:gridCol>
              </a:tblGrid>
              <a:tr h="610247">
                <a:tc>
                  <a:txBody>
                    <a:bodyPr/>
                    <a:lstStyle/>
                    <a:p>
                      <a:pPr algn="ctr" fontAlgn="ctr"/>
                      <a:r>
                        <a:rPr lang="en-US" sz="1000" b="0" i="0" u="none" strike="noStrike" dirty="0">
                          <a:solidFill>
                            <a:srgbClr val="000000"/>
                          </a:solidFill>
                          <a:effectLst/>
                          <a:latin typeface="Calibri" panose="020F0502020204030204" pitchFamily="34" charset="0"/>
                        </a:rPr>
                        <a:t>A/C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DATE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STA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MINUTES</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FLIGHT NO</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ROUTINE</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DESC</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DELAY ACTION</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2797" marR="2797" marT="27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04143824"/>
                  </a:ext>
                </a:extLst>
              </a:tr>
              <a:tr h="1536480">
                <a:tc>
                  <a:txBody>
                    <a:bodyPr/>
                    <a:lstStyle/>
                    <a:p>
                      <a:pPr algn="l" fontAlgn="t"/>
                      <a:r>
                        <a:rPr lang="en-US" sz="1100" b="0" i="0" u="none" strike="noStrike">
                          <a:solidFill>
                            <a:srgbClr val="000000"/>
                          </a:solidFill>
                          <a:effectLst/>
                          <a:latin typeface="Calibri" panose="020F0502020204030204" pitchFamily="34" charset="0"/>
                        </a:rPr>
                        <a:t>A879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07:30 03/04/2025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NRT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60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VN307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NRT-SGN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A879 (GTB) NO GO MSG: ELEC P200 PANEL, A/C RETURN TO GATE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&lt;div&gt;&lt;strong&gt;MSG: ELEC P200 PANEL&lt;/strong&gt;&lt;/div&gt;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&lt;p&gt;&amp;#160;&lt;/p&gt;&lt;div&gt;&lt;strong&gt;MSG: ELEC P200 PANEL&lt;/strong&gt;&lt;/div&gt;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21-40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MSG intermittent, đã thực hiện reset được sau khi RTG. Tuy nhiên sau đó đã cho thay contactor (CK2143501 EXH FAN- FWD CARGO HT) để đánh chặn hỏng hóc. Hiện không có issue worldwide về contactor này. Thống kê tháo lắp trong các năm gần đây (2022: 1, 2023:0, 2024: 2, 2025: 1). Ngoài ra từ khi khai thác, có khoảng 100 sự vụ có liên quan đến FDE: ELEC P200, tuy nhiên đa số đều reset được, kiểm tra dây không có finding. Nhiều trường hợp FDE: ELEC P200 gắn với FDE và MMSG khác nên có nhiều nguyên nhân hỏng hóc khác nhau. Những trường hợp phải thay contactor ít. TIếp tục theo dõi.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1743982"/>
                  </a:ext>
                </a:extLst>
              </a:tr>
              <a:tr h="1536480">
                <a:tc>
                  <a:txBody>
                    <a:bodyPr/>
                    <a:lstStyle/>
                    <a:p>
                      <a:pPr algn="l" fontAlgn="t"/>
                      <a:r>
                        <a:rPr lang="en-US" sz="1100" b="0" i="0" u="none" strike="noStrike">
                          <a:solidFill>
                            <a:srgbClr val="000000"/>
                          </a:solidFill>
                          <a:effectLst/>
                          <a:latin typeface="Calibri" panose="020F0502020204030204" pitchFamily="34" charset="0"/>
                        </a:rPr>
                        <a:t>A861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22:30 31/03/2025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VN33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SGN-MUC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SWAP THE FORWARD POTABLE WATER PUMP FROM A864 WITH A861 &lt;p&gt;REF WO 7256192 REQ SWAP THE FORWARD POTABLE WATER PUMP FROM A864 WITH THE AFT POTABLE WATER PUMP ON A861&lt;/p&gt;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EVENT CLOSED &lt;p&gt;- C/O SWAPPED THE FORWARD POTABLE WATER PUMP FROM A864 WITH THE AFT POTABLE WATER PUMP ON A861. SATIS. A/C SERVICEABLE.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TOTAL DELAY 25 MINS. TECH 17 MINS. A/C ARRIVAL LATE 8 MINS&lt;/p&gt; &lt;div&gt;&lt;strong&gt;SWAP THE FORWARD POTABLE WATER PUMP FROM A864 WITH A861&lt;/strong&gt;&lt;/div&gt;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a:solidFill>
                            <a:srgbClr val="000000"/>
                          </a:solidFill>
                          <a:effectLst/>
                          <a:latin typeface="Calibri" panose="020F0502020204030204" pitchFamily="34" charset="0"/>
                        </a:rPr>
                        <a:t>Tàu A861 có mess báo both pumps faults hai chuyến liên tiếp. VAE đã thực hiện swap pumps với A864 để theo dõi cũng như đề phòng hỏng thật cho cả hai pumps của A861. Tình trạng hiện tại bình thường, tiếp tục theo dõi.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693601"/>
                  </a:ext>
                </a:extLst>
              </a:tr>
            </a:tbl>
          </a:graphicData>
        </a:graphic>
      </p:graphicFrame>
    </p:spTree>
    <p:extLst>
      <p:ext uri="{BB962C8B-B14F-4D97-AF65-F5344CB8AC3E}">
        <p14:creationId xmlns:p14="http://schemas.microsoft.com/office/powerpoint/2010/main" val="2408560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20</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DEF2B892-BB49-1F16-F92B-10AF5228BBE2}"/>
              </a:ext>
            </a:extLst>
          </p:cNvPr>
          <p:cNvGraphicFramePr>
            <a:graphicFrameLocks noGrp="1"/>
          </p:cNvGraphicFramePr>
          <p:nvPr/>
        </p:nvGraphicFramePr>
        <p:xfrm>
          <a:off x="175689" y="501464"/>
          <a:ext cx="11852519" cy="6323647"/>
        </p:xfrm>
        <a:graphic>
          <a:graphicData uri="http://schemas.openxmlformats.org/drawingml/2006/table">
            <a:tbl>
              <a:tblPr/>
              <a:tblGrid>
                <a:gridCol w="831445">
                  <a:extLst>
                    <a:ext uri="{9D8B030D-6E8A-4147-A177-3AD203B41FA5}">
                      <a16:colId xmlns:a16="http://schemas.microsoft.com/office/drawing/2014/main" val="1410747871"/>
                    </a:ext>
                  </a:extLst>
                </a:gridCol>
                <a:gridCol w="955277">
                  <a:extLst>
                    <a:ext uri="{9D8B030D-6E8A-4147-A177-3AD203B41FA5}">
                      <a16:colId xmlns:a16="http://schemas.microsoft.com/office/drawing/2014/main" val="3645730299"/>
                    </a:ext>
                  </a:extLst>
                </a:gridCol>
                <a:gridCol w="831445">
                  <a:extLst>
                    <a:ext uri="{9D8B030D-6E8A-4147-A177-3AD203B41FA5}">
                      <a16:colId xmlns:a16="http://schemas.microsoft.com/office/drawing/2014/main" val="243987715"/>
                    </a:ext>
                  </a:extLst>
                </a:gridCol>
                <a:gridCol w="1839795">
                  <a:extLst>
                    <a:ext uri="{9D8B030D-6E8A-4147-A177-3AD203B41FA5}">
                      <a16:colId xmlns:a16="http://schemas.microsoft.com/office/drawing/2014/main" val="3014297232"/>
                    </a:ext>
                  </a:extLst>
                </a:gridCol>
                <a:gridCol w="1132181">
                  <a:extLst>
                    <a:ext uri="{9D8B030D-6E8A-4147-A177-3AD203B41FA5}">
                      <a16:colId xmlns:a16="http://schemas.microsoft.com/office/drawing/2014/main" val="2760172972"/>
                    </a:ext>
                  </a:extLst>
                </a:gridCol>
                <a:gridCol w="1769032">
                  <a:extLst>
                    <a:ext uri="{9D8B030D-6E8A-4147-A177-3AD203B41FA5}">
                      <a16:colId xmlns:a16="http://schemas.microsoft.com/office/drawing/2014/main" val="4032298096"/>
                    </a:ext>
                  </a:extLst>
                </a:gridCol>
                <a:gridCol w="4493344">
                  <a:extLst>
                    <a:ext uri="{9D8B030D-6E8A-4147-A177-3AD203B41FA5}">
                      <a16:colId xmlns:a16="http://schemas.microsoft.com/office/drawing/2014/main" val="2938261311"/>
                    </a:ext>
                  </a:extLst>
                </a:gridCol>
              </a:tblGrid>
              <a:tr h="208200">
                <a:tc>
                  <a:txBody>
                    <a:bodyPr/>
                    <a:lstStyle/>
                    <a:p>
                      <a:pPr algn="ctr" fontAlgn="ctr"/>
                      <a:r>
                        <a:rPr lang="en-US" sz="1300" b="0" i="0" u="none" strike="noStrike">
                          <a:solidFill>
                            <a:srgbClr val="000000"/>
                          </a:solidFill>
                          <a:effectLst/>
                          <a:latin typeface="Calibri" panose="020F0502020204030204" pitchFamily="34" charset="0"/>
                        </a:rPr>
                        <a:t>No</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8013020"/>
                  </a:ext>
                </a:extLst>
              </a:tr>
              <a:tr h="208200">
                <a:tc>
                  <a:txBody>
                    <a:bodyPr/>
                    <a:lstStyle/>
                    <a:p>
                      <a:pPr algn="ctr" fontAlgn="ctr"/>
                      <a:r>
                        <a:rPr lang="en-US" sz="1300" b="0" i="0" u="none" strike="noStrike">
                          <a:solidFill>
                            <a:srgbClr val="000000"/>
                          </a:solidFill>
                          <a:effectLst/>
                          <a:latin typeface="Calibri" panose="020F0502020204030204" pitchFamily="34" charset="0"/>
                        </a:rPr>
                        <a:t>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0112948"/>
                  </a:ext>
                </a:extLst>
              </a:tr>
              <a:tr h="208200">
                <a:tc>
                  <a:txBody>
                    <a:bodyPr/>
                    <a:lstStyle/>
                    <a:p>
                      <a:pPr algn="ctr" fontAlgn="ctr"/>
                      <a:r>
                        <a:rPr lang="en-US" sz="1300" b="0" i="0" u="none" strike="noStrike">
                          <a:solidFill>
                            <a:srgbClr val="000000"/>
                          </a:solidFill>
                          <a:effectLst/>
                          <a:latin typeface="Calibri" panose="020F0502020204030204" pitchFamily="34" charset="0"/>
                        </a:rPr>
                        <a:t>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631049"/>
                  </a:ext>
                </a:extLst>
              </a:tr>
              <a:tr h="482549">
                <a:tc>
                  <a:txBody>
                    <a:bodyPr/>
                    <a:lstStyle/>
                    <a:p>
                      <a:pPr algn="ctr" fontAlgn="ctr"/>
                      <a:r>
                        <a:rPr lang="en-US" sz="1300" b="0" i="0" u="none" strike="noStrike">
                          <a:solidFill>
                            <a:srgbClr val="000000"/>
                          </a:solidFill>
                          <a:effectLst/>
                          <a:latin typeface="Calibri" panose="020F0502020204030204" pitchFamily="34" charset="0"/>
                        </a:rPr>
                        <a:t>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B1668 RAISED: STS MSG: TAIL AIRFLOW SYS</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8519208"/>
                  </a:ext>
                </a:extLst>
              </a:tr>
              <a:tr h="208200">
                <a:tc>
                  <a:txBody>
                    <a:bodyPr/>
                    <a:lstStyle/>
                    <a:p>
                      <a:pPr algn="ctr" fontAlgn="ctr"/>
                      <a:r>
                        <a:rPr lang="en-US" sz="1300" b="0" i="0" u="none" strike="noStrike">
                          <a:solidFill>
                            <a:srgbClr val="000000"/>
                          </a:solidFill>
                          <a:effectLst/>
                          <a:latin typeface="Calibri" panose="020F0502020204030204" pitchFamily="34" charset="0"/>
                        </a:rPr>
                        <a:t>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B1248: "STS MSG: NITROGEN GENERATION SYSTEM"</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41669"/>
                  </a:ext>
                </a:extLst>
              </a:tr>
              <a:tr h="208200">
                <a:tc>
                  <a:txBody>
                    <a:bodyPr/>
                    <a:lstStyle/>
                    <a:p>
                      <a:pPr algn="ctr" fontAlgn="ctr"/>
                      <a:r>
                        <a:rPr lang="en-US" sz="1300" b="0" i="0" u="none" strike="noStrike">
                          <a:solidFill>
                            <a:srgbClr val="000000"/>
                          </a:solidFill>
                          <a:effectLst/>
                          <a:latin typeface="Calibri" panose="020F0502020204030204" pitchFamily="34" charset="0"/>
                        </a:rPr>
                        <a:t>5</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5118362"/>
                  </a:ext>
                </a:extLst>
              </a:tr>
              <a:tr h="803480">
                <a:tc>
                  <a:txBody>
                    <a:bodyPr/>
                    <a:lstStyle/>
                    <a:p>
                      <a:pPr algn="ctr" fontAlgn="ctr"/>
                      <a:r>
                        <a:rPr lang="en-US" sz="1300" b="0" i="0" u="none" strike="noStrike">
                          <a:solidFill>
                            <a:srgbClr val="000000"/>
                          </a:solidFill>
                          <a:effectLst/>
                          <a:latin typeface="Calibri" panose="020F0502020204030204" pitchFamily="34" charset="0"/>
                        </a:rPr>
                        <a:t>6</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ADD B1340 CABIN HANDSET AT DOOR 3L INTERMITTEN FAULT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1153863"/>
                  </a:ext>
                </a:extLst>
              </a:tr>
              <a:tr h="482549">
                <a:tc>
                  <a:txBody>
                    <a:bodyPr/>
                    <a:lstStyle/>
                    <a:p>
                      <a:pPr algn="ctr" fontAlgn="ctr"/>
                      <a:r>
                        <a:rPr lang="en-US" sz="1300" b="0" i="0" u="none" strike="noStrike">
                          <a:solidFill>
                            <a:srgbClr val="000000"/>
                          </a:solidFill>
                          <a:effectLst/>
                          <a:latin typeface="Calibri" panose="020F0502020204030204" pitchFamily="34" charset="0"/>
                        </a:rPr>
                        <a:t>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9650301"/>
                  </a:ext>
                </a:extLst>
              </a:tr>
              <a:tr h="411400">
                <a:tc>
                  <a:txBody>
                    <a:bodyPr/>
                    <a:lstStyle/>
                    <a:p>
                      <a:pPr algn="ctr" fontAlgn="ctr"/>
                      <a:r>
                        <a:rPr lang="en-US" sz="1300" b="0" i="0" u="none" strike="noStrike">
                          <a:solidFill>
                            <a:srgbClr val="000000"/>
                          </a:solidFill>
                          <a:effectLst/>
                          <a:latin typeface="Calibri" panose="020F0502020204030204" pitchFamily="34" charset="0"/>
                        </a:rPr>
                        <a:t>8</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B1121 RAISED : REMOVE ENG#1 (SN: 956769) IN 25 CYCLES,DL: 6280 FC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470796"/>
                  </a:ext>
                </a:extLst>
              </a:tr>
              <a:tr h="482549">
                <a:tc>
                  <a:txBody>
                    <a:bodyPr/>
                    <a:lstStyle/>
                    <a:p>
                      <a:pPr algn="ctr" fontAlgn="ctr"/>
                      <a:r>
                        <a:rPr lang="en-US" sz="1300" b="0" i="0" u="none" strike="noStrike">
                          <a:solidFill>
                            <a:srgbClr val="000000"/>
                          </a:solidFill>
                          <a:effectLst/>
                          <a:latin typeface="Calibri" panose="020F0502020204030204" pitchFamily="34" charset="0"/>
                        </a:rPr>
                        <a:t>9</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7293055"/>
                  </a:ext>
                </a:extLst>
              </a:tr>
              <a:tr h="643013">
                <a:tc>
                  <a:txBody>
                    <a:bodyPr/>
                    <a:lstStyle/>
                    <a:p>
                      <a:pPr algn="ctr" fontAlgn="ctr"/>
                      <a:r>
                        <a:rPr lang="en-US" sz="1300" b="0" i="0" u="none" strike="noStrike">
                          <a:solidFill>
                            <a:srgbClr val="000000"/>
                          </a:solidFill>
                          <a:effectLst/>
                          <a:latin typeface="Calibri" panose="020F0502020204030204" pitchFamily="34" charset="0"/>
                        </a:rPr>
                        <a:t>10</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B1374 TAIL AIRFLOW SYS</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B1401 AT THE EARLIEST CONVENIENCE ON OR  100 FLIGHT CYCLES FINAL TORQUE MUST BE REAPPLIED TO ALL 4 WINDOWS</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5404329"/>
                  </a:ext>
                </a:extLst>
              </a:tr>
              <a:tr h="321507">
                <a:tc>
                  <a:txBody>
                    <a:bodyPr/>
                    <a:lstStyle/>
                    <a:p>
                      <a:pPr algn="ctr" fontAlgn="ctr"/>
                      <a:r>
                        <a:rPr lang="en-US" sz="1300" b="0" i="0" u="none" strike="noStrike">
                          <a:solidFill>
                            <a:srgbClr val="000000"/>
                          </a:solidFill>
                          <a:effectLst/>
                          <a:latin typeface="Calibri" panose="020F0502020204030204" pitchFamily="34" charset="0"/>
                        </a:rPr>
                        <a:t>11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(956913) HPT 1B có hỏng hóc (giảm tần suất 50FC)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2549806"/>
                  </a:ext>
                </a:extLst>
              </a:tr>
              <a:tr h="208200">
                <a:tc>
                  <a:txBody>
                    <a:bodyPr/>
                    <a:lstStyle/>
                    <a:p>
                      <a:pPr algn="ctr" fontAlgn="ctr"/>
                      <a:r>
                        <a:rPr lang="en-US" sz="1300" b="0" i="0" u="none" strike="noStrike">
                          <a:solidFill>
                            <a:srgbClr val="000000"/>
                          </a:solidFill>
                          <a:effectLst/>
                          <a:latin typeface="Calibri" panose="020F0502020204030204" pitchFamily="34" charset="0"/>
                        </a:rPr>
                        <a:t>12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8022947"/>
                  </a:ext>
                </a:extLst>
              </a:tr>
              <a:tr h="208200">
                <a:tc>
                  <a:txBody>
                    <a:bodyPr/>
                    <a:lstStyle/>
                    <a:p>
                      <a:pPr algn="ctr" fontAlgn="ctr"/>
                      <a:r>
                        <a:rPr lang="en-US" sz="1300" b="0" i="0" u="none" strike="noStrike">
                          <a:solidFill>
                            <a:srgbClr val="000000"/>
                          </a:solidFill>
                          <a:effectLst/>
                          <a:latin typeface="Calibri" panose="020F0502020204030204" pitchFamily="34" charset="0"/>
                        </a:rPr>
                        <a:t>13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8212977"/>
                  </a:ext>
                </a:extLst>
              </a:tr>
              <a:tr h="208200">
                <a:tc>
                  <a:txBody>
                    <a:bodyPr/>
                    <a:lstStyle/>
                    <a:p>
                      <a:pPr algn="ctr" fontAlgn="ctr"/>
                      <a:r>
                        <a:rPr lang="en-US" sz="1300" b="0" i="0" u="none" strike="noStrike">
                          <a:solidFill>
                            <a:srgbClr val="000000"/>
                          </a:solidFill>
                          <a:effectLst/>
                          <a:latin typeface="Calibri" panose="020F0502020204030204" pitchFamily="34" charset="0"/>
                        </a:rPr>
                        <a:t>14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3510264"/>
                  </a:ext>
                </a:extLst>
              </a:tr>
              <a:tr h="208200">
                <a:tc>
                  <a:txBody>
                    <a:bodyPr/>
                    <a:lstStyle/>
                    <a:p>
                      <a:pPr algn="ctr" fontAlgn="ctr"/>
                      <a:r>
                        <a:rPr lang="en-US" sz="1300" b="0" i="0" u="none" strike="noStrike">
                          <a:solidFill>
                            <a:srgbClr val="000000"/>
                          </a:solidFill>
                          <a:effectLst/>
                          <a:latin typeface="Calibri" panose="020F0502020204030204" pitchFamily="34" charset="0"/>
                        </a:rPr>
                        <a:t>15</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0314138"/>
                  </a:ext>
                </a:extLst>
              </a:tr>
              <a:tr h="208200">
                <a:tc>
                  <a:txBody>
                    <a:bodyPr/>
                    <a:lstStyle/>
                    <a:p>
                      <a:pPr algn="ctr" fontAlgn="ctr"/>
                      <a:r>
                        <a:rPr lang="en-US" sz="1300" b="0" i="0" u="none" strike="noStrike">
                          <a:solidFill>
                            <a:srgbClr val="000000"/>
                          </a:solidFill>
                          <a:effectLst/>
                          <a:latin typeface="Calibri" panose="020F0502020204030204" pitchFamily="34" charset="0"/>
                        </a:rPr>
                        <a:t>16</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7195805"/>
                  </a:ext>
                </a:extLst>
              </a:tr>
              <a:tr h="614600">
                <a:tc>
                  <a:txBody>
                    <a:bodyPr/>
                    <a:lstStyle/>
                    <a:p>
                      <a:pPr algn="ctr" fontAlgn="ctr"/>
                      <a:r>
                        <a:rPr lang="en-US" sz="1300" b="0" i="0" u="none" strike="noStrike">
                          <a:solidFill>
                            <a:srgbClr val="000000"/>
                          </a:solidFill>
                          <a:effectLst/>
                          <a:latin typeface="Calibri" panose="020F0502020204030204" pitchFamily="34" charset="0"/>
                        </a:rPr>
                        <a:t>17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5000" marR="5000" marT="50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506610"/>
                  </a:ext>
                </a:extLst>
              </a:tr>
            </a:tbl>
          </a:graphicData>
        </a:graphic>
      </p:graphicFrame>
    </p:spTree>
    <p:extLst>
      <p:ext uri="{BB962C8B-B14F-4D97-AF65-F5344CB8AC3E}">
        <p14:creationId xmlns:p14="http://schemas.microsoft.com/office/powerpoint/2010/main" val="4139385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21</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50" y="594263"/>
            <a:ext cx="11690701" cy="2308324"/>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chưa tốt với 01 TH GTB.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A879 GTB ngày 03/04 do NO GO MSG: ELEC P200 PANEL, RESET OK.</a:t>
            </a:r>
          </a:p>
          <a:p>
            <a:pPr marL="609585" lvl="1" algn="just"/>
            <a:r>
              <a:rPr lang="vi-VN" sz="1600">
                <a:solidFill>
                  <a:srgbClr val="FF0000"/>
                </a:solidFill>
                <a:latin typeface="Times New Roman" panose="02020603050405020304" pitchFamily="18" charset="0"/>
                <a:cs typeface="Times New Roman" panose="02020603050405020304" pitchFamily="18" charset="0"/>
              </a:rPr>
              <a:t>MSG intermittent, đã thực hiện reset được sau khi RTG. Tuy nhiên sau đó đã cho thay contactor (CK2143501 EXH FAN- FWD CARGO HT) để đánh chặn hỏng hóc. Hiện không có issue worldwide về contactor này. Thống kê tháo lắp trong các năm gần đây (2022: 1, 2023:0, 2024: 2, 2025: 1). Ngoài ra từ khi khai thác, có khoảng 100 sự vụ có liên quan đến FDE: ELEC P200, tuy nhiên đa số đều reset được, kiểm tra dây không có finding. Nhiều trường hợp FDE: ELEC P200 gắn với FDE và MMSG khác nên có nhiều nguyên nhân hỏng hóc khác nhau. Những trường hợp phải thay contactor ít. TIếp tục theo dõi.</a:t>
            </a:r>
            <a:endParaRPr lang="en-SG" sz="160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698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92E031-A495-C425-F4D6-8B23CC62A11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EF91500-24F8-9A79-AC28-72188765A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C1F1A29-C2BD-434E-677B-E97D46A702DD}"/>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67EFEE8-7A57-C8BE-9EB9-D2B348474B51}"/>
              </a:ext>
            </a:extLst>
          </p:cNvPr>
          <p:cNvSpPr txBox="1"/>
          <p:nvPr/>
        </p:nvSpPr>
        <p:spPr>
          <a:xfrm>
            <a:off x="76199" y="1135253"/>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sp>
        <p:nvSpPr>
          <p:cNvPr id="9" name="TextBox 8">
            <a:extLst>
              <a:ext uri="{FF2B5EF4-FFF2-40B4-BE49-F238E27FC236}">
                <a16:creationId xmlns:a16="http://schemas.microsoft.com/office/drawing/2014/main" id="{792301F0-8542-2D8A-C66A-326C6F3CDFAE}"/>
              </a:ext>
            </a:extLst>
          </p:cNvPr>
          <p:cNvSpPr txBox="1"/>
          <p:nvPr/>
        </p:nvSpPr>
        <p:spPr>
          <a:xfrm>
            <a:off x="76200" y="69372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7" name="Table 6">
            <a:extLst>
              <a:ext uri="{FF2B5EF4-FFF2-40B4-BE49-F238E27FC236}">
                <a16:creationId xmlns:a16="http://schemas.microsoft.com/office/drawing/2014/main" id="{15461739-AE14-4346-93D8-504D811587BE}"/>
              </a:ext>
            </a:extLst>
          </p:cNvPr>
          <p:cNvGraphicFramePr>
            <a:graphicFrameLocks noGrp="1"/>
          </p:cNvGraphicFramePr>
          <p:nvPr/>
        </p:nvGraphicFramePr>
        <p:xfrm>
          <a:off x="116181" y="1447800"/>
          <a:ext cx="11706824" cy="4252167"/>
        </p:xfrm>
        <a:graphic>
          <a:graphicData uri="http://schemas.openxmlformats.org/drawingml/2006/table">
            <a:tbl>
              <a:tblPr/>
              <a:tblGrid>
                <a:gridCol w="322909">
                  <a:extLst>
                    <a:ext uri="{9D8B030D-6E8A-4147-A177-3AD203B41FA5}">
                      <a16:colId xmlns:a16="http://schemas.microsoft.com/office/drawing/2014/main" val="1793832132"/>
                    </a:ext>
                  </a:extLst>
                </a:gridCol>
                <a:gridCol w="838200">
                  <a:extLst>
                    <a:ext uri="{9D8B030D-6E8A-4147-A177-3AD203B41FA5}">
                      <a16:colId xmlns:a16="http://schemas.microsoft.com/office/drawing/2014/main" val="109558353"/>
                    </a:ext>
                  </a:extLst>
                </a:gridCol>
                <a:gridCol w="685800">
                  <a:extLst>
                    <a:ext uri="{9D8B030D-6E8A-4147-A177-3AD203B41FA5}">
                      <a16:colId xmlns:a16="http://schemas.microsoft.com/office/drawing/2014/main" val="2981346840"/>
                    </a:ext>
                  </a:extLst>
                </a:gridCol>
                <a:gridCol w="381000">
                  <a:extLst>
                    <a:ext uri="{9D8B030D-6E8A-4147-A177-3AD203B41FA5}">
                      <a16:colId xmlns:a16="http://schemas.microsoft.com/office/drawing/2014/main" val="1585845206"/>
                    </a:ext>
                  </a:extLst>
                </a:gridCol>
                <a:gridCol w="1846910">
                  <a:extLst>
                    <a:ext uri="{9D8B030D-6E8A-4147-A177-3AD203B41FA5}">
                      <a16:colId xmlns:a16="http://schemas.microsoft.com/office/drawing/2014/main" val="1507092633"/>
                    </a:ext>
                  </a:extLst>
                </a:gridCol>
                <a:gridCol w="3276600">
                  <a:extLst>
                    <a:ext uri="{9D8B030D-6E8A-4147-A177-3AD203B41FA5}">
                      <a16:colId xmlns:a16="http://schemas.microsoft.com/office/drawing/2014/main" val="2589245263"/>
                    </a:ext>
                  </a:extLst>
                </a:gridCol>
                <a:gridCol w="685800">
                  <a:extLst>
                    <a:ext uri="{9D8B030D-6E8A-4147-A177-3AD203B41FA5}">
                      <a16:colId xmlns:a16="http://schemas.microsoft.com/office/drawing/2014/main" val="908218"/>
                    </a:ext>
                  </a:extLst>
                </a:gridCol>
                <a:gridCol w="3669605">
                  <a:extLst>
                    <a:ext uri="{9D8B030D-6E8A-4147-A177-3AD203B41FA5}">
                      <a16:colId xmlns:a16="http://schemas.microsoft.com/office/drawing/2014/main" val="649488762"/>
                    </a:ext>
                  </a:extLst>
                </a:gridCol>
              </a:tblGrid>
              <a:tr h="388827">
                <a:tc>
                  <a:txBody>
                    <a:bodyPr/>
                    <a:lstStyle/>
                    <a:p>
                      <a:pPr algn="ctr" fontAlgn="ctr"/>
                      <a:r>
                        <a:rPr lang="en-US" sz="1000" b="0" i="0" u="none" strike="noStrike">
                          <a:solidFill>
                            <a:srgbClr val="000000"/>
                          </a:solidFill>
                          <a:effectLst/>
                          <a:latin typeface="Calibri" panose="020F0502020204030204" pitchFamily="34" charset="0"/>
                        </a:rPr>
                        <a:t>A/C</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OPEN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CLOSED DATE</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STA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DEFECT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dirty="0">
                          <a:solidFill>
                            <a:srgbClr val="000000"/>
                          </a:solidFill>
                          <a:effectLst/>
                          <a:latin typeface="Calibri" panose="020F0502020204030204" pitchFamily="34" charset="0"/>
                        </a:rPr>
                        <a:t>ACTION</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ATA</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Calibri" panose="020F0502020204030204" pitchFamily="34" charset="0"/>
                        </a:rPr>
                        <a:t>Engineering Assessment</a:t>
                      </a:r>
                    </a:p>
                  </a:txBody>
                  <a:tcPr marL="3626" marR="3626" marT="36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22022239"/>
                  </a:ext>
                </a:extLst>
              </a:tr>
              <a:tr h="1360895">
                <a:tc>
                  <a:txBody>
                    <a:bodyPr/>
                    <a:lstStyle/>
                    <a:p>
                      <a:pPr algn="l" fontAlgn="t"/>
                      <a:r>
                        <a:rPr lang="en-US" sz="1100" b="0" i="0" u="none" strike="noStrike">
                          <a:solidFill>
                            <a:srgbClr val="000000"/>
                          </a:solidFill>
                          <a:effectLst/>
                          <a:latin typeface="Calibri" panose="020F0502020204030204" pitchFamily="34" charset="0"/>
                        </a:rPr>
                        <a:t>B219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15:00 03/04/2025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LDGS RETRACTION NOT POSSIBLE.  &lt;p&gt;AFTER TAKE OFF, CAPT REPORT LDGS RETRACTION NOT POSSIBLE.. CAPT DECIDED CONTINUE FLT TO SGN WITH LDG GEARS EXTENDED&lt;/p&gt;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EVENT CLOSED &lt;p&gt;C/O REPLACE NEW LDG SELECTOR VALVE. DO THE FUNCTIONAL TEST OF THE EMERGENCY EXTENSION REF. MP ATR-A-32-33-XX-00ZZZ-340Z-A FOUND  SATIS.&lt;/p&gt;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r>
                        <a:rPr lang="vi-VN" sz="1100" b="0" i="0" u="none" strike="noStrike">
                          <a:solidFill>
                            <a:srgbClr val="000000"/>
                          </a:solidFill>
                          <a:effectLst/>
                          <a:latin typeface="Calibri" panose="020F0502020204030204" pitchFamily="34" charset="0"/>
                        </a:rPr>
                        <a:t>Hỏng hóc được khắc phục sau khi thay Selector valve P/N 100-5383Y00</a:t>
                      </a:r>
                    </a:p>
                    <a:p>
                      <a:pPr algn="l" fontAlgn="t"/>
                      <a:endParaRPr lang="vi-VN" sz="1100" b="0" i="0" u="none" strike="noStrike">
                        <a:solidFill>
                          <a:srgbClr val="000000"/>
                        </a:solidFill>
                        <a:effectLst/>
                        <a:latin typeface="Calibri" panose="020F0502020204030204" pitchFamily="34" charset="0"/>
                      </a:endParaRPr>
                    </a:p>
                    <a:p>
                      <a:pPr algn="l" fontAlgn="t"/>
                      <a:r>
                        <a:rPr lang="vi-VN" sz="1100" b="0" i="0" u="none" strike="noStrike">
                          <a:solidFill>
                            <a:srgbClr val="000000"/>
                          </a:solidFill>
                          <a:effectLst/>
                          <a:latin typeface="Calibri" panose="020F0502020204030204" pitchFamily="34" charset="0"/>
                        </a:rPr>
                        <a:t>Tính từ 2015, đã có 9 lần thay khối này trên đội tàu bay ATR72:</a:t>
                      </a:r>
                    </a:p>
                    <a:p>
                      <a:pPr algn="l" fontAlgn="t"/>
                      <a:r>
                        <a:rPr lang="vi-VN" sz="1100" b="0" i="0" u="none" strike="noStrike">
                          <a:solidFill>
                            <a:srgbClr val="000000"/>
                          </a:solidFill>
                          <a:effectLst/>
                          <a:latin typeface="Calibri" panose="020F0502020204030204" pitchFamily="34" charset="0"/>
                        </a:rPr>
                        <a:t>- MTBUR = 19647 FH</a:t>
                      </a:r>
                    </a:p>
                    <a:p>
                      <a:pPr algn="l" fontAlgn="t"/>
                      <a:r>
                        <a:rPr lang="vi-VN" sz="1100" b="0" i="0" u="none" strike="noStrike">
                          <a:solidFill>
                            <a:srgbClr val="000000"/>
                          </a:solidFill>
                          <a:effectLst/>
                          <a:latin typeface="Calibri" panose="020F0502020204030204" pitchFamily="34" charset="0"/>
                        </a:rPr>
                        <a:t>- Avg. CSI = 15787 FC</a:t>
                      </a:r>
                    </a:p>
                    <a:p>
                      <a:pPr algn="l" fontAlgn="t"/>
                      <a:r>
                        <a:rPr lang="vi-VN" sz="1100" b="0" i="0" u="none" strike="noStrike">
                          <a:solidFill>
                            <a:srgbClr val="000000"/>
                          </a:solidFill>
                          <a:effectLst/>
                          <a:latin typeface="Calibri" panose="020F0502020204030204" pitchFamily="34" charset="0"/>
                        </a:rPr>
                        <a:t>- Avg. TSI = 14050 FH</a:t>
                      </a:r>
                    </a:p>
                    <a:p>
                      <a:pPr algn="l" fontAlgn="t"/>
                      <a:r>
                        <a:rPr lang="vi-VN" sz="1100" b="0" i="0" u="none" strike="noStrike">
                          <a:solidFill>
                            <a:srgbClr val="000000"/>
                          </a:solidFill>
                          <a:effectLst/>
                          <a:latin typeface="Calibri" panose="020F0502020204030204" pitchFamily="34" charset="0"/>
                        </a:rPr>
                        <a:t>Nguyên nhân hỏng hóc do các cuộn dây bị hỏng:</a:t>
                      </a:r>
                    </a:p>
                    <a:p>
                      <a:pPr algn="l" fontAlgn="t"/>
                      <a:r>
                        <a:rPr lang="vi-VN" sz="1100" b="0" i="0" u="none" strike="noStrike">
                          <a:solidFill>
                            <a:srgbClr val="000000"/>
                          </a:solidFill>
                          <a:effectLst/>
                          <a:latin typeface="Calibri" panose="020F0502020204030204" pitchFamily="34" charset="0"/>
                        </a:rPr>
                        <a:t>Component mainly fails due to either UP solenoid assy or DOWN solenoid assy damaged. A solenoid failure is a sudden failure which is difficult to detect early.</a:t>
                      </a:r>
                    </a:p>
                    <a:p>
                      <a:pPr algn="l" fontAlgn="t"/>
                      <a:endParaRPr lang="vi-VN" sz="1100" b="0" i="0" u="none" strike="noStrike">
                        <a:solidFill>
                          <a:srgbClr val="000000"/>
                        </a:solidFill>
                        <a:effectLst/>
                        <a:latin typeface="Calibri" panose="020F0502020204030204" pitchFamily="34" charset="0"/>
                      </a:endParaRPr>
                    </a:p>
                    <a:p>
                      <a:pPr algn="l" fontAlgn="t"/>
                      <a:r>
                        <a:rPr lang="vi-VN" sz="1100" b="0" i="0" u="none" strike="noStrike">
                          <a:solidFill>
                            <a:srgbClr val="000000"/>
                          </a:solidFill>
                          <a:effectLst/>
                          <a:latin typeface="Calibri" panose="020F0502020204030204" pitchFamily="34" charset="0"/>
                        </a:rPr>
                        <a:t>Giải pháp:</a:t>
                      </a:r>
                    </a:p>
                    <a:p>
                      <a:pPr algn="l" fontAlgn="t"/>
                      <a:r>
                        <a:rPr lang="vi-VN" sz="1100" b="0" i="0" u="none" strike="noStrike">
                          <a:solidFill>
                            <a:srgbClr val="000000"/>
                          </a:solidFill>
                          <a:effectLst/>
                          <a:latin typeface="Calibri" panose="020F0502020204030204" pitchFamily="34" charset="0"/>
                        </a:rPr>
                        <a:t>- ATR đánh giá độ tin cậy của khối này trên thế giới đang cao, nên không có vấn đề về độ tin cậy của khối này hay giải pháp nâng cấp:  we confirm that the LG selector valve aligns with the world mean time between unscheduled removal (MTBUR). Based on the data analysed from the Excel sheet (refer to attached excel sheet), the rows highlighted in green indicate no issues with either the selector valve or the aircraft</a:t>
                      </a:r>
                    </a:p>
                    <a:p>
                      <a:pPr algn="l" fontAlgn="t"/>
                      <a:r>
                        <a:rPr lang="vi-VN" sz="1100" b="0" i="0" u="none" strike="noStrike">
                          <a:solidFill>
                            <a:srgbClr val="000000"/>
                          </a:solidFill>
                          <a:effectLst/>
                          <a:latin typeface="Calibri" panose="020F0502020204030204" pitchFamily="34" charset="0"/>
                        </a:rPr>
                        <a:t>- Đảm bảo dự phòng khối selector valve trong kho</a:t>
                      </a:r>
                    </a:p>
                    <a:p>
                      <a:pPr algn="l" fontAlgn="t"/>
                      <a:r>
                        <a:rPr lang="vi-VN" sz="1100" b="0" i="0" u="none" strike="noStrike">
                          <a:solidFill>
                            <a:srgbClr val="000000"/>
                          </a:solidFill>
                          <a:effectLst/>
                          <a:latin typeface="Calibri" panose="020F0502020204030204" pitchFamily="34" charset="0"/>
                        </a:rPr>
                        <a:t>- Xem xét chủ động tháo gửi selector valve đi thay cả 2 cuộn solenoid.</a:t>
                      </a:r>
                      <a:endParaRPr lang="en-US" sz="1100" b="0" i="0" u="none" strike="noStrike">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9177545"/>
                  </a:ext>
                </a:extLst>
              </a:tr>
            </a:tbl>
          </a:graphicData>
        </a:graphic>
      </p:graphicFrame>
    </p:spTree>
    <p:extLst>
      <p:ext uri="{BB962C8B-B14F-4D97-AF65-F5344CB8AC3E}">
        <p14:creationId xmlns:p14="http://schemas.microsoft.com/office/powerpoint/2010/main" val="3444715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9D15554-CE77-91E4-124F-D7F9E16046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819428-A22E-D96E-926E-123DC3781649}"/>
              </a:ext>
            </a:extLst>
          </p:cNvPr>
          <p:cNvSpPr txBox="1"/>
          <p:nvPr/>
        </p:nvSpPr>
        <p:spPr>
          <a:xfrm>
            <a:off x="690253" y="115968"/>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B219- AOG- LANDING GEARS CANNOT RETRACT </a:t>
            </a:r>
          </a:p>
        </p:txBody>
      </p:sp>
      <p:pic>
        <p:nvPicPr>
          <p:cNvPr id="4" name="Picture 3">
            <a:extLst>
              <a:ext uri="{FF2B5EF4-FFF2-40B4-BE49-F238E27FC236}">
                <a16:creationId xmlns:a16="http://schemas.microsoft.com/office/drawing/2014/main" id="{1C20EA80-2331-467F-BBC9-C36CBA9E2EF3}"/>
              </a:ext>
            </a:extLst>
          </p:cNvPr>
          <p:cNvPicPr>
            <a:picLocks noChangeAspect="1"/>
          </p:cNvPicPr>
          <p:nvPr/>
        </p:nvPicPr>
        <p:blipFill>
          <a:blip r:embed="rId3"/>
          <a:stretch>
            <a:fillRect/>
          </a:stretch>
        </p:blipFill>
        <p:spPr>
          <a:xfrm>
            <a:off x="8005426" y="626865"/>
            <a:ext cx="4165619" cy="3638873"/>
          </a:xfrm>
          <a:prstGeom prst="rect">
            <a:avLst/>
          </a:prstGeom>
        </p:spPr>
      </p:pic>
      <p:pic>
        <p:nvPicPr>
          <p:cNvPr id="6" name="Picture 5">
            <a:extLst>
              <a:ext uri="{FF2B5EF4-FFF2-40B4-BE49-F238E27FC236}">
                <a16:creationId xmlns:a16="http://schemas.microsoft.com/office/drawing/2014/main" id="{BFD43569-D35C-4F73-A307-B825216B0070}"/>
              </a:ext>
            </a:extLst>
          </p:cNvPr>
          <p:cNvPicPr>
            <a:picLocks noChangeAspect="1"/>
          </p:cNvPicPr>
          <p:nvPr/>
        </p:nvPicPr>
        <p:blipFill>
          <a:blip r:embed="rId4"/>
          <a:stretch>
            <a:fillRect/>
          </a:stretch>
        </p:blipFill>
        <p:spPr>
          <a:xfrm>
            <a:off x="8382000" y="4265738"/>
            <a:ext cx="3144028" cy="1833562"/>
          </a:xfrm>
          <a:prstGeom prst="rect">
            <a:avLst/>
          </a:prstGeom>
        </p:spPr>
      </p:pic>
      <p:sp>
        <p:nvSpPr>
          <p:cNvPr id="8" name="Rectangle 7">
            <a:extLst>
              <a:ext uri="{FF2B5EF4-FFF2-40B4-BE49-F238E27FC236}">
                <a16:creationId xmlns:a16="http://schemas.microsoft.com/office/drawing/2014/main" id="{5835806A-0072-4705-B075-0C9D13769695}"/>
              </a:ext>
            </a:extLst>
          </p:cNvPr>
          <p:cNvSpPr/>
          <p:nvPr/>
        </p:nvSpPr>
        <p:spPr>
          <a:xfrm>
            <a:off x="293368" y="914400"/>
            <a:ext cx="7479031" cy="2862322"/>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err="1">
                <a:ln>
                  <a:noFill/>
                </a:ln>
                <a:solidFill>
                  <a:prstClr val="black"/>
                </a:solidFill>
                <a:effectLst/>
                <a:uLnTx/>
                <a:uFillTx/>
                <a:latin typeface="Cambria"/>
                <a:ea typeface="+mn-ea"/>
                <a:cs typeface="+mn-cs"/>
              </a:rPr>
              <a:t>Hỏng</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hóc</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được</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khắc</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phục</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sau</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khi</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thay</a:t>
            </a:r>
            <a:r>
              <a:rPr kumimoji="0" lang="en-US" sz="1800" b="0" i="0" u="none" strike="noStrike" kern="1200" cap="none" spc="0" normalizeH="0" baseline="0" noProof="0" dirty="0">
                <a:ln>
                  <a:noFill/>
                </a:ln>
                <a:solidFill>
                  <a:prstClr val="black"/>
                </a:solidFill>
                <a:effectLst/>
                <a:uLnTx/>
                <a:uFillTx/>
                <a:latin typeface="Cambria"/>
                <a:ea typeface="+mn-ea"/>
                <a:cs typeface="+mn-cs"/>
              </a:rPr>
              <a:t> Selector valve P/N 100-5383Y00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mbria"/>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mbria"/>
                <a:ea typeface="+mn-ea"/>
                <a:cs typeface="+mn-cs"/>
              </a:rPr>
              <a:t>Tính</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từ</a:t>
            </a:r>
            <a:r>
              <a:rPr kumimoji="0" lang="en-US" sz="1800" b="0" i="0" u="none" strike="noStrike" kern="1200" cap="none" spc="0" normalizeH="0" baseline="0" noProof="0" dirty="0">
                <a:ln>
                  <a:noFill/>
                </a:ln>
                <a:solidFill>
                  <a:prstClr val="black"/>
                </a:solidFill>
                <a:effectLst/>
                <a:uLnTx/>
                <a:uFillTx/>
                <a:latin typeface="Cambria"/>
                <a:ea typeface="+mn-ea"/>
                <a:cs typeface="+mn-cs"/>
              </a:rPr>
              <a:t> 2015,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đã</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có</a:t>
            </a:r>
            <a:r>
              <a:rPr kumimoji="0" lang="en-US" sz="1800" b="0" i="0" u="none" strike="noStrike" kern="1200" cap="none" spc="0" normalizeH="0" baseline="0" noProof="0" dirty="0">
                <a:ln>
                  <a:noFill/>
                </a:ln>
                <a:solidFill>
                  <a:prstClr val="black"/>
                </a:solidFill>
                <a:effectLst/>
                <a:uLnTx/>
                <a:uFillTx/>
                <a:latin typeface="Cambria"/>
                <a:ea typeface="+mn-ea"/>
                <a:cs typeface="+mn-cs"/>
              </a:rPr>
              <a:t> 9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lần</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thay</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khối</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này</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trên</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đội</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tàu</a:t>
            </a:r>
            <a:r>
              <a:rPr kumimoji="0" lang="en-US" sz="1800" b="0" i="0" u="none" strike="noStrike" kern="1200" cap="none" spc="0" normalizeH="0" baseline="0" noProof="0" dirty="0">
                <a:ln>
                  <a:noFill/>
                </a:ln>
                <a:solidFill>
                  <a:prstClr val="black"/>
                </a:solidFill>
                <a:effectLst/>
                <a:uLnTx/>
                <a:uFillTx/>
                <a:latin typeface="Cambria"/>
                <a:ea typeface="+mn-ea"/>
                <a:cs typeface="+mn-cs"/>
              </a:rPr>
              <a:t> bay ATR72:</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a:ea typeface="+mn-ea"/>
                <a:cs typeface="+mn-cs"/>
              </a:rPr>
              <a:t>- MTBUR = 19647 FH</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a:ea typeface="+mn-ea"/>
                <a:cs typeface="+mn-cs"/>
              </a:rPr>
              <a:t>- Avg. CSI = 15787 FC</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a:ea typeface="+mn-ea"/>
                <a:cs typeface="+mn-cs"/>
              </a:rPr>
              <a:t>- Avg. TSI = 14050 FH</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800" b="1" i="0" u="none" strike="noStrike" kern="1200" cap="none" spc="0" normalizeH="0" baseline="0" noProof="0" dirty="0" err="1">
                <a:ln>
                  <a:noFill/>
                </a:ln>
                <a:solidFill>
                  <a:srgbClr val="0070C0"/>
                </a:solidFill>
                <a:effectLst/>
                <a:uLnTx/>
                <a:uFillTx/>
                <a:latin typeface="Cambria"/>
                <a:ea typeface="+mn-ea"/>
                <a:cs typeface="+mn-cs"/>
              </a:rPr>
              <a:t>Nguyên</a:t>
            </a:r>
            <a:r>
              <a:rPr kumimoji="0" lang="en-US" sz="1800" b="1" i="0" u="none" strike="noStrike" kern="1200" cap="none" spc="0" normalizeH="0" baseline="0" noProof="0" dirty="0">
                <a:ln>
                  <a:noFill/>
                </a:ln>
                <a:solidFill>
                  <a:srgbClr val="0070C0"/>
                </a:solidFill>
                <a:effectLst/>
                <a:uLnTx/>
                <a:uFillTx/>
                <a:latin typeface="Cambria"/>
                <a:ea typeface="+mn-ea"/>
                <a:cs typeface="+mn-cs"/>
              </a:rPr>
              <a:t> </a:t>
            </a:r>
            <a:r>
              <a:rPr kumimoji="0" lang="en-US" sz="1800" b="1" i="0" u="none" strike="noStrike" kern="1200" cap="none" spc="0" normalizeH="0" baseline="0" noProof="0" dirty="0" err="1">
                <a:ln>
                  <a:noFill/>
                </a:ln>
                <a:solidFill>
                  <a:srgbClr val="0070C0"/>
                </a:solidFill>
                <a:effectLst/>
                <a:uLnTx/>
                <a:uFillTx/>
                <a:latin typeface="Cambria"/>
                <a:ea typeface="+mn-ea"/>
                <a:cs typeface="+mn-cs"/>
              </a:rPr>
              <a:t>nhân</a:t>
            </a:r>
            <a:r>
              <a:rPr kumimoji="0" lang="en-US" sz="1800" b="1" i="0" u="none" strike="noStrike" kern="1200" cap="none" spc="0" normalizeH="0" baseline="0" noProof="0" dirty="0">
                <a:ln>
                  <a:noFill/>
                </a:ln>
                <a:solidFill>
                  <a:srgbClr val="0070C0"/>
                </a:solidFill>
                <a:effectLst/>
                <a:uLnTx/>
                <a:uFillTx/>
                <a:latin typeface="Cambria"/>
                <a:ea typeface="+mn-ea"/>
                <a:cs typeface="+mn-cs"/>
              </a:rPr>
              <a:t> </a:t>
            </a:r>
            <a:r>
              <a:rPr kumimoji="0" lang="en-US" sz="1800" b="1" i="0" u="none" strike="noStrike" kern="1200" cap="none" spc="0" normalizeH="0" baseline="0" noProof="0" dirty="0" err="1">
                <a:ln>
                  <a:noFill/>
                </a:ln>
                <a:solidFill>
                  <a:srgbClr val="0070C0"/>
                </a:solidFill>
                <a:effectLst/>
                <a:uLnTx/>
                <a:uFillTx/>
                <a:latin typeface="Cambria"/>
                <a:ea typeface="+mn-ea"/>
                <a:cs typeface="+mn-cs"/>
              </a:rPr>
              <a:t>hỏng</a:t>
            </a:r>
            <a:r>
              <a:rPr kumimoji="0" lang="en-US" sz="1800" b="1" i="0" u="none" strike="noStrike" kern="1200" cap="none" spc="0" normalizeH="0" baseline="0" noProof="0" dirty="0">
                <a:ln>
                  <a:noFill/>
                </a:ln>
                <a:solidFill>
                  <a:srgbClr val="0070C0"/>
                </a:solidFill>
                <a:effectLst/>
                <a:uLnTx/>
                <a:uFillTx/>
                <a:latin typeface="Cambria"/>
                <a:ea typeface="+mn-ea"/>
                <a:cs typeface="+mn-cs"/>
              </a:rPr>
              <a:t> </a:t>
            </a:r>
            <a:r>
              <a:rPr kumimoji="0" lang="en-US" sz="1800" b="1" i="0" u="none" strike="noStrike" kern="1200" cap="none" spc="0" normalizeH="0" baseline="0" noProof="0" dirty="0" err="1">
                <a:ln>
                  <a:noFill/>
                </a:ln>
                <a:solidFill>
                  <a:srgbClr val="0070C0"/>
                </a:solidFill>
                <a:effectLst/>
                <a:uLnTx/>
                <a:uFillTx/>
                <a:latin typeface="Cambria"/>
                <a:ea typeface="+mn-ea"/>
                <a:cs typeface="+mn-cs"/>
              </a:rPr>
              <a:t>hóc</a:t>
            </a:r>
            <a:r>
              <a:rPr kumimoji="0" lang="en-US" sz="1800" b="1" i="0" u="none" strike="noStrike" kern="1200" cap="none" spc="0" normalizeH="0" baseline="0" noProof="0" dirty="0">
                <a:ln>
                  <a:noFill/>
                </a:ln>
                <a:solidFill>
                  <a:srgbClr val="0070C0"/>
                </a:solidFill>
                <a:effectLst/>
                <a:uLnTx/>
                <a:uFillTx/>
                <a:latin typeface="Cambria"/>
                <a:ea typeface="+mn-ea"/>
                <a:cs typeface="+mn-cs"/>
              </a:rPr>
              <a:t> do </a:t>
            </a:r>
            <a:r>
              <a:rPr kumimoji="0" lang="en-US" sz="1800" b="1" i="0" u="none" strike="noStrike" kern="1200" cap="none" spc="0" normalizeH="0" baseline="0" noProof="0" dirty="0" err="1">
                <a:ln>
                  <a:noFill/>
                </a:ln>
                <a:solidFill>
                  <a:srgbClr val="0070C0"/>
                </a:solidFill>
                <a:effectLst/>
                <a:uLnTx/>
                <a:uFillTx/>
                <a:latin typeface="Cambria"/>
                <a:ea typeface="+mn-ea"/>
                <a:cs typeface="+mn-cs"/>
              </a:rPr>
              <a:t>các</a:t>
            </a:r>
            <a:r>
              <a:rPr kumimoji="0" lang="en-US" sz="1800" b="1" i="0" u="none" strike="noStrike" kern="1200" cap="none" spc="0" normalizeH="0" baseline="0" noProof="0" dirty="0">
                <a:ln>
                  <a:noFill/>
                </a:ln>
                <a:solidFill>
                  <a:srgbClr val="0070C0"/>
                </a:solidFill>
                <a:effectLst/>
                <a:uLnTx/>
                <a:uFillTx/>
                <a:latin typeface="Cambria"/>
                <a:ea typeface="+mn-ea"/>
                <a:cs typeface="+mn-cs"/>
              </a:rPr>
              <a:t> </a:t>
            </a:r>
            <a:r>
              <a:rPr kumimoji="0" lang="en-US" sz="1800" b="1" i="0" u="none" strike="noStrike" kern="1200" cap="none" spc="0" normalizeH="0" baseline="0" noProof="0" dirty="0" err="1">
                <a:ln>
                  <a:noFill/>
                </a:ln>
                <a:solidFill>
                  <a:srgbClr val="0070C0"/>
                </a:solidFill>
                <a:effectLst/>
                <a:uLnTx/>
                <a:uFillTx/>
                <a:latin typeface="Cambria"/>
                <a:ea typeface="+mn-ea"/>
                <a:cs typeface="+mn-cs"/>
              </a:rPr>
              <a:t>cuộn</a:t>
            </a:r>
            <a:r>
              <a:rPr kumimoji="0" lang="en-US" sz="1800" b="1" i="0" u="none" strike="noStrike" kern="1200" cap="none" spc="0" normalizeH="0" baseline="0" noProof="0" dirty="0">
                <a:ln>
                  <a:noFill/>
                </a:ln>
                <a:solidFill>
                  <a:srgbClr val="0070C0"/>
                </a:solidFill>
                <a:effectLst/>
                <a:uLnTx/>
                <a:uFillTx/>
                <a:latin typeface="Cambria"/>
                <a:ea typeface="+mn-ea"/>
                <a:cs typeface="+mn-cs"/>
              </a:rPr>
              <a:t> </a:t>
            </a:r>
            <a:r>
              <a:rPr kumimoji="0" lang="en-US" sz="1800" b="1" i="0" u="none" strike="noStrike" kern="1200" cap="none" spc="0" normalizeH="0" baseline="0" noProof="0" dirty="0" err="1">
                <a:ln>
                  <a:noFill/>
                </a:ln>
                <a:solidFill>
                  <a:srgbClr val="0070C0"/>
                </a:solidFill>
                <a:effectLst/>
                <a:uLnTx/>
                <a:uFillTx/>
                <a:latin typeface="Cambria"/>
                <a:ea typeface="+mn-ea"/>
                <a:cs typeface="+mn-cs"/>
              </a:rPr>
              <a:t>dây</a:t>
            </a:r>
            <a:r>
              <a:rPr kumimoji="0" lang="en-US" sz="1800" b="1" i="0" u="none" strike="noStrike" kern="1200" cap="none" spc="0" normalizeH="0" baseline="0" noProof="0" dirty="0">
                <a:ln>
                  <a:noFill/>
                </a:ln>
                <a:solidFill>
                  <a:srgbClr val="0070C0"/>
                </a:solidFill>
                <a:effectLst/>
                <a:uLnTx/>
                <a:uFillTx/>
                <a:latin typeface="Cambria"/>
                <a:ea typeface="+mn-ea"/>
                <a:cs typeface="+mn-cs"/>
              </a:rPr>
              <a:t> </a:t>
            </a:r>
            <a:r>
              <a:rPr kumimoji="0" lang="en-US" sz="1800" b="1" i="0" u="none" strike="noStrike" kern="1200" cap="none" spc="0" normalizeH="0" baseline="0" noProof="0" dirty="0" err="1">
                <a:ln>
                  <a:noFill/>
                </a:ln>
                <a:solidFill>
                  <a:srgbClr val="0070C0"/>
                </a:solidFill>
                <a:effectLst/>
                <a:uLnTx/>
                <a:uFillTx/>
                <a:latin typeface="Cambria"/>
                <a:ea typeface="+mn-ea"/>
                <a:cs typeface="+mn-cs"/>
              </a:rPr>
              <a:t>bị</a:t>
            </a:r>
            <a:r>
              <a:rPr kumimoji="0" lang="en-US" sz="1800" b="1" i="0" u="none" strike="noStrike" kern="1200" cap="none" spc="0" normalizeH="0" baseline="0" noProof="0" dirty="0">
                <a:ln>
                  <a:noFill/>
                </a:ln>
                <a:solidFill>
                  <a:srgbClr val="0070C0"/>
                </a:solidFill>
                <a:effectLst/>
                <a:uLnTx/>
                <a:uFillTx/>
                <a:latin typeface="Cambria"/>
                <a:ea typeface="+mn-ea"/>
                <a:cs typeface="+mn-cs"/>
              </a:rPr>
              <a:t> </a:t>
            </a:r>
            <a:r>
              <a:rPr kumimoji="0" lang="en-US" sz="1800" b="1" i="0" u="none" strike="noStrike" kern="1200" cap="none" spc="0" normalizeH="0" baseline="0" noProof="0" dirty="0" err="1">
                <a:ln>
                  <a:noFill/>
                </a:ln>
                <a:solidFill>
                  <a:srgbClr val="0070C0"/>
                </a:solidFill>
                <a:effectLst/>
                <a:uLnTx/>
                <a:uFillTx/>
                <a:latin typeface="Cambria"/>
                <a:ea typeface="+mn-ea"/>
                <a:cs typeface="+mn-cs"/>
              </a:rPr>
              <a:t>hỏng</a:t>
            </a:r>
            <a:r>
              <a:rPr kumimoji="0" lang="en-US" sz="1800" b="1" i="0" u="none" strike="noStrike" kern="1200" cap="none" spc="0" normalizeH="0" baseline="0" noProof="0" dirty="0">
                <a:ln>
                  <a:noFill/>
                </a:ln>
                <a:solidFill>
                  <a:srgbClr val="0070C0"/>
                </a:solidFill>
                <a:effectLst/>
                <a:uLnTx/>
                <a:uFillTx/>
                <a:latin typeface="Cambria"/>
                <a:ea typeface="+mn-ea"/>
                <a:cs typeface="+mn-cs"/>
              </a:rPr>
              <a: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a:ea typeface="+mn-ea"/>
                <a:cs typeface="+mn-cs"/>
              </a:rPr>
              <a:t>Component mainly fails due to either UP solenoid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assy</a:t>
            </a:r>
            <a:r>
              <a:rPr kumimoji="0" lang="en-US" sz="1800" b="0" i="0" u="none" strike="noStrike" kern="1200" cap="none" spc="0" normalizeH="0" baseline="0" noProof="0" dirty="0">
                <a:ln>
                  <a:noFill/>
                </a:ln>
                <a:solidFill>
                  <a:prstClr val="black"/>
                </a:solidFill>
                <a:effectLst/>
                <a:uLnTx/>
                <a:uFillTx/>
                <a:latin typeface="Cambria"/>
                <a:ea typeface="+mn-ea"/>
                <a:cs typeface="+mn-cs"/>
              </a:rPr>
              <a:t> or DOWN solenoid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assy</a:t>
            </a:r>
            <a:r>
              <a:rPr kumimoji="0" lang="en-US" sz="1800" b="0" i="0" u="none" strike="noStrike" kern="1200" cap="none" spc="0" normalizeH="0" baseline="0" noProof="0" dirty="0">
                <a:ln>
                  <a:noFill/>
                </a:ln>
                <a:solidFill>
                  <a:prstClr val="black"/>
                </a:solidFill>
                <a:effectLst/>
                <a:uLnTx/>
                <a:uFillTx/>
                <a:latin typeface="Cambria"/>
                <a:ea typeface="+mn-ea"/>
                <a:cs typeface="+mn-cs"/>
              </a:rPr>
              <a:t> damaged. A solenoid failure is a sudden failure which is difficult to detect early.</a:t>
            </a:r>
          </a:p>
        </p:txBody>
      </p:sp>
      <p:sp>
        <p:nvSpPr>
          <p:cNvPr id="9" name="TextBox 8">
            <a:extLst>
              <a:ext uri="{FF2B5EF4-FFF2-40B4-BE49-F238E27FC236}">
                <a16:creationId xmlns:a16="http://schemas.microsoft.com/office/drawing/2014/main" id="{9D87F073-D31B-4E7B-AA07-9B18EA1E28B3}"/>
              </a:ext>
            </a:extLst>
          </p:cNvPr>
          <p:cNvSpPr txBox="1"/>
          <p:nvPr/>
        </p:nvSpPr>
        <p:spPr>
          <a:xfrm>
            <a:off x="381001" y="3776722"/>
            <a:ext cx="7624426" cy="286232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1" i="0" u="none" strike="noStrike" kern="1200" cap="none" spc="0" normalizeH="0" baseline="0" noProof="0" dirty="0" err="1">
                <a:ln>
                  <a:noFill/>
                </a:ln>
                <a:solidFill>
                  <a:srgbClr val="7030A0"/>
                </a:solidFill>
                <a:effectLst/>
                <a:uLnTx/>
                <a:uFillTx/>
                <a:latin typeface="Cambria"/>
                <a:ea typeface="+mn-ea"/>
                <a:cs typeface="+mn-cs"/>
              </a:rPr>
              <a:t>Giải</a:t>
            </a:r>
            <a:r>
              <a:rPr kumimoji="0" lang="en-US" sz="1800" b="1" i="0" u="none" strike="noStrike" kern="1200" cap="none" spc="0" normalizeH="0" baseline="0" noProof="0" dirty="0">
                <a:ln>
                  <a:noFill/>
                </a:ln>
                <a:solidFill>
                  <a:srgbClr val="7030A0"/>
                </a:solidFill>
                <a:effectLst/>
                <a:uLnTx/>
                <a:uFillTx/>
                <a:latin typeface="Cambria"/>
                <a:ea typeface="+mn-ea"/>
                <a:cs typeface="+mn-cs"/>
              </a:rPr>
              <a:t> </a:t>
            </a:r>
            <a:r>
              <a:rPr kumimoji="0" lang="en-US" sz="1800" b="1" i="0" u="none" strike="noStrike" kern="1200" cap="none" spc="0" normalizeH="0" baseline="0" noProof="0" dirty="0" err="1">
                <a:ln>
                  <a:noFill/>
                </a:ln>
                <a:solidFill>
                  <a:srgbClr val="7030A0"/>
                </a:solidFill>
                <a:effectLst/>
                <a:uLnTx/>
                <a:uFillTx/>
                <a:latin typeface="Cambria"/>
                <a:ea typeface="+mn-ea"/>
                <a:cs typeface="+mn-cs"/>
              </a:rPr>
              <a:t>pháp</a:t>
            </a:r>
            <a:r>
              <a:rPr kumimoji="0" lang="en-US" sz="1800" b="1" i="0" u="none" strike="noStrike" kern="1200" cap="none" spc="0" normalizeH="0" baseline="0" noProof="0" dirty="0">
                <a:ln>
                  <a:noFill/>
                </a:ln>
                <a:solidFill>
                  <a:srgbClr val="7030A0"/>
                </a:solidFill>
                <a:effectLst/>
                <a:uLnTx/>
                <a:uFillTx/>
                <a:latin typeface="Cambria"/>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800" b="0" i="0" u="none" strike="noStrike" kern="1200" cap="none" spc="0" normalizeH="0" baseline="0" noProof="0" dirty="0">
                <a:ln>
                  <a:noFill/>
                </a:ln>
                <a:solidFill>
                  <a:prstClr val="black"/>
                </a:solidFill>
                <a:effectLst/>
                <a:uLnTx/>
                <a:uFillTx/>
                <a:latin typeface="Cambria"/>
                <a:ea typeface="+mn-ea"/>
                <a:cs typeface="+mn-cs"/>
              </a:rPr>
              <a:t>ATR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đánh</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giá</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độ</a:t>
            </a:r>
            <a:r>
              <a:rPr kumimoji="0" lang="en-US" sz="1800" b="0" i="0" u="none" strike="noStrike" kern="1200" cap="none" spc="0" normalizeH="0" baseline="0" noProof="0" dirty="0">
                <a:ln>
                  <a:noFill/>
                </a:ln>
                <a:solidFill>
                  <a:prstClr val="black"/>
                </a:solidFill>
                <a:effectLst/>
                <a:uLnTx/>
                <a:uFillTx/>
                <a:latin typeface="Cambria"/>
                <a:ea typeface="+mn-ea"/>
                <a:cs typeface="+mn-cs"/>
              </a:rPr>
              <a:t> tin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cậy</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của</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khối</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này</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trên</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thế</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giới</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đang</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cao</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nên</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không</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có</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vấn</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đề</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về</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độ</a:t>
            </a:r>
            <a:r>
              <a:rPr kumimoji="0" lang="en-US" sz="1800" b="0" i="0" u="none" strike="noStrike" kern="1200" cap="none" spc="0" normalizeH="0" baseline="0" noProof="0" dirty="0">
                <a:ln>
                  <a:noFill/>
                </a:ln>
                <a:solidFill>
                  <a:prstClr val="black"/>
                </a:solidFill>
                <a:effectLst/>
                <a:uLnTx/>
                <a:uFillTx/>
                <a:latin typeface="Cambria"/>
                <a:ea typeface="+mn-ea"/>
                <a:cs typeface="+mn-cs"/>
              </a:rPr>
              <a:t> tin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cậy</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của</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khối</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này</a:t>
            </a:r>
            <a:r>
              <a:rPr kumimoji="0" lang="en-US" sz="1800" b="0" i="0" u="none" strike="noStrike" kern="1200" cap="none" spc="0" normalizeH="0" baseline="0" noProof="0" dirty="0">
                <a:ln>
                  <a:noFill/>
                </a:ln>
                <a:solidFill>
                  <a:prstClr val="black"/>
                </a:solidFill>
                <a:effectLst/>
                <a:uLnTx/>
                <a:uFillTx/>
                <a:latin typeface="Cambria"/>
                <a:ea typeface="+mn-ea"/>
                <a:cs typeface="+mn-cs"/>
              </a:rPr>
              <a:t> hay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giải</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pháp</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nâng</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cấp</a:t>
            </a:r>
            <a:r>
              <a:rPr kumimoji="0" lang="en-US" sz="1800" b="0" i="0" u="none" strike="noStrike" kern="1200" cap="none" spc="0" normalizeH="0" baseline="0" noProof="0" dirty="0">
                <a:ln>
                  <a:noFill/>
                </a:ln>
                <a:solidFill>
                  <a:prstClr val="black"/>
                </a:solidFill>
                <a:effectLst/>
                <a:uLnTx/>
                <a:uFillTx/>
                <a:latin typeface="Cambria"/>
                <a:ea typeface="+mn-ea"/>
                <a:cs typeface="+mn-cs"/>
              </a:rPr>
              <a:t>:</a:t>
            </a:r>
          </a:p>
          <a:p>
            <a:pPr marL="457200" marR="0" lvl="1" indent="0" algn="just"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mbria"/>
                <a:ea typeface="+mn-ea"/>
                <a:cs typeface="+mn-cs"/>
              </a:rPr>
              <a:t>we confirm that the LG selector valve aligns with the world mean time between unscheduled removal (MTBUR). Based on the data </a:t>
            </a:r>
            <a:r>
              <a:rPr kumimoji="0" lang="en-US" sz="1800" b="0" i="1" u="none" strike="noStrike" kern="1200" cap="none" spc="0" normalizeH="0" baseline="0" noProof="0" dirty="0" err="1">
                <a:ln>
                  <a:noFill/>
                </a:ln>
                <a:solidFill>
                  <a:prstClr val="black"/>
                </a:solidFill>
                <a:effectLst/>
                <a:uLnTx/>
                <a:uFillTx/>
                <a:latin typeface="Cambria"/>
                <a:ea typeface="+mn-ea"/>
                <a:cs typeface="+mn-cs"/>
              </a:rPr>
              <a:t>analysed</a:t>
            </a:r>
            <a:r>
              <a:rPr kumimoji="0" lang="en-US" sz="1800" b="0" i="1" u="none" strike="noStrike" kern="1200" cap="none" spc="0" normalizeH="0" baseline="0" noProof="0" dirty="0">
                <a:ln>
                  <a:noFill/>
                </a:ln>
                <a:solidFill>
                  <a:prstClr val="black"/>
                </a:solidFill>
                <a:effectLst/>
                <a:uLnTx/>
                <a:uFillTx/>
                <a:latin typeface="Cambria"/>
                <a:ea typeface="+mn-ea"/>
                <a:cs typeface="+mn-cs"/>
              </a:rPr>
              <a:t>, the rows highlighted in green indicate no issues with either the selector valve or the aircraft</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800" b="0" i="0" u="none" strike="noStrike" kern="1200" cap="none" spc="0" normalizeH="0" baseline="0" noProof="0" dirty="0" err="1">
                <a:ln>
                  <a:noFill/>
                </a:ln>
                <a:solidFill>
                  <a:prstClr val="black"/>
                </a:solidFill>
                <a:effectLst/>
                <a:uLnTx/>
                <a:uFillTx/>
                <a:latin typeface="Cambria"/>
                <a:ea typeface="+mn-ea"/>
                <a:cs typeface="+mn-cs"/>
              </a:rPr>
              <a:t>Đảm</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bảo</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dự</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phòng</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khối</a:t>
            </a:r>
            <a:r>
              <a:rPr kumimoji="0" lang="en-US" sz="1800" b="0" i="0" u="none" strike="noStrike" kern="1200" cap="none" spc="0" normalizeH="0" baseline="0" noProof="0" dirty="0">
                <a:ln>
                  <a:noFill/>
                </a:ln>
                <a:solidFill>
                  <a:prstClr val="black"/>
                </a:solidFill>
                <a:effectLst/>
                <a:uLnTx/>
                <a:uFillTx/>
                <a:latin typeface="Cambria"/>
                <a:ea typeface="+mn-ea"/>
                <a:cs typeface="+mn-cs"/>
              </a:rPr>
              <a:t> selector valve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trong</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kho</a:t>
            </a:r>
            <a:endParaRPr kumimoji="0" lang="en-US" sz="1800" b="0" i="0" u="none" strike="noStrike" kern="1200" cap="none" spc="0" normalizeH="0" baseline="0" noProof="0" dirty="0">
              <a:ln>
                <a:noFill/>
              </a:ln>
              <a:solidFill>
                <a:prstClr val="black"/>
              </a:solidFill>
              <a:effectLst/>
              <a:uLnTx/>
              <a:uFillTx/>
              <a:latin typeface="Cambria"/>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800" b="0" i="0" u="none" strike="noStrike" kern="1200" cap="none" spc="0" normalizeH="0" baseline="0" noProof="0" dirty="0" err="1">
                <a:ln>
                  <a:noFill/>
                </a:ln>
                <a:solidFill>
                  <a:prstClr val="black"/>
                </a:solidFill>
                <a:effectLst/>
                <a:uLnTx/>
                <a:uFillTx/>
                <a:latin typeface="Cambria"/>
                <a:ea typeface="+mn-ea"/>
                <a:cs typeface="+mn-cs"/>
              </a:rPr>
              <a:t>Xem</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xét</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chủ</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động</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tháo</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gửi</a:t>
            </a:r>
            <a:r>
              <a:rPr kumimoji="0" lang="en-US" sz="1800" b="0" i="0" u="none" strike="noStrike" kern="1200" cap="none" spc="0" normalizeH="0" baseline="0" noProof="0" dirty="0">
                <a:ln>
                  <a:noFill/>
                </a:ln>
                <a:solidFill>
                  <a:prstClr val="black"/>
                </a:solidFill>
                <a:effectLst/>
                <a:uLnTx/>
                <a:uFillTx/>
                <a:latin typeface="Cambria"/>
                <a:ea typeface="+mn-ea"/>
                <a:cs typeface="+mn-cs"/>
              </a:rPr>
              <a:t> selector valve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đi</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thay</a:t>
            </a:r>
            <a:r>
              <a:rPr kumimoji="0" lang="en-US" sz="1800" b="0" i="0" u="none" strike="noStrike" kern="1200" cap="none" spc="0" normalizeH="0" baseline="0" noProof="0" dirty="0">
                <a:ln>
                  <a:noFill/>
                </a:ln>
                <a:solidFill>
                  <a:prstClr val="black"/>
                </a:solidFill>
                <a:effectLst/>
                <a:uLnTx/>
                <a:uFillTx/>
                <a:latin typeface="Cambria"/>
                <a:ea typeface="+mn-ea"/>
                <a:cs typeface="+mn-cs"/>
              </a:rPr>
              <a:t>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cả</a:t>
            </a:r>
            <a:r>
              <a:rPr kumimoji="0" lang="en-US" sz="1800" b="0" i="0" u="none" strike="noStrike" kern="1200" cap="none" spc="0" normalizeH="0" baseline="0" noProof="0" dirty="0">
                <a:ln>
                  <a:noFill/>
                </a:ln>
                <a:solidFill>
                  <a:prstClr val="black"/>
                </a:solidFill>
                <a:effectLst/>
                <a:uLnTx/>
                <a:uFillTx/>
                <a:latin typeface="Cambria"/>
                <a:ea typeface="+mn-ea"/>
                <a:cs typeface="+mn-cs"/>
              </a:rPr>
              <a:t> 2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cuộn</a:t>
            </a:r>
            <a:r>
              <a:rPr kumimoji="0" lang="en-US" sz="1800" b="0" i="0" u="none" strike="noStrike" kern="1200" cap="none" spc="0" normalizeH="0" baseline="0" noProof="0" dirty="0">
                <a:ln>
                  <a:noFill/>
                </a:ln>
                <a:solidFill>
                  <a:prstClr val="black"/>
                </a:solidFill>
                <a:effectLst/>
                <a:uLnTx/>
                <a:uFillTx/>
                <a:latin typeface="Cambria"/>
                <a:ea typeface="+mn-ea"/>
                <a:cs typeface="+mn-cs"/>
              </a:rPr>
              <a:t> solenoid (</a:t>
            </a:r>
            <a:r>
              <a:rPr kumimoji="0" lang="en-US" sz="1800" b="0" i="0" u="none" strike="noStrike" kern="1200" cap="none" spc="0" normalizeH="0" baseline="0" noProof="0" dirty="0" err="1">
                <a:ln>
                  <a:noFill/>
                </a:ln>
                <a:solidFill>
                  <a:prstClr val="black"/>
                </a:solidFill>
                <a:effectLst/>
                <a:uLnTx/>
                <a:uFillTx/>
                <a:latin typeface="Cambria"/>
                <a:ea typeface="+mn-ea"/>
                <a:cs typeface="+mn-cs"/>
              </a:rPr>
              <a:t>khoảng</a:t>
            </a:r>
            <a:r>
              <a:rPr kumimoji="0" lang="en-US" sz="1800" b="0" i="0" u="none" strike="noStrike" kern="1200" cap="none" spc="0" normalizeH="0" baseline="0" noProof="0" dirty="0">
                <a:ln>
                  <a:noFill/>
                </a:ln>
                <a:solidFill>
                  <a:prstClr val="black"/>
                </a:solidFill>
                <a:effectLst/>
                <a:uLnTx/>
                <a:uFillTx/>
                <a:latin typeface="Cambria"/>
                <a:ea typeface="+mn-ea"/>
                <a:cs typeface="+mn-cs"/>
              </a:rPr>
              <a:t> 10k/unit)</a:t>
            </a:r>
          </a:p>
        </p:txBody>
      </p:sp>
    </p:spTree>
    <p:extLst>
      <p:ext uri="{BB962C8B-B14F-4D97-AF65-F5344CB8AC3E}">
        <p14:creationId xmlns:p14="http://schemas.microsoft.com/office/powerpoint/2010/main" val="2682308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34F7CA2B-BA7E-4390-8157-12D0F83A20B2}"/>
              </a:ext>
            </a:extLst>
          </p:cNvPr>
          <p:cNvSpPr txBox="1"/>
          <p:nvPr/>
        </p:nvSpPr>
        <p:spPr>
          <a:xfrm>
            <a:off x="762001" y="168860"/>
            <a:ext cx="6868293"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DEA610"/>
                </a:solidFill>
                <a:effectLst/>
                <a:uLnTx/>
                <a:uFillTx/>
                <a:latin typeface="Montserrat SemiBold" pitchFamily="2" charset="77"/>
                <a:ea typeface="+mn-ea"/>
                <a:cs typeface="+mn-cs"/>
              </a:rPr>
              <a:t>B223 – ATA 27 – T/O CONFIG</a:t>
            </a:r>
          </a:p>
        </p:txBody>
      </p:sp>
      <p:grpSp>
        <p:nvGrpSpPr>
          <p:cNvPr id="24" name="Group 23">
            <a:extLst>
              <a:ext uri="{FF2B5EF4-FFF2-40B4-BE49-F238E27FC236}">
                <a16:creationId xmlns:a16="http://schemas.microsoft.com/office/drawing/2014/main" id="{2F353669-9612-40C1-AA64-017E2951E36E}"/>
              </a:ext>
            </a:extLst>
          </p:cNvPr>
          <p:cNvGrpSpPr/>
          <p:nvPr/>
        </p:nvGrpSpPr>
        <p:grpSpPr>
          <a:xfrm>
            <a:off x="795408" y="288234"/>
            <a:ext cx="11197675" cy="678753"/>
            <a:chOff x="976560" y="323070"/>
            <a:chExt cx="10755065" cy="678753"/>
          </a:xfrm>
        </p:grpSpPr>
        <p:cxnSp>
          <p:nvCxnSpPr>
            <p:cNvPr id="25" name="Straight Connector 24">
              <a:extLst>
                <a:ext uri="{FF2B5EF4-FFF2-40B4-BE49-F238E27FC236}">
                  <a16:creationId xmlns:a16="http://schemas.microsoft.com/office/drawing/2014/main" id="{E307FF27-C734-4EB0-99EB-2D7E25CCF740}"/>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31DEC4BA-1A55-4982-B0F7-494941FBA8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27" name="Shape 1">
            <a:extLst>
              <a:ext uri="{FF2B5EF4-FFF2-40B4-BE49-F238E27FC236}">
                <a16:creationId xmlns:a16="http://schemas.microsoft.com/office/drawing/2014/main" id="{24C8CCBC-8519-46E6-9DE4-0507593C81BE}"/>
              </a:ext>
            </a:extLst>
          </p:cNvPr>
          <p:cNvSpPr/>
          <p:nvPr/>
        </p:nvSpPr>
        <p:spPr>
          <a:xfrm>
            <a:off x="3933725" y="1249958"/>
            <a:ext cx="12700" cy="5562699"/>
          </a:xfrm>
          <a:prstGeom prst="roundRect">
            <a:avLst>
              <a:gd name="adj" fmla="val 679680"/>
            </a:avLst>
          </a:prstGeom>
          <a:solidFill>
            <a:srgbClr val="B6DCE1"/>
          </a:solidFill>
          <a:ln/>
        </p:spPr>
        <p:txBody>
          <a:bodyPr/>
          <a:lstStyle/>
          <a:p>
            <a:endParaRPr lang="en-US"/>
          </a:p>
        </p:txBody>
      </p:sp>
      <p:sp>
        <p:nvSpPr>
          <p:cNvPr id="28" name="Shape 2">
            <a:extLst>
              <a:ext uri="{FF2B5EF4-FFF2-40B4-BE49-F238E27FC236}">
                <a16:creationId xmlns:a16="http://schemas.microsoft.com/office/drawing/2014/main" id="{E0BC6BEC-A8F9-4EEB-971E-46E302B83297}"/>
              </a:ext>
            </a:extLst>
          </p:cNvPr>
          <p:cNvSpPr/>
          <p:nvPr/>
        </p:nvSpPr>
        <p:spPr>
          <a:xfrm>
            <a:off x="3557290" y="1459310"/>
            <a:ext cx="287635" cy="12700"/>
          </a:xfrm>
          <a:prstGeom prst="roundRect">
            <a:avLst>
              <a:gd name="adj" fmla="val 679680"/>
            </a:avLst>
          </a:prstGeom>
          <a:solidFill>
            <a:srgbClr val="B6DCE1"/>
          </a:solidFill>
          <a:ln/>
        </p:spPr>
        <p:txBody>
          <a:bodyPr/>
          <a:lstStyle/>
          <a:p>
            <a:endParaRPr lang="en-US"/>
          </a:p>
        </p:txBody>
      </p:sp>
      <p:sp>
        <p:nvSpPr>
          <p:cNvPr id="29" name="Shape 3">
            <a:extLst>
              <a:ext uri="{FF2B5EF4-FFF2-40B4-BE49-F238E27FC236}">
                <a16:creationId xmlns:a16="http://schemas.microsoft.com/office/drawing/2014/main" id="{31C6E5A2-3998-4980-B212-E591E5706EFD}"/>
              </a:ext>
            </a:extLst>
          </p:cNvPr>
          <p:cNvSpPr/>
          <p:nvPr/>
        </p:nvSpPr>
        <p:spPr>
          <a:xfrm>
            <a:off x="3832224" y="1357809"/>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30" name="Text 4">
            <a:extLst>
              <a:ext uri="{FF2B5EF4-FFF2-40B4-BE49-F238E27FC236}">
                <a16:creationId xmlns:a16="http://schemas.microsoft.com/office/drawing/2014/main" id="{38B5AF1E-17D6-4D8C-A508-2FA0F3BA4AE9}"/>
              </a:ext>
            </a:extLst>
          </p:cNvPr>
          <p:cNvSpPr/>
          <p:nvPr/>
        </p:nvSpPr>
        <p:spPr>
          <a:xfrm>
            <a:off x="3868191" y="1375768"/>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1</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31" name="Text 5">
            <a:extLst>
              <a:ext uri="{FF2B5EF4-FFF2-40B4-BE49-F238E27FC236}">
                <a16:creationId xmlns:a16="http://schemas.microsoft.com/office/drawing/2014/main" id="{62D51DAE-F134-44B7-BCF8-7F30622588D4}"/>
              </a:ext>
            </a:extLst>
          </p:cNvPr>
          <p:cNvSpPr/>
          <p:nvPr/>
        </p:nvSpPr>
        <p:spPr>
          <a:xfrm>
            <a:off x="1943100" y="1345803"/>
            <a:ext cx="1517451" cy="113507"/>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Montserrat Bold" pitchFamily="34" charset="0"/>
                <a:ea typeface="Montserrat Bold" pitchFamily="34" charset="-122"/>
                <a:cs typeface="Montserrat Bold" pitchFamily="34" charset="-120"/>
              </a:rPr>
              <a:t>09/12/2024 (GTB)</a:t>
            </a:r>
            <a:endParaRPr kumimoji="0" lang="en-US" sz="1400" b="0" i="0" u="none" strike="noStrike" kern="1200" cap="none" spc="0" normalizeH="0" baseline="0" noProof="0" dirty="0">
              <a:ln>
                <a:noFill/>
              </a:ln>
              <a:solidFill>
                <a:srgbClr val="FF0000"/>
              </a:solidFill>
              <a:effectLst/>
              <a:uLnTx/>
              <a:uFillTx/>
              <a:latin typeface="Cambria"/>
              <a:ea typeface="+mn-ea"/>
              <a:cs typeface="+mn-cs"/>
            </a:endParaRPr>
          </a:p>
        </p:txBody>
      </p:sp>
      <p:sp>
        <p:nvSpPr>
          <p:cNvPr id="32" name="Text 6">
            <a:extLst>
              <a:ext uri="{FF2B5EF4-FFF2-40B4-BE49-F238E27FC236}">
                <a16:creationId xmlns:a16="http://schemas.microsoft.com/office/drawing/2014/main" id="{21C46815-C664-4727-87AB-48707F8A1476}"/>
              </a:ext>
            </a:extLst>
          </p:cNvPr>
          <p:cNvSpPr/>
          <p:nvPr/>
        </p:nvSpPr>
        <p:spPr>
          <a:xfrm>
            <a:off x="633287" y="1553071"/>
            <a:ext cx="2827263" cy="254298"/>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OPT Test hệ thống, cảnh báo biến mất.</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33" name="Shape 7">
            <a:extLst>
              <a:ext uri="{FF2B5EF4-FFF2-40B4-BE49-F238E27FC236}">
                <a16:creationId xmlns:a16="http://schemas.microsoft.com/office/drawing/2014/main" id="{C0532753-9012-4579-BF12-6F641A537B29}"/>
              </a:ext>
            </a:extLst>
          </p:cNvPr>
          <p:cNvSpPr/>
          <p:nvPr/>
        </p:nvSpPr>
        <p:spPr>
          <a:xfrm>
            <a:off x="4035226" y="1938735"/>
            <a:ext cx="287635" cy="12700"/>
          </a:xfrm>
          <a:prstGeom prst="roundRect">
            <a:avLst>
              <a:gd name="adj" fmla="val 679680"/>
            </a:avLst>
          </a:prstGeom>
          <a:solidFill>
            <a:srgbClr val="B6DCE1"/>
          </a:solidFill>
          <a:ln/>
        </p:spPr>
        <p:txBody>
          <a:bodyPr/>
          <a:lstStyle/>
          <a:p>
            <a:endParaRPr lang="en-US"/>
          </a:p>
        </p:txBody>
      </p:sp>
      <p:sp>
        <p:nvSpPr>
          <p:cNvPr id="34" name="Shape 8">
            <a:extLst>
              <a:ext uri="{FF2B5EF4-FFF2-40B4-BE49-F238E27FC236}">
                <a16:creationId xmlns:a16="http://schemas.microsoft.com/office/drawing/2014/main" id="{307A57C4-E34F-426A-813A-DFC8FEC5EC62}"/>
              </a:ext>
            </a:extLst>
          </p:cNvPr>
          <p:cNvSpPr/>
          <p:nvPr/>
        </p:nvSpPr>
        <p:spPr>
          <a:xfrm>
            <a:off x="3832224" y="1837234"/>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35" name="Text 9">
            <a:extLst>
              <a:ext uri="{FF2B5EF4-FFF2-40B4-BE49-F238E27FC236}">
                <a16:creationId xmlns:a16="http://schemas.microsoft.com/office/drawing/2014/main" id="{F3883267-3524-45ED-B5E6-ED8404850CBA}"/>
              </a:ext>
            </a:extLst>
          </p:cNvPr>
          <p:cNvSpPr/>
          <p:nvPr/>
        </p:nvSpPr>
        <p:spPr>
          <a:xfrm>
            <a:off x="3868191" y="1855193"/>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2</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36" name="Text 10">
            <a:extLst>
              <a:ext uri="{FF2B5EF4-FFF2-40B4-BE49-F238E27FC236}">
                <a16:creationId xmlns:a16="http://schemas.microsoft.com/office/drawing/2014/main" id="{A5F53327-F70F-4EA3-B6C8-81F564D725A9}"/>
              </a:ext>
            </a:extLst>
          </p:cNvPr>
          <p:cNvSpPr/>
          <p:nvPr/>
        </p:nvSpPr>
        <p:spPr>
          <a:xfrm>
            <a:off x="4419600" y="1825228"/>
            <a:ext cx="925966" cy="149820"/>
          </a:xfrm>
          <a:prstGeom prst="rect">
            <a:avLst/>
          </a:prstGeom>
          <a:noFill/>
          <a:ln/>
        </p:spPr>
        <p:txBody>
          <a:bodyPr wrap="non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F99"/>
                </a:solidFill>
                <a:effectLst/>
                <a:uLnTx/>
                <a:uFillTx/>
                <a:latin typeface="Montserrat Bold" pitchFamily="34" charset="0"/>
                <a:ea typeface="Montserrat Bold" pitchFamily="34" charset="-122"/>
                <a:cs typeface="Montserrat Bold" pitchFamily="34" charset="-120"/>
              </a:rPr>
              <a:t>20/12/2024</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37" name="Text 11">
            <a:extLst>
              <a:ext uri="{FF2B5EF4-FFF2-40B4-BE49-F238E27FC236}">
                <a16:creationId xmlns:a16="http://schemas.microsoft.com/office/drawing/2014/main" id="{460DCC44-9073-409C-8DD4-5F0433F9B4F5}"/>
              </a:ext>
            </a:extLst>
          </p:cNvPr>
          <p:cNvSpPr/>
          <p:nvPr/>
        </p:nvSpPr>
        <p:spPr>
          <a:xfrm>
            <a:off x="4419600" y="2032496"/>
            <a:ext cx="3678729" cy="153492"/>
          </a:xfrm>
          <a:prstGeom prst="rect">
            <a:avLst/>
          </a:prstGeom>
          <a:noFill/>
          <a:ln/>
        </p:spPr>
        <p:txBody>
          <a:bodyPr wrap="non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Thay Flap Transmitter 15CV</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38" name="Shape 12">
            <a:extLst>
              <a:ext uri="{FF2B5EF4-FFF2-40B4-BE49-F238E27FC236}">
                <a16:creationId xmlns:a16="http://schemas.microsoft.com/office/drawing/2014/main" id="{78E88E08-B0D2-4A4A-8F24-5B6319DB6B84}"/>
              </a:ext>
            </a:extLst>
          </p:cNvPr>
          <p:cNvSpPr/>
          <p:nvPr/>
        </p:nvSpPr>
        <p:spPr>
          <a:xfrm>
            <a:off x="3557290" y="2370237"/>
            <a:ext cx="287635" cy="12700"/>
          </a:xfrm>
          <a:prstGeom prst="roundRect">
            <a:avLst>
              <a:gd name="adj" fmla="val 679680"/>
            </a:avLst>
          </a:prstGeom>
          <a:solidFill>
            <a:srgbClr val="B6DCE1"/>
          </a:solidFill>
          <a:ln/>
        </p:spPr>
        <p:txBody>
          <a:bodyPr/>
          <a:lstStyle/>
          <a:p>
            <a:endParaRPr lang="en-US"/>
          </a:p>
        </p:txBody>
      </p:sp>
      <p:sp>
        <p:nvSpPr>
          <p:cNvPr id="39" name="Shape 13">
            <a:extLst>
              <a:ext uri="{FF2B5EF4-FFF2-40B4-BE49-F238E27FC236}">
                <a16:creationId xmlns:a16="http://schemas.microsoft.com/office/drawing/2014/main" id="{2502DF1F-63ED-4871-8023-4EA6D38E45FC}"/>
              </a:ext>
            </a:extLst>
          </p:cNvPr>
          <p:cNvSpPr/>
          <p:nvPr/>
        </p:nvSpPr>
        <p:spPr>
          <a:xfrm>
            <a:off x="3832224" y="2268736"/>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40" name="Text 14">
            <a:extLst>
              <a:ext uri="{FF2B5EF4-FFF2-40B4-BE49-F238E27FC236}">
                <a16:creationId xmlns:a16="http://schemas.microsoft.com/office/drawing/2014/main" id="{5B13F18B-45BB-4BC3-95B9-B1310AD9FAD6}"/>
              </a:ext>
            </a:extLst>
          </p:cNvPr>
          <p:cNvSpPr/>
          <p:nvPr/>
        </p:nvSpPr>
        <p:spPr>
          <a:xfrm>
            <a:off x="3868191" y="2286695"/>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3</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41" name="Text 15">
            <a:extLst>
              <a:ext uri="{FF2B5EF4-FFF2-40B4-BE49-F238E27FC236}">
                <a16:creationId xmlns:a16="http://schemas.microsoft.com/office/drawing/2014/main" id="{B8CFD76F-84F5-4995-9EFE-B265A7939C2F}"/>
              </a:ext>
            </a:extLst>
          </p:cNvPr>
          <p:cNvSpPr/>
          <p:nvPr/>
        </p:nvSpPr>
        <p:spPr>
          <a:xfrm>
            <a:off x="1981200" y="2256730"/>
            <a:ext cx="1479351" cy="159543"/>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Montserrat Bold" pitchFamily="34" charset="0"/>
                <a:ea typeface="Montserrat Bold" pitchFamily="34" charset="-122"/>
                <a:cs typeface="Montserrat Bold" pitchFamily="34" charset="-120"/>
              </a:rPr>
              <a:t>04/01/2025 (GTB)</a:t>
            </a:r>
            <a:endParaRPr kumimoji="0" lang="en-US" sz="1400" b="0" i="0" u="none" strike="noStrike" kern="1200" cap="none" spc="0" normalizeH="0" baseline="0" noProof="0" dirty="0">
              <a:ln>
                <a:noFill/>
              </a:ln>
              <a:solidFill>
                <a:srgbClr val="FF0000"/>
              </a:solidFill>
              <a:effectLst/>
              <a:uLnTx/>
              <a:uFillTx/>
              <a:latin typeface="Cambria"/>
              <a:ea typeface="+mn-ea"/>
              <a:cs typeface="+mn-cs"/>
            </a:endParaRPr>
          </a:p>
        </p:txBody>
      </p:sp>
      <p:sp>
        <p:nvSpPr>
          <p:cNvPr id="42" name="Text 16">
            <a:extLst>
              <a:ext uri="{FF2B5EF4-FFF2-40B4-BE49-F238E27FC236}">
                <a16:creationId xmlns:a16="http://schemas.microsoft.com/office/drawing/2014/main" id="{39C421A9-3D1C-44C3-A917-25FA4BF872BA}"/>
              </a:ext>
            </a:extLst>
          </p:cNvPr>
          <p:cNvSpPr/>
          <p:nvPr/>
        </p:nvSpPr>
        <p:spPr>
          <a:xfrm>
            <a:off x="633287" y="2463999"/>
            <a:ext cx="2827263" cy="254298"/>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Thay Flap Transmitter -16CV</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43" name="Shape 17">
            <a:extLst>
              <a:ext uri="{FF2B5EF4-FFF2-40B4-BE49-F238E27FC236}">
                <a16:creationId xmlns:a16="http://schemas.microsoft.com/office/drawing/2014/main" id="{4783F3A2-302D-4F4B-B918-805F8270E279}"/>
              </a:ext>
            </a:extLst>
          </p:cNvPr>
          <p:cNvSpPr/>
          <p:nvPr/>
        </p:nvSpPr>
        <p:spPr>
          <a:xfrm>
            <a:off x="4035226" y="2801839"/>
            <a:ext cx="287635" cy="12700"/>
          </a:xfrm>
          <a:prstGeom prst="roundRect">
            <a:avLst>
              <a:gd name="adj" fmla="val 679680"/>
            </a:avLst>
          </a:prstGeom>
          <a:solidFill>
            <a:srgbClr val="B6DCE1"/>
          </a:solidFill>
          <a:ln/>
        </p:spPr>
        <p:txBody>
          <a:bodyPr/>
          <a:lstStyle/>
          <a:p>
            <a:endParaRPr lang="en-US"/>
          </a:p>
        </p:txBody>
      </p:sp>
      <p:sp>
        <p:nvSpPr>
          <p:cNvPr id="44" name="Shape 18">
            <a:extLst>
              <a:ext uri="{FF2B5EF4-FFF2-40B4-BE49-F238E27FC236}">
                <a16:creationId xmlns:a16="http://schemas.microsoft.com/office/drawing/2014/main" id="{3661799E-77CC-4243-9989-81770792AAEC}"/>
              </a:ext>
            </a:extLst>
          </p:cNvPr>
          <p:cNvSpPr/>
          <p:nvPr/>
        </p:nvSpPr>
        <p:spPr>
          <a:xfrm>
            <a:off x="3832224" y="2700338"/>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45" name="Text 19">
            <a:extLst>
              <a:ext uri="{FF2B5EF4-FFF2-40B4-BE49-F238E27FC236}">
                <a16:creationId xmlns:a16="http://schemas.microsoft.com/office/drawing/2014/main" id="{6D36E96F-5A75-4DE1-91AF-0036867EE474}"/>
              </a:ext>
            </a:extLst>
          </p:cNvPr>
          <p:cNvSpPr/>
          <p:nvPr/>
        </p:nvSpPr>
        <p:spPr>
          <a:xfrm>
            <a:off x="3868191" y="2718297"/>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4</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46" name="Text 20">
            <a:extLst>
              <a:ext uri="{FF2B5EF4-FFF2-40B4-BE49-F238E27FC236}">
                <a16:creationId xmlns:a16="http://schemas.microsoft.com/office/drawing/2014/main" id="{968EA16A-1149-4D74-BFC3-8BFD32E41D6A}"/>
              </a:ext>
            </a:extLst>
          </p:cNvPr>
          <p:cNvSpPr/>
          <p:nvPr/>
        </p:nvSpPr>
        <p:spPr>
          <a:xfrm>
            <a:off x="4419600" y="2688332"/>
            <a:ext cx="925966" cy="149820"/>
          </a:xfrm>
          <a:prstGeom prst="rect">
            <a:avLst/>
          </a:prstGeom>
          <a:noFill/>
          <a:ln/>
        </p:spPr>
        <p:txBody>
          <a:bodyPr wrap="non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F99"/>
                </a:solidFill>
                <a:effectLst/>
                <a:uLnTx/>
                <a:uFillTx/>
                <a:latin typeface="Montserrat Bold" pitchFamily="34" charset="0"/>
                <a:ea typeface="Montserrat Bold" pitchFamily="34" charset="-122"/>
                <a:cs typeface="Montserrat Bold" pitchFamily="34" charset="-120"/>
              </a:rPr>
              <a:t>12/01/2025</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47" name="Text 21">
            <a:extLst>
              <a:ext uri="{FF2B5EF4-FFF2-40B4-BE49-F238E27FC236}">
                <a16:creationId xmlns:a16="http://schemas.microsoft.com/office/drawing/2014/main" id="{251784F1-6AC0-483A-B69A-04AA0C62A983}"/>
              </a:ext>
            </a:extLst>
          </p:cNvPr>
          <p:cNvSpPr/>
          <p:nvPr/>
        </p:nvSpPr>
        <p:spPr>
          <a:xfrm>
            <a:off x="4419600" y="2895600"/>
            <a:ext cx="3678729" cy="153492"/>
          </a:xfrm>
          <a:prstGeom prst="rect">
            <a:avLst/>
          </a:prstGeom>
          <a:noFill/>
          <a:ln/>
        </p:spPr>
        <p:txBody>
          <a:bodyPr wrap="non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Thay LH flap outboard actuator 5001CV</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48" name="Shape 22">
            <a:extLst>
              <a:ext uri="{FF2B5EF4-FFF2-40B4-BE49-F238E27FC236}">
                <a16:creationId xmlns:a16="http://schemas.microsoft.com/office/drawing/2014/main" id="{6109AA07-1936-40BC-9D8C-47D29B24080D}"/>
              </a:ext>
            </a:extLst>
          </p:cNvPr>
          <p:cNvSpPr/>
          <p:nvPr/>
        </p:nvSpPr>
        <p:spPr>
          <a:xfrm>
            <a:off x="3557290" y="3233440"/>
            <a:ext cx="287635" cy="12700"/>
          </a:xfrm>
          <a:prstGeom prst="roundRect">
            <a:avLst>
              <a:gd name="adj" fmla="val 679680"/>
            </a:avLst>
          </a:prstGeom>
          <a:solidFill>
            <a:srgbClr val="B6DCE1"/>
          </a:solidFill>
          <a:ln/>
        </p:spPr>
        <p:txBody>
          <a:bodyPr/>
          <a:lstStyle/>
          <a:p>
            <a:endParaRPr lang="en-US"/>
          </a:p>
        </p:txBody>
      </p:sp>
      <p:sp>
        <p:nvSpPr>
          <p:cNvPr id="49" name="Shape 23">
            <a:extLst>
              <a:ext uri="{FF2B5EF4-FFF2-40B4-BE49-F238E27FC236}">
                <a16:creationId xmlns:a16="http://schemas.microsoft.com/office/drawing/2014/main" id="{060FB9E6-7FEB-48C3-9241-297A2EE8D8B8}"/>
              </a:ext>
            </a:extLst>
          </p:cNvPr>
          <p:cNvSpPr/>
          <p:nvPr/>
        </p:nvSpPr>
        <p:spPr>
          <a:xfrm>
            <a:off x="3832224" y="3131939"/>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50" name="Text 24">
            <a:extLst>
              <a:ext uri="{FF2B5EF4-FFF2-40B4-BE49-F238E27FC236}">
                <a16:creationId xmlns:a16="http://schemas.microsoft.com/office/drawing/2014/main" id="{48AF5F44-3F7D-4A68-97DC-0E64D5F868DD}"/>
              </a:ext>
            </a:extLst>
          </p:cNvPr>
          <p:cNvSpPr/>
          <p:nvPr/>
        </p:nvSpPr>
        <p:spPr>
          <a:xfrm>
            <a:off x="3868191" y="3149898"/>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5</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51" name="Text 25">
            <a:extLst>
              <a:ext uri="{FF2B5EF4-FFF2-40B4-BE49-F238E27FC236}">
                <a16:creationId xmlns:a16="http://schemas.microsoft.com/office/drawing/2014/main" id="{BA1F54C9-B286-4989-9E17-52D5F7F0CEBF}"/>
              </a:ext>
            </a:extLst>
          </p:cNvPr>
          <p:cNvSpPr/>
          <p:nvPr/>
        </p:nvSpPr>
        <p:spPr>
          <a:xfrm>
            <a:off x="2748906" y="3119934"/>
            <a:ext cx="711645" cy="248215"/>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F99"/>
                </a:solidFill>
                <a:effectLst/>
                <a:uLnTx/>
                <a:uFillTx/>
                <a:latin typeface="Montserrat Bold" pitchFamily="34" charset="0"/>
                <a:ea typeface="Montserrat Bold" pitchFamily="34" charset="-122"/>
                <a:cs typeface="Montserrat Bold" pitchFamily="34" charset="-120"/>
              </a:rPr>
              <a:t>13/01/2025</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52" name="Text 26">
            <a:extLst>
              <a:ext uri="{FF2B5EF4-FFF2-40B4-BE49-F238E27FC236}">
                <a16:creationId xmlns:a16="http://schemas.microsoft.com/office/drawing/2014/main" id="{2DC05CCA-3F79-4C10-B279-FCAA3ABA8DC2}"/>
              </a:ext>
            </a:extLst>
          </p:cNvPr>
          <p:cNvSpPr/>
          <p:nvPr/>
        </p:nvSpPr>
        <p:spPr>
          <a:xfrm>
            <a:off x="633287" y="3327201"/>
            <a:ext cx="2827263" cy="254298"/>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Performed a continuity and insulation</a:t>
            </a:r>
          </a:p>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 on wiring&amp; connector but nil findings.</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53" name="Shape 27">
            <a:extLst>
              <a:ext uri="{FF2B5EF4-FFF2-40B4-BE49-F238E27FC236}">
                <a16:creationId xmlns:a16="http://schemas.microsoft.com/office/drawing/2014/main" id="{82F3F154-B2E9-4396-9A2A-8E0B7D6640EC}"/>
              </a:ext>
            </a:extLst>
          </p:cNvPr>
          <p:cNvSpPr/>
          <p:nvPr/>
        </p:nvSpPr>
        <p:spPr>
          <a:xfrm>
            <a:off x="4035226" y="3665041"/>
            <a:ext cx="287635" cy="12700"/>
          </a:xfrm>
          <a:prstGeom prst="roundRect">
            <a:avLst>
              <a:gd name="adj" fmla="val 679680"/>
            </a:avLst>
          </a:prstGeom>
          <a:solidFill>
            <a:srgbClr val="B6DCE1"/>
          </a:solidFill>
          <a:ln/>
        </p:spPr>
        <p:txBody>
          <a:bodyPr/>
          <a:lstStyle/>
          <a:p>
            <a:endParaRPr lang="en-US"/>
          </a:p>
        </p:txBody>
      </p:sp>
      <p:sp>
        <p:nvSpPr>
          <p:cNvPr id="54" name="Shape 28">
            <a:extLst>
              <a:ext uri="{FF2B5EF4-FFF2-40B4-BE49-F238E27FC236}">
                <a16:creationId xmlns:a16="http://schemas.microsoft.com/office/drawing/2014/main" id="{2A2690AB-7386-4D3D-9846-378C2A5B3CB3}"/>
              </a:ext>
            </a:extLst>
          </p:cNvPr>
          <p:cNvSpPr/>
          <p:nvPr/>
        </p:nvSpPr>
        <p:spPr>
          <a:xfrm>
            <a:off x="3832224" y="3563540"/>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55" name="Text 29">
            <a:extLst>
              <a:ext uri="{FF2B5EF4-FFF2-40B4-BE49-F238E27FC236}">
                <a16:creationId xmlns:a16="http://schemas.microsoft.com/office/drawing/2014/main" id="{BEDF718F-34F4-4830-8DD6-BD92F96B3424}"/>
              </a:ext>
            </a:extLst>
          </p:cNvPr>
          <p:cNvSpPr/>
          <p:nvPr/>
        </p:nvSpPr>
        <p:spPr>
          <a:xfrm>
            <a:off x="3868191" y="3581500"/>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6</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56" name="Text 30">
            <a:extLst>
              <a:ext uri="{FF2B5EF4-FFF2-40B4-BE49-F238E27FC236}">
                <a16:creationId xmlns:a16="http://schemas.microsoft.com/office/drawing/2014/main" id="{FC906CB7-1751-4BA8-99FE-B58DDCA50942}"/>
              </a:ext>
            </a:extLst>
          </p:cNvPr>
          <p:cNvSpPr/>
          <p:nvPr/>
        </p:nvSpPr>
        <p:spPr>
          <a:xfrm>
            <a:off x="4419600" y="3551535"/>
            <a:ext cx="925966" cy="149820"/>
          </a:xfrm>
          <a:prstGeom prst="rect">
            <a:avLst/>
          </a:prstGeom>
          <a:noFill/>
          <a:ln/>
        </p:spPr>
        <p:txBody>
          <a:bodyPr wrap="non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F99"/>
                </a:solidFill>
                <a:effectLst/>
                <a:uLnTx/>
                <a:uFillTx/>
                <a:latin typeface="Montserrat Bold" pitchFamily="34" charset="0"/>
                <a:ea typeface="Montserrat Bold" pitchFamily="34" charset="-122"/>
                <a:cs typeface="Montserrat Bold" pitchFamily="34" charset="-120"/>
              </a:rPr>
              <a:t>14/01/2025</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57" name="Text 31">
            <a:extLst>
              <a:ext uri="{FF2B5EF4-FFF2-40B4-BE49-F238E27FC236}">
                <a16:creationId xmlns:a16="http://schemas.microsoft.com/office/drawing/2014/main" id="{4F1A1781-FD2A-4AA8-979F-0C2B8C484631}"/>
              </a:ext>
            </a:extLst>
          </p:cNvPr>
          <p:cNvSpPr/>
          <p:nvPr/>
        </p:nvSpPr>
        <p:spPr>
          <a:xfrm>
            <a:off x="4419600" y="3758803"/>
            <a:ext cx="3678729" cy="153492"/>
          </a:xfrm>
          <a:prstGeom prst="rect">
            <a:avLst/>
          </a:prstGeom>
          <a:noFill/>
          <a:ln/>
        </p:spPr>
        <p:txBody>
          <a:bodyPr wrap="non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Thay LH elevator trim actuator (21CG)</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58" name="Shape 32">
            <a:extLst>
              <a:ext uri="{FF2B5EF4-FFF2-40B4-BE49-F238E27FC236}">
                <a16:creationId xmlns:a16="http://schemas.microsoft.com/office/drawing/2014/main" id="{DD35DC83-3129-4583-A0AA-5EFAEE30C0E1}"/>
              </a:ext>
            </a:extLst>
          </p:cNvPr>
          <p:cNvSpPr/>
          <p:nvPr/>
        </p:nvSpPr>
        <p:spPr>
          <a:xfrm>
            <a:off x="3557290" y="4096643"/>
            <a:ext cx="287635" cy="12700"/>
          </a:xfrm>
          <a:prstGeom prst="roundRect">
            <a:avLst>
              <a:gd name="adj" fmla="val 679680"/>
            </a:avLst>
          </a:prstGeom>
          <a:solidFill>
            <a:srgbClr val="B6DCE1"/>
          </a:solidFill>
          <a:ln/>
        </p:spPr>
        <p:txBody>
          <a:bodyPr/>
          <a:lstStyle/>
          <a:p>
            <a:endParaRPr lang="en-US"/>
          </a:p>
        </p:txBody>
      </p:sp>
      <p:sp>
        <p:nvSpPr>
          <p:cNvPr id="59" name="Shape 33">
            <a:extLst>
              <a:ext uri="{FF2B5EF4-FFF2-40B4-BE49-F238E27FC236}">
                <a16:creationId xmlns:a16="http://schemas.microsoft.com/office/drawing/2014/main" id="{37E1ECA2-6F6E-47BF-81B5-3EA892B8298A}"/>
              </a:ext>
            </a:extLst>
          </p:cNvPr>
          <p:cNvSpPr/>
          <p:nvPr/>
        </p:nvSpPr>
        <p:spPr>
          <a:xfrm>
            <a:off x="3832224" y="3995142"/>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60" name="Text 34">
            <a:extLst>
              <a:ext uri="{FF2B5EF4-FFF2-40B4-BE49-F238E27FC236}">
                <a16:creationId xmlns:a16="http://schemas.microsoft.com/office/drawing/2014/main" id="{217ED30F-E96D-4748-82B5-503F8424C543}"/>
              </a:ext>
            </a:extLst>
          </p:cNvPr>
          <p:cNvSpPr/>
          <p:nvPr/>
        </p:nvSpPr>
        <p:spPr>
          <a:xfrm>
            <a:off x="3868191" y="4013102"/>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7</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61" name="Text 35">
            <a:extLst>
              <a:ext uri="{FF2B5EF4-FFF2-40B4-BE49-F238E27FC236}">
                <a16:creationId xmlns:a16="http://schemas.microsoft.com/office/drawing/2014/main" id="{CF5E0629-778B-49FB-BEC4-85BC0DDC3361}"/>
              </a:ext>
            </a:extLst>
          </p:cNvPr>
          <p:cNvSpPr/>
          <p:nvPr/>
        </p:nvSpPr>
        <p:spPr>
          <a:xfrm>
            <a:off x="2748906" y="3983137"/>
            <a:ext cx="711645" cy="248215"/>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F99"/>
                </a:solidFill>
                <a:effectLst/>
                <a:uLnTx/>
                <a:uFillTx/>
                <a:latin typeface="Montserrat Bold" pitchFamily="34" charset="0"/>
                <a:ea typeface="Montserrat Bold" pitchFamily="34" charset="-122"/>
                <a:cs typeface="Montserrat Bold" pitchFamily="34" charset="-120"/>
              </a:rPr>
              <a:t>18/01/2025</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62" name="Text 36">
            <a:extLst>
              <a:ext uri="{FF2B5EF4-FFF2-40B4-BE49-F238E27FC236}">
                <a16:creationId xmlns:a16="http://schemas.microsoft.com/office/drawing/2014/main" id="{2E34FEA7-12D3-41E0-A6CE-3A5569D119F2}"/>
              </a:ext>
            </a:extLst>
          </p:cNvPr>
          <p:cNvSpPr/>
          <p:nvPr/>
        </p:nvSpPr>
        <p:spPr>
          <a:xfrm>
            <a:off x="633287" y="4190405"/>
            <a:ext cx="2827263" cy="254298"/>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7F99"/>
                </a:solidFill>
                <a:effectLst/>
                <a:uLnTx/>
                <a:uFillTx/>
                <a:latin typeface="Alice" pitchFamily="34" charset="0"/>
                <a:ea typeface="Alice" pitchFamily="34" charset="-122"/>
                <a:cs typeface="Alice" pitchFamily="34" charset="-120"/>
              </a:rPr>
              <a:t>Thay</a:t>
            </a: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 flap control switch unit 8CV</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63" name="Shape 37">
            <a:extLst>
              <a:ext uri="{FF2B5EF4-FFF2-40B4-BE49-F238E27FC236}">
                <a16:creationId xmlns:a16="http://schemas.microsoft.com/office/drawing/2014/main" id="{85516076-ECFD-4E79-96E9-0BC695A07AF9}"/>
              </a:ext>
            </a:extLst>
          </p:cNvPr>
          <p:cNvSpPr/>
          <p:nvPr/>
        </p:nvSpPr>
        <p:spPr>
          <a:xfrm>
            <a:off x="4035226" y="4528245"/>
            <a:ext cx="287635" cy="12700"/>
          </a:xfrm>
          <a:prstGeom prst="roundRect">
            <a:avLst>
              <a:gd name="adj" fmla="val 679680"/>
            </a:avLst>
          </a:prstGeom>
          <a:solidFill>
            <a:srgbClr val="B6DCE1"/>
          </a:solidFill>
          <a:ln/>
        </p:spPr>
        <p:txBody>
          <a:bodyPr/>
          <a:lstStyle/>
          <a:p>
            <a:endParaRPr lang="en-US"/>
          </a:p>
        </p:txBody>
      </p:sp>
      <p:sp>
        <p:nvSpPr>
          <p:cNvPr id="64" name="Shape 38">
            <a:extLst>
              <a:ext uri="{FF2B5EF4-FFF2-40B4-BE49-F238E27FC236}">
                <a16:creationId xmlns:a16="http://schemas.microsoft.com/office/drawing/2014/main" id="{9CA26726-29A8-4FC3-BC43-4DFC7DFD3824}"/>
              </a:ext>
            </a:extLst>
          </p:cNvPr>
          <p:cNvSpPr/>
          <p:nvPr/>
        </p:nvSpPr>
        <p:spPr>
          <a:xfrm>
            <a:off x="3832224" y="4426744"/>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65" name="Text 39">
            <a:extLst>
              <a:ext uri="{FF2B5EF4-FFF2-40B4-BE49-F238E27FC236}">
                <a16:creationId xmlns:a16="http://schemas.microsoft.com/office/drawing/2014/main" id="{D125C218-DD85-4DB7-8EC0-B00ABBD34F52}"/>
              </a:ext>
            </a:extLst>
          </p:cNvPr>
          <p:cNvSpPr/>
          <p:nvPr/>
        </p:nvSpPr>
        <p:spPr>
          <a:xfrm>
            <a:off x="3868191" y="4444703"/>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8</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66" name="Text 40">
            <a:extLst>
              <a:ext uri="{FF2B5EF4-FFF2-40B4-BE49-F238E27FC236}">
                <a16:creationId xmlns:a16="http://schemas.microsoft.com/office/drawing/2014/main" id="{15939AD7-ED20-4502-9CC0-A383B2287A4D}"/>
              </a:ext>
            </a:extLst>
          </p:cNvPr>
          <p:cNvSpPr/>
          <p:nvPr/>
        </p:nvSpPr>
        <p:spPr>
          <a:xfrm>
            <a:off x="4419600" y="4414739"/>
            <a:ext cx="925966" cy="149820"/>
          </a:xfrm>
          <a:prstGeom prst="rect">
            <a:avLst/>
          </a:prstGeom>
          <a:noFill/>
          <a:ln/>
        </p:spPr>
        <p:txBody>
          <a:bodyPr wrap="non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F99"/>
                </a:solidFill>
                <a:effectLst/>
                <a:uLnTx/>
                <a:uFillTx/>
                <a:latin typeface="Montserrat Bold" pitchFamily="34" charset="0"/>
                <a:ea typeface="Montserrat Bold" pitchFamily="34" charset="-122"/>
                <a:cs typeface="Montserrat Bold" pitchFamily="34" charset="-120"/>
              </a:rPr>
              <a:t>20/01/2025</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67" name="Text 41">
            <a:extLst>
              <a:ext uri="{FF2B5EF4-FFF2-40B4-BE49-F238E27FC236}">
                <a16:creationId xmlns:a16="http://schemas.microsoft.com/office/drawing/2014/main" id="{3BA838F7-4C4D-4CE3-BC9E-DA163F2E4FB9}"/>
              </a:ext>
            </a:extLst>
          </p:cNvPr>
          <p:cNvSpPr/>
          <p:nvPr/>
        </p:nvSpPr>
        <p:spPr>
          <a:xfrm>
            <a:off x="4419600" y="4622006"/>
            <a:ext cx="4013200" cy="337840"/>
          </a:xfrm>
          <a:prstGeom prst="rect">
            <a:avLst/>
          </a:prstGeom>
          <a:noFill/>
          <a:ln/>
        </p:spPr>
        <p:txBody>
          <a:bodyPr wrap="squar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Replaced Inverter 1 due to "TO CONFIG" ‘message recurs with additional phenomenon inverter 1 fault, TLU fault, FLAP cannot release.</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68" name="Shape 42">
            <a:extLst>
              <a:ext uri="{FF2B5EF4-FFF2-40B4-BE49-F238E27FC236}">
                <a16:creationId xmlns:a16="http://schemas.microsoft.com/office/drawing/2014/main" id="{FFF90117-6976-4A9F-A9A6-23AF9E3F8755}"/>
              </a:ext>
            </a:extLst>
          </p:cNvPr>
          <p:cNvSpPr/>
          <p:nvPr/>
        </p:nvSpPr>
        <p:spPr>
          <a:xfrm>
            <a:off x="3557290" y="4959846"/>
            <a:ext cx="287635" cy="12700"/>
          </a:xfrm>
          <a:prstGeom prst="roundRect">
            <a:avLst>
              <a:gd name="adj" fmla="val 679680"/>
            </a:avLst>
          </a:prstGeom>
          <a:solidFill>
            <a:srgbClr val="B6DCE1"/>
          </a:solidFill>
          <a:ln/>
        </p:spPr>
        <p:txBody>
          <a:bodyPr/>
          <a:lstStyle/>
          <a:p>
            <a:endParaRPr lang="en-US"/>
          </a:p>
        </p:txBody>
      </p:sp>
      <p:sp>
        <p:nvSpPr>
          <p:cNvPr id="69" name="Shape 43">
            <a:extLst>
              <a:ext uri="{FF2B5EF4-FFF2-40B4-BE49-F238E27FC236}">
                <a16:creationId xmlns:a16="http://schemas.microsoft.com/office/drawing/2014/main" id="{B707E5E0-ABB9-479C-A951-F91FCC51DFDB}"/>
              </a:ext>
            </a:extLst>
          </p:cNvPr>
          <p:cNvSpPr/>
          <p:nvPr/>
        </p:nvSpPr>
        <p:spPr>
          <a:xfrm>
            <a:off x="3832224" y="4858345"/>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70" name="Text 44">
            <a:extLst>
              <a:ext uri="{FF2B5EF4-FFF2-40B4-BE49-F238E27FC236}">
                <a16:creationId xmlns:a16="http://schemas.microsoft.com/office/drawing/2014/main" id="{4EC00264-B6C7-4585-81EF-7B6E601C433B}"/>
              </a:ext>
            </a:extLst>
          </p:cNvPr>
          <p:cNvSpPr/>
          <p:nvPr/>
        </p:nvSpPr>
        <p:spPr>
          <a:xfrm>
            <a:off x="3868191" y="4876304"/>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9</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71" name="Text 45">
            <a:extLst>
              <a:ext uri="{FF2B5EF4-FFF2-40B4-BE49-F238E27FC236}">
                <a16:creationId xmlns:a16="http://schemas.microsoft.com/office/drawing/2014/main" id="{59DCD03F-A958-4E72-9A78-E1DDE7200738}"/>
              </a:ext>
            </a:extLst>
          </p:cNvPr>
          <p:cNvSpPr/>
          <p:nvPr/>
        </p:nvSpPr>
        <p:spPr>
          <a:xfrm>
            <a:off x="2748906" y="4846340"/>
            <a:ext cx="711645" cy="248215"/>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F99"/>
                </a:solidFill>
                <a:effectLst/>
                <a:uLnTx/>
                <a:uFillTx/>
                <a:latin typeface="Montserrat Bold" pitchFamily="34" charset="0"/>
                <a:ea typeface="Montserrat Bold" pitchFamily="34" charset="-122"/>
                <a:cs typeface="Montserrat Bold" pitchFamily="34" charset="-120"/>
              </a:rPr>
              <a:t>06/02/2025</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72" name="Text 46">
            <a:extLst>
              <a:ext uri="{FF2B5EF4-FFF2-40B4-BE49-F238E27FC236}">
                <a16:creationId xmlns:a16="http://schemas.microsoft.com/office/drawing/2014/main" id="{980FA349-CD39-40DB-B9A5-3E3DF5160368}"/>
              </a:ext>
            </a:extLst>
          </p:cNvPr>
          <p:cNvSpPr/>
          <p:nvPr/>
        </p:nvSpPr>
        <p:spPr>
          <a:xfrm>
            <a:off x="633287" y="5053608"/>
            <a:ext cx="2827263" cy="254298"/>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Thay RH elevator trim actuator (22CG)</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73" name="Shape 47">
            <a:extLst>
              <a:ext uri="{FF2B5EF4-FFF2-40B4-BE49-F238E27FC236}">
                <a16:creationId xmlns:a16="http://schemas.microsoft.com/office/drawing/2014/main" id="{03F8C935-3B52-4F09-A8BE-729B3782AE62}"/>
              </a:ext>
            </a:extLst>
          </p:cNvPr>
          <p:cNvSpPr/>
          <p:nvPr/>
        </p:nvSpPr>
        <p:spPr>
          <a:xfrm>
            <a:off x="4035226" y="5391448"/>
            <a:ext cx="287635" cy="12700"/>
          </a:xfrm>
          <a:prstGeom prst="roundRect">
            <a:avLst>
              <a:gd name="adj" fmla="val 679680"/>
            </a:avLst>
          </a:prstGeom>
          <a:solidFill>
            <a:srgbClr val="B6DCE1"/>
          </a:solidFill>
          <a:ln/>
        </p:spPr>
        <p:txBody>
          <a:bodyPr/>
          <a:lstStyle/>
          <a:p>
            <a:endParaRPr lang="en-US"/>
          </a:p>
        </p:txBody>
      </p:sp>
      <p:sp>
        <p:nvSpPr>
          <p:cNvPr id="74" name="Shape 48">
            <a:extLst>
              <a:ext uri="{FF2B5EF4-FFF2-40B4-BE49-F238E27FC236}">
                <a16:creationId xmlns:a16="http://schemas.microsoft.com/office/drawing/2014/main" id="{90AA0C80-2967-4F3C-A1C1-3E422B428DB9}"/>
              </a:ext>
            </a:extLst>
          </p:cNvPr>
          <p:cNvSpPr/>
          <p:nvPr/>
        </p:nvSpPr>
        <p:spPr>
          <a:xfrm>
            <a:off x="3832224" y="5289947"/>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75" name="Text 49">
            <a:extLst>
              <a:ext uri="{FF2B5EF4-FFF2-40B4-BE49-F238E27FC236}">
                <a16:creationId xmlns:a16="http://schemas.microsoft.com/office/drawing/2014/main" id="{77556E3F-17EC-48BB-BF78-83DD7337D9B0}"/>
              </a:ext>
            </a:extLst>
          </p:cNvPr>
          <p:cNvSpPr/>
          <p:nvPr/>
        </p:nvSpPr>
        <p:spPr>
          <a:xfrm>
            <a:off x="3868191" y="5307906"/>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10</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76" name="Text 50">
            <a:extLst>
              <a:ext uri="{FF2B5EF4-FFF2-40B4-BE49-F238E27FC236}">
                <a16:creationId xmlns:a16="http://schemas.microsoft.com/office/drawing/2014/main" id="{748FEE22-08F7-4765-ADC0-C43C28EFD34C}"/>
              </a:ext>
            </a:extLst>
          </p:cNvPr>
          <p:cNvSpPr/>
          <p:nvPr/>
        </p:nvSpPr>
        <p:spPr>
          <a:xfrm>
            <a:off x="4419600" y="5277941"/>
            <a:ext cx="925966" cy="149820"/>
          </a:xfrm>
          <a:prstGeom prst="rect">
            <a:avLst/>
          </a:prstGeom>
          <a:noFill/>
          <a:ln/>
        </p:spPr>
        <p:txBody>
          <a:bodyPr wrap="non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F99"/>
                </a:solidFill>
                <a:effectLst/>
                <a:uLnTx/>
                <a:uFillTx/>
                <a:latin typeface="Montserrat Bold" pitchFamily="34" charset="0"/>
                <a:ea typeface="Montserrat Bold" pitchFamily="34" charset="-122"/>
                <a:cs typeface="Montserrat Bold" pitchFamily="34" charset="-120"/>
              </a:rPr>
              <a:t>15/02/2025</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77" name="Text 51">
            <a:extLst>
              <a:ext uri="{FF2B5EF4-FFF2-40B4-BE49-F238E27FC236}">
                <a16:creationId xmlns:a16="http://schemas.microsoft.com/office/drawing/2014/main" id="{47569229-70C1-4CF2-98A8-C5334E013DEF}"/>
              </a:ext>
            </a:extLst>
          </p:cNvPr>
          <p:cNvSpPr/>
          <p:nvPr/>
        </p:nvSpPr>
        <p:spPr>
          <a:xfrm>
            <a:off x="4419600" y="5485209"/>
            <a:ext cx="3678729" cy="153492"/>
          </a:xfrm>
          <a:prstGeom prst="rect">
            <a:avLst/>
          </a:prstGeom>
          <a:noFill/>
          <a:ln/>
        </p:spPr>
        <p:txBody>
          <a:bodyPr wrap="non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VAECO chủ động thay pitch trim indicator (2CT)</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78" name="Shape 52">
            <a:extLst>
              <a:ext uri="{FF2B5EF4-FFF2-40B4-BE49-F238E27FC236}">
                <a16:creationId xmlns:a16="http://schemas.microsoft.com/office/drawing/2014/main" id="{A7B9140A-B84F-424E-9DF6-D64D715DEDA0}"/>
              </a:ext>
            </a:extLst>
          </p:cNvPr>
          <p:cNvSpPr/>
          <p:nvPr/>
        </p:nvSpPr>
        <p:spPr>
          <a:xfrm>
            <a:off x="3557290" y="5823050"/>
            <a:ext cx="287635" cy="12700"/>
          </a:xfrm>
          <a:prstGeom prst="roundRect">
            <a:avLst>
              <a:gd name="adj" fmla="val 679680"/>
            </a:avLst>
          </a:prstGeom>
          <a:solidFill>
            <a:srgbClr val="B6DCE1"/>
          </a:solidFill>
          <a:ln/>
        </p:spPr>
        <p:txBody>
          <a:bodyPr/>
          <a:lstStyle/>
          <a:p>
            <a:endParaRPr lang="en-US"/>
          </a:p>
        </p:txBody>
      </p:sp>
      <p:sp>
        <p:nvSpPr>
          <p:cNvPr id="79" name="Shape 53">
            <a:extLst>
              <a:ext uri="{FF2B5EF4-FFF2-40B4-BE49-F238E27FC236}">
                <a16:creationId xmlns:a16="http://schemas.microsoft.com/office/drawing/2014/main" id="{01C16103-D2DA-44E9-A704-C72A4D8C3525}"/>
              </a:ext>
            </a:extLst>
          </p:cNvPr>
          <p:cNvSpPr/>
          <p:nvPr/>
        </p:nvSpPr>
        <p:spPr>
          <a:xfrm>
            <a:off x="3832224" y="5721549"/>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80" name="Text 54">
            <a:extLst>
              <a:ext uri="{FF2B5EF4-FFF2-40B4-BE49-F238E27FC236}">
                <a16:creationId xmlns:a16="http://schemas.microsoft.com/office/drawing/2014/main" id="{F59643A4-89E9-4C42-B78D-E1A57D0EADD4}"/>
              </a:ext>
            </a:extLst>
          </p:cNvPr>
          <p:cNvSpPr/>
          <p:nvPr/>
        </p:nvSpPr>
        <p:spPr>
          <a:xfrm>
            <a:off x="3868191" y="5739508"/>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11</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81" name="Text 55">
            <a:extLst>
              <a:ext uri="{FF2B5EF4-FFF2-40B4-BE49-F238E27FC236}">
                <a16:creationId xmlns:a16="http://schemas.microsoft.com/office/drawing/2014/main" id="{8339C717-5DB8-4598-89F4-F2D3B7308CD7}"/>
              </a:ext>
            </a:extLst>
          </p:cNvPr>
          <p:cNvSpPr/>
          <p:nvPr/>
        </p:nvSpPr>
        <p:spPr>
          <a:xfrm>
            <a:off x="1981200" y="5709543"/>
            <a:ext cx="1479351" cy="194569"/>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Montserrat Bold" pitchFamily="34" charset="0"/>
                <a:ea typeface="Montserrat Bold" pitchFamily="34" charset="-122"/>
                <a:cs typeface="Montserrat Bold" pitchFamily="34" charset="-120"/>
              </a:rPr>
              <a:t>16/02/2025 (RTO)</a:t>
            </a:r>
            <a:endParaRPr kumimoji="0" lang="en-US" sz="1400" b="0" i="0" u="none" strike="noStrike" kern="1200" cap="none" spc="0" normalizeH="0" baseline="0" noProof="0" dirty="0">
              <a:ln>
                <a:noFill/>
              </a:ln>
              <a:solidFill>
                <a:srgbClr val="FF0000"/>
              </a:solidFill>
              <a:effectLst/>
              <a:uLnTx/>
              <a:uFillTx/>
              <a:latin typeface="Cambria"/>
              <a:ea typeface="+mn-ea"/>
              <a:cs typeface="+mn-cs"/>
            </a:endParaRPr>
          </a:p>
        </p:txBody>
      </p:sp>
      <p:sp>
        <p:nvSpPr>
          <p:cNvPr id="82" name="Text 56">
            <a:extLst>
              <a:ext uri="{FF2B5EF4-FFF2-40B4-BE49-F238E27FC236}">
                <a16:creationId xmlns:a16="http://schemas.microsoft.com/office/drawing/2014/main" id="{F8D318BB-3773-439F-B918-C63B748E8AA5}"/>
              </a:ext>
            </a:extLst>
          </p:cNvPr>
          <p:cNvSpPr/>
          <p:nvPr/>
        </p:nvSpPr>
        <p:spPr>
          <a:xfrm>
            <a:off x="633287" y="5916811"/>
            <a:ext cx="2827263" cy="254298"/>
          </a:xfrm>
          <a:prstGeom prst="rect">
            <a:avLst/>
          </a:prstGeom>
          <a:noFill/>
          <a:ln/>
        </p:spPr>
        <p:txBody>
          <a:bodyPr wrap="none" lIns="0" tIns="0" rIns="0" bIns="0" rtlCol="0" anchor="t"/>
          <a:lstStyle/>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Do trim indicator trong kho </a:t>
            </a:r>
            <a:r>
              <a:rPr kumimoji="0" lang="en-US" sz="1400" b="0" i="0" u="none" strike="noStrike" kern="1200" cap="none" spc="0" normalizeH="0" baseline="0" noProof="0" dirty="0" err="1">
                <a:ln>
                  <a:noFill/>
                </a:ln>
                <a:solidFill>
                  <a:srgbClr val="007F99"/>
                </a:solidFill>
                <a:effectLst/>
                <a:uLnTx/>
                <a:uFillTx/>
                <a:latin typeface="Alice" pitchFamily="34" charset="0"/>
                <a:ea typeface="Alice" pitchFamily="34" charset="-122"/>
                <a:cs typeface="Alice" pitchFamily="34" charset="-120"/>
              </a:rPr>
              <a:t>bị</a:t>
            </a: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 </a:t>
            </a:r>
            <a:r>
              <a:rPr kumimoji="0" lang="en-US" sz="1400" b="0" i="0" u="none" strike="noStrike" kern="1200" cap="none" spc="0" normalizeH="0" baseline="0" noProof="0" dirty="0" err="1">
                <a:ln>
                  <a:noFill/>
                </a:ln>
                <a:solidFill>
                  <a:srgbClr val="007F99"/>
                </a:solidFill>
                <a:effectLst/>
                <a:uLnTx/>
                <a:uFillTx/>
                <a:latin typeface="Alice" pitchFamily="34" charset="0"/>
                <a:ea typeface="Alice" pitchFamily="34" charset="-122"/>
                <a:cs typeface="Alice" pitchFamily="34" charset="-120"/>
              </a:rPr>
              <a:t>lỗi</a:t>
            </a:r>
            <a:endPar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endParaRPr>
          </a:p>
          <a:p>
            <a:pPr marL="0" marR="0" lvl="0" indent="0" algn="r"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 =&gt; thay lại Pitch trim indicator (2CT)</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83" name="Shape 57">
            <a:extLst>
              <a:ext uri="{FF2B5EF4-FFF2-40B4-BE49-F238E27FC236}">
                <a16:creationId xmlns:a16="http://schemas.microsoft.com/office/drawing/2014/main" id="{BC681309-E692-4AE8-97A3-9B36F8646912}"/>
              </a:ext>
            </a:extLst>
          </p:cNvPr>
          <p:cNvSpPr/>
          <p:nvPr/>
        </p:nvSpPr>
        <p:spPr>
          <a:xfrm>
            <a:off x="4035226" y="6254651"/>
            <a:ext cx="287635" cy="12700"/>
          </a:xfrm>
          <a:prstGeom prst="roundRect">
            <a:avLst>
              <a:gd name="adj" fmla="val 679680"/>
            </a:avLst>
          </a:prstGeom>
          <a:solidFill>
            <a:srgbClr val="B6DCE1"/>
          </a:solidFill>
          <a:ln/>
        </p:spPr>
        <p:txBody>
          <a:bodyPr/>
          <a:lstStyle/>
          <a:p>
            <a:endParaRPr lang="en-US"/>
          </a:p>
        </p:txBody>
      </p:sp>
      <p:sp>
        <p:nvSpPr>
          <p:cNvPr id="84" name="Shape 58">
            <a:extLst>
              <a:ext uri="{FF2B5EF4-FFF2-40B4-BE49-F238E27FC236}">
                <a16:creationId xmlns:a16="http://schemas.microsoft.com/office/drawing/2014/main" id="{4F21EF5E-B04E-494C-A822-F64A2667C6EB}"/>
              </a:ext>
            </a:extLst>
          </p:cNvPr>
          <p:cNvSpPr/>
          <p:nvPr/>
        </p:nvSpPr>
        <p:spPr>
          <a:xfrm>
            <a:off x="3832224" y="6153150"/>
            <a:ext cx="215702" cy="215702"/>
          </a:xfrm>
          <a:prstGeom prst="roundRect">
            <a:avLst>
              <a:gd name="adj" fmla="val 40018"/>
            </a:avLst>
          </a:prstGeom>
          <a:solidFill>
            <a:srgbClr val="D0F6FB"/>
          </a:solidFill>
          <a:ln w="7620">
            <a:solidFill>
              <a:srgbClr val="B6DCE1"/>
            </a:solidFill>
            <a:prstDash val="solid"/>
          </a:ln>
        </p:spPr>
        <p:txBody>
          <a:bodyPr/>
          <a:lstStyle/>
          <a:p>
            <a:endParaRPr lang="en-US"/>
          </a:p>
        </p:txBody>
      </p:sp>
      <p:sp>
        <p:nvSpPr>
          <p:cNvPr id="85" name="Text 59">
            <a:extLst>
              <a:ext uri="{FF2B5EF4-FFF2-40B4-BE49-F238E27FC236}">
                <a16:creationId xmlns:a16="http://schemas.microsoft.com/office/drawing/2014/main" id="{7A6878EF-F301-4067-BFAB-0D7540998BD4}"/>
              </a:ext>
            </a:extLst>
          </p:cNvPr>
          <p:cNvSpPr/>
          <p:nvPr/>
        </p:nvSpPr>
        <p:spPr>
          <a:xfrm>
            <a:off x="3868191" y="6171109"/>
            <a:ext cx="143768" cy="179784"/>
          </a:xfrm>
          <a:prstGeom prst="rect">
            <a:avLst/>
          </a:prstGeom>
          <a:noFill/>
          <a:ln/>
        </p:spPr>
        <p:txBody>
          <a:bodyPr wrap="none" lIns="0" tIns="0" rIns="0" bIns="0" rtlCol="0" anchor="t"/>
          <a:lstStyle/>
          <a:p>
            <a:pPr marL="0" marR="0" lvl="0" indent="0" algn="ctr" defTabSz="914400" rtl="0" eaLnBrk="1" fontAlgn="auto" latinLnBrk="0" hangingPunct="1">
              <a:lnSpc>
                <a:spcPts val="1125"/>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Montserrat Bold" pitchFamily="34" charset="0"/>
                <a:ea typeface="Montserrat Bold" pitchFamily="34" charset="-122"/>
                <a:cs typeface="Montserrat Bold" pitchFamily="34" charset="-120"/>
              </a:rPr>
              <a:t>12</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86" name="Text 60">
            <a:extLst>
              <a:ext uri="{FF2B5EF4-FFF2-40B4-BE49-F238E27FC236}">
                <a16:creationId xmlns:a16="http://schemas.microsoft.com/office/drawing/2014/main" id="{F27675C1-500A-4F10-AD1E-CD30EBF5B63C}"/>
              </a:ext>
            </a:extLst>
          </p:cNvPr>
          <p:cNvSpPr/>
          <p:nvPr/>
        </p:nvSpPr>
        <p:spPr>
          <a:xfrm>
            <a:off x="4419600" y="6141145"/>
            <a:ext cx="1524000" cy="169068"/>
          </a:xfrm>
          <a:prstGeom prst="rect">
            <a:avLst/>
          </a:prstGeom>
          <a:noFill/>
          <a:ln/>
        </p:spPr>
        <p:txBody>
          <a:bodyPr wrap="non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Montserrat Bold" pitchFamily="34" charset="0"/>
                <a:ea typeface="Montserrat Bold" pitchFamily="34" charset="-122"/>
                <a:cs typeface="Montserrat Bold" pitchFamily="34" charset="-120"/>
              </a:rPr>
              <a:t>06/04/2025 (RTO)</a:t>
            </a:r>
            <a:endParaRPr kumimoji="0" lang="en-US" sz="1400" b="0" i="0" u="none" strike="noStrike" kern="1200" cap="none" spc="0" normalizeH="0" baseline="0" noProof="0" dirty="0">
              <a:ln>
                <a:noFill/>
              </a:ln>
              <a:solidFill>
                <a:srgbClr val="FF0000"/>
              </a:solidFill>
              <a:effectLst/>
              <a:uLnTx/>
              <a:uFillTx/>
              <a:latin typeface="Cambria"/>
              <a:ea typeface="+mn-ea"/>
              <a:cs typeface="+mn-cs"/>
            </a:endParaRPr>
          </a:p>
        </p:txBody>
      </p:sp>
      <p:sp>
        <p:nvSpPr>
          <p:cNvPr id="87" name="Text 61">
            <a:extLst>
              <a:ext uri="{FF2B5EF4-FFF2-40B4-BE49-F238E27FC236}">
                <a16:creationId xmlns:a16="http://schemas.microsoft.com/office/drawing/2014/main" id="{41708FAD-4272-44FC-AD4F-FBF3CFCCBCCD}"/>
              </a:ext>
            </a:extLst>
          </p:cNvPr>
          <p:cNvSpPr/>
          <p:nvPr/>
        </p:nvSpPr>
        <p:spPr>
          <a:xfrm>
            <a:off x="4419600" y="6348413"/>
            <a:ext cx="3678729" cy="153492"/>
          </a:xfrm>
          <a:prstGeom prst="rect">
            <a:avLst/>
          </a:prstGeom>
          <a:noFill/>
          <a:ln/>
        </p:spPr>
        <p:txBody>
          <a:bodyPr wrap="none" lIns="0" tIns="0" rIns="0" bIns="0" rtlCol="0" anchor="t"/>
          <a:lstStyle/>
          <a:p>
            <a:pPr marL="0" marR="0" lvl="0" indent="0" algn="l" defTabSz="914400" rtl="0" eaLnBrk="1" fontAlgn="auto" latinLnBrk="0" hangingPunct="1">
              <a:lnSpc>
                <a:spcPts val="1167"/>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F99"/>
                </a:solidFill>
                <a:effectLst/>
                <a:uLnTx/>
                <a:uFillTx/>
                <a:latin typeface="Alice" pitchFamily="34" charset="0"/>
                <a:ea typeface="Alice" pitchFamily="34" charset="-122"/>
                <a:cs typeface="Alice" pitchFamily="34" charset="-120"/>
              </a:rPr>
              <a:t>Thay lại LH elevator trim actuator (21CG)</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sp>
        <p:nvSpPr>
          <p:cNvPr id="3" name="TextBox 2">
            <a:extLst>
              <a:ext uri="{FF2B5EF4-FFF2-40B4-BE49-F238E27FC236}">
                <a16:creationId xmlns:a16="http://schemas.microsoft.com/office/drawing/2014/main" id="{631CC2E6-8A57-434D-BC05-6746950B3CF2}"/>
              </a:ext>
            </a:extLst>
          </p:cNvPr>
          <p:cNvSpPr txBox="1"/>
          <p:nvPr/>
        </p:nvSpPr>
        <p:spPr>
          <a:xfrm>
            <a:off x="8482702" y="1137086"/>
            <a:ext cx="3213996" cy="132343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chỉ</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xảy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ra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B223,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nhiều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theo</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ớng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dẫn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ATR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thế</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thiết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bị</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kiểm</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dây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connector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ng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đ</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ợc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sp>
        <p:nvSpPr>
          <p:cNvPr id="4" name="TextBox 3">
            <a:extLst>
              <a:ext uri="{FF2B5EF4-FFF2-40B4-BE49-F238E27FC236}">
                <a16:creationId xmlns:a16="http://schemas.microsoft.com/office/drawing/2014/main" id="{5289E834-69B3-4B49-857F-10A1D9E06764}"/>
              </a:ext>
            </a:extLst>
          </p:cNvPr>
          <p:cNvSpPr txBox="1"/>
          <p:nvPr/>
        </p:nvSpPr>
        <p:spPr>
          <a:xfrm>
            <a:off x="8610599" y="2718297"/>
            <a:ext cx="3382483" cy="329320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GTB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ngày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09/12/2024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04/01/2025: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Inverter 1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bị</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lỗi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gây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ảnh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h</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ư</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ởng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đến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cấp</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nguồn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điện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Khối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này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đang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gửi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đi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shop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và</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chờ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SFR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Với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01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lần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RTO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ngày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16/02/2025: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Nguyên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nhân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do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khối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trim indicator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trong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kho</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bị</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lỗi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theo</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SFR =&gt; Fault confirmed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Với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01 RTO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ngày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06/04/2025: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Nghi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ngờ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do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khối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LH elevator trim actuator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lắp</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lên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từ</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ngày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14/01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có</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vấn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đề</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=&gt;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Đang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chờ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SFR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khối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rPr>
              <a:t>này</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Alice" pitchFamily="34" charset="-122"/>
              <a:cs typeface="Times New Roman" panose="02020603050405020304" pitchFamily="18" charset="0"/>
            </a:endParaRPr>
          </a:p>
        </p:txBody>
      </p:sp>
    </p:spTree>
    <p:extLst>
      <p:ext uri="{BB962C8B-B14F-4D97-AF65-F5344CB8AC3E}">
        <p14:creationId xmlns:p14="http://schemas.microsoft.com/office/powerpoint/2010/main" val="859112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649707" y="533400"/>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ATR72</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762000" y="1195640"/>
            <a:ext cx="10972799" cy="830997"/>
          </a:xfrm>
          <a:prstGeom prst="rect">
            <a:avLst/>
          </a:prstGeom>
        </p:spPr>
        <p:txBody>
          <a:bodyPr wrap="square">
            <a:spAutoFit/>
          </a:bodyPr>
          <a:lstStyle/>
          <a:p>
            <a:pPr algn="just">
              <a:buClrTx/>
              <a:buFontTx/>
              <a:buNone/>
            </a:pPr>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Tình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trạng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kỹ</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thuật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đội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tàu</a:t>
            </a:r>
            <a:r>
              <a:rPr lang="en-US" sz="1600" dirty="0">
                <a:solidFill>
                  <a:prstClr val="black"/>
                </a:solidFill>
                <a:latin typeface="Times New Roman" panose="02020603050405020304" pitchFamily="18" charset="0"/>
                <a:cs typeface="Times New Roman" panose="02020603050405020304" pitchFamily="18" charset="0"/>
              </a:rPr>
              <a:t> bay ATR72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tốt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với</a:t>
            </a:r>
            <a:r>
              <a:rPr lang="en-US" sz="1600" dirty="0">
                <a:solidFill>
                  <a:prstClr val="black"/>
                </a:solidFill>
                <a:latin typeface="Times New Roman" panose="02020603050405020304" pitchFamily="18" charset="0"/>
                <a:cs typeface="Times New Roman" panose="02020603050405020304" pitchFamily="18" charset="0"/>
              </a:rPr>
              <a:t> 01 </a:t>
            </a:r>
            <a:r>
              <a:rPr lang="en-US" sz="1600">
                <a:solidFill>
                  <a:prstClr val="black"/>
                </a:solidFill>
                <a:latin typeface="Times New Roman" panose="02020603050405020304" pitchFamily="18" charset="0"/>
                <a:cs typeface="Times New Roman" panose="02020603050405020304" pitchFamily="18" charset="0"/>
              </a:rPr>
              <a:t>TH AOG của B219 do Landing Gears cannot retract và 01 TH RTO của B223</a:t>
            </a:r>
            <a:endParaRPr lang="en-SG" sz="1600">
              <a:solidFill>
                <a:srgbClr val="FF0000"/>
              </a:solidFill>
              <a:latin typeface="Times New Roman" panose="02020603050405020304" pitchFamily="18" charset="0"/>
              <a:cs typeface="Times New Roman" panose="02020603050405020304" pitchFamily="18" charset="0"/>
            </a:endParaRPr>
          </a:p>
          <a:p>
            <a:pPr algn="just">
              <a:buClrTx/>
              <a:buFontTx/>
              <a:buNone/>
            </a:pPr>
            <a:endParaRPr lang="en-SG" sz="16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072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W14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31/03/2025-07/04/20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73084" cy="14927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tuần 14/2025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chỉ số độ tin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cậy các đội A321, B787, ATR72 đạt mục tiêu, riêng đội A350 không đạt mục tiêu:</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a:t>
            </a:r>
            <a:r>
              <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21</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99,67% cao hơn 0,04%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a:t>
            </a:r>
            <a:endPar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A350: 98,27% thấp hơn 1,17%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 do có 3 sự kiện delay do FMS SYS intermittent, Check Valve hệ thống thủy lực, ENG LP Valve.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B787: 99,50% cao hơn 0,14% so với mục tiêu.</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ATR72: 100% cao hơn 0,35%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11" name="Chart 10">
            <a:extLst>
              <a:ext uri="{FF2B5EF4-FFF2-40B4-BE49-F238E27FC236}">
                <a16:creationId xmlns:a16="http://schemas.microsoft.com/office/drawing/2014/main" id="{00000000-0008-0000-0000-000006000000}"/>
              </a:ext>
            </a:extLst>
          </p:cNvPr>
          <p:cNvGraphicFramePr>
            <a:graphicFrameLocks/>
          </p:cNvGraphicFramePr>
          <p:nvPr/>
        </p:nvGraphicFramePr>
        <p:xfrm>
          <a:off x="392969" y="764292"/>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66966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35573" y="0"/>
            <a:ext cx="9312664" cy="508000"/>
          </a:xfrm>
        </p:spPr>
        <p:txBody>
          <a:bodyPr>
            <a:noAutofit/>
          </a:bodyPr>
          <a:lstStyle/>
          <a:p>
            <a:pPr>
              <a:spcBef>
                <a:spcPct val="0"/>
              </a:spcBef>
              <a:defRPr/>
            </a:pPr>
            <a:r>
              <a:rPr lang="en-US" altLang="en-US" dirty="0">
                <a:ln w="0"/>
                <a:solidFill>
                  <a:schemeClr val="accent4"/>
                </a:solidFill>
                <a:latin typeface="Times New Roman" panose="02020603050405020304" pitchFamily="18" charset="0"/>
                <a:cs typeface="Times New Roman" panose="02020603050405020304" pitchFamily="18" charset="0"/>
              </a:rPr>
              <a:t>CÁC </a:t>
            </a:r>
            <a:r>
              <a:rPr lang="en-US" altLang="en-US">
                <a:ln w="0"/>
                <a:solidFill>
                  <a:schemeClr val="accent4"/>
                </a:solidFill>
                <a:latin typeface="Times New Roman" panose="02020603050405020304" pitchFamily="18" charset="0"/>
                <a:cs typeface="Times New Roman" panose="02020603050405020304" pitchFamily="18" charset="0"/>
              </a:rPr>
              <a:t>CÔNG VIỆC TRỌNG ĐIỂM</a:t>
            </a:r>
            <a:endParaRPr lang="en-US" altLang="en-US"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59"/>
          <a:ext cx="11878434" cy="5609617"/>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84087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GTF.</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33870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lưu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Week 10 Engine.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xử</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on-watch, induction slot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Ngày 11/02</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Đ</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10 – 14/03: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Technical Review GE – Working Level (12/03)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GE9X (B777X)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13/03.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triển</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khai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action items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Giới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thiệu</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GE9X</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26 - 28/03/2025: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KLM (QLVT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chủ</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tin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92661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04/03 VP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tìm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quyết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CRC, Day in service.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16519286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28</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60"/>
          <a:ext cx="11878434" cy="6154217"/>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7229147">
                  <a:extLst>
                    <a:ext uri="{9D8B030D-6E8A-4147-A177-3AD203B41FA5}">
                      <a16:colId xmlns:a16="http://schemas.microsoft.com/office/drawing/2014/main" val="426833219"/>
                    </a:ext>
                  </a:extLst>
                </a:gridCol>
                <a:gridCol w="3043617">
                  <a:extLst>
                    <a:ext uri="{9D8B030D-6E8A-4147-A177-3AD203B41FA5}">
                      <a16:colId xmlns:a16="http://schemas.microsoft.com/office/drawing/2014/main" val="3649942957"/>
                    </a:ext>
                  </a:extLst>
                </a:gridCol>
              </a:tblGrid>
              <a:tr h="40078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74926">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4</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11-Mar: Đã có phê duyệt KQLCNCC (AMOSeTL của SwissAS). Đang đàm phán ký kết hợp đồng</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Kiện toàn Tổ triển khai; Đề nghị CAAV triển khai phase 1 trong quy trình 5 phase</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690677">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5</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indent="0" algn="l" fontAlgn="ct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Nâng MTOW A350/B787</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33363" marR="0" lvl="0" indent="-173038"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họp nhiều phiên với Boeing và Airbus. Hiện chờ OCC xác nhận payload tăng đ</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 theo từng tháng để KHPT tính toán hiệu quả.. </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 A350 (2 tàu cuối thuộc standard 2018  là A898, A899): đánh giá là khó thực hiện khi bay đi Mỹ do hiện nay đã phải nạp full tank dầu</a:t>
                      </a: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83225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6</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Decal 30 </a:t>
                      </a:r>
                      <a:r>
                        <a:rPr lang="en-US" sz="1400" b="0" dirty="0" err="1">
                          <a:solidFill>
                            <a:schemeClr val="tx1"/>
                          </a:solidFill>
                          <a:latin typeface="Times New Roman" panose="02020603050405020304" pitchFamily="18" charset="0"/>
                          <a:cs typeface="Times New Roman" panose="02020603050405020304" pitchFamily="18" charset="0"/>
                        </a:rPr>
                        <a:t>năm</a:t>
                      </a:r>
                      <a:r>
                        <a:rPr lang="en-US" sz="1400" b="0" dirty="0">
                          <a:solidFill>
                            <a:schemeClr val="tx1"/>
                          </a:solidFill>
                          <a:latin typeface="Times New Roman" panose="02020603050405020304" pitchFamily="18" charset="0"/>
                          <a:cs typeface="Times New Roman" panose="02020603050405020304" pitchFamily="18" charset="0"/>
                        </a:rPr>
                        <a:t> 787-9</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có</a:t>
                      </a:r>
                      <a:r>
                        <a:rPr lang="en-US" sz="1400" kern="1200" dirty="0">
                          <a:solidFill>
                            <a:schemeClr val="tx1"/>
                          </a:solidFill>
                          <a:latin typeface="Times New Roman" panose="02020603050405020304" pitchFamily="18" charset="0"/>
                          <a:ea typeface="+mn-ea"/>
                          <a:cs typeface="Times New Roman" panose="02020603050405020304" pitchFamily="18" charset="0"/>
                        </a:rPr>
                        <a:t> SB, mod kit </a:t>
                      </a: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về</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ngày</a:t>
                      </a:r>
                      <a:r>
                        <a:rPr lang="en-US" sz="1400" kern="1200" dirty="0">
                          <a:solidFill>
                            <a:schemeClr val="tx1"/>
                          </a:solidFill>
                          <a:latin typeface="Times New Roman" panose="02020603050405020304" pitchFamily="18" charset="0"/>
                          <a:ea typeface="+mn-ea"/>
                          <a:cs typeface="Times New Roman" panose="02020603050405020304" pitchFamily="18" charset="0"/>
                        </a:rPr>
                        <a:t> 5/4/2025. </a:t>
                      </a: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triển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khai</a:t>
                      </a:r>
                      <a:r>
                        <a:rPr lang="en-US" sz="1400" kern="1200" dirty="0">
                          <a:solidFill>
                            <a:schemeClr val="tx1"/>
                          </a:solidFill>
                          <a:latin typeface="Times New Roman" panose="02020603050405020304" pitchFamily="18" charset="0"/>
                          <a:ea typeface="+mn-ea"/>
                          <a:cs typeface="Times New Roman" panose="02020603050405020304" pitchFamily="18" charset="0"/>
                        </a:rPr>
                        <a:t> SO VAECO </a:t>
                      </a:r>
                      <a:r>
                        <a:rPr lang="en-US" sz="1400" kern="1200" dirty="0" err="1">
                          <a:solidFill>
                            <a:schemeClr val="tx1"/>
                          </a:solidFill>
                          <a:latin typeface="Times New Roman" panose="02020603050405020304" pitchFamily="18" charset="0"/>
                          <a:ea typeface="+mn-ea"/>
                          <a:cs typeface="Times New Roman" panose="02020603050405020304" pitchFamily="18" charset="0"/>
                        </a:rPr>
                        <a:t>chuẩn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bị</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vật</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tư</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dụng</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cụ</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để</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hỗ</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trợ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đối</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tác</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vào</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rgbClr val="FF0000"/>
                          </a:solidFill>
                          <a:latin typeface="Times New Roman" panose="02020603050405020304" pitchFamily="18" charset="0"/>
                          <a:ea typeface="+mn-ea"/>
                          <a:cs typeface="Times New Roman" panose="02020603050405020304" pitchFamily="18" charset="0"/>
                        </a:rPr>
                        <a:t>thực</a:t>
                      </a:r>
                      <a:r>
                        <a:rPr lang="en-US" sz="1400" kern="1200" dirty="0">
                          <a:solidFill>
                            <a:srgbClr val="FF0000"/>
                          </a:solidFill>
                          <a:latin typeface="Times New Roman" panose="02020603050405020304" pitchFamily="18" charset="0"/>
                          <a:ea typeface="+mn-ea"/>
                          <a:cs typeface="Times New Roman" panose="02020603050405020304" pitchFamily="18" charset="0"/>
                        </a:rPr>
                        <a:t> </a:t>
                      </a:r>
                      <a:r>
                        <a:rPr lang="en-US" sz="1400" kern="1200" dirty="0" err="1">
                          <a:solidFill>
                            <a:srgbClr val="FF0000"/>
                          </a:solidFill>
                          <a:latin typeface="Times New Roman" panose="02020603050405020304" pitchFamily="18" charset="0"/>
                          <a:ea typeface="+mn-ea"/>
                          <a:cs typeface="Times New Roman" panose="02020603050405020304" pitchFamily="18" charset="0"/>
                        </a:rPr>
                        <a:t>hiện</a:t>
                      </a:r>
                      <a:r>
                        <a:rPr lang="en-US" sz="1400" kern="1200" dirty="0">
                          <a:solidFill>
                            <a:srgbClr val="FF0000"/>
                          </a:solidFill>
                          <a:latin typeface="Times New Roman" panose="02020603050405020304" pitchFamily="18" charset="0"/>
                          <a:ea typeface="+mn-ea"/>
                          <a:cs typeface="Times New Roman" panose="02020603050405020304" pitchFamily="18" charset="0"/>
                        </a:rPr>
                        <a:t> </a:t>
                      </a:r>
                      <a:r>
                        <a:rPr lang="en-US" sz="1400" kern="1200" dirty="0" err="1">
                          <a:solidFill>
                            <a:srgbClr val="FF0000"/>
                          </a:solidFill>
                          <a:latin typeface="Times New Roman" panose="02020603050405020304" pitchFamily="18" charset="0"/>
                          <a:ea typeface="+mn-ea"/>
                          <a:cs typeface="Times New Roman" panose="02020603050405020304" pitchFamily="18" charset="0"/>
                        </a:rPr>
                        <a:t>ngày</a:t>
                      </a:r>
                      <a:r>
                        <a:rPr lang="en-US" sz="1400" kern="1200" dirty="0">
                          <a:solidFill>
                            <a:srgbClr val="FF0000"/>
                          </a:solidFill>
                          <a:latin typeface="Times New Roman" panose="02020603050405020304" pitchFamily="18" charset="0"/>
                          <a:ea typeface="+mn-ea"/>
                          <a:cs typeface="Times New Roman" panose="02020603050405020304" pitchFamily="18" charset="0"/>
                        </a:rPr>
                        <a:t> 8-13/4/2025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237976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7</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IFC 10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Tài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liệu</a:t>
                      </a:r>
                      <a:r>
                        <a:rPr lang="en-US" sz="1400" dirty="0">
                          <a:solidFill>
                            <a:schemeClr val="tx1"/>
                          </a:solidFill>
                          <a:latin typeface="Times New Roman" panose="02020603050405020304" pitchFamily="18" charset="0"/>
                          <a:cs typeface="Times New Roman" panose="02020603050405020304" pitchFamily="18" charset="0"/>
                        </a:rPr>
                        <a:t> TSM </a:t>
                      </a:r>
                      <a:r>
                        <a:rPr lang="en-US" sz="1400" dirty="0" err="1">
                          <a:solidFill>
                            <a:schemeClr val="tx1"/>
                          </a:solidFill>
                          <a:latin typeface="Times New Roman" panose="02020603050405020304" pitchFamily="18" charset="0"/>
                          <a:cs typeface="Times New Roman" panose="02020603050405020304" pitchFamily="18" charset="0"/>
                        </a:rPr>
                        <a:t>hệ</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thống</a:t>
                      </a:r>
                      <a:r>
                        <a:rPr lang="en-US" sz="1400" dirty="0">
                          <a:solidFill>
                            <a:schemeClr val="tx1"/>
                          </a:solidFill>
                          <a:latin typeface="Times New Roman" panose="02020603050405020304" pitchFamily="18" charset="0"/>
                          <a:cs typeface="Times New Roman" panose="02020603050405020304" pitchFamily="18" charset="0"/>
                        </a:rPr>
                        <a:t> IFC: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6/3/2025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triển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khai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cho</a:t>
                      </a:r>
                      <a:r>
                        <a:rPr lang="en-US" sz="1400" b="1" dirty="0">
                          <a:solidFill>
                            <a:schemeClr val="tx1"/>
                          </a:solidFill>
                          <a:latin typeface="Times New Roman" panose="02020603050405020304" pitchFamily="18" charset="0"/>
                          <a:cs typeface="Times New Roman" panose="02020603050405020304" pitchFamily="18" charset="0"/>
                        </a:rPr>
                        <a:t> VAECO</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Vật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phòng</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KFRU, MODMAN, KANDU,  FMA 01ea; 03 WAP </a:t>
                      </a:r>
                      <a:r>
                        <a:rPr lang="en-US" sz="1400" b="1" dirty="0" err="1">
                          <a:solidFill>
                            <a:schemeClr val="tx1"/>
                          </a:solidFill>
                          <a:latin typeface="Times New Roman" panose="02020603050405020304" pitchFamily="18" charset="0"/>
                          <a:cs typeface="Times New Roman" panose="02020603050405020304" pitchFamily="18" charset="0"/>
                        </a:rPr>
                        <a:t>dự</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kiến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cuối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tháng</a:t>
                      </a:r>
                      <a:r>
                        <a:rPr lang="en-US" sz="1400" b="1" dirty="0">
                          <a:solidFill>
                            <a:schemeClr val="tx1"/>
                          </a:solidFill>
                          <a:latin typeface="Times New Roman" panose="02020603050405020304" pitchFamily="18" charset="0"/>
                          <a:cs typeface="Times New Roman" panose="02020603050405020304" pitchFamily="18" charset="0"/>
                        </a:rPr>
                        <a:t> 4/2024</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 MPS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FSAT: </a:t>
                      </a:r>
                      <a:r>
                        <a:rPr lang="en-US" sz="1400" b="1" dirty="0">
                          <a:solidFill>
                            <a:schemeClr val="tx1"/>
                          </a:solidFill>
                          <a:latin typeface="Times New Roman" panose="02020603050405020304" pitchFamily="18" charset="0"/>
                          <a:cs typeface="Times New Roman" panose="02020603050405020304" pitchFamily="18" charset="0"/>
                        </a:rPr>
                        <a:t>MPS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mod kit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SB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ban </a:t>
                      </a:r>
                      <a:r>
                        <a:rPr lang="en-US" sz="1400" b="1" dirty="0" err="1">
                          <a:solidFill>
                            <a:schemeClr val="tx1"/>
                          </a:solidFill>
                          <a:latin typeface="Times New Roman" panose="02020603050405020304" pitchFamily="18" charset="0"/>
                          <a:cs typeface="Times New Roman" panose="02020603050405020304" pitchFamily="18" charset="0"/>
                        </a:rPr>
                        <a:t>hành</a:t>
                      </a:r>
                      <a:r>
                        <a:rPr lang="en-US" sz="1400" b="1" dirty="0">
                          <a:solidFill>
                            <a:schemeClr val="tx1"/>
                          </a:solidFill>
                          <a:latin typeface="Times New Roman" panose="02020603050405020304" pitchFamily="18" charset="0"/>
                          <a:cs typeface="Times New Roman" panose="02020603050405020304" pitchFamily="18" charset="0"/>
                        </a:rPr>
                        <a:t> –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MOC </a:t>
                      </a:r>
                      <a:r>
                        <a:rPr lang="en-US" sz="1400" b="1" dirty="0" err="1">
                          <a:solidFill>
                            <a:schemeClr val="tx1"/>
                          </a:solidFill>
                          <a:latin typeface="Times New Roman" panose="02020603050405020304" pitchFamily="18" charset="0"/>
                          <a:cs typeface="Times New Roman" panose="02020603050405020304" pitchFamily="18" charset="0"/>
                        </a:rPr>
                        <a:t>xếp</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lịch</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r>
                        <a:rPr lang="en-US" sz="1400" b="1" dirty="0">
                          <a:solidFill>
                            <a:schemeClr val="tx1"/>
                          </a:solidFill>
                          <a:latin typeface="Times New Roman" panose="02020603050405020304" pitchFamily="18" charset="0"/>
                          <a:cs typeface="Times New Roman" panose="02020603050405020304" pitchFamily="18" charset="0"/>
                        </a:rPr>
                        <a:t>. </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gửi</a:t>
                      </a:r>
                      <a:r>
                        <a:rPr lang="en-US" sz="1400" dirty="0">
                          <a:solidFill>
                            <a:schemeClr val="tx1"/>
                          </a:solidFill>
                          <a:latin typeface="Times New Roman" panose="02020603050405020304" pitchFamily="18" charset="0"/>
                          <a:cs typeface="Times New Roman" panose="02020603050405020304" pitchFamily="18" charset="0"/>
                        </a:rPr>
                        <a:t> 02 shipset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firmwarre</a:t>
                      </a:r>
                      <a:r>
                        <a:rPr lang="en-US" sz="1400" dirty="0">
                          <a:solidFill>
                            <a:schemeClr val="tx1"/>
                          </a:solidFill>
                          <a:latin typeface="Times New Roman" panose="02020603050405020304" pitchFamily="18" charset="0"/>
                          <a:cs typeface="Times New Roman" panose="02020603050405020304" pitchFamily="18" charset="0"/>
                        </a:rPr>
                        <a:t>, TAT 60-70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 =&gt;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về</a:t>
                      </a:r>
                      <a:r>
                        <a:rPr lang="en-US" sz="1400" b="1" dirty="0">
                          <a:solidFill>
                            <a:schemeClr val="tx1"/>
                          </a:solidFill>
                          <a:latin typeface="Times New Roman" panose="02020603050405020304" pitchFamily="18" charset="0"/>
                          <a:cs typeface="Times New Roman" panose="02020603050405020304" pitchFamily="18" charset="0"/>
                        </a:rPr>
                        <a:t> 02 KANDU, 02 FMA, 01 MODMAN; </a:t>
                      </a:r>
                      <a:r>
                        <a:rPr lang="en-US" sz="1400" b="1" dirty="0" err="1">
                          <a:solidFill>
                            <a:schemeClr val="tx1"/>
                          </a:solidFill>
                          <a:latin typeface="Times New Roman" panose="02020603050405020304" pitchFamily="18" charset="0"/>
                          <a:cs typeface="Times New Roman" panose="02020603050405020304" pitchFamily="18" charset="0"/>
                        </a:rPr>
                        <a:t>tiếp</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về</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sớm</a:t>
                      </a:r>
                      <a:r>
                        <a:rPr lang="en-US" sz="1400" b="1" dirty="0">
                          <a:solidFill>
                            <a:schemeClr val="tx1"/>
                          </a:solidFill>
                          <a:latin typeface="Times New Roman" panose="02020603050405020304" pitchFamily="18" charset="0"/>
                          <a:cs typeface="Times New Roman" panose="02020603050405020304" pitchFamily="18" charset="0"/>
                        </a:rPr>
                        <a:t> 02 KRFU + 01 MODMAN</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tạo</a:t>
                      </a:r>
                      <a:r>
                        <a:rPr lang="en-US" sz="1400" dirty="0">
                          <a:solidFill>
                            <a:schemeClr val="tx1"/>
                          </a:solidFill>
                          <a:latin typeface="Times New Roman" panose="02020603050405020304" pitchFamily="18" charset="0"/>
                          <a:cs typeface="Times New Roman" panose="02020603050405020304" pitchFamily="18" charset="0"/>
                        </a:rPr>
                        <a:t> IFC VAECO 19-20/2/2025: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endParaRPr lang="en-US" sz="1400" b="1" dirty="0">
                        <a:solidFill>
                          <a:schemeClr val="tx1"/>
                        </a:solidFill>
                        <a:latin typeface="Times New Roman" panose="02020603050405020304" pitchFamily="18" charset="0"/>
                        <a:cs typeface="Times New Roman" panose="02020603050405020304" pitchFamily="18" charset="0"/>
                      </a:endParaRP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FSAT </a:t>
                      </a:r>
                      <a:r>
                        <a:rPr lang="en-US" sz="1400" dirty="0" err="1">
                          <a:solidFill>
                            <a:schemeClr val="tx1"/>
                          </a:solidFill>
                          <a:latin typeface="Times New Roman" panose="02020603050405020304" pitchFamily="18" charset="0"/>
                          <a:cs typeface="Times New Roman" panose="02020603050405020304" pitchFamily="18" charset="0"/>
                        </a:rPr>
                        <a:t>từ</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 4-7/3/2025: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kiểm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tra</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tại</a:t>
                      </a:r>
                      <a:r>
                        <a:rPr lang="en-US" sz="1400" b="1" dirty="0">
                          <a:solidFill>
                            <a:schemeClr val="tx1"/>
                          </a:solidFill>
                          <a:latin typeface="Times New Roman" panose="02020603050405020304" pitchFamily="18" charset="0"/>
                          <a:cs typeface="Times New Roman" panose="02020603050405020304" pitchFamily="18" charset="0"/>
                        </a:rPr>
                        <a:t> LAB =&gt; Thales </a:t>
                      </a:r>
                      <a:r>
                        <a:rPr lang="en-US" sz="1400" b="1" dirty="0" err="1">
                          <a:solidFill>
                            <a:schemeClr val="tx1"/>
                          </a:solidFill>
                          <a:latin typeface="Times New Roman" panose="02020603050405020304" pitchFamily="18" charset="0"/>
                          <a:cs typeface="Times New Roman" panose="02020603050405020304" pitchFamily="18" charset="0"/>
                        </a:rPr>
                        <a:t>thông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báo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ngày</a:t>
                      </a:r>
                      <a:r>
                        <a:rPr lang="en-US" sz="1400" b="1" dirty="0">
                          <a:solidFill>
                            <a:schemeClr val="tx1"/>
                          </a:solidFill>
                          <a:latin typeface="Times New Roman" panose="02020603050405020304" pitchFamily="18" charset="0"/>
                          <a:cs typeface="Times New Roman" panose="02020603050405020304" pitchFamily="18" charset="0"/>
                        </a:rPr>
                        <a:t> 14/3 SW delay </a:t>
                      </a:r>
                      <a:r>
                        <a:rPr lang="en-US" sz="1400" b="1" dirty="0" err="1">
                          <a:solidFill>
                            <a:schemeClr val="tx1"/>
                          </a:solidFill>
                          <a:latin typeface="Times New Roman" panose="02020603050405020304" pitchFamily="18" charset="0"/>
                          <a:cs typeface="Times New Roman" panose="02020603050405020304" pitchFamily="18" charset="0"/>
                        </a:rPr>
                        <a:t>giữa</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tháng</a:t>
                      </a:r>
                      <a:r>
                        <a:rPr lang="en-US" sz="1400" b="1" dirty="0">
                          <a:solidFill>
                            <a:schemeClr val="tx1"/>
                          </a:solidFill>
                          <a:latin typeface="Times New Roman" panose="02020603050405020304" pitchFamily="18" charset="0"/>
                          <a:cs typeface="Times New Roman" panose="02020603050405020304" pitchFamily="18" charset="0"/>
                        </a:rPr>
                        <a:t> 4/2025 (</a:t>
                      </a:r>
                      <a:r>
                        <a:rPr lang="en-US" sz="1400" b="1" dirty="0" err="1">
                          <a:solidFill>
                            <a:schemeClr val="tx1"/>
                          </a:solidFill>
                          <a:latin typeface="Times New Roman" panose="02020603050405020304" pitchFamily="18" charset="0"/>
                          <a:cs typeface="Times New Roman" panose="02020603050405020304" pitchFamily="18" charset="0"/>
                        </a:rPr>
                        <a:t>phát</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sinh</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khắc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phục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lỗi</a:t>
                      </a:r>
                      <a:r>
                        <a:rPr lang="en-US" sz="1400" b="1" dirty="0">
                          <a:solidFill>
                            <a:schemeClr val="tx1"/>
                          </a:solidFill>
                          <a:latin typeface="Times New Roman" panose="02020603050405020304" pitchFamily="18" charset="0"/>
                          <a:cs typeface="Times New Roman" panose="02020603050405020304" pitchFamily="18" charset="0"/>
                        </a:rPr>
                        <a:t> IFE)</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SW on-wing 02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a:solidFill>
                            <a:schemeClr val="tx1"/>
                          </a:solidFill>
                          <a:latin typeface="Times New Roman" panose="02020603050405020304" pitchFamily="18" charset="0"/>
                          <a:cs typeface="Times New Roman" panose="02020603050405020304" pitchFamily="18" charset="0"/>
                        </a:rPr>
                        <a:t>A892 &amp; A899 </a:t>
                      </a:r>
                      <a:r>
                        <a:rPr lang="en-US" sz="1400" b="1" dirty="0" err="1">
                          <a:solidFill>
                            <a:schemeClr val="tx1"/>
                          </a:solidFill>
                          <a:latin typeface="Times New Roman" panose="02020603050405020304" pitchFamily="18" charset="0"/>
                          <a:cs typeface="Times New Roman" panose="02020603050405020304" pitchFamily="18" charset="0"/>
                        </a:rPr>
                        <a:t>ngày</a:t>
                      </a:r>
                      <a:r>
                        <a:rPr lang="en-US" sz="1400" b="1" dirty="0">
                          <a:solidFill>
                            <a:schemeClr val="tx1"/>
                          </a:solidFill>
                          <a:latin typeface="Times New Roman" panose="02020603050405020304" pitchFamily="18" charset="0"/>
                          <a:cs typeface="Times New Roman" panose="02020603050405020304" pitchFamily="18" charset="0"/>
                        </a:rPr>
                        <a:t> 7-11/4/2025</a:t>
                      </a:r>
                      <a:endParaRPr lang="en-US" sz="14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9772953"/>
                  </a:ext>
                </a:extLst>
              </a:tr>
              <a:tr h="83225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8</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CĐCH </a:t>
                      </a:r>
                      <a:r>
                        <a:rPr lang="en-US" sz="1400" b="0" dirty="0" err="1">
                          <a:solidFill>
                            <a:schemeClr val="tx1"/>
                          </a:solidFill>
                          <a:latin typeface="Times New Roman" panose="02020603050405020304" pitchFamily="18" charset="0"/>
                          <a:cs typeface="Times New Roman" panose="02020603050405020304" pitchFamily="18" charset="0"/>
                        </a:rPr>
                        <a:t>ghế</a:t>
                      </a:r>
                      <a:r>
                        <a:rPr lang="en-US" sz="1400" b="0" dirty="0">
                          <a:solidFill>
                            <a:schemeClr val="tx1"/>
                          </a:solidFill>
                          <a:latin typeface="Times New Roman" panose="02020603050405020304" pitchFamily="18" charset="0"/>
                          <a:cs typeface="Times New Roman" panose="02020603050405020304" pitchFamily="18" charset="0"/>
                        </a:rPr>
                        <a:t> 23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HSYC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1,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nhận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hoàn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thành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đánh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giá</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=&gt; </a:t>
                      </a: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lựa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chọn</a:t>
                      </a:r>
                      <a:r>
                        <a:rPr lang="en-US" sz="1400" dirty="0">
                          <a:solidFill>
                            <a:schemeClr val="tx1"/>
                          </a:solidFill>
                          <a:latin typeface="Times New Roman" panose="02020603050405020304" pitchFamily="18" charset="0"/>
                          <a:cs typeface="Times New Roman" panose="02020603050405020304" pitchFamily="18" charset="0"/>
                        </a:rPr>
                        <a:t> NCC </a:t>
                      </a:r>
                      <a:r>
                        <a:rPr lang="en-US" sz="1400" dirty="0" err="1">
                          <a:solidFill>
                            <a:schemeClr val="tx1"/>
                          </a:solidFill>
                          <a:latin typeface="Times New Roman" panose="02020603050405020304" pitchFamily="18" charset="0"/>
                          <a:cs typeface="Times New Roman" panose="02020603050405020304" pitchFamily="18" charset="0"/>
                        </a:rPr>
                        <a:t>ghế</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STC;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làm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việc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tác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họp</a:t>
                      </a:r>
                      <a:r>
                        <a:rPr lang="en-US" sz="1400" dirty="0">
                          <a:solidFill>
                            <a:schemeClr val="tx1"/>
                          </a:solidFill>
                          <a:latin typeface="Times New Roman" panose="02020603050405020304" pitchFamily="18" charset="0"/>
                          <a:cs typeface="Times New Roman" panose="02020603050405020304" pitchFamily="18" charset="0"/>
                        </a:rPr>
                        <a:t> pre-ICTM,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thông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chính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thức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PO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15</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797684"/>
                  </a:ext>
                </a:extLst>
              </a:tr>
            </a:tbl>
          </a:graphicData>
        </a:graphic>
      </p:graphicFrame>
      <p:sp>
        <p:nvSpPr>
          <p:cNvPr id="4" name="Title 2">
            <a:extLst>
              <a:ext uri="{FF2B5EF4-FFF2-40B4-BE49-F238E27FC236}">
                <a16:creationId xmlns:a16="http://schemas.microsoft.com/office/drawing/2014/main" id="{CAAB8563-2E25-F9E3-A86A-938A82C20087}"/>
              </a:ext>
            </a:extLst>
          </p:cNvPr>
          <p:cNvSpPr txBox="1">
            <a:spLocks/>
          </p:cNvSpPr>
          <p:nvPr/>
        </p:nvSpPr>
        <p:spPr>
          <a:xfrm>
            <a:off x="171709" y="0"/>
            <a:ext cx="9312664" cy="508000"/>
          </a:xfrm>
          <a:prstGeom prst="rect">
            <a:avLst/>
          </a:prstGeom>
        </p:spPr>
        <p:txBody>
          <a:bodyPr spcFirstLastPara="1" vert="horz" wrap="square" lIns="91425" tIns="91425" rIns="91425" bIns="91425" rtlCol="0" anchor="t" anchorCtr="0">
            <a:noAutofit/>
          </a:bodyPr>
          <a:lstStyle>
            <a:lvl1pPr lvl="0" algn="l" defTabSz="914400" rtl="0" eaLnBrk="1" latinLnBrk="0" hangingPunct="1">
              <a:lnSpc>
                <a:spcPct val="90000"/>
              </a:lnSpc>
              <a:spcBef>
                <a:spcPts val="0"/>
              </a:spcBef>
              <a:spcAft>
                <a:spcPts val="0"/>
              </a:spcAft>
              <a:buClr>
                <a:srgbClr val="DEA610"/>
              </a:buClr>
              <a:buSzPts val="2100"/>
              <a:buFont typeface="Montserrat"/>
              <a:buNone/>
              <a:defRPr sz="2800" b="1" kern="1200">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pPr>
              <a:spcBef>
                <a:spcPct val="0"/>
              </a:spcBef>
              <a:defRPr/>
            </a:pPr>
            <a:r>
              <a:rPr lang="en-US" altLang="en-US">
                <a:ln w="0"/>
                <a:solidFill>
                  <a:schemeClr val="accent4"/>
                </a:solidFill>
                <a:latin typeface="Times New Roman" panose="02020603050405020304" pitchFamily="18" charset="0"/>
                <a:cs typeface="Times New Roman" panose="02020603050405020304" pitchFamily="18" charset="0"/>
              </a:rPr>
              <a:t>CÁC CÔNG VIỆC TRỌNG ĐIỂM</a:t>
            </a:r>
            <a:endParaRPr lang="en-US" altLang="en-US" dirty="0">
              <a:ln w="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8913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29</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60"/>
          <a:ext cx="11878434" cy="5964932"/>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753147">
                  <a:extLst>
                    <a:ext uri="{9D8B030D-6E8A-4147-A177-3AD203B41FA5}">
                      <a16:colId xmlns:a16="http://schemas.microsoft.com/office/drawing/2014/main" val="426833219"/>
                    </a:ext>
                  </a:extLst>
                </a:gridCol>
                <a:gridCol w="1519617">
                  <a:extLst>
                    <a:ext uri="{9D8B030D-6E8A-4147-A177-3AD203B41FA5}">
                      <a16:colId xmlns:a16="http://schemas.microsoft.com/office/drawing/2014/main" val="3649942957"/>
                    </a:ext>
                  </a:extLst>
                </a:gridCol>
              </a:tblGrid>
              <a:tr h="40078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74926">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9</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300" b="0" dirty="0">
                          <a:ln w="0"/>
                          <a:solidFill>
                            <a:schemeClr val="tx1"/>
                          </a:solidFill>
                          <a:latin typeface="Times New Roman" panose="02020603050405020304" pitchFamily="18" charset="0"/>
                          <a:cs typeface="Times New Roman" panose="02020603050405020304" pitchFamily="18" charset="0"/>
                        </a:rPr>
                        <a:t>CÔNG TÁC BÁN TRẢ/ TIẾP NHẬN/BÀN GIAO TÀU BAY</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2" indent="0" algn="just" defTabSz="914400" rtl="0" eaLnBrk="1" latinLnBrk="0" hangingPunct="1">
                        <a:lnSpc>
                          <a:spcPct val="150000"/>
                        </a:lnSpc>
                        <a:spcBef>
                          <a:spcPts val="600"/>
                        </a:spcBef>
                        <a:spcAft>
                          <a:spcPts val="600"/>
                        </a:spcAft>
                        <a:buClr>
                          <a:srgbClr val="000000"/>
                        </a:buClr>
                        <a:buFontTx/>
                        <a:buNone/>
                      </a:pP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VNA và VALC đã ký kết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gia</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hạn</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tạm thời thuê 10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tàu</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A321 CEO sở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hữu</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của VALC đến hết 31/06/2025 để VALC có thời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gian</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a:t>
                      </a:r>
                      <a:r>
                        <a:rPr lang="en-US" sz="1300" kern="1200" dirty="0" err="1">
                          <a:solidFill>
                            <a:schemeClr val="dk1"/>
                          </a:solidFill>
                          <a:latin typeface="Times New Roman" panose="02020603050405020304" pitchFamily="18" charset="0"/>
                          <a:ea typeface="+mn-ea"/>
                          <a:cs typeface="Times New Roman" panose="02020603050405020304" pitchFamily="18" charset="0"/>
                          <a:sym typeface="Arial"/>
                        </a:rPr>
                        <a:t>thực</a:t>
                      </a:r>
                      <a:r>
                        <a:rPr lang="en-US" sz="1300" kern="1200" dirty="0">
                          <a:solidFill>
                            <a:schemeClr val="dk1"/>
                          </a:solidFill>
                          <a:latin typeface="Times New Roman" panose="02020603050405020304" pitchFamily="18" charset="0"/>
                          <a:ea typeface="+mn-ea"/>
                          <a:cs typeface="Times New Roman" panose="02020603050405020304" pitchFamily="18" charset="0"/>
                          <a:sym typeface="Arial"/>
                        </a:rPr>
                        <a:t> hiện các thủ tục bán.</a:t>
                      </a:r>
                    </a:p>
                    <a:p>
                      <a:pPr algn="just">
                        <a:lnSpc>
                          <a:spcPct val="150000"/>
                        </a:lnSpc>
                      </a:pPr>
                      <a:r>
                        <a:rPr lang="vi-VN" sz="1300" dirty="0">
                          <a:latin typeface="Times New Roman" panose="02020603050405020304" pitchFamily="18" charset="0"/>
                          <a:cs typeface="Times New Roman" panose="02020603050405020304" pitchFamily="18" charset="0"/>
                        </a:rPr>
                        <a:t>1,  Arena: Bản chào gia hạn thuê 10 tàu A321 với thời gian trung bình 5 năm, hiện đang trong quá trình đàm phán gia hạn. Cơ bản đã đàm phán thống nhất các nội dung liên quan tới KT</a:t>
                      </a:r>
                    </a:p>
                    <a:p>
                      <a:pPr algn="just">
                        <a:lnSpc>
                          <a:spcPct val="150000"/>
                        </a:lnSpc>
                      </a:pPr>
                      <a:r>
                        <a:rPr lang="vi-VN" sz="1300" dirty="0">
                          <a:latin typeface="Times New Roman" panose="02020603050405020304" pitchFamily="18" charset="0"/>
                          <a:cs typeface="Times New Roman" panose="02020603050405020304" pitchFamily="18" charset="0"/>
                        </a:rPr>
                        <a:t>Các vấn đề lớn / cơ bản Arena đang đề xuất:</a:t>
                      </a:r>
                    </a:p>
                    <a:p>
                      <a:pPr algn="just">
                        <a:lnSpc>
                          <a:spcPct val="150000"/>
                        </a:lnSpc>
                      </a:pPr>
                      <a:r>
                        <a:rPr lang="en-US" sz="1300">
                          <a:latin typeface="Times New Roman" panose="02020603050405020304" pitchFamily="18" charset="0"/>
                          <a:cs typeface="Times New Roman" panose="02020603050405020304" pitchFamily="18" charset="0"/>
                        </a:rPr>
                        <a:t>    </a:t>
                      </a:r>
                      <a:r>
                        <a:rPr lang="vi-VN" sz="1300">
                          <a:latin typeface="Times New Roman" panose="02020603050405020304" pitchFamily="18" charset="0"/>
                          <a:cs typeface="Times New Roman" panose="02020603050405020304" pitchFamily="18" charset="0"/>
                        </a:rPr>
                        <a:t>a</a:t>
                      </a:r>
                      <a:r>
                        <a:rPr lang="vi-VN" sz="1300" dirty="0">
                          <a:latin typeface="Times New Roman" panose="02020603050405020304" pitchFamily="18" charset="0"/>
                          <a:cs typeface="Times New Roman" panose="02020603050405020304" pitchFamily="18" charset="0"/>
                        </a:rPr>
                        <a:t>.  10 tàu bay cần được duy trì khả năng khai thác sau khi hết hợp đồng gia hạn với Arena.</a:t>
                      </a:r>
                    </a:p>
                    <a:p>
                      <a:pPr algn="just">
                        <a:lnSpc>
                          <a:spcPct val="150000"/>
                        </a:lnSpc>
                      </a:pPr>
                      <a:r>
                        <a:rPr lang="en-US" sz="1300">
                          <a:latin typeface="Times New Roman" panose="02020603050405020304" pitchFamily="18" charset="0"/>
                          <a:cs typeface="Times New Roman" panose="02020603050405020304" pitchFamily="18" charset="0"/>
                        </a:rPr>
                        <a:t>    </a:t>
                      </a:r>
                      <a:r>
                        <a:rPr lang="vi-VN" sz="1300">
                          <a:latin typeface="Times New Roman" panose="02020603050405020304" pitchFamily="18" charset="0"/>
                          <a:cs typeface="Times New Roman" panose="02020603050405020304" pitchFamily="18" charset="0"/>
                        </a:rPr>
                        <a:t>b</a:t>
                      </a:r>
                      <a:r>
                        <a:rPr lang="vi-VN" sz="1300" dirty="0">
                          <a:latin typeface="Times New Roman" panose="02020603050405020304" pitchFamily="18" charset="0"/>
                          <a:cs typeface="Times New Roman" panose="02020603050405020304" pitchFamily="18" charset="0"/>
                        </a:rPr>
                        <a:t>.  Thực hiện balancing quỹ bảo dưỡng sau khi kết thúc gia hạn thuê.</a:t>
                      </a:r>
                    </a:p>
                    <a:p>
                      <a:pPr algn="just">
                        <a:lnSpc>
                          <a:spcPct val="150000"/>
                        </a:lnSpc>
                      </a:pPr>
                      <a:r>
                        <a:rPr lang="en-US" sz="1300">
                          <a:latin typeface="Times New Roman" panose="02020603050405020304" pitchFamily="18" charset="0"/>
                          <a:cs typeface="Times New Roman" panose="02020603050405020304" pitchFamily="18" charset="0"/>
                        </a:rPr>
                        <a:t>    </a:t>
                      </a:r>
                      <a:r>
                        <a:rPr lang="vi-VN" sz="1300">
                          <a:latin typeface="Times New Roman" panose="02020603050405020304" pitchFamily="18" charset="0"/>
                          <a:cs typeface="Times New Roman" panose="02020603050405020304" pitchFamily="18" charset="0"/>
                        </a:rPr>
                        <a:t>c</a:t>
                      </a:r>
                      <a:r>
                        <a:rPr lang="vi-VN" sz="1300" dirty="0">
                          <a:latin typeface="Times New Roman" panose="02020603050405020304" pitchFamily="18" charset="0"/>
                          <a:cs typeface="Times New Roman" panose="02020603050405020304" pitchFamily="18" charset="0"/>
                        </a:rPr>
                        <a:t>.  Đồng ý giảm MR và đề xuất phương án buy-out cho một số điều kiện trả.</a:t>
                      </a:r>
                    </a:p>
                    <a:p>
                      <a:pPr algn="just">
                        <a:lnSpc>
                          <a:spcPct val="150000"/>
                        </a:lnSpc>
                      </a:pPr>
                      <a:r>
                        <a:rPr lang="vi-VN" sz="1300" dirty="0">
                          <a:latin typeface="Times New Roman" panose="02020603050405020304" pitchFamily="18" charset="0"/>
                          <a:cs typeface="Times New Roman" panose="02020603050405020304" pitchFamily="18" charset="0"/>
                        </a:rPr>
                        <a:t>2,  FTAI: Bản chào thuê 10 tàu A321 với điều kiện trả là As-is, có đảm bảo hỗ trợ động cơ khai thác đến hết run-out. Không phải thực hiện đóng quỹ ngoại trừ động cơ. Bản chào có nhiều thuận lợi cho VNA trong quá trình khai thác và trả tàu bay. </a:t>
                      </a:r>
                    </a:p>
                    <a:p>
                      <a:pPr algn="just">
                        <a:lnSpc>
                          <a:spcPct val="150000"/>
                        </a:lnSpc>
                      </a:pPr>
                      <a:r>
                        <a:rPr lang="vi-VN" sz="1300" dirty="0">
                          <a:latin typeface="Times New Roman" panose="02020603050405020304" pitchFamily="18" charset="0"/>
                          <a:cs typeface="Times New Roman" panose="02020603050405020304" pitchFamily="18" charset="0"/>
                        </a:rPr>
                        <a:t>Đã có 2 đối tác thực hiện kiểm tra tàu bay và tài liệu phục vụ công tác bán tàu của VALC là Arena và XAero. Các đối tác này đã kiểm tra xong tàu bay và tài liệu (kiểm tra 05 tàu bay VN-A397(VAECO-HCM) và VN-A338/A392/A395/A604(VAECO-HAN)).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690677">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300" b="0" dirty="0">
                          <a:solidFill>
                            <a:schemeClr val="tx1"/>
                          </a:solidFill>
                          <a:latin typeface="Times New Roman" panose="02020603050405020304" pitchFamily="18" charset="0"/>
                          <a:cs typeface="Times New Roman" panose="02020603050405020304" pitchFamily="18" charset="0"/>
                        </a:rPr>
                        <a:t>Dự</a:t>
                      </a:r>
                      <a:r>
                        <a:rPr lang="en-US" sz="1300" b="0" baseline="0" dirty="0">
                          <a:solidFill>
                            <a:schemeClr val="tx1"/>
                          </a:solidFill>
                          <a:latin typeface="Times New Roman" panose="02020603050405020304" pitchFamily="18" charset="0"/>
                          <a:cs typeface="Times New Roman" panose="02020603050405020304" pitchFamily="18" charset="0"/>
                        </a:rPr>
                        <a:t> án 50 </a:t>
                      </a:r>
                      <a:r>
                        <a:rPr lang="en-US" sz="1300" b="0" baseline="0" dirty="0" err="1">
                          <a:solidFill>
                            <a:schemeClr val="tx1"/>
                          </a:solidFill>
                          <a:latin typeface="Times New Roman" panose="02020603050405020304" pitchFamily="18" charset="0"/>
                          <a:cs typeface="Times New Roman" panose="02020603050405020304" pitchFamily="18" charset="0"/>
                        </a:rPr>
                        <a:t>tàu</a:t>
                      </a:r>
                      <a:r>
                        <a:rPr lang="en-US" sz="1300" b="0" baseline="0" dirty="0">
                          <a:solidFill>
                            <a:schemeClr val="tx1"/>
                          </a:solidFill>
                          <a:latin typeface="Times New Roman" panose="02020603050405020304" pitchFamily="18" charset="0"/>
                          <a:cs typeface="Times New Roman" panose="02020603050405020304" pitchFamily="18" charset="0"/>
                        </a:rPr>
                        <a:t> thân </a:t>
                      </a:r>
                      <a:r>
                        <a:rPr lang="en-US" sz="1300" b="0" baseline="0" dirty="0" err="1">
                          <a:solidFill>
                            <a:schemeClr val="tx1"/>
                          </a:solidFill>
                          <a:latin typeface="Times New Roman" panose="02020603050405020304" pitchFamily="18" charset="0"/>
                          <a:cs typeface="Times New Roman" panose="02020603050405020304" pitchFamily="18" charset="0"/>
                        </a:rPr>
                        <a:t>hẹp</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sz="1400">
                          <a:latin typeface="Times New Roman" panose="02020603050405020304" pitchFamily="18" charset="0"/>
                          <a:cs typeface="Times New Roman" panose="02020603050405020304" pitchFamily="18" charset="0"/>
                        </a:rPr>
                        <a:t>- Hiện </a:t>
                      </a:r>
                      <a:r>
                        <a:rPr lang="vi-VN" sz="1400" dirty="0">
                          <a:latin typeface="+mn-lt"/>
                          <a:cs typeface="Times New Roman" panose="02020603050405020304" pitchFamily="18" charset="0"/>
                        </a:rPr>
                        <a:t>Tổ thuê mua tàu bay vẫn tiếp tục chủ trì phối hợp với các CQĐV chuyên môn làm việc với Boeing để có số liệu cuối cùng tính toán hiệu quả khả thi dự án đầu tư báo cáo cấp có thẩm quyền. </a:t>
                      </a:r>
                      <a:r>
                        <a:rPr lang="en-US" sz="1400" dirty="0">
                          <a:latin typeface="Times New Roman" panose="02020603050405020304" pitchFamily="18" charset="0"/>
                          <a:cs typeface="Times New Roman" panose="02020603050405020304" pitchFamily="18" charset="0"/>
                        </a:rPr>
                        <a:t>Ban KT</a:t>
                      </a:r>
                      <a:r>
                        <a:rPr lang="vi-VN" sz="1400" dirty="0">
                          <a:latin typeface="+mn-lt"/>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đã tổ chức</a:t>
                      </a:r>
                      <a:r>
                        <a:rPr lang="vi-VN" sz="1400" dirty="0">
                          <a:latin typeface="+mn-lt"/>
                          <a:cs typeface="Times New Roman" panose="02020603050405020304" pitchFamily="18" charset="0"/>
                        </a:rPr>
                        <a:t> hội thảo với Boeing vào 1/4 để đánh giá các vấn đề khi khai thác 737 Max.</a:t>
                      </a:r>
                      <a:r>
                        <a:rPr lang="en-US" sz="1400" dirty="0">
                          <a:latin typeface="Times New Roman" panose="02020603050405020304" pitchFamily="18" charset="0"/>
                          <a:cs typeface="Times New Roman" panose="02020603050405020304" pitchFamily="18" charset="0"/>
                        </a:rPr>
                        <a:t> </a:t>
                      </a:r>
                    </a:p>
                    <a:p>
                      <a:pPr marL="0" marR="0" indent="0" algn="just" defTabSz="914400" rtl="0" eaLnBrk="1" fontAlgn="auto" latinLnBrk="0" hangingPunct="1">
                        <a:lnSpc>
                          <a:spcPct val="150000"/>
                        </a:lnSpc>
                        <a:spcBef>
                          <a:spcPts val="0"/>
                        </a:spcBef>
                        <a:spcAft>
                          <a:spcPts val="0"/>
                        </a:spcAft>
                        <a:buClrTx/>
                        <a:buSzTx/>
                        <a:buFontTx/>
                        <a:buNone/>
                        <a:tabLst/>
                        <a:defRPr/>
                      </a:pPr>
                      <a:r>
                        <a:rPr lang="en-US" sz="1400">
                          <a:latin typeface="Times New Roman" panose="02020603050405020304" pitchFamily="18" charset="0"/>
                          <a:cs typeface="Times New Roman" panose="02020603050405020304" pitchFamily="18" charset="0"/>
                        </a:rPr>
                        <a:t>- Dự </a:t>
                      </a:r>
                      <a:r>
                        <a:rPr lang="en-US" sz="1400" dirty="0">
                          <a:latin typeface="Times New Roman" panose="02020603050405020304" pitchFamily="18" charset="0"/>
                          <a:cs typeface="Times New Roman" panose="02020603050405020304" pitchFamily="18" charset="0"/>
                        </a:rPr>
                        <a:t>kiến số liệu CPBD cập </a:t>
                      </a:r>
                      <a:r>
                        <a:rPr lang="en-US" sz="1400" dirty="0" err="1">
                          <a:latin typeface="Times New Roman" panose="02020603050405020304" pitchFamily="18" charset="0"/>
                          <a:cs typeface="Times New Roman" panose="02020603050405020304" pitchFamily="18" charset="0"/>
                        </a:rPr>
                        <a:t>nhật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sẽ</a:t>
                      </a:r>
                      <a:r>
                        <a:rPr lang="en-US" sz="1400" dirty="0">
                          <a:latin typeface="Times New Roman" panose="02020603050405020304" pitchFamily="18" charset="0"/>
                          <a:cs typeface="Times New Roman" panose="02020603050405020304" pitchFamily="18" charset="0"/>
                        </a:rPr>
                        <a:t> được Boeing gửi </a:t>
                      </a:r>
                      <a:r>
                        <a:rPr lang="en-US" sz="1400" dirty="0" err="1">
                          <a:latin typeface="Times New Roman" panose="02020603050405020304" pitchFamily="18" charset="0"/>
                          <a:cs typeface="Times New Roman" panose="02020603050405020304" pitchFamily="18" charset="0"/>
                        </a:rPr>
                        <a:t>lại</a:t>
                      </a:r>
                      <a:r>
                        <a:rPr lang="en-US" sz="1400" dirty="0">
                          <a:latin typeface="Times New Roman" panose="02020603050405020304" pitchFamily="18" charset="0"/>
                          <a:cs typeface="Times New Roman" panose="02020603050405020304" pitchFamily="18" charset="0"/>
                        </a:rPr>
                        <a:t> vào 8/4/2025 để </a:t>
                      </a:r>
                      <a:r>
                        <a:rPr lang="en-US" sz="1400" dirty="0" err="1">
                          <a:latin typeface="Times New Roman" panose="02020603050405020304" pitchFamily="18" charset="0"/>
                          <a:cs typeface="Times New Roman" panose="02020603050405020304" pitchFamily="18" charset="0"/>
                        </a:rPr>
                        <a:t>dùng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làm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căn</a:t>
                      </a:r>
                      <a:r>
                        <a:rPr lang="en-US" sz="1400" dirty="0">
                          <a:latin typeface="Times New Roman" panose="02020603050405020304" pitchFamily="18" charset="0"/>
                          <a:cs typeface="Times New Roman" panose="02020603050405020304" pitchFamily="18" charset="0"/>
                        </a:rPr>
                        <a:t> cứ tính toán </a:t>
                      </a:r>
                      <a:r>
                        <a:rPr lang="en-US" sz="1400" dirty="0" err="1">
                          <a:latin typeface="Times New Roman" panose="02020603050405020304" pitchFamily="18" charset="0"/>
                          <a:cs typeface="Times New Roman" panose="02020603050405020304" pitchFamily="18" charset="0"/>
                        </a:rPr>
                        <a:t>hiệu</a:t>
                      </a:r>
                      <a:r>
                        <a:rPr lang="en-US" sz="1400" dirty="0">
                          <a:latin typeface="Times New Roman" panose="02020603050405020304" pitchFamily="18" charset="0"/>
                          <a:cs typeface="Times New Roman" panose="02020603050405020304" pitchFamily="18" charset="0"/>
                        </a:rPr>
                        <a:t> quả khả </a:t>
                      </a:r>
                      <a:r>
                        <a:rPr lang="en-US" sz="1400" dirty="0" err="1">
                          <a:latin typeface="Times New Roman" panose="02020603050405020304" pitchFamily="18" charset="0"/>
                          <a:cs typeface="Times New Roman" panose="02020603050405020304" pitchFamily="18" charset="0"/>
                        </a:rPr>
                        <a:t>thi</a:t>
                      </a:r>
                      <a:r>
                        <a:rPr lang="en-US" sz="1400" baseline="0" dirty="0">
                          <a:latin typeface="Times New Roman" panose="02020603050405020304" pitchFamily="18" charset="0"/>
                          <a:cs typeface="Times New Roman" panose="02020603050405020304" pitchFamily="18" charset="0"/>
                        </a:rPr>
                        <a:t> (Yêu cầu Boeing cập </a:t>
                      </a:r>
                      <a:r>
                        <a:rPr lang="en-US" sz="1400" baseline="0" dirty="0" err="1">
                          <a:latin typeface="Times New Roman" panose="02020603050405020304" pitchFamily="18" charset="0"/>
                          <a:cs typeface="Times New Roman" panose="02020603050405020304" pitchFamily="18" charset="0"/>
                        </a:rPr>
                        <a:t>nhật</a:t>
                      </a:r>
                      <a:r>
                        <a:rPr lang="en-US" sz="1400" baseline="0" dirty="0">
                          <a:latin typeface="Times New Roman" panose="02020603050405020304" pitchFamily="18" charset="0"/>
                          <a:cs typeface="Times New Roman" panose="02020603050405020304" pitchFamily="18" charset="0"/>
                        </a:rPr>
                        <a:t> </a:t>
                      </a:r>
                      <a:r>
                        <a:rPr lang="en-US" sz="1400" baseline="0" dirty="0" err="1">
                          <a:latin typeface="Times New Roman" panose="02020603050405020304" pitchFamily="18" charset="0"/>
                          <a:cs typeface="Times New Roman" panose="02020603050405020304" pitchFamily="18" charset="0"/>
                        </a:rPr>
                        <a:t>lại</a:t>
                      </a:r>
                      <a:r>
                        <a:rPr lang="en-US" sz="1400" baseline="0" dirty="0">
                          <a:latin typeface="Times New Roman" panose="02020603050405020304" pitchFamily="18" charset="0"/>
                          <a:cs typeface="Times New Roman" panose="02020603050405020304" pitchFamily="18" charset="0"/>
                        </a:rPr>
                        <a:t> CPBD động cơ Max 10 dựa </a:t>
                      </a:r>
                      <a:r>
                        <a:rPr lang="en-US" sz="1400" baseline="0" dirty="0" err="1">
                          <a:latin typeface="Times New Roman" panose="02020603050405020304" pitchFamily="18" charset="0"/>
                          <a:cs typeface="Times New Roman" panose="02020603050405020304" pitchFamily="18" charset="0"/>
                        </a:rPr>
                        <a:t>trên</a:t>
                      </a:r>
                      <a:r>
                        <a:rPr lang="en-US" sz="1400" baseline="0" dirty="0">
                          <a:latin typeface="Times New Roman" panose="02020603050405020304" pitchFamily="18" charset="0"/>
                          <a:cs typeface="Times New Roman" panose="02020603050405020304" pitchFamily="18" charset="0"/>
                        </a:rPr>
                        <a:t> Time on wing của động cơ là 13.800 cycles (CFM guarantee), và 15.000 cycles (</a:t>
                      </a:r>
                      <a:r>
                        <a:rPr lang="en-US" sz="1400" baseline="0" dirty="0" err="1">
                          <a:latin typeface="Times New Roman" panose="02020603050405020304" pitchFamily="18" charset="0"/>
                          <a:cs typeface="Times New Roman" panose="02020603050405020304" pitchFamily="18" charset="0"/>
                        </a:rPr>
                        <a:t>Ước</a:t>
                      </a:r>
                      <a:r>
                        <a:rPr lang="en-US" sz="1400" baseline="0" dirty="0">
                          <a:latin typeface="Times New Roman" panose="02020603050405020304" pitchFamily="18" charset="0"/>
                          <a:cs typeface="Times New Roman" panose="02020603050405020304" pitchFamily="18" charset="0"/>
                        </a:rPr>
                        <a:t> tính trung bình giữa </a:t>
                      </a:r>
                      <a:r>
                        <a:rPr lang="en-US" sz="1400" baseline="0">
                          <a:latin typeface="Times New Roman" panose="02020603050405020304" pitchFamily="18" charset="0"/>
                          <a:cs typeface="Times New Roman" panose="02020603050405020304" pitchFamily="18" charset="0"/>
                        </a:rPr>
                        <a:t>số Boeing và CFM).</a:t>
                      </a:r>
                      <a:endParaRPr lang="en-US" sz="14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bl>
          </a:graphicData>
        </a:graphic>
      </p:graphicFrame>
      <p:sp>
        <p:nvSpPr>
          <p:cNvPr id="4" name="Title 2">
            <a:extLst>
              <a:ext uri="{FF2B5EF4-FFF2-40B4-BE49-F238E27FC236}">
                <a16:creationId xmlns:a16="http://schemas.microsoft.com/office/drawing/2014/main" id="{CAAB8563-2E25-F9E3-A86A-938A82C20087}"/>
              </a:ext>
            </a:extLst>
          </p:cNvPr>
          <p:cNvSpPr txBox="1">
            <a:spLocks/>
          </p:cNvSpPr>
          <p:nvPr/>
        </p:nvSpPr>
        <p:spPr>
          <a:xfrm>
            <a:off x="156783" y="0"/>
            <a:ext cx="9312664" cy="508000"/>
          </a:xfrm>
          <a:prstGeom prst="rect">
            <a:avLst/>
          </a:prstGeom>
        </p:spPr>
        <p:txBody>
          <a:bodyPr spcFirstLastPara="1" vert="horz" wrap="square" lIns="91425" tIns="91425" rIns="91425" bIns="91425" rtlCol="0" anchor="t" anchorCtr="0">
            <a:noAutofit/>
          </a:bodyPr>
          <a:lstStyle>
            <a:lvl1pPr lvl="0" algn="l" defTabSz="914400" rtl="0" eaLnBrk="1" latinLnBrk="0" hangingPunct="1">
              <a:lnSpc>
                <a:spcPct val="90000"/>
              </a:lnSpc>
              <a:spcBef>
                <a:spcPts val="0"/>
              </a:spcBef>
              <a:spcAft>
                <a:spcPts val="0"/>
              </a:spcAft>
              <a:buClr>
                <a:srgbClr val="DEA610"/>
              </a:buClr>
              <a:buSzPts val="2100"/>
              <a:buFont typeface="Montserrat"/>
              <a:buNone/>
              <a:defRPr sz="2800" b="1" kern="1200">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pPr>
              <a:spcBef>
                <a:spcPct val="0"/>
              </a:spcBef>
              <a:defRPr/>
            </a:pPr>
            <a:r>
              <a:rPr lang="en-US" altLang="en-US">
                <a:ln w="0"/>
                <a:solidFill>
                  <a:schemeClr val="accent4"/>
                </a:solidFill>
                <a:latin typeface="Times New Roman" panose="02020603050405020304" pitchFamily="18" charset="0"/>
                <a:cs typeface="Times New Roman" panose="02020603050405020304" pitchFamily="18" charset="0"/>
              </a:rPr>
              <a:t>CÁC CÔNG VIỆC TRỌNG ĐIỂM</a:t>
            </a:r>
            <a:endParaRPr lang="en-US" altLang="en-US" dirty="0">
              <a:ln w="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263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6702264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marL="0" marR="0" lvl="0" indent="0" algn="l" defTabSz="914377"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NHU CẦU ĐỘNG CƠ DỰ </a:t>
            </a:r>
            <a:r>
              <a:rPr kumimoji="0" lang="en-US" sz="2800" b="1" i="0" u="none" strike="noStrike" kern="1200" cap="none" spc="0" normalizeH="0" baseline="0" noProof="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PHÒNG Q1-Q2/2025</a:t>
            </a:r>
            <a:endParaRPr kumimoji="0" lang="vi-VN"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endParaRPr>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*A321CEO: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Q3-Q4/2025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trả</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3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duy</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9-10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2026.</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*A321NEO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Rủi ro động cơ đi shop về muộn (thực tế đã bị shop delay nhiều lần) và rủi ro tháo động cơ ngoài KH do Vibration, Oil Leak…08 động cơ đang sửa chữa bị delay nhiều lần từ đầu tháng 12, với tổng ~ 366 days, tương ứng ~ 183 AOG days.</a:t>
            </a:r>
            <a:endParaRPr kumimoji="0" lang="en-US" sz="1333" b="0" i="0" u="none" strike="noStrike" kern="1200" cap="none" spc="0" normalizeH="0" baseline="0" noProof="0" dirty="0">
              <a:ln>
                <a:noFill/>
              </a:ln>
              <a:solidFill>
                <a:prstClr val="black"/>
              </a:solidFill>
              <a:effectLst/>
              <a:highlight>
                <a:srgbClr val="FFFF00"/>
              </a:highlight>
              <a:uLnTx/>
              <a:uFillTx/>
              <a:latin typeface="Times New Roman" panose="02020603050405020304" pitchFamily="18" charset="0"/>
              <a:ea typeface="+mn-ea"/>
              <a:cs typeface="Times New Roman" panose="02020603050405020304" pitchFamily="18"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*B787: </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Nhu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hoạch</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T9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T11.</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*ATR: </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Nhu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này</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tính</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nguồn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lực</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05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gồm</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B225 RTS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T1/2025).</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*A350</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ngoài</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KH do High oil consumption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A893), HPT Blade (2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100FC), IPC Blade (3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soi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năm</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2025)</a:t>
            </a:r>
          </a:p>
        </p:txBody>
      </p:sp>
    </p:spTree>
    <p:extLst>
      <p:ext uri="{BB962C8B-B14F-4D97-AF65-F5344CB8AC3E}">
        <p14:creationId xmlns:p14="http://schemas.microsoft.com/office/powerpoint/2010/main" val="2025348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Arial"/>
              <a:sym typeface="Arial"/>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NHU CẦU ĐỘNG CƠ DỰ PHÒNG CÁC </a:t>
            </a:r>
            <a:r>
              <a:rPr kumimoji="0" lang="en-US"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FLEET T4-T6/2025</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Action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ngắn</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hạn</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&amp;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diện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A321CEO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Q3-Q4/2025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trả</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3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duy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9-10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A321NEO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muộn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tế</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bị</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nhiều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ngoài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KH do Vibration, Oil Leak, HPT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Balde</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08 động cơ đang sửa chữa bị delay nhiều lần từ đầu tháng 12, với tổng ~ 366 days, tương ứng ~ 183 AOG days</a:t>
            </a:r>
            <a:r>
              <a:rPr kumimoji="0" lang="vi-VN" sz="12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t>
            </a:r>
            <a:endParaRPr kumimoji="0" lang="en-US" sz="1200" b="0" i="0" u="none" strike="noStrike" kern="1200" cap="none" spc="0" normalizeH="0" baseline="0" noProof="0" dirty="0">
              <a:ln>
                <a:noFill/>
              </a:ln>
              <a:solidFill>
                <a:prstClr val="black"/>
              </a:solidFill>
              <a:effectLst/>
              <a:highlight>
                <a:srgbClr val="FFFF00"/>
              </a:highlight>
              <a:uLnTx/>
              <a:uFillTx/>
              <a:latin typeface="Times New Roman" panose="02020603050405020304" pitchFamily="18" charset="0"/>
              <a:ea typeface="+mn-ea"/>
              <a:cs typeface="Times New Roman" panose="02020603050405020304" pitchFamily="18" charset="0"/>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B787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Nhu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cập</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hoạch</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thêm</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T9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T12/2024.</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A350: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ngoài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KH do High oil consumption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A893), HPT Blade (2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100FC), IPC Blade (3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soi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năm</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2025)</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*ATR72: </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B225</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dùng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ED0214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151 FC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ED0241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giữa</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1/25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sẽ</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lấy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ED0181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ED0214.</a:t>
            </a:r>
          </a:p>
        </p:txBody>
      </p:sp>
    </p:spTree>
    <p:extLst>
      <p:ext uri="{BB962C8B-B14F-4D97-AF65-F5344CB8AC3E}">
        <p14:creationId xmlns:p14="http://schemas.microsoft.com/office/powerpoint/2010/main" val="2522835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DỰ BÁO AOG </a:t>
            </a:r>
            <a:r>
              <a:rPr kumimoji="0" lang="en-US"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A321NEO 2025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DO HPT HUB</a:t>
            </a:r>
          </a:p>
        </p:txBody>
      </p:sp>
      <p:sp>
        <p:nvSpPr>
          <p:cNvPr id="6" name="Rectangle 5">
            <a:extLst>
              <a:ext uri="{FF2B5EF4-FFF2-40B4-BE49-F238E27FC236}">
                <a16:creationId xmlns:a16="http://schemas.microsoft.com/office/drawing/2014/main" id="{F732C424-6503-4AF0-A801-38325F00ECC8}"/>
              </a:ext>
            </a:extLst>
          </p:cNvPr>
          <p:cNvSpPr/>
          <p:nvPr/>
        </p:nvSpPr>
        <p:spPr>
          <a:xfrm>
            <a:off x="228600" y="6077034"/>
            <a:ext cx="11201400" cy="523220"/>
          </a:xfrm>
          <a:prstGeom prst="rect">
            <a:avLst/>
          </a:prstGeom>
          <a:solidFill>
            <a:srgbClr val="FFFF00"/>
          </a:solidFill>
          <a:ln>
            <a:solidFill>
              <a:schemeClr val="accent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mbria"/>
                <a:ea typeface="+mn-ea"/>
                <a:cs typeface="+mn-cs"/>
              </a:rPr>
              <a:t>PH</a:t>
            </a:r>
            <a:r>
              <a:rPr kumimoji="0" lang="vi-VN"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Ư</a:t>
            </a:r>
            <a:r>
              <a:rPr kumimoji="0" lang="en-US" sz="1400" b="1" i="0" u="none" strike="noStrike" kern="1200" cap="none" spc="0" normalizeH="0" baseline="0" noProof="0" dirty="0">
                <a:ln>
                  <a:noFill/>
                </a:ln>
                <a:solidFill>
                  <a:prstClr val="black"/>
                </a:solidFill>
                <a:effectLst/>
                <a:uLnTx/>
                <a:uFillTx/>
                <a:latin typeface="Cambria"/>
                <a:ea typeface="+mn-ea"/>
                <a:cs typeface="+mn-cs"/>
              </a:rPr>
              <a:t>ƠNG ÁN GIỮ GIỜ</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mbria"/>
                <a:ea typeface="+mn-ea"/>
                <a:cs typeface="+mn-cs"/>
              </a:rPr>
              <a:t>-</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Giữ giờ động cơ P771710</a:t>
            </a:r>
            <a:r>
              <a:rPr kumimoji="0" lang="en-US" sz="1400" b="0" i="0" u="none" strike="noStrike" kern="1200" cap="none" spc="0" normalizeH="0" baseline="0" noProof="0" dirty="0">
                <a:ln>
                  <a:noFill/>
                </a:ln>
                <a:solidFill>
                  <a:prstClr val="black"/>
                </a:solidFill>
                <a:effectLst/>
                <a:uLnTx/>
                <a:uFillTx/>
                <a:latin typeface="Cambria"/>
                <a:ea typeface="+mn-ea"/>
                <a:cs typeface="+mn-cs"/>
              </a:rPr>
              <a:t> </a:t>
            </a:r>
            <a:r>
              <a:rPr kumimoji="0" lang="en-US" sz="1400" b="0" i="0" u="none" strike="noStrike" kern="1200" cap="none" spc="0" normalizeH="0" baseline="0" noProof="0" dirty="0" err="1">
                <a:ln>
                  <a:noFill/>
                </a:ln>
                <a:solidFill>
                  <a:prstClr val="black"/>
                </a:solidFill>
                <a:effectLst/>
                <a:uLnTx/>
                <a:uFillTx/>
                <a:latin typeface="Cambria"/>
                <a:ea typeface="+mn-ea"/>
                <a:cs typeface="+mn-cs"/>
              </a:rPr>
              <a:t>trên</a:t>
            </a:r>
            <a:r>
              <a:rPr kumimoji="0" lang="en-US" sz="1400" b="0" i="0" u="none" strike="noStrike" kern="1200" cap="none" spc="0" normalizeH="0" baseline="0" noProof="0" dirty="0">
                <a:ln>
                  <a:noFill/>
                </a:ln>
                <a:solidFill>
                  <a:prstClr val="black"/>
                </a:solidFill>
                <a:effectLst/>
                <a:uLnTx/>
                <a:uFillTx/>
                <a:latin typeface="Cambria"/>
                <a:ea typeface="+mn-ea"/>
                <a:cs typeface="+mn-cs"/>
              </a:rPr>
              <a:t> A621</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 (hết hạn 05/07) và P772905 </a:t>
            </a:r>
            <a:r>
              <a:rPr kumimoji="0" lang="en-US" sz="1400" b="0" i="0" u="none" strike="noStrike" kern="1200" cap="none" spc="0" normalizeH="0" baseline="0" noProof="0" dirty="0" err="1">
                <a:ln>
                  <a:noFill/>
                </a:ln>
                <a:solidFill>
                  <a:prstClr val="black"/>
                </a:solidFill>
                <a:effectLst/>
                <a:uLnTx/>
                <a:uFillTx/>
                <a:latin typeface="Cambria"/>
                <a:ea typeface="+mn-ea"/>
                <a:cs typeface="+mn-cs"/>
              </a:rPr>
              <a:t>trên</a:t>
            </a:r>
            <a:r>
              <a:rPr kumimoji="0" lang="en-US" sz="1400" b="0" i="0" u="none" strike="noStrike" kern="1200" cap="none" spc="0" normalizeH="0" baseline="0" noProof="0" dirty="0">
                <a:ln>
                  <a:noFill/>
                </a:ln>
                <a:solidFill>
                  <a:prstClr val="black"/>
                </a:solidFill>
                <a:effectLst/>
                <a:uLnTx/>
                <a:uFillTx/>
                <a:latin typeface="Cambria"/>
                <a:ea typeface="+mn-ea"/>
                <a:cs typeface="+mn-cs"/>
              </a:rPr>
              <a:t> A619</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a:t>
            </a:r>
            <a:r>
              <a:rPr kumimoji="0" lang="en-US" sz="1400" b="0" i="0" u="none" strike="noStrike" kern="1200" cap="none" spc="0" normalizeH="0" baseline="0" noProof="0" dirty="0" err="1">
                <a:ln>
                  <a:noFill/>
                </a:ln>
                <a:solidFill>
                  <a:prstClr val="black"/>
                </a:solidFill>
                <a:effectLst/>
                <a:uLnTx/>
                <a:uFillTx/>
                <a:latin typeface="Cambria"/>
                <a:ea typeface="+mn-ea"/>
                <a:cs typeface="+mn-cs"/>
              </a:rPr>
              <a:t>hết</a:t>
            </a:r>
            <a:r>
              <a:rPr kumimoji="0" lang="en-US" sz="1400" b="0" i="0" u="none" strike="noStrike" kern="1200" cap="none" spc="0" normalizeH="0" baseline="0" noProof="0" dirty="0">
                <a:ln>
                  <a:noFill/>
                </a:ln>
                <a:solidFill>
                  <a:prstClr val="black"/>
                </a:solidFill>
                <a:effectLst/>
                <a:uLnTx/>
                <a:uFillTx/>
                <a:latin typeface="Cambria"/>
                <a:ea typeface="+mn-ea"/>
                <a:cs typeface="+mn-cs"/>
              </a:rPr>
              <a:t> </a:t>
            </a:r>
            <a:r>
              <a:rPr kumimoji="0" lang="en-US" sz="1400" b="0" i="0" u="none" strike="noStrike" kern="1200" cap="none" spc="0" normalizeH="0" baseline="0" noProof="0" dirty="0" err="1">
                <a:ln>
                  <a:noFill/>
                </a:ln>
                <a:solidFill>
                  <a:prstClr val="black"/>
                </a:solidFill>
                <a:effectLst/>
                <a:uLnTx/>
                <a:uFillTx/>
                <a:latin typeface="Cambria"/>
                <a:ea typeface="+mn-ea"/>
                <a:cs typeface="+mn-cs"/>
              </a:rPr>
              <a:t>hạn</a:t>
            </a:r>
            <a:r>
              <a:rPr kumimoji="0" lang="en-US" sz="1400" b="0" i="0" u="none" strike="noStrike" kern="1200" cap="none" spc="0" normalizeH="0" baseline="0" noProof="0" dirty="0">
                <a:ln>
                  <a:noFill/>
                </a:ln>
                <a:solidFill>
                  <a:prstClr val="black"/>
                </a:solidFill>
                <a:effectLst/>
                <a:uLnTx/>
                <a:uFillTx/>
                <a:latin typeface="Cambria"/>
                <a:ea typeface="+mn-ea"/>
                <a:cs typeface="+mn-cs"/>
              </a:rPr>
              <a:t> </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19/07) sang sau cao điểm hè (15/8) để có thêm 1 tàu từ giữa T7.</a:t>
            </a:r>
            <a:endParaRPr kumimoji="0" lang="en-US" sz="1400" b="0" i="0" u="none" strike="noStrike" kern="1200" cap="none" spc="0" normalizeH="0" baseline="0" noProof="0" dirty="0">
              <a:ln>
                <a:noFill/>
              </a:ln>
              <a:solidFill>
                <a:prstClr val="black"/>
              </a:solidFill>
              <a:effectLst/>
              <a:uLnTx/>
              <a:uFillTx/>
              <a:latin typeface="Cambria"/>
              <a:ea typeface="+mn-ea"/>
              <a:cs typeface="+mn-cs"/>
            </a:endParaRPr>
          </a:p>
        </p:txBody>
      </p:sp>
      <p:graphicFrame>
        <p:nvGraphicFramePr>
          <p:cNvPr id="3" name="Chart 2">
            <a:extLst>
              <a:ext uri="{FF2B5EF4-FFF2-40B4-BE49-F238E27FC236}">
                <a16:creationId xmlns:a16="http://schemas.microsoft.com/office/drawing/2014/main" id="{B6D2BFDC-B8A6-1C6A-1378-381323CC21AE}"/>
              </a:ext>
            </a:extLst>
          </p:cNvPr>
          <p:cNvGraphicFramePr>
            <a:graphicFrameLocks/>
          </p:cNvGraphicFramePr>
          <p:nvPr/>
        </p:nvGraphicFramePr>
        <p:xfrm>
          <a:off x="232458" y="914400"/>
          <a:ext cx="11811000" cy="49784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851472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7"/>
          <a:ext cx="11867079" cy="5352146"/>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86855">
                  <a:extLst>
                    <a:ext uri="{9D8B030D-6E8A-4147-A177-3AD203B41FA5}">
                      <a16:colId xmlns:a16="http://schemas.microsoft.com/office/drawing/2014/main" val="3845954792"/>
                    </a:ext>
                  </a:extLst>
                </a:gridCol>
                <a:gridCol w="1170104">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68984">
                  <a:extLst>
                    <a:ext uri="{9D8B030D-6E8A-4147-A177-3AD203B41FA5}">
                      <a16:colId xmlns:a16="http://schemas.microsoft.com/office/drawing/2014/main" val="3807119371"/>
                    </a:ext>
                  </a:extLst>
                </a:gridCol>
                <a:gridCol w="3560124">
                  <a:extLst>
                    <a:ext uri="{9D8B030D-6E8A-4147-A177-3AD203B41FA5}">
                      <a16:colId xmlns:a16="http://schemas.microsoft.com/office/drawing/2014/main"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A501</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69768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22/04/2025</a:t>
                      </a:r>
                      <a:endParaRPr lang="en-GB" sz="1100" dirty="0">
                        <a:solidFill>
                          <a:schemeClr val="tx1"/>
                        </a:solidFill>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23/05/2025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A619#2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A625</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r h="52361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12/06/2025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QT</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P771423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09/07/2025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465008"/>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P771079</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16/05/2025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22/12/2025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4518812"/>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1345504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A321NEO T4/25</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63789" y="1032931"/>
          <a:ext cx="11864421" cy="5393270"/>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val="1598605427"/>
                    </a:ext>
                  </a:extLst>
                </a:gridCol>
                <a:gridCol w="1162593">
                  <a:extLst>
                    <a:ext uri="{9D8B030D-6E8A-4147-A177-3AD203B41FA5}">
                      <a16:colId xmlns:a16="http://schemas.microsoft.com/office/drawing/2014/main" val="3845954792"/>
                    </a:ext>
                  </a:extLst>
                </a:gridCol>
                <a:gridCol w="1190421">
                  <a:extLst>
                    <a:ext uri="{9D8B030D-6E8A-4147-A177-3AD203B41FA5}">
                      <a16:colId xmlns:a16="http://schemas.microsoft.com/office/drawing/2014/main" val="2148822928"/>
                    </a:ext>
                  </a:extLst>
                </a:gridCol>
                <a:gridCol w="1190421">
                  <a:extLst>
                    <a:ext uri="{9D8B030D-6E8A-4147-A177-3AD203B41FA5}">
                      <a16:colId xmlns:a16="http://schemas.microsoft.com/office/drawing/2014/main" val="2136763095"/>
                    </a:ext>
                  </a:extLst>
                </a:gridCol>
                <a:gridCol w="1190421">
                  <a:extLst>
                    <a:ext uri="{9D8B030D-6E8A-4147-A177-3AD203B41FA5}">
                      <a16:colId xmlns:a16="http://schemas.microsoft.com/office/drawing/2014/main" val="4058157000"/>
                    </a:ext>
                  </a:extLst>
                </a:gridCol>
                <a:gridCol w="1190421">
                  <a:extLst>
                    <a:ext uri="{9D8B030D-6E8A-4147-A177-3AD203B41FA5}">
                      <a16:colId xmlns:a16="http://schemas.microsoft.com/office/drawing/2014/main" val="1185879436"/>
                    </a:ext>
                  </a:extLst>
                </a:gridCol>
                <a:gridCol w="1190421">
                  <a:extLst>
                    <a:ext uri="{9D8B030D-6E8A-4147-A177-3AD203B41FA5}">
                      <a16:colId xmlns:a16="http://schemas.microsoft.com/office/drawing/2014/main" val="3807119371"/>
                    </a:ext>
                  </a:extLst>
                </a:gridCol>
                <a:gridCol w="890210">
                  <a:extLst>
                    <a:ext uri="{9D8B030D-6E8A-4147-A177-3AD203B41FA5}">
                      <a16:colId xmlns:a16="http://schemas.microsoft.com/office/drawing/2014/main" val="2251645117"/>
                    </a:ext>
                  </a:extLst>
                </a:gridCol>
                <a:gridCol w="3341410">
                  <a:extLst>
                    <a:ext uri="{9D8B030D-6E8A-4147-A177-3AD203B41FA5}">
                      <a16:colId xmlns:a16="http://schemas.microsoft.com/office/drawing/2014/main" val="3735753066"/>
                    </a:ext>
                  </a:extLst>
                </a:gridCol>
              </a:tblGrid>
              <a:tr h="614315">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30995">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a:t>
                      </a:r>
                      <a:r>
                        <a:rPr lang="en-US" sz="1200" b="0" i="0" u="none" strike="noStrike" kern="1200">
                          <a:solidFill>
                            <a:schemeClr val="tx1"/>
                          </a:solidFill>
                          <a:effectLst/>
                          <a:latin typeface="Calibri" panose="020F0502020204030204" pitchFamily="34" charset="0"/>
                          <a:ea typeface="+mn-ea"/>
                          <a:cs typeface="+mn-cs"/>
                          <a:sym typeface="Arial"/>
                        </a:rPr>
                        <a:t>94</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A503#1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10-Apr-25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Install U/S engine P770994 in HAN to perform check, release stand and run-up 7 day interval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390368"/>
                  </a:ext>
                </a:extLst>
              </a:tr>
              <a:tr h="53099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1022</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A503#2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10-Apr-25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Install U/S engine P770994 in HAN to perform check, release stand and run-up 7 day interval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539945"/>
                  </a:ext>
                </a:extLst>
              </a:tr>
              <a:tr h="530995">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P770904</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22-Apr-25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1868498"/>
                  </a:ext>
                </a:extLst>
              </a:tr>
              <a:tr h="530995">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1130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485768"/>
                  </a:ext>
                </a:extLst>
              </a:tr>
              <a:tr h="530995">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1710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530995">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0903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9-May-25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530995">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r h="530995">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rPr>
                        <a:t>A623#2</a:t>
                      </a: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7-May-25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110417"/>
                  </a:ext>
                </a:extLst>
              </a:tr>
              <a:tr h="530995">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P771079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P771177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A617#1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A617#1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16-Apr-25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9115696"/>
                  </a:ext>
                </a:extLst>
              </a:tr>
            </a:tbl>
          </a:graphicData>
        </a:graphic>
      </p:graphicFrame>
    </p:spTree>
    <p:extLst>
      <p:ext uri="{BB962C8B-B14F-4D97-AF65-F5344CB8AC3E}">
        <p14:creationId xmlns:p14="http://schemas.microsoft.com/office/powerpoint/2010/main" val="691458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rPr>
              <a:t>ĐỘI BAY A321CEO</a:t>
            </a:r>
            <a:endParaRPr kumimoji="0" lang="en-GB"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SERV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25/04/2025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02/05/2025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3</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05/05/2025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19/05/2025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17/05)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31/03/2025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05/04/2025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SGN (pre 07/04)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24/03/2025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08/04/2025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SGN (pre 04/04)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11/06/2025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08/06)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10/06/2025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17/06/2025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28/06)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27/07/2025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08/08)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30/07/2025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06/08/2025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21/08)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07/05/2025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14/05/2025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12/05)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A321CEO Q2-Q3/2025</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Các</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động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đã</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tháo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sửa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chữa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2955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V16582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A339#1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05-08/04/2025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XU350#2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17-19/04/2025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AD Hub,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13-15/05/2025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67654"/>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21-23/05/2025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13-15/06/2025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98339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19-21/06/2025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07966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226108"/>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568160"/>
            <a:ext cx="25827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thuê</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95684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27346148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867117" y="491750"/>
          <a:ext cx="5236309" cy="348400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3984177"/>
            <a:ext cx="12014853" cy="28015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956533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cuối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T4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ở VN.</a:t>
            </a:r>
          </a:p>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on-watch &amp;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Hạn</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chế</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956577 (A864) – </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Remove in 25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(=956556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24/04).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04/04 release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A864</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956</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769</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8</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Remove in 25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chỉ</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hạn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chế</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được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đến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07/04.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thuê</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Aercap</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đã</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nhận</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soi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kiểm</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tra</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xong</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sẽ</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lắp</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lên</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A868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ngày</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08/04.</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Remove in </a:t>
            </a:r>
            <a:r>
              <a:rPr kumimoji="0" lang="en-US"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25</a:t>
            </a:r>
            <a:r>
              <a:rPr kumimoji="0" lang="vi-VN"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cyc or reinspect</a:t>
            </a:r>
            <a:r>
              <a:rPr kumimoji="0" lang="en-US"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vi-VN"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956913 (A871)</a:t>
            </a:r>
            <a:r>
              <a:rPr kumimoji="0" lang="en-US"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vừa</a:t>
            </a:r>
            <a:r>
              <a:rPr kumimoji="0" lang="en-US"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giảm</a:t>
            </a:r>
            <a:r>
              <a:rPr kumimoji="0" lang="en-US"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từ</a:t>
            </a:r>
            <a:r>
              <a:rPr kumimoji="0" lang="en-US"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50 </a:t>
            </a:r>
            <a:r>
              <a:rPr kumimoji="0" lang="en-US" sz="1467" b="1"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cyc</a:t>
            </a:r>
            <a:r>
              <a:rPr kumimoji="0" lang="en-US"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xuống</a:t>
            </a:r>
            <a:r>
              <a:rPr kumimoji="0" lang="en-US"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soi </a:t>
            </a:r>
            <a:r>
              <a:rPr kumimoji="0" lang="en-US" sz="1467" b="1"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ngày</a:t>
            </a:r>
            <a:r>
              <a:rPr kumimoji="0" lang="en-US" sz="1467" b="1"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30/3</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Remove in 50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or reinspect: </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958170 (A863)</a:t>
            </a:r>
            <a:endPar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endParaRP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100 cycle – 0</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3</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ĐC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bao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gồm</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đc</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thuê</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958266</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150 cycle – 01 ĐC; 250 cycle – 0</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ĐC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Hạn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chế</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A873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chỉ</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được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đến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CSN 5500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Công</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tác</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hoạch</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trọng</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điểm</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A870/</a:t>
            </a:r>
            <a:r>
              <a:rPr kumimoji="0" lang="vi-VN"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956638</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khắc</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phục</a:t>
            </a:r>
            <a:r>
              <a:rPr kumimoji="0" lang="vi-VN"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AOG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hoàn</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thiện</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cấu</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hình</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bay Nga - </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12/03/2025. </a:t>
            </a:r>
            <a:r>
              <a:rPr kumimoji="0" lang="en-US" sz="1467" b="1"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Đã</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hoàn</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thành</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tàu</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A870 </a:t>
            </a:r>
            <a:r>
              <a:rPr kumimoji="0" lang="en-US" sz="1467" b="1"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đã</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lắp</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02 </a:t>
            </a:r>
            <a:r>
              <a:rPr kumimoji="0" lang="en-US" sz="1467" b="1"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động</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cơ</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gốc</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để</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bay Nga. </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A864/956577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từ</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14/03 - 04/04/2025</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khắc</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phục</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AOG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sử</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dụng</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956556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ENG SWAP 956697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với</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A867. A864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đã</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thay</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cả</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2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388600"/>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srgbClr val="388600"/>
                </a:solidFill>
                <a:effectLst/>
                <a:uLnTx/>
                <a:uFillTx/>
                <a:latin typeface="Times New Roman" panose="02020603050405020304" pitchFamily="18" charset="0"/>
                <a:ea typeface="+mn-ea"/>
                <a:cs typeface="Times New Roman" panose="02020603050405020304" pitchFamily="18" charset="0"/>
              </a:rPr>
              <a:t>.</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Hoàn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thiện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hình</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Nga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A867 – </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29/04/2025</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ENG SWAP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A864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T3/2025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A861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T4/2025).</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483330"/>
          <a:ext cx="6778543" cy="3484008"/>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924170">
                  <a:extLst>
                    <a:ext uri="{9D8B030D-6E8A-4147-A177-3AD203B41FA5}">
                      <a16:colId xmlns:a16="http://schemas.microsoft.com/office/drawing/2014/main" val="3803391337"/>
                    </a:ext>
                  </a:extLst>
                </a:gridCol>
                <a:gridCol w="1722414">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408766">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408766">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b="1" u="none" strike="noStrike" dirty="0">
                          <a:solidFill>
                            <a:srgbClr val="006C00"/>
                          </a:solidFill>
                          <a:effectLst/>
                          <a:latin typeface="+mn-lt"/>
                        </a:rPr>
                        <a:t>12/03/2025</a:t>
                      </a:r>
                    </a:p>
                    <a:p>
                      <a:pPr algn="ctr" fontAlgn="ctr"/>
                      <a:r>
                        <a:rPr lang="en-US" sz="1200" u="none" strike="noStrike" dirty="0">
                          <a:solidFill>
                            <a:schemeClr val="tx1"/>
                          </a:solidFill>
                          <a:effectLst/>
                          <a:latin typeface="+mn-lt"/>
                        </a:rPr>
                        <a:t>Inducted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rgbClr val="006C00"/>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A864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24/03/2025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408766">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17/04/2025</a:t>
                      </a:r>
                    </a:p>
                    <a:p>
                      <a:pPr algn="ctr" fontAlgn="ctr"/>
                      <a:r>
                        <a:rPr lang="en-US" sz="1200" b="0" u="none" strike="noStrike" dirty="0">
                          <a:solidFill>
                            <a:schemeClr val="tx1"/>
                          </a:solidFill>
                          <a:effectLst/>
                          <a:latin typeface="+mn-lt"/>
                          <a:cs typeface="Times New Roman" panose="02020603050405020304" pitchFamily="18" charset="0"/>
                        </a:rPr>
                        <a:t>Inducted 05/10/2024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24/04/2025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08766">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28/05/2025</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04/06/2025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1" i="0" u="none" strike="noStrike" dirty="0">
                        <a:solidFill>
                          <a:srgbClr val="BA0000"/>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cs typeface="Times New Roman" panose="02020603050405020304" pitchFamily="18" charset="0"/>
                        </a:rPr>
                        <a:t>KH </a:t>
                      </a:r>
                      <a:r>
                        <a:rPr lang="en-US" sz="1200" b="0" i="0" u="none" strike="noStrike" dirty="0" err="1">
                          <a:solidFill>
                            <a:schemeClr val="tx1"/>
                          </a:solidFill>
                          <a:effectLst/>
                          <a:latin typeface="+mn-lt"/>
                          <a:cs typeface="Times New Roman" panose="02020603050405020304" pitchFamily="18" charset="0"/>
                        </a:rPr>
                        <a:t>cũ</a:t>
                      </a:r>
                      <a:r>
                        <a:rPr lang="en-US" sz="1200" b="0" i="0" u="none" strike="noStrike" dirty="0">
                          <a:solidFill>
                            <a:schemeClr val="tx1"/>
                          </a:solidFill>
                          <a:effectLst/>
                          <a:latin typeface="+mn-lt"/>
                          <a:cs typeface="Times New Roman" panose="02020603050405020304" pitchFamily="18" charset="0"/>
                        </a:rPr>
                        <a:t> T10/2025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08766">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12/06/2025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19/06/2025</a:t>
                      </a: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08766">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T07/2025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err="1">
                          <a:solidFill>
                            <a:schemeClr val="tx1"/>
                          </a:solidFill>
                          <a:effectLst/>
                          <a:latin typeface="+mn-lt"/>
                          <a:cs typeface="Times New Roman" panose="02020603050405020304" pitchFamily="18" charset="0"/>
                        </a:rPr>
                        <a:t>Ngày</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sửa</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xong</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có</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thể</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thay</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đổi</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28739">
                <a:tc>
                  <a:txBody>
                    <a:bodyPr/>
                    <a:lstStyle/>
                    <a:p>
                      <a:pPr algn="ctr" fontAlgn="ctr"/>
                      <a:r>
                        <a:rPr lang="en-US" sz="1200" b="1" i="0" u="none" strike="noStrike" dirty="0">
                          <a:solidFill>
                            <a:srgbClr val="BA0000"/>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1" i="0" u="none" strike="noStrike" dirty="0">
                          <a:solidFill>
                            <a:srgbClr val="BA0000"/>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1" u="none" strike="noStrike" kern="1200" dirty="0">
                          <a:solidFill>
                            <a:srgbClr val="BA0000"/>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1" u="none" strike="noStrike" kern="1200" dirty="0">
                          <a:solidFill>
                            <a:srgbClr val="BA0000"/>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389926">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01505">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11242">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06/05/2025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KHẢ NĂNG CUNG ỨNG ĐỘNG CƠ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ĐỘI BAY B787</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667009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A350</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59590" y="875397"/>
          <a:ext cx="5905159" cy="3543300"/>
        </p:xfrm>
        <a:graphic>
          <a:graphicData uri="http://schemas.openxmlformats.org/drawingml/2006/table">
            <a:tbl>
              <a:tblPr firstRow="1" bandRow="1">
                <a:tableStyleId>{5C22544A-7EE6-4342-B048-85BDC9FD1C3A}</a:tableStyleId>
              </a:tblPr>
              <a:tblGrid>
                <a:gridCol w="854810">
                  <a:extLst>
                    <a:ext uri="{9D8B030D-6E8A-4147-A177-3AD203B41FA5}">
                      <a16:colId xmlns:a16="http://schemas.microsoft.com/office/drawing/2014/main" val="1930757539"/>
                    </a:ext>
                  </a:extLst>
                </a:gridCol>
                <a:gridCol w="762000">
                  <a:extLst>
                    <a:ext uri="{9D8B030D-6E8A-4147-A177-3AD203B41FA5}">
                      <a16:colId xmlns:a16="http://schemas.microsoft.com/office/drawing/2014/main" val="1674463010"/>
                    </a:ext>
                  </a:extLst>
                </a:gridCol>
                <a:gridCol w="838200">
                  <a:extLst>
                    <a:ext uri="{9D8B030D-6E8A-4147-A177-3AD203B41FA5}">
                      <a16:colId xmlns:a16="http://schemas.microsoft.com/office/drawing/2014/main" val="1549944897"/>
                    </a:ext>
                  </a:extLst>
                </a:gridCol>
                <a:gridCol w="1905000">
                  <a:extLst>
                    <a:ext uri="{9D8B030D-6E8A-4147-A177-3AD203B41FA5}">
                      <a16:colId xmlns:a16="http://schemas.microsoft.com/office/drawing/2014/main" val="3687717734"/>
                    </a:ext>
                  </a:extLst>
                </a:gridCol>
                <a:gridCol w="1545149">
                  <a:extLst>
                    <a:ext uri="{9D8B030D-6E8A-4147-A177-3AD203B41FA5}">
                      <a16:colId xmlns:a16="http://schemas.microsoft.com/office/drawing/2014/main" val="4100307886"/>
                    </a:ext>
                  </a:extLst>
                </a:gridCol>
              </a:tblGrid>
              <a:tr h="170307">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Induct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263976">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08/04/</a:t>
                      </a:r>
                      <a:r>
                        <a:rPr lang="vi-VN" sz="1200" b="0">
                          <a:solidFill>
                            <a:schemeClr val="tx1"/>
                          </a:solidFill>
                          <a:latin typeface="Times New Roman" panose="02020603050405020304" pitchFamily="18" charset="0"/>
                          <a:cs typeface="Times New Roman" panose="02020603050405020304" pitchFamily="18" charset="0"/>
                        </a:rPr>
                        <a:t>25</a:t>
                      </a:r>
                      <a:endParaRPr lang="en-US" sz="1200" b="0">
                        <a:solidFill>
                          <a:schemeClr val="tx1"/>
                        </a:solidFill>
                        <a:latin typeface="Times New Roman" panose="02020603050405020304" pitchFamily="18" charset="0"/>
                        <a:cs typeface="Times New Roman" panose="02020603050405020304" pitchFamily="18" charset="0"/>
                      </a:endParaRPr>
                    </a:p>
                    <a:p>
                      <a:r>
                        <a:rPr lang="en-US" sz="1100" b="0" i="0">
                          <a:solidFill>
                            <a:schemeClr val="tx1"/>
                          </a:solidFill>
                          <a:latin typeface="Times New Roman" panose="02020603050405020304" pitchFamily="18" charset="0"/>
                          <a:cs typeface="Times New Roman" panose="02020603050405020304" pitchFamily="18" charset="0"/>
                        </a:rPr>
                        <a:t>(Delay 37 ngày vs KH gốc)</a:t>
                      </a:r>
                      <a:endParaRPr lang="en-US" sz="1100" b="0" i="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a:t>
                      </a:r>
                      <a:r>
                        <a:rPr lang="en-US" sz="1200" b="0">
                          <a:solidFill>
                            <a:schemeClr val="tx1"/>
                          </a:solidFill>
                          <a:latin typeface="Times New Roman" panose="02020603050405020304" pitchFamily="18" charset="0"/>
                          <a:cs typeface="Times New Roman" panose="02020603050405020304" pitchFamily="18" charset="0"/>
                        </a:rPr>
                        <a:t>8/04/</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259718">
                <a:tc>
                  <a:txBody>
                    <a:bodyPr/>
                    <a:lstStyle/>
                    <a:p>
                      <a:r>
                        <a:rPr lang="en-US" sz="1200" b="1" dirty="0">
                          <a:latin typeface="Times New Roman" panose="02020603050405020304" pitchFamily="18" charset="0"/>
                          <a:cs typeface="Times New Roman" panose="02020603050405020304" pitchFamily="18" charset="0"/>
                        </a:rPr>
                        <a:t>21043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N3</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08/06/25</a:t>
                      </a:r>
                    </a:p>
                    <a:p>
                      <a:r>
                        <a:rPr lang="en-US" sz="1050" b="1">
                          <a:solidFill>
                            <a:srgbClr val="FF0000"/>
                          </a:solidFill>
                          <a:latin typeface="Times New Roman" panose="02020603050405020304" pitchFamily="18" charset="0"/>
                          <a:cs typeface="Times New Roman" panose="02020603050405020304" pitchFamily="18" charset="0"/>
                        </a:rPr>
                        <a:t>(Delay 7 ngày)</a:t>
                      </a:r>
                      <a:endParaRPr lang="en-US" sz="105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18/06/25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63976">
                <a:tc>
                  <a:txBody>
                    <a:bodyPr/>
                    <a:lstStyle/>
                    <a:p>
                      <a:r>
                        <a:rPr lang="en-US" sz="1200" b="1" dirty="0">
                          <a:latin typeface="Times New Roman" panose="02020603050405020304" pitchFamily="18" charset="0"/>
                          <a:cs typeface="Times New Roman" panose="02020603050405020304" pitchFamily="18" charset="0"/>
                        </a:rPr>
                        <a:t>21137</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N3</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20/06/25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rgbClr val="FF0000"/>
                          </a:solidFill>
                          <a:latin typeface="Times New Roman" panose="02020603050405020304" pitchFamily="18" charset="0"/>
                          <a:cs typeface="Times New Roman" panose="02020603050405020304" pitchFamily="18" charset="0"/>
                        </a:rPr>
                        <a:t>(Delay 7 ngày)</a:t>
                      </a: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07/07/25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170307">
                <a:tc>
                  <a:txBody>
                    <a:bodyPr/>
                    <a:lstStyle/>
                    <a:p>
                      <a:r>
                        <a:rPr lang="en-US" sz="1200" b="1" dirty="0">
                          <a:latin typeface="Times New Roman" panose="02020603050405020304" pitchFamily="18" charset="0"/>
                          <a:cs typeface="Times New Roman" panose="02020603050405020304" pitchFamily="18" charset="0"/>
                        </a:rPr>
                        <a:t>21422</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06/04/25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15/04/25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875011403"/>
                  </a:ext>
                </a:extLst>
              </a:tr>
              <a:tr h="170307">
                <a:tc>
                  <a:txBody>
                    <a:bodyPr/>
                    <a:lstStyle/>
                    <a:p>
                      <a:r>
                        <a:rPr lang="en-US" sz="1200" b="1" dirty="0">
                          <a:latin typeface="Times New Roman" panose="02020603050405020304" pitchFamily="18" charset="0"/>
                          <a:cs typeface="Times New Roman" panose="02020603050405020304" pitchFamily="18" charset="0"/>
                        </a:rPr>
                        <a:t>21201</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170307">
                <a:tc>
                  <a:txBody>
                    <a:bodyPr/>
                    <a:lstStyle/>
                    <a:p>
                      <a:r>
                        <a:rPr lang="en-US" sz="1200" b="1" dirty="0">
                          <a:latin typeface="Times New Roman" panose="02020603050405020304" pitchFamily="18" charset="0"/>
                          <a:cs typeface="Times New Roman" panose="02020603050405020304" pitchFamily="18" charset="0"/>
                        </a:rPr>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extLst>
                  <a:ext uri="{0D108BD9-81ED-4DB2-BD59-A6C34878D82A}">
                    <a16:rowId xmlns:a16="http://schemas.microsoft.com/office/drawing/2014/main" val="829074625"/>
                  </a:ext>
                </a:extLst>
              </a:tr>
              <a:tr h="170307">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17/06/25</a:t>
                      </a:r>
                    </a:p>
                  </a:txBody>
                  <a:tcPr marL="121920" marR="121920" marT="60960" marB="60960" anchor="ctr"/>
                </a:tc>
                <a:extLst>
                  <a:ext uri="{0D108BD9-81ED-4DB2-BD59-A6C34878D82A}">
                    <a16:rowId xmlns:a16="http://schemas.microsoft.com/office/drawing/2014/main" val="3135666374"/>
                  </a:ext>
                </a:extLst>
              </a:tr>
              <a:tr h="170307">
                <a:tc>
                  <a:txBody>
                    <a:bodyPr/>
                    <a:lstStyle/>
                    <a:p>
                      <a:r>
                        <a:rPr lang="en-US" sz="1200" b="1">
                          <a:latin typeface="Times New Roman" panose="02020603050405020304" pitchFamily="18" charset="0"/>
                          <a:cs typeface="Times New Roman" panose="02020603050405020304" pitchFamily="18" charset="0"/>
                        </a:rPr>
                        <a:t>21414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19/03/25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587742417"/>
                  </a:ext>
                </a:extLst>
              </a:tr>
              <a:tr h="170307">
                <a:tc>
                  <a:txBody>
                    <a:bodyPr/>
                    <a:lstStyle/>
                    <a:p>
                      <a:r>
                        <a:rPr lang="en-US" sz="1200" b="1">
                          <a:latin typeface="Times New Roman" panose="02020603050405020304" pitchFamily="18" charset="0"/>
                          <a:cs typeface="Times New Roman" panose="02020603050405020304" pitchFamily="18" charset="0"/>
                        </a:rPr>
                        <a:t>21604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31/03/25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06/08/25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034618264"/>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37732" y="4998423"/>
          <a:ext cx="5879459" cy="1828800"/>
        </p:xfrm>
        <a:graphic>
          <a:graphicData uri="http://schemas.openxmlformats.org/drawingml/2006/table">
            <a:tbl>
              <a:tblPr firstRow="1" bandRow="1">
                <a:tableStyleId>{21E4AEA4-8DFA-4A89-87EB-49C32662AFE0}</a:tableStyleId>
              </a:tblPr>
              <a:tblGrid>
                <a:gridCol w="991528">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285257">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178280">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30/09/2025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178280">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T8/2025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177050543"/>
                  </a:ext>
                </a:extLst>
              </a:tr>
              <a:tr h="178280">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A898</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T5/2025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p>
                  </a:txBody>
                  <a:tcPr marL="121920" marR="121920" marT="60960" marB="60960" anchor="ctr"/>
                </a:tc>
                <a:extLst>
                  <a:ext uri="{0D108BD9-81ED-4DB2-BD59-A6C34878D82A}">
                    <a16:rowId xmlns:a16="http://schemas.microsoft.com/office/drawing/2014/main" val="4001673644"/>
                  </a:ext>
                </a:extLst>
              </a:tr>
              <a:tr h="178280">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11/04/2025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err="1">
                          <a:solidFill>
                            <a:schemeClr val="tx1"/>
                          </a:solidFill>
                          <a:latin typeface="Times New Roman" panose="02020603050405020304" pitchFamily="18" charset="0"/>
                          <a:cs typeface="Times New Roman" panose="02020603050405020304" pitchFamily="18" charset="0"/>
                        </a:rPr>
                        <a:t>Đã</a:t>
                      </a:r>
                      <a:r>
                        <a:rPr lang="en-US" sz="1200" b="0" dirty="0">
                          <a:solidFill>
                            <a:schemeClr val="tx1"/>
                          </a:solidFill>
                          <a:latin typeface="Times New Roman" panose="02020603050405020304" pitchFamily="18" charset="0"/>
                          <a:cs typeface="Times New Roman" panose="02020603050405020304" pitchFamily="18" charset="0"/>
                        </a:rPr>
                        <a:t> </a:t>
                      </a:r>
                      <a:r>
                        <a:rPr lang="en-US" sz="1200" b="0" dirty="0" err="1">
                          <a:solidFill>
                            <a:schemeClr val="tx1"/>
                          </a:solidFill>
                          <a:latin typeface="Times New Roman" panose="02020603050405020304" pitchFamily="18" charset="0"/>
                          <a:cs typeface="Times New Roman" panose="02020603050405020304" pitchFamily="18" charset="0"/>
                        </a:rPr>
                        <a:t>đến</a:t>
                      </a:r>
                      <a:r>
                        <a:rPr lang="en-US" sz="1200" b="0" dirty="0">
                          <a:solidFill>
                            <a:schemeClr val="tx1"/>
                          </a:solidFill>
                          <a:latin typeface="Times New Roman" panose="02020603050405020304" pitchFamily="18" charset="0"/>
                          <a:cs typeface="Times New Roman" panose="02020603050405020304" pitchFamily="18" charset="0"/>
                        </a:rPr>
                        <a:t> shop</a:t>
                      </a:r>
                    </a:p>
                  </a:txBody>
                  <a:tcPr marL="121920" marR="121920" marT="60960" marB="60960" anchor="ctr"/>
                </a:tc>
                <a:extLst>
                  <a:ext uri="{0D108BD9-81ED-4DB2-BD59-A6C34878D82A}">
                    <a16:rowId xmlns:a16="http://schemas.microsoft.com/office/drawing/2014/main" val="1927641313"/>
                  </a:ext>
                </a:extLst>
              </a:tr>
              <a:tr h="178280">
                <a:tc>
                  <a:txBody>
                    <a:bodyPr/>
                    <a:lstStyle/>
                    <a:p>
                      <a:r>
                        <a:rPr lang="en-GB" sz="1200" b="1">
                          <a:latin typeface="Times New Roman" panose="02020603050405020304" pitchFamily="18" charset="0"/>
                          <a:cs typeface="Times New Roman" panose="02020603050405020304" pitchFamily="18" charset="0"/>
                        </a:rPr>
                        <a:t>21048</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Send to 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21/04/2025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latin typeface="Times New Roman" panose="02020603050405020304" pitchFamily="18" charset="0"/>
                          <a:cs typeface="Times New Roman" panose="02020603050405020304" pitchFamily="18" charset="0"/>
                        </a:rPr>
                        <a:t>Đã đến shop</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54533860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Các</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đang trong shop (09 động c</a:t>
            </a:r>
            <a:r>
              <a:rPr kumimoji="0" lang="en-US"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ơ)</a:t>
            </a:r>
            <a:endPar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228600" y="4532436"/>
            <a:ext cx="5195392"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a:t>
            </a:r>
            <a:r>
              <a:rPr kumimoji="0" lang="en-US"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ờ </a:t>
            </a:r>
            <a:r>
              <a:rPr kumimoji="0" lang="en-US"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(05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553200" y="3471758"/>
            <a:ext cx="5167083" cy="461665"/>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Số tàu AOG (kb tốt)</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74810" y="3962400"/>
          <a:ext cx="5808956" cy="25908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29534" y="907137"/>
          <a:ext cx="5625452" cy="225552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191279">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tháo do crack IPC (đã tiến hành soi lại theo SB revision mới và có thể bay tiếp ít nhất 100FC, đang chờ FAA cấp AMOC để có thể khai thác). </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Các tàu đang AOG (04 tàu)</a:t>
            </a:r>
            <a:endPar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6007617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3F1044C-49FE-4761-AB6C-08C2C66EE4F0}"/>
              </a:ext>
            </a:extLst>
          </p:cNvPr>
          <p:cNvSpPr txBox="1"/>
          <p:nvPr/>
        </p:nvSpPr>
        <p:spPr>
          <a:xfrm>
            <a:off x="690253" y="115968"/>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DỰ BÁO </a:t>
            </a:r>
            <a:r>
              <a:rPr kumimoji="0" lang="en-US"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AOG A350 2025 DO THIẾU ĐỘNG C</a:t>
            </a:r>
            <a:r>
              <a:rPr kumimoji="0" lang="vi-VN"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Ơ</a:t>
            </a:r>
            <a:endPar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
        <p:nvSpPr>
          <p:cNvPr id="17" name="Rectangle 16">
            <a:extLst>
              <a:ext uri="{FF2B5EF4-FFF2-40B4-BE49-F238E27FC236}">
                <a16:creationId xmlns:a16="http://schemas.microsoft.com/office/drawing/2014/main" id="{E9C07DA6-E964-4FA0-BC5D-1A4F09D3658F}"/>
              </a:ext>
            </a:extLst>
          </p:cNvPr>
          <p:cNvSpPr/>
          <p:nvPr/>
        </p:nvSpPr>
        <p:spPr>
          <a:xfrm>
            <a:off x="228600" y="6111240"/>
            <a:ext cx="12039600" cy="630942"/>
          </a:xfrm>
          <a:prstGeom prst="rect">
            <a:avLst/>
          </a:prstGeom>
          <a:solidFill>
            <a:srgbClr val="FFFF00"/>
          </a:solidFill>
          <a:ln>
            <a:solidFill>
              <a:schemeClr val="accent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mbria"/>
                <a:ea typeface="+mn-ea"/>
                <a:cs typeface="+mn-cs"/>
              </a:rPr>
              <a:t>PH</a:t>
            </a:r>
            <a:r>
              <a:rPr kumimoji="0" lang="vi-VN"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Ư</a:t>
            </a:r>
            <a:r>
              <a:rPr kumimoji="0" lang="en-US" sz="1400" b="1" i="0" u="none" strike="noStrike" kern="1200" cap="none" spc="0" normalizeH="0" baseline="0" noProof="0" dirty="0">
                <a:ln>
                  <a:noFill/>
                </a:ln>
                <a:solidFill>
                  <a:prstClr val="black"/>
                </a:solidFill>
                <a:effectLst/>
                <a:uLnTx/>
                <a:uFillTx/>
                <a:latin typeface="Cambria"/>
                <a:ea typeface="+mn-ea"/>
                <a:cs typeface="+mn-cs"/>
              </a:rPr>
              <a:t>ƠNG ÁN GIỮ GIỜ</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Với</a:t>
            </a:r>
            <a:r>
              <a:rPr kumimoji="0" lang="en-GB" sz="1050" b="0" i="0" u="none" strike="noStrike" kern="1200" cap="none" spc="0" normalizeH="0" baseline="0" noProof="0" dirty="0">
                <a:ln>
                  <a:noFill/>
                </a:ln>
                <a:solidFill>
                  <a:prstClr val="black"/>
                </a:solidFill>
                <a:effectLst/>
                <a:uLnTx/>
                <a:uFillTx/>
                <a:latin typeface="Cambria"/>
                <a:ea typeface="+mn-ea"/>
                <a:cs typeface="+mn-cs"/>
              </a:rPr>
              <a:t> 21346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hết</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hạn</a:t>
            </a:r>
            <a:r>
              <a:rPr kumimoji="0" lang="en-GB" sz="1050" b="0" i="0" u="none" strike="noStrike" kern="1200" cap="none" spc="0" normalizeH="0" baseline="0" noProof="0" dirty="0">
                <a:ln>
                  <a:noFill/>
                </a:ln>
                <a:solidFill>
                  <a:prstClr val="black"/>
                </a:solidFill>
                <a:effectLst/>
                <a:uLnTx/>
                <a:uFillTx/>
                <a:latin typeface="Cambria"/>
                <a:ea typeface="+mn-ea"/>
                <a:cs typeface="+mn-cs"/>
              </a:rPr>
              <a:t> 14/06):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chờ</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động</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cơ</a:t>
            </a:r>
            <a:r>
              <a:rPr kumimoji="0" lang="en-GB" sz="1050" b="0" i="0" u="none" strike="noStrike" kern="1200" cap="none" spc="0" normalizeH="0" baseline="0" noProof="0" dirty="0">
                <a:ln>
                  <a:noFill/>
                </a:ln>
                <a:solidFill>
                  <a:prstClr val="black"/>
                </a:solidFill>
                <a:effectLst/>
                <a:uLnTx/>
                <a:uFillTx/>
                <a:latin typeface="Cambria"/>
                <a:ea typeface="+mn-ea"/>
                <a:cs typeface="+mn-cs"/>
              </a:rPr>
              <a:t> 21269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đi</a:t>
            </a:r>
            <a:r>
              <a:rPr kumimoji="0" lang="en-GB" sz="1050" b="0" i="0" u="none" strike="noStrike" kern="1200" cap="none" spc="0" normalizeH="0" baseline="0" noProof="0" dirty="0">
                <a:ln>
                  <a:noFill/>
                </a:ln>
                <a:solidFill>
                  <a:prstClr val="black"/>
                </a:solidFill>
                <a:effectLst/>
                <a:uLnTx/>
                <a:uFillTx/>
                <a:latin typeface="Cambria"/>
                <a:ea typeface="+mn-ea"/>
                <a:cs typeface="+mn-cs"/>
              </a:rPr>
              <a:t> shop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về</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ngày</a:t>
            </a:r>
            <a:r>
              <a:rPr kumimoji="0" lang="en-GB" sz="1050" b="0" i="0" u="none" strike="noStrike" kern="1200" cap="none" spc="0" normalizeH="0" baseline="0" noProof="0" dirty="0">
                <a:ln>
                  <a:noFill/>
                </a:ln>
                <a:solidFill>
                  <a:prstClr val="black"/>
                </a:solidFill>
                <a:effectLst/>
                <a:uLnTx/>
                <a:uFillTx/>
                <a:latin typeface="Cambria"/>
                <a:ea typeface="+mn-ea"/>
                <a:cs typeface="+mn-cs"/>
              </a:rPr>
              <a:t> 24/03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sẽ</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tháo</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động</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cơ</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này</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xuống</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giữ</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giờ</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đến</a:t>
            </a:r>
            <a:r>
              <a:rPr kumimoji="0" lang="en-GB" sz="1050" b="0" i="0" u="none" strike="noStrike" kern="1200" cap="none" spc="0" normalizeH="0" baseline="0" noProof="0" dirty="0">
                <a:ln>
                  <a:noFill/>
                </a:ln>
                <a:solidFill>
                  <a:prstClr val="black"/>
                </a:solidFill>
                <a:effectLst/>
                <a:uLnTx/>
                <a:uFillTx/>
                <a:latin typeface="Cambria"/>
                <a:ea typeface="+mn-ea"/>
                <a:cs typeface="+mn-cs"/>
              </a:rPr>
              <a:t> 10/5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lắp</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lại</a:t>
            </a:r>
            <a:r>
              <a:rPr kumimoji="0" lang="en-GB" sz="1050" b="0" i="0" u="none" strike="noStrike" kern="1200" cap="none" spc="0" normalizeH="0" baseline="0" noProof="0" dirty="0">
                <a:ln>
                  <a:noFill/>
                </a:ln>
                <a:solidFill>
                  <a:prstClr val="black"/>
                </a:solidFill>
                <a:effectLst/>
                <a:uLnTx/>
                <a:uFillTx/>
                <a:latin typeface="Cambria"/>
                <a:ea typeface="+mn-ea"/>
                <a:cs typeface="+mn-cs"/>
              </a:rPr>
              <a:t> A899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tàu</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đang</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dừng</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làm</a:t>
            </a:r>
            <a:r>
              <a:rPr kumimoji="0" lang="en-GB" sz="1050" b="0" i="0" u="none" strike="noStrike" kern="1200" cap="none" spc="0" normalizeH="0" baseline="0" noProof="0" dirty="0">
                <a:ln>
                  <a:noFill/>
                </a:ln>
                <a:solidFill>
                  <a:prstClr val="black"/>
                </a:solidFill>
                <a:effectLst/>
                <a:uLnTx/>
                <a:uFillTx/>
                <a:latin typeface="Cambria"/>
                <a:ea typeface="+mn-ea"/>
                <a:cs typeface="+mn-cs"/>
              </a:rPr>
              <a:t> 6Y</a:t>
            </a:r>
            <a:r>
              <a:rPr kumimoji="0" lang="en-US" sz="1050" b="0" i="0" u="none" strike="noStrike" kern="1200" cap="none" spc="0" normalizeH="0" baseline="0" noProof="0" dirty="0">
                <a:ln>
                  <a:noFill/>
                </a:ln>
                <a:solidFill>
                  <a:prstClr val="black"/>
                </a:solidFill>
                <a:effectLst/>
                <a:uLnTx/>
                <a:uFillTx/>
                <a:latin typeface="Cambria"/>
                <a:ea typeface="+mn-ea"/>
                <a:cs typeface="+mn-cs"/>
              </a:rPr>
              <a:t>), </a:t>
            </a:r>
            <a:r>
              <a:rPr kumimoji="0" lang="en-US" sz="1050" b="0" i="0" u="none" strike="noStrike" kern="1200" cap="none" spc="0" normalizeH="0" baseline="0" noProof="0" dirty="0" err="1">
                <a:ln>
                  <a:noFill/>
                </a:ln>
                <a:solidFill>
                  <a:prstClr val="black"/>
                </a:solidFill>
                <a:effectLst/>
                <a:uLnTx/>
                <a:uFillTx/>
                <a:latin typeface="Cambria"/>
                <a:ea typeface="+mn-ea"/>
                <a:cs typeface="+mn-cs"/>
              </a:rPr>
              <a:t>sau</a:t>
            </a:r>
            <a:r>
              <a:rPr kumimoji="0" lang="en-US" sz="1050" b="0" i="0" u="none" strike="noStrike" kern="1200" cap="none" spc="0" normalizeH="0" baseline="0" noProof="0" dirty="0">
                <a:ln>
                  <a:noFill/>
                </a:ln>
                <a:solidFill>
                  <a:prstClr val="black"/>
                </a:solidFill>
                <a:effectLst/>
                <a:uLnTx/>
                <a:uFillTx/>
                <a:latin typeface="Cambria"/>
                <a:ea typeface="+mn-ea"/>
                <a:cs typeface="+mn-cs"/>
              </a:rPr>
              <a:t> </a:t>
            </a:r>
            <a:r>
              <a:rPr kumimoji="0" lang="en-US" sz="1050" b="0" i="0" u="none" strike="noStrike" kern="1200" cap="none" spc="0" normalizeH="0" baseline="0" noProof="0" dirty="0" err="1">
                <a:ln>
                  <a:noFill/>
                </a:ln>
                <a:solidFill>
                  <a:prstClr val="black"/>
                </a:solidFill>
                <a:effectLst/>
                <a:uLnTx/>
                <a:uFillTx/>
                <a:latin typeface="Cambria"/>
                <a:ea typeface="+mn-ea"/>
                <a:cs typeface="+mn-cs"/>
              </a:rPr>
              <a:t>đó</a:t>
            </a:r>
            <a:r>
              <a:rPr kumimoji="0" lang="en-US" sz="1050" b="0" i="0" u="none" strike="noStrike" kern="1200" cap="none" spc="0" normalizeH="0" baseline="0" noProof="0" dirty="0">
                <a:ln>
                  <a:noFill/>
                </a:ln>
                <a:solidFill>
                  <a:prstClr val="black"/>
                </a:solidFill>
                <a:effectLst/>
                <a:uLnTx/>
                <a:uFillTx/>
                <a:latin typeface="Cambria"/>
                <a:ea typeface="+mn-ea"/>
                <a:cs typeface="+mn-cs"/>
              </a:rPr>
              <a:t> </a:t>
            </a:r>
            <a:r>
              <a:rPr kumimoji="0" lang="en-US" sz="1050" b="0" i="0" u="none" strike="noStrike" kern="1200" cap="none" spc="0" normalizeH="0" baseline="0" noProof="0" dirty="0" err="1">
                <a:ln>
                  <a:noFill/>
                </a:ln>
                <a:solidFill>
                  <a:prstClr val="black"/>
                </a:solidFill>
                <a:effectLst/>
                <a:uLnTx/>
                <a:uFillTx/>
                <a:latin typeface="Cambria"/>
                <a:ea typeface="+mn-ea"/>
                <a:cs typeface="+mn-cs"/>
              </a:rPr>
              <a:t>lắp</a:t>
            </a:r>
            <a:r>
              <a:rPr kumimoji="0" lang="en-US" sz="1050" b="0" i="0" u="none" strike="noStrike" kern="1200" cap="none" spc="0" normalizeH="0" baseline="0" noProof="0" dirty="0">
                <a:ln>
                  <a:noFill/>
                </a:ln>
                <a:solidFill>
                  <a:prstClr val="black"/>
                </a:solidFill>
                <a:effectLst/>
                <a:uLnTx/>
                <a:uFillTx/>
                <a:latin typeface="Cambria"/>
                <a:ea typeface="+mn-ea"/>
                <a:cs typeface="+mn-cs"/>
              </a:rPr>
              <a:t> A899 </a:t>
            </a:r>
            <a:r>
              <a:rPr kumimoji="0" lang="en-US" sz="1050" b="0" i="0" u="none" strike="noStrike" kern="1200" cap="none" spc="0" normalizeH="0" baseline="0" noProof="0" dirty="0" err="1">
                <a:ln>
                  <a:noFill/>
                </a:ln>
                <a:solidFill>
                  <a:prstClr val="black"/>
                </a:solidFill>
                <a:effectLst/>
                <a:uLnTx/>
                <a:uFillTx/>
                <a:latin typeface="Cambria"/>
                <a:ea typeface="+mn-ea"/>
                <a:cs typeface="+mn-cs"/>
              </a:rPr>
              <a:t>giữ</a:t>
            </a:r>
            <a:r>
              <a:rPr kumimoji="0" lang="en-US" sz="1050" b="0" i="0" u="none" strike="noStrike" kern="1200" cap="none" spc="0" normalizeH="0" baseline="0" noProof="0" dirty="0">
                <a:ln>
                  <a:noFill/>
                </a:ln>
                <a:solidFill>
                  <a:prstClr val="black"/>
                </a:solidFill>
                <a:effectLst/>
                <a:uLnTx/>
                <a:uFillTx/>
                <a:latin typeface="Cambria"/>
                <a:ea typeface="+mn-ea"/>
                <a:cs typeface="+mn-cs"/>
              </a:rPr>
              <a:t> </a:t>
            </a:r>
            <a:r>
              <a:rPr kumimoji="0" lang="en-US" sz="1050" b="0" i="0" u="none" strike="noStrike" kern="1200" cap="none" spc="0" normalizeH="0" baseline="0" noProof="0" dirty="0" err="1">
                <a:ln>
                  <a:noFill/>
                </a:ln>
                <a:solidFill>
                  <a:prstClr val="black"/>
                </a:solidFill>
                <a:effectLst/>
                <a:uLnTx/>
                <a:uFillTx/>
                <a:latin typeface="Cambria"/>
                <a:ea typeface="+mn-ea"/>
                <a:cs typeface="+mn-cs"/>
              </a:rPr>
              <a:t>thêm</a:t>
            </a:r>
            <a:r>
              <a:rPr kumimoji="0" lang="en-US" sz="1050" b="0" i="0" u="none" strike="noStrike" kern="1200" cap="none" spc="0" normalizeH="0" baseline="0" noProof="0" dirty="0">
                <a:ln>
                  <a:noFill/>
                </a:ln>
                <a:solidFill>
                  <a:prstClr val="black"/>
                </a:solidFill>
                <a:effectLst/>
                <a:uLnTx/>
                <a:uFillTx/>
                <a:latin typeface="Cambria"/>
                <a:ea typeface="+mn-ea"/>
                <a:cs typeface="+mn-cs"/>
              </a:rPr>
              <a:t> 10 </a:t>
            </a:r>
            <a:r>
              <a:rPr kumimoji="0" lang="en-US" sz="1050" b="0" i="0" u="none" strike="noStrike" kern="1200" cap="none" spc="0" normalizeH="0" baseline="0" noProof="0" dirty="0" err="1">
                <a:ln>
                  <a:noFill/>
                </a:ln>
                <a:solidFill>
                  <a:prstClr val="black"/>
                </a:solidFill>
                <a:effectLst/>
                <a:uLnTx/>
                <a:uFillTx/>
                <a:latin typeface="Cambria"/>
                <a:ea typeface="+mn-ea"/>
                <a:cs typeface="+mn-cs"/>
              </a:rPr>
              <a:t>ngày</a:t>
            </a:r>
            <a:r>
              <a:rPr kumimoji="0" lang="en-US" sz="1050" b="0" i="0" u="none" strike="noStrike" kern="1200" cap="none" spc="0" normalizeH="0" baseline="0" noProof="0" dirty="0">
                <a:ln>
                  <a:noFill/>
                </a:ln>
                <a:solidFill>
                  <a:prstClr val="black"/>
                </a:solidFill>
                <a:effectLst/>
                <a:uLnTx/>
                <a:uFillTx/>
                <a:latin typeface="Cambria"/>
                <a:ea typeface="+mn-ea"/>
                <a:cs typeface="+mn-cs"/>
              </a:rPr>
              <a:t>. </a:t>
            </a:r>
            <a:endParaRPr kumimoji="0" lang="en-US" sz="1000" b="0" i="0" u="none" strike="noStrike" kern="1200" cap="none" spc="0" normalizeH="0" baseline="0" noProof="0" dirty="0">
              <a:ln>
                <a:noFill/>
              </a:ln>
              <a:solidFill>
                <a:prstClr val="black"/>
              </a:solidFill>
              <a:effectLst/>
              <a:uLnTx/>
              <a:uFillTx/>
              <a:latin typeface="Cambr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Với</a:t>
            </a:r>
            <a:r>
              <a:rPr kumimoji="0" lang="en-GB" sz="1050" b="0" i="0" u="none" strike="noStrike" kern="1200" cap="none" spc="0" normalizeH="0" baseline="0" noProof="0" dirty="0">
                <a:ln>
                  <a:noFill/>
                </a:ln>
                <a:solidFill>
                  <a:prstClr val="black"/>
                </a:solidFill>
                <a:effectLst/>
                <a:uLnTx/>
                <a:uFillTx/>
                <a:latin typeface="Cambria"/>
                <a:ea typeface="+mn-ea"/>
                <a:cs typeface="+mn-cs"/>
              </a:rPr>
              <a:t> 21418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hết</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hạn</a:t>
            </a:r>
            <a:r>
              <a:rPr kumimoji="0" lang="en-GB" sz="1050" b="0" i="0" u="none" strike="noStrike" kern="1200" cap="none" spc="0" normalizeH="0" baseline="0" noProof="0" dirty="0">
                <a:ln>
                  <a:noFill/>
                </a:ln>
                <a:solidFill>
                  <a:prstClr val="black"/>
                </a:solidFill>
                <a:effectLst/>
                <a:uLnTx/>
                <a:uFillTx/>
                <a:latin typeface="Cambria"/>
                <a:ea typeface="+mn-ea"/>
                <a:cs typeface="+mn-cs"/>
              </a:rPr>
              <a:t> 07/07):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Lắp</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trên</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tàu</a:t>
            </a:r>
            <a:r>
              <a:rPr kumimoji="0" lang="en-GB" sz="1050" b="0" i="0" u="none" strike="noStrike" kern="1200" cap="none" spc="0" normalizeH="0" baseline="0" noProof="0" dirty="0">
                <a:ln>
                  <a:noFill/>
                </a:ln>
                <a:solidFill>
                  <a:prstClr val="black"/>
                </a:solidFill>
                <a:effectLst/>
                <a:uLnTx/>
                <a:uFillTx/>
                <a:latin typeface="Cambria"/>
                <a:ea typeface="+mn-ea"/>
                <a:cs typeface="+mn-cs"/>
              </a:rPr>
              <a:t> A891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làm</a:t>
            </a:r>
            <a:r>
              <a:rPr kumimoji="0" lang="en-GB" sz="1050" b="0" i="0" u="none" strike="noStrike" kern="1200" cap="none" spc="0" normalizeH="0" baseline="0" noProof="0" dirty="0">
                <a:ln>
                  <a:noFill/>
                </a:ln>
                <a:solidFill>
                  <a:prstClr val="black"/>
                </a:solidFill>
                <a:effectLst/>
                <a:uLnTx/>
                <a:uFillTx/>
                <a:latin typeface="Cambria"/>
                <a:ea typeface="+mn-ea"/>
                <a:cs typeface="+mn-cs"/>
              </a:rPr>
              <a:t> check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từ</a:t>
            </a:r>
            <a:r>
              <a:rPr kumimoji="0" lang="en-GB" sz="1050" b="0" i="0" u="none" strike="noStrike" kern="1200" cap="none" spc="0" normalizeH="0" baseline="0" noProof="0" dirty="0">
                <a:ln>
                  <a:noFill/>
                </a:ln>
                <a:solidFill>
                  <a:prstClr val="black"/>
                </a:solidFill>
                <a:effectLst/>
                <a:uLnTx/>
                <a:uFillTx/>
                <a:latin typeface="Cambria"/>
                <a:ea typeface="+mn-ea"/>
                <a:cs typeface="+mn-cs"/>
              </a:rPr>
              <a:t> 10/3 – 19/3;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từ</a:t>
            </a:r>
            <a:r>
              <a:rPr kumimoji="0" lang="en-GB" sz="1050" b="0" i="0" u="none" strike="noStrike" kern="1200" cap="none" spc="0" normalizeH="0" baseline="0" noProof="0" dirty="0">
                <a:ln>
                  <a:noFill/>
                </a:ln>
                <a:solidFill>
                  <a:prstClr val="black"/>
                </a:solidFill>
                <a:effectLst/>
                <a:uLnTx/>
                <a:uFillTx/>
                <a:latin typeface="Cambria"/>
                <a:ea typeface="+mn-ea"/>
                <a:cs typeface="+mn-cs"/>
              </a:rPr>
              <a:t> 16/04 – 10/05: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lắp</a:t>
            </a:r>
            <a:r>
              <a:rPr kumimoji="0" lang="en-GB" sz="1050" b="0" i="0" u="none" strike="noStrike" kern="1200" cap="none" spc="0" normalizeH="0" baseline="0" noProof="0" dirty="0">
                <a:ln>
                  <a:noFill/>
                </a:ln>
                <a:solidFill>
                  <a:prstClr val="black"/>
                </a:solidFill>
                <a:effectLst/>
                <a:uLnTx/>
                <a:uFillTx/>
                <a:latin typeface="Cambria"/>
                <a:ea typeface="+mn-ea"/>
                <a:cs typeface="+mn-cs"/>
              </a:rPr>
              <a:t> sang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tàu</a:t>
            </a:r>
            <a:r>
              <a:rPr kumimoji="0" lang="en-GB" sz="1050" b="0" i="0" u="none" strike="noStrike" kern="1200" cap="none" spc="0" normalizeH="0" baseline="0" noProof="0" dirty="0">
                <a:ln>
                  <a:noFill/>
                </a:ln>
                <a:solidFill>
                  <a:prstClr val="black"/>
                </a:solidFill>
                <a:effectLst/>
                <a:uLnTx/>
                <a:uFillTx/>
                <a:latin typeface="Cambria"/>
                <a:ea typeface="+mn-ea"/>
                <a:cs typeface="+mn-cs"/>
              </a:rPr>
              <a:t> A899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làm</a:t>
            </a:r>
            <a:r>
              <a:rPr kumimoji="0" lang="en-GB" sz="1050" b="0" i="0" u="none" strike="noStrike" kern="1200" cap="none" spc="0" normalizeH="0" baseline="0" noProof="0" dirty="0">
                <a:ln>
                  <a:noFill/>
                </a:ln>
                <a:solidFill>
                  <a:prstClr val="black"/>
                </a:solidFill>
                <a:effectLst/>
                <a:uLnTx/>
                <a:uFillTx/>
                <a:latin typeface="Cambria"/>
                <a:ea typeface="+mn-ea"/>
                <a:cs typeface="+mn-cs"/>
              </a:rPr>
              <a:t> 6Y)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giữ</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thêm</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được</a:t>
            </a:r>
            <a:r>
              <a:rPr kumimoji="0" lang="en-GB" sz="1050" b="0" i="0" u="none" strike="noStrike" kern="1200" cap="none" spc="0" normalizeH="0" baseline="0" noProof="0" dirty="0">
                <a:ln>
                  <a:noFill/>
                </a:ln>
                <a:solidFill>
                  <a:prstClr val="black"/>
                </a:solidFill>
                <a:effectLst/>
                <a:uLnTx/>
                <a:uFillTx/>
                <a:latin typeface="Cambria"/>
                <a:ea typeface="+mn-ea"/>
                <a:cs typeface="+mn-cs"/>
              </a:rPr>
              <a:t> 25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ngày</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sau</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đó</a:t>
            </a:r>
            <a:r>
              <a:rPr kumimoji="0" lang="en-GB" sz="1050" b="0" i="0" u="none" strike="noStrike" kern="1200" cap="none" spc="0" normalizeH="0" baseline="0" noProof="0" dirty="0">
                <a:ln>
                  <a:noFill/>
                </a:ln>
                <a:solidFill>
                  <a:prstClr val="black"/>
                </a:solidFill>
                <a:effectLst/>
                <a:uLnTx/>
                <a:uFillTx/>
                <a:latin typeface="Cambria"/>
                <a:ea typeface="+mn-ea"/>
                <a:cs typeface="+mn-cs"/>
              </a:rPr>
              <a:t> A899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chủ</a:t>
            </a:r>
            <a:r>
              <a:rPr kumimoji="0" lang="en-GB" sz="1050" b="0" i="0" u="none" strike="noStrike" kern="1200" cap="none" spc="0" normalizeH="0" baseline="0" noProof="0" dirty="0">
                <a:ln>
                  <a:noFill/>
                </a:ln>
                <a:solidFill>
                  <a:prstClr val="black"/>
                </a:solidFill>
                <a:effectLst/>
                <a:uLnTx/>
                <a:uFillTx/>
                <a:latin typeface="Cambria"/>
                <a:ea typeface="+mn-ea"/>
                <a:cs typeface="+mn-cs"/>
              </a:rPr>
              <a:t> </a:t>
            </a:r>
            <a:r>
              <a:rPr kumimoji="0" lang="en-GB" sz="1050" b="0" i="0" u="none" strike="noStrike" kern="1200" cap="none" spc="0" normalizeH="0" baseline="0" noProof="0" dirty="0" err="1">
                <a:ln>
                  <a:noFill/>
                </a:ln>
                <a:solidFill>
                  <a:prstClr val="black"/>
                </a:solidFill>
                <a:effectLst/>
                <a:uLnTx/>
                <a:uFillTx/>
                <a:latin typeface="Cambria"/>
                <a:ea typeface="+mn-ea"/>
                <a:cs typeface="+mn-cs"/>
              </a:rPr>
              <a:t>động</a:t>
            </a:r>
            <a:r>
              <a:rPr kumimoji="0" lang="en-GB" sz="1050" b="0" i="0" u="none" strike="noStrike" kern="1200" cap="none" spc="0" normalizeH="0" baseline="0" noProof="0" dirty="0">
                <a:ln>
                  <a:noFill/>
                </a:ln>
                <a:solidFill>
                  <a:prstClr val="black"/>
                </a:solidFill>
                <a:effectLst/>
                <a:uLnTx/>
                <a:uFillTx/>
                <a:latin typeface="Cambria"/>
                <a:ea typeface="+mn-ea"/>
                <a:cs typeface="+mn-cs"/>
              </a:rPr>
              <a:t> d</a:t>
            </a:r>
            <a:r>
              <a:rPr kumimoji="0" lang="en-US" sz="1050" b="0" i="0" u="none" strike="noStrike" kern="1200" cap="none" spc="0" normalizeH="0" baseline="0" noProof="0" dirty="0" err="1">
                <a:ln>
                  <a:noFill/>
                </a:ln>
                <a:solidFill>
                  <a:prstClr val="black"/>
                </a:solidFill>
                <a:effectLst/>
                <a:uLnTx/>
                <a:uFillTx/>
                <a:latin typeface="Cambria"/>
                <a:ea typeface="+mn-ea"/>
                <a:cs typeface="+mn-cs"/>
              </a:rPr>
              <a:t>ừng</a:t>
            </a:r>
            <a:r>
              <a:rPr kumimoji="0" lang="en-US" sz="1050" b="0" i="0" u="none" strike="noStrike" kern="1200" cap="none" spc="0" normalizeH="0" baseline="0" noProof="0" dirty="0">
                <a:ln>
                  <a:noFill/>
                </a:ln>
                <a:solidFill>
                  <a:prstClr val="black"/>
                </a:solidFill>
                <a:effectLst/>
                <a:uLnTx/>
                <a:uFillTx/>
                <a:latin typeface="Cambria"/>
                <a:ea typeface="+mn-ea"/>
                <a:cs typeface="+mn-cs"/>
              </a:rPr>
              <a:t> </a:t>
            </a:r>
            <a:r>
              <a:rPr kumimoji="0" lang="en-US" sz="1050" b="0" i="0" u="none" strike="noStrike" kern="1200" cap="none" spc="0" normalizeH="0" baseline="0" noProof="0" dirty="0" err="1">
                <a:ln>
                  <a:noFill/>
                </a:ln>
                <a:solidFill>
                  <a:prstClr val="black"/>
                </a:solidFill>
                <a:effectLst/>
                <a:uLnTx/>
                <a:uFillTx/>
                <a:latin typeface="Cambria"/>
                <a:ea typeface="+mn-ea"/>
                <a:cs typeface="+mn-cs"/>
              </a:rPr>
              <a:t>thêm</a:t>
            </a:r>
            <a:r>
              <a:rPr kumimoji="0" lang="en-US" sz="1050" b="0" i="0" u="none" strike="noStrike" kern="1200" cap="none" spc="0" normalizeH="0" baseline="0" noProof="0" dirty="0">
                <a:ln>
                  <a:noFill/>
                </a:ln>
                <a:solidFill>
                  <a:prstClr val="black"/>
                </a:solidFill>
                <a:effectLst/>
                <a:uLnTx/>
                <a:uFillTx/>
                <a:latin typeface="Cambria"/>
                <a:ea typeface="+mn-ea"/>
                <a:cs typeface="+mn-cs"/>
              </a:rPr>
              <a:t> 10 </a:t>
            </a:r>
            <a:r>
              <a:rPr kumimoji="0" lang="en-US" sz="1050" b="0" i="0" u="none" strike="noStrike" kern="1200" cap="none" spc="0" normalizeH="0" baseline="0" noProof="0" dirty="0" err="1">
                <a:ln>
                  <a:noFill/>
                </a:ln>
                <a:solidFill>
                  <a:prstClr val="black"/>
                </a:solidFill>
                <a:effectLst/>
                <a:uLnTx/>
                <a:uFillTx/>
                <a:latin typeface="Cambria"/>
                <a:ea typeface="+mn-ea"/>
                <a:cs typeface="+mn-cs"/>
              </a:rPr>
              <a:t>ngày</a:t>
            </a:r>
            <a:r>
              <a:rPr kumimoji="0" lang="en-US" sz="1050" b="0" i="0" u="none" strike="noStrike" kern="1200" cap="none" spc="0" normalizeH="0" baseline="0" noProof="0" dirty="0">
                <a:ln>
                  <a:noFill/>
                </a:ln>
                <a:solidFill>
                  <a:prstClr val="black"/>
                </a:solidFill>
                <a:effectLst/>
                <a:uLnTx/>
                <a:uFillTx/>
                <a:latin typeface="Cambria"/>
                <a:ea typeface="+mn-ea"/>
                <a:cs typeface="+mn-cs"/>
              </a:rPr>
              <a:t>. </a:t>
            </a:r>
            <a:endParaRPr kumimoji="0" lang="en-US" sz="1000" b="0" i="0" u="none" strike="noStrike" kern="1200" cap="none" spc="0" normalizeH="0" baseline="0" noProof="0" dirty="0">
              <a:ln>
                <a:noFill/>
              </a:ln>
              <a:solidFill>
                <a:prstClr val="black"/>
              </a:solidFill>
              <a:effectLst/>
              <a:uLnTx/>
              <a:uFillTx/>
              <a:latin typeface="Cambria"/>
              <a:ea typeface="+mn-ea"/>
              <a:cs typeface="+mn-cs"/>
            </a:endParaRPr>
          </a:p>
        </p:txBody>
      </p:sp>
      <p:graphicFrame>
        <p:nvGraphicFramePr>
          <p:cNvPr id="5" name="Chart 4">
            <a:extLst>
              <a:ext uri="{FF2B5EF4-FFF2-40B4-BE49-F238E27FC236}">
                <a16:creationId xmlns:a16="http://schemas.microsoft.com/office/drawing/2014/main" id="{282059E6-27E7-472C-AEAC-06C1F6F9B2A2}"/>
              </a:ext>
            </a:extLst>
          </p:cNvPr>
          <p:cNvGraphicFramePr/>
          <p:nvPr/>
        </p:nvGraphicFramePr>
        <p:xfrm>
          <a:off x="295373" y="770468"/>
          <a:ext cx="11557960" cy="524933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657090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marR="0" lvl="0" indent="-380990" algn="l" defTabSz="121917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Từ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11/2024,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05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B220.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7/2025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sẽ</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trở</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lại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KHẢ NĂNG CUNG ỨNG ĐỘNG CƠ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ĐỘI BAY ATR72</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5604214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291533" y="1134199"/>
          <a:ext cx="11460202" cy="3340178"/>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609998">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3546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3546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17893171"/>
                  </a:ext>
                </a:extLst>
              </a:tr>
              <a:tr h="535461">
                <a:tc>
                  <a:txBody>
                    <a:bodyPr/>
                    <a:lstStyle/>
                    <a:p>
                      <a:pPr algn="ctr"/>
                      <a:r>
                        <a:rPr lang="en-GB" sz="1500">
                          <a:latin typeface="Times New Roman" panose="02020603050405020304" pitchFamily="18" charset="0"/>
                          <a:cs typeface="Times New Roman" panose="02020603050405020304" pitchFamily="18" charset="0"/>
                        </a:rPr>
                        <a:t>3</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ED0217</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20/03/2025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34517888"/>
                  </a:ext>
                </a:extLst>
              </a:tr>
              <a:tr h="496410">
                <a:tc>
                  <a:txBody>
                    <a:bodyPr/>
                    <a:lstStyle/>
                    <a:p>
                      <a:pPr algn="ctr"/>
                      <a:r>
                        <a:rPr lang="en-GB" sz="1500">
                          <a:latin typeface="Times New Roman" panose="02020603050405020304" pitchFamily="18" charset="0"/>
                          <a:cs typeface="Times New Roman" panose="02020603050405020304" pitchFamily="18" charset="0"/>
                        </a:rPr>
                        <a:t>4</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ED0233</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46132875"/>
                  </a:ext>
                </a:extLst>
              </a:tr>
              <a:tr h="496410">
                <a:tc>
                  <a:txBody>
                    <a:bodyPr/>
                    <a:lstStyle/>
                    <a:p>
                      <a:pPr algn="ctr"/>
                      <a:r>
                        <a:rPr lang="en-GB" sz="1500">
                          <a:latin typeface="Times New Roman" panose="02020603050405020304" pitchFamily="18" charset="0"/>
                          <a:cs typeface="Times New Roman" panose="02020603050405020304" pitchFamily="18" charset="0"/>
                        </a:rPr>
                        <a:t>5</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ct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5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380655896"/>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ATR</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36660" y="4557765"/>
            <a:ext cx="7239699"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cơ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bay</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112860" y="5093398"/>
            <a:ext cx="11460201" cy="1692771"/>
          </a:xfrm>
          <a:prstGeom prst="rect">
            <a:avLst/>
          </a:prstGeom>
          <a:noFill/>
        </p:spPr>
        <p:txBody>
          <a:bodyPr wrap="square" rtlCol="0">
            <a:spAutoFit/>
          </a:bodyPr>
          <a:lstStyle/>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ED0214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hết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LLP, </a:t>
            </a:r>
            <a:r>
              <a:rPr kumimoji="0" lang="en-US" sz="16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39 FC) dự kiến gửi đi Shop trong T4/2025.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dự phòng: ED0235 còn 916 FC giữ giờ trong kho.</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a:t>
            </a: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cơ thuê: ED0321, ED0036 và ED0715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cao giờ: NIL</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283094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2A43B"/>
                </a:solidFill>
                <a:effectLst/>
                <a:uLnTx/>
                <a:uFillTx/>
                <a:latin typeface="Montserrat" pitchFamily="2" charset="77"/>
                <a:ea typeface="+mn-ea"/>
                <a:cs typeface="+mn-cs"/>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31/03/2025 – 07/04/2025:</a:t>
            </a:r>
          </a:p>
          <a:p>
            <a:pPr marL="380990" marR="0" lvl="0" indent="-380990" algn="l" defTabSz="121917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sinh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A327.</a:t>
            </a:r>
          </a:p>
          <a:p>
            <a:pPr marL="380990" marR="0" lvl="0" indent="-380990" algn="l" defTabSz="91440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A897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SGCU).</a:t>
            </a:r>
          </a:p>
          <a:p>
            <a:pPr marL="380990" marR="0" lvl="0" indent="-380990" algn="l" defTabSz="121917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01 APU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8"/>
          <a:ext cx="12054615" cy="4841852"/>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418667">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A327</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GEN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05/04. KH T/S HAN 06/04.</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4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4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4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HỎNG HÓC APU TRONG TUẦN</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659695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0"/>
          <a:ext cx="11169547" cy="4419600"/>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422730">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a:solidFill>
                            <a:schemeClr val="tx1"/>
                          </a:solidFill>
                          <a:effectLst/>
                          <a:latin typeface="Times New Roman" panose="02020603050405020304" pitchFamily="18" charset="0"/>
                          <a:cs typeface="Times New Roman" panose="02020603050405020304" pitchFamily="18" charset="0"/>
                        </a:rPr>
                        <a:t>25-Apr-25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20-Apr-25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P-00263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30-Apr-25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r h="399687">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15-Jun-25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A892</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08019" y="5151765"/>
            <a:ext cx="11169547" cy="1241622"/>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8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8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990575" marR="0" lvl="1"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A321: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990575" marR="0" lvl="1"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A350: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990575" marR="0" lvl="1"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B787: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SỬA CHỮA APU TẠI SHOP</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7881331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44</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152400" y="717498"/>
            <a:ext cx="10512582" cy="1873302"/>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(A501/03/05/06/08/10/11/16, A620/22/23/24/25, A886/887/895/898) /</a:t>
            </a:r>
            <a:r>
              <a:rPr lang="pt-BR" sz="1600" b="1" dirty="0">
                <a:solidFill>
                  <a:schemeClr val="accent1">
                    <a:lumMod val="75000"/>
                  </a:schemeClr>
                </a:solidFill>
                <a:cs typeface="Times New Roman" panose="02020603050405020304" pitchFamily="18" charset="0"/>
              </a:rPr>
              <a:t> SGN (A617, A509).</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A339;</a:t>
            </a:r>
          </a:p>
          <a:p>
            <a:pPr marL="12700" indent="0" algn="just">
              <a:buSzPts val="1100"/>
              <a:buFont typeface="Arial" panose="020B0604020202020204" pitchFamily="34" charset="0"/>
              <a:buNone/>
            </a:pPr>
            <a:r>
              <a:rPr lang="en-US" sz="1600" b="1" dirty="0">
                <a:solidFill>
                  <a:schemeClr val="accent1"/>
                </a:solidFill>
                <a:cs typeface="Times New Roman" panose="02020603050405020304" pitchFamily="18" charset="0"/>
              </a:rPr>
              <a:t>              </a:t>
            </a:r>
            <a:r>
              <a:rPr lang="en-US" sz="1600" b="1" dirty="0">
                <a:cs typeface="Times New Roman" panose="02020603050405020304" pitchFamily="18" charset="0"/>
              </a:rPr>
              <a:t>A350: A892;</a:t>
            </a:r>
          </a:p>
          <a:p>
            <a:pPr marL="12700" indent="0" algn="just">
              <a:buSzPts val="1100"/>
              <a:buFont typeface="Arial" panose="020B0604020202020204" pitchFamily="34" charset="0"/>
              <a:buNone/>
            </a:pPr>
            <a:r>
              <a:rPr lang="en-US" sz="1600" b="1" dirty="0">
                <a:cs typeface="Times New Roman" panose="02020603050405020304" pitchFamily="18" charset="0"/>
              </a:rPr>
              <a:t>              ATR72: B223 ;</a:t>
            </a: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A864;</a:t>
            </a:r>
            <a:endParaRPr lang="en-US" sz="1600" dirty="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228599" y="2590800"/>
            <a:ext cx="11068012" cy="42672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600" b="1" dirty="0">
                <a:cs typeface="Times New Roman" panose="02020603050405020304" pitchFamily="18" charset="0"/>
              </a:rPr>
              <a:t>I. A321: </a:t>
            </a:r>
          </a:p>
          <a:p>
            <a:pPr marL="12700" indent="0" algn="just">
              <a:lnSpc>
                <a:spcPct val="100000"/>
              </a:lnSpc>
              <a:buSzPts val="1100"/>
              <a:buNone/>
            </a:pPr>
            <a:r>
              <a:rPr lang="es-ES" sz="1600" b="1" dirty="0">
                <a:solidFill>
                  <a:srgbClr val="FF0000"/>
                </a:solidFill>
                <a:cs typeface="Times New Roman" panose="02020603050405020304" pitchFamily="18" charset="0"/>
                <a:sym typeface="Wingdings" panose="05000000000000000000" pitchFamily="2" charset="2"/>
              </a:rPr>
              <a:t>    1. </a:t>
            </a:r>
            <a:r>
              <a:rPr lang="en-US" sz="1600" b="1" dirty="0">
                <a:solidFill>
                  <a:srgbClr val="FF0000"/>
                </a:solidFill>
                <a:cs typeface="Times New Roman" panose="02020603050405020304" pitchFamily="18" charset="0"/>
                <a:sym typeface="Wingdings" panose="05000000000000000000" pitchFamily="2" charset="2"/>
              </a:rPr>
              <a:t>A339_SGN_ENGCHG_05-08/04: On sked</a:t>
            </a:r>
          </a:p>
          <a:p>
            <a:pPr marL="12700" indent="0" algn="just">
              <a:lnSpc>
                <a:spcPct val="100000"/>
              </a:lnSpc>
              <a:buSzPts val="1100"/>
              <a:buNone/>
            </a:pPr>
            <a:r>
              <a:rPr lang="en-US" sz="1600" b="1" dirty="0">
                <a:solidFill>
                  <a:srgbClr val="FF0000"/>
                </a:solidFill>
                <a:cs typeface="Times New Roman" panose="02020603050405020304" pitchFamily="18" charset="0"/>
                <a:sym typeface="Wingdings" panose="05000000000000000000" pitchFamily="2" charset="2"/>
              </a:rPr>
              <a:t>      </a:t>
            </a:r>
            <a:r>
              <a:rPr lang="en-US" sz="1600" b="1" dirty="0">
                <a:cs typeface="Times New Roman" panose="02020603050405020304" pitchFamily="18" charset="0"/>
                <a:sym typeface="Wingdings" panose="05000000000000000000" pitchFamily="2" charset="2"/>
              </a:rPr>
              <a:t>-</a:t>
            </a:r>
            <a:r>
              <a:rPr lang="en-US" sz="1600" b="1" dirty="0">
                <a:solidFill>
                  <a:srgbClr val="FF0000"/>
                </a:solidFill>
                <a:cs typeface="Times New Roman" panose="02020603050405020304" pitchFamily="18" charset="0"/>
                <a:sym typeface="Wingdings" panose="05000000000000000000" pitchFamily="2" charset="2"/>
              </a:rPr>
              <a:t>   </a:t>
            </a:r>
            <a:r>
              <a:rPr lang="en-US" sz="1600" b="1" dirty="0">
                <a:cs typeface="Times New Roman" panose="02020603050405020304" pitchFamily="18" charset="0"/>
                <a:sym typeface="Wingdings" panose="05000000000000000000" pitchFamily="2" charset="2"/>
              </a:rPr>
              <a:t>08h25, 04/4, Found ENG#1 bị </a:t>
            </a:r>
            <a:r>
              <a:rPr lang="en-US" sz="1600" b="1" dirty="0" err="1">
                <a:cs typeface="Times New Roman" panose="02020603050405020304" pitchFamily="18" charset="0"/>
                <a:sym typeface="Wingdings" panose="05000000000000000000" pitchFamily="2" charset="2"/>
              </a:rPr>
              <a:t>chim</a:t>
            </a:r>
            <a:r>
              <a:rPr lang="en-US" sz="1600" b="1" dirty="0">
                <a:cs typeface="Times New Roman" panose="02020603050405020304" pitchFamily="18" charset="0"/>
                <a:sym typeface="Wingdings" panose="05000000000000000000" pitchFamily="2" charset="2"/>
              </a:rPr>
              <a:t> </a:t>
            </a:r>
            <a:r>
              <a:rPr lang="en-US" sz="1600" b="1" dirty="0" err="1">
                <a:cs typeface="Times New Roman" panose="02020603050405020304" pitchFamily="18" charset="0"/>
                <a:sym typeface="Wingdings" panose="05000000000000000000" pitchFamily="2" charset="2"/>
              </a:rPr>
              <a:t>va</a:t>
            </a:r>
            <a:r>
              <a:rPr lang="en-US" sz="1600" b="1" dirty="0">
                <a:cs typeface="Times New Roman" panose="02020603050405020304" pitchFamily="18" charset="0"/>
                <a:sym typeface="Wingdings" panose="05000000000000000000" pitchFamily="2" charset="2"/>
              </a:rPr>
              <a:t> </a:t>
            </a:r>
            <a:r>
              <a:rPr lang="en-US" sz="1600" b="1" dirty="0" err="1">
                <a:cs typeface="Times New Roman" panose="02020603050405020304" pitchFamily="18" charset="0"/>
                <a:sym typeface="Wingdings" panose="05000000000000000000" pitchFamily="2" charset="2"/>
              </a:rPr>
              <a:t>cần</a:t>
            </a:r>
            <a:r>
              <a:rPr lang="en-US" sz="1600" b="1" dirty="0">
                <a:cs typeface="Times New Roman" panose="02020603050405020304" pitchFamily="18" charset="0"/>
                <a:sym typeface="Wingdings" panose="05000000000000000000" pitchFamily="2" charset="2"/>
              </a:rPr>
              <a:t> soi full, </a:t>
            </a:r>
            <a:r>
              <a:rPr lang="en-US" sz="1600" b="1" dirty="0" err="1">
                <a:cs typeface="Times New Roman" panose="02020603050405020304" pitchFamily="18" charset="0"/>
                <a:sym typeface="Wingdings" panose="05000000000000000000" pitchFamily="2" charset="2"/>
              </a:rPr>
              <a:t>phát</a:t>
            </a:r>
            <a:r>
              <a:rPr lang="en-US" sz="1600" b="1" dirty="0">
                <a:cs typeface="Times New Roman" panose="02020603050405020304" pitchFamily="18" charset="0"/>
                <a:sym typeface="Wingdings" panose="05000000000000000000" pitchFamily="2" charset="2"/>
              </a:rPr>
              <a:t> </a:t>
            </a:r>
            <a:r>
              <a:rPr lang="en-US" sz="1600" b="1" dirty="0" err="1">
                <a:cs typeface="Times New Roman" panose="02020603050405020304" pitchFamily="18" charset="0"/>
                <a:sym typeface="Wingdings" panose="05000000000000000000" pitchFamily="2" charset="2"/>
              </a:rPr>
              <a:t>hiện</a:t>
            </a:r>
            <a:r>
              <a:rPr lang="en-US" sz="1600" b="1" dirty="0">
                <a:cs typeface="Times New Roman" panose="02020603050405020304" pitchFamily="18" charset="0"/>
                <a:sym typeface="Wingdings" panose="05000000000000000000" pitchFamily="2" charset="2"/>
              </a:rPr>
              <a:t> </a:t>
            </a:r>
            <a:r>
              <a:rPr lang="en-US" sz="1600" b="1" dirty="0" err="1">
                <a:cs typeface="Times New Roman" panose="02020603050405020304" pitchFamily="18" charset="0"/>
                <a:sym typeface="Wingdings" panose="05000000000000000000" pitchFamily="2" charset="2"/>
              </a:rPr>
              <a:t>hỏng</a:t>
            </a:r>
            <a:r>
              <a:rPr lang="en-US" sz="1600" b="1" dirty="0">
                <a:cs typeface="Times New Roman" panose="02020603050405020304" pitchFamily="18" charset="0"/>
                <a:sym typeface="Wingdings" panose="05000000000000000000" pitchFamily="2" charset="2"/>
              </a:rPr>
              <a:t> </a:t>
            </a:r>
            <a:r>
              <a:rPr lang="en-US" sz="1600" b="1" dirty="0" err="1">
                <a:cs typeface="Times New Roman" panose="02020603050405020304" pitchFamily="18" charset="0"/>
                <a:sym typeface="Wingdings" panose="05000000000000000000" pitchFamily="2" charset="2"/>
              </a:rPr>
              <a:t>hóc</a:t>
            </a:r>
            <a:r>
              <a:rPr lang="en-US" sz="1600" b="1" dirty="0">
                <a:cs typeface="Times New Roman" panose="02020603050405020304" pitchFamily="18" charset="0"/>
                <a:sym typeface="Wingdings" panose="05000000000000000000" pitchFamily="2" charset="2"/>
              </a:rPr>
              <a:t> </a:t>
            </a:r>
            <a:r>
              <a:rPr lang="en-US" sz="1600" b="1" dirty="0" err="1">
                <a:cs typeface="Times New Roman" panose="02020603050405020304" pitchFamily="18" charset="0"/>
                <a:sym typeface="Wingdings" panose="05000000000000000000" pitchFamily="2" charset="2"/>
              </a:rPr>
              <a:t>nặng</a:t>
            </a:r>
            <a:r>
              <a:rPr lang="en-US" sz="1600" b="1" dirty="0">
                <a:cs typeface="Times New Roman" panose="02020603050405020304" pitchFamily="18" charset="0"/>
                <a:sym typeface="Wingdings" panose="05000000000000000000" pitchFamily="2" charset="2"/>
              </a:rPr>
              <a:t> HPC Stage 6 =&gt; ENG Unserviceable, </a:t>
            </a:r>
            <a:r>
              <a:rPr lang="en-US" sz="1600" b="1" dirty="0" err="1">
                <a:cs typeface="Times New Roman" panose="02020603050405020304" pitchFamily="18" charset="0"/>
                <a:sym typeface="Wingdings" panose="05000000000000000000" pitchFamily="2" charset="2"/>
              </a:rPr>
              <a:t>cần</a:t>
            </a:r>
            <a:r>
              <a:rPr lang="en-US" sz="1600" b="1" dirty="0">
                <a:cs typeface="Times New Roman" panose="02020603050405020304" pitchFamily="18" charset="0"/>
                <a:sym typeface="Wingdings" panose="05000000000000000000" pitchFamily="2" charset="2"/>
              </a:rPr>
              <a:t> </a:t>
            </a:r>
            <a:r>
              <a:rPr lang="en-US" sz="1600" b="1" dirty="0" err="1">
                <a:cs typeface="Times New Roman" panose="02020603050405020304" pitchFamily="18" charset="0"/>
                <a:sym typeface="Wingdings" panose="05000000000000000000" pitchFamily="2" charset="2"/>
              </a:rPr>
              <a:t>thay</a:t>
            </a:r>
            <a:r>
              <a:rPr lang="en-US" sz="1600" b="1" dirty="0">
                <a:cs typeface="Times New Roman" panose="02020603050405020304" pitchFamily="18" charset="0"/>
                <a:sym typeface="Wingdings" panose="05000000000000000000" pitchFamily="2" charset="2"/>
              </a:rPr>
              <a:t>  ENG#1.</a:t>
            </a:r>
          </a:p>
          <a:p>
            <a:pPr marL="12700" indent="0" algn="just">
              <a:lnSpc>
                <a:spcPct val="100000"/>
              </a:lnSpc>
              <a:buSzPts val="1100"/>
              <a:buNone/>
            </a:pPr>
            <a:r>
              <a:rPr lang="es-ES" sz="1600" b="1" dirty="0">
                <a:cs typeface="Times New Roman" panose="02020603050405020304" pitchFamily="18" charset="0"/>
                <a:sym typeface="Wingdings" panose="05000000000000000000" pitchFamily="2" charset="2"/>
              </a:rPr>
              <a:t>      -   </a:t>
            </a:r>
            <a:r>
              <a:rPr lang="es-ES" sz="1600" b="1" dirty="0" err="1">
                <a:cs typeface="Times New Roman" panose="02020603050405020304" pitchFamily="18" charset="0"/>
                <a:sym typeface="Wingdings" panose="05000000000000000000" pitchFamily="2" charset="2"/>
              </a:rPr>
              <a:t>Trưa</a:t>
            </a:r>
            <a:r>
              <a:rPr lang="es-ES" sz="1600" b="1" dirty="0">
                <a:cs typeface="Times New Roman" panose="02020603050405020304" pitchFamily="18" charset="0"/>
                <a:sym typeface="Wingdings" panose="05000000000000000000" pitchFamily="2" charset="2"/>
              </a:rPr>
              <a:t> 05/4, ENG </a:t>
            </a:r>
            <a:r>
              <a:rPr lang="es-ES" sz="1600" b="1" dirty="0" err="1">
                <a:cs typeface="Times New Roman" panose="02020603050405020304" pitchFamily="18" charset="0"/>
                <a:sym typeface="Wingdings" panose="05000000000000000000" pitchFamily="2" charset="2"/>
              </a:rPr>
              <a:t>Avail</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tại</a:t>
            </a:r>
            <a:r>
              <a:rPr lang="es-ES" sz="1600" b="1" dirty="0">
                <a:cs typeface="Times New Roman" panose="02020603050405020304" pitchFamily="18" charset="0"/>
                <a:sym typeface="Wingdings" panose="05000000000000000000" pitchFamily="2" charset="2"/>
              </a:rPr>
              <a:t> SGN</a:t>
            </a:r>
          </a:p>
          <a:p>
            <a:pPr marL="12700" indent="0" algn="just">
              <a:lnSpc>
                <a:spcPct val="100000"/>
              </a:lnSpc>
              <a:buSzPts val="1100"/>
              <a:buNone/>
            </a:pPr>
            <a:r>
              <a:rPr lang="es-ES" sz="1600" b="1" dirty="0">
                <a:cs typeface="Times New Roman" panose="02020603050405020304" pitchFamily="18" charset="0"/>
                <a:sym typeface="Wingdings" panose="05000000000000000000" pitchFamily="2" charset="2"/>
              </a:rPr>
              <a:t>   </a:t>
            </a:r>
          </a:p>
          <a:p>
            <a:pPr marL="12700" indent="0" algn="just">
              <a:lnSpc>
                <a:spcPct val="100000"/>
              </a:lnSpc>
              <a:buSzPts val="1100"/>
              <a:buNone/>
            </a:pPr>
            <a:r>
              <a:rPr lang="es-ES" sz="1600" b="1" dirty="0">
                <a:solidFill>
                  <a:srgbClr val="FF0000"/>
                </a:solidFill>
                <a:cs typeface="Times New Roman" panose="02020603050405020304" pitchFamily="18" charset="0"/>
                <a:sym typeface="Wingdings" panose="05000000000000000000" pitchFamily="2" charset="2"/>
              </a:rPr>
              <a:t>     2. A324_HAN_LDGCHG_31/3-04/4: </a:t>
            </a:r>
            <a:r>
              <a:rPr lang="es-ES" sz="1600" b="1" dirty="0" err="1">
                <a:solidFill>
                  <a:srgbClr val="FF0000"/>
                </a:solidFill>
                <a:cs typeface="Times New Roman" panose="02020603050405020304" pitchFamily="18" charset="0"/>
                <a:sym typeface="Wingdings" panose="05000000000000000000" pitchFamily="2" charset="2"/>
              </a:rPr>
              <a:t>Tàu</a:t>
            </a:r>
            <a:r>
              <a:rPr lang="es-ES" sz="1600" b="1" dirty="0">
                <a:solidFill>
                  <a:srgbClr val="FF0000"/>
                </a:solidFill>
                <a:cs typeface="Times New Roman" panose="02020603050405020304" pitchFamily="18" charset="0"/>
                <a:sym typeface="Wingdings" panose="05000000000000000000" pitchFamily="2" charset="2"/>
              </a:rPr>
              <a:t> </a:t>
            </a:r>
            <a:r>
              <a:rPr lang="es-ES" sz="1600" b="1" dirty="0" err="1">
                <a:solidFill>
                  <a:srgbClr val="FF0000"/>
                </a:solidFill>
                <a:cs typeface="Times New Roman" panose="02020603050405020304" pitchFamily="18" charset="0"/>
                <a:sym typeface="Wingdings" panose="05000000000000000000" pitchFamily="2" charset="2"/>
              </a:rPr>
              <a:t>Service</a:t>
            </a:r>
            <a:r>
              <a:rPr lang="es-ES" sz="1600" b="1" dirty="0">
                <a:solidFill>
                  <a:srgbClr val="FF0000"/>
                </a:solidFill>
                <a:cs typeface="Times New Roman" panose="02020603050405020304" pitchFamily="18" charset="0"/>
                <a:sym typeface="Wingdings" panose="05000000000000000000" pitchFamily="2" charset="2"/>
              </a:rPr>
              <a:t> 10h30, 04/4:</a:t>
            </a:r>
          </a:p>
          <a:p>
            <a:pPr marL="12700" indent="0" algn="just">
              <a:lnSpc>
                <a:spcPct val="100000"/>
              </a:lnSpc>
              <a:buSzPts val="1100"/>
              <a:buNone/>
            </a:pPr>
            <a:r>
              <a:rPr lang="es-ES" sz="1600" b="1" dirty="0">
                <a:cs typeface="Times New Roman" panose="02020603050405020304" pitchFamily="18" charset="0"/>
                <a:sym typeface="Wingdings" panose="05000000000000000000" pitchFamily="2" charset="2"/>
              </a:rPr>
              <a:t>     - </a:t>
            </a:r>
            <a:r>
              <a:rPr lang="es-ES" sz="1600" b="1" dirty="0" err="1">
                <a:cs typeface="Times New Roman" panose="02020603050405020304" pitchFamily="18" charset="0"/>
                <a:sym typeface="Wingdings" panose="05000000000000000000" pitchFamily="2" charset="2"/>
              </a:rPr>
              <a:t>Tàu</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vào</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Check</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muộn</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nửa</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ngày</a:t>
            </a:r>
            <a:r>
              <a:rPr lang="es-ES" sz="1600" b="1" dirty="0">
                <a:cs typeface="Times New Roman" panose="02020603050405020304" pitchFamily="18" charset="0"/>
                <a:sym typeface="Wingdings" panose="05000000000000000000" pitchFamily="2" charset="2"/>
              </a:rPr>
              <a:t> so </a:t>
            </a:r>
            <a:r>
              <a:rPr lang="es-ES" sz="1600" b="1" dirty="0" err="1">
                <a:cs typeface="Times New Roman" panose="02020603050405020304" pitchFamily="18" charset="0"/>
                <a:sym typeface="Wingdings" panose="05000000000000000000" pitchFamily="2" charset="2"/>
              </a:rPr>
              <a:t>với</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kê</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hoạch</a:t>
            </a:r>
            <a:r>
              <a:rPr lang="es-ES" sz="1600" b="1" dirty="0">
                <a:cs typeface="Times New Roman" panose="02020603050405020304" pitchFamily="18" charset="0"/>
                <a:sym typeface="Wingdings" panose="05000000000000000000" pitchFamily="2" charset="2"/>
              </a:rPr>
              <a:t>,</a:t>
            </a:r>
          </a:p>
          <a:p>
            <a:pPr marL="12700" indent="0" algn="just">
              <a:lnSpc>
                <a:spcPct val="100000"/>
              </a:lnSpc>
              <a:buSzPts val="1100"/>
              <a:buNone/>
            </a:pPr>
            <a:r>
              <a:rPr lang="es-ES" sz="1600" b="1" dirty="0">
                <a:cs typeface="Times New Roman" panose="02020603050405020304" pitchFamily="18" charset="0"/>
                <a:sym typeface="Wingdings" panose="05000000000000000000" pitchFamily="2" charset="2"/>
              </a:rPr>
              <a:t>        = &gt; HAN Base </a:t>
            </a:r>
            <a:r>
              <a:rPr lang="es-ES" sz="1600" b="1" dirty="0" err="1">
                <a:cs typeface="Times New Roman" panose="02020603050405020304" pitchFamily="18" charset="0"/>
                <a:sym typeface="Wingdings" panose="05000000000000000000" pitchFamily="2" charset="2"/>
              </a:rPr>
              <a:t>đa</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tăng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cường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nhân</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lực</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tăng</a:t>
            </a:r>
            <a:r>
              <a:rPr lang="es-ES" sz="1600" b="1" dirty="0">
                <a:cs typeface="Times New Roman" panose="02020603050405020304" pitchFamily="18" charset="0"/>
                <a:sym typeface="Wingdings" panose="05000000000000000000" pitchFamily="2" charset="2"/>
              </a:rPr>
              <a:t> ca </a:t>
            </a:r>
            <a:r>
              <a:rPr lang="es-ES" sz="1600" b="1" dirty="0" err="1">
                <a:cs typeface="Times New Roman" panose="02020603050405020304" pitchFamily="18" charset="0"/>
                <a:sym typeface="Wingdings" panose="05000000000000000000" pitchFamily="2" charset="2"/>
              </a:rPr>
              <a:t>đê</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rút</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ngắn</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tổng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thời</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thay</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càng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của</a:t>
            </a:r>
            <a:r>
              <a:rPr lang="es-ES" sz="1600" b="1" dirty="0">
                <a:cs typeface="Times New Roman" panose="02020603050405020304" pitchFamily="18" charset="0"/>
                <a:sym typeface="Wingdings" panose="05000000000000000000" pitchFamily="2" charset="2"/>
              </a:rPr>
              <a:t> A339 1 </a:t>
            </a:r>
            <a:r>
              <a:rPr lang="es-ES" sz="1600" b="1" dirty="0" err="1">
                <a:cs typeface="Times New Roman" panose="02020603050405020304" pitchFamily="18" charset="0"/>
                <a:sym typeface="Wingdings" panose="05000000000000000000" pitchFamily="2" charset="2"/>
              </a:rPr>
              <a:t>ngày</a:t>
            </a:r>
            <a:r>
              <a:rPr lang="es-ES" sz="1600" b="1" dirty="0">
                <a:cs typeface="Times New Roman" panose="02020603050405020304" pitchFamily="18" charset="0"/>
                <a:sym typeface="Wingdings" panose="05000000000000000000" pitchFamily="2" charset="2"/>
              </a:rPr>
              <a:t> so </a:t>
            </a:r>
            <a:r>
              <a:rPr lang="es-ES" sz="1600" b="1" dirty="0" err="1">
                <a:cs typeface="Times New Roman" panose="02020603050405020304" pitchFamily="18" charset="0"/>
                <a:sym typeface="Wingdings" panose="05000000000000000000" pitchFamily="2" charset="2"/>
              </a:rPr>
              <a:t>với</a:t>
            </a:r>
            <a:r>
              <a:rPr lang="es-ES" sz="1600" b="1" dirty="0">
                <a:cs typeface="Times New Roman" panose="02020603050405020304" pitchFamily="18" charset="0"/>
                <a:sym typeface="Wingdings" panose="05000000000000000000" pitchFamily="2" charset="2"/>
              </a:rPr>
              <a:t> KH ban </a:t>
            </a:r>
            <a:r>
              <a:rPr lang="es-ES" sz="1600" b="1" dirty="0" err="1">
                <a:cs typeface="Times New Roman" panose="02020603050405020304" pitchFamily="18" charset="0"/>
                <a:sym typeface="Wingdings" panose="05000000000000000000" pitchFamily="2" charset="2"/>
              </a:rPr>
              <a:t>đầu</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đáp</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ứng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yêu</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cầu</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khai</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thác</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của</a:t>
            </a:r>
            <a:r>
              <a:rPr lang="es-ES" sz="1600" b="1" dirty="0">
                <a:cs typeface="Times New Roman" panose="02020603050405020304" pitchFamily="18" charset="0"/>
                <a:sym typeface="Wingdings" panose="05000000000000000000" pitchFamily="2" charset="2"/>
              </a:rPr>
              <a:t> VNA.</a:t>
            </a:r>
          </a:p>
          <a:p>
            <a:pPr marL="12700" indent="0" algn="just">
              <a:lnSpc>
                <a:spcPct val="100000"/>
              </a:lnSpc>
              <a:buSzPts val="1100"/>
              <a:buNone/>
            </a:pPr>
            <a:endParaRPr lang="es-ES" sz="1600" b="1" dirty="0">
              <a:cs typeface="Times New Roman" panose="02020603050405020304" pitchFamily="18" charset="0"/>
              <a:sym typeface="Wingdings" panose="05000000000000000000" pitchFamily="2" charset="2"/>
            </a:endParaRPr>
          </a:p>
          <a:p>
            <a:pPr marL="12700" indent="0" algn="just">
              <a:lnSpc>
                <a:spcPct val="100000"/>
              </a:lnSpc>
              <a:buSzPts val="1100"/>
              <a:buNone/>
            </a:pPr>
            <a:r>
              <a:rPr lang="es-ES" sz="1600" b="1" dirty="0">
                <a:cs typeface="Times New Roman" panose="02020603050405020304" pitchFamily="18" charset="0"/>
                <a:sym typeface="Wingdings" panose="05000000000000000000" pitchFamily="2" charset="2"/>
              </a:rPr>
              <a:t>   </a:t>
            </a:r>
          </a:p>
        </p:txBody>
      </p:sp>
    </p:spTree>
    <p:extLst>
      <p:ext uri="{BB962C8B-B14F-4D97-AF65-F5344CB8AC3E}">
        <p14:creationId xmlns:p14="http://schemas.microsoft.com/office/powerpoint/2010/main" val="32340078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45</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762000"/>
            <a:ext cx="10591800" cy="5791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nSpc>
                <a:spcPct val="120000"/>
              </a:lnSpc>
              <a:buSzPts val="1100"/>
              <a:buNone/>
            </a:pPr>
            <a:r>
              <a:rPr lang="en-US" sz="1400" b="1" dirty="0">
                <a:cs typeface="Times New Roman" panose="02020603050405020304" pitchFamily="18" charset="0"/>
              </a:rPr>
              <a:t>II. A350:</a:t>
            </a:r>
            <a:r>
              <a:rPr lang="es-ES" sz="1400" i="1" dirty="0">
                <a:cs typeface="Times New Roman" panose="02020603050405020304" pitchFamily="18" charset="0"/>
                <a:sym typeface="Wingdings" panose="05000000000000000000" pitchFamily="2" charset="2"/>
              </a:rPr>
              <a:t> </a:t>
            </a:r>
          </a:p>
          <a:p>
            <a:pPr marL="12700" indent="0" algn="just">
              <a:buSzPts val="1100"/>
              <a:buNone/>
            </a:pPr>
            <a:r>
              <a:rPr lang="en-US" sz="1400" b="1" dirty="0">
                <a:solidFill>
                  <a:srgbClr val="FF0000"/>
                </a:solidFill>
                <a:cs typeface="Times New Roman" panose="02020603050405020304" pitchFamily="18" charset="0"/>
                <a:sym typeface="Wingdings" panose="05000000000000000000" pitchFamily="2" charset="2"/>
              </a:rPr>
              <a:t>1. A892_HAN_C01+C02+C04+MOD ATENNA_02/4-17/04: On sked.</a:t>
            </a:r>
          </a:p>
          <a:p>
            <a:pPr marL="12700" indent="0" algn="just">
              <a:buSzPts val="1100"/>
              <a:buNone/>
            </a:pPr>
            <a:endParaRPr lang="en-US" sz="1400" b="1" dirty="0">
              <a:solidFill>
                <a:srgbClr val="FF0000"/>
              </a:solidFill>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400" b="1" dirty="0">
                <a:cs typeface="Times New Roman" panose="02020603050405020304" pitchFamily="18" charset="0"/>
                <a:sym typeface="Wingdings" panose="05000000000000000000" pitchFamily="2" charset="2"/>
              </a:rPr>
              <a:t>III. ATR72:</a:t>
            </a:r>
          </a:p>
          <a:p>
            <a:pPr marL="12700" indent="0" algn="just">
              <a:buSzPts val="1100"/>
              <a:buFont typeface="Arial" panose="020B0604020202020204" pitchFamily="34" charset="0"/>
              <a:buNone/>
            </a:pPr>
            <a:r>
              <a:rPr lang="en-US" sz="1400" b="1" dirty="0">
                <a:solidFill>
                  <a:srgbClr val="FF0000"/>
                </a:solidFill>
                <a:cs typeface="Times New Roman" panose="02020603050405020304" pitchFamily="18" charset="0"/>
                <a:sym typeface="Wingdings" panose="05000000000000000000" pitchFamily="2" charset="2"/>
              </a:rPr>
              <a:t>1. B218_SGN_Y02+Y04+Y08+SWAP LH LDG WITH B223_03-25/04: On sked</a:t>
            </a:r>
          </a:p>
          <a:p>
            <a:pPr marL="298450" indent="-285750" algn="just">
              <a:buSzPts val="1100"/>
              <a:buFontTx/>
              <a:buChar char="-"/>
            </a:pPr>
            <a:r>
              <a:rPr lang="en-US" sz="1400" dirty="0" err="1">
                <a:cs typeface="Times New Roman" panose="02020603050405020304" pitchFamily="18" charset="0"/>
                <a:sym typeface="Wingdings" panose="05000000000000000000" pitchFamily="2" charset="2"/>
              </a:rPr>
              <a:t>Tàu</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vào</a:t>
            </a:r>
            <a:r>
              <a:rPr lang="en-US" sz="1400" dirty="0">
                <a:cs typeface="Times New Roman" panose="02020603050405020304" pitchFamily="18" charset="0"/>
                <a:sym typeface="Wingdings" panose="05000000000000000000" pitchFamily="2" charset="2"/>
              </a:rPr>
              <a:t> Check </a:t>
            </a:r>
            <a:r>
              <a:rPr lang="en-US" sz="1400" dirty="0" err="1">
                <a:cs typeface="Times New Roman" panose="02020603050405020304" pitchFamily="18" charset="0"/>
                <a:sym typeface="Wingdings" panose="05000000000000000000" pitchFamily="2" charset="2"/>
              </a:rPr>
              <a:t>sớm</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hơn</a:t>
            </a:r>
            <a:r>
              <a:rPr lang="en-US" sz="1400" dirty="0">
                <a:cs typeface="Times New Roman" panose="02020603050405020304" pitchFamily="18" charset="0"/>
                <a:sym typeface="Wingdings" panose="05000000000000000000" pitchFamily="2" charset="2"/>
              </a:rPr>
              <a:t> 2 </a:t>
            </a:r>
            <a:r>
              <a:rPr lang="en-US" sz="1400" dirty="0" err="1">
                <a:cs typeface="Times New Roman" panose="02020603050405020304" pitchFamily="18" charset="0"/>
                <a:sym typeface="Wingdings" panose="05000000000000000000" pitchFamily="2" charset="2"/>
              </a:rPr>
              <a:t>tháng</a:t>
            </a:r>
            <a:r>
              <a:rPr lang="en-US" sz="1400" dirty="0">
                <a:cs typeface="Times New Roman" panose="02020603050405020304" pitchFamily="18" charset="0"/>
                <a:sym typeface="Wingdings" panose="05000000000000000000" pitchFamily="2" charset="2"/>
              </a:rPr>
              <a:t> so </a:t>
            </a:r>
            <a:r>
              <a:rPr lang="en-US" sz="1400" dirty="0" err="1">
                <a:cs typeface="Times New Roman" panose="02020603050405020304" pitchFamily="18" charset="0"/>
                <a:sym typeface="Wingdings" panose="05000000000000000000" pitchFamily="2" charset="2"/>
              </a:rPr>
              <a:t>với</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dư</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kiến</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đê</a:t>
            </a:r>
            <a:r>
              <a:rPr lang="en-US" sz="1400" dirty="0">
                <a:cs typeface="Times New Roman" panose="02020603050405020304" pitchFamily="18" charset="0"/>
                <a:sym typeface="Wingdings" panose="05000000000000000000" pitchFamily="2" charset="2"/>
              </a:rPr>
              <a:t>̉ Swap LH-MLG </a:t>
            </a:r>
            <a:r>
              <a:rPr lang="en-US" sz="1400" dirty="0" err="1">
                <a:cs typeface="Times New Roman" panose="02020603050405020304" pitchFamily="18" charset="0"/>
                <a:sym typeface="Wingdings" panose="05000000000000000000" pitchFamily="2" charset="2"/>
              </a:rPr>
              <a:t>cho</a:t>
            </a:r>
            <a:r>
              <a:rPr lang="en-US" sz="1400" dirty="0">
                <a:cs typeface="Times New Roman" panose="02020603050405020304" pitchFamily="18" charset="0"/>
                <a:sym typeface="Wingdings" panose="05000000000000000000" pitchFamily="2" charset="2"/>
              </a:rPr>
              <a:t> B223 </a:t>
            </a:r>
            <a:r>
              <a:rPr lang="en-US" sz="1400" dirty="0" err="1">
                <a:cs typeface="Times New Roman" panose="02020603050405020304" pitchFamily="18" charset="0"/>
                <a:sym typeface="Wingdings" panose="05000000000000000000" pitchFamily="2" charset="2"/>
              </a:rPr>
              <a:t>khai</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thác</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đồng</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thời</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tận</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dụng</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thời</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gian</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dừng</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tàu</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triển</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khai</a:t>
            </a:r>
            <a:r>
              <a:rPr lang="en-US" sz="1400" dirty="0">
                <a:cs typeface="Times New Roman" panose="02020603050405020304" pitchFamily="18" charset="0"/>
                <a:sym typeface="Wingdings" panose="05000000000000000000" pitchFamily="2" charset="2"/>
              </a:rPr>
              <a:t> Check Y08 = &gt; </a:t>
            </a:r>
            <a:r>
              <a:rPr lang="en-US" sz="1400" dirty="0" err="1">
                <a:cs typeface="Times New Roman" panose="02020603050405020304" pitchFamily="18" charset="0"/>
                <a:sym typeface="Wingdings" panose="05000000000000000000" pitchFamily="2" charset="2"/>
              </a:rPr>
              <a:t>Tiết</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kiệm</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được</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khoảng</a:t>
            </a:r>
            <a:r>
              <a:rPr lang="en-US" sz="1400" dirty="0">
                <a:cs typeface="Times New Roman" panose="02020603050405020304" pitchFamily="18" charset="0"/>
                <a:sym typeface="Wingdings" panose="05000000000000000000" pitchFamily="2" charset="2"/>
              </a:rPr>
              <a:t> 24 </a:t>
            </a:r>
            <a:r>
              <a:rPr lang="en-US" sz="1400" dirty="0" err="1">
                <a:cs typeface="Times New Roman" panose="02020603050405020304" pitchFamily="18" charset="0"/>
                <a:sym typeface="Wingdings" panose="05000000000000000000" pitchFamily="2" charset="2"/>
              </a:rPr>
              <a:t>ngày</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dừng</a:t>
            </a:r>
            <a:r>
              <a:rPr lang="en-US" sz="1400" dirty="0">
                <a:cs typeface="Times New Roman" panose="02020603050405020304" pitchFamily="18" charset="0"/>
                <a:sym typeface="Wingdings" panose="05000000000000000000" pitchFamily="2" charset="2"/>
              </a:rPr>
              <a:t> </a:t>
            </a:r>
            <a:r>
              <a:rPr lang="en-US" sz="1400" dirty="0" err="1">
                <a:cs typeface="Times New Roman" panose="02020603050405020304" pitchFamily="18" charset="0"/>
                <a:sym typeface="Wingdings" panose="05000000000000000000" pitchFamily="2" charset="2"/>
              </a:rPr>
              <a:t>tàu</a:t>
            </a:r>
            <a:r>
              <a:rPr lang="en-US" sz="1400" dirty="0">
                <a:cs typeface="Times New Roman" panose="02020603050405020304" pitchFamily="18" charset="0"/>
                <a:sym typeface="Wingdings" panose="05000000000000000000" pitchFamily="2" charset="2"/>
              </a:rPr>
              <a:t>.</a:t>
            </a:r>
          </a:p>
          <a:p>
            <a:pPr marL="12700" indent="0" algn="just">
              <a:buSzPts val="1100"/>
              <a:buNone/>
            </a:pPr>
            <a:r>
              <a:rPr lang="en-US" sz="1400" dirty="0">
                <a:cs typeface="Times New Roman" panose="02020603050405020304" pitchFamily="18" charset="0"/>
                <a:sym typeface="Wingdings" panose="05000000000000000000" pitchFamily="2" charset="2"/>
              </a:rPr>
              <a:t>-    </a:t>
            </a:r>
            <a:r>
              <a:rPr lang="en-US" sz="1400" b="1" dirty="0" err="1">
                <a:cs typeface="Times New Roman" panose="02020603050405020304" pitchFamily="18" charset="0"/>
                <a:sym typeface="Wingdings" panose="05000000000000000000" pitchFamily="2" charset="2"/>
              </a:rPr>
              <a:t>Đê</a:t>
            </a:r>
            <a:r>
              <a:rPr lang="en-US" sz="1400" b="1" dirty="0">
                <a:cs typeface="Times New Roman" panose="02020603050405020304" pitchFamily="18" charset="0"/>
                <a:sym typeface="Wingdings" panose="05000000000000000000" pitchFamily="2" charset="2"/>
              </a:rPr>
              <a:t>̉ </a:t>
            </a:r>
            <a:r>
              <a:rPr lang="en-US" sz="1400" b="1" dirty="0" err="1">
                <a:cs typeface="Times New Roman" panose="02020603050405020304" pitchFamily="18" charset="0"/>
                <a:sym typeface="Wingdings" panose="05000000000000000000" pitchFamily="2" charset="2"/>
              </a:rPr>
              <a:t>đảm</a:t>
            </a:r>
            <a:r>
              <a:rPr lang="en-US" sz="1400" b="1" dirty="0">
                <a:cs typeface="Times New Roman" panose="02020603050405020304" pitchFamily="18" charset="0"/>
                <a:sym typeface="Wingdings" panose="05000000000000000000" pitchFamily="2" charset="2"/>
              </a:rPr>
              <a:t> </a:t>
            </a:r>
            <a:r>
              <a:rPr lang="en-US" sz="1400" b="1" dirty="0" err="1">
                <a:cs typeface="Times New Roman" panose="02020603050405020304" pitchFamily="18" charset="0"/>
                <a:sym typeface="Wingdings" panose="05000000000000000000" pitchFamily="2" charset="2"/>
              </a:rPr>
              <a:t>bảo</a:t>
            </a:r>
            <a:r>
              <a:rPr lang="en-US" sz="1400" b="1" dirty="0">
                <a:cs typeface="Times New Roman" panose="02020603050405020304" pitchFamily="18" charset="0"/>
                <a:sym typeface="Wingdings" panose="05000000000000000000" pitchFamily="2" charset="2"/>
              </a:rPr>
              <a:t> </a:t>
            </a:r>
            <a:r>
              <a:rPr lang="en-US" sz="1400" b="1" dirty="0" err="1">
                <a:cs typeface="Times New Roman" panose="02020603050405020304" pitchFamily="18" charset="0"/>
                <a:sym typeface="Wingdings" panose="05000000000000000000" pitchFamily="2" charset="2"/>
              </a:rPr>
              <a:t>tàu</a:t>
            </a:r>
            <a:r>
              <a:rPr lang="en-US" sz="1400" b="1" dirty="0">
                <a:cs typeface="Times New Roman" panose="02020603050405020304" pitchFamily="18" charset="0"/>
                <a:sym typeface="Wingdings" panose="05000000000000000000" pitchFamily="2" charset="2"/>
              </a:rPr>
              <a:t> </a:t>
            </a:r>
            <a:r>
              <a:rPr lang="en-US" sz="1400" b="1" dirty="0" err="1">
                <a:cs typeface="Times New Roman" panose="02020603050405020304" pitchFamily="18" charset="0"/>
                <a:sym typeface="Wingdings" panose="05000000000000000000" pitchFamily="2" charset="2"/>
              </a:rPr>
              <a:t>ra</a:t>
            </a:r>
            <a:r>
              <a:rPr lang="en-US" sz="1400" b="1" dirty="0">
                <a:cs typeface="Times New Roman" panose="02020603050405020304" pitchFamily="18" charset="0"/>
                <a:sym typeface="Wingdings" panose="05000000000000000000" pitchFamily="2" charset="2"/>
              </a:rPr>
              <a:t> Check </a:t>
            </a:r>
            <a:r>
              <a:rPr lang="en-US" sz="1400" b="1" dirty="0" err="1">
                <a:cs typeface="Times New Roman" panose="02020603050405020304" pitchFamily="18" charset="0"/>
                <a:sym typeface="Wingdings" panose="05000000000000000000" pitchFamily="2" charset="2"/>
              </a:rPr>
              <a:t>đúng</a:t>
            </a:r>
            <a:r>
              <a:rPr lang="en-US" sz="1400" b="1" dirty="0">
                <a:cs typeface="Times New Roman" panose="02020603050405020304" pitchFamily="18" charset="0"/>
                <a:sym typeface="Wingdings" panose="05000000000000000000" pitchFamily="2" charset="2"/>
              </a:rPr>
              <a:t> </a:t>
            </a:r>
            <a:r>
              <a:rPr lang="en-US" sz="1400" b="1" dirty="0" err="1">
                <a:cs typeface="Times New Roman" panose="02020603050405020304" pitchFamily="18" charset="0"/>
                <a:sym typeface="Wingdings" panose="05000000000000000000" pitchFamily="2" charset="2"/>
              </a:rPr>
              <a:t>hạn</a:t>
            </a:r>
            <a:r>
              <a:rPr lang="en-US" sz="1400" b="1" dirty="0">
                <a:cs typeface="Times New Roman" panose="02020603050405020304" pitchFamily="18" charset="0"/>
                <a:sym typeface="Wingdings" panose="05000000000000000000" pitchFamily="2" charset="2"/>
              </a:rPr>
              <a:t>, LH MLG </a:t>
            </a:r>
            <a:r>
              <a:rPr lang="en-US" sz="1400" b="1" dirty="0" err="1">
                <a:cs typeface="Times New Roman" panose="02020603050405020304" pitchFamily="18" charset="0"/>
                <a:sym typeface="Wingdings" panose="05000000000000000000" pitchFamily="2" charset="2"/>
              </a:rPr>
              <a:t>cho</a:t>
            </a:r>
            <a:r>
              <a:rPr lang="en-US" sz="1400" b="1" dirty="0">
                <a:cs typeface="Times New Roman" panose="02020603050405020304" pitchFamily="18" charset="0"/>
                <a:sym typeface="Wingdings" panose="05000000000000000000" pitchFamily="2" charset="2"/>
              </a:rPr>
              <a:t> B218 </a:t>
            </a:r>
            <a:r>
              <a:rPr lang="en-US" sz="1400" b="1" dirty="0" err="1">
                <a:cs typeface="Times New Roman" panose="02020603050405020304" pitchFamily="18" charset="0"/>
                <a:sym typeface="Wingdings" panose="05000000000000000000" pitchFamily="2" charset="2"/>
              </a:rPr>
              <a:t>cần</a:t>
            </a:r>
            <a:r>
              <a:rPr lang="en-US" sz="1400" b="1" dirty="0">
                <a:cs typeface="Times New Roman" panose="02020603050405020304" pitchFamily="18" charset="0"/>
                <a:sym typeface="Wingdings" panose="05000000000000000000" pitchFamily="2" charset="2"/>
              </a:rPr>
              <a:t> avail </a:t>
            </a:r>
            <a:r>
              <a:rPr lang="en-US" sz="1400" b="1" dirty="0" err="1">
                <a:cs typeface="Times New Roman" panose="02020603050405020304" pitchFamily="18" charset="0"/>
                <a:sym typeface="Wingdings" panose="05000000000000000000" pitchFamily="2" charset="2"/>
              </a:rPr>
              <a:t>tại</a:t>
            </a:r>
            <a:r>
              <a:rPr lang="en-US" sz="1400" b="1" dirty="0">
                <a:cs typeface="Times New Roman" panose="02020603050405020304" pitchFamily="18" charset="0"/>
                <a:sym typeface="Wingdings" panose="05000000000000000000" pitchFamily="2" charset="2"/>
              </a:rPr>
              <a:t> SGN </a:t>
            </a:r>
            <a:r>
              <a:rPr lang="en-US" sz="1400" b="1" dirty="0" err="1">
                <a:cs typeface="Times New Roman" panose="02020603050405020304" pitchFamily="18" charset="0"/>
                <a:sym typeface="Wingdings" panose="05000000000000000000" pitchFamily="2" charset="2"/>
              </a:rPr>
              <a:t>trước</a:t>
            </a:r>
            <a:r>
              <a:rPr lang="en-US" sz="1400" b="1" dirty="0">
                <a:cs typeface="Times New Roman" panose="02020603050405020304" pitchFamily="18" charset="0"/>
                <a:sym typeface="Wingdings" panose="05000000000000000000" pitchFamily="2" charset="2"/>
              </a:rPr>
              <a:t> </a:t>
            </a:r>
            <a:r>
              <a:rPr lang="en-US" sz="1400" b="1" dirty="0" err="1">
                <a:cs typeface="Times New Roman" panose="02020603050405020304" pitchFamily="18" charset="0"/>
                <a:sym typeface="Wingdings" panose="05000000000000000000" pitchFamily="2" charset="2"/>
              </a:rPr>
              <a:t>ngày</a:t>
            </a:r>
            <a:r>
              <a:rPr lang="en-US" sz="1400" b="1" dirty="0">
                <a:cs typeface="Times New Roman" panose="02020603050405020304" pitchFamily="18" charset="0"/>
                <a:sym typeface="Wingdings" panose="05000000000000000000" pitchFamily="2" charset="2"/>
              </a:rPr>
              <a:t> 23/04.</a:t>
            </a:r>
          </a:p>
          <a:p>
            <a:pPr marL="12700" indent="0">
              <a:lnSpc>
                <a:spcPct val="120000"/>
              </a:lnSpc>
              <a:spcBef>
                <a:spcPts val="600"/>
              </a:spcBef>
              <a:buSzPts val="1100"/>
              <a:buFont typeface="Arial" panose="020B0604020202020204" pitchFamily="34" charset="0"/>
              <a:buNone/>
            </a:pPr>
            <a:endParaRPr lang="es-ES" sz="1500" b="1" dirty="0">
              <a:cs typeface="Times New Roman" panose="02020603050405020304" pitchFamily="18" charset="0"/>
              <a:sym typeface="Wingdings" panose="05000000000000000000" pitchFamily="2" charset="2"/>
            </a:endParaRPr>
          </a:p>
          <a:p>
            <a:pPr marL="12700" indent="0">
              <a:lnSpc>
                <a:spcPct val="120000"/>
              </a:lnSpc>
              <a:spcBef>
                <a:spcPts val="600"/>
              </a:spcBef>
              <a:buSzPts val="1100"/>
              <a:buFont typeface="Arial" panose="020B0604020202020204" pitchFamily="34" charset="0"/>
              <a:buNone/>
            </a:pPr>
            <a:r>
              <a:rPr lang="es-ES" sz="1500" b="1" dirty="0">
                <a:cs typeface="Times New Roman" panose="02020603050405020304" pitchFamily="18" charset="0"/>
                <a:sym typeface="Wingdings" panose="05000000000000000000" pitchFamily="2" charset="2"/>
              </a:rPr>
              <a:t>IV</a:t>
            </a:r>
            <a:r>
              <a:rPr lang="en-US" sz="1500" b="1" dirty="0">
                <a:cs typeface="Times New Roman" panose="02020603050405020304" pitchFamily="18" charset="0"/>
              </a:rPr>
              <a:t>. B787: </a:t>
            </a:r>
          </a:p>
          <a:p>
            <a:pPr marL="12700" indent="0">
              <a:lnSpc>
                <a:spcPct val="120000"/>
              </a:lnSpc>
              <a:spcBef>
                <a:spcPts val="600"/>
              </a:spcBef>
              <a:buSzPts val="1100"/>
              <a:buNone/>
            </a:pPr>
            <a:r>
              <a:rPr lang="en-US" sz="1600" b="1" dirty="0">
                <a:solidFill>
                  <a:srgbClr val="FF0000"/>
                </a:solidFill>
                <a:cs typeface="Times New Roman" panose="02020603050405020304" pitchFamily="18" charset="0"/>
                <a:sym typeface="Wingdings" panose="05000000000000000000" pitchFamily="2" charset="2"/>
              </a:rPr>
              <a:t>Nil</a:t>
            </a:r>
            <a:endParaRPr lang="es-ES" sz="1400" dirty="0">
              <a:cs typeface="Times New Roman" panose="02020603050405020304" pitchFamily="18" charset="0"/>
              <a:sym typeface="Wingdings" panose="05000000000000000000" pitchFamily="2" charset="2"/>
            </a:endParaRPr>
          </a:p>
          <a:p>
            <a:pPr marL="12700" indent="0" algn="just">
              <a:buSzPts val="1100"/>
              <a:buNone/>
            </a:pPr>
            <a:endParaRPr lang="en-US" sz="1400" dirty="0">
              <a:cs typeface="Times New Roman" panose="02020603050405020304" pitchFamily="18" charset="0"/>
              <a:sym typeface="Wingdings" panose="05000000000000000000" pitchFamily="2" charset="2"/>
            </a:endParaRPr>
          </a:p>
          <a:p>
            <a:pPr marL="12700" indent="0">
              <a:buSzPts val="1100"/>
              <a:buFont typeface="Arial" panose="020B0604020202020204" pitchFamily="34" charset="0"/>
              <a:buNone/>
            </a:pPr>
            <a:endParaRPr lang="es-ES" sz="2100" b="1" dirty="0">
              <a:solidFill>
                <a:srgbClr val="FF0000"/>
              </a:solidFill>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x-none" dirty="0"/>
          </a:p>
        </p:txBody>
      </p:sp>
    </p:spTree>
    <p:extLst>
      <p:ext uri="{BB962C8B-B14F-4D97-AF65-F5344CB8AC3E}">
        <p14:creationId xmlns:p14="http://schemas.microsoft.com/office/powerpoint/2010/main" val="17011356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a:extLst>
              <a:ext uri="{FF2B5EF4-FFF2-40B4-BE49-F238E27FC236}">
                <a16:creationId xmlns:a16="http://schemas.microsoft.com/office/drawing/2014/main" id="{BA944809-9208-B9AB-C1C3-7FEEEAC0DE8C}"/>
              </a:ext>
            </a:extLst>
          </p:cNvPr>
          <p:cNvGraphicFramePr>
            <a:graphicFrameLocks noGrp="1"/>
          </p:cNvGraphicFramePr>
          <p:nvPr/>
        </p:nvGraphicFramePr>
        <p:xfrm>
          <a:off x="369434" y="1295400"/>
          <a:ext cx="11517767" cy="5181598"/>
        </p:xfrm>
        <a:graphic>
          <a:graphicData uri="http://schemas.openxmlformats.org/drawingml/2006/table">
            <a:tbl>
              <a:tblPr/>
              <a:tblGrid>
                <a:gridCol w="385408">
                  <a:extLst>
                    <a:ext uri="{9D8B030D-6E8A-4147-A177-3AD203B41FA5}">
                      <a16:colId xmlns:a16="http://schemas.microsoft.com/office/drawing/2014/main" val="4129878116"/>
                    </a:ext>
                  </a:extLst>
                </a:gridCol>
                <a:gridCol w="2608914">
                  <a:extLst>
                    <a:ext uri="{9D8B030D-6E8A-4147-A177-3AD203B41FA5}">
                      <a16:colId xmlns:a16="http://schemas.microsoft.com/office/drawing/2014/main" val="3661173833"/>
                    </a:ext>
                  </a:extLst>
                </a:gridCol>
                <a:gridCol w="607759">
                  <a:extLst>
                    <a:ext uri="{9D8B030D-6E8A-4147-A177-3AD203B41FA5}">
                      <a16:colId xmlns:a16="http://schemas.microsoft.com/office/drawing/2014/main" val="4064084773"/>
                    </a:ext>
                  </a:extLst>
                </a:gridCol>
                <a:gridCol w="667052">
                  <a:extLst>
                    <a:ext uri="{9D8B030D-6E8A-4147-A177-3AD203B41FA5}">
                      <a16:colId xmlns:a16="http://schemas.microsoft.com/office/drawing/2014/main" val="3209647350"/>
                    </a:ext>
                  </a:extLst>
                </a:gridCol>
                <a:gridCol w="592935">
                  <a:extLst>
                    <a:ext uri="{9D8B030D-6E8A-4147-A177-3AD203B41FA5}">
                      <a16:colId xmlns:a16="http://schemas.microsoft.com/office/drawing/2014/main" val="135708276"/>
                    </a:ext>
                  </a:extLst>
                </a:gridCol>
                <a:gridCol w="563289">
                  <a:extLst>
                    <a:ext uri="{9D8B030D-6E8A-4147-A177-3AD203B41FA5}">
                      <a16:colId xmlns:a16="http://schemas.microsoft.com/office/drawing/2014/main" val="1952683704"/>
                    </a:ext>
                  </a:extLst>
                </a:gridCol>
                <a:gridCol w="607759">
                  <a:extLst>
                    <a:ext uri="{9D8B030D-6E8A-4147-A177-3AD203B41FA5}">
                      <a16:colId xmlns:a16="http://schemas.microsoft.com/office/drawing/2014/main" val="3748714421"/>
                    </a:ext>
                  </a:extLst>
                </a:gridCol>
                <a:gridCol w="592935">
                  <a:extLst>
                    <a:ext uri="{9D8B030D-6E8A-4147-A177-3AD203B41FA5}">
                      <a16:colId xmlns:a16="http://schemas.microsoft.com/office/drawing/2014/main" val="268413980"/>
                    </a:ext>
                  </a:extLst>
                </a:gridCol>
                <a:gridCol w="607759">
                  <a:extLst>
                    <a:ext uri="{9D8B030D-6E8A-4147-A177-3AD203B41FA5}">
                      <a16:colId xmlns:a16="http://schemas.microsoft.com/office/drawing/2014/main" val="1087461461"/>
                    </a:ext>
                  </a:extLst>
                </a:gridCol>
                <a:gridCol w="607759">
                  <a:extLst>
                    <a:ext uri="{9D8B030D-6E8A-4147-A177-3AD203B41FA5}">
                      <a16:colId xmlns:a16="http://schemas.microsoft.com/office/drawing/2014/main" val="1890291675"/>
                    </a:ext>
                  </a:extLst>
                </a:gridCol>
                <a:gridCol w="607759">
                  <a:extLst>
                    <a:ext uri="{9D8B030D-6E8A-4147-A177-3AD203B41FA5}">
                      <a16:colId xmlns:a16="http://schemas.microsoft.com/office/drawing/2014/main" val="3381782568"/>
                    </a:ext>
                  </a:extLst>
                </a:gridCol>
                <a:gridCol w="3068439">
                  <a:extLst>
                    <a:ext uri="{9D8B030D-6E8A-4147-A177-3AD203B41FA5}">
                      <a16:colId xmlns:a16="http://schemas.microsoft.com/office/drawing/2014/main" val="1905121216"/>
                    </a:ext>
                  </a:extLst>
                </a:gridCol>
              </a:tblGrid>
              <a:tr h="454285">
                <a:tc gridSpan="12">
                  <a:txBody>
                    <a:bodyPr/>
                    <a:lstStyle/>
                    <a:p>
                      <a:pPr algn="ctr" fontAlgn="ctr"/>
                      <a:r>
                        <a:rPr lang="en-US" sz="1600" b="1" i="0" u="none" strike="noStrike" dirty="0">
                          <a:solidFill>
                            <a:srgbClr val="000000"/>
                          </a:solidFill>
                          <a:effectLst/>
                          <a:latin typeface="Times New Roman" panose="02020603050405020304" pitchFamily="18" charset="0"/>
                        </a:rPr>
                        <a:t>NGUỒN LỰC KỸ THUÂT FLEET A321 (CẬP NHẬT 07/04)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24934069"/>
                  </a:ext>
                </a:extLst>
              </a:tr>
              <a:tr h="550648">
                <a:tc>
                  <a:txBody>
                    <a:bodyPr/>
                    <a:lstStyle/>
                    <a:p>
                      <a:pPr algn="ctr" fontAlgn="ctr"/>
                      <a:r>
                        <a:rPr lang="en-US" sz="13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dirty="0">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3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322931991"/>
                  </a:ext>
                </a:extLst>
              </a:tr>
              <a:tr h="847998">
                <a:tc>
                  <a:txBody>
                    <a:bodyPr/>
                    <a:lstStyle/>
                    <a:p>
                      <a:pPr algn="ctr" fontAlgn="ctr"/>
                      <a:r>
                        <a:rPr lang="en-US" sz="1300" b="1"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300" b="1" i="0" u="none" strike="noStrike">
                          <a:solidFill>
                            <a:srgbClr val="000000"/>
                          </a:solidFill>
                          <a:effectLst/>
                          <a:latin typeface="Times New Roman" panose="02020603050405020304" pitchFamily="18" charset="0"/>
                        </a:rPr>
                        <a:t>A321 NEO AOG</a:t>
                      </a:r>
                      <a:br>
                        <a:rPr lang="pt-BR" sz="1300" b="1" i="0" u="none" strike="noStrike">
                          <a:solidFill>
                            <a:srgbClr val="000000"/>
                          </a:solidFill>
                          <a:effectLst/>
                          <a:latin typeface="Times New Roman" panose="02020603050405020304" pitchFamily="18" charset="0"/>
                        </a:rPr>
                      </a:br>
                      <a:r>
                        <a:rPr lang="pt-BR" sz="1300" b="1" i="0" u="none" strike="noStrike">
                          <a:solidFill>
                            <a:srgbClr val="000000"/>
                          </a:solidFill>
                          <a:effectLst/>
                          <a:latin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FF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13.25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dirty="0">
                          <a:solidFill>
                            <a:srgbClr val="FF0000"/>
                          </a:solidFill>
                          <a:effectLst/>
                          <a:latin typeface="Times New Roman" panose="02020603050405020304" pitchFamily="18" charset="0"/>
                        </a:rPr>
                        <a:t>- 0/2025: </a:t>
                      </a:r>
                      <a:r>
                        <a:rPr lang="en-US" sz="1300" b="0" i="0" u="none" strike="noStrike" dirty="0" err="1">
                          <a:solidFill>
                            <a:srgbClr val="FF0000"/>
                          </a:solidFill>
                          <a:effectLst/>
                          <a:latin typeface="Times New Roman" panose="02020603050405020304" pitchFamily="18" charset="0"/>
                        </a:rPr>
                        <a:t>tăng</a:t>
                      </a:r>
                      <a:r>
                        <a:rPr lang="en-US" sz="1300" b="0" i="0" u="none" strike="noStrike" dirty="0">
                          <a:solidFill>
                            <a:srgbClr val="FF0000"/>
                          </a:solidFill>
                          <a:effectLst/>
                          <a:latin typeface="Times New Roman" panose="02020603050405020304" pitchFamily="18" charset="0"/>
                        </a:rPr>
                        <a:t> 0.5 </a:t>
                      </a:r>
                      <a:r>
                        <a:rPr lang="en-US" sz="1300" b="0" i="0" u="none" strike="noStrike" dirty="0" err="1">
                          <a:solidFill>
                            <a:srgbClr val="FF0000"/>
                          </a:solidFill>
                          <a:effectLst/>
                          <a:latin typeface="Times New Roman" panose="02020603050405020304" pitchFamily="18" charset="0"/>
                        </a:rPr>
                        <a:t>tàu</a:t>
                      </a:r>
                      <a:r>
                        <a:rPr lang="en-US" sz="1300" b="0" i="0" u="none" strike="noStrike" dirty="0">
                          <a:solidFill>
                            <a:srgbClr val="FF0000"/>
                          </a:solidFill>
                          <a:effectLst/>
                          <a:latin typeface="Times New Roman" panose="02020603050405020304" pitchFamily="18" charset="0"/>
                        </a:rPr>
                        <a:t> do ENG </a:t>
                      </a:r>
                      <a:r>
                        <a:rPr lang="en-US" sz="1300" b="0" i="0" u="none" strike="noStrike" dirty="0" err="1">
                          <a:solidFill>
                            <a:srgbClr val="FF0000"/>
                          </a:solidFill>
                          <a:effectLst/>
                          <a:latin typeface="Times New Roman" panose="02020603050405020304" pitchFamily="18" charset="0"/>
                        </a:rPr>
                        <a:t>về</a:t>
                      </a:r>
                      <a:r>
                        <a:rPr lang="en-US" sz="1300" b="0" i="0" u="none" strike="noStrike" dirty="0">
                          <a:solidFill>
                            <a:srgbClr val="FF0000"/>
                          </a:solidFill>
                          <a:effectLst/>
                          <a:latin typeface="Times New Roman" panose="02020603050405020304" pitchFamily="18" charset="0"/>
                        </a:rPr>
                        <a:t> </a:t>
                      </a:r>
                      <a:r>
                        <a:rPr lang="en-US" sz="1300" b="0" i="0" u="none" strike="noStrike" dirty="0" err="1">
                          <a:solidFill>
                            <a:srgbClr val="FF0000"/>
                          </a:solidFill>
                          <a:effectLst/>
                          <a:latin typeface="Times New Roman" panose="02020603050405020304" pitchFamily="18" charset="0"/>
                        </a:rPr>
                        <a:t>muộn</a:t>
                      </a:r>
                      <a:br>
                        <a:rPr lang="en-US" sz="1300" b="0" i="0" u="none" strike="noStrike" dirty="0">
                          <a:solidFill>
                            <a:srgbClr val="FF0000"/>
                          </a:solidFill>
                          <a:effectLst/>
                          <a:latin typeface="Times New Roman" panose="02020603050405020304" pitchFamily="18" charset="0"/>
                        </a:rPr>
                      </a:br>
                      <a:r>
                        <a:rPr lang="en-US" sz="1300" b="0" i="0" u="none" strike="noStrike" dirty="0">
                          <a:solidFill>
                            <a:schemeClr val="tx1"/>
                          </a:solidFill>
                          <a:effectLst/>
                          <a:latin typeface="Times New Roman" panose="02020603050405020304" pitchFamily="18" charset="0"/>
                        </a:rPr>
                        <a:t>- 05/2025: </a:t>
                      </a:r>
                      <a:r>
                        <a:rPr lang="en-US" sz="1300" b="0" i="0" u="none" strike="noStrike" dirty="0" err="1">
                          <a:solidFill>
                            <a:schemeClr val="tx1"/>
                          </a:solidFill>
                          <a:effectLst/>
                          <a:latin typeface="Times New Roman" panose="02020603050405020304" pitchFamily="18" charset="0"/>
                        </a:rPr>
                        <a:t>tăng</a:t>
                      </a:r>
                      <a:r>
                        <a:rPr lang="en-US" sz="1300" b="0" i="0" u="none" strike="noStrike" dirty="0">
                          <a:solidFill>
                            <a:schemeClr val="tx1"/>
                          </a:solidFill>
                          <a:effectLst/>
                          <a:latin typeface="Times New Roman" panose="02020603050405020304" pitchFamily="18" charset="0"/>
                        </a:rPr>
                        <a:t> 0.25 </a:t>
                      </a:r>
                      <a:r>
                        <a:rPr lang="en-US" sz="1300" b="0" i="0" u="none" strike="noStrike" dirty="0" err="1">
                          <a:solidFill>
                            <a:schemeClr val="tx1"/>
                          </a:solidFill>
                          <a:effectLst/>
                          <a:latin typeface="Times New Roman" panose="02020603050405020304" pitchFamily="18" charset="0"/>
                        </a:rPr>
                        <a:t>tàu</a:t>
                      </a:r>
                      <a:r>
                        <a:rPr lang="en-US" sz="1300" b="0" i="0" u="none" strike="noStrike" dirty="0">
                          <a:solidFill>
                            <a:schemeClr val="tx1"/>
                          </a:solidFill>
                          <a:effectLst/>
                          <a:latin typeface="Times New Roman" panose="02020603050405020304" pitchFamily="18" charset="0"/>
                        </a:rPr>
                        <a:t> do ENG </a:t>
                      </a:r>
                      <a:r>
                        <a:rPr lang="en-US" sz="1300" b="0" i="0" u="none" strike="noStrike" dirty="0" err="1">
                          <a:solidFill>
                            <a:schemeClr val="tx1"/>
                          </a:solidFill>
                          <a:effectLst/>
                          <a:latin typeface="Times New Roman" panose="02020603050405020304" pitchFamily="18" charset="0"/>
                        </a:rPr>
                        <a:t>về</a:t>
                      </a:r>
                      <a:r>
                        <a:rPr lang="en-US" sz="1300" b="0" i="0" u="none" strike="noStrike" dirty="0">
                          <a:solidFill>
                            <a:schemeClr val="tx1"/>
                          </a:solidFill>
                          <a:effectLst/>
                          <a:latin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rPr>
                        <a:t>muộn</a:t>
                      </a:r>
                      <a:endParaRPr lang="en-US" sz="1300" b="0" i="0" u="none" strike="noStrike" dirty="0">
                        <a:solidFill>
                          <a:schemeClr val="tx1"/>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0958090"/>
                  </a:ext>
                </a:extLst>
              </a:tr>
              <a:tr h="770907">
                <a:tc>
                  <a:txBody>
                    <a:bodyPr/>
                    <a:lstStyle/>
                    <a:p>
                      <a:pPr algn="ctr" fontAlgn="ctr"/>
                      <a:r>
                        <a:rPr lang="en-US" sz="1300" b="1"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300" b="1" i="0" u="none" strike="noStrike">
                          <a:solidFill>
                            <a:srgbClr val="000000"/>
                          </a:solidFill>
                          <a:effectLst/>
                          <a:latin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3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340573388"/>
                  </a:ext>
                </a:extLst>
              </a:tr>
              <a:tr h="839738">
                <a:tc>
                  <a:txBody>
                    <a:bodyPr/>
                    <a:lstStyle/>
                    <a:p>
                      <a:pPr algn="ctr" fontAlgn="ctr"/>
                      <a:r>
                        <a:rPr lang="en-US" sz="1300" b="1"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1" i="0" u="none" strike="noStrike">
                          <a:solidFill>
                            <a:srgbClr val="000000"/>
                          </a:solidFill>
                          <a:effectLst/>
                          <a:latin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FF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0.30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dirty="0">
                          <a:solidFill>
                            <a:srgbClr val="FF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5647381"/>
                  </a:ext>
                </a:extLst>
              </a:tr>
              <a:tr h="859011">
                <a:tc>
                  <a:txBody>
                    <a:bodyPr/>
                    <a:lstStyle/>
                    <a:p>
                      <a:pPr algn="ctr" fontAlgn="ctr"/>
                      <a:r>
                        <a:rPr lang="en-US" sz="1300" b="1"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1" i="0" u="none" strike="noStrike">
                          <a:solidFill>
                            <a:srgbClr val="000000"/>
                          </a:solidFill>
                          <a:effectLst/>
                          <a:latin typeface="Times New Roman" panose="02020603050405020304" pitchFamily="18" charset="0"/>
                        </a:rPr>
                        <a:t>Tổng số tàu A321 Dừng</a:t>
                      </a:r>
                      <a:br>
                        <a:rPr lang="en-US" sz="1300" b="1" i="0" u="none" strike="noStrike">
                          <a:solidFill>
                            <a:srgbClr val="000000"/>
                          </a:solidFill>
                          <a:effectLst/>
                          <a:latin typeface="Times New Roman" panose="02020603050405020304" pitchFamily="18" charset="0"/>
                        </a:rPr>
                      </a:br>
                      <a:r>
                        <a:rPr lang="en-US" sz="1300" b="1" i="0" u="none" strike="noStrike">
                          <a:solidFill>
                            <a:srgbClr val="000000"/>
                          </a:solidFill>
                          <a:effectLst/>
                          <a:latin typeface="Times New Roman" panose="02020603050405020304" pitchFamily="18" charset="0"/>
                        </a:rPr>
                        <a:t>(Do thiếu ENG + BD)</a:t>
                      </a:r>
                      <a:br>
                        <a:rPr lang="en-US" sz="1300" b="1" i="0" u="none" strike="noStrike">
                          <a:solidFill>
                            <a:srgbClr val="000000"/>
                          </a:solidFill>
                          <a:effectLst/>
                          <a:latin typeface="Times New Roman" panose="02020603050405020304" pitchFamily="18" charset="0"/>
                        </a:rPr>
                      </a:br>
                      <a:r>
                        <a:rPr lang="en-US" sz="1300" b="1" i="0" u="none" strike="noStrike">
                          <a:solidFill>
                            <a:srgbClr val="000000"/>
                          </a:solidFill>
                          <a:effectLst/>
                          <a:latin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16.60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16.35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12.60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14.70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15.20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3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3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892876371"/>
                  </a:ext>
                </a:extLst>
              </a:tr>
              <a:tr h="859011">
                <a:tc>
                  <a:txBody>
                    <a:bodyPr/>
                    <a:lstStyle/>
                    <a:p>
                      <a:pPr algn="ctr" fontAlgn="ctr"/>
                      <a:r>
                        <a:rPr lang="en-US" sz="1300" b="1"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1" i="0" u="none" strike="noStrike">
                          <a:solidFill>
                            <a:srgbClr val="000000"/>
                          </a:solidFill>
                          <a:effectLst/>
                          <a:latin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48.4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48.7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49.8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5040394"/>
                  </a:ext>
                </a:extLst>
              </a:tr>
            </a:tbl>
          </a:graphicData>
        </a:graphic>
      </p:graphicFrame>
    </p:spTree>
    <p:extLst>
      <p:ext uri="{BB962C8B-B14F-4D97-AF65-F5344CB8AC3E}">
        <p14:creationId xmlns:p14="http://schemas.microsoft.com/office/powerpoint/2010/main" val="8188764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3" name="Table 2">
            <a:extLst>
              <a:ext uri="{FF2B5EF4-FFF2-40B4-BE49-F238E27FC236}">
                <a16:creationId xmlns:a16="http://schemas.microsoft.com/office/drawing/2014/main" id="{92B9A58F-EBFE-5D3D-70A5-09FB32C66EF2}"/>
              </a:ext>
            </a:extLst>
          </p:cNvPr>
          <p:cNvGraphicFramePr>
            <a:graphicFrameLocks noGrp="1"/>
          </p:cNvGraphicFramePr>
          <p:nvPr/>
        </p:nvGraphicFramePr>
        <p:xfrm>
          <a:off x="152400" y="685800"/>
          <a:ext cx="11887197" cy="5642425"/>
        </p:xfrm>
        <a:graphic>
          <a:graphicData uri="http://schemas.openxmlformats.org/drawingml/2006/table">
            <a:tbl>
              <a:tblPr/>
              <a:tblGrid>
                <a:gridCol w="375640">
                  <a:extLst>
                    <a:ext uri="{9D8B030D-6E8A-4147-A177-3AD203B41FA5}">
                      <a16:colId xmlns:a16="http://schemas.microsoft.com/office/drawing/2014/main" val="1903307640"/>
                    </a:ext>
                  </a:extLst>
                </a:gridCol>
                <a:gridCol w="2568895">
                  <a:extLst>
                    <a:ext uri="{9D8B030D-6E8A-4147-A177-3AD203B41FA5}">
                      <a16:colId xmlns:a16="http://schemas.microsoft.com/office/drawing/2014/main" val="2248339607"/>
                    </a:ext>
                  </a:extLst>
                </a:gridCol>
                <a:gridCol w="496815">
                  <a:extLst>
                    <a:ext uri="{9D8B030D-6E8A-4147-A177-3AD203B41FA5}">
                      <a16:colId xmlns:a16="http://schemas.microsoft.com/office/drawing/2014/main" val="1058090152"/>
                    </a:ext>
                  </a:extLst>
                </a:gridCol>
                <a:gridCol w="545283">
                  <a:extLst>
                    <a:ext uri="{9D8B030D-6E8A-4147-A177-3AD203B41FA5}">
                      <a16:colId xmlns:a16="http://schemas.microsoft.com/office/drawing/2014/main" val="1014846744"/>
                    </a:ext>
                  </a:extLst>
                </a:gridCol>
                <a:gridCol w="496815">
                  <a:extLst>
                    <a:ext uri="{9D8B030D-6E8A-4147-A177-3AD203B41FA5}">
                      <a16:colId xmlns:a16="http://schemas.microsoft.com/office/drawing/2014/main" val="4267629727"/>
                    </a:ext>
                  </a:extLst>
                </a:gridCol>
                <a:gridCol w="460462">
                  <a:extLst>
                    <a:ext uri="{9D8B030D-6E8A-4147-A177-3AD203B41FA5}">
                      <a16:colId xmlns:a16="http://schemas.microsoft.com/office/drawing/2014/main" val="1785292468"/>
                    </a:ext>
                  </a:extLst>
                </a:gridCol>
                <a:gridCol w="521049">
                  <a:extLst>
                    <a:ext uri="{9D8B030D-6E8A-4147-A177-3AD203B41FA5}">
                      <a16:colId xmlns:a16="http://schemas.microsoft.com/office/drawing/2014/main" val="3212664607"/>
                    </a:ext>
                  </a:extLst>
                </a:gridCol>
                <a:gridCol w="496815">
                  <a:extLst>
                    <a:ext uri="{9D8B030D-6E8A-4147-A177-3AD203B41FA5}">
                      <a16:colId xmlns:a16="http://schemas.microsoft.com/office/drawing/2014/main" val="1948791772"/>
                    </a:ext>
                  </a:extLst>
                </a:gridCol>
                <a:gridCol w="496815">
                  <a:extLst>
                    <a:ext uri="{9D8B030D-6E8A-4147-A177-3AD203B41FA5}">
                      <a16:colId xmlns:a16="http://schemas.microsoft.com/office/drawing/2014/main" val="3822502996"/>
                    </a:ext>
                  </a:extLst>
                </a:gridCol>
                <a:gridCol w="521049">
                  <a:extLst>
                    <a:ext uri="{9D8B030D-6E8A-4147-A177-3AD203B41FA5}">
                      <a16:colId xmlns:a16="http://schemas.microsoft.com/office/drawing/2014/main" val="3083738210"/>
                    </a:ext>
                  </a:extLst>
                </a:gridCol>
                <a:gridCol w="496815">
                  <a:extLst>
                    <a:ext uri="{9D8B030D-6E8A-4147-A177-3AD203B41FA5}">
                      <a16:colId xmlns:a16="http://schemas.microsoft.com/office/drawing/2014/main" val="1840828774"/>
                    </a:ext>
                  </a:extLst>
                </a:gridCol>
                <a:gridCol w="4410744">
                  <a:extLst>
                    <a:ext uri="{9D8B030D-6E8A-4147-A177-3AD203B41FA5}">
                      <a16:colId xmlns:a16="http://schemas.microsoft.com/office/drawing/2014/main" val="1292110500"/>
                    </a:ext>
                  </a:extLst>
                </a:gridCol>
              </a:tblGrid>
              <a:tr h="400503">
                <a:tc gridSpan="12">
                  <a:txBody>
                    <a:bodyPr/>
                    <a:lstStyle/>
                    <a:p>
                      <a:pPr algn="ctr" fontAlgn="ctr"/>
                      <a:r>
                        <a:rPr lang="en-US" sz="1600" b="1" i="0" u="none" strike="noStrike" dirty="0">
                          <a:solidFill>
                            <a:srgbClr val="000000"/>
                          </a:solidFill>
                          <a:effectLst/>
                          <a:latin typeface="Times New Roman" panose="02020603050405020304" pitchFamily="18" charset="0"/>
                        </a:rPr>
                        <a:t>NGUỒN LỰC KỸ THUÂT A350/B787 (CẬP NHẬT 07/04)</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39926967"/>
                  </a:ext>
                </a:extLst>
              </a:tr>
              <a:tr h="306615">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962234859"/>
                  </a:ext>
                </a:extLst>
              </a:tr>
              <a:tr h="1273628">
                <a:tc>
                  <a:txBody>
                    <a:bodyPr/>
                    <a:lstStyle/>
                    <a:p>
                      <a:pPr algn="ctr" fontAlgn="ctr"/>
                      <a:r>
                        <a:rPr lang="en-US" sz="1200" b="0"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rPr>
                        <a:t>KB tốt giữ giờ 03 động cơ tháo trong cao điểm hè:  - 21346 (A891): Cần giữ giờ 63 ngày (đã lên phương án giữ giờ 50 ngày bao gồm offwing 23 ngày và 27 ngày swap ENG với A899 Y6);</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- 21418 (A890): Cần giữ giờ 38 ngày (đã lên phương án giữ giờ 30 ngày bao bồm dừng Đkỳ 10 ngày và 20 ngày swap ENG với A899 Y6) </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- 21317 (A897): Cần giữ giờ 12 ngày.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6136671"/>
                  </a:ext>
                </a:extLst>
              </a:tr>
              <a:tr h="422576">
                <a:tc>
                  <a:txBody>
                    <a:bodyPr/>
                    <a:lstStyle/>
                    <a:p>
                      <a:pPr algn="ctr" fontAlgn="ctr"/>
                      <a:r>
                        <a:rPr lang="en-US" sz="1200" b="0"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FF0000"/>
                          </a:solidFill>
                          <a:effectLst/>
                          <a:latin typeface="Times New Roman" panose="02020603050405020304" pitchFamily="18" charset="0"/>
                        </a:rPr>
                        <a:t>05/2025: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0.2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A899 Y6 </a:t>
                      </a:r>
                      <a:r>
                        <a:rPr lang="en-US" sz="1200" b="0" i="0" u="none" strike="noStrike" dirty="0" err="1">
                          <a:solidFill>
                            <a:srgbClr val="FF0000"/>
                          </a:solidFill>
                          <a:effectLst/>
                          <a:latin typeface="Times New Roman" panose="02020603050405020304" pitchFamily="18" charset="0"/>
                        </a:rPr>
                        <a:t>lùi</a:t>
                      </a:r>
                      <a:r>
                        <a:rPr lang="en-US" sz="1200" b="0" i="0" u="none" strike="noStrike" dirty="0">
                          <a:solidFill>
                            <a:srgbClr val="FF0000"/>
                          </a:solidFill>
                          <a:effectLst/>
                          <a:latin typeface="Times New Roman" panose="02020603050405020304" pitchFamily="18" charset="0"/>
                        </a:rPr>
                        <a:t> 3 </a:t>
                      </a:r>
                      <a:r>
                        <a:rPr lang="en-US" sz="1200" b="0" i="0" u="none" strike="noStrike" dirty="0" err="1">
                          <a:solidFill>
                            <a:srgbClr val="FF0000"/>
                          </a:solidFill>
                          <a:effectLst/>
                          <a:latin typeface="Times New Roman" panose="02020603050405020304" pitchFamily="18" charset="0"/>
                        </a:rPr>
                        <a:t>ngày</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lùi</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dây</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chuyền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từ</a:t>
                      </a:r>
                      <a:r>
                        <a:rPr lang="en-US" sz="1200" b="0" i="0" u="none" strike="noStrike" dirty="0">
                          <a:solidFill>
                            <a:srgbClr val="FF0000"/>
                          </a:solidFill>
                          <a:effectLst/>
                          <a:latin typeface="Times New Roman" panose="02020603050405020304" pitchFamily="18" charset="0"/>
                        </a:rPr>
                        <a:t> A892 C4 do VIP), A891 &amp; A896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1 </a:t>
                      </a:r>
                      <a:r>
                        <a:rPr lang="en-US" sz="1200" b="0" i="0" u="none" strike="noStrike" dirty="0" err="1">
                          <a:solidFill>
                            <a:srgbClr val="FF0000"/>
                          </a:solidFill>
                          <a:effectLst/>
                          <a:latin typeface="Times New Roman" panose="02020603050405020304" pitchFamily="18" charset="0"/>
                        </a:rPr>
                        <a:t>ngày</a:t>
                      </a:r>
                      <a:r>
                        <a:rPr lang="en-US" sz="1200" b="0" i="0" u="none" strike="noStrike" dirty="0">
                          <a:solidFill>
                            <a:srgbClr val="FF0000"/>
                          </a:solidFill>
                          <a:effectLst/>
                          <a:latin typeface="Times New Roman" panose="02020603050405020304" pitchFamily="18" charset="0"/>
                        </a:rPr>
                        <a:t> do </a:t>
                      </a:r>
                      <a:r>
                        <a:rPr lang="en-US" sz="1200" b="0" i="0" u="none" strike="noStrike" dirty="0" err="1">
                          <a:solidFill>
                            <a:srgbClr val="FF0000"/>
                          </a:solidFill>
                          <a:effectLst/>
                          <a:latin typeface="Times New Roman" panose="02020603050405020304" pitchFamily="18" charset="0"/>
                        </a:rPr>
                        <a:t>kết</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hợp</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làm</a:t>
                      </a:r>
                      <a:r>
                        <a:rPr lang="en-US" sz="1200" b="0" i="0" u="none" strike="noStrike" dirty="0">
                          <a:solidFill>
                            <a:srgbClr val="FF0000"/>
                          </a:solidFill>
                          <a:effectLst/>
                          <a:latin typeface="Times New Roman" panose="02020603050405020304" pitchFamily="18" charset="0"/>
                        </a:rPr>
                        <a:t> MOD IFC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19707572"/>
                  </a:ext>
                </a:extLst>
              </a:tr>
              <a:tr h="393095">
                <a:tc>
                  <a:txBody>
                    <a:bodyPr/>
                    <a:lstStyle/>
                    <a:p>
                      <a:pPr algn="ctr" fontAlgn="ctr"/>
                      <a:r>
                        <a:rPr lang="en-US" sz="1200" b="0"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8601997"/>
                  </a:ext>
                </a:extLst>
              </a:tr>
              <a:tr h="393095">
                <a:tc>
                  <a:txBody>
                    <a:bodyPr/>
                    <a:lstStyle/>
                    <a:p>
                      <a:pPr algn="ctr" fontAlgn="ctr"/>
                      <a:r>
                        <a:rPr lang="en-US" sz="1200" b="0"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507965469"/>
                  </a:ext>
                </a:extLst>
              </a:tr>
              <a:tr h="393095">
                <a:tc>
                  <a:txBody>
                    <a:bodyPr/>
                    <a:lstStyle/>
                    <a:p>
                      <a:pPr algn="ctr" fontAlgn="ctr"/>
                      <a:r>
                        <a:rPr lang="en-US" sz="1200" b="0"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FF0000"/>
                          </a:solidFill>
                          <a:effectLst/>
                          <a:latin typeface="Times New Roman" panose="02020603050405020304" pitchFamily="18" charset="0"/>
                        </a:rPr>
                        <a:t>- Rủi ro phát sinh tàu AOG do ENG (A863/A861 có giới hạn BSI 50CY).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81849099"/>
                  </a:ext>
                </a:extLst>
              </a:tr>
              <a:tr h="487438">
                <a:tc>
                  <a:txBody>
                    <a:bodyPr/>
                    <a:lstStyle/>
                    <a:p>
                      <a:pPr algn="ctr" fontAlgn="ctr"/>
                      <a:r>
                        <a:rPr lang="en-US" sz="1200" b="0" i="0" u="none" strike="noStrike">
                          <a:solidFill>
                            <a:srgbClr val="000000"/>
                          </a:solidFill>
                          <a:effectLst/>
                          <a:latin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FF0000"/>
                          </a:solidFill>
                          <a:effectLst/>
                          <a:latin typeface="Times New Roman" panose="02020603050405020304" pitchFamily="18" charset="0"/>
                        </a:rPr>
                        <a:t>- 04/2025: tăng 0.2 tàu A871 hết hạn NN A01 ngày 11/04 =&gt; overlap với A868 thay ENG + A08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527880717"/>
                  </a:ext>
                </a:extLst>
              </a:tr>
              <a:tr h="393095">
                <a:tc>
                  <a:txBody>
                    <a:bodyPr/>
                    <a:lstStyle/>
                    <a:p>
                      <a:pPr algn="ctr" fontAlgn="ctr"/>
                      <a:r>
                        <a:rPr lang="en-US" sz="1200" b="0" i="0" u="none" strike="noStrike">
                          <a:solidFill>
                            <a:srgbClr val="000000"/>
                          </a:solidFill>
                          <a:effectLst/>
                          <a:latin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4633735"/>
                  </a:ext>
                </a:extLst>
              </a:tr>
              <a:tr h="393095">
                <a:tc>
                  <a:txBody>
                    <a:bodyPr/>
                    <a:lstStyle/>
                    <a:p>
                      <a:pPr algn="ctr" fontAlgn="ctr"/>
                      <a:r>
                        <a:rPr lang="en-US" sz="1200" b="0" i="0" u="none" strike="noStrike">
                          <a:solidFill>
                            <a:srgbClr val="000000"/>
                          </a:solidFill>
                          <a:effectLst/>
                          <a:latin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20160847"/>
                  </a:ext>
                </a:extLst>
              </a:tr>
              <a:tr h="393095">
                <a:tc>
                  <a:txBody>
                    <a:bodyPr/>
                    <a:lstStyle/>
                    <a:p>
                      <a:pPr algn="ctr" fontAlgn="ctr"/>
                      <a:r>
                        <a:rPr lang="en-US" sz="1200" b="0" i="0" u="none" strike="noStrike">
                          <a:solidFill>
                            <a:srgbClr val="000000"/>
                          </a:solidFill>
                          <a:effectLst/>
                          <a:latin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1872893"/>
                  </a:ext>
                </a:extLst>
              </a:tr>
              <a:tr h="393095">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888228785"/>
                  </a:ext>
                </a:extLst>
              </a:tr>
            </a:tbl>
          </a:graphicData>
        </a:graphic>
      </p:graphicFrame>
    </p:spTree>
    <p:extLst>
      <p:ext uri="{BB962C8B-B14F-4D97-AF65-F5344CB8AC3E}">
        <p14:creationId xmlns:p14="http://schemas.microsoft.com/office/powerpoint/2010/main" val="14791255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fld id="{6C6B6B8D-D74E-47CD-B5EE-156060B7CD17}" type="slidenum">
              <a:rPr lang="en-US" sz="1100" smtClean="0"/>
              <a:pPr/>
              <a:t>48</a:t>
            </a:fld>
            <a:endParaRPr lang="en-US" sz="1100" dirty="0"/>
          </a:p>
        </p:txBody>
      </p:sp>
      <p:sp>
        <p:nvSpPr>
          <p:cNvPr id="21" name="TextBox 20"/>
          <p:cNvSpPr txBox="1"/>
          <p:nvPr/>
        </p:nvSpPr>
        <p:spPr>
          <a:xfrm>
            <a:off x="7070" y="39402"/>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14</a:t>
            </a:r>
            <a:endParaRPr lang="vi-VN" sz="2700" dirty="0"/>
          </a:p>
        </p:txBody>
      </p:sp>
      <p:sp>
        <p:nvSpPr>
          <p:cNvPr id="22" name="TextBox 21"/>
          <p:cNvSpPr txBox="1"/>
          <p:nvPr/>
        </p:nvSpPr>
        <p:spPr>
          <a:xfrm>
            <a:off x="365448" y="4607004"/>
            <a:ext cx="11674151" cy="2616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365449" y="1752600"/>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65449" y="990600"/>
            <a:ext cx="11674150" cy="483209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a:t>
            </a:r>
            <a:r>
              <a:rPr lang="en-US" sz="1400" b="1" dirty="0" err="1">
                <a:latin typeface="Times New Roman" panose="02020603050405020304" pitchFamily="18" charset="0"/>
                <a:cs typeface="Times New Roman" panose="02020603050405020304" pitchFamily="18" charset="0"/>
              </a:rPr>
              <a:t>ảnh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hưởng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dịch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vụ</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14: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220 (</a:t>
            </a:r>
            <a:r>
              <a:rPr lang="en-US" sz="1400" dirty="0" err="1">
                <a:latin typeface="Times New Roman" panose="02020603050405020304" pitchFamily="18" charset="0"/>
                <a:cs typeface="Times New Roman" panose="02020603050405020304" pitchFamily="18" charset="0"/>
              </a:rPr>
              <a:t>giảm</a:t>
            </a:r>
            <a:r>
              <a:rPr lang="en-US" sz="1400" dirty="0">
                <a:latin typeface="Times New Roman" panose="02020603050405020304" pitchFamily="18" charset="0"/>
                <a:cs typeface="Times New Roman" panose="02020603050405020304" pitchFamily="18" charset="0"/>
              </a:rPr>
              <a:t> 3%), </a:t>
            </a:r>
            <a:r>
              <a:rPr lang="en-US" sz="1400" dirty="0" err="1">
                <a:latin typeface="Times New Roman" panose="02020603050405020304" pitchFamily="18" charset="0"/>
                <a:cs typeface="Times New Roman" panose="02020603050405020304" pitchFamily="18" charset="0"/>
              </a:rPr>
              <a:t>khắc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86 ADD =&gt; </a:t>
            </a:r>
            <a:r>
              <a:rPr lang="en-US" sz="1400" dirty="0" err="1">
                <a:latin typeface="Times New Roman" panose="02020603050405020304" pitchFamily="18" charset="0"/>
                <a:cs typeface="Times New Roman" panose="02020603050405020304" pitchFamily="18" charset="0"/>
              </a:rPr>
              <a:t>tồn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134ADD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bằng</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với</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13).</a:t>
            </a:r>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14</a:t>
            </a:r>
          </a:p>
          <a:p>
            <a:pPr marL="285750" indent="-285750">
              <a:buFontTx/>
              <a:buChar char="-"/>
            </a:pPr>
            <a:r>
              <a:rPr lang="en-US" sz="1400" b="1" dirty="0">
                <a:latin typeface="Times New Roman" panose="02020603050405020304" pitchFamily="18" charset="0"/>
                <a:cs typeface="Times New Roman" panose="02020603050405020304" pitchFamily="18" charset="0"/>
              </a:rPr>
              <a:t>Ghế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01,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01,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00.</a:t>
            </a:r>
          </a:p>
          <a:p>
            <a:pPr marL="285750" indent="-285750">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10,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07,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03</a:t>
            </a:r>
            <a:r>
              <a:rPr lang="en-US" sz="1400" dirty="0">
                <a:solidFill>
                  <a:schemeClr val="tx1"/>
                </a:solidFill>
                <a:latin typeface="Times New Roman" panose="02020603050405020304" pitchFamily="18" charset="0"/>
                <a:cs typeface="Times New Roman" panose="02020603050405020304" pitchFamily="18" charset="0"/>
              </a:rPr>
              <a:t>.</a:t>
            </a:r>
          </a:p>
          <a:p>
            <a:endParaRPr lang="en-US" sz="1400" dirty="0">
              <a:solidFill>
                <a:schemeClr val="tx1"/>
              </a:solidFill>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2</a:t>
            </a:r>
            <a:r>
              <a:rPr lang="en-US" sz="1400" b="1" dirty="0">
                <a:solidFill>
                  <a:schemeClr val="tx1"/>
                </a:solidFill>
                <a:latin typeface="Times New Roman" panose="02020603050405020304" pitchFamily="18" charset="0"/>
                <a:cs typeface="Times New Roman" panose="02020603050405020304" pitchFamily="18" charset="0"/>
              </a:rPr>
              <a:t>992</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132 </a:t>
            </a:r>
            <a:r>
              <a:rPr lang="en-US" sz="1400" b="1" dirty="0">
                <a:latin typeface="Times New Roman" panose="02020603050405020304" pitchFamily="18" charset="0"/>
                <a:cs typeface="Times New Roman" panose="02020603050405020304" pitchFamily="18" charset="0"/>
              </a:rPr>
              <a:t>SVDU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110 INOP SVDU). </a:t>
            </a:r>
            <a:r>
              <a:rPr lang="en-US" sz="1400" dirty="0" err="1">
                <a:solidFill>
                  <a:srgbClr val="FF0000"/>
                </a:solidFill>
                <a:latin typeface="Times New Roman" panose="02020603050405020304" pitchFamily="18" charset="0"/>
                <a:cs typeface="Times New Roman" panose="02020603050405020304" pitchFamily="18" charset="0"/>
              </a:rPr>
              <a:t>Trong</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tuần</a:t>
            </a:r>
            <a:r>
              <a:rPr lang="en-US" sz="1400" dirty="0">
                <a:solidFill>
                  <a:srgbClr val="FF0000"/>
                </a:solidFill>
                <a:latin typeface="Times New Roman" panose="02020603050405020304" pitchFamily="18" charset="0"/>
                <a:cs typeface="Times New Roman" panose="02020603050405020304" pitchFamily="18" charset="0"/>
              </a:rPr>
              <a:t> 12: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mới</a:t>
            </a:r>
            <a:r>
              <a:rPr lang="en-US" sz="1400" dirty="0">
                <a:solidFill>
                  <a:srgbClr val="FF0000"/>
                </a:solidFill>
                <a:latin typeface="Times New Roman" panose="02020603050405020304" pitchFamily="18" charset="0"/>
                <a:cs typeface="Times New Roman" panose="02020603050405020304" pitchFamily="18" charset="0"/>
              </a:rPr>
              <a:t> 05 </a:t>
            </a:r>
            <a:r>
              <a:rPr lang="en-US" sz="1400" dirty="0" err="1">
                <a:solidFill>
                  <a:srgbClr val="FF0000"/>
                </a:solidFill>
                <a:latin typeface="Times New Roman" panose="02020603050405020304" pitchFamily="18" charset="0"/>
                <a:cs typeface="Times New Roman" panose="02020603050405020304" pitchFamily="18" charset="0"/>
              </a:rPr>
              <a:t>ea</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75ea</a:t>
            </a:r>
            <a:r>
              <a:rPr lang="en-US" sz="1400" dirty="0">
                <a:solidFill>
                  <a:schemeClr val="tx1"/>
                </a:solidFill>
                <a:latin typeface="Times New Roman" panose="02020603050405020304" pitchFamily="18" charset="0"/>
                <a:cs typeface="Times New Roman" panose="02020603050405020304" pitchFamily="18" charset="0"/>
              </a:rPr>
              <a:t>. </a:t>
            </a:r>
            <a:endParaRPr lang="en-GB" sz="1400" dirty="0">
              <a:solidFill>
                <a:schemeClr val="tx1"/>
              </a:solidFill>
              <a:latin typeface="Times New Roman" panose="02020603050405020304" pitchFamily="18" charset="0"/>
              <a:cs typeface="Times New Roman" panose="02020603050405020304" pitchFamily="18" charset="0"/>
            </a:endParaRPr>
          </a:p>
          <a:p>
            <a:pPr marL="285750" indent="-285750">
              <a:buFontTx/>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hóc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đội</a:t>
            </a:r>
            <a:r>
              <a:rPr lang="en-US" sz="1400" b="1" dirty="0">
                <a:latin typeface="Times New Roman" panose="02020603050405020304" pitchFamily="18" charset="0"/>
                <a:cs typeface="Times New Roman" panose="02020603050405020304" pitchFamily="18" charset="0"/>
              </a:rPr>
              <a:t> bay A350: </a:t>
            </a:r>
            <a:r>
              <a:rPr lang="en-US" sz="1400" b="1" dirty="0" err="1">
                <a:latin typeface="Times New Roman" panose="02020603050405020304" pitchFamily="18" charset="0"/>
                <a:cs typeface="Times New Roman" panose="02020603050405020304" pitchFamily="18" charset="0"/>
              </a:rPr>
              <a:t>đã</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được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khắc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phục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và</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kiểm</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soát</a:t>
            </a:r>
            <a:endParaRPr lang="en-US" sz="1400" b="1" dirty="0">
              <a:latin typeface="Times New Roman" panose="02020603050405020304" pitchFamily="18" charset="0"/>
              <a:cs typeface="Times New Roman" panose="02020603050405020304" pitchFamily="18" charset="0"/>
            </a:endParaRPr>
          </a:p>
          <a:p>
            <a:pPr marL="285750" indent="-285750">
              <a:buFontTx/>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hóc</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tồn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đọng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tập</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trung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đội</a:t>
            </a:r>
            <a:r>
              <a:rPr lang="en-US" sz="1400" b="1" dirty="0">
                <a:latin typeface="Times New Roman" panose="02020603050405020304" pitchFamily="18" charset="0"/>
                <a:cs typeface="Times New Roman" panose="02020603050405020304" pitchFamily="18" charset="0"/>
              </a:rPr>
              <a:t> bay B787, </a:t>
            </a:r>
            <a:r>
              <a:rPr lang="en-US" sz="1400" b="1" dirty="0" err="1">
                <a:latin typeface="Times New Roman" panose="02020603050405020304" pitchFamily="18" charset="0"/>
                <a:cs typeface="Times New Roman" panose="02020603050405020304" pitchFamily="18" charset="0"/>
              </a:rPr>
              <a:t>số</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lượng</a:t>
            </a:r>
            <a:r>
              <a:rPr lang="en-US" sz="1400" b="1" dirty="0">
                <a:latin typeface="Times New Roman" panose="02020603050405020304" pitchFamily="18" charset="0"/>
                <a:cs typeface="Times New Roman" panose="02020603050405020304" pitchFamily="18" charset="0"/>
              </a:rPr>
              <a:t> quay </a:t>
            </a:r>
            <a:r>
              <a:rPr lang="en-US" sz="1400" b="1" dirty="0" err="1">
                <a:latin typeface="Times New Roman" panose="02020603050405020304" pitchFamily="18" charset="0"/>
                <a:cs typeface="Times New Roman" panose="02020603050405020304" pitchFamily="18" charset="0"/>
              </a:rPr>
              <a:t>vòng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ít</a:t>
            </a:r>
            <a:r>
              <a:rPr lang="en-US" sz="1400" b="1" dirty="0">
                <a:latin typeface="Times New Roman" panose="02020603050405020304" pitchFamily="18" charset="0"/>
                <a:cs typeface="Times New Roman" panose="02020603050405020304" pitchFamily="18" charset="0"/>
              </a:rPr>
              <a:t> (80ea). =&gt; Thales </a:t>
            </a:r>
            <a:r>
              <a:rPr lang="en-US" sz="1400" b="1" dirty="0" err="1">
                <a:latin typeface="Times New Roman" panose="02020603050405020304" pitchFamily="18" charset="0"/>
                <a:cs typeface="Times New Roman" panose="02020603050405020304" pitchFamily="18" charset="0"/>
              </a:rPr>
              <a:t>đã</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bổ</a:t>
            </a:r>
            <a:r>
              <a:rPr lang="en-US" sz="1400" b="1" dirty="0">
                <a:latin typeface="Times New Roman" panose="02020603050405020304" pitchFamily="18" charset="0"/>
                <a:cs typeface="Times New Roman" panose="02020603050405020304" pitchFamily="18" charset="0"/>
              </a:rPr>
              <a:t> sung 30 SVDU quay </a:t>
            </a:r>
            <a:r>
              <a:rPr lang="en-US" sz="1400" b="1" dirty="0" err="1">
                <a:latin typeface="Times New Roman" panose="02020603050405020304" pitchFamily="18" charset="0"/>
                <a:cs typeface="Times New Roman" panose="02020603050405020304" pitchFamily="18" charset="0"/>
              </a:rPr>
              <a:t>vòng</a:t>
            </a:r>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LAV:</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Toilet </a:t>
            </a:r>
            <a:r>
              <a:rPr lang="en-US" sz="1400" b="1" dirty="0" err="1">
                <a:solidFill>
                  <a:schemeClr val="tx1"/>
                </a:solidFill>
                <a:latin typeface="Times New Roman" panose="02020603050405020304" pitchFamily="18" charset="0"/>
                <a:cs typeface="Times New Roman" panose="02020603050405020304" pitchFamily="18" charset="0"/>
              </a:rPr>
              <a:t>Assy</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Faucet </a:t>
            </a:r>
            <a:r>
              <a:rPr lang="en-US" sz="1400" b="1" dirty="0" err="1">
                <a:solidFill>
                  <a:schemeClr val="tx1"/>
                </a:solidFill>
                <a:latin typeface="Times New Roman" panose="02020603050405020304" pitchFamily="18" charset="0"/>
                <a:cs typeface="Times New Roman" panose="02020603050405020304" pitchFamily="18" charset="0"/>
              </a:rPr>
              <a:t>Assy</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a:p>
            <a:endParaRPr lang="en-US" sz="1400" dirty="0">
              <a:solidFill>
                <a:schemeClr val="tx1"/>
              </a:solidFill>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Galley:</a:t>
            </a:r>
          </a:p>
          <a:p>
            <a:pPr marL="285750" indent="-285750">
              <a:buFontTx/>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hóc</a:t>
            </a:r>
            <a:r>
              <a:rPr lang="en-US" sz="1400" b="1" dirty="0">
                <a:latin typeface="Times New Roman" panose="02020603050405020304" pitchFamily="18" charset="0"/>
                <a:cs typeface="Times New Roman" panose="02020603050405020304" pitchFamily="18" charset="0"/>
              </a:rPr>
              <a:t>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10a,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09 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buClr>
                <a:srgbClr val="000000"/>
              </a:buClr>
              <a:buSzPts val="1300"/>
              <a:buFont typeface="Arial" panose="020B0604020202020204" pitchFamily="34" charset="0"/>
              <a:buChar char="•"/>
            </a:pPr>
            <a:r>
              <a:rPr lang="vi-VN" sz="1400" dirty="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04</a:t>
            </a:r>
            <a:r>
              <a:rPr lang="vi-VN" sz="1400" dirty="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buClr>
                <a:srgbClr val="000000"/>
              </a:buClr>
              <a:buSzPts val="1300"/>
              <a:buFont typeface="Arial" panose="020B0604020202020204" pitchFamily="34" charset="0"/>
              <a:buChar char="•"/>
            </a:pPr>
            <a:r>
              <a:rPr lang="vi-VN" sz="1400" dirty="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05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cs typeface="Times New Roman" panose="02020603050405020304" pitchFamily="18" charset="0"/>
              </a:rPr>
              <a:t>chưa có EDD</a:t>
            </a:r>
            <a:endParaRPr lang="en-US" sz="1400" dirty="0">
              <a:latin typeface="Times New Roman"/>
              <a:cs typeface="Times New Roman"/>
              <a:sym typeface="Times New Roman"/>
            </a:endParaRPr>
          </a:p>
          <a:p>
            <a:pPr marL="285750" indent="-285750">
              <a:buClr>
                <a:srgbClr val="000000"/>
              </a:buClr>
              <a:buSzPts val="1300"/>
              <a:buFont typeface="Times New Roman" panose="02020603050405020304" pitchFamily="18" charset="0"/>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hóc</a:t>
            </a:r>
            <a:r>
              <a:rPr lang="en-US" sz="1400" b="1" dirty="0">
                <a:latin typeface="Times New Roman" panose="02020603050405020304" pitchFamily="18" charset="0"/>
                <a:cs typeface="Times New Roman" panose="02020603050405020304" pitchFamily="18" charset="0"/>
              </a:rPr>
              <a:t> oven: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14ea,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07ea,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07ea </a:t>
            </a:r>
            <a:r>
              <a:rPr lang="en-US" sz="1400" b="1" dirty="0">
                <a:solidFill>
                  <a:schemeClr val="tx1"/>
                </a:solidFill>
                <a:latin typeface="Times New Roman" panose="02020603050405020304" pitchFamily="18" charset="0"/>
                <a:cs typeface="Times New Roman" panose="02020603050405020304" pitchFamily="18" charset="0"/>
              </a:rPr>
              <a:t>(Oven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 </a:t>
            </a:r>
            <a:r>
              <a:rPr lang="en-US" sz="1400" b="1" dirty="0" err="1">
                <a:solidFill>
                  <a:schemeClr val="tx1"/>
                </a:solidFill>
                <a:latin typeface="Times New Roman" panose="02020603050405020304" pitchFamily="18" charset="0"/>
                <a:cs typeface="Times New Roman" panose="02020603050405020304" pitchFamily="18" charset="0"/>
              </a:rPr>
              <a:t>hỏng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nhiều</a:t>
            </a:r>
            <a:r>
              <a:rPr lang="en-US" sz="1400" b="1" dirty="0">
                <a:solidFill>
                  <a:schemeClr val="tx1"/>
                </a:solidFill>
                <a:latin typeface="Times New Roman" panose="02020603050405020304" pitchFamily="18" charset="0"/>
                <a:cs typeface="Times New Roman" panose="02020603050405020304" pitchFamily="18" charset="0"/>
              </a:rPr>
              <a:t>, obsolete =&gt;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Safran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phương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án</a:t>
            </a:r>
            <a:r>
              <a:rPr lang="en-US" sz="1400" b="1" dirty="0">
                <a:solidFill>
                  <a:schemeClr val="tx1"/>
                </a:solidFill>
                <a:latin typeface="Times New Roman" panose="02020603050405020304" pitchFamily="18" charset="0"/>
                <a:cs typeface="Times New Roman" panose="02020603050405020304" pitchFamily="18" charset="0"/>
              </a:rPr>
              <a:t> retrofit)</a:t>
            </a:r>
          </a:p>
          <a:p>
            <a:pPr marL="285750" indent="-285750">
              <a:buClr>
                <a:srgbClr val="000000"/>
              </a:buClr>
              <a:buSzPts val="1300"/>
              <a:buFont typeface="Times New Roman" panose="02020603050405020304" pitchFamily="18" charset="0"/>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24ea,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endParaRPr lang="en-US"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6836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dirty="0"/>
              <a:t>Công tác phối hợp DVHK kiểm tra nội thất khoang C</a:t>
            </a:r>
          </a:p>
        </p:txBody>
      </p:sp>
      <p:sp>
        <p:nvSpPr>
          <p:cNvPr id="3" name="Content Placeholder 2"/>
          <p:cNvSpPr>
            <a:spLocks noGrp="1"/>
          </p:cNvSpPr>
          <p:nvPr>
            <p:ph sz="half" idx="1"/>
          </p:nvPr>
        </p:nvSpPr>
        <p:spPr/>
        <p:txBody>
          <a:bodyPr>
            <a:noAutofit/>
          </a:bodyPr>
          <a:lstStyle/>
          <a:p>
            <a:pPr marL="0" lvl="1" indent="0">
              <a:lnSpc>
                <a:spcPct val="130000"/>
              </a:lnSpc>
              <a:buNone/>
            </a:pPr>
            <a:r>
              <a:rPr lang="vi-VN" sz="1600" dirty="0">
                <a:cs typeface="Times New Roman" panose="02020603050405020304" pitchFamily="18" charset="0"/>
              </a:rPr>
              <a:t>Đã thực hiện kiểm tra 60 tàu:</a:t>
            </a:r>
          </a:p>
          <a:p>
            <a:pPr marL="0" lvl="1" indent="0">
              <a:lnSpc>
                <a:spcPct val="130000"/>
              </a:lnSpc>
              <a:buNone/>
            </a:pPr>
            <a:r>
              <a:rPr lang="vi-VN" sz="1600" dirty="0">
                <a:cs typeface="Times New Roman" panose="02020603050405020304" pitchFamily="18" charset="0"/>
              </a:rPr>
              <a:t>1. Công tác vệ sinh:</a:t>
            </a:r>
          </a:p>
          <a:p>
            <a:pPr marL="176213" lvl="1">
              <a:lnSpc>
                <a:spcPct val="130000"/>
              </a:lnSpc>
              <a:buFontTx/>
              <a:buChar char="-"/>
            </a:pPr>
            <a:r>
              <a:rPr lang="vi-VN" sz="1600" dirty="0">
                <a:cs typeface="Times New Roman" panose="02020603050405020304" pitchFamily="18" charset="0"/>
              </a:rPr>
              <a:t>Cần vệ sinh kỹ khu vực ghế, bàn ăn, vách, khoang hành lý</a:t>
            </a:r>
          </a:p>
          <a:p>
            <a:pPr marL="176213" lvl="1">
              <a:lnSpc>
                <a:spcPct val="130000"/>
              </a:lnSpc>
              <a:buFontTx/>
              <a:buChar char="-"/>
            </a:pPr>
            <a:r>
              <a:rPr lang="vi-VN" sz="1600" dirty="0">
                <a:cs typeface="Times New Roman" panose="02020603050405020304" pitchFamily="18" charset="0"/>
              </a:rPr>
              <a:t>A350 Air filter ở lavatory &amp; galley đóng bụi cần đưa vào vệ sinh khi thực hiện A Check</a:t>
            </a:r>
          </a:p>
          <a:p>
            <a:pPr marL="0" lvl="1" indent="0">
              <a:lnSpc>
                <a:spcPct val="130000"/>
              </a:lnSpc>
              <a:buNone/>
            </a:pPr>
            <a:r>
              <a:rPr lang="vi-VN" sz="1600" dirty="0">
                <a:cs typeface="Times New Roman" panose="02020603050405020304" pitchFamily="18" charset="0"/>
              </a:rPr>
              <a:t>2. Các vấn đề tồn tại</a:t>
            </a:r>
          </a:p>
          <a:p>
            <a:pPr marL="176213" lvl="1">
              <a:lnSpc>
                <a:spcPct val="130000"/>
              </a:lnSpc>
              <a:buFontTx/>
              <a:buChar char="-"/>
            </a:pPr>
            <a:r>
              <a:rPr lang="vi-VN" sz="1600" dirty="0">
                <a:cs typeface="Times New Roman" panose="02020603050405020304" pitchFamily="18" charset="0"/>
              </a:rPr>
              <a:t>Da khoang C (A350, B787): lão hóa, sờn, mất nếp</a:t>
            </a:r>
          </a:p>
          <a:p>
            <a:pPr marL="176213" lvl="1">
              <a:lnSpc>
                <a:spcPct val="130000"/>
              </a:lnSpc>
              <a:buFontTx/>
              <a:buChar char="-"/>
            </a:pPr>
            <a:r>
              <a:rPr lang="vi-VN" sz="1600" dirty="0">
                <a:cs typeface="Times New Roman" panose="02020603050405020304" pitchFamily="18" charset="0"/>
              </a:rPr>
              <a:t>Ghế tiếp viên: sờn da, xẹp đệm</a:t>
            </a:r>
          </a:p>
          <a:p>
            <a:pPr marL="176213" lvl="1">
              <a:lnSpc>
                <a:spcPct val="130000"/>
              </a:lnSpc>
              <a:buFontTx/>
              <a:buChar char="-"/>
            </a:pPr>
            <a:r>
              <a:rPr lang="vi-VN" sz="1600" dirty="0">
                <a:cs typeface="Times New Roman" panose="02020603050405020304" pitchFamily="18" charset="0"/>
              </a:rPr>
              <a:t>Airbag Seatbelt: mòn, sờn</a:t>
            </a:r>
          </a:p>
          <a:p>
            <a:pPr marL="176213" lvl="1">
              <a:lnSpc>
                <a:spcPct val="130000"/>
              </a:lnSpc>
              <a:buFontTx/>
              <a:buChar char="-"/>
            </a:pPr>
            <a:r>
              <a:rPr lang="vi-VN" sz="1600" dirty="0">
                <a:cs typeface="Times New Roman" panose="02020603050405020304" pitchFamily="18" charset="0"/>
              </a:rPr>
              <a:t>Toilet Shroud Cover: bong tróc, ố vàng</a:t>
            </a:r>
          </a:p>
          <a:p>
            <a:pPr marL="176213" lvl="1">
              <a:lnSpc>
                <a:spcPct val="130000"/>
              </a:lnSpc>
              <a:buFontTx/>
              <a:buChar char="-"/>
            </a:pPr>
            <a:r>
              <a:rPr lang="vi-VN" sz="1600" dirty="0">
                <a:cs typeface="Times New Roman" panose="02020603050405020304" pitchFamily="18" charset="0"/>
              </a:rPr>
              <a:t>Toilet bowl: bong tróc lớp Teflon (A350, B787)</a:t>
            </a:r>
          </a:p>
          <a:p>
            <a:pPr marL="176213" lvl="1">
              <a:lnSpc>
                <a:spcPct val="130000"/>
              </a:lnSpc>
              <a:buFontTx/>
              <a:buChar char="-"/>
            </a:pPr>
            <a:r>
              <a:rPr lang="vi-VN" sz="1600" dirty="0">
                <a:cs typeface="Times New Roman" panose="02020603050405020304" pitchFamily="18" charset="0"/>
              </a:rPr>
              <a:t>Placard: cần thay (khoang C, lavatory – tàu thân rộng)</a:t>
            </a:r>
          </a:p>
        </p:txBody>
      </p:sp>
      <p:sp>
        <p:nvSpPr>
          <p:cNvPr id="5" name="Slide Number Placeholder 4"/>
          <p:cNvSpPr>
            <a:spLocks noGrp="1"/>
          </p:cNvSpPr>
          <p:nvPr>
            <p:ph type="sldNum" sz="quarter" idx="12"/>
          </p:nvPr>
        </p:nvSpPr>
        <p:spPr/>
        <p:txBody>
          <a:bodyPr/>
          <a:lstStyle/>
          <a:p>
            <a:fld id="{6C6B6B8D-D74E-47CD-B5EE-156060B7CD17}" type="slidenum">
              <a:rPr lang="en-US" smtClean="0"/>
              <a:pPr/>
              <a:t>49</a:t>
            </a:fld>
            <a:endParaRPr lang="en-US" dirty="0"/>
          </a:p>
        </p:txBody>
      </p:sp>
      <p:pic>
        <p:nvPicPr>
          <p:cNvPr id="8" name="Picture 7" descr="C:\Users\Admin\AppData\Local\Microsoft\Windows\INetCache\Content.Word\IMG_745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8400" y="1029527"/>
            <a:ext cx="2057400" cy="2505075"/>
          </a:xfrm>
          <a:prstGeom prst="rect">
            <a:avLst/>
          </a:prstGeom>
          <a:noFill/>
          <a:ln>
            <a:noFill/>
          </a:ln>
        </p:spPr>
      </p:pic>
      <p:pic>
        <p:nvPicPr>
          <p:cNvPr id="1028" name="Picture 4" descr="IMG_73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12458" y="1215395"/>
            <a:ext cx="2050425" cy="2066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descr="IMG_730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12869" y="3502612"/>
            <a:ext cx="2490105" cy="186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6" descr="IMG_738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5420" y="3544330"/>
            <a:ext cx="1821776" cy="3083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7" descr="IMG_739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67421" y="3544330"/>
            <a:ext cx="1546062" cy="2599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77722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50</a:t>
            </a:fld>
            <a:endParaRPr lang="en-US"/>
          </a:p>
        </p:txBody>
      </p:sp>
      <p:sp>
        <p:nvSpPr>
          <p:cNvPr id="5" name="Title 4"/>
          <p:cNvSpPr>
            <a:spLocks noGrp="1"/>
          </p:cNvSpPr>
          <p:nvPr>
            <p:ph type="title"/>
          </p:nvPr>
        </p:nvSpPr>
        <p:spPr>
          <a:xfrm>
            <a:off x="228600" y="2286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3" name="Chart 2">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2418156463"/>
              </p:ext>
            </p:extLst>
          </p:nvPr>
        </p:nvGraphicFramePr>
        <p:xfrm>
          <a:off x="3719933" y="923807"/>
          <a:ext cx="4343400" cy="24710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5">
            <a:extLst>
              <a:ext uri="{FF2B5EF4-FFF2-40B4-BE49-F238E27FC236}">
                <a16:creationId xmlns:a16="http://schemas.microsoft.com/office/drawing/2014/main" id="{26462B1B-98EB-BF7D-FE1D-D12E870A5ADF}"/>
              </a:ext>
            </a:extLst>
          </p:cNvPr>
          <p:cNvGraphicFramePr>
            <a:graphicFrameLocks noGrp="1"/>
          </p:cNvGraphicFramePr>
          <p:nvPr>
            <p:extLst>
              <p:ext uri="{D42A27DB-BD31-4B8C-83A1-F6EECF244321}">
                <p14:modId xmlns:p14="http://schemas.microsoft.com/office/powerpoint/2010/main" val="3592535993"/>
              </p:ext>
            </p:extLst>
          </p:nvPr>
        </p:nvGraphicFramePr>
        <p:xfrm>
          <a:off x="838200" y="3478877"/>
          <a:ext cx="10744200" cy="2233895"/>
        </p:xfrm>
        <a:graphic>
          <a:graphicData uri="http://schemas.openxmlformats.org/drawingml/2006/table">
            <a:tbl>
              <a:tblPr/>
              <a:tblGrid>
                <a:gridCol w="197641">
                  <a:extLst>
                    <a:ext uri="{9D8B030D-6E8A-4147-A177-3AD203B41FA5}">
                      <a16:colId xmlns:a16="http://schemas.microsoft.com/office/drawing/2014/main" val="4233291189"/>
                    </a:ext>
                  </a:extLst>
                </a:gridCol>
                <a:gridCol w="1257721">
                  <a:extLst>
                    <a:ext uri="{9D8B030D-6E8A-4147-A177-3AD203B41FA5}">
                      <a16:colId xmlns:a16="http://schemas.microsoft.com/office/drawing/2014/main" val="1851441935"/>
                    </a:ext>
                  </a:extLst>
                </a:gridCol>
                <a:gridCol w="401273">
                  <a:extLst>
                    <a:ext uri="{9D8B030D-6E8A-4147-A177-3AD203B41FA5}">
                      <a16:colId xmlns:a16="http://schemas.microsoft.com/office/drawing/2014/main" val="4049386686"/>
                    </a:ext>
                  </a:extLst>
                </a:gridCol>
                <a:gridCol w="347371">
                  <a:extLst>
                    <a:ext uri="{9D8B030D-6E8A-4147-A177-3AD203B41FA5}">
                      <a16:colId xmlns:a16="http://schemas.microsoft.com/office/drawing/2014/main" val="3091872846"/>
                    </a:ext>
                  </a:extLst>
                </a:gridCol>
                <a:gridCol w="5192364">
                  <a:extLst>
                    <a:ext uri="{9D8B030D-6E8A-4147-A177-3AD203B41FA5}">
                      <a16:colId xmlns:a16="http://schemas.microsoft.com/office/drawing/2014/main" val="2782008459"/>
                    </a:ext>
                  </a:extLst>
                </a:gridCol>
                <a:gridCol w="700709">
                  <a:extLst>
                    <a:ext uri="{9D8B030D-6E8A-4147-A177-3AD203B41FA5}">
                      <a16:colId xmlns:a16="http://schemas.microsoft.com/office/drawing/2014/main" val="4039382669"/>
                    </a:ext>
                  </a:extLst>
                </a:gridCol>
                <a:gridCol w="890138">
                  <a:extLst>
                    <a:ext uri="{9D8B030D-6E8A-4147-A177-3AD203B41FA5}">
                      <a16:colId xmlns:a16="http://schemas.microsoft.com/office/drawing/2014/main" val="2031735630"/>
                    </a:ext>
                  </a:extLst>
                </a:gridCol>
                <a:gridCol w="1415602">
                  <a:extLst>
                    <a:ext uri="{9D8B030D-6E8A-4147-A177-3AD203B41FA5}">
                      <a16:colId xmlns:a16="http://schemas.microsoft.com/office/drawing/2014/main" val="3967621043"/>
                    </a:ext>
                  </a:extLst>
                </a:gridCol>
                <a:gridCol w="341381">
                  <a:extLst>
                    <a:ext uri="{9D8B030D-6E8A-4147-A177-3AD203B41FA5}">
                      <a16:colId xmlns:a16="http://schemas.microsoft.com/office/drawing/2014/main" val="2601573140"/>
                    </a:ext>
                  </a:extLst>
                </a:gridCol>
              </a:tblGrid>
              <a:tr h="258558">
                <a:tc gridSpan="9">
                  <a:txBody>
                    <a:bodyPr/>
                    <a:lstStyle/>
                    <a:p>
                      <a:pPr algn="ctr" fontAlgn="ctr"/>
                      <a:r>
                        <a:rPr lang="vi-VN" sz="1200" b="1" i="0" u="none" strike="noStrike">
                          <a:solidFill>
                            <a:srgbClr val="000000"/>
                          </a:solidFill>
                          <a:effectLst/>
                          <a:latin typeface="Times New Roman" panose="02020603050405020304" pitchFamily="18" charset="0"/>
                        </a:rPr>
                        <a:t>BẢNG TỔNG HỢP VÀ THEO DÕI NHÂN NHƯỢNG - VIETNAM AIRLINES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52136572"/>
                  </a:ext>
                </a:extLst>
              </a:tr>
              <a:tr h="258558">
                <a:tc>
                  <a:txBody>
                    <a:bodyPr/>
                    <a:lstStyle/>
                    <a:p>
                      <a:pPr algn="ctr" fontAlgn="ctr"/>
                      <a:r>
                        <a:rPr lang="en-US" sz="1200" b="1" i="0" u="none" strike="noStrike">
                          <a:solidFill>
                            <a:srgbClr val="000000"/>
                          </a:solidFill>
                          <a:effectLst/>
                          <a:latin typeface="Times New Roman" panose="02020603050405020304" pitchFamily="18" charset="0"/>
                        </a:rPr>
                        <a:t>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Concession 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Type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Reg</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Description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By</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ADD/CHK/Task 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Status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2364888"/>
                  </a:ext>
                </a:extLst>
              </a:tr>
              <a:tr h="496802">
                <a:tc>
                  <a:txBody>
                    <a:bodyPr/>
                    <a:lstStyle/>
                    <a:p>
                      <a:pPr algn="ctr" fontAlgn="ctr"/>
                      <a:r>
                        <a:rPr lang="en-US" sz="1200" b="0" i="0" u="none" strike="noStrike">
                          <a:solidFill>
                            <a:srgbClr val="000000"/>
                          </a:solidFill>
                          <a:effectLst/>
                          <a:latin typeface="Times New Roman" panose="02020603050405020304" pitchFamily="18" charset="0"/>
                        </a:rPr>
                        <a:t>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HVN-VN-A861-03April25-2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Other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A861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SG" sz="1200" b="0" i="0" u="none" strike="noStrike">
                          <a:solidFill>
                            <a:srgbClr val="000000"/>
                          </a:solidFill>
                          <a:effectLst/>
                          <a:latin typeface="Times New Roman" panose="02020603050405020304" pitchFamily="18" charset="0"/>
                        </a:rPr>
                        <a:t>HVN submits the variation request to CAAV to extend the AMP Task 38-VNA-20 for 500 FH more up to 38000 FH due to lack of resources.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CAAV</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03/04/2025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38-VNA-20</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83414388"/>
                  </a:ext>
                </a:extLst>
              </a:tr>
              <a:tr h="496802">
                <a:tc>
                  <a:txBody>
                    <a:bodyPr/>
                    <a:lstStyle/>
                    <a:p>
                      <a:pPr algn="ctr" fontAlgn="ctr"/>
                      <a:r>
                        <a:rPr lang="en-US" sz="1200" b="0" i="0" u="none" strike="noStrike">
                          <a:solidFill>
                            <a:srgbClr val="000000"/>
                          </a:solidFill>
                          <a:effectLst/>
                          <a:latin typeface="Times New Roman" panose="02020603050405020304" pitchFamily="18" charset="0"/>
                        </a:rPr>
                        <a:t>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873-05/25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CHECK</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A873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SG" sz="1200" b="0" i="0" u="none" strike="noStrike">
                          <a:solidFill>
                            <a:srgbClr val="000000"/>
                          </a:solidFill>
                          <a:effectLst/>
                          <a:latin typeface="Times New Roman" panose="02020603050405020304" pitchFamily="18" charset="0"/>
                        </a:rPr>
                        <a:t>Due to LACK OF RESOURCES, schedule of AMP group tasks for check A06 for VN-A861 needs to be extended. List of tasks attached except mandatory tasks: AD, CMR, AWL, LLP, SCI ALI, CD, CCL.</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01/04/2025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A01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7088035"/>
                  </a:ext>
                </a:extLst>
              </a:tr>
              <a:tr h="496802">
                <a:tc>
                  <a:txBody>
                    <a:bodyPr/>
                    <a:lstStyle/>
                    <a:p>
                      <a:pPr algn="ctr" fontAlgn="ctr"/>
                      <a:r>
                        <a:rPr lang="en-US" sz="1200" b="0" i="0" u="none" strike="noStrike">
                          <a:solidFill>
                            <a:srgbClr val="000000"/>
                          </a:solidFill>
                          <a:effectLst/>
                          <a:latin typeface="Times New Roman" panose="02020603050405020304" pitchFamily="18" charset="0"/>
                        </a:rPr>
                        <a:t>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861-02/2025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CHECK</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A861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SG" sz="1200" b="0" i="0" u="none" strike="noStrike">
                          <a:solidFill>
                            <a:srgbClr val="000000"/>
                          </a:solidFill>
                          <a:effectLst/>
                          <a:latin typeface="Times New Roman" panose="02020603050405020304" pitchFamily="18" charset="0"/>
                        </a:rPr>
                        <a:t>Due to LACK OF RESOURCES, schedule of AMP group tasks for check A06 for VN-A861 needs to be extended. List of tasks attached except mandatory tasks: AD, CMR, AWL, LLP, SCI ALI, CD, CCL</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01/04/2025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A06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1427233"/>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This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226:10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448:25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207:10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701:45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534:15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Next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219:25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439:10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211:15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745:00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789:40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227:20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nvGraphicFramePr>
        <p:xfrm>
          <a:off x="1059507" y="963846"/>
          <a:ext cx="10370491"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694288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Số chuyến bay theo ngày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01-Mar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02-Mar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A320</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a:solidFill>
                            <a:srgbClr val="000000"/>
                          </a:solidFill>
                          <a:effectLst/>
                          <a:latin typeface="Times New Roman" panose="02020603050405020304" pitchFamily="18" charset="0"/>
                        </a:rPr>
                        <a:t>Next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9-Apr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A320</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nvGraphicFramePr>
        <p:xfrm>
          <a:off x="925417" y="1143000"/>
          <a:ext cx="10521107" cy="21785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983707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nvGraphicFramePr>
        <p:xfrm>
          <a:off x="983673" y="1219200"/>
          <a:ext cx="10312938" cy="51054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088581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A339/SGN - BIRD STRIKE SUSPECT INTO CORE ENG #1. Chờ thay ENG1. EST SERV 7/4</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NIL</a:t>
            </a:r>
            <a:endParaRPr sz="150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Kh</a:t>
            </a:r>
            <a:r>
              <a:rPr lang="en-US" sz="1500" b="1">
                <a:solidFill>
                  <a:schemeClr val="dk1"/>
                </a:solidFill>
                <a:latin typeface="Times New Roman"/>
                <a:ea typeface="Times New Roman"/>
                <a:cs typeface="Times New Roman"/>
                <a:sym typeface="Times New Roman"/>
              </a:rPr>
              <a:t>ông có vướng mắc vật tư</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651975" y="1783963"/>
            <a:ext cx="8858250" cy="1457325"/>
          </a:xfrm>
          <a:prstGeom prst="rect">
            <a:avLst/>
          </a:prstGeom>
          <a:noFill/>
          <a:ln>
            <a:noFill/>
          </a:ln>
        </p:spPr>
      </p:pic>
      <p:pic>
        <p:nvPicPr>
          <p:cNvPr id="160" name="Google Shape;160;g31ccdae391d_0_248"/>
          <p:cNvPicPr preferRelativeResize="0"/>
          <p:nvPr/>
        </p:nvPicPr>
        <p:blipFill>
          <a:blip r:embed="rId4">
            <a:alphaModFix/>
          </a:blip>
          <a:stretch>
            <a:fillRect/>
          </a:stretch>
        </p:blipFill>
        <p:spPr>
          <a:xfrm>
            <a:off x="651975" y="3922825"/>
            <a:ext cx="11010157" cy="18866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7" name="Google Shape;167;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graphicFrame>
        <p:nvGraphicFramePr>
          <p:cNvPr id="168" name="Google Shape;168;g31ccdae391d_0_271"/>
          <p:cNvGraphicFramePr/>
          <p:nvPr/>
        </p:nvGraphicFramePr>
        <p:xfrm>
          <a:off x="489114" y="611396"/>
          <a:ext cx="11570675" cy="420320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NIL, đang giục RO (gửi VAECO)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NIL, đang giục RO (gửi VAECO)</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4ea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75" name="Google Shape;175;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graphicFrame>
        <p:nvGraphicFramePr>
          <p:cNvPr id="176" name="Google Shape;176;g31ccdae391d_0_278"/>
          <p:cNvGraphicFramePr/>
          <p:nvPr/>
        </p:nvGraphicFramePr>
        <p:xfrm>
          <a:off x="558675" y="462325"/>
          <a:ext cx="10287000" cy="6299034"/>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 không có stock, đã upgrade AOG nhưng chưa có dự kiến</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mới issue 1ea cho A606</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 2RO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83" name="Google Shape;183;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graphicFrame>
        <p:nvGraphicFramePr>
          <p:cNvPr id="184" name="Google Shape;184;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NIL</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và PO mua 3ea từ OEM Safran, Safran thông báo vật tư này bị global shortage nên đang thúc đẩy và release hàng cho VNA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1" name="Google Shape;191;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sp>
        <p:nvSpPr>
          <p:cNvPr id="192" name="Google Shape;192;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23</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36</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a:t>
            </a:r>
            <a:r>
              <a:rPr lang="en-US" sz="1500">
                <a:solidFill>
                  <a:schemeClr val="dk1"/>
                </a:solidFill>
                <a:latin typeface="Times New Roman"/>
                <a:ea typeface="Times New Roman"/>
                <a:cs typeface="Times New Roman"/>
                <a:sym typeface="Times New Roman"/>
              </a:rPr>
              <a:t>11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14</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12</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22</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93" name="Google Shape;193;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94" name="Google Shape;194;g31ccdae391d_0_299"/>
          <p:cNvPicPr preferRelativeResize="0"/>
          <p:nvPr/>
        </p:nvPicPr>
        <p:blipFill>
          <a:blip r:embed="rId3">
            <a:alphaModFix/>
          </a:blip>
          <a:stretch>
            <a:fillRect/>
          </a:stretch>
        </p:blipFill>
        <p:spPr>
          <a:xfrm>
            <a:off x="2105025" y="1740574"/>
            <a:ext cx="7472374" cy="45411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1" name="Google Shape;201;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graphicFrame>
        <p:nvGraphicFramePr>
          <p:cNvPr id="202" name="Google Shape;202;g31ccdae391d_0_308"/>
          <p:cNvGraphicFramePr/>
          <p:nvPr/>
        </p:nvGraphicFramePr>
        <p:xfrm>
          <a:off x="607288" y="787650"/>
          <a:ext cx="11227800" cy="457814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EDD 05/2025.</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+ 03ea chưa có EDD.</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vào shop tuần 15</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01ea in stock, 01ea chưa có EDD.</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02ea in stock.</a:t>
                      </a:r>
                      <a:endParaRPr sz="1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PO  EDD 27/05/2025.</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9" name="Google Shape;209;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sp>
        <p:nvSpPr>
          <p:cNvPr id="210" name="Google Shape;210;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a:solidFill>
                  <a:schemeClr val="dk1"/>
                </a:solidFill>
                <a:latin typeface="Times New Roman"/>
                <a:ea typeface="Times New Roman"/>
                <a:cs typeface="Times New Roman"/>
                <a:sym typeface="Times New Roman"/>
              </a:rPr>
              <a:t>PTVT thay nhiều: VFSG, GPM, NSG, CAC, Pump Pack, FMU, GWIV, Tailcone light (hỏng hóc rất nhiều sub card led).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r>
              <a:rPr lang="en-US" sz="1600" b="0" i="0" u="none" strike="noStrike" cap="none">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 A869 - CARGO A/C FWD LEAK: chờ T/S.</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p:txBody>
      </p:sp>
      <p:pic>
        <p:nvPicPr>
          <p:cNvPr id="211" name="Google Shape;211;g31ccdae391d_0_315"/>
          <p:cNvPicPr preferRelativeResize="0"/>
          <p:nvPr/>
        </p:nvPicPr>
        <p:blipFill>
          <a:blip r:embed="rId3">
            <a:alphaModFix/>
          </a:blip>
          <a:stretch>
            <a:fillRect/>
          </a:stretch>
        </p:blipFill>
        <p:spPr>
          <a:xfrm>
            <a:off x="795338" y="2938463"/>
            <a:ext cx="10601325" cy="17430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18" name="Google Shape;218;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219" name="Google Shape;219;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39</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53</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09</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10</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30</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43</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0" name="Google Shape;220;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21" name="Google Shape;221;g31ccdae391d_0_323"/>
          <p:cNvPicPr preferRelativeResize="0"/>
          <p:nvPr/>
        </p:nvPicPr>
        <p:blipFill>
          <a:blip r:embed="rId3">
            <a:alphaModFix/>
          </a:blip>
          <a:stretch>
            <a:fillRect/>
          </a:stretch>
        </p:blipFill>
        <p:spPr>
          <a:xfrm>
            <a:off x="2814650" y="2073950"/>
            <a:ext cx="6236476" cy="427447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8" name="Google Shape;228;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graphicFrame>
        <p:nvGraphicFramePr>
          <p:cNvPr id="229" name="Google Shape;229;g31ccdae391d_0_332"/>
          <p:cNvGraphicFramePr/>
          <p:nvPr/>
        </p:nvGraphicFramePr>
        <p:xfrm>
          <a:off x="474783" y="301869"/>
          <a:ext cx="11561850" cy="5404125"/>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Vip kit</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4e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06</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in stock (giao HAN 05/04)</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RO, trong đó: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+ 02ea dự kiến giao HAN 09/04.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+ 03ea EDD 14/04.</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+ 07ea EDD NIL.</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07</a:t>
                      </a:r>
                      <a:r>
                        <a:rPr lang="en-US" sz="1300" u="none" strike="noStrike" cap="none">
                          <a:solidFill>
                            <a:schemeClr val="dk1"/>
                          </a:solidFill>
                          <a:latin typeface="Times New Roman"/>
                          <a:ea typeface="Times New Roman"/>
                          <a:cs typeface="Times New Roman"/>
                          <a:sym typeface="Times New Roman"/>
                        </a:rPr>
                        <a:t>ea in stock (của tàu BQ). 01 l</a:t>
                      </a:r>
                      <a:r>
                        <a:rPr lang="en-US" sz="1300">
                          <a:solidFill>
                            <a:schemeClr val="dk1"/>
                          </a:solidFill>
                          <a:latin typeface="Times New Roman"/>
                          <a:ea typeface="Times New Roman"/>
                          <a:cs typeface="Times New Roman"/>
                          <a:sym typeface="Times New Roman"/>
                        </a:rPr>
                        <a:t>ấp đầy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Vẫn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ship </a:t>
                      </a:r>
                      <a:r>
                        <a:rPr lang="en-US" sz="1300" dirty="0" err="1">
                          <a:solidFill>
                            <a:schemeClr val="dk1"/>
                          </a:solidFill>
                          <a:latin typeface="Times New Roman"/>
                          <a:ea typeface="Times New Roman"/>
                          <a:cs typeface="Times New Roman"/>
                          <a:sym typeface="Times New Roman"/>
                        </a:rPr>
                        <a:t>của</a:t>
                      </a:r>
                      <a:r>
                        <a:rPr lang="en-US" sz="1300" dirty="0">
                          <a:solidFill>
                            <a:schemeClr val="dk1"/>
                          </a:solidFill>
                          <a:latin typeface="Times New Roman"/>
                          <a:ea typeface="Times New Roman"/>
                          <a:cs typeface="Times New Roman"/>
                          <a:sym typeface="Times New Roman"/>
                        </a:rPr>
                        <a:t> VCRU </a:t>
                      </a:r>
                      <a:r>
                        <a:rPr lang="en-US" sz="1300" dirty="0" err="1">
                          <a:solidFill>
                            <a:schemeClr val="dk1"/>
                          </a:solidFill>
                          <a:latin typeface="Times New Roman"/>
                          <a:ea typeface="Times New Roman"/>
                          <a:cs typeface="Times New Roman"/>
                          <a:sym typeface="Times New Roman"/>
                        </a:rPr>
                        <a:t>và</a:t>
                      </a:r>
                      <a:r>
                        <a:rPr lang="en-US" sz="1300"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6" name="Google Shape;236;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237" name="Google Shape;237;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b="0" i="0" u="none" strike="noStrike" cap="none">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a:solidFill>
                  <a:srgbClr val="000000"/>
                </a:solidFill>
                <a:latin typeface="Times New Roman"/>
                <a:ea typeface="Times New Roman"/>
                <a:cs typeface="Times New Roman"/>
                <a:sym typeface="Times New Roman"/>
              </a:rPr>
              <a:t>Hỏng hóc hệ thống flight control vẫn nhiều, vẫn chưa giảm.</a:t>
            </a:r>
            <a:endParaRPr sz="16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A888 - CHILLER SYS INOP DURING CRUISE: đặt hàng VCRU, chưa có EDD.</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A888 - CPIOM J12 INOP: CPIOM in stock (giao 05/04).</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A896 - UPPER LATCH ASSY OF COCKPIT DOOR BOLTING SYSTEM IS NOT FULLY LOCKED: đã có Latch.</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A897 - SEAL OF RH INBOARD AI-LERON DAMAGED:  đặt hàng Seal (Vaeco cung ứng), chờ Airbus cập nhật kế hoạch.</a:t>
            </a: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20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238" name="Google Shape;238;g31ccdae391d_0_339"/>
          <p:cNvPicPr preferRelativeResize="0"/>
          <p:nvPr/>
        </p:nvPicPr>
        <p:blipFill>
          <a:blip r:embed="rId3">
            <a:alphaModFix/>
          </a:blip>
          <a:stretch>
            <a:fillRect/>
          </a:stretch>
        </p:blipFill>
        <p:spPr>
          <a:xfrm>
            <a:off x="790575" y="3448050"/>
            <a:ext cx="10610850" cy="13335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45" name="Google Shape;245;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graphicFrame>
        <p:nvGraphicFramePr>
          <p:cNvPr id="246" name="Google Shape;246;g31ccdae391d_0_347"/>
          <p:cNvGraphicFramePr/>
          <p:nvPr/>
        </p:nvGraphicFramePr>
        <p:xfrm>
          <a:off x="439614" y="221847"/>
          <a:ext cx="11611325" cy="631104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01EA: STK SGN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chưa có thông tin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53" name="Google Shape;253;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graphicFrame>
        <p:nvGraphicFramePr>
          <p:cNvPr id="254" name="Google Shape;254;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C20648000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dirty="0">
                          <a:latin typeface="Times New Roman"/>
                          <a:ea typeface="Times New Roman"/>
                          <a:cs typeface="Times New Roman"/>
                          <a:sym typeface="Times New Roman"/>
                        </a:rPr>
                        <a:t>03ea in stock. </a:t>
                      </a:r>
                      <a:r>
                        <a:rPr lang="en-US" dirty="0" err="1">
                          <a:latin typeface="Times New Roman"/>
                          <a:ea typeface="Times New Roman"/>
                          <a:cs typeface="Times New Roman"/>
                          <a:sym typeface="Times New Roman"/>
                        </a:rPr>
                        <a:t>dự</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kiến</a:t>
                      </a:r>
                      <a:r>
                        <a:rPr lang="en-US" dirty="0">
                          <a:latin typeface="Times New Roman"/>
                          <a:ea typeface="Times New Roman"/>
                          <a:cs typeface="Times New Roman"/>
                          <a:sym typeface="Times New Roman"/>
                        </a:rPr>
                        <a:t> 02ea </a:t>
                      </a:r>
                      <a:r>
                        <a:rPr lang="en-US" dirty="0" err="1">
                          <a:latin typeface="Times New Roman"/>
                          <a:ea typeface="Times New Roman"/>
                          <a:cs typeface="Times New Roman"/>
                          <a:sym typeface="Times New Roman"/>
                        </a:rPr>
                        <a:t>về</a:t>
                      </a:r>
                      <a:r>
                        <a:rPr lang="en-US" dirty="0">
                          <a:latin typeface="Times New Roman"/>
                          <a:ea typeface="Times New Roman"/>
                          <a:cs typeface="Times New Roman"/>
                          <a:sym typeface="Times New Roman"/>
                        </a:rPr>
                        <a:t> trong </a:t>
                      </a:r>
                      <a:r>
                        <a:rPr lang="en-US" dirty="0" err="1">
                          <a:latin typeface="Times New Roman"/>
                          <a:ea typeface="Times New Roman"/>
                          <a:cs typeface="Times New Roman"/>
                          <a:sym typeface="Times New Roman"/>
                        </a:rPr>
                        <a:t>tuần</a:t>
                      </a:r>
                      <a:r>
                        <a:rPr lang="en-US" dirty="0">
                          <a:latin typeface="Times New Roman"/>
                          <a:ea typeface="Times New Roman"/>
                          <a:cs typeface="Times New Roman"/>
                          <a:sym typeface="Times New Roman"/>
                        </a:rPr>
                        <a:t> 15.</a:t>
                      </a:r>
                      <a:endParaRPr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2-1756-1</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dirty="0">
                          <a:solidFill>
                            <a:schemeClr val="dk1"/>
                          </a:solidFill>
                          <a:latin typeface="Times New Roman"/>
                          <a:ea typeface="Times New Roman"/>
                          <a:cs typeface="Times New Roman"/>
                          <a:sym typeface="Times New Roman"/>
                        </a:rPr>
                        <a:t>06ea in stock.</a:t>
                      </a:r>
                      <a:endParaRPr sz="1400" u="none" strike="noStrike" cap="none"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C20534100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dirty="0">
                          <a:latin typeface="Times New Roman"/>
                          <a:ea typeface="Times New Roman"/>
                          <a:cs typeface="Times New Roman"/>
                          <a:sym typeface="Times New Roman"/>
                        </a:rPr>
                        <a:t>04ea in stock</a:t>
                      </a:r>
                      <a:r>
                        <a:rPr lang="en-US" dirty="0">
                          <a:solidFill>
                            <a:schemeClr val="dk1"/>
                          </a:solidFill>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Times New Roman"/>
                          <a:ea typeface="Times New Roman"/>
                          <a:cs typeface="Times New Roman"/>
                          <a:sym typeface="Times New Roman"/>
                        </a:rPr>
                        <a:t>- </a:t>
                      </a:r>
                      <a:r>
                        <a:rPr lang="en-US" sz="1400" u="none" strike="noStrike" cap="none" dirty="0">
                          <a:latin typeface="Times New Roman"/>
                          <a:ea typeface="Times New Roman"/>
                          <a:cs typeface="Times New Roman"/>
                          <a:sym typeface="Times New Roman"/>
                        </a:rPr>
                        <a:t>Ban QLVT </a:t>
                      </a:r>
                      <a:r>
                        <a:rPr lang="en-US" sz="1400" u="none" strike="noStrike" cap="none" dirty="0" err="1">
                          <a:latin typeface="Times New Roman"/>
                          <a:ea typeface="Times New Roman"/>
                          <a:cs typeface="Times New Roman"/>
                          <a:sym typeface="Times New Roman"/>
                        </a:rPr>
                        <a:t>đang</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tiếp</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tục</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thúc</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đẩy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các</a:t>
                      </a:r>
                      <a:r>
                        <a:rPr lang="en-US" sz="1400" u="none" strike="noStrike" cap="none" dirty="0">
                          <a:latin typeface="Times New Roman"/>
                          <a:ea typeface="Times New Roman"/>
                          <a:cs typeface="Times New Roman"/>
                          <a:sym typeface="Times New Roman"/>
                        </a:rPr>
                        <a:t> heat sink A321 </a:t>
                      </a:r>
                      <a:r>
                        <a:rPr lang="en-US" sz="1400" u="none" strike="noStrike" cap="none" dirty="0" err="1">
                          <a:latin typeface="Times New Roman"/>
                          <a:ea typeface="Times New Roman"/>
                          <a:cs typeface="Times New Roman"/>
                          <a:sym typeface="Times New Roman"/>
                        </a:rPr>
                        <a:t>về</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để</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phục</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vụ</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bảo</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dưỡng</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phanh</a:t>
                      </a:r>
                      <a:r>
                        <a:rPr lang="en-US" sz="1400" u="none" strike="noStrike" cap="none" dirty="0">
                          <a:latin typeface="Times New Roman"/>
                          <a:ea typeface="Times New Roman"/>
                          <a:cs typeface="Times New Roman"/>
                          <a:sym typeface="Times New Roman"/>
                        </a:rPr>
                        <a:t> A321.</a:t>
                      </a: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 </a:t>
                      </a:r>
                      <a:r>
                        <a:rPr lang="en-US" sz="1400" u="none" strike="noStrike" cap="none" dirty="0">
                          <a:solidFill>
                            <a:schemeClr val="dk1"/>
                          </a:solidFill>
                          <a:latin typeface="Times New Roman"/>
                          <a:ea typeface="Times New Roman"/>
                          <a:cs typeface="Times New Roman"/>
                          <a:sym typeface="Times New Roman"/>
                        </a:rPr>
                        <a:t>Ban QLVT </a:t>
                      </a:r>
                      <a:r>
                        <a:rPr lang="en-US" sz="1400" u="none" strike="noStrike" cap="none" dirty="0" err="1">
                          <a:solidFill>
                            <a:schemeClr val="dk1"/>
                          </a:solidFill>
                          <a:latin typeface="Times New Roman"/>
                          <a:ea typeface="Times New Roman"/>
                          <a:cs typeface="Times New Roman"/>
                          <a:sym typeface="Times New Roman"/>
                        </a:rPr>
                        <a:t>đã</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đề</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nghị</a:t>
                      </a:r>
                      <a:r>
                        <a:rPr lang="en-US" sz="1400" u="none" strike="noStrike" cap="none" dirty="0">
                          <a:solidFill>
                            <a:schemeClr val="dk1"/>
                          </a:solidFill>
                          <a:latin typeface="Times New Roman"/>
                          <a:ea typeface="Times New Roman"/>
                          <a:cs typeface="Times New Roman"/>
                          <a:sym typeface="Times New Roman"/>
                        </a:rPr>
                        <a:t> Ban KT </a:t>
                      </a:r>
                      <a:r>
                        <a:rPr lang="en-US" sz="1400" u="none" strike="noStrike" cap="none" dirty="0" err="1">
                          <a:solidFill>
                            <a:schemeClr val="dk1"/>
                          </a:solidFill>
                          <a:latin typeface="Times New Roman"/>
                          <a:ea typeface="Times New Roman"/>
                          <a:cs typeface="Times New Roman"/>
                          <a:sym typeface="Times New Roman"/>
                        </a:rPr>
                        <a:t>và</a:t>
                      </a:r>
                      <a:r>
                        <a:rPr lang="en-US" sz="1400" u="none" strike="noStrike" cap="none" dirty="0">
                          <a:solidFill>
                            <a:schemeClr val="dk1"/>
                          </a:solidFill>
                          <a:latin typeface="Times New Roman"/>
                          <a:ea typeface="Times New Roman"/>
                          <a:cs typeface="Times New Roman"/>
                          <a:sym typeface="Times New Roman"/>
                        </a:rPr>
                        <a:t> VAECO </a:t>
                      </a:r>
                      <a:r>
                        <a:rPr lang="en-US" sz="1400" u="none" strike="noStrike" cap="none" dirty="0" err="1">
                          <a:solidFill>
                            <a:schemeClr val="dk1"/>
                          </a:solidFill>
                          <a:latin typeface="Times New Roman"/>
                          <a:ea typeface="Times New Roman"/>
                          <a:cs typeface="Times New Roman"/>
                          <a:sym typeface="Times New Roman"/>
                        </a:rPr>
                        <a:t>cập</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nhật</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kế</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hoạch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làm</a:t>
                      </a:r>
                      <a:r>
                        <a:rPr lang="en-US" sz="1400" u="none" strike="noStrike" cap="none" dirty="0">
                          <a:solidFill>
                            <a:schemeClr val="dk1"/>
                          </a:solidFill>
                          <a:latin typeface="Times New Roman"/>
                          <a:ea typeface="Times New Roman"/>
                          <a:cs typeface="Times New Roman"/>
                          <a:sym typeface="Times New Roman"/>
                        </a:rPr>
                        <a:t> stagger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A321 </a:t>
                      </a:r>
                      <a:r>
                        <a:rPr lang="en-US" sz="1400" u="none" strike="noStrike" cap="none" dirty="0" err="1">
                          <a:solidFill>
                            <a:schemeClr val="dk1"/>
                          </a:solidFill>
                          <a:latin typeface="Times New Roman"/>
                          <a:ea typeface="Times New Roman"/>
                          <a:cs typeface="Times New Roman"/>
                          <a:sym typeface="Times New Roman"/>
                        </a:rPr>
                        <a:t>tránh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việc</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thay</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hàng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loạt</a:t>
                      </a:r>
                      <a:r>
                        <a:rPr lang="en-US" sz="1400" u="none" strike="noStrike" cap="none" dirty="0">
                          <a:solidFill>
                            <a:schemeClr val="dk1"/>
                          </a:solidFill>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1" name="Google Shape;261;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262" name="Google Shape;262;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1" i="0" u="none" strike="noStrike" cap="none" dirty="0">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03ea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dirty="0">
                <a:solidFill>
                  <a:schemeClr val="dk1"/>
                </a:solidFill>
                <a:highlight>
                  <a:schemeClr val="lt1"/>
                </a:highlight>
                <a:latin typeface="Times New Roman"/>
                <a:ea typeface="Times New Roman"/>
                <a:cs typeface="Times New Roman"/>
                <a:sym typeface="Times New Roman"/>
              </a:rPr>
              <a:t>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new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HAN 22/01).</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NIL</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9</a:t>
            </a:r>
            <a:r>
              <a:rPr lang="en-US" sz="1500" b="0" i="0" u="none" strike="noStrike" cap="none" dirty="0">
                <a:solidFill>
                  <a:schemeClr val="dk1"/>
                </a:solidFill>
                <a:highlight>
                  <a:schemeClr val="lt1"/>
                </a:highlight>
                <a:latin typeface="Times New Roman"/>
                <a:ea typeface="Times New Roman"/>
                <a:cs typeface="Times New Roman"/>
                <a:sym typeface="Times New Roman"/>
              </a:rPr>
              <a:t>ea (0</a:t>
            </a:r>
            <a:r>
              <a:rPr lang="en-US" sz="1500" dirty="0">
                <a:solidFill>
                  <a:schemeClr val="dk1"/>
                </a:solidFill>
                <a:highlight>
                  <a:schemeClr val="lt1"/>
                </a:highlight>
                <a:latin typeface="Times New Roman"/>
                <a:ea typeface="Times New Roman"/>
                <a:cs typeface="Times New Roman"/>
                <a:sym typeface="Times New Roman"/>
              </a:rPr>
              <a:t>4</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21317, 21048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2</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a:t>
            </a:r>
            <a:r>
              <a:rPr lang="en-US" sz="1500" dirty="0">
                <a:solidFill>
                  <a:schemeClr val="dk1"/>
                </a:solidFill>
                <a:highlight>
                  <a:schemeClr val="lt1"/>
                </a:highlight>
                <a:latin typeface="Times New Roman"/>
                <a:ea typeface="Times New Roman"/>
                <a:cs typeface="Times New Roman"/>
                <a:sym typeface="Times New Roman"/>
              </a:rPr>
              <a:t>422 </a:t>
            </a:r>
            <a:r>
              <a:rPr lang="en-US" sz="1500" b="0" i="0" u="none" strike="noStrike" cap="none" dirty="0">
                <a:solidFill>
                  <a:schemeClr val="dk1"/>
                </a:solidFill>
                <a:highlight>
                  <a:schemeClr val="lt1"/>
                </a:highlight>
                <a:latin typeface="Times New Roman"/>
                <a:ea typeface="Times New Roman"/>
                <a:cs typeface="Times New Roman"/>
                <a:sym typeface="Times New Roman"/>
              </a:rPr>
              <a:t>&amp; 21201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HAESL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a:t>
            </a:r>
            <a:r>
              <a:rPr lang="en-US" sz="1500" dirty="0" err="1">
                <a:solidFill>
                  <a:schemeClr val="dk1"/>
                </a:solidFill>
                <a:highlight>
                  <a:schemeClr val="lt1"/>
                </a:highlight>
                <a:latin typeface="Times New Roman"/>
                <a:ea typeface="Times New Roman"/>
                <a:cs typeface="Times New Roman"/>
                <a:sym typeface="Times New Roman"/>
              </a:rPr>
              <a:t>à</a:t>
            </a:r>
            <a:r>
              <a:rPr lang="en-US" sz="1500" dirty="0">
                <a:solidFill>
                  <a:schemeClr val="dk1"/>
                </a:solidFill>
                <a:highlight>
                  <a:schemeClr val="lt1"/>
                </a:highlight>
                <a:latin typeface="Times New Roman"/>
                <a:ea typeface="Times New Roman"/>
                <a:cs typeface="Times New Roman"/>
                <a:sym typeface="Times New Roman"/>
              </a:rPr>
              <a:t> 03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SEASL 21584, 21414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21604</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r>
              <a:rPr lang="en-US" sz="1500" dirty="0">
                <a:solidFill>
                  <a:schemeClr val="dk1"/>
                </a:solidFill>
                <a:highlight>
                  <a:schemeClr val="lt1"/>
                </a:highlight>
                <a:latin typeface="Times New Roman"/>
                <a:ea typeface="Times New Roman"/>
                <a:cs typeface="Times New Roman"/>
                <a:sym typeface="Times New Roman"/>
              </a:rPr>
              <a:t>. Trong </a:t>
            </a:r>
            <a:r>
              <a:rPr lang="en-US" sz="1500" dirty="0" err="1">
                <a:solidFill>
                  <a:schemeClr val="dk1"/>
                </a:solidFill>
                <a:highlight>
                  <a:schemeClr val="lt1"/>
                </a:highlight>
                <a:latin typeface="Times New Roman"/>
                <a:ea typeface="Times New Roman"/>
                <a:cs typeface="Times New Roman"/>
                <a:sym typeface="Times New Roman"/>
              </a:rPr>
              <a:t>đó</a:t>
            </a:r>
            <a:r>
              <a:rPr lang="en-US" sz="1500" dirty="0">
                <a:solidFill>
                  <a:schemeClr val="dk1"/>
                </a:solidFill>
                <a:highlight>
                  <a:schemeClr val="lt1"/>
                </a:highlight>
                <a:latin typeface="Times New Roman"/>
                <a:ea typeface="Times New Roman"/>
                <a:cs typeface="Times New Roman"/>
                <a:sym typeface="Times New Roman"/>
              </a:rPr>
              <a:t> 02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sửa</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xong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đầu</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tháng</a:t>
            </a:r>
            <a:r>
              <a:rPr lang="en-US" sz="1500" dirty="0">
                <a:solidFill>
                  <a:schemeClr val="dk1"/>
                </a:solidFill>
                <a:highlight>
                  <a:schemeClr val="lt1"/>
                </a:highlight>
                <a:latin typeface="Times New Roman"/>
                <a:ea typeface="Times New Roman"/>
                <a:cs typeface="Times New Roman"/>
                <a:sym typeface="Times New Roman"/>
              </a:rPr>
              <a:t> 4/2025 (21422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HAESL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21047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N3) </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xếp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chuyển</a:t>
            </a:r>
            <a:r>
              <a:rPr lang="en-US" sz="1500" b="0" i="0" u="none" strike="noStrike" cap="none" dirty="0">
                <a:solidFill>
                  <a:schemeClr val="dk1"/>
                </a:solidFill>
                <a:highlight>
                  <a:schemeClr val="lt1"/>
                </a:highlight>
                <a:latin typeface="Times New Roman"/>
                <a:ea typeface="Times New Roman"/>
                <a:cs typeface="Times New Roman"/>
                <a:sym typeface="Times New Roman"/>
              </a:rPr>
              <a:t> 01 core engine stand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từ</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về</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để</a:t>
            </a:r>
            <a:r>
              <a:rPr lang="en-US" sz="1500" b="0" i="0" u="none" strike="noStrike" cap="none" dirty="0">
                <a:solidFill>
                  <a:schemeClr val="dk1"/>
                </a:solidFill>
                <a:highlight>
                  <a:schemeClr val="lt1"/>
                </a:highlight>
                <a:latin typeface="Times New Roman"/>
                <a:ea typeface="Times New Roman"/>
                <a:cs typeface="Times New Roman"/>
                <a:sym typeface="Times New Roman"/>
              </a:rPr>
              <a:t> swap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tháo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tiếp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gửi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dirty="0" err="1">
                <a:solidFill>
                  <a:schemeClr val="dk1"/>
                </a:solidFill>
                <a:highlight>
                  <a:schemeClr val="lt1"/>
                </a:highlight>
                <a:latin typeface="Times New Roman"/>
                <a:ea typeface="Times New Roman"/>
                <a:cs typeface="Times New Roman"/>
                <a:sym typeface="Times New Roman"/>
              </a:rPr>
              <a:t>đã</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thu</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xếp</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chuyển</a:t>
            </a:r>
            <a:r>
              <a:rPr lang="en-US" sz="1500" dirty="0">
                <a:solidFill>
                  <a:schemeClr val="dk1"/>
                </a:solidFill>
                <a:highlight>
                  <a:schemeClr val="lt1"/>
                </a:highlight>
                <a:latin typeface="Times New Roman"/>
                <a:ea typeface="Times New Roman"/>
                <a:cs typeface="Times New Roman"/>
                <a:sym typeface="Times New Roman"/>
              </a:rPr>
              <a:t> 01 stand </a:t>
            </a:r>
            <a:r>
              <a:rPr lang="en-US" sz="1500" dirty="0" err="1">
                <a:solidFill>
                  <a:schemeClr val="dk1"/>
                </a:solidFill>
                <a:highlight>
                  <a:schemeClr val="lt1"/>
                </a:highlight>
                <a:latin typeface="Times New Roman"/>
                <a:ea typeface="Times New Roman"/>
                <a:cs typeface="Times New Roman"/>
                <a:sym typeface="Times New Roman"/>
              </a:rPr>
              <a:t>từ</a:t>
            </a:r>
            <a:r>
              <a:rPr lang="en-US" sz="1500" dirty="0">
                <a:solidFill>
                  <a:schemeClr val="dk1"/>
                </a:solidFill>
                <a:highlight>
                  <a:schemeClr val="lt1"/>
                </a:highlight>
                <a:latin typeface="Times New Roman"/>
                <a:ea typeface="Times New Roman"/>
                <a:cs typeface="Times New Roman"/>
                <a:sym typeface="Times New Roman"/>
              </a:rPr>
              <a:t> SIN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HKG </a:t>
            </a:r>
            <a:r>
              <a:rPr lang="en-US" sz="1500" dirty="0" err="1">
                <a:solidFill>
                  <a:schemeClr val="dk1"/>
                </a:solidFill>
                <a:highlight>
                  <a:schemeClr val="lt1"/>
                </a:highlight>
                <a:latin typeface="Times New Roman"/>
                <a:ea typeface="Times New Roman"/>
                <a:cs typeface="Times New Roman"/>
                <a:sym typeface="Times New Roman"/>
              </a:rPr>
              <a:t>cho</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21422.</a:t>
            </a:r>
            <a:endParaRPr sz="1500"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dirty="0" err="1">
                <a:solidFill>
                  <a:schemeClr val="dk1"/>
                </a:solidFill>
                <a:highlight>
                  <a:schemeClr val="lt1"/>
                </a:highlight>
                <a:latin typeface="Times New Roman"/>
                <a:ea typeface="Times New Roman"/>
                <a:cs typeface="Times New Roman"/>
                <a:sym typeface="Times New Roman"/>
              </a:rPr>
              <a:t>đã</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thu</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xếp</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chuyển</a:t>
            </a:r>
            <a:r>
              <a:rPr lang="en-US" sz="1500" dirty="0">
                <a:solidFill>
                  <a:schemeClr val="dk1"/>
                </a:solidFill>
                <a:highlight>
                  <a:schemeClr val="lt1"/>
                </a:highlight>
                <a:latin typeface="Times New Roman"/>
                <a:ea typeface="Times New Roman"/>
                <a:cs typeface="Times New Roman"/>
                <a:sym typeface="Times New Roman"/>
              </a:rPr>
              <a:t> 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21422 </a:t>
            </a:r>
            <a:r>
              <a:rPr lang="en-US" sz="1500" dirty="0" err="1">
                <a:solidFill>
                  <a:schemeClr val="dk1"/>
                </a:solidFill>
                <a:highlight>
                  <a:schemeClr val="lt1"/>
                </a:highlight>
                <a:latin typeface="Times New Roman"/>
                <a:ea typeface="Times New Roman"/>
                <a:cs typeface="Times New Roman"/>
                <a:sym typeface="Times New Roman"/>
              </a:rPr>
              <a:t>từ</a:t>
            </a:r>
            <a:r>
              <a:rPr lang="en-US" sz="1500" dirty="0">
                <a:solidFill>
                  <a:schemeClr val="dk1"/>
                </a:solidFill>
                <a:highlight>
                  <a:schemeClr val="lt1"/>
                </a:highlight>
                <a:latin typeface="Times New Roman"/>
                <a:ea typeface="Times New Roman"/>
                <a:cs typeface="Times New Roman"/>
                <a:sym typeface="Times New Roman"/>
              </a:rPr>
              <a:t> HKG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HAN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08Apr pickup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HAN 15Apr2025.</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dirty="0">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10</a:t>
            </a:r>
            <a:r>
              <a:rPr lang="en-US" sz="1500" b="0" i="0" u="none" strike="noStrike" cap="none" dirty="0">
                <a:solidFill>
                  <a:schemeClr val="dk1"/>
                </a:solidFill>
                <a:highlight>
                  <a:schemeClr val="lt1"/>
                </a:highlight>
                <a:latin typeface="Times New Roman"/>
                <a:ea typeface="Times New Roman"/>
                <a:cs typeface="Times New Roman"/>
                <a:sym typeface="Times New Roman"/>
              </a:rPr>
              <a:t>ea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sở</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hữu</a:t>
            </a:r>
            <a:r>
              <a:rPr lang="en-US" sz="1500" b="0" i="0" u="none" strike="noStrike" cap="none" dirty="0">
                <a:solidFill>
                  <a:schemeClr val="dk1"/>
                </a:solidFill>
                <a:highlight>
                  <a:schemeClr val="lt1"/>
                </a:highlight>
                <a:latin typeface="Times New Roman"/>
                <a:ea typeface="Times New Roman"/>
                <a:cs typeface="Times New Roman"/>
                <a:sym typeface="Times New Roman"/>
              </a:rPr>
              <a:t>,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6</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ký</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đc</a:t>
            </a:r>
            <a:r>
              <a:rPr lang="en-US" sz="1500" b="0" i="0" u="none" strike="noStrike" cap="none" dirty="0">
                <a:solidFill>
                  <a:schemeClr val="dk1"/>
                </a:solidFill>
                <a:highlight>
                  <a:schemeClr val="lt1"/>
                </a:highlight>
                <a:latin typeface="Times New Roman"/>
                <a:ea typeface="Times New Roman"/>
                <a:cs typeface="Times New Roman"/>
                <a:sym typeface="Times New Roman"/>
              </a:rPr>
              <a:t> M</a:t>
            </a:r>
            <a:r>
              <a:rPr lang="en-US" sz="1500" dirty="0">
                <a:solidFill>
                  <a:schemeClr val="dk1"/>
                </a:solidFill>
                <a:highlight>
                  <a:schemeClr val="lt1"/>
                </a:highlight>
                <a:latin typeface="Times New Roman"/>
                <a:ea typeface="Times New Roman"/>
                <a:cs typeface="Times New Roman"/>
                <a:sym typeface="Times New Roman"/>
              </a:rPr>
              <a:t>ar/2025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với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Aercap</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dirty="0">
                <a:solidFill>
                  <a:schemeClr val="dk1"/>
                </a:solidFill>
                <a:highlight>
                  <a:schemeClr val="lt1"/>
                </a:highlight>
                <a:latin typeface="Times New Roman"/>
                <a:ea typeface="Times New Roman"/>
                <a:cs typeface="Times New Roman"/>
                <a:sym typeface="Times New Roman"/>
              </a:rPr>
              <a:t>0</a:t>
            </a:r>
            <a:r>
              <a:rPr lang="en-US" sz="1500" dirty="0">
                <a:solidFill>
                  <a:schemeClr val="dk1"/>
                </a:solidFill>
                <a:highlight>
                  <a:schemeClr val="lt1"/>
                </a:highlight>
                <a:latin typeface="Times New Roman"/>
                <a:ea typeface="Times New Roman"/>
                <a:cs typeface="Times New Roman"/>
                <a:sym typeface="Times New Roman"/>
              </a:rPr>
              <a:t>4</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KLM shop:  956533, 956599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956947, 956534 (inducted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a:t>
            </a:r>
            <a:r>
              <a:rPr lang="en-US" sz="1500" dirty="0" err="1">
                <a:solidFill>
                  <a:schemeClr val="dk1"/>
                </a:solidFill>
                <a:highlight>
                  <a:schemeClr val="lt1"/>
                </a:highlight>
                <a:latin typeface="Times New Roman"/>
                <a:ea typeface="Times New Roman"/>
                <a:cs typeface="Times New Roman"/>
                <a:sym typeface="Times New Roman"/>
              </a:rPr>
              <a:t>áng</a:t>
            </a:r>
            <a:r>
              <a:rPr lang="en-US" sz="1500" dirty="0">
                <a:solidFill>
                  <a:schemeClr val="dk1"/>
                </a:solidFill>
                <a:highlight>
                  <a:schemeClr val="lt1"/>
                </a:highlight>
                <a:latin typeface="Times New Roman"/>
                <a:ea typeface="Times New Roman"/>
                <a:cs typeface="Times New Roman"/>
                <a:sym typeface="Times New Roman"/>
              </a:rPr>
              <a:t> 4/2025)</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dirty="0" err="1">
                <a:solidFill>
                  <a:schemeClr val="dk1"/>
                </a:solidFill>
                <a:highlight>
                  <a:schemeClr val="lt1"/>
                </a:highlight>
                <a:latin typeface="Times New Roman"/>
                <a:ea typeface="Times New Roman"/>
                <a:cs typeface="Times New Roman"/>
                <a:sym typeface="Times New Roman"/>
              </a:rPr>
              <a:t>đó</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956533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test 06Apr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16Apr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SGN 23Apr.</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dirty="0">
                <a:solidFill>
                  <a:schemeClr val="dk1"/>
                </a:solidFill>
                <a:highlight>
                  <a:schemeClr val="lt1"/>
                </a:highlight>
                <a:latin typeface="Times New Roman"/>
                <a:ea typeface="Times New Roman"/>
                <a:cs typeface="Times New Roman"/>
                <a:sym typeface="Times New Roman"/>
              </a:rPr>
              <a:t>0</a:t>
            </a:r>
            <a:r>
              <a:rPr lang="en-US" sz="1500" dirty="0">
                <a:solidFill>
                  <a:schemeClr val="dk1"/>
                </a:solidFill>
                <a:highlight>
                  <a:schemeClr val="lt1"/>
                </a:highlight>
                <a:latin typeface="Times New Roman"/>
                <a:ea typeface="Times New Roman"/>
                <a:cs typeface="Times New Roman"/>
                <a:sym typeface="Times New Roman"/>
              </a:rPr>
              <a:t>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GE shop: 958398 (delay in GEEVES)</a:t>
            </a:r>
            <a:r>
              <a:rPr lang="en-US" sz="1500" dirty="0">
                <a:solidFill>
                  <a:schemeClr val="dk1"/>
                </a:solidFill>
                <a:highlight>
                  <a:schemeClr val="lt1"/>
                </a:highlight>
                <a:latin typeface="Times New Roman"/>
                <a:ea typeface="Times New Roman"/>
                <a:cs typeface="Times New Roman"/>
                <a:sym typeface="Times New Roman"/>
              </a:rPr>
              <a:t>.</a:t>
            </a:r>
          </a:p>
          <a:p>
            <a:pPr marL="457200" marR="0" lvl="0" indent="-323850" algn="just" rtl="0">
              <a:lnSpc>
                <a:spcPct val="100000"/>
              </a:lnSpc>
              <a:spcBef>
                <a:spcPts val="0"/>
              </a:spcBef>
              <a:spcAft>
                <a:spcPts val="0"/>
              </a:spcAft>
              <a:buClr>
                <a:schemeClr val="dk1"/>
              </a:buClr>
              <a:buSzPts val="1500"/>
              <a:buFont typeface="Times New Roman"/>
              <a:buChar char="+"/>
            </a:pPr>
            <a:r>
              <a:rPr lang="en-US" sz="1500" dirty="0">
                <a:solidFill>
                  <a:schemeClr val="dk1"/>
                </a:solidFill>
                <a:highlight>
                  <a:schemeClr val="lt1"/>
                </a:highlight>
                <a:latin typeface="Times New Roman"/>
                <a:ea typeface="Times New Roman"/>
                <a:cs typeface="Times New Roman"/>
                <a:sym typeface="Times New Roman"/>
              </a:rPr>
              <a:t>01ea ENG </a:t>
            </a:r>
            <a:r>
              <a:rPr lang="en-US" sz="1500" dirty="0" err="1">
                <a:solidFill>
                  <a:schemeClr val="dk1"/>
                </a:solidFill>
                <a:highlight>
                  <a:schemeClr val="lt1"/>
                </a:highlight>
                <a:latin typeface="Times New Roman"/>
                <a:ea typeface="Times New Roman"/>
                <a:cs typeface="Times New Roman"/>
                <a:sym typeface="Times New Roman"/>
              </a:rPr>
              <a:t>thuê</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cho</a:t>
            </a:r>
            <a:r>
              <a:rPr lang="en-US" sz="1500" dirty="0">
                <a:solidFill>
                  <a:schemeClr val="dk1"/>
                </a:solidFill>
                <a:highlight>
                  <a:schemeClr val="lt1"/>
                </a:highlight>
                <a:latin typeface="Times New Roman"/>
                <a:ea typeface="Times New Roman"/>
                <a:cs typeface="Times New Roman"/>
                <a:sym typeface="Times New Roman"/>
              </a:rPr>
              <a:t> A868 </a:t>
            </a:r>
            <a:r>
              <a:rPr lang="en-US" sz="1500" dirty="0" err="1">
                <a:solidFill>
                  <a:schemeClr val="dk1"/>
                </a:solidFill>
                <a:highlight>
                  <a:schemeClr val="lt1"/>
                </a:highlight>
                <a:latin typeface="Times New Roman"/>
                <a:ea typeface="Times New Roman"/>
                <a:cs typeface="Times New Roman"/>
                <a:sym typeface="Times New Roman"/>
              </a:rPr>
              <a:t>đã</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SGN 03/04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VAECO SGN </a:t>
            </a:r>
            <a:r>
              <a:rPr lang="en-US" sz="1500" dirty="0" err="1">
                <a:solidFill>
                  <a:schemeClr val="dk1"/>
                </a:solidFill>
                <a:highlight>
                  <a:schemeClr val="lt1"/>
                </a:highlight>
                <a:latin typeface="Times New Roman"/>
                <a:ea typeface="Times New Roman"/>
                <a:cs typeface="Times New Roman"/>
                <a:sym typeface="Times New Roman"/>
              </a:rPr>
              <a:t>ngày</a:t>
            </a:r>
            <a:r>
              <a:rPr lang="en-US" sz="1500" dirty="0">
                <a:solidFill>
                  <a:schemeClr val="dk1"/>
                </a:solidFill>
                <a:highlight>
                  <a:schemeClr val="lt1"/>
                </a:highlight>
                <a:latin typeface="Times New Roman"/>
                <a:ea typeface="Times New Roman"/>
                <a:cs typeface="Times New Roman"/>
                <a:sym typeface="Times New Roman"/>
              </a:rPr>
              <a:t> 03Apr2025.</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đáp</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ứng</a:t>
            </a:r>
            <a:r>
              <a:rPr lang="en-US" sz="1500" b="0" i="0" u="none" strike="noStrike" cap="none" dirty="0">
                <a:solidFill>
                  <a:srgbClr val="000000"/>
                </a:solidFill>
                <a:highlight>
                  <a:schemeClr val="lt1"/>
                </a:highlight>
                <a:latin typeface="Times New Roman"/>
                <a:ea typeface="Times New Roman"/>
                <a:cs typeface="Times New Roman"/>
                <a:sym typeface="Times New Roman"/>
              </a:rPr>
              <a:t> KH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sửa</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2024-2025: B787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có</a:t>
            </a:r>
            <a:r>
              <a:rPr lang="en-US" sz="1500" b="0" i="0" u="none" strike="noStrike" cap="none" dirty="0">
                <a:solidFill>
                  <a:srgbClr val="000000"/>
                </a:solidFill>
                <a:highlight>
                  <a:schemeClr val="lt1"/>
                </a:highlight>
                <a:latin typeface="Times New Roman"/>
                <a:ea typeface="Times New Roman"/>
                <a:cs typeface="Times New Roman"/>
                <a:sym typeface="Times New Roman"/>
              </a:rPr>
              <a:t> 04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phòng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đang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a:t>
            </a:r>
            <a:r>
              <a:rPr lang="en-US" sz="1500" dirty="0">
                <a:highlight>
                  <a:schemeClr val="lt1"/>
                </a:highlight>
                <a:latin typeface="Times New Roman"/>
                <a:ea typeface="Times New Roman"/>
                <a:cs typeface="Times New Roman"/>
                <a:sym typeface="Times New Roman"/>
              </a:rPr>
              <a:t>6</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của</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Aercap</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(956933; 958266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958934 958966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956626, 956980)</a:t>
            </a:r>
            <a:r>
              <a:rPr lang="en-US" sz="1500" dirty="0">
                <a:highlight>
                  <a:schemeClr val="lt1"/>
                </a:highlight>
                <a:latin typeface="Times New Roman"/>
                <a:ea typeface="Times New Roman"/>
                <a:cs typeface="Times New Roman"/>
                <a:sym typeface="Times New Roman"/>
              </a:rPr>
              <a:t> trong </a:t>
            </a:r>
            <a:r>
              <a:rPr lang="en-US" sz="1500" dirty="0" err="1">
                <a:highlight>
                  <a:schemeClr val="lt1"/>
                </a:highlight>
                <a:latin typeface="Times New Roman"/>
                <a:ea typeface="Times New Roman"/>
                <a:cs typeface="Times New Roman"/>
                <a:sym typeface="Times New Roman"/>
              </a:rPr>
              <a:t>đó</a:t>
            </a:r>
            <a:r>
              <a:rPr lang="en-US" sz="1500" dirty="0">
                <a:highlight>
                  <a:schemeClr val="lt1"/>
                </a:highlight>
                <a:latin typeface="Times New Roman"/>
                <a:ea typeface="Times New Roman"/>
                <a:cs typeface="Times New Roman"/>
                <a:sym typeface="Times New Roman"/>
              </a:rPr>
              <a:t> 956980 </a:t>
            </a:r>
            <a:r>
              <a:rPr lang="en-US" sz="1500" dirty="0" err="1">
                <a:highlight>
                  <a:schemeClr val="lt1"/>
                </a:highlight>
                <a:latin typeface="Times New Roman"/>
                <a:ea typeface="Times New Roman"/>
                <a:cs typeface="Times New Roman"/>
                <a:sym typeface="Times New Roman"/>
              </a:rPr>
              <a:t>mới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do 01 </a:t>
            </a:r>
            <a:r>
              <a:rPr lang="en-US" sz="1500" dirty="0" err="1">
                <a:highlight>
                  <a:schemeClr val="lt1"/>
                </a:highlight>
                <a:latin typeface="Times New Roman"/>
                <a:ea typeface="Times New Roman"/>
                <a:cs typeface="Times New Roman"/>
                <a:sym typeface="Times New Roman"/>
              </a:rPr>
              <a:t>đc</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trên</a:t>
            </a:r>
            <a:r>
              <a:rPr lang="en-US" sz="1500" dirty="0">
                <a:highlight>
                  <a:schemeClr val="lt1"/>
                </a:highlight>
                <a:latin typeface="Times New Roman"/>
                <a:ea typeface="Times New Roman"/>
                <a:cs typeface="Times New Roman"/>
                <a:sym typeface="Times New Roman"/>
              </a:rPr>
              <a:t> A868 </a:t>
            </a:r>
            <a:r>
              <a:rPr lang="en-US" sz="1500" dirty="0" err="1">
                <a:highlight>
                  <a:schemeClr val="lt1"/>
                </a:highlight>
                <a:latin typeface="Times New Roman"/>
                <a:ea typeface="Times New Roman"/>
                <a:cs typeface="Times New Roman"/>
                <a:sym typeface="Times New Roman"/>
              </a:rPr>
              <a:t>phải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tháo</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đầu</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tháng</a:t>
            </a:r>
            <a:r>
              <a:rPr lang="en-US" sz="1500" dirty="0">
                <a:highlight>
                  <a:schemeClr val="lt1"/>
                </a:highlight>
                <a:latin typeface="Times New Roman"/>
                <a:ea typeface="Times New Roman"/>
                <a:cs typeface="Times New Roman"/>
                <a:sym typeface="Times New Roman"/>
              </a:rPr>
              <a:t> 4/2025</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endParaRPr sz="15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9" name="Google Shape;269;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
        <p:nvSpPr>
          <p:cNvPr id="270" name="Google Shape;270;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 </a:t>
            </a:r>
            <a:r>
              <a:rPr lang="en-US" sz="1600">
                <a:solidFill>
                  <a:schemeClr val="dk1"/>
                </a:solidFill>
                <a:latin typeface="Times New Roman"/>
                <a:ea typeface="Times New Roman"/>
                <a:cs typeface="Times New Roman"/>
                <a:sym typeface="Times New Roman"/>
              </a:rPr>
              <a:t>02ea V17951 (HAN), V15851 (HAN)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US chờ chuyển đi: </a:t>
            </a:r>
            <a:r>
              <a:rPr lang="en-US" sz="1600">
                <a:solidFill>
                  <a:schemeClr val="dk1"/>
                </a:solidFill>
                <a:latin typeface="Times New Roman"/>
                <a:ea typeface="Times New Roman"/>
                <a:cs typeface="Times New Roman"/>
                <a:sym typeface="Times New Roman"/>
              </a:rPr>
              <a:t>NIL</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ea </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7" name="Google Shape;277;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68</a:t>
            </a:fld>
            <a:endParaRPr/>
          </a:p>
        </p:txBody>
      </p:sp>
      <p:sp>
        <p:nvSpPr>
          <p:cNvPr id="278" name="Google Shape;278;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279" name="Google Shape;279;g31ccdae391d_0_375"/>
          <p:cNvPicPr preferRelativeResize="0"/>
          <p:nvPr/>
        </p:nvPicPr>
        <p:blipFill>
          <a:blip r:embed="rId3">
            <a:alphaModFix/>
          </a:blip>
          <a:stretch>
            <a:fillRect/>
          </a:stretch>
        </p:blipFill>
        <p:spPr>
          <a:xfrm>
            <a:off x="166700" y="2095500"/>
            <a:ext cx="11488001" cy="279527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69</a:t>
            </a:fld>
            <a:endParaRPr/>
          </a:p>
        </p:txBody>
      </p:sp>
      <p:sp>
        <p:nvSpPr>
          <p:cNvPr id="286" name="Google Shape;286;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rgbClr val="FF0000"/>
                </a:solidFill>
                <a:latin typeface="Times New Roman"/>
                <a:ea typeface="Times New Roman"/>
                <a:cs typeface="Times New Roman"/>
                <a:sym typeface="Times New Roman"/>
              </a:rPr>
              <a:t>- Đội bay A321 Neo:</a:t>
            </a: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05ea (2 sở hữu (đang SLB), 2 dài hạn và 01 thuê ngắn hạn thuê của PW).</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trong kho: NIL.</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động cơ sửa chữa: có </a:t>
            </a:r>
            <a:r>
              <a:rPr lang="en-US" sz="1500">
                <a:solidFill>
                  <a:schemeClr val="dk1"/>
                </a:solidFill>
                <a:latin typeface="Times New Roman"/>
                <a:ea typeface="Times New Roman"/>
                <a:cs typeface="Times New Roman"/>
                <a:sym typeface="Times New Roman"/>
              </a:rPr>
              <a:t>8</a:t>
            </a:r>
            <a:r>
              <a:rPr lang="en-US" sz="1500" b="0" i="0" u="none" strike="noStrike" cap="none">
                <a:solidFill>
                  <a:schemeClr val="dk1"/>
                </a:solidFill>
                <a:latin typeface="Times New Roman"/>
                <a:ea typeface="Times New Roman"/>
                <a:cs typeface="Times New Roman"/>
                <a:sym typeface="Times New Roman"/>
              </a:rPr>
              <a:t> động cơ đang sửa (0</a:t>
            </a:r>
            <a:r>
              <a:rPr lang="en-US" sz="1500">
                <a:solidFill>
                  <a:schemeClr val="dk1"/>
                </a:solidFill>
                <a:latin typeface="Times New Roman"/>
                <a:ea typeface="Times New Roman"/>
                <a:cs typeface="Times New Roman"/>
                <a:sym typeface="Times New Roman"/>
              </a:rPr>
              <a:t>5</a:t>
            </a:r>
            <a:r>
              <a:rPr lang="en-US" sz="1500" b="0" i="0" u="none" strike="noStrike" cap="none">
                <a:solidFill>
                  <a:schemeClr val="dk1"/>
                </a:solidFill>
                <a:latin typeface="Times New Roman"/>
                <a:ea typeface="Times New Roman"/>
                <a:cs typeface="Times New Roman"/>
                <a:sym typeface="Times New Roman"/>
              </a:rPr>
              <a:t>ại ESA và 0</a:t>
            </a:r>
            <a:r>
              <a:rPr lang="en-US" sz="1500">
                <a:solidFill>
                  <a:schemeClr val="dk1"/>
                </a:solidFill>
                <a:latin typeface="Times New Roman"/>
                <a:ea typeface="Times New Roman"/>
                <a:cs typeface="Times New Roman"/>
                <a:sym typeface="Times New Roman"/>
              </a:rPr>
              <a:t>2</a:t>
            </a:r>
            <a:r>
              <a:rPr lang="en-US" sz="1500" b="0" i="0" u="none" strike="noStrike" cap="none">
                <a:solidFill>
                  <a:schemeClr val="dk1"/>
                </a:solidFill>
                <a:latin typeface="Times New Roman"/>
                <a:ea typeface="Times New Roman"/>
                <a:cs typeface="Times New Roman"/>
                <a:sym typeface="Times New Roman"/>
              </a:rPr>
              <a:t> tại IHI</a:t>
            </a:r>
            <a:r>
              <a:rPr lang="en-US" sz="1500">
                <a:solidFill>
                  <a:schemeClr val="dk1"/>
                </a:solidFill>
                <a:latin typeface="Times New Roman"/>
                <a:ea typeface="Times New Roman"/>
                <a:cs typeface="Times New Roman"/>
                <a:sym typeface="Times New Roman"/>
              </a:rPr>
              <a:t>, 01 tại MTU-H</a:t>
            </a:r>
            <a:r>
              <a:rPr lang="en-US" sz="1500" b="0" i="0" u="none" strike="noStrike" cap="none">
                <a:solidFill>
                  <a:schemeClr val="dk1"/>
                </a:solidFill>
                <a:latin typeface="Times New Roman"/>
                <a:ea typeface="Times New Roman"/>
                <a:cs typeface="Times New Roman"/>
                <a:sym typeface="Times New Roman"/>
              </a:rPr>
              <a:t>)</a:t>
            </a:r>
            <a:endParaRPr sz="1500" b="0" i="0" u="none" strike="noStrike" cap="none">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Đang đàm phán với đối tác sửa đổi hợp đồng thuê sau khi trình kí LOI (Willis và ELFC)</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b="0" i="0" u="none" strike="noStrike" cap="none">
                <a:solidFill>
                  <a:schemeClr val="dk1"/>
                </a:solidFill>
                <a:latin typeface="Times New Roman"/>
                <a:ea typeface="Times New Roman"/>
                <a:cs typeface="Times New Roman"/>
                <a:sym typeface="Times New Roman"/>
              </a:rPr>
              <a:t>Trong đó: </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a:solidFill>
                  <a:schemeClr val="dk1"/>
                </a:solidFill>
                <a:latin typeface="Times New Roman"/>
                <a:ea typeface="Times New Roman"/>
                <a:cs typeface="Times New Roman"/>
                <a:sym typeface="Times New Roman"/>
              </a:rPr>
              <a:t>+ P771130: Hiện đang được Collins lắp QEC (Lịch ready + 2 tuần)</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a:solidFill>
                  <a:srgbClr val="FF0000"/>
                </a:solidFill>
                <a:latin typeface="Times New Roman"/>
                <a:ea typeface="Times New Roman"/>
                <a:cs typeface="Times New Roman"/>
                <a:sym typeface="Times New Roman"/>
              </a:rPr>
              <a:t>Vướng mắc:</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Thúc đẩy động cơ sửa chữa tại shop.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Tổ chức họp và tìm giải pháp với Ban KT, VAECO với danh mục MPL đc tháo khi gửi đi sửa.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70</a:t>
            </a:fld>
            <a:endParaRPr/>
          </a:p>
        </p:txBody>
      </p:sp>
      <p:sp>
        <p:nvSpPr>
          <p:cNvPr id="293" name="Google Shape;293;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06:  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ED0239, ED0217,ED0</a:t>
            </a:r>
            <a:r>
              <a:rPr lang="en-US" sz="1500">
                <a:solidFill>
                  <a:schemeClr val="dk1"/>
                </a:solidFill>
                <a:latin typeface="Times New Roman"/>
                <a:ea typeface="Times New Roman"/>
                <a:cs typeface="Times New Roman"/>
                <a:sym typeface="Times New Roman"/>
              </a:rPr>
              <a:t>233</a:t>
            </a:r>
            <a:r>
              <a:rPr lang="en-US" sz="1500" b="0" i="0" u="none" strike="noStrike" cap="none">
                <a:solidFill>
                  <a:schemeClr val="dk1"/>
                </a:solidFill>
                <a:latin typeface="Times New Roman"/>
                <a:ea typeface="Times New Roman"/>
                <a:cs typeface="Times New Roman"/>
                <a:sym typeface="Times New Roman"/>
              </a:rPr>
              <a:t> đang sửa tại SA.</a:t>
            </a:r>
            <a:endParaRPr sz="1500" b="0" i="0" u="none" strike="noStrike" cap="none">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ED0214 đang chuẩn bị gửi đi sửa tại SA.</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Các shop vẫn đang gặp trình trạng thiếu part, dẫn đến TAT bị kéo dài tại cả 02 shop</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pic>
        <p:nvPicPr>
          <p:cNvPr id="294" name="Google Shape;294;g31ccdae391d_0_389"/>
          <p:cNvPicPr preferRelativeResize="0"/>
          <p:nvPr/>
        </p:nvPicPr>
        <p:blipFill>
          <a:blip r:embed="rId3">
            <a:alphaModFix/>
          </a:blip>
          <a:stretch>
            <a:fillRect/>
          </a:stretch>
        </p:blipFill>
        <p:spPr>
          <a:xfrm>
            <a:off x="152400" y="2746400"/>
            <a:ext cx="11698200" cy="24317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1" name="Google Shape;301;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71</a:t>
            </a:fld>
            <a:endParaRPr/>
          </a:p>
        </p:txBody>
      </p:sp>
      <p:sp>
        <p:nvSpPr>
          <p:cNvPr id="302" name="Google Shape;302;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dirty="0">
                <a:solidFill>
                  <a:schemeClr val="dk1"/>
                </a:solidFill>
                <a:latin typeface="Times New Roman"/>
                <a:ea typeface="Times New Roman"/>
                <a:cs typeface="Times New Roman"/>
                <a:sym typeface="Times New Roman"/>
              </a:rPr>
              <a:t>NIL stock.</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21422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HAESL)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HAN 15/04.</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 </a:t>
            </a:r>
            <a:r>
              <a:rPr lang="en-US" sz="1600" dirty="0">
                <a:solidFill>
                  <a:schemeClr val="dk1"/>
                </a:solidFill>
                <a:latin typeface="Times New Roman"/>
                <a:ea typeface="Times New Roman"/>
                <a:cs typeface="Times New Roman"/>
                <a:sym typeface="Times New Roman"/>
              </a:rPr>
              <a:t>01ea (ENG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956980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lắp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A868)</a:t>
            </a:r>
            <a:r>
              <a:rPr lang="en-US" sz="160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956533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KLM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23/04. </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sắp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tới</a:t>
            </a:r>
            <a:r>
              <a:rPr lang="en-US" sz="1600" dirty="0">
                <a:solidFill>
                  <a:schemeClr val="dk1"/>
                </a:solidFill>
                <a:latin typeface="Times New Roman"/>
                <a:ea typeface="Times New Roman"/>
                <a:cs typeface="Times New Roman"/>
                <a:sym typeface="Times New Roman"/>
              </a:rPr>
              <a:t>: V12505 (05/04), V16456 (07/04)</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P770904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22/04.</a:t>
            </a:r>
            <a:endParaRPr sz="1600" dirty="0">
              <a:solidFill>
                <a:schemeClr val="dk1"/>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P771130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20/04.</a:t>
            </a:r>
            <a:endParaRPr sz="1600" dirty="0">
              <a:solidFill>
                <a:schemeClr val="dk1"/>
              </a:solidFill>
              <a:latin typeface="Times New Roman"/>
              <a:ea typeface="Times New Roman"/>
              <a:cs typeface="Times New Roman"/>
              <a:sym typeface="Times New Roman"/>
            </a:endParaRPr>
          </a:p>
          <a:p>
            <a:pPr marL="457200" lvl="0" indent="0" algn="just" rtl="0">
              <a:lnSpc>
                <a:spcPct val="115000"/>
              </a:lnSpc>
              <a:spcBef>
                <a:spcPts val="0"/>
              </a:spcBef>
              <a:spcAft>
                <a:spcPts val="0"/>
              </a:spcAft>
              <a:buClr>
                <a:schemeClr val="dk1"/>
              </a:buClr>
              <a:buSzPts val="1100"/>
              <a:buFont typeface="Arial"/>
              <a:buNone/>
            </a:pP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01 stock (ED0</a:t>
            </a:r>
            <a:r>
              <a:rPr lang="en-US" sz="1600" dirty="0">
                <a:solidFill>
                  <a:schemeClr val="dk1"/>
                </a:solidFill>
                <a:latin typeface="Times New Roman"/>
                <a:ea typeface="Times New Roman"/>
                <a:cs typeface="Times New Roman"/>
                <a:sym typeface="Times New Roman"/>
              </a:rPr>
              <a:t>235</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a:t>
            </a:r>
            <a:r>
              <a:rPr lang="en-US" sz="1600" dirty="0">
                <a:solidFill>
                  <a:schemeClr val="dk1"/>
                </a:solidFill>
                <a:latin typeface="Times New Roman"/>
                <a:ea typeface="Times New Roman"/>
                <a:cs typeface="Times New Roman"/>
                <a:sym typeface="Times New Roman"/>
              </a:rPr>
              <a:t>ED0239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release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16/04/2025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+ED0217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induct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19/03/2025.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+ED0233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induct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26/03/2025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+ED0214 </a:t>
            </a:r>
            <a:r>
              <a:rPr lang="en-US" sz="1600" dirty="0" err="1">
                <a:solidFill>
                  <a:schemeClr val="dk1"/>
                </a:solidFill>
                <a:latin typeface="Times New Roman"/>
                <a:ea typeface="Times New Roman"/>
                <a:cs typeface="Times New Roman"/>
                <a:sym typeface="Times New Roman"/>
              </a:rPr>
              <a:t>chuẩn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bị</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gửi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+ED0238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PWC: induct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24/01/2025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09" name="Google Shape;309;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72</a:t>
            </a:fld>
            <a:endParaRPr/>
          </a:p>
        </p:txBody>
      </p:sp>
      <p:sp>
        <p:nvSpPr>
          <p:cNvPr id="310" name="Google Shape;310;g31ccdae391d_0_403"/>
          <p:cNvSpPr txBox="1"/>
          <p:nvPr/>
        </p:nvSpPr>
        <p:spPr>
          <a:xfrm>
            <a:off x="7066700" y="571500"/>
            <a:ext cx="4085700" cy="421958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dirty="0">
                <a:solidFill>
                  <a:schemeClr val="dk1"/>
                </a:solidFill>
                <a:latin typeface="Times New Roman"/>
                <a:ea typeface="Times New Roman"/>
                <a:cs typeface="Times New Roman"/>
                <a:sym typeface="Times New Roman"/>
              </a:rPr>
              <a:t>APU A321 </a:t>
            </a:r>
            <a:endParaRPr sz="16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a:solidFill>
                  <a:schemeClr val="dk1"/>
                </a:solidFill>
                <a:latin typeface="Times New Roman"/>
                <a:ea typeface="Times New Roman"/>
                <a:cs typeface="Times New Roman"/>
                <a:sym typeface="Times New Roman"/>
              </a:rPr>
              <a:t>STK: 0</a:t>
            </a:r>
            <a:r>
              <a:rPr lang="en-US" dirty="0">
                <a:solidFill>
                  <a:schemeClr val="dk1"/>
                </a:solidFill>
                <a:latin typeface="Times New Roman"/>
                <a:ea typeface="Times New Roman"/>
                <a:cs typeface="Times New Roman"/>
                <a:sym typeface="Times New Roman"/>
              </a:rPr>
              <a:t>1</a:t>
            </a:r>
            <a:r>
              <a:rPr lang="en-US" sz="1400" b="0" i="0" u="none" strike="noStrike" cap="none" dirty="0">
                <a:solidFill>
                  <a:schemeClr val="dk1"/>
                </a:solidFill>
                <a:latin typeface="Times New Roman"/>
                <a:ea typeface="Times New Roman"/>
                <a:cs typeface="Times New Roman"/>
                <a:sym typeface="Times New Roman"/>
              </a:rPr>
              <a:t> APU</a:t>
            </a:r>
            <a:r>
              <a:rPr lang="en-US" dirty="0">
                <a:solidFill>
                  <a:schemeClr val="dk1"/>
                </a:solidFill>
                <a:latin typeface="Times New Roman"/>
                <a:ea typeface="Times New Roman"/>
                <a:cs typeface="Times New Roman"/>
                <a:sym typeface="Times New Roman"/>
              </a:rPr>
              <a:t> SN: P-7845</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4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err="1">
                <a:solidFill>
                  <a:schemeClr val="dk1"/>
                </a:solidFill>
                <a:latin typeface="Times New Roman"/>
                <a:ea typeface="Times New Roman"/>
                <a:cs typeface="Times New Roman"/>
                <a:sym typeface="Times New Roman"/>
              </a:rPr>
              <a:t>Th</a:t>
            </a:r>
            <a:r>
              <a:rPr lang="en-US" dirty="0" err="1">
                <a:solidFill>
                  <a:schemeClr val="dk1"/>
                </a:solidFill>
                <a:latin typeface="Times New Roman"/>
                <a:ea typeface="Times New Roman"/>
                <a:cs typeface="Times New Roman"/>
                <a:sym typeface="Times New Roman"/>
              </a:rPr>
              <a:t>áng</a:t>
            </a:r>
            <a:r>
              <a:rPr lang="en-US" dirty="0">
                <a:solidFill>
                  <a:schemeClr val="dk1"/>
                </a:solidFill>
                <a:latin typeface="Times New Roman"/>
                <a:ea typeface="Times New Roman"/>
                <a:cs typeface="Times New Roman"/>
                <a:sym typeface="Times New Roman"/>
              </a:rPr>
              <a:t> 4: </a:t>
            </a:r>
            <a:r>
              <a:rPr lang="en-US" dirty="0" err="1">
                <a:solidFill>
                  <a:schemeClr val="dk1"/>
                </a:solidFill>
                <a:latin typeface="Times New Roman"/>
                <a:ea typeface="Times New Roman"/>
                <a:cs typeface="Times New Roman"/>
                <a:sym typeface="Times New Roman"/>
              </a:rPr>
              <a:t>dk</a:t>
            </a:r>
            <a:r>
              <a:rPr lang="en-US" dirty="0">
                <a:solidFill>
                  <a:schemeClr val="dk1"/>
                </a:solidFill>
                <a:latin typeface="Times New Roman"/>
                <a:ea typeface="Times New Roman"/>
                <a:cs typeface="Times New Roman"/>
                <a:sym typeface="Times New Roman"/>
              </a:rPr>
              <a:t> 00 </a:t>
            </a:r>
            <a:r>
              <a:rPr lang="en-US" dirty="0" err="1">
                <a:solidFill>
                  <a:schemeClr val="dk1"/>
                </a:solidFill>
                <a:latin typeface="Times New Roman"/>
                <a:ea typeface="Times New Roman"/>
                <a:cs typeface="Times New Roman"/>
                <a:sym typeface="Times New Roman"/>
              </a:rPr>
              <a:t>ea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về</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A350</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 </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vận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chuyển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đi</a:t>
            </a:r>
            <a:r>
              <a:rPr lang="en-US" dirty="0">
                <a:solidFill>
                  <a:schemeClr val="dk1"/>
                </a:solidFill>
                <a:latin typeface="Times New Roman"/>
                <a:ea typeface="Times New Roman"/>
                <a:cs typeface="Times New Roman"/>
                <a:sym typeface="Times New Roman"/>
              </a:rPr>
              <a:t> shop </a:t>
            </a:r>
            <a:r>
              <a:rPr lang="en-US" dirty="0" err="1">
                <a:solidFill>
                  <a:schemeClr val="dk1"/>
                </a:solidFill>
                <a:latin typeface="Times New Roman"/>
                <a:ea typeface="Times New Roman"/>
                <a:cs typeface="Times New Roman"/>
                <a:sym typeface="Times New Roman"/>
              </a:rPr>
              <a:t>Lufth</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chữa</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+01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chữa</a:t>
            </a:r>
            <a:r>
              <a:rPr lang="en-US" dirty="0">
                <a:solidFill>
                  <a:schemeClr val="dk1"/>
                </a:solidFill>
                <a:latin typeface="Times New Roman"/>
                <a:ea typeface="Times New Roman"/>
                <a:cs typeface="Times New Roman"/>
                <a:sym typeface="Times New Roman"/>
              </a:rPr>
              <a:t> DK 25/04/2025 </a:t>
            </a:r>
            <a:r>
              <a:rPr lang="en-US" dirty="0" err="1">
                <a:solidFill>
                  <a:schemeClr val="dk1"/>
                </a:solidFill>
                <a:latin typeface="Times New Roman"/>
                <a:ea typeface="Times New Roman"/>
                <a:cs typeface="Times New Roman"/>
                <a:sym typeface="Times New Roman"/>
              </a:rPr>
              <a:t>xong</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dirty="0">
                <a:solidFill>
                  <a:schemeClr val="dk1"/>
                </a:solidFill>
                <a:latin typeface="Times New Roman"/>
                <a:ea typeface="Times New Roman"/>
                <a:cs typeface="Times New Roman"/>
                <a:sym typeface="Times New Roman"/>
              </a:rPr>
              <a:t> </a:t>
            </a:r>
            <a:endParaRPr sz="11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B787 </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a:t>
            </a:r>
            <a:r>
              <a:rPr lang="en-US" sz="1400" b="0" i="0" u="none" strike="noStrike" cap="none" dirty="0">
                <a:solidFill>
                  <a:schemeClr val="dk1"/>
                </a:solidFill>
                <a:latin typeface="Times New Roman"/>
                <a:ea typeface="Times New Roman"/>
                <a:cs typeface="Times New Roman"/>
                <a:sym typeface="Times New Roman"/>
              </a:rPr>
              <a:t> APU</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(PWC-Z926122) fail final test </a:t>
            </a:r>
            <a:r>
              <a:rPr lang="en-US" dirty="0" err="1">
                <a:solidFill>
                  <a:schemeClr val="dk1"/>
                </a:solidFill>
                <a:latin typeface="Times New Roman"/>
                <a:ea typeface="Times New Roman"/>
                <a:cs typeface="Times New Roman"/>
                <a:sym typeface="Times New Roman"/>
              </a:rPr>
              <a:t>phải</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đổi</a:t>
            </a:r>
            <a:r>
              <a:rPr lang="en-US" dirty="0">
                <a:solidFill>
                  <a:schemeClr val="dk1"/>
                </a:solidFill>
                <a:latin typeface="Times New Roman"/>
                <a:ea typeface="Times New Roman"/>
                <a:cs typeface="Times New Roman"/>
                <a:sym typeface="Times New Roman"/>
              </a:rPr>
              <a:t> WSC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dk</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về</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+01 APU ( PWC-Z925500)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tại</a:t>
            </a:r>
            <a:r>
              <a:rPr lang="en-US" dirty="0">
                <a:solidFill>
                  <a:schemeClr val="dk1"/>
                </a:solidFill>
                <a:latin typeface="Times New Roman"/>
                <a:ea typeface="Times New Roman"/>
                <a:cs typeface="Times New Roman"/>
                <a:sym typeface="Times New Roman"/>
              </a:rPr>
              <a:t> shop PW Poland </a:t>
            </a:r>
            <a:r>
              <a:rPr lang="en-US" dirty="0" err="1">
                <a:solidFill>
                  <a:schemeClr val="dk1"/>
                </a:solidFill>
                <a:latin typeface="Times New Roman"/>
                <a:ea typeface="Times New Roman"/>
                <a:cs typeface="Times New Roman"/>
                <a:sym typeface="Times New Roman"/>
              </a:rPr>
              <a:t>gặp</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tình</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trạng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kho</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khăn</a:t>
            </a:r>
            <a:r>
              <a:rPr lang="en-US" dirty="0">
                <a:solidFill>
                  <a:schemeClr val="dk1"/>
                </a:solidFill>
                <a:latin typeface="Times New Roman"/>
                <a:ea typeface="Times New Roman"/>
                <a:cs typeface="Times New Roman"/>
                <a:sym typeface="Times New Roman"/>
              </a:rPr>
              <a:t> trong </a:t>
            </a:r>
            <a:r>
              <a:rPr lang="en-US" dirty="0" err="1">
                <a:solidFill>
                  <a:schemeClr val="dk1"/>
                </a:solidFill>
                <a:latin typeface="Times New Roman"/>
                <a:ea typeface="Times New Roman"/>
                <a:cs typeface="Times New Roman"/>
                <a:sym typeface="Times New Roman"/>
              </a:rPr>
              <a:t>chuỗi</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cung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ứng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nên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dk</a:t>
            </a:r>
            <a:r>
              <a:rPr lang="en-US">
                <a:solidFill>
                  <a:schemeClr val="dk1"/>
                </a:solidFill>
                <a:latin typeface="Times New Roman"/>
                <a:ea typeface="Times New Roman"/>
                <a:cs typeface="Times New Roman"/>
                <a:sym typeface="Times New Roman"/>
              </a:rPr>
              <a:t> EDD 14/04/2025</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dirty="0">
              <a:solidFill>
                <a:schemeClr val="dk1"/>
              </a:solidFill>
              <a:latin typeface="Times New Roman"/>
              <a:ea typeface="Times New Roman"/>
              <a:cs typeface="Times New Roman"/>
              <a:sym typeface="Times New Roman"/>
            </a:endParaRPr>
          </a:p>
        </p:txBody>
      </p:sp>
      <p:pic>
        <p:nvPicPr>
          <p:cNvPr id="311" name="Google Shape;311;g31ccdae391d_0_403"/>
          <p:cNvPicPr preferRelativeResize="0"/>
          <p:nvPr/>
        </p:nvPicPr>
        <p:blipFill>
          <a:blip r:embed="rId3">
            <a:alphaModFix/>
          </a:blip>
          <a:stretch>
            <a:fillRect/>
          </a:stretch>
        </p:blipFill>
        <p:spPr>
          <a:xfrm>
            <a:off x="523875" y="495300"/>
            <a:ext cx="6332675" cy="544502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38eea6c084_0_0"/>
          <p:cNvSpPr txBox="1">
            <a:spLocks noGrp="1"/>
          </p:cNvSpPr>
          <p:nvPr>
            <p:ph type="title"/>
          </p:nvPr>
        </p:nvSpPr>
        <p:spPr>
          <a:xfrm>
            <a:off x="372775" y="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CHUẨN BỊ BAY NGA</a:t>
            </a:r>
            <a:endParaRPr sz="2800">
              <a:solidFill>
                <a:srgbClr val="FFC000"/>
              </a:solidFill>
              <a:latin typeface="Times New Roman"/>
              <a:ea typeface="Times New Roman"/>
              <a:cs typeface="Times New Roman"/>
              <a:sym typeface="Times New Roman"/>
            </a:endParaRPr>
          </a:p>
        </p:txBody>
      </p:sp>
      <p:sp>
        <p:nvSpPr>
          <p:cNvPr id="318" name="Google Shape;318;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73</a:t>
            </a:fld>
            <a:endParaRPr/>
          </a:p>
        </p:txBody>
      </p:sp>
      <p:sp>
        <p:nvSpPr>
          <p:cNvPr id="319" name="Google Shape;319;g338eea6c084_0_0"/>
          <p:cNvSpPr/>
          <p:nvPr/>
        </p:nvSpPr>
        <p:spPr>
          <a:xfrm>
            <a:off x="609900" y="1918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55600" algn="just" rtl="0">
              <a:lnSpc>
                <a:spcPct val="115000"/>
              </a:lnSpc>
              <a:spcBef>
                <a:spcPts val="0"/>
              </a:spcBef>
              <a:spcAft>
                <a:spcPts val="0"/>
              </a:spcAft>
              <a:buClr>
                <a:schemeClr val="dk1"/>
              </a:buClr>
              <a:buSzPts val="2000"/>
              <a:buFont typeface="Times New Roman"/>
              <a:buAutoNum type="arabicPeriod"/>
            </a:pPr>
            <a:r>
              <a:rPr lang="en-US" sz="2000" b="1" dirty="0">
                <a:solidFill>
                  <a:schemeClr val="dk1"/>
                </a:solidFill>
                <a:latin typeface="Times New Roman"/>
                <a:ea typeface="Times New Roman"/>
                <a:cs typeface="Times New Roman"/>
                <a:sym typeface="Times New Roman"/>
              </a:rPr>
              <a:t>NHIÊN LIỆU:</a:t>
            </a:r>
            <a:endParaRPr sz="2000" b="1"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tổ</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chức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lựa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chọn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liệu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hoàn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thành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trước</a:t>
            </a:r>
            <a:r>
              <a:rPr lang="en-US" sz="1600" dirty="0">
                <a:solidFill>
                  <a:schemeClr val="dk1"/>
                </a:solidFill>
                <a:latin typeface="Times New Roman"/>
                <a:ea typeface="Times New Roman"/>
                <a:cs typeface="Times New Roman"/>
                <a:sym typeface="Times New Roman"/>
              </a:rPr>
              <a:t> 21/04.</a:t>
            </a:r>
            <a:endParaRPr sz="2000"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a:solidFill>
                  <a:schemeClr val="dk1"/>
                </a:solidFill>
                <a:latin typeface="Times New Roman"/>
                <a:ea typeface="Times New Roman"/>
                <a:cs typeface="Times New Roman"/>
                <a:sym typeface="Times New Roman"/>
              </a:rPr>
              <a:t>2.  PTVT DỰ PHÒNG FAK</a:t>
            </a:r>
            <a:endParaRPr sz="1600" dirty="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TGĐ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duyệt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63 item (5.18 </a:t>
            </a:r>
            <a:r>
              <a:rPr lang="en-US" sz="1600" dirty="0" err="1">
                <a:solidFill>
                  <a:schemeClr val="dk1"/>
                </a:solidFill>
                <a:latin typeface="Times New Roman"/>
                <a:ea typeface="Times New Roman"/>
                <a:cs typeface="Times New Roman"/>
                <a:sym typeface="Times New Roman"/>
              </a:rPr>
              <a:t>triệu</a:t>
            </a:r>
            <a:r>
              <a:rPr lang="en-US" sz="1600" dirty="0">
                <a:solidFill>
                  <a:schemeClr val="dk1"/>
                </a:solidFill>
                <a:latin typeface="Times New Roman"/>
                <a:ea typeface="Times New Roman"/>
                <a:cs typeface="Times New Roman"/>
                <a:sym typeface="Times New Roman"/>
              </a:rPr>
              <a:t> USD) trong </a:t>
            </a:r>
            <a:r>
              <a:rPr lang="en-US" sz="1600" dirty="0" err="1">
                <a:solidFill>
                  <a:schemeClr val="dk1"/>
                </a:solidFill>
                <a:latin typeface="Times New Roman"/>
                <a:ea typeface="Times New Roman"/>
                <a:cs typeface="Times New Roman"/>
                <a:sym typeface="Times New Roman"/>
              </a:rPr>
              <a:t>đó</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12ea in stock.</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21ea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4.</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14ea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xác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lịch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tiếp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giục</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tuần</a:t>
            </a:r>
            <a:r>
              <a:rPr lang="en-US" sz="1600" dirty="0">
                <a:solidFill>
                  <a:schemeClr val="dk1"/>
                </a:solidFill>
                <a:latin typeface="Times New Roman"/>
                <a:ea typeface="Times New Roman"/>
                <a:cs typeface="Times New Roman"/>
                <a:sym typeface="Times New Roman"/>
              </a:rPr>
              <a:t> 15.</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15ea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trình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xin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duyệt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cũ</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chờ</a:t>
            </a:r>
            <a:r>
              <a:rPr lang="en-US" sz="1600" dirty="0">
                <a:solidFill>
                  <a:schemeClr val="dk1"/>
                </a:solidFill>
                <a:latin typeface="Times New Roman"/>
                <a:ea typeface="Times New Roman"/>
                <a:cs typeface="Times New Roman"/>
                <a:sym typeface="Times New Roman"/>
              </a:rPr>
              <a:t> P.TGĐ </a:t>
            </a:r>
            <a:r>
              <a:rPr lang="en-US" sz="1600" dirty="0" err="1">
                <a:solidFill>
                  <a:schemeClr val="dk1"/>
                </a:solidFill>
                <a:latin typeface="Times New Roman"/>
                <a:ea typeface="Times New Roman"/>
                <a:cs typeface="Times New Roman"/>
                <a:sym typeface="Times New Roman"/>
              </a:rPr>
              <a:t>xem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xét</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55600" algn="just" rtl="0">
              <a:lnSpc>
                <a:spcPct val="115000"/>
              </a:lnSpc>
              <a:spcBef>
                <a:spcPts val="0"/>
              </a:spcBef>
              <a:spcAft>
                <a:spcPts val="0"/>
              </a:spcAft>
              <a:buClr>
                <a:schemeClr val="dk1"/>
              </a:buClr>
              <a:buSzPts val="2000"/>
              <a:buFont typeface="Times New Roman"/>
              <a:buChar char="-"/>
            </a:pPr>
            <a:r>
              <a:rPr lang="en-US" sz="1600" dirty="0">
                <a:solidFill>
                  <a:schemeClr val="dk1"/>
                </a:solidFill>
                <a:latin typeface="Times New Roman"/>
                <a:ea typeface="Times New Roman"/>
                <a:cs typeface="Times New Roman"/>
                <a:sym typeface="Times New Roman"/>
              </a:rPr>
              <a:t>01ea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xem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xết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cũ</a:t>
            </a:r>
            <a:r>
              <a:rPr lang="en-US" sz="1600" dirty="0">
                <a:solidFill>
                  <a:schemeClr val="dk1"/>
                </a:solidFill>
                <a:latin typeface="Times New Roman"/>
                <a:ea typeface="Times New Roman"/>
                <a:cs typeface="Times New Roman"/>
                <a:sym typeface="Times New Roman"/>
              </a:rPr>
              <a:t> hay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khối</a:t>
            </a:r>
            <a:r>
              <a:rPr lang="en-US" sz="1600" dirty="0">
                <a:solidFill>
                  <a:schemeClr val="dk1"/>
                </a:solidFill>
                <a:latin typeface="Times New Roman"/>
                <a:ea typeface="Times New Roman"/>
                <a:cs typeface="Times New Roman"/>
                <a:sym typeface="Times New Roman"/>
              </a:rPr>
              <a:t> mod. </a:t>
            </a:r>
            <a:endParaRPr sz="1600" b="0" i="0" u="none" strike="noStrike" cap="none"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a:solidFill>
                  <a:schemeClr val="dk1"/>
                </a:solidFill>
                <a:latin typeface="Times New Roman"/>
                <a:ea typeface="Times New Roman"/>
                <a:cs typeface="Times New Roman"/>
                <a:sym typeface="Times New Roman"/>
              </a:rPr>
              <a:t>3.  VẬN CHUYỂN, THUÊ KHO Ở NGA</a:t>
            </a:r>
            <a:endParaRPr sz="2000" b="1"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hệ</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các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tìm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trước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phương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án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hiện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một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số</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vướng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mắc</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cụ</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case by case (HS Code, product description, commercial invoice and purpose of use information in order to take action).</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Submit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Airlines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xin</a:t>
            </a:r>
            <a:r>
              <a:rPr lang="en-US" sz="1600" dirty="0">
                <a:solidFill>
                  <a:schemeClr val="dk1"/>
                </a:solidFill>
                <a:latin typeface="Times New Roman"/>
                <a:ea typeface="Times New Roman"/>
                <a:cs typeface="Times New Roman"/>
                <a:sym typeface="Times New Roman"/>
              </a:rPr>
              <a:t> approval.</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Nếu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thì</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cũng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mất</a:t>
            </a:r>
            <a:r>
              <a:rPr lang="en-US" sz="1600" dirty="0">
                <a:solidFill>
                  <a:schemeClr val="dk1"/>
                </a:solidFill>
                <a:latin typeface="Times New Roman"/>
                <a:ea typeface="Times New Roman"/>
                <a:cs typeface="Times New Roman"/>
                <a:sym typeface="Times New Roman"/>
              </a:rPr>
              <a:t> 3-5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VN. </a:t>
            </a:r>
            <a:r>
              <a:rPr lang="en-US" sz="1600" dirty="0" err="1">
                <a:solidFill>
                  <a:schemeClr val="dk1"/>
                </a:solidFill>
                <a:latin typeface="Times New Roman"/>
                <a:ea typeface="Times New Roman"/>
                <a:cs typeface="Times New Roman"/>
                <a:sym typeface="Times New Roman"/>
              </a:rPr>
              <a:t>Còn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châu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Âu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Mỹ</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hiện</a:t>
            </a:r>
            <a:r>
              <a:rPr lang="en-US" sz="1600" dirty="0">
                <a:solidFill>
                  <a:schemeClr val="dk1"/>
                </a:solidFill>
                <a:latin typeface="Times New Roman"/>
                <a:ea typeface="Times New Roman"/>
                <a:cs typeface="Times New Roman"/>
                <a:sym typeface="Times New Roman"/>
              </a:rPr>
              <a:t> nay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được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Nga</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--&gt; </a:t>
            </a:r>
            <a:r>
              <a:rPr lang="en-US" sz="1600" dirty="0" err="1">
                <a:solidFill>
                  <a:schemeClr val="dk1"/>
                </a:solidFill>
                <a:latin typeface="Times New Roman"/>
                <a:ea typeface="Times New Roman"/>
                <a:cs typeface="Times New Roman"/>
                <a:sym typeface="Times New Roman"/>
              </a:rPr>
              <a:t>vẫn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khăn</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tìm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thêm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khác</a:t>
            </a:r>
            <a:endParaRPr sz="1600" dirty="0">
              <a:solidFill>
                <a:schemeClr val="dk1"/>
              </a:solidFill>
              <a:latin typeface="Times New Roman"/>
              <a:ea typeface="Times New Roman"/>
              <a:cs typeface="Times New Roman"/>
              <a:sym typeface="Times New Roman"/>
            </a:endParaRPr>
          </a:p>
          <a:p>
            <a:pPr marR="0" lvl="0" algn="just" rtl="0">
              <a:lnSpc>
                <a:spcPct val="115000"/>
              </a:lnSpc>
              <a:spcBef>
                <a:spcPts val="0"/>
              </a:spcBef>
              <a:spcAft>
                <a:spcPts val="0"/>
              </a:spcAft>
            </a:pPr>
            <a:endParaRPr lang="en-US" sz="1600" dirty="0">
              <a:solidFill>
                <a:schemeClr val="dk1"/>
              </a:solidFill>
              <a:latin typeface="Times New Roman"/>
              <a:ea typeface="Times New Roman"/>
              <a:cs typeface="Times New Roman"/>
              <a:sym typeface="Times New Roman"/>
            </a:endParaRPr>
          </a:p>
          <a:p>
            <a:pPr marR="0" lvl="0" algn="just" rtl="0">
              <a:lnSpc>
                <a:spcPct val="115000"/>
              </a:lnSpc>
              <a:spcBef>
                <a:spcPts val="0"/>
              </a:spcBef>
              <a:spcAft>
                <a:spcPts val="0"/>
              </a:spcAft>
            </a:pPr>
            <a:r>
              <a:rPr lang="en-US" sz="1600" dirty="0">
                <a:solidFill>
                  <a:schemeClr val="dk1"/>
                </a:solidFill>
                <a:latin typeface="Times New Roman"/>
                <a:ea typeface="Times New Roman"/>
                <a:cs typeface="Times New Roman"/>
                <a:sym typeface="Times New Roman"/>
              </a:rPr>
              <a:t>  -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tác</a:t>
            </a:r>
            <a:r>
              <a:rPr lang="en-US" sz="1600" dirty="0">
                <a:solidFill>
                  <a:schemeClr val="dk1"/>
                </a:solidFill>
                <a:latin typeface="Times New Roman"/>
                <a:ea typeface="Times New Roman"/>
                <a:cs typeface="Times New Roman"/>
                <a:sym typeface="Times New Roman"/>
              </a:rPr>
              <a:t> ở </a:t>
            </a:r>
            <a:r>
              <a:rPr lang="en-US" sz="1600" dirty="0" err="1">
                <a:solidFill>
                  <a:schemeClr val="dk1"/>
                </a:solidFill>
                <a:latin typeface="Times New Roman"/>
                <a:ea typeface="Times New Roman"/>
                <a:cs typeface="Times New Roman"/>
                <a:sym typeface="Times New Roman"/>
              </a:rPr>
              <a:t>Nga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phải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làm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thủ</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khẩu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vi </a:t>
            </a:r>
            <a:r>
              <a:rPr lang="en-US" sz="1600" dirty="0" err="1">
                <a:solidFill>
                  <a:schemeClr val="dk1"/>
                </a:solidFill>
                <a:latin typeface="Times New Roman"/>
                <a:ea typeface="Times New Roman"/>
                <a:cs typeface="Times New Roman"/>
                <a:sym typeface="Times New Roman"/>
              </a:rPr>
              <a:t>phạm</a:t>
            </a:r>
            <a:r>
              <a:rPr lang="en-US" sz="1600" dirty="0">
                <a:solidFill>
                  <a:schemeClr val="dk1"/>
                </a:solidFill>
                <a:latin typeface="Times New Roman"/>
                <a:ea typeface="Times New Roman"/>
                <a:cs typeface="Times New Roman"/>
                <a:sym typeface="Times New Roman"/>
              </a:rPr>
              <a:t> cam </a:t>
            </a:r>
            <a:r>
              <a:rPr lang="en-US" sz="1600" dirty="0" err="1">
                <a:solidFill>
                  <a:schemeClr val="dk1"/>
                </a:solidFill>
                <a:latin typeface="Times New Roman"/>
                <a:ea typeface="Times New Roman"/>
                <a:cs typeface="Times New Roman"/>
                <a:sym typeface="Times New Roman"/>
              </a:rPr>
              <a:t>kết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xuất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khẩu</a:t>
            </a:r>
            <a:r>
              <a:rPr lang="en-US" sz="1600" dirty="0">
                <a:solidFill>
                  <a:schemeClr val="dk1"/>
                </a:solidFill>
                <a:latin typeface="Times New Roman"/>
                <a:ea typeface="Times New Roman"/>
                <a:cs typeface="Times New Roman"/>
                <a:sym typeface="Times New Roman"/>
              </a:rPr>
              <a:t> PTVT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các</a:t>
            </a:r>
            <a:r>
              <a:rPr lang="en-US" sz="1600" dirty="0">
                <a:solidFill>
                  <a:schemeClr val="dk1"/>
                </a:solidFill>
                <a:latin typeface="Times New Roman"/>
                <a:ea typeface="Times New Roman"/>
                <a:cs typeface="Times New Roman"/>
                <a:sym typeface="Times New Roman"/>
              </a:rPr>
              <a:t> OEM.</a:t>
            </a: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rPr>
              <a:t>THANK YOU</a:t>
            </a:r>
            <a:endParaRPr kumimoji="0"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18D4A-261A-4850-B6EF-E8D1177C057C}">
  <ds:schemaRefs>
    <ds:schemaRef ds:uri="http://purl.org/dc/elements/1.1/"/>
    <ds:schemaRef ds:uri="http://schemas.microsoft.com/office/2006/metadata/properties"/>
    <ds:schemaRef ds:uri="http://purl.org/dc/terms/"/>
    <ds:schemaRef ds:uri="http://schemas.openxmlformats.org/package/2006/metadata/core-properties"/>
    <ds:schemaRef ds:uri="e189f61e-1295-4779-a752-040c7fad5177"/>
    <ds:schemaRef ds:uri="http://schemas.microsoft.com/office/2006/documentManagement/types"/>
    <ds:schemaRef ds:uri="b6015720-aa74-4be3-ba0d-eab08776cb9b"/>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74680</TotalTime>
  <Words>16946</Words>
  <Application>Microsoft Office PowerPoint</Application>
  <PresentationFormat>Widescreen</PresentationFormat>
  <Paragraphs>2721</Paragraphs>
  <Slides>75</Slides>
  <Notes>64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75</vt:i4>
      </vt:variant>
    </vt:vector>
  </HeadingPairs>
  <TitlesOfParts>
    <vt:vector size="86" baseType="lpstr">
      <vt:lpstr>Alice</vt:lpstr>
      <vt:lpstr>Arial</vt:lpstr>
      <vt:lpstr>Calibri</vt:lpstr>
      <vt:lpstr>Cambria</vt:lpstr>
      <vt:lpstr>Courier New</vt:lpstr>
      <vt:lpstr>Montserrat</vt:lpstr>
      <vt:lpstr>Montserrat Bold</vt:lpstr>
      <vt:lpstr>Montserrat SemiBold</vt:lpstr>
      <vt:lpstr>Times New Roman</vt:lpstr>
      <vt:lpstr>Wingdings</vt:lpstr>
      <vt:lpstr>16-9 MASTER TEMPLATE</vt:lpstr>
      <vt:lpstr>BÁO CÁO KỸ THUẬT (Tuần 14: 31/03/2025 – 07/04/2025)</vt:lpstr>
      <vt:lpstr>TỔNG HỢP AOG, DELAY VÀ GTB/ATB/DIV</vt:lpstr>
      <vt:lpstr>ATB/GTB COMPARISON</vt:lpstr>
      <vt:lpstr>CÁC SỰ KIỆN ATB/GTB/DIV</vt:lpstr>
      <vt:lpstr>CÁC SỰ KIỆN ATB/GTB/DIV</vt:lpstr>
      <vt:lpstr>CÁC SỰ KIỆN ATB/GTB/DIV</vt:lpstr>
      <vt:lpstr>PowerPoint Presentation</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PowerPoint Presentation</vt:lpstr>
      <vt:lpstr>TÌNH TRẠNG KỸ THUẬT ĐỘI BAY – A350</vt:lpstr>
      <vt:lpstr>TÌNH TRẠNG KỸ THUẬT ĐỘI BAY – A350</vt:lpstr>
      <vt:lpstr>TÌNH TRẠNG KỸ THUẬT ĐỘI BAY – A350</vt:lpstr>
      <vt:lpstr>PowerPoint Presentation</vt:lpstr>
      <vt:lpstr>PowerPoint Presentation</vt:lpstr>
      <vt:lpstr>TÌNH TRẠNG KỸ THUẬT ĐỘI BAY – B787</vt:lpstr>
      <vt:lpstr>PowerPoint Presentation</vt:lpstr>
      <vt:lpstr>PowerPoint Presentation</vt:lpstr>
      <vt:lpstr>TÌNH TRẠNG KỸ THUẬT ĐỘI BAY – ATR72</vt:lpstr>
      <vt:lpstr>PowerPoint Presentation</vt:lpstr>
      <vt:lpstr>PowerPoint Presentation</vt:lpstr>
      <vt:lpstr>PowerPoint Presentation</vt:lpstr>
      <vt:lpstr>DISPATCH RELIABILITY W14 (31/03/2025-07/04/2025)</vt:lpstr>
      <vt:lpstr>CÁC CÔNG VIỆC TRỌNG ĐIỂM</vt:lpstr>
      <vt:lpstr>PowerPoint Presentation</vt:lpstr>
      <vt:lpstr>PowerPoint Presentation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(BDĐK)</vt:lpstr>
      <vt:lpstr>CÁC TÀU BQDB VÀ ĐANG TRONG BẢO DƯỠNG (BDĐK)</vt:lpstr>
      <vt:lpstr>PowerPoint Presentation</vt:lpstr>
      <vt:lpstr>PowerPoint Presentation</vt:lpstr>
      <vt:lpstr>PowerPoint Presentation</vt:lpstr>
      <vt:lpstr>Công tác phối hợp DVHK kiểm tra nội thất khoang C</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TÌNH TRẠNG APU LRU A321 </vt:lpstr>
      <vt:lpstr>A321 CÁC VẬT TƯ VƯỚNG MẮC KHÁC</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CHUẨN BỊ BAY NGA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Nguyen Dinh Thanh</cp:lastModifiedBy>
  <cp:revision>11709</cp:revision>
  <cp:lastPrinted>2019-03-27T09:25:07Z</cp:lastPrinted>
  <dcterms:created xsi:type="dcterms:W3CDTF">2018-12-27T04:50:36Z</dcterms:created>
  <dcterms:modified xsi:type="dcterms:W3CDTF">2025-04-07T15:57:11Z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