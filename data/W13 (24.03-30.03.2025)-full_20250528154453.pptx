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theme/themeOverride1.xml" ContentType="application/vnd.openxmlformats-officedocument.themeOverrid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7.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9.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5.xml" ContentType="application/vnd.openxmlformats-officedocument.drawingml.chart+xml"/>
  <Override PartName="/ppt/notesSlides/notesSlide36.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7.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38.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4"/>
  </p:notesMasterIdLst>
  <p:sldIdLst>
    <p:sldId id="11486" r:id="rId5"/>
    <p:sldId id="11487" r:id="rId6"/>
    <p:sldId id="11488" r:id="rId7"/>
    <p:sldId id="12043" r:id="rId8"/>
    <p:sldId id="11493" r:id="rId9"/>
    <p:sldId id="12044" r:id="rId10"/>
    <p:sldId id="12045" r:id="rId11"/>
    <p:sldId id="12046" r:id="rId12"/>
    <p:sldId id="11505" r:id="rId13"/>
    <p:sldId id="12047" r:id="rId14"/>
    <p:sldId id="12050" r:id="rId15"/>
    <p:sldId id="12020" r:id="rId16"/>
    <p:sldId id="12021" r:id="rId17"/>
    <p:sldId id="12048" r:id="rId18"/>
    <p:sldId id="12017" r:id="rId19"/>
    <p:sldId id="12018" r:id="rId20"/>
    <p:sldId id="12019" r:id="rId21"/>
    <p:sldId id="12049" r:id="rId22"/>
    <p:sldId id="11869" r:id="rId23"/>
    <p:sldId id="12039" r:id="rId24"/>
    <p:sldId id="12040" r:id="rId25"/>
    <p:sldId id="12041" r:id="rId26"/>
    <p:sldId id="12042" r:id="rId27"/>
    <p:sldId id="11933" r:id="rId28"/>
    <p:sldId id="11971" r:id="rId29"/>
    <p:sldId id="12026" r:id="rId30"/>
    <p:sldId id="12027" r:id="rId31"/>
    <p:sldId id="12028" r:id="rId32"/>
    <p:sldId id="12029" r:id="rId33"/>
    <p:sldId id="12030" r:id="rId34"/>
    <p:sldId id="12031" r:id="rId35"/>
    <p:sldId id="12032" r:id="rId36"/>
    <p:sldId id="12033" r:id="rId37"/>
    <p:sldId id="12034" r:id="rId38"/>
    <p:sldId id="12035" r:id="rId39"/>
    <p:sldId id="12036" r:id="rId40"/>
    <p:sldId id="12037" r:id="rId41"/>
    <p:sldId id="12038" r:id="rId42"/>
    <p:sldId id="11986" r:id="rId43"/>
    <p:sldId id="11987" r:id="rId44"/>
    <p:sldId id="12023" r:id="rId45"/>
    <p:sldId id="12024" r:id="rId46"/>
    <p:sldId id="12022" r:id="rId47"/>
    <p:sldId id="12016" r:id="rId48"/>
    <p:sldId id="11545" r:id="rId49"/>
    <p:sldId id="12013" r:id="rId50"/>
    <p:sldId id="12014" r:id="rId51"/>
    <p:sldId id="12015" r:id="rId52"/>
    <p:sldId id="11993" r:id="rId53"/>
    <p:sldId id="11994" r:id="rId54"/>
    <p:sldId id="11995" r:id="rId55"/>
    <p:sldId id="11996" r:id="rId56"/>
    <p:sldId id="11997" r:id="rId57"/>
    <p:sldId id="11998" r:id="rId58"/>
    <p:sldId id="11999" r:id="rId59"/>
    <p:sldId id="12000" r:id="rId60"/>
    <p:sldId id="12001" r:id="rId61"/>
    <p:sldId id="12002" r:id="rId62"/>
    <p:sldId id="12003" r:id="rId63"/>
    <p:sldId id="12004" r:id="rId64"/>
    <p:sldId id="12005" r:id="rId65"/>
    <p:sldId id="12006" r:id="rId66"/>
    <p:sldId id="12007" r:id="rId67"/>
    <p:sldId id="12008" r:id="rId68"/>
    <p:sldId id="12009" r:id="rId69"/>
    <p:sldId id="12010" r:id="rId70"/>
    <p:sldId id="12011" r:id="rId71"/>
    <p:sldId id="12012" r:id="rId72"/>
    <p:sldId id="11888" r:id="rId7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15" autoAdjust="0"/>
    <p:restoredTop sz="95337" autoAdjust="0"/>
  </p:normalViewPr>
  <p:slideViewPr>
    <p:cSldViewPr>
      <p:cViewPr varScale="1">
        <p:scale>
          <a:sx n="115" d="100"/>
          <a:sy n="115" d="100"/>
        </p:scale>
        <p:origin x="180" y="8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esktop\TAI%20LIEU%20LAM%20VIEC\MOC\BC_Tu&#226;n\2025\W12\W12%20(17.03-23.03.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oleObject" Target="file:///C:\Users\hoangdg\Desktop\BC%20MOC\W13\W13%20(24.03-30.03.2025).xlsx" TargetMode="External"/><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1" Type="http://schemas.openxmlformats.org/officeDocument/2006/relationships/oleObject" Target="file:///C:\Users\hoangdg\Desktop\BC%20MOC\W13\W13%20(24.03-30.03.2025).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hoangdg\Desktop\BC%20MOC\W13\W13%20(24.03-30.03.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ViberDownloads\W12%20(17.03-23.03.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hoangdg\Desktop\BC%20MOC\W13\W13%20(24.03-30.03.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3\DR\DR-W13.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D:\ViberDownloads\W12%20(17.03-23.03.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E57D-4D3B-8A6E-CDD58F39DF69}"/>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E57D-4D3B-8A6E-CDD58F39DF69}"/>
            </c:ext>
          </c:extLst>
        </c:ser>
        <c:dLbls>
          <c:showLegendKey val="0"/>
          <c:showVal val="0"/>
          <c:showCatName val="0"/>
          <c:showSerName val="0"/>
          <c:showPercent val="0"/>
          <c:showBubbleSize val="0"/>
        </c:dLbls>
        <c:gapWidth val="219"/>
        <c:overlap val="-27"/>
        <c:axId val="396808592"/>
        <c:axId val="396805456"/>
        <c:extLst/>
      </c:barChart>
      <c:catAx>
        <c:axId val="39680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5456"/>
        <c:crosses val="autoZero"/>
        <c:auto val="1"/>
        <c:lblAlgn val="ctr"/>
        <c:lblOffset val="100"/>
        <c:noMultiLvlLbl val="0"/>
      </c:catAx>
      <c:valAx>
        <c:axId val="39680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8592"/>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3</c:v>
                </c:pt>
                <c:pt idx="2">
                  <c:v>0</c:v>
                </c:pt>
                <c:pt idx="3">
                  <c:v>0</c:v>
                </c:pt>
                <c:pt idx="4">
                  <c:v>0</c:v>
                </c:pt>
                <c:pt idx="5">
                  <c:v>3</c:v>
                </c:pt>
              </c:numCache>
            </c:numRef>
          </c:val>
          <c:extLst xmlns:c15="http://schemas.microsoft.com/office/drawing/2012/chart">
            <c:ext xmlns:c16="http://schemas.microsoft.com/office/drawing/2014/chart" uri="{C3380CC4-5D6E-409C-BE32-E72D297353CC}">
              <c16:uniqueId val="{00000000-328B-4452-8D29-44CF063C45C4}"/>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3</c:v>
                </c:pt>
                <c:pt idx="2">
                  <c:v>2</c:v>
                </c:pt>
                <c:pt idx="3">
                  <c:v>0</c:v>
                </c:pt>
                <c:pt idx="4">
                  <c:v>1</c:v>
                </c:pt>
                <c:pt idx="5">
                  <c:v>6</c:v>
                </c:pt>
              </c:numCache>
            </c:numRef>
          </c:val>
          <c:extLst>
            <c:ext xmlns:c16="http://schemas.microsoft.com/office/drawing/2014/chart" uri="{C3380CC4-5D6E-409C-BE32-E72D297353CC}">
              <c16:uniqueId val="{00000001-328B-4452-8D29-44CF063C45C4}"/>
            </c:ext>
          </c:extLst>
        </c:ser>
        <c:dLbls>
          <c:dLblPos val="outEnd"/>
          <c:showLegendKey val="0"/>
          <c:showVal val="1"/>
          <c:showCatName val="0"/>
          <c:showSerName val="0"/>
          <c:showPercent val="0"/>
          <c:showBubbleSize val="0"/>
        </c:dLbls>
        <c:gapWidth val="219"/>
        <c:overlap val="-27"/>
        <c:axId val="390114688"/>
        <c:axId val="390116256"/>
        <c:extLst/>
      </c:barChart>
      <c:catAx>
        <c:axId val="39011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6256"/>
        <c:crosses val="autoZero"/>
        <c:auto val="1"/>
        <c:lblAlgn val="ctr"/>
        <c:lblOffset val="100"/>
        <c:noMultiLvlLbl val="0"/>
      </c:catAx>
      <c:valAx>
        <c:axId val="390116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468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0</c:v>
                </c:pt>
                <c:pt idx="4">
                  <c:v>1</c:v>
                </c:pt>
                <c:pt idx="5">
                  <c:v>1</c:v>
                </c:pt>
              </c:numCache>
            </c:numRef>
          </c:val>
          <c:extLst xmlns:c15="http://schemas.microsoft.com/office/drawing/2012/chart">
            <c:ext xmlns:c16="http://schemas.microsoft.com/office/drawing/2014/chart" uri="{C3380CC4-5D6E-409C-BE32-E72D297353CC}">
              <c16:uniqueId val="{00000000-2F37-4774-BF72-8551245F68F4}"/>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2F37-4774-BF72-8551245F68F4}"/>
            </c:ext>
          </c:extLst>
        </c:ser>
        <c:dLbls>
          <c:showLegendKey val="0"/>
          <c:showVal val="0"/>
          <c:showCatName val="0"/>
          <c:showSerName val="0"/>
          <c:showPercent val="0"/>
          <c:showBubbleSize val="0"/>
        </c:dLbls>
        <c:gapWidth val="219"/>
        <c:overlap val="-27"/>
        <c:axId val="390115080"/>
        <c:axId val="390117432"/>
        <c:extLst/>
      </c:barChart>
      <c:catAx>
        <c:axId val="390115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7432"/>
        <c:crosses val="autoZero"/>
        <c:auto val="1"/>
        <c:lblAlgn val="ctr"/>
        <c:lblOffset val="100"/>
        <c:noMultiLvlLbl val="0"/>
      </c:catAx>
      <c:valAx>
        <c:axId val="390117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508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1</c:v>
                </c:pt>
                <c:pt idx="2">
                  <c:v>0</c:v>
                </c:pt>
                <c:pt idx="3">
                  <c:v>0</c:v>
                </c:pt>
                <c:pt idx="4">
                  <c:v>0</c:v>
                </c:pt>
                <c:pt idx="5">
                  <c:v>1</c:v>
                </c:pt>
              </c:numCache>
            </c:numRef>
          </c:val>
          <c:extLst xmlns:c15="http://schemas.microsoft.com/office/drawing/2012/chart">
            <c:ext xmlns:c16="http://schemas.microsoft.com/office/drawing/2014/chart" uri="{C3380CC4-5D6E-409C-BE32-E72D297353CC}">
              <c16:uniqueId val="{00000000-CC51-4B38-AADD-D05C455C470C}"/>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1</c:v>
                </c:pt>
                <c:pt idx="2">
                  <c:v>0</c:v>
                </c:pt>
                <c:pt idx="3">
                  <c:v>1</c:v>
                </c:pt>
                <c:pt idx="4">
                  <c:v>0</c:v>
                </c:pt>
                <c:pt idx="5">
                  <c:v>2</c:v>
                </c:pt>
              </c:numCache>
            </c:numRef>
          </c:val>
          <c:extLst>
            <c:ext xmlns:c16="http://schemas.microsoft.com/office/drawing/2014/chart" uri="{C3380CC4-5D6E-409C-BE32-E72D297353CC}">
              <c16:uniqueId val="{00000001-CC51-4B38-AADD-D05C455C470C}"/>
            </c:ext>
          </c:extLst>
        </c:ser>
        <c:dLbls>
          <c:dLblPos val="outEnd"/>
          <c:showLegendKey val="0"/>
          <c:showVal val="1"/>
          <c:showCatName val="0"/>
          <c:showSerName val="0"/>
          <c:showPercent val="0"/>
          <c:showBubbleSize val="0"/>
        </c:dLbls>
        <c:gapWidth val="219"/>
        <c:overlap val="-27"/>
        <c:axId val="390129192"/>
        <c:axId val="390127232"/>
        <c:extLst/>
      </c:barChart>
      <c:catAx>
        <c:axId val="39012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7232"/>
        <c:crosses val="autoZero"/>
        <c:auto val="1"/>
        <c:lblAlgn val="ctr"/>
        <c:lblOffset val="100"/>
        <c:noMultiLvlLbl val="0"/>
      </c:catAx>
      <c:valAx>
        <c:axId val="390127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19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17E0-4ACC-A781-885D315BA8A3}"/>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numCache>
            </c:numRef>
          </c:val>
          <c:smooth val="0"/>
          <c:extLst>
            <c:ext xmlns:c16="http://schemas.microsoft.com/office/drawing/2014/chart" uri="{C3380CC4-5D6E-409C-BE32-E72D297353CC}">
              <c16:uniqueId val="{00000001-17E0-4ACC-A781-885D315BA8A3}"/>
            </c:ext>
          </c:extLst>
        </c:ser>
        <c:dLbls>
          <c:showLegendKey val="0"/>
          <c:showVal val="0"/>
          <c:showCatName val="0"/>
          <c:showSerName val="0"/>
          <c:showPercent val="0"/>
          <c:showBubbleSize val="0"/>
        </c:dLbls>
        <c:marker val="1"/>
        <c:smooth val="0"/>
        <c:axId val="329146496"/>
        <c:axId val="329144928"/>
      </c:lineChart>
      <c:catAx>
        <c:axId val="3291464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4928"/>
        <c:crosses val="autoZero"/>
        <c:auto val="1"/>
        <c:lblAlgn val="ctr"/>
        <c:lblOffset val="100"/>
        <c:noMultiLvlLbl val="0"/>
      </c:catAx>
      <c:valAx>
        <c:axId val="3291449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496"/>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93F2-4DF7-8B78-AB7679A4C5EE}"/>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numCache>
            </c:numRef>
          </c:val>
          <c:smooth val="0"/>
          <c:extLst>
            <c:ext xmlns:c16="http://schemas.microsoft.com/office/drawing/2014/chart" uri="{C3380CC4-5D6E-409C-BE32-E72D297353CC}">
              <c16:uniqueId val="{00000001-93F2-4DF7-8B78-AB7679A4C5EE}"/>
            </c:ext>
          </c:extLst>
        </c:ser>
        <c:dLbls>
          <c:showLegendKey val="0"/>
          <c:showVal val="0"/>
          <c:showCatName val="0"/>
          <c:showSerName val="0"/>
          <c:showPercent val="0"/>
          <c:showBubbleSize val="0"/>
        </c:dLbls>
        <c:marker val="1"/>
        <c:smooth val="0"/>
        <c:axId val="329146888"/>
        <c:axId val="329145712"/>
      </c:lineChart>
      <c:catAx>
        <c:axId val="3291468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5712"/>
        <c:crosses val="autoZero"/>
        <c:auto val="1"/>
        <c:lblAlgn val="ctr"/>
        <c:lblOffset val="100"/>
        <c:noMultiLvlLbl val="0"/>
      </c:catAx>
      <c:valAx>
        <c:axId val="3291457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88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W12</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F2C1-434C-B3A0-F8946721C3E4}"/>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99.855351976856312</c:v>
                </c:pt>
                <c:pt idx="1">
                  <c:v>100</c:v>
                </c:pt>
                <c:pt idx="2">
                  <c:v>100</c:v>
                </c:pt>
                <c:pt idx="3">
                  <c:v>99.635036496350367</c:v>
                </c:pt>
              </c:numCache>
            </c:numRef>
          </c:val>
          <c:extLst>
            <c:ext xmlns:c16="http://schemas.microsoft.com/office/drawing/2014/chart" uri="{C3380CC4-5D6E-409C-BE32-E72D297353CC}">
              <c16:uniqueId val="{00000001-F2C1-434C-B3A0-F8946721C3E4}"/>
            </c:ext>
          </c:extLst>
        </c:ser>
        <c:ser>
          <c:idx val="1"/>
          <c:order val="1"/>
          <c:tx>
            <c:strRef>
              <c:f>DR!$D$3</c:f>
              <c:strCache>
                <c:ptCount val="1"/>
                <c:pt idx="0">
                  <c:v>W13</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99.800598205383849</c:v>
                </c:pt>
                <c:pt idx="1">
                  <c:v>99.354838709677423</c:v>
                </c:pt>
                <c:pt idx="2">
                  <c:v>99.721448467966567</c:v>
                </c:pt>
                <c:pt idx="3">
                  <c:v>99.603174603174608</c:v>
                </c:pt>
              </c:numCache>
            </c:numRef>
          </c:val>
          <c:extLst>
            <c:ext xmlns:c16="http://schemas.microsoft.com/office/drawing/2014/chart" uri="{C3380CC4-5D6E-409C-BE32-E72D297353CC}">
              <c16:uniqueId val="{00000002-F2C1-434C-B3A0-F8946721C3E4}"/>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2C1-434C-B3A0-F8946721C3E4}"/>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F2C1-434C-B3A0-F8946721C3E4}"/>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F2C1-434C-B3A0-F8946721C3E4}"/>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c:v>
                </c:pt>
                <c:pt idx="4">
                  <c:v>26</c:v>
                </c:pt>
                <c:pt idx="5">
                  <c:v>22.75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Sheet1!$D$8:$AQ$8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Sheet1!$D$9:$AQ$9</c:f>
              <c:numCache>
                <c:formatCode>General</c:formatCode>
                <c:ptCount val="12"/>
                <c:pt idx="0">
                  <c:v>30</c:v>
                </c:pt>
                <c:pt idx="1">
                  <c:v>29</c:v>
                </c:pt>
                <c:pt idx="2">
                  <c:v>30</c:v>
                </c:pt>
                <c:pt idx="3">
                  <c:v>30</c:v>
                </c:pt>
                <c:pt idx="4">
                  <c:v>30</c:v>
                </c:pt>
                <c:pt idx="5">
                  <c:v>29</c:v>
                </c:pt>
                <c:pt idx="6">
                  <c:v>29</c:v>
                </c:pt>
                <c:pt idx="7">
                  <c:v>28</c:v>
                </c:pt>
                <c:pt idx="8">
                  <c:v>27</c:v>
                </c:pt>
                <c:pt idx="9">
                  <c:v>26</c:v>
                </c:pt>
                <c:pt idx="10">
                  <c:v>26</c:v>
                </c:pt>
                <c:pt idx="11">
                  <c:v>25</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Sheet1!$D$10:$AQ$10</c:f>
              <c:numCache>
                <c:formatCode>General</c:formatCode>
                <c:ptCount val="12"/>
                <c:pt idx="0">
                  <c:v>8</c:v>
                </c:pt>
                <c:pt idx="1">
                  <c:v>8</c:v>
                </c:pt>
                <c:pt idx="2">
                  <c:v>8</c:v>
                </c:pt>
                <c:pt idx="3">
                  <c:v>7</c:v>
                </c:pt>
                <c:pt idx="4">
                  <c:v>7</c:v>
                </c:pt>
                <c:pt idx="5">
                  <c:v>7</c:v>
                </c:pt>
                <c:pt idx="6">
                  <c:v>7</c:v>
                </c:pt>
                <c:pt idx="7">
                  <c:v>7</c:v>
                </c:pt>
                <c:pt idx="8">
                  <c:v>6</c:v>
                </c:pt>
                <c:pt idx="9">
                  <c:v>6</c:v>
                </c:pt>
                <c:pt idx="10">
                  <c:v>6</c:v>
                </c:pt>
                <c:pt idx="11">
                  <c:v>6</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Sheet1!$D$11:$AQ$11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Sheet1!$D$12:$AQ$12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14.5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Sheet1!$B$2:$B$13</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'Nguồn lực'!$B$5</c:f>
              <c:strCache>
                <c:ptCount val="1"/>
                <c:pt idx="0">
                  <c:v>KB tốt + giữ giờ</c:v>
                </c:pt>
              </c:strCache>
            </c:strRef>
          </c:tx>
          <c:spPr>
            <a:ln w="2540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dLbls>
          <c:showLegendKey val="0"/>
          <c:showVal val="1"/>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majorUnit val="1"/>
      </c:val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manualLayout>
          <c:xMode val="edge"/>
          <c:yMode val="edge"/>
          <c:x val="0.19677780965872982"/>
          <c:y val="2.134160558612325E-2"/>
        </c:manualLayout>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1</c:v>
                </c:pt>
                <c:pt idx="2">
                  <c:v>1</c:v>
                </c:pt>
                <c:pt idx="3">
                  <c:v>3</c:v>
                </c:pt>
                <c:pt idx="4">
                  <c:v>0</c:v>
                </c:pt>
                <c:pt idx="5" formatCode="0">
                  <c:v>5</c:v>
                </c:pt>
              </c:numCache>
            </c:numRef>
          </c:val>
          <c:extLst>
            <c:ext xmlns:c16="http://schemas.microsoft.com/office/drawing/2014/chart" uri="{C3380CC4-5D6E-409C-BE32-E72D297353CC}">
              <c16:uniqueId val="{00000000-C28A-47D6-BB60-C41C9D92D810}"/>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5</c:v>
                </c:pt>
                <c:pt idx="2">
                  <c:v>0</c:v>
                </c:pt>
                <c:pt idx="3">
                  <c:v>3</c:v>
                </c:pt>
                <c:pt idx="4">
                  <c:v>1</c:v>
                </c:pt>
                <c:pt idx="5" formatCode="0">
                  <c:v>9</c:v>
                </c:pt>
              </c:numCache>
            </c:numRef>
          </c:val>
          <c:extLst>
            <c:ext xmlns:c16="http://schemas.microsoft.com/office/drawing/2014/chart" uri="{C3380CC4-5D6E-409C-BE32-E72D297353CC}">
              <c16:uniqueId val="{00000001-C28A-47D6-BB60-C41C9D92D810}"/>
            </c:ext>
          </c:extLst>
        </c:ser>
        <c:dLbls>
          <c:showLegendKey val="0"/>
          <c:showVal val="0"/>
          <c:showCatName val="0"/>
          <c:showSerName val="0"/>
          <c:showPercent val="0"/>
          <c:showBubbleSize val="0"/>
        </c:dLbls>
        <c:gapWidth val="150"/>
        <c:axId val="390115864"/>
        <c:axId val="390116648"/>
      </c:barChart>
      <c:catAx>
        <c:axId val="39011586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90116648"/>
        <c:crosses val="autoZero"/>
        <c:auto val="1"/>
        <c:lblAlgn val="ctr"/>
        <c:lblOffset val="100"/>
        <c:noMultiLvlLbl val="0"/>
      </c:catAx>
      <c:valAx>
        <c:axId val="39011664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9011586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6.4369658119658127E-2</c:v>
                </c:pt>
                <c:pt idx="1">
                  <c:v>7.9301007344518629E-2</c:v>
                </c:pt>
                <c:pt idx="2">
                  <c:v>8.8955784913353778E-2</c:v>
                </c:pt>
                <c:pt idx="3">
                  <c:v>0.21866319444444438</c:v>
                </c:pt>
                <c:pt idx="4">
                  <c:v>0.28415835707502385</c:v>
                </c:pt>
                <c:pt idx="5">
                  <c:v>0.2987528344671202</c:v>
                </c:pt>
                <c:pt idx="6">
                  <c:v>0.14818805874840357</c:v>
                </c:pt>
                <c:pt idx="7">
                  <c:v>0.13993863049095631</c:v>
                </c:pt>
                <c:pt idx="8">
                  <c:v>4.3132716049382784E-2</c:v>
                </c:pt>
              </c:numCache>
            </c:numRef>
          </c:val>
          <c:extLst>
            <c:ext xmlns:c16="http://schemas.microsoft.com/office/drawing/2014/chart" uri="{C3380CC4-5D6E-409C-BE32-E72D297353CC}">
              <c16:uniqueId val="{00000000-5AC1-4329-94AA-AF0E41BA9250}"/>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6.2271564327485374E-2</c:v>
                </c:pt>
                <c:pt idx="1">
                  <c:v>7.8593538402012053E-2</c:v>
                </c:pt>
                <c:pt idx="2">
                  <c:v>9.943019943019947E-2</c:v>
                </c:pt>
                <c:pt idx="3">
                  <c:v>0.165932158119658</c:v>
                </c:pt>
                <c:pt idx="4">
                  <c:v>0.29253472222222249</c:v>
                </c:pt>
                <c:pt idx="5">
                  <c:v>0.30704861111111115</c:v>
                </c:pt>
                <c:pt idx="6">
                  <c:v>0.14116379310344826</c:v>
                </c:pt>
                <c:pt idx="7">
                  <c:v>0.14101080246913605</c:v>
                </c:pt>
                <c:pt idx="8">
                  <c:v>4.2370495495495569E-2</c:v>
                </c:pt>
              </c:numCache>
            </c:numRef>
          </c:val>
          <c:extLst>
            <c:ext xmlns:c16="http://schemas.microsoft.com/office/drawing/2014/chart" uri="{C3380CC4-5D6E-409C-BE32-E72D297353CC}">
              <c16:uniqueId val="{00000001-5AC1-4329-94AA-AF0E41BA9250}"/>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6.8095238095238093</c:v>
                </c:pt>
                <c:pt idx="1">
                  <c:v>6.040293040293041</c:v>
                </c:pt>
                <c:pt idx="2">
                  <c:v>6.2285714285714286</c:v>
                </c:pt>
                <c:pt idx="3">
                  <c:v>2.2428571428571429</c:v>
                </c:pt>
                <c:pt idx="4">
                  <c:v>3.1875</c:v>
                </c:pt>
                <c:pt idx="5">
                  <c:v>6.4285714285714288</c:v>
                </c:pt>
              </c:numCache>
            </c:numRef>
          </c:val>
          <c:extLst>
            <c:ext xmlns:c16="http://schemas.microsoft.com/office/drawing/2014/chart" uri="{C3380CC4-5D6E-409C-BE32-E72D297353CC}">
              <c16:uniqueId val="{00000000-8E31-4685-8975-466314008911}"/>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7.2380952380952381</c:v>
                </c:pt>
                <c:pt idx="1">
                  <c:v>6.311355311355312</c:v>
                </c:pt>
                <c:pt idx="2">
                  <c:v>5.5714285714285703</c:v>
                </c:pt>
                <c:pt idx="3">
                  <c:v>2.1714285714285713</c:v>
                </c:pt>
                <c:pt idx="4">
                  <c:v>2.9327731092436973</c:v>
                </c:pt>
                <c:pt idx="5">
                  <c:v>6.3428571428571425</c:v>
                </c:pt>
              </c:numCache>
            </c:numRef>
          </c:val>
          <c:extLst>
            <c:ext xmlns:c16="http://schemas.microsoft.com/office/drawing/2014/chart" uri="{C3380CC4-5D6E-409C-BE32-E72D297353CC}">
              <c16:uniqueId val="{00000001-8E31-4685-8975-466314008911}"/>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86D0-44D3-9FE5-1A36470769A7}"/>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86D0-44D3-9FE5-1A36470769A7}"/>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86D0-44D3-9FE5-1A36470769A7}"/>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86D0-44D3-9FE5-1A36470769A7}"/>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86D0-44D3-9FE5-1A36470769A7}"/>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86D0-44D3-9FE5-1A36470769A7}"/>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86D0-44D3-9FE5-1A36470769A7}"/>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86D0-44D3-9FE5-1A36470769A7}"/>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Week!$B$35:$BR$35</c:f>
              <c:numCache>
                <c:formatCode>d\-mmm</c:formatCode>
                <c:ptCount val="69"/>
                <c:pt idx="0">
                  <c:v>45740</c:v>
                </c:pt>
                <c:pt idx="1">
                  <c:v>45741</c:v>
                </c:pt>
                <c:pt idx="2">
                  <c:v>45742</c:v>
                </c:pt>
                <c:pt idx="3">
                  <c:v>45743</c:v>
                </c:pt>
                <c:pt idx="4">
                  <c:v>45744</c:v>
                </c:pt>
                <c:pt idx="5">
                  <c:v>45745</c:v>
                </c:pt>
                <c:pt idx="6">
                  <c:v>45746</c:v>
                </c:pt>
                <c:pt idx="7">
                  <c:v>45747</c:v>
                </c:pt>
                <c:pt idx="8">
                  <c:v>45748</c:v>
                </c:pt>
                <c:pt idx="9">
                  <c:v>45749</c:v>
                </c:pt>
                <c:pt idx="10">
                  <c:v>45750</c:v>
                </c:pt>
                <c:pt idx="11">
                  <c:v>45751</c:v>
                </c:pt>
                <c:pt idx="12">
                  <c:v>45752</c:v>
                </c:pt>
                <c:pt idx="13">
                  <c:v>45753</c:v>
                </c:pt>
                <c:pt idx="14">
                  <c:v>45754</c:v>
                </c:pt>
                <c:pt idx="15">
                  <c:v>45755</c:v>
                </c:pt>
                <c:pt idx="16">
                  <c:v>45756</c:v>
                </c:pt>
                <c:pt idx="17">
                  <c:v>45757</c:v>
                </c:pt>
                <c:pt idx="18">
                  <c:v>45758</c:v>
                </c:pt>
                <c:pt idx="19">
                  <c:v>45759</c:v>
                </c:pt>
                <c:pt idx="20">
                  <c:v>45760</c:v>
                </c:pt>
                <c:pt idx="21">
                  <c:v>45761</c:v>
                </c:pt>
                <c:pt idx="22">
                  <c:v>45762</c:v>
                </c:pt>
                <c:pt idx="23">
                  <c:v>45763</c:v>
                </c:pt>
                <c:pt idx="24">
                  <c:v>45764</c:v>
                </c:pt>
                <c:pt idx="25">
                  <c:v>45765</c:v>
                </c:pt>
                <c:pt idx="26">
                  <c:v>45766</c:v>
                </c:pt>
                <c:pt idx="27">
                  <c:v>45767</c:v>
                </c:pt>
                <c:pt idx="28">
                  <c:v>45768</c:v>
                </c:pt>
                <c:pt idx="29">
                  <c:v>45769</c:v>
                </c:pt>
                <c:pt idx="30">
                  <c:v>45770</c:v>
                </c:pt>
                <c:pt idx="31">
                  <c:v>45771</c:v>
                </c:pt>
                <c:pt idx="32">
                  <c:v>45772</c:v>
                </c:pt>
                <c:pt idx="33">
                  <c:v>45773</c:v>
                </c:pt>
                <c:pt idx="34">
                  <c:v>45774</c:v>
                </c:pt>
                <c:pt idx="35">
                  <c:v>45775</c:v>
                </c:pt>
                <c:pt idx="36">
                  <c:v>45776</c:v>
                </c:pt>
                <c:pt idx="37">
                  <c:v>45777</c:v>
                </c:pt>
                <c:pt idx="38">
                  <c:v>45778</c:v>
                </c:pt>
                <c:pt idx="39">
                  <c:v>45779</c:v>
                </c:pt>
                <c:pt idx="40">
                  <c:v>45780</c:v>
                </c:pt>
                <c:pt idx="41">
                  <c:v>45781</c:v>
                </c:pt>
                <c:pt idx="42">
                  <c:v>45782</c:v>
                </c:pt>
                <c:pt idx="43">
                  <c:v>45783</c:v>
                </c:pt>
                <c:pt idx="44">
                  <c:v>45784</c:v>
                </c:pt>
                <c:pt idx="45">
                  <c:v>45785</c:v>
                </c:pt>
                <c:pt idx="46">
                  <c:v>45786</c:v>
                </c:pt>
                <c:pt idx="47">
                  <c:v>45787</c:v>
                </c:pt>
                <c:pt idx="48">
                  <c:v>45788</c:v>
                </c:pt>
                <c:pt idx="49">
                  <c:v>45789</c:v>
                </c:pt>
                <c:pt idx="50">
                  <c:v>45790</c:v>
                </c:pt>
                <c:pt idx="51">
                  <c:v>45791</c:v>
                </c:pt>
                <c:pt idx="52">
                  <c:v>45792</c:v>
                </c:pt>
                <c:pt idx="53">
                  <c:v>45793</c:v>
                </c:pt>
                <c:pt idx="54">
                  <c:v>45794</c:v>
                </c:pt>
                <c:pt idx="55">
                  <c:v>45795</c:v>
                </c:pt>
                <c:pt idx="56">
                  <c:v>45796</c:v>
                </c:pt>
                <c:pt idx="57">
                  <c:v>45797</c:v>
                </c:pt>
                <c:pt idx="58">
                  <c:v>45798</c:v>
                </c:pt>
                <c:pt idx="59">
                  <c:v>45799</c:v>
                </c:pt>
                <c:pt idx="60">
                  <c:v>45800</c:v>
                </c:pt>
                <c:pt idx="61">
                  <c:v>45801</c:v>
                </c:pt>
                <c:pt idx="62">
                  <c:v>45802</c:v>
                </c:pt>
                <c:pt idx="63">
                  <c:v>45803</c:v>
                </c:pt>
                <c:pt idx="64">
                  <c:v>45804</c:v>
                </c:pt>
                <c:pt idx="65">
                  <c:v>45805</c:v>
                </c:pt>
                <c:pt idx="66">
                  <c:v>45806</c:v>
                </c:pt>
                <c:pt idx="67">
                  <c:v>45807</c:v>
                </c:pt>
                <c:pt idx="68">
                  <c:v>45808</c:v>
                </c:pt>
              </c:numCache>
            </c:numRef>
          </c:cat>
          <c:val>
            <c:numRef>
              <c:f>Week!$B$36:$BR$36</c:f>
              <c:numCache>
                <c:formatCode>General</c:formatCode>
                <c:ptCount val="69"/>
                <c:pt idx="0">
                  <c:v>407</c:v>
                </c:pt>
                <c:pt idx="1">
                  <c:v>384</c:v>
                </c:pt>
                <c:pt idx="2">
                  <c:v>396</c:v>
                </c:pt>
                <c:pt idx="3">
                  <c:v>401</c:v>
                </c:pt>
                <c:pt idx="4">
                  <c:v>419</c:v>
                </c:pt>
                <c:pt idx="5">
                  <c:v>409</c:v>
                </c:pt>
                <c:pt idx="6">
                  <c:v>430</c:v>
                </c:pt>
                <c:pt idx="7">
                  <c:v>416</c:v>
                </c:pt>
                <c:pt idx="8">
                  <c:v>385</c:v>
                </c:pt>
                <c:pt idx="9">
                  <c:v>396</c:v>
                </c:pt>
                <c:pt idx="10">
                  <c:v>396</c:v>
                </c:pt>
                <c:pt idx="11">
                  <c:v>428</c:v>
                </c:pt>
                <c:pt idx="12">
                  <c:v>438</c:v>
                </c:pt>
                <c:pt idx="13">
                  <c:v>442</c:v>
                </c:pt>
                <c:pt idx="14">
                  <c:v>449</c:v>
                </c:pt>
                <c:pt idx="15">
                  <c:v>434</c:v>
                </c:pt>
                <c:pt idx="16">
                  <c:v>408</c:v>
                </c:pt>
                <c:pt idx="17">
                  <c:v>417</c:v>
                </c:pt>
                <c:pt idx="18">
                  <c:v>430</c:v>
                </c:pt>
                <c:pt idx="19">
                  <c:v>409</c:v>
                </c:pt>
                <c:pt idx="20">
                  <c:v>417</c:v>
                </c:pt>
                <c:pt idx="21">
                  <c:v>412</c:v>
                </c:pt>
                <c:pt idx="22">
                  <c:v>396</c:v>
                </c:pt>
                <c:pt idx="23">
                  <c:v>411</c:v>
                </c:pt>
                <c:pt idx="24">
                  <c:v>415</c:v>
                </c:pt>
                <c:pt idx="25">
                  <c:v>420</c:v>
                </c:pt>
                <c:pt idx="26">
                  <c:v>418</c:v>
                </c:pt>
                <c:pt idx="27">
                  <c:v>440</c:v>
                </c:pt>
                <c:pt idx="28">
                  <c:v>425</c:v>
                </c:pt>
                <c:pt idx="29">
                  <c:v>405</c:v>
                </c:pt>
                <c:pt idx="30">
                  <c:v>410</c:v>
                </c:pt>
                <c:pt idx="31">
                  <c:v>417</c:v>
                </c:pt>
                <c:pt idx="32">
                  <c:v>440</c:v>
                </c:pt>
                <c:pt idx="33">
                  <c:v>455</c:v>
                </c:pt>
                <c:pt idx="34">
                  <c:v>455</c:v>
                </c:pt>
                <c:pt idx="35">
                  <c:v>441</c:v>
                </c:pt>
                <c:pt idx="36">
                  <c:v>444</c:v>
                </c:pt>
                <c:pt idx="37">
                  <c:v>462</c:v>
                </c:pt>
                <c:pt idx="38">
                  <c:v>458</c:v>
                </c:pt>
                <c:pt idx="39">
                  <c:v>446</c:v>
                </c:pt>
                <c:pt idx="40">
                  <c:v>459</c:v>
                </c:pt>
                <c:pt idx="41">
                  <c:v>465</c:v>
                </c:pt>
                <c:pt idx="42">
                  <c:v>463</c:v>
                </c:pt>
                <c:pt idx="43">
                  <c:v>413</c:v>
                </c:pt>
                <c:pt idx="44">
                  <c:v>409</c:v>
                </c:pt>
                <c:pt idx="45">
                  <c:v>410</c:v>
                </c:pt>
                <c:pt idx="46">
                  <c:v>423</c:v>
                </c:pt>
                <c:pt idx="47">
                  <c:v>419</c:v>
                </c:pt>
                <c:pt idx="48">
                  <c:v>429</c:v>
                </c:pt>
                <c:pt idx="49">
                  <c:v>424</c:v>
                </c:pt>
                <c:pt idx="50">
                  <c:v>404</c:v>
                </c:pt>
                <c:pt idx="51">
                  <c:v>407</c:v>
                </c:pt>
                <c:pt idx="52">
                  <c:v>415</c:v>
                </c:pt>
                <c:pt idx="53">
                  <c:v>421</c:v>
                </c:pt>
                <c:pt idx="54">
                  <c:v>421</c:v>
                </c:pt>
                <c:pt idx="55">
                  <c:v>427</c:v>
                </c:pt>
                <c:pt idx="56">
                  <c:v>422</c:v>
                </c:pt>
                <c:pt idx="57">
                  <c:v>410</c:v>
                </c:pt>
                <c:pt idx="58">
                  <c:v>408</c:v>
                </c:pt>
                <c:pt idx="59">
                  <c:v>450</c:v>
                </c:pt>
                <c:pt idx="60">
                  <c:v>454</c:v>
                </c:pt>
                <c:pt idx="61">
                  <c:v>448</c:v>
                </c:pt>
                <c:pt idx="62">
                  <c:v>463</c:v>
                </c:pt>
                <c:pt idx="63">
                  <c:v>451</c:v>
                </c:pt>
                <c:pt idx="64">
                  <c:v>442</c:v>
                </c:pt>
                <c:pt idx="65">
                  <c:v>442</c:v>
                </c:pt>
                <c:pt idx="66">
                  <c:v>451</c:v>
                </c:pt>
                <c:pt idx="67">
                  <c:v>464</c:v>
                </c:pt>
                <c:pt idx="68">
                  <c:v>462</c:v>
                </c:pt>
              </c:numCache>
            </c:numRef>
          </c:val>
          <c:extLst>
            <c:ext xmlns:c16="http://schemas.microsoft.com/office/drawing/2014/chart" uri="{C3380CC4-5D6E-409C-BE32-E72D297353CC}">
              <c16:uniqueId val="{00000010-86D0-44D3-9FE5-1A36470769A7}"/>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8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04-Apr-25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02160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16683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19452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ACAACA8-7DE5-DF99-6DEC-9FBB2660C43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98DEE4D8-B857-817C-CD66-2B9326C3A9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9E7934A-DFC1-616C-FE21-99A3F4FB0E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E6246CD-A18D-1262-3C34-5AECEA8AB74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53992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8</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2014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2605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269339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2625401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4331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1944633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2441609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625453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6912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3599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2979652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2607410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954716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1986371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3349563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9105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659908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3302932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1978769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2440538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4005504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61684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561625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1570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44</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955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90247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591972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48</a:t>
            </a:fld>
            <a:endParaRPr/>
          </a:p>
        </p:txBody>
      </p:sp>
    </p:spTree>
    <p:extLst>
      <p:ext uri="{BB962C8B-B14F-4D97-AF65-F5344CB8AC3E}">
        <p14:creationId xmlns:p14="http://schemas.microsoft.com/office/powerpoint/2010/main" val="33212384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983822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89778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955655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52</a:t>
            </a:fld>
            <a:endParaRPr/>
          </a:p>
        </p:txBody>
      </p:sp>
    </p:spTree>
    <p:extLst>
      <p:ext uri="{BB962C8B-B14F-4D97-AF65-F5344CB8AC3E}">
        <p14:creationId xmlns:p14="http://schemas.microsoft.com/office/powerpoint/2010/main" val="4958108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201054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29491981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55</a:t>
            </a:fld>
            <a:endParaRPr/>
          </a:p>
        </p:txBody>
      </p:sp>
    </p:spTree>
    <p:extLst>
      <p:ext uri="{BB962C8B-B14F-4D97-AF65-F5344CB8AC3E}">
        <p14:creationId xmlns:p14="http://schemas.microsoft.com/office/powerpoint/2010/main" val="2136214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791202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2" name="Google Shape;23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39812808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391823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82714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27732515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31866732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21024985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38228825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12640395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12939408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182935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536503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3218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04-Apr-25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7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13</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24/03/2025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30</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4" name="Chart 13">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3790542725"/>
              </p:ext>
            </p:extLst>
          </p:nvPr>
        </p:nvGraphicFramePr>
        <p:xfrm>
          <a:off x="6340312" y="3614107"/>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4120111475"/>
              </p:ext>
            </p:extLst>
          </p:nvPr>
        </p:nvGraphicFramePr>
        <p:xfrm>
          <a:off x="6340312" y="967947"/>
          <a:ext cx="4054080"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654268575"/>
              </p:ext>
            </p:extLst>
          </p:nvPr>
        </p:nvGraphicFramePr>
        <p:xfrm>
          <a:off x="1729200" y="3614107"/>
          <a:ext cx="3990975"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190954751"/>
              </p:ext>
            </p:extLst>
          </p:nvPr>
        </p:nvGraphicFramePr>
        <p:xfrm>
          <a:off x="1729200" y="951322"/>
          <a:ext cx="4010025"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378449620"/>
              </p:ext>
            </p:extLst>
          </p:nvPr>
        </p:nvGraphicFramePr>
        <p:xfrm>
          <a:off x="1295400" y="874851"/>
          <a:ext cx="9374717"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25101983"/>
              </p:ext>
            </p:extLst>
          </p:nvPr>
        </p:nvGraphicFramePr>
        <p:xfrm>
          <a:off x="1305705" y="3873394"/>
          <a:ext cx="9364412"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		    DIV: 00</a:t>
            </a:r>
          </a:p>
        </p:txBody>
      </p:sp>
      <p:graphicFrame>
        <p:nvGraphicFramePr>
          <p:cNvPr id="3" name="Table 2"/>
          <p:cNvGraphicFramePr>
            <a:graphicFrameLocks noGrp="1"/>
          </p:cNvGraphicFramePr>
          <p:nvPr>
            <p:extLst/>
          </p:nvPr>
        </p:nvGraphicFramePr>
        <p:xfrm>
          <a:off x="233084" y="1287658"/>
          <a:ext cx="11548799" cy="1988942"/>
        </p:xfrm>
        <a:graphic>
          <a:graphicData uri="http://schemas.openxmlformats.org/drawingml/2006/table">
            <a:tbl>
              <a:tblPr/>
              <a:tblGrid>
                <a:gridCol w="376516">
                  <a:extLst>
                    <a:ext uri="{9D8B030D-6E8A-4147-A177-3AD203B41FA5}">
                      <a16:colId xmlns:a16="http://schemas.microsoft.com/office/drawing/2014/main" val="4038289466"/>
                    </a:ext>
                  </a:extLst>
                </a:gridCol>
                <a:gridCol w="304800">
                  <a:extLst>
                    <a:ext uri="{9D8B030D-6E8A-4147-A177-3AD203B41FA5}">
                      <a16:colId xmlns:a16="http://schemas.microsoft.com/office/drawing/2014/main" val="3957843482"/>
                    </a:ext>
                  </a:extLst>
                </a:gridCol>
                <a:gridCol w="410252">
                  <a:extLst>
                    <a:ext uri="{9D8B030D-6E8A-4147-A177-3AD203B41FA5}">
                      <a16:colId xmlns:a16="http://schemas.microsoft.com/office/drawing/2014/main" val="1490174247"/>
                    </a:ext>
                  </a:extLst>
                </a:gridCol>
                <a:gridCol w="363856">
                  <a:extLst>
                    <a:ext uri="{9D8B030D-6E8A-4147-A177-3AD203B41FA5}">
                      <a16:colId xmlns:a16="http://schemas.microsoft.com/office/drawing/2014/main" val="3566870774"/>
                    </a:ext>
                  </a:extLst>
                </a:gridCol>
                <a:gridCol w="785929">
                  <a:extLst>
                    <a:ext uri="{9D8B030D-6E8A-4147-A177-3AD203B41FA5}">
                      <a16:colId xmlns:a16="http://schemas.microsoft.com/office/drawing/2014/main" val="3134608598"/>
                    </a:ext>
                  </a:extLst>
                </a:gridCol>
                <a:gridCol w="363856">
                  <a:extLst>
                    <a:ext uri="{9D8B030D-6E8A-4147-A177-3AD203B41FA5}">
                      <a16:colId xmlns:a16="http://schemas.microsoft.com/office/drawing/2014/main" val="1407986645"/>
                    </a:ext>
                  </a:extLst>
                </a:gridCol>
                <a:gridCol w="2219524">
                  <a:extLst>
                    <a:ext uri="{9D8B030D-6E8A-4147-A177-3AD203B41FA5}">
                      <a16:colId xmlns:a16="http://schemas.microsoft.com/office/drawing/2014/main" val="2827963411"/>
                    </a:ext>
                  </a:extLst>
                </a:gridCol>
                <a:gridCol w="2104983">
                  <a:extLst>
                    <a:ext uri="{9D8B030D-6E8A-4147-A177-3AD203B41FA5}">
                      <a16:colId xmlns:a16="http://schemas.microsoft.com/office/drawing/2014/main" val="246680535"/>
                    </a:ext>
                  </a:extLst>
                </a:gridCol>
                <a:gridCol w="304800">
                  <a:extLst>
                    <a:ext uri="{9D8B030D-6E8A-4147-A177-3AD203B41FA5}">
                      <a16:colId xmlns:a16="http://schemas.microsoft.com/office/drawing/2014/main" val="1804046833"/>
                    </a:ext>
                  </a:extLst>
                </a:gridCol>
                <a:gridCol w="4314283">
                  <a:extLst>
                    <a:ext uri="{9D8B030D-6E8A-4147-A177-3AD203B41FA5}">
                      <a16:colId xmlns:a16="http://schemas.microsoft.com/office/drawing/2014/main" val="2477666348"/>
                    </a:ext>
                  </a:extLst>
                </a:gridCol>
              </a:tblGrid>
              <a:tr h="368696">
                <a:tc>
                  <a:txBody>
                    <a:bodyPr/>
                    <a:lstStyle/>
                    <a:p>
                      <a:pPr algn="l" fontAlgn="ctr"/>
                      <a:r>
                        <a:rPr lang="en-US" sz="1100" b="0" i="0" u="none" strike="noStrike" dirty="0">
                          <a:solidFill>
                            <a:srgbClr val="000000"/>
                          </a:solidFill>
                          <a:effectLst/>
                          <a:latin typeface="Calibri" panose="020F0502020204030204" pitchFamily="34"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Calibri" panose="020F0502020204030204" pitchFamily="34"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620246">
                <a:tc>
                  <a:txBody>
                    <a:bodyPr/>
                    <a:lstStyle/>
                    <a:p>
                      <a:pPr algn="l" fontAlgn="b"/>
                      <a:r>
                        <a:rPr lang="en-US" sz="1100" b="0" i="0" u="none" strike="noStrike" dirty="0">
                          <a:solidFill>
                            <a:srgbClr val="000000"/>
                          </a:solidFill>
                          <a:effectLst/>
                          <a:latin typeface="Calibri" panose="020F0502020204030204" pitchFamily="34" charset="0"/>
                        </a:rPr>
                        <a:t>A603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VN611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HAN-BKK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09:50 28/03/2025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OGTB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CAPT REPORT:  PLASTIC COVER STICK ON MW#2 GTB DUE TO CAPT REPORT: PLASTIC COVER STICK ON MW#2</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REMOVED PLASTIC COVER FROM MW#2, INSPECTION/CHECK THE WHEEL &amp; TIRES IAW AMM: 32-41-00-210-002-A IN GOOD CONDITION REMOVED PLASTIC COVER EVENT CLOSED </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Non tech. Do </a:t>
                      </a:r>
                      <a:r>
                        <a:rPr lang="en-US" sz="1100" b="0" i="0" u="none" strike="noStrike" dirty="0" err="1">
                          <a:solidFill>
                            <a:srgbClr val="000000"/>
                          </a:solidFill>
                          <a:effectLst/>
                          <a:latin typeface="Calibri" panose="020F0502020204030204" pitchFamily="34" charset="0"/>
                        </a:rPr>
                        <a:t>miếng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bọc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dán</a:t>
                      </a:r>
                      <a:r>
                        <a:rPr lang="en-US" sz="1100" b="0" i="0" u="none" strike="noStrike" dirty="0">
                          <a:solidFill>
                            <a:srgbClr val="000000"/>
                          </a:solidFill>
                          <a:effectLst/>
                          <a:latin typeface="Calibri" panose="020F0502020204030204" pitchFamily="34" charset="0"/>
                        </a:rPr>
                        <a:t> brake fan </a:t>
                      </a:r>
                      <a:r>
                        <a:rPr lang="en-US" sz="1100" b="0" i="0" u="none" strike="noStrike" dirty="0" err="1">
                          <a:solidFill>
                            <a:srgbClr val="000000"/>
                          </a:solidFill>
                          <a:effectLst/>
                          <a:latin typeface="Calibri" panose="020F0502020204030204" pitchFamily="34" charset="0"/>
                        </a:rPr>
                        <a:t>của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A503 </a:t>
                      </a:r>
                      <a:r>
                        <a:rPr lang="en-US" sz="1100" b="0" i="0" u="none" strike="noStrike" dirty="0" err="1">
                          <a:solidFill>
                            <a:srgbClr val="000000"/>
                          </a:solidFill>
                          <a:effectLst/>
                          <a:latin typeface="Calibri" panose="020F0502020204030204" pitchFamily="34" charset="0"/>
                        </a:rPr>
                        <a:t>trong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quá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kéo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dắt</a:t>
                      </a:r>
                      <a:r>
                        <a:rPr lang="en-US" sz="1100" b="0" i="0" u="none" strike="noStrike" dirty="0">
                          <a:solidFill>
                            <a:srgbClr val="000000"/>
                          </a:solidFill>
                          <a:effectLst/>
                          <a:latin typeface="Calibri" panose="020F0502020204030204" pitchFamily="34" charset="0"/>
                        </a:rPr>
                        <a:t> bung </a:t>
                      </a:r>
                      <a:r>
                        <a:rPr lang="en-US" sz="1100" b="0" i="0" u="none" strike="noStrike" dirty="0" err="1">
                          <a:solidFill>
                            <a:srgbClr val="000000"/>
                          </a:solidFill>
                          <a:effectLst/>
                          <a:latin typeface="Calibri" panose="020F0502020204030204" pitchFamily="34" charset="0"/>
                        </a:rPr>
                        <a: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dính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A603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bl>
          </a:graphicData>
        </a:graphic>
      </p:graphicFrame>
    </p:spTree>
    <p:custDataLst>
      <p:tags r:id="rId1"/>
    </p:custDataLst>
    <p:extLst>
      <p:ext uri="{BB962C8B-B14F-4D97-AF65-F5344CB8AC3E}">
        <p14:creationId xmlns:p14="http://schemas.microsoft.com/office/powerpoint/2010/main" val="380102716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2619854855"/>
              </p:ext>
            </p:extLst>
          </p:nvPr>
        </p:nvGraphicFramePr>
        <p:xfrm>
          <a:off x="301591" y="1079799"/>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dirty="0" smtClean="0">
                          <a:solidFill>
                            <a:srgbClr val="000000"/>
                          </a:solidFill>
                          <a:effectLst/>
                          <a:latin typeface="Times New Roman" panose="02020603050405020304" pitchFamily="18" charset="0"/>
                        </a:rPr>
                        <a:t>Nil</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2851486413"/>
              </p:ext>
            </p:extLst>
          </p:nvPr>
        </p:nvGraphicFramePr>
        <p:xfrm>
          <a:off x="301591" y="2525748"/>
          <a:ext cx="11463226" cy="2346404"/>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l"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l" fontAlgn="t"/>
                      <a:r>
                        <a:rPr lang="en-US" sz="1100" b="0" i="0" u="none" strike="noStrike" dirty="0" smtClean="0">
                          <a:solidFill>
                            <a:srgbClr val="000000"/>
                          </a:solidFill>
                          <a:effectLst/>
                          <a:latin typeface="Calibri" panose="020F0502020204030204" pitchFamily="34" charset="0"/>
                        </a:rPr>
                        <a:t>A350</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A899</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17:01 26/03/2025</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SGN</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75</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VN212</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SGN-HAN</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T/X CHK FOUND FOD ON MW #8 &amp; BRAKE #4 DAMAGED T/X CHK FOUND FOD ON MW #8 &amp; BRAKE #4 DAMAGED </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dirty="0" smtClean="0">
                          <a:solidFill>
                            <a:srgbClr val="000000"/>
                          </a:solidFill>
                          <a:effectLst/>
                          <a:latin typeface="Calibri" panose="020F0502020204030204" pitchFamily="34" charset="0"/>
                        </a:rPr>
                        <a:t>FINAL ACTION: C/O RPLD BRAKE #4, MW#4 AND MW #8 CHK SATIS. T/X CHK FOUND FOD ON MW #8 &amp; BRAKE #4 DAMAGED EVENT CLOSED `FINAL ACTION: C/O RPLD BRAKE #4, MW#4 #8 SATIS.  - TRANSIT FOUND BRAKE #4 DAMAGED</a:t>
                      </a:r>
                    </a:p>
                    <a:p>
                      <a:pPr algn="l" fontAlgn="t"/>
                      <a:r>
                        <a:rPr lang="vi-VN" sz="1100" b="0" i="0" u="none" strike="noStrike" dirty="0" smtClean="0">
                          <a:solidFill>
                            <a:srgbClr val="000000"/>
                          </a:solidFill>
                          <a:effectLst/>
                          <a:latin typeface="Calibri" panose="020F0502020204030204" pitchFamily="34" charset="0"/>
                        </a:rPr>
                        <a:t>- TÀU ĐÁP LÚC 12:25</a:t>
                      </a:r>
                    </a:p>
                    <a:p>
                      <a:pPr algn="l" fontAlgn="t"/>
                      <a:r>
                        <a:rPr lang="vi-VN" sz="1100" b="0" i="0" u="none" strike="noStrike" dirty="0" smtClean="0">
                          <a:solidFill>
                            <a:srgbClr val="000000"/>
                          </a:solidFill>
                          <a:effectLst/>
                          <a:latin typeface="Calibri" panose="020F0502020204030204" pitchFamily="34" charset="0"/>
                        </a:rPr>
                        <a:t>- 12:30 CRS BÁO FOD LỐP 8 VÀ PHANH 04 DAMAGE</a:t>
                      </a:r>
                    </a:p>
                    <a:p>
                      <a:pPr algn="l" fontAlgn="t"/>
                      <a:r>
                        <a:rPr lang="vi-VN" sz="1100" b="0" i="0" u="none" strike="noStrike" dirty="0" smtClean="0">
                          <a:solidFill>
                            <a:srgbClr val="000000"/>
                          </a:solidFill>
                          <a:effectLst/>
                          <a:latin typeface="Calibri" panose="020F0502020204030204" pitchFamily="34" charset="0"/>
                        </a:rPr>
                        <a:t>- 13:00 CHỐT PHƯƠNG ÁN THAY PHANH 04 VÀ LỐP 4, 8</a:t>
                      </a:r>
                    </a:p>
                    <a:p>
                      <a:pPr algn="l" fontAlgn="t"/>
                      <a:r>
                        <a:rPr lang="vi-VN" sz="1100" b="0" i="0" u="none" strike="noStrike" dirty="0" smtClean="0">
                          <a:solidFill>
                            <a:srgbClr val="000000"/>
                          </a:solidFill>
                          <a:effectLst/>
                          <a:latin typeface="Calibri" panose="020F0502020204030204" pitchFamily="34" charset="0"/>
                        </a:rPr>
                        <a:t>- 14:15 HẠ KÍCH BÁO BOARDING</a:t>
                      </a:r>
                    </a:p>
                    <a:p>
                      <a:pPr algn="l" fontAlgn="t"/>
                      <a:r>
                        <a:rPr lang="vi-VN" sz="1100" b="0" i="0" u="none" strike="noStrike" dirty="0" smtClean="0">
                          <a:solidFill>
                            <a:srgbClr val="000000"/>
                          </a:solidFill>
                          <a:effectLst/>
                          <a:latin typeface="Calibri" panose="020F0502020204030204" pitchFamily="34" charset="0"/>
                        </a:rPr>
                        <a:t>- 15:20 TÀU ĐÓNG CỬA</a:t>
                      </a:r>
                    </a:p>
                    <a:p>
                      <a:pPr algn="l" fontAlgn="t"/>
                      <a:endParaRPr lang="vi-VN" sz="1100" b="0" i="0" u="none" strike="noStrike" dirty="0" smtClean="0">
                        <a:solidFill>
                          <a:srgbClr val="000000"/>
                        </a:solidFill>
                        <a:effectLst/>
                        <a:latin typeface="Calibri" panose="020F0502020204030204" pitchFamily="34" charset="0"/>
                      </a:endParaRPr>
                    </a:p>
                    <a:p>
                      <a:pPr algn="l" fontAlgn="t"/>
                      <a:r>
                        <a:rPr lang="vi-VN" sz="1100" b="0" i="0" u="none" strike="noStrike" dirty="0" smtClean="0">
                          <a:solidFill>
                            <a:srgbClr val="000000"/>
                          </a:solidFill>
                          <a:effectLst/>
                          <a:latin typeface="Calibri" panose="020F0502020204030204" pitchFamily="34" charset="0"/>
                        </a:rPr>
                        <a:t>- DELAY TOTAL 140 MINS, DELAY KT 75 MINS (TỪ LÚC PHÁT HIỆN ĐẾN LÚC KHẮC PHỤC XONG 13:00-14:15)</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extLst/>
          </p:nvPr>
        </p:nvGraphicFramePr>
        <p:xfrm>
          <a:off x="116181" y="1447800"/>
          <a:ext cx="11706824" cy="3656834"/>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780110">
                  <a:extLst>
                    <a:ext uri="{9D8B030D-6E8A-4147-A177-3AD203B41FA5}">
                      <a16:colId xmlns:a16="http://schemas.microsoft.com/office/drawing/2014/main" val="2981346840"/>
                    </a:ext>
                  </a:extLst>
                </a:gridCol>
                <a:gridCol w="286690">
                  <a:extLst>
                    <a:ext uri="{9D8B030D-6E8A-4147-A177-3AD203B41FA5}">
                      <a16:colId xmlns:a16="http://schemas.microsoft.com/office/drawing/2014/main" val="1585845206"/>
                    </a:ext>
                  </a:extLst>
                </a:gridCol>
                <a:gridCol w="3886200">
                  <a:extLst>
                    <a:ext uri="{9D8B030D-6E8A-4147-A177-3AD203B41FA5}">
                      <a16:colId xmlns:a16="http://schemas.microsoft.com/office/drawing/2014/main" val="1507092633"/>
                    </a:ext>
                  </a:extLst>
                </a:gridCol>
                <a:gridCol w="3048000">
                  <a:extLst>
                    <a:ext uri="{9D8B030D-6E8A-4147-A177-3AD203B41FA5}">
                      <a16:colId xmlns:a16="http://schemas.microsoft.com/office/drawing/2014/main" val="2589245263"/>
                    </a:ext>
                  </a:extLst>
                </a:gridCol>
                <a:gridCol w="381000">
                  <a:extLst>
                    <a:ext uri="{9D8B030D-6E8A-4147-A177-3AD203B41FA5}">
                      <a16:colId xmlns:a16="http://schemas.microsoft.com/office/drawing/2014/main" val="908218"/>
                    </a:ext>
                  </a:extLst>
                </a:gridCol>
                <a:gridCol w="2163715">
                  <a:extLst>
                    <a:ext uri="{9D8B030D-6E8A-4147-A177-3AD203B41FA5}">
                      <a16:colId xmlns:a16="http://schemas.microsoft.com/office/drawing/2014/main" val="649488762"/>
                    </a:ext>
                  </a:extLst>
                </a:gridCol>
              </a:tblGrid>
              <a:tr h="388827">
                <a:tc>
                  <a:txBody>
                    <a:bodyPr/>
                    <a:lstStyle/>
                    <a:p>
                      <a:pPr algn="l" fontAlgn="ctr"/>
                      <a:r>
                        <a:rPr lang="en-US" sz="1000" b="0" i="0" u="none" strike="noStrike">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1360895">
                <a:tc>
                  <a:txBody>
                    <a:bodyPr/>
                    <a:lstStyle/>
                    <a:p>
                      <a:pPr algn="l" fontAlgn="b"/>
                      <a:r>
                        <a:rPr lang="en-US" sz="1100" b="0" i="0" u="none" strike="noStrike" dirty="0">
                          <a:solidFill>
                            <a:srgbClr val="000000"/>
                          </a:solidFill>
                          <a:effectLst/>
                          <a:latin typeface="Calibri" panose="020F0502020204030204" pitchFamily="34" charset="0"/>
                        </a:rPr>
                        <a:t>A332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16:00 27/03/2025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FOUND ENG 2 FIRESEAL DAMAGE. A332 VN1552/VN578 CXR-HAN-TPE 15:00/17:25 (TRANSIT): FOUND ENG 2 FIRESEAL DAMAGE. A/C AOG FOR REPAIR.</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C/O REPAIR ENG#2 CNA FIRE SEAL , CHECK SEALANT CURE TIME SATIS FOUND ENG 2 FIRSEAL DAMAGE EVENT CLOSED </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Hiện tượng rách Fire Shield xảy ra chủ yếu do aging kết hợp các yếu tố cọ xát, rung lắc của động cơ. Hỏng hóc này thường được phát hiện trong check khi tháo CNA và rất ít khi gây gián đoạn khai thác. Hiện đang thực hiện kiểm tra tổng thể CNA với tần suất 1 năm. Tàu A332 thực hiên lần cuối 10/2024.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177545"/>
                  </a:ext>
                </a:extLst>
              </a:tr>
              <a:tr h="1749722">
                <a:tc>
                  <a:txBody>
                    <a:bodyPr/>
                    <a:lstStyle/>
                    <a:p>
                      <a:pPr algn="l" fontAlgn="b"/>
                      <a:r>
                        <a:rPr lang="en-US" sz="1100" b="0" i="0" u="none" strike="noStrike">
                          <a:solidFill>
                            <a:srgbClr val="000000"/>
                          </a:solidFill>
                          <a:effectLst/>
                          <a:latin typeface="Calibri" panose="020F0502020204030204" pitchFamily="34" charset="0"/>
                        </a:rPr>
                        <a:t>A357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16:02 29/03/2025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16:47 29/03/2025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AFTER VN1590 FOUND HYD LEAK AT LH MLG OUT OF LIMIT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Replaced HYD tube from Normal </a:t>
                      </a:r>
                      <a:r>
                        <a:rPr lang="en-US" sz="1100" b="0" i="0" u="none" strike="noStrike" dirty="0" err="1" smtClean="0">
                          <a:solidFill>
                            <a:srgbClr val="000000"/>
                          </a:solidFill>
                          <a:effectLst/>
                          <a:latin typeface="Calibri" panose="020F0502020204030204" pitchFamily="34" charset="0"/>
                        </a:rPr>
                        <a:t>brk</a:t>
                      </a:r>
                      <a:r>
                        <a:rPr lang="en-US" sz="1100" b="0" i="0" u="none" strike="noStrike" dirty="0" smtClean="0">
                          <a:solidFill>
                            <a:srgbClr val="000000"/>
                          </a:solidFill>
                          <a:effectLst/>
                          <a:latin typeface="Calibri" panose="020F0502020204030204" pitchFamily="34" charset="0"/>
                        </a:rPr>
                        <a:t> manifold to </a:t>
                      </a:r>
                      <a:r>
                        <a:rPr lang="en-US" sz="1100" b="0" i="0" u="none" strike="noStrike" dirty="0" err="1" smtClean="0">
                          <a:solidFill>
                            <a:srgbClr val="000000"/>
                          </a:solidFill>
                          <a:effectLst/>
                          <a:latin typeface="Calibri" panose="020F0502020204030204" pitchFamily="34" charset="0"/>
                        </a:rPr>
                        <a:t>brk</a:t>
                      </a:r>
                      <a:r>
                        <a:rPr lang="en-US" sz="1100" b="0" i="0" u="none" strike="noStrike" dirty="0" smtClean="0">
                          <a:solidFill>
                            <a:srgbClr val="000000"/>
                          </a:solidFill>
                          <a:effectLst/>
                          <a:latin typeface="Calibri" panose="020F0502020204030204" pitchFamily="34" charset="0"/>
                        </a:rPr>
                        <a:t> at LH LDG, leak checked found </a:t>
                      </a:r>
                      <a:r>
                        <a:rPr lang="en-US" sz="1100" b="0" i="0" u="none" strike="noStrike" dirty="0" err="1" smtClean="0">
                          <a:solidFill>
                            <a:srgbClr val="000000"/>
                          </a:solidFill>
                          <a:effectLst/>
                          <a:latin typeface="Calibri" panose="020F0502020204030204" pitchFamily="34" charset="0"/>
                        </a:rPr>
                        <a:t>satis</a:t>
                      </a:r>
                      <a:r>
                        <a:rPr lang="en-US" sz="1100" b="0" i="0" u="none" strike="noStrike" dirty="0" smtClean="0">
                          <a:solidFill>
                            <a:srgbClr val="000000"/>
                          </a:solidFill>
                          <a:effectLst/>
                          <a:latin typeface="Calibri" panose="020F0502020204030204" pitchFamily="34" charset="0"/>
                        </a:rPr>
                        <a:t>. REPLACED HYD TUBE FROM NORMAL BRK MANIFOLD TO BRK AT LH LDG EVENT CLOSED  TOTAL DELAY 40MIN, TECH DELAY 23MIN.</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Non tech. Sau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vết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lõm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sâu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thân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nghi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ngờ</a:t>
                      </a:r>
                      <a:r>
                        <a:rPr lang="en-US" sz="1100" b="0" i="0" u="none" strike="noStrike" dirty="0">
                          <a:solidFill>
                            <a:srgbClr val="000000"/>
                          </a:solidFill>
                          <a:effectLst/>
                          <a:latin typeface="Calibri" panose="020F0502020204030204" pitchFamily="34" charset="0"/>
                        </a:rPr>
                        <a:t> do FOD, </a:t>
                      </a:r>
                      <a:r>
                        <a:rPr lang="en-US" sz="1100" b="0" i="0" u="none" strike="noStrike" dirty="0" err="1">
                          <a:solidFill>
                            <a:srgbClr val="000000"/>
                          </a:solidFill>
                          <a:effectLst/>
                          <a:latin typeface="Calibri" panose="020F0502020204030204" pitchFamily="34" charset="0"/>
                        </a:rPr>
                        <a:t>không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dấu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hiệu</a:t>
                      </a:r>
                      <a:r>
                        <a:rPr lang="en-US" sz="1100" b="0" i="0" u="none" strike="noStrike" dirty="0">
                          <a:solidFill>
                            <a:srgbClr val="000000"/>
                          </a:solidFill>
                          <a:effectLst/>
                          <a:latin typeface="Calibri" panose="020F0502020204030204" pitchFamily="34" charset="0"/>
                        </a:rPr>
                        <a:t> ageing hay </a:t>
                      </a:r>
                      <a:r>
                        <a:rPr lang="en-US" sz="1100" b="0" i="0" u="none" strike="noStrike" dirty="0" err="1">
                          <a:solidFill>
                            <a:srgbClr val="000000"/>
                          </a:solidFill>
                          <a:effectLst/>
                          <a:latin typeface="Calibri" panose="020F0502020204030204" pitchFamily="34" charset="0"/>
                        </a:rPr>
                        <a:t>cọ</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xát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4848050"/>
                  </a:ext>
                </a:extLst>
              </a:tr>
            </a:tbl>
          </a:graphicData>
        </a:graphic>
      </p:graphicFrame>
    </p:spTree>
    <p:extLst>
      <p:ext uri="{BB962C8B-B14F-4D97-AF65-F5344CB8AC3E}">
        <p14:creationId xmlns:p14="http://schemas.microsoft.com/office/powerpoint/2010/main" val="57560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86156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8" y="485829"/>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Delay:06</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nvPr>
        </p:nvGraphicFramePr>
        <p:xfrm>
          <a:off x="152398" y="1270543"/>
          <a:ext cx="11902274" cy="4987536"/>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4495800">
                  <a:extLst>
                    <a:ext uri="{9D8B030D-6E8A-4147-A177-3AD203B41FA5}">
                      <a16:colId xmlns:a16="http://schemas.microsoft.com/office/drawing/2014/main" val="2266327883"/>
                    </a:ext>
                  </a:extLst>
                </a:gridCol>
                <a:gridCol w="304800">
                  <a:extLst>
                    <a:ext uri="{9D8B030D-6E8A-4147-A177-3AD203B41FA5}">
                      <a16:colId xmlns:a16="http://schemas.microsoft.com/office/drawing/2014/main" val="1602966887"/>
                    </a:ext>
                  </a:extLst>
                </a:gridCol>
                <a:gridCol w="2834472">
                  <a:extLst>
                    <a:ext uri="{9D8B030D-6E8A-4147-A177-3AD203B41FA5}">
                      <a16:colId xmlns:a16="http://schemas.microsoft.com/office/drawing/2014/main" val="3315154492"/>
                    </a:ext>
                  </a:extLst>
                </a:gridCol>
              </a:tblGrid>
              <a:tr h="679085">
                <a:tc>
                  <a:txBody>
                    <a:bodyPr/>
                    <a:lstStyle/>
                    <a:p>
                      <a:pPr algn="l"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709799">
                <a:tc>
                  <a:txBody>
                    <a:bodyPr/>
                    <a:lstStyle/>
                    <a:p>
                      <a:pPr algn="l" fontAlgn="b"/>
                      <a:r>
                        <a:rPr lang="en-US" sz="1100" b="0" i="0" u="none" strike="noStrike">
                          <a:solidFill>
                            <a:srgbClr val="000000"/>
                          </a:solidFill>
                          <a:effectLst/>
                          <a:latin typeface="Calibri" panose="020F0502020204030204" pitchFamily="34" charset="0"/>
                        </a:rPr>
                        <a:t>A357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16:02 29/03/2025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VN1590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AFTER VN1590 FOUND HYD LEAK AT LH MLG OUT OF LIMIT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Replaced HYD tube from Normal </a:t>
                      </a:r>
                      <a:r>
                        <a:rPr lang="en-US" sz="1100" b="0" i="0" u="none" strike="noStrike" dirty="0" err="1" smtClean="0">
                          <a:solidFill>
                            <a:srgbClr val="000000"/>
                          </a:solidFill>
                          <a:effectLst/>
                          <a:latin typeface="Calibri" panose="020F0502020204030204" pitchFamily="34" charset="0"/>
                        </a:rPr>
                        <a:t>brk</a:t>
                      </a:r>
                      <a:r>
                        <a:rPr lang="en-US" sz="1100" b="0" i="0" u="none" strike="noStrike" dirty="0" smtClean="0">
                          <a:solidFill>
                            <a:srgbClr val="000000"/>
                          </a:solidFill>
                          <a:effectLst/>
                          <a:latin typeface="Calibri" panose="020F0502020204030204" pitchFamily="34" charset="0"/>
                        </a:rPr>
                        <a:t> manifold to </a:t>
                      </a:r>
                      <a:r>
                        <a:rPr lang="en-US" sz="1100" b="0" i="0" u="none" strike="noStrike" dirty="0" err="1" smtClean="0">
                          <a:solidFill>
                            <a:srgbClr val="000000"/>
                          </a:solidFill>
                          <a:effectLst/>
                          <a:latin typeface="Calibri" panose="020F0502020204030204" pitchFamily="34" charset="0"/>
                        </a:rPr>
                        <a:t>brk</a:t>
                      </a:r>
                      <a:r>
                        <a:rPr lang="en-US" sz="1100" b="0" i="0" u="none" strike="noStrike" dirty="0" smtClean="0">
                          <a:solidFill>
                            <a:srgbClr val="000000"/>
                          </a:solidFill>
                          <a:effectLst/>
                          <a:latin typeface="Calibri" panose="020F0502020204030204" pitchFamily="34" charset="0"/>
                        </a:rPr>
                        <a:t> at LH LDG, leak checked found </a:t>
                      </a:r>
                      <a:r>
                        <a:rPr lang="en-US" sz="1100" b="0" i="0" u="none" strike="noStrike" dirty="0" err="1" smtClean="0">
                          <a:solidFill>
                            <a:srgbClr val="000000"/>
                          </a:solidFill>
                          <a:effectLst/>
                          <a:latin typeface="Calibri" panose="020F0502020204030204" pitchFamily="34" charset="0"/>
                        </a:rPr>
                        <a:t>satis</a:t>
                      </a:r>
                      <a:r>
                        <a:rPr lang="en-US" sz="1100" b="0" i="0" u="none" strike="noStrike" dirty="0" smtClean="0">
                          <a:solidFill>
                            <a:srgbClr val="000000"/>
                          </a:solidFill>
                          <a:effectLst/>
                          <a:latin typeface="Calibri" panose="020F0502020204030204" pitchFamily="34" charset="0"/>
                        </a:rPr>
                        <a:t>. REPLACED HYD TUBE FROM NORMAL BRK MANIFOLD TO BRK AT LH LDG EVENT CLOSED  TOTAL DELAY 40MIN, TECH DELAY 23MIN.</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Non tech. </a:t>
                      </a:r>
                      <a:r>
                        <a:rPr lang="en-US" sz="1100" b="0" i="0" u="none" strike="noStrike" dirty="0" err="1">
                          <a:solidFill>
                            <a:srgbClr val="000000"/>
                          </a:solidFill>
                          <a:effectLst/>
                          <a:latin typeface="Calibri" panose="020F0502020204030204" pitchFamily="34" charset="0"/>
                        </a:rPr>
                        <a:t>Sau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vết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lõm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sâu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thân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ống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nghi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ngờ</a:t>
                      </a:r>
                      <a:r>
                        <a:rPr lang="en-US" sz="1100" b="0" i="0" u="none" strike="noStrike" dirty="0">
                          <a:solidFill>
                            <a:srgbClr val="000000"/>
                          </a:solidFill>
                          <a:effectLst/>
                          <a:latin typeface="Calibri" panose="020F0502020204030204" pitchFamily="34" charset="0"/>
                        </a:rPr>
                        <a:t> do FOD, </a:t>
                      </a:r>
                      <a:r>
                        <a:rPr lang="en-US" sz="1100" b="0" i="0" u="none" strike="noStrike" dirty="0" err="1">
                          <a:solidFill>
                            <a:srgbClr val="000000"/>
                          </a:solidFill>
                          <a:effectLst/>
                          <a:latin typeface="Calibri" panose="020F0502020204030204" pitchFamily="34" charset="0"/>
                        </a:rPr>
                        <a:t>không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dấu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hiệu</a:t>
                      </a:r>
                      <a:r>
                        <a:rPr lang="en-US" sz="1100" b="0" i="0" u="none" strike="noStrike" dirty="0">
                          <a:solidFill>
                            <a:srgbClr val="000000"/>
                          </a:solidFill>
                          <a:effectLst/>
                          <a:latin typeface="Calibri" panose="020F0502020204030204" pitchFamily="34" charset="0"/>
                        </a:rPr>
                        <a:t> ageing hay </a:t>
                      </a:r>
                      <a:r>
                        <a:rPr lang="en-US" sz="1100" b="0" i="0" u="none" strike="noStrike" dirty="0" err="1">
                          <a:solidFill>
                            <a:srgbClr val="000000"/>
                          </a:solidFill>
                          <a:effectLst/>
                          <a:latin typeface="Calibri" panose="020F0502020204030204" pitchFamily="34" charset="0"/>
                        </a:rPr>
                        <a:t>cọ</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xát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735562">
                <a:tc>
                  <a:txBody>
                    <a:bodyPr/>
                    <a:lstStyle/>
                    <a:p>
                      <a:pPr algn="l" fontAlgn="b"/>
                      <a:r>
                        <a:rPr lang="en-US" sz="1100" b="0" i="0" u="none" strike="noStrike">
                          <a:solidFill>
                            <a:srgbClr val="000000"/>
                          </a:solidFill>
                          <a:effectLst/>
                          <a:latin typeface="Calibri" panose="020F0502020204030204" pitchFamily="34" charset="0"/>
                        </a:rPr>
                        <a:t>A334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18:55 29/03/2025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AFTER BOARDING FOUND MSG NAV ADS-B RPTG1/2 FAULT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ACTION: C/O TEST ATC AND TOW A/C FROM BAY 19 TO BAY 29 CONFIRM GPS SATIS, MSG GONE. A/C SERVICEABLE. AFTER BOARDING FOUND MSG NAV ADS-B RPTG1/2 FAULT EVENT CLOSED  TOTAL DELAY 50 MINS, TECH DELAY 30 MINS.</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34-00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được khắc phục sau khi kéo tàu sang vị trí khác và thực hiện test. Lỗi có thể xảy ra ở khu vực bị gián đoạn tín hiệu của GPS. Theo dõi thêm.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563513"/>
                  </a:ext>
                </a:extLst>
              </a:tr>
              <a:tr h="735562">
                <a:tc>
                  <a:txBody>
                    <a:bodyPr/>
                    <a:lstStyle/>
                    <a:p>
                      <a:pPr algn="l" fontAlgn="b"/>
                      <a:r>
                        <a:rPr lang="en-US" sz="1100" b="0" i="0" u="none" strike="noStrike" dirty="0">
                          <a:solidFill>
                            <a:srgbClr val="000000"/>
                          </a:solidFill>
                          <a:effectLst/>
                          <a:latin typeface="Calibri" panose="020F0502020204030204" pitchFamily="34" charset="0"/>
                        </a:rPr>
                        <a:t>A603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09:50 28/03/2025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VN611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HAN-BKK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CAPT REPORT:  PLASTIC COVER STICK ON MW#2 GTB DUE TO CAPT REPORT: PLASTIC COVER STICK ON MW#2</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REMOVED PLASTIC COVER FROM MW#2, INSPECTION/CHECK THE WHEEL &amp; TIRES IAW AMM: 32-41-00-210-002-A IN GOOD CONDITION REMOVED PLASTIC COVER EVENT CLOSED </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Non tech. Do miếng bọc dán brake fan của tàu A503 trong quá trình kéo dắt bung ra và dính vào tàu A603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0484906"/>
                  </a:ext>
                </a:extLst>
              </a:tr>
              <a:tr h="735562">
                <a:tc>
                  <a:txBody>
                    <a:bodyPr/>
                    <a:lstStyle/>
                    <a:p>
                      <a:pPr algn="l" fontAlgn="b"/>
                      <a:r>
                        <a:rPr lang="en-US" sz="1100" b="0" i="0" u="none" strike="noStrike">
                          <a:solidFill>
                            <a:srgbClr val="000000"/>
                          </a:solidFill>
                          <a:effectLst/>
                          <a:latin typeface="Calibri" panose="020F0502020204030204" pitchFamily="34" charset="0"/>
                        </a:rPr>
                        <a:t>A353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11:43 26/03/2025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T/X CHK FOUND ENG# 2 PUMP FAULT VS ELEC PUMP FAULT. T/X CHK FOUND ENG# 2 PUMP FAULT VS ELEC PUMP FAULT.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EVENT CLOSED; FINAL ACTION: T/S AND RAISED ADD B2211 Y ENG 2 PUMP PB SW FAULT LIGHT.</a:t>
                      </a:r>
                    </a:p>
                    <a:p>
                      <a:pPr algn="l" fontAlgn="b"/>
                      <a:r>
                        <a:rPr lang="en-US" sz="1100" b="0" i="0" u="none" strike="noStrike" dirty="0" smtClean="0">
                          <a:solidFill>
                            <a:srgbClr val="000000"/>
                          </a:solidFill>
                          <a:effectLst/>
                          <a:latin typeface="Calibri" panose="020F0502020204030204" pitchFamily="34" charset="0"/>
                        </a:rPr>
                        <a:t>TOTAL DELAY 41 MINS TECH DELAY 41 MINS </a:t>
                      </a:r>
                    </a:p>
                    <a:p>
                      <a:pPr algn="l" fontAlgn="b"/>
                      <a:r>
                        <a:rPr lang="en-US" sz="1100" b="0" i="0" u="none" strike="noStrike" dirty="0" smtClean="0">
                          <a:solidFill>
                            <a:srgbClr val="000000"/>
                          </a:solidFill>
                          <a:effectLst/>
                          <a:latin typeface="Calibri" panose="020F0502020204030204" pitchFamily="34" charset="0"/>
                        </a:rPr>
                        <a:t>ENG# 2 PUMP FAULT VS ELEC PUMP FAULT.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Nguyên </a:t>
                      </a:r>
                      <a:r>
                        <a:rPr lang="en-US" sz="1100" b="0" i="0" u="none" strike="noStrike" dirty="0" err="1">
                          <a:solidFill>
                            <a:srgbClr val="000000"/>
                          </a:solidFill>
                          <a:effectLst/>
                          <a:latin typeface="Calibri" panose="020F0502020204030204" pitchFamily="34" charset="0"/>
                        </a:rPr>
                        <a:t>nhân</a:t>
                      </a:r>
                      <a:r>
                        <a:rPr lang="en-US" sz="1100" b="0" i="0" u="none" strike="noStrike" dirty="0">
                          <a:solidFill>
                            <a:srgbClr val="000000"/>
                          </a:solidFill>
                          <a:effectLst/>
                          <a:latin typeface="Calibri" panose="020F0502020204030204" pitchFamily="34" charset="0"/>
                        </a:rPr>
                        <a:t> do </a:t>
                      </a:r>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đèn</a:t>
                      </a:r>
                      <a:r>
                        <a:rPr lang="en-US" sz="1100" b="0" i="0" u="none" strike="noStrike" dirty="0">
                          <a:solidFill>
                            <a:srgbClr val="000000"/>
                          </a:solidFill>
                          <a:effectLst/>
                          <a:latin typeface="Calibri" panose="020F0502020204030204" pitchFamily="34" charset="0"/>
                        </a:rPr>
                        <a:t> pb,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thể</a:t>
                      </a:r>
                      <a:r>
                        <a:rPr lang="en-US" sz="1100" b="0" i="0" u="none" strike="noStrike" dirty="0">
                          <a:solidFill>
                            <a:srgbClr val="000000"/>
                          </a:solidFill>
                          <a:effectLst/>
                          <a:latin typeface="Calibri" panose="020F0502020204030204" pitchFamily="34" charset="0"/>
                        </a:rPr>
                        <a:t> do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thác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gian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dài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dẫn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đến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đèn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bị</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lão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hoá</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5968842"/>
                  </a:ext>
                </a:extLst>
              </a:tr>
            </a:tbl>
          </a:graphicData>
        </a:graphic>
      </p:graphicFrame>
    </p:spTree>
    <p:extLst>
      <p:ext uri="{BB962C8B-B14F-4D97-AF65-F5344CB8AC3E}">
        <p14:creationId xmlns:p14="http://schemas.microsoft.com/office/powerpoint/2010/main" val="1964297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A6E8F8-4608-DE97-80D3-4707EE21ABD7}"/>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7DB4A07-3F12-F258-D67B-8350F5926FB0}"/>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00BDEDFA-053C-1A90-BE95-A4F030943916}"/>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14E5C04C-F507-28D7-29CC-0A0176991E20}"/>
              </a:ext>
            </a:extLst>
          </p:cNvPr>
          <p:cNvSpPr txBox="1"/>
          <p:nvPr/>
        </p:nvSpPr>
        <p:spPr>
          <a:xfrm>
            <a:off x="152398" y="86156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9" name="TextBox 8">
            <a:extLst>
              <a:ext uri="{FF2B5EF4-FFF2-40B4-BE49-F238E27FC236}">
                <a16:creationId xmlns:a16="http://schemas.microsoft.com/office/drawing/2014/main" id="{98296789-148B-F4DF-6A2A-90F4A2A6D8E5}"/>
              </a:ext>
            </a:extLst>
          </p:cNvPr>
          <p:cNvSpPr txBox="1"/>
          <p:nvPr/>
        </p:nvSpPr>
        <p:spPr>
          <a:xfrm>
            <a:off x="152398" y="485829"/>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Delay:06</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BFFFEA6-1BFE-DC46-DE20-038037E28C1B}"/>
              </a:ext>
            </a:extLst>
          </p:cNvPr>
          <p:cNvGraphicFramePr>
            <a:graphicFrameLocks noGrp="1"/>
          </p:cNvGraphicFramePr>
          <p:nvPr>
            <p:extLst/>
          </p:nvPr>
        </p:nvGraphicFramePr>
        <p:xfrm>
          <a:off x="152398" y="1270543"/>
          <a:ext cx="11902274" cy="3571889"/>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4495800">
                  <a:extLst>
                    <a:ext uri="{9D8B030D-6E8A-4147-A177-3AD203B41FA5}">
                      <a16:colId xmlns:a16="http://schemas.microsoft.com/office/drawing/2014/main" val="2266327883"/>
                    </a:ext>
                  </a:extLst>
                </a:gridCol>
                <a:gridCol w="304800">
                  <a:extLst>
                    <a:ext uri="{9D8B030D-6E8A-4147-A177-3AD203B41FA5}">
                      <a16:colId xmlns:a16="http://schemas.microsoft.com/office/drawing/2014/main" val="1602966887"/>
                    </a:ext>
                  </a:extLst>
                </a:gridCol>
                <a:gridCol w="2834472">
                  <a:extLst>
                    <a:ext uri="{9D8B030D-6E8A-4147-A177-3AD203B41FA5}">
                      <a16:colId xmlns:a16="http://schemas.microsoft.com/office/drawing/2014/main" val="3315154492"/>
                    </a:ext>
                  </a:extLst>
                </a:gridCol>
              </a:tblGrid>
              <a:tr h="679085">
                <a:tc>
                  <a:txBody>
                    <a:bodyPr/>
                    <a:lstStyle/>
                    <a:p>
                      <a:pPr algn="l"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709799">
                <a:tc>
                  <a:txBody>
                    <a:bodyPr/>
                    <a:lstStyle/>
                    <a:p>
                      <a:pPr algn="l" fontAlgn="b"/>
                      <a:r>
                        <a:rPr lang="en-US" sz="1100" b="0" i="0" u="none" strike="noStrike">
                          <a:solidFill>
                            <a:srgbClr val="000000"/>
                          </a:solidFill>
                          <a:effectLst/>
                          <a:latin typeface="Calibri" panose="020F0502020204030204" pitchFamily="34" charset="0"/>
                        </a:rPr>
                        <a:t>A358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14:30 25/03/2025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PEK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VN513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PEK-HAN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CAPT REPORT SINGLE PTT STUCK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EVENT CLOSED CRS OF AMECO C/O RAISED ADD DEACTIVATION SIDESTICK PTT SW CAPT REPORT SINGLE PTT STUCK</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Calibri" panose="020F0502020204030204" pitchFamily="34" charset="0"/>
                        </a:rPr>
                        <a:t>Hỏng hóc được khắc phục sau khi thay PTT switch PN D2731009900000. Part là vật tư tiêu hao nên không có dữ liệu về độ tin cậy. Theo TFU 27.92.00.002, PTT switch thường kém bền và thường hỏng sau khoảng 5000 FC. Hiện ban KT đang triển khai EOD-32S-27-92-0002-R00 chủ động hàng năm định kỳ rà soát. PTT switch được thay với tần suất 2Y, Part được thay lần cuối vào T8/2023, dự kiến thay vào T6/2025. Hỏng hóc đơn lẻ.</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735562">
                <a:tc>
                  <a:txBody>
                    <a:bodyPr/>
                    <a:lstStyle/>
                    <a:p>
                      <a:pPr algn="l" fontAlgn="b"/>
                      <a:r>
                        <a:rPr lang="en-US" sz="1100" b="0" i="0" u="none" strike="noStrike">
                          <a:solidFill>
                            <a:srgbClr val="000000"/>
                          </a:solidFill>
                          <a:effectLst/>
                          <a:latin typeface="Calibri" panose="020F0502020204030204" pitchFamily="34" charset="0"/>
                        </a:rPr>
                        <a:t>A332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13:00 25/03/2025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VN7188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SGN-HPH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ALL HANDSET AT CABIN CREW CAN NOT CONTACT CAPT CALL VHF INFORM ALL HANDSET AT CABIN CREW CAN NOT CONTACT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Calibri" panose="020F0502020204030204" pitchFamily="34" charset="0"/>
                        </a:rPr>
                        <a:t>TSV hướng dẫn CAPT vào CIDS làm OPS TEST CIDS, sau khi POWER OPS TEST xong thì hệ thống hoạt động bình thường, CAPT báo thêm có thể do HANDSET của TVT bị hỏng ALL HANDSET AT CABIN CREW CAN NOT CONTACT EVENT CLOSED  TOTAL DELAY 5 MINS, TECH DELAY 0 MIN</a:t>
                      </a:r>
                    </a:p>
                    <a:p>
                      <a:pPr algn="l" fontAlgn="b"/>
                      <a:endParaRPr lang="vi-VN" sz="1100" b="0" i="0" u="none" strike="noStrike" dirty="0" smtClean="0">
                        <a:solidFill>
                          <a:srgbClr val="000000"/>
                        </a:solidFill>
                        <a:effectLst/>
                        <a:latin typeface="Calibri" panose="020F0502020204030204" pitchFamily="34" charset="0"/>
                      </a:endParaRPr>
                    </a:p>
                    <a:p>
                      <a:pPr algn="l" fontAlgn="b"/>
                      <a:r>
                        <a:rPr lang="vi-VN" sz="1100" b="0" i="0" u="none" strike="noStrike" dirty="0" smtClean="0">
                          <a:solidFill>
                            <a:srgbClr val="000000"/>
                          </a:solidFill>
                          <a:effectLst/>
                          <a:latin typeface="Calibri" panose="020F0502020204030204" pitchFamily="34" charset="0"/>
                        </a:rPr>
                        <a:t>NOTE: TÀU KHÔNG MỞ CỬA LẠI</a:t>
                      </a:r>
                      <a:endParaRPr lang="vi-VN"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Không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tính</a:t>
                      </a:r>
                      <a:r>
                        <a:rPr lang="en-US" sz="1100" b="0" i="0" u="none" strike="noStrike" dirty="0">
                          <a:solidFill>
                            <a:srgbClr val="000000"/>
                          </a:solidFill>
                          <a:effectLst/>
                          <a:latin typeface="Calibri" panose="020F0502020204030204" pitchFamily="34" charset="0"/>
                        </a:rPr>
                        <a:t> Delay &lt; 15 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563513"/>
                  </a:ext>
                </a:extLst>
              </a:tr>
            </a:tbl>
          </a:graphicData>
        </a:graphic>
      </p:graphicFrame>
    </p:spTree>
    <p:extLst>
      <p:ext uri="{BB962C8B-B14F-4D97-AF65-F5344CB8AC3E}">
        <p14:creationId xmlns:p14="http://schemas.microsoft.com/office/powerpoint/2010/main" val="168099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8</a:t>
            </a:fld>
            <a:endParaRPr lang="en-US" altLang="en-US" sz="1200">
              <a:solidFill>
                <a:srgbClr val="D2A43B"/>
              </a:solidFill>
              <a:latin typeface="Montserrat"/>
            </a:endParaRPr>
          </a:p>
        </p:txBody>
      </p:sp>
      <p:sp>
        <p:nvSpPr>
          <p:cNvPr id="1048638" name="Title 4"/>
          <p:cNvSpPr>
            <a:spLocks noGrp="1"/>
          </p:cNvSpPr>
          <p:nvPr>
            <p:ph type="title"/>
          </p:nvPr>
        </p:nvSpPr>
        <p:spPr>
          <a:xfrm>
            <a:off x="1051775" y="521594"/>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47483" y="1143000"/>
            <a:ext cx="3905517" cy="2865418"/>
          </a:xfrm>
          <a:prstGeom prst="rect">
            <a:avLst/>
          </a:prstGeom>
          <a:noFill/>
        </p:spPr>
        <p:txBody>
          <a:bodyPr wrap="square">
            <a:spAutoFit/>
          </a:bodyPr>
          <a:lstStyle/>
          <a:p>
            <a:pPr marL="285739" indent="-285739">
              <a:lnSpc>
                <a:spcPts val="2125"/>
              </a:lnSpc>
              <a:buSzPct val="100000"/>
              <a:buChar char="•"/>
            </a:pP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A332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kiểm</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tra</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CoA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phát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hiện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ENG 2 FIRESEAL DAMAGE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và</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phải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smtClean="0">
                <a:solidFill>
                  <a:srgbClr val="333F70"/>
                </a:solidFill>
                <a:latin typeface="Times New Roman" panose="02020603050405020304" pitchFamily="18" charset="0"/>
                <a:ea typeface="Open Sans" pitchFamily="34" charset="-122"/>
                <a:cs typeface="Times New Roman" panose="02020603050405020304" pitchFamily="18" charset="0"/>
              </a:rPr>
              <a:t>thay</a:t>
            </a:r>
            <a:r>
              <a:rPr lang="en-US" sz="1600" dirty="0" smtClean="0">
                <a:solidFill>
                  <a:srgbClr val="333F70"/>
                </a:solidFill>
                <a:latin typeface="Times New Roman" panose="02020603050405020304" pitchFamily="18" charset="0"/>
                <a:ea typeface="Open Sans" pitchFamily="34" charset="-122"/>
                <a:cs typeface="Times New Roman" panose="02020603050405020304" pitchFamily="18" charset="0"/>
              </a:rPr>
              <a:t>.</a:t>
            </a:r>
            <a:endParaRPr lang="en-US" sz="1600" dirty="0">
              <a:solidFill>
                <a:srgbClr val="333F70"/>
              </a:solidFill>
              <a:latin typeface="Times New Roman" panose="02020603050405020304" pitchFamily="18" charset="0"/>
              <a:ea typeface="Open Sans" pitchFamily="34" charset="-122"/>
              <a:cs typeface="Times New Roman" panose="02020603050405020304" pitchFamily="18" charset="0"/>
            </a:endParaRPr>
          </a:p>
          <a:p>
            <a:pPr marL="285739" indent="-285739">
              <a:lnSpc>
                <a:spcPts val="2125"/>
              </a:lnSpc>
              <a:buSzPct val="100000"/>
              <a:buChar char="•"/>
            </a:pPr>
            <a:r>
              <a:rPr lang="vi-VN" sz="1600" dirty="0">
                <a:solidFill>
                  <a:srgbClr val="333F70"/>
                </a:solidFill>
                <a:ea typeface="Open Sans" pitchFamily="34" charset="-122"/>
                <a:cs typeface="Times New Roman" panose="02020603050405020304" pitchFamily="18" charset="0"/>
              </a:rPr>
              <a:t>A603 GTB do có miếng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dán</a:t>
            </a:r>
            <a:r>
              <a:rPr lang="vi-VN" sz="1600" dirty="0">
                <a:solidFill>
                  <a:srgbClr val="333F70"/>
                </a:solidFill>
                <a:ea typeface="Open Sans" pitchFamily="34" charset="-122"/>
                <a:cs typeface="Times New Roman" panose="02020603050405020304" pitchFamily="18" charset="0"/>
              </a:rPr>
              <a:t> dính vào lốp số 2, kiểm tra phát hiện miếng này bị rơi 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ừ</a:t>
            </a:r>
            <a:r>
              <a:rPr lang="vi-VN" sz="1600" dirty="0">
                <a:solidFill>
                  <a:srgbClr val="333F70"/>
                </a:solidFill>
                <a:ea typeface="Open Sans" pitchFamily="34" charset="-122"/>
                <a:cs typeface="Times New Roman" panose="02020603050405020304" pitchFamily="18" charset="0"/>
              </a:rPr>
              <a:t> tàu </a:t>
            </a:r>
            <a:r>
              <a:rPr lang="vi-VN" sz="1600" dirty="0" smtClean="0">
                <a:solidFill>
                  <a:srgbClr val="333F70"/>
                </a:solidFill>
                <a:ea typeface="Open Sans" pitchFamily="34" charset="-122"/>
                <a:cs typeface="Times New Roman" panose="02020603050405020304" pitchFamily="18" charset="0"/>
              </a:rPr>
              <a:t>A503</a:t>
            </a:r>
            <a:r>
              <a:rPr lang="en-US" sz="1600" dirty="0" smtClean="0">
                <a:solidFill>
                  <a:srgbClr val="333F70"/>
                </a:solidFill>
                <a:ea typeface="Open Sans" pitchFamily="34" charset="-122"/>
                <a:cs typeface="Times New Roman" panose="02020603050405020304" pitchFamily="18" charset="0"/>
              </a:rPr>
              <a:t>(BQDB)</a:t>
            </a:r>
            <a:r>
              <a:rPr lang="vi-VN" sz="1600" dirty="0" smtClean="0">
                <a:solidFill>
                  <a:srgbClr val="333F70"/>
                </a:solidFill>
                <a:ea typeface="Open Sans" pitchFamily="34" charset="-122"/>
                <a:cs typeface="Times New Roman" panose="02020603050405020304" pitchFamily="18" charset="0"/>
              </a:rPr>
              <a:t> </a:t>
            </a:r>
            <a:r>
              <a:rPr lang="vi-VN" sz="1600" dirty="0">
                <a:solidFill>
                  <a:srgbClr val="333F70"/>
                </a:solidFill>
                <a:ea typeface="Open Sans" pitchFamily="34" charset="-122"/>
                <a:cs typeface="Times New Roman" panose="02020603050405020304" pitchFamily="18" charset="0"/>
              </a:rPr>
              <a:t>ra, hiện VAECO đang thực hiện điều </a:t>
            </a:r>
            <a:r>
              <a:rPr lang="vi-VN" sz="1600" dirty="0" smtClean="0">
                <a:solidFill>
                  <a:srgbClr val="333F70"/>
                </a:solidFill>
                <a:ea typeface="Open Sans" pitchFamily="34" charset="-122"/>
                <a:cs typeface="Times New Roman" panose="02020603050405020304" pitchFamily="18" charset="0"/>
              </a:rPr>
              <a:t>tra</a:t>
            </a:r>
            <a:r>
              <a:rPr lang="en-US" sz="1600" dirty="0" smtClean="0">
                <a:solidFill>
                  <a:srgbClr val="333F70"/>
                </a:solidFill>
                <a:ea typeface="Open Sans" pitchFamily="34" charset="-122"/>
                <a:cs typeface="Times New Roman" panose="02020603050405020304" pitchFamily="18" charset="0"/>
              </a:rPr>
              <a:t>.</a:t>
            </a:r>
            <a:endParaRPr lang="vi-VN" sz="1600" dirty="0">
              <a:solidFill>
                <a:srgbClr val="333F70"/>
              </a:solidFill>
              <a:ea typeface="Open Sans" pitchFamily="34" charset="-122"/>
              <a:cs typeface="Times New Roman" panose="02020603050405020304" pitchFamily="18" charset="0"/>
            </a:endParaRPr>
          </a:p>
          <a:p>
            <a:pPr marL="285739" indent="-285739">
              <a:lnSpc>
                <a:spcPts val="2125"/>
              </a:lnSpc>
              <a:buSzPct val="100000"/>
              <a:buChar char="•"/>
            </a:pPr>
            <a:r>
              <a:rPr lang="vi-VN" sz="1600" dirty="0">
                <a:solidFill>
                  <a:srgbClr val="333F70"/>
                </a:solidFill>
                <a:ea typeface="Open Sans" pitchFamily="34" charset="-122"/>
                <a:cs typeface="Times New Roman" panose="02020603050405020304" pitchFamily="18" charset="0"/>
              </a:rPr>
              <a:t>A357 HYD LEAK AT LH MLG OUT OF LIMIT, phát hiện đường ống thủy lực có dấu hiệu bị va chạm gây ra (nghi do FOD</a:t>
            </a:r>
            <a:r>
              <a:rPr lang="vi-VN" sz="1600" dirty="0" smtClean="0">
                <a:solidFill>
                  <a:srgbClr val="333F70"/>
                </a:solidFill>
                <a:ea typeface="Open Sans" pitchFamily="34" charset="-122"/>
                <a:cs typeface="Times New Roman" panose="02020603050405020304" pitchFamily="18" charset="0"/>
              </a:rPr>
              <a:t>)</a:t>
            </a:r>
            <a:r>
              <a:rPr lang="en-US" sz="1600" dirty="0" smtClean="0">
                <a:solidFill>
                  <a:srgbClr val="333F70"/>
                </a:solidFill>
                <a:ea typeface="Open 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2600" y="1143000"/>
            <a:ext cx="4114799" cy="2865418"/>
          </a:xfrm>
          <a:prstGeom prst="rect">
            <a:avLst/>
          </a:prstGeom>
        </p:spPr>
      </p:pic>
    </p:spTree>
    <p:extLst>
      <p:ext uri="{BB962C8B-B14F-4D97-AF65-F5344CB8AC3E}">
        <p14:creationId xmlns:p14="http://schemas.microsoft.com/office/powerpoint/2010/main" val="540225025"/>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52398" y="1070888"/>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4B51696-A1B4-F644-DD6E-56EA48773FB7}"/>
              </a:ext>
            </a:extLst>
          </p:cNvPr>
          <p:cNvGraphicFramePr>
            <a:graphicFrameLocks noGrp="1"/>
          </p:cNvGraphicFramePr>
          <p:nvPr>
            <p:extLst/>
          </p:nvPr>
        </p:nvGraphicFramePr>
        <p:xfrm>
          <a:off x="152399" y="1497699"/>
          <a:ext cx="11902274" cy="5056775"/>
        </p:xfrm>
        <a:graphic>
          <a:graphicData uri="http://schemas.openxmlformats.org/drawingml/2006/table">
            <a:tbl>
              <a:tblPr/>
              <a:tblGrid>
                <a:gridCol w="381002">
                  <a:extLst>
                    <a:ext uri="{9D8B030D-6E8A-4147-A177-3AD203B41FA5}">
                      <a16:colId xmlns:a16="http://schemas.microsoft.com/office/drawing/2014/main" val="2451627098"/>
                    </a:ext>
                  </a:extLst>
                </a:gridCol>
                <a:gridCol w="685800">
                  <a:extLst>
                    <a:ext uri="{9D8B030D-6E8A-4147-A177-3AD203B41FA5}">
                      <a16:colId xmlns:a16="http://schemas.microsoft.com/office/drawing/2014/main" val="2900669395"/>
                    </a:ext>
                  </a:extLst>
                </a:gridCol>
                <a:gridCol w="304800">
                  <a:extLst>
                    <a:ext uri="{9D8B030D-6E8A-4147-A177-3AD203B41FA5}">
                      <a16:colId xmlns:a16="http://schemas.microsoft.com/office/drawing/2014/main" val="1483466973"/>
                    </a:ext>
                  </a:extLst>
                </a:gridCol>
                <a:gridCol w="457200">
                  <a:extLst>
                    <a:ext uri="{9D8B030D-6E8A-4147-A177-3AD203B41FA5}">
                      <a16:colId xmlns:a16="http://schemas.microsoft.com/office/drawing/2014/main" val="1211279665"/>
                    </a:ext>
                  </a:extLst>
                </a:gridCol>
                <a:gridCol w="457200">
                  <a:extLst>
                    <a:ext uri="{9D8B030D-6E8A-4147-A177-3AD203B41FA5}">
                      <a16:colId xmlns:a16="http://schemas.microsoft.com/office/drawing/2014/main" val="2346795545"/>
                    </a:ext>
                  </a:extLst>
                </a:gridCol>
                <a:gridCol w="533400">
                  <a:extLst>
                    <a:ext uri="{9D8B030D-6E8A-4147-A177-3AD203B41FA5}">
                      <a16:colId xmlns:a16="http://schemas.microsoft.com/office/drawing/2014/main" val="2552586743"/>
                    </a:ext>
                  </a:extLst>
                </a:gridCol>
                <a:gridCol w="1447800">
                  <a:extLst>
                    <a:ext uri="{9D8B030D-6E8A-4147-A177-3AD203B41FA5}">
                      <a16:colId xmlns:a16="http://schemas.microsoft.com/office/drawing/2014/main" val="2000169800"/>
                    </a:ext>
                  </a:extLst>
                </a:gridCol>
                <a:gridCol w="4495800">
                  <a:extLst>
                    <a:ext uri="{9D8B030D-6E8A-4147-A177-3AD203B41FA5}">
                      <a16:colId xmlns:a16="http://schemas.microsoft.com/office/drawing/2014/main" val="2833407723"/>
                    </a:ext>
                  </a:extLst>
                </a:gridCol>
                <a:gridCol w="304800">
                  <a:extLst>
                    <a:ext uri="{9D8B030D-6E8A-4147-A177-3AD203B41FA5}">
                      <a16:colId xmlns:a16="http://schemas.microsoft.com/office/drawing/2014/main" val="3705242983"/>
                    </a:ext>
                  </a:extLst>
                </a:gridCol>
                <a:gridCol w="2834472">
                  <a:extLst>
                    <a:ext uri="{9D8B030D-6E8A-4147-A177-3AD203B41FA5}">
                      <a16:colId xmlns:a16="http://schemas.microsoft.com/office/drawing/2014/main" val="3208412913"/>
                    </a:ext>
                  </a:extLst>
                </a:gridCol>
              </a:tblGrid>
              <a:tr h="679085">
                <a:tc>
                  <a:txBody>
                    <a:bodyPr/>
                    <a:lstStyle/>
                    <a:p>
                      <a:pPr algn="l"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22426890"/>
                  </a:ext>
                </a:extLst>
              </a:tr>
              <a:tr h="1709799">
                <a:tc>
                  <a:txBody>
                    <a:bodyPr/>
                    <a:lstStyle/>
                    <a:p>
                      <a:pPr algn="l" fontAlgn="b"/>
                      <a:r>
                        <a:rPr lang="en-US" sz="1100" b="0" i="0" u="none" strike="noStrike">
                          <a:solidFill>
                            <a:srgbClr val="000000"/>
                          </a:solidFill>
                          <a:effectLst/>
                          <a:latin typeface="Calibri" panose="020F0502020204030204" pitchFamily="34" charset="0"/>
                        </a:rPr>
                        <a:t>A899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18:30 27/03/2025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SGN-SFO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APPEAR MSG "GREEN PUMP" APPEAR MSG GREEN PUMP (DEFECT CAN BE APPLY MEL). MCC ISSUED WO 7159324 REQ RPL GREEN EDP ENG #2 &amp; FILTERS</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EVENT CLOSED ACTION: REPLACED GREEN EDP ENG #2 &amp; FILTERS. SATIS.</a:t>
                      </a:r>
                    </a:p>
                    <a:p>
                      <a:pPr algn="l" fontAlgn="b"/>
                      <a:endParaRPr lang="en-US" sz="1100" b="0" i="0" u="none" strike="noStrike" dirty="0" smtClean="0">
                        <a:solidFill>
                          <a:srgbClr val="000000"/>
                        </a:solidFill>
                        <a:effectLst/>
                        <a:latin typeface="Calibri" panose="020F0502020204030204" pitchFamily="34" charset="0"/>
                      </a:endParaRPr>
                    </a:p>
                    <a:p>
                      <a:pPr algn="l" fontAlgn="b"/>
                      <a:r>
                        <a:rPr lang="en-US" sz="1100" b="0" i="0" u="none" strike="noStrike" dirty="0" smtClean="0">
                          <a:solidFill>
                            <a:srgbClr val="000000"/>
                          </a:solidFill>
                          <a:effectLst/>
                          <a:latin typeface="Calibri" panose="020F0502020204030204" pitchFamily="34" charset="0"/>
                        </a:rPr>
                        <a:t>TOTAL DELAY 60 MINS</a:t>
                      </a:r>
                    </a:p>
                    <a:p>
                      <a:pPr algn="l" fontAlgn="b"/>
                      <a:endParaRPr lang="en-US" sz="1100" b="0" i="0" u="none" strike="noStrike" dirty="0" smtClean="0">
                        <a:solidFill>
                          <a:srgbClr val="000000"/>
                        </a:solidFill>
                        <a:effectLst/>
                        <a:latin typeface="Calibri" panose="020F0502020204030204" pitchFamily="34" charset="0"/>
                      </a:endParaRPr>
                    </a:p>
                    <a:p>
                      <a:pPr algn="l" fontAlgn="b"/>
                      <a:r>
                        <a:rPr lang="en-US" sz="1100" b="0" i="0" u="none" strike="noStrike" dirty="0" smtClean="0">
                          <a:solidFill>
                            <a:srgbClr val="000000"/>
                          </a:solidFill>
                          <a:effectLst/>
                          <a:latin typeface="Calibri" panose="020F0502020204030204" pitchFamily="34" charset="0"/>
                        </a:rPr>
                        <a:t>TECH DELAY 30 MINS. APPEAR MSG GREEN PUMP</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Calibri" panose="020F0502020204030204" pitchFamily="34" charset="0"/>
                        </a:rPr>
                        <a:t>Hỏng hóc EDP này được Airbus theo dõi và khuyến cáo thay EDP vào ngày 26/03 theo TR 81566351. Tuy nhiên, do không bố trí được kế hoạch để thay sớm nên ngày 27/03 xuất hiện cảnh báo và phải dừng khắc phục hỏng hóc,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Nguyên nhân hỏng hóc do piston shoe bị mòn gây ra hỏng hóc. Parker đã ban hành SB để nâng cấp lên EDP-07 theo on-attrition.</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Để nâng cấp EDP-07 thì cần phải nâng cấp phần mềm thủy lực HMCA Std6 (đã thực hiện 5/14 tàu bay)</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Hỏng hóc EDP có thể raise MEL (giới hạn tải) nhưng OCC/MOC quyết định dừng tàu để khắc phục.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7274455"/>
                  </a:ext>
                </a:extLst>
              </a:tr>
              <a:tr h="735562">
                <a:tc>
                  <a:txBody>
                    <a:bodyPr/>
                    <a:lstStyle/>
                    <a:p>
                      <a:pPr algn="l" fontAlgn="b"/>
                      <a:r>
                        <a:rPr lang="en-US" sz="1100" b="0" i="0" u="none" strike="noStrike">
                          <a:solidFill>
                            <a:srgbClr val="000000"/>
                          </a:solidFill>
                          <a:effectLst/>
                          <a:latin typeface="Calibri" panose="020F0502020204030204" pitchFamily="34" charset="0"/>
                        </a:rPr>
                        <a:t>A899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16:01 26/03/2025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VN212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SGN-HAN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T/X CHK FOUND FOD ON MW #8 &amp; BRAKE #4 DAMAGED T/X CHK FOUND FOD ON MW #8 &amp; BRAKE #4 DAMAGED</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Calibri" panose="020F0502020204030204" pitchFamily="34" charset="0"/>
                        </a:rPr>
                        <a:t>FINAL ACTION: C/O RPLD BRAKE #4, MW#4 AND MW #8 CHK SATIS. T/X CHK FOUND FOD ON MW #8 &amp; BRAKE #4 DAMAGED EVENT CLOSED `FINAL ACTION: C/O RPLD BRAKE #4, MW#4 #8 SATIS.  - TRANSIT FOUND BRAKE #4 DAMAGED</a:t>
                      </a:r>
                    </a:p>
                    <a:p>
                      <a:pPr algn="l" fontAlgn="b"/>
                      <a:r>
                        <a:rPr lang="vi-VN" sz="1100" b="0" i="0" u="none" strike="noStrike" dirty="0" smtClean="0">
                          <a:solidFill>
                            <a:srgbClr val="000000"/>
                          </a:solidFill>
                          <a:effectLst/>
                          <a:latin typeface="Calibri" panose="020F0502020204030204" pitchFamily="34" charset="0"/>
                        </a:rPr>
                        <a:t>- TÀU ĐÁP LÚC 12:25</a:t>
                      </a:r>
                    </a:p>
                    <a:p>
                      <a:pPr algn="l" fontAlgn="b"/>
                      <a:r>
                        <a:rPr lang="vi-VN" sz="1100" b="0" i="0" u="none" strike="noStrike" dirty="0" smtClean="0">
                          <a:solidFill>
                            <a:srgbClr val="000000"/>
                          </a:solidFill>
                          <a:effectLst/>
                          <a:latin typeface="Calibri" panose="020F0502020204030204" pitchFamily="34" charset="0"/>
                        </a:rPr>
                        <a:t>- 12:30 CRS BÁO FOD LỐP 8 VÀ PHANH 04 DAMAGE</a:t>
                      </a:r>
                    </a:p>
                    <a:p>
                      <a:pPr algn="l" fontAlgn="b"/>
                      <a:r>
                        <a:rPr lang="vi-VN" sz="1100" b="0" i="0" u="none" strike="noStrike" dirty="0" smtClean="0">
                          <a:solidFill>
                            <a:srgbClr val="000000"/>
                          </a:solidFill>
                          <a:effectLst/>
                          <a:latin typeface="Calibri" panose="020F0502020204030204" pitchFamily="34" charset="0"/>
                        </a:rPr>
                        <a:t>- 13:00 CHỐT PHƯƠNG ÁN THAY PHANH 04 VÀ LỐP 4, 8</a:t>
                      </a:r>
                    </a:p>
                    <a:p>
                      <a:pPr algn="l" fontAlgn="b"/>
                      <a:r>
                        <a:rPr lang="vi-VN" sz="1100" b="0" i="0" u="none" strike="noStrike" dirty="0" smtClean="0">
                          <a:solidFill>
                            <a:srgbClr val="000000"/>
                          </a:solidFill>
                          <a:effectLst/>
                          <a:latin typeface="Calibri" panose="020F0502020204030204" pitchFamily="34" charset="0"/>
                        </a:rPr>
                        <a:t>- 14:15 HẠ KÍCH BÁO BOARDING</a:t>
                      </a:r>
                    </a:p>
                    <a:p>
                      <a:pPr algn="l" fontAlgn="b"/>
                      <a:r>
                        <a:rPr lang="vi-VN" sz="1100" b="0" i="0" u="none" strike="noStrike" dirty="0" smtClean="0">
                          <a:solidFill>
                            <a:srgbClr val="000000"/>
                          </a:solidFill>
                          <a:effectLst/>
                          <a:latin typeface="Calibri" panose="020F0502020204030204" pitchFamily="34" charset="0"/>
                        </a:rPr>
                        <a:t>- 15:20 TÀU ĐÓNG CỬA</a:t>
                      </a:r>
                    </a:p>
                    <a:p>
                      <a:pPr algn="l" fontAlgn="b"/>
                      <a:endParaRPr lang="vi-VN" sz="1100" b="0" i="0" u="none" strike="noStrike" dirty="0" smtClean="0">
                        <a:solidFill>
                          <a:srgbClr val="000000"/>
                        </a:solidFill>
                        <a:effectLst/>
                        <a:latin typeface="Calibri" panose="020F0502020204030204" pitchFamily="34" charset="0"/>
                      </a:endParaRPr>
                    </a:p>
                    <a:p>
                      <a:pPr algn="l" fontAlgn="b"/>
                      <a:r>
                        <a:rPr lang="vi-VN" sz="1100" b="0" i="0" u="none" strike="noStrike" dirty="0" smtClean="0">
                          <a:solidFill>
                            <a:srgbClr val="000000"/>
                          </a:solidFill>
                          <a:effectLst/>
                          <a:latin typeface="Calibri" panose="020F0502020204030204" pitchFamily="34" charset="0"/>
                        </a:rPr>
                        <a:t>- DELAY TOTAL 140 MINS, DELAY KT 75 MINS (TỪ LÚC PHÁT HIỆN ĐẾN LÚC KHẮC PHỤC XONG 13:00-14:15)</a:t>
                      </a:r>
                      <a:endParaRPr lang="vi-VN"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none tech: FOD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2492942"/>
                  </a:ext>
                </a:extLst>
              </a:tr>
            </a:tbl>
          </a:graphicData>
        </a:graphic>
      </p:graphicFrame>
    </p:spTree>
    <p:extLst>
      <p:ext uri="{BB962C8B-B14F-4D97-AF65-F5344CB8AC3E}">
        <p14:creationId xmlns:p14="http://schemas.microsoft.com/office/powerpoint/2010/main" val="159451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52398" y="1070888"/>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4B51696-A1B4-F644-DD6E-56EA48773FB7}"/>
              </a:ext>
            </a:extLst>
          </p:cNvPr>
          <p:cNvGraphicFramePr>
            <a:graphicFrameLocks noGrp="1"/>
          </p:cNvGraphicFramePr>
          <p:nvPr>
            <p:extLst>
              <p:ext uri="{D42A27DB-BD31-4B8C-83A1-F6EECF244321}">
                <p14:modId xmlns:p14="http://schemas.microsoft.com/office/powerpoint/2010/main" val="1878195618"/>
              </p:ext>
            </p:extLst>
          </p:nvPr>
        </p:nvGraphicFramePr>
        <p:xfrm>
          <a:off x="152399" y="1497699"/>
          <a:ext cx="11902274" cy="4711970"/>
        </p:xfrm>
        <a:graphic>
          <a:graphicData uri="http://schemas.openxmlformats.org/drawingml/2006/table">
            <a:tbl>
              <a:tblPr/>
              <a:tblGrid>
                <a:gridCol w="381002">
                  <a:extLst>
                    <a:ext uri="{9D8B030D-6E8A-4147-A177-3AD203B41FA5}">
                      <a16:colId xmlns:a16="http://schemas.microsoft.com/office/drawing/2014/main" val="2451627098"/>
                    </a:ext>
                  </a:extLst>
                </a:gridCol>
                <a:gridCol w="685800">
                  <a:extLst>
                    <a:ext uri="{9D8B030D-6E8A-4147-A177-3AD203B41FA5}">
                      <a16:colId xmlns:a16="http://schemas.microsoft.com/office/drawing/2014/main" val="2900669395"/>
                    </a:ext>
                  </a:extLst>
                </a:gridCol>
                <a:gridCol w="304800">
                  <a:extLst>
                    <a:ext uri="{9D8B030D-6E8A-4147-A177-3AD203B41FA5}">
                      <a16:colId xmlns:a16="http://schemas.microsoft.com/office/drawing/2014/main" val="1483466973"/>
                    </a:ext>
                  </a:extLst>
                </a:gridCol>
                <a:gridCol w="457200">
                  <a:extLst>
                    <a:ext uri="{9D8B030D-6E8A-4147-A177-3AD203B41FA5}">
                      <a16:colId xmlns:a16="http://schemas.microsoft.com/office/drawing/2014/main" val="1211279665"/>
                    </a:ext>
                  </a:extLst>
                </a:gridCol>
                <a:gridCol w="457200">
                  <a:extLst>
                    <a:ext uri="{9D8B030D-6E8A-4147-A177-3AD203B41FA5}">
                      <a16:colId xmlns:a16="http://schemas.microsoft.com/office/drawing/2014/main" val="2346795545"/>
                    </a:ext>
                  </a:extLst>
                </a:gridCol>
                <a:gridCol w="533400">
                  <a:extLst>
                    <a:ext uri="{9D8B030D-6E8A-4147-A177-3AD203B41FA5}">
                      <a16:colId xmlns:a16="http://schemas.microsoft.com/office/drawing/2014/main" val="2552586743"/>
                    </a:ext>
                  </a:extLst>
                </a:gridCol>
                <a:gridCol w="1447800">
                  <a:extLst>
                    <a:ext uri="{9D8B030D-6E8A-4147-A177-3AD203B41FA5}">
                      <a16:colId xmlns:a16="http://schemas.microsoft.com/office/drawing/2014/main" val="2000169800"/>
                    </a:ext>
                  </a:extLst>
                </a:gridCol>
                <a:gridCol w="4495800">
                  <a:extLst>
                    <a:ext uri="{9D8B030D-6E8A-4147-A177-3AD203B41FA5}">
                      <a16:colId xmlns:a16="http://schemas.microsoft.com/office/drawing/2014/main" val="2833407723"/>
                    </a:ext>
                  </a:extLst>
                </a:gridCol>
                <a:gridCol w="304800">
                  <a:extLst>
                    <a:ext uri="{9D8B030D-6E8A-4147-A177-3AD203B41FA5}">
                      <a16:colId xmlns:a16="http://schemas.microsoft.com/office/drawing/2014/main" val="3705242983"/>
                    </a:ext>
                  </a:extLst>
                </a:gridCol>
                <a:gridCol w="2834472">
                  <a:extLst>
                    <a:ext uri="{9D8B030D-6E8A-4147-A177-3AD203B41FA5}">
                      <a16:colId xmlns:a16="http://schemas.microsoft.com/office/drawing/2014/main" val="3208412913"/>
                    </a:ext>
                  </a:extLst>
                </a:gridCol>
              </a:tblGrid>
              <a:tr h="679085">
                <a:tc>
                  <a:txBody>
                    <a:bodyPr/>
                    <a:lstStyle/>
                    <a:p>
                      <a:pPr algn="l"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22426890"/>
                  </a:ext>
                </a:extLst>
              </a:tr>
              <a:tr h="1709799">
                <a:tc>
                  <a:txBody>
                    <a:bodyPr/>
                    <a:lstStyle/>
                    <a:p>
                      <a:pPr algn="l" fontAlgn="b"/>
                      <a:r>
                        <a:rPr lang="en-US" sz="1100" b="0" i="0" u="none" strike="noStrike" dirty="0" smtClean="0">
                          <a:solidFill>
                            <a:srgbClr val="000000"/>
                          </a:solidFill>
                          <a:effectLst/>
                          <a:latin typeface="Calibri" panose="020F0502020204030204" pitchFamily="34" charset="0"/>
                        </a:rPr>
                        <a:t>A894</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14:00 29/03/2025</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PVG</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VN523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PVG-SGN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DM AILERON EHA FAULT TRANSIT FOUND DM AILERON EHA FAULT</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RESET TEST SATIS RESET TEST SATIS EVENT CLOSED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27-14</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Calibri" panose="020F0502020204030204" pitchFamily="34" charset="0"/>
                        </a:rPr>
                        <a:t>Hỏng hóc xuất hiện với FC 2796FA0V và 2796FA0W -  Loss of Electronic Rigging Information như nêu trong TFU 27.00.00111</a:t>
                      </a:r>
                      <a:r>
                        <a:rPr lang="en-US" sz="1100" b="0" i="0" u="none" strike="noStrike" dirty="0" smtClean="0">
                          <a:solidFill>
                            <a:srgbClr val="000000"/>
                          </a:solidFill>
                          <a:effectLst/>
                          <a:latin typeface="Calibri" panose="020F0502020204030204" pitchFamily="34" charset="0"/>
                        </a:rPr>
                        <a:t>.</a:t>
                      </a:r>
                    </a:p>
                    <a:p>
                      <a:pPr algn="l" fontAlgn="b"/>
                      <a:r>
                        <a:rPr lang="en-US" sz="1100" b="0" i="0" u="none" strike="noStrike" dirty="0" smtClean="0">
                          <a:solidFill>
                            <a:srgbClr val="000000"/>
                          </a:solidFill>
                          <a:effectLst/>
                          <a:latin typeface="Calibri" panose="020F0502020204030204" pitchFamily="34" charset="0"/>
                        </a:rPr>
                        <a:t>he actuator NVRAM module is located on the actuator cylinder outside of RM (FCRM or EM). At the power up of the actuators, NVRAM rigging information is sent to Flight Control Computers (PRIM or SEC) through RM. This fault is a failure on a data</a:t>
                      </a:r>
                      <a:r>
                        <a:rPr lang="en-US" sz="1100" b="0" i="0" u="none" strike="noStrike" baseline="0" dirty="0" smtClean="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integrity test due to defects on the RM or NVRAM Module.</a:t>
                      </a:r>
                    </a:p>
                    <a:p>
                      <a:pPr algn="l" fontAlgn="b"/>
                      <a:r>
                        <a:rPr lang="vi-VN" sz="1100" b="0" i="0" u="none" strike="noStrike" dirty="0" smtClean="0">
                          <a:solidFill>
                            <a:srgbClr val="000000"/>
                          </a:solidFill>
                          <a:effectLst/>
                          <a:latin typeface="Calibri" panose="020F0502020204030204" pitchFamily="34" charset="0"/>
                        </a:rPr>
                        <a:t>Airbus đang điều tra nguyên nhân hỏng hóc này.</a:t>
                      </a:r>
                    </a:p>
                    <a:p>
                      <a:pPr algn="l" fontAlgn="b"/>
                      <a:r>
                        <a:rPr lang="vi-VN" sz="1100" b="0" i="0" u="none" strike="noStrike" dirty="0" smtClean="0">
                          <a:solidFill>
                            <a:srgbClr val="000000"/>
                          </a:solidFill>
                          <a:effectLst/>
                          <a:latin typeface="Calibri" panose="020F0502020204030204" pitchFamily="34" charset="0"/>
                        </a:rPr>
                        <a:t>- Tests were launched in JAN-2025</a:t>
                      </a:r>
                    </a:p>
                    <a:p>
                      <a:pPr marL="171450" indent="-171450" algn="l" fontAlgn="b">
                        <a:buFontTx/>
                        <a:buChar char="-"/>
                      </a:pPr>
                      <a:r>
                        <a:rPr lang="vi-VN" sz="1100" b="0" i="0" u="none" strike="noStrike" dirty="0" smtClean="0">
                          <a:solidFill>
                            <a:srgbClr val="000000"/>
                          </a:solidFill>
                          <a:effectLst/>
                          <a:latin typeface="Calibri" panose="020F0502020204030204" pitchFamily="34" charset="0"/>
                        </a:rPr>
                        <a:t>Root Cause Report is expected in Q3-2025.</a:t>
                      </a:r>
                      <a:endParaRPr lang="en-US" sz="1100" b="0" i="0" u="none" strike="noStrike" dirty="0" smtClean="0">
                        <a:solidFill>
                          <a:srgbClr val="000000"/>
                        </a:solidFill>
                        <a:effectLst/>
                        <a:latin typeface="Calibri" panose="020F0502020204030204" pitchFamily="34" charset="0"/>
                      </a:endParaRPr>
                    </a:p>
                    <a:p>
                      <a:pPr marL="171450" indent="-171450" algn="l" fontAlgn="b">
                        <a:buFontTx/>
                        <a:buChar char="-"/>
                      </a:pPr>
                      <a:endParaRPr lang="en-US" sz="1100" b="0" i="0" u="none" strike="noStrike" dirty="0" smtClean="0">
                        <a:solidFill>
                          <a:srgbClr val="000000"/>
                        </a:solidFill>
                        <a:effectLst/>
                        <a:latin typeface="Calibri" panose="020F0502020204030204" pitchFamily="34" charset="0"/>
                      </a:endParaRPr>
                    </a:p>
                    <a:p>
                      <a:pPr marL="0" indent="0" algn="l" fontAlgn="b">
                        <a:buFontTx/>
                        <a:buNone/>
                      </a:pPr>
                      <a:r>
                        <a:rPr lang="vi-VN" sz="1100" b="0" i="0" u="none" strike="noStrike" dirty="0" smtClean="0">
                          <a:solidFill>
                            <a:srgbClr val="000000"/>
                          </a:solidFill>
                          <a:effectLst/>
                          <a:latin typeface="Calibri" panose="020F0502020204030204" pitchFamily="34" charset="0"/>
                        </a:rPr>
                        <a:t>Giải pháp</a:t>
                      </a:r>
                      <a:r>
                        <a:rPr lang="en-US" sz="1100" b="0" i="0" u="none" strike="noStrike" dirty="0" smtClean="0">
                          <a:solidFill>
                            <a:srgbClr val="000000"/>
                          </a:solidFill>
                          <a:effectLst/>
                          <a:latin typeface="Calibri" panose="020F0502020204030204" pitchFamily="34" charset="0"/>
                        </a:rPr>
                        <a:t>:</a:t>
                      </a:r>
                      <a:endParaRPr lang="vi-VN" sz="1100" b="0" i="0" u="none" strike="noStrike" dirty="0" smtClean="0">
                        <a:solidFill>
                          <a:srgbClr val="000000"/>
                        </a:solidFill>
                        <a:effectLst/>
                        <a:latin typeface="Calibri" panose="020F0502020204030204" pitchFamily="34" charset="0"/>
                      </a:endParaRPr>
                    </a:p>
                    <a:p>
                      <a:pPr marL="0" indent="0" algn="l" fontAlgn="b">
                        <a:buFontTx/>
                        <a:buNone/>
                      </a:pPr>
                      <a:r>
                        <a:rPr lang="vi-VN" sz="1100" b="0" i="0" u="none" strike="noStrike" dirty="0" smtClean="0">
                          <a:solidFill>
                            <a:srgbClr val="000000"/>
                          </a:solidFill>
                          <a:effectLst/>
                          <a:latin typeface="Calibri" panose="020F0502020204030204" pitchFamily="34" charset="0"/>
                        </a:rPr>
                        <a:t>Dispatch depending on actuator position:</a:t>
                      </a:r>
                    </a:p>
                    <a:p>
                      <a:pPr marL="0" indent="0" algn="l" fontAlgn="b">
                        <a:buFontTx/>
                        <a:buNone/>
                      </a:pPr>
                      <a:r>
                        <a:rPr lang="vi-VN" sz="1100" b="0" i="0" u="none" strike="noStrike" dirty="0" smtClean="0">
                          <a:solidFill>
                            <a:srgbClr val="000000"/>
                          </a:solidFill>
                          <a:effectLst/>
                          <a:latin typeface="Calibri" panose="020F0502020204030204" pitchFamily="34" charset="0"/>
                        </a:rPr>
                        <a:t>-          GO IF (Spoiler SC, Aileron SC and Rudder SC)</a:t>
                      </a:r>
                    </a:p>
                    <a:p>
                      <a:pPr marL="0" indent="0" algn="l" fontAlgn="b">
                        <a:buFontTx/>
                        <a:buNone/>
                      </a:pPr>
                      <a:r>
                        <a:rPr lang="vi-VN" sz="1100" b="0" i="0" u="none" strike="noStrike" dirty="0" smtClean="0">
                          <a:solidFill>
                            <a:srgbClr val="000000"/>
                          </a:solidFill>
                          <a:effectLst/>
                          <a:latin typeface="Calibri" panose="020F0502020204030204" pitchFamily="34" charset="0"/>
                        </a:rPr>
                        <a:t>-          NO GO (Elevator SC + All EHA)</a:t>
                      </a:r>
                    </a:p>
                    <a:p>
                      <a:pPr marL="0" indent="0" algn="l" fontAlgn="b">
                        <a:buFontTx/>
                        <a:buNone/>
                      </a:pPr>
                      <a:endParaRPr lang="vi-VN" sz="1100" b="0" i="0" u="none" strike="noStrike" dirty="0" smtClean="0">
                        <a:solidFill>
                          <a:srgbClr val="000000"/>
                        </a:solidFill>
                        <a:effectLst/>
                        <a:latin typeface="Calibri" panose="020F0502020204030204" pitchFamily="34" charset="0"/>
                      </a:endParaRPr>
                    </a:p>
                    <a:p>
                      <a:pPr marL="0" indent="0" algn="l" fontAlgn="b">
                        <a:buFontTx/>
                        <a:buNone/>
                      </a:pPr>
                      <a:r>
                        <a:rPr lang="vi-VN" sz="1100" b="0" i="0" u="none" strike="noStrike" dirty="0" smtClean="0">
                          <a:solidFill>
                            <a:srgbClr val="000000"/>
                          </a:solidFill>
                          <a:effectLst/>
                          <a:latin typeface="Calibri" panose="020F0502020204030204" pitchFamily="34" charset="0"/>
                        </a:rPr>
                        <a:t>Airbus đang nghiên cứu để chuyển các NO GO sang GO-IF: Dispatch improvement for all EHAs (from NO GO to GO IF) is confirmed to be implemented under FCGS 15 (Q4-2025)</a:t>
                      </a:r>
                      <a:endParaRPr lang="vi-VN"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7274455"/>
                  </a:ext>
                </a:extLst>
              </a:tr>
            </a:tbl>
          </a:graphicData>
        </a:graphic>
      </p:graphicFrame>
    </p:spTree>
    <p:extLst>
      <p:ext uri="{BB962C8B-B14F-4D97-AF65-F5344CB8AC3E}">
        <p14:creationId xmlns:p14="http://schemas.microsoft.com/office/powerpoint/2010/main" val="4157562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13306BC4-C11D-800D-676D-6D4AF34891C9}"/>
              </a:ext>
            </a:extLst>
          </p:cNvPr>
          <p:cNvGraphicFramePr>
            <a:graphicFrameLocks noGrp="1"/>
          </p:cNvGraphicFramePr>
          <p:nvPr>
            <p:extLst/>
          </p:nvPr>
        </p:nvGraphicFramePr>
        <p:xfrm>
          <a:off x="257574" y="565153"/>
          <a:ext cx="11770636" cy="6231117"/>
        </p:xfrm>
        <a:graphic>
          <a:graphicData uri="http://schemas.openxmlformats.org/drawingml/2006/table">
            <a:tbl>
              <a:tblPr/>
              <a:tblGrid>
                <a:gridCol w="307421">
                  <a:extLst>
                    <a:ext uri="{9D8B030D-6E8A-4147-A177-3AD203B41FA5}">
                      <a16:colId xmlns:a16="http://schemas.microsoft.com/office/drawing/2014/main" val="1095908617"/>
                    </a:ext>
                  </a:extLst>
                </a:gridCol>
                <a:gridCol w="614556">
                  <a:extLst>
                    <a:ext uri="{9D8B030D-6E8A-4147-A177-3AD203B41FA5}">
                      <a16:colId xmlns:a16="http://schemas.microsoft.com/office/drawing/2014/main" val="1817086900"/>
                    </a:ext>
                  </a:extLst>
                </a:gridCol>
                <a:gridCol w="693855">
                  <a:extLst>
                    <a:ext uri="{9D8B030D-6E8A-4147-A177-3AD203B41FA5}">
                      <a16:colId xmlns:a16="http://schemas.microsoft.com/office/drawing/2014/main" val="1824181347"/>
                    </a:ext>
                  </a:extLst>
                </a:gridCol>
                <a:gridCol w="1278673">
                  <a:extLst>
                    <a:ext uri="{9D8B030D-6E8A-4147-A177-3AD203B41FA5}">
                      <a16:colId xmlns:a16="http://schemas.microsoft.com/office/drawing/2014/main" val="127136565"/>
                    </a:ext>
                  </a:extLst>
                </a:gridCol>
                <a:gridCol w="1199375">
                  <a:extLst>
                    <a:ext uri="{9D8B030D-6E8A-4147-A177-3AD203B41FA5}">
                      <a16:colId xmlns:a16="http://schemas.microsoft.com/office/drawing/2014/main" val="230770017"/>
                    </a:ext>
                  </a:extLst>
                </a:gridCol>
                <a:gridCol w="1675161">
                  <a:extLst>
                    <a:ext uri="{9D8B030D-6E8A-4147-A177-3AD203B41FA5}">
                      <a16:colId xmlns:a16="http://schemas.microsoft.com/office/drawing/2014/main" val="2305682900"/>
                    </a:ext>
                  </a:extLst>
                </a:gridCol>
                <a:gridCol w="6001595">
                  <a:extLst>
                    <a:ext uri="{9D8B030D-6E8A-4147-A177-3AD203B41FA5}">
                      <a16:colId xmlns:a16="http://schemas.microsoft.com/office/drawing/2014/main" val="846943532"/>
                    </a:ext>
                  </a:extLst>
                </a:gridCol>
              </a:tblGrid>
              <a:tr h="205853">
                <a:tc>
                  <a:txBody>
                    <a:bodyPr/>
                    <a:lstStyle/>
                    <a:p>
                      <a:pPr algn="ctr" fontAlgn="ctr"/>
                      <a:r>
                        <a:rPr lang="en-US" sz="1300" b="0" i="0" u="none" strike="noStrike">
                          <a:solidFill>
                            <a:srgbClr val="000000"/>
                          </a:solidFill>
                          <a:effectLst/>
                          <a:latin typeface="Calibri" panose="020F0502020204030204" pitchFamily="34" charset="0"/>
                        </a:rPr>
                        <a:t>No</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3945309"/>
                  </a:ext>
                </a:extLst>
              </a:tr>
              <a:tr h="612253">
                <a:tc>
                  <a:txBody>
                    <a:bodyPr/>
                    <a:lstStyle/>
                    <a:p>
                      <a:pPr algn="ctr" fontAlgn="ctr"/>
                      <a:r>
                        <a:rPr lang="en-US" sz="1300" b="0" i="0" u="none" strike="noStrike">
                          <a:solidFill>
                            <a:srgbClr val="000000"/>
                          </a:solidFill>
                          <a:effectLst/>
                          <a:latin typeface="Calibri" panose="020F0502020204030204" pitchFamily="34" charset="0"/>
                        </a:rPr>
                        <a:t>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7533002"/>
                  </a:ext>
                </a:extLst>
              </a:tr>
              <a:tr h="205853">
                <a:tc>
                  <a:txBody>
                    <a:bodyPr/>
                    <a:lstStyle/>
                    <a:p>
                      <a:pPr algn="ctr" fontAlgn="ctr"/>
                      <a:r>
                        <a:rPr lang="en-US" sz="1300" b="0" i="0" u="none" strike="noStrike">
                          <a:solidFill>
                            <a:srgbClr val="000000"/>
                          </a:solidFill>
                          <a:effectLst/>
                          <a:latin typeface="Calibri" panose="020F0502020204030204" pitchFamily="34" charset="0"/>
                        </a:rPr>
                        <a:t>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2590414"/>
                  </a:ext>
                </a:extLst>
              </a:tr>
              <a:tr h="409053">
                <a:tc>
                  <a:txBody>
                    <a:bodyPr/>
                    <a:lstStyle/>
                    <a:p>
                      <a:pPr algn="ctr" fontAlgn="ctr"/>
                      <a:r>
                        <a:rPr lang="en-US" sz="1300" b="0" i="0" u="none" strike="noStrike">
                          <a:solidFill>
                            <a:srgbClr val="000000"/>
                          </a:solidFill>
                          <a:effectLst/>
                          <a:latin typeface="Calibri" panose="020F0502020204030204" pitchFamily="34" charset="0"/>
                        </a:rPr>
                        <a:t>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SKYWISE MSG: ENG 1-SD-ENG-QOIL DISPLAYED IN GREEN PULSING COLOUR</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5601918"/>
                  </a:ext>
                </a:extLst>
              </a:tr>
              <a:tr h="612253">
                <a:tc>
                  <a:txBody>
                    <a:bodyPr/>
                    <a:lstStyle/>
                    <a:p>
                      <a:pPr algn="ctr" fontAlgn="ctr"/>
                      <a:r>
                        <a:rPr lang="en-US" sz="1300" b="0" i="0" u="none" strike="noStrike">
                          <a:solidFill>
                            <a:srgbClr val="000000"/>
                          </a:solidFill>
                          <a:effectLst/>
                          <a:latin typeface="Calibri" panose="020F0502020204030204" pitchFamily="34" charset="0"/>
                        </a:rPr>
                        <a:t>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B1188 RAISED THE OUTBOARD SEAL OF LH MOVEABLE FAIRING # 4 DAMAGED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B1235 RAISED FOR SATCOM FAULT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0796096"/>
                  </a:ext>
                </a:extLst>
              </a:tr>
              <a:tr h="612253">
                <a:tc>
                  <a:txBody>
                    <a:bodyPr/>
                    <a:lstStyle/>
                    <a:p>
                      <a:pPr algn="ctr" fontAlgn="ctr"/>
                      <a:r>
                        <a:rPr lang="en-US" sz="1300" b="0" i="0" u="none" strike="noStrike">
                          <a:solidFill>
                            <a:srgbClr val="000000"/>
                          </a:solidFill>
                          <a:effectLst/>
                          <a:latin typeface="Calibri" panose="020F0502020204030204" pitchFamily="34" charset="0"/>
                        </a:rPr>
                        <a:t>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SPDB-2,CABIN(2XY) / WRG TO SPDB-2,CABIN(2XY) PIN 2XYUAA</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B1502 RAISED A/C DISPATCH MESSAGE: COM OIS CAB &amp; MAINT REDUNDANCY.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077961"/>
                  </a:ext>
                </a:extLst>
              </a:tr>
              <a:tr h="205853">
                <a:tc>
                  <a:txBody>
                    <a:bodyPr/>
                    <a:lstStyle/>
                    <a:p>
                      <a:pPr algn="ctr" fontAlgn="ctr"/>
                      <a:r>
                        <a:rPr lang="en-US" sz="1300" b="0" i="0" u="none" strike="noStrike">
                          <a:solidFill>
                            <a:srgbClr val="000000"/>
                          </a:solidFill>
                          <a:effectLst/>
                          <a:latin typeface="Calibri" panose="020F0502020204030204" pitchFamily="34" charset="0"/>
                        </a:rPr>
                        <a:t>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7465866"/>
                  </a:ext>
                </a:extLst>
              </a:tr>
              <a:tr h="409053">
                <a:tc>
                  <a:txBody>
                    <a:bodyPr/>
                    <a:lstStyle/>
                    <a:p>
                      <a:pPr algn="ctr" fontAlgn="ctr"/>
                      <a:r>
                        <a:rPr lang="en-US" sz="1300" b="0" i="0" u="none" strike="noStrike">
                          <a:solidFill>
                            <a:srgbClr val="000000"/>
                          </a:solidFill>
                          <a:effectLst/>
                          <a:latin typeface="Calibri" panose="020F0502020204030204" pitchFamily="34" charset="0"/>
                        </a:rPr>
                        <a:t>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B1455 RAISED THE DROOP-NOSE END-FILLING PANEL AT R/H MISSING</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ENGINE: #2/21368 ON AIRCRAFT VN-A892: P25 MEASUREMENT ERROR</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3474505"/>
                  </a:ext>
                </a:extLst>
              </a:tr>
              <a:tr h="205853">
                <a:tc>
                  <a:txBody>
                    <a:bodyPr/>
                    <a:lstStyle/>
                    <a:p>
                      <a:pPr algn="ctr" fontAlgn="ctr"/>
                      <a:r>
                        <a:rPr lang="en-US" sz="1300" b="0" i="0" u="none" strike="noStrike">
                          <a:solidFill>
                            <a:srgbClr val="000000"/>
                          </a:solidFill>
                          <a:effectLst/>
                          <a:latin typeface="Calibri" panose="020F0502020204030204" pitchFamily="34" charset="0"/>
                        </a:rPr>
                        <a:t>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7140614"/>
                  </a:ext>
                </a:extLst>
              </a:tr>
              <a:tr h="205853">
                <a:tc>
                  <a:txBody>
                    <a:bodyPr/>
                    <a:lstStyle/>
                    <a:p>
                      <a:pPr algn="ctr" fontAlgn="ctr"/>
                      <a:r>
                        <a:rPr lang="en-US" sz="1300" b="0" i="0" u="none" strike="noStrike">
                          <a:solidFill>
                            <a:srgbClr val="000000"/>
                          </a:solidFill>
                          <a:effectLst/>
                          <a:latin typeface="Calibri" panose="020F0502020204030204" pitchFamily="34" charset="0"/>
                        </a:rPr>
                        <a:t>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8206355"/>
                  </a:ext>
                </a:extLst>
              </a:tr>
              <a:tr h="409053">
                <a:tc>
                  <a:txBody>
                    <a:bodyPr/>
                    <a:lstStyle/>
                    <a:p>
                      <a:pPr algn="ctr" fontAlgn="ctr"/>
                      <a:r>
                        <a:rPr lang="en-US" sz="1300" b="0" i="0" u="none" strike="noStrike">
                          <a:solidFill>
                            <a:srgbClr val="000000"/>
                          </a:solidFill>
                          <a:effectLst/>
                          <a:latin typeface="Calibri" panose="020F0502020204030204" pitchFamily="34" charset="0"/>
                        </a:rPr>
                        <a:t>10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28960"/>
                  </a:ext>
                </a:extLst>
              </a:tr>
              <a:tr h="815453">
                <a:tc>
                  <a:txBody>
                    <a:bodyPr/>
                    <a:lstStyle/>
                    <a:p>
                      <a:pPr algn="ctr" fontAlgn="ctr"/>
                      <a:r>
                        <a:rPr lang="en-US" sz="1300" b="0" i="0" u="none" strike="noStrike">
                          <a:solidFill>
                            <a:srgbClr val="000000"/>
                          </a:solidFill>
                          <a:effectLst/>
                          <a:latin typeface="Calibri" panose="020F0502020204030204" pitchFamily="34" charset="0"/>
                        </a:rPr>
                        <a:t>11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B954 RAISED UPPER LATCH ASSY OF COCKPIT DOOR BOLTING SYSTEM IS NOT FULLY LOCKED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TR 81416394: PREVENTIVE RECOMMENDATION PACK 1 INTERNAL LEAKAGE</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3. DM: BRAKES ALTN+EMER BRK =&gt; monitor</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8443050"/>
                  </a:ext>
                </a:extLst>
              </a:tr>
              <a:tr h="409053">
                <a:tc>
                  <a:txBody>
                    <a:bodyPr/>
                    <a:lstStyle/>
                    <a:p>
                      <a:pPr algn="ctr" fontAlgn="ctr"/>
                      <a:r>
                        <a:rPr lang="en-US" sz="1300" b="0" i="0" u="none" strike="noStrike">
                          <a:solidFill>
                            <a:srgbClr val="000000"/>
                          </a:solidFill>
                          <a:effectLst/>
                          <a:latin typeface="Calibri" panose="020F0502020204030204" pitchFamily="34" charset="0"/>
                        </a:rPr>
                        <a:t>12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0978325"/>
                  </a:ext>
                </a:extLst>
              </a:tr>
              <a:tr h="707575">
                <a:tc>
                  <a:txBody>
                    <a:bodyPr/>
                    <a:lstStyle/>
                    <a:p>
                      <a:pPr algn="ctr" fontAlgn="ctr"/>
                      <a:r>
                        <a:rPr lang="en-US" sz="1300" b="0" i="0" u="none" strike="noStrike">
                          <a:solidFill>
                            <a:srgbClr val="000000"/>
                          </a:solidFill>
                          <a:effectLst/>
                          <a:latin typeface="Calibri" panose="020F0502020204030204" pitchFamily="34" charset="0"/>
                        </a:rPr>
                        <a:t>13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4813119"/>
                  </a:ext>
                </a:extLst>
              </a:tr>
              <a:tr h="205853">
                <a:tc>
                  <a:txBody>
                    <a:bodyPr/>
                    <a:lstStyle/>
                    <a:p>
                      <a:pPr algn="ctr" fontAlgn="ctr"/>
                      <a:r>
                        <a:rPr lang="en-US" sz="1300" b="0" i="0" u="none" strike="noStrike">
                          <a:solidFill>
                            <a:srgbClr val="000000"/>
                          </a:solidFill>
                          <a:effectLst/>
                          <a:latin typeface="Calibri" panose="020F0502020204030204" pitchFamily="34" charset="0"/>
                        </a:rPr>
                        <a:t>14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5521453"/>
                  </a:ext>
                </a:extLst>
              </a:tr>
            </a:tbl>
          </a:graphicData>
        </a:graphic>
      </p:graphicFrame>
    </p:spTree>
    <p:extLst>
      <p:ext uri="{BB962C8B-B14F-4D97-AF65-F5344CB8AC3E}">
        <p14:creationId xmlns:p14="http://schemas.microsoft.com/office/powerpoint/2010/main" val="31785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3539430"/>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A3</a:t>
            </a:r>
            <a:r>
              <a:rPr lang="en-US" sz="1600" dirty="0">
                <a:solidFill>
                  <a:prstClr val="black"/>
                </a:solidFill>
                <a:latin typeface="Times New Roman" panose="02020603050405020304" pitchFamily="18" charset="0"/>
                <a:cs typeface="Times New Roman" panose="02020603050405020304" pitchFamily="18" charset="0"/>
              </a:rPr>
              <a:t>50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chưa</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một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số</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trường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hợp</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dừng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gây</a:t>
            </a:r>
            <a:r>
              <a:rPr lang="en-US" sz="1600" dirty="0">
                <a:solidFill>
                  <a:prstClr val="black"/>
                </a:solidFill>
                <a:latin typeface="Times New Roman" panose="02020603050405020304" pitchFamily="18" charset="0"/>
                <a:cs typeface="Times New Roman" panose="02020603050405020304" pitchFamily="18" charset="0"/>
              </a:rPr>
              <a:t> delay.</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US" sz="1600" dirty="0">
                <a:latin typeface="Times New Roman" panose="02020603050405020304" pitchFamily="18" charset="0"/>
                <a:cs typeface="Times New Roman" panose="02020603050405020304" pitchFamily="18" charset="0"/>
              </a:rPr>
              <a:t>+ A899 </a:t>
            </a:r>
            <a:r>
              <a:rPr lang="en-US" sz="1600" dirty="0" err="1">
                <a:latin typeface="Times New Roman" panose="02020603050405020304" pitchFamily="18" charset="0"/>
                <a:cs typeface="Times New Roman" panose="02020603050405020304" pitchFamily="18" charset="0"/>
              </a:rPr>
              <a:t>ngày</a:t>
            </a:r>
            <a:r>
              <a:rPr lang="en-US" sz="1600" dirty="0">
                <a:latin typeface="Times New Roman" panose="02020603050405020304" pitchFamily="18" charset="0"/>
                <a:cs typeface="Times New Roman" panose="02020603050405020304" pitchFamily="18" charset="0"/>
              </a:rPr>
              <a:t> 27/03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sinh</a:t>
            </a:r>
            <a:r>
              <a:rPr lang="en-US" sz="1600" dirty="0">
                <a:latin typeface="Times New Roman" panose="02020603050405020304" pitchFamily="18" charset="0"/>
                <a:cs typeface="Times New Roman" panose="02020603050405020304" pitchFamily="18" charset="0"/>
              </a:rPr>
              <a:t> MSG "GREEN PUMP“,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hóc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mở</a:t>
            </a:r>
            <a:r>
              <a:rPr lang="en-US" sz="1600" dirty="0">
                <a:latin typeface="Times New Roman" panose="02020603050405020304" pitchFamily="18" charset="0"/>
                <a:cs typeface="Times New Roman" panose="02020603050405020304" pitchFamily="18" charset="0"/>
              </a:rPr>
              <a:t> MEL </a:t>
            </a:r>
            <a:r>
              <a:rPr lang="en-US" sz="1600" dirty="0" err="1">
                <a:latin typeface="Times New Roman" panose="02020603050405020304" pitchFamily="18" charset="0"/>
                <a:cs typeface="Times New Roman" panose="02020603050405020304" pitchFamily="18" charset="0"/>
              </a:rPr>
              <a:t>nhưng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cắt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gây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ảnh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hưởng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-&gt;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EDP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filter </a:t>
            </a:r>
            <a:r>
              <a:rPr lang="en-US" sz="1600" dirty="0" err="1">
                <a:latin typeface="Times New Roman" panose="02020603050405020304" pitchFamily="18" charset="0"/>
                <a:cs typeface="Times New Roman" panose="02020603050405020304" pitchFamily="18" charset="0"/>
              </a:rPr>
              <a:t>khắc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trước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khi</a:t>
            </a:r>
            <a:r>
              <a:rPr lang="en-US" sz="1600" dirty="0">
                <a:latin typeface="Times New Roman" panose="02020603050405020304" pitchFamily="18" charset="0"/>
                <a:cs typeface="Times New Roman" panose="02020603050405020304" pitchFamily="18" charset="0"/>
              </a:rPr>
              <a:t> bay SFO.</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Hỏng hóc EDP này được Airbus theo dõi và khuyến cáo thay EDP vào ngày 26/03 theo TR 81566351. Tuy nhiên, do không bố trí được kế hoạch để thay sớm nên ngày 27/03 xuất hiện cảnh báo và phải dừng khắc phục hỏng hóc, Nguyên nhân hỏng hóc do piston shoe bị mòn gây ra hỏng hóc. Parker đã ban hành SB để nâng cấp lên EDP-07 theo on-attrition. Để nâng cấp EDP-07 thì cần phải nâng cấp phần mềm thủy lực HMCA Std6 (đã thực hiện 5/14 tàu bay)</a:t>
            </a:r>
            <a:r>
              <a:rPr lang="en-US" sz="1600" dirty="0">
                <a:solidFill>
                  <a:srgbClr val="FF0000"/>
                </a:solidFill>
                <a:latin typeface="Times New Roman" panose="02020603050405020304" pitchFamily="18" charset="0"/>
                <a:cs typeface="Times New Roman" panose="02020603050405020304" pitchFamily="18" charset="0"/>
              </a:rPr>
              <a:t>.</a:t>
            </a:r>
          </a:p>
          <a:p>
            <a:pPr marL="609585" lvl="1" algn="just"/>
            <a:endParaRPr lang="en-US" sz="1600" dirty="0">
              <a:solidFill>
                <a:srgbClr val="FF0000"/>
              </a:solidFill>
              <a:latin typeface="Times New Roman" panose="02020603050405020304" pitchFamily="18" charset="0"/>
              <a:cs typeface="Times New Roman" panose="02020603050405020304" pitchFamily="18" charset="0"/>
            </a:endParaRPr>
          </a:p>
          <a:p>
            <a:pPr marL="609585" lvl="1" algn="just"/>
            <a:r>
              <a:rPr lang="en-US" sz="1600" dirty="0">
                <a:latin typeface="Times New Roman" panose="02020603050405020304" pitchFamily="18" charset="0"/>
                <a:cs typeface="Times New Roman" panose="02020603050405020304" pitchFamily="18" charset="0"/>
              </a:rPr>
              <a:t>+ A889 </a:t>
            </a:r>
            <a:r>
              <a:rPr lang="en-US" sz="1600" dirty="0" err="1">
                <a:latin typeface="Times New Roman" panose="02020603050405020304" pitchFamily="18" charset="0"/>
                <a:cs typeface="Times New Roman" panose="02020603050405020304" pitchFamily="18" charset="0"/>
              </a:rPr>
              <a:t>ngày</a:t>
            </a:r>
            <a:r>
              <a:rPr lang="en-US" sz="1600" dirty="0">
                <a:latin typeface="Times New Roman" panose="02020603050405020304" pitchFamily="18" charset="0"/>
                <a:cs typeface="Times New Roman" panose="02020603050405020304" pitchFamily="18" charset="0"/>
              </a:rPr>
              <a:t> 27/03 </a:t>
            </a:r>
            <a:r>
              <a:rPr lang="vi-VN" sz="1600" dirty="0">
                <a:latin typeface="Times New Roman" panose="02020603050405020304" pitchFamily="18" charset="0"/>
                <a:cs typeface="Times New Roman" panose="02020603050405020304" pitchFamily="18" charset="0"/>
              </a:rPr>
              <a:t>nhà sản xuất Roll Royce cảnh báo liên quan đến động cơ số 2 "PMA Failure“</a:t>
            </a:r>
            <a:r>
              <a:rPr lang="en-US" sz="1600" dirty="0">
                <a:latin typeface="Times New Roman" panose="02020603050405020304" pitchFamily="18" charset="0"/>
                <a:cs typeface="Times New Roman" panose="02020603050405020304" pitchFamily="18" charset="0"/>
              </a:rPr>
              <a:t> -&gt; </a:t>
            </a:r>
            <a:r>
              <a:rPr lang="en-US" sz="1600" dirty="0" err="1">
                <a:latin typeface="Times New Roman" panose="02020603050405020304" pitchFamily="18" charset="0"/>
                <a:cs typeface="Times New Roman" panose="02020603050405020304" pitchFamily="18" charset="0"/>
              </a:rPr>
              <a:t>dừng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thế</a:t>
            </a:r>
            <a:r>
              <a:rPr lang="en-US" sz="1600" dirty="0">
                <a:latin typeface="Times New Roman" panose="02020603050405020304" pitchFamily="18" charset="0"/>
                <a:cs typeface="Times New Roman" panose="02020603050405020304" pitchFamily="18" charset="0"/>
              </a:rPr>
              <a:t> PMA STATOR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khắc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phục</a:t>
            </a:r>
            <a:r>
              <a:rPr lang="en-US" sz="1600" dirty="0" smtClean="0">
                <a:latin typeface="Times New Roman" panose="02020603050405020304" pitchFamily="18" charset="0"/>
                <a:cs typeface="Times New Roman" panose="02020603050405020304" pitchFamily="18" charset="0"/>
              </a:rPr>
              <a:t>.</a:t>
            </a:r>
          </a:p>
          <a:p>
            <a:pPr marL="609585" lvl="1" algn="just"/>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Open Sans" pitchFamily="34" charset="-122"/>
                <a:cs typeface="Times New Roman" panose="02020603050405020304" pitchFamily="18" charset="0"/>
              </a:rPr>
              <a:t>A894 </a:t>
            </a:r>
            <a:r>
              <a:rPr lang="en-US" sz="1600" dirty="0" err="1">
                <a:latin typeface="Times New Roman" panose="02020603050405020304" pitchFamily="18" charset="0"/>
                <a:ea typeface="Open Sans" pitchFamily="34" charset="-122"/>
                <a:cs typeface="Times New Roman" panose="02020603050405020304" pitchFamily="18" charset="0"/>
              </a:rPr>
              <a:t>phát</a:t>
            </a:r>
            <a:r>
              <a:rPr lang="en-US" sz="1600" dirty="0">
                <a:latin typeface="Times New Roman" panose="02020603050405020304" pitchFamily="18" charset="0"/>
                <a:ea typeface="Open Sans" pitchFamily="34" charset="-122"/>
                <a:cs typeface="Times New Roman" panose="02020603050405020304" pitchFamily="18" charset="0"/>
              </a:rPr>
              <a:t> </a:t>
            </a:r>
            <a:r>
              <a:rPr lang="en-US" sz="1600" dirty="0" err="1">
                <a:latin typeface="Times New Roman" panose="02020603050405020304" pitchFamily="18" charset="0"/>
                <a:ea typeface="Open Sans" pitchFamily="34" charset="-122"/>
                <a:cs typeface="Times New Roman" panose="02020603050405020304" pitchFamily="18" charset="0"/>
              </a:rPr>
              <a:t>sinh</a:t>
            </a:r>
            <a:r>
              <a:rPr lang="en-US" sz="1600" dirty="0">
                <a:latin typeface="Times New Roman" panose="02020603050405020304" pitchFamily="18" charset="0"/>
                <a:ea typeface="Open Sans" pitchFamily="34" charset="-122"/>
                <a:cs typeface="Times New Roman" panose="02020603050405020304" pitchFamily="18" charset="0"/>
              </a:rPr>
              <a:t> Flight control DM AILERON EHA </a:t>
            </a:r>
            <a:r>
              <a:rPr lang="en-US" sz="1600" dirty="0" smtClean="0">
                <a:latin typeface="Times New Roman" panose="02020603050405020304" pitchFamily="18" charset="0"/>
                <a:ea typeface="Open Sans" pitchFamily="34" charset="-122"/>
                <a:cs typeface="Times New Roman" panose="02020603050405020304" pitchFamily="18" charset="0"/>
              </a:rPr>
              <a:t>Fault, Reset OK, </a:t>
            </a:r>
            <a:r>
              <a:rPr lang="en-US" sz="1600" dirty="0" err="1" smtClean="0">
                <a:latin typeface="Times New Roman" panose="02020603050405020304" pitchFamily="18" charset="0"/>
                <a:ea typeface="Open Sans" pitchFamily="34" charset="-122"/>
                <a:cs typeface="Times New Roman" panose="02020603050405020304" pitchFamily="18" charset="0"/>
              </a:rPr>
              <a:t>sau</a:t>
            </a:r>
            <a:r>
              <a:rPr lang="en-US" sz="1600" dirty="0" smtClean="0">
                <a:latin typeface="Times New Roman" panose="02020603050405020304" pitchFamily="18" charset="0"/>
                <a:ea typeface="Open Sans" pitchFamily="34" charset="-122"/>
                <a:cs typeface="Times New Roman" panose="02020603050405020304" pitchFamily="18" charset="0"/>
              </a:rPr>
              <a:t> </a:t>
            </a:r>
            <a:r>
              <a:rPr lang="en-US" sz="1600" dirty="0" err="1" smtClean="0">
                <a:latin typeface="Times New Roman" panose="02020603050405020304" pitchFamily="18" charset="0"/>
                <a:ea typeface="Open Sans" pitchFamily="34" charset="-122"/>
                <a:cs typeface="Times New Roman" panose="02020603050405020304" pitchFamily="18" charset="0"/>
              </a:rPr>
              <a:t>đo</a:t>
            </a:r>
            <a:r>
              <a:rPr lang="en-US" sz="1600" dirty="0" smtClean="0">
                <a:latin typeface="Times New Roman" panose="02020603050405020304" pitchFamily="18" charset="0"/>
                <a:ea typeface="Open Sans" pitchFamily="34" charset="-122"/>
                <a:cs typeface="Times New Roman" panose="02020603050405020304" pitchFamily="18" charset="0"/>
              </a:rPr>
              <a:t>́ </a:t>
            </a:r>
            <a:r>
              <a:rPr lang="en-US" sz="1600" dirty="0" err="1" smtClean="0">
                <a:latin typeface="Times New Roman" panose="02020603050405020304" pitchFamily="18" charset="0"/>
                <a:ea typeface="Open Sans" pitchFamily="34" charset="-122"/>
                <a:cs typeface="Times New Roman" panose="02020603050405020304" pitchFamily="18" charset="0"/>
              </a:rPr>
              <a:t>vê</a:t>
            </a:r>
            <a:r>
              <a:rPr lang="en-US" sz="1600" dirty="0" smtClean="0">
                <a:latin typeface="Times New Roman" panose="02020603050405020304" pitchFamily="18" charset="0"/>
                <a:ea typeface="Open Sans" pitchFamily="34" charset="-122"/>
                <a:cs typeface="Times New Roman" panose="02020603050405020304" pitchFamily="18" charset="0"/>
              </a:rPr>
              <a:t>̀ </a:t>
            </a:r>
            <a:r>
              <a:rPr lang="en-US" sz="1600" dirty="0" err="1" smtClean="0">
                <a:latin typeface="Times New Roman" panose="02020603050405020304" pitchFamily="18" charset="0"/>
                <a:ea typeface="Open Sans" pitchFamily="34" charset="-122"/>
                <a:cs typeface="Times New Roman" panose="02020603050405020304" pitchFamily="18" charset="0"/>
              </a:rPr>
              <a:t>Thay</a:t>
            </a:r>
            <a:r>
              <a:rPr lang="en-US" sz="1600" dirty="0" smtClean="0">
                <a:latin typeface="Times New Roman" panose="02020603050405020304" pitchFamily="18" charset="0"/>
                <a:ea typeface="Open Sans" pitchFamily="34" charset="-122"/>
                <a:cs typeface="Times New Roman" panose="02020603050405020304" pitchFamily="18" charset="0"/>
              </a:rPr>
              <a:t> </a:t>
            </a:r>
            <a:r>
              <a:rPr lang="en-US" sz="1600" dirty="0">
                <a:latin typeface="Times New Roman" panose="02020603050405020304" pitchFamily="18" charset="0"/>
                <a:ea typeface="Open Sans" pitchFamily="34" charset="-122"/>
                <a:cs typeface="Times New Roman" panose="02020603050405020304" pitchFamily="18" charset="0"/>
              </a:rPr>
              <a:t>EHA. </a:t>
            </a:r>
            <a:r>
              <a:rPr lang="en-US" sz="1600" dirty="0" err="1">
                <a:latin typeface="Times New Roman" panose="02020603050405020304" pitchFamily="18" charset="0"/>
                <a:ea typeface="Open Sans" pitchFamily="34" charset="-122"/>
                <a:cs typeface="Times New Roman" panose="02020603050405020304" pitchFamily="18" charset="0"/>
              </a:rPr>
              <a:t>Dư</a:t>
            </a:r>
            <a:r>
              <a:rPr lang="en-US" sz="1600" dirty="0">
                <a:latin typeface="Times New Roman" panose="02020603050405020304" pitchFamily="18" charset="0"/>
                <a:ea typeface="Open Sans" pitchFamily="34" charset="-122"/>
                <a:cs typeface="Times New Roman" panose="02020603050405020304" pitchFamily="18" charset="0"/>
              </a:rPr>
              <a:t>̣ </a:t>
            </a:r>
            <a:r>
              <a:rPr lang="en-US" sz="1600" dirty="0" err="1">
                <a:latin typeface="Times New Roman" panose="02020603050405020304" pitchFamily="18" charset="0"/>
                <a:ea typeface="Open Sans" pitchFamily="34" charset="-122"/>
                <a:cs typeface="Times New Roman" panose="02020603050405020304" pitchFamily="18" charset="0"/>
              </a:rPr>
              <a:t>kiến</a:t>
            </a:r>
            <a:r>
              <a:rPr lang="en-US" sz="1600" dirty="0">
                <a:latin typeface="Times New Roman" panose="02020603050405020304" pitchFamily="18" charset="0"/>
                <a:ea typeface="Open Sans" pitchFamily="34" charset="-122"/>
                <a:cs typeface="Times New Roman" panose="02020603050405020304" pitchFamily="18" charset="0"/>
              </a:rPr>
              <a:t> Airbus có </a:t>
            </a:r>
            <a:r>
              <a:rPr lang="en-US" sz="1600" dirty="0" err="1">
                <a:latin typeface="Times New Roman" panose="02020603050405020304" pitchFamily="18" charset="0"/>
                <a:ea typeface="Open Sans" pitchFamily="34" charset="-122"/>
                <a:cs typeface="Times New Roman" panose="02020603050405020304" pitchFamily="18" charset="0"/>
              </a:rPr>
              <a:t>rootcause</a:t>
            </a:r>
            <a:r>
              <a:rPr lang="en-US" sz="1600" dirty="0">
                <a:latin typeface="Times New Roman" panose="02020603050405020304" pitchFamily="18" charset="0"/>
                <a:ea typeface="Open Sans" pitchFamily="34" charset="-122"/>
                <a:cs typeface="Times New Roman" panose="02020603050405020304" pitchFamily="18" charset="0"/>
              </a:rPr>
              <a:t> Q3-2025 </a:t>
            </a:r>
            <a:r>
              <a:rPr lang="en-US" sz="1600" dirty="0" err="1">
                <a:latin typeface="Times New Roman" panose="02020603050405020304" pitchFamily="18" charset="0"/>
                <a:ea typeface="Open Sans" pitchFamily="34" charset="-122"/>
                <a:cs typeface="Times New Roman" panose="02020603050405020304" pitchFamily="18" charset="0"/>
              </a:rPr>
              <a:t>va</a:t>
            </a:r>
            <a:r>
              <a:rPr lang="en-US" sz="1600" dirty="0">
                <a:latin typeface="Times New Roman" panose="02020603050405020304" pitchFamily="18" charset="0"/>
                <a:ea typeface="Open Sans" pitchFamily="34" charset="-122"/>
                <a:cs typeface="Times New Roman" panose="02020603050405020304" pitchFamily="18" charset="0"/>
              </a:rPr>
              <a:t>̀ </a:t>
            </a:r>
            <a:r>
              <a:rPr lang="en-US" sz="1600" dirty="0" err="1">
                <a:latin typeface="Times New Roman" panose="02020603050405020304" pitchFamily="18" charset="0"/>
                <a:ea typeface="Open Sans" pitchFamily="34" charset="-122"/>
                <a:cs typeface="Times New Roman" panose="02020603050405020304" pitchFamily="18" charset="0"/>
              </a:rPr>
              <a:t>chuyển</a:t>
            </a:r>
            <a:r>
              <a:rPr lang="en-US" sz="1600" dirty="0">
                <a:latin typeface="Times New Roman" panose="02020603050405020304" pitchFamily="18" charset="0"/>
                <a:ea typeface="Open Sans" pitchFamily="34" charset="-122"/>
                <a:cs typeface="Times New Roman" panose="02020603050405020304" pitchFamily="18" charset="0"/>
              </a:rPr>
              <a:t> NO-GO </a:t>
            </a:r>
            <a:r>
              <a:rPr lang="en-US" sz="1600" dirty="0" err="1">
                <a:latin typeface="Times New Roman" panose="02020603050405020304" pitchFamily="18" charset="0"/>
                <a:ea typeface="Open Sans" pitchFamily="34" charset="-122"/>
                <a:cs typeface="Times New Roman" panose="02020603050405020304" pitchFamily="18" charset="0"/>
              </a:rPr>
              <a:t>thành</a:t>
            </a:r>
            <a:r>
              <a:rPr lang="en-US" sz="1600" dirty="0">
                <a:latin typeface="Times New Roman" panose="02020603050405020304" pitchFamily="18" charset="0"/>
                <a:ea typeface="Open Sans" pitchFamily="34" charset="-122"/>
                <a:cs typeface="Times New Roman" panose="02020603050405020304" pitchFamily="18" charset="0"/>
              </a:rPr>
              <a:t> GO-IF</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13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D48FB457-A375-1917-6C38-EA994CBDA891}"/>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58916B2-C6CE-16DA-2173-CE0BBF5787B0}"/>
              </a:ext>
            </a:extLst>
          </p:cNvPr>
          <p:cNvGraphicFramePr>
            <a:graphicFrameLocks noGrp="1"/>
          </p:cNvGraphicFramePr>
          <p:nvPr>
            <p:extLst/>
          </p:nvPr>
        </p:nvGraphicFramePr>
        <p:xfrm>
          <a:off x="167012" y="1524000"/>
          <a:ext cx="11706824" cy="4086432"/>
        </p:xfrm>
        <a:graphic>
          <a:graphicData uri="http://schemas.openxmlformats.org/drawingml/2006/table">
            <a:tbl>
              <a:tblPr/>
              <a:tblGrid>
                <a:gridCol w="322909">
                  <a:extLst>
                    <a:ext uri="{9D8B030D-6E8A-4147-A177-3AD203B41FA5}">
                      <a16:colId xmlns:a16="http://schemas.microsoft.com/office/drawing/2014/main" val="931086382"/>
                    </a:ext>
                  </a:extLst>
                </a:gridCol>
                <a:gridCol w="838200">
                  <a:extLst>
                    <a:ext uri="{9D8B030D-6E8A-4147-A177-3AD203B41FA5}">
                      <a16:colId xmlns:a16="http://schemas.microsoft.com/office/drawing/2014/main" val="1504236741"/>
                    </a:ext>
                  </a:extLst>
                </a:gridCol>
                <a:gridCol w="685800">
                  <a:extLst>
                    <a:ext uri="{9D8B030D-6E8A-4147-A177-3AD203B41FA5}">
                      <a16:colId xmlns:a16="http://schemas.microsoft.com/office/drawing/2014/main" val="2566719028"/>
                    </a:ext>
                  </a:extLst>
                </a:gridCol>
                <a:gridCol w="381000">
                  <a:extLst>
                    <a:ext uri="{9D8B030D-6E8A-4147-A177-3AD203B41FA5}">
                      <a16:colId xmlns:a16="http://schemas.microsoft.com/office/drawing/2014/main" val="1419818807"/>
                    </a:ext>
                  </a:extLst>
                </a:gridCol>
                <a:gridCol w="2329479">
                  <a:extLst>
                    <a:ext uri="{9D8B030D-6E8A-4147-A177-3AD203B41FA5}">
                      <a16:colId xmlns:a16="http://schemas.microsoft.com/office/drawing/2014/main" val="4265474018"/>
                    </a:ext>
                  </a:extLst>
                </a:gridCol>
                <a:gridCol w="2057400">
                  <a:extLst>
                    <a:ext uri="{9D8B030D-6E8A-4147-A177-3AD203B41FA5}">
                      <a16:colId xmlns:a16="http://schemas.microsoft.com/office/drawing/2014/main" val="343299684"/>
                    </a:ext>
                  </a:extLst>
                </a:gridCol>
                <a:gridCol w="762000">
                  <a:extLst>
                    <a:ext uri="{9D8B030D-6E8A-4147-A177-3AD203B41FA5}">
                      <a16:colId xmlns:a16="http://schemas.microsoft.com/office/drawing/2014/main" val="2516778380"/>
                    </a:ext>
                  </a:extLst>
                </a:gridCol>
                <a:gridCol w="4330036">
                  <a:extLst>
                    <a:ext uri="{9D8B030D-6E8A-4147-A177-3AD203B41FA5}">
                      <a16:colId xmlns:a16="http://schemas.microsoft.com/office/drawing/2014/main" val="3743867318"/>
                    </a:ext>
                  </a:extLst>
                </a:gridCol>
              </a:tblGrid>
              <a:tr h="388827">
                <a:tc>
                  <a:txBody>
                    <a:bodyPr/>
                    <a:lstStyle/>
                    <a:p>
                      <a:pPr algn="l" fontAlgn="ctr"/>
                      <a:r>
                        <a:rPr lang="en-US" sz="1000" b="0" i="0" u="none" strike="noStrike">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84393028"/>
                  </a:ext>
                </a:extLst>
              </a:tr>
              <a:tr h="1360895">
                <a:tc>
                  <a:txBody>
                    <a:bodyPr/>
                    <a:lstStyle/>
                    <a:p>
                      <a:pPr algn="l" fontAlgn="b"/>
                      <a:r>
                        <a:rPr lang="en-US" sz="1100" b="0" i="0" u="none" strike="noStrike">
                          <a:solidFill>
                            <a:srgbClr val="000000"/>
                          </a:solidFill>
                          <a:effectLst/>
                          <a:latin typeface="Calibri" panose="020F0502020204030204" pitchFamily="34" charset="0"/>
                        </a:rPr>
                        <a:t>A872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06:04 25/03/2025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17:00 26/03/2025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THS ACTUATOR LEAK OUT OF LIMIT THS ACTUATOR LEAK OUT OF LIMIT. BOEING RECOMMENDS REPLACING THE HSTA</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Calibri" panose="020F0502020204030204" pitchFamily="34" charset="0"/>
                        </a:rPr>
                        <a:t>- 03:00 C/O WO 7110569 REF BOEING REQUESTS &amp; SEND THE RESULT TO MCC RIGHT AFTER WO COMPLETED TO REPORT BOEING</a:t>
                      </a:r>
                    </a:p>
                    <a:p>
                      <a:pPr algn="l" fontAlgn="b"/>
                      <a:r>
                        <a:rPr lang="vi-VN" sz="1100" b="0" i="0" u="none" strike="noStrike" dirty="0" smtClean="0">
                          <a:solidFill>
                            <a:srgbClr val="000000"/>
                          </a:solidFill>
                          <a:effectLst/>
                          <a:latin typeface="Calibri" panose="020F0502020204030204" pitchFamily="34" charset="0"/>
                        </a:rPr>
                        <a:t>- 05:10 BOEING FEEDBACK &amp; RECOMMENDS REPLACING THE HSTA. MCC Y/C LÊN EVENT AOG. KHÍ TÀI KO CÓ HÀNG, CHƯA CÓ THÔNG TIN KHÍ TÀI</a:t>
                      </a:r>
                    </a:p>
                    <a:p>
                      <a:pPr algn="l" fontAlgn="b"/>
                      <a:r>
                        <a:rPr lang="vi-VN" sz="1100" b="0" i="0" u="none" strike="noStrike" dirty="0" smtClean="0">
                          <a:solidFill>
                            <a:srgbClr val="000000"/>
                          </a:solidFill>
                          <a:effectLst/>
                          <a:latin typeface="Calibri" panose="020F0502020204030204" pitchFamily="34" charset="0"/>
                        </a:rPr>
                        <a:t>- 09:30 MCC BÁO SẼ GIAO WO KHẮC PHỤC HỎNG HÓC CHO BASE, TÀU VẪN LINE QUẢN LÝ.</a:t>
                      </a:r>
                    </a:p>
                    <a:p>
                      <a:pPr algn="l" fontAlgn="b"/>
                      <a:r>
                        <a:rPr lang="vi-VN" sz="1100" b="0" i="0" u="none" strike="noStrike" dirty="0" smtClean="0">
                          <a:solidFill>
                            <a:srgbClr val="000000"/>
                          </a:solidFill>
                          <a:effectLst/>
                          <a:latin typeface="Calibri" panose="020F0502020204030204" pitchFamily="34" charset="0"/>
                        </a:rPr>
                        <a:t>- 21:30 BASE BÁO ROB XONG THSA CỦA A864, SÁNG 26/03 KÉO A872 VÀO HG1 LẮP LÊN TIẾP</a:t>
                      </a:r>
                    </a:p>
                    <a:p>
                      <a:pPr algn="l" fontAlgn="b"/>
                      <a:r>
                        <a:rPr lang="vi-VN" sz="1100" b="0" i="0" u="none" strike="noStrike" dirty="0" smtClean="0">
                          <a:solidFill>
                            <a:srgbClr val="000000"/>
                          </a:solidFill>
                          <a:effectLst/>
                          <a:latin typeface="Calibri" panose="020F0502020204030204" pitchFamily="34" charset="0"/>
                        </a:rPr>
                        <a:t>26/03 FINAL ACTION</a:t>
                      </a:r>
                    </a:p>
                    <a:p>
                      <a:pPr algn="l" fontAlgn="b"/>
                      <a:r>
                        <a:rPr lang="vi-VN" sz="1100" b="0" i="0" u="none" strike="noStrike" dirty="0" smtClean="0">
                          <a:solidFill>
                            <a:srgbClr val="000000"/>
                          </a:solidFill>
                          <a:effectLst/>
                          <a:latin typeface="Calibri" panose="020F0502020204030204" pitchFamily="34" charset="0"/>
                        </a:rPr>
                        <a:t>- 17:00 HSTA REPLACED. OPS CHECK SATIS TIMELINE (LOCAL TIME) EVENT CLOSED HSTA REPLACED. OPS CHECK SATIS </a:t>
                      </a:r>
                      <a:endParaRPr lang="vi-VN"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HSTA do hỏng lower seal có nguyên nhân từ do nước xâm nhập.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Giải pháp: thực hiện SB nâng cấp tại shop: Lower seal hiện còn 3 tàu chưa nâng cấp (A861, A862, A868; Upper seal còn 5 tàu chưa nâng cấp (A861,A862, A865, A866, A872). Chí phí nâng cấp Lower seal khoảng 17,5k, Upper seal là 7,7k. MOOG không có hỗ trợ cho việc thực hiện 2 VSB này.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BOE thì nâng cấp seal cũng chưa hoàn toàn ngăn chặn được hỏng hóc này. Do đó cần kiểm tra kiểm tra rỉ dầu HSTA ở 2000FH theo MPD 12-020-00: Nếu phát hiện leak sẽ bổ sung dầu bôi trơn để trì hoãn thay thế: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Thêm nhiều hơn 185ml thì thay HSTA;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Thêm từ 40-185ml thì kiểm tra interval 3day/10FC:</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Thêm nhỏ hơn 40ml: kiểm tra theo interval của MPD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Với A872, MPD last done 15 Feb 2025. Ngày 22Mar, Leak phải thêm 150ml, sau khi bay 03 FC thì thêm 680 ml dầu. BOE cho phép bay 01FC vào SGN để thực hiện được Function test nhưng không pass (""Không dịch chuyển được Ballscrew có thể bị kẹt hoặc có vật cản. Hoặc có thể liên quan đến việc phanh phụ đang kích hoạt, ngăn cản sự di chuyển của trục vít me. Bộ phận này cần được kiểm tra trong quá trình đại tu để xác định nguyên nhân hỏng hóc"") phải thay HSTA.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Khối tháo xuống SN 0549 là khối nhận từ KLM 2019 (TSN 12294FH; CSN 1903) thực hiện sửa chữa là thay Motor, không thực hiện nâng cấp SB Upper seal. Thiết bị lắp lên ngày 11Mar2020. Giờ hiện tại 23807FH; 6844FC; TSI 11513FH; CSI 4941."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9154441"/>
                  </a:ext>
                </a:extLst>
              </a:tr>
            </a:tbl>
          </a:graphicData>
        </a:graphic>
      </p:graphicFrame>
    </p:spTree>
    <p:extLst>
      <p:ext uri="{BB962C8B-B14F-4D97-AF65-F5344CB8AC3E}">
        <p14:creationId xmlns:p14="http://schemas.microsoft.com/office/powerpoint/2010/main" val="4031573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0B7A7477-9848-AD77-F136-D167778F4C4E}"/>
              </a:ext>
            </a:extLst>
          </p:cNvPr>
          <p:cNvGraphicFramePr>
            <a:graphicFrameLocks noGrp="1"/>
          </p:cNvGraphicFramePr>
          <p:nvPr>
            <p:extLst/>
          </p:nvPr>
        </p:nvGraphicFramePr>
        <p:xfrm>
          <a:off x="175690" y="501465"/>
          <a:ext cx="11840623" cy="6228449"/>
        </p:xfrm>
        <a:graphic>
          <a:graphicData uri="http://schemas.openxmlformats.org/drawingml/2006/table">
            <a:tbl>
              <a:tblPr/>
              <a:tblGrid>
                <a:gridCol w="438867">
                  <a:extLst>
                    <a:ext uri="{9D8B030D-6E8A-4147-A177-3AD203B41FA5}">
                      <a16:colId xmlns:a16="http://schemas.microsoft.com/office/drawing/2014/main" val="4274769273"/>
                    </a:ext>
                  </a:extLst>
                </a:gridCol>
                <a:gridCol w="753327">
                  <a:extLst>
                    <a:ext uri="{9D8B030D-6E8A-4147-A177-3AD203B41FA5}">
                      <a16:colId xmlns:a16="http://schemas.microsoft.com/office/drawing/2014/main" val="3005873541"/>
                    </a:ext>
                  </a:extLst>
                </a:gridCol>
                <a:gridCol w="713679">
                  <a:extLst>
                    <a:ext uri="{9D8B030D-6E8A-4147-A177-3AD203B41FA5}">
                      <a16:colId xmlns:a16="http://schemas.microsoft.com/office/drawing/2014/main" val="3872937040"/>
                    </a:ext>
                  </a:extLst>
                </a:gridCol>
                <a:gridCol w="1516565">
                  <a:extLst>
                    <a:ext uri="{9D8B030D-6E8A-4147-A177-3AD203B41FA5}">
                      <a16:colId xmlns:a16="http://schemas.microsoft.com/office/drawing/2014/main" val="2649778914"/>
                    </a:ext>
                  </a:extLst>
                </a:gridCol>
                <a:gridCol w="1328235">
                  <a:extLst>
                    <a:ext uri="{9D8B030D-6E8A-4147-A177-3AD203B41FA5}">
                      <a16:colId xmlns:a16="http://schemas.microsoft.com/office/drawing/2014/main" val="2345455217"/>
                    </a:ext>
                  </a:extLst>
                </a:gridCol>
                <a:gridCol w="1903141">
                  <a:extLst>
                    <a:ext uri="{9D8B030D-6E8A-4147-A177-3AD203B41FA5}">
                      <a16:colId xmlns:a16="http://schemas.microsoft.com/office/drawing/2014/main" val="2497892548"/>
                    </a:ext>
                  </a:extLst>
                </a:gridCol>
                <a:gridCol w="5186809">
                  <a:extLst>
                    <a:ext uri="{9D8B030D-6E8A-4147-A177-3AD203B41FA5}">
                      <a16:colId xmlns:a16="http://schemas.microsoft.com/office/drawing/2014/main" val="3350291095"/>
                    </a:ext>
                  </a:extLst>
                </a:gridCol>
              </a:tblGrid>
              <a:tr h="208063">
                <a:tc>
                  <a:txBody>
                    <a:bodyPr/>
                    <a:lstStyle/>
                    <a:p>
                      <a:pPr algn="ctr" fontAlgn="ctr"/>
                      <a:r>
                        <a:rPr lang="en-US" sz="1300" b="0" i="0" u="none" strike="noStrike">
                          <a:solidFill>
                            <a:srgbClr val="000000"/>
                          </a:solidFill>
                          <a:effectLst/>
                          <a:latin typeface="Calibri" panose="020F0502020204030204" pitchFamily="34" charset="0"/>
                        </a:rPr>
                        <a:t>No</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3172686"/>
                  </a:ext>
                </a:extLst>
              </a:tr>
              <a:tr h="208063">
                <a:tc>
                  <a:txBody>
                    <a:bodyPr/>
                    <a:lstStyle/>
                    <a:p>
                      <a:pPr algn="ctr" fontAlgn="ctr"/>
                      <a:r>
                        <a:rPr lang="en-US" sz="1300" b="0" i="0" u="none" strike="noStrike">
                          <a:solidFill>
                            <a:srgbClr val="000000"/>
                          </a:solidFill>
                          <a:effectLst/>
                          <a:latin typeface="Calibri" panose="020F0502020204030204" pitchFamily="34" charset="0"/>
                        </a:rPr>
                        <a:t>1</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507496"/>
                  </a:ext>
                </a:extLst>
              </a:tr>
              <a:tr h="208063">
                <a:tc>
                  <a:txBody>
                    <a:bodyPr/>
                    <a:lstStyle/>
                    <a:p>
                      <a:pPr algn="ctr" fontAlgn="ctr"/>
                      <a:r>
                        <a:rPr lang="en-US" sz="1300" b="0" i="0" u="none" strike="noStrike">
                          <a:solidFill>
                            <a:srgbClr val="000000"/>
                          </a:solidFill>
                          <a:effectLst/>
                          <a:latin typeface="Calibri" panose="020F0502020204030204" pitchFamily="34" charset="0"/>
                        </a:rPr>
                        <a:t>2</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300" b="0" i="0" u="none" strike="noStrike">
                          <a:solidFill>
                            <a:srgbClr val="000000"/>
                          </a:solidFill>
                          <a:effectLst/>
                          <a:latin typeface="Calibri" panose="020F0502020204030204" pitchFamily="34" charset="0"/>
                        </a:rPr>
                        <a:t>B1322 FUEL PUMP CENTER R</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12690"/>
                  </a:ext>
                </a:extLst>
              </a:tr>
              <a:tr h="461791">
                <a:tc>
                  <a:txBody>
                    <a:bodyPr/>
                    <a:lstStyle/>
                    <a:p>
                      <a:pPr algn="ctr" fontAlgn="ctr"/>
                      <a:r>
                        <a:rPr lang="en-US" sz="1300" b="0" i="0" u="none" strike="noStrike">
                          <a:solidFill>
                            <a:srgbClr val="000000"/>
                          </a:solidFill>
                          <a:effectLst/>
                          <a:latin typeface="Calibri" panose="020F0502020204030204" pitchFamily="34" charset="0"/>
                        </a:rPr>
                        <a:t>3</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5000853"/>
                  </a:ext>
                </a:extLst>
              </a:tr>
              <a:tr h="307676">
                <a:tc>
                  <a:txBody>
                    <a:bodyPr/>
                    <a:lstStyle/>
                    <a:p>
                      <a:pPr algn="ctr" fontAlgn="ctr"/>
                      <a:r>
                        <a:rPr lang="en-US" sz="1300" b="0" i="0" u="none" strike="noStrike">
                          <a:solidFill>
                            <a:srgbClr val="000000"/>
                          </a:solidFill>
                          <a:effectLst/>
                          <a:latin typeface="Calibri" panose="020F0502020204030204" pitchFamily="34" charset="0"/>
                        </a:rPr>
                        <a:t>4</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2 (956577) HPT 1B có hỏng hóc (giảm tần suất 50FC)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4754595"/>
                  </a:ext>
                </a:extLst>
              </a:tr>
              <a:tr h="208063">
                <a:tc>
                  <a:txBody>
                    <a:bodyPr/>
                    <a:lstStyle/>
                    <a:p>
                      <a:pPr algn="ctr" fontAlgn="ctr"/>
                      <a:r>
                        <a:rPr lang="en-US" sz="1300" b="0" i="0" u="none" strike="noStrike">
                          <a:solidFill>
                            <a:srgbClr val="000000"/>
                          </a:solidFill>
                          <a:effectLst/>
                          <a:latin typeface="Calibri" panose="020F0502020204030204" pitchFamily="34" charset="0"/>
                        </a:rPr>
                        <a:t>5</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0510825"/>
                  </a:ext>
                </a:extLst>
              </a:tr>
              <a:tr h="461791">
                <a:tc>
                  <a:txBody>
                    <a:bodyPr/>
                    <a:lstStyle/>
                    <a:p>
                      <a:pPr algn="ctr" fontAlgn="ctr"/>
                      <a:r>
                        <a:rPr lang="en-US" sz="1300" b="0" i="0" u="none" strike="noStrike">
                          <a:solidFill>
                            <a:srgbClr val="000000"/>
                          </a:solidFill>
                          <a:effectLst/>
                          <a:latin typeface="Calibri" panose="020F0502020204030204" pitchFamily="34" charset="0"/>
                        </a:rPr>
                        <a:t>6</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9473412"/>
                  </a:ext>
                </a:extLst>
              </a:tr>
              <a:tr h="817663">
                <a:tc>
                  <a:txBody>
                    <a:bodyPr/>
                    <a:lstStyle/>
                    <a:p>
                      <a:pPr algn="ctr" fontAlgn="ctr"/>
                      <a:r>
                        <a:rPr lang="en-US" sz="1300" b="0" i="0" u="none" strike="noStrike">
                          <a:solidFill>
                            <a:srgbClr val="000000"/>
                          </a:solidFill>
                          <a:effectLst/>
                          <a:latin typeface="Calibri" panose="020F0502020204030204" pitchFamily="34" charset="0"/>
                        </a:rPr>
                        <a:t>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Left Air Conditioning Pack is degraded. (Active - Mode)</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B1559 CABIN AIR CPRSR L2</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384179"/>
                  </a:ext>
                </a:extLst>
              </a:tr>
              <a:tr h="307676">
                <a:tc>
                  <a:txBody>
                    <a:bodyPr/>
                    <a:lstStyle/>
                    <a:p>
                      <a:pPr algn="ctr" fontAlgn="ctr"/>
                      <a:r>
                        <a:rPr lang="en-US" sz="1300" b="0" i="0" u="none" strike="noStrike">
                          <a:solidFill>
                            <a:srgbClr val="000000"/>
                          </a:solidFill>
                          <a:effectLst/>
                          <a:latin typeface="Calibri" panose="020F0502020204030204" pitchFamily="34" charset="0"/>
                        </a:rPr>
                        <a:t>8</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B1121 RAISED : REMOVE ENG#1 (SN: 956769) IN 25 CYCLES,DL: 6280 FC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770758"/>
                  </a:ext>
                </a:extLst>
              </a:tr>
              <a:tr h="461791">
                <a:tc>
                  <a:txBody>
                    <a:bodyPr/>
                    <a:lstStyle/>
                    <a:p>
                      <a:pPr algn="ctr" fontAlgn="ctr"/>
                      <a:r>
                        <a:rPr lang="en-US" sz="1300" b="0" i="0" u="none" strike="noStrike">
                          <a:solidFill>
                            <a:srgbClr val="000000"/>
                          </a:solidFill>
                          <a:effectLst/>
                          <a:latin typeface="Calibri" panose="020F0502020204030204" pitchFamily="34" charset="0"/>
                        </a:rPr>
                        <a:t>9</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8609605"/>
                  </a:ext>
                </a:extLst>
              </a:tr>
              <a:tr h="615355">
                <a:tc>
                  <a:txBody>
                    <a:bodyPr/>
                    <a:lstStyle/>
                    <a:p>
                      <a:pPr algn="ctr" fontAlgn="ctr"/>
                      <a:r>
                        <a:rPr lang="en-US" sz="1300" b="0" i="0" u="none" strike="noStrike">
                          <a:solidFill>
                            <a:srgbClr val="000000"/>
                          </a:solidFill>
                          <a:effectLst/>
                          <a:latin typeface="Calibri" panose="020F0502020204030204" pitchFamily="34" charset="0"/>
                        </a:rPr>
                        <a:t>10</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B1374 TAIL AIRFLOW SYS</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B1401 AT THE EARLIEST CONVENIENCE ON OR  100 FLIGHT CYCLES FINAL TORQUE MUST BE REAPPLIED TO ALL 4 WINDOWS</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2670811"/>
                  </a:ext>
                </a:extLst>
              </a:tr>
              <a:tr h="307676">
                <a:tc>
                  <a:txBody>
                    <a:bodyPr/>
                    <a:lstStyle/>
                    <a:p>
                      <a:pPr algn="ctr" fontAlgn="ctr"/>
                      <a:r>
                        <a:rPr lang="en-US" sz="1300" b="0" i="0" u="none" strike="noStrike">
                          <a:solidFill>
                            <a:srgbClr val="000000"/>
                          </a:solidFill>
                          <a:effectLst/>
                          <a:latin typeface="Calibri" panose="020F0502020204030204" pitchFamily="34" charset="0"/>
                        </a:rPr>
                        <a:t>11</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974951"/>
                  </a:ext>
                </a:extLst>
              </a:tr>
              <a:tr h="208063">
                <a:tc>
                  <a:txBody>
                    <a:bodyPr/>
                    <a:lstStyle/>
                    <a:p>
                      <a:pPr algn="ctr" fontAlgn="ctr"/>
                      <a:r>
                        <a:rPr lang="en-US" sz="1300" b="0" i="0" u="none" strike="noStrike">
                          <a:solidFill>
                            <a:srgbClr val="000000"/>
                          </a:solidFill>
                          <a:effectLst/>
                          <a:latin typeface="Calibri" panose="020F0502020204030204" pitchFamily="34" charset="0"/>
                        </a:rPr>
                        <a:t>12</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8617642"/>
                  </a:ext>
                </a:extLst>
              </a:tr>
              <a:tr h="208063">
                <a:tc>
                  <a:txBody>
                    <a:bodyPr/>
                    <a:lstStyle/>
                    <a:p>
                      <a:pPr algn="ctr" fontAlgn="ctr"/>
                      <a:r>
                        <a:rPr lang="en-US" sz="1300" b="0" i="0" u="none" strike="noStrike">
                          <a:solidFill>
                            <a:srgbClr val="000000"/>
                          </a:solidFill>
                          <a:effectLst/>
                          <a:latin typeface="Calibri" panose="020F0502020204030204" pitchFamily="34" charset="0"/>
                        </a:rPr>
                        <a:t>13</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3751996"/>
                  </a:ext>
                </a:extLst>
              </a:tr>
              <a:tr h="208063">
                <a:tc>
                  <a:txBody>
                    <a:bodyPr/>
                    <a:lstStyle/>
                    <a:p>
                      <a:pPr algn="ctr" fontAlgn="ctr"/>
                      <a:r>
                        <a:rPr lang="en-US" sz="1300" b="0" i="0" u="none" strike="noStrike">
                          <a:solidFill>
                            <a:srgbClr val="000000"/>
                          </a:solidFill>
                          <a:effectLst/>
                          <a:latin typeface="Calibri" panose="020F0502020204030204" pitchFamily="34" charset="0"/>
                        </a:rPr>
                        <a:t>14</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5863225"/>
                  </a:ext>
                </a:extLst>
              </a:tr>
              <a:tr h="208063">
                <a:tc>
                  <a:txBody>
                    <a:bodyPr/>
                    <a:lstStyle/>
                    <a:p>
                      <a:pPr algn="ctr" fontAlgn="ctr"/>
                      <a:r>
                        <a:rPr lang="en-US" sz="1300" b="0" i="0" u="none" strike="noStrike">
                          <a:solidFill>
                            <a:srgbClr val="000000"/>
                          </a:solidFill>
                          <a:effectLst/>
                          <a:latin typeface="Calibri" panose="020F0502020204030204" pitchFamily="34" charset="0"/>
                        </a:rPr>
                        <a:t>15</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8437340"/>
                  </a:ext>
                </a:extLst>
              </a:tr>
              <a:tr h="208063">
                <a:tc>
                  <a:txBody>
                    <a:bodyPr/>
                    <a:lstStyle/>
                    <a:p>
                      <a:pPr algn="ctr" fontAlgn="ctr"/>
                      <a:r>
                        <a:rPr lang="en-US" sz="1300" b="0" i="0" u="none" strike="noStrike">
                          <a:solidFill>
                            <a:srgbClr val="000000"/>
                          </a:solidFill>
                          <a:effectLst/>
                          <a:latin typeface="Calibri" panose="020F0502020204030204" pitchFamily="34" charset="0"/>
                        </a:rPr>
                        <a:t>16</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1300" b="0" i="0" u="none" strike="noStrike">
                          <a:solidFill>
                            <a:srgbClr val="000000"/>
                          </a:solidFill>
                          <a:effectLst/>
                          <a:latin typeface="Calibri" panose="020F0502020204030204" pitchFamily="34" charset="0"/>
                        </a:rPr>
                        <a:t>ANTI-ICE CAC INLET R - MMO</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7956346"/>
                  </a:ext>
                </a:extLst>
              </a:tr>
              <a:tr h="614463">
                <a:tc>
                  <a:txBody>
                    <a:bodyPr/>
                    <a:lstStyle/>
                    <a:p>
                      <a:pPr algn="ctr" fontAlgn="ctr"/>
                      <a:r>
                        <a:rPr lang="en-US" sz="1300" b="0" i="0" u="none" strike="noStrike">
                          <a:solidFill>
                            <a:srgbClr val="000000"/>
                          </a:solidFill>
                          <a:effectLst/>
                          <a:latin typeface="Calibri" panose="020F0502020204030204" pitchFamily="34" charset="0"/>
                        </a:rPr>
                        <a:t>17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863" marR="4863" marT="48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7913747"/>
                  </a:ext>
                </a:extLst>
              </a:tr>
            </a:tbl>
          </a:graphicData>
        </a:graphic>
      </p:graphicFrame>
    </p:spTree>
    <p:extLst>
      <p:ext uri="{BB962C8B-B14F-4D97-AF65-F5344CB8AC3E}">
        <p14:creationId xmlns:p14="http://schemas.microsoft.com/office/powerpoint/2010/main" val="578949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4"/>
            <a:ext cx="11690701" cy="5755422"/>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chưa tốt với TH AOG của A872 liên quan đến HSTA.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A872 AOG tại HAN ngày 23/03 và SGN ngày 25-26/03 do phát sinh THS ACTUATOR LEAK OUT OF LIMIT -&gt; Boeing đánh giá cho bay 01FC vào SGN để khắc phục. Tại SGN đã phải tháo mượn HSTA từ tàu định kỳ (A864) để thay thế.</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HSTA do hỏng lower seal có nguyên nhân từ do nước xâm nhập.</a:t>
            </a:r>
          </a:p>
          <a:p>
            <a:pPr marL="609585" lvl="1" algn="just"/>
            <a:r>
              <a:rPr lang="vi-VN" sz="1600">
                <a:solidFill>
                  <a:srgbClr val="FF0000"/>
                </a:solidFill>
                <a:latin typeface="Times New Roman" panose="02020603050405020304" pitchFamily="18" charset="0"/>
                <a:cs typeface="Times New Roman" panose="02020603050405020304" pitchFamily="18" charset="0"/>
              </a:rPr>
              <a:t>Giải pháp: thực hiện SB nâng cấp tại shop: Lower seal hiện còn 3 tàu chưa nâng cấp (A861, A862, A868; Upper seal còn 5 tàu chưa nâng cấp (A861,A862, A865, A866, A872). Chí phí nâng cấp Lower seal khoảng 17,5k, Upper seal là 7,7k. MOOG không có hỗ trợ cho việc thực hiện 2 VSB này. </a:t>
            </a:r>
          </a:p>
          <a:p>
            <a:pPr marL="609585" lvl="1" algn="just"/>
            <a:r>
              <a:rPr lang="vi-VN" sz="1600">
                <a:solidFill>
                  <a:srgbClr val="FF0000"/>
                </a:solidFill>
                <a:latin typeface="Times New Roman" panose="02020603050405020304" pitchFamily="18" charset="0"/>
                <a:cs typeface="Times New Roman" panose="02020603050405020304" pitchFamily="18" charset="0"/>
              </a:rPr>
              <a:t>Theo BOE thì nâng cấp seal cũng chưa hoàn toàn ngăn chặn được hỏng hóc này. Do đó cần kiểm tra kiểm tra rỉ dầu HSTA ở 2000FH theo MPD 12-020-00: Nếu phát hiện leak sẽ bổ sung dầu bôi trơn để trì hoãn thay thế: </a:t>
            </a:r>
          </a:p>
          <a:p>
            <a:pPr marL="609585" lvl="1" algn="just"/>
            <a:r>
              <a:rPr lang="vi-VN" sz="1600">
                <a:solidFill>
                  <a:srgbClr val="FF0000"/>
                </a:solidFill>
                <a:latin typeface="Times New Roman" panose="02020603050405020304" pitchFamily="18" charset="0"/>
                <a:cs typeface="Times New Roman" panose="02020603050405020304" pitchFamily="18" charset="0"/>
              </a:rPr>
              <a:t>- Thêm nhiều hơn 185ml thì thay HSTA;</a:t>
            </a:r>
          </a:p>
          <a:p>
            <a:pPr marL="609585" lvl="1" algn="just"/>
            <a:r>
              <a:rPr lang="vi-VN" sz="1600">
                <a:solidFill>
                  <a:srgbClr val="FF0000"/>
                </a:solidFill>
                <a:latin typeface="Times New Roman" panose="02020603050405020304" pitchFamily="18" charset="0"/>
                <a:cs typeface="Times New Roman" panose="02020603050405020304" pitchFamily="18" charset="0"/>
              </a:rPr>
              <a:t>- Thêm từ 40-185ml thì kiểm tra interval 3day/10FC:</a:t>
            </a:r>
          </a:p>
          <a:p>
            <a:pPr marL="609585" lvl="1" algn="just"/>
            <a:r>
              <a:rPr lang="vi-VN" sz="1600">
                <a:solidFill>
                  <a:srgbClr val="FF0000"/>
                </a:solidFill>
                <a:latin typeface="Times New Roman" panose="02020603050405020304" pitchFamily="18" charset="0"/>
                <a:cs typeface="Times New Roman" panose="02020603050405020304" pitchFamily="18" charset="0"/>
              </a:rPr>
              <a:t>- Thêm nhỏ hơn 40ml: kiểm tra theo interval của MPD </a:t>
            </a:r>
          </a:p>
          <a:p>
            <a:pPr marL="609585" lvl="1" algn="just"/>
            <a:r>
              <a:rPr lang="vi-VN" sz="1600">
                <a:solidFill>
                  <a:srgbClr val="FF0000"/>
                </a:solidFill>
                <a:latin typeface="Times New Roman" panose="02020603050405020304" pitchFamily="18" charset="0"/>
                <a:cs typeface="Times New Roman" panose="02020603050405020304" pitchFamily="18" charset="0"/>
              </a:rPr>
              <a:t>Với A872, MPD last done 15 Feb 2025. Ngày 22Mar, Leak phải thêm 150ml, sau khi bay 03 FC thì thêm 680 ml dầu. BOE cho phép bay 01FC vào SGN để thực hiện được Function test nhưng không pass (""Không dịch chuyển được Ballscrew có thể bị kẹt hoặc có vật cản. Hoặc có thể liên quan đến việc phanh phụ đang kích hoạt, ngăn cản sự di chuyển của trục vít me. Bộ phận này cần được kiểm tra trong quá trình đại tu để xác định nguyên nhân hỏng hóc"") phải thay HSTA.</a:t>
            </a:r>
          </a:p>
          <a:p>
            <a:pPr marL="609585" lvl="1" algn="just"/>
            <a:r>
              <a:rPr lang="vi-VN" sz="1600">
                <a:solidFill>
                  <a:srgbClr val="FF0000"/>
                </a:solidFill>
                <a:latin typeface="Times New Roman" panose="02020603050405020304" pitchFamily="18" charset="0"/>
                <a:cs typeface="Times New Roman" panose="02020603050405020304" pitchFamily="18" charset="0"/>
              </a:rPr>
              <a:t>Khối tháo xuống SN 0549 là khối nhận từ KLM 2019 (TSN 12294FH; CSN 1903) thực hiện sửa chữa là thay Motor, không thực hiện nâng cấp SB Upper seal. Thiết bị lắp lên ngày 11Mar2020. Giờ hiện tại 23807FH; 6844FC; TSI 11513FH; CSI 4941.</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SG" sz="1600">
              <a:solidFill>
                <a:prstClr val="black"/>
              </a:solidFill>
              <a:latin typeface="Times New Roman" panose="02020603050405020304" pitchFamily="18" charset="0"/>
              <a:cs typeface="Times New Roman" panose="02020603050405020304" pitchFamily="18" charset="0"/>
            </a:endParaRP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vi-VN" sz="1600">
                <a:solidFill>
                  <a:prstClr val="black"/>
                </a:solidFill>
                <a:latin typeface="Times New Roman" panose="02020603050405020304" pitchFamily="18" charset="0"/>
                <a:cs typeface="Times New Roman" panose="02020603050405020304" pitchFamily="18" charset="0"/>
              </a:rPr>
              <a:t>A864 đang thực hiện định kỳ C01+C03+ENG CHG ngày 14/03-03/04, phát sinh missing 01 bolt on Cover plate at ENG FAN HUB của động cơ lắp lên (mới đi shop về), hiện vẫn đang tìm kiếm bolt nhưng chưa thấy, có thể ảnh hưởng tiến độ định kỳ. </a:t>
            </a:r>
          </a:p>
        </p:txBody>
      </p:sp>
    </p:spTree>
    <p:extLst>
      <p:ext uri="{BB962C8B-B14F-4D97-AF65-F5344CB8AC3E}">
        <p14:creationId xmlns:p14="http://schemas.microsoft.com/office/powerpoint/2010/main" val="3251712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10763157" cy="498494"/>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defRPr/>
            </a:pPr>
            <a:r>
              <a:rPr lang="vi-VN" sz="2933" b="1">
                <a:ln w="0"/>
                <a:solidFill>
                  <a:schemeClr val="accent4"/>
                </a:solidFill>
                <a:latin typeface="Times New Roman" panose="02020603050405020304" pitchFamily="18" charset="0"/>
                <a:cs typeface="Times New Roman" panose="02020603050405020304" pitchFamily="18" charset="0"/>
                <a:sym typeface="Montserrat SemiBold"/>
              </a:rPr>
              <a:t>CÁC HỎNG HÓC NỔI CỘM, ẢNH HƯỞNG ĐẾN KHAI THÁC</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83655" y="799697"/>
            <a:ext cx="11171451" cy="3785652"/>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a:t>
            </a:r>
            <a:r>
              <a:rPr lang="en-US" sz="1600" b="1" dirty="0">
                <a:solidFill>
                  <a:prstClr val="black"/>
                </a:solidFill>
                <a:latin typeface="Times New Roman" panose="02020603050405020304" pitchFamily="18" charset="0"/>
                <a:cs typeface="Times New Roman" panose="02020603050405020304" pitchFamily="18" charset="0"/>
              </a:rPr>
              <a:t>A350:</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A350 trong tuần chưa tốt với 02 TH phát sinh hỏng hóc cần dừng tàu khắc phục ngay gây delay chuyến bay</a:t>
            </a:r>
            <a:r>
              <a:rPr lang="en-SG" sz="1600">
                <a:solidFill>
                  <a:prstClr val="black"/>
                </a:solidFill>
                <a:latin typeface="Times New Roman" panose="02020603050405020304" pitchFamily="18" charset="0"/>
                <a:cs typeface="Times New Roman" panose="02020603050405020304" pitchFamily="18" charset="0"/>
              </a:rPr>
              <a:t>. Cụ thể, A899 ngày 27/03 phát sinh MSG GREEN PUMP có thể mở MEL nhưng cắt tải lớn nên đã phải khắc phục ngay trước khi bay đi SFO; trong khi đó A889 NSX </a:t>
            </a:r>
            <a:r>
              <a:rPr lang="vi-VN" sz="1600">
                <a:solidFill>
                  <a:prstClr val="black"/>
                </a:solidFill>
                <a:latin typeface="Times New Roman" panose="02020603050405020304" pitchFamily="18" charset="0"/>
                <a:cs typeface="Times New Roman" panose="02020603050405020304" pitchFamily="18" charset="0"/>
              </a:rPr>
              <a:t>Roll Royce </a:t>
            </a:r>
            <a:r>
              <a:rPr lang="en-US" sz="1600">
                <a:solidFill>
                  <a:prstClr val="black"/>
                </a:solidFill>
                <a:latin typeface="Times New Roman" panose="02020603050405020304" pitchFamily="18" charset="0"/>
                <a:cs typeface="Times New Roman" panose="02020603050405020304" pitchFamily="18" charset="0"/>
              </a:rPr>
              <a:t>yêu cầu kiểm tra </a:t>
            </a:r>
            <a:r>
              <a:rPr lang="vi-VN" sz="1600">
                <a:solidFill>
                  <a:prstClr val="black"/>
                </a:solidFill>
                <a:latin typeface="Times New Roman" panose="02020603050405020304" pitchFamily="18" charset="0"/>
                <a:cs typeface="Times New Roman" panose="02020603050405020304" pitchFamily="18" charset="0"/>
              </a:rPr>
              <a:t>động cơ số 2 PMA Failure</a:t>
            </a:r>
            <a:r>
              <a:rPr lang="en-US" sz="1600">
                <a:solidFill>
                  <a:prstClr val="black"/>
                </a:solidFill>
                <a:latin typeface="Times New Roman" panose="02020603050405020304" pitchFamily="18" charset="0"/>
                <a:cs typeface="Times New Roman" panose="02020603050405020304" pitchFamily="18" charset="0"/>
              </a:rPr>
              <a:t> ngay khi về main base, đã thay PMA Stator để khắc phục.</a:t>
            </a:r>
            <a:endParaRPr lang="en-SG" sz="1600">
              <a:solidFill>
                <a:prstClr val="black"/>
              </a:solidFill>
              <a:latin typeface="Times New Roman" panose="02020603050405020304" pitchFamily="18" charset="0"/>
              <a:cs typeface="Times New Roman" panose="02020603050405020304" pitchFamily="18" charset="0"/>
            </a:endParaRP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Tàu hạn chế khai thác: A893 ENG2 có hiện tượng HIGH OIL CONSUMPTION (từ giữa tháng 07/2024) tiếp tục khai thác hạn chế với chặng bay dưới 9 tiếng. </a:t>
            </a:r>
          </a:p>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B787:</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B787 trong tuần chưa tốt với trường hợp A872 AOG ngày 23-26/03 do </a:t>
            </a:r>
            <a:r>
              <a:rPr lang="en-SG" sz="1600">
                <a:solidFill>
                  <a:prstClr val="black"/>
                </a:solidFill>
                <a:latin typeface="Times New Roman" panose="02020603050405020304" pitchFamily="18" charset="0"/>
                <a:cs typeface="Times New Roman" panose="02020603050405020304" pitchFamily="18" charset="0"/>
              </a:rPr>
              <a:t>THS ACTUATOR LEAK OUT OF LIMIT , phải tháo mượn HSTA từ tàu định kỳ để khắc phục</a:t>
            </a:r>
            <a:r>
              <a:rPr lang="en-US" sz="1600">
                <a:solidFill>
                  <a:prstClr val="black"/>
                </a:solidFill>
                <a:latin typeface="Times New Roman" panose="02020603050405020304" pitchFamily="18" charset="0"/>
                <a:cs typeface="Times New Roman" panose="02020603050405020304" pitchFamily="18" charset="0"/>
              </a:rPr>
              <a:t>, đây là hỏng hóc đã được nhận diện liên quan đến hỏng seal tuy nhiên chưa có giải pháp khắc phục triệt để, giải pháp tạm thời là kiểm tra tần suất 2000FH để bổ sung oil trì hoãn thay thế.</a:t>
            </a:r>
          </a:p>
          <a:p>
            <a:pPr marL="457189" indent="-457189" algn="just">
              <a:buFontTx/>
              <a:buAutoNum type="arabicPeriod"/>
              <a:defRPr/>
            </a:pPr>
            <a:r>
              <a:rPr lang="vi-VN" sz="1600">
                <a:solidFill>
                  <a:prstClr val="black"/>
                </a:solidFill>
                <a:latin typeface="Times New Roman" panose="02020603050405020304" pitchFamily="18" charset="0"/>
                <a:cs typeface="Times New Roman" panose="02020603050405020304" pitchFamily="18" charset="0"/>
              </a:rPr>
              <a:t>A864 đang thực hiện định kỳ C01+C03+ENG CHG ngày 14/03-03/04, phát sinh missing 01 bolt on Cover plate at ENG FAN HUB</a:t>
            </a:r>
            <a:r>
              <a:rPr lang="en-US" sz="1600">
                <a:solidFill>
                  <a:prstClr val="black"/>
                </a:solidFill>
                <a:latin typeface="Times New Roman" panose="02020603050405020304" pitchFamily="18" charset="0"/>
                <a:cs typeface="Times New Roman" panose="02020603050405020304" pitchFamily="18" charset="0"/>
              </a:rPr>
              <a:t> của </a:t>
            </a:r>
            <a:r>
              <a:rPr lang="vi-VN" sz="1600">
                <a:solidFill>
                  <a:prstClr val="black"/>
                </a:solidFill>
                <a:latin typeface="Times New Roman" panose="02020603050405020304" pitchFamily="18" charset="0"/>
                <a:cs typeface="Times New Roman" panose="02020603050405020304" pitchFamily="18" charset="0"/>
              </a:rPr>
              <a:t>động cơ lắp lên (mới đi shop về), hiện vẫn đang tìm </a:t>
            </a:r>
            <a:r>
              <a:rPr lang="en-US" sz="1600">
                <a:solidFill>
                  <a:prstClr val="black"/>
                </a:solidFill>
                <a:latin typeface="Times New Roman" panose="02020603050405020304" pitchFamily="18" charset="0"/>
                <a:cs typeface="Times New Roman" panose="02020603050405020304" pitchFamily="18" charset="0"/>
              </a:rPr>
              <a:t>kiếm </a:t>
            </a:r>
            <a:r>
              <a:rPr lang="vi-VN" sz="1600">
                <a:solidFill>
                  <a:prstClr val="black"/>
                </a:solidFill>
                <a:latin typeface="Times New Roman" panose="02020603050405020304" pitchFamily="18" charset="0"/>
                <a:cs typeface="Times New Roman" panose="02020603050405020304" pitchFamily="18" charset="0"/>
              </a:rPr>
              <a:t>bolt nhưng chưa thấy, có thể ảnh hưởng tiến độ định kỳ. </a:t>
            </a:r>
            <a:endParaRPr lang="en-US" sz="1600">
              <a:solidFill>
                <a:prstClr val="black"/>
              </a:solidFill>
              <a:latin typeface="Times New Roman" panose="02020603050405020304" pitchFamily="18" charset="0"/>
              <a:cs typeface="Times New Roman" panose="02020603050405020304" pitchFamily="18" charset="0"/>
            </a:endParaRPr>
          </a:p>
          <a:p>
            <a:pPr marL="457189" indent="-457189" algn="just">
              <a:buFontTx/>
              <a:buAutoNum type="arabicPeriod"/>
              <a:defRPr/>
            </a:pPr>
            <a:r>
              <a:rPr lang="vi-VN" sz="1600">
                <a:solidFill>
                  <a:prstClr val="black"/>
                </a:solidFill>
                <a:latin typeface="Times New Roman" panose="02020603050405020304" pitchFamily="18" charset="0"/>
                <a:cs typeface="Times New Roman" panose="02020603050405020304" pitchFamily="18" charset="0"/>
              </a:rPr>
              <a:t>A868 động cơ số 1 HPT STG 1+2 (giảm tần suất 25FC) soi lại ngày 19/03 phát sinh phải tháo trong 25FC, </a:t>
            </a:r>
            <a:r>
              <a:rPr lang="en-US" sz="1600">
                <a:solidFill>
                  <a:prstClr val="black"/>
                </a:solidFill>
                <a:latin typeface="Times New Roman" panose="02020603050405020304" pitchFamily="18" charset="0"/>
                <a:cs typeface="Times New Roman" panose="02020603050405020304" pitchFamily="18" charset="0"/>
              </a:rPr>
              <a:t>dự kiến khai thác hết</a:t>
            </a:r>
            <a:r>
              <a:rPr lang="vi-VN" sz="1600">
                <a:solidFill>
                  <a:prstClr val="black"/>
                </a:solidFill>
                <a:latin typeface="Times New Roman" panose="02020603050405020304" pitchFamily="18" charset="0"/>
                <a:cs typeface="Times New Roman" panose="02020603050405020304" pitchFamily="18" charset="0"/>
              </a:rPr>
              <a:t> hết 07/04, sau đó tàu dừng làm định kỳ A08+dán decal và chờ thay động cơ với dự kiến </a:t>
            </a:r>
            <a:r>
              <a:rPr lang="en-US" sz="1600">
                <a:solidFill>
                  <a:prstClr val="black"/>
                </a:solidFill>
                <a:latin typeface="Times New Roman" panose="02020603050405020304" pitchFamily="18" charset="0"/>
                <a:cs typeface="Times New Roman" panose="02020603050405020304" pitchFamily="18" charset="0"/>
              </a:rPr>
              <a:t>05/04 có động cơ thuê</a:t>
            </a:r>
            <a:r>
              <a:rPr lang="vi-VN" sz="1600">
                <a:solidFill>
                  <a:prstClr val="black"/>
                </a:solidFill>
                <a:latin typeface="Times New Roman" panose="02020603050405020304" pitchFamily="18" charset="0"/>
                <a:cs typeface="Times New Roman" panose="02020603050405020304" pitchFamily="18" charset="0"/>
              </a:rPr>
              <a:t>. </a:t>
            </a:r>
            <a:endParaRPr lang="en-SG"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452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BF870F6-1A97-FFCA-2D48-BB5BD8DBF5B2}"/>
              </a:ext>
            </a:extLst>
          </p:cNvPr>
          <p:cNvGraphicFramePr>
            <a:graphicFrameLocks noGrp="1"/>
          </p:cNvGraphicFramePr>
          <p:nvPr>
            <p:extLst/>
          </p:nvPr>
        </p:nvGraphicFramePr>
        <p:xfrm>
          <a:off x="76197" y="1576786"/>
          <a:ext cx="11688717" cy="3049625"/>
        </p:xfrm>
        <a:graphic>
          <a:graphicData uri="http://schemas.openxmlformats.org/drawingml/2006/table">
            <a:tbl>
              <a:tblPr/>
              <a:tblGrid>
                <a:gridCol w="374166">
                  <a:extLst>
                    <a:ext uri="{9D8B030D-6E8A-4147-A177-3AD203B41FA5}">
                      <a16:colId xmlns:a16="http://schemas.microsoft.com/office/drawing/2014/main" val="2734839190"/>
                    </a:ext>
                  </a:extLst>
                </a:gridCol>
                <a:gridCol w="673495">
                  <a:extLst>
                    <a:ext uri="{9D8B030D-6E8A-4147-A177-3AD203B41FA5}">
                      <a16:colId xmlns:a16="http://schemas.microsoft.com/office/drawing/2014/main" val="4273968720"/>
                    </a:ext>
                  </a:extLst>
                </a:gridCol>
                <a:gridCol w="299331">
                  <a:extLst>
                    <a:ext uri="{9D8B030D-6E8A-4147-A177-3AD203B41FA5}">
                      <a16:colId xmlns:a16="http://schemas.microsoft.com/office/drawing/2014/main" val="3478931777"/>
                    </a:ext>
                  </a:extLst>
                </a:gridCol>
                <a:gridCol w="448997">
                  <a:extLst>
                    <a:ext uri="{9D8B030D-6E8A-4147-A177-3AD203B41FA5}">
                      <a16:colId xmlns:a16="http://schemas.microsoft.com/office/drawing/2014/main" val="3728365842"/>
                    </a:ext>
                  </a:extLst>
                </a:gridCol>
                <a:gridCol w="448997">
                  <a:extLst>
                    <a:ext uri="{9D8B030D-6E8A-4147-A177-3AD203B41FA5}">
                      <a16:colId xmlns:a16="http://schemas.microsoft.com/office/drawing/2014/main" val="748644151"/>
                    </a:ext>
                  </a:extLst>
                </a:gridCol>
                <a:gridCol w="523829">
                  <a:extLst>
                    <a:ext uri="{9D8B030D-6E8A-4147-A177-3AD203B41FA5}">
                      <a16:colId xmlns:a16="http://schemas.microsoft.com/office/drawing/2014/main" val="2907649249"/>
                    </a:ext>
                  </a:extLst>
                </a:gridCol>
                <a:gridCol w="1421823">
                  <a:extLst>
                    <a:ext uri="{9D8B030D-6E8A-4147-A177-3AD203B41FA5}">
                      <a16:colId xmlns:a16="http://schemas.microsoft.com/office/drawing/2014/main" val="1984593591"/>
                    </a:ext>
                  </a:extLst>
                </a:gridCol>
                <a:gridCol w="4415134">
                  <a:extLst>
                    <a:ext uri="{9D8B030D-6E8A-4147-A177-3AD203B41FA5}">
                      <a16:colId xmlns:a16="http://schemas.microsoft.com/office/drawing/2014/main" val="448131992"/>
                    </a:ext>
                  </a:extLst>
                </a:gridCol>
                <a:gridCol w="299331">
                  <a:extLst>
                    <a:ext uri="{9D8B030D-6E8A-4147-A177-3AD203B41FA5}">
                      <a16:colId xmlns:a16="http://schemas.microsoft.com/office/drawing/2014/main" val="3442509474"/>
                    </a:ext>
                  </a:extLst>
                </a:gridCol>
                <a:gridCol w="2783614">
                  <a:extLst>
                    <a:ext uri="{9D8B030D-6E8A-4147-A177-3AD203B41FA5}">
                      <a16:colId xmlns:a16="http://schemas.microsoft.com/office/drawing/2014/main" val="3634267451"/>
                    </a:ext>
                  </a:extLst>
                </a:gridCol>
              </a:tblGrid>
              <a:tr h="682229">
                <a:tc>
                  <a:txBody>
                    <a:bodyPr/>
                    <a:lstStyle/>
                    <a:p>
                      <a:pPr algn="l"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04177588"/>
                  </a:ext>
                </a:extLst>
              </a:tr>
              <a:tr h="2367396">
                <a:tc>
                  <a:txBody>
                    <a:bodyPr/>
                    <a:lstStyle/>
                    <a:p>
                      <a:pPr algn="l" fontAlgn="b"/>
                      <a:r>
                        <a:rPr lang="en-US" sz="1100" b="0" i="0" u="none" strike="noStrike">
                          <a:solidFill>
                            <a:srgbClr val="000000"/>
                          </a:solidFill>
                          <a:effectLst/>
                          <a:latin typeface="Calibri" panose="020F0502020204030204" pitchFamily="34" charset="0"/>
                        </a:rPr>
                        <a:t>B219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17:00 26/03/2025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VCS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0V8068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VCS-SGN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T/X FOUND ENG 1 CANT START &amp; DC GEN 1 FAULT &amp; START A FAULT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EVENT CLOSED C/O RESET BPCU BUT NIL HELP. THEN SWAPPED GCU. ENG RUN UP FOUND SATIS.</a:t>
                      </a:r>
                    </a:p>
                    <a:p>
                      <a:pPr algn="l" fontAlgn="b"/>
                      <a:endParaRPr lang="en-US" sz="1100" b="0" i="0" u="none" strike="noStrike" dirty="0" smtClean="0">
                        <a:solidFill>
                          <a:srgbClr val="000000"/>
                        </a:solidFill>
                        <a:effectLst/>
                        <a:latin typeface="Calibri" panose="020F0502020204030204" pitchFamily="34" charset="0"/>
                      </a:endParaRPr>
                    </a:p>
                    <a:p>
                      <a:pPr algn="l" fontAlgn="b"/>
                      <a:r>
                        <a:rPr lang="en-US" sz="1100" b="0" i="0" u="none" strike="noStrike" dirty="0" smtClean="0">
                          <a:solidFill>
                            <a:srgbClr val="000000"/>
                          </a:solidFill>
                          <a:effectLst/>
                          <a:latin typeface="Calibri" panose="020F0502020204030204" pitchFamily="34" charset="0"/>
                        </a:rPr>
                        <a:t>TOTAL DELAY 45 MINS</a:t>
                      </a:r>
                    </a:p>
                    <a:p>
                      <a:pPr algn="l" fontAlgn="b"/>
                      <a:endParaRPr lang="en-US" sz="1100" b="0" i="0" u="none" strike="noStrike" dirty="0" smtClean="0">
                        <a:solidFill>
                          <a:srgbClr val="000000"/>
                        </a:solidFill>
                        <a:effectLst/>
                        <a:latin typeface="Calibri" panose="020F0502020204030204" pitchFamily="34" charset="0"/>
                      </a:endParaRPr>
                    </a:p>
                    <a:p>
                      <a:pPr algn="l" fontAlgn="b"/>
                      <a:r>
                        <a:rPr lang="en-US" sz="1100" b="0" i="0" u="none" strike="noStrike" dirty="0" smtClean="0">
                          <a:solidFill>
                            <a:srgbClr val="000000"/>
                          </a:solidFill>
                          <a:effectLst/>
                          <a:latin typeface="Calibri" panose="020F0502020204030204" pitchFamily="34" charset="0"/>
                        </a:rPr>
                        <a:t>TECH DELAY 30 MINS </a:t>
                      </a:r>
                      <a:endParaRPr lang="en-US" sz="11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liên quan đến GCU PN 102-003-11. GCU PN 102-003-11 có MTBUR từ 2015 đạt 10158 FH, cao hơn nhiều so với GMTBUR 2500FH. Hỏng hóc gần đây của GCU rải rác ở các linh kiện khác nhau như transistor, điện trở, rơ le, diode nguyên nhân có thể do thiết bị có tuổi đời cao. Tiếp tục theo dõi thêm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3683552"/>
                  </a:ext>
                </a:extLst>
              </a:tr>
            </a:tbl>
          </a:graphicData>
        </a:graphic>
      </p:graphicFrame>
    </p:spTree>
    <p:extLst>
      <p:ext uri="{BB962C8B-B14F-4D97-AF65-F5344CB8AC3E}">
        <p14:creationId xmlns:p14="http://schemas.microsoft.com/office/powerpoint/2010/main" val="660664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1" y="1195640"/>
            <a:ext cx="10668000" cy="2062103"/>
          </a:xfrm>
          <a:prstGeom prst="rect">
            <a:avLst/>
          </a:prstGeom>
        </p:spPr>
        <p:txBody>
          <a:bodyPr wrap="square">
            <a:spAutoFit/>
          </a:bodyPr>
          <a:lstStyle/>
          <a:p>
            <a:pPr algn="just">
              <a:buClrTx/>
              <a:buFontTx/>
              <a:buNone/>
            </a:pPr>
            <a:r>
              <a:rPr lang="en-US" sz="1600" b="1" dirty="0" err="1" smtClean="0">
                <a:solidFill>
                  <a:prstClr val="black"/>
                </a:solidFill>
                <a:latin typeface="Times New Roman" panose="02020603050405020304" pitchFamily="18" charset="0"/>
                <a:cs typeface="Times New Roman" panose="02020603050405020304" pitchFamily="18" charset="0"/>
              </a:rPr>
              <a:t>Nhận</a:t>
            </a:r>
            <a:r>
              <a:rPr lang="en-US" sz="1600" b="1" dirty="0" smtClean="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bay ATR72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01 TH Delay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B219 </a:t>
            </a:r>
            <a:r>
              <a:rPr lang="en-US" sz="1600" dirty="0" err="1">
                <a:solidFill>
                  <a:prstClr val="black"/>
                </a:solidFill>
                <a:latin typeface="Times New Roman" panose="02020603050405020304" pitchFamily="18" charset="0"/>
                <a:cs typeface="Times New Roman" panose="02020603050405020304" pitchFamily="18" charset="0"/>
              </a:rPr>
              <a:t>tại</a:t>
            </a:r>
            <a:r>
              <a:rPr lang="en-US" sz="1600" dirty="0">
                <a:solidFill>
                  <a:prstClr val="black"/>
                </a:solidFill>
                <a:latin typeface="Times New Roman" panose="02020603050405020304" pitchFamily="18" charset="0"/>
                <a:cs typeface="Times New Roman" panose="02020603050405020304" pitchFamily="18" charset="0"/>
              </a:rPr>
              <a:t> VCS do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quá</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trình</a:t>
            </a:r>
            <a:r>
              <a:rPr lang="en-US" sz="1600" dirty="0">
                <a:solidFill>
                  <a:prstClr val="black"/>
                </a:solidFill>
                <a:latin typeface="Times New Roman" panose="02020603050405020304" pitchFamily="18" charset="0"/>
                <a:cs typeface="Times New Roman" panose="02020603050405020304" pitchFamily="18" charset="0"/>
              </a:rPr>
              <a:t> transit </a:t>
            </a:r>
            <a:r>
              <a:rPr lang="vi-VN" sz="1600" dirty="0">
                <a:solidFill>
                  <a:prstClr val="black"/>
                </a:solidFill>
                <a:cs typeface="Times New Roman" panose="02020603050405020304" pitchFamily="18" charset="0"/>
              </a:rPr>
              <a:t>không khởi động được động cơ số 1</a:t>
            </a:r>
            <a:r>
              <a:rPr lang="en-US" sz="1600" dirty="0">
                <a:solidFill>
                  <a:prstClr val="black"/>
                </a:solidFill>
                <a:latin typeface="Times New Roman" panose="02020603050405020304" pitchFamily="18" charset="0"/>
                <a:cs typeface="Times New Roman" panose="02020603050405020304" pitchFamily="18" charset="0"/>
              </a:rPr>
              <a:t>. CRS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thực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reset BPCU </a:t>
            </a:r>
            <a:r>
              <a:rPr lang="en-US" sz="1600" dirty="0" err="1">
                <a:solidFill>
                  <a:prstClr val="black"/>
                </a:solidFill>
                <a:latin typeface="Times New Roman" panose="02020603050405020304" pitchFamily="18" charset="0"/>
                <a:cs typeface="Times New Roman" panose="02020603050405020304" pitchFamily="18" charset="0"/>
              </a:rPr>
              <a:t>nhưng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hiệu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quả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sau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bằng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cách</a:t>
            </a:r>
            <a:r>
              <a:rPr lang="en-US" sz="1600" dirty="0">
                <a:solidFill>
                  <a:prstClr val="black"/>
                </a:solidFill>
                <a:latin typeface="Times New Roman" panose="02020603050405020304" pitchFamily="18" charset="0"/>
                <a:cs typeface="Times New Roman" panose="02020603050405020304" pitchFamily="18" charset="0"/>
              </a:rPr>
              <a:t> swap GCU </a:t>
            </a:r>
            <a:r>
              <a:rPr lang="en-US" sz="1600" dirty="0" err="1">
                <a:solidFill>
                  <a:prstClr val="black"/>
                </a:solidFill>
                <a:latin typeface="Times New Roman" panose="02020603050405020304" pitchFamily="18" charset="0"/>
                <a:cs typeface="Times New Roman" panose="02020603050405020304" pitchFamily="18" charset="0"/>
              </a:rPr>
              <a:t>và</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máy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lại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thành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này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năng</a:t>
            </a:r>
            <a:r>
              <a:rPr lang="en-US" sz="1600" dirty="0">
                <a:solidFill>
                  <a:prstClr val="black"/>
                </a:solidFill>
                <a:latin typeface="Times New Roman" panose="02020603050405020304" pitchFamily="18" charset="0"/>
                <a:cs typeface="Times New Roman" panose="02020603050405020304" pitchFamily="18" charset="0"/>
              </a:rPr>
              <a:t> do GCU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các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đời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cao</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rơ</a:t>
            </a:r>
            <a:r>
              <a:rPr lang="en-US" sz="1600" dirty="0">
                <a:solidFill>
                  <a:prstClr val="black"/>
                </a:solidFill>
                <a:latin typeface="Times New Roman" panose="02020603050405020304" pitchFamily="18" charset="0"/>
                <a:cs typeface="Times New Roman" panose="02020603050405020304" pitchFamily="18" charset="0"/>
              </a:rPr>
              <a:t> le, diode, transistor,</a:t>
            </a:r>
            <a:r>
              <a:rPr lang="en-150" sz="1600" dirty="0">
                <a:solidFill>
                  <a:prstClr val="black"/>
                </a:solidFill>
                <a:latin typeface="Times New Roman" panose="02020603050405020304" pitchFamily="18" charset="0"/>
                <a:cs typeface="Times New Roman" panose="02020603050405020304" pitchFamily="18" charset="0"/>
              </a:rPr>
              <a: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tiếp</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theo</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dõi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thêm</a:t>
            </a:r>
            <a:r>
              <a:rPr lang="en-US" sz="1600" dirty="0">
                <a:solidFill>
                  <a:prstClr val="black"/>
                </a:solidFill>
                <a:latin typeface="Times New Roman" panose="02020603050405020304" pitchFamily="18" charset="0"/>
                <a:cs typeface="Times New Roman" panose="02020603050405020304" pitchFamily="18" charset="0"/>
              </a:rPr>
              <a:t>.</a:t>
            </a:r>
          </a:p>
          <a:p>
            <a:pPr algn="just">
              <a:buClrTx/>
              <a:buFontTx/>
              <a:buNone/>
            </a:pPr>
            <a:endParaRPr lang="en-US" sz="1600" dirty="0">
              <a:solidFill>
                <a:prstClr val="black"/>
              </a:solidFill>
              <a:latin typeface="Times New Roman" panose="02020603050405020304" pitchFamily="18" charset="0"/>
              <a:cs typeface="Times New Roman" panose="02020603050405020304" pitchFamily="18" charset="0"/>
            </a:endParaRPr>
          </a:p>
          <a:p>
            <a:pPr algn="just">
              <a:buClrTx/>
              <a:buFontTx/>
              <a:buNone/>
            </a:pPr>
            <a:r>
              <a:rPr lang="en-US" sz="1600" dirty="0" err="1">
                <a:solidFill>
                  <a:prstClr val="black"/>
                </a:solidFill>
                <a:latin typeface="Times New Roman" panose="02020603050405020304" pitchFamily="18" charset="0"/>
                <a:cs typeface="Times New Roman" panose="02020603050405020304" pitchFamily="18" charset="0"/>
              </a:rPr>
              <a:t>Bên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cạnh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bay ATR72 </a:t>
            </a: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còn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trường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hợp</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B223 </a:t>
            </a:r>
            <a:r>
              <a:rPr lang="en-US" sz="1600" dirty="0" err="1">
                <a:solidFill>
                  <a:prstClr val="black"/>
                </a:solidFill>
                <a:latin typeface="Times New Roman" panose="02020603050405020304" pitchFamily="18" charset="0"/>
                <a:cs typeface="Times New Roman" panose="02020603050405020304" pitchFamily="18" charset="0"/>
              </a:rPr>
              <a:t>đang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bị</a:t>
            </a:r>
            <a:r>
              <a:rPr lang="en-US" sz="1600" dirty="0">
                <a:solidFill>
                  <a:prstClr val="black"/>
                </a:solidFill>
                <a:latin typeface="Times New Roman" panose="02020603050405020304" pitchFamily="18" charset="0"/>
                <a:cs typeface="Times New Roman" panose="02020603050405020304" pitchFamily="18" charset="0"/>
              </a:rPr>
              <a:t> AOG </a:t>
            </a:r>
            <a:r>
              <a:rPr lang="en-US" sz="1600" dirty="0" err="1">
                <a:solidFill>
                  <a:prstClr val="black"/>
                </a:solidFill>
                <a:latin typeface="Times New Roman" panose="02020603050405020304" pitchFamily="18" charset="0"/>
                <a:cs typeface="Times New Roman" panose="02020603050405020304" pitchFamily="18" charset="0"/>
              </a:rPr>
              <a:t>kéo</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dài</a:t>
            </a:r>
            <a:r>
              <a:rPr lang="en-US" sz="1600" dirty="0">
                <a:solidFill>
                  <a:prstClr val="black"/>
                </a:solidFill>
                <a:latin typeface="Times New Roman" panose="02020603050405020304" pitchFamily="18" charset="0"/>
                <a:cs typeface="Times New Roman" panose="02020603050405020304" pitchFamily="18" charset="0"/>
              </a:rPr>
              <a:t> do Hard Landing, </a:t>
            </a:r>
            <a:r>
              <a:rPr lang="en-US" sz="1600" dirty="0" err="1">
                <a:solidFill>
                  <a:prstClr val="black"/>
                </a:solidFill>
                <a:latin typeface="Times New Roman" panose="02020603050405020304" pitchFamily="18" charset="0"/>
                <a:cs typeface="Times New Roman" panose="02020603050405020304" pitchFamily="18" charset="0"/>
              </a:rPr>
              <a:t>ảnh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hưởng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lớn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đến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lịch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khai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thác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Dự</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kiến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B223 </a:t>
            </a:r>
            <a:r>
              <a:rPr lang="en-US" sz="1600" dirty="0" err="1">
                <a:solidFill>
                  <a:prstClr val="black"/>
                </a:solidFill>
                <a:latin typeface="Times New Roman" panose="02020603050405020304" pitchFamily="18" charset="0"/>
                <a:cs typeface="Times New Roman" panose="02020603050405020304" pitchFamily="18" charset="0"/>
              </a:rPr>
              <a:t>phải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càng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và</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thời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gian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bộ</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càng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thế</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sẽ</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dài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tạm</a:t>
            </a:r>
            <a:r>
              <a:rPr lang="en-US" sz="1600" dirty="0">
                <a:solidFill>
                  <a:prstClr val="black"/>
                </a:solidFill>
                <a:latin typeface="Times New Roman" panose="02020603050405020304" pitchFamily="18" charset="0"/>
                <a:cs typeface="Times New Roman" panose="02020603050405020304" pitchFamily="18" charset="0"/>
              </a:rPr>
              <a:t> AOG </a:t>
            </a:r>
            <a:r>
              <a:rPr lang="en-US" sz="1600" dirty="0" err="1">
                <a:solidFill>
                  <a:prstClr val="black"/>
                </a:solidFill>
                <a:latin typeface="Times New Roman" panose="02020603050405020304" pitchFamily="18" charset="0"/>
                <a:cs typeface="Times New Roman" panose="02020603050405020304" pitchFamily="18" charset="0"/>
              </a:rPr>
              <a:t>đến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hết</a:t>
            </a:r>
            <a:r>
              <a:rPr lang="en-US" sz="1600" dirty="0">
                <a:solidFill>
                  <a:prstClr val="black"/>
                </a:solidFill>
                <a:latin typeface="Times New Roman" panose="02020603050405020304" pitchFamily="18" charset="0"/>
                <a:cs typeface="Times New Roman" panose="02020603050405020304" pitchFamily="18" charset="0"/>
              </a:rPr>
              <a:t> 22/04/2025. </a:t>
            </a:r>
            <a:endParaRPr lang="en-SG" sz="1600" dirty="0">
              <a:solidFill>
                <a:srgbClr val="FF0000"/>
              </a:solidFill>
              <a:latin typeface="Times New Roman" panose="02020603050405020304" pitchFamily="18" charset="0"/>
              <a:cs typeface="Times New Roman" panose="02020603050405020304" pitchFamily="18" charset="0"/>
            </a:endParaRPr>
          </a:p>
          <a:p>
            <a:pPr algn="just">
              <a:buClrTx/>
              <a:buFontTx/>
              <a:buNone/>
            </a:pP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W13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24/03/2025-30/03/20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13/2025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3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A321, B787 đạt mục tiêu, đội A350 và ATR72 không đạt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99,80% cao hơn 0,17%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A350: 99,35% thấp hơn 0,09%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1 sự kiện delay do EDP bị hỏng trên tàu A899</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99,72% </a:t>
            </a:r>
            <a:r>
              <a:rPr lang="en-US" sz="1300">
                <a:latin typeface="Times New Roman" panose="02020603050405020304" pitchFamily="18" charset="0"/>
                <a:cs typeface="Times New Roman" panose="02020603050405020304" pitchFamily="18" charset="0"/>
              </a:rPr>
              <a:t>cao hơn 0,36% so với 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99,60% thấp hơn 0,05%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1 sự kiện B219 bị hỏng GCU.</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0" name="Chart 9">
            <a:extLst>
              <a:ext uri="{FF2B5EF4-FFF2-40B4-BE49-F238E27FC236}">
                <a16:creationId xmlns:a16="http://schemas.microsoft.com/office/drawing/2014/main" id="{00000000-0008-0000-0000-000006000000}"/>
              </a:ext>
            </a:extLst>
          </p:cNvPr>
          <p:cNvGraphicFramePr>
            <a:graphicFrameLocks/>
          </p:cNvGraphicFramePr>
          <p:nvPr/>
        </p:nvGraphicFramePr>
        <p:xfrm>
          <a:off x="552665" y="1017866"/>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507633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20</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56096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4137478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3" y="606959"/>
          <a:ext cx="11878434" cy="472452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600747">
                  <a:extLst>
                    <a:ext uri="{9D8B030D-6E8A-4147-A177-3AD203B41FA5}">
                      <a16:colId xmlns:a16="http://schemas.microsoft.com/office/drawing/2014/main" val="426833219"/>
                    </a:ext>
                  </a:extLst>
                </a:gridCol>
                <a:gridCol w="1672017">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099425">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4</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7620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ctr" defTabSz="914400" rtl="0" eaLnBrk="1" fontAlgn="ctr" latinLnBrk="0" hangingPunct="1"/>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rPr>
                        <a:t>B223 Hardlanding</a:t>
                      </a:r>
                      <a:endParaRPr lang="vi-VN"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just"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làm việc với ATR, LH MLG phải quarantine cho tới khi có kết quả phân tích stress (khả năng phải hủy)</a:t>
                      </a:r>
                    </a:p>
                    <a:p>
                      <a:pPr marL="233363" marR="0" lvl="0" indent="-173038" algn="just"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phối hợp làm việc về ph</a:t>
                      </a:r>
                      <a:r>
                        <a:rPr lang="vi-VN"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uo</a:t>
                      </a: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 án m</a:t>
                      </a:r>
                      <a:r>
                        <a:rPr lang="vi-VN"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ợn càng của CEBU </a:t>
                      </a:r>
                    </a:p>
                    <a:p>
                      <a:pPr marL="233363" marR="0" lvl="0" indent="-173038" algn="just"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gửi đánh giá bộ càng Spare wing đang chào cho QLVT. S</a:t>
                      </a:r>
                      <a:r>
                        <a:rPr lang="vi-VN"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bộ cho thấy bộ càng thiếu nhiều thông tin B2B còn thiếu. </a:t>
                      </a:r>
                    </a:p>
                    <a:p>
                      <a:pPr marL="233363" marR="0" lvl="0" indent="-173038" algn="just"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Trường hợp lấy càng B218 khi vào check, cần thay LH MLG và bánh.</a:t>
                      </a:r>
                    </a:p>
                    <a:p>
                      <a:pPr marL="60325" marR="0" lvl="0" indent="0" algn="ctr" defTabSz="914400" rtl="0" eaLnBrk="1" fontAlgn="ctr" latinLnBrk="0" hangingPunct="1">
                        <a:lnSpc>
                          <a:spcPct val="100000"/>
                        </a:lnSpc>
                        <a:spcBef>
                          <a:spcPts val="0"/>
                        </a:spcBef>
                        <a:spcAft>
                          <a:spcPts val="0"/>
                        </a:spcAft>
                        <a:buClrTx/>
                        <a:buSzTx/>
                        <a:buFontTx/>
                        <a:buChar char="-"/>
                        <a:tabLst/>
                        <a:defRPr/>
                      </a:pPr>
                      <a:endPar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3846807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22</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524655211"/>
              </p:ext>
            </p:extLst>
          </p:nvPr>
        </p:nvGraphicFramePr>
        <p:xfrm>
          <a:off x="228600" y="609600"/>
          <a:ext cx="11878434" cy="5150865"/>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95701">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Decal 30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787-9.</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Đã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có</a:t>
                      </a:r>
                      <a:r>
                        <a:rPr lang="en-US" sz="1400" dirty="0" smtClean="0">
                          <a:solidFill>
                            <a:schemeClr val="tx1"/>
                          </a:solidFill>
                          <a:latin typeface="Times New Roman" panose="02020603050405020304" pitchFamily="18" charset="0"/>
                          <a:cs typeface="Times New Roman" panose="02020603050405020304" pitchFamily="18" charset="0"/>
                        </a:rPr>
                        <a:t> SB, mod kit </a:t>
                      </a:r>
                      <a:r>
                        <a:rPr lang="en-US" sz="1400" dirty="0" err="1" smtClean="0">
                          <a:solidFill>
                            <a:schemeClr val="tx1"/>
                          </a:solidFill>
                          <a:latin typeface="Times New Roman" panose="02020603050405020304" pitchFamily="18" charset="0"/>
                          <a:cs typeface="Times New Roman" panose="02020603050405020304" pitchFamily="18" charset="0"/>
                        </a:rPr>
                        <a:t>dự</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kiến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về</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ngày</a:t>
                      </a:r>
                      <a:r>
                        <a:rPr lang="en-US" sz="1400" dirty="0" smtClean="0">
                          <a:solidFill>
                            <a:schemeClr val="tx1"/>
                          </a:solidFill>
                          <a:latin typeface="Times New Roman" panose="02020603050405020304" pitchFamily="18" charset="0"/>
                          <a:cs typeface="Times New Roman" panose="02020603050405020304" pitchFamily="18" charset="0"/>
                        </a:rPr>
                        <a:t> 5/4/2025. </a:t>
                      </a:r>
                      <a:r>
                        <a:rPr lang="en-US" sz="1400" dirty="0" err="1" smtClean="0">
                          <a:solidFill>
                            <a:schemeClr val="tx1"/>
                          </a:solidFill>
                          <a:latin typeface="Times New Roman" panose="02020603050405020304" pitchFamily="18" charset="0"/>
                          <a:cs typeface="Times New Roman" panose="02020603050405020304" pitchFamily="18" charset="0"/>
                        </a:rPr>
                        <a:t>Đã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triển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khai</a:t>
                      </a:r>
                      <a:r>
                        <a:rPr lang="en-US" sz="1400" dirty="0" smtClean="0">
                          <a:solidFill>
                            <a:schemeClr val="tx1"/>
                          </a:solidFill>
                          <a:latin typeface="Times New Roman" panose="02020603050405020304" pitchFamily="18" charset="0"/>
                          <a:cs typeface="Times New Roman" panose="02020603050405020304" pitchFamily="18" charset="0"/>
                        </a:rPr>
                        <a:t> SO VAECO </a:t>
                      </a:r>
                      <a:r>
                        <a:rPr lang="en-US" sz="1400" dirty="0" err="1" smtClean="0">
                          <a:solidFill>
                            <a:schemeClr val="tx1"/>
                          </a:solidFill>
                          <a:latin typeface="Times New Roman" panose="02020603050405020304" pitchFamily="18" charset="0"/>
                          <a:cs typeface="Times New Roman" panose="02020603050405020304" pitchFamily="18" charset="0"/>
                        </a:rPr>
                        <a:t>chuẩn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bị</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vật</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tư</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dụng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cụ</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để</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hỗ</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trợ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đối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tác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vào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thực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hiện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ngày</a:t>
                      </a:r>
                      <a:r>
                        <a:rPr lang="en-US" sz="1400" dirty="0" smtClean="0">
                          <a:solidFill>
                            <a:schemeClr val="tx1"/>
                          </a:solidFill>
                          <a:latin typeface="Times New Roman" panose="02020603050405020304" pitchFamily="18" charset="0"/>
                          <a:cs typeface="Times New Roman" panose="02020603050405020304" pitchFamily="18" charset="0"/>
                        </a:rPr>
                        <a:t> 8-13/4/2025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247144">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IFC 10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A350 </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8925" lvl="1" indent="-285750">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Tài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liệu</a:t>
                      </a:r>
                      <a:r>
                        <a:rPr lang="en-US" sz="1400" dirty="0" smtClean="0">
                          <a:solidFill>
                            <a:schemeClr val="tx1"/>
                          </a:solidFill>
                          <a:latin typeface="Times New Roman" panose="02020603050405020304" pitchFamily="18" charset="0"/>
                          <a:cs typeface="Times New Roman" panose="02020603050405020304" pitchFamily="18" charset="0"/>
                        </a:rPr>
                        <a:t> TSM </a:t>
                      </a:r>
                      <a:r>
                        <a:rPr lang="en-US" sz="1400" dirty="0" err="1" smtClean="0">
                          <a:solidFill>
                            <a:schemeClr val="tx1"/>
                          </a:solidFill>
                          <a:latin typeface="Times New Roman" panose="02020603050405020304" pitchFamily="18" charset="0"/>
                          <a:cs typeface="Times New Roman" panose="02020603050405020304" pitchFamily="18" charset="0"/>
                        </a:rPr>
                        <a:t>hệ</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thống</a:t>
                      </a:r>
                      <a:r>
                        <a:rPr lang="en-US" sz="1400" dirty="0" smtClean="0">
                          <a:solidFill>
                            <a:schemeClr val="tx1"/>
                          </a:solidFill>
                          <a:latin typeface="Times New Roman" panose="02020603050405020304" pitchFamily="18" charset="0"/>
                          <a:cs typeface="Times New Roman" panose="02020603050405020304" pitchFamily="18" charset="0"/>
                        </a:rPr>
                        <a:t> IFC: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giao</a:t>
                      </a:r>
                      <a:r>
                        <a:rPr lang="en-US" sz="1400" b="1" dirty="0" smtClean="0">
                          <a:solidFill>
                            <a:schemeClr val="tx1"/>
                          </a:solidFill>
                          <a:latin typeface="Times New Roman" panose="02020603050405020304" pitchFamily="18" charset="0"/>
                          <a:cs typeface="Times New Roman" panose="02020603050405020304" pitchFamily="18" charset="0"/>
                        </a:rPr>
                        <a:t> 6/3/2025 </a:t>
                      </a:r>
                      <a:r>
                        <a:rPr lang="en-US" sz="1400" b="1" dirty="0" err="1" smtClean="0">
                          <a:solidFill>
                            <a:schemeClr val="tx1"/>
                          </a:solidFill>
                          <a:latin typeface="Times New Roman" panose="02020603050405020304" pitchFamily="18" charset="0"/>
                          <a:cs typeface="Times New Roman" panose="02020603050405020304" pitchFamily="18" charset="0"/>
                        </a:rPr>
                        <a:t>và</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triển</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khai</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cho</a:t>
                      </a:r>
                      <a:r>
                        <a:rPr lang="en-US" sz="1400" b="1" dirty="0" smtClean="0">
                          <a:solidFill>
                            <a:schemeClr val="tx1"/>
                          </a:solidFill>
                          <a:latin typeface="Times New Roman" panose="02020603050405020304" pitchFamily="18" charset="0"/>
                          <a:cs typeface="Times New Roman" panose="02020603050405020304" pitchFamily="18" charset="0"/>
                        </a:rPr>
                        <a:t> VAECO</a:t>
                      </a:r>
                    </a:p>
                    <a:p>
                      <a:pPr marL="288925" lvl="1" indent="-285750">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Vật</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tư</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dự</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phòng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giao</a:t>
                      </a:r>
                      <a:r>
                        <a:rPr lang="en-US" sz="1400" b="1" dirty="0" smtClean="0">
                          <a:solidFill>
                            <a:schemeClr val="tx1"/>
                          </a:solidFill>
                          <a:latin typeface="Times New Roman" panose="02020603050405020304" pitchFamily="18" charset="0"/>
                          <a:cs typeface="Times New Roman" panose="02020603050405020304" pitchFamily="18" charset="0"/>
                        </a:rPr>
                        <a:t> KFRU, MODMAN, KANDU;  FMA 01ea </a:t>
                      </a:r>
                      <a:r>
                        <a:rPr lang="en-US" sz="1400" b="1" dirty="0" err="1" smtClean="0">
                          <a:solidFill>
                            <a:schemeClr val="tx1"/>
                          </a:solidFill>
                          <a:latin typeface="Times New Roman" panose="02020603050405020304" pitchFamily="18" charset="0"/>
                          <a:cs typeface="Times New Roman" panose="02020603050405020304" pitchFamily="18" charset="0"/>
                        </a:rPr>
                        <a:t>giao</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tháng</a:t>
                      </a:r>
                      <a:r>
                        <a:rPr lang="en-US" sz="1400" b="1" dirty="0" smtClean="0">
                          <a:solidFill>
                            <a:schemeClr val="tx1"/>
                          </a:solidFill>
                          <a:latin typeface="Times New Roman" panose="02020603050405020304" pitchFamily="18" charset="0"/>
                          <a:cs typeface="Times New Roman" panose="02020603050405020304" pitchFamily="18" charset="0"/>
                        </a:rPr>
                        <a:t> 4/2025 (</a:t>
                      </a:r>
                      <a:r>
                        <a:rPr lang="en-US" sz="1400" b="1" dirty="0" err="1" smtClean="0">
                          <a:solidFill>
                            <a:schemeClr val="tx1"/>
                          </a:solidFill>
                          <a:latin typeface="Times New Roman" panose="02020603050405020304" pitchFamily="18" charset="0"/>
                          <a:cs typeface="Times New Roman" panose="02020603050405020304" pitchFamily="18" charset="0"/>
                        </a:rPr>
                        <a:t>tiếp</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tục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giục</a:t>
                      </a:r>
                      <a:r>
                        <a:rPr lang="en-US" sz="1400" b="1" dirty="0" smtClean="0">
                          <a:solidFill>
                            <a:schemeClr val="tx1"/>
                          </a:solidFill>
                          <a:latin typeface="Times New Roman" panose="02020603050405020304" pitchFamily="18" charset="0"/>
                          <a:cs typeface="Times New Roman" panose="02020603050405020304" pitchFamily="18" charset="0"/>
                        </a:rPr>
                        <a:t> Thales)</a:t>
                      </a:r>
                    </a:p>
                    <a:p>
                      <a:pPr marL="288925" lvl="1" indent="-285750">
                        <a:lnSpc>
                          <a:spcPct val="130000"/>
                        </a:lnSpc>
                        <a:buFontTx/>
                        <a:buChar char="-"/>
                      </a:pPr>
                      <a:r>
                        <a:rPr lang="en-US" sz="1400" dirty="0" smtClean="0">
                          <a:solidFill>
                            <a:schemeClr val="tx1"/>
                          </a:solidFill>
                          <a:latin typeface="Times New Roman" panose="02020603050405020304" pitchFamily="18" charset="0"/>
                          <a:cs typeface="Times New Roman" panose="02020603050405020304" pitchFamily="18" charset="0"/>
                        </a:rPr>
                        <a:t> MPS </a:t>
                      </a:r>
                      <a:r>
                        <a:rPr lang="en-US" sz="1400" dirty="0" err="1" smtClean="0">
                          <a:solidFill>
                            <a:schemeClr val="tx1"/>
                          </a:solidFill>
                          <a:latin typeface="Times New Roman" panose="02020603050405020304" pitchFamily="18" charset="0"/>
                          <a:cs typeface="Times New Roman" panose="02020603050405020304" pitchFamily="18" charset="0"/>
                        </a:rPr>
                        <a:t>và</a:t>
                      </a:r>
                      <a:r>
                        <a:rPr lang="en-US" sz="1400" dirty="0" smtClean="0">
                          <a:solidFill>
                            <a:schemeClr val="tx1"/>
                          </a:solidFill>
                          <a:latin typeface="Times New Roman" panose="02020603050405020304" pitchFamily="18" charset="0"/>
                          <a:cs typeface="Times New Roman" panose="02020603050405020304" pitchFamily="18" charset="0"/>
                        </a:rPr>
                        <a:t> FSAT: </a:t>
                      </a:r>
                      <a:r>
                        <a:rPr lang="en-US" sz="1400" b="1" dirty="0" smtClean="0">
                          <a:solidFill>
                            <a:schemeClr val="tx1"/>
                          </a:solidFill>
                          <a:latin typeface="Times New Roman" panose="02020603050405020304" pitchFamily="18" charset="0"/>
                          <a:cs typeface="Times New Roman" panose="02020603050405020304" pitchFamily="18" charset="0"/>
                        </a:rPr>
                        <a:t>MPS </a:t>
                      </a:r>
                      <a:r>
                        <a:rPr lang="en-US" sz="1400" b="1" dirty="0" err="1" smtClean="0">
                          <a:solidFill>
                            <a:schemeClr val="tx1"/>
                          </a:solidFill>
                          <a:latin typeface="Times New Roman" panose="02020603050405020304" pitchFamily="18" charset="0"/>
                          <a:cs typeface="Times New Roman" panose="02020603050405020304" pitchFamily="18" charset="0"/>
                        </a:rPr>
                        <a:t>và</a:t>
                      </a:r>
                      <a:r>
                        <a:rPr lang="en-US" sz="1400" b="1" dirty="0" smtClean="0">
                          <a:solidFill>
                            <a:schemeClr val="tx1"/>
                          </a:solidFill>
                          <a:latin typeface="Times New Roman" panose="02020603050405020304" pitchFamily="18" charset="0"/>
                          <a:cs typeface="Times New Roman" panose="02020603050405020304" pitchFamily="18" charset="0"/>
                        </a:rPr>
                        <a:t> mod kit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giao</a:t>
                      </a:r>
                      <a:r>
                        <a:rPr lang="en-US" sz="1400" b="1" dirty="0" smtClean="0">
                          <a:solidFill>
                            <a:schemeClr val="tx1"/>
                          </a:solidFill>
                          <a:latin typeface="Times New Roman" panose="02020603050405020304" pitchFamily="18" charset="0"/>
                          <a:cs typeface="Times New Roman" panose="02020603050405020304" pitchFamily="18" charset="0"/>
                        </a:rPr>
                        <a:t>, SB release </a:t>
                      </a:r>
                      <a:r>
                        <a:rPr lang="en-US" sz="1400" b="1" dirty="0" err="1" smtClean="0">
                          <a:solidFill>
                            <a:schemeClr val="tx1"/>
                          </a:solidFill>
                          <a:latin typeface="Times New Roman" panose="02020603050405020304" pitchFamily="18" charset="0"/>
                          <a:cs typeface="Times New Roman" panose="02020603050405020304" pitchFamily="18" charset="0"/>
                        </a:rPr>
                        <a:t>đầu</a:t>
                      </a:r>
                      <a:r>
                        <a:rPr lang="en-US" sz="1400" b="1" baseline="0" dirty="0" smtClean="0">
                          <a:solidFill>
                            <a:schemeClr val="tx1"/>
                          </a:solidFill>
                          <a:latin typeface="Times New Roman" panose="02020603050405020304" pitchFamily="18" charset="0"/>
                          <a:cs typeface="Times New Roman" panose="02020603050405020304" pitchFamily="18" charset="0"/>
                        </a:rPr>
                        <a:t> </a:t>
                      </a:r>
                      <a:r>
                        <a:rPr lang="en-US" sz="1400" b="1" baseline="0" dirty="0" err="1" smtClean="0">
                          <a:solidFill>
                            <a:schemeClr val="tx1"/>
                          </a:solidFill>
                          <a:latin typeface="Times New Roman" panose="02020603050405020304" pitchFamily="18" charset="0"/>
                          <a:cs typeface="Times New Roman" panose="02020603050405020304" pitchFamily="18" charset="0"/>
                        </a:rPr>
                        <a:t>tháng</a:t>
                      </a:r>
                      <a:r>
                        <a:rPr lang="en-US" sz="1400" b="1" baseline="0" dirty="0" smtClean="0">
                          <a:solidFill>
                            <a:schemeClr val="tx1"/>
                          </a:solidFill>
                          <a:latin typeface="Times New Roman" panose="02020603050405020304" pitchFamily="18" charset="0"/>
                          <a:cs typeface="Times New Roman" panose="02020603050405020304" pitchFamily="18" charset="0"/>
                        </a:rPr>
                        <a:t> 4</a:t>
                      </a:r>
                      <a:r>
                        <a:rPr lang="en-US" sz="1400" b="1" dirty="0" smtClean="0">
                          <a:solidFill>
                            <a:schemeClr val="tx1"/>
                          </a:solidFill>
                          <a:latin typeface="Times New Roman" panose="02020603050405020304" pitchFamily="18" charset="0"/>
                          <a:cs typeface="Times New Roman" panose="02020603050405020304" pitchFamily="18" charset="0"/>
                        </a:rPr>
                        <a:t>/2025. </a:t>
                      </a:r>
                    </a:p>
                    <a:p>
                      <a:pPr marL="288925" lvl="1" indent="-285750">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Đã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gửi</a:t>
                      </a:r>
                      <a:r>
                        <a:rPr lang="en-US" sz="1400" dirty="0" smtClean="0">
                          <a:solidFill>
                            <a:schemeClr val="tx1"/>
                          </a:solidFill>
                          <a:latin typeface="Times New Roman" panose="02020603050405020304" pitchFamily="18" charset="0"/>
                          <a:cs typeface="Times New Roman" panose="02020603050405020304" pitchFamily="18" charset="0"/>
                        </a:rPr>
                        <a:t> 02 shipset </a:t>
                      </a:r>
                      <a:r>
                        <a:rPr lang="en-US" sz="1400" dirty="0" err="1" smtClean="0">
                          <a:solidFill>
                            <a:schemeClr val="tx1"/>
                          </a:solidFill>
                          <a:latin typeface="Times New Roman" panose="02020603050405020304" pitchFamily="18" charset="0"/>
                          <a:cs typeface="Times New Roman" panose="02020603050405020304" pitchFamily="18" charset="0"/>
                        </a:rPr>
                        <a:t>tàu</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bảo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quản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nâng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cấp</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firmwarre</a:t>
                      </a:r>
                      <a:r>
                        <a:rPr lang="en-US" sz="1400" dirty="0" smtClean="0">
                          <a:solidFill>
                            <a:schemeClr val="tx1"/>
                          </a:solidFill>
                          <a:latin typeface="Times New Roman" panose="02020603050405020304" pitchFamily="18" charset="0"/>
                          <a:cs typeface="Times New Roman" panose="02020603050405020304" pitchFamily="18" charset="0"/>
                        </a:rPr>
                        <a:t>, TAT 60-70 </a:t>
                      </a:r>
                      <a:r>
                        <a:rPr lang="en-US" sz="1400" dirty="0" err="1" smtClean="0">
                          <a:solidFill>
                            <a:schemeClr val="tx1"/>
                          </a:solidFill>
                          <a:latin typeface="Times New Roman" panose="02020603050405020304" pitchFamily="18" charset="0"/>
                          <a:cs typeface="Times New Roman" panose="02020603050405020304" pitchFamily="18" charset="0"/>
                        </a:rPr>
                        <a:t>ngày</a:t>
                      </a:r>
                      <a:r>
                        <a:rPr lang="en-US" sz="1400" dirty="0" smtClean="0">
                          <a:solidFill>
                            <a:schemeClr val="tx1"/>
                          </a:solidFill>
                          <a:latin typeface="Times New Roman" panose="02020603050405020304" pitchFamily="18" charset="0"/>
                          <a:cs typeface="Times New Roman" panose="02020603050405020304" pitchFamily="18" charset="0"/>
                        </a:rPr>
                        <a:t> =&gt;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về</a:t>
                      </a:r>
                      <a:r>
                        <a:rPr lang="en-US" sz="1400" b="1" dirty="0" smtClean="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smtClean="0">
                          <a:solidFill>
                            <a:schemeClr val="tx1"/>
                          </a:solidFill>
                          <a:latin typeface="Times New Roman" panose="02020603050405020304" pitchFamily="18" charset="0"/>
                          <a:cs typeface="Times New Roman" panose="02020603050405020304" pitchFamily="18" charset="0"/>
                        </a:rPr>
                        <a:t>tiếp</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tục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giục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về</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sớm</a:t>
                      </a:r>
                      <a:r>
                        <a:rPr lang="en-US" sz="1400" b="1" dirty="0" smtClean="0">
                          <a:solidFill>
                            <a:schemeClr val="tx1"/>
                          </a:solidFill>
                          <a:latin typeface="Times New Roman" panose="02020603050405020304" pitchFamily="18" charset="0"/>
                          <a:cs typeface="Times New Roman" panose="02020603050405020304" pitchFamily="18" charset="0"/>
                        </a:rPr>
                        <a:t> 02 KRFU + 01 MODMAN</a:t>
                      </a:r>
                    </a:p>
                    <a:p>
                      <a:pPr marL="288925" lvl="1" indent="-285750">
                        <a:lnSpc>
                          <a:spcPct val="130000"/>
                        </a:lnSpc>
                        <a:buFontTx/>
                        <a:buChar char="-"/>
                      </a:pPr>
                      <a:r>
                        <a:rPr lang="en-US" sz="1400" dirty="0" err="1" smtClean="0">
                          <a:solidFill>
                            <a:schemeClr val="tx1"/>
                          </a:solidFill>
                          <a:latin typeface="Times New Roman" panose="02020603050405020304" pitchFamily="18" charset="0"/>
                          <a:cs typeface="Times New Roman" panose="02020603050405020304" pitchFamily="18" charset="0"/>
                        </a:rPr>
                        <a:t>Đào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tạo</a:t>
                      </a:r>
                      <a:r>
                        <a:rPr lang="en-US" sz="1400" dirty="0" smtClean="0">
                          <a:solidFill>
                            <a:schemeClr val="tx1"/>
                          </a:solidFill>
                          <a:latin typeface="Times New Roman" panose="02020603050405020304" pitchFamily="18" charset="0"/>
                          <a:cs typeface="Times New Roman" panose="02020603050405020304" pitchFamily="18" charset="0"/>
                        </a:rPr>
                        <a:t> IFC VAECO 19-20/2/2025: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thực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hiện</a:t>
                      </a:r>
                      <a:endParaRPr lang="en-US" sz="1400" b="1" dirty="0" smtClean="0">
                        <a:solidFill>
                          <a:schemeClr val="tx1"/>
                        </a:solidFill>
                        <a:latin typeface="Times New Roman" panose="02020603050405020304" pitchFamily="18" charset="0"/>
                        <a:cs typeface="Times New Roman" panose="02020603050405020304" pitchFamily="18" charset="0"/>
                      </a:endParaRPr>
                    </a:p>
                    <a:p>
                      <a:pPr marL="288925" lvl="1" indent="-285750">
                        <a:lnSpc>
                          <a:spcPct val="130000"/>
                        </a:lnSpc>
                        <a:buFontTx/>
                        <a:buChar char="-"/>
                      </a:pPr>
                      <a:r>
                        <a:rPr lang="en-US" sz="1400" dirty="0" smtClean="0">
                          <a:solidFill>
                            <a:schemeClr val="tx1"/>
                          </a:solidFill>
                          <a:latin typeface="Times New Roman" panose="02020603050405020304" pitchFamily="18" charset="0"/>
                          <a:cs typeface="Times New Roman" panose="02020603050405020304" pitchFamily="18" charset="0"/>
                        </a:rPr>
                        <a:t>FSAT </a:t>
                      </a:r>
                      <a:r>
                        <a:rPr lang="en-US" sz="1400" dirty="0" err="1" smtClean="0">
                          <a:solidFill>
                            <a:schemeClr val="tx1"/>
                          </a:solidFill>
                          <a:latin typeface="Times New Roman" panose="02020603050405020304" pitchFamily="18" charset="0"/>
                          <a:cs typeface="Times New Roman" panose="02020603050405020304" pitchFamily="18" charset="0"/>
                        </a:rPr>
                        <a:t>từ</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ngày</a:t>
                      </a:r>
                      <a:r>
                        <a:rPr lang="en-US" sz="1400" dirty="0" smtClean="0">
                          <a:solidFill>
                            <a:schemeClr val="tx1"/>
                          </a:solidFill>
                          <a:latin typeface="Times New Roman" panose="02020603050405020304" pitchFamily="18" charset="0"/>
                          <a:cs typeface="Times New Roman" panose="02020603050405020304" pitchFamily="18" charset="0"/>
                        </a:rPr>
                        <a:t> 4-7/3/2025: </a:t>
                      </a:r>
                      <a:r>
                        <a:rPr lang="en-US" sz="1400" b="1" dirty="0" err="1" smtClean="0">
                          <a:solidFill>
                            <a:schemeClr val="tx1"/>
                          </a:solidFill>
                          <a:latin typeface="Times New Roman" panose="02020603050405020304" pitchFamily="18" charset="0"/>
                          <a:cs typeface="Times New Roman" panose="02020603050405020304" pitchFamily="18" charset="0"/>
                        </a:rPr>
                        <a:t>đã</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thực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hiện</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kiểm</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tra</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tại</a:t>
                      </a:r>
                      <a:r>
                        <a:rPr lang="en-US" sz="1400" b="1" dirty="0" smtClean="0">
                          <a:solidFill>
                            <a:schemeClr val="tx1"/>
                          </a:solidFill>
                          <a:latin typeface="Times New Roman" panose="02020603050405020304" pitchFamily="18" charset="0"/>
                          <a:cs typeface="Times New Roman" panose="02020603050405020304" pitchFamily="18" charset="0"/>
                        </a:rPr>
                        <a:t> LAB =&gt; Thales </a:t>
                      </a:r>
                      <a:r>
                        <a:rPr lang="en-US" sz="1400" b="1" dirty="0" err="1" smtClean="0">
                          <a:solidFill>
                            <a:schemeClr val="tx1"/>
                          </a:solidFill>
                          <a:latin typeface="Times New Roman" panose="02020603050405020304" pitchFamily="18" charset="0"/>
                          <a:cs typeface="Times New Roman" panose="02020603050405020304" pitchFamily="18" charset="0"/>
                        </a:rPr>
                        <a:t>thông</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báo</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ngày</a:t>
                      </a:r>
                      <a:r>
                        <a:rPr lang="en-US" sz="1400" b="1" dirty="0" smtClean="0">
                          <a:solidFill>
                            <a:schemeClr val="tx1"/>
                          </a:solidFill>
                          <a:latin typeface="Times New Roman" panose="02020603050405020304" pitchFamily="18" charset="0"/>
                          <a:cs typeface="Times New Roman" panose="02020603050405020304" pitchFamily="18" charset="0"/>
                        </a:rPr>
                        <a:t> 14/3 SW delay </a:t>
                      </a:r>
                      <a:r>
                        <a:rPr lang="en-US" sz="1400" b="1" dirty="0" err="1" smtClean="0">
                          <a:solidFill>
                            <a:schemeClr val="tx1"/>
                          </a:solidFill>
                          <a:latin typeface="Times New Roman" panose="02020603050405020304" pitchFamily="18" charset="0"/>
                          <a:cs typeface="Times New Roman" panose="02020603050405020304" pitchFamily="18" charset="0"/>
                        </a:rPr>
                        <a:t>giữa</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tháng</a:t>
                      </a:r>
                      <a:r>
                        <a:rPr lang="en-US" sz="1400" b="1" dirty="0" smtClean="0">
                          <a:solidFill>
                            <a:schemeClr val="tx1"/>
                          </a:solidFill>
                          <a:latin typeface="Times New Roman" panose="02020603050405020304" pitchFamily="18" charset="0"/>
                          <a:cs typeface="Times New Roman" panose="02020603050405020304" pitchFamily="18" charset="0"/>
                        </a:rPr>
                        <a:t> 4/2025 (</a:t>
                      </a:r>
                      <a:r>
                        <a:rPr lang="en-US" sz="1400" b="1" dirty="0" err="1" smtClean="0">
                          <a:solidFill>
                            <a:schemeClr val="tx1"/>
                          </a:solidFill>
                          <a:latin typeface="Times New Roman" panose="02020603050405020304" pitchFamily="18" charset="0"/>
                          <a:cs typeface="Times New Roman" panose="02020603050405020304" pitchFamily="18" charset="0"/>
                        </a:rPr>
                        <a:t>phát</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sinh</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khắc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phục</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lỗi</a:t>
                      </a:r>
                      <a:r>
                        <a:rPr lang="en-US" sz="1400" b="1" dirty="0" smtClean="0">
                          <a:solidFill>
                            <a:schemeClr val="tx1"/>
                          </a:solidFill>
                          <a:latin typeface="Times New Roman" panose="02020603050405020304" pitchFamily="18" charset="0"/>
                          <a:cs typeface="Times New Roman" panose="02020603050405020304" pitchFamily="18" charset="0"/>
                        </a:rPr>
                        <a:t> IFE)</a:t>
                      </a:r>
                    </a:p>
                    <a:p>
                      <a:pPr marL="288925" lvl="1" indent="-288925">
                        <a:lnSpc>
                          <a:spcPct val="130000"/>
                        </a:lnSpc>
                        <a:buFontTx/>
                        <a:buChar char="-"/>
                        <a:tabLst>
                          <a:tab pos="396875" algn="l"/>
                        </a:tabLst>
                      </a:pPr>
                      <a:r>
                        <a:rPr lang="en-US" sz="1400" b="1" dirty="0" err="1" smtClean="0">
                          <a:solidFill>
                            <a:schemeClr val="tx1"/>
                          </a:solidFill>
                          <a:latin typeface="Times New Roman" panose="02020603050405020304" pitchFamily="18" charset="0"/>
                          <a:cs typeface="Times New Roman" panose="02020603050405020304" pitchFamily="18" charset="0"/>
                        </a:rPr>
                        <a:t>Nâng</a:t>
                      </a:r>
                      <a:r>
                        <a:rPr lang="en-US" sz="1400" b="1" dirty="0" smtClean="0">
                          <a:solidFill>
                            <a:schemeClr val="tx1"/>
                          </a:solidFill>
                          <a:latin typeface="Times New Roman" panose="02020603050405020304" pitchFamily="18" charset="0"/>
                          <a:cs typeface="Times New Roman" panose="02020603050405020304" pitchFamily="18" charset="0"/>
                        </a:rPr>
                        <a:t> </a:t>
                      </a:r>
                      <a:r>
                        <a:rPr lang="en-US" sz="1400" b="1" dirty="0" err="1" smtClean="0">
                          <a:solidFill>
                            <a:schemeClr val="tx1"/>
                          </a:solidFill>
                          <a:latin typeface="Times New Roman" panose="02020603050405020304" pitchFamily="18" charset="0"/>
                          <a:cs typeface="Times New Roman" panose="02020603050405020304" pitchFamily="18" charset="0"/>
                        </a:rPr>
                        <a:t>cấp</a:t>
                      </a:r>
                      <a:r>
                        <a:rPr lang="en-US" sz="1400" b="1" dirty="0" smtClean="0">
                          <a:solidFill>
                            <a:schemeClr val="tx1"/>
                          </a:solidFill>
                          <a:latin typeface="Times New Roman" panose="02020603050405020304" pitchFamily="18" charset="0"/>
                          <a:cs typeface="Times New Roman" panose="02020603050405020304" pitchFamily="18" charset="0"/>
                        </a:rPr>
                        <a:t> SW on-wing 02 </a:t>
                      </a:r>
                      <a:r>
                        <a:rPr lang="en-US" sz="1400" b="1" dirty="0" err="1" smtClean="0">
                          <a:solidFill>
                            <a:schemeClr val="tx1"/>
                          </a:solidFill>
                          <a:latin typeface="Times New Roman" panose="02020603050405020304" pitchFamily="18" charset="0"/>
                          <a:cs typeface="Times New Roman" panose="02020603050405020304" pitchFamily="18" charset="0"/>
                        </a:rPr>
                        <a:t>tàu</a:t>
                      </a:r>
                      <a:r>
                        <a:rPr lang="en-US" sz="1400" b="1" dirty="0" smtClean="0">
                          <a:solidFill>
                            <a:schemeClr val="tx1"/>
                          </a:solidFill>
                          <a:latin typeface="Times New Roman" panose="02020603050405020304" pitchFamily="18" charset="0"/>
                          <a:cs typeface="Times New Roman" panose="02020603050405020304" pitchFamily="18" charset="0"/>
                        </a:rPr>
                        <a:t>: A892 &amp; A899 </a:t>
                      </a:r>
                      <a:r>
                        <a:rPr lang="en-US" sz="1400" b="1" dirty="0" err="1" smtClean="0">
                          <a:solidFill>
                            <a:schemeClr val="tx1"/>
                          </a:solidFill>
                          <a:latin typeface="Times New Roman" panose="02020603050405020304" pitchFamily="18" charset="0"/>
                          <a:cs typeface="Times New Roman" panose="02020603050405020304" pitchFamily="18" charset="0"/>
                        </a:rPr>
                        <a:t>ngày</a:t>
                      </a:r>
                      <a:r>
                        <a:rPr lang="en-US" sz="1400" b="1" dirty="0" smtClean="0">
                          <a:solidFill>
                            <a:schemeClr val="tx1"/>
                          </a:solidFill>
                          <a:latin typeface="Times New Roman" panose="02020603050405020304" pitchFamily="18" charset="0"/>
                          <a:cs typeface="Times New Roman" panose="02020603050405020304" pitchFamily="18" charset="0"/>
                        </a:rPr>
                        <a:t> 7-11/4/2025</a:t>
                      </a:r>
                      <a:endParaRPr lang="en-US" sz="14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507751">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CĐCH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23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8925" marR="0" lvl="1" indent="-288925" algn="l" defTabSz="914400" rtl="0" eaLnBrk="1" fontAlgn="auto" latinLnBrk="0" hangingPunct="1">
                        <a:lnSpc>
                          <a:spcPct val="13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HSYC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a:t>
                      </a:r>
                    </a:p>
                    <a:p>
                      <a:pPr marL="288925" marR="0" lvl="1" indent="-288925" algn="l" defTabSz="914400" rtl="0" eaLnBrk="1" fontAlgn="auto" latinLnBrk="0" hangingPunct="1">
                        <a:lnSpc>
                          <a:spcPct val="13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hoàn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NCC </a:t>
                      </a:r>
                      <a:r>
                        <a:rPr lang="en-US" sz="1400" dirty="0" err="1" smtClean="0">
                          <a:solidFill>
                            <a:schemeClr val="tx1"/>
                          </a:solidFill>
                          <a:latin typeface="Times New Roman" panose="02020603050405020304" pitchFamily="18" charset="0"/>
                          <a:cs typeface="Times New Roman" panose="02020603050405020304" pitchFamily="18" charset="0"/>
                        </a:rPr>
                        <a:t>ghế</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và</a:t>
                      </a:r>
                      <a:r>
                        <a:rPr lang="en-US" sz="1400" dirty="0" smtClean="0">
                          <a:solidFill>
                            <a:schemeClr val="tx1"/>
                          </a:solidFill>
                          <a:latin typeface="Times New Roman" panose="02020603050405020304" pitchFamily="18" charset="0"/>
                          <a:cs typeface="Times New Roman" panose="02020603050405020304" pitchFamily="18" charset="0"/>
                        </a:rPr>
                        <a:t> STC; </a:t>
                      </a:r>
                      <a:r>
                        <a:rPr lang="en-US" sz="1400" dirty="0" err="1" smtClean="0">
                          <a:solidFill>
                            <a:schemeClr val="tx1"/>
                          </a:solidFill>
                          <a:latin typeface="Times New Roman" panose="02020603050405020304" pitchFamily="18" charset="0"/>
                          <a:cs typeface="Times New Roman" panose="02020603050405020304" pitchFamily="18" charset="0"/>
                        </a:rPr>
                        <a:t>đã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làm</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việc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với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đối</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tác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và</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họp</a:t>
                      </a:r>
                      <a:r>
                        <a:rPr lang="en-US" sz="1400" dirty="0" smtClean="0">
                          <a:solidFill>
                            <a:schemeClr val="tx1"/>
                          </a:solidFill>
                          <a:latin typeface="Times New Roman" panose="02020603050405020304" pitchFamily="18" charset="0"/>
                          <a:cs typeface="Times New Roman" panose="02020603050405020304" pitchFamily="18" charset="0"/>
                        </a:rPr>
                        <a:t> pre-ICTM,  </a:t>
                      </a:r>
                      <a:r>
                        <a:rPr lang="en-US" sz="1400" dirty="0" err="1" smtClean="0">
                          <a:solidFill>
                            <a:schemeClr val="tx1"/>
                          </a:solidFill>
                          <a:latin typeface="Times New Roman" panose="02020603050405020304" pitchFamily="18" charset="0"/>
                          <a:cs typeface="Times New Roman" panose="02020603050405020304" pitchFamily="18" charset="0"/>
                        </a:rPr>
                        <a:t>dự</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kiến</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thông</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báo</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kết</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quả</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chính</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thức</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và</a:t>
                      </a:r>
                      <a:r>
                        <a:rPr lang="en-US" sz="1400" dirty="0" smtClean="0">
                          <a:solidFill>
                            <a:schemeClr val="tx1"/>
                          </a:solidFill>
                          <a:latin typeface="Times New Roman" panose="02020603050405020304" pitchFamily="18" charset="0"/>
                          <a:cs typeface="Times New Roman" panose="02020603050405020304" pitchFamily="18" charset="0"/>
                        </a:rPr>
                        <a:t> </a:t>
                      </a:r>
                      <a:r>
                        <a:rPr lang="en-US" sz="1400" dirty="0" err="1" smtClean="0">
                          <a:solidFill>
                            <a:schemeClr val="tx1"/>
                          </a:solidFill>
                          <a:latin typeface="Times New Roman" panose="02020603050405020304" pitchFamily="18" charset="0"/>
                          <a:cs typeface="Times New Roman" panose="02020603050405020304" pitchFamily="18" charset="0"/>
                        </a:rPr>
                        <a:t>phát</a:t>
                      </a:r>
                      <a:r>
                        <a:rPr lang="en-US" sz="1400" dirty="0" smtClean="0">
                          <a:solidFill>
                            <a:schemeClr val="tx1"/>
                          </a:solidFill>
                          <a:latin typeface="Times New Roman" panose="02020603050405020304" pitchFamily="18" charset="0"/>
                          <a:cs typeface="Times New Roman" panose="02020603050405020304" pitchFamily="18" charset="0"/>
                        </a:rPr>
                        <a:t> PO </a:t>
                      </a:r>
                      <a:r>
                        <a:rPr lang="en-US" sz="1400" dirty="0" err="1" smtClean="0">
                          <a:solidFill>
                            <a:schemeClr val="tx1"/>
                          </a:solidFill>
                          <a:latin typeface="Times New Roman" panose="02020603050405020304" pitchFamily="18" charset="0"/>
                          <a:cs typeface="Times New Roman" panose="02020603050405020304" pitchFamily="18" charset="0"/>
                        </a:rPr>
                        <a:t>tuần</a:t>
                      </a:r>
                      <a:r>
                        <a:rPr lang="en-US" sz="1400" dirty="0" smtClean="0">
                          <a:solidFill>
                            <a:schemeClr val="tx1"/>
                          </a:solidFill>
                          <a:latin typeface="Times New Roman" panose="02020603050405020304" pitchFamily="18" charset="0"/>
                          <a:cs typeface="Times New Roman" panose="02020603050405020304" pitchFamily="18" charset="0"/>
                        </a:rPr>
                        <a:t> 14</a:t>
                      </a:r>
                    </a:p>
                    <a:p>
                      <a:pPr marL="288925" marR="0" lvl="1" indent="-288925" algn="l" defTabSz="914400" rtl="0" eaLnBrk="1" fontAlgn="auto" latinLnBrk="0" hangingPunct="1">
                        <a:lnSpc>
                          <a:spcPct val="130000"/>
                        </a:lnSpc>
                        <a:spcBef>
                          <a:spcPts val="0"/>
                        </a:spcBef>
                        <a:spcAft>
                          <a:spcPts val="0"/>
                        </a:spcAft>
                        <a:buClrTx/>
                        <a:buSzTx/>
                        <a:buFontTx/>
                        <a:buChar char="-"/>
                        <a:tabLst/>
                        <a:defRPr/>
                      </a:pP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507751">
                <a:tc>
                  <a:txBody>
                    <a:bodyPr/>
                    <a:lstStyle/>
                    <a:p>
                      <a:pPr algn="ctr" fontAlgn="b"/>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52282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23</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795809665"/>
              </p:ext>
            </p:extLst>
          </p:nvPr>
        </p:nvGraphicFramePr>
        <p:xfrm>
          <a:off x="156783" y="508000"/>
          <a:ext cx="11878434" cy="4036056"/>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2145438">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smtClean="0">
                          <a:ln w="0"/>
                          <a:solidFill>
                            <a:schemeClr val="tx1"/>
                          </a:solidFill>
                          <a:latin typeface="Times New Roman" panose="02020603050405020304" pitchFamily="18" charset="0"/>
                          <a:cs typeface="Times New Roman" panose="02020603050405020304" pitchFamily="18" charset="0"/>
                        </a:rPr>
                        <a:t>CÔNG TÁC BÁN TRẢ/ TIẾP NHẬN/BÀN GIAO TÀU BAY</a:t>
                      </a:r>
                      <a:endParaRPr lang="en-US" sz="1300" b="0" dirty="0" smtClean="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dirty="0" smtClean="0">
                          <a:latin typeface="Times New Roman" panose="02020603050405020304" pitchFamily="18" charset="0"/>
                          <a:cs typeface="Times New Roman" panose="02020603050405020304" pitchFamily="18" charset="0"/>
                        </a:rPr>
                        <a:t>VNA và VALC đã đồng ý gia hạn tạm thời 10 tàu thuê đến hết 31/03/2025. Hiện có 02 đối tác quan tâm tới mua và cho thuê lại tàu bay là Arena và FTAI. Thủ tục bán tàu của VALC chậm nên khả năng cần gia hạn hợp đồng thuê tiếp 3 tháng đến 30/06/2025.</a:t>
                      </a:r>
                    </a:p>
                    <a:p>
                      <a:pPr algn="just">
                        <a:lnSpc>
                          <a:spcPct val="150000"/>
                        </a:lnSpc>
                      </a:pPr>
                      <a:r>
                        <a:rPr lang="vi-VN" sz="1300" dirty="0" smtClean="0">
                          <a:latin typeface="Times New Roman" panose="02020603050405020304" pitchFamily="18" charset="0"/>
                          <a:cs typeface="Times New Roman" panose="02020603050405020304" pitchFamily="18" charset="0"/>
                        </a:rPr>
                        <a:t>1,  Arena: Bản chào gia hạn thuê 10 tàu A321 với thời gian trung bình 5 năm, hiện đang trong quá trình đàm phán gia hạn. Cơ bản đã đàm phán thống nhất các nội dung liên quan tới KT</a:t>
                      </a:r>
                    </a:p>
                    <a:p>
                      <a:pPr algn="just">
                        <a:lnSpc>
                          <a:spcPct val="150000"/>
                        </a:lnSpc>
                      </a:pPr>
                      <a:r>
                        <a:rPr lang="vi-VN" sz="1300" dirty="0" smtClean="0">
                          <a:latin typeface="Times New Roman" panose="02020603050405020304" pitchFamily="18" charset="0"/>
                          <a:cs typeface="Times New Roman" panose="02020603050405020304" pitchFamily="18" charset="0"/>
                        </a:rPr>
                        <a:t>Các vấn đề lớn / cơ bản Arena đang đề xuất:</a:t>
                      </a:r>
                    </a:p>
                    <a:p>
                      <a:pPr algn="just">
                        <a:lnSpc>
                          <a:spcPct val="150000"/>
                        </a:lnSpc>
                      </a:pPr>
                      <a:r>
                        <a:rPr lang="vi-VN" sz="1300" dirty="0" smtClean="0">
                          <a:latin typeface="Times New Roman" panose="02020603050405020304" pitchFamily="18" charset="0"/>
                          <a:cs typeface="Times New Roman" panose="02020603050405020304" pitchFamily="18" charset="0"/>
                        </a:rPr>
                        <a:t>a.  10 tàu bay cần được duy trì khả năng khai thác sau khi hết hợp đồng gia hạn với Arena.</a:t>
                      </a:r>
                    </a:p>
                    <a:p>
                      <a:pPr algn="just">
                        <a:lnSpc>
                          <a:spcPct val="150000"/>
                        </a:lnSpc>
                      </a:pPr>
                      <a:r>
                        <a:rPr lang="vi-VN" sz="1300" dirty="0" smtClean="0">
                          <a:latin typeface="Times New Roman" panose="02020603050405020304" pitchFamily="18" charset="0"/>
                          <a:cs typeface="Times New Roman" panose="02020603050405020304" pitchFamily="18" charset="0"/>
                        </a:rPr>
                        <a:t>b.  Thực hiện balancing quỹ bảo dưỡng sau khi kết thúc gia hạn thuê.</a:t>
                      </a:r>
                    </a:p>
                    <a:p>
                      <a:pPr algn="just">
                        <a:lnSpc>
                          <a:spcPct val="150000"/>
                        </a:lnSpc>
                      </a:pPr>
                      <a:r>
                        <a:rPr lang="vi-VN" sz="1300" dirty="0" smtClean="0">
                          <a:latin typeface="Times New Roman" panose="02020603050405020304" pitchFamily="18" charset="0"/>
                          <a:cs typeface="Times New Roman" panose="02020603050405020304" pitchFamily="18" charset="0"/>
                        </a:rPr>
                        <a:t>c.  Đồng ý giảm MR và đề xuất phương án buy-out cho một số điều kiện trả.</a:t>
                      </a:r>
                    </a:p>
                    <a:p>
                      <a:pPr algn="just">
                        <a:lnSpc>
                          <a:spcPct val="150000"/>
                        </a:lnSpc>
                      </a:pPr>
                      <a:r>
                        <a:rPr lang="vi-VN" sz="1300" dirty="0" smtClean="0">
                          <a:latin typeface="Times New Roman" panose="02020603050405020304" pitchFamily="18" charset="0"/>
                          <a:cs typeface="Times New Roman" panose="02020603050405020304" pitchFamily="18" charset="0"/>
                        </a:rPr>
                        <a:t>2,  FTAI: Bản chào thuê 10 tàu A321 với điều kiện trả là As-is, có đảm bảo hỗ trợ động cơ khai thác đến hết run-out. Không phải thực hiện đóng quỹ ngoại trừ động cơ. Bản chào có nhiều thuận lợi cho VNA trong quá trình khai thác và trả tàu bay. </a:t>
                      </a:r>
                    </a:p>
                    <a:p>
                      <a:pPr algn="just">
                        <a:lnSpc>
                          <a:spcPct val="150000"/>
                        </a:lnSpc>
                      </a:pPr>
                      <a:r>
                        <a:rPr lang="vi-VN" sz="1300" dirty="0" smtClean="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2064478"/>
                  </a:ext>
                </a:extLst>
              </a:tr>
            </a:tbl>
          </a:graphicData>
        </a:graphic>
      </p:graphicFrame>
    </p:spTree>
    <p:extLst>
      <p:ext uri="{BB962C8B-B14F-4D97-AF65-F5344CB8AC3E}">
        <p14:creationId xmlns:p14="http://schemas.microsoft.com/office/powerpoint/2010/main" val="3510901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27337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517424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26</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T3-T/2025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3754591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dirty="0" err="1"/>
              <a:t>trên</a:t>
            </a:r>
            <a:r>
              <a:rPr lang="en-US" sz="1400" dirty="0"/>
              <a:t> A619</a:t>
            </a:r>
            <a:r>
              <a:rPr lang="vi-VN" sz="1400" dirty="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97437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4892133"/>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22/04/2025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452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T3-T4/25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768709"/>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56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846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r>
                        <a:rPr lang="en-US" sz="1200" b="0" i="0" u="none" strike="noStrike" kern="1200" noProof="0">
                          <a:solidFill>
                            <a:schemeClr val="tx1"/>
                          </a:solidFill>
                          <a:effectLst/>
                          <a:latin typeface="Calibri" panose="020F0502020204030204" pitchFamily="34" charset="0"/>
                          <a:ea typeface="+mn-ea"/>
                          <a:cs typeface="+mn-cs"/>
                          <a:sym typeface="Arial"/>
                        </a:rPr>
                        <a:t>. 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846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endParaRPr lang="en-US" sz="1200" b="0" i="0" u="none" strike="noStrike" kern="1200" noProof="0">
                        <a:solidFill>
                          <a:schemeClr val="tx1"/>
                        </a:solidFill>
                        <a:effectLst/>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Rob for A506#2 for 7 day engine run-up interval</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846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0682">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846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a:t>
                      </a:r>
                      <a:r>
                        <a:rPr lang="en-US" sz="1200" b="0" i="0" u="none" strike="noStrike" kern="1200">
                          <a:solidFill>
                            <a:schemeClr val="tx1"/>
                          </a:solidFill>
                          <a:effectLst/>
                          <a:latin typeface="Calibri" panose="020F0502020204030204" pitchFamily="34" charset="0"/>
                          <a:ea typeface="+mn-ea"/>
                          <a:cs typeface="+mn-cs"/>
                          <a:sym typeface="Arial"/>
                        </a:rPr>
                        <a:t>94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846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1022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846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42846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11</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731278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30</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17/05/2025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31/03/2025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07/04/2025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04/04/2025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01/08/2025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21/08/2025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14-16/04/2025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19-21/05/2025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126404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31</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31</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7" y="491750"/>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84177"/>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958395 – 25 cycle </a:t>
            </a:r>
            <a:r>
              <a:rPr lang="en-US" sz="1467" dirty="0" err="1">
                <a:solidFill>
                  <a:schemeClr val="tx1"/>
                </a:solidFill>
                <a:latin typeface="Times New Roman" panose="02020603050405020304" pitchFamily="18" charset="0"/>
                <a:cs typeface="Times New Roman" panose="02020603050405020304" pitchFamily="18" charset="0"/>
              </a:rPr>
              <a:t>làm</a:t>
            </a:r>
            <a:r>
              <a:rPr lang="en-US" sz="1467" dirty="0">
                <a:solidFill>
                  <a:schemeClr val="tx1"/>
                </a:solidFill>
                <a:latin typeface="Times New Roman" panose="02020603050405020304" pitchFamily="18" charset="0"/>
                <a:cs typeface="Times New Roman" panose="02020603050405020304" pitchFamily="18" charset="0"/>
              </a:rPr>
              <a:t> ĐCDP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urgent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induct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06/May/2025); 956533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kiến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T4 </a:t>
            </a:r>
            <a:r>
              <a:rPr lang="en-US" sz="1467" dirty="0" err="1">
                <a:solidFill>
                  <a:schemeClr val="tx1"/>
                </a:solidFill>
                <a:latin typeface="Times New Roman" panose="02020603050405020304" pitchFamily="18" charset="0"/>
                <a:cs typeface="Times New Roman" panose="02020603050405020304" pitchFamily="18" charset="0"/>
              </a:rPr>
              <a:t>nhận</a:t>
            </a:r>
            <a:r>
              <a:rPr lang="en-US" sz="1467" dirty="0">
                <a:solidFill>
                  <a:schemeClr val="tx1"/>
                </a:solidFill>
                <a:latin typeface="Times New Roman" panose="02020603050405020304" pitchFamily="18" charset="0"/>
                <a:cs typeface="Times New Roman" panose="02020603050405020304" pitchFamily="18" charset="0"/>
              </a:rPr>
              <a:t> ở VN.</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956577 (A864) – </a:t>
            </a:r>
            <a:r>
              <a:rPr lang="en-US" sz="1467" dirty="0">
                <a:solidFill>
                  <a:schemeClr val="tx1"/>
                </a:solidFill>
                <a:latin typeface="Times New Roman" panose="02020603050405020304" pitchFamily="18" charset="0"/>
                <a:cs typeface="Times New Roman" panose="02020603050405020304" pitchFamily="18" charset="0"/>
              </a:rPr>
              <a:t>Remove in 25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đang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triển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(=956556 </a:t>
            </a:r>
            <a:r>
              <a:rPr lang="en-US" sz="1467" dirty="0" err="1">
                <a:solidFill>
                  <a:schemeClr val="tx1"/>
                </a:solidFill>
                <a:latin typeface="Times New Roman" panose="02020603050405020304" pitchFamily="18" charset="0"/>
                <a:cs typeface="Times New Roman" panose="02020603050405020304" pitchFamily="18" charset="0"/>
              </a:rPr>
              <a:t>nhận</a:t>
            </a:r>
            <a:r>
              <a:rPr lang="en-US" sz="1467" dirty="0">
                <a:solidFill>
                  <a:schemeClr val="tx1"/>
                </a:solidFill>
                <a:latin typeface="Times New Roman" panose="02020603050405020304" pitchFamily="18" charset="0"/>
                <a:cs typeface="Times New Roman" panose="02020603050405020304" pitchFamily="18" charset="0"/>
              </a:rPr>
              <a:t> 24/04).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kiến</a:t>
            </a:r>
            <a:r>
              <a:rPr lang="en-US" sz="1467" dirty="0">
                <a:solidFill>
                  <a:schemeClr val="tx1"/>
                </a:solidFill>
                <a:latin typeface="Times New Roman" panose="02020603050405020304" pitchFamily="18" charset="0"/>
                <a:cs typeface="Times New Roman" panose="02020603050405020304" pitchFamily="18" charset="0"/>
              </a:rPr>
              <a:t> 04/04 release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A864</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956</a:t>
            </a:r>
            <a:r>
              <a:rPr lang="en-US" sz="1467" dirty="0">
                <a:solidFill>
                  <a:schemeClr val="tx1"/>
                </a:solidFill>
                <a:latin typeface="Times New Roman" panose="02020603050405020304" pitchFamily="18" charset="0"/>
                <a:cs typeface="Times New Roman" panose="02020603050405020304" pitchFamily="18" charset="0"/>
              </a:rPr>
              <a:t>769</a:t>
            </a:r>
            <a:r>
              <a:rPr lang="vi-VN" sz="1467" dirty="0">
                <a:solidFill>
                  <a:schemeClr val="tx1"/>
                </a:solidFill>
                <a:latin typeface="Times New Roman" panose="02020603050405020304" pitchFamily="18" charset="0"/>
                <a:cs typeface="Times New Roman" panose="02020603050405020304" pitchFamily="18" charset="0"/>
              </a:rPr>
              <a:t> (A86</a:t>
            </a:r>
            <a:r>
              <a:rPr lang="en-US" sz="1467" dirty="0">
                <a:solidFill>
                  <a:schemeClr val="tx1"/>
                </a:solidFill>
                <a:latin typeface="Times New Roman" panose="02020603050405020304" pitchFamily="18" charset="0"/>
                <a:cs typeface="Times New Roman" panose="02020603050405020304" pitchFamily="18" charset="0"/>
              </a:rPr>
              <a:t>8</a:t>
            </a:r>
            <a:r>
              <a:rPr lang="vi-VN" sz="1467" dirty="0">
                <a:solidFill>
                  <a:schemeClr val="tx1"/>
                </a:solidFill>
                <a:latin typeface="Times New Roman" panose="02020603050405020304" pitchFamily="18" charset="0"/>
                <a:cs typeface="Times New Roman" panose="02020603050405020304" pitchFamily="18" charset="0"/>
              </a:rPr>
              <a:t>) – </a:t>
            </a:r>
            <a:r>
              <a:rPr lang="en-US" sz="1467" dirty="0">
                <a:solidFill>
                  <a:schemeClr val="tx1"/>
                </a:solidFill>
                <a:latin typeface="Times New Roman" panose="02020603050405020304" pitchFamily="18" charset="0"/>
                <a:cs typeface="Times New Roman" panose="02020603050405020304" pitchFamily="18" charset="0"/>
              </a:rPr>
              <a:t>Remove in 25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07/04. </a:t>
            </a:r>
            <a:r>
              <a:rPr lang="en-US" sz="1467" dirty="0">
                <a:solidFill>
                  <a:srgbClr val="ED0000"/>
                </a:solidFill>
                <a:latin typeface="Times New Roman" panose="02020603050405020304" pitchFamily="18" charset="0"/>
                <a:cs typeface="Times New Roman" panose="02020603050405020304" pitchFamily="18" charset="0"/>
              </a:rPr>
              <a:t>VNA </a:t>
            </a:r>
            <a:r>
              <a:rPr lang="en-US" sz="1467" dirty="0" err="1">
                <a:solidFill>
                  <a:srgbClr val="ED0000"/>
                </a:solidFill>
                <a:latin typeface="Times New Roman" panose="02020603050405020304" pitchFamily="18" charset="0"/>
                <a:cs typeface="Times New Roman" panose="02020603050405020304" pitchFamily="18" charset="0"/>
              </a:rPr>
              <a:t>thuê</a:t>
            </a:r>
            <a:r>
              <a:rPr lang="en-US" sz="1467" dirty="0">
                <a:solidFill>
                  <a:srgbClr val="ED0000"/>
                </a:solidFill>
                <a:latin typeface="Times New Roman" panose="02020603050405020304" pitchFamily="18" charset="0"/>
                <a:cs typeface="Times New Roman" panose="02020603050405020304" pitchFamily="18" charset="0"/>
              </a:rPr>
              <a:t> ĐCDP </a:t>
            </a:r>
            <a:r>
              <a:rPr lang="en-US" sz="1467" dirty="0" err="1">
                <a:solidFill>
                  <a:srgbClr val="ED0000"/>
                </a:solidFill>
                <a:latin typeface="Times New Roman" panose="02020603050405020304" pitchFamily="18" charset="0"/>
                <a:cs typeface="Times New Roman" panose="02020603050405020304" pitchFamily="18" charset="0"/>
              </a:rPr>
              <a:t>từ</a:t>
            </a:r>
            <a:r>
              <a:rPr lang="en-US" sz="1467" dirty="0">
                <a:solidFill>
                  <a:srgbClr val="ED0000"/>
                </a:solidFill>
                <a:latin typeface="Times New Roman" panose="02020603050405020304" pitchFamily="18" charset="0"/>
                <a:cs typeface="Times New Roman" panose="02020603050405020304" pitchFamily="18" charset="0"/>
              </a:rPr>
              <a:t> AerCap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kiến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nhận</a:t>
            </a:r>
            <a:r>
              <a:rPr lang="en-US" sz="1467" dirty="0">
                <a:solidFill>
                  <a:srgbClr val="ED0000"/>
                </a:solidFill>
                <a:latin typeface="Times New Roman" panose="02020603050405020304" pitchFamily="18" charset="0"/>
                <a:cs typeface="Times New Roman" panose="02020603050405020304" pitchFamily="18" charset="0"/>
              </a:rPr>
              <a:t> 4 – 5/04/2025</a:t>
            </a: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Remove in </a:t>
            </a:r>
            <a:r>
              <a:rPr lang="en-US" sz="1467" b="1" dirty="0">
                <a:solidFill>
                  <a:srgbClr val="ED0000"/>
                </a:solidFill>
                <a:latin typeface="Times New Roman" panose="02020603050405020304" pitchFamily="18" charset="0"/>
                <a:cs typeface="Times New Roman" panose="02020603050405020304" pitchFamily="18" charset="0"/>
              </a:rPr>
              <a:t>25</a:t>
            </a:r>
            <a:r>
              <a:rPr lang="vi-VN" sz="1467" b="1" dirty="0">
                <a:solidFill>
                  <a:srgbClr val="ED0000"/>
                </a:solidFill>
                <a:latin typeface="Times New Roman" panose="02020603050405020304" pitchFamily="18" charset="0"/>
                <a:cs typeface="Times New Roman" panose="02020603050405020304" pitchFamily="18" charset="0"/>
              </a:rPr>
              <a:t> cyc or reinspect</a:t>
            </a:r>
            <a:r>
              <a:rPr lang="en-US" sz="1467" b="1" dirty="0">
                <a:solidFill>
                  <a:srgbClr val="ED0000"/>
                </a:solidFill>
                <a:latin typeface="Times New Roman" panose="02020603050405020304" pitchFamily="18" charset="0"/>
                <a:cs typeface="Times New Roman" panose="02020603050405020304" pitchFamily="18" charset="0"/>
              </a:rPr>
              <a:t>: </a:t>
            </a:r>
            <a:r>
              <a:rPr lang="vi-VN" sz="1467" b="1" dirty="0">
                <a:solidFill>
                  <a:srgbClr val="ED0000"/>
                </a:solidFill>
                <a:latin typeface="Times New Roman" panose="02020603050405020304" pitchFamily="18" charset="0"/>
                <a:cs typeface="Times New Roman" panose="02020603050405020304" pitchFamily="18" charset="0"/>
              </a:rPr>
              <a:t>956913 (A871)</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vừa</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giảm</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từ</a:t>
            </a:r>
            <a:r>
              <a:rPr lang="en-US" sz="1467" b="1" dirty="0">
                <a:solidFill>
                  <a:srgbClr val="ED0000"/>
                </a:solidFill>
                <a:latin typeface="Times New Roman" panose="02020603050405020304" pitchFamily="18" charset="0"/>
                <a:cs typeface="Times New Roman" panose="02020603050405020304" pitchFamily="18" charset="0"/>
              </a:rPr>
              <a:t> 50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xuống</a:t>
            </a:r>
            <a:r>
              <a:rPr lang="en-US" sz="1467" b="1" dirty="0">
                <a:solidFill>
                  <a:srgbClr val="ED0000"/>
                </a:solidFill>
                <a:latin typeface="Times New Roman" panose="02020603050405020304" pitchFamily="18" charset="0"/>
                <a:cs typeface="Times New Roman" panose="02020603050405020304" pitchFamily="18" charset="0"/>
              </a:rPr>
              <a:t> soi </a:t>
            </a:r>
            <a:r>
              <a:rPr lang="en-US" sz="1467" b="1" dirty="0" err="1">
                <a:solidFill>
                  <a:srgbClr val="ED0000"/>
                </a:solidFill>
                <a:latin typeface="Times New Roman" panose="02020603050405020304" pitchFamily="18" charset="0"/>
                <a:cs typeface="Times New Roman" panose="02020603050405020304" pitchFamily="18" charset="0"/>
              </a:rPr>
              <a:t>ngày</a:t>
            </a:r>
            <a:r>
              <a:rPr lang="en-US" sz="1467" b="1" dirty="0">
                <a:solidFill>
                  <a:srgbClr val="ED0000"/>
                </a:solidFill>
                <a:latin typeface="Times New Roman" panose="02020603050405020304" pitchFamily="18" charset="0"/>
                <a:cs typeface="Times New Roman" panose="02020603050405020304" pitchFamily="18" charset="0"/>
              </a:rPr>
              <a:t> 30/3</a:t>
            </a:r>
            <a:r>
              <a:rPr lang="en-US" sz="1467" dirty="0">
                <a:solidFill>
                  <a:schemeClr val="tx1"/>
                </a:solidFill>
                <a:latin typeface="Times New Roman" panose="02020603050405020304" pitchFamily="18" charset="0"/>
                <a:cs typeface="Times New Roman" panose="02020603050405020304" pitchFamily="18" charset="0"/>
              </a:rPr>
              <a:t>;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vi-VN" sz="1467" dirty="0">
                <a:solidFill>
                  <a:schemeClr val="tx1"/>
                </a:solidFill>
                <a:latin typeface="Times New Roman" panose="02020603050405020304" pitchFamily="18" charset="0"/>
                <a:cs typeface="Times New Roman" panose="02020603050405020304" pitchFamily="18" charset="0"/>
              </a:rPr>
              <a:t>958170 (A863)</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3</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a:solidFill>
                  <a:srgbClr val="ED0000"/>
                </a:solidFill>
                <a:latin typeface="Times New Roman" panose="02020603050405020304" pitchFamily="18" charset="0"/>
                <a:cs typeface="Times New Roman" panose="02020603050405020304" pitchFamily="18" charset="0"/>
              </a:rPr>
              <a:t>bao </a:t>
            </a:r>
            <a:r>
              <a:rPr lang="en-US" sz="1467" dirty="0" err="1">
                <a:solidFill>
                  <a:srgbClr val="ED0000"/>
                </a:solidFill>
                <a:latin typeface="Times New Roman" panose="02020603050405020304" pitchFamily="18" charset="0"/>
                <a:cs typeface="Times New Roman" panose="02020603050405020304" pitchFamily="18" charset="0"/>
              </a:rPr>
              <a:t>gồm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thuê</a:t>
            </a:r>
            <a:r>
              <a:rPr lang="en-US" sz="1467" dirty="0">
                <a:solidFill>
                  <a:srgbClr val="ED0000"/>
                </a:solidFill>
                <a:latin typeface="Times New Roman" panose="02020603050405020304" pitchFamily="18" charset="0"/>
                <a:cs typeface="Times New Roman" panose="02020603050405020304" pitchFamily="18" charset="0"/>
              </a:rPr>
              <a:t> 958266</a:t>
            </a:r>
            <a:r>
              <a:rPr lang="en-US" sz="1467" dirty="0">
                <a:solidFill>
                  <a:schemeClr val="tx1"/>
                </a:solidFill>
                <a:latin typeface="Times New Roman" panose="02020603050405020304" pitchFamily="18" charset="0"/>
                <a:cs typeface="Times New Roman" panose="02020603050405020304" pitchFamily="18" charset="0"/>
              </a:rPr>
              <a:t>)</a:t>
            </a:r>
            <a:r>
              <a:rPr lang="vi-VN" sz="1467" dirty="0">
                <a:solidFill>
                  <a:schemeClr val="tx1"/>
                </a:solidFill>
                <a:latin typeface="Times New Roman" panose="02020603050405020304" pitchFamily="18" charset="0"/>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tàu</a:t>
            </a:r>
            <a:r>
              <a:rPr lang="en-US" sz="1467" b="1" dirty="0">
                <a:solidFill>
                  <a:srgbClr val="388600"/>
                </a:solidFill>
                <a:latin typeface="Times New Roman" panose="02020603050405020304" pitchFamily="18" charset="0"/>
                <a:cs typeface="Times New Roman" panose="02020603050405020304" pitchFamily="18" charset="0"/>
              </a:rPr>
              <a:t> A870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lắp</a:t>
            </a:r>
            <a:r>
              <a:rPr lang="en-US" sz="1467" b="1" dirty="0">
                <a:solidFill>
                  <a:srgbClr val="388600"/>
                </a:solidFill>
                <a:latin typeface="Times New Roman" panose="02020603050405020304" pitchFamily="18" charset="0"/>
                <a:cs typeface="Times New Roman" panose="02020603050405020304" pitchFamily="18" charset="0"/>
              </a:rPr>
              <a:t> 02 </a:t>
            </a:r>
            <a:r>
              <a:rPr lang="en-US" sz="1467" b="1" dirty="0" err="1">
                <a:solidFill>
                  <a:srgbClr val="388600"/>
                </a:solidFill>
                <a:latin typeface="Times New Roman" panose="02020603050405020304" pitchFamily="18" charset="0"/>
                <a:cs typeface="Times New Roman" panose="02020603050405020304" pitchFamily="18" charset="0"/>
              </a:rPr>
              <a:t>động</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cơ</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gốc</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để</a:t>
            </a:r>
            <a:r>
              <a:rPr lang="en-US" sz="1467" b="1"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A864/956577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t>
            </a:r>
            <a:r>
              <a:rPr lang="en-US" sz="1467" b="1" dirty="0">
                <a:solidFill>
                  <a:schemeClr val="tx1"/>
                </a:solidFill>
                <a:latin typeface="Times New Roman" panose="02020603050405020304" pitchFamily="18" charset="0"/>
                <a:cs typeface="Times New Roman" panose="02020603050405020304" pitchFamily="18" charset="0"/>
              </a:rPr>
              <a:t>14/03 - 04/04/2025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AOG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956556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ENG SWAP 956697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A867. A864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A864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A868 AOG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thể</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ảnh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hưởng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tiến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a:t>
            </a:r>
            <a:r>
              <a:rPr lang="en-US" sz="1467" dirty="0">
                <a:solidFill>
                  <a:schemeClr val="tx1"/>
                </a:solidFill>
                <a:latin typeface="Times New Roman" panose="02020603050405020304" pitchFamily="18" charset="0"/>
                <a:cs typeface="Times New Roman" panose="02020603050405020304" pitchFamily="18" charset="0"/>
              </a:rPr>
              <a:t> swap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A867/A861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483330"/>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924170">
                  <a:extLst>
                    <a:ext uri="{9D8B030D-6E8A-4147-A177-3AD203B41FA5}">
                      <a16:colId xmlns:a16="http://schemas.microsoft.com/office/drawing/2014/main" val="3803391337"/>
                    </a:ext>
                  </a:extLst>
                </a:gridCol>
                <a:gridCol w="1722414">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08766">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8766">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006C00"/>
                          </a:solidFill>
                          <a:effectLst/>
                          <a:latin typeface="+mn-lt"/>
                        </a:rPr>
                        <a:t>12/03/2025</a:t>
                      </a:r>
                    </a:p>
                    <a:p>
                      <a:pPr algn="ctr" fontAlgn="ctr"/>
                      <a:r>
                        <a:rPr lang="en-US" sz="1200" u="none" strike="noStrike" dirty="0">
                          <a:solidFill>
                            <a:schemeClr val="tx1"/>
                          </a:solidFill>
                          <a:effectLst/>
                          <a:latin typeface="+mn-lt"/>
                        </a:rPr>
                        <a:t>Inducted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006C00"/>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A864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24/03/2025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08766">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17/04/2025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24/04/2025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08766">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28/05/2025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04/06/2025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dirty="0">
                        <a:solidFill>
                          <a:srgbClr val="BA0000"/>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KH </a:t>
                      </a:r>
                      <a:r>
                        <a:rPr lang="en-US" sz="1200" b="0" i="0" u="none" strike="noStrike" dirty="0" err="1">
                          <a:solidFill>
                            <a:schemeClr val="tx1"/>
                          </a:solidFill>
                          <a:effectLst/>
                          <a:latin typeface="+mn-lt"/>
                          <a:cs typeface="Times New Roman" panose="02020603050405020304" pitchFamily="18" charset="0"/>
                        </a:rPr>
                        <a:t>cũ</a:t>
                      </a:r>
                      <a:r>
                        <a:rPr lang="en-US" sz="1200" b="0" i="0" u="none" strike="noStrike" dirty="0">
                          <a:solidFill>
                            <a:schemeClr val="tx1"/>
                          </a:solidFill>
                          <a:effectLst/>
                          <a:latin typeface="+mn-lt"/>
                          <a:cs typeface="Times New Roman" panose="02020603050405020304" pitchFamily="18" charset="0"/>
                        </a:rPr>
                        <a:t> T10/2025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19/06/2025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Ngày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sửa</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xong</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có</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thể</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thay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28739">
                <a:tc>
                  <a:txBody>
                    <a:bodyPr/>
                    <a:lstStyle/>
                    <a:p>
                      <a:pPr algn="ctr" fontAlgn="ctr"/>
                      <a:r>
                        <a:rPr lang="en-US" sz="1200" b="1" i="0" u="none" strike="noStrike" dirty="0">
                          <a:solidFill>
                            <a:srgbClr val="BA0000"/>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1" i="0" u="none" strike="noStrike" dirty="0">
                          <a:solidFill>
                            <a:srgbClr val="BA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1" u="none" strike="noStrike" kern="1200" dirty="0">
                          <a:solidFill>
                            <a:srgbClr val="BA0000"/>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1" u="none" strike="noStrike" kern="1200" dirty="0">
                          <a:solidFill>
                            <a:srgbClr val="BA0000"/>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9926">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1505">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124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342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32</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7"/>
          <a:ext cx="5905159" cy="29260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914400">
                  <a:extLst>
                    <a:ext uri="{9D8B030D-6E8A-4147-A177-3AD203B41FA5}">
                      <a16:colId xmlns:a16="http://schemas.microsoft.com/office/drawing/2014/main" val="1549944897"/>
                    </a:ext>
                  </a:extLst>
                </a:gridCol>
                <a:gridCol w="8382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40640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5400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1">
                          <a:solidFill>
                            <a:schemeClr val="tx1"/>
                          </a:solidFill>
                          <a:latin typeface="Times New Roman" panose="02020603050405020304" pitchFamily="18" charset="0"/>
                          <a:cs typeface="Times New Roman" panose="02020603050405020304" pitchFamily="18" charset="0"/>
                        </a:rPr>
                        <a:t>08/04/</a:t>
                      </a:r>
                      <a:r>
                        <a:rPr lang="vi-VN" sz="1200" b="1" dirty="0">
                          <a:solidFill>
                            <a:schemeClr val="tx1"/>
                          </a:solidFill>
                          <a:latin typeface="Times New Roman" panose="02020603050405020304" pitchFamily="18" charset="0"/>
                          <a:cs typeface="Times New Roman" panose="02020603050405020304" pitchFamily="18" charset="0"/>
                        </a:rPr>
                        <a:t>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dirty="0">
                          <a:solidFill>
                            <a:schemeClr val="tx1"/>
                          </a:solidFill>
                          <a:latin typeface="Times New Roman" panose="02020603050405020304" pitchFamily="18" charset="0"/>
                          <a:cs typeface="Times New Roman" panose="02020603050405020304" pitchFamily="18" charset="0"/>
                        </a:rPr>
                        <a:t>1</a:t>
                      </a:r>
                      <a:r>
                        <a:rPr lang="en-US" sz="1200" b="1">
                          <a:solidFill>
                            <a:schemeClr val="tx1"/>
                          </a:solidFill>
                          <a:latin typeface="Times New Roman" panose="02020603050405020304" pitchFamily="18" charset="0"/>
                          <a:cs typeface="Times New Roman" panose="02020603050405020304" pitchFamily="18" charset="0"/>
                        </a:rPr>
                        <a:t>8/04/</a:t>
                      </a:r>
                      <a:r>
                        <a:rPr lang="vi-VN" sz="1200" b="1" dirty="0">
                          <a:solidFill>
                            <a:schemeClr val="tx1"/>
                          </a:solidFill>
                          <a:latin typeface="Times New Roman" panose="02020603050405020304" pitchFamily="18" charset="0"/>
                          <a:cs typeface="Times New Roman" panose="02020603050405020304" pitchFamily="18" charset="0"/>
                        </a:rPr>
                        <a:t>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4000">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54000">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254000">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1" kern="1200">
                          <a:solidFill>
                            <a:schemeClr val="tx1"/>
                          </a:solidFill>
                          <a:latin typeface="Times New Roman" panose="02020603050405020304" pitchFamily="18" charset="0"/>
                          <a:ea typeface="+mn-ea"/>
                          <a:cs typeface="Times New Roman" panose="02020603050405020304" pitchFamily="18" charset="0"/>
                        </a:rPr>
                        <a:t>06/04/25</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1" kern="1200">
                          <a:solidFill>
                            <a:schemeClr val="tx1"/>
                          </a:solidFill>
                          <a:latin typeface="Times New Roman" panose="02020603050405020304" pitchFamily="18" charset="0"/>
                          <a:ea typeface="+mn-ea"/>
                          <a:cs typeface="Times New Roman" panose="02020603050405020304" pitchFamily="18" charset="0"/>
                        </a:rPr>
                        <a:t>15/04/25</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254000">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254000">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254000">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14/03/25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24/03/25</a:t>
                      </a:r>
                    </a:p>
                  </a:txBody>
                  <a:tcPr marL="121920" marR="121920" marT="60960" marB="60960" anchor="ctr"/>
                </a:tc>
                <a:extLst>
                  <a:ext uri="{0D108BD9-81ED-4DB2-BD59-A6C34878D82A}">
                    <a16:rowId xmlns:a16="http://schemas.microsoft.com/office/drawing/2014/main" val="1733130508"/>
                  </a:ext>
                </a:extLst>
              </a:tr>
              <a:tr h="254000">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72439" y="4191000"/>
          <a:ext cx="5879459" cy="2438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17828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T6/2025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17828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178280">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a:t>
                      </a:r>
                      <a:r>
                        <a:rPr lang="en-US" sz="1200" dirty="0">
                          <a:latin typeface="Times New Roman" panose="02020603050405020304" pitchFamily="18" charset="0"/>
                          <a:cs typeface="Times New Roman" panose="02020603050405020304" pitchFamily="18" charset="0"/>
                        </a:rPr>
                        <a:t>0</a:t>
                      </a:r>
                      <a:r>
                        <a:rPr lang="en-US" sz="1200">
                          <a:latin typeface="Times New Roman" panose="02020603050405020304" pitchFamily="18" charset="0"/>
                          <a:cs typeface="Times New Roman" panose="02020603050405020304" pitchFamily="18" charset="0"/>
                        </a:rPr>
                        <a: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863729012"/>
                  </a:ext>
                </a:extLst>
              </a:tr>
              <a:tr h="178280">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T4/25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3958768938"/>
                  </a:ext>
                </a:extLst>
              </a:tr>
              <a:tr h="17828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Times New Roman" panose="02020603050405020304" pitchFamily="18" charset="0"/>
                          <a:cs typeface="Times New Roman" panose="02020603050405020304" pitchFamily="18" charset="0"/>
                        </a:rPr>
                        <a:t>Đã đến shop</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268910" y="3826711"/>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dirty="0">
                <a:solidFill>
                  <a:srgbClr val="002060"/>
                </a:solidFill>
                <a:latin typeface="Times New Roman" panose="02020603050405020304" pitchFamily="18" charset="0"/>
                <a:cs typeface="Times New Roman" panose="02020603050405020304" pitchFamily="18" charset="0"/>
              </a:rPr>
              <a:t>(07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59609"/>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352800"/>
          <a:ext cx="5808956" cy="3200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473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pPr lvl="0"/>
            <a:r>
              <a:rPr lang="en-US" sz="900" dirty="0"/>
              <a:t>- </a:t>
            </a:r>
            <a:r>
              <a:rPr lang="en-GB" sz="1050" dirty="0" err="1"/>
              <a:t>Với</a:t>
            </a:r>
            <a:r>
              <a:rPr lang="en-GB" sz="1050" dirty="0"/>
              <a:t> 21346 (</a:t>
            </a:r>
            <a:r>
              <a:rPr lang="en-GB" sz="1050" dirty="0" err="1"/>
              <a:t>hết</a:t>
            </a:r>
            <a:r>
              <a:rPr lang="en-GB" sz="1050" dirty="0"/>
              <a:t> </a:t>
            </a:r>
            <a:r>
              <a:rPr lang="en-GB" sz="1050" dirty="0" err="1"/>
              <a:t>hạn</a:t>
            </a:r>
            <a:r>
              <a:rPr lang="en-GB" sz="1050" dirty="0"/>
              <a:t> 14/06): </a:t>
            </a:r>
            <a:r>
              <a:rPr lang="en-GB" sz="1050" dirty="0" err="1"/>
              <a:t>chờ</a:t>
            </a:r>
            <a:r>
              <a:rPr lang="en-GB" sz="1050" dirty="0"/>
              <a:t> </a:t>
            </a:r>
            <a:r>
              <a:rPr lang="en-GB" sz="1050" dirty="0" err="1"/>
              <a:t>động</a:t>
            </a:r>
            <a:r>
              <a:rPr lang="en-GB" sz="1050" dirty="0"/>
              <a:t> </a:t>
            </a:r>
            <a:r>
              <a:rPr lang="en-GB" sz="1050" dirty="0" err="1"/>
              <a:t>cơ</a:t>
            </a:r>
            <a:r>
              <a:rPr lang="en-GB" sz="1050" dirty="0"/>
              <a:t> 21269 </a:t>
            </a:r>
            <a:r>
              <a:rPr lang="en-GB" sz="1050" dirty="0" err="1"/>
              <a:t>đi</a:t>
            </a:r>
            <a:r>
              <a:rPr lang="en-GB" sz="1050" dirty="0"/>
              <a:t> shop </a:t>
            </a:r>
            <a:r>
              <a:rPr lang="en-GB" sz="1050" dirty="0" err="1"/>
              <a:t>về</a:t>
            </a:r>
            <a:r>
              <a:rPr lang="en-GB" sz="1050" dirty="0"/>
              <a:t> </a:t>
            </a:r>
            <a:r>
              <a:rPr lang="en-GB" sz="1050" dirty="0" err="1"/>
              <a:t>ngày</a:t>
            </a:r>
            <a:r>
              <a:rPr lang="en-GB" sz="1050" dirty="0"/>
              <a:t> 24/03 </a:t>
            </a:r>
            <a:r>
              <a:rPr lang="en-GB" sz="1050" dirty="0" err="1"/>
              <a:t>sẽ</a:t>
            </a:r>
            <a:r>
              <a:rPr lang="en-GB" sz="1050" dirty="0"/>
              <a:t> </a:t>
            </a:r>
            <a:r>
              <a:rPr lang="en-GB" sz="1050" dirty="0" err="1"/>
              <a:t>tháo</a:t>
            </a:r>
            <a:r>
              <a:rPr lang="en-GB" sz="1050" dirty="0"/>
              <a:t> </a:t>
            </a:r>
            <a:r>
              <a:rPr lang="en-GB" sz="1050" dirty="0" err="1"/>
              <a:t>động</a:t>
            </a:r>
            <a:r>
              <a:rPr lang="en-GB" sz="1050" dirty="0"/>
              <a:t> </a:t>
            </a:r>
            <a:r>
              <a:rPr lang="en-GB" sz="1050" dirty="0" err="1"/>
              <a:t>cơ</a:t>
            </a:r>
            <a:r>
              <a:rPr lang="en-GB" sz="1050" dirty="0"/>
              <a:t> </a:t>
            </a:r>
            <a:r>
              <a:rPr lang="en-GB" sz="1050" dirty="0" err="1"/>
              <a:t>này</a:t>
            </a:r>
            <a:r>
              <a:rPr lang="en-GB" sz="1050" dirty="0"/>
              <a:t> </a:t>
            </a:r>
            <a:r>
              <a:rPr lang="en-GB" sz="1050" dirty="0" err="1"/>
              <a:t>xuống</a:t>
            </a:r>
            <a:r>
              <a:rPr lang="en-GB" sz="1050" dirty="0"/>
              <a:t> </a:t>
            </a:r>
            <a:r>
              <a:rPr lang="en-GB" sz="1050" dirty="0" err="1"/>
              <a:t>giữ</a:t>
            </a:r>
            <a:r>
              <a:rPr lang="en-GB" sz="1050" dirty="0"/>
              <a:t> </a:t>
            </a:r>
            <a:r>
              <a:rPr lang="en-GB" sz="1050" dirty="0" err="1"/>
              <a:t>giờ</a:t>
            </a:r>
            <a:r>
              <a:rPr lang="en-GB" sz="1050" dirty="0"/>
              <a:t> </a:t>
            </a:r>
            <a:r>
              <a:rPr lang="en-GB" sz="1050" dirty="0" err="1"/>
              <a:t>đến</a:t>
            </a:r>
            <a:r>
              <a:rPr lang="en-GB" sz="1050" dirty="0"/>
              <a:t> 10/5 </a:t>
            </a:r>
            <a:r>
              <a:rPr lang="en-GB" sz="1050" dirty="0" err="1"/>
              <a:t>lắp</a:t>
            </a:r>
            <a:r>
              <a:rPr lang="en-GB" sz="1050" dirty="0"/>
              <a:t> </a:t>
            </a:r>
            <a:r>
              <a:rPr lang="en-GB" sz="1050" dirty="0" err="1"/>
              <a:t>lại</a:t>
            </a:r>
            <a:r>
              <a:rPr lang="en-GB" sz="1050" dirty="0"/>
              <a:t> A899 (</a:t>
            </a:r>
            <a:r>
              <a:rPr lang="en-GB" sz="1050" dirty="0" err="1"/>
              <a:t>tàu</a:t>
            </a:r>
            <a:r>
              <a:rPr lang="en-GB" sz="1050" dirty="0"/>
              <a:t> </a:t>
            </a:r>
            <a:r>
              <a:rPr lang="en-GB" sz="1050" dirty="0" err="1"/>
              <a:t>đang</a:t>
            </a:r>
            <a:r>
              <a:rPr lang="en-GB" sz="1050" dirty="0"/>
              <a:t> </a:t>
            </a:r>
            <a:r>
              <a:rPr lang="en-GB" sz="1050" dirty="0" err="1"/>
              <a:t>dừng</a:t>
            </a:r>
            <a:r>
              <a:rPr lang="en-GB" sz="1050" dirty="0"/>
              <a:t> </a:t>
            </a:r>
            <a:r>
              <a:rPr lang="en-GB" sz="1050" dirty="0" err="1"/>
              <a:t>làm</a:t>
            </a:r>
            <a:r>
              <a:rPr lang="en-GB" sz="1050" dirty="0"/>
              <a:t> 6Y</a:t>
            </a:r>
            <a:r>
              <a:rPr lang="en-US" sz="1050" dirty="0"/>
              <a:t>), </a:t>
            </a:r>
            <a:r>
              <a:rPr lang="en-US" sz="1050" dirty="0" err="1"/>
              <a:t>sau</a:t>
            </a:r>
            <a:r>
              <a:rPr lang="en-US" sz="1050" dirty="0"/>
              <a:t> </a:t>
            </a:r>
            <a:r>
              <a:rPr lang="en-US" sz="1050" dirty="0" err="1"/>
              <a:t>đó</a:t>
            </a:r>
            <a:r>
              <a:rPr lang="en-US" sz="1050" dirty="0"/>
              <a:t> </a:t>
            </a:r>
            <a:r>
              <a:rPr lang="en-US" sz="1050" dirty="0" err="1"/>
              <a:t>lắp</a:t>
            </a:r>
            <a:r>
              <a:rPr lang="en-US" sz="1050" dirty="0"/>
              <a:t> A899 </a:t>
            </a:r>
            <a:r>
              <a:rPr lang="en-US" sz="1050" dirty="0" err="1"/>
              <a:t>giữ</a:t>
            </a:r>
            <a:r>
              <a:rPr lang="en-US" sz="1050" dirty="0"/>
              <a:t> </a:t>
            </a:r>
            <a:r>
              <a:rPr lang="en-US" sz="1050" dirty="0" err="1"/>
              <a:t>thêm</a:t>
            </a:r>
            <a:r>
              <a:rPr lang="en-US" sz="1050" dirty="0"/>
              <a:t> 10 </a:t>
            </a:r>
            <a:r>
              <a:rPr lang="en-US" sz="1050" dirty="0" err="1"/>
              <a:t>ngày</a:t>
            </a:r>
            <a:r>
              <a:rPr lang="en-US" sz="1050" dirty="0"/>
              <a:t>. </a:t>
            </a:r>
            <a:endParaRPr lang="en-US" sz="1000" dirty="0"/>
          </a:p>
          <a:p>
            <a:pPr lvl="0"/>
            <a:r>
              <a:rPr lang="en-GB" sz="1050" dirty="0"/>
              <a:t>- </a:t>
            </a:r>
            <a:r>
              <a:rPr lang="en-GB" sz="1050" dirty="0" err="1"/>
              <a:t>Với</a:t>
            </a:r>
            <a:r>
              <a:rPr lang="en-GB" sz="1050" dirty="0"/>
              <a:t> 21418 (</a:t>
            </a:r>
            <a:r>
              <a:rPr lang="en-GB" sz="1050" dirty="0" err="1"/>
              <a:t>hết</a:t>
            </a:r>
            <a:r>
              <a:rPr lang="en-GB" sz="1050" dirty="0"/>
              <a:t> </a:t>
            </a:r>
            <a:r>
              <a:rPr lang="en-GB" sz="1050" dirty="0" err="1"/>
              <a:t>hạn</a:t>
            </a:r>
            <a:r>
              <a:rPr lang="en-GB" sz="1050" dirty="0"/>
              <a:t> 07/07): </a:t>
            </a:r>
            <a:r>
              <a:rPr lang="en-GB" sz="1050" dirty="0" err="1"/>
              <a:t>Lắp</a:t>
            </a:r>
            <a:r>
              <a:rPr lang="en-GB" sz="1050" dirty="0"/>
              <a:t> </a:t>
            </a:r>
            <a:r>
              <a:rPr lang="en-GB" sz="1050" dirty="0" err="1"/>
              <a:t>trên</a:t>
            </a:r>
            <a:r>
              <a:rPr lang="en-GB" sz="1050" dirty="0"/>
              <a:t> </a:t>
            </a:r>
            <a:r>
              <a:rPr lang="en-GB" sz="1050" dirty="0" err="1"/>
              <a:t>tàu</a:t>
            </a:r>
            <a:r>
              <a:rPr lang="en-GB" sz="1050" dirty="0"/>
              <a:t> A891 </a:t>
            </a:r>
            <a:r>
              <a:rPr lang="en-GB" sz="1050" dirty="0" err="1"/>
              <a:t>làm</a:t>
            </a:r>
            <a:r>
              <a:rPr lang="en-GB" sz="1050" dirty="0"/>
              <a:t> check </a:t>
            </a:r>
            <a:r>
              <a:rPr lang="en-GB" sz="1050" dirty="0" err="1"/>
              <a:t>từ</a:t>
            </a:r>
            <a:r>
              <a:rPr lang="en-GB" sz="1050" dirty="0"/>
              <a:t> 10/3 – 19/3; </a:t>
            </a:r>
            <a:r>
              <a:rPr lang="en-GB" sz="1050" dirty="0" err="1"/>
              <a:t>từ</a:t>
            </a:r>
            <a:r>
              <a:rPr lang="en-GB" sz="1050" dirty="0"/>
              <a:t> 16/04 – 10/05: </a:t>
            </a:r>
            <a:r>
              <a:rPr lang="en-GB" sz="1050" dirty="0" err="1"/>
              <a:t>lắp</a:t>
            </a:r>
            <a:r>
              <a:rPr lang="en-GB" sz="1050" dirty="0"/>
              <a:t> sang </a:t>
            </a:r>
            <a:r>
              <a:rPr lang="en-GB" sz="1050" dirty="0" err="1"/>
              <a:t>tàu</a:t>
            </a:r>
            <a:r>
              <a:rPr lang="en-GB" sz="1050" dirty="0"/>
              <a:t> A899 (</a:t>
            </a:r>
            <a:r>
              <a:rPr lang="en-GB" sz="1050" dirty="0" err="1"/>
              <a:t>làm</a:t>
            </a:r>
            <a:r>
              <a:rPr lang="en-GB" sz="1050" dirty="0"/>
              <a:t> 6Y) </a:t>
            </a:r>
            <a:r>
              <a:rPr lang="en-GB" sz="1050" dirty="0" err="1"/>
              <a:t>giữ</a:t>
            </a:r>
            <a:r>
              <a:rPr lang="en-GB" sz="1050" dirty="0"/>
              <a:t> </a:t>
            </a:r>
            <a:r>
              <a:rPr lang="en-GB" sz="1050" dirty="0" err="1"/>
              <a:t>thêm</a:t>
            </a:r>
            <a:r>
              <a:rPr lang="en-GB" sz="1050" dirty="0"/>
              <a:t> </a:t>
            </a:r>
            <a:r>
              <a:rPr lang="en-GB" sz="1050" dirty="0" err="1"/>
              <a:t>được</a:t>
            </a:r>
            <a:r>
              <a:rPr lang="en-GB" sz="1050" dirty="0"/>
              <a:t> 25 </a:t>
            </a:r>
            <a:r>
              <a:rPr lang="en-GB" sz="1050" dirty="0" err="1"/>
              <a:t>ngày</a:t>
            </a:r>
            <a:r>
              <a:rPr lang="en-GB" sz="1050" dirty="0"/>
              <a:t>, </a:t>
            </a:r>
            <a:r>
              <a:rPr lang="en-GB" sz="1050" dirty="0" err="1"/>
              <a:t>sau</a:t>
            </a:r>
            <a:r>
              <a:rPr lang="en-GB" sz="1050" dirty="0"/>
              <a:t> </a:t>
            </a:r>
            <a:r>
              <a:rPr lang="en-GB" sz="1050" dirty="0" err="1"/>
              <a:t>đó</a:t>
            </a:r>
            <a:r>
              <a:rPr lang="en-GB" sz="1050" dirty="0"/>
              <a:t> A899 </a:t>
            </a:r>
            <a:r>
              <a:rPr lang="en-GB" sz="1050" dirty="0" err="1"/>
              <a:t>chủ</a:t>
            </a:r>
            <a:r>
              <a:rPr lang="en-GB" sz="1050" dirty="0"/>
              <a:t> </a:t>
            </a:r>
            <a:r>
              <a:rPr lang="en-GB" sz="1050" dirty="0" err="1"/>
              <a:t>động</a:t>
            </a:r>
            <a:r>
              <a:rPr lang="en-GB" sz="1050" dirty="0"/>
              <a:t> d</a:t>
            </a:r>
            <a:r>
              <a:rPr lang="en-US" sz="1050" dirty="0" err="1"/>
              <a:t>ừng</a:t>
            </a:r>
            <a:r>
              <a:rPr lang="en-US" sz="1050" dirty="0"/>
              <a:t> </a:t>
            </a:r>
            <a:r>
              <a:rPr lang="en-US" sz="1050" dirty="0" err="1"/>
              <a:t>thêm</a:t>
            </a:r>
            <a:r>
              <a:rPr lang="en-US" sz="1050" dirty="0"/>
              <a:t> 10 </a:t>
            </a:r>
            <a:r>
              <a:rPr lang="en-US" sz="1050" dirty="0" err="1"/>
              <a:t>ngày</a:t>
            </a:r>
            <a:r>
              <a:rPr lang="en-US" sz="1050" dirty="0"/>
              <a:t>. </a:t>
            </a:r>
            <a:endParaRPr lang="en-US" sz="1000" dirty="0"/>
          </a:p>
        </p:txBody>
      </p:sp>
    </p:spTree>
    <p:extLst>
      <p:ext uri="{BB962C8B-B14F-4D97-AF65-F5344CB8AC3E}">
        <p14:creationId xmlns:p14="http://schemas.microsoft.com/office/powerpoint/2010/main" val="1842412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34</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7776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023771"/>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r h="57717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34517888"/>
                  </a:ext>
                </a:extLst>
              </a:tr>
              <a:tr h="577171">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Mar/2025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546132875"/>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36922" y="4247118"/>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13122" y="4782751"/>
            <a:ext cx="11460201" cy="1692771"/>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39 FC) dự kiến gửi đi Shop trong T4/2025.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99168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24/03/2025 – 30/03/2025: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A339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Speed sensor), A602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Oil level sensor), A613 (Ops test).</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5724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154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512582" cy="1873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A620/22/23/24/25,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Nil;</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t>
            </a:r>
            <a:r>
              <a:rPr lang="en-US" sz="1600" b="1" dirty="0" smtClean="0">
                <a:cs typeface="Times New Roman" panose="02020603050405020304" pitchFamily="18" charset="0"/>
              </a:rPr>
              <a:t>A891;</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              ATR72</a:t>
            </a:r>
            <a:r>
              <a:rPr lang="en-US" sz="1600" b="1" dirty="0" smtClean="0">
                <a:cs typeface="Times New Roman" panose="02020603050405020304" pitchFamily="18" charset="0"/>
              </a:rPr>
              <a:t>: ;</a:t>
            </a:r>
            <a:endParaRPr lang="en-US" sz="1600" b="1" dirty="0">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t>
            </a:r>
            <a:r>
              <a:rPr lang="en-US" sz="1600" b="1" dirty="0" smtClean="0">
                <a:cs typeface="Times New Roman" panose="02020603050405020304" pitchFamily="18" charset="0"/>
              </a:rPr>
              <a:t>A864;</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590800"/>
            <a:ext cx="11068012" cy="42672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n-US" sz="1600" b="1" dirty="0" smtClean="0">
                <a:solidFill>
                  <a:srgbClr val="FF0000"/>
                </a:solidFill>
                <a:cs typeface="Times New Roman" panose="02020603050405020304" pitchFamily="18" charset="0"/>
                <a:sym typeface="Wingdings" panose="05000000000000000000" pitchFamily="2" charset="2"/>
              </a:rPr>
              <a:t>Nil</a:t>
            </a:r>
            <a:endParaRPr lang="es-ES" sz="1600" b="1" dirty="0">
              <a:solidFill>
                <a:srgbClr val="FF0000"/>
              </a:solidFill>
              <a:cs typeface="Times New Roman" panose="02020603050405020304" pitchFamily="18" charset="0"/>
              <a:sym typeface="Wingdings" panose="05000000000000000000" pitchFamily="2" charset="2"/>
            </a:endParaRPr>
          </a:p>
          <a:p>
            <a:pPr marL="12700" indent="0">
              <a:lnSpc>
                <a:spcPct val="120000"/>
              </a:lnSpc>
              <a:buSzPts val="110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12700" indent="0" algn="just">
              <a:buSzPts val="1100"/>
              <a:buNone/>
            </a:pPr>
            <a:r>
              <a:rPr lang="en-US" sz="1600" b="1" dirty="0" smtClean="0">
                <a:solidFill>
                  <a:srgbClr val="FF0000"/>
                </a:solidFill>
                <a:cs typeface="Times New Roman" panose="02020603050405020304" pitchFamily="18" charset="0"/>
                <a:sym typeface="Wingdings" panose="05000000000000000000" pitchFamily="2" charset="2"/>
              </a:rPr>
              <a:t>1. A891_HAN_ENGCHG_27/3-01/04: </a:t>
            </a:r>
            <a:r>
              <a:rPr lang="en-US" sz="1600" b="1" dirty="0">
                <a:solidFill>
                  <a:srgbClr val="FF0000"/>
                </a:solidFill>
                <a:cs typeface="Times New Roman" panose="02020603050405020304" pitchFamily="18" charset="0"/>
                <a:sym typeface="Wingdings" panose="05000000000000000000" pitchFamily="2" charset="2"/>
              </a:rPr>
              <a:t>On sked.</a:t>
            </a: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III. ATR72</a:t>
            </a:r>
          </a:p>
          <a:p>
            <a:pPr marL="12700" indent="0" algn="just">
              <a:buSzPts val="1100"/>
              <a:buFont typeface="Arial" panose="020B0604020202020204" pitchFamily="34" charset="0"/>
              <a:buNone/>
            </a:pPr>
            <a:r>
              <a:rPr lang="en-US" sz="1600" b="1" dirty="0" smtClean="0">
                <a:solidFill>
                  <a:srgbClr val="FF0000"/>
                </a:solidFill>
                <a:cs typeface="Times New Roman" panose="02020603050405020304" pitchFamily="18" charset="0"/>
                <a:sym typeface="Wingdings" panose="05000000000000000000" pitchFamily="2" charset="2"/>
              </a:rPr>
              <a:t>1. B223_SGN_AOG due to Hard Landing: ATR </a:t>
            </a:r>
            <a:r>
              <a:rPr lang="en-US" sz="1600" b="1" dirty="0" err="1" smtClean="0">
                <a:solidFill>
                  <a:srgbClr val="FF0000"/>
                </a:solidFill>
                <a:cs typeface="Times New Roman" panose="02020603050405020304" pitchFamily="18" charset="0"/>
                <a:sym typeface="Wingdings" panose="05000000000000000000" pitchFamily="2" charset="2"/>
              </a:rPr>
              <a:t>yêu</a:t>
            </a:r>
            <a:r>
              <a:rPr lang="en-US" sz="1600" b="1" dirty="0" smtClean="0">
                <a:solidFill>
                  <a:srgbClr val="FF0000"/>
                </a:solidFill>
                <a:cs typeface="Times New Roman" panose="02020603050405020304" pitchFamily="18" charset="0"/>
                <a:sym typeface="Wingdings" panose="05000000000000000000" pitchFamily="2" charset="2"/>
              </a:rPr>
              <a:t> </a:t>
            </a:r>
            <a:r>
              <a:rPr lang="en-US" sz="1600" b="1" dirty="0" err="1" smtClean="0">
                <a:solidFill>
                  <a:srgbClr val="FF0000"/>
                </a:solidFill>
                <a:cs typeface="Times New Roman" panose="02020603050405020304" pitchFamily="18" charset="0"/>
                <a:sym typeface="Wingdings" panose="05000000000000000000" pitchFamily="2" charset="2"/>
              </a:rPr>
              <a:t>cầu</a:t>
            </a:r>
            <a:r>
              <a:rPr lang="en-US" sz="1600" b="1" dirty="0" smtClean="0">
                <a:solidFill>
                  <a:srgbClr val="FF0000"/>
                </a:solidFill>
                <a:cs typeface="Times New Roman" panose="02020603050405020304" pitchFamily="18" charset="0"/>
                <a:sym typeface="Wingdings" panose="05000000000000000000" pitchFamily="2" charset="2"/>
              </a:rPr>
              <a:t> </a:t>
            </a:r>
            <a:r>
              <a:rPr lang="en-US" sz="1600" b="1" dirty="0" err="1" smtClean="0">
                <a:solidFill>
                  <a:srgbClr val="FF0000"/>
                </a:solidFill>
                <a:cs typeface="Times New Roman" panose="02020603050405020304" pitchFamily="18" charset="0"/>
                <a:sym typeface="Wingdings" panose="05000000000000000000" pitchFamily="2" charset="2"/>
              </a:rPr>
              <a:t>thay</a:t>
            </a:r>
            <a:r>
              <a:rPr lang="en-US" sz="1600" b="1" dirty="0" smtClean="0">
                <a:solidFill>
                  <a:srgbClr val="FF0000"/>
                </a:solidFill>
                <a:cs typeface="Times New Roman" panose="02020603050405020304" pitchFamily="18" charset="0"/>
                <a:sym typeface="Wingdings" panose="05000000000000000000" pitchFamily="2" charset="2"/>
              </a:rPr>
              <a:t> LH MLG</a:t>
            </a: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vi-VN" sz="1600" dirty="0">
                <a:cs typeface="Times New Roman" panose="02020603050405020304" pitchFamily="18" charset="0"/>
                <a:sym typeface="Wingdings" panose="05000000000000000000" pitchFamily="2" charset="2"/>
              </a:rPr>
              <a:t>- Đã kiểm tra xong 2 cánh, Rudder, Elevator. BSI ENG #1,2. Triển khai NDT cho các Bolt khu vực trọng yếu ở đầu 2 càng chính, thân không phát hiện Crack = &gt; Không có phát </a:t>
            </a:r>
            <a:r>
              <a:rPr lang="vi-VN" sz="1600" dirty="0" smtClean="0">
                <a:cs typeface="Times New Roman" panose="02020603050405020304" pitchFamily="18" charset="0"/>
                <a:sym typeface="Wingdings" panose="05000000000000000000" pitchFamily="2" charset="2"/>
              </a:rPr>
              <a:t>sinh</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đa</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phản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hồi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cho</a:t>
            </a:r>
            <a:r>
              <a:rPr lang="en-US" sz="1600" dirty="0" smtClean="0">
                <a:cs typeface="Times New Roman" panose="02020603050405020304" pitchFamily="18" charset="0"/>
                <a:sym typeface="Wingdings" panose="05000000000000000000" pitchFamily="2" charset="2"/>
              </a:rPr>
              <a:t> ATR</a:t>
            </a:r>
            <a:endParaRPr lang="en-US" sz="1600" dirty="0">
              <a:cs typeface="Times New Roman" panose="02020603050405020304" pitchFamily="18" charset="0"/>
              <a:sym typeface="Wingdings" panose="05000000000000000000" pitchFamily="2" charset="2"/>
            </a:endParaRPr>
          </a:p>
          <a:p>
            <a:pPr marL="12700" indent="0" algn="just">
              <a:buSzPts val="1100"/>
              <a:buNone/>
            </a:pPr>
            <a:r>
              <a:rPr lang="en-US" sz="1600" dirty="0" smtClean="0">
                <a:cs typeface="Times New Roman" panose="02020603050405020304" pitchFamily="18" charset="0"/>
                <a:sym typeface="Wingdings" panose="05000000000000000000" pitchFamily="2" charset="2"/>
              </a:rPr>
              <a:t>- 28/3, Ban KT VAECO </a:t>
            </a:r>
            <a:r>
              <a:rPr lang="en-US" sz="1600" dirty="0" err="1" smtClean="0">
                <a:cs typeface="Times New Roman" panose="02020603050405020304" pitchFamily="18" charset="0"/>
                <a:sym typeface="Wingdings" panose="05000000000000000000" pitchFamily="2" charset="2"/>
              </a:rPr>
              <a:t>bô</a:t>
            </a:r>
            <a:r>
              <a:rPr lang="en-US" sz="1600" dirty="0" smtClean="0">
                <a:cs typeface="Times New Roman" panose="02020603050405020304" pitchFamily="18" charset="0"/>
                <a:sym typeface="Wingdings" panose="05000000000000000000" pitchFamily="2" charset="2"/>
              </a:rPr>
              <a:t>̉ sung </a:t>
            </a:r>
            <a:r>
              <a:rPr lang="en-US" sz="1600" dirty="0" err="1" smtClean="0">
                <a:cs typeface="Times New Roman" panose="02020603050405020304" pitchFamily="18" charset="0"/>
                <a:sym typeface="Wingdings" panose="05000000000000000000" pitchFamily="2" charset="2"/>
              </a:rPr>
              <a:t>yêu</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cầu</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kiểm</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tra</a:t>
            </a:r>
            <a:r>
              <a:rPr lang="en-US" sz="1600" dirty="0" smtClean="0">
                <a:cs typeface="Times New Roman" panose="02020603050405020304" pitchFamily="18" charset="0"/>
                <a:sym typeface="Wingdings" panose="05000000000000000000" pitchFamily="2" charset="2"/>
              </a:rPr>
              <a:t> Fan blade, Hub, </a:t>
            </a:r>
            <a:r>
              <a:rPr lang="en-US" sz="1600" dirty="0" err="1" smtClean="0">
                <a:cs typeface="Times New Roman" panose="02020603050405020304" pitchFamily="18" charset="0"/>
                <a:sym typeface="Wingdings" panose="05000000000000000000" pitchFamily="2" charset="2"/>
              </a:rPr>
              <a:t>không</a:t>
            </a:r>
            <a:r>
              <a:rPr lang="en-US" sz="1600" dirty="0" smtClean="0">
                <a:cs typeface="Times New Roman" panose="02020603050405020304" pitchFamily="18" charset="0"/>
                <a:sym typeface="Wingdings" panose="05000000000000000000" pitchFamily="2" charset="2"/>
              </a:rPr>
              <a:t> có </a:t>
            </a:r>
            <a:r>
              <a:rPr lang="en-US" sz="1600" dirty="0" err="1" smtClean="0">
                <a:cs typeface="Times New Roman" panose="02020603050405020304" pitchFamily="18" charset="0"/>
                <a:sym typeface="Wingdings" panose="05000000000000000000" pitchFamily="2" charset="2"/>
              </a:rPr>
              <a:t>phát</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sinh</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tuy</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nhiên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hiện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thiếu</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vật</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tư</a:t>
            </a:r>
            <a:r>
              <a:rPr lang="en-US" sz="1600" dirty="0" smtClean="0">
                <a:cs typeface="Times New Roman" panose="02020603050405020304" pitchFamily="18" charset="0"/>
                <a:sym typeface="Wingdings" panose="05000000000000000000" pitchFamily="2" charset="2"/>
              </a:rPr>
              <a:t> ACW bị rob </a:t>
            </a:r>
            <a:r>
              <a:rPr lang="en-US" sz="1600" dirty="0" err="1" smtClean="0">
                <a:cs typeface="Times New Roman" panose="02020603050405020304" pitchFamily="18" charset="0"/>
                <a:sym typeface="Wingdings" panose="05000000000000000000" pitchFamily="2" charset="2"/>
              </a:rPr>
              <a:t>cho</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tàu</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khai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thác</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Vật</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tư</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này</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cần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đê</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nô</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máy</a:t>
            </a:r>
            <a:r>
              <a:rPr lang="en-US" sz="1600" dirty="0" smtClean="0">
                <a:cs typeface="Times New Roman" panose="02020603050405020304" pitchFamily="18" charset="0"/>
                <a:sym typeface="Wingdings" panose="05000000000000000000" pitchFamily="2" charset="2"/>
              </a:rPr>
              <a:t>.</a:t>
            </a:r>
          </a:p>
          <a:p>
            <a:pPr marL="12700" indent="0" algn="just">
              <a:buSzPts val="1100"/>
              <a:buNone/>
            </a:pPr>
            <a:r>
              <a:rPr lang="en-US" sz="1600" dirty="0" smtClean="0">
                <a:cs typeface="Times New Roman" panose="02020603050405020304" pitchFamily="18" charset="0"/>
                <a:sym typeface="Wingdings" panose="05000000000000000000" pitchFamily="2" charset="2"/>
              </a:rPr>
              <a:t>- Đ/n VAECO </a:t>
            </a:r>
            <a:r>
              <a:rPr lang="en-US" sz="1600" dirty="0" err="1" smtClean="0">
                <a:cs typeface="Times New Roman" panose="02020603050405020304" pitchFamily="18" charset="0"/>
                <a:sym typeface="Wingdings" panose="05000000000000000000" pitchFamily="2" charset="2"/>
              </a:rPr>
              <a:t>hoàn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thiện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các</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nội</a:t>
            </a:r>
            <a:r>
              <a:rPr lang="en-US" sz="1600" dirty="0" smtClean="0">
                <a:cs typeface="Times New Roman" panose="02020603050405020304" pitchFamily="18" charset="0"/>
                <a:sym typeface="Wingdings" panose="05000000000000000000" pitchFamily="2" charset="2"/>
              </a:rPr>
              <a:t> dung </a:t>
            </a:r>
            <a:r>
              <a:rPr lang="en-US" sz="1600" dirty="0" err="1" smtClean="0">
                <a:cs typeface="Times New Roman" panose="02020603050405020304" pitchFamily="18" charset="0"/>
                <a:sym typeface="Wingdings" panose="05000000000000000000" pitchFamily="2" charset="2"/>
              </a:rPr>
              <a:t>Bảo</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dưỡng</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còn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lại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đê</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khi</a:t>
            </a:r>
            <a:r>
              <a:rPr lang="en-US" sz="1600" dirty="0" smtClean="0">
                <a:cs typeface="Times New Roman" panose="02020603050405020304" pitchFamily="18" charset="0"/>
                <a:sym typeface="Wingdings" panose="05000000000000000000" pitchFamily="2" charset="2"/>
              </a:rPr>
              <a:t> có LH MLG  sẽ </a:t>
            </a:r>
            <a:r>
              <a:rPr lang="en-US" sz="1600" dirty="0" err="1" smtClean="0">
                <a:cs typeface="Times New Roman" panose="02020603050405020304" pitchFamily="18" charset="0"/>
                <a:sym typeface="Wingdings" panose="05000000000000000000" pitchFamily="2" charset="2"/>
              </a:rPr>
              <a:t>triển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khai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thay</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càng</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va</a:t>
            </a:r>
            <a:r>
              <a:rPr lang="en-US" sz="1600" dirty="0" smtClean="0">
                <a:cs typeface="Times New Roman" panose="02020603050405020304" pitchFamily="18" charset="0"/>
                <a:sym typeface="Wingdings" panose="05000000000000000000" pitchFamily="2" charset="2"/>
              </a:rPr>
              <a:t>̀ quay </a:t>
            </a:r>
            <a:r>
              <a:rPr lang="en-US" sz="1600" dirty="0" err="1" smtClean="0">
                <a:cs typeface="Times New Roman" panose="02020603050405020304" pitchFamily="18" charset="0"/>
                <a:sym typeface="Wingdings" panose="05000000000000000000" pitchFamily="2" charset="2"/>
              </a:rPr>
              <a:t>lại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khai</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thác</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sớm</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nhất</a:t>
            </a:r>
            <a:r>
              <a:rPr lang="en-US" sz="1600" dirty="0" smtClean="0">
                <a:cs typeface="Times New Roman" panose="02020603050405020304" pitchFamily="18" charset="0"/>
                <a:sym typeface="Wingdings" panose="05000000000000000000" pitchFamily="2" charset="2"/>
              </a:rPr>
              <a:t>.</a:t>
            </a:r>
            <a:endParaRPr lang="en-U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94857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spcBef>
                <a:spcPts val="600"/>
              </a:spcBef>
              <a:buSzPts val="1100"/>
              <a:buFont typeface="Arial" panose="020B0604020202020204" pitchFamily="34" charset="0"/>
              <a:buNone/>
            </a:pPr>
            <a:r>
              <a:rPr lang="es-ES" sz="1500" b="1" dirty="0">
                <a:cs typeface="Times New Roman" panose="02020603050405020304" pitchFamily="18" charset="0"/>
                <a:sym typeface="Wingdings" panose="05000000000000000000" pitchFamily="2" charset="2"/>
              </a:rPr>
              <a:t>IV</a:t>
            </a:r>
            <a:r>
              <a:rPr lang="en-US" sz="1500" b="1" dirty="0">
                <a:cs typeface="Times New Roman" panose="02020603050405020304" pitchFamily="18" charset="0"/>
              </a:rPr>
              <a:t>. B787: </a:t>
            </a:r>
          </a:p>
          <a:p>
            <a:pPr marL="12700" indent="0">
              <a:lnSpc>
                <a:spcPct val="120000"/>
              </a:lnSpc>
              <a:spcBef>
                <a:spcPts val="600"/>
              </a:spcBef>
              <a:buSzPts val="1100"/>
              <a:buNone/>
            </a:pPr>
            <a:r>
              <a:rPr lang="es-ES" sz="1600" b="1" dirty="0" smtClean="0">
                <a:solidFill>
                  <a:srgbClr val="FF0000"/>
                </a:solidFill>
                <a:cs typeface="Times New Roman" panose="02020603050405020304" pitchFamily="18" charset="0"/>
                <a:sym typeface="Wingdings" panose="05000000000000000000" pitchFamily="2" charset="2"/>
              </a:rPr>
              <a:t>1. A86</a:t>
            </a:r>
            <a:r>
              <a:rPr lang="en-US" sz="1600" b="1" dirty="0">
                <a:solidFill>
                  <a:srgbClr val="FF0000"/>
                </a:solidFill>
                <a:cs typeface="Times New Roman" panose="02020603050405020304" pitchFamily="18" charset="0"/>
                <a:sym typeface="Wingdings" panose="05000000000000000000" pitchFamily="2" charset="2"/>
              </a:rPr>
              <a:t>4_SGN_ENG CHG + C01 + C03_14/03-03/04</a:t>
            </a:r>
            <a:r>
              <a:rPr lang="es-ES" sz="1600" b="1" dirty="0" smtClean="0">
                <a:solidFill>
                  <a:srgbClr val="FF0000"/>
                </a:solidFill>
                <a:cs typeface="Times New Roman" panose="02020603050405020304" pitchFamily="18" charset="0"/>
                <a:sym typeface="Wingdings" panose="05000000000000000000" pitchFamily="2" charset="2"/>
              </a:rPr>
              <a:t>:</a:t>
            </a:r>
          </a:p>
          <a:p>
            <a:pPr marL="12700" indent="0">
              <a:lnSpc>
                <a:spcPct val="120000"/>
              </a:lnSpc>
              <a:spcBef>
                <a:spcPts val="600"/>
              </a:spcBef>
              <a:buSzPts val="1100"/>
              <a:buNone/>
            </a:pPr>
            <a:r>
              <a:rPr lang="es-ES" sz="1600" b="1" dirty="0" smtClean="0">
                <a:solidFill>
                  <a:srgbClr val="FF0000"/>
                </a:solidFill>
                <a:cs typeface="Times New Roman" panose="02020603050405020304" pitchFamily="18" charset="0"/>
                <a:sym typeface="Wingdings" panose="05000000000000000000" pitchFamily="2" charset="2"/>
              </a:rPr>
              <a:t>    </a:t>
            </a:r>
            <a:r>
              <a:rPr lang="es-ES" sz="1600" b="1" dirty="0" smtClean="0">
                <a:cs typeface="Times New Roman" panose="02020603050405020304" pitchFamily="18" charset="0"/>
                <a:sym typeface="Wingdings" panose="05000000000000000000" pitchFamily="2" charset="2"/>
              </a:rPr>
              <a:t>-</a:t>
            </a:r>
            <a:r>
              <a:rPr lang="es-ES" sz="1600" dirty="0" err="1" smtClean="0">
                <a:cs typeface="Times New Roman" panose="02020603050405020304" pitchFamily="18" charset="0"/>
                <a:sym typeface="Wingdings" panose="05000000000000000000" pitchFamily="2" charset="2"/>
              </a:rPr>
              <a:t>Tàu</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cần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thay</a:t>
            </a:r>
            <a:r>
              <a:rPr lang="es-ES" sz="1600" dirty="0" smtClean="0">
                <a:cs typeface="Times New Roman" panose="02020603050405020304" pitchFamily="18" charset="0"/>
                <a:sym typeface="Wingdings" panose="05000000000000000000" pitchFamily="2" charset="2"/>
              </a:rPr>
              <a:t> ENG do </a:t>
            </a:r>
            <a:r>
              <a:rPr lang="es-ES" sz="1600" dirty="0" err="1" smtClean="0">
                <a:cs typeface="Times New Roman" panose="02020603050405020304" pitchFamily="18" charset="0"/>
                <a:sym typeface="Wingdings" panose="05000000000000000000" pitchFamily="2" charset="2"/>
              </a:rPr>
              <a:t>hỏng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hóc</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Platform</a:t>
            </a:r>
            <a:r>
              <a:rPr lang="es-ES" sz="1600" dirty="0" smtClean="0">
                <a:cs typeface="Times New Roman" panose="02020603050405020304" pitchFamily="18" charset="0"/>
                <a:sym typeface="Wingdings" panose="05000000000000000000" pitchFamily="2" charset="2"/>
              </a:rPr>
              <a:t> lifting” , RR </a:t>
            </a:r>
            <a:r>
              <a:rPr lang="es-ES" sz="1600" dirty="0" err="1" smtClean="0">
                <a:cs typeface="Times New Roman" panose="02020603050405020304" pitchFamily="18" charset="0"/>
                <a:sym typeface="Wingdings" panose="05000000000000000000" pitchFamily="2" charset="2"/>
              </a:rPr>
              <a:t>yêu</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cầu</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tháo</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trong</a:t>
            </a:r>
            <a:r>
              <a:rPr lang="es-ES" sz="1600" dirty="0" smtClean="0">
                <a:cs typeface="Times New Roman" panose="02020603050405020304" pitchFamily="18" charset="0"/>
                <a:sym typeface="Wingdings" panose="05000000000000000000" pitchFamily="2" charset="2"/>
              </a:rPr>
              <a:t> 25 CY =&gt; </a:t>
            </a:r>
            <a:r>
              <a:rPr lang="es-ES" sz="1600" dirty="0" err="1" smtClean="0">
                <a:cs typeface="Times New Roman" panose="02020603050405020304" pitchFamily="18" charset="0"/>
                <a:sym typeface="Wingdings" panose="05000000000000000000" pitchFamily="2" charset="2"/>
              </a:rPr>
              <a:t>Check</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cần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thực</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hiện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sớm</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hơn</a:t>
            </a:r>
            <a:r>
              <a:rPr lang="es-ES" sz="1600" dirty="0" smtClean="0">
                <a:cs typeface="Times New Roman" panose="02020603050405020304" pitchFamily="18" charset="0"/>
                <a:sym typeface="Wingdings" panose="05000000000000000000" pitchFamily="2" charset="2"/>
              </a:rPr>
              <a:t> so </a:t>
            </a:r>
            <a:r>
              <a:rPr lang="es-ES" sz="1600" dirty="0" err="1" smtClean="0">
                <a:cs typeface="Times New Roman" panose="02020603050405020304" pitchFamily="18" charset="0"/>
                <a:sym typeface="Wingdings" panose="05000000000000000000" pitchFamily="2" charset="2"/>
              </a:rPr>
              <a:t>với</a:t>
            </a:r>
            <a:r>
              <a:rPr lang="es-ES" sz="1600" dirty="0" smtClean="0">
                <a:cs typeface="Times New Roman" panose="02020603050405020304" pitchFamily="18" charset="0"/>
                <a:sym typeface="Wingdings" panose="05000000000000000000" pitchFamily="2" charset="2"/>
              </a:rPr>
              <a:t> KH </a:t>
            </a:r>
            <a:r>
              <a:rPr lang="es-ES" sz="1600" dirty="0" err="1" smtClean="0">
                <a:cs typeface="Times New Roman" panose="02020603050405020304" pitchFamily="18" charset="0"/>
                <a:sym typeface="Wingdings" panose="05000000000000000000" pitchFamily="2" charset="2"/>
              </a:rPr>
              <a:t>dẫn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đến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overlap</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với</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nhiều</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Check</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đến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hạn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khác</a:t>
            </a:r>
            <a:r>
              <a:rPr lang="es-ES" sz="1600" dirty="0" smtClean="0">
                <a:cs typeface="Times New Roman" panose="02020603050405020304" pitchFamily="18" charset="0"/>
                <a:sym typeface="Wingdings" panose="05000000000000000000" pitchFamily="2" charset="2"/>
              </a:rPr>
              <a:t>.</a:t>
            </a:r>
            <a:endParaRPr lang="es-ES" sz="1600" b="1" dirty="0" smtClean="0">
              <a:solidFill>
                <a:srgbClr val="FF0000"/>
              </a:solidFill>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dirty="0" smtClean="0">
                <a:cs typeface="Times New Roman" panose="02020603050405020304" pitchFamily="18" charset="0"/>
                <a:sym typeface="Wingdings" panose="05000000000000000000" pitchFamily="2" charset="2"/>
              </a:rPr>
              <a:t>    - </a:t>
            </a:r>
            <a:r>
              <a:rPr lang="es-ES" sz="1600" dirty="0" err="1" smtClean="0">
                <a:cs typeface="Times New Roman" panose="02020603050405020304" pitchFamily="18" charset="0"/>
                <a:sym typeface="Wingdings" panose="05000000000000000000" pitchFamily="2" charset="2"/>
              </a:rPr>
              <a:t>Đa</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lắp</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xong</a:t>
            </a:r>
            <a:r>
              <a:rPr lang="es-ES" sz="1600" dirty="0" smtClean="0">
                <a:cs typeface="Times New Roman" panose="02020603050405020304" pitchFamily="18" charset="0"/>
                <a:sym typeface="Wingdings" panose="05000000000000000000" pitchFamily="2" charset="2"/>
              </a:rPr>
              <a:t> ENG# 2 </a:t>
            </a: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Inboard</a:t>
            </a:r>
            <a:r>
              <a:rPr lang="es-ES" sz="1600" dirty="0">
                <a:cs typeface="Times New Roman" panose="02020603050405020304" pitchFamily="18" charset="0"/>
                <a:sym typeface="Wingdings" panose="05000000000000000000" pitchFamily="2" charset="2"/>
              </a:rPr>
              <a:t> Spoiler PCU, </a:t>
            </a:r>
            <a:r>
              <a:rPr lang="es-ES" sz="1600" dirty="0" err="1">
                <a:cs typeface="Times New Roman" panose="02020603050405020304" pitchFamily="18" charset="0"/>
                <a:sym typeface="Wingdings" panose="05000000000000000000" pitchFamily="2" charset="2"/>
              </a:rPr>
              <a:t>tuy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Spare</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not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Avail</a:t>
            </a:r>
            <a:r>
              <a:rPr lang="es-ES" sz="1600" dirty="0">
                <a:cs typeface="Times New Roman" panose="02020603050405020304" pitchFamily="18" charset="0"/>
                <a:sym typeface="Wingdings" panose="05000000000000000000" pitchFamily="2" charset="2"/>
              </a:rPr>
              <a:t> = &gt;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30 </a:t>
            </a:r>
            <a:r>
              <a:rPr lang="es-ES" sz="1600" dirty="0" err="1">
                <a:cs typeface="Times New Roman" panose="02020603050405020304" pitchFamily="18" charset="0"/>
                <a:sym typeface="Wingdings" panose="05000000000000000000" pitchFamily="2" charset="2"/>
              </a:rPr>
              <a:t>ngày</a:t>
            </a:r>
            <a:r>
              <a:rPr lang="es-ES" sz="1600" dirty="0">
                <a:cs typeface="Times New Roman" panose="02020603050405020304" pitchFamily="18" charset="0"/>
                <a:sym typeface="Wingdings" panose="05000000000000000000" pitchFamily="2" charset="2"/>
              </a:rPr>
              <a:t> = &gt; </a:t>
            </a:r>
            <a:r>
              <a:rPr lang="es-ES" sz="1600" dirty="0" err="1">
                <a:cs typeface="Times New Roman" panose="02020603050405020304" pitchFamily="18" charset="0"/>
                <a:sym typeface="Wingdings" panose="05000000000000000000" pitchFamily="2" charset="2"/>
              </a:rPr>
              <a:t>Xem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xét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ứng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dừng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ở Line</a:t>
            </a:r>
            <a:r>
              <a:rPr lang="es-ES" sz="1600" dirty="0" smtClean="0">
                <a:cs typeface="Times New Roman" panose="02020603050405020304" pitchFamily="18" charset="0"/>
                <a:sym typeface="Wingdings" panose="05000000000000000000" pitchFamily="2" charset="2"/>
              </a:rPr>
              <a:t>.</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a:t>
            </a:r>
            <a:r>
              <a:rPr lang="es-ES" sz="1600" dirty="0" smtClean="0">
                <a:cs typeface="Times New Roman" panose="02020603050405020304" pitchFamily="18" charset="0"/>
                <a:sym typeface="Wingdings" panose="05000000000000000000" pitchFamily="2" charset="2"/>
              </a:rPr>
              <a:t>   - Trong quá </a:t>
            </a:r>
            <a:r>
              <a:rPr lang="es-ES" sz="1600" dirty="0" err="1" smtClean="0">
                <a:cs typeface="Times New Roman" panose="02020603050405020304" pitchFamily="18" charset="0"/>
                <a:sym typeface="Wingdings" panose="05000000000000000000" pitchFamily="2" charset="2"/>
              </a:rPr>
              <a:t>trình</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triển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khai</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lắp</a:t>
            </a:r>
            <a:r>
              <a:rPr lang="es-ES" sz="1600" dirty="0" smtClean="0">
                <a:cs typeface="Times New Roman" panose="02020603050405020304" pitchFamily="18" charset="0"/>
                <a:sym typeface="Wingdings" panose="05000000000000000000" pitchFamily="2" charset="2"/>
              </a:rPr>
              <a:t> ENG #1, </a:t>
            </a:r>
            <a:r>
              <a:rPr lang="es-ES" sz="1600" dirty="0" err="1" smtClean="0">
                <a:cs typeface="Times New Roman" panose="02020603050405020304" pitchFamily="18" charset="0"/>
                <a:sym typeface="Wingdings" panose="05000000000000000000" pitchFamily="2" charset="2"/>
              </a:rPr>
              <a:t>phát</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hiện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missing</a:t>
            </a:r>
            <a:r>
              <a:rPr lang="es-ES" sz="1600" dirty="0" smtClean="0">
                <a:cs typeface="Times New Roman" panose="02020603050405020304" pitchFamily="18" charset="0"/>
                <a:sym typeface="Wingdings" panose="05000000000000000000" pitchFamily="2" charset="2"/>
              </a:rPr>
              <a:t> 1 </a:t>
            </a:r>
            <a:r>
              <a:rPr lang="es-ES" sz="1600" dirty="0" err="1" smtClean="0">
                <a:cs typeface="Times New Roman" panose="02020603050405020304" pitchFamily="18" charset="0"/>
                <a:sym typeface="Wingdings" panose="05000000000000000000" pitchFamily="2" charset="2"/>
              </a:rPr>
              <a:t>Bolt</a:t>
            </a:r>
            <a:r>
              <a:rPr lang="es-ES" sz="1600" dirty="0">
                <a:cs typeface="Times New Roman" panose="02020603050405020304" pitchFamily="18" charset="0"/>
                <a:sym typeface="Wingdings" panose="05000000000000000000" pitchFamily="2" charset="2"/>
              </a:rPr>
              <a:t> </a:t>
            </a:r>
            <a:r>
              <a:rPr lang="es-ES" sz="1600" dirty="0" smtClean="0">
                <a:cs typeface="Times New Roman" panose="02020603050405020304" pitchFamily="18" charset="0"/>
                <a:sym typeface="Wingdings" panose="05000000000000000000" pitchFamily="2" charset="2"/>
              </a:rPr>
              <a:t>P/N: </a:t>
            </a:r>
            <a:r>
              <a:rPr lang="es-ES" sz="1600" dirty="0">
                <a:cs typeface="Times New Roman" panose="02020603050405020304" pitchFamily="18" charset="0"/>
                <a:sym typeface="Wingdings" panose="05000000000000000000" pitchFamily="2" charset="2"/>
              </a:rPr>
              <a:t>AS3237-08 vị </a:t>
            </a:r>
            <a:r>
              <a:rPr lang="es-ES" sz="1600" dirty="0" err="1" smtClean="0">
                <a:cs typeface="Times New Roman" panose="02020603050405020304" pitchFamily="18" charset="0"/>
                <a:sym typeface="Wingdings" panose="05000000000000000000" pitchFamily="2" charset="2"/>
              </a:rPr>
              <a:t>tri</a:t>
            </a:r>
            <a:r>
              <a:rPr lang="es-ES" sz="1600" dirty="0" smtClean="0">
                <a:cs typeface="Times New Roman" panose="02020603050405020304" pitchFamily="18" charset="0"/>
                <a:sym typeface="Wingdings" panose="05000000000000000000" pitchFamily="2" charset="2"/>
              </a:rPr>
              <a:t>́ 12h </a:t>
            </a:r>
            <a:r>
              <a:rPr lang="es-ES" sz="1600" dirty="0" err="1" smtClean="0">
                <a:cs typeface="Times New Roman" panose="02020603050405020304" pitchFamily="18" charset="0"/>
                <a:sym typeface="Wingdings" panose="05000000000000000000" pitchFamily="2" charset="2"/>
              </a:rPr>
              <a:t>của</a:t>
            </a:r>
            <a:r>
              <a:rPr lang="es-ES" sz="1600" dirty="0">
                <a:cs typeface="Times New Roman" panose="02020603050405020304" pitchFamily="18" charset="0"/>
                <a:sym typeface="Wingdings" panose="05000000000000000000" pitchFamily="2" charset="2"/>
              </a:rPr>
              <a:t> ENG S/N: </a:t>
            </a:r>
            <a:r>
              <a:rPr lang="es-ES" sz="1600" dirty="0" smtClean="0">
                <a:cs typeface="Times New Roman" panose="02020603050405020304" pitchFamily="18" charset="0"/>
                <a:sym typeface="Wingdings" panose="05000000000000000000" pitchFamily="2" charset="2"/>
              </a:rPr>
              <a:t>956556 </a:t>
            </a:r>
            <a:r>
              <a:rPr lang="es-ES" sz="1600" dirty="0" err="1" smtClean="0">
                <a:cs typeface="Times New Roman" panose="02020603050405020304" pitchFamily="18" charset="0"/>
                <a:sym typeface="Wingdings" panose="05000000000000000000" pitchFamily="2" charset="2"/>
              </a:rPr>
              <a:t>tư</a:t>
            </a:r>
            <a:r>
              <a:rPr lang="es-ES" sz="1600" dirty="0" smtClean="0">
                <a:cs typeface="Times New Roman" panose="02020603050405020304" pitchFamily="18" charset="0"/>
                <a:sym typeface="Wingdings" panose="05000000000000000000" pitchFamily="2" charset="2"/>
              </a:rPr>
              <a:t>̀ Shop </a:t>
            </a:r>
            <a:r>
              <a:rPr lang="es-ES" sz="1600" dirty="0" err="1" smtClean="0">
                <a:cs typeface="Times New Roman" panose="02020603050405020304" pitchFamily="18" charset="0"/>
                <a:sym typeface="Wingdings" panose="05000000000000000000" pitchFamily="2" charset="2"/>
              </a:rPr>
              <a:t>vê</a:t>
            </a:r>
            <a:r>
              <a:rPr lang="es-ES" sz="1600" dirty="0" smtClean="0">
                <a:cs typeface="Times New Roman" panose="02020603050405020304" pitchFamily="18" charset="0"/>
                <a:sym typeface="Wingdings" panose="05000000000000000000" pitchFamily="2" charset="2"/>
              </a:rPr>
              <a:t>̀. VAECO </a:t>
            </a:r>
            <a:r>
              <a:rPr lang="es-ES" sz="1600" dirty="0" err="1" smtClean="0">
                <a:cs typeface="Times New Roman" panose="02020603050405020304" pitchFamily="18" charset="0"/>
                <a:sym typeface="Wingdings" panose="05000000000000000000" pitchFamily="2" charset="2"/>
              </a:rPr>
              <a:t>đang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tạm</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dừng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việc</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lắp</a:t>
            </a:r>
            <a:r>
              <a:rPr lang="es-ES" sz="1600" dirty="0" smtClean="0">
                <a:cs typeface="Times New Roman" panose="02020603050405020304" pitchFamily="18" charset="0"/>
                <a:sym typeface="Wingdings" panose="05000000000000000000" pitchFamily="2" charset="2"/>
              </a:rPr>
              <a:t> ENG và </a:t>
            </a:r>
            <a:r>
              <a:rPr lang="es-ES" sz="1600" dirty="0" err="1" smtClean="0">
                <a:cs typeface="Times New Roman" panose="02020603050405020304" pitchFamily="18" charset="0"/>
                <a:sym typeface="Wingdings" panose="05000000000000000000" pitchFamily="2" charset="2"/>
              </a:rPr>
              <a:t>triển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khai</a:t>
            </a:r>
            <a:r>
              <a:rPr lang="es-ES" sz="1600" dirty="0" smtClean="0">
                <a:cs typeface="Times New Roman" panose="02020603050405020304" pitchFamily="18" charset="0"/>
                <a:sym typeface="Wingdings" panose="05000000000000000000" pitchFamily="2" charset="2"/>
              </a:rPr>
              <a:t> BSI </a:t>
            </a:r>
            <a:r>
              <a:rPr lang="es-ES" sz="1600" dirty="0" err="1" smtClean="0">
                <a:cs typeface="Times New Roman" panose="02020603050405020304" pitchFamily="18" charset="0"/>
                <a:sym typeface="Wingdings" panose="05000000000000000000" pitchFamily="2" charset="2"/>
              </a:rPr>
              <a:t>cũng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như</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tìm</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kiếm</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sơ</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bô</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nếu</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co</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rơi</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ra</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Hiện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tại</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cần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chơ</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phản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hồi</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tư</a:t>
            </a:r>
            <a:r>
              <a:rPr lang="es-ES" sz="1600" dirty="0" smtClean="0">
                <a:cs typeface="Times New Roman" panose="02020603050405020304" pitchFamily="18" charset="0"/>
                <a:sym typeface="Wingdings" panose="05000000000000000000" pitchFamily="2" charset="2"/>
              </a:rPr>
              <a:t>̀ Shop </a:t>
            </a:r>
            <a:r>
              <a:rPr lang="es-ES" sz="1600" dirty="0" err="1" smtClean="0">
                <a:cs typeface="Times New Roman" panose="02020603050405020304" pitchFamily="18" charset="0"/>
                <a:sym typeface="Wingdings" panose="05000000000000000000" pitchFamily="2" charset="2"/>
              </a:rPr>
              <a:t>đê</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Confirm</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tình</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trạng</a:t>
            </a:r>
            <a:r>
              <a:rPr lang="es-ES" sz="1600" dirty="0" smtClean="0">
                <a:cs typeface="Times New Roman" panose="02020603050405020304" pitchFamily="18" charset="0"/>
                <a:sym typeface="Wingdings" panose="05000000000000000000" pitchFamily="2" charset="2"/>
              </a:rPr>
              <a:t> ENG </a:t>
            </a:r>
            <a:r>
              <a:rPr lang="es-ES" sz="1600" dirty="0" err="1" smtClean="0">
                <a:cs typeface="Times New Roman" panose="02020603050405020304" pitchFamily="18" charset="0"/>
                <a:sym typeface="Wingdings" panose="05000000000000000000" pitchFamily="2" charset="2"/>
              </a:rPr>
              <a:t>này</a:t>
            </a:r>
            <a:r>
              <a:rPr lang="es-ES" sz="1600" dirty="0" smtClean="0">
                <a:cs typeface="Times New Roman" panose="02020603050405020304" pitchFamily="18" charset="0"/>
                <a:sym typeface="Wingdings" panose="05000000000000000000" pitchFamily="2" charset="2"/>
              </a:rPr>
              <a:t>. </a:t>
            </a:r>
            <a:r>
              <a:rPr lang="es-ES" sz="1600" dirty="0">
                <a:cs typeface="Times New Roman" panose="02020603050405020304" pitchFamily="18" charset="0"/>
                <a:sym typeface="Wingdings" panose="05000000000000000000" pitchFamily="2" charset="2"/>
              </a:rPr>
              <a:t>RR </a:t>
            </a:r>
            <a:r>
              <a:rPr lang="es-ES" sz="1600" dirty="0" err="1">
                <a:cs typeface="Times New Roman" panose="02020603050405020304" pitchFamily="18" charset="0"/>
                <a:sym typeface="Wingdings" panose="05000000000000000000" pitchFamily="2" charset="2"/>
              </a:rPr>
              <a:t>đa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hồi</a:t>
            </a:r>
            <a:r>
              <a:rPr lang="es-ES" sz="1600" dirty="0">
                <a:cs typeface="Times New Roman" panose="02020603050405020304" pitchFamily="18" charset="0"/>
                <a:sym typeface="Wingdings" panose="05000000000000000000" pitchFamily="2" charset="2"/>
              </a:rPr>
              <a:t>:</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Không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Bolt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lúc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Incoming-inspection</a:t>
            </a: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VAECO </a:t>
            </a:r>
            <a:r>
              <a:rPr lang="es-ES" sz="1600" dirty="0" err="1">
                <a:cs typeface="Times New Roman" panose="02020603050405020304" pitchFamily="18" charset="0"/>
                <a:sym typeface="Wingdings" panose="05000000000000000000" pitchFamily="2" charset="2"/>
              </a:rPr>
              <a:t>đang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xuất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soi</a:t>
            </a:r>
            <a:r>
              <a:rPr lang="es-ES" sz="1600" dirty="0">
                <a:cs typeface="Times New Roman" panose="02020603050405020304" pitchFamily="18" charset="0"/>
                <a:sym typeface="Wingdings" panose="05000000000000000000" pitchFamily="2" charset="2"/>
              </a:rPr>
              <a:t> LPC và HPC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tiếp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tục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lắp</a:t>
            </a:r>
            <a:r>
              <a:rPr lang="es-ES" sz="1600" dirty="0">
                <a:cs typeface="Times New Roman" panose="02020603050405020304" pitchFamily="18" charset="0"/>
                <a:sym typeface="Wingdings" panose="05000000000000000000" pitchFamily="2" charset="2"/>
              </a:rPr>
              <a:t> ENG.</a:t>
            </a:r>
            <a:endParaRPr lang="es-ES" sz="1400" dirty="0">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2651894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a:extLst>
              <a:ext uri="{FF2B5EF4-FFF2-40B4-BE49-F238E27FC236}">
                <a16:creationId xmlns:a16="http://schemas.microsoft.com/office/drawing/2014/main" id="{F870983B-F6C7-D999-857D-80031B600099}"/>
              </a:ext>
            </a:extLst>
          </p:cNvPr>
          <p:cNvGraphicFramePr>
            <a:graphicFrameLocks noGrp="1"/>
          </p:cNvGraphicFramePr>
          <p:nvPr>
            <p:extLst/>
          </p:nvPr>
        </p:nvGraphicFramePr>
        <p:xfrm>
          <a:off x="457200" y="1066800"/>
          <a:ext cx="11506198" cy="5181598"/>
        </p:xfrm>
        <a:graphic>
          <a:graphicData uri="http://schemas.openxmlformats.org/drawingml/2006/table">
            <a:tbl>
              <a:tblPr/>
              <a:tblGrid>
                <a:gridCol w="385021">
                  <a:extLst>
                    <a:ext uri="{9D8B030D-6E8A-4147-A177-3AD203B41FA5}">
                      <a16:colId xmlns:a16="http://schemas.microsoft.com/office/drawing/2014/main" val="3008420517"/>
                    </a:ext>
                  </a:extLst>
                </a:gridCol>
                <a:gridCol w="2606295">
                  <a:extLst>
                    <a:ext uri="{9D8B030D-6E8A-4147-A177-3AD203B41FA5}">
                      <a16:colId xmlns:a16="http://schemas.microsoft.com/office/drawing/2014/main" val="285650053"/>
                    </a:ext>
                  </a:extLst>
                </a:gridCol>
                <a:gridCol w="607148">
                  <a:extLst>
                    <a:ext uri="{9D8B030D-6E8A-4147-A177-3AD203B41FA5}">
                      <a16:colId xmlns:a16="http://schemas.microsoft.com/office/drawing/2014/main" val="2191651361"/>
                    </a:ext>
                  </a:extLst>
                </a:gridCol>
                <a:gridCol w="666382">
                  <a:extLst>
                    <a:ext uri="{9D8B030D-6E8A-4147-A177-3AD203B41FA5}">
                      <a16:colId xmlns:a16="http://schemas.microsoft.com/office/drawing/2014/main" val="2111447009"/>
                    </a:ext>
                  </a:extLst>
                </a:gridCol>
                <a:gridCol w="592340">
                  <a:extLst>
                    <a:ext uri="{9D8B030D-6E8A-4147-A177-3AD203B41FA5}">
                      <a16:colId xmlns:a16="http://schemas.microsoft.com/office/drawing/2014/main" val="3364679587"/>
                    </a:ext>
                  </a:extLst>
                </a:gridCol>
                <a:gridCol w="562722">
                  <a:extLst>
                    <a:ext uri="{9D8B030D-6E8A-4147-A177-3AD203B41FA5}">
                      <a16:colId xmlns:a16="http://schemas.microsoft.com/office/drawing/2014/main" val="1666797121"/>
                    </a:ext>
                  </a:extLst>
                </a:gridCol>
                <a:gridCol w="607148">
                  <a:extLst>
                    <a:ext uri="{9D8B030D-6E8A-4147-A177-3AD203B41FA5}">
                      <a16:colId xmlns:a16="http://schemas.microsoft.com/office/drawing/2014/main" val="3987520604"/>
                    </a:ext>
                  </a:extLst>
                </a:gridCol>
                <a:gridCol w="592340">
                  <a:extLst>
                    <a:ext uri="{9D8B030D-6E8A-4147-A177-3AD203B41FA5}">
                      <a16:colId xmlns:a16="http://schemas.microsoft.com/office/drawing/2014/main" val="3782409387"/>
                    </a:ext>
                  </a:extLst>
                </a:gridCol>
                <a:gridCol w="607148">
                  <a:extLst>
                    <a:ext uri="{9D8B030D-6E8A-4147-A177-3AD203B41FA5}">
                      <a16:colId xmlns:a16="http://schemas.microsoft.com/office/drawing/2014/main" val="2162792553"/>
                    </a:ext>
                  </a:extLst>
                </a:gridCol>
                <a:gridCol w="607148">
                  <a:extLst>
                    <a:ext uri="{9D8B030D-6E8A-4147-A177-3AD203B41FA5}">
                      <a16:colId xmlns:a16="http://schemas.microsoft.com/office/drawing/2014/main" val="1241414541"/>
                    </a:ext>
                  </a:extLst>
                </a:gridCol>
                <a:gridCol w="607148">
                  <a:extLst>
                    <a:ext uri="{9D8B030D-6E8A-4147-A177-3AD203B41FA5}">
                      <a16:colId xmlns:a16="http://schemas.microsoft.com/office/drawing/2014/main" val="4174819139"/>
                    </a:ext>
                  </a:extLst>
                </a:gridCol>
                <a:gridCol w="3065358">
                  <a:extLst>
                    <a:ext uri="{9D8B030D-6E8A-4147-A177-3AD203B41FA5}">
                      <a16:colId xmlns:a16="http://schemas.microsoft.com/office/drawing/2014/main" val="3924254448"/>
                    </a:ext>
                  </a:extLst>
                </a:gridCol>
              </a:tblGrid>
              <a:tr h="454285">
                <a:tc gridSpan="12">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30/03)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7289832"/>
                  </a:ext>
                </a:extLst>
              </a:tr>
              <a:tr h="550648">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254146432"/>
                  </a:ext>
                </a:extLst>
              </a:tr>
              <a:tr h="847998">
                <a:tc>
                  <a:txBody>
                    <a:bodyPr/>
                    <a:lstStyle/>
                    <a:p>
                      <a:pPr algn="ctr" fontAlgn="ctr"/>
                      <a:r>
                        <a:rPr lang="en-US" sz="12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13.25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- 05/2025: </a:t>
                      </a:r>
                      <a:r>
                        <a:rPr lang="en-US" sz="1200" b="0" i="0" u="none" strike="noStrike" dirty="0" err="1">
                          <a:solidFill>
                            <a:srgbClr val="FF0000"/>
                          </a:solidFill>
                          <a:effectLst/>
                          <a:latin typeface="Times New Roman" panose="02020603050405020304" pitchFamily="18" charset="0"/>
                        </a:rPr>
                        <a:t>tăng</a:t>
                      </a:r>
                      <a:r>
                        <a:rPr lang="en-US" sz="1200" b="0" i="0" u="none" strike="noStrike">
                          <a:solidFill>
                            <a:srgbClr val="FF0000"/>
                          </a:solidFill>
                          <a:effectLst/>
                          <a:latin typeface="Times New Roman" panose="02020603050405020304" pitchFamily="18" charset="0"/>
                        </a:rPr>
                        <a:t> 0.25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ENG </a:t>
                      </a:r>
                      <a:r>
                        <a:rPr lang="en-US" sz="1200" b="0" i="0" u="none" strike="noStrike" dirty="0" err="1">
                          <a:solidFill>
                            <a:srgbClr val="FF0000"/>
                          </a:solidFill>
                          <a:effectLst/>
                          <a:latin typeface="Times New Roman" panose="02020603050405020304" pitchFamily="18" charset="0"/>
                        </a:rPr>
                        <a:t>về</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muộn</a:t>
                      </a:r>
                      <a:endParaRPr lang="en-US" sz="1200" b="0" i="0" u="none" strike="noStrike" dirty="0">
                        <a:solidFill>
                          <a:srgbClr val="FF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9202988"/>
                  </a:ext>
                </a:extLst>
              </a:tr>
              <a:tr h="770907">
                <a:tc>
                  <a:txBody>
                    <a:bodyPr/>
                    <a:lstStyle/>
                    <a:p>
                      <a:pPr algn="ctr" fontAlgn="ctr"/>
                      <a:r>
                        <a:rPr lang="en-US" sz="12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18184026"/>
                  </a:ext>
                </a:extLst>
              </a:tr>
              <a:tr h="839738">
                <a:tc>
                  <a:txBody>
                    <a:bodyPr/>
                    <a:lstStyle/>
                    <a:p>
                      <a:pPr algn="ctr" fontAlgn="ctr"/>
                      <a:r>
                        <a:rPr lang="en-US" sz="12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782179"/>
                  </a:ext>
                </a:extLst>
              </a:tr>
              <a:tr h="859011">
                <a:tc>
                  <a:txBody>
                    <a:bodyPr/>
                    <a:lstStyle/>
                    <a:p>
                      <a:pPr algn="ctr" fontAlgn="ctr"/>
                      <a:r>
                        <a:rPr lang="en-US" sz="12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87806387"/>
                  </a:ext>
                </a:extLst>
              </a:tr>
              <a:tr h="859011">
                <a:tc>
                  <a:txBody>
                    <a:bodyPr/>
                    <a:lstStyle/>
                    <a:p>
                      <a:pPr algn="ctr" fontAlgn="ctr"/>
                      <a:r>
                        <a:rPr lang="en-US" sz="12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4532943"/>
                  </a:ext>
                </a:extLst>
              </a:tr>
            </a:tbl>
          </a:graphicData>
        </a:graphic>
      </p:graphicFrame>
    </p:spTree>
    <p:extLst>
      <p:ext uri="{BB962C8B-B14F-4D97-AF65-F5344CB8AC3E}">
        <p14:creationId xmlns:p14="http://schemas.microsoft.com/office/powerpoint/2010/main" val="4463099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a:extLst>
              <a:ext uri="{FF2B5EF4-FFF2-40B4-BE49-F238E27FC236}">
                <a16:creationId xmlns:a16="http://schemas.microsoft.com/office/drawing/2014/main" id="{56F1E48D-F89E-CD87-06AB-CAA4DC781742}"/>
              </a:ext>
            </a:extLst>
          </p:cNvPr>
          <p:cNvGraphicFramePr>
            <a:graphicFrameLocks noGrp="1"/>
          </p:cNvGraphicFramePr>
          <p:nvPr>
            <p:extLst/>
          </p:nvPr>
        </p:nvGraphicFramePr>
        <p:xfrm>
          <a:off x="267854" y="609600"/>
          <a:ext cx="11695544" cy="5944749"/>
        </p:xfrm>
        <a:graphic>
          <a:graphicData uri="http://schemas.openxmlformats.org/drawingml/2006/table">
            <a:tbl>
              <a:tblPr/>
              <a:tblGrid>
                <a:gridCol w="369584">
                  <a:extLst>
                    <a:ext uri="{9D8B030D-6E8A-4147-A177-3AD203B41FA5}">
                      <a16:colId xmlns:a16="http://schemas.microsoft.com/office/drawing/2014/main" val="1388355944"/>
                    </a:ext>
                  </a:extLst>
                </a:gridCol>
                <a:gridCol w="2527478">
                  <a:extLst>
                    <a:ext uri="{9D8B030D-6E8A-4147-A177-3AD203B41FA5}">
                      <a16:colId xmlns:a16="http://schemas.microsoft.com/office/drawing/2014/main" val="725430700"/>
                    </a:ext>
                  </a:extLst>
                </a:gridCol>
                <a:gridCol w="488804">
                  <a:extLst>
                    <a:ext uri="{9D8B030D-6E8A-4147-A177-3AD203B41FA5}">
                      <a16:colId xmlns:a16="http://schemas.microsoft.com/office/drawing/2014/main" val="2262426642"/>
                    </a:ext>
                  </a:extLst>
                </a:gridCol>
                <a:gridCol w="536493">
                  <a:extLst>
                    <a:ext uri="{9D8B030D-6E8A-4147-A177-3AD203B41FA5}">
                      <a16:colId xmlns:a16="http://schemas.microsoft.com/office/drawing/2014/main" val="2892585976"/>
                    </a:ext>
                  </a:extLst>
                </a:gridCol>
                <a:gridCol w="488804">
                  <a:extLst>
                    <a:ext uri="{9D8B030D-6E8A-4147-A177-3AD203B41FA5}">
                      <a16:colId xmlns:a16="http://schemas.microsoft.com/office/drawing/2014/main" val="653075643"/>
                    </a:ext>
                  </a:extLst>
                </a:gridCol>
                <a:gridCol w="453039">
                  <a:extLst>
                    <a:ext uri="{9D8B030D-6E8A-4147-A177-3AD203B41FA5}">
                      <a16:colId xmlns:a16="http://schemas.microsoft.com/office/drawing/2014/main" val="3159124905"/>
                    </a:ext>
                  </a:extLst>
                </a:gridCol>
                <a:gridCol w="512650">
                  <a:extLst>
                    <a:ext uri="{9D8B030D-6E8A-4147-A177-3AD203B41FA5}">
                      <a16:colId xmlns:a16="http://schemas.microsoft.com/office/drawing/2014/main" val="873994627"/>
                    </a:ext>
                  </a:extLst>
                </a:gridCol>
                <a:gridCol w="488804">
                  <a:extLst>
                    <a:ext uri="{9D8B030D-6E8A-4147-A177-3AD203B41FA5}">
                      <a16:colId xmlns:a16="http://schemas.microsoft.com/office/drawing/2014/main" val="2886581477"/>
                    </a:ext>
                  </a:extLst>
                </a:gridCol>
                <a:gridCol w="488804">
                  <a:extLst>
                    <a:ext uri="{9D8B030D-6E8A-4147-A177-3AD203B41FA5}">
                      <a16:colId xmlns:a16="http://schemas.microsoft.com/office/drawing/2014/main" val="3073461103"/>
                    </a:ext>
                  </a:extLst>
                </a:gridCol>
                <a:gridCol w="512650">
                  <a:extLst>
                    <a:ext uri="{9D8B030D-6E8A-4147-A177-3AD203B41FA5}">
                      <a16:colId xmlns:a16="http://schemas.microsoft.com/office/drawing/2014/main" val="2700790222"/>
                    </a:ext>
                  </a:extLst>
                </a:gridCol>
                <a:gridCol w="488804">
                  <a:extLst>
                    <a:ext uri="{9D8B030D-6E8A-4147-A177-3AD203B41FA5}">
                      <a16:colId xmlns:a16="http://schemas.microsoft.com/office/drawing/2014/main" val="1678550646"/>
                    </a:ext>
                  </a:extLst>
                </a:gridCol>
                <a:gridCol w="4339630">
                  <a:extLst>
                    <a:ext uri="{9D8B030D-6E8A-4147-A177-3AD203B41FA5}">
                      <a16:colId xmlns:a16="http://schemas.microsoft.com/office/drawing/2014/main" val="280742192"/>
                    </a:ext>
                  </a:extLst>
                </a:gridCol>
              </a:tblGrid>
              <a:tr h="457200">
                <a:tc gridSpan="12">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30/03)`</a:t>
                      </a:r>
                    </a:p>
                  </a:txBody>
                  <a:tcPr marL="5748" marR="5748" marT="5748"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403638"/>
                  </a:ext>
                </a:extLst>
              </a:tr>
              <a:tr h="319114">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449092272"/>
                  </a:ext>
                </a:extLst>
              </a:tr>
              <a:tr h="1196400">
                <a:tc>
                  <a:txBody>
                    <a:bodyPr/>
                    <a:lstStyle/>
                    <a:p>
                      <a:pPr algn="ctr" fontAlgn="ctr"/>
                      <a:r>
                        <a:rPr lang="en-US" sz="1200" b="0" i="0" u="none" strike="noStrike">
                          <a:solidFill>
                            <a:srgbClr val="000000"/>
                          </a:solidFill>
                          <a:effectLst/>
                          <a:latin typeface="Times New Roman" panose="02020603050405020304" pitchFamily="18" charset="0"/>
                        </a:rPr>
                        <a:t>1</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- 21317 (A897): Cần giữ giờ 12 ngày.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35412"/>
                  </a:ext>
                </a:extLst>
              </a:tr>
              <a:tr h="600864">
                <a:tc>
                  <a:txBody>
                    <a:bodyPr/>
                    <a:lstStyle/>
                    <a:p>
                      <a:pPr algn="ctr" fontAlgn="ctr"/>
                      <a:r>
                        <a:rPr lang="en-US" sz="1200" b="0" i="0" u="none" strike="noStrike">
                          <a:solidFill>
                            <a:srgbClr val="000000"/>
                          </a:solidFill>
                          <a:effectLst/>
                          <a:latin typeface="Times New Roman" panose="02020603050405020304" pitchFamily="18" charset="0"/>
                        </a:rPr>
                        <a:t>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05/2025: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0.2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A899 Y6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dây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chuyền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A892 C4 do VIP), A891 &amp; A896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1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do </a:t>
                      </a:r>
                      <a:r>
                        <a:rPr lang="en-US" sz="1200" b="0" i="0" u="none" strike="noStrike" dirty="0" err="1">
                          <a:solidFill>
                            <a:srgbClr val="FF0000"/>
                          </a:solidFill>
                          <a:effectLst/>
                          <a:latin typeface="Times New Roman" panose="02020603050405020304" pitchFamily="18" charset="0"/>
                        </a:rPr>
                        <a:t>kết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hợp</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làm</a:t>
                      </a:r>
                      <a:r>
                        <a:rPr lang="en-US" sz="1200" b="0" i="0" u="none" strike="noStrike" dirty="0">
                          <a:solidFill>
                            <a:srgbClr val="FF0000"/>
                          </a:solidFill>
                          <a:effectLst/>
                          <a:latin typeface="Times New Roman" panose="02020603050405020304" pitchFamily="18" charset="0"/>
                        </a:rPr>
                        <a:t> MOD IFC</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67530336"/>
                  </a:ext>
                </a:extLst>
              </a:tr>
              <a:tr h="409123">
                <a:tc>
                  <a:txBody>
                    <a:bodyPr/>
                    <a:lstStyle/>
                    <a:p>
                      <a:pPr algn="ctr" fontAlgn="ctr"/>
                      <a:r>
                        <a:rPr lang="en-US" sz="1200" b="0" i="0" u="none" strike="noStrike">
                          <a:solidFill>
                            <a:srgbClr val="000000"/>
                          </a:solidFill>
                          <a:effectLst/>
                          <a:latin typeface="Times New Roman" panose="02020603050405020304" pitchFamily="18" charset="0"/>
                        </a:rPr>
                        <a:t>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0955945"/>
                  </a:ext>
                </a:extLst>
              </a:tr>
              <a:tr h="409123">
                <a:tc>
                  <a:txBody>
                    <a:bodyPr/>
                    <a:lstStyle/>
                    <a:p>
                      <a:pPr algn="ctr" fontAlgn="ctr"/>
                      <a:r>
                        <a:rPr lang="en-US" sz="1200" b="0" i="0" u="none" strike="noStrike">
                          <a:solidFill>
                            <a:srgbClr val="000000"/>
                          </a:solidFill>
                          <a:effectLst/>
                          <a:latin typeface="Times New Roman" panose="02020603050405020304" pitchFamily="18" charset="0"/>
                        </a:rPr>
                        <a:t>4</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94554386"/>
                  </a:ext>
                </a:extLst>
              </a:tr>
              <a:tr h="409123">
                <a:tc>
                  <a:txBody>
                    <a:bodyPr/>
                    <a:lstStyle/>
                    <a:p>
                      <a:pPr algn="ctr" fontAlgn="ctr"/>
                      <a:r>
                        <a:rPr lang="en-US" sz="1200" b="0" i="0" u="none" strike="noStrike">
                          <a:solidFill>
                            <a:srgbClr val="000000"/>
                          </a:solidFill>
                          <a:effectLst/>
                          <a:latin typeface="Times New Roman" panose="02020603050405020304" pitchFamily="18" charset="0"/>
                        </a:rPr>
                        <a:t>5</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Rủi ro phát sinh tàu AOG do ENG (A863/A861 có giới hạn BSI 50CY).</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960455"/>
                  </a:ext>
                </a:extLst>
              </a:tr>
              <a:tr h="507310">
                <a:tc>
                  <a:txBody>
                    <a:bodyPr/>
                    <a:lstStyle/>
                    <a:p>
                      <a:pPr algn="ctr" fontAlgn="ctr"/>
                      <a:r>
                        <a:rPr lang="en-US" sz="1200" b="0" i="0" u="none" strike="noStrike">
                          <a:solidFill>
                            <a:srgbClr val="000000"/>
                          </a:solidFill>
                          <a:effectLst/>
                          <a:latin typeface="Times New Roman" panose="02020603050405020304" pitchFamily="18" charset="0"/>
                        </a:rPr>
                        <a:t>6</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FF0000"/>
                          </a:solidFill>
                          <a:effectLst/>
                          <a:latin typeface="Times New Roman" panose="02020603050405020304" pitchFamily="18" charset="0"/>
                        </a:rPr>
                        <a:t>- 04/2025: tăng 0.2 tàu A871 hết hạn NN A01 ngày 11/04 =&gt; overlap với A868 thay ENG + A08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995281145"/>
                  </a:ext>
                </a:extLst>
              </a:tr>
              <a:tr h="409123">
                <a:tc>
                  <a:txBody>
                    <a:bodyPr/>
                    <a:lstStyle/>
                    <a:p>
                      <a:pPr algn="ctr" fontAlgn="ctr"/>
                      <a:r>
                        <a:rPr lang="en-US" sz="1200" b="0" i="0" u="none" strike="noStrike">
                          <a:solidFill>
                            <a:srgbClr val="000000"/>
                          </a:solidFill>
                          <a:effectLst/>
                          <a:latin typeface="Times New Roman" panose="02020603050405020304" pitchFamily="18" charset="0"/>
                        </a:rPr>
                        <a:t>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6285805"/>
                  </a:ext>
                </a:extLst>
              </a:tr>
              <a:tr h="409123">
                <a:tc>
                  <a:txBody>
                    <a:bodyPr/>
                    <a:lstStyle/>
                    <a:p>
                      <a:pPr algn="ctr" fontAlgn="ctr"/>
                      <a:r>
                        <a:rPr lang="en-US" sz="1200" b="0" i="0" u="none" strike="noStrike">
                          <a:solidFill>
                            <a:srgbClr val="000000"/>
                          </a:solidFill>
                          <a:effectLst/>
                          <a:latin typeface="Times New Roman" panose="02020603050405020304" pitchFamily="18" charset="0"/>
                        </a:rPr>
                        <a:t>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41610422"/>
                  </a:ext>
                </a:extLst>
              </a:tr>
              <a:tr h="409123">
                <a:tc>
                  <a:txBody>
                    <a:bodyPr/>
                    <a:lstStyle/>
                    <a:p>
                      <a:pPr algn="ctr" fontAlgn="ctr"/>
                      <a:r>
                        <a:rPr lang="en-US" sz="1200" b="0" i="0" u="none" strike="noStrike">
                          <a:solidFill>
                            <a:srgbClr val="000000"/>
                          </a:solidFill>
                          <a:effectLst/>
                          <a:latin typeface="Times New Roman" panose="02020603050405020304" pitchFamily="18" charset="0"/>
                        </a:rPr>
                        <a:t>9</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192691"/>
                  </a:ext>
                </a:extLst>
              </a:tr>
              <a:tr h="409123">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24.6</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25.2</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128971170"/>
                  </a:ext>
                </a:extLst>
              </a:tr>
            </a:tbl>
          </a:graphicData>
        </a:graphic>
      </p:graphicFrame>
    </p:spTree>
    <p:extLst>
      <p:ext uri="{BB962C8B-B14F-4D97-AF65-F5344CB8AC3E}">
        <p14:creationId xmlns:p14="http://schemas.microsoft.com/office/powerpoint/2010/main" val="36762107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42</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13</a:t>
            </a:r>
            <a:endParaRPr lang="vi-VN" sz="2700" dirty="0"/>
          </a:p>
        </p:txBody>
      </p:sp>
      <p:sp>
        <p:nvSpPr>
          <p:cNvPr id="24" name="TextBox 23"/>
          <p:cNvSpPr txBox="1"/>
          <p:nvPr/>
        </p:nvSpPr>
        <p:spPr>
          <a:xfrm>
            <a:off x="365448" y="3761024"/>
            <a:ext cx="11688720" cy="290464"/>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365448" y="2667000"/>
            <a:ext cx="11674151" cy="110799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09ea,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08 ea.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04</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04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b="1" dirty="0">
                <a:latin typeface="Times New Roman" panose="02020603050405020304" pitchFamily="18" charset="0"/>
                <a:cs typeface="Times New Roman" panose="02020603050405020304" pitchFamily="18" charset="0"/>
              </a:rPr>
              <a:t>Hỏng hóc oven: </a:t>
            </a:r>
            <a:r>
              <a:rPr lang="en-US" sz="1100" dirty="0">
                <a:solidFill>
                  <a:schemeClr val="tx1"/>
                </a:solidFill>
                <a:latin typeface="Times New Roman" panose="02020603050405020304" pitchFamily="18" charset="0"/>
                <a:cs typeface="Times New Roman" panose="02020603050405020304" pitchFamily="18" charset="0"/>
              </a:rPr>
              <a:t>hỏng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16ea, khắc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07ea,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09ea (Oven </a:t>
            </a:r>
            <a:r>
              <a:rPr lang="en-US" sz="1100" dirty="0" err="1">
                <a:solidFill>
                  <a:schemeClr val="tx1"/>
                </a:solidFill>
                <a:latin typeface="Times New Roman" panose="02020603050405020304" pitchFamily="18" charset="0"/>
                <a:cs typeface="Times New Roman" panose="02020603050405020304" pitchFamily="18" charset="0"/>
              </a:rPr>
              <a:t>tàu</a:t>
            </a:r>
            <a:r>
              <a:rPr lang="en-US" sz="1100" dirty="0">
                <a:solidFill>
                  <a:schemeClr val="tx1"/>
                </a:solidFill>
                <a:latin typeface="Times New Roman" panose="02020603050405020304" pitchFamily="18" charset="0"/>
                <a:cs typeface="Times New Roman" panose="02020603050405020304" pitchFamily="18" charset="0"/>
              </a:rPr>
              <a:t> A350A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nhiều</a:t>
            </a:r>
            <a:r>
              <a:rPr lang="en-US" sz="1100" dirty="0">
                <a:solidFill>
                  <a:schemeClr val="tx1"/>
                </a:solidFill>
                <a:latin typeface="Times New Roman" panose="02020603050405020304" pitchFamily="18" charset="0"/>
                <a:cs typeface="Times New Roman" panose="02020603050405020304" pitchFamily="18" charset="0"/>
              </a:rPr>
              <a:t>, obsolete =&gt; </a:t>
            </a:r>
            <a:r>
              <a:rPr lang="en-US" sz="1100" dirty="0" err="1">
                <a:solidFill>
                  <a:schemeClr val="tx1"/>
                </a:solidFill>
                <a:latin typeface="Times New Roman" panose="02020603050405020304" pitchFamily="18" charset="0"/>
                <a:cs typeface="Times New Roman" panose="02020603050405020304" pitchFamily="18" charset="0"/>
              </a:rPr>
              <a:t>làm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việc</a:t>
            </a:r>
            <a:r>
              <a:rPr lang="en-US" sz="1100" dirty="0">
                <a:solidFill>
                  <a:schemeClr val="tx1"/>
                </a:solidFill>
                <a:latin typeface="Times New Roman" panose="02020603050405020304" pitchFamily="18" charset="0"/>
                <a:cs typeface="Times New Roman" panose="02020603050405020304" pitchFamily="18" charset="0"/>
              </a:rPr>
              <a:t> Safran </a:t>
            </a:r>
            <a:r>
              <a:rPr lang="en-US" sz="1100" dirty="0" err="1">
                <a:solidFill>
                  <a:schemeClr val="tx1"/>
                </a:solidFill>
                <a:latin typeface="Times New Roman" panose="02020603050405020304" pitchFamily="18" charset="0"/>
                <a:cs typeface="Times New Roman" panose="02020603050405020304" pitchFamily="18" charset="0"/>
              </a:rPr>
              <a:t>phương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án</a:t>
            </a:r>
            <a:r>
              <a:rPr lang="en-US" sz="1100" dirty="0">
                <a:solidFill>
                  <a:schemeClr val="tx1"/>
                </a:solidFill>
                <a:latin typeface="Times New Roman" panose="02020603050405020304" pitchFamily="18" charset="0"/>
                <a:cs typeface="Times New Roman" panose="02020603050405020304" pitchFamily="18" charset="0"/>
              </a:rPr>
              <a:t> retrofit)</a:t>
            </a:r>
          </a:p>
          <a:p>
            <a:pPr marL="285750" indent="-285750">
              <a:buClr>
                <a:srgbClr val="000000"/>
              </a:buClr>
              <a:buSzPts val="1300"/>
              <a:buFont typeface="Times New Roman" panose="02020603050405020304" pitchFamily="18" charset="0"/>
              <a:buChar char="⁃"/>
            </a:pPr>
            <a:r>
              <a:rPr lang="en-US" sz="1100" b="1" dirty="0">
                <a:solidFill>
                  <a:schemeClr val="tx1"/>
                </a:solidFill>
                <a:latin typeface="Times New Roman" panose="02020603050405020304" pitchFamily="18" charset="0"/>
                <a:cs typeface="Times New Roman" panose="02020603050405020304" pitchFamily="18" charset="0"/>
              </a:rPr>
              <a:t>Boiler: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04ea,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p:txBody>
      </p:sp>
      <p:sp>
        <p:nvSpPr>
          <p:cNvPr id="23" name="TextBox 22"/>
          <p:cNvSpPr txBox="1"/>
          <p:nvPr/>
        </p:nvSpPr>
        <p:spPr>
          <a:xfrm>
            <a:off x="365449" y="1295400"/>
            <a:ext cx="11674150"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917</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127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180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12: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05 ea,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40ea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a:t>
            </a:r>
          </a:p>
        </p:txBody>
      </p:sp>
      <p:sp>
        <p:nvSpPr>
          <p:cNvPr id="25" name="TextBox 24"/>
          <p:cNvSpPr txBox="1"/>
          <p:nvPr/>
        </p:nvSpPr>
        <p:spPr>
          <a:xfrm>
            <a:off x="366569" y="1887698"/>
            <a:ext cx="11673030" cy="76944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Toilet Assy: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05 </a:t>
            </a:r>
            <a:r>
              <a:rPr lang="en-US" sz="1100" dirty="0" err="1">
                <a:solidFill>
                  <a:schemeClr val="tx1"/>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05ea,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00ea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Faucet Assy: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00ea,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00ea,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13: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225 (</a:t>
            </a:r>
            <a:r>
              <a:rPr lang="en-US" sz="1100" dirty="0" err="1">
                <a:latin typeface="Times New Roman" panose="02020603050405020304" pitchFamily="18" charset="0"/>
                <a:cs typeface="Times New Roman" panose="02020603050405020304" pitchFamily="18" charset="0"/>
              </a:rPr>
              <a:t>tăng</a:t>
            </a:r>
            <a:r>
              <a:rPr lang="en-US" sz="1100" dirty="0">
                <a:latin typeface="Times New Roman" panose="02020603050405020304" pitchFamily="18" charset="0"/>
                <a:cs typeface="Times New Roman" panose="02020603050405020304" pitchFamily="18" charset="0"/>
              </a:rPr>
              <a:t> 2%),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90 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135ADD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3%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12).</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49" y="685800"/>
            <a:ext cx="11674150"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13</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03,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03,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13,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06,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07</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4212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344424"/>
            <a:ext cx="10820401" cy="461624"/>
          </a:xfrm>
          <a:prstGeom prst="rect">
            <a:avLst/>
          </a:prstGeom>
          <a:noFill/>
          <a:ln>
            <a:noFill/>
          </a:ln>
        </p:spPr>
        <p:txBody>
          <a:bodyPr spcFirstLastPara="1" wrap="square" lIns="91433" tIns="45700" rIns="91433" bIns="45700" anchor="t" anchorCtr="0">
            <a:spAutoFit/>
          </a:bodyPr>
          <a:lstStyle/>
          <a:p>
            <a:pPr lvl="0" algn="ctr"/>
            <a:r>
              <a:rPr lang="en-US" sz="24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400" dirty="0"/>
          </a:p>
        </p:txBody>
      </p:sp>
      <p:sp>
        <p:nvSpPr>
          <p:cNvPr id="66" name="Google Shape;66;p6"/>
          <p:cNvSpPr txBox="1"/>
          <p:nvPr/>
        </p:nvSpPr>
        <p:spPr>
          <a:xfrm>
            <a:off x="1021980" y="828460"/>
            <a:ext cx="10439398" cy="5793853"/>
          </a:xfrm>
          <a:prstGeom prst="rect">
            <a:avLst/>
          </a:prstGeom>
          <a:noFill/>
          <a:ln>
            <a:noFill/>
          </a:ln>
        </p:spPr>
        <p:txBody>
          <a:bodyPr spcFirstLastPara="1" wrap="square" lIns="91433" tIns="45700" rIns="91433" bIns="45700" anchor="t" anchorCtr="0">
            <a:spAutoFit/>
          </a:bodyPr>
          <a:lstStyle/>
          <a:p>
            <a:pPr lvl="0" algn="just">
              <a:lnSpc>
                <a:spcPct val="150000"/>
              </a:lnSpc>
            </a:pPr>
            <a:r>
              <a:rPr lang="en-US" sz="1300" b="1" dirty="0">
                <a:latin typeface="Times New Roman" panose="02020603050405020304" pitchFamily="18" charset="0"/>
                <a:cs typeface="Times New Roman" panose="02020603050405020304" pitchFamily="18" charset="0"/>
              </a:rPr>
              <a:t>GIA HẠN THUÊ 10 TÀU VALC </a:t>
            </a:r>
          </a:p>
          <a:p>
            <a:pPr algn="just">
              <a:lnSpc>
                <a:spcPct val="150000"/>
              </a:lnSpc>
            </a:pPr>
            <a:r>
              <a:rPr lang="en-US" sz="1300" dirty="0">
                <a:latin typeface="Times New Roman" panose="02020603050405020304" pitchFamily="18" charset="0"/>
                <a:cs typeface="Times New Roman" panose="02020603050405020304" pitchFamily="18" charset="0"/>
              </a:rPr>
              <a:t>VNA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VALC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đồng</a:t>
            </a:r>
            <a:r>
              <a:rPr lang="en-US" sz="1300" dirty="0">
                <a:latin typeface="Times New Roman" panose="02020603050405020304" pitchFamily="18" charset="0"/>
                <a:cs typeface="Times New Roman" panose="02020603050405020304" pitchFamily="18" charset="0"/>
              </a:rPr>
              <a:t> ý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thời</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hết</a:t>
            </a:r>
            <a:r>
              <a:rPr lang="en-US" sz="1300" dirty="0">
                <a:latin typeface="Times New Roman" panose="02020603050405020304" pitchFamily="18" charset="0"/>
                <a:cs typeface="Times New Roman" panose="02020603050405020304" pitchFamily="18" charset="0"/>
              </a:rPr>
              <a:t> 31/03/2025.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02 </a:t>
            </a:r>
            <a:r>
              <a:rPr lang="en-US" sz="1300" dirty="0" err="1">
                <a:latin typeface="Times New Roman" panose="02020603050405020304" pitchFamily="18" charset="0"/>
                <a:cs typeface="Times New Roman" panose="02020603050405020304" pitchFamily="18" charset="0"/>
              </a:rPr>
              <a:t>đối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tâm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mua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lại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bay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Arena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FTAI. </a:t>
            </a:r>
            <a:r>
              <a:rPr lang="en-US" sz="1300" dirty="0" err="1">
                <a:latin typeface="Times New Roman" panose="02020603050405020304" pitchFamily="18" charset="0"/>
                <a:cs typeface="Times New Roman" panose="02020603050405020304" pitchFamily="18" charset="0"/>
              </a:rPr>
              <a:t>Thủ</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tục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của</a:t>
            </a:r>
            <a:r>
              <a:rPr lang="en-US" sz="1300" dirty="0">
                <a:latin typeface="Times New Roman" panose="02020603050405020304" pitchFamily="18" charset="0"/>
                <a:cs typeface="Times New Roman" panose="02020603050405020304" pitchFamily="18" charset="0"/>
              </a:rPr>
              <a:t> VALC </a:t>
            </a:r>
            <a:r>
              <a:rPr lang="en-US" sz="1300" dirty="0" err="1">
                <a:latin typeface="Times New Roman" panose="02020603050405020304" pitchFamily="18" charset="0"/>
                <a:cs typeface="Times New Roman" panose="02020603050405020304" pitchFamily="18" charset="0"/>
              </a:rPr>
              <a:t>chậm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hợp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tiếp</a:t>
            </a:r>
            <a:r>
              <a:rPr lang="en-US" sz="1300" dirty="0">
                <a:latin typeface="Times New Roman" panose="02020603050405020304" pitchFamily="18" charset="0"/>
                <a:cs typeface="Times New Roman" panose="02020603050405020304" pitchFamily="18" charset="0"/>
              </a:rPr>
              <a:t> 3 </a:t>
            </a:r>
            <a:r>
              <a:rPr lang="en-US" sz="1300" dirty="0" err="1">
                <a:latin typeface="Times New Roman" panose="02020603050405020304" pitchFamily="18" charset="0"/>
                <a:cs typeface="Times New Roman" panose="02020603050405020304" pitchFamily="18" charset="0"/>
              </a:rPr>
              <a:t>tháng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30/06/2025 (</a:t>
            </a:r>
            <a:r>
              <a:rPr lang="en-US" sz="1300" dirty="0" err="1">
                <a:latin typeface="Times New Roman" panose="02020603050405020304" pitchFamily="18" charset="0"/>
                <a:cs typeface="Times New Roman" panose="02020603050405020304" pitchFamily="18" charset="0"/>
              </a:rPr>
              <a:t>thủ</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tục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bản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hoàn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thành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chờ</a:t>
            </a:r>
            <a:r>
              <a:rPr lang="en-US" sz="1300" dirty="0">
                <a:latin typeface="Times New Roman" panose="02020603050405020304" pitchFamily="18" charset="0"/>
                <a:cs typeface="Times New Roman" panose="02020603050405020304" pitchFamily="18" charset="0"/>
              </a:rPr>
              <a:t> TGĐ </a:t>
            </a:r>
            <a:r>
              <a:rPr lang="en-US" sz="1300" dirty="0" err="1">
                <a:latin typeface="Times New Roman" panose="02020603050405020304" pitchFamily="18" charset="0"/>
                <a:cs typeface="Times New Roman" panose="02020603050405020304" pitchFamily="18" charset="0"/>
              </a:rPr>
              <a:t>ký</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phụ</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lục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HĐ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a:t>
            </a:r>
          </a:p>
          <a:p>
            <a:pPr lvl="0" algn="just">
              <a:lnSpc>
                <a:spcPct val="150000"/>
              </a:lnSpc>
            </a:pPr>
            <a:r>
              <a:rPr lang="en-US" sz="1300" dirty="0">
                <a:latin typeface="Times New Roman" panose="02020603050405020304" pitchFamily="18" charset="0"/>
                <a:cs typeface="Times New Roman" panose="02020603050405020304" pitchFamily="18" charset="0"/>
              </a:rPr>
              <a:t>1,  Arena: </a:t>
            </a:r>
            <a:r>
              <a:rPr lang="en-US" sz="1300" dirty="0" err="1">
                <a:latin typeface="Times New Roman" panose="02020603050405020304" pitchFamily="18" charset="0"/>
                <a:cs typeface="Times New Roman" panose="02020603050405020304" pitchFamily="18" charset="0"/>
              </a:rPr>
              <a:t>Bản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chào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A321 </a:t>
            </a:r>
            <a:r>
              <a:rPr lang="en-US" sz="1300" dirty="0" err="1">
                <a:latin typeface="Times New Roman" panose="02020603050405020304" pitchFamily="18" charset="0"/>
                <a:cs typeface="Times New Roman" panose="02020603050405020304" pitchFamily="18" charset="0"/>
              </a:rPr>
              <a:t>với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thời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trung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bình</a:t>
            </a:r>
            <a:r>
              <a:rPr lang="en-US" sz="1300" dirty="0">
                <a:latin typeface="Times New Roman" panose="02020603050405020304" pitchFamily="18" charset="0"/>
                <a:cs typeface="Times New Roman" panose="02020603050405020304" pitchFamily="18" charset="0"/>
              </a:rPr>
              <a:t> 5 </a:t>
            </a:r>
            <a:r>
              <a:rPr lang="en-US" sz="1300" dirty="0" err="1">
                <a:latin typeface="Times New Roman" panose="02020603050405020304" pitchFamily="18" charset="0"/>
                <a:cs typeface="Times New Roman" panose="02020603050405020304" pitchFamily="18" charset="0"/>
              </a:rPr>
              <a:t>năm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trong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trình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đàm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bản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đàm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thống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nhất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nội</a:t>
            </a:r>
            <a:r>
              <a:rPr lang="en-US" sz="1300" dirty="0">
                <a:latin typeface="Times New Roman" panose="02020603050405020304" pitchFamily="18" charset="0"/>
                <a:cs typeface="Times New Roman" panose="02020603050405020304" pitchFamily="18" charset="0"/>
              </a:rPr>
              <a:t> dung </a:t>
            </a:r>
            <a:r>
              <a:rPr lang="en-US" sz="1300" dirty="0" err="1">
                <a:latin typeface="Times New Roman" panose="02020603050405020304" pitchFamily="18" charset="0"/>
                <a:cs typeface="Times New Roman" panose="02020603050405020304" pitchFamily="18" charset="0"/>
              </a:rPr>
              <a:t>liên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tới</a:t>
            </a:r>
            <a:r>
              <a:rPr lang="en-US" sz="1300" dirty="0">
                <a:latin typeface="Times New Roman" panose="02020603050405020304" pitchFamily="18" charset="0"/>
                <a:cs typeface="Times New Roman" panose="02020603050405020304" pitchFamily="18" charset="0"/>
              </a:rPr>
              <a:t> KT</a:t>
            </a:r>
          </a:p>
          <a:p>
            <a:pPr lvl="0" algn="just">
              <a:lnSpc>
                <a:spcPct val="150000"/>
              </a:lnSpc>
            </a:pP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vấn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đề</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lớn</a:t>
            </a:r>
            <a:r>
              <a:rPr lang="en-US" sz="1300" dirty="0">
                <a:latin typeface="Times New Roman" panose="02020603050405020304" pitchFamily="18" charset="0"/>
                <a:cs typeface="Times New Roman" panose="02020603050405020304" pitchFamily="18" charset="0"/>
              </a:rPr>
              <a:t> / </a:t>
            </a:r>
            <a:r>
              <a:rPr lang="en-US" sz="1300" dirty="0" err="1">
                <a:latin typeface="Times New Roman" panose="02020603050405020304" pitchFamily="18" charset="0"/>
                <a:cs typeface="Times New Roman" panose="02020603050405020304" pitchFamily="18" charset="0"/>
              </a:rPr>
              <a:t>cơ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bản</a:t>
            </a:r>
            <a:r>
              <a:rPr lang="en-US" sz="1300" dirty="0">
                <a:latin typeface="Times New Roman" panose="02020603050405020304" pitchFamily="18" charset="0"/>
                <a:cs typeface="Times New Roman" panose="02020603050405020304" pitchFamily="18" charset="0"/>
              </a:rPr>
              <a:t> Arena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đề</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xuất</a:t>
            </a:r>
            <a:r>
              <a:rPr lang="en-US" sz="1300" dirty="0">
                <a:latin typeface="Times New Roman" panose="02020603050405020304" pitchFamily="18" charset="0"/>
                <a:cs typeface="Times New Roman" panose="02020603050405020304" pitchFamily="18" charset="0"/>
              </a:rPr>
              <a:t>:</a:t>
            </a:r>
          </a:p>
          <a:p>
            <a:pPr lvl="1" algn="just">
              <a:lnSpc>
                <a:spcPct val="150000"/>
              </a:lnSpc>
            </a:pPr>
            <a:r>
              <a:rPr lang="en-US" sz="1300" dirty="0">
                <a:latin typeface="Times New Roman" panose="02020603050405020304" pitchFamily="18" charset="0"/>
                <a:cs typeface="Times New Roman" panose="02020603050405020304" pitchFamily="18" charset="0"/>
              </a:rPr>
              <a:t>a.  </a:t>
            </a:r>
            <a:r>
              <a:rPr lang="vi-VN" sz="13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lnSpc>
                <a:spcPct val="150000"/>
              </a:lnSpc>
            </a:pPr>
            <a:r>
              <a:rPr lang="en-US" sz="1300" dirty="0">
                <a:latin typeface="Times New Roman" panose="02020603050405020304" pitchFamily="18" charset="0"/>
                <a:cs typeface="Times New Roman" panose="02020603050405020304" pitchFamily="18" charset="0"/>
              </a:rPr>
              <a:t>b.  </a:t>
            </a:r>
            <a:r>
              <a:rPr lang="vi-VN" sz="13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lnSpc>
                <a:spcPct val="150000"/>
              </a:lnSpc>
            </a:pPr>
            <a:r>
              <a:rPr lang="en-US" sz="1300" dirty="0">
                <a:latin typeface="Times New Roman" panose="02020603050405020304" pitchFamily="18" charset="0"/>
                <a:cs typeface="Times New Roman" panose="02020603050405020304" pitchFamily="18" charset="0"/>
              </a:rPr>
              <a:t>c.  </a:t>
            </a:r>
            <a:r>
              <a:rPr lang="vi-VN" sz="1300" dirty="0">
                <a:latin typeface="Times New Roman" panose="02020603050405020304" pitchFamily="18" charset="0"/>
                <a:cs typeface="Times New Roman" panose="02020603050405020304" pitchFamily="18" charset="0"/>
              </a:rPr>
              <a:t>Đồng ý giảm MR và đề xuất phương án buy-out</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cho </a:t>
            </a:r>
            <a:r>
              <a:rPr lang="en-US" sz="1300" dirty="0" err="1">
                <a:latin typeface="Times New Roman" panose="02020603050405020304" pitchFamily="18" charset="0"/>
                <a:cs typeface="Times New Roman" panose="02020603050405020304" pitchFamily="18" charset="0"/>
              </a:rPr>
              <a:t>một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điều kiện trả</a:t>
            </a:r>
            <a:r>
              <a:rPr lang="en-US" sz="1300" dirty="0">
                <a:latin typeface="Times New Roman" panose="02020603050405020304" pitchFamily="18" charset="0"/>
                <a:cs typeface="Times New Roman" panose="02020603050405020304" pitchFamily="18" charset="0"/>
              </a:rPr>
              <a:t>.</a:t>
            </a:r>
          </a:p>
          <a:p>
            <a:pPr algn="just">
              <a:lnSpc>
                <a:spcPct val="150000"/>
              </a:lnSpc>
            </a:pPr>
            <a:r>
              <a:rPr lang="en-US" sz="1300" dirty="0">
                <a:latin typeface="Times New Roman" panose="02020603050405020304" pitchFamily="18" charset="0"/>
                <a:cs typeface="Times New Roman" panose="02020603050405020304" pitchFamily="18" charset="0"/>
              </a:rPr>
              <a:t>2,  FTAI: </a:t>
            </a:r>
            <a:r>
              <a:rPr lang="en-US" sz="1300" dirty="0" err="1">
                <a:latin typeface="Times New Roman" panose="02020603050405020304" pitchFamily="18" charset="0"/>
                <a:cs typeface="Times New Roman" panose="02020603050405020304" pitchFamily="18" charset="0"/>
              </a:rPr>
              <a:t>Bản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chào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A321 </a:t>
            </a:r>
            <a:r>
              <a:rPr lang="en-US" sz="1300" dirty="0" err="1">
                <a:latin typeface="Times New Roman" panose="02020603050405020304" pitchFamily="18" charset="0"/>
                <a:cs typeface="Times New Roman" panose="02020603050405020304" pitchFamily="18" charset="0"/>
              </a:rPr>
              <a:t>với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điều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As-is,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đảm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bảo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hỗ</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động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hết</a:t>
            </a:r>
            <a:r>
              <a:rPr lang="en-US" sz="1300" dirty="0">
                <a:latin typeface="Times New Roman" panose="02020603050405020304" pitchFamily="18" charset="0"/>
                <a:cs typeface="Times New Roman" panose="02020603050405020304" pitchFamily="18" charset="0"/>
              </a:rPr>
              <a:t> run-out. </a:t>
            </a:r>
            <a:r>
              <a:rPr lang="en-US" sz="1300" dirty="0" err="1">
                <a:latin typeface="Times New Roman" panose="02020603050405020304" pitchFamily="18" charset="0"/>
                <a:cs typeface="Times New Roman" panose="02020603050405020304" pitchFamily="18" charset="0"/>
              </a:rPr>
              <a:t>Không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phải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đóng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quỹ</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ngoại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trừ</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động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chào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nhiều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thuận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lợi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cho</a:t>
            </a:r>
            <a:r>
              <a:rPr lang="en-US" sz="1300" dirty="0">
                <a:latin typeface="Times New Roman" panose="02020603050405020304" pitchFamily="18" charset="0"/>
                <a:cs typeface="Times New Roman" panose="02020603050405020304" pitchFamily="18" charset="0"/>
              </a:rPr>
              <a:t> VNA </a:t>
            </a:r>
            <a:r>
              <a:rPr lang="en-US" sz="1300" dirty="0" err="1">
                <a:latin typeface="Times New Roman" panose="02020603050405020304" pitchFamily="18" charset="0"/>
                <a:cs typeface="Times New Roman" panose="02020603050405020304" pitchFamily="18" charset="0"/>
              </a:rPr>
              <a:t>trong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trình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bay. </a:t>
            </a:r>
          </a:p>
          <a:p>
            <a:pPr algn="just">
              <a:lnSpc>
                <a:spcPct val="150000"/>
              </a:lnSpc>
            </a:pPr>
            <a:r>
              <a:rPr lang="en-US" sz="1300" b="1" dirty="0" err="1">
                <a:latin typeface="Times New Roman" panose="02020603050405020304" pitchFamily="18" charset="0"/>
                <a:cs typeface="Times New Roman" panose="02020603050405020304" pitchFamily="18" charset="0"/>
              </a:rPr>
              <a:t>Đã</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có</a:t>
            </a:r>
            <a:r>
              <a:rPr lang="en-US" sz="1300" b="1" dirty="0">
                <a:latin typeface="Times New Roman" panose="02020603050405020304" pitchFamily="18" charset="0"/>
                <a:cs typeface="Times New Roman" panose="02020603050405020304" pitchFamily="18" charset="0"/>
              </a:rPr>
              <a:t> 2 </a:t>
            </a:r>
            <a:r>
              <a:rPr lang="en-US" sz="1300" b="1" dirty="0" err="1">
                <a:latin typeface="Times New Roman" panose="02020603050405020304" pitchFamily="18" charset="0"/>
                <a:cs typeface="Times New Roman" panose="02020603050405020304" pitchFamily="18" charset="0"/>
              </a:rPr>
              <a:t>đối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tác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thực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hiện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kiểm</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tra</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tàu</a:t>
            </a:r>
            <a:r>
              <a:rPr lang="en-US" sz="1300" b="1" dirty="0">
                <a:latin typeface="Times New Roman" panose="02020603050405020304" pitchFamily="18" charset="0"/>
                <a:cs typeface="Times New Roman" panose="02020603050405020304" pitchFamily="18" charset="0"/>
              </a:rPr>
              <a:t> bay </a:t>
            </a:r>
            <a:r>
              <a:rPr lang="en-US" sz="1300" b="1" dirty="0" err="1">
                <a:latin typeface="Times New Roman" panose="02020603050405020304" pitchFamily="18" charset="0"/>
                <a:cs typeface="Times New Roman" panose="02020603050405020304" pitchFamily="18" charset="0"/>
              </a:rPr>
              <a:t>và</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tài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liệu</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phục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vụ</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công</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tác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bán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tàu</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của</a:t>
            </a:r>
            <a:r>
              <a:rPr lang="en-US" sz="1300" b="1" dirty="0">
                <a:latin typeface="Times New Roman" panose="02020603050405020304" pitchFamily="18" charset="0"/>
                <a:cs typeface="Times New Roman" panose="02020603050405020304" pitchFamily="18" charset="0"/>
              </a:rPr>
              <a:t> VALC </a:t>
            </a:r>
            <a:r>
              <a:rPr lang="en-US" sz="1300" b="1" dirty="0" err="1">
                <a:latin typeface="Times New Roman" panose="02020603050405020304" pitchFamily="18" charset="0"/>
                <a:cs typeface="Times New Roman" panose="02020603050405020304" pitchFamily="18" charset="0"/>
              </a:rPr>
              <a:t>là</a:t>
            </a:r>
            <a:r>
              <a:rPr lang="en-US" sz="1300" b="1" dirty="0">
                <a:latin typeface="Times New Roman" panose="02020603050405020304" pitchFamily="18" charset="0"/>
                <a:cs typeface="Times New Roman" panose="02020603050405020304" pitchFamily="18" charset="0"/>
              </a:rPr>
              <a:t> Arena </a:t>
            </a:r>
            <a:r>
              <a:rPr lang="en-US" sz="1300" b="1" dirty="0" err="1">
                <a:latin typeface="Times New Roman" panose="02020603050405020304" pitchFamily="18" charset="0"/>
                <a:cs typeface="Times New Roman" panose="02020603050405020304" pitchFamily="18" charset="0"/>
              </a:rPr>
              <a:t>và</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XAero</a:t>
            </a:r>
            <a:r>
              <a:rPr lang="en-US" sz="1300" b="1" dirty="0">
                <a:latin typeface="Times New Roman" panose="02020603050405020304" pitchFamily="18" charset="0"/>
                <a:cs typeface="Times New Roman" panose="02020603050405020304" pitchFamily="18" charset="0"/>
              </a:rPr>
              <a:t>. Các </a:t>
            </a:r>
            <a:r>
              <a:rPr lang="en-US" sz="1300" b="1" dirty="0" err="1">
                <a:latin typeface="Times New Roman" panose="02020603050405020304" pitchFamily="18" charset="0"/>
                <a:cs typeface="Times New Roman" panose="02020603050405020304" pitchFamily="18" charset="0"/>
              </a:rPr>
              <a:t>đối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tác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này</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đã</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kiểm</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tra</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xong</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tàu</a:t>
            </a:r>
            <a:r>
              <a:rPr lang="en-US" sz="1300" b="1" dirty="0">
                <a:latin typeface="Times New Roman" panose="02020603050405020304" pitchFamily="18" charset="0"/>
                <a:cs typeface="Times New Roman" panose="02020603050405020304" pitchFamily="18" charset="0"/>
              </a:rPr>
              <a:t> bay </a:t>
            </a:r>
            <a:r>
              <a:rPr lang="en-US" sz="1300" b="1" dirty="0" err="1">
                <a:latin typeface="Times New Roman" panose="02020603050405020304" pitchFamily="18" charset="0"/>
                <a:cs typeface="Times New Roman" panose="02020603050405020304" pitchFamily="18" charset="0"/>
              </a:rPr>
              <a:t>và</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tài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liệu</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kiểm</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tra</a:t>
            </a:r>
            <a:r>
              <a:rPr lang="en-US" sz="1300" b="1" dirty="0">
                <a:latin typeface="Times New Roman" panose="02020603050405020304" pitchFamily="18" charset="0"/>
                <a:cs typeface="Times New Roman" panose="02020603050405020304" pitchFamily="18" charset="0"/>
              </a:rPr>
              <a:t> 05 </a:t>
            </a:r>
            <a:r>
              <a:rPr lang="en-US" sz="1300" b="1" dirty="0" err="1">
                <a:latin typeface="Times New Roman" panose="02020603050405020304" pitchFamily="18" charset="0"/>
                <a:cs typeface="Times New Roman" panose="02020603050405020304" pitchFamily="18" charset="0"/>
              </a:rPr>
              <a:t>tàu</a:t>
            </a:r>
            <a:r>
              <a:rPr lang="en-US" sz="1300" b="1" dirty="0">
                <a:latin typeface="Times New Roman" panose="02020603050405020304" pitchFamily="18" charset="0"/>
                <a:cs typeface="Times New Roman" panose="02020603050405020304" pitchFamily="18" charset="0"/>
              </a:rPr>
              <a:t> bay VN-A397(VAECO-HCM) </a:t>
            </a:r>
            <a:r>
              <a:rPr lang="en-US" sz="1300" b="1" dirty="0" err="1">
                <a:latin typeface="Times New Roman" panose="02020603050405020304" pitchFamily="18" charset="0"/>
                <a:cs typeface="Times New Roman" panose="02020603050405020304" pitchFamily="18" charset="0"/>
              </a:rPr>
              <a:t>và</a:t>
            </a:r>
            <a:r>
              <a:rPr lang="en-US" sz="1300" b="1" dirty="0">
                <a:latin typeface="Times New Roman" panose="02020603050405020304" pitchFamily="18" charset="0"/>
                <a:cs typeface="Times New Roman" panose="02020603050405020304" pitchFamily="18" charset="0"/>
              </a:rPr>
              <a:t> VN-A338/A392/A395/A604(VAECO-HAN)). </a:t>
            </a:r>
          </a:p>
          <a:p>
            <a:pPr algn="just">
              <a:lnSpc>
                <a:spcPct val="150000"/>
              </a:lnSpc>
            </a:pPr>
            <a:endParaRPr lang="en-US" sz="1300" b="1" dirty="0">
              <a:latin typeface="Times New Roman" panose="02020603050405020304" pitchFamily="18" charset="0"/>
              <a:cs typeface="Times New Roman" panose="02020603050405020304" pitchFamily="18" charset="0"/>
            </a:endParaRPr>
          </a:p>
          <a:p>
            <a:pPr algn="just">
              <a:lnSpc>
                <a:spcPct val="150000"/>
              </a:lnSpc>
            </a:pPr>
            <a:r>
              <a:rPr lang="en-US" sz="1300" b="1" dirty="0">
                <a:latin typeface="Times New Roman" panose="02020603050405020304" pitchFamily="18" charset="0"/>
                <a:cs typeface="Times New Roman" panose="02020603050405020304" pitchFamily="18" charset="0"/>
              </a:rPr>
              <a:t>DỰ ÁN 50 TÀU BAY THÂN HẸP</a:t>
            </a:r>
          </a:p>
          <a:p>
            <a:pPr algn="just">
              <a:lnSpc>
                <a:spcPct val="150000"/>
              </a:lnSpc>
            </a:pPr>
            <a:r>
              <a:rPr lang="vi-VN" sz="1300" dirty="0">
                <a:latin typeface="Times New Roman" panose="02020603050405020304" pitchFamily="18" charset="0"/>
                <a:cs typeface="Times New Roman" panose="02020603050405020304" pitchFamily="18" charset="0"/>
              </a:rPr>
              <a:t>Tổ thuê mua tàu bay vẫn tiếp tục chủ trì phối hợp với các </a:t>
            </a:r>
            <a:r>
              <a:rPr lang="en-US" sz="1300" dirty="0">
                <a:latin typeface="Times New Roman" panose="02020603050405020304" pitchFamily="18" charset="0"/>
                <a:cs typeface="Times New Roman" panose="02020603050405020304" pitchFamily="18" charset="0"/>
              </a:rPr>
              <a:t>CQĐV</a:t>
            </a:r>
            <a:r>
              <a:rPr lang="vi-VN" sz="1300" dirty="0">
                <a:latin typeface="Times New Roman" panose="02020603050405020304" pitchFamily="18" charset="0"/>
                <a:cs typeface="Times New Roman" panose="02020603050405020304" pitchFamily="18" charset="0"/>
              </a:rPr>
              <a:t> chuyên môn làm việc với Boeing để có số liệu cuối cùng tính toán hiệu quả khả thi dự án đầu tư báo cáo cấp có thẩm quyền. Ở góc độ Ban KT 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dự</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kiến</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tổ chức cuộc hội thảo với Boeing vào 1/4 và 2/4 để đánh giá các vấn đề khi khai thác 737 </a:t>
            </a:r>
            <a:r>
              <a:rPr lang="en-US" sz="1300">
                <a:latin typeface="Times New Roman" panose="02020603050405020304" pitchFamily="18" charset="0"/>
                <a:cs typeface="Times New Roman" panose="02020603050405020304" pitchFamily="18" charset="0"/>
              </a:rPr>
              <a:t>M</a:t>
            </a:r>
            <a:r>
              <a:rPr lang="vi-VN" sz="1300">
                <a:latin typeface="Times New Roman" panose="02020603050405020304" pitchFamily="18" charset="0"/>
                <a:cs typeface="Times New Roman" panose="02020603050405020304" pitchFamily="18" charset="0"/>
              </a:rPr>
              <a:t>ax</a:t>
            </a:r>
            <a:r>
              <a:rPr lang="vi-VN" sz="1300" dirty="0">
                <a:latin typeface="Times New Roman" panose="02020603050405020304" pitchFamily="18" charset="0"/>
                <a:cs typeface="Times New Roman" panose="02020603050405020304" pitchFamily="18" charset="0"/>
              </a:rPr>
              <a:t>.</a:t>
            </a:r>
            <a:endParaRPr sz="1300" dirty="0">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43</a:t>
            </a:fld>
            <a:endParaRPr/>
          </a:p>
        </p:txBody>
      </p:sp>
    </p:spTree>
    <p:extLst>
      <p:ext uri="{BB962C8B-B14F-4D97-AF65-F5344CB8AC3E}">
        <p14:creationId xmlns:p14="http://schemas.microsoft.com/office/powerpoint/2010/main" val="125300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44</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999710332"/>
              </p:ext>
            </p:extLst>
          </p:nvPr>
        </p:nvGraphicFramePr>
        <p:xfrm>
          <a:off x="3810000" y="803458"/>
          <a:ext cx="4004481" cy="23803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87131157"/>
              </p:ext>
            </p:extLst>
          </p:nvPr>
        </p:nvGraphicFramePr>
        <p:xfrm>
          <a:off x="304800" y="3276599"/>
          <a:ext cx="11125200" cy="3048005"/>
        </p:xfrm>
        <a:graphic>
          <a:graphicData uri="http://schemas.openxmlformats.org/drawingml/2006/table">
            <a:tbl>
              <a:tblPr>
                <a:tableStyleId>{5C22544A-7EE6-4342-B048-85BDC9FD1C3A}</a:tableStyleId>
              </a:tblPr>
              <a:tblGrid>
                <a:gridCol w="249420">
                  <a:extLst>
                    <a:ext uri="{9D8B030D-6E8A-4147-A177-3AD203B41FA5}">
                      <a16:colId xmlns:a16="http://schemas.microsoft.com/office/drawing/2014/main" val="3909515082"/>
                    </a:ext>
                  </a:extLst>
                </a:gridCol>
                <a:gridCol w="1597851">
                  <a:extLst>
                    <a:ext uri="{9D8B030D-6E8A-4147-A177-3AD203B41FA5}">
                      <a16:colId xmlns:a16="http://schemas.microsoft.com/office/drawing/2014/main" val="312698636"/>
                    </a:ext>
                  </a:extLst>
                </a:gridCol>
                <a:gridCol w="514430">
                  <a:extLst>
                    <a:ext uri="{9D8B030D-6E8A-4147-A177-3AD203B41FA5}">
                      <a16:colId xmlns:a16="http://schemas.microsoft.com/office/drawing/2014/main" val="323586207"/>
                    </a:ext>
                  </a:extLst>
                </a:gridCol>
                <a:gridCol w="446879">
                  <a:extLst>
                    <a:ext uri="{9D8B030D-6E8A-4147-A177-3AD203B41FA5}">
                      <a16:colId xmlns:a16="http://schemas.microsoft.com/office/drawing/2014/main" val="2376916985"/>
                    </a:ext>
                  </a:extLst>
                </a:gridCol>
                <a:gridCol w="5154693">
                  <a:extLst>
                    <a:ext uri="{9D8B030D-6E8A-4147-A177-3AD203B41FA5}">
                      <a16:colId xmlns:a16="http://schemas.microsoft.com/office/drawing/2014/main" val="153097668"/>
                    </a:ext>
                  </a:extLst>
                </a:gridCol>
                <a:gridCol w="623551">
                  <a:extLst>
                    <a:ext uri="{9D8B030D-6E8A-4147-A177-3AD203B41FA5}">
                      <a16:colId xmlns:a16="http://schemas.microsoft.com/office/drawing/2014/main" val="1370556804"/>
                    </a:ext>
                  </a:extLst>
                </a:gridCol>
                <a:gridCol w="810618">
                  <a:extLst>
                    <a:ext uri="{9D8B030D-6E8A-4147-A177-3AD203B41FA5}">
                      <a16:colId xmlns:a16="http://schemas.microsoft.com/office/drawing/2014/main" val="248711571"/>
                    </a:ext>
                  </a:extLst>
                </a:gridCol>
                <a:gridCol w="1299065">
                  <a:extLst>
                    <a:ext uri="{9D8B030D-6E8A-4147-A177-3AD203B41FA5}">
                      <a16:colId xmlns:a16="http://schemas.microsoft.com/office/drawing/2014/main" val="3304559711"/>
                    </a:ext>
                  </a:extLst>
                </a:gridCol>
                <a:gridCol w="428693">
                  <a:extLst>
                    <a:ext uri="{9D8B030D-6E8A-4147-A177-3AD203B41FA5}">
                      <a16:colId xmlns:a16="http://schemas.microsoft.com/office/drawing/2014/main" val="378304414"/>
                    </a:ext>
                  </a:extLst>
                </a:gridCol>
              </a:tblGrid>
              <a:tr h="199869">
                <a:tc gridSpan="9">
                  <a:txBody>
                    <a:bodyPr/>
                    <a:lstStyle/>
                    <a:p>
                      <a:pPr algn="ctr" fontAlgn="ctr"/>
                      <a:r>
                        <a:rPr lang="vi-VN" sz="900" u="none" strike="noStrike">
                          <a:effectLst/>
                        </a:rPr>
                        <a:t>BẢNG TỔNG HỢP VÀ THEO DÕI NHÂN NHƯỢNG - VIETNAM AIRLINES</a:t>
                      </a:r>
                      <a:endParaRPr lang="vi-VN" sz="900" b="1" i="0" u="none" strike="noStrike">
                        <a:solidFill>
                          <a:srgbClr val="000000"/>
                        </a:solidFill>
                        <a:effectLst/>
                        <a:latin typeface="Times New Roman" panose="02020603050405020304" pitchFamily="18" charset="0"/>
                      </a:endParaRPr>
                    </a:p>
                  </a:txBody>
                  <a:tcPr marL="7364" marR="7364" marT="7364"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15189021"/>
                  </a:ext>
                </a:extLst>
              </a:tr>
              <a:tr h="199869">
                <a:tc>
                  <a:txBody>
                    <a:bodyPr/>
                    <a:lstStyle/>
                    <a:p>
                      <a:pPr algn="ctr" fontAlgn="ctr"/>
                      <a:r>
                        <a:rPr lang="en-US" sz="900" u="none" strike="noStrike">
                          <a:effectLst/>
                        </a:rPr>
                        <a:t>No</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Concession No.</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Type</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Reg</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Description</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Issued By</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Issued Date</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ADD/CHK/Task No</a:t>
                      </a:r>
                      <a:endParaRPr lang="en-US" sz="900" b="1"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Status</a:t>
                      </a:r>
                      <a:endParaRPr lang="en-US" sz="900" b="1"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631643139"/>
                  </a:ext>
                </a:extLst>
              </a:tr>
              <a:tr h="399738">
                <a:tc>
                  <a:txBody>
                    <a:bodyPr/>
                    <a:lstStyle/>
                    <a:p>
                      <a:pPr algn="ctr" fontAlgn="ctr"/>
                      <a:r>
                        <a:rPr lang="en-US" sz="800" u="none" strike="noStrike">
                          <a:effectLst/>
                        </a:rPr>
                        <a:t>1</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B225-01/25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B225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Due to LACK OF RESOURCES, schedule of group tasks for check A02 for VN-B225 needs to be extended. List of tasks attached (except mandatory tasks: AD, CMR, AWL, LLP, SCI (ALI, CDCCL).</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24-03-2025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328562789"/>
                  </a:ext>
                </a:extLst>
              </a:tr>
              <a:tr h="399738">
                <a:tc>
                  <a:txBody>
                    <a:bodyPr/>
                    <a:lstStyle/>
                    <a:p>
                      <a:pPr algn="ctr" fontAlgn="ctr"/>
                      <a:r>
                        <a:rPr lang="en-US" sz="800" u="none" strike="noStrike">
                          <a:effectLst/>
                        </a:rPr>
                        <a:t>2</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863-04/25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A863</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Due to LACK OF RESOURCES, schedule of AMP group tasks for check A06 for VN-A863 needs to be extended. List of tasks attached except mandatory tasks: AD, CMR, AWL, LLP, SCI ALI, CD, CCL.</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28-03-2025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566584404"/>
                  </a:ext>
                </a:extLst>
              </a:tr>
              <a:tr h="209863">
                <a:tc>
                  <a:txBody>
                    <a:bodyPr/>
                    <a:lstStyle/>
                    <a:p>
                      <a:pPr algn="ctr" fontAlgn="ctr"/>
                      <a:r>
                        <a:rPr lang="en-US" sz="800" u="none" strike="noStrike">
                          <a:effectLst/>
                        </a:rPr>
                        <a:t>3</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A604-02/25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A604</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EXTEND SCHEDULE OF CMP TASKS DUE TO LACK OF HANGAR SLOT AND MAN-POWER</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26-03-2025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955061047"/>
                  </a:ext>
                </a:extLst>
              </a:tr>
              <a:tr h="399738">
                <a:tc>
                  <a:txBody>
                    <a:bodyPr/>
                    <a:lstStyle/>
                    <a:p>
                      <a:pPr algn="ctr" fontAlgn="ctr"/>
                      <a:r>
                        <a:rPr lang="en-US" sz="800" u="none" strike="noStrike">
                          <a:effectLst/>
                        </a:rPr>
                        <a:t>4</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A604-01/25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A604</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EXTEND SCHEDULE OF GROUP AMP TASKS DUE TO LACK OF HANGAR SLOT AND MAN-POWER.LIST TASK ATTACHED EXCEPT ALI,CMR, AD/CN, FAL, SEM, LLP</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26-03-2025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149901524"/>
                  </a:ext>
                </a:extLst>
              </a:tr>
              <a:tr h="209863">
                <a:tc>
                  <a:txBody>
                    <a:bodyPr/>
                    <a:lstStyle/>
                    <a:p>
                      <a:pPr algn="ctr" fontAlgn="ctr"/>
                      <a:r>
                        <a:rPr lang="en-US" sz="800" u="none" strike="noStrike">
                          <a:effectLst/>
                        </a:rPr>
                        <a:t>5</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A326-02/25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A326</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EXTEND SCHEDULE OF CMP TASKS DUE TO LACK OF HANGAR SLOT AND MAN-POWER</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26-03-2025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887901565"/>
                  </a:ext>
                </a:extLst>
              </a:tr>
              <a:tr h="399738">
                <a:tc>
                  <a:txBody>
                    <a:bodyPr/>
                    <a:lstStyle/>
                    <a:p>
                      <a:pPr algn="ctr" fontAlgn="ctr"/>
                      <a:r>
                        <a:rPr lang="en-US" sz="800" u="none" strike="noStrike">
                          <a:effectLst/>
                        </a:rPr>
                        <a:t>6</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A326-01/25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Task</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A326</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900" u="none" strike="noStrike">
                          <a:effectLst/>
                        </a:rPr>
                        <a:t>EXTEND SCHEDULE OF GROUP C01 AMP TASKS DUE TO LACK OF HANGAR SLOT AND MAN-POWER. LIST TASK ATTACHED EXCEPT ALI, CMR, AD/CN, FAL, SEM, LLP</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26-03-2025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362817582"/>
                  </a:ext>
                </a:extLst>
              </a:tr>
              <a:tr h="209863">
                <a:tc>
                  <a:txBody>
                    <a:bodyPr/>
                    <a:lstStyle/>
                    <a:p>
                      <a:pPr algn="ctr" fontAlgn="ctr"/>
                      <a:r>
                        <a:rPr lang="en-US" sz="800" u="none" strike="noStrike">
                          <a:effectLst/>
                        </a:rPr>
                        <a:t>7</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ADD</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A866</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pt-BR" sz="900" u="none" strike="noStrike">
                          <a:effectLst/>
                        </a:rPr>
                        <a:t>ADD B1333 “CCR GPM R8 INOP"</a:t>
                      </a:r>
                      <a:endParaRPr lang="pt-BR"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SQD</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25-03-2025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708276171"/>
                  </a:ext>
                </a:extLst>
              </a:tr>
              <a:tr h="209863">
                <a:tc>
                  <a:txBody>
                    <a:bodyPr/>
                    <a:lstStyle/>
                    <a:p>
                      <a:pPr algn="ctr" fontAlgn="ctr"/>
                      <a:r>
                        <a:rPr lang="en-US" sz="800" u="none" strike="noStrike">
                          <a:effectLst/>
                        </a:rPr>
                        <a:t>8</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VN-A335-HVN 27Mar25-1</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ADD</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A335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800" u="none" strike="noStrike">
                          <a:effectLst/>
                        </a:rPr>
                        <a:t>ADD B1833 WAS RAISED “RH WING FIXED TRACK FAIRING SEAL#4 DAMAGED” IAW MCDL 27-15</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CAAV</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27-Mar-2025</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 </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 </a:t>
                      </a:r>
                      <a:endParaRPr lang="en-US" sz="900" b="0" i="0" u="none" strike="noStrike">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2762867600"/>
                  </a:ext>
                </a:extLst>
              </a:tr>
              <a:tr h="209863">
                <a:tc>
                  <a:txBody>
                    <a:bodyPr/>
                    <a:lstStyle/>
                    <a:p>
                      <a:pPr algn="ctr" fontAlgn="ctr"/>
                      <a:r>
                        <a:rPr lang="en-US" sz="800" u="none" strike="noStrike">
                          <a:effectLst/>
                        </a:rPr>
                        <a:t>9</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862-04/25</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ADD</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a:effectLst/>
                        </a:rPr>
                        <a:t>A862</a:t>
                      </a:r>
                      <a:endParaRPr lang="en-US" sz="9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l" fontAlgn="ctr"/>
                      <a:r>
                        <a:rPr lang="en-US" sz="800" u="none" strike="noStrike">
                          <a:effectLst/>
                        </a:rPr>
                        <a:t>EXTEND THE MEL LIMIT OF ADD B1322 FOR 05 DAYS.</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SQD</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28-Mar-2025</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800" u="none" strike="noStrike">
                          <a:effectLst/>
                        </a:rPr>
                        <a:t> </a:t>
                      </a:r>
                      <a:endParaRPr lang="en-US" sz="800" b="0" i="0" u="none" strike="noStrike">
                        <a:solidFill>
                          <a:srgbClr val="000000"/>
                        </a:solidFill>
                        <a:effectLst/>
                        <a:latin typeface="Times New Roman" panose="02020603050405020304" pitchFamily="18" charset="0"/>
                      </a:endParaRPr>
                    </a:p>
                  </a:txBody>
                  <a:tcPr marL="7364" marR="7364" marT="7364"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Times New Roman" panose="02020603050405020304" pitchFamily="18" charset="0"/>
                      </a:endParaRPr>
                    </a:p>
                  </a:txBody>
                  <a:tcPr marL="7364" marR="7364" marT="7364" marB="0" anchor="ctr"/>
                </a:tc>
                <a:extLst>
                  <a:ext uri="{0D108BD9-81ED-4DB2-BD59-A6C34878D82A}">
                    <a16:rowId xmlns:a16="http://schemas.microsoft.com/office/drawing/2014/main" val="3997709991"/>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232:55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548:15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963846"/>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773937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7" y="1219201"/>
          <a:ext cx="10521107" cy="21768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34826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685799" y="1295400"/>
          <a:ext cx="10847719"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215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NIL</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i="0" u="none" strike="noStrike" cap="none">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359325" y="2413938"/>
            <a:ext cx="11220450" cy="2295525"/>
          </a:xfrm>
          <a:prstGeom prst="rect">
            <a:avLst/>
          </a:prstGeom>
          <a:noFill/>
          <a:ln>
            <a:noFill/>
          </a:ln>
        </p:spPr>
      </p:pic>
    </p:spTree>
    <p:extLst>
      <p:ext uri="{BB962C8B-B14F-4D97-AF65-F5344CB8AC3E}">
        <p14:creationId xmlns:p14="http://schemas.microsoft.com/office/powerpoint/2010/main" val="37689056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315957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175" name="Google Shape;17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30/3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2602160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 2ea 31/3 nhập kho</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053123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0" name="Google Shape;19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191" name="Google Shape;19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21</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33</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12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19</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92" name="Google Shape;19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93" name="Google Shape;193;g31ccdae391d_0_299"/>
          <p:cNvPicPr preferRelativeResize="0"/>
          <p:nvPr/>
        </p:nvPicPr>
        <p:blipFill>
          <a:blip r:embed="rId3">
            <a:alphaModFix/>
          </a:blip>
          <a:stretch>
            <a:fillRect/>
          </a:stretch>
        </p:blipFill>
        <p:spPr>
          <a:xfrm>
            <a:off x="1913450" y="1672699"/>
            <a:ext cx="7585200" cy="4609750"/>
          </a:xfrm>
          <a:prstGeom prst="rect">
            <a:avLst/>
          </a:prstGeom>
          <a:noFill/>
          <a:ln>
            <a:noFill/>
          </a:ln>
        </p:spPr>
      </p:pic>
    </p:spTree>
    <p:extLst>
      <p:ext uri="{BB962C8B-B14F-4D97-AF65-F5344CB8AC3E}">
        <p14:creationId xmlns:p14="http://schemas.microsoft.com/office/powerpoint/2010/main" val="32506163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201" name="Google Shape;201;g31ccdae391d_0_308"/>
          <p:cNvGraphicFramePr/>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01ea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dự kiến về trong tuần 14.</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PO  EDD 27/05/2025.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5605089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09" name="Google Shape;20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Pump Pack, FMU, GWIV, Tailcone light (hỏng hóc rất nhiều sub card led).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 A874 - INTEGRATED COOLING LEAK: đặt hàng GCU ngày 29/03, chờ thông tin từ KLM.</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10" name="Google Shape;210;g31ccdae391d_0_315"/>
          <p:cNvPicPr preferRelativeResize="0"/>
          <p:nvPr/>
        </p:nvPicPr>
        <p:blipFill>
          <a:blip r:embed="rId3">
            <a:alphaModFix/>
          </a:blip>
          <a:stretch>
            <a:fillRect/>
          </a:stretch>
        </p:blipFill>
        <p:spPr>
          <a:xfrm>
            <a:off x="785813" y="2619375"/>
            <a:ext cx="10620375" cy="2381250"/>
          </a:xfrm>
          <a:prstGeom prst="rect">
            <a:avLst/>
          </a:prstGeom>
          <a:noFill/>
          <a:ln>
            <a:noFill/>
          </a:ln>
        </p:spPr>
      </p:pic>
    </p:spTree>
    <p:extLst>
      <p:ext uri="{BB962C8B-B14F-4D97-AF65-F5344CB8AC3E}">
        <p14:creationId xmlns:p14="http://schemas.microsoft.com/office/powerpoint/2010/main" val="936409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7" name="Google Shape;21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18" name="Google Shape;21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37</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11</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28</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37</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19" name="Google Shape;21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0" name="Google Shape;220;g31ccdae391d_0_323"/>
          <p:cNvPicPr preferRelativeResize="0"/>
          <p:nvPr/>
        </p:nvPicPr>
        <p:blipFill>
          <a:blip r:embed="rId3">
            <a:alphaModFix/>
          </a:blip>
          <a:stretch>
            <a:fillRect/>
          </a:stretch>
        </p:blipFill>
        <p:spPr>
          <a:xfrm>
            <a:off x="2433650" y="2114766"/>
            <a:ext cx="6176950" cy="4233659"/>
          </a:xfrm>
          <a:prstGeom prst="rect">
            <a:avLst/>
          </a:prstGeom>
          <a:noFill/>
          <a:ln>
            <a:noFill/>
          </a:ln>
        </p:spPr>
      </p:pic>
    </p:spTree>
    <p:extLst>
      <p:ext uri="{BB962C8B-B14F-4D97-AF65-F5344CB8AC3E}">
        <p14:creationId xmlns:p14="http://schemas.microsoft.com/office/powerpoint/2010/main" val="32360606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228" name="Google Shape;228;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Vip kit</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6e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06</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+ 09ea EDD tháng 4/2025.</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+ 04ea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07</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Controller in stock (01ea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7984449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36" name="Google Shape;23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A889 - SATCOM FAULT: đã có Antenna (nhập kho 29/03)</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A896 - UPPER LATCH ASSY OF COCKPIT DOOR BOLTING SYSTEM IS NOT FULLY LOCKED: đặt hàng Latch (Vaeco cung ứng), latch sẽ về Han trong tuần 14.</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A897 - SEAL OF RH INBOARD AI-LERON DAMAGED:  đặt hàng Seal (Vaeco cung ứng), chờ Airbus cập nhật kế hoạch.</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37" name="Google Shape;237;g31ccdae391d_0_339"/>
          <p:cNvPicPr preferRelativeResize="0"/>
          <p:nvPr/>
        </p:nvPicPr>
        <p:blipFill>
          <a:blip r:embed="rId3">
            <a:alphaModFix/>
          </a:blip>
          <a:stretch>
            <a:fillRect/>
          </a:stretch>
        </p:blipFill>
        <p:spPr>
          <a:xfrm>
            <a:off x="781050" y="3381375"/>
            <a:ext cx="10629900" cy="704850"/>
          </a:xfrm>
          <a:prstGeom prst="rect">
            <a:avLst/>
          </a:prstGeom>
          <a:noFill/>
          <a:ln>
            <a:noFill/>
          </a:ln>
        </p:spPr>
      </p:pic>
    </p:spTree>
    <p:extLst>
      <p:ext uri="{BB962C8B-B14F-4D97-AF65-F5344CB8AC3E}">
        <p14:creationId xmlns:p14="http://schemas.microsoft.com/office/powerpoint/2010/main" val="37863789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4" name="Google Shape;24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45" name="Google Shape;245;g31ccdae391d_0_347"/>
          <p:cNvGraphicFramePr/>
          <p:nvPr/>
        </p:nvGraphicFramePr>
        <p:xfrm>
          <a:off x="439614" y="221847"/>
          <a:ext cx="11611325" cy="639705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7593380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2" name="Google Shape;25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253" name="Google Shape;25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02ea in stock  (01ea dùng cho A866). 01ea dự kiến giao 31/03.</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05ea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02 e</a:t>
                      </a:r>
                      <a:r>
                        <a:rPr lang="en-US" sz="1400" u="none" strike="noStrike" cap="none">
                          <a:latin typeface="Times New Roman"/>
                          <a:ea typeface="Times New Roman"/>
                          <a:cs typeface="Times New Roman"/>
                          <a:sym typeface="Times New Roman"/>
                        </a:rPr>
                        <a:t>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908385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0" name="Google Shape;26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61" name="Google Shape;26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smtClean="0">
                <a:solidFill>
                  <a:schemeClr val="dk1"/>
                </a:solidFill>
                <a:highlight>
                  <a:schemeClr val="lt1"/>
                </a:highlight>
                <a:latin typeface="Times New Roman"/>
                <a:ea typeface="Times New Roman"/>
                <a:cs typeface="Times New Roman"/>
                <a:sym typeface="Times New Roman"/>
              </a:rPr>
              <a:t>in stock (ENG </a:t>
            </a:r>
            <a:r>
              <a:rPr lang="en-US" sz="1500" dirty="0">
                <a:solidFill>
                  <a:schemeClr val="dk1"/>
                </a:solidFill>
                <a:highlight>
                  <a:schemeClr val="lt1"/>
                </a:highlight>
                <a:latin typeface="Times New Roman"/>
                <a:ea typeface="Times New Roman"/>
                <a:cs typeface="Times New Roman"/>
                <a:sym typeface="Times New Roman"/>
              </a:rPr>
              <a:t>21269)</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8</a:t>
            </a:r>
            <a:r>
              <a:rPr lang="en-US" sz="1500" b="0" i="0" u="none" strike="noStrike" cap="none" dirty="0">
                <a:solidFill>
                  <a:schemeClr val="dk1"/>
                </a:solidFill>
                <a:highlight>
                  <a:schemeClr val="lt1"/>
                </a:highlight>
                <a:latin typeface="Times New Roman"/>
                <a:ea typeface="Times New Roman"/>
                <a:cs typeface="Times New Roman"/>
                <a:sym typeface="Times New Roman"/>
              </a:rPr>
              <a:t>ea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 </a:t>
            </a:r>
            <a:r>
              <a:rPr lang="en-US" sz="1500" b="0" i="0" u="none" strike="noStrike" cap="none" dirty="0">
                <a:solidFill>
                  <a:schemeClr val="dk1"/>
                </a:solidFill>
                <a:highlight>
                  <a:schemeClr val="lt1"/>
                </a:highlight>
                <a:latin typeface="Times New Roman"/>
                <a:ea typeface="Times New Roman"/>
                <a:cs typeface="Times New Roman"/>
                <a:sym typeface="Times New Roman"/>
              </a:rPr>
              <a:t>&amp;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a:t>
            </a:r>
            <a:r>
              <a:rPr lang="en-US" sz="1500" dirty="0" err="1">
                <a:solidFill>
                  <a:schemeClr val="dk1"/>
                </a:solidFill>
                <a:highlight>
                  <a:schemeClr val="lt1"/>
                </a:highlight>
                <a:latin typeface="Times New Roman"/>
                <a:ea typeface="Times New Roman"/>
                <a:cs typeface="Times New Roman"/>
                <a:sym typeface="Times New Roman"/>
              </a:rPr>
              <a:t>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21584,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smtClean="0">
                <a:solidFill>
                  <a:schemeClr val="dk1"/>
                </a:solidFill>
                <a:highlight>
                  <a:schemeClr val="lt1"/>
                </a:highlight>
                <a:latin typeface="Times New Roman"/>
                <a:ea typeface="Times New Roman"/>
                <a:cs typeface="Times New Roman"/>
                <a:sym typeface="Times New Roman"/>
              </a:rPr>
              <a:t>thu</a:t>
            </a:r>
            <a:r>
              <a:rPr lang="en-US" sz="1500" dirty="0" smtClean="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xếp</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01 stand </a:t>
            </a:r>
            <a:r>
              <a:rPr lang="en-US" sz="1500" dirty="0" err="1">
                <a:solidFill>
                  <a:schemeClr val="dk1"/>
                </a:solidFill>
                <a:highlight>
                  <a:schemeClr val="lt1"/>
                </a:highlight>
                <a:latin typeface="Times New Roman"/>
                <a:ea typeface="Times New Roman"/>
                <a:cs typeface="Times New Roman"/>
                <a:sym typeface="Times New Roman"/>
              </a:rPr>
              <a:t>từ</a:t>
            </a:r>
            <a:r>
              <a:rPr lang="en-US" sz="1500" dirty="0">
                <a:solidFill>
                  <a:schemeClr val="dk1"/>
                </a:solidFill>
                <a:highlight>
                  <a:schemeClr val="lt1"/>
                </a:highlight>
                <a:latin typeface="Times New Roman"/>
                <a:ea typeface="Times New Roman"/>
                <a:cs typeface="Times New Roman"/>
                <a:sym typeface="Times New Roman"/>
              </a:rPr>
              <a:t> SIN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HKG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a:t>
            </a:r>
            <a:r>
              <a:rPr lang="en-US" sz="1500" dirty="0" smtClean="0">
                <a:solidFill>
                  <a:schemeClr val="dk1"/>
                </a:solidFill>
                <a:highlight>
                  <a:schemeClr val="lt1"/>
                </a:highlight>
                <a:latin typeface="Times New Roman"/>
                <a:ea typeface="Times New Roman"/>
                <a:cs typeface="Times New Roman"/>
                <a:sym typeface="Times New Roman"/>
              </a:rPr>
              <a:t>21422.</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9</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5</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956569,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956533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test 06Apr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16Apr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23Apr.</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a:t>
            </a:r>
            <a:r>
              <a:rPr lang="en-US" sz="1500" dirty="0">
                <a:solidFill>
                  <a:schemeClr val="dk1"/>
                </a:solidFill>
                <a:highlight>
                  <a:schemeClr val="lt1"/>
                </a:highlight>
                <a:latin typeface="Times New Roman"/>
                <a:ea typeface="Times New Roman"/>
                <a:cs typeface="Times New Roman"/>
                <a:sym typeface="Times New Roman"/>
              </a:rPr>
              <a:t>.</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01ea ENG </a:t>
            </a:r>
            <a:r>
              <a:rPr lang="en-US" sz="1500" dirty="0" err="1">
                <a:solidFill>
                  <a:schemeClr val="dk1"/>
                </a:solidFill>
                <a:highlight>
                  <a:schemeClr val="lt1"/>
                </a:highlight>
                <a:latin typeface="Times New Roman"/>
                <a:ea typeface="Times New Roman"/>
                <a:cs typeface="Times New Roman"/>
                <a:sym typeface="Times New Roman"/>
              </a:rPr>
              <a:t>thuê</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A868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06/04.</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05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kiến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cần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01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nữa</a:t>
            </a:r>
            <a:r>
              <a:rPr lang="en-US" sz="1500" b="0" i="0" u="none" strike="noStrike" cap="none" dirty="0">
                <a:solidFill>
                  <a:srgbClr val="000000"/>
                </a:solidFill>
                <a:highlight>
                  <a:schemeClr val="lt1"/>
                </a:highlight>
                <a:latin typeface="Times New Roman"/>
                <a:ea typeface="Times New Roman"/>
                <a:cs typeface="Times New Roman"/>
                <a:sym typeface="Times New Roman"/>
              </a:rPr>
              <a:t> Q1 trong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năm</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2025</a:t>
            </a:r>
            <a:r>
              <a:rPr lang="en-US" sz="1500" dirty="0">
                <a:highlight>
                  <a:schemeClr val="lt1"/>
                </a:highlight>
                <a:latin typeface="Times New Roman"/>
                <a:ea typeface="Times New Roman"/>
                <a:cs typeface="Times New Roman"/>
                <a:sym typeface="Times New Roman"/>
              </a:rPr>
              <a:t> do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cuối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3/2025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0219485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69" name="Google Shape;26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02ea V17951 (HAN), V15851 (HAN)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8015570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77" name="Google Shape;27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78" name="Google Shape;278;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extLst>
      <p:ext uri="{BB962C8B-B14F-4D97-AF65-F5344CB8AC3E}">
        <p14:creationId xmlns:p14="http://schemas.microsoft.com/office/powerpoint/2010/main" val="161561139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85" name="Google Shape;28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5</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với đối tác sửa đổi hợp đồng thuê sau khi trình kí LOI (Willis và ELFC)</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a:solidFill>
                  <a:schemeClr val="dk1"/>
                </a:solidFill>
                <a:latin typeface="Times New Roman"/>
                <a:ea typeface="Times New Roman"/>
                <a:cs typeface="Times New Roman"/>
                <a:sym typeface="Times New Roman"/>
              </a:rPr>
              <a:t>Trong đó: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P771130: Hiện đang được Collins lắp QEC (Lịch ready + 2 tuần)</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744651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92" name="Google Shape;29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rgbClr val="FF0000"/>
                </a:solidFill>
                <a:latin typeface="Times New Roman"/>
                <a:ea typeface="Times New Roman"/>
                <a:cs typeface="Times New Roman"/>
                <a:sym typeface="Times New Roman"/>
              </a:rPr>
              <a: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rgbClr val="FF0000"/>
                </a:solidFill>
                <a:latin typeface="Times New Roman"/>
                <a:ea typeface="Times New Roman"/>
                <a:cs typeface="Times New Roman"/>
                <a:sym typeface="Times New Roman"/>
              </a:rPr>
              <a:t>Đội bay ATR:</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06:  03 ENG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03 ENG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(ED0321) (ED0036) (ED0715).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ED0238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PWC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SING.</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ED0239, ED0217,ED0</a:t>
            </a:r>
            <a:r>
              <a:rPr lang="en-US" sz="1500" dirty="0">
                <a:solidFill>
                  <a:schemeClr val="dk1"/>
                </a:solidFill>
                <a:latin typeface="Times New Roman"/>
                <a:ea typeface="Times New Roman"/>
                <a:cs typeface="Times New Roman"/>
                <a:sym typeface="Times New Roman"/>
              </a:rPr>
              <a:t>233</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SA</a:t>
            </a:r>
            <a:r>
              <a:rPr lang="en-US" sz="1500" b="0" i="0" u="none" strike="noStrike" cap="none" dirty="0" smtClean="0">
                <a:solidFill>
                  <a:schemeClr val="dk1"/>
                </a:solidFill>
                <a:latin typeface="Times New Roman"/>
                <a:ea typeface="Times New Roman"/>
                <a:cs typeface="Times New Roman"/>
                <a:sym typeface="Times New Roman"/>
              </a:rPr>
              <a:t>.</a:t>
            </a:r>
          </a:p>
          <a:p>
            <a:pPr lvl="0" algn="just">
              <a:lnSpc>
                <a:spcPct val="115000"/>
              </a:lnSpc>
              <a:buClr>
                <a:schemeClr val="dk1"/>
              </a:buClr>
              <a:buSzPts val="1100"/>
            </a:pPr>
            <a:r>
              <a:rPr lang="en-US" sz="1500" dirty="0">
                <a:solidFill>
                  <a:schemeClr val="dk1"/>
                </a:solidFill>
                <a:latin typeface="Times New Roman"/>
                <a:ea typeface="Times New Roman"/>
                <a:cs typeface="Times New Roman"/>
                <a:sym typeface="Times New Roman"/>
              </a:rPr>
              <a:t>+ED0239 </a:t>
            </a:r>
            <a:r>
              <a:rPr lang="en-US" sz="1500" dirty="0" err="1">
                <a:solidFill>
                  <a:schemeClr val="dk1"/>
                </a:solidFill>
                <a:latin typeface="Times New Roman"/>
                <a:ea typeface="Times New Roman"/>
                <a:cs typeface="Times New Roman"/>
                <a:sym typeface="Times New Roman"/>
              </a:rPr>
              <a:t>sửa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chữa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StandardAero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release </a:t>
            </a:r>
            <a:r>
              <a:rPr lang="en-US" sz="1500" dirty="0" err="1">
                <a:solidFill>
                  <a:schemeClr val="dk1"/>
                </a:solidFill>
                <a:latin typeface="Times New Roman"/>
                <a:ea typeface="Times New Roman"/>
                <a:cs typeface="Times New Roman"/>
                <a:sym typeface="Times New Roman"/>
              </a:rPr>
              <a:t>ngày</a:t>
            </a:r>
            <a:r>
              <a:rPr lang="en-US" sz="1500" dirty="0">
                <a:solidFill>
                  <a:schemeClr val="dk1"/>
                </a:solidFill>
                <a:latin typeface="Times New Roman"/>
                <a:ea typeface="Times New Roman"/>
                <a:cs typeface="Times New Roman"/>
                <a:sym typeface="Times New Roman"/>
              </a:rPr>
              <a:t> </a:t>
            </a:r>
            <a:r>
              <a:rPr lang="en-US" sz="1500" dirty="0" smtClean="0">
                <a:solidFill>
                  <a:schemeClr val="dk1"/>
                </a:solidFill>
                <a:latin typeface="Times New Roman"/>
                <a:ea typeface="Times New Roman"/>
                <a:cs typeface="Times New Roman"/>
                <a:sym typeface="Times New Roman"/>
              </a:rPr>
              <a:t>14/04/2025</a:t>
            </a:r>
          </a:p>
          <a:p>
            <a:pPr lvl="0" algn="just">
              <a:lnSpc>
                <a:spcPct val="115000"/>
              </a:lnSpc>
              <a:buClr>
                <a:schemeClr val="dk1"/>
              </a:buClr>
              <a:buSzPts val="1100"/>
            </a:pPr>
            <a:r>
              <a:rPr lang="vi-VN" sz="1500" dirty="0" smtClean="0">
                <a:solidFill>
                  <a:schemeClr val="dk1"/>
                </a:solidFill>
                <a:latin typeface="Times New Roman"/>
                <a:ea typeface="Times New Roman"/>
                <a:cs typeface="Times New Roman"/>
                <a:sym typeface="Times New Roman"/>
              </a:rPr>
              <a:t>+</a:t>
            </a:r>
            <a:r>
              <a:rPr lang="vi-VN" sz="1500" dirty="0">
                <a:solidFill>
                  <a:schemeClr val="dk1"/>
                </a:solidFill>
                <a:latin typeface="Times New Roman"/>
                <a:ea typeface="Times New Roman"/>
                <a:cs typeface="Times New Roman"/>
                <a:sym typeface="Times New Roman"/>
              </a:rPr>
              <a:t>ED0217 sửa chữa tại StandardAero: induct ngày 19/03/2025.</a:t>
            </a:r>
          </a:p>
          <a:p>
            <a:pPr lvl="0" algn="just">
              <a:lnSpc>
                <a:spcPct val="115000"/>
              </a:lnSpc>
              <a:buClr>
                <a:schemeClr val="dk1"/>
              </a:buClr>
              <a:buSzPts val="1100"/>
            </a:pPr>
            <a:r>
              <a:rPr lang="vi-VN" sz="1500" dirty="0">
                <a:solidFill>
                  <a:schemeClr val="dk1"/>
                </a:solidFill>
                <a:latin typeface="Times New Roman"/>
                <a:ea typeface="Times New Roman"/>
                <a:cs typeface="Times New Roman"/>
                <a:sym typeface="Times New Roman"/>
              </a:rPr>
              <a:t>+ED0233 sửa chữa tại StandardAero</a:t>
            </a:r>
          </a:p>
          <a:p>
            <a:pPr lvl="0" algn="just">
              <a:lnSpc>
                <a:spcPct val="115000"/>
              </a:lnSpc>
              <a:buClr>
                <a:schemeClr val="dk1"/>
              </a:buClr>
              <a:buSzPts val="1100"/>
            </a:pPr>
            <a:r>
              <a:rPr lang="vi-VN" sz="1500" dirty="0">
                <a:solidFill>
                  <a:schemeClr val="dk1"/>
                </a:solidFill>
                <a:latin typeface="Times New Roman"/>
                <a:ea typeface="Times New Roman"/>
                <a:cs typeface="Times New Roman"/>
                <a:sym typeface="Times New Roman"/>
              </a:rPr>
              <a:t>+ED0214 chuẩn bị gửi đi sửa chữa tại StandardAero.</a:t>
            </a:r>
          </a:p>
          <a:p>
            <a:pPr lvl="0" algn="just">
              <a:lnSpc>
                <a:spcPct val="115000"/>
              </a:lnSpc>
              <a:buClr>
                <a:schemeClr val="dk1"/>
              </a:buClr>
              <a:buSzPts val="1100"/>
            </a:pPr>
            <a:r>
              <a:rPr lang="vi-VN" sz="1500" dirty="0">
                <a:solidFill>
                  <a:schemeClr val="dk1"/>
                </a:solidFill>
                <a:latin typeface="Times New Roman"/>
                <a:ea typeface="Times New Roman"/>
                <a:cs typeface="Times New Roman"/>
                <a:sym typeface="Times New Roman"/>
              </a:rPr>
              <a:t>+ED0238 sửa chữa tại PWC: induct ngày 24/01/2025 và chưa có ngày về dự kiến</a:t>
            </a:r>
            <a:r>
              <a:rPr lang="vi-VN" sz="1500" dirty="0" smtClean="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Khó</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khăn</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vẫn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gặp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trình</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trạng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part, </a:t>
            </a:r>
            <a:r>
              <a:rPr lang="en-US" sz="1500" dirty="0" err="1">
                <a:solidFill>
                  <a:schemeClr val="dk1"/>
                </a:solidFill>
                <a:latin typeface="Times New Roman"/>
                <a:ea typeface="Times New Roman"/>
                <a:cs typeface="Times New Roman"/>
                <a:sym typeface="Times New Roman"/>
              </a:rPr>
              <a:t>dẫn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đến</a:t>
            </a:r>
            <a:r>
              <a:rPr lang="en-US" sz="1500" dirty="0">
                <a:solidFill>
                  <a:schemeClr val="dk1"/>
                </a:solidFill>
                <a:latin typeface="Times New Roman"/>
                <a:ea typeface="Times New Roman"/>
                <a:cs typeface="Times New Roman"/>
                <a:sym typeface="Times New Roman"/>
              </a:rPr>
              <a:t> TAT </a:t>
            </a:r>
            <a:r>
              <a:rPr lang="en-US" sz="1500" dirty="0" err="1">
                <a:solidFill>
                  <a:schemeClr val="dk1"/>
                </a:solidFill>
                <a:latin typeface="Times New Roman"/>
                <a:ea typeface="Times New Roman"/>
                <a:cs typeface="Times New Roman"/>
                <a:sym typeface="Times New Roman"/>
              </a:rPr>
              <a:t>bị</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kéo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dài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cả</a:t>
            </a:r>
            <a:r>
              <a:rPr lang="en-US" sz="1500" dirty="0">
                <a:solidFill>
                  <a:schemeClr val="dk1"/>
                </a:solidFill>
                <a:latin typeface="Times New Roman"/>
                <a:ea typeface="Times New Roman"/>
                <a:cs typeface="Times New Roman"/>
                <a:sym typeface="Times New Roman"/>
              </a:rPr>
              <a:t> 02 shop</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Tiếp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tục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theo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sát</a:t>
            </a:r>
            <a:r>
              <a:rPr lang="en-US" sz="1500" b="0" i="0" u="none" strike="noStrike" cap="none"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chữa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PWC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StandardAero</a:t>
            </a:r>
            <a:r>
              <a:rPr lang="en-US" sz="1500" dirty="0">
                <a:solidFill>
                  <a:schemeClr val="dk1"/>
                </a:solidFill>
                <a:latin typeface="Times New Roman"/>
                <a:ea typeface="Times New Roman"/>
                <a:cs typeface="Times New Roman"/>
                <a:sym typeface="Times New Roman"/>
              </a:rPr>
              <a:t>.</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dirty="0">
              <a:solidFill>
                <a:srgbClr val="000000"/>
              </a:solidFill>
              <a:latin typeface="Times New Roman"/>
              <a:ea typeface="Times New Roman"/>
              <a:cs typeface="Times New Roman"/>
              <a:sym typeface="Times New Roman"/>
            </a:endParaRPr>
          </a:p>
        </p:txBody>
      </p:sp>
      <p:pic>
        <p:nvPicPr>
          <p:cNvPr id="293" name="Google Shape;293;g31ccdae391d_0_389"/>
          <p:cNvPicPr preferRelativeResize="0"/>
          <p:nvPr/>
        </p:nvPicPr>
        <p:blipFill>
          <a:blip r:embed="rId3">
            <a:alphaModFix/>
          </a:blip>
          <a:stretch>
            <a:fillRect/>
          </a:stretch>
        </p:blipFill>
        <p:spPr>
          <a:xfrm>
            <a:off x="41175" y="3743000"/>
            <a:ext cx="12191999" cy="2697579"/>
          </a:xfrm>
          <a:prstGeom prst="rect">
            <a:avLst/>
          </a:prstGeom>
          <a:noFill/>
          <a:ln>
            <a:noFill/>
          </a:ln>
        </p:spPr>
      </p:pic>
    </p:spTree>
    <p:extLst>
      <p:ext uri="{BB962C8B-B14F-4D97-AF65-F5344CB8AC3E}">
        <p14:creationId xmlns:p14="http://schemas.microsoft.com/office/powerpoint/2010/main" val="217618160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0" name="Google Shape;30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301" name="Google Shape;301;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01ea in stock (ENG </a:t>
            </a:r>
            <a:r>
              <a:rPr lang="en-US" sz="1600" dirty="0">
                <a:solidFill>
                  <a:schemeClr val="dk1"/>
                </a:solidFill>
                <a:highlight>
                  <a:schemeClr val="lt1"/>
                </a:highlight>
                <a:latin typeface="Times New Roman"/>
                <a:ea typeface="Times New Roman"/>
                <a:cs typeface="Times New Roman"/>
                <a:sym typeface="Times New Roman"/>
              </a:rPr>
              <a:t>21269</a:t>
            </a:r>
            <a:r>
              <a:rPr lang="en-US" sz="1500" dirty="0">
                <a:solidFill>
                  <a:schemeClr val="dk1"/>
                </a:solidFill>
                <a:highlight>
                  <a:schemeClr val="lt1"/>
                </a:highlight>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956533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23/04. </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ENG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A868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SGN 06/04.</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sắp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tới</a:t>
            </a:r>
            <a:r>
              <a:rPr lang="en-US" sz="1600" dirty="0">
                <a:solidFill>
                  <a:schemeClr val="dk1"/>
                </a:solidFill>
                <a:latin typeface="Times New Roman"/>
                <a:ea typeface="Times New Roman"/>
                <a:cs typeface="Times New Roman"/>
                <a:sym typeface="Times New Roman"/>
              </a:rPr>
              <a:t>: V12505 (05/04), V16456 (07/04</a:t>
            </a:r>
            <a:r>
              <a:rPr lang="en-US" sz="1600" dirty="0" smtClean="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P770904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22/04.</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P771130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20/04.</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Clr>
                <a:schemeClr val="dk1"/>
              </a:buClr>
              <a:buSzPts val="1100"/>
              <a:buFont typeface="Arial"/>
              <a:buNone/>
            </a:pP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a:t>
            </a:r>
            <a:r>
              <a:rPr lang="en-US" sz="1600" dirty="0">
                <a:solidFill>
                  <a:schemeClr val="dk1"/>
                </a:solidFill>
                <a:latin typeface="Times New Roman"/>
                <a:ea typeface="Times New Roman"/>
                <a:cs typeface="Times New Roman"/>
                <a:sym typeface="Times New Roman"/>
              </a:rPr>
              <a:t>235</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14/04/2025.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5662598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8" name="Google Shape;30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09" name="Google Shape;309;g31ccdae391d_0_403"/>
          <p:cNvSpPr txBox="1"/>
          <p:nvPr/>
        </p:nvSpPr>
        <p:spPr>
          <a:xfrm>
            <a:off x="7066700" y="571500"/>
            <a:ext cx="4085700" cy="448504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0</a:t>
            </a:r>
            <a:r>
              <a:rPr lang="en-US" dirty="0">
                <a:solidFill>
                  <a:schemeClr val="dk1"/>
                </a:solidFill>
                <a:latin typeface="Times New Roman"/>
                <a:ea typeface="Times New Roman"/>
                <a:cs typeface="Times New Roman"/>
                <a:sym typeface="Times New Roman"/>
              </a:rPr>
              <a:t>2</a:t>
            </a:r>
            <a:r>
              <a:rPr lang="en-US" sz="1400" b="0" i="0" u="none" strike="noStrike" cap="none" dirty="0">
                <a:solidFill>
                  <a:schemeClr val="dk1"/>
                </a:solidFill>
                <a:latin typeface="Times New Roman"/>
                <a:ea typeface="Times New Roman"/>
                <a:cs typeface="Times New Roman"/>
                <a:sym typeface="Times New Roman"/>
              </a:rPr>
              <a:t> APU</a:t>
            </a:r>
            <a:r>
              <a:rPr lang="en-US" dirty="0">
                <a:solidFill>
                  <a:schemeClr val="dk1"/>
                </a:solidFill>
                <a:latin typeface="Times New Roman"/>
                <a:ea typeface="Times New Roman"/>
                <a:cs typeface="Times New Roman"/>
                <a:sym typeface="Times New Roman"/>
              </a:rPr>
              <a:t> SN: P-5222, P-7845</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lang="en-US" sz="1500" b="1" i="0" u="none" strike="noStrike" cap="none" dirty="0" smtClean="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smtClean="0">
                <a:solidFill>
                  <a:schemeClr val="dk1"/>
                </a:solidFill>
                <a:latin typeface="Times New Roman"/>
                <a:ea typeface="Times New Roman"/>
                <a:cs typeface="Times New Roman"/>
                <a:sym typeface="Times New Roman"/>
              </a:rPr>
              <a:t>APU </a:t>
            </a:r>
            <a:r>
              <a:rPr lang="en-US" sz="1500" b="1" i="0" u="none" strike="noStrike" cap="none" dirty="0">
                <a:solidFill>
                  <a:schemeClr val="dk1"/>
                </a:solidFill>
                <a:latin typeface="Times New Roman"/>
                <a:ea typeface="Times New Roman"/>
                <a:cs typeface="Times New Roman"/>
                <a:sym typeface="Times New Roman"/>
              </a:rPr>
              <a:t>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1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vận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chuyển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đi</a:t>
            </a:r>
            <a:r>
              <a:rPr lang="en-US" dirty="0">
                <a:solidFill>
                  <a:schemeClr val="dk1"/>
                </a:solidFill>
                <a:latin typeface="Times New Roman"/>
                <a:ea typeface="Times New Roman"/>
                <a:cs typeface="Times New Roman"/>
                <a:sym typeface="Times New Roman"/>
              </a:rPr>
              <a:t> shop </a:t>
            </a:r>
            <a:r>
              <a:rPr lang="en-US" dirty="0" err="1">
                <a:solidFill>
                  <a:schemeClr val="dk1"/>
                </a:solidFill>
                <a:latin typeface="Times New Roman"/>
                <a:ea typeface="Times New Roman"/>
                <a:cs typeface="Times New Roman"/>
                <a:sym typeface="Times New Roman"/>
              </a:rPr>
              <a:t>Lufth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DK 25/04/2025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(PWC-Z926122) fail final test </a:t>
            </a:r>
            <a:r>
              <a:rPr lang="en-US" dirty="0" err="1">
                <a:solidFill>
                  <a:schemeClr val="dk1"/>
                </a:solidFill>
                <a:latin typeface="Times New Roman"/>
                <a:ea typeface="Times New Roman"/>
                <a:cs typeface="Times New Roman"/>
                <a:sym typeface="Times New Roman"/>
              </a:rPr>
              <a:t>phải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đổi</a:t>
            </a:r>
            <a:r>
              <a:rPr lang="en-US" dirty="0">
                <a:solidFill>
                  <a:schemeClr val="dk1"/>
                </a:solidFill>
                <a:latin typeface="Times New Roman"/>
                <a:ea typeface="Times New Roman"/>
                <a:cs typeface="Times New Roman"/>
                <a:sym typeface="Times New Roman"/>
              </a:rPr>
              <a:t> WSC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 PWC-Z925500)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tại</a:t>
            </a:r>
            <a:r>
              <a:rPr lang="en-US" dirty="0">
                <a:solidFill>
                  <a:schemeClr val="dk1"/>
                </a:solidFill>
                <a:latin typeface="Times New Roman"/>
                <a:ea typeface="Times New Roman"/>
                <a:cs typeface="Times New Roman"/>
                <a:sym typeface="Times New Roman"/>
              </a:rPr>
              <a:t> shop PW Poland </a:t>
            </a:r>
            <a:r>
              <a:rPr lang="en-US" dirty="0" err="1">
                <a:solidFill>
                  <a:schemeClr val="dk1"/>
                </a:solidFill>
                <a:latin typeface="Times New Roman"/>
                <a:ea typeface="Times New Roman"/>
                <a:cs typeface="Times New Roman"/>
                <a:sym typeface="Times New Roman"/>
              </a:rPr>
              <a:t>gặp</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tình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trạng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khăn</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chuỗi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cung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ứng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nên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14/04/2025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10" name="Google Shape;310;g31ccdae391d_0_403"/>
          <p:cNvPicPr preferRelativeResize="0"/>
          <p:nvPr/>
        </p:nvPicPr>
        <p:blipFill>
          <a:blip r:embed="rId3">
            <a:alphaModFix/>
          </a:blip>
          <a:stretch>
            <a:fillRect/>
          </a:stretch>
        </p:blipFill>
        <p:spPr>
          <a:xfrm>
            <a:off x="504100" y="495300"/>
            <a:ext cx="6501840" cy="6057902"/>
          </a:xfrm>
          <a:prstGeom prst="rect">
            <a:avLst/>
          </a:prstGeom>
          <a:noFill/>
          <a:ln>
            <a:noFill/>
          </a:ln>
        </p:spPr>
      </p:pic>
    </p:spTree>
    <p:extLst>
      <p:ext uri="{BB962C8B-B14F-4D97-AF65-F5344CB8AC3E}">
        <p14:creationId xmlns:p14="http://schemas.microsoft.com/office/powerpoint/2010/main" val="234177733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17" name="Google Shape;31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18" name="Google Shape;318;g338eea6c084_0_0"/>
          <p:cNvSpPr/>
          <p:nvPr/>
        </p:nvSpPr>
        <p:spPr>
          <a:xfrm>
            <a:off x="609900" y="1918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1.	NHIÊN </a:t>
            </a:r>
            <a:r>
              <a:rPr lang="en-US" sz="2000" b="1" dirty="0">
                <a:solidFill>
                  <a:schemeClr val="dk1"/>
                </a:solidFill>
                <a:latin typeface="Times New Roman"/>
                <a:ea typeface="Times New Roman"/>
                <a:cs typeface="Times New Roman"/>
                <a:sym typeface="Times New Roman"/>
              </a:rPr>
              <a:t>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tổ</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chức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lựa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chọn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liệu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hoàn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thành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21/04.</a:t>
            </a:r>
            <a:endParaRPr sz="20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2.	PTVT </a:t>
            </a:r>
            <a:r>
              <a:rPr lang="en-US" sz="2000" b="1" dirty="0">
                <a:solidFill>
                  <a:schemeClr val="dk1"/>
                </a:solidFill>
                <a:latin typeface="Times New Roman"/>
                <a:ea typeface="Times New Roman"/>
                <a:cs typeface="Times New Roman"/>
                <a:sym typeface="Times New Roman"/>
              </a:rPr>
              <a:t>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01ea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mức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đủ</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issue </a:t>
            </a:r>
            <a:r>
              <a:rPr lang="en-US" sz="1600" dirty="0" smtClean="0">
                <a:solidFill>
                  <a:schemeClr val="dk1"/>
                </a:solidFill>
                <a:latin typeface="Times New Roman"/>
                <a:ea typeface="Times New Roman"/>
                <a:cs typeface="Times New Roman"/>
                <a:sym typeface="Times New Roman"/>
              </a:rPr>
              <a:t>45 </a:t>
            </a:r>
            <a:r>
              <a:rPr lang="en-US" sz="1600" dirty="0">
                <a:solidFill>
                  <a:schemeClr val="dk1"/>
                </a:solidFill>
                <a:latin typeface="Times New Roman"/>
                <a:ea typeface="Times New Roman"/>
                <a:cs typeface="Times New Roman"/>
                <a:sym typeface="Times New Roman"/>
              </a:rPr>
              <a:t>item</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+ 03ea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25 </a:t>
            </a:r>
            <a:r>
              <a:rPr lang="en-US" sz="1600" dirty="0">
                <a:solidFill>
                  <a:schemeClr val="dk1"/>
                </a:solidFill>
                <a:latin typeface="Times New Roman"/>
                <a:ea typeface="Times New Roman"/>
                <a:cs typeface="Times New Roman"/>
                <a:sym typeface="Times New Roman"/>
              </a:rPr>
              <a:t>item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4.</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+ 17 item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lịch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14.</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15 item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55600" algn="just" rtl="0">
              <a:lnSpc>
                <a:spcPct val="115000"/>
              </a:lnSpc>
              <a:spcBef>
                <a:spcPts val="0"/>
              </a:spcBef>
              <a:spcAft>
                <a:spcPts val="0"/>
              </a:spcAft>
              <a:buClr>
                <a:schemeClr val="dk1"/>
              </a:buClr>
              <a:buSzPts val="2000"/>
              <a:buFont typeface="Times New Roman"/>
              <a:buChar char="-"/>
            </a:pPr>
            <a:r>
              <a:rPr lang="en-US" sz="1600" dirty="0">
                <a:solidFill>
                  <a:schemeClr val="dk1"/>
                </a:solidFill>
                <a:latin typeface="Times New Roman"/>
                <a:ea typeface="Times New Roman"/>
                <a:cs typeface="Times New Roman"/>
                <a:sym typeface="Times New Roman"/>
              </a:rPr>
              <a:t>02 item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đánh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khối</a:t>
            </a:r>
            <a:r>
              <a:rPr lang="en-US" sz="1600" dirty="0">
                <a:solidFill>
                  <a:schemeClr val="dk1"/>
                </a:solidFill>
                <a:latin typeface="Times New Roman"/>
                <a:ea typeface="Times New Roman"/>
                <a:cs typeface="Times New Roman"/>
                <a:sym typeface="Times New Roman"/>
              </a:rPr>
              <a:t> mod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phát</a:t>
            </a:r>
            <a:r>
              <a:rPr lang="en-US" sz="1600" dirty="0">
                <a:solidFill>
                  <a:schemeClr val="dk1"/>
                </a:solidFill>
                <a:latin typeface="Times New Roman"/>
                <a:ea typeface="Times New Roman"/>
                <a:cs typeface="Times New Roman"/>
                <a:sym typeface="Times New Roman"/>
              </a:rPr>
              <a:t> PO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14</a:t>
            </a:r>
            <a:r>
              <a:rPr lang="en-US" sz="2000"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3. 	VẬN </a:t>
            </a:r>
            <a:r>
              <a:rPr lang="en-US" sz="2000" b="1" dirty="0">
                <a:solidFill>
                  <a:schemeClr val="dk1"/>
                </a:solidFill>
                <a:latin typeface="Times New Roman"/>
                <a:ea typeface="Times New Roman"/>
                <a:cs typeface="Times New Roman"/>
                <a:sym typeface="Times New Roman"/>
              </a:rPr>
              <a:t>CHUYỂN, THUÊ KHO Ở NGA</a:t>
            </a:r>
            <a:endParaRPr sz="2000" b="1"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phương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án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vướng</a:t>
            </a:r>
            <a:r>
              <a:rPr lang="en-US" sz="1600" dirty="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mắc</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thể</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hàng</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cần</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vận</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chuyển</a:t>
            </a:r>
            <a:r>
              <a:rPr lang="en-US" sz="1600" dirty="0" smtClean="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case by case (HS Code, product description, commercial invoice and purpose of use information in order to take action).</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Submit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Airlines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approval.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thì</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mất</a:t>
            </a:r>
            <a:r>
              <a:rPr lang="en-US" sz="1600" dirty="0">
                <a:solidFill>
                  <a:schemeClr val="dk1"/>
                </a:solidFill>
                <a:latin typeface="Times New Roman"/>
                <a:ea typeface="Times New Roman"/>
                <a:cs typeface="Times New Roman"/>
                <a:sym typeface="Times New Roman"/>
              </a:rPr>
              <a:t> 3-5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Còn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Mỹ</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nay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được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Nga</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--&gt; </a:t>
            </a:r>
            <a:r>
              <a:rPr lang="en-US" sz="1600" dirty="0" err="1">
                <a:solidFill>
                  <a:schemeClr val="dk1"/>
                </a:solidFill>
                <a:latin typeface="Times New Roman"/>
                <a:ea typeface="Times New Roman"/>
                <a:cs typeface="Times New Roman"/>
                <a:sym typeface="Times New Roman"/>
              </a:rPr>
              <a:t>vẫn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khăn</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khác</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Thuê</a:t>
            </a:r>
            <a:r>
              <a:rPr lang="en-US" sz="1600" dirty="0" smtClean="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ở </a:t>
            </a:r>
            <a:r>
              <a:rPr lang="en-US" sz="1600" dirty="0" err="1">
                <a:solidFill>
                  <a:schemeClr val="dk1"/>
                </a:solidFill>
                <a:latin typeface="Times New Roman"/>
                <a:ea typeface="Times New Roman"/>
                <a:cs typeface="Times New Roman"/>
                <a:sym typeface="Times New Roman"/>
              </a:rPr>
              <a:t>Nga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phải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thủ</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vi </a:t>
            </a:r>
            <a:r>
              <a:rPr lang="en-US" sz="1600" dirty="0" err="1">
                <a:solidFill>
                  <a:schemeClr val="dk1"/>
                </a:solidFill>
                <a:latin typeface="Times New Roman"/>
                <a:ea typeface="Times New Roman"/>
                <a:cs typeface="Times New Roman"/>
                <a:sym typeface="Times New Roman"/>
              </a:rPr>
              <a:t>phạm</a:t>
            </a:r>
            <a:r>
              <a:rPr lang="en-US" sz="1600" dirty="0">
                <a:solidFill>
                  <a:schemeClr val="dk1"/>
                </a:solidFill>
                <a:latin typeface="Times New Roman"/>
                <a:ea typeface="Times New Roman"/>
                <a:cs typeface="Times New Roman"/>
                <a:sym typeface="Times New Roman"/>
              </a:rPr>
              <a:t> cam </a:t>
            </a:r>
            <a:r>
              <a:rPr lang="en-US" sz="1600" dirty="0" err="1">
                <a:solidFill>
                  <a:schemeClr val="dk1"/>
                </a:solidFill>
                <a:latin typeface="Times New Roman"/>
                <a:ea typeface="Times New Roman"/>
                <a:cs typeface="Times New Roman"/>
                <a:sym typeface="Times New Roman"/>
              </a:rPr>
              <a:t>kết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xuất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OEM.</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93721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74600</TotalTime>
  <Words>12627</Words>
  <Application>Microsoft Office PowerPoint</Application>
  <PresentationFormat>Widescreen</PresentationFormat>
  <Paragraphs>2584</Paragraphs>
  <Slides>69</Slides>
  <Notes>59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MS PGothic</vt:lpstr>
      <vt:lpstr>Arial</vt:lpstr>
      <vt:lpstr>Calibri</vt:lpstr>
      <vt:lpstr>Cambria</vt:lpstr>
      <vt:lpstr>Montserrat</vt:lpstr>
      <vt:lpstr>Montserrat SemiBold</vt:lpstr>
      <vt:lpstr>Open Sans</vt:lpstr>
      <vt:lpstr>Tahoma</vt:lpstr>
      <vt:lpstr>Times New Roman</vt:lpstr>
      <vt:lpstr>Wingdings</vt:lpstr>
      <vt:lpstr>16-9 MASTER TEMPLATE</vt:lpstr>
      <vt:lpstr>BÁO CÁO KỸ THUẬT (Tuần 13: 24/03/2025 – 30/03/2025)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A320/ A321 </vt:lpstr>
      <vt:lpstr>TÌNH TRẠNG KỸ THUẬT ĐỘI BAY – A350</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PowerPoint Presentation</vt:lpstr>
      <vt:lpstr>TÌNH TRẠNG KỸ THUẬT ĐỘI BAY – ATR72</vt:lpstr>
      <vt:lpstr>PowerPoint Presentation</vt:lpstr>
      <vt:lpstr>DISPATCH RELIABILITY W13 (24/03/2025-30/03/2025)</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Dinh Gia Hoang-Tech</cp:lastModifiedBy>
  <cp:revision>11690</cp:revision>
  <cp:lastPrinted>2019-03-27T09:25:07Z</cp:lastPrinted>
  <dcterms:created xsi:type="dcterms:W3CDTF">2018-12-27T04:50:36Z</dcterms:created>
  <dcterms:modified xsi:type="dcterms:W3CDTF">2025-04-04T08:06:58Z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