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xml" ContentType="application/vnd.openxmlformats-officedocument.presentationml.tags+xml"/>
  <Override PartName="/ppt/notesSlides/notesSlide25.xml" ContentType="application/vnd.openxmlformats-officedocument.presentationml.notesSlide+xml"/>
  <Override PartName="/ppt/charts/chart7.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9.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0.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1.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5.xml" ContentType="application/vnd.openxmlformats-officedocument.drawingml.chart+xml"/>
  <Override PartName="/ppt/notesSlides/notesSlide38.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39.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40.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27" r:id="rId5"/>
  </p:sldMasterIdLst>
  <p:notesMasterIdLst>
    <p:notesMasterId r:id="rId74"/>
  </p:notesMasterIdLst>
  <p:sldIdLst>
    <p:sldId id="11486" r:id="rId6"/>
    <p:sldId id="11487" r:id="rId7"/>
    <p:sldId id="11488" r:id="rId8"/>
    <p:sldId id="11899" r:id="rId9"/>
    <p:sldId id="11493" r:id="rId10"/>
    <p:sldId id="11900" r:id="rId11"/>
    <p:sldId id="11901" r:id="rId12"/>
    <p:sldId id="11505" r:id="rId13"/>
    <p:sldId id="11902" r:id="rId14"/>
    <p:sldId id="11895" r:id="rId15"/>
    <p:sldId id="11903" r:id="rId16"/>
    <p:sldId id="11897" r:id="rId17"/>
    <p:sldId id="11898" r:id="rId18"/>
    <p:sldId id="11904" r:id="rId19"/>
    <p:sldId id="11905" r:id="rId20"/>
    <p:sldId id="11906" r:id="rId21"/>
    <p:sldId id="11907" r:id="rId22"/>
    <p:sldId id="11908" r:id="rId23"/>
    <p:sldId id="11909" r:id="rId24"/>
    <p:sldId id="11910" r:id="rId25"/>
    <p:sldId id="11911" r:id="rId26"/>
    <p:sldId id="11912" r:id="rId27"/>
    <p:sldId id="11913" r:id="rId28"/>
    <p:sldId id="11869" r:id="rId29"/>
    <p:sldId id="11914" r:id="rId30"/>
    <p:sldId id="11915" r:id="rId31"/>
    <p:sldId id="11916" r:id="rId32"/>
    <p:sldId id="11917" r:id="rId33"/>
    <p:sldId id="11918" r:id="rId34"/>
    <p:sldId id="11919" r:id="rId35"/>
    <p:sldId id="11920" r:id="rId36"/>
    <p:sldId id="11921" r:id="rId37"/>
    <p:sldId id="11922" r:id="rId38"/>
    <p:sldId id="11923" r:id="rId39"/>
    <p:sldId id="11924" r:id="rId40"/>
    <p:sldId id="11925" r:id="rId41"/>
    <p:sldId id="11926" r:id="rId42"/>
    <p:sldId id="11927" r:id="rId43"/>
    <p:sldId id="11928" r:id="rId44"/>
    <p:sldId id="11929" r:id="rId45"/>
    <p:sldId id="11930" r:id="rId46"/>
    <p:sldId id="11931" r:id="rId47"/>
    <p:sldId id="11889" r:id="rId48"/>
    <p:sldId id="11890" r:id="rId49"/>
    <p:sldId id="11891" r:id="rId50"/>
    <p:sldId id="11836" r:id="rId51"/>
    <p:sldId id="11545" r:id="rId52"/>
    <p:sldId id="11892" r:id="rId53"/>
    <p:sldId id="11893" r:id="rId54"/>
    <p:sldId id="11894" r:id="rId55"/>
    <p:sldId id="11871" r:id="rId56"/>
    <p:sldId id="11872" r:id="rId57"/>
    <p:sldId id="11873" r:id="rId58"/>
    <p:sldId id="11874" r:id="rId59"/>
    <p:sldId id="11875" r:id="rId60"/>
    <p:sldId id="11876" r:id="rId61"/>
    <p:sldId id="11877" r:id="rId62"/>
    <p:sldId id="11878" r:id="rId63"/>
    <p:sldId id="11879" r:id="rId64"/>
    <p:sldId id="11880" r:id="rId65"/>
    <p:sldId id="11881" r:id="rId66"/>
    <p:sldId id="11882" r:id="rId67"/>
    <p:sldId id="11883" r:id="rId68"/>
    <p:sldId id="11884" r:id="rId69"/>
    <p:sldId id="11885" r:id="rId70"/>
    <p:sldId id="11886" r:id="rId71"/>
    <p:sldId id="11887" r:id="rId72"/>
    <p:sldId id="11888" r:id="rId7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76" autoAdjust="0"/>
    <p:restoredTop sz="95337" autoAdjust="0"/>
  </p:normalViewPr>
  <p:slideViewPr>
    <p:cSldViewPr>
      <p:cViewPr varScale="1">
        <p:scale>
          <a:sx n="113" d="100"/>
          <a:sy n="113" d="100"/>
        </p:scale>
        <p:origin x="130" y="96"/>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charts/_rels/chart1.xml.rels><?xml version="1.0" encoding="UTF-8" standalone="yes"?>
<Relationships xmlns="http://schemas.openxmlformats.org/package/2006/relationships"><Relationship Id="rId2" Type="http://schemas.openxmlformats.org/officeDocument/2006/relationships/oleObject" Target="file:///D:\Documents\01.%20VNA\01.%20MOC\02.%20C&#244;ng%20vi&#7879;c%20chung\03.%20B&#225;o%20c&#225;o%20tu&#7847;n\2025%20W11\W11%20(10.03-16.03.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1\W11%20(10.03-16.03.2025).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11\W11%20(10.03-16.03.2025).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11\W11%20(10.03-16.03.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1\W11%20(10.03-16.03.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1\W11%20(10.03-16.03.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H:\Drive%20c&#7911;a%20t&#244;i\BAO%20CAO%20DO%20TIN%20CAY\BAO%20CAO%20TUAN\BC%20chu%20nhat\2025\11\DR\DR-W11.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11\W11%20(10.03-16.03.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'[W11 (10.03-16.03.2025).xlsx]Data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'[W11 (10.03-16.03.2025).xlsx]Data Chart'!$B$11:$B$16</c:f>
              <c:strCache>
                <c:ptCount val="6"/>
                <c:pt idx="0">
                  <c:v>A320</c:v>
                </c:pt>
                <c:pt idx="1">
                  <c:v>A321</c:v>
                </c:pt>
                <c:pt idx="2">
                  <c:v>A350</c:v>
                </c:pt>
                <c:pt idx="3">
                  <c:v>B787</c:v>
                </c:pt>
                <c:pt idx="4">
                  <c:v>ATR72</c:v>
                </c:pt>
                <c:pt idx="5">
                  <c:v>Tất cả</c:v>
                </c:pt>
              </c:strCache>
            </c:strRef>
          </c:cat>
          <c:val>
            <c:numRef>
              <c:f>'[W11 (10.03-16.03.2025).xlsx]Data Chart'!$C$11:$C$16</c:f>
              <c:numCache>
                <c:formatCode>General</c:formatCode>
                <c:ptCount val="6"/>
                <c:pt idx="0">
                  <c:v>0</c:v>
                </c:pt>
                <c:pt idx="1">
                  <c:v>4</c:v>
                </c:pt>
                <c:pt idx="2">
                  <c:v>0</c:v>
                </c:pt>
                <c:pt idx="3">
                  <c:v>2</c:v>
                </c:pt>
                <c:pt idx="4">
                  <c:v>1</c:v>
                </c:pt>
                <c:pt idx="5">
                  <c:v>7</c:v>
                </c:pt>
              </c:numCache>
            </c:numRef>
          </c:val>
          <c:extLst xmlns:c15="http://schemas.microsoft.com/office/drawing/2012/chart">
            <c:ext xmlns:c16="http://schemas.microsoft.com/office/drawing/2014/chart" uri="{C3380CC4-5D6E-409C-BE32-E72D297353CC}">
              <c16:uniqueId val="{00000000-394F-4598-8977-D13E6F91193E}"/>
            </c:ext>
          </c:extLst>
        </c:ser>
        <c:ser>
          <c:idx val="1"/>
          <c:order val="1"/>
          <c:tx>
            <c:strRef>
              <c:f>'[W11 (10.03-16.03.2025).xlsx]Data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'[W11 (10.03-16.03.2025).xlsx]Data Chart'!$B$11:$B$16</c:f>
              <c:strCache>
                <c:ptCount val="6"/>
                <c:pt idx="0">
                  <c:v>A320</c:v>
                </c:pt>
                <c:pt idx="1">
                  <c:v>A321</c:v>
                </c:pt>
                <c:pt idx="2">
                  <c:v>A350</c:v>
                </c:pt>
                <c:pt idx="3">
                  <c:v>B787</c:v>
                </c:pt>
                <c:pt idx="4">
                  <c:v>ATR72</c:v>
                </c:pt>
                <c:pt idx="5">
                  <c:v>Tất cả</c:v>
                </c:pt>
              </c:strCache>
            </c:strRef>
          </c:cat>
          <c:val>
            <c:numRef>
              <c:f>'[W11 (10.03-16.03.2025).xlsx]Data Chart'!$D$11:$D$16</c:f>
              <c:numCache>
                <c:formatCode>General</c:formatCode>
                <c:ptCount val="6"/>
                <c:pt idx="0">
                  <c:v>0</c:v>
                </c:pt>
                <c:pt idx="1">
                  <c:v>3</c:v>
                </c:pt>
                <c:pt idx="2">
                  <c:v>0</c:v>
                </c:pt>
                <c:pt idx="3">
                  <c:v>1</c:v>
                </c:pt>
                <c:pt idx="4">
                  <c:v>1</c:v>
                </c:pt>
                <c:pt idx="5">
                  <c:v>5</c:v>
                </c:pt>
              </c:numCache>
            </c:numRef>
          </c:val>
          <c:extLst>
            <c:ext xmlns:c16="http://schemas.microsoft.com/office/drawing/2014/chart" uri="{C3380CC4-5D6E-409C-BE32-E72D297353CC}">
              <c16:uniqueId val="{00000001-394F-4598-8977-D13E6F91193E}"/>
            </c:ext>
          </c:extLst>
        </c:ser>
        <c:dLbls>
          <c:dLblPos val="outEnd"/>
          <c:showLegendKey val="0"/>
          <c:showVal val="1"/>
          <c:showCatName val="0"/>
          <c:showSerName val="0"/>
          <c:showPercent val="0"/>
          <c:showBubbleSize val="0"/>
        </c:dLbls>
        <c:gapWidth val="219"/>
        <c:overlap val="-27"/>
        <c:axId val="318750776"/>
        <c:axId val="318757832"/>
        <c:extLst/>
      </c:barChart>
      <c:catAx>
        <c:axId val="318750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7832"/>
        <c:crosses val="autoZero"/>
        <c:auto val="1"/>
        <c:lblAlgn val="ctr"/>
        <c:lblOffset val="100"/>
        <c:noMultiLvlLbl val="0"/>
      </c:catAx>
      <c:valAx>
        <c:axId val="318757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0776"/>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'[W11 (10.03-16.03.2025).xlsx]Data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'[W11 (10.03-16.03.2025).xlsx]Data Chart'!$B$21:$B$26</c:f>
              <c:strCache>
                <c:ptCount val="6"/>
                <c:pt idx="0">
                  <c:v>A320</c:v>
                </c:pt>
                <c:pt idx="1">
                  <c:v>A321</c:v>
                </c:pt>
                <c:pt idx="2">
                  <c:v>A350</c:v>
                </c:pt>
                <c:pt idx="3">
                  <c:v>B787</c:v>
                </c:pt>
                <c:pt idx="4">
                  <c:v>ATR72</c:v>
                </c:pt>
                <c:pt idx="5">
                  <c:v>Tất cả</c:v>
                </c:pt>
              </c:strCache>
            </c:strRef>
          </c:cat>
          <c:val>
            <c:numRef>
              <c:f>'[W11 (10.03-16.03.2025).xlsx]Data Chart'!$C$21:$C$26</c:f>
              <c:numCache>
                <c:formatCode>General</c:formatCode>
                <c:ptCount val="6"/>
                <c:pt idx="0">
                  <c:v>0</c:v>
                </c:pt>
                <c:pt idx="1">
                  <c:v>2</c:v>
                </c:pt>
                <c:pt idx="2">
                  <c:v>0</c:v>
                </c:pt>
                <c:pt idx="3">
                  <c:v>0</c:v>
                </c:pt>
                <c:pt idx="4">
                  <c:v>1</c:v>
                </c:pt>
                <c:pt idx="5">
                  <c:v>3</c:v>
                </c:pt>
              </c:numCache>
            </c:numRef>
          </c:val>
          <c:extLst xmlns:c15="http://schemas.microsoft.com/office/drawing/2012/chart">
            <c:ext xmlns:c16="http://schemas.microsoft.com/office/drawing/2014/chart" uri="{C3380CC4-5D6E-409C-BE32-E72D297353CC}">
              <c16:uniqueId val="{00000000-3284-480E-9634-7373394F357B}"/>
            </c:ext>
          </c:extLst>
        </c:ser>
        <c:ser>
          <c:idx val="1"/>
          <c:order val="1"/>
          <c:tx>
            <c:strRef>
              <c:f>'[W11 (10.03-16.03.2025).xlsx]Data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'[W11 (10.03-16.03.2025).xlsx]Data Chart'!$B$21:$B$26</c:f>
              <c:strCache>
                <c:ptCount val="6"/>
                <c:pt idx="0">
                  <c:v>A320</c:v>
                </c:pt>
                <c:pt idx="1">
                  <c:v>A321</c:v>
                </c:pt>
                <c:pt idx="2">
                  <c:v>A350</c:v>
                </c:pt>
                <c:pt idx="3">
                  <c:v>B787</c:v>
                </c:pt>
                <c:pt idx="4">
                  <c:v>ATR72</c:v>
                </c:pt>
                <c:pt idx="5">
                  <c:v>Tất cả</c:v>
                </c:pt>
              </c:strCache>
            </c:strRef>
          </c:cat>
          <c:val>
            <c:numRef>
              <c:f>'[W11 (10.03-16.03.2025).xlsx]Data Chart'!$D$21:$D$26</c:f>
              <c:numCache>
                <c:formatCode>General</c:formatCode>
                <c:ptCount val="6"/>
                <c:pt idx="0">
                  <c:v>0</c:v>
                </c:pt>
                <c:pt idx="1">
                  <c:v>0</c:v>
                </c:pt>
                <c:pt idx="2">
                  <c:v>0</c:v>
                </c:pt>
                <c:pt idx="3">
                  <c:v>0</c:v>
                </c:pt>
                <c:pt idx="4">
                  <c:v>1</c:v>
                </c:pt>
                <c:pt idx="5">
                  <c:v>1</c:v>
                </c:pt>
              </c:numCache>
            </c:numRef>
          </c:val>
          <c:extLst>
            <c:ext xmlns:c16="http://schemas.microsoft.com/office/drawing/2014/chart" uri="{C3380CC4-5D6E-409C-BE32-E72D297353CC}">
              <c16:uniqueId val="{00000001-3284-480E-9634-7373394F357B}"/>
            </c:ext>
          </c:extLst>
        </c:ser>
        <c:dLbls>
          <c:showLegendKey val="0"/>
          <c:showVal val="0"/>
          <c:showCatName val="0"/>
          <c:showSerName val="0"/>
          <c:showPercent val="0"/>
          <c:showBubbleSize val="0"/>
        </c:dLbls>
        <c:gapWidth val="219"/>
        <c:overlap val="-27"/>
        <c:axId val="318757048"/>
        <c:axId val="318756656"/>
        <c:extLst/>
      </c:barChart>
      <c:catAx>
        <c:axId val="318757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6656"/>
        <c:crosses val="autoZero"/>
        <c:auto val="1"/>
        <c:lblAlgn val="ctr"/>
        <c:lblOffset val="100"/>
        <c:noMultiLvlLbl val="0"/>
      </c:catAx>
      <c:valAx>
        <c:axId val="318756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704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'[W11 (10.03-16.03.2025).xlsx]Data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'[W11 (10.03-16.03.2025).xlsx]Data Chart'!$B$3:$B$8</c:f>
              <c:strCache>
                <c:ptCount val="6"/>
                <c:pt idx="0">
                  <c:v>A320</c:v>
                </c:pt>
                <c:pt idx="1">
                  <c:v>A321</c:v>
                </c:pt>
                <c:pt idx="2">
                  <c:v>A350</c:v>
                </c:pt>
                <c:pt idx="3">
                  <c:v>B787</c:v>
                </c:pt>
                <c:pt idx="4">
                  <c:v>ATR72</c:v>
                </c:pt>
                <c:pt idx="5">
                  <c:v>Tất cả</c:v>
                </c:pt>
              </c:strCache>
            </c:strRef>
          </c:cat>
          <c:val>
            <c:numRef>
              <c:f>'[W11 (10.03-16.03.2025).xlsx]Data Chart'!$C$3:$C$8</c:f>
              <c:numCache>
                <c:formatCode>General</c:formatCode>
                <c:ptCount val="6"/>
                <c:pt idx="0">
                  <c:v>0</c:v>
                </c:pt>
                <c:pt idx="1">
                  <c:v>2</c:v>
                </c:pt>
                <c:pt idx="2">
                  <c:v>0</c:v>
                </c:pt>
                <c:pt idx="3">
                  <c:v>0</c:v>
                </c:pt>
                <c:pt idx="4">
                  <c:v>0</c:v>
                </c:pt>
                <c:pt idx="5">
                  <c:v>2</c:v>
                </c:pt>
              </c:numCache>
            </c:numRef>
          </c:val>
          <c:extLst xmlns:c15="http://schemas.microsoft.com/office/drawing/2012/chart">
            <c:ext xmlns:c16="http://schemas.microsoft.com/office/drawing/2014/chart" uri="{C3380CC4-5D6E-409C-BE32-E72D297353CC}">
              <c16:uniqueId val="{00000000-FDC3-4B4E-B9B1-E325C96DB083}"/>
            </c:ext>
          </c:extLst>
        </c:ser>
        <c:ser>
          <c:idx val="1"/>
          <c:order val="1"/>
          <c:tx>
            <c:strRef>
              <c:f>'[W11 (10.03-16.03.2025).xlsx]Data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'[W11 (10.03-16.03.2025).xlsx]Data Chart'!$B$3:$B$8</c:f>
              <c:strCache>
                <c:ptCount val="6"/>
                <c:pt idx="0">
                  <c:v>A320</c:v>
                </c:pt>
                <c:pt idx="1">
                  <c:v>A321</c:v>
                </c:pt>
                <c:pt idx="2">
                  <c:v>A350</c:v>
                </c:pt>
                <c:pt idx="3">
                  <c:v>B787</c:v>
                </c:pt>
                <c:pt idx="4">
                  <c:v>ATR72</c:v>
                </c:pt>
                <c:pt idx="5">
                  <c:v>Tất cả</c:v>
                </c:pt>
              </c:strCache>
            </c:strRef>
          </c:cat>
          <c:val>
            <c:numRef>
              <c:f>'[W11 (10.03-16.03.2025).xlsx]Data Chart'!$D$3:$D$8</c:f>
              <c:numCache>
                <c:formatCode>General</c:formatCode>
                <c:ptCount val="6"/>
                <c:pt idx="0">
                  <c:v>0</c:v>
                </c:pt>
                <c:pt idx="1">
                  <c:v>3</c:v>
                </c:pt>
                <c:pt idx="2">
                  <c:v>0</c:v>
                </c:pt>
                <c:pt idx="3">
                  <c:v>1</c:v>
                </c:pt>
                <c:pt idx="4">
                  <c:v>1</c:v>
                </c:pt>
                <c:pt idx="5">
                  <c:v>5</c:v>
                </c:pt>
              </c:numCache>
            </c:numRef>
          </c:val>
          <c:extLst>
            <c:ext xmlns:c16="http://schemas.microsoft.com/office/drawing/2014/chart" uri="{C3380CC4-5D6E-409C-BE32-E72D297353CC}">
              <c16:uniqueId val="{00000001-FDC3-4B4E-B9B1-E325C96DB083}"/>
            </c:ext>
          </c:extLst>
        </c:ser>
        <c:dLbls>
          <c:dLblPos val="outEnd"/>
          <c:showLegendKey val="0"/>
          <c:showVal val="1"/>
          <c:showCatName val="0"/>
          <c:showSerName val="0"/>
          <c:showPercent val="0"/>
          <c:showBubbleSize val="0"/>
        </c:dLbls>
        <c:gapWidth val="219"/>
        <c:overlap val="-27"/>
        <c:axId val="318908544"/>
        <c:axId val="318912072"/>
        <c:extLst/>
      </c:barChart>
      <c:catAx>
        <c:axId val="31890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2072"/>
        <c:crosses val="autoZero"/>
        <c:auto val="1"/>
        <c:lblAlgn val="ctr"/>
        <c:lblOffset val="100"/>
        <c:noMultiLvlLbl val="0"/>
      </c:catAx>
      <c:valAx>
        <c:axId val="318912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08544"/>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'[W11 (10.03-16.03.2025).xlsx]Data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'[W11 (10.03-16.03.2025).xlsx]Data Chart'!$B$28:$B$33</c:f>
              <c:strCache>
                <c:ptCount val="6"/>
                <c:pt idx="0">
                  <c:v>A320</c:v>
                </c:pt>
                <c:pt idx="1">
                  <c:v>A321</c:v>
                </c:pt>
                <c:pt idx="2">
                  <c:v>A350</c:v>
                </c:pt>
                <c:pt idx="3">
                  <c:v>B787</c:v>
                </c:pt>
                <c:pt idx="4">
                  <c:v>ATR72</c:v>
                </c:pt>
                <c:pt idx="5">
                  <c:v>Tất cả</c:v>
                </c:pt>
              </c:strCache>
            </c:strRef>
          </c:cat>
          <c:val>
            <c:numRef>
              <c:f>'[W11 (10.03-16.03.2025).xlsx]Data Chart'!$C$28:$C$33</c:f>
              <c:numCache>
                <c:formatCode>General</c:formatCode>
                <c:ptCount val="6"/>
                <c:pt idx="0">
                  <c:v>0</c:v>
                </c:pt>
                <c:pt idx="1">
                  <c:v>1</c:v>
                </c:pt>
                <c:pt idx="2">
                  <c:v>0</c:v>
                </c:pt>
                <c:pt idx="3">
                  <c:v>0</c:v>
                </c:pt>
                <c:pt idx="4">
                  <c:v>0</c:v>
                </c:pt>
                <c:pt idx="5">
                  <c:v>1</c:v>
                </c:pt>
              </c:numCache>
            </c:numRef>
          </c:val>
          <c:extLst xmlns:c15="http://schemas.microsoft.com/office/drawing/2012/chart">
            <c:ext xmlns:c16="http://schemas.microsoft.com/office/drawing/2014/chart" uri="{C3380CC4-5D6E-409C-BE32-E72D297353CC}">
              <c16:uniqueId val="{00000000-F3B4-4621-BC28-C0A89B3B5213}"/>
            </c:ext>
          </c:extLst>
        </c:ser>
        <c:ser>
          <c:idx val="1"/>
          <c:order val="1"/>
          <c:tx>
            <c:strRef>
              <c:f>'[W11 (10.03-16.03.2025).xlsx]Data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'[W11 (10.03-16.03.2025).xlsx]Data Chart'!$B$28:$B$33</c:f>
              <c:strCache>
                <c:ptCount val="6"/>
                <c:pt idx="0">
                  <c:v>A320</c:v>
                </c:pt>
                <c:pt idx="1">
                  <c:v>A321</c:v>
                </c:pt>
                <c:pt idx="2">
                  <c:v>A350</c:v>
                </c:pt>
                <c:pt idx="3">
                  <c:v>B787</c:v>
                </c:pt>
                <c:pt idx="4">
                  <c:v>ATR72</c:v>
                </c:pt>
                <c:pt idx="5">
                  <c:v>Tất cả</c:v>
                </c:pt>
              </c:strCache>
            </c:strRef>
          </c:cat>
          <c:val>
            <c:numRef>
              <c:f>'[W11 (10.03-16.03.2025).xlsx]Data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F3B4-4621-BC28-C0A89B3B5213}"/>
            </c:ext>
          </c:extLst>
        </c:ser>
        <c:dLbls>
          <c:showLegendKey val="0"/>
          <c:showVal val="0"/>
          <c:showCatName val="0"/>
          <c:showSerName val="0"/>
          <c:showPercent val="0"/>
          <c:showBubbleSize val="0"/>
        </c:dLbls>
        <c:gapWidth val="219"/>
        <c:overlap val="-27"/>
        <c:axId val="318911680"/>
        <c:axId val="318910504"/>
        <c:extLst/>
      </c:barChart>
      <c:catAx>
        <c:axId val="318911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0504"/>
        <c:crosses val="autoZero"/>
        <c:auto val="1"/>
        <c:lblAlgn val="ctr"/>
        <c:lblOffset val="100"/>
        <c:noMultiLvlLbl val="0"/>
      </c:catAx>
      <c:valAx>
        <c:axId val="318910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168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'[W11 (10.03-16.03.2025).xlsx]Thống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'[W11 (10.03-16.03.2025).xlsx]Thống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CBE1-49A2-9692-D651F1F93151}"/>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'[W11 (10.03-16.03.2025).xlsx]Thống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'[W11 (10.03-16.03.2025).xlsx]Thống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numCache>
            </c:numRef>
          </c:val>
          <c:smooth val="0"/>
          <c:extLst>
            <c:ext xmlns:c16="http://schemas.microsoft.com/office/drawing/2014/chart" uri="{C3380CC4-5D6E-409C-BE32-E72D297353CC}">
              <c16:uniqueId val="{00000001-CBE1-49A2-9692-D651F1F93151}"/>
            </c:ext>
          </c:extLst>
        </c:ser>
        <c:dLbls>
          <c:showLegendKey val="0"/>
          <c:showVal val="0"/>
          <c:showCatName val="0"/>
          <c:showSerName val="0"/>
          <c:showPercent val="0"/>
          <c:showBubbleSize val="0"/>
        </c:dLbls>
        <c:marker val="1"/>
        <c:smooth val="0"/>
        <c:axId val="265590648"/>
        <c:axId val="266798184"/>
      </c:lineChart>
      <c:catAx>
        <c:axId val="2655906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6798184"/>
        <c:crosses val="autoZero"/>
        <c:auto val="1"/>
        <c:lblAlgn val="ctr"/>
        <c:lblOffset val="100"/>
        <c:noMultiLvlLbl val="0"/>
      </c:catAx>
      <c:valAx>
        <c:axId val="2667981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5590648"/>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'[W11 (10.03-16.03.2025).xlsx]Thống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DBF0-4323-9BE2-0E067BED9850}"/>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'[W11 (10.03-16.03.2025).xlsx]Thống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numCache>
            </c:numRef>
          </c:val>
          <c:smooth val="0"/>
          <c:extLst>
            <c:ext xmlns:c16="http://schemas.microsoft.com/office/drawing/2014/chart" uri="{C3380CC4-5D6E-409C-BE32-E72D297353CC}">
              <c16:uniqueId val="{00000001-DBF0-4323-9BE2-0E067BED9850}"/>
            </c:ext>
          </c:extLst>
        </c:ser>
        <c:dLbls>
          <c:showLegendKey val="0"/>
          <c:showVal val="0"/>
          <c:showCatName val="0"/>
          <c:showSerName val="0"/>
          <c:showPercent val="0"/>
          <c:showBubbleSize val="0"/>
        </c:dLbls>
        <c:marker val="1"/>
        <c:smooth val="0"/>
        <c:axId val="317742616"/>
        <c:axId val="317745056"/>
      </c:lineChart>
      <c:catAx>
        <c:axId val="31774261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5056"/>
        <c:crosses val="autoZero"/>
        <c:auto val="1"/>
        <c:lblAlgn val="ctr"/>
        <c:lblOffset val="100"/>
        <c:noMultiLvlLbl val="0"/>
      </c:catAx>
      <c:valAx>
        <c:axId val="3177450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2616"/>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W10</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8107-4082-A738-80AB2055BC6B}"/>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99.848637739656908</c:v>
                </c:pt>
                <c:pt idx="1">
                  <c:v>99.470899470899468</c:v>
                </c:pt>
                <c:pt idx="2">
                  <c:v>99.682539682539684</c:v>
                </c:pt>
                <c:pt idx="3">
                  <c:v>99.6</c:v>
                </c:pt>
              </c:numCache>
            </c:numRef>
          </c:val>
          <c:extLst>
            <c:ext xmlns:c16="http://schemas.microsoft.com/office/drawing/2014/chart" uri="{C3380CC4-5D6E-409C-BE32-E72D297353CC}">
              <c16:uniqueId val="{00000001-8107-4082-A738-80AB2055BC6B}"/>
            </c:ext>
          </c:extLst>
        </c:ser>
        <c:ser>
          <c:idx val="1"/>
          <c:order val="1"/>
          <c:tx>
            <c:strRef>
              <c:f>DR!$D$3</c:f>
              <c:strCache>
                <c:ptCount val="1"/>
                <c:pt idx="0">
                  <c:v>W11</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99.855002416626391</c:v>
                </c:pt>
                <c:pt idx="1">
                  <c:v>100</c:v>
                </c:pt>
                <c:pt idx="2">
                  <c:v>99.713467048710598</c:v>
                </c:pt>
                <c:pt idx="3">
                  <c:v>99.596774193548384</c:v>
                </c:pt>
              </c:numCache>
            </c:numRef>
          </c:val>
          <c:extLst>
            <c:ext xmlns:c16="http://schemas.microsoft.com/office/drawing/2014/chart" uri="{C3380CC4-5D6E-409C-BE32-E72D297353CC}">
              <c16:uniqueId val="{00000002-8107-4082-A738-80AB2055BC6B}"/>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8107-4082-A738-80AB2055BC6B}"/>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8107-4082-A738-80AB2055BC6B}"/>
            </c:ext>
          </c:extLst>
        </c:ser>
        <c:dLbls>
          <c:showLegendKey val="0"/>
          <c:showVal val="0"/>
          <c:showCatName val="0"/>
          <c:showSerName val="0"/>
          <c:showPercent val="0"/>
          <c:showBubbleSize val="0"/>
        </c:dLbls>
        <c:gapWidth val="219"/>
        <c:overlap val="-27"/>
        <c:axId val="275616000"/>
        <c:axId val="275614912"/>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8107-4082-A738-80AB2055BC6B}"/>
                  </c:ext>
                </c:extLst>
              </c15:ser>
            </c15:filteredBarSeries>
          </c:ext>
        </c:extLst>
      </c:barChart>
      <c:catAx>
        <c:axId val="27561600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275614912"/>
        <c:crosses val="autoZero"/>
        <c:auto val="1"/>
        <c:lblAlgn val="ctr"/>
        <c:lblOffset val="100"/>
        <c:noMultiLvlLbl val="0"/>
      </c:catAx>
      <c:valAx>
        <c:axId val="275614912"/>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27561600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29.75</c:v>
                </c:pt>
                <c:pt idx="3">
                  <c:v>28.75</c:v>
                </c:pt>
                <c:pt idx="4">
                  <c:v>26</c:v>
                </c:pt>
                <c:pt idx="5">
                  <c:v>22.75</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Sheet1!$D$8:$AQ$8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Sheet1!$D$9:$AQ$9</c:f>
              <c:numCache>
                <c:formatCode>General</c:formatCode>
                <c:ptCount val="12"/>
                <c:pt idx="0">
                  <c:v>30</c:v>
                </c:pt>
                <c:pt idx="1">
                  <c:v>29</c:v>
                </c:pt>
                <c:pt idx="2">
                  <c:v>30</c:v>
                </c:pt>
                <c:pt idx="3">
                  <c:v>30</c:v>
                </c:pt>
                <c:pt idx="4">
                  <c:v>30</c:v>
                </c:pt>
                <c:pt idx="5">
                  <c:v>29</c:v>
                </c:pt>
                <c:pt idx="6">
                  <c:v>28</c:v>
                </c:pt>
                <c:pt idx="7">
                  <c:v>28</c:v>
                </c:pt>
                <c:pt idx="8">
                  <c:v>27</c:v>
                </c:pt>
                <c:pt idx="9">
                  <c:v>26</c:v>
                </c:pt>
                <c:pt idx="10">
                  <c:v>25</c:v>
                </c:pt>
                <c:pt idx="11">
                  <c:v>25</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Sheet1!$D$10:$AQ$10</c:f>
              <c:numCache>
                <c:formatCode>General</c:formatCode>
                <c:ptCount val="12"/>
                <c:pt idx="0">
                  <c:v>8</c:v>
                </c:pt>
                <c:pt idx="1">
                  <c:v>8</c:v>
                </c:pt>
                <c:pt idx="2">
                  <c:v>8</c:v>
                </c:pt>
                <c:pt idx="3">
                  <c:v>7</c:v>
                </c:pt>
                <c:pt idx="4">
                  <c:v>7</c:v>
                </c:pt>
                <c:pt idx="5">
                  <c:v>7</c:v>
                </c:pt>
                <c:pt idx="6">
                  <c:v>7</c:v>
                </c:pt>
                <c:pt idx="7">
                  <c:v>7</c:v>
                </c:pt>
                <c:pt idx="8">
                  <c:v>6</c:v>
                </c:pt>
                <c:pt idx="9">
                  <c:v>6</c:v>
                </c:pt>
                <c:pt idx="10">
                  <c:v>6</c:v>
                </c:pt>
                <c:pt idx="11">
                  <c:v>6</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Sheet1!$D$11:$AQ$11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Sheet1!$D$7:$AQ$7</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Sheet1!$D$12:$AQ$12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KB tốt + giữ giờ</c:v>
                </c:pt>
              </c:strCache>
            </c:strRef>
          </c:tx>
          <c:spPr>
            <a:ln w="31750" cap="rnd">
              <a:solidFill>
                <a:srgbClr val="FF0000"/>
              </a:solidFill>
              <a:round/>
            </a:ln>
            <a:effectLst/>
          </c:spPr>
          <c:marker>
            <c:symbol val="circle"/>
            <c:size val="27"/>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14.5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0-004B-458A-8713-88F7F4F6F328}"/>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16"/>
          <c:min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majorUnit val="1"/>
      </c:valAx>
      <c:spPr>
        <a:noFill/>
        <a:ln>
          <a:noFill/>
        </a:ln>
        <a:effectLst/>
      </c:spPr>
    </c:plotArea>
    <c:legend>
      <c:legendPos val="b"/>
      <c:layout>
        <c:manualLayout>
          <c:xMode val="edge"/>
          <c:yMode val="edge"/>
          <c:x val="0.10266573533147068"/>
          <c:y val="0.71905697169733995"/>
          <c:w val="0.24463220726441454"/>
          <c:h val="7.8271204498086958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Sheet1!$A$104:$A$115</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Sheet1!$G$104:$G$115</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Sheet1!$C$9:$C$32</c:f>
              <c:numCache>
                <c:formatCode>General</c:formatCode>
                <c:ptCount val="12"/>
                <c:pt idx="0">
                  <c:v>4</c:v>
                </c:pt>
                <c:pt idx="1">
                  <c:v>4</c:v>
                </c:pt>
                <c:pt idx="2">
                  <c:v>4</c:v>
                </c:pt>
                <c:pt idx="3">
                  <c:v>4</c:v>
                </c:pt>
                <c:pt idx="4">
                  <c:v>4</c:v>
                </c:pt>
                <c:pt idx="5">
                  <c:v>4</c:v>
                </c:pt>
                <c:pt idx="6">
                  <c:v>4</c:v>
                </c:pt>
                <c:pt idx="7">
                  <c:v>4</c:v>
                </c:pt>
                <c:pt idx="8">
                  <c:v>3</c:v>
                </c:pt>
                <c:pt idx="9">
                  <c:v>3</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strRef>
              <c:f>'Nguồn lực'!$B$5</c:f>
              <c:strCache>
                <c:ptCount val="1"/>
                <c:pt idx="0">
                  <c:v>KB tốt + giữ giờ</c:v>
                </c:pt>
              </c:strCache>
            </c:strRef>
          </c:tx>
          <c:spPr>
            <a:ln w="2540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2-4D65-4133-A13A-D06D51E9FDF7}"/>
            </c:ext>
          </c:extLst>
        </c:ser>
        <c:dLbls>
          <c:showLegendKey val="0"/>
          <c:showVal val="1"/>
          <c:showCatName val="0"/>
          <c:showSerName val="0"/>
          <c:showPercent val="0"/>
          <c:showBubbleSize val="0"/>
        </c:dLbls>
        <c:marker val="1"/>
        <c:smooth val="0"/>
        <c:axId val="751032904"/>
        <c:axId val="751033624"/>
      </c:lineChart>
      <c:catAx>
        <c:axId val="7510329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3624"/>
        <c:crosses val="autoZero"/>
        <c:auto val="1"/>
        <c:lblAlgn val="ctr"/>
        <c:lblOffset val="100"/>
        <c:noMultiLvlLbl val="0"/>
      </c:catAx>
      <c:valAx>
        <c:axId val="751033624"/>
        <c:scaling>
          <c:orientation val="minMax"/>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2904"/>
        <c:crosses val="autoZero"/>
        <c:crossBetween val="between"/>
        <c:majorUnit val="1"/>
      </c:val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overlay val="0"/>
    </c:title>
    <c:autoTitleDeleted val="0"/>
    <c:plotArea>
      <c:layout/>
      <c:barChart>
        <c:barDir val="col"/>
        <c:grouping val="clustered"/>
        <c:varyColors val="0"/>
        <c:ser>
          <c:idx val="0"/>
          <c:order val="0"/>
          <c:tx>
            <c:strRef>
              <c:f>'[W11 (10.03-16.03.2025).xlsx]Data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'[W11 (10.03-16.03.2025).xlsx]Data Chart'!$A$36:$B$41</c:f>
              <c:strCache>
                <c:ptCount val="6"/>
                <c:pt idx="0">
                  <c:v>A320</c:v>
                </c:pt>
                <c:pt idx="1">
                  <c:v>A321</c:v>
                </c:pt>
                <c:pt idx="2">
                  <c:v>A350</c:v>
                </c:pt>
                <c:pt idx="3">
                  <c:v>B787</c:v>
                </c:pt>
                <c:pt idx="4">
                  <c:v>ATR72</c:v>
                </c:pt>
                <c:pt idx="5">
                  <c:v>Tất cả</c:v>
                </c:pt>
              </c:strCache>
            </c:strRef>
          </c:cat>
          <c:val>
            <c:numRef>
              <c:f>'[W11 (10.03-16.03.2025).xlsx]Data Chart'!$C$36:$C$41</c:f>
              <c:numCache>
                <c:formatCode>General</c:formatCode>
                <c:ptCount val="6"/>
                <c:pt idx="0">
                  <c:v>0</c:v>
                </c:pt>
                <c:pt idx="1">
                  <c:v>6</c:v>
                </c:pt>
                <c:pt idx="2">
                  <c:v>1</c:v>
                </c:pt>
                <c:pt idx="3">
                  <c:v>4</c:v>
                </c:pt>
                <c:pt idx="4">
                  <c:v>0</c:v>
                </c:pt>
                <c:pt idx="5" formatCode="0">
                  <c:v>11</c:v>
                </c:pt>
              </c:numCache>
            </c:numRef>
          </c:val>
          <c:extLst>
            <c:ext xmlns:c16="http://schemas.microsoft.com/office/drawing/2014/chart" uri="{C3380CC4-5D6E-409C-BE32-E72D297353CC}">
              <c16:uniqueId val="{00000000-EC11-43F0-BAB6-1EC1919F4DB7}"/>
            </c:ext>
          </c:extLst>
        </c:ser>
        <c:ser>
          <c:idx val="1"/>
          <c:order val="1"/>
          <c:tx>
            <c:strRef>
              <c:f>'[W11 (10.03-16.03.2025).xlsx]Data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'[W11 (10.03-16.03.2025).xlsx]Data Chart'!$A$36:$B$41</c:f>
              <c:strCache>
                <c:ptCount val="6"/>
                <c:pt idx="0">
                  <c:v>A320</c:v>
                </c:pt>
                <c:pt idx="1">
                  <c:v>A321</c:v>
                </c:pt>
                <c:pt idx="2">
                  <c:v>A350</c:v>
                </c:pt>
                <c:pt idx="3">
                  <c:v>B787</c:v>
                </c:pt>
                <c:pt idx="4">
                  <c:v>ATR72</c:v>
                </c:pt>
                <c:pt idx="5">
                  <c:v>Tất cả</c:v>
                </c:pt>
              </c:strCache>
            </c:strRef>
          </c:cat>
          <c:val>
            <c:numRef>
              <c:f>'[W11 (10.03-16.03.2025).xlsx]Data Chart'!$D$36:$D$41</c:f>
              <c:numCache>
                <c:formatCode>General</c:formatCode>
                <c:ptCount val="6"/>
                <c:pt idx="0">
                  <c:v>0</c:v>
                </c:pt>
                <c:pt idx="1">
                  <c:v>1</c:v>
                </c:pt>
                <c:pt idx="2">
                  <c:v>1</c:v>
                </c:pt>
                <c:pt idx="3">
                  <c:v>2</c:v>
                </c:pt>
                <c:pt idx="4">
                  <c:v>0</c:v>
                </c:pt>
                <c:pt idx="5" formatCode="0">
                  <c:v>4</c:v>
                </c:pt>
              </c:numCache>
            </c:numRef>
          </c:val>
          <c:extLst>
            <c:ext xmlns:c16="http://schemas.microsoft.com/office/drawing/2014/chart" uri="{C3380CC4-5D6E-409C-BE32-E72D297353CC}">
              <c16:uniqueId val="{00000001-EC11-43F0-BAB6-1EC1919F4DB7}"/>
            </c:ext>
          </c:extLst>
        </c:ser>
        <c:dLbls>
          <c:showLegendKey val="0"/>
          <c:showVal val="0"/>
          <c:showCatName val="0"/>
          <c:showSerName val="0"/>
          <c:showPercent val="0"/>
          <c:showBubbleSize val="0"/>
        </c:dLbls>
        <c:gapWidth val="150"/>
        <c:axId val="318754304"/>
        <c:axId val="318751168"/>
      </c:barChart>
      <c:catAx>
        <c:axId val="31875430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8751168"/>
        <c:crosses val="autoZero"/>
        <c:auto val="1"/>
        <c:lblAlgn val="ctr"/>
        <c:lblOffset val="100"/>
        <c:noMultiLvlLbl val="0"/>
      </c:catAx>
      <c:valAx>
        <c:axId val="31875116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8754304"/>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6.3904207516339864E-2</c:v>
                </c:pt>
                <c:pt idx="1">
                  <c:v>7.8143573875952832E-2</c:v>
                </c:pt>
                <c:pt idx="2">
                  <c:v>9.1899323181049125E-2</c:v>
                </c:pt>
                <c:pt idx="3">
                  <c:v>0.195655684754522</c:v>
                </c:pt>
                <c:pt idx="4">
                  <c:v>0.29825800376647843</c:v>
                </c:pt>
                <c:pt idx="5">
                  <c:v>0.24863683127572042</c:v>
                </c:pt>
                <c:pt idx="6">
                  <c:v>0.17805100182149367</c:v>
                </c:pt>
                <c:pt idx="7">
                  <c:v>0.14322349310094429</c:v>
                </c:pt>
                <c:pt idx="8">
                  <c:v>4.3276769713261692E-2</c:v>
                </c:pt>
              </c:numCache>
            </c:numRef>
          </c:val>
          <c:extLst>
            <c:ext xmlns:c16="http://schemas.microsoft.com/office/drawing/2014/chart" uri="{C3380CC4-5D6E-409C-BE32-E72D297353CC}">
              <c16:uniqueId val="{00000000-1E0D-4486-88E6-569ED0BA4C4D}"/>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6.4617809298660372E-2</c:v>
                </c:pt>
                <c:pt idx="1">
                  <c:v>7.9938176462529292E-2</c:v>
                </c:pt>
                <c:pt idx="2">
                  <c:v>8.7428291062801977E-2</c:v>
                </c:pt>
                <c:pt idx="3">
                  <c:v>0.197265625</c:v>
                </c:pt>
                <c:pt idx="4">
                  <c:v>0.29100115740740762</c:v>
                </c:pt>
                <c:pt idx="5">
                  <c:v>0.27144249512670576</c:v>
                </c:pt>
                <c:pt idx="6">
                  <c:v>0.15807748538011696</c:v>
                </c:pt>
                <c:pt idx="7">
                  <c:v>0.15099771448663879</c:v>
                </c:pt>
                <c:pt idx="8">
                  <c:v>4.3187347931873538E-2</c:v>
                </c:pt>
              </c:numCache>
            </c:numRef>
          </c:val>
          <c:extLst>
            <c:ext xmlns:c16="http://schemas.microsoft.com/office/drawing/2014/chart" uri="{C3380CC4-5D6E-409C-BE32-E72D297353CC}">
              <c16:uniqueId val="{00000001-1E0D-4486-88E6-569ED0BA4C4D}"/>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6.4761904761904754</c:v>
                </c:pt>
                <c:pt idx="1">
                  <c:v>5.973684210526315</c:v>
                </c:pt>
                <c:pt idx="2">
                  <c:v>5.628571428571429</c:v>
                </c:pt>
                <c:pt idx="3">
                  <c:v>2.3000000000000003</c:v>
                </c:pt>
                <c:pt idx="4">
                  <c:v>2.9327731092436973</c:v>
                </c:pt>
                <c:pt idx="5">
                  <c:v>7.0857142857142863</c:v>
                </c:pt>
              </c:numCache>
            </c:numRef>
          </c:val>
          <c:extLst>
            <c:ext xmlns:c16="http://schemas.microsoft.com/office/drawing/2014/chart" uri="{C3380CC4-5D6E-409C-BE32-E72D297353CC}">
              <c16:uniqueId val="{00000000-D5E8-42EC-8CD8-10739A43A9D4}"/>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6.7142857142857135</c:v>
                </c:pt>
                <c:pt idx="1">
                  <c:v>5.9413919413919416</c:v>
                </c:pt>
                <c:pt idx="2">
                  <c:v>5.257142857142858</c:v>
                </c:pt>
                <c:pt idx="3">
                  <c:v>2.4126984126984135</c:v>
                </c:pt>
                <c:pt idx="4">
                  <c:v>3.1071428571428572</c:v>
                </c:pt>
                <c:pt idx="5">
                  <c:v>7.8285714285714283</c:v>
                </c:pt>
              </c:numCache>
            </c:numRef>
          </c:val>
          <c:extLst>
            <c:ext xmlns:c16="http://schemas.microsoft.com/office/drawing/2014/chart" uri="{C3380CC4-5D6E-409C-BE32-E72D297353CC}">
              <c16:uniqueId val="{00000001-D5E8-42EC-8CD8-10739A43A9D4}"/>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D83B-42D3-8EAC-21F75C8935C1}"/>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D83B-42D3-8EAC-21F75C8935C1}"/>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D83B-42D3-8EAC-21F75C8935C1}"/>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D83B-42D3-8EAC-21F75C8935C1}"/>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D83B-42D3-8EAC-21F75C8935C1}"/>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D83B-42D3-8EAC-21F75C8935C1}"/>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D83B-42D3-8EAC-21F75C8935C1}"/>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D83B-42D3-8EAC-21F75C8935C1}"/>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45726</c:v>
                </c:pt>
                <c:pt idx="1">
                  <c:v>45727</c:v>
                </c:pt>
                <c:pt idx="2">
                  <c:v>45728</c:v>
                </c:pt>
                <c:pt idx="3">
                  <c:v>45729</c:v>
                </c:pt>
                <c:pt idx="4">
                  <c:v>45730</c:v>
                </c:pt>
                <c:pt idx="5">
                  <c:v>45731</c:v>
                </c:pt>
                <c:pt idx="6">
                  <c:v>45732</c:v>
                </c:pt>
                <c:pt idx="7">
                  <c:v>45733</c:v>
                </c:pt>
                <c:pt idx="8">
                  <c:v>45734</c:v>
                </c:pt>
                <c:pt idx="9">
                  <c:v>45735</c:v>
                </c:pt>
                <c:pt idx="10">
                  <c:v>45736</c:v>
                </c:pt>
                <c:pt idx="11">
                  <c:v>45737</c:v>
                </c:pt>
                <c:pt idx="12">
                  <c:v>45738</c:v>
                </c:pt>
                <c:pt idx="13">
                  <c:v>45739</c:v>
                </c:pt>
                <c:pt idx="14">
                  <c:v>45740</c:v>
                </c:pt>
                <c:pt idx="15">
                  <c:v>45741</c:v>
                </c:pt>
                <c:pt idx="16">
                  <c:v>45742</c:v>
                </c:pt>
                <c:pt idx="17">
                  <c:v>45743</c:v>
                </c:pt>
                <c:pt idx="18">
                  <c:v>45744</c:v>
                </c:pt>
                <c:pt idx="19">
                  <c:v>45745</c:v>
                </c:pt>
                <c:pt idx="20">
                  <c:v>45746</c:v>
                </c:pt>
                <c:pt idx="21">
                  <c:v>45747</c:v>
                </c:pt>
                <c:pt idx="22">
                  <c:v>45748</c:v>
                </c:pt>
                <c:pt idx="23">
                  <c:v>45749</c:v>
                </c:pt>
                <c:pt idx="24">
                  <c:v>45750</c:v>
                </c:pt>
                <c:pt idx="25">
                  <c:v>45751</c:v>
                </c:pt>
                <c:pt idx="26">
                  <c:v>45752</c:v>
                </c:pt>
                <c:pt idx="27">
                  <c:v>45753</c:v>
                </c:pt>
                <c:pt idx="28">
                  <c:v>45754</c:v>
                </c:pt>
                <c:pt idx="29">
                  <c:v>45755</c:v>
                </c:pt>
                <c:pt idx="30">
                  <c:v>45756</c:v>
                </c:pt>
                <c:pt idx="31">
                  <c:v>45757</c:v>
                </c:pt>
                <c:pt idx="32">
                  <c:v>45758</c:v>
                </c:pt>
                <c:pt idx="33">
                  <c:v>45759</c:v>
                </c:pt>
                <c:pt idx="34">
                  <c:v>45760</c:v>
                </c:pt>
                <c:pt idx="35">
                  <c:v>45761</c:v>
                </c:pt>
                <c:pt idx="36">
                  <c:v>45762</c:v>
                </c:pt>
                <c:pt idx="37">
                  <c:v>45763</c:v>
                </c:pt>
                <c:pt idx="38">
                  <c:v>45764</c:v>
                </c:pt>
                <c:pt idx="39">
                  <c:v>45765</c:v>
                </c:pt>
                <c:pt idx="40">
                  <c:v>45766</c:v>
                </c:pt>
                <c:pt idx="41">
                  <c:v>45767</c:v>
                </c:pt>
                <c:pt idx="42">
                  <c:v>45768</c:v>
                </c:pt>
                <c:pt idx="43">
                  <c:v>45769</c:v>
                </c:pt>
                <c:pt idx="44">
                  <c:v>45770</c:v>
                </c:pt>
                <c:pt idx="45">
                  <c:v>45771</c:v>
                </c:pt>
                <c:pt idx="46">
                  <c:v>45772</c:v>
                </c:pt>
                <c:pt idx="47">
                  <c:v>45773</c:v>
                </c:pt>
                <c:pt idx="48">
                  <c:v>45774</c:v>
                </c:pt>
                <c:pt idx="49">
                  <c:v>45775</c:v>
                </c:pt>
                <c:pt idx="50">
                  <c:v>45776</c:v>
                </c:pt>
                <c:pt idx="51">
                  <c:v>45777</c:v>
                </c:pt>
              </c:numCache>
            </c:numRef>
          </c:cat>
          <c:val>
            <c:numRef>
              <c:f>Week!$B$36:$BQ$36</c:f>
              <c:numCache>
                <c:formatCode>General</c:formatCode>
                <c:ptCount val="68"/>
                <c:pt idx="0">
                  <c:v>393</c:v>
                </c:pt>
                <c:pt idx="1">
                  <c:v>380</c:v>
                </c:pt>
                <c:pt idx="2">
                  <c:v>399</c:v>
                </c:pt>
                <c:pt idx="3">
                  <c:v>403</c:v>
                </c:pt>
                <c:pt idx="4">
                  <c:v>411</c:v>
                </c:pt>
                <c:pt idx="5">
                  <c:v>418</c:v>
                </c:pt>
                <c:pt idx="6">
                  <c:v>424</c:v>
                </c:pt>
                <c:pt idx="7">
                  <c:v>397</c:v>
                </c:pt>
                <c:pt idx="8">
                  <c:v>397</c:v>
                </c:pt>
                <c:pt idx="9">
                  <c:v>402</c:v>
                </c:pt>
                <c:pt idx="10">
                  <c:v>400</c:v>
                </c:pt>
                <c:pt idx="11">
                  <c:v>424</c:v>
                </c:pt>
                <c:pt idx="12">
                  <c:v>400</c:v>
                </c:pt>
                <c:pt idx="13">
                  <c:v>413</c:v>
                </c:pt>
                <c:pt idx="14">
                  <c:v>398</c:v>
                </c:pt>
                <c:pt idx="15">
                  <c:v>388</c:v>
                </c:pt>
                <c:pt idx="16">
                  <c:v>404</c:v>
                </c:pt>
                <c:pt idx="17">
                  <c:v>407</c:v>
                </c:pt>
                <c:pt idx="18">
                  <c:v>426</c:v>
                </c:pt>
                <c:pt idx="19">
                  <c:v>413</c:v>
                </c:pt>
                <c:pt idx="20">
                  <c:v>424</c:v>
                </c:pt>
                <c:pt idx="21">
                  <c:v>420</c:v>
                </c:pt>
                <c:pt idx="22">
                  <c:v>388</c:v>
                </c:pt>
                <c:pt idx="23">
                  <c:v>404</c:v>
                </c:pt>
                <c:pt idx="24">
                  <c:v>397</c:v>
                </c:pt>
                <c:pt idx="25">
                  <c:v>430</c:v>
                </c:pt>
                <c:pt idx="26">
                  <c:v>442</c:v>
                </c:pt>
                <c:pt idx="27">
                  <c:v>437</c:v>
                </c:pt>
                <c:pt idx="28">
                  <c:v>451</c:v>
                </c:pt>
                <c:pt idx="29">
                  <c:v>434</c:v>
                </c:pt>
                <c:pt idx="30">
                  <c:v>406</c:v>
                </c:pt>
                <c:pt idx="31">
                  <c:v>413</c:v>
                </c:pt>
                <c:pt idx="32">
                  <c:v>428</c:v>
                </c:pt>
                <c:pt idx="33">
                  <c:v>405</c:v>
                </c:pt>
                <c:pt idx="34">
                  <c:v>415</c:v>
                </c:pt>
                <c:pt idx="35">
                  <c:v>410</c:v>
                </c:pt>
                <c:pt idx="36">
                  <c:v>394</c:v>
                </c:pt>
                <c:pt idx="37">
                  <c:v>409</c:v>
                </c:pt>
                <c:pt idx="38">
                  <c:v>410</c:v>
                </c:pt>
                <c:pt idx="39">
                  <c:v>417</c:v>
                </c:pt>
                <c:pt idx="40">
                  <c:v>410</c:v>
                </c:pt>
                <c:pt idx="41">
                  <c:v>432</c:v>
                </c:pt>
                <c:pt idx="42">
                  <c:v>421</c:v>
                </c:pt>
                <c:pt idx="43">
                  <c:v>397</c:v>
                </c:pt>
                <c:pt idx="44">
                  <c:v>404</c:v>
                </c:pt>
                <c:pt idx="45">
                  <c:v>411</c:v>
                </c:pt>
                <c:pt idx="46">
                  <c:v>422</c:v>
                </c:pt>
                <c:pt idx="47">
                  <c:v>447</c:v>
                </c:pt>
                <c:pt idx="48">
                  <c:v>450</c:v>
                </c:pt>
                <c:pt idx="49">
                  <c:v>428</c:v>
                </c:pt>
                <c:pt idx="50">
                  <c:v>434</c:v>
                </c:pt>
                <c:pt idx="51">
                  <c:v>451</c:v>
                </c:pt>
              </c:numCache>
            </c:numRef>
          </c:val>
          <c:extLst>
            <c:ext xmlns:c16="http://schemas.microsoft.com/office/drawing/2014/chart" uri="{C3380CC4-5D6E-409C-BE32-E72D297353CC}">
              <c16:uniqueId val="{00000010-D83B-42D3-8EAC-21F75C8935C1}"/>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47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3/16/2025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68437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9707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35722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7</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80730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9</a:t>
            </a:fld>
            <a:endParaRPr/>
          </a:p>
        </p:txBody>
      </p:sp>
    </p:spTree>
    <p:extLst>
      <p:ext uri="{BB962C8B-B14F-4D97-AF65-F5344CB8AC3E}">
        <p14:creationId xmlns:p14="http://schemas.microsoft.com/office/powerpoint/2010/main" val="803044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561243C-8838-2E44-36FA-6349D45CC3F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01A832F-70B6-DFCB-B1D0-900934A44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F2CE732-C85A-6302-3377-97B871BEE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0B033D-71A0-3FA8-8692-53B0C366D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1330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11</a:t>
            </a:fld>
            <a:endParaRPr/>
          </a:p>
        </p:txBody>
      </p:sp>
    </p:spTree>
    <p:extLst>
      <p:ext uri="{BB962C8B-B14F-4D97-AF65-F5344CB8AC3E}">
        <p14:creationId xmlns:p14="http://schemas.microsoft.com/office/powerpoint/2010/main" val="875252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12</a:t>
            </a:fld>
            <a:endParaRPr/>
          </a:p>
        </p:txBody>
      </p:sp>
    </p:spTree>
    <p:extLst>
      <p:ext uri="{BB962C8B-B14F-4D97-AF65-F5344CB8AC3E}">
        <p14:creationId xmlns:p14="http://schemas.microsoft.com/office/powerpoint/2010/main" val="1572408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68980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9909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0492E-9DCF-10AA-544A-8608FA3D2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361C2-874B-2FF3-D535-B68858E66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6CC3C-7227-401F-4003-0475361460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46C6DC-A60B-E27F-A57F-1A39FE7D2104}"/>
              </a:ext>
            </a:extLst>
          </p:cNvPr>
          <p:cNvSpPr>
            <a:spLocks noGrp="1"/>
          </p:cNvSpPr>
          <p:nvPr>
            <p:ph type="sldNum" sz="quarter" idx="10"/>
          </p:nvPr>
        </p:nvSpPr>
        <p:spPr/>
        <p:txBody>
          <a:bodyPr/>
          <a:lstStyle/>
          <a:p>
            <a:fld id="{19A373DA-F9AA-A644-86AE-7CBAAC246365}" type="slidenum">
              <a:rPr lang="en-US" smtClean="0"/>
              <a:t>15</a:t>
            </a:fld>
            <a:endParaRPr lang="en-US"/>
          </a:p>
        </p:txBody>
      </p:sp>
    </p:spTree>
    <p:extLst>
      <p:ext uri="{BB962C8B-B14F-4D97-AF65-F5344CB8AC3E}">
        <p14:creationId xmlns:p14="http://schemas.microsoft.com/office/powerpoint/2010/main" val="3689056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16</a:t>
            </a:fld>
            <a:endParaRPr lang="en-US"/>
          </a:p>
        </p:txBody>
      </p:sp>
    </p:spTree>
    <p:extLst>
      <p:ext uri="{BB962C8B-B14F-4D97-AF65-F5344CB8AC3E}">
        <p14:creationId xmlns:p14="http://schemas.microsoft.com/office/powerpoint/2010/main" val="871336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42A3-0F88-F546-2046-748BE86F1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31EDE-BB41-9928-E2DD-BFA6967D5F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F17C3-B305-AF7B-6297-9BA51A4481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Do </a:t>
            </a:r>
            <a:r>
              <a:rPr lang="en-US" sz="1200" b="0" i="0" dirty="0">
                <a:solidFill>
                  <a:srgbClr val="000000"/>
                </a:solidFill>
                <a:effectLst/>
                <a:latin typeface="Times New Roman" panose="02020603050405020304" pitchFamily="18" charset="0"/>
                <a:cs typeface="Times New Roman" panose="02020603050405020304" pitchFamily="18" charset="0"/>
              </a:rPr>
              <a:t>Turbine Inlet Control Valve (prevents freezing on the turbine blades) </a:t>
            </a:r>
            <a:r>
              <a:rPr lang="en-US" sz="1200" b="0" i="0" dirty="0" err="1">
                <a:solidFill>
                  <a:srgbClr val="000000"/>
                </a:solidFill>
                <a:effectLst/>
                <a:latin typeface="Times New Roman" panose="02020603050405020304" pitchFamily="18" charset="0"/>
                <a:cs typeface="Times New Roman" panose="02020603050405020304" pitchFamily="18" charset="0"/>
              </a:rPr>
              <a:t>bị</a:t>
            </a:r>
            <a:r>
              <a:rPr lang="en-US" sz="1200" b="0" i="0" dirty="0">
                <a:solidFill>
                  <a:srgbClr val="000000"/>
                </a:solidFill>
                <a:effectLst/>
                <a:latin typeface="Times New Roman" panose="02020603050405020304" pitchFamily="18" charset="0"/>
                <a:cs typeface="Times New Roman" panose="02020603050405020304" pitchFamily="18" charset="0"/>
              </a:rPr>
              <a:t> </a:t>
            </a:r>
            <a:r>
              <a:rPr lang="en-US" sz="1200" b="0" i="0" dirty="0" err="1">
                <a:solidFill>
                  <a:srgbClr val="000000"/>
                </a:solidFill>
                <a:effectLst/>
                <a:latin typeface="Times New Roman" panose="02020603050405020304" pitchFamily="18" charset="0"/>
                <a:cs typeface="Times New Roman" panose="02020603050405020304" pitchFamily="18" charset="0"/>
              </a:rPr>
              <a:t>lỗi</a:t>
            </a:r>
            <a:r>
              <a:rPr lang="en-US" sz="1200" b="0" i="0" dirty="0">
                <a:solidFill>
                  <a:srgbClr val="000000"/>
                </a:solidFill>
                <a:effectLst/>
                <a:latin typeface="Times New Roman" panose="02020603050405020304" pitchFamily="18" charset="0"/>
                <a:cs typeface="Times New Roman" panose="02020603050405020304" pitchFamily="18" charset="0"/>
              </a:rPr>
              <a:t>, </a:t>
            </a:r>
            <a:r>
              <a:rPr lang="en-US" sz="1200" b="0" dirty="0">
                <a:solidFill>
                  <a:srgbClr val="000000"/>
                </a:solidFill>
                <a:effectLst/>
                <a:latin typeface="Times New Roman" panose="02020603050405020304" pitchFamily="18" charset="0"/>
                <a:cs typeface="Times New Roman" panose="02020603050405020304" pitchFamily="18" charset="0"/>
              </a:rPr>
              <a:t>TIC</a:t>
            </a:r>
            <a:r>
              <a:rPr lang="en-US" sz="1200" dirty="0">
                <a:solidFill>
                  <a:srgbClr val="000000"/>
                </a:solidFill>
                <a:latin typeface="Times New Roman" panose="02020603050405020304" pitchFamily="18" charset="0"/>
                <a:cs typeface="Times New Roman" panose="02020603050405020304" pitchFamily="18" charset="0"/>
              </a:rPr>
              <a:t> </a:t>
            </a:r>
            <a:r>
              <a:rPr lang="en-US" sz="1200" b="0" i="0" dirty="0" err="1">
                <a:solidFill>
                  <a:srgbClr val="000000"/>
                </a:solidFill>
                <a:effectLst/>
                <a:latin typeface="Times New Roman" panose="02020603050405020304" pitchFamily="18" charset="0"/>
                <a:cs typeface="Times New Roman" panose="02020603050405020304" pitchFamily="18" charset="0"/>
              </a:rPr>
              <a:t>vlv</a:t>
            </a:r>
            <a:r>
              <a:rPr lang="en-US" sz="1200" b="0" i="0" dirty="0">
                <a:solidFill>
                  <a:srgbClr val="000000"/>
                </a:solidFill>
                <a:effectLst/>
                <a:latin typeface="Times New Roman" panose="02020603050405020304" pitchFamily="18" charset="0"/>
                <a:cs typeface="Times New Roman" panose="02020603050405020304" pitchFamily="18" charset="0"/>
              </a:rPr>
              <a:t> này </a:t>
            </a:r>
            <a:r>
              <a:rPr lang="en-US" sz="1200" b="0" i="0" dirty="0" err="1">
                <a:solidFill>
                  <a:srgbClr val="000000"/>
                </a:solidFill>
                <a:effectLst/>
                <a:latin typeface="Times New Roman" panose="02020603050405020304" pitchFamily="18" charset="0"/>
                <a:cs typeface="Times New Roman" panose="02020603050405020304" pitchFamily="18" charset="0"/>
              </a:rPr>
              <a:t>đã</a:t>
            </a:r>
            <a:r>
              <a:rPr lang="en-US" sz="1200" b="0" i="0" dirty="0">
                <a:solidFill>
                  <a:srgbClr val="000000"/>
                </a:solidFill>
                <a:effectLst/>
                <a:latin typeface="Times New Roman" panose="02020603050405020304" pitchFamily="18" charset="0"/>
                <a:cs typeface="Times New Roman" panose="02020603050405020304" pitchFamily="18" charset="0"/>
              </a:rPr>
              <a:t> </a:t>
            </a:r>
            <a:r>
              <a:rPr lang="en-US" sz="1200" b="0" i="0" dirty="0" err="1">
                <a:solidFill>
                  <a:srgbClr val="000000"/>
                </a:solidFill>
                <a:effectLst/>
                <a:latin typeface="Times New Roman" panose="02020603050405020304" pitchFamily="18" charset="0"/>
                <a:cs typeface="Times New Roman" panose="02020603050405020304" pitchFamily="18" charset="0"/>
              </a:rPr>
              <a:t>được</a:t>
            </a:r>
            <a:r>
              <a:rPr lang="en-US" sz="1200" b="0" i="0" dirty="0">
                <a:solidFill>
                  <a:srgbClr val="000000"/>
                </a:solidFill>
                <a:effectLst/>
                <a:latin typeface="Times New Roman" panose="02020603050405020304" pitchFamily="18" charset="0"/>
                <a:cs typeface="Times New Roman" panose="02020603050405020304" pitchFamily="18" charset="0"/>
              </a:rPr>
              <a:t> </a:t>
            </a:r>
            <a:r>
              <a:rPr lang="en-US" sz="1200" b="0" i="0" dirty="0" err="1">
                <a:solidFill>
                  <a:srgbClr val="000000"/>
                </a:solidFill>
                <a:effectLst/>
                <a:latin typeface="Times New Roman" panose="02020603050405020304" pitchFamily="18" charset="0"/>
                <a:cs typeface="Times New Roman" panose="02020603050405020304" pitchFamily="18" charset="0"/>
              </a:rPr>
              <a:t>thay</a:t>
            </a:r>
            <a:r>
              <a:rPr lang="en-US" sz="1200" b="0" i="0" dirty="0">
                <a:solidFill>
                  <a:srgbClr val="000000"/>
                </a:solidFill>
                <a:effectLst/>
                <a:latin typeface="Times New Roman" panose="02020603050405020304" pitchFamily="18" charset="0"/>
                <a:cs typeface="Times New Roman" panose="02020603050405020304" pitchFamily="18" charset="0"/>
              </a:rPr>
              <a:t> </a:t>
            </a:r>
            <a:r>
              <a:rPr lang="en-US" sz="1200" b="0" i="0" dirty="0" err="1">
                <a:solidFill>
                  <a:srgbClr val="000000"/>
                </a:solidFill>
                <a:effectLst/>
                <a:latin typeface="Times New Roman" panose="02020603050405020304" pitchFamily="18" charset="0"/>
                <a:cs typeface="Times New Roman" panose="02020603050405020304" pitchFamily="18" charset="0"/>
              </a:rPr>
              <a:t>vào</a:t>
            </a:r>
            <a:r>
              <a:rPr lang="en-US" sz="1200" b="0" i="0" dirty="0">
                <a:solidFill>
                  <a:srgbClr val="000000"/>
                </a:solidFill>
                <a:effectLst/>
                <a:latin typeface="Times New Roman" panose="02020603050405020304" pitchFamily="18" charset="0"/>
                <a:cs typeface="Times New Roman" panose="02020603050405020304" pitchFamily="18" charset="0"/>
              </a:rPr>
              <a:t> 07/02/2025</a:t>
            </a: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7A5C96B-638A-0547-12EE-5D121A8E52A7}"/>
              </a:ext>
            </a:extLst>
          </p:cNvPr>
          <p:cNvSpPr>
            <a:spLocks noGrp="1"/>
          </p:cNvSpPr>
          <p:nvPr>
            <p:ph type="sldNum" sz="quarter" idx="10"/>
          </p:nvPr>
        </p:nvSpPr>
        <p:spPr/>
        <p:txBody>
          <a:bodyPr/>
          <a:lstStyle/>
          <a:p>
            <a:fld id="{19A373DA-F9AA-A644-86AE-7CBAAC246365}" type="slidenum">
              <a:rPr lang="en-US" smtClean="0"/>
              <a:t>17</a:t>
            </a:fld>
            <a:endParaRPr lang="en-US"/>
          </a:p>
        </p:txBody>
      </p:sp>
    </p:spTree>
    <p:extLst>
      <p:ext uri="{BB962C8B-B14F-4D97-AF65-F5344CB8AC3E}">
        <p14:creationId xmlns:p14="http://schemas.microsoft.com/office/powerpoint/2010/main" val="1647318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BFA7-97D1-9647-2912-3934A54ED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47E78-FD6D-84D2-7E60-251FFF6AD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19153-A6D3-2C02-80D0-5A298B2B44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DA5BF2-E4D0-9ABD-07D4-833B11EDB2BC}"/>
              </a:ext>
            </a:extLst>
          </p:cNvPr>
          <p:cNvSpPr>
            <a:spLocks noGrp="1"/>
          </p:cNvSpPr>
          <p:nvPr>
            <p:ph type="sldNum" sz="quarter" idx="10"/>
          </p:nvPr>
        </p:nvSpPr>
        <p:spPr/>
        <p:txBody>
          <a:bodyPr/>
          <a:lstStyle/>
          <a:p>
            <a:fld id="{19A373DA-F9AA-A644-86AE-7CBAAC246365}" type="slidenum">
              <a:rPr lang="en-US" smtClean="0"/>
              <a:t>18</a:t>
            </a:fld>
            <a:endParaRPr lang="en-US"/>
          </a:p>
        </p:txBody>
      </p:sp>
    </p:spTree>
    <p:extLst>
      <p:ext uri="{BB962C8B-B14F-4D97-AF65-F5344CB8AC3E}">
        <p14:creationId xmlns:p14="http://schemas.microsoft.com/office/powerpoint/2010/main" val="2797016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2349-2E83-06A0-9B66-572CB7392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E4AB0-7CAF-CE78-0196-858F6F196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05537-9C9B-D355-2B7F-CBFB040A36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4ED138-E7B7-FBED-D8D6-2773FD273746}"/>
              </a:ext>
            </a:extLst>
          </p:cNvPr>
          <p:cNvSpPr>
            <a:spLocks noGrp="1"/>
          </p:cNvSpPr>
          <p:nvPr>
            <p:ph type="sldNum" sz="quarter" idx="10"/>
          </p:nvPr>
        </p:nvSpPr>
        <p:spPr/>
        <p:txBody>
          <a:bodyPr/>
          <a:lstStyle/>
          <a:p>
            <a:fld id="{19A373DA-F9AA-A644-86AE-7CBAAC246365}" type="slidenum">
              <a:rPr lang="en-US" smtClean="0"/>
              <a:t>19</a:t>
            </a:fld>
            <a:endParaRPr lang="en-US"/>
          </a:p>
        </p:txBody>
      </p:sp>
    </p:spTree>
    <p:extLst>
      <p:ext uri="{BB962C8B-B14F-4D97-AF65-F5344CB8AC3E}">
        <p14:creationId xmlns:p14="http://schemas.microsoft.com/office/powerpoint/2010/main" val="1975954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B45A9-19AA-CD0B-8ED6-F56848E50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6051A-0E30-01A8-0D9D-E96C648E9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178EAE-E505-C63A-80C2-9E40302CA3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356596-D8CB-523C-0C80-D05FEEF03627}"/>
              </a:ext>
            </a:extLst>
          </p:cNvPr>
          <p:cNvSpPr>
            <a:spLocks noGrp="1"/>
          </p:cNvSpPr>
          <p:nvPr>
            <p:ph type="sldNum" sz="quarter" idx="10"/>
          </p:nvPr>
        </p:nvSpPr>
        <p:spPr/>
        <p:txBody>
          <a:bodyPr/>
          <a:lstStyle/>
          <a:p>
            <a:fld id="{19A373DA-F9AA-A644-86AE-7CBAAC246365}" type="slidenum">
              <a:rPr lang="en-US" smtClean="0"/>
              <a:t>20</a:t>
            </a:fld>
            <a:endParaRPr lang="en-US"/>
          </a:p>
        </p:txBody>
      </p:sp>
    </p:spTree>
    <p:extLst>
      <p:ext uri="{BB962C8B-B14F-4D97-AF65-F5344CB8AC3E}">
        <p14:creationId xmlns:p14="http://schemas.microsoft.com/office/powerpoint/2010/main" val="1382065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7CB7B-4702-DDA6-8D35-910D41BD4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92AF1-090C-B9EF-3055-B796DA36E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0CBBC-B438-32B9-8984-24CE10FBD4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8FE437-57DD-9374-0830-126E52BD7CD6}"/>
              </a:ext>
            </a:extLst>
          </p:cNvPr>
          <p:cNvSpPr>
            <a:spLocks noGrp="1"/>
          </p:cNvSpPr>
          <p:nvPr>
            <p:ph type="sldNum" sz="quarter" idx="10"/>
          </p:nvPr>
        </p:nvSpPr>
        <p:spPr/>
        <p:txBody>
          <a:bodyPr/>
          <a:lstStyle/>
          <a:p>
            <a:fld id="{19A373DA-F9AA-A644-86AE-7CBAAC246365}" type="slidenum">
              <a:rPr lang="en-US" smtClean="0"/>
              <a:t>21</a:t>
            </a:fld>
            <a:endParaRPr lang="en-US"/>
          </a:p>
        </p:txBody>
      </p:sp>
    </p:spTree>
    <p:extLst>
      <p:ext uri="{BB962C8B-B14F-4D97-AF65-F5344CB8AC3E}">
        <p14:creationId xmlns:p14="http://schemas.microsoft.com/office/powerpoint/2010/main" val="4272228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AAEAA-91AC-D635-ED89-5D49F1FEA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6BDF4-B254-C985-D7F6-376C89257D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8F041-D7E3-6D2C-5FC6-74629FB3FC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2483A6-4212-16B7-4133-B13427FCF2B3}"/>
              </a:ext>
            </a:extLst>
          </p:cNvPr>
          <p:cNvSpPr>
            <a:spLocks noGrp="1"/>
          </p:cNvSpPr>
          <p:nvPr>
            <p:ph type="sldNum" sz="quarter" idx="10"/>
          </p:nvPr>
        </p:nvSpPr>
        <p:spPr/>
        <p:txBody>
          <a:bodyPr/>
          <a:lstStyle/>
          <a:p>
            <a:fld id="{19A373DA-F9AA-A644-86AE-7CBAAC246365}" type="slidenum">
              <a:rPr lang="en-US" smtClean="0"/>
              <a:t>22</a:t>
            </a:fld>
            <a:endParaRPr lang="en-US"/>
          </a:p>
        </p:txBody>
      </p:sp>
    </p:spTree>
    <p:extLst>
      <p:ext uri="{BB962C8B-B14F-4D97-AF65-F5344CB8AC3E}">
        <p14:creationId xmlns:p14="http://schemas.microsoft.com/office/powerpoint/2010/main" val="15097271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18346670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325842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3984046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2593617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503404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3582240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1312847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30</a:t>
            </a:fld>
            <a:endParaRPr/>
          </a:p>
        </p:txBody>
      </p:sp>
    </p:spTree>
    <p:extLst>
      <p:ext uri="{BB962C8B-B14F-4D97-AF65-F5344CB8AC3E}">
        <p14:creationId xmlns:p14="http://schemas.microsoft.com/office/powerpoint/2010/main" val="4961459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40</a:t>
            </a:fld>
            <a:endParaRPr/>
          </a:p>
        </p:txBody>
      </p:sp>
    </p:spTree>
    <p:extLst>
      <p:ext uri="{BB962C8B-B14F-4D97-AF65-F5344CB8AC3E}">
        <p14:creationId xmlns:p14="http://schemas.microsoft.com/office/powerpoint/2010/main" val="35772100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41</a:t>
            </a:fld>
            <a:endParaRPr/>
          </a:p>
        </p:txBody>
      </p:sp>
    </p:spTree>
    <p:extLst>
      <p:ext uri="{BB962C8B-B14F-4D97-AF65-F5344CB8AC3E}">
        <p14:creationId xmlns:p14="http://schemas.microsoft.com/office/powerpoint/2010/main" val="26517776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42</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876607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43</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7461876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12989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46</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68082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73886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238138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503677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027137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6316271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834597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8667247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7402440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8829838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237612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4203054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0290405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226255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3995185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6557828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389361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259503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2104054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9030108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53273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931728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6078387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0544111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226303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85105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392534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558722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65379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425193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3182946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013940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3/16/2025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297671403"/>
      </p:ext>
    </p:extLst>
  </p:cSld>
  <p:clrMap bg1="lt1" tx1="dk1" bg2="dk2"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chart" Target="../charts/char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11</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10/03/2025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16</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00000000-0008-0000-0900-000004000000}"/>
              </a:ext>
            </a:extLst>
          </p:cNvPr>
          <p:cNvGraphicFramePr>
            <a:graphicFrameLocks/>
          </p:cNvGraphicFramePr>
          <p:nvPr/>
        </p:nvGraphicFramePr>
        <p:xfrm>
          <a:off x="6334326" y="867893"/>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00000000-0008-0000-0900-000005000000}"/>
              </a:ext>
            </a:extLst>
          </p:cNvPr>
          <p:cNvGraphicFramePr>
            <a:graphicFrameLocks/>
          </p:cNvGraphicFramePr>
          <p:nvPr/>
        </p:nvGraphicFramePr>
        <p:xfrm>
          <a:off x="1685212" y="3605378"/>
          <a:ext cx="409765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00000000-0008-0000-0900-00000F000000}"/>
              </a:ext>
            </a:extLst>
          </p:cNvPr>
          <p:cNvGraphicFramePr>
            <a:graphicFrameLocks/>
          </p:cNvGraphicFramePr>
          <p:nvPr/>
        </p:nvGraphicFramePr>
        <p:xfrm>
          <a:off x="1675687" y="871703"/>
          <a:ext cx="4116705"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8347F7AA-5E77-475C-B68E-49E6EF5DA0A7}"/>
              </a:ext>
            </a:extLst>
          </p:cNvPr>
          <p:cNvGraphicFramePr>
            <a:graphicFrameLocks/>
          </p:cNvGraphicFramePr>
          <p:nvPr/>
        </p:nvGraphicFramePr>
        <p:xfrm>
          <a:off x="6340312" y="3614107"/>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446269024"/>
              </p:ext>
            </p:extLst>
          </p:nvPr>
        </p:nvGraphicFramePr>
        <p:xfrm>
          <a:off x="1521884" y="914400"/>
          <a:ext cx="9603316" cy="279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972491772"/>
              </p:ext>
            </p:extLst>
          </p:nvPr>
        </p:nvGraphicFramePr>
        <p:xfrm>
          <a:off x="1520124" y="3885142"/>
          <a:ext cx="9593011" cy="27906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extLst>
              <p:ext uri="{D42A27DB-BD31-4B8C-83A1-F6EECF244321}">
                <p14:modId xmlns:p14="http://schemas.microsoft.com/office/powerpoint/2010/main" val="1890299091"/>
              </p:ext>
            </p:extLst>
          </p:nvPr>
        </p:nvGraphicFramePr>
        <p:xfrm>
          <a:off x="233085" y="1287658"/>
          <a:ext cx="11548798" cy="3025472"/>
        </p:xfrm>
        <a:graphic>
          <a:graphicData uri="http://schemas.openxmlformats.org/drawingml/2006/table">
            <a:tbl>
              <a:tblPr/>
              <a:tblGrid>
                <a:gridCol w="333932">
                  <a:extLst>
                    <a:ext uri="{9D8B030D-6E8A-4147-A177-3AD203B41FA5}">
                      <a16:colId xmlns:a16="http://schemas.microsoft.com/office/drawing/2014/main" val="4038289466"/>
                    </a:ext>
                  </a:extLst>
                </a:gridCol>
                <a:gridCol w="312488">
                  <a:extLst>
                    <a:ext uri="{9D8B030D-6E8A-4147-A177-3AD203B41FA5}">
                      <a16:colId xmlns:a16="http://schemas.microsoft.com/office/drawing/2014/main" val="3957843482"/>
                    </a:ext>
                  </a:extLst>
                </a:gridCol>
                <a:gridCol w="752094">
                  <a:extLst>
                    <a:ext uri="{9D8B030D-6E8A-4147-A177-3AD203B41FA5}">
                      <a16:colId xmlns:a16="http://schemas.microsoft.com/office/drawing/2014/main" val="1490174247"/>
                    </a:ext>
                  </a:extLst>
                </a:gridCol>
                <a:gridCol w="620366">
                  <a:extLst>
                    <a:ext uri="{9D8B030D-6E8A-4147-A177-3AD203B41FA5}">
                      <a16:colId xmlns:a16="http://schemas.microsoft.com/office/drawing/2014/main" val="3566870774"/>
                    </a:ext>
                  </a:extLst>
                </a:gridCol>
                <a:gridCol w="661709">
                  <a:extLst>
                    <a:ext uri="{9D8B030D-6E8A-4147-A177-3AD203B41FA5}">
                      <a16:colId xmlns:a16="http://schemas.microsoft.com/office/drawing/2014/main" val="3134608598"/>
                    </a:ext>
                  </a:extLst>
                </a:gridCol>
                <a:gridCol w="514662">
                  <a:extLst>
                    <a:ext uri="{9D8B030D-6E8A-4147-A177-3AD203B41FA5}">
                      <a16:colId xmlns:a16="http://schemas.microsoft.com/office/drawing/2014/main" val="1407986645"/>
                    </a:ext>
                  </a:extLst>
                </a:gridCol>
                <a:gridCol w="2058649">
                  <a:extLst>
                    <a:ext uri="{9D8B030D-6E8A-4147-A177-3AD203B41FA5}">
                      <a16:colId xmlns:a16="http://schemas.microsoft.com/office/drawing/2014/main" val="2827963411"/>
                    </a:ext>
                  </a:extLst>
                </a:gridCol>
                <a:gridCol w="2167613">
                  <a:extLst>
                    <a:ext uri="{9D8B030D-6E8A-4147-A177-3AD203B41FA5}">
                      <a16:colId xmlns:a16="http://schemas.microsoft.com/office/drawing/2014/main" val="246680535"/>
                    </a:ext>
                  </a:extLst>
                </a:gridCol>
                <a:gridCol w="441139">
                  <a:extLst>
                    <a:ext uri="{9D8B030D-6E8A-4147-A177-3AD203B41FA5}">
                      <a16:colId xmlns:a16="http://schemas.microsoft.com/office/drawing/2014/main" val="1804046833"/>
                    </a:ext>
                  </a:extLst>
                </a:gridCol>
                <a:gridCol w="3686146">
                  <a:extLst>
                    <a:ext uri="{9D8B030D-6E8A-4147-A177-3AD203B41FA5}">
                      <a16:colId xmlns:a16="http://schemas.microsoft.com/office/drawing/2014/main" val="2477666348"/>
                    </a:ext>
                  </a:extLst>
                </a:gridCol>
              </a:tblGrid>
              <a:tr h="95416">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4998444"/>
                  </a:ext>
                </a:extLst>
              </a:tr>
              <a:tr h="1490870">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B218</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OV8067</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10:29 15/03/2025</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ON TAXI WAY </a:t>
                      </a:r>
                      <a:r>
                        <a:rPr lang="en-US" sz="1100" b="0" i="0" u="none" strike="noStrike">
                          <a:solidFill>
                            <a:srgbClr val="000000"/>
                          </a:solidFill>
                          <a:effectLst/>
                          <a:latin typeface="Times New Roman" panose="02020603050405020304" pitchFamily="18" charset="0"/>
                          <a:cs typeface="Times New Roman" panose="02020603050405020304" pitchFamily="18" charset="0"/>
                        </a:rPr>
                        <a:t>CAPT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INFORM A/C </a:t>
                      </a:r>
                      <a:r>
                        <a:rPr lang="en-US" sz="1100" b="0" i="0" u="none" strike="noStrike">
                          <a:solidFill>
                            <a:srgbClr val="000000"/>
                          </a:solidFill>
                          <a:effectLst/>
                          <a:latin typeface="Times New Roman" panose="02020603050405020304" pitchFamily="18" charset="0"/>
                          <a:cs typeface="Times New Roman" panose="02020603050405020304" pitchFamily="18" charset="0"/>
                        </a:rPr>
                        <a:t>HAS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ENG#1</a:t>
                      </a:r>
                      <a:r>
                        <a:rPr lang="en-US" sz="11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BLEED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LEAK . CAPT DECIDED GTB TO </a:t>
                      </a:r>
                      <a:r>
                        <a:rPr lang="en-US" sz="1100" b="0" i="0" u="none" strike="noStrike">
                          <a:solidFill>
                            <a:srgbClr val="000000"/>
                          </a:solidFill>
                          <a:effectLst/>
                          <a:latin typeface="Times New Roman" panose="02020603050405020304" pitchFamily="18" charset="0"/>
                          <a:cs typeface="Times New Roman" panose="02020603050405020304" pitchFamily="18" charset="0"/>
                        </a:rPr>
                        <a:t>PARKING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en-US" sz="1100" b="0" i="0" u="none" strike="noStrike">
                          <a:solidFill>
                            <a:srgbClr val="000000"/>
                          </a:solidFill>
                          <a:effectLst/>
                          <a:latin typeface="Times New Roman" panose="02020603050405020304" pitchFamily="18" charset="0"/>
                          <a:cs typeface="Times New Roman" panose="02020603050405020304" pitchFamily="18" charset="0"/>
                        </a:rPr>
                        <a:t>ACTION:C/O RAISED ADD B618”ENG#1 BLEED LEAK”. A/C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36-22</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Phát hiện O-ring P/N ASNA2141-40-07 bị damage, vị trí  on the ducts located at the</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nacelle/wing junction (Zone 511, vị trí rib 9 và rib 10).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Đây là silicone seal dễ bị lão hóa sau một thời gian khai thác, mặc dù seal này đã được cải tiến và lắp trên đội tàu bay ATR72 thông qua SB ATR72-36-1011 (năm 2010).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Với hỏng hóc O-ring seal này thì đã có chương trình đánh chặn để kiểm tra thông qua AMP task VNA-36-RAI-10000-1 - CHECK LEADING EDGE BLEED DUCT O-RING AND DISCARD IF NECCESSARY, tần suất 3000 FH/ 4A =&gt; B218 được thực hiện task này lần gần nhất vào 02/11/2023 nhưng không có finding. Dự kiến lần kiểm tra tiếp theo vào Jun/2025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Ngoài ra, Seal này cũng được thực hiện thay thế theo AMP Task VNA-21 -CHK-10000-1, tần suất 2Y. Seal trên B218 được thay gần nhất vào 02/06/2023 tại Y02-check .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=&gt; Sẽ xem xét lại tần suất AMP task để triển khai thay thế seal này ở tần suất 4A.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4762513"/>
                  </a:ext>
                </a:extLst>
              </a:tr>
            </a:tbl>
          </a:graphicData>
        </a:graphic>
      </p:graphicFrame>
    </p:spTree>
    <p:custDataLst>
      <p:tags r:id="rId1"/>
    </p:custDataLst>
    <p:extLst>
      <p:ext uri="{BB962C8B-B14F-4D97-AF65-F5344CB8AC3E}">
        <p14:creationId xmlns:p14="http://schemas.microsoft.com/office/powerpoint/2010/main" val="120362413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3295577304"/>
              </p:ext>
            </p:extLst>
          </p:nvPr>
        </p:nvGraphicFramePr>
        <p:xfrm>
          <a:off x="301591" y="1079799"/>
          <a:ext cx="11463226" cy="86829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400672" y="220751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8" name="Table 7"/>
          <p:cNvGraphicFramePr>
            <a:graphicFrameLocks noGrp="1"/>
          </p:cNvGraphicFramePr>
          <p:nvPr>
            <p:extLst>
              <p:ext uri="{D42A27DB-BD31-4B8C-83A1-F6EECF244321}">
                <p14:modId xmlns:p14="http://schemas.microsoft.com/office/powerpoint/2010/main" val="905849583"/>
              </p:ext>
            </p:extLst>
          </p:nvPr>
        </p:nvGraphicFramePr>
        <p:xfrm>
          <a:off x="301591" y="2525748"/>
          <a:ext cx="11463226" cy="2170206"/>
        </p:xfrm>
        <a:graphic>
          <a:graphicData uri="http://schemas.openxmlformats.org/drawingml/2006/table">
            <a:tbl>
              <a:tblPr/>
              <a:tblGrid>
                <a:gridCol w="580907">
                  <a:extLst>
                    <a:ext uri="{9D8B030D-6E8A-4147-A177-3AD203B41FA5}">
                      <a16:colId xmlns:a16="http://schemas.microsoft.com/office/drawing/2014/main" val="3674468684"/>
                    </a:ext>
                  </a:extLst>
                </a:gridCol>
                <a:gridCol w="348544">
                  <a:extLst>
                    <a:ext uri="{9D8B030D-6E8A-4147-A177-3AD203B41FA5}">
                      <a16:colId xmlns:a16="http://schemas.microsoft.com/office/drawing/2014/main" val="2661305286"/>
                    </a:ext>
                  </a:extLst>
                </a:gridCol>
                <a:gridCol w="1097269">
                  <a:extLst>
                    <a:ext uri="{9D8B030D-6E8A-4147-A177-3AD203B41FA5}">
                      <a16:colId xmlns:a16="http://schemas.microsoft.com/office/drawing/2014/main" val="2048303182"/>
                    </a:ext>
                  </a:extLst>
                </a:gridCol>
                <a:gridCol w="593816">
                  <a:extLst>
                    <a:ext uri="{9D8B030D-6E8A-4147-A177-3AD203B41FA5}">
                      <a16:colId xmlns:a16="http://schemas.microsoft.com/office/drawing/2014/main" val="2906750635"/>
                    </a:ext>
                  </a:extLst>
                </a:gridCol>
                <a:gridCol w="645452">
                  <a:extLst>
                    <a:ext uri="{9D8B030D-6E8A-4147-A177-3AD203B41FA5}">
                      <a16:colId xmlns:a16="http://schemas.microsoft.com/office/drawing/2014/main" val="756422633"/>
                    </a:ext>
                  </a:extLst>
                </a:gridCol>
                <a:gridCol w="619634">
                  <a:extLst>
                    <a:ext uri="{9D8B030D-6E8A-4147-A177-3AD203B41FA5}">
                      <a16:colId xmlns:a16="http://schemas.microsoft.com/office/drawing/2014/main" val="1916856600"/>
                    </a:ext>
                  </a:extLst>
                </a:gridCol>
                <a:gridCol w="567997">
                  <a:extLst>
                    <a:ext uri="{9D8B030D-6E8A-4147-A177-3AD203B41FA5}">
                      <a16:colId xmlns:a16="http://schemas.microsoft.com/office/drawing/2014/main" val="1098231851"/>
                    </a:ext>
                  </a:extLst>
                </a:gridCol>
                <a:gridCol w="2723807">
                  <a:extLst>
                    <a:ext uri="{9D8B030D-6E8A-4147-A177-3AD203B41FA5}">
                      <a16:colId xmlns:a16="http://schemas.microsoft.com/office/drawing/2014/main" val="244507178"/>
                    </a:ext>
                  </a:extLst>
                </a:gridCol>
                <a:gridCol w="4285800">
                  <a:extLst>
                    <a:ext uri="{9D8B030D-6E8A-4147-A177-3AD203B41FA5}">
                      <a16:colId xmlns:a16="http://schemas.microsoft.com/office/drawing/2014/main" val="278955444"/>
                    </a:ext>
                  </a:extLst>
                </a:gridCol>
              </a:tblGrid>
              <a:tr h="324938">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FLEET</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STA</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52737485"/>
                  </a:ext>
                </a:extLst>
              </a:tr>
              <a:tr h="430895">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A321</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A604</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17:30 13/03/2025</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79</a:t>
                      </a:r>
                      <a:endParaRPr lang="en-150"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VN140</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TRANSIT CHECK FOUND MW #2 TREAD WORN TO LIMIT </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50" b="0" i="0" u="none" strike="noStrike">
                          <a:solidFill>
                            <a:srgbClr val="000000"/>
                          </a:solidFill>
                          <a:effectLst/>
                          <a:latin typeface="Times New Roman" panose="02020603050405020304" pitchFamily="18" charset="0"/>
                          <a:cs typeface="Times New Roman" panose="02020603050405020304" pitchFamily="18" charset="0"/>
                        </a:rPr>
                        <a:t>RPLD MW #</a:t>
                      </a:r>
                      <a:r>
                        <a:rPr lang="en-US" sz="1050" b="0" i="0" u="none" strike="noStrike">
                          <a:solidFill>
                            <a:srgbClr val="000000"/>
                          </a:solidFill>
                          <a:effectLst/>
                          <a:latin typeface="Times New Roman" panose="02020603050405020304" pitchFamily="18" charset="0"/>
                          <a:cs typeface="Times New Roman" panose="02020603050405020304" pitchFamily="18" charset="0"/>
                        </a:rPr>
                        <a:t>2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SATIS. TOTAL DELAY 79 MINS , TECH DELAY 0 MIN (A/C ARRIVAL LATE 82 MINS)</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1178907"/>
                  </a:ext>
                </a:extLst>
              </a:tr>
              <a:tr h="430895">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A321</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A323</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08:30 13/03/2025</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8</a:t>
                      </a:r>
                      <a:endParaRPr lang="en-150"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VN118</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TRANSIT CHECK FOUND MW #4 SHOULDER WORN TO LIMIT </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50" b="0" i="0" u="none" strike="noStrike">
                          <a:solidFill>
                            <a:srgbClr val="000000"/>
                          </a:solidFill>
                          <a:effectLst/>
                          <a:latin typeface="Times New Roman" panose="02020603050405020304" pitchFamily="18" charset="0"/>
                          <a:cs typeface="Times New Roman" panose="02020603050405020304" pitchFamily="18" charset="0"/>
                        </a:rPr>
                        <a:t>RPLD MW #</a:t>
                      </a:r>
                      <a:r>
                        <a:rPr lang="en-US" sz="1050" b="0" i="0" u="none" strike="noStrike">
                          <a:solidFill>
                            <a:srgbClr val="000000"/>
                          </a:solidFill>
                          <a:effectLst/>
                          <a:latin typeface="Times New Roman" panose="02020603050405020304" pitchFamily="18" charset="0"/>
                          <a:cs typeface="Times New Roman" panose="02020603050405020304" pitchFamily="18" charset="0"/>
                        </a:rPr>
                        <a:t>4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SATIS. TOTAL </a:t>
                      </a:r>
                      <a:r>
                        <a:rPr lang="en-US" sz="1050" b="0" i="0" u="none" strike="noStrike">
                          <a:solidFill>
                            <a:srgbClr val="000000"/>
                          </a:solidFill>
                          <a:effectLst/>
                          <a:latin typeface="Times New Roman" panose="02020603050405020304" pitchFamily="18" charset="0"/>
                          <a:cs typeface="Times New Roman" panose="02020603050405020304" pitchFamily="18" charset="0"/>
                        </a:rPr>
                        <a:t>DELAY 8 MINS , TECH DELAY </a:t>
                      </a:r>
                      <a:r>
                        <a:rPr lang="en-US" sz="1050" b="0" i="0" u="none" strike="noStrike">
                          <a:solidFill>
                            <a:srgbClr val="000000"/>
                          </a:solidFill>
                          <a:effectLst/>
                          <a:latin typeface="Times New Roman" panose="02020603050405020304" pitchFamily="18" charset="0"/>
                          <a:cs typeface="Times New Roman" panose="02020603050405020304" pitchFamily="18" charset="0"/>
                        </a:rPr>
                        <a:t>0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MINS.</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222249"/>
                  </a:ext>
                </a:extLst>
              </a:tr>
              <a:tr h="326124">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A321</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A395</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22:28 12/03/2025</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21</a:t>
                      </a:r>
                      <a:endParaRPr lang="en-150"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VN260</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TRANSIT CHECK FOUND MW #4 TREAD WORN TO LIMIT (ABNORMAL) </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C/O </a:t>
                      </a:r>
                      <a:r>
                        <a:rPr lang="vi-VN" sz="1050" b="0" i="0" u="none" strike="noStrike">
                          <a:solidFill>
                            <a:srgbClr val="000000"/>
                          </a:solidFill>
                          <a:effectLst/>
                          <a:latin typeface="Times New Roman" panose="02020603050405020304" pitchFamily="18" charset="0"/>
                          <a:cs typeface="Times New Roman" panose="02020603050405020304" pitchFamily="18" charset="0"/>
                        </a:rPr>
                        <a:t>RPLD MW #4 SATIS .</a:t>
                      </a:r>
                      <a:r>
                        <a:rPr lang="vi-VN" sz="1050" b="0" i="0" u="none" strike="noStrike">
                          <a:solidFill>
                            <a:srgbClr val="000000"/>
                          </a:solidFill>
                          <a:effectLst/>
                          <a:latin typeface="Times New Roman" panose="02020603050405020304" pitchFamily="18" charset="0"/>
                          <a:cs typeface="Times New Roman" panose="02020603050405020304" pitchFamily="18" charset="0"/>
                        </a:rPr>
                        <a:t>A/C </a:t>
                      </a: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SERVICEABLE</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 TOTAL </a:t>
                      </a:r>
                      <a:r>
                        <a:rPr lang="vi-VN" sz="1050" b="0" i="0" u="none" strike="noStrike">
                          <a:solidFill>
                            <a:srgbClr val="000000"/>
                          </a:solidFill>
                          <a:effectLst/>
                          <a:latin typeface="Times New Roman" panose="02020603050405020304" pitchFamily="18" charset="0"/>
                          <a:cs typeface="Times New Roman" panose="02020603050405020304" pitchFamily="18" charset="0"/>
                        </a:rPr>
                        <a:t>DELAY 21 MINS , TECH DELAY </a:t>
                      </a:r>
                      <a:r>
                        <a:rPr lang="vi-VN" sz="1050" b="0" i="0" u="none" strike="noStrike">
                          <a:solidFill>
                            <a:srgbClr val="000000"/>
                          </a:solidFill>
                          <a:effectLst/>
                          <a:latin typeface="Times New Roman" panose="02020603050405020304" pitchFamily="18" charset="0"/>
                          <a:cs typeface="Times New Roman" panose="02020603050405020304" pitchFamily="18" charset="0"/>
                        </a:rPr>
                        <a:t>0 </a:t>
                      </a:r>
                      <a:r>
                        <a:rPr lang="vi-VN" sz="1050" b="0" i="0" u="none" strike="noStrike" smtClean="0">
                          <a:solidFill>
                            <a:srgbClr val="000000"/>
                          </a:solidFill>
                          <a:effectLst/>
                          <a:latin typeface="Times New Roman" panose="02020603050405020304" pitchFamily="18" charset="0"/>
                          <a:cs typeface="Times New Roman" panose="02020603050405020304" pitchFamily="18" charset="0"/>
                        </a:rPr>
                        <a:t>MINS</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6469173"/>
                  </a:ext>
                </a:extLst>
              </a:tr>
              <a:tr h="228600">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A321</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A618</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20:40 12/03/2025</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40</a:t>
                      </a:r>
                      <a:endParaRPr lang="en-150"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VN146</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TRANSIT CHECK FOUND MW #3 SHOULDER WORN TO LIMIT (ABNORMAL) </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50" b="0" i="0" u="none" strike="noStrike">
                          <a:solidFill>
                            <a:srgbClr val="000000"/>
                          </a:solidFill>
                          <a:effectLst/>
                          <a:latin typeface="Times New Roman" panose="02020603050405020304" pitchFamily="18" charset="0"/>
                          <a:cs typeface="Times New Roman" panose="02020603050405020304" pitchFamily="18" charset="0"/>
                        </a:rPr>
                        <a:t>RPLD MW #</a:t>
                      </a:r>
                      <a:r>
                        <a:rPr lang="en-US" sz="1050" b="0" i="0" u="none" strike="noStrike">
                          <a:solidFill>
                            <a:srgbClr val="000000"/>
                          </a:solidFill>
                          <a:effectLst/>
                          <a:latin typeface="Times New Roman" panose="02020603050405020304" pitchFamily="18" charset="0"/>
                          <a:cs typeface="Times New Roman" panose="02020603050405020304" pitchFamily="18" charset="0"/>
                        </a:rPr>
                        <a:t>3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SATIS. TOTAL </a:t>
                      </a:r>
                      <a:r>
                        <a:rPr lang="en-US" sz="1050" b="0" i="0" u="none" strike="noStrike">
                          <a:solidFill>
                            <a:srgbClr val="000000"/>
                          </a:solidFill>
                          <a:effectLst/>
                          <a:latin typeface="Times New Roman" panose="02020603050405020304" pitchFamily="18" charset="0"/>
                          <a:cs typeface="Times New Roman" panose="02020603050405020304" pitchFamily="18" charset="0"/>
                        </a:rPr>
                        <a:t>DELAY 40 MINS , TECH DELAY </a:t>
                      </a:r>
                      <a:r>
                        <a:rPr lang="en-US" sz="1050" b="0" i="0" u="none" strike="noStrike">
                          <a:solidFill>
                            <a:srgbClr val="000000"/>
                          </a:solidFill>
                          <a:effectLst/>
                          <a:latin typeface="Times New Roman" panose="02020603050405020304" pitchFamily="18" charset="0"/>
                          <a:cs typeface="Times New Roman" panose="02020603050405020304" pitchFamily="18" charset="0"/>
                        </a:rPr>
                        <a:t>0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MINS.</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1752632"/>
                  </a:ext>
                </a:extLst>
              </a:tr>
              <a:tr h="324938">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A350</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A890</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22:42 11/03/2025</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cs typeface="Times New Roman" panose="02020603050405020304" pitchFamily="18" charset="0"/>
                        </a:rPr>
                        <a:t> </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VN11</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SGN-CDG</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TRANSIT CHECK FOUND LH NW TREAD WORN TO LIMIT </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50" b="0" i="0" u="none" strike="noStrike">
                          <a:solidFill>
                            <a:srgbClr val="000000"/>
                          </a:solidFill>
                          <a:effectLst/>
                          <a:latin typeface="Times New Roman" panose="02020603050405020304" pitchFamily="18" charset="0"/>
                          <a:cs typeface="Times New Roman" panose="02020603050405020304" pitchFamily="18" charset="0"/>
                        </a:rPr>
                        <a:t>RPLD LH NW SATIS , </a:t>
                      </a:r>
                      <a:r>
                        <a:rPr lang="en-US" sz="1050" b="0" i="0" u="none" strike="noStrike">
                          <a:solidFill>
                            <a:srgbClr val="000000"/>
                          </a:solidFill>
                          <a:effectLst/>
                          <a:latin typeface="Times New Roman" panose="02020603050405020304" pitchFamily="18" charset="0"/>
                          <a:cs typeface="Times New Roman" panose="02020603050405020304" pitchFamily="18" charset="0"/>
                        </a:rPr>
                        <a:t>A/C </a:t>
                      </a:r>
                      <a:r>
                        <a:rPr lang="en-US" sz="105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6660010"/>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839803142"/>
              </p:ext>
            </p:extLst>
          </p:nvPr>
        </p:nvGraphicFramePr>
        <p:xfrm>
          <a:off x="134291" y="1600200"/>
          <a:ext cx="11706824" cy="2545332"/>
        </p:xfrm>
        <a:graphic>
          <a:graphicData uri="http://schemas.openxmlformats.org/drawingml/2006/table">
            <a:tbl>
              <a:tblPr/>
              <a:tblGrid>
                <a:gridCol w="322909">
                  <a:extLst>
                    <a:ext uri="{9D8B030D-6E8A-4147-A177-3AD203B41FA5}">
                      <a16:colId xmlns:a16="http://schemas.microsoft.com/office/drawing/2014/main" val="1793832132"/>
                    </a:ext>
                  </a:extLst>
                </a:gridCol>
                <a:gridCol w="838200">
                  <a:extLst>
                    <a:ext uri="{9D8B030D-6E8A-4147-A177-3AD203B41FA5}">
                      <a16:colId xmlns:a16="http://schemas.microsoft.com/office/drawing/2014/main" val="109558353"/>
                    </a:ext>
                  </a:extLst>
                </a:gridCol>
                <a:gridCol w="685800">
                  <a:extLst>
                    <a:ext uri="{9D8B030D-6E8A-4147-A177-3AD203B41FA5}">
                      <a16:colId xmlns:a16="http://schemas.microsoft.com/office/drawing/2014/main" val="2981346840"/>
                    </a:ext>
                  </a:extLst>
                </a:gridCol>
                <a:gridCol w="381000">
                  <a:extLst>
                    <a:ext uri="{9D8B030D-6E8A-4147-A177-3AD203B41FA5}">
                      <a16:colId xmlns:a16="http://schemas.microsoft.com/office/drawing/2014/main" val="1585845206"/>
                    </a:ext>
                  </a:extLst>
                </a:gridCol>
                <a:gridCol w="2362200">
                  <a:extLst>
                    <a:ext uri="{9D8B030D-6E8A-4147-A177-3AD203B41FA5}">
                      <a16:colId xmlns:a16="http://schemas.microsoft.com/office/drawing/2014/main" val="1507092633"/>
                    </a:ext>
                  </a:extLst>
                </a:gridCol>
                <a:gridCol w="2895600">
                  <a:extLst>
                    <a:ext uri="{9D8B030D-6E8A-4147-A177-3AD203B41FA5}">
                      <a16:colId xmlns:a16="http://schemas.microsoft.com/office/drawing/2014/main" val="2589245263"/>
                    </a:ext>
                  </a:extLst>
                </a:gridCol>
                <a:gridCol w="533400">
                  <a:extLst>
                    <a:ext uri="{9D8B030D-6E8A-4147-A177-3AD203B41FA5}">
                      <a16:colId xmlns:a16="http://schemas.microsoft.com/office/drawing/2014/main" val="908218"/>
                    </a:ext>
                  </a:extLst>
                </a:gridCol>
                <a:gridCol w="3687715">
                  <a:extLst>
                    <a:ext uri="{9D8B030D-6E8A-4147-A177-3AD203B41FA5}">
                      <a16:colId xmlns:a16="http://schemas.microsoft.com/office/drawing/2014/main" val="649488762"/>
                    </a:ext>
                  </a:extLst>
                </a:gridCol>
              </a:tblGrid>
              <a:tr h="388827">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22022239"/>
                  </a:ext>
                </a:extLst>
              </a:tr>
              <a:tr h="373173">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A331</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03:00 14/03/2025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12:00 14/03/2025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SGN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VN265 HAN-SGN FOUND DAMAGE ON RH STATIC PORT, LENGTH: 90mm x WIDTH: 3mm x DEPTH: 1mm OUT </a:t>
                      </a:r>
                      <a:r>
                        <a:rPr lang="en-US" sz="1000" b="0" i="0" u="none" strike="noStrike">
                          <a:solidFill>
                            <a:srgbClr val="000000"/>
                          </a:solidFill>
                          <a:effectLst/>
                          <a:latin typeface="Times New Roman" panose="02020603050405020304" pitchFamily="18" charset="0"/>
                          <a:cs typeface="Times New Roman" panose="02020603050405020304" pitchFamily="18" charset="0"/>
                        </a:rPr>
                        <a:t>OF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LIMIT</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en-US" sz="1000" b="0" i="0" u="none" strike="noStrike">
                          <a:solidFill>
                            <a:srgbClr val="000000"/>
                          </a:solidFill>
                          <a:effectLst/>
                          <a:latin typeface="Times New Roman" panose="02020603050405020304" pitchFamily="18" charset="0"/>
                          <a:cs typeface="Times New Roman" panose="02020603050405020304" pitchFamily="18" charset="0"/>
                        </a:rPr>
                        <a:t>ACTION: CHECK IN LIMIT, STRUCTURE C/O REPAIR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AND </a:t>
                      </a:r>
                      <a:r>
                        <a:rPr lang="en-US" sz="1000" b="0" i="0" u="none" strike="noStrike">
                          <a:solidFill>
                            <a:srgbClr val="000000"/>
                          </a:solidFill>
                          <a:effectLst/>
                          <a:latin typeface="Times New Roman" panose="02020603050405020304" pitchFamily="18" charset="0"/>
                          <a:cs typeface="Times New Roman" panose="02020603050405020304" pitchFamily="18" charset="0"/>
                        </a:rPr>
                        <a:t>APPLY SURFACE PRETREATMENT FOR SCRATCH, A/C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SERVICEABLE. </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Non tech</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9177545"/>
                  </a:ext>
                </a:extLst>
              </a:tr>
              <a:tr h="64747">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A612</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09:31 10/03/2025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13:45 10/03/2025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T/X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Check found hydraulic leakage at lower haft </a:t>
                      </a:r>
                      <a:r>
                        <a:rPr lang="en-US" sz="1000" b="0" i="0" u="none" strike="noStrike">
                          <a:solidFill>
                            <a:srgbClr val="000000"/>
                          </a:solidFill>
                          <a:effectLst/>
                          <a:latin typeface="Times New Roman" panose="02020603050405020304" pitchFamily="18" charset="0"/>
                          <a:cs typeface="Times New Roman" panose="02020603050405020304" pitchFamily="18" charset="0"/>
                        </a:rPr>
                        <a:t>of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fuselage</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LEAK CHECK REF AMM 29-00-00-790-001-A REV 86 FOUND LEAK AT TUBE ASSY ITEM 10 IPC FIGURE 29-12-03-02B (SHEET 1). REPLACE NEW TUBE ASSY LEAK </a:t>
                      </a:r>
                      <a:r>
                        <a:rPr lang="en-US" sz="1000" b="0" i="0" u="none" strike="noStrike">
                          <a:solidFill>
                            <a:srgbClr val="000000"/>
                          </a:solidFill>
                          <a:effectLst/>
                          <a:latin typeface="Times New Roman" panose="02020603050405020304" pitchFamily="18" charset="0"/>
                          <a:cs typeface="Times New Roman" panose="02020603050405020304" pitchFamily="18" charset="0"/>
                        </a:rPr>
                        <a:t>CHECK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SATIS. </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28-00</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dirty="0">
                          <a:solidFill>
                            <a:srgbClr val="000000"/>
                          </a:solidFill>
                          <a:effectLst/>
                          <a:latin typeface="Times New Roman" panose="02020603050405020304" pitchFamily="18" charset="0"/>
                          <a:cs typeface="Times New Roman" panose="02020603050405020304" pitchFamily="18" charset="0"/>
                        </a:rPr>
                        <a:t>Nguyên nhân do đường ống return line của hệ thống blue bị chafing do cọ sát với đường ống đầu ra của bơm Blue. Hiện Ban KT đã yêu cầu Vaeco thực hiện kiểm tra rà soát 01 lần cho cả fleet và bọc đệm để hạn chế tình trạng cọ xát. Ngoài ra sẽ thực hiện kiểm tra định kì để phát hiện sớm hỏng hóc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4848050"/>
                  </a:ext>
                </a:extLst>
              </a:tr>
              <a:tr h="777653">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A608</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07:50 15/03/2025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A608 </a:t>
                      </a:r>
                      <a:r>
                        <a:rPr lang="en-US" sz="1000" b="0" i="0" u="none" strike="noStrike">
                          <a:solidFill>
                            <a:srgbClr val="000000"/>
                          </a:solidFill>
                          <a:effectLst/>
                          <a:latin typeface="Times New Roman" panose="02020603050405020304" pitchFamily="18" charset="0"/>
                          <a:cs typeface="Times New Roman" panose="02020603050405020304" pitchFamily="18" charset="0"/>
                        </a:rPr>
                        <a:t>VN7210/VN1591 SGN-HAN-VDH (TRANSIT): CAPT REPORT 2 ITEM</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en-US" sz="1000" b="0" i="0" u="none" strike="noStrike">
                          <a:solidFill>
                            <a:srgbClr val="000000"/>
                          </a:solidFill>
                          <a:effectLst/>
                          <a:latin typeface="Times New Roman" panose="02020603050405020304" pitchFamily="18" charset="0"/>
                          <a:cs typeface="Times New Roman" panose="02020603050405020304" pitchFamily="18" charset="0"/>
                        </a:rPr>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1. N/W STRG FAULT</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en-US" sz="1000" b="0" i="0" u="none" strike="noStrike">
                          <a:solidFill>
                            <a:srgbClr val="000000"/>
                          </a:solidFill>
                          <a:effectLst/>
                          <a:latin typeface="Times New Roman" panose="02020603050405020304" pitchFamily="18" charset="0"/>
                          <a:cs typeface="Times New Roman" panose="02020603050405020304" pitchFamily="18" charset="0"/>
                        </a:rPr>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HYD Y SYS LOW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PR.</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ACTION</a:t>
                      </a:r>
                      <a:r>
                        <a:rPr lang="en-US" sz="1000" b="0" i="0" u="none" strike="noStrike">
                          <a:solidFill>
                            <a:srgbClr val="000000"/>
                          </a:solidFill>
                          <a:effectLst/>
                          <a:latin typeface="Times New Roman" panose="02020603050405020304" pitchFamily="18" charset="0"/>
                          <a:cs typeface="Times New Roman" panose="02020603050405020304" pitchFamily="18" charset="0"/>
                        </a:rPr>
                        <a:t>: C/O REPLACED Y HYDRAULIC PRESSURE SWITCH, OPS TEST STEERING SATIS. A/C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SERVICEABLE. </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press sw. Theo đánh giá của AIB hiện chưa xác định được nguyên nhân hỏng hóc do có rất ít airlines gửi khối hỏng đi điều tra. Ngoài ra tổng số press sw trên tàu là 07 khối nên tính chung lại MTBUR rất cao. Hiện AIB đang tiền hành điều tra đánh giá nguyên nhân và không khuyến cáo thay chủ động</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717685"/>
                  </a:ext>
                </a:extLst>
              </a:tr>
            </a:tbl>
          </a:graphicData>
        </a:graphic>
      </p:graphicFrame>
    </p:spTree>
    <p:extLst>
      <p:ext uri="{BB962C8B-B14F-4D97-AF65-F5344CB8AC3E}">
        <p14:creationId xmlns:p14="http://schemas.microsoft.com/office/powerpoint/2010/main" val="3214402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297050293"/>
              </p:ext>
            </p:extLst>
          </p:nvPr>
        </p:nvGraphicFramePr>
        <p:xfrm>
          <a:off x="152398" y="1524000"/>
          <a:ext cx="11688717" cy="3278276"/>
        </p:xfrm>
        <a:graphic>
          <a:graphicData uri="http://schemas.openxmlformats.org/drawingml/2006/table">
            <a:tbl>
              <a:tblPr/>
              <a:tblGrid>
                <a:gridCol w="374166">
                  <a:extLst>
                    <a:ext uri="{9D8B030D-6E8A-4147-A177-3AD203B41FA5}">
                      <a16:colId xmlns:a16="http://schemas.microsoft.com/office/drawing/2014/main" val="608974268"/>
                    </a:ext>
                  </a:extLst>
                </a:gridCol>
                <a:gridCol w="673495">
                  <a:extLst>
                    <a:ext uri="{9D8B030D-6E8A-4147-A177-3AD203B41FA5}">
                      <a16:colId xmlns:a16="http://schemas.microsoft.com/office/drawing/2014/main" val="2896819842"/>
                    </a:ext>
                  </a:extLst>
                </a:gridCol>
                <a:gridCol w="299331">
                  <a:extLst>
                    <a:ext uri="{9D8B030D-6E8A-4147-A177-3AD203B41FA5}">
                      <a16:colId xmlns:a16="http://schemas.microsoft.com/office/drawing/2014/main" val="4281250764"/>
                    </a:ext>
                  </a:extLst>
                </a:gridCol>
                <a:gridCol w="448997">
                  <a:extLst>
                    <a:ext uri="{9D8B030D-6E8A-4147-A177-3AD203B41FA5}">
                      <a16:colId xmlns:a16="http://schemas.microsoft.com/office/drawing/2014/main" val="736738989"/>
                    </a:ext>
                  </a:extLst>
                </a:gridCol>
                <a:gridCol w="448997">
                  <a:extLst>
                    <a:ext uri="{9D8B030D-6E8A-4147-A177-3AD203B41FA5}">
                      <a16:colId xmlns:a16="http://schemas.microsoft.com/office/drawing/2014/main" val="2638907757"/>
                    </a:ext>
                  </a:extLst>
                </a:gridCol>
                <a:gridCol w="523829">
                  <a:extLst>
                    <a:ext uri="{9D8B030D-6E8A-4147-A177-3AD203B41FA5}">
                      <a16:colId xmlns:a16="http://schemas.microsoft.com/office/drawing/2014/main" val="177343146"/>
                    </a:ext>
                  </a:extLst>
                </a:gridCol>
                <a:gridCol w="1421823">
                  <a:extLst>
                    <a:ext uri="{9D8B030D-6E8A-4147-A177-3AD203B41FA5}">
                      <a16:colId xmlns:a16="http://schemas.microsoft.com/office/drawing/2014/main" val="879939685"/>
                    </a:ext>
                  </a:extLst>
                </a:gridCol>
                <a:gridCol w="3726866">
                  <a:extLst>
                    <a:ext uri="{9D8B030D-6E8A-4147-A177-3AD203B41FA5}">
                      <a16:colId xmlns:a16="http://schemas.microsoft.com/office/drawing/2014/main" val="2266327883"/>
                    </a:ext>
                  </a:extLst>
                </a:gridCol>
                <a:gridCol w="523829">
                  <a:extLst>
                    <a:ext uri="{9D8B030D-6E8A-4147-A177-3AD203B41FA5}">
                      <a16:colId xmlns:a16="http://schemas.microsoft.com/office/drawing/2014/main" val="1602966887"/>
                    </a:ext>
                  </a:extLst>
                </a:gridCol>
                <a:gridCol w="3247384">
                  <a:extLst>
                    <a:ext uri="{9D8B030D-6E8A-4147-A177-3AD203B41FA5}">
                      <a16:colId xmlns:a16="http://schemas.microsoft.com/office/drawing/2014/main" val="3315154492"/>
                    </a:ext>
                  </a:extLst>
                </a:gridCol>
              </a:tblGrid>
              <a:tr h="679085">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304800">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A329</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16:15 15/03/2025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23</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VN657</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SGN-SIN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PREPARE TO CLOSE THE </a:t>
                      </a:r>
                      <a:r>
                        <a:rPr lang="en-US" sz="1000" b="0" i="0" u="none" strike="noStrike">
                          <a:solidFill>
                            <a:srgbClr val="000000"/>
                          </a:solidFill>
                          <a:effectLst/>
                          <a:latin typeface="Times New Roman" panose="02020603050405020304" pitchFamily="18" charset="0"/>
                          <a:cs typeface="Times New Roman" panose="02020603050405020304" pitchFamily="18" charset="0"/>
                        </a:rPr>
                        <a:t>DOOR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A/C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HAS MSG: DOOR 1L</a:t>
                      </a:r>
                      <a:r>
                        <a:rPr lang="en-US" sz="1000" b="0" i="0" u="none" strike="noStrike">
                          <a:solidFill>
                            <a:srgbClr val="000000"/>
                          </a:solidFill>
                          <a:effectLst/>
                          <a:latin typeface="Times New Roman" panose="02020603050405020304" pitchFamily="18" charset="0"/>
                          <a:cs typeface="Times New Roman" panose="02020603050405020304" pitchFamily="18" charset="0"/>
                        </a:rPr>
                        <a: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CHECK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DOOR PRESSURE </a:t>
                      </a:r>
                      <a:r>
                        <a:rPr lang="en-US" sz="1000" b="0" i="0" u="none" strike="noStrike">
                          <a:solidFill>
                            <a:srgbClr val="000000"/>
                          </a:solidFill>
                          <a:effectLst/>
                          <a:latin typeface="Times New Roman" panose="02020603050405020304" pitchFamily="18" charset="0"/>
                          <a:cs typeface="Times New Roman" panose="02020603050405020304" pitchFamily="18" charset="0"/>
                        </a:rPr>
                        <a:t>ON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FAP</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en-US" sz="1000" b="0" i="0" u="none" strike="noStrike">
                          <a:solidFill>
                            <a:srgbClr val="000000"/>
                          </a:solidFill>
                          <a:effectLst/>
                          <a:latin typeface="Times New Roman" panose="02020603050405020304" pitchFamily="18" charset="0"/>
                          <a:cs typeface="Times New Roman" panose="02020603050405020304" pitchFamily="18" charset="0"/>
                        </a:rPr>
                        <a:t>ACTION: ADD B1857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RAISED.</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52-00</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dirty="0">
                          <a:solidFill>
                            <a:srgbClr val="000000"/>
                          </a:solidFill>
                          <a:effectLst/>
                          <a:latin typeface="Times New Roman" panose="02020603050405020304" pitchFamily="18" charset="0"/>
                          <a:cs typeface="Times New Roman" panose="02020603050405020304" pitchFamily="18" charset="0"/>
                        </a:rPr>
                        <a:t>Vaeco cần thực hiện kiểm tra kĩ và nạp bình nếu cần khi tàu dừng NS hoặc làm check để hạn chế cảnh báo tương tự</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8293273"/>
                  </a:ext>
                </a:extLst>
              </a:tr>
              <a:tr h="735562">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A396</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18:30 14/03/2025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20</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VN7128</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SGN-DAD</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ELAC 2 PITCH FAULT </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ELAC</a:t>
                      </a:r>
                      <a:r>
                        <a:rPr lang="en-US" sz="1000" b="0" i="0" u="none" strike="noStrike" baseline="0" smtClean="0">
                          <a:solidFill>
                            <a:srgbClr val="000000"/>
                          </a:solidFill>
                          <a:effectLst/>
                          <a:latin typeface="Times New Roman" panose="02020603050405020304" pitchFamily="18" charset="0"/>
                          <a:cs typeface="Times New Roman" panose="02020603050405020304" pitchFamily="18" charset="0"/>
                        </a:rPr>
                        <a:t> 2 RPL.</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000" b="0" i="0" u="none" strike="noStrike">
                          <a:solidFill>
                            <a:srgbClr val="000000"/>
                          </a:solidFill>
                          <a:effectLst/>
                          <a:latin typeface="Times New Roman" panose="02020603050405020304" pitchFamily="18" charset="0"/>
                          <a:cs typeface="Times New Roman" panose="02020603050405020304" pitchFamily="18" charset="0"/>
                        </a:rPr>
                        <a:t>EVENT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CLOSED.</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27-00</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Sau khi reset thì msg không xuất hiện tuy nhiên Vaeco vẫn quyết định thay thế ELAC để tránh phát sinh hỏng hóc lặp lại và hold item để theo dõi thêm. Ngoài ra khối ELAC tháo xuống cũng thuộc khối rất cao giờ và chưa hỏng lần nào, do đó nếu đánh US thì cần yêu cầu thay relay khi gửi đi shop</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6563513"/>
                  </a:ext>
                </a:extLst>
              </a:tr>
              <a:tr h="451606">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A605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09:00 14/03/2025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VN1172</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SGN-HPH</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CAPT INFORM: ENG#2 EGT OVERLIMIT </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ACTION C/out TSM TASK 77-00-00-810-818-B - DO THE BORESCOPE INSPECTION OF THE HPT BLADES, LPT AND HPC REF BSI REPORT BSI02-250125 CHECK SATIS. - C/OUT REPLACED EGT HARDNESS .FOUND SATIS - C/OUT REPLACED THERMO COUPLE 4012KS-4 . FOUND SATIS - ERU HIGHT POWER, SATIS - </a:t>
                      </a:r>
                      <a:r>
                        <a:rPr lang="en-US" sz="1000" b="0" i="0" u="none" strike="noStrike">
                          <a:solidFill>
                            <a:srgbClr val="000000"/>
                          </a:solidFill>
                          <a:effectLst/>
                          <a:latin typeface="Times New Roman" panose="02020603050405020304" pitchFamily="18" charset="0"/>
                          <a:cs typeface="Times New Roman" panose="02020603050405020304" pitchFamily="18" charset="0"/>
                        </a:rPr>
                        <a:t>A/C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77-00</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dirty="0">
                          <a:solidFill>
                            <a:srgbClr val="000000"/>
                          </a:solidFill>
                          <a:effectLst/>
                          <a:latin typeface="Times New Roman" panose="02020603050405020304" pitchFamily="18" charset="0"/>
                          <a:cs typeface="Times New Roman" panose="02020603050405020304" pitchFamily="18" charset="0"/>
                        </a:rPr>
                        <a:t>Động cơ V16336 có TSN/CSN = 31615/15800; TSO/CSO = 7732/5463. Qua kiểm tra phát hiện 01 EGT Thermocouple bị lỏng chân và EGT Harness bị đoản mạch. Các thông số động cơ đều bình thường, soi phần nóng không có hỏng hóc bất thường. Kết luận nguyên nhân do lỗi chỉ thị gây báo giả. NSX có kế hoạch cải tiến EGT Harness và EGT Thermocouple trong Q2/2025.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4614586"/>
                  </a:ext>
                </a:extLst>
              </a:tr>
            </a:tbl>
          </a:graphicData>
        </a:graphic>
      </p:graphicFrame>
    </p:spTree>
    <p:extLst>
      <p:ext uri="{BB962C8B-B14F-4D97-AF65-F5344CB8AC3E}">
        <p14:creationId xmlns:p14="http://schemas.microsoft.com/office/powerpoint/2010/main" val="4020399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7</a:t>
            </a:fld>
            <a:endParaRPr lang="en-US" altLang="en-US" sz="1200">
              <a:solidFill>
                <a:srgbClr val="D2A43B"/>
              </a:solidFill>
              <a:latin typeface="Montserrat"/>
            </a:endParaRPr>
          </a:p>
        </p:txBody>
      </p:sp>
      <p:sp>
        <p:nvSpPr>
          <p:cNvPr id="1048638" name="Title 4"/>
          <p:cNvSpPr>
            <a:spLocks noGrp="1"/>
          </p:cNvSpPr>
          <p:nvPr>
            <p:ph type="title"/>
          </p:nvPr>
        </p:nvSpPr>
        <p:spPr>
          <a:xfrm>
            <a:off x="1051775" y="521594"/>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1047482" y="1143000"/>
            <a:ext cx="10229811" cy="3046988"/>
          </a:xfrm>
          <a:prstGeom prst="rect">
            <a:avLst/>
          </a:prstGeom>
          <a:noFill/>
        </p:spPr>
        <p:txBody>
          <a:bodyPr wrap="square">
            <a:spAutoFit/>
          </a:bodyPr>
          <a:lstStyle/>
          <a:p>
            <a:pPr lvl="0" algn="just">
              <a:lnSpc>
                <a:spcPct val="150000"/>
              </a:lnSpc>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dirty="0">
                <a:latin typeface="Times New Roman" panose="02020603050405020304" pitchFamily="18" charset="0"/>
                <a:cs typeface="Times New Roman" panose="02020603050405020304" pitchFamily="18" charset="0"/>
              </a:rPr>
              <a:t>: </a:t>
            </a:r>
          </a:p>
          <a:p>
            <a:pPr lvl="0" algn="just">
              <a:lnSpc>
                <a:spcPct val="150000"/>
              </a:lnSpc>
              <a:defRPr/>
            </a:pPr>
            <a:r>
              <a:rPr lang="en-US" sz="1600" smtClean="0">
                <a:latin typeface="Times New Roman" panose="02020603050405020304" pitchFamily="18" charset="0"/>
                <a:cs typeface="Times New Roman" panose="02020603050405020304" pitchFamily="18" charset="0"/>
              </a:rPr>
              <a:t>Các phát sinh trong tuần</a:t>
            </a:r>
            <a:endParaRPr lang="vi-VN" sz="1600">
              <a:latin typeface="Times New Roman" panose="02020603050405020304" pitchFamily="18" charset="0"/>
              <a:cs typeface="Times New Roman" panose="02020603050405020304" pitchFamily="18" charset="0"/>
            </a:endParaRPr>
          </a:p>
          <a:p>
            <a:pPr marL="342900" indent="-342900">
              <a:buFont typeface="+mj-lt"/>
              <a:buAutoNum type="arabicPeriod"/>
            </a:pPr>
            <a:r>
              <a:rPr lang="vi-VN" sz="1600" smtClean="0">
                <a:cs typeface="Times New Roman" panose="02020603050405020304" pitchFamily="18" charset="0"/>
              </a:rPr>
              <a:t>A612 </a:t>
            </a:r>
            <a:r>
              <a:rPr lang="vi-VN" sz="1600">
                <a:cs typeface="Times New Roman" panose="02020603050405020304" pitchFamily="18" charset="0"/>
              </a:rPr>
              <a:t>HAN-HKG	hydraulic leakage at lower haft of fuselage found leak at tube và phải thay đường ống. Các đường ống này dễ phát sinh ra hỏng hóc do bị cọ sát với các đường ống khác, hện đã triển khai kiểm tra theo chương trình check leak hàng năm</a:t>
            </a:r>
          </a:p>
          <a:p>
            <a:pPr marL="342900" indent="-342900">
              <a:buFont typeface="+mj-lt"/>
              <a:buAutoNum type="arabicPeriod"/>
            </a:pPr>
            <a:r>
              <a:rPr lang="vi-VN" sz="1600">
                <a:cs typeface="Times New Roman" panose="02020603050405020304" pitchFamily="18" charset="0"/>
              </a:rPr>
              <a:t>A605 ENG#2 EGT OVERLIMIT, sau khi thực hiện soi không phát hiện bất thường, tàu đã thực hiện thay harness và thermal couple, hỏng hóc harness và thermal couple là hỏng hóc khá điển hình của động cơ CEO, đã có chương trình kiểm tra và thay mới nếu phát hiện hỏng hóc</a:t>
            </a:r>
          </a:p>
          <a:p>
            <a:pPr marL="342900" indent="-342900">
              <a:buFont typeface="+mj-lt"/>
              <a:buAutoNum type="arabicPeriod"/>
            </a:pPr>
            <a:r>
              <a:rPr lang="vi-VN" sz="1600">
                <a:cs typeface="Times New Roman" panose="02020603050405020304" pitchFamily="18" charset="0"/>
              </a:rPr>
              <a:t>A608 xuất hiện msg nogo NW Steering fault không reset, phải thay Y HYDRAULIC PRESSURE SWITCH (rob from A511/BQDB). </a:t>
            </a:r>
          </a:p>
          <a:p>
            <a:pPr marL="342900" indent="-342900">
              <a:buFont typeface="+mj-lt"/>
              <a:buAutoNum type="arabicPeriod"/>
            </a:pPr>
            <a:endParaRPr 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0225025"/>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00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Tuần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từ</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smtClean="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10/</a:t>
            </a:r>
            <a:r>
              <a:rPr lang="vi-VN"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03</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/2025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smtClean="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16/03/2025</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Fleet A350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không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vụ</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OI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nào</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liên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quan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782082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DB902122-52FD-2E92-9C7B-C988C4B67FF1}"/>
              </a:ext>
            </a:extLst>
          </p:cNvPr>
          <p:cNvGraphicFramePr>
            <a:graphicFrameLocks noGrp="1"/>
          </p:cNvGraphicFramePr>
          <p:nvPr>
            <p:extLst>
              <p:ext uri="{D42A27DB-BD31-4B8C-83A1-F6EECF244321}">
                <p14:modId xmlns:p14="http://schemas.microsoft.com/office/powerpoint/2010/main" val="1495824206"/>
              </p:ext>
            </p:extLst>
          </p:nvPr>
        </p:nvGraphicFramePr>
        <p:xfrm>
          <a:off x="159293" y="565153"/>
          <a:ext cx="11775134" cy="6266520"/>
        </p:xfrm>
        <a:graphic>
          <a:graphicData uri="http://schemas.openxmlformats.org/drawingml/2006/table">
            <a:tbl>
              <a:tblPr/>
              <a:tblGrid>
                <a:gridCol w="316493">
                  <a:extLst>
                    <a:ext uri="{9D8B030D-6E8A-4147-A177-3AD203B41FA5}">
                      <a16:colId xmlns:a16="http://schemas.microsoft.com/office/drawing/2014/main" val="2381609594"/>
                    </a:ext>
                  </a:extLst>
                </a:gridCol>
                <a:gridCol w="545171">
                  <a:extLst>
                    <a:ext uri="{9D8B030D-6E8A-4147-A177-3AD203B41FA5}">
                      <a16:colId xmlns:a16="http://schemas.microsoft.com/office/drawing/2014/main" val="3109689960"/>
                    </a:ext>
                  </a:extLst>
                </a:gridCol>
                <a:gridCol w="614556">
                  <a:extLst>
                    <a:ext uri="{9D8B030D-6E8A-4147-A177-3AD203B41FA5}">
                      <a16:colId xmlns:a16="http://schemas.microsoft.com/office/drawing/2014/main" val="1492209898"/>
                    </a:ext>
                  </a:extLst>
                </a:gridCol>
                <a:gridCol w="1308409">
                  <a:extLst>
                    <a:ext uri="{9D8B030D-6E8A-4147-A177-3AD203B41FA5}">
                      <a16:colId xmlns:a16="http://schemas.microsoft.com/office/drawing/2014/main" val="2073485831"/>
                    </a:ext>
                  </a:extLst>
                </a:gridCol>
                <a:gridCol w="1219200">
                  <a:extLst>
                    <a:ext uri="{9D8B030D-6E8A-4147-A177-3AD203B41FA5}">
                      <a16:colId xmlns:a16="http://schemas.microsoft.com/office/drawing/2014/main" val="3535653006"/>
                    </a:ext>
                  </a:extLst>
                </a:gridCol>
                <a:gridCol w="1566128">
                  <a:extLst>
                    <a:ext uri="{9D8B030D-6E8A-4147-A177-3AD203B41FA5}">
                      <a16:colId xmlns:a16="http://schemas.microsoft.com/office/drawing/2014/main" val="3165391592"/>
                    </a:ext>
                  </a:extLst>
                </a:gridCol>
                <a:gridCol w="6205177">
                  <a:extLst>
                    <a:ext uri="{9D8B030D-6E8A-4147-A177-3AD203B41FA5}">
                      <a16:colId xmlns:a16="http://schemas.microsoft.com/office/drawing/2014/main" val="3466866733"/>
                    </a:ext>
                  </a:extLst>
                </a:gridCol>
              </a:tblGrid>
              <a:tr h="18570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No</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7918142"/>
                  </a:ext>
                </a:extLst>
              </a:tr>
              <a:tr h="553276">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A886</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ADD B1372 RAISED DM AIR REDUNDANCY LOSS ON FUEL INERTING</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ADD B1379 RAISED PACK 1 REGULATION REDUNDANCY</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ADD B1381 RAISED F/CTL R OUT R AILERON G ACTUATOR</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0741787"/>
                  </a:ext>
                </a:extLst>
              </a:tr>
              <a:tr h="18570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A887</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1. ADD B1246 RAISED AIR PACK 2 REGUL REDUNDANCY</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7465953"/>
                  </a:ext>
                </a:extLst>
              </a:tr>
              <a:tr h="18570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A888</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1. SKYWISE MSG: ENG 1-SD-ENG-QOIL DISPLAYED IN GREEN PULSING COLOUR</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1314327"/>
                  </a:ext>
                </a:extLst>
              </a:tr>
              <a:tr h="73434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A889</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1 21088 giảm tần suất soi HPT blade 800FH/100FC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ADD B1188 RAISED THE OUTBOARD SEAL OF LH MOVEABLE FAIRING # 4 DAMAGED (38CM)</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ADD B1225: DM FUEL INERTING SYS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4. Monitor thêm msg SATCOM</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2506652"/>
                  </a:ext>
                </a:extLst>
              </a:tr>
              <a:tr h="553276">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TR 81489576: PREVENTIVE RECOMMENDATION PACK 2 INTERNAL LEAKAGE</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ADD B1497: "BRAKE FAN 5 DEACTIVE"</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FM: SPDB-2,CABIN(2XY) / WRG TO SPDB-2,CABIN(2XY) PIN 2XYUAA</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424198"/>
                  </a:ext>
                </a:extLst>
              </a:tr>
              <a:tr h="18570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6</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A891</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7759306"/>
                  </a:ext>
                </a:extLst>
              </a:tr>
              <a:tr h="36884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7</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A892</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1. ADD B1455 RAISED THE DROOP-NOSE END-FILLING PANEL AT R/H MISSING</a:t>
                      </a:r>
                      <a:br>
                        <a:rPr lang="en-SG" sz="1000" b="0" i="0" u="none" strike="noStrike">
                          <a:solidFill>
                            <a:srgbClr val="000000"/>
                          </a:solidFill>
                          <a:effectLst/>
                          <a:latin typeface="Times New Roman" panose="02020603050405020304" pitchFamily="18" charset="0"/>
                          <a:cs typeface="Times New Roman" panose="02020603050405020304" pitchFamily="18" charset="0"/>
                        </a:rPr>
                      </a:br>
                      <a:r>
                        <a:rPr lang="en-SG" sz="1000" b="0" i="0" u="none" strike="noStrike">
                          <a:solidFill>
                            <a:srgbClr val="000000"/>
                          </a:solidFill>
                          <a:effectLst/>
                          <a:latin typeface="Times New Roman" panose="02020603050405020304" pitchFamily="18" charset="0"/>
                          <a:cs typeface="Times New Roman" panose="02020603050405020304" pitchFamily="18" charset="0"/>
                        </a:rPr>
                        <a:t>2. ENGINE: #2/21368 ON AIRCRAFT VN-A892: P25 MEASUREMENT ERROR</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8972160"/>
                  </a:ext>
                </a:extLst>
              </a:tr>
              <a:tr h="36884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8</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A893</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1. Không chọn chuyên cơ do động cơ số 2 S/N 21369 tiêu hao dầu nhờn cao, Rolls-Royce chưa đưa ra được giải pháp khắc phục.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2266146"/>
                  </a:ext>
                </a:extLst>
              </a:tr>
              <a:tr h="18570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9</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A894</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2 21425 giảm tần suất soi HPT blade 800FH/100FC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6283667"/>
                  </a:ext>
                </a:extLst>
              </a:tr>
              <a:tr h="368849">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A895</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1. ADD B995 RAISED ENGINE #1 SN 21604 HAVE LOW LIFE TIME </a:t>
                      </a:r>
                      <a:br>
                        <a:rPr lang="en-SG" sz="1000" b="0" i="0" u="none" strike="noStrike">
                          <a:solidFill>
                            <a:srgbClr val="000000"/>
                          </a:solidFill>
                          <a:effectLst/>
                          <a:latin typeface="Times New Roman" panose="02020603050405020304" pitchFamily="18" charset="0"/>
                          <a:cs typeface="Times New Roman" panose="02020603050405020304" pitchFamily="18" charset="0"/>
                        </a:rPr>
                      </a:br>
                      <a:r>
                        <a:rPr lang="en-SG" sz="1000" b="0" i="0" u="none" strike="noStrike">
                          <a:solidFill>
                            <a:srgbClr val="000000"/>
                          </a:solidFill>
                          <a:effectLst/>
                          <a:latin typeface="Times New Roman" panose="02020603050405020304" pitchFamily="18" charset="0"/>
                          <a:cs typeface="Times New Roman" panose="02020603050405020304" pitchFamily="18" charset="0"/>
                        </a:rPr>
                        <a:t>2. ADD B996 RAISED ENGINE #2 SN 21414 HAVE LOW LIFE TIME</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7976082"/>
                  </a:ext>
                </a:extLst>
              </a:tr>
              <a:tr h="553276">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A896</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1. ADD B954 RAISED UPPER LATCH ASSY OF COCKPIT DOOR BOLTING SYSTEM IS NOT FULLY LOCKED </a:t>
                      </a:r>
                      <a:br>
                        <a:rPr lang="en-SG" sz="1000" b="0" i="0" u="none" strike="noStrike">
                          <a:solidFill>
                            <a:srgbClr val="000000"/>
                          </a:solidFill>
                          <a:effectLst/>
                          <a:latin typeface="Times New Roman" panose="02020603050405020304" pitchFamily="18" charset="0"/>
                          <a:cs typeface="Times New Roman" panose="02020603050405020304" pitchFamily="18" charset="0"/>
                        </a:rPr>
                      </a:br>
                      <a:r>
                        <a:rPr lang="en-SG" sz="1000" b="0" i="0" u="none" strike="noStrike">
                          <a:solidFill>
                            <a:srgbClr val="000000"/>
                          </a:solidFill>
                          <a:effectLst/>
                          <a:latin typeface="Times New Roman" panose="02020603050405020304" pitchFamily="18" charset="0"/>
                          <a:cs typeface="Times New Roman" panose="02020603050405020304" pitchFamily="18" charset="0"/>
                        </a:rPr>
                        <a:t>2. TR 81416394: PREVENTIVE RECOMMENDATION PACK 1 INTERNAL LEAKAGE</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0113592"/>
                  </a:ext>
                </a:extLst>
              </a:tr>
              <a:tr h="36858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A897</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2 21214 giảm tần suất soi heatshield 2400FH/400FC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A897 có logo Skyteam</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7602659"/>
                  </a:ext>
                </a:extLst>
              </a:tr>
              <a:tr h="128298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13</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A898</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1 21214 giảm tần suất soi heatshield 2400FH/400FC. Eng 2 21268 giảm tần suất soi HPT blade 800FH/100FC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CABIN tồn đọng hỏng hóc MID SCS CHILLER, cân nhắc chọn tầu VIP chỉ bay nội địa</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ADD B1134 RAISED FOR REPAIR OF DENT L/H DROOP NOSE WITHIN 350FC OR 150 DAYS WHICHEVER COME FIRST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4. ADD B1137 RAISED BRAKE FAN #8 INOP</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5. CAPT OXYGEN CYLINDER (11HT1) PRESSURE IS LOW NEAR LIMIT (&lt;1200 PSI)</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9612510"/>
                  </a:ext>
                </a:extLst>
              </a:tr>
              <a:tr h="185705">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A899</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1 21048 giảm tần suất soi HPT blade 800FH/100FC</a:t>
                      </a:r>
                    </a:p>
                  </a:txBody>
                  <a:tcPr marL="2825" marR="2825" marT="28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7983509"/>
                  </a:ext>
                </a:extLst>
              </a:tr>
            </a:tbl>
          </a:graphicData>
        </a:graphic>
      </p:graphicFrame>
    </p:spTree>
    <p:extLst>
      <p:ext uri="{BB962C8B-B14F-4D97-AF65-F5344CB8AC3E}">
        <p14:creationId xmlns:p14="http://schemas.microsoft.com/office/powerpoint/2010/main" val="1373743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2F7F1-EC77-040F-D02F-CB420ADAF06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E098302-6DCD-71EE-1FBF-9F6961136E8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40C5B-610F-40BC-689E-C441111B49A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130C61D1-F425-C7FC-4F91-76E0FD4C2304}"/>
              </a:ext>
            </a:extLst>
          </p:cNvPr>
          <p:cNvSpPr txBox="1"/>
          <p:nvPr/>
        </p:nvSpPr>
        <p:spPr>
          <a:xfrm>
            <a:off x="152398" y="1059827"/>
            <a:ext cx="112315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D48FB457-A375-1917-6C38-EA994CBDA891}"/>
              </a:ext>
            </a:extLst>
          </p:cNvPr>
          <p:cNvSpPr txBox="1"/>
          <p:nvPr/>
        </p:nvSpPr>
        <p:spPr>
          <a:xfrm>
            <a:off x="152400" y="699251"/>
            <a:ext cx="11231514"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872342217"/>
              </p:ext>
            </p:extLst>
          </p:nvPr>
        </p:nvGraphicFramePr>
        <p:xfrm>
          <a:off x="188255" y="1524000"/>
          <a:ext cx="11195658" cy="3585026"/>
        </p:xfrm>
        <a:graphic>
          <a:graphicData uri="http://schemas.openxmlformats.org/drawingml/2006/table">
            <a:tbl>
              <a:tblPr/>
              <a:tblGrid>
                <a:gridCol w="421345">
                  <a:extLst>
                    <a:ext uri="{9D8B030D-6E8A-4147-A177-3AD203B41FA5}">
                      <a16:colId xmlns:a16="http://schemas.microsoft.com/office/drawing/2014/main" val="557670004"/>
                    </a:ext>
                  </a:extLst>
                </a:gridCol>
                <a:gridCol w="457200">
                  <a:extLst>
                    <a:ext uri="{9D8B030D-6E8A-4147-A177-3AD203B41FA5}">
                      <a16:colId xmlns:a16="http://schemas.microsoft.com/office/drawing/2014/main" val="1886453098"/>
                    </a:ext>
                  </a:extLst>
                </a:gridCol>
                <a:gridCol w="609600">
                  <a:extLst>
                    <a:ext uri="{9D8B030D-6E8A-4147-A177-3AD203B41FA5}">
                      <a16:colId xmlns:a16="http://schemas.microsoft.com/office/drawing/2014/main" val="2837637257"/>
                    </a:ext>
                  </a:extLst>
                </a:gridCol>
                <a:gridCol w="457200">
                  <a:extLst>
                    <a:ext uri="{9D8B030D-6E8A-4147-A177-3AD203B41FA5}">
                      <a16:colId xmlns:a16="http://schemas.microsoft.com/office/drawing/2014/main" val="3076731410"/>
                    </a:ext>
                  </a:extLst>
                </a:gridCol>
                <a:gridCol w="1925547">
                  <a:extLst>
                    <a:ext uri="{9D8B030D-6E8A-4147-A177-3AD203B41FA5}">
                      <a16:colId xmlns:a16="http://schemas.microsoft.com/office/drawing/2014/main" val="4288874379"/>
                    </a:ext>
                  </a:extLst>
                </a:gridCol>
                <a:gridCol w="3789453">
                  <a:extLst>
                    <a:ext uri="{9D8B030D-6E8A-4147-A177-3AD203B41FA5}">
                      <a16:colId xmlns:a16="http://schemas.microsoft.com/office/drawing/2014/main" val="88873040"/>
                    </a:ext>
                  </a:extLst>
                </a:gridCol>
                <a:gridCol w="3535313">
                  <a:extLst>
                    <a:ext uri="{9D8B030D-6E8A-4147-A177-3AD203B41FA5}">
                      <a16:colId xmlns:a16="http://schemas.microsoft.com/office/drawing/2014/main" val="2202311763"/>
                    </a:ext>
                  </a:extLst>
                </a:gridCol>
              </a:tblGrid>
              <a:tr h="515863">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226850028"/>
                  </a:ext>
                </a:extLst>
              </a:tr>
              <a:tr h="2303537">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A868</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16:00 15/03/2025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15:30 16/03/2025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da-DK" sz="1000" b="0" i="0" u="none" strike="noStrike" smtClean="0">
                          <a:solidFill>
                            <a:srgbClr val="000000"/>
                          </a:solidFill>
                          <a:effectLst/>
                          <a:latin typeface="Times New Roman" panose="02020603050405020304" pitchFamily="18" charset="0"/>
                          <a:cs typeface="Times New Roman" panose="02020603050405020304" pitchFamily="18" charset="0"/>
                        </a:rPr>
                        <a:t>A868 </a:t>
                      </a:r>
                      <a:r>
                        <a:rPr lang="da-DK" sz="1000" b="0" i="0" u="none" strike="noStrike">
                          <a:solidFill>
                            <a:srgbClr val="000000"/>
                          </a:solidFill>
                          <a:effectLst/>
                          <a:latin typeface="Times New Roman" panose="02020603050405020304" pitchFamily="18" charset="0"/>
                          <a:cs typeface="Times New Roman" panose="02020603050405020304" pitchFamily="18" charset="0"/>
                        </a:rPr>
                        <a:t>VN56/VN37 LHR-HAN-FRA 14:30/23:20: A868 AOG DUE TO MSG “HYD PUM PRI R”. A/C AOG FOR T/S</a:t>
                      </a:r>
                      <a:r>
                        <a:rPr lang="da-DK" sz="10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da-DK"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vi-VN" sz="1000" b="0" i="0" u="none" strike="noStrike">
                          <a:solidFill>
                            <a:srgbClr val="000000"/>
                          </a:solidFill>
                          <a:effectLst/>
                          <a:latin typeface="Times New Roman" panose="02020603050405020304" pitchFamily="18" charset="0"/>
                          <a:cs typeface="Times New Roman" panose="02020603050405020304" pitchFamily="18" charset="0"/>
                        </a:rPr>
                        <a:t>action</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Replaced supply </a:t>
                      </a:r>
                      <a:r>
                        <a:rPr lang="vi-VN" sz="1000" b="0" i="0" u="none" strike="noStrike">
                          <a:solidFill>
                            <a:srgbClr val="000000"/>
                          </a:solidFill>
                          <a:effectLst/>
                          <a:latin typeface="Times New Roman" panose="02020603050405020304" pitchFamily="18" charset="0"/>
                          <a:cs typeface="Times New Roman" panose="02020603050405020304" pitchFamily="18" charset="0"/>
                        </a:rPr>
                        <a:t>hose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coupling</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Replaced &amp;#160;case </a:t>
                      </a:r>
                      <a:r>
                        <a:rPr lang="vi-VN" sz="1000" b="0" i="0" u="none" strike="noStrike">
                          <a:solidFill>
                            <a:srgbClr val="000000"/>
                          </a:solidFill>
                          <a:effectLst/>
                          <a:latin typeface="Times New Roman" panose="02020603050405020304" pitchFamily="18" charset="0"/>
                          <a:cs typeface="Times New Roman" panose="02020603050405020304" pitchFamily="18" charset="0"/>
                        </a:rPr>
                        <a:t>drain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hose; </a:t>
                      </a:r>
                      <a:r>
                        <a:rPr lang="vi-VN" sz="1000" b="0" i="0" u="none" strike="noStrike">
                          <a:solidFill>
                            <a:srgbClr val="000000"/>
                          </a:solidFill>
                          <a:effectLst/>
                          <a:latin typeface="Times New Roman" panose="02020603050405020304" pitchFamily="18" charset="0"/>
                          <a:cs typeface="Times New Roman" panose="02020603050405020304" pitchFamily="18" charset="0"/>
                        </a:rPr>
                        <a:t>pressure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hose</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Flushing sys, check satis (05 </a:t>
                      </a:r>
                      <a:r>
                        <a:rPr lang="vi-VN" sz="1000" b="0" i="0" u="none" strike="noStrike">
                          <a:solidFill>
                            <a:srgbClr val="000000"/>
                          </a:solidFill>
                          <a:effectLst/>
                          <a:latin typeface="Times New Roman" panose="02020603050405020304" pitchFamily="18" charset="0"/>
                          <a:cs typeface="Times New Roman" panose="02020603050405020304" pitchFamily="18" charset="0"/>
                        </a:rPr>
                        <a:t>times</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Replaced CD, Press, RTN filter of RH </a:t>
                      </a:r>
                      <a:r>
                        <a:rPr lang="vi-VN" sz="1000" b="0" i="0" u="none" strike="noStrike">
                          <a:solidFill>
                            <a:srgbClr val="000000"/>
                          </a:solidFill>
                          <a:effectLst/>
                          <a:latin typeface="Times New Roman" panose="02020603050405020304" pitchFamily="18" charset="0"/>
                          <a:cs typeface="Times New Roman" panose="02020603050405020304" pitchFamily="18" charset="0"/>
                        </a:rPr>
                        <a:t>Hyd</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Replaced EDP </a:t>
                      </a:r>
                      <a:r>
                        <a:rPr lang="vi-VN" sz="1000" b="0" i="0" u="none" strike="noStrike">
                          <a:solidFill>
                            <a:srgbClr val="000000"/>
                          </a:solidFill>
                          <a:effectLst/>
                          <a:latin typeface="Times New Roman" panose="02020603050405020304" pitchFamily="18" charset="0"/>
                          <a:cs typeface="Times New Roman" panose="02020603050405020304" pitchFamily="18" charset="0"/>
                        </a:rPr>
                        <a:t>RH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ENG; </a:t>
                      </a:r>
                      <a:r>
                        <a:rPr lang="vi-VN" sz="1000" b="0" i="0" u="none" strike="noStrike">
                          <a:solidFill>
                            <a:srgbClr val="000000"/>
                          </a:solidFill>
                          <a:effectLst/>
                          <a:latin typeface="Times New Roman" panose="02020603050405020304" pitchFamily="18" charset="0"/>
                          <a:cs typeface="Times New Roman" panose="02020603050405020304" pitchFamily="18" charset="0"/>
                        </a:rPr>
                        <a:t>test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satis</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Found RH PDOS, close T/R inop, fan </a:t>
                      </a:r>
                      <a:r>
                        <a:rPr lang="vi-VN" sz="1000" b="0" i="0" u="none" strike="noStrike">
                          <a:solidFill>
                            <a:srgbClr val="000000"/>
                          </a:solidFill>
                          <a:effectLst/>
                          <a:latin typeface="Times New Roman" panose="02020603050405020304" pitchFamily="18" charset="0"/>
                          <a:cs typeface="Times New Roman" panose="02020603050405020304" pitchFamily="18" charset="0"/>
                        </a:rPr>
                        <a:t>cowl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leak;</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Replaced </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oring, Service PDOS for close T/R, Fan </a:t>
                      </a:r>
                      <a:r>
                        <a:rPr lang="vi-VN" sz="1000" b="0" i="0" u="none" strike="noStrike">
                          <a:solidFill>
                            <a:srgbClr val="000000"/>
                          </a:solidFill>
                          <a:effectLst/>
                          <a:latin typeface="Times New Roman" panose="02020603050405020304" pitchFamily="18" charset="0"/>
                          <a:cs typeface="Times New Roman" panose="02020603050405020304" pitchFamily="18" charset="0"/>
                        </a:rPr>
                        <a:t>cowl</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-ERU, HYD, F/CTRL OPS check </a:t>
                      </a:r>
                      <a:r>
                        <a:rPr lang="vi-VN" sz="1000" b="0" i="0" u="none" strike="noStrike">
                          <a:solidFill>
                            <a:srgbClr val="000000"/>
                          </a:solidFill>
                          <a:effectLst/>
                          <a:latin typeface="Times New Roman" panose="02020603050405020304" pitchFamily="18" charset="0"/>
                          <a:cs typeface="Times New Roman" panose="02020603050405020304" pitchFamily="18" charset="0"/>
                        </a:rPr>
                        <a:t>normal</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A/c Serviceable at </a:t>
                      </a:r>
                      <a:r>
                        <a:rPr lang="vi-VN" sz="1000" b="0" i="0" u="none" strike="noStrike">
                          <a:solidFill>
                            <a:srgbClr val="000000"/>
                          </a:solidFill>
                          <a:effectLst/>
                          <a:latin typeface="Times New Roman" panose="02020603050405020304" pitchFamily="18" charset="0"/>
                          <a:cs typeface="Times New Roman" panose="02020603050405020304" pitchFamily="18" charset="0"/>
                        </a:rPr>
                        <a:t>15:30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16/03/2025</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ctr"/>
                      <a:r>
                        <a:rPr lang="vi-VN" sz="1000" b="0" i="0" u="none" strike="noStrike" dirty="0" smtClean="0">
                          <a:solidFill>
                            <a:srgbClr val="000000"/>
                          </a:solidFill>
                          <a:effectLst/>
                          <a:latin typeface="Times New Roman" panose="02020603050405020304" pitchFamily="18" charset="0"/>
                          <a:cs typeface="Times New Roman" panose="02020603050405020304" pitchFamily="18" charset="0"/>
                        </a:rPr>
                        <a:t>Trước </a:t>
                      </a:r>
                      <a:r>
                        <a:rPr lang="vi-VN" sz="1000" b="0" i="0" u="none" strike="noStrike" dirty="0">
                          <a:solidFill>
                            <a:srgbClr val="000000"/>
                          </a:solidFill>
                          <a:effectLst/>
                          <a:latin typeface="Times New Roman" panose="02020603050405020304" pitchFamily="18" charset="0"/>
                          <a:cs typeface="Times New Roman" panose="02020603050405020304" pitchFamily="18" charset="0"/>
                        </a:rPr>
                        <a:t>đó trong vòng 1 năm, không có các Mess liên quan đế EDP RH</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Khối EDP SN 530651424 là khối Original trên A868, TSN 28281FH; 6243FC.</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Lịch sử khai thác từng thay 39 khối; tập trung ở 2020 thay 15 khối; 2021 2; 2022:2; 2023:7; 2024:5; 2025: 0</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Tàu có mess ovh và filter clogger. EDP không có dấu hiệu gẫy trục. Hỏng hóc có thể do khối cao giờ, mòn cơ khí, hỏng hóc nặng bên trong EDP, tạo mạt gây tắc lọc.</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Khi bay LHR về HAN thì tàu lại bị mess HYD PUM PRI R. Thực hiện thay EDP, filter, hose, flushing nhiều lần để loại hết mạt. Khả năng thi thực hiện sửa chữa tại LHR, đã không flushing đủ kỹ để loại bỏ hết mạt. Cần có thềm các SFR để xem xét cụ thể hỏng hóc.</a:t>
                      </a:r>
                    </a:p>
                    <a:p>
                      <a:pPr algn="l" fontAlgn="ct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7891513"/>
                  </a:ext>
                </a:extLst>
              </a:tr>
              <a:tr h="381000">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A868</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14:33 14/03/2025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03:10 15/03/2025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LHR</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HYD SYSTEM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MESSAGES</a:t>
                      </a:r>
                    </a:p>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000" b="0" i="0" u="none" strike="noStrike">
                          <a:solidFill>
                            <a:srgbClr val="000000"/>
                          </a:solidFill>
                          <a:effectLst/>
                          <a:latin typeface="Times New Roman" panose="02020603050405020304" pitchFamily="18" charset="0"/>
                          <a:cs typeface="Times New Roman" panose="02020603050405020304" pitchFamily="18" charset="0"/>
                        </a:rPr>
                        <a:t>HYD OVERHEAT PRI R: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Advisory</a:t>
                      </a:r>
                      <a:r>
                        <a:rPr lang="en-US" sz="1000" b="0" i="0" u="none" strike="noStrike">
                          <a:solidFill>
                            <a:srgbClr val="000000"/>
                          </a:solidFill>
                          <a:effectLst/>
                          <a:latin typeface="Times New Roman" panose="02020603050405020304" pitchFamily="18" charset="0"/>
                          <a:cs typeface="Times New Roman" panose="02020603050405020304" pitchFamily="18" charset="0"/>
                        </a:rPr>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HYD PRESS PRI R: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Advisory</a:t>
                      </a:r>
                      <a:r>
                        <a:rPr lang="en-US" sz="1000" b="0" i="0" u="none" strike="noStrike">
                          <a:solidFill>
                            <a:srgbClr val="000000"/>
                          </a:solidFill>
                          <a:effectLst/>
                          <a:latin typeface="Times New Roman" panose="02020603050405020304" pitchFamily="18" charset="0"/>
                          <a:cs typeface="Times New Roman" panose="02020603050405020304" pitchFamily="18" charset="0"/>
                        </a:rPr>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 HYD PUMP PRI R: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Status</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RPL EDP; </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CASE </a:t>
                      </a:r>
                      <a:r>
                        <a:rPr lang="en-US" sz="1000" b="0" i="0" u="none" strike="noStrike">
                          <a:solidFill>
                            <a:srgbClr val="000000"/>
                          </a:solidFill>
                          <a:effectLst/>
                          <a:latin typeface="Times New Roman" panose="02020603050405020304" pitchFamily="18" charset="0"/>
                          <a:cs typeface="Times New Roman" panose="02020603050405020304" pitchFamily="18" charset="0"/>
                        </a:rPr>
                        <a:t>DRAIN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FILTER.</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vi-VN" sz="500" b="0" i="0" u="none" strike="noStrike" dirty="0">
                        <a:solidFill>
                          <a:srgbClr val="000000"/>
                        </a:solidFill>
                        <a:effectLst/>
                        <a:latin typeface="Calibri" panose="020F0502020204030204" pitchFamily="34"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1405994"/>
                  </a:ext>
                </a:extLst>
              </a:tr>
            </a:tbl>
          </a:graphicData>
        </a:graphic>
      </p:graphicFrame>
    </p:spTree>
    <p:extLst>
      <p:ext uri="{BB962C8B-B14F-4D97-AF65-F5344CB8AC3E}">
        <p14:creationId xmlns:p14="http://schemas.microsoft.com/office/powerpoint/2010/main" val="6481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11</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BC5F8F1A-9B5C-18AC-51C0-1EF7C3A7DAA3}"/>
              </a:ext>
            </a:extLst>
          </p:cNvPr>
          <p:cNvGraphicFramePr>
            <a:graphicFrameLocks noGrp="1"/>
          </p:cNvGraphicFramePr>
          <p:nvPr>
            <p:extLst>
              <p:ext uri="{D42A27DB-BD31-4B8C-83A1-F6EECF244321}">
                <p14:modId xmlns:p14="http://schemas.microsoft.com/office/powerpoint/2010/main" val="1665948757"/>
              </p:ext>
            </p:extLst>
          </p:nvPr>
        </p:nvGraphicFramePr>
        <p:xfrm>
          <a:off x="175690" y="501463"/>
          <a:ext cx="11840620" cy="6257658"/>
        </p:xfrm>
        <a:graphic>
          <a:graphicData uri="http://schemas.openxmlformats.org/drawingml/2006/table">
            <a:tbl>
              <a:tblPr/>
              <a:tblGrid>
                <a:gridCol w="428955">
                  <a:extLst>
                    <a:ext uri="{9D8B030D-6E8A-4147-A177-3AD203B41FA5}">
                      <a16:colId xmlns:a16="http://schemas.microsoft.com/office/drawing/2014/main" val="2166930260"/>
                    </a:ext>
                  </a:extLst>
                </a:gridCol>
                <a:gridCol w="674029">
                  <a:extLst>
                    <a:ext uri="{9D8B030D-6E8A-4147-A177-3AD203B41FA5}">
                      <a16:colId xmlns:a16="http://schemas.microsoft.com/office/drawing/2014/main" val="3440455772"/>
                    </a:ext>
                  </a:extLst>
                </a:gridCol>
                <a:gridCol w="604644">
                  <a:extLst>
                    <a:ext uri="{9D8B030D-6E8A-4147-A177-3AD203B41FA5}">
                      <a16:colId xmlns:a16="http://schemas.microsoft.com/office/drawing/2014/main" val="3609915713"/>
                    </a:ext>
                  </a:extLst>
                </a:gridCol>
                <a:gridCol w="1566127">
                  <a:extLst>
                    <a:ext uri="{9D8B030D-6E8A-4147-A177-3AD203B41FA5}">
                      <a16:colId xmlns:a16="http://schemas.microsoft.com/office/drawing/2014/main" val="1779290363"/>
                    </a:ext>
                  </a:extLst>
                </a:gridCol>
                <a:gridCol w="1308409">
                  <a:extLst>
                    <a:ext uri="{9D8B030D-6E8A-4147-A177-3AD203B41FA5}">
                      <a16:colId xmlns:a16="http://schemas.microsoft.com/office/drawing/2014/main" val="2709215599"/>
                    </a:ext>
                  </a:extLst>
                </a:gridCol>
                <a:gridCol w="1952703">
                  <a:extLst>
                    <a:ext uri="{9D8B030D-6E8A-4147-A177-3AD203B41FA5}">
                      <a16:colId xmlns:a16="http://schemas.microsoft.com/office/drawing/2014/main" val="1708756033"/>
                    </a:ext>
                  </a:extLst>
                </a:gridCol>
                <a:gridCol w="5305753">
                  <a:extLst>
                    <a:ext uri="{9D8B030D-6E8A-4147-A177-3AD203B41FA5}">
                      <a16:colId xmlns:a16="http://schemas.microsoft.com/office/drawing/2014/main" val="2781100821"/>
                    </a:ext>
                  </a:extLst>
                </a:gridCol>
              </a:tblGrid>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9962029"/>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A861</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7381403"/>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A862</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B1312 BRAKE 3 WORN TO LIMIT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4942559"/>
                  </a:ext>
                </a:extLst>
              </a:tr>
              <a:tr h="4104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A863</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 1 (958170) HPT 1B có hỏng hóc (giảm tần suất 50FC)</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B1601 STS TAIL AIRFLOW SYS</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3372200"/>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A864</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Định kỳ</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 2 (956577) HPT 1B có hỏng hóc (giảm tần suất 50FC)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334069"/>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A865</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0" i="0" u="none" strike="noStrike">
                          <a:solidFill>
                            <a:srgbClr val="000000"/>
                          </a:solidFill>
                          <a:effectLst/>
                          <a:latin typeface="Times New Roman" panose="02020603050405020304" pitchFamily="18" charset="0"/>
                          <a:cs typeface="Times New Roman" panose="02020603050405020304" pitchFamily="18" charset="0"/>
                        </a:rPr>
                        <a:t>Định kỳ</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713282"/>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A866</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100 FC HPTS1B missing material</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9637052"/>
                  </a:ext>
                </a:extLst>
              </a:tr>
              <a:tr h="8168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1 HPT STG 2 CRACK, giảm tần suất soi 250 FC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B1536 TAIL AIRFLOW SYS</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Left Air Conditioning Pack is degraded. (Active - Mode)</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B1555 ELEC GEN SYS L2</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6183337"/>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A868</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B1119: "REMOVE ENG #1 (S/N 956769) IN 25 CYCLES"</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0143272"/>
                  </a:ext>
                </a:extLst>
              </a:tr>
              <a:tr h="8168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A869</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1 giảm tần suất soi 250 FC (HPT S2 blade cracks) và soi giảm tần suất 250 FC (fuel nozzle cup missing materials)</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B1020 RAISED FOR BRK #07 INOP (WORN TO LIMIT)</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B1021 INTEGRATED CLG RECIRC AIR</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5008378"/>
                  </a:ext>
                </a:extLst>
              </a:tr>
              <a:tr h="10200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A870</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B1374 TAIL AIRFLOW SYS</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B1393 LOW LIMIT VALVE R</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B1395 STS MSG: HYD PUMP C1</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B1396 STS MSG ELEC MC HYD C1</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B1397 NITROGEN GENERATION SYS</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9011547"/>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A871</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 1 (956913) HPT 1B có hỏng hóc (giảm tần suất 50FC)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6117607"/>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A872</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1511179"/>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A873</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HPT 1nd stage 100 FC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4889651"/>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A874</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HPT 1nd stage 100 FC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2833955"/>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0243676"/>
                  </a:ext>
                </a:extLst>
              </a:tr>
              <a:tr h="20727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A878</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4717698"/>
                  </a:ext>
                </a:extLst>
              </a:tr>
              <a:tr h="498851">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A879</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 Động cơ số 1 HPT blage stg 1 cracked giảm tần suất soi 250 FC; Động cơ số 2 HPT blage stg 1 cracked giảm tần suất soi 100 FC</a:t>
                      </a:r>
                    </a:p>
                  </a:txBody>
                  <a:tcPr marL="4071" marR="4071" marT="4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3078524"/>
                  </a:ext>
                </a:extLst>
              </a:tr>
            </a:tbl>
          </a:graphicData>
        </a:graphic>
      </p:graphicFrame>
    </p:spTree>
    <p:extLst>
      <p:ext uri="{BB962C8B-B14F-4D97-AF65-F5344CB8AC3E}">
        <p14:creationId xmlns:p14="http://schemas.microsoft.com/office/powerpoint/2010/main" val="1923719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12</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3"/>
            <a:ext cx="11690701" cy="501675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chưa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A868 AOG tại LHR và HAN các ngày 14 và 15/03 do hỏng hóc HYD PUM PRI R. Cụ thể:</a:t>
            </a:r>
          </a:p>
          <a:p>
            <a:pPr marL="609585" lvl="1" algn="just"/>
            <a:r>
              <a:rPr lang="en-SG" sz="1600">
                <a:solidFill>
                  <a:prstClr val="black"/>
                </a:solidFill>
                <a:latin typeface="Times New Roman" panose="02020603050405020304" pitchFamily="18" charset="0"/>
                <a:cs typeface="Times New Roman" panose="02020603050405020304" pitchFamily="18" charset="0"/>
              </a:rPr>
              <a:t>- Tại LHR ngày 14/03: Chờ QLVT tìm PTVT sau đó đối tác KLM đã thay thế EDP + CASE DRAIN FILTER để khắc phục</a:t>
            </a:r>
          </a:p>
          <a:p>
            <a:pPr marL="609585" lvl="1" algn="just"/>
            <a:r>
              <a:rPr lang="en-SG" sz="1600">
                <a:solidFill>
                  <a:prstClr val="black"/>
                </a:solidFill>
                <a:latin typeface="Times New Roman" panose="02020603050405020304" pitchFamily="18" charset="0"/>
                <a:cs typeface="Times New Roman" panose="02020603050405020304" pitchFamily="18" charset="0"/>
              </a:rPr>
              <a:t>- Tại HAN ngày 15/03: VAECO thực hiện</a:t>
            </a:r>
          </a:p>
          <a:p>
            <a:pPr marL="609585" lvl="3" algn="just"/>
            <a:r>
              <a:rPr lang="en-SG" sz="1600">
                <a:solidFill>
                  <a:prstClr val="black"/>
                </a:solidFill>
                <a:latin typeface="Times New Roman" panose="02020603050405020304" pitchFamily="18" charset="0"/>
                <a:cs typeface="Times New Roman" panose="02020603050405020304" pitchFamily="18" charset="0"/>
              </a:rPr>
              <a:t>	- Replaced supply hose coupling</a:t>
            </a:r>
          </a:p>
          <a:p>
            <a:pPr marL="609585" lvl="3" algn="just"/>
            <a:r>
              <a:rPr lang="en-SG" sz="1600">
                <a:solidFill>
                  <a:prstClr val="black"/>
                </a:solidFill>
                <a:latin typeface="Times New Roman" panose="02020603050405020304" pitchFamily="18" charset="0"/>
                <a:cs typeface="Times New Roman" panose="02020603050405020304" pitchFamily="18" charset="0"/>
              </a:rPr>
              <a:t>	- Replaced  case drain hose &amp; pressure hose</a:t>
            </a:r>
          </a:p>
          <a:p>
            <a:pPr marL="609585" lvl="3" algn="just"/>
            <a:r>
              <a:rPr lang="en-SG" sz="1600">
                <a:solidFill>
                  <a:prstClr val="black"/>
                </a:solidFill>
                <a:latin typeface="Times New Roman" panose="02020603050405020304" pitchFamily="18" charset="0"/>
                <a:cs typeface="Times New Roman" panose="02020603050405020304" pitchFamily="18" charset="0"/>
              </a:rPr>
              <a:t>	- Flushing sys, check satis (05 times).</a:t>
            </a:r>
          </a:p>
          <a:p>
            <a:pPr marL="609585" lvl="3" algn="just"/>
            <a:r>
              <a:rPr lang="en-SG" sz="1600">
                <a:solidFill>
                  <a:prstClr val="black"/>
                </a:solidFill>
                <a:latin typeface="Times New Roman" panose="02020603050405020304" pitchFamily="18" charset="0"/>
                <a:cs typeface="Times New Roman" panose="02020603050405020304" pitchFamily="18" charset="0"/>
              </a:rPr>
              <a:t>	- Replaced CD, Press, RTN filter of RH Hyd.</a:t>
            </a:r>
          </a:p>
          <a:p>
            <a:pPr marL="609585" lvl="3" algn="just"/>
            <a:r>
              <a:rPr lang="en-SG" sz="1600">
                <a:solidFill>
                  <a:prstClr val="black"/>
                </a:solidFill>
                <a:latin typeface="Times New Roman" panose="02020603050405020304" pitchFamily="18" charset="0"/>
                <a:cs typeface="Times New Roman" panose="02020603050405020304" pitchFamily="18" charset="0"/>
              </a:rPr>
              <a:t>	- Replaced EDP RH ENG -&gt; test satis</a:t>
            </a:r>
          </a:p>
          <a:p>
            <a:pPr marL="609585" lvl="3" algn="just"/>
            <a:r>
              <a:rPr lang="en-SG" sz="1600">
                <a:solidFill>
                  <a:prstClr val="black"/>
                </a:solidFill>
                <a:latin typeface="Times New Roman" panose="02020603050405020304" pitchFamily="18" charset="0"/>
                <a:cs typeface="Times New Roman" panose="02020603050405020304" pitchFamily="18" charset="0"/>
              </a:rPr>
              <a:t>	- Found RH PDOS, close T/R inop, fan cowl leak -&gt;Replaced oring, Service PDOS for close T/R, Fan cowl.</a:t>
            </a:r>
          </a:p>
          <a:p>
            <a:pPr marL="609585" lvl="3" algn="just"/>
            <a:r>
              <a:rPr lang="en-SG" sz="1600">
                <a:solidFill>
                  <a:prstClr val="black"/>
                </a:solidFill>
                <a:latin typeface="Times New Roman" panose="02020603050405020304" pitchFamily="18" charset="0"/>
                <a:cs typeface="Times New Roman" panose="02020603050405020304" pitchFamily="18" charset="0"/>
              </a:rPr>
              <a:t>	- ERU, HYD, F/CTRL OPS check normal.</a:t>
            </a:r>
          </a:p>
          <a:p>
            <a:pPr marL="609585" lvl="3" algn="just"/>
            <a:endParaRPr lang="en-SG" sz="1600">
              <a:solidFill>
                <a:prstClr val="black"/>
              </a:solidFill>
              <a:latin typeface="Times New Roman" panose="02020603050405020304" pitchFamily="18" charset="0"/>
              <a:cs typeface="Times New Roman" panose="02020603050405020304" pitchFamily="18" charset="0"/>
            </a:endParaRPr>
          </a:p>
          <a:p>
            <a:pPr marL="609585" lvl="3" algn="just"/>
            <a:r>
              <a:rPr lang="vi-VN" sz="1600">
                <a:solidFill>
                  <a:srgbClr val="FF0000"/>
                </a:solidFill>
                <a:latin typeface="Times New Roman" panose="02020603050405020304" pitchFamily="18" charset="0"/>
                <a:cs typeface="Times New Roman" panose="02020603050405020304" pitchFamily="18" charset="0"/>
              </a:rPr>
              <a:t>Trước đó trong vòng 1 năm, không có các Mess liên quan đế EDP RH Khối EDP SN 530651424 là khối Original trên A868, TSN 28281FH; 6243FC. Lịch sử khai thác từng thay 39 khối; tập trung ở 2020 thay 15 khối; 2021 2; 2022:2; 2023:7; 2024:5; 2025: 0 Tàu có mess ovh và filter clogger. EDP không có dấu hiệu gẫy trục. Hỏng hóc có thể do khối cao giờ, mòn cơ khí, hỏng hóc nặng bên trong EDP, tạo mạt gây tắc lọc. Khi bay LHR về HAN thì tàu lại bị mess HYD PUM PRI R. Thực hiện thay EDP, filter, hose, flushing nhiều lần để loại hết mạt. Khả năng thi thực hiện sửa chữa tại LHR, đã không flushing đủ kỹ để loại bỏ hết mạt. Cần có thềm các SFR để xem xét cụ thể hỏng hóc.</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6120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en-US"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67EFEE8-7A57-C8BE-9EB9-D2B348474B51}"/>
              </a:ext>
            </a:extLst>
          </p:cNvPr>
          <p:cNvSpPr txBox="1"/>
          <p:nvPr/>
        </p:nvSpPr>
        <p:spPr>
          <a:xfrm>
            <a:off x="76199" y="1135253"/>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792301F0-8542-2D8A-C66A-326C6F3CDFAE}"/>
              </a:ext>
            </a:extLst>
          </p:cNvPr>
          <p:cNvSpPr txBox="1"/>
          <p:nvPr/>
        </p:nvSpPr>
        <p:spPr>
          <a:xfrm>
            <a:off x="76200" y="69372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337398270"/>
              </p:ext>
            </p:extLst>
          </p:nvPr>
        </p:nvGraphicFramePr>
        <p:xfrm>
          <a:off x="129987" y="1576786"/>
          <a:ext cx="11634928" cy="5082369"/>
        </p:xfrm>
        <a:graphic>
          <a:graphicData uri="http://schemas.openxmlformats.org/drawingml/2006/table">
            <a:tbl>
              <a:tblPr/>
              <a:tblGrid>
                <a:gridCol w="327213">
                  <a:extLst>
                    <a:ext uri="{9D8B030D-6E8A-4147-A177-3AD203B41FA5}">
                      <a16:colId xmlns:a16="http://schemas.microsoft.com/office/drawing/2014/main" val="233577213"/>
                    </a:ext>
                  </a:extLst>
                </a:gridCol>
                <a:gridCol w="685800">
                  <a:extLst>
                    <a:ext uri="{9D8B030D-6E8A-4147-A177-3AD203B41FA5}">
                      <a16:colId xmlns:a16="http://schemas.microsoft.com/office/drawing/2014/main" val="2133454681"/>
                    </a:ext>
                  </a:extLst>
                </a:gridCol>
                <a:gridCol w="533400">
                  <a:extLst>
                    <a:ext uri="{9D8B030D-6E8A-4147-A177-3AD203B41FA5}">
                      <a16:colId xmlns:a16="http://schemas.microsoft.com/office/drawing/2014/main" val="148115076"/>
                    </a:ext>
                  </a:extLst>
                </a:gridCol>
                <a:gridCol w="457200">
                  <a:extLst>
                    <a:ext uri="{9D8B030D-6E8A-4147-A177-3AD203B41FA5}">
                      <a16:colId xmlns:a16="http://schemas.microsoft.com/office/drawing/2014/main" val="725067265"/>
                    </a:ext>
                  </a:extLst>
                </a:gridCol>
                <a:gridCol w="1861323">
                  <a:extLst>
                    <a:ext uri="{9D8B030D-6E8A-4147-A177-3AD203B41FA5}">
                      <a16:colId xmlns:a16="http://schemas.microsoft.com/office/drawing/2014/main" val="3191334374"/>
                    </a:ext>
                  </a:extLst>
                </a:gridCol>
                <a:gridCol w="2482077">
                  <a:extLst>
                    <a:ext uri="{9D8B030D-6E8A-4147-A177-3AD203B41FA5}">
                      <a16:colId xmlns:a16="http://schemas.microsoft.com/office/drawing/2014/main" val="3817260080"/>
                    </a:ext>
                  </a:extLst>
                </a:gridCol>
                <a:gridCol w="533400">
                  <a:extLst>
                    <a:ext uri="{9D8B030D-6E8A-4147-A177-3AD203B41FA5}">
                      <a16:colId xmlns:a16="http://schemas.microsoft.com/office/drawing/2014/main" val="359884740"/>
                    </a:ext>
                  </a:extLst>
                </a:gridCol>
                <a:gridCol w="4754515">
                  <a:extLst>
                    <a:ext uri="{9D8B030D-6E8A-4147-A177-3AD203B41FA5}">
                      <a16:colId xmlns:a16="http://schemas.microsoft.com/office/drawing/2014/main" val="2973600990"/>
                    </a:ext>
                  </a:extLst>
                </a:gridCol>
              </a:tblGrid>
              <a:tr h="528764">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086999889"/>
                  </a:ext>
                </a:extLst>
              </a:tr>
              <a:tr h="4553605">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B225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16:00 11/03/2025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00:30 12/03/2025</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VN8096/VCS-SGN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CAPT REPORT PACK#2 FAULT CONTINUOS</a:t>
                      </a:r>
                      <a:r>
                        <a:rPr lang="en-US" sz="1100" b="0" i="0" u="none" strike="noStrike">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TEMP NOT SUFFICIENT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FOR BOARDING. A/C HAS ADD </a:t>
                      </a:r>
                      <a:r>
                        <a:rPr lang="en-US" sz="1100" b="0" i="0" u="none" strike="noStrike">
                          <a:solidFill>
                            <a:srgbClr val="000000"/>
                          </a:solidFill>
                          <a:effectLst/>
                          <a:latin typeface="Times New Roman" panose="02020603050405020304" pitchFamily="18" charset="0"/>
                          <a:cs typeface="Times New Roman" panose="02020603050405020304" pitchFamily="18" charset="0"/>
                        </a:rPr>
                        <a:t>PACK#1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INOP</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TURBO FAN SHUTOFF VALVE (66HB</a:t>
                      </a:r>
                      <a:r>
                        <a:rPr lang="en-US" sz="1100" b="0" i="0" u="none" strike="noStrike">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PRESS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SWITCH (80HB). </a:t>
                      </a:r>
                      <a:r>
                        <a:rPr lang="en-US" sz="1100" b="0" i="0" u="none" strike="noStrike">
                          <a:solidFill>
                            <a:srgbClr val="000000"/>
                          </a:solidFill>
                          <a:effectLst/>
                          <a:latin typeface="Times New Roman" panose="02020603050405020304" pitchFamily="18" charset="0"/>
                          <a:cs typeface="Times New Roman" panose="02020603050405020304" pitchFamily="18" charset="0"/>
                        </a:rPr>
                        <a:t>OPT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TEST;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VISUAL INSPECT VALVE 2 </a:t>
                      </a:r>
                      <a:r>
                        <a:rPr lang="en-US" sz="1100" b="0" i="0" u="none" strike="noStrike">
                          <a:solidFill>
                            <a:srgbClr val="000000"/>
                          </a:solidFill>
                          <a:effectLst/>
                          <a:latin typeface="Times New Roman" panose="02020603050405020304" pitchFamily="18" charset="0"/>
                          <a:cs typeface="Times New Roman" panose="02020603050405020304" pitchFamily="18" charset="0"/>
                        </a:rPr>
                        <a:t>SATIS</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 RUN UP DUCT #2 TEMP ~15 DEG (REMAIN PACK 1 </a:t>
                      </a:r>
                      <a:r>
                        <a:rPr lang="en-US" sz="1100" b="0" i="0" u="none" strike="noStrike">
                          <a:solidFill>
                            <a:srgbClr val="000000"/>
                          </a:solidFill>
                          <a:effectLst/>
                          <a:latin typeface="Times New Roman" panose="02020603050405020304" pitchFamily="18" charset="0"/>
                          <a:cs typeface="Times New Roman" panose="02020603050405020304" pitchFamily="18" charset="0"/>
                        </a:rPr>
                        <a:t>INOP</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REQUEST CRS B1 FLY </a:t>
                      </a:r>
                      <a:r>
                        <a:rPr lang="en-US" sz="1100" b="0" i="0" u="none" strike="noStrike">
                          <a:solidFill>
                            <a:srgbClr val="000000"/>
                          </a:solidFill>
                          <a:effectLst/>
                          <a:latin typeface="Times New Roman" panose="02020603050405020304" pitchFamily="18" charset="0"/>
                          <a:cs typeface="Times New Roman" panose="02020603050405020304" pitchFamily="18" charset="0"/>
                        </a:rPr>
                        <a:t>FOR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MONITOR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21-00</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1. Hỏng hóc Pack #2  intermittent fault xuất hiện từ 03/03/2025. Đã thực hiện thay Pack valve#2 để khắc phục hỏng hóc. P/N ON 3214960-3, S/N ON 1403;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P/N OFF 3214960-3, S/N OFF 1473 ( TSN=22524:25, CSN=25760, TSI=4778:38, CSI = 5885)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Tuy nhiên, ngày 11/03/2025, tổ bay phản ánh pack valve #2 fault. Sau khi troubleshooting,  swap pack valve #2 và Pack valve #1, thì hỏng hóc nhảy sang Pack valve#1 =&gt; nghi ngờ khối pack valve #2 lắp lên hôm 03/03/2025 bị hỏng.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Khối pack valve P/N ON 3214960-3, S/N ON 1403, được Ban QLVT mua cũ từ 25/02/2025, lần đi shop gần nhất,  thực hiện OVH vào 28/03/2024 (không phải do OEM Honeywell thực hiện)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2. Đối với độ tin cậy khối pack valve P/N 3214960-3, tính từ 2020 có 11 lần tháo lắp, MTBUR =9,401, xấp xỉ với G- MTBUR  = 10,000, WW- MTBUR = 11,288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'Theo SFR hỏng hóc pack valve do nhiều nguyên nhân khác nhau, thường do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Externally dirty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Solenoid valve ASSY inop/intermittent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Sensitive Switch ASSY intermittent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Bearing corrored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Butterfly stuck</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Không phải là hỏng hóc nổi cộm trên Worldwide, ATR/OEM không có SB nào cải tiến.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Giải pháp: Đảm bảo dự phòng vật tư.</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0994445"/>
                  </a:ext>
                </a:extLst>
              </a:tr>
            </a:tbl>
          </a:graphicData>
        </a:graphic>
      </p:graphicFrame>
    </p:spTree>
    <p:extLst>
      <p:ext uri="{BB962C8B-B14F-4D97-AF65-F5344CB8AC3E}">
        <p14:creationId xmlns:p14="http://schemas.microsoft.com/office/powerpoint/2010/main" val="893204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en-US"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67EFEE8-7A57-C8BE-9EB9-D2B348474B51}"/>
              </a:ext>
            </a:extLst>
          </p:cNvPr>
          <p:cNvSpPr txBox="1"/>
          <p:nvPr/>
        </p:nvSpPr>
        <p:spPr>
          <a:xfrm>
            <a:off x="76199" y="1135253"/>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algn="ctr">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kumimoji="0" lang="vi-VN"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 GTB: </a:t>
            </a:r>
            <a:r>
              <a:rPr lang="vi-VN" sz="1600" b="1" dirty="0">
                <a:solidFill>
                  <a:srgbClr val="FF0000"/>
                </a:solidFill>
                <a:ea typeface="MS PGothic" panose="020B0600070205080204" pitchFamily="34" charset="-128"/>
                <a:cs typeface="Times New Roman" panose="02020603050405020304" pitchFamily="18" charset="0"/>
              </a:rPr>
              <a:t>0</a:t>
            </a:r>
            <a:r>
              <a:rPr lang="en-US" sz="1600" b="1" dirty="0"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a:t>
            </a:r>
            <a:endPar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792301F0-8542-2D8A-C66A-326C6F3CDFAE}"/>
              </a:ext>
            </a:extLst>
          </p:cNvPr>
          <p:cNvSpPr txBox="1"/>
          <p:nvPr/>
        </p:nvSpPr>
        <p:spPr>
          <a:xfrm>
            <a:off x="76200" y="69372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411532224"/>
              </p:ext>
            </p:extLst>
          </p:nvPr>
        </p:nvGraphicFramePr>
        <p:xfrm>
          <a:off x="76200" y="1501359"/>
          <a:ext cx="11688716" cy="3445793"/>
        </p:xfrm>
        <a:graphic>
          <a:graphicData uri="http://schemas.openxmlformats.org/drawingml/2006/table">
            <a:tbl>
              <a:tblPr/>
              <a:tblGrid>
                <a:gridCol w="308827">
                  <a:extLst>
                    <a:ext uri="{9D8B030D-6E8A-4147-A177-3AD203B41FA5}">
                      <a16:colId xmlns:a16="http://schemas.microsoft.com/office/drawing/2014/main" val="720244152"/>
                    </a:ext>
                  </a:extLst>
                </a:gridCol>
                <a:gridCol w="529373">
                  <a:extLst>
                    <a:ext uri="{9D8B030D-6E8A-4147-A177-3AD203B41FA5}">
                      <a16:colId xmlns:a16="http://schemas.microsoft.com/office/drawing/2014/main" val="4061177326"/>
                    </a:ext>
                  </a:extLst>
                </a:gridCol>
                <a:gridCol w="304800">
                  <a:extLst>
                    <a:ext uri="{9D8B030D-6E8A-4147-A177-3AD203B41FA5}">
                      <a16:colId xmlns:a16="http://schemas.microsoft.com/office/drawing/2014/main" val="2645009300"/>
                    </a:ext>
                  </a:extLst>
                </a:gridCol>
                <a:gridCol w="685800">
                  <a:extLst>
                    <a:ext uri="{9D8B030D-6E8A-4147-A177-3AD203B41FA5}">
                      <a16:colId xmlns:a16="http://schemas.microsoft.com/office/drawing/2014/main" val="355856203"/>
                    </a:ext>
                  </a:extLst>
                </a:gridCol>
                <a:gridCol w="609600">
                  <a:extLst>
                    <a:ext uri="{9D8B030D-6E8A-4147-A177-3AD203B41FA5}">
                      <a16:colId xmlns:a16="http://schemas.microsoft.com/office/drawing/2014/main" val="2752371564"/>
                    </a:ext>
                  </a:extLst>
                </a:gridCol>
                <a:gridCol w="685800">
                  <a:extLst>
                    <a:ext uri="{9D8B030D-6E8A-4147-A177-3AD203B41FA5}">
                      <a16:colId xmlns:a16="http://schemas.microsoft.com/office/drawing/2014/main" val="76211672"/>
                    </a:ext>
                  </a:extLst>
                </a:gridCol>
                <a:gridCol w="2133600">
                  <a:extLst>
                    <a:ext uri="{9D8B030D-6E8A-4147-A177-3AD203B41FA5}">
                      <a16:colId xmlns:a16="http://schemas.microsoft.com/office/drawing/2014/main" val="1307683669"/>
                    </a:ext>
                  </a:extLst>
                </a:gridCol>
                <a:gridCol w="2076831">
                  <a:extLst>
                    <a:ext uri="{9D8B030D-6E8A-4147-A177-3AD203B41FA5}">
                      <a16:colId xmlns:a16="http://schemas.microsoft.com/office/drawing/2014/main" val="3371552060"/>
                    </a:ext>
                  </a:extLst>
                </a:gridCol>
                <a:gridCol w="463240">
                  <a:extLst>
                    <a:ext uri="{9D8B030D-6E8A-4147-A177-3AD203B41FA5}">
                      <a16:colId xmlns:a16="http://schemas.microsoft.com/office/drawing/2014/main" val="284524095"/>
                    </a:ext>
                  </a:extLst>
                </a:gridCol>
                <a:gridCol w="3890845">
                  <a:extLst>
                    <a:ext uri="{9D8B030D-6E8A-4147-A177-3AD203B41FA5}">
                      <a16:colId xmlns:a16="http://schemas.microsoft.com/office/drawing/2014/main" val="1363459542"/>
                    </a:ext>
                  </a:extLst>
                </a:gridCol>
              </a:tblGrid>
              <a:tr h="593116">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429638840"/>
                  </a:ext>
                </a:extLst>
              </a:tr>
              <a:tr h="2459419">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B218</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10:29 15/03/2025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OV8067</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ON TAXI WAY </a:t>
                      </a:r>
                      <a:r>
                        <a:rPr lang="en-US" sz="1100" b="0" i="0" u="none" strike="noStrike">
                          <a:solidFill>
                            <a:srgbClr val="000000"/>
                          </a:solidFill>
                          <a:effectLst/>
                          <a:latin typeface="Times New Roman" panose="02020603050405020304" pitchFamily="18" charset="0"/>
                          <a:cs typeface="Times New Roman" panose="02020603050405020304" pitchFamily="18" charset="0"/>
                        </a:rPr>
                        <a:t>CAPT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INFORM A/C </a:t>
                      </a:r>
                      <a:r>
                        <a:rPr lang="en-US" sz="1100" b="0" i="0" u="none" strike="noStrike">
                          <a:solidFill>
                            <a:srgbClr val="000000"/>
                          </a:solidFill>
                          <a:effectLst/>
                          <a:latin typeface="Times New Roman" panose="02020603050405020304" pitchFamily="18" charset="0"/>
                          <a:cs typeface="Times New Roman" panose="02020603050405020304" pitchFamily="18" charset="0"/>
                        </a:rPr>
                        <a:t>HAS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ENG#1</a:t>
                      </a:r>
                      <a:r>
                        <a:rPr lang="en-US" sz="11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BLEED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LEAK . CAPT DECIDED GTB TO </a:t>
                      </a:r>
                      <a:r>
                        <a:rPr lang="en-US" sz="1100" b="0" i="0" u="none" strike="noStrike">
                          <a:solidFill>
                            <a:srgbClr val="000000"/>
                          </a:solidFill>
                          <a:effectLst/>
                          <a:latin typeface="Times New Roman" panose="02020603050405020304" pitchFamily="18" charset="0"/>
                          <a:cs typeface="Times New Roman" panose="02020603050405020304" pitchFamily="18" charset="0"/>
                        </a:rPr>
                        <a:t>PARKING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FINAL </a:t>
                      </a:r>
                      <a:r>
                        <a:rPr lang="en-US" sz="1100" b="0" i="0" u="none" strike="noStrike">
                          <a:solidFill>
                            <a:srgbClr val="000000"/>
                          </a:solidFill>
                          <a:effectLst/>
                          <a:latin typeface="Times New Roman" panose="02020603050405020304" pitchFamily="18" charset="0"/>
                          <a:cs typeface="Times New Roman" panose="02020603050405020304" pitchFamily="18" charset="0"/>
                        </a:rPr>
                        <a:t>ACTION:C/O RAISED ADD B618”ENG#1 BLEED LEAK”. A/C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36-22</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Phát hiện O-ring P/N ASNA2141-40-07 bị damage, vị trí  on the ducts located at the</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nacelle/wing junction (Zone 511, vị trí rib 9 và rib 10).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Đây là silicone seal dễ bị lão hóa sau một thời gian khai thác, mặc dù seal này đã được cải tiến và lắp trên đội tàu bay ATR72 thông qua SB ATR72-36-1011 (năm 2010).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Với hỏng hóc O-ring seal này thì đã có chương trình đánh chặn để kiểm tra thông qua AMP task VNA-36-RAI-10000-1 - CHECK LEADING EDGE BLEED DUCT O-RING AND DISCARD IF NECCESSARY, tần suất 3000 FH/ 4A =&gt; B218 được thực hiện task này lần gần nhất vào 02/11/2023 nhưng không có finding. Dự kiến lần kiểm tra tiếp theo vào Jun/2025</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Ngoài ra, Seal này cũng được thực hiện thay thế theo AMP Task VNA-21 -CHK-10000-1, tần suất 2Y. Seal trên B218 được thay gần nhất vào 02/06/2023 tại Y02-check .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=&gt; Sẽ xem xét lại tần suất AMP task để triển khai thay thế seal này ở tần suất 4A.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3697088"/>
                  </a:ext>
                </a:extLst>
              </a:tr>
            </a:tbl>
          </a:graphicData>
        </a:graphic>
      </p:graphicFrame>
    </p:spTree>
    <p:extLst>
      <p:ext uri="{BB962C8B-B14F-4D97-AF65-F5344CB8AC3E}">
        <p14:creationId xmlns:p14="http://schemas.microsoft.com/office/powerpoint/2010/main" val="121993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DC709-17AB-EB48-9C1A-8DC3469B039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FF5CD9-9447-16DF-DAA3-D6193E57D946}"/>
              </a:ext>
            </a:extLst>
          </p:cNvPr>
          <p:cNvSpPr>
            <a:spLocks noGrp="1"/>
          </p:cNvSpPr>
          <p:nvPr>
            <p:ph type="sldNum" idx="12"/>
          </p:nvPr>
        </p:nvSpPr>
        <p:spPr/>
        <p:txBody>
          <a:bodyPr/>
          <a:lstStyle/>
          <a:p>
            <a:fld id="{6C6B6B8D-D74E-47CD-B5EE-156060B7CD17}" type="slidenum">
              <a:rPr lang="en-US" smtClean="0"/>
              <a:pPr/>
              <a:t>15</a:t>
            </a:fld>
            <a:endParaRPr lang="en-US"/>
          </a:p>
        </p:txBody>
      </p:sp>
      <p:sp>
        <p:nvSpPr>
          <p:cNvPr id="5" name="Title 4">
            <a:extLst>
              <a:ext uri="{FF2B5EF4-FFF2-40B4-BE49-F238E27FC236}">
                <a16:creationId xmlns:a16="http://schemas.microsoft.com/office/drawing/2014/main" id="{01150674-60B2-A4E0-767A-C16D748AA2ED}"/>
              </a:ext>
            </a:extLst>
          </p:cNvPr>
          <p:cNvSpPr>
            <a:spLocks noGrp="1"/>
          </p:cNvSpPr>
          <p:nvPr>
            <p:ph type="title"/>
          </p:nvPr>
        </p:nvSpPr>
        <p:spPr>
          <a:xfrm>
            <a:off x="381000" y="76200"/>
            <a:ext cx="11277600" cy="815200"/>
          </a:xfrm>
        </p:spPr>
        <p:txBody>
          <a:bodyPr>
            <a:normAutofit/>
          </a:bodyPr>
          <a:lstStyle/>
          <a:p>
            <a:r>
              <a:rPr lang="en-US" dirty="0">
                <a:ln w="0"/>
                <a:solidFill>
                  <a:srgbClr val="FFC000"/>
                </a:solidFill>
                <a:latin typeface="Times New Roman" panose="02020603050405020304" pitchFamily="18" charset="0"/>
                <a:cs typeface="Times New Roman" panose="02020603050405020304" pitchFamily="18" charset="0"/>
              </a:rPr>
              <a:t>ATR72- ATA 21 &amp; ATA36 </a:t>
            </a:r>
            <a:endParaRPr lang="vi-VN"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09899ABE-072C-B778-F763-9C1944F96862}"/>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55C7D752-2D74-EBBF-A607-43EF658E601F}"/>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AE2DEC42-E947-EF07-179F-CFD205A71FF7}"/>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1. B225 – PACK #1 FAULT – 04 ACM REMOVALS</a:t>
              </a:r>
            </a:p>
          </p:txBody>
        </p:sp>
      </p:grpSp>
      <p:pic>
        <p:nvPicPr>
          <p:cNvPr id="8" name="Picture 7">
            <a:extLst>
              <a:ext uri="{FF2B5EF4-FFF2-40B4-BE49-F238E27FC236}">
                <a16:creationId xmlns:a16="http://schemas.microsoft.com/office/drawing/2014/main" id="{6A13E429-D048-E593-01FE-97CBFD8D2B69}"/>
              </a:ext>
            </a:extLst>
          </p:cNvPr>
          <p:cNvPicPr>
            <a:picLocks noChangeAspect="1"/>
          </p:cNvPicPr>
          <p:nvPr/>
        </p:nvPicPr>
        <p:blipFill>
          <a:blip r:embed="rId3"/>
          <a:stretch>
            <a:fillRect/>
          </a:stretch>
        </p:blipFill>
        <p:spPr>
          <a:xfrm>
            <a:off x="6459724" y="1246403"/>
            <a:ext cx="5627210" cy="3370065"/>
          </a:xfrm>
          <a:prstGeom prst="rect">
            <a:avLst/>
          </a:prstGeom>
        </p:spPr>
      </p:pic>
      <p:grpSp>
        <p:nvGrpSpPr>
          <p:cNvPr id="10" name="Group 9">
            <a:extLst>
              <a:ext uri="{FF2B5EF4-FFF2-40B4-BE49-F238E27FC236}">
                <a16:creationId xmlns:a16="http://schemas.microsoft.com/office/drawing/2014/main" id="{275CD5BF-29FC-2E5C-8060-7AAA2BFF26C4}"/>
              </a:ext>
            </a:extLst>
          </p:cNvPr>
          <p:cNvGrpSpPr/>
          <p:nvPr/>
        </p:nvGrpSpPr>
        <p:grpSpPr>
          <a:xfrm>
            <a:off x="309653" y="1246403"/>
            <a:ext cx="6433341" cy="5583634"/>
            <a:chOff x="2621721" y="945257"/>
            <a:chExt cx="6433341" cy="5583634"/>
          </a:xfrm>
        </p:grpSpPr>
        <p:sp>
          <p:nvSpPr>
            <p:cNvPr id="11" name="Shape 1">
              <a:extLst>
                <a:ext uri="{FF2B5EF4-FFF2-40B4-BE49-F238E27FC236}">
                  <a16:creationId xmlns:a16="http://schemas.microsoft.com/office/drawing/2014/main" id="{C19AFD48-8C71-D488-F4BC-CCCA6EBD3BD3}"/>
                </a:ext>
              </a:extLst>
            </p:cNvPr>
            <p:cNvSpPr/>
            <p:nvPr/>
          </p:nvSpPr>
          <p:spPr>
            <a:xfrm>
              <a:off x="5613896" y="945257"/>
              <a:ext cx="12700" cy="5583634"/>
            </a:xfrm>
            <a:prstGeom prst="roundRect">
              <a:avLst>
                <a:gd name="adj" fmla="val 850662"/>
              </a:avLst>
            </a:prstGeom>
            <a:solidFill>
              <a:srgbClr val="B6DCE1"/>
            </a:solidFill>
            <a:ln/>
          </p:spPr>
        </p:sp>
        <p:sp>
          <p:nvSpPr>
            <p:cNvPr id="12" name="Shape 2">
              <a:extLst>
                <a:ext uri="{FF2B5EF4-FFF2-40B4-BE49-F238E27FC236}">
                  <a16:creationId xmlns:a16="http://schemas.microsoft.com/office/drawing/2014/main" id="{6711824B-4AA6-5F67-99FE-58C54ABF551B}"/>
                </a:ext>
              </a:extLst>
            </p:cNvPr>
            <p:cNvSpPr/>
            <p:nvPr/>
          </p:nvSpPr>
          <p:spPr>
            <a:xfrm>
              <a:off x="5137844" y="1208981"/>
              <a:ext cx="360065" cy="12700"/>
            </a:xfrm>
            <a:prstGeom prst="roundRect">
              <a:avLst>
                <a:gd name="adj" fmla="val 850662"/>
              </a:avLst>
            </a:prstGeom>
            <a:solidFill>
              <a:srgbClr val="B6DCE1"/>
            </a:solidFill>
            <a:ln/>
          </p:spPr>
        </p:sp>
        <p:sp>
          <p:nvSpPr>
            <p:cNvPr id="14" name="Shape 3">
              <a:extLst>
                <a:ext uri="{FF2B5EF4-FFF2-40B4-BE49-F238E27FC236}">
                  <a16:creationId xmlns:a16="http://schemas.microsoft.com/office/drawing/2014/main" id="{4375B005-E0DE-5C59-5C12-7D8950B901DD}"/>
                </a:ext>
              </a:extLst>
            </p:cNvPr>
            <p:cNvSpPr/>
            <p:nvPr/>
          </p:nvSpPr>
          <p:spPr>
            <a:xfrm>
              <a:off x="5485209" y="1080294"/>
              <a:ext cx="270073" cy="270073"/>
            </a:xfrm>
            <a:prstGeom prst="roundRect">
              <a:avLst>
                <a:gd name="adj" fmla="val 40002"/>
              </a:avLst>
            </a:prstGeom>
            <a:solidFill>
              <a:srgbClr val="D0F6FB"/>
            </a:solidFill>
            <a:ln w="7620">
              <a:solidFill>
                <a:srgbClr val="B6DCE1"/>
              </a:solidFill>
              <a:prstDash val="solid"/>
            </a:ln>
          </p:spPr>
        </p:sp>
        <p:sp>
          <p:nvSpPr>
            <p:cNvPr id="16" name="Text 4">
              <a:extLst>
                <a:ext uri="{FF2B5EF4-FFF2-40B4-BE49-F238E27FC236}">
                  <a16:creationId xmlns:a16="http://schemas.microsoft.com/office/drawing/2014/main" id="{F5C7D01F-167D-4120-216C-A8BBE258A943}"/>
                </a:ext>
              </a:extLst>
            </p:cNvPr>
            <p:cNvSpPr/>
            <p:nvPr/>
          </p:nvSpPr>
          <p:spPr>
            <a:xfrm>
              <a:off x="5530255" y="1102817"/>
              <a:ext cx="179983" cy="225028"/>
            </a:xfrm>
            <a:prstGeom prst="rect">
              <a:avLst/>
            </a:prstGeom>
            <a:noFill/>
            <a:ln/>
          </p:spPr>
          <p:txBody>
            <a:bodyPr wrap="none" lIns="0" tIns="0" rIns="0" bIns="0" rtlCol="0" anchor="t"/>
            <a:lstStyle/>
            <a:p>
              <a:pPr algn="ctr">
                <a:lnSpc>
                  <a:spcPts val="1417"/>
                </a:lnSpc>
              </a:pPr>
              <a:r>
                <a:rPr lang="en-US" sz="1417" b="1" dirty="0">
                  <a:solidFill>
                    <a:srgbClr val="000000"/>
                  </a:solidFill>
                  <a:latin typeface="Montserrat Bold" pitchFamily="34" charset="0"/>
                  <a:ea typeface="Montserrat Bold" pitchFamily="34" charset="-122"/>
                  <a:cs typeface="Montserrat Bold" pitchFamily="34" charset="-120"/>
                </a:rPr>
                <a:t>1</a:t>
              </a:r>
              <a:endParaRPr lang="en-US" sz="1417" dirty="0"/>
            </a:p>
          </p:txBody>
        </p:sp>
        <p:sp>
          <p:nvSpPr>
            <p:cNvPr id="17" name="Text 5">
              <a:extLst>
                <a:ext uri="{FF2B5EF4-FFF2-40B4-BE49-F238E27FC236}">
                  <a16:creationId xmlns:a16="http://schemas.microsoft.com/office/drawing/2014/main" id="{F746A46E-2EC5-137B-0EFA-5F0C2920DA08}"/>
                </a:ext>
              </a:extLst>
            </p:cNvPr>
            <p:cNvSpPr/>
            <p:nvPr/>
          </p:nvSpPr>
          <p:spPr>
            <a:xfrm>
              <a:off x="3519686" y="1065213"/>
              <a:ext cx="1500386" cy="187523"/>
            </a:xfrm>
            <a:prstGeom prst="rect">
              <a:avLst/>
            </a:prstGeom>
            <a:noFill/>
            <a:ln/>
          </p:spPr>
          <p:txBody>
            <a:bodyPr wrap="none" lIns="0" tIns="0" rIns="0" bIns="0" rtlCol="0" anchor="t"/>
            <a:lstStyle/>
            <a:p>
              <a:pPr algn="r">
                <a:lnSpc>
                  <a:spcPts val="1458"/>
                </a:lnSpc>
              </a:pPr>
              <a:r>
                <a:rPr lang="en-US" sz="1167" b="1" dirty="0">
                  <a:solidFill>
                    <a:srgbClr val="007F99"/>
                  </a:solidFill>
                  <a:latin typeface="Montserrat Bold" pitchFamily="34" charset="0"/>
                  <a:ea typeface="Montserrat Bold" pitchFamily="34" charset="-122"/>
                  <a:cs typeface="Montserrat Bold" pitchFamily="34" charset="-120"/>
                </a:rPr>
                <a:t>Ngày 4/2</a:t>
              </a:r>
              <a:endParaRPr lang="en-US" sz="1167" dirty="0"/>
            </a:p>
          </p:txBody>
        </p:sp>
        <p:sp>
          <p:nvSpPr>
            <p:cNvPr id="18" name="Text 6">
              <a:extLst>
                <a:ext uri="{FF2B5EF4-FFF2-40B4-BE49-F238E27FC236}">
                  <a16:creationId xmlns:a16="http://schemas.microsoft.com/office/drawing/2014/main" id="{D3487862-8399-1473-C4D7-E484EDA297B5}"/>
                </a:ext>
              </a:extLst>
            </p:cNvPr>
            <p:cNvSpPr/>
            <p:nvPr/>
          </p:nvSpPr>
          <p:spPr>
            <a:xfrm>
              <a:off x="3040269" y="1324669"/>
              <a:ext cx="1979803" cy="378223"/>
            </a:xfrm>
            <a:prstGeom prst="rect">
              <a:avLst/>
            </a:prstGeom>
            <a:noFill/>
            <a:ln/>
          </p:spPr>
          <p:txBody>
            <a:bodyPr wrap="none" lIns="0" tIns="0" rIns="0" bIns="0" rtlCol="0" anchor="t"/>
            <a:lstStyle/>
            <a:p>
              <a:pPr algn="r">
                <a:lnSpc>
                  <a:spcPts val="1500"/>
                </a:lnSpc>
              </a:pPr>
              <a:r>
                <a:rPr lang="en-US" sz="917" dirty="0">
                  <a:solidFill>
                    <a:srgbClr val="007F99"/>
                  </a:solidFill>
                  <a:latin typeface="Exo" pitchFamily="34" charset="0"/>
                  <a:ea typeface="Exo" pitchFamily="34" charset="-122"/>
                  <a:cs typeface="Exo" pitchFamily="34" charset="-120"/>
                </a:rPr>
                <a:t>ADD B619 PACK 1 TOO HOT, </a:t>
              </a:r>
            </a:p>
            <a:p>
              <a:pPr algn="r">
                <a:lnSpc>
                  <a:spcPts val="1500"/>
                </a:lnSpc>
              </a:pPr>
              <a:r>
                <a:rPr lang="en-US" sz="917" dirty="0" err="1">
                  <a:solidFill>
                    <a:srgbClr val="007F99"/>
                  </a:solidFill>
                  <a:latin typeface="Exo" pitchFamily="34" charset="0"/>
                  <a:ea typeface="Exo" pitchFamily="34" charset="-122"/>
                  <a:cs typeface="Exo" pitchFamily="34" charset="-120"/>
                </a:rPr>
                <a:t>phát</a:t>
              </a:r>
              <a:r>
                <a:rPr lang="en-US" sz="917" dirty="0">
                  <a:solidFill>
                    <a:srgbClr val="007F99"/>
                  </a:solidFill>
                  <a:latin typeface="Exo" pitchFamily="34" charset="0"/>
                  <a:ea typeface="Exo" pitchFamily="34" charset="-122"/>
                  <a:cs typeface="Exo" pitchFamily="34" charset="-120"/>
                </a:rPr>
                <a:t> hiện lỗi ACM#1, </a:t>
              </a:r>
              <a:r>
                <a:rPr lang="en-US" sz="917" dirty="0">
                  <a:solidFill>
                    <a:srgbClr val="FF0000"/>
                  </a:solidFill>
                  <a:latin typeface="Exo" pitchFamily="34" charset="0"/>
                  <a:ea typeface="Exo" pitchFamily="34" charset="-122"/>
                  <a:cs typeface="Exo" pitchFamily="34" charset="-120"/>
                </a:rPr>
                <a:t>thay thế ACM#1</a:t>
              </a:r>
              <a:endParaRPr lang="en-US" sz="917" dirty="0">
                <a:solidFill>
                  <a:srgbClr val="FF0000"/>
                </a:solidFill>
              </a:endParaRPr>
            </a:p>
          </p:txBody>
        </p:sp>
        <p:sp>
          <p:nvSpPr>
            <p:cNvPr id="19" name="Shape 7">
              <a:extLst>
                <a:ext uri="{FF2B5EF4-FFF2-40B4-BE49-F238E27FC236}">
                  <a16:creationId xmlns:a16="http://schemas.microsoft.com/office/drawing/2014/main" id="{8FBEB0AA-71E2-D653-B01D-579F0ED1937F}"/>
                </a:ext>
              </a:extLst>
            </p:cNvPr>
            <p:cNvSpPr/>
            <p:nvPr/>
          </p:nvSpPr>
          <p:spPr>
            <a:xfrm>
              <a:off x="5742583" y="1809056"/>
              <a:ext cx="360065" cy="12700"/>
            </a:xfrm>
            <a:prstGeom prst="roundRect">
              <a:avLst>
                <a:gd name="adj" fmla="val 850662"/>
              </a:avLst>
            </a:prstGeom>
            <a:solidFill>
              <a:srgbClr val="B6DCE1"/>
            </a:solidFill>
            <a:ln/>
          </p:spPr>
        </p:sp>
        <p:sp>
          <p:nvSpPr>
            <p:cNvPr id="20" name="Shape 8">
              <a:extLst>
                <a:ext uri="{FF2B5EF4-FFF2-40B4-BE49-F238E27FC236}">
                  <a16:creationId xmlns:a16="http://schemas.microsoft.com/office/drawing/2014/main" id="{6CF30C9D-14BC-356C-428F-D9CFD394C7C7}"/>
                </a:ext>
              </a:extLst>
            </p:cNvPr>
            <p:cNvSpPr/>
            <p:nvPr/>
          </p:nvSpPr>
          <p:spPr>
            <a:xfrm>
              <a:off x="5485209" y="1680369"/>
              <a:ext cx="270073" cy="270073"/>
            </a:xfrm>
            <a:prstGeom prst="roundRect">
              <a:avLst>
                <a:gd name="adj" fmla="val 40002"/>
              </a:avLst>
            </a:prstGeom>
            <a:solidFill>
              <a:srgbClr val="D0F6FB"/>
            </a:solidFill>
            <a:ln w="7620">
              <a:solidFill>
                <a:srgbClr val="B6DCE1"/>
              </a:solidFill>
              <a:prstDash val="solid"/>
            </a:ln>
          </p:spPr>
        </p:sp>
        <p:sp>
          <p:nvSpPr>
            <p:cNvPr id="21" name="Text 9">
              <a:extLst>
                <a:ext uri="{FF2B5EF4-FFF2-40B4-BE49-F238E27FC236}">
                  <a16:creationId xmlns:a16="http://schemas.microsoft.com/office/drawing/2014/main" id="{A28106D0-D6B5-B900-5BB1-FA2BFD24E617}"/>
                </a:ext>
              </a:extLst>
            </p:cNvPr>
            <p:cNvSpPr/>
            <p:nvPr/>
          </p:nvSpPr>
          <p:spPr>
            <a:xfrm>
              <a:off x="5530255" y="1702892"/>
              <a:ext cx="179983" cy="225028"/>
            </a:xfrm>
            <a:prstGeom prst="rect">
              <a:avLst/>
            </a:prstGeom>
            <a:noFill/>
            <a:ln/>
          </p:spPr>
          <p:txBody>
            <a:bodyPr wrap="none" lIns="0" tIns="0" rIns="0" bIns="0" rtlCol="0" anchor="t"/>
            <a:lstStyle/>
            <a:p>
              <a:pPr algn="ctr">
                <a:lnSpc>
                  <a:spcPts val="1417"/>
                </a:lnSpc>
              </a:pPr>
              <a:r>
                <a:rPr lang="en-US" sz="1417" b="1" dirty="0">
                  <a:solidFill>
                    <a:srgbClr val="000000"/>
                  </a:solidFill>
                  <a:latin typeface="Montserrat Bold" pitchFamily="34" charset="0"/>
                  <a:ea typeface="Montserrat Bold" pitchFamily="34" charset="-122"/>
                  <a:cs typeface="Montserrat Bold" pitchFamily="34" charset="-120"/>
                </a:rPr>
                <a:t>2</a:t>
              </a:r>
              <a:endParaRPr lang="en-US" sz="1417" dirty="0"/>
            </a:p>
          </p:txBody>
        </p:sp>
        <p:sp>
          <p:nvSpPr>
            <p:cNvPr id="23" name="Text 10">
              <a:extLst>
                <a:ext uri="{FF2B5EF4-FFF2-40B4-BE49-F238E27FC236}">
                  <a16:creationId xmlns:a16="http://schemas.microsoft.com/office/drawing/2014/main" id="{1C2A9FED-5E16-56BC-CC8F-5B6EE76A225B}"/>
                </a:ext>
              </a:extLst>
            </p:cNvPr>
            <p:cNvSpPr/>
            <p:nvPr/>
          </p:nvSpPr>
          <p:spPr>
            <a:xfrm>
              <a:off x="6220420" y="1665288"/>
              <a:ext cx="1500386" cy="187523"/>
            </a:xfrm>
            <a:prstGeom prst="rect">
              <a:avLst/>
            </a:prstGeom>
            <a:noFill/>
            <a:ln/>
          </p:spPr>
          <p:txBody>
            <a:bodyPr wrap="none" lIns="0" tIns="0" rIns="0" bIns="0" rtlCol="0" anchor="t"/>
            <a:lstStyle/>
            <a:p>
              <a:pPr>
                <a:lnSpc>
                  <a:spcPts val="1458"/>
                </a:lnSpc>
              </a:pPr>
              <a:r>
                <a:rPr lang="en-US" sz="1167" b="1" dirty="0">
                  <a:solidFill>
                    <a:srgbClr val="007F99"/>
                  </a:solidFill>
                  <a:latin typeface="Montserrat Bold" pitchFamily="34" charset="0"/>
                  <a:ea typeface="Montserrat Bold" pitchFamily="34" charset="-122"/>
                  <a:cs typeface="Montserrat Bold" pitchFamily="34" charset="-120"/>
                </a:rPr>
                <a:t>Ngày 7/2</a:t>
              </a:r>
              <a:endParaRPr lang="en-US" sz="1167" dirty="0"/>
            </a:p>
          </p:txBody>
        </p:sp>
        <p:sp>
          <p:nvSpPr>
            <p:cNvPr id="24" name="Text 11">
              <a:extLst>
                <a:ext uri="{FF2B5EF4-FFF2-40B4-BE49-F238E27FC236}">
                  <a16:creationId xmlns:a16="http://schemas.microsoft.com/office/drawing/2014/main" id="{FCE7A48F-5CF9-742F-EF88-79CCABDFFE7E}"/>
                </a:ext>
              </a:extLst>
            </p:cNvPr>
            <p:cNvSpPr/>
            <p:nvPr/>
          </p:nvSpPr>
          <p:spPr>
            <a:xfrm>
              <a:off x="6220421" y="1924743"/>
              <a:ext cx="2834640" cy="306089"/>
            </a:xfrm>
            <a:prstGeom prst="rect">
              <a:avLst/>
            </a:prstGeom>
            <a:noFill/>
            <a:ln/>
          </p:spPr>
          <p:txBody>
            <a:bodyPr wrap="none" lIns="0" tIns="0" rIns="0" bIns="0" rtlCol="0" anchor="t"/>
            <a:lstStyle/>
            <a:p>
              <a:pPr>
                <a:lnSpc>
                  <a:spcPts val="1500"/>
                </a:lnSpc>
              </a:pPr>
              <a:r>
                <a:rPr lang="en-US" sz="917" dirty="0">
                  <a:solidFill>
                    <a:srgbClr val="007F99"/>
                  </a:solidFill>
                  <a:latin typeface="Exo" pitchFamily="34" charset="0"/>
                  <a:ea typeface="Exo" pitchFamily="34" charset="-122"/>
                  <a:cs typeface="Exo" pitchFamily="34" charset="-120"/>
                </a:rPr>
                <a:t>Thay van TIC Valve #1 (7/2)</a:t>
              </a:r>
              <a:endParaRPr lang="en-US" sz="917" dirty="0"/>
            </a:p>
          </p:txBody>
        </p:sp>
        <p:sp>
          <p:nvSpPr>
            <p:cNvPr id="25" name="Shape 12">
              <a:extLst>
                <a:ext uri="{FF2B5EF4-FFF2-40B4-BE49-F238E27FC236}">
                  <a16:creationId xmlns:a16="http://schemas.microsoft.com/office/drawing/2014/main" id="{1E7A4F31-7B39-5EC0-4C94-EECAD26CAA87}"/>
                </a:ext>
              </a:extLst>
            </p:cNvPr>
            <p:cNvSpPr/>
            <p:nvPr/>
          </p:nvSpPr>
          <p:spPr>
            <a:xfrm>
              <a:off x="5137844" y="2349103"/>
              <a:ext cx="360065" cy="12700"/>
            </a:xfrm>
            <a:prstGeom prst="roundRect">
              <a:avLst>
                <a:gd name="adj" fmla="val 850662"/>
              </a:avLst>
            </a:prstGeom>
            <a:solidFill>
              <a:srgbClr val="B6DCE1"/>
            </a:solidFill>
            <a:ln/>
          </p:spPr>
        </p:sp>
        <p:sp>
          <p:nvSpPr>
            <p:cNvPr id="26" name="Shape 13">
              <a:extLst>
                <a:ext uri="{FF2B5EF4-FFF2-40B4-BE49-F238E27FC236}">
                  <a16:creationId xmlns:a16="http://schemas.microsoft.com/office/drawing/2014/main" id="{83CB87BF-BFF4-5D7B-524D-97BF92111F9C}"/>
                </a:ext>
              </a:extLst>
            </p:cNvPr>
            <p:cNvSpPr/>
            <p:nvPr/>
          </p:nvSpPr>
          <p:spPr>
            <a:xfrm>
              <a:off x="5485209" y="2220417"/>
              <a:ext cx="270073" cy="270073"/>
            </a:xfrm>
            <a:prstGeom prst="roundRect">
              <a:avLst>
                <a:gd name="adj" fmla="val 40002"/>
              </a:avLst>
            </a:prstGeom>
            <a:solidFill>
              <a:srgbClr val="D0F6FB"/>
            </a:solidFill>
            <a:ln w="7620">
              <a:solidFill>
                <a:srgbClr val="B6DCE1"/>
              </a:solidFill>
              <a:prstDash val="solid"/>
            </a:ln>
          </p:spPr>
        </p:sp>
        <p:sp>
          <p:nvSpPr>
            <p:cNvPr id="27" name="Text 14">
              <a:extLst>
                <a:ext uri="{FF2B5EF4-FFF2-40B4-BE49-F238E27FC236}">
                  <a16:creationId xmlns:a16="http://schemas.microsoft.com/office/drawing/2014/main" id="{805B559E-D9C1-300D-C614-21C84DEBE7DA}"/>
                </a:ext>
              </a:extLst>
            </p:cNvPr>
            <p:cNvSpPr/>
            <p:nvPr/>
          </p:nvSpPr>
          <p:spPr>
            <a:xfrm>
              <a:off x="5530255" y="2242939"/>
              <a:ext cx="179983" cy="225028"/>
            </a:xfrm>
            <a:prstGeom prst="rect">
              <a:avLst/>
            </a:prstGeom>
            <a:noFill/>
            <a:ln/>
          </p:spPr>
          <p:txBody>
            <a:bodyPr wrap="none" lIns="0" tIns="0" rIns="0" bIns="0" rtlCol="0" anchor="t"/>
            <a:lstStyle/>
            <a:p>
              <a:pPr algn="ctr">
                <a:lnSpc>
                  <a:spcPts val="1417"/>
                </a:lnSpc>
              </a:pPr>
              <a:r>
                <a:rPr lang="en-US" sz="1417" b="1" dirty="0">
                  <a:solidFill>
                    <a:srgbClr val="000000"/>
                  </a:solidFill>
                  <a:latin typeface="Montserrat Bold" pitchFamily="34" charset="0"/>
                  <a:ea typeface="Montserrat Bold" pitchFamily="34" charset="-122"/>
                  <a:cs typeface="Montserrat Bold" pitchFamily="34" charset="-120"/>
                </a:rPr>
                <a:t>3</a:t>
              </a:r>
              <a:endParaRPr lang="en-US" sz="1417" dirty="0"/>
            </a:p>
          </p:txBody>
        </p:sp>
        <p:sp>
          <p:nvSpPr>
            <p:cNvPr id="28" name="Text 15">
              <a:extLst>
                <a:ext uri="{FF2B5EF4-FFF2-40B4-BE49-F238E27FC236}">
                  <a16:creationId xmlns:a16="http://schemas.microsoft.com/office/drawing/2014/main" id="{130F9CFB-6006-7E9E-235B-7A3539F81A18}"/>
                </a:ext>
              </a:extLst>
            </p:cNvPr>
            <p:cNvSpPr/>
            <p:nvPr/>
          </p:nvSpPr>
          <p:spPr>
            <a:xfrm>
              <a:off x="3519686" y="2205335"/>
              <a:ext cx="1500386" cy="187523"/>
            </a:xfrm>
            <a:prstGeom prst="rect">
              <a:avLst/>
            </a:prstGeom>
            <a:noFill/>
            <a:ln/>
          </p:spPr>
          <p:txBody>
            <a:bodyPr wrap="none" lIns="0" tIns="0" rIns="0" bIns="0" rtlCol="0" anchor="t"/>
            <a:lstStyle/>
            <a:p>
              <a:pPr algn="r">
                <a:lnSpc>
                  <a:spcPts val="1458"/>
                </a:lnSpc>
              </a:pPr>
              <a:r>
                <a:rPr lang="en-US" sz="1167" b="1" dirty="0">
                  <a:solidFill>
                    <a:srgbClr val="007F99"/>
                  </a:solidFill>
                  <a:latin typeface="Montserrat Bold" pitchFamily="34" charset="0"/>
                  <a:ea typeface="Montserrat Bold" pitchFamily="34" charset="-122"/>
                  <a:cs typeface="Montserrat Bold" pitchFamily="34" charset="-120"/>
                </a:rPr>
                <a:t>Ngày 23/2</a:t>
              </a:r>
              <a:endParaRPr lang="en-US" sz="1167" dirty="0"/>
            </a:p>
          </p:txBody>
        </p:sp>
        <p:sp>
          <p:nvSpPr>
            <p:cNvPr id="29" name="Text 16">
              <a:extLst>
                <a:ext uri="{FF2B5EF4-FFF2-40B4-BE49-F238E27FC236}">
                  <a16:creationId xmlns:a16="http://schemas.microsoft.com/office/drawing/2014/main" id="{7ED803E6-B851-CAA3-53ED-589713676C2B}"/>
                </a:ext>
              </a:extLst>
            </p:cNvPr>
            <p:cNvSpPr/>
            <p:nvPr/>
          </p:nvSpPr>
          <p:spPr>
            <a:xfrm>
              <a:off x="3040269" y="2464793"/>
              <a:ext cx="1979803" cy="424458"/>
            </a:xfrm>
            <a:prstGeom prst="rect">
              <a:avLst/>
            </a:prstGeom>
            <a:noFill/>
            <a:ln/>
          </p:spPr>
          <p:txBody>
            <a:bodyPr wrap="none" lIns="0" tIns="0" rIns="0" bIns="0" rtlCol="0" anchor="t"/>
            <a:lstStyle/>
            <a:p>
              <a:pPr algn="r">
                <a:lnSpc>
                  <a:spcPts val="1500"/>
                </a:lnSpc>
              </a:pPr>
              <a:r>
                <a:rPr lang="en-US" sz="917" dirty="0">
                  <a:solidFill>
                    <a:srgbClr val="007F99"/>
                  </a:solidFill>
                  <a:latin typeface="Exo" pitchFamily="34" charset="0"/>
                  <a:ea typeface="Exo" pitchFamily="34" charset="-122"/>
                  <a:cs typeface="Exo" pitchFamily="34" charset="-120"/>
                </a:rPr>
                <a:t>ACM#1 tiếp tục lỗi, </a:t>
              </a:r>
              <a:r>
                <a:rPr lang="en-US" sz="917" dirty="0">
                  <a:solidFill>
                    <a:srgbClr val="FF0000"/>
                  </a:solidFill>
                  <a:latin typeface="Exo" pitchFamily="34" charset="0"/>
                  <a:ea typeface="Exo" pitchFamily="34" charset="-122"/>
                  <a:cs typeface="Exo" pitchFamily="34" charset="-120"/>
                </a:rPr>
                <a:t>thay thế ACM#1</a:t>
              </a:r>
              <a:endParaRPr lang="en-US" sz="917" dirty="0">
                <a:solidFill>
                  <a:srgbClr val="FF0000"/>
                </a:solidFill>
              </a:endParaRPr>
            </a:p>
          </p:txBody>
        </p:sp>
        <p:sp>
          <p:nvSpPr>
            <p:cNvPr id="30" name="Shape 17">
              <a:extLst>
                <a:ext uri="{FF2B5EF4-FFF2-40B4-BE49-F238E27FC236}">
                  <a16:creationId xmlns:a16="http://schemas.microsoft.com/office/drawing/2014/main" id="{8D0C02DA-CEDB-EA8E-BDD6-576B8DEAC0A7}"/>
                </a:ext>
              </a:extLst>
            </p:cNvPr>
            <p:cNvSpPr/>
            <p:nvPr/>
          </p:nvSpPr>
          <p:spPr>
            <a:xfrm>
              <a:off x="5742583" y="2889250"/>
              <a:ext cx="360065" cy="12700"/>
            </a:xfrm>
            <a:prstGeom prst="roundRect">
              <a:avLst>
                <a:gd name="adj" fmla="val 850662"/>
              </a:avLst>
            </a:prstGeom>
            <a:solidFill>
              <a:srgbClr val="B6DCE1"/>
            </a:solidFill>
            <a:ln/>
          </p:spPr>
        </p:sp>
        <p:sp>
          <p:nvSpPr>
            <p:cNvPr id="31" name="Shape 18">
              <a:extLst>
                <a:ext uri="{FF2B5EF4-FFF2-40B4-BE49-F238E27FC236}">
                  <a16:creationId xmlns:a16="http://schemas.microsoft.com/office/drawing/2014/main" id="{5C9E40A1-2A03-ADFA-B915-34F21103FFFA}"/>
                </a:ext>
              </a:extLst>
            </p:cNvPr>
            <p:cNvSpPr/>
            <p:nvPr/>
          </p:nvSpPr>
          <p:spPr>
            <a:xfrm>
              <a:off x="5485209" y="2760564"/>
              <a:ext cx="270073" cy="270073"/>
            </a:xfrm>
            <a:prstGeom prst="roundRect">
              <a:avLst>
                <a:gd name="adj" fmla="val 40002"/>
              </a:avLst>
            </a:prstGeom>
            <a:solidFill>
              <a:srgbClr val="D0F6FB"/>
            </a:solidFill>
            <a:ln w="7620">
              <a:solidFill>
                <a:srgbClr val="B6DCE1"/>
              </a:solidFill>
              <a:prstDash val="solid"/>
            </a:ln>
          </p:spPr>
        </p:sp>
        <p:sp>
          <p:nvSpPr>
            <p:cNvPr id="32" name="Text 19">
              <a:extLst>
                <a:ext uri="{FF2B5EF4-FFF2-40B4-BE49-F238E27FC236}">
                  <a16:creationId xmlns:a16="http://schemas.microsoft.com/office/drawing/2014/main" id="{79534773-A64E-5DE9-B071-482C3E80E2CF}"/>
                </a:ext>
              </a:extLst>
            </p:cNvPr>
            <p:cNvSpPr/>
            <p:nvPr/>
          </p:nvSpPr>
          <p:spPr>
            <a:xfrm>
              <a:off x="5530255" y="2783086"/>
              <a:ext cx="179983" cy="225028"/>
            </a:xfrm>
            <a:prstGeom prst="rect">
              <a:avLst/>
            </a:prstGeom>
            <a:noFill/>
            <a:ln/>
          </p:spPr>
          <p:txBody>
            <a:bodyPr wrap="none" lIns="0" tIns="0" rIns="0" bIns="0" rtlCol="0" anchor="t"/>
            <a:lstStyle/>
            <a:p>
              <a:pPr algn="ctr">
                <a:lnSpc>
                  <a:spcPts val="1417"/>
                </a:lnSpc>
              </a:pPr>
              <a:r>
                <a:rPr lang="en-US" sz="1417" b="1" dirty="0">
                  <a:solidFill>
                    <a:srgbClr val="000000"/>
                  </a:solidFill>
                  <a:latin typeface="Montserrat Bold" pitchFamily="34" charset="0"/>
                  <a:ea typeface="Montserrat Bold" pitchFamily="34" charset="-122"/>
                  <a:cs typeface="Montserrat Bold" pitchFamily="34" charset="-120"/>
                </a:rPr>
                <a:t>4</a:t>
              </a:r>
              <a:endParaRPr lang="en-US" sz="1417" dirty="0"/>
            </a:p>
          </p:txBody>
        </p:sp>
        <p:sp>
          <p:nvSpPr>
            <p:cNvPr id="33" name="Text 20">
              <a:extLst>
                <a:ext uri="{FF2B5EF4-FFF2-40B4-BE49-F238E27FC236}">
                  <a16:creationId xmlns:a16="http://schemas.microsoft.com/office/drawing/2014/main" id="{674C5C2F-86F4-5DB6-31CA-00479F04B183}"/>
                </a:ext>
              </a:extLst>
            </p:cNvPr>
            <p:cNvSpPr/>
            <p:nvPr/>
          </p:nvSpPr>
          <p:spPr>
            <a:xfrm>
              <a:off x="6220420" y="2745482"/>
              <a:ext cx="1500386" cy="187523"/>
            </a:xfrm>
            <a:prstGeom prst="rect">
              <a:avLst/>
            </a:prstGeom>
            <a:noFill/>
            <a:ln/>
          </p:spPr>
          <p:txBody>
            <a:bodyPr wrap="none" lIns="0" tIns="0" rIns="0" bIns="0" rtlCol="0" anchor="t"/>
            <a:lstStyle/>
            <a:p>
              <a:pPr>
                <a:lnSpc>
                  <a:spcPts val="1458"/>
                </a:lnSpc>
              </a:pPr>
              <a:r>
                <a:rPr lang="en-US" sz="1167" b="1" dirty="0">
                  <a:solidFill>
                    <a:srgbClr val="007F99"/>
                  </a:solidFill>
                  <a:latin typeface="Montserrat Bold" pitchFamily="34" charset="0"/>
                  <a:ea typeface="Montserrat Bold" pitchFamily="34" charset="-122"/>
                  <a:cs typeface="Montserrat Bold" pitchFamily="34" charset="-120"/>
                </a:rPr>
                <a:t>Ngày 3/3</a:t>
              </a:r>
              <a:endParaRPr lang="en-US" sz="1167" dirty="0"/>
            </a:p>
          </p:txBody>
        </p:sp>
        <p:sp>
          <p:nvSpPr>
            <p:cNvPr id="34" name="Text 21">
              <a:extLst>
                <a:ext uri="{FF2B5EF4-FFF2-40B4-BE49-F238E27FC236}">
                  <a16:creationId xmlns:a16="http://schemas.microsoft.com/office/drawing/2014/main" id="{DB664DE7-FF7F-0683-1073-16CF47728706}"/>
                </a:ext>
              </a:extLst>
            </p:cNvPr>
            <p:cNvSpPr/>
            <p:nvPr/>
          </p:nvSpPr>
          <p:spPr>
            <a:xfrm>
              <a:off x="6220420" y="3004938"/>
              <a:ext cx="2834640" cy="222051"/>
            </a:xfrm>
            <a:prstGeom prst="rect">
              <a:avLst/>
            </a:prstGeom>
            <a:noFill/>
            <a:ln/>
          </p:spPr>
          <p:txBody>
            <a:bodyPr wrap="none" lIns="0" tIns="0" rIns="0" bIns="0" rtlCol="0" anchor="t"/>
            <a:lstStyle/>
            <a:p>
              <a:pPr>
                <a:lnSpc>
                  <a:spcPts val="1500"/>
                </a:lnSpc>
              </a:pPr>
              <a:r>
                <a:rPr lang="en-US" sz="917" dirty="0">
                  <a:solidFill>
                    <a:srgbClr val="007F99"/>
                  </a:solidFill>
                  <a:latin typeface="Exo" pitchFamily="34" charset="0"/>
                  <a:ea typeface="Exo" pitchFamily="34" charset="-122"/>
                  <a:cs typeface="Exo" pitchFamily="34" charset="-120"/>
                </a:rPr>
                <a:t>ACM#1 tiếp tục lỗi =&gt; TSM 21-51-XX-02004-421A-A</a:t>
              </a:r>
              <a:endParaRPr lang="en-US" sz="917" dirty="0"/>
            </a:p>
          </p:txBody>
        </p:sp>
        <p:sp>
          <p:nvSpPr>
            <p:cNvPr id="35" name="Text 22">
              <a:extLst>
                <a:ext uri="{FF2B5EF4-FFF2-40B4-BE49-F238E27FC236}">
                  <a16:creationId xmlns:a16="http://schemas.microsoft.com/office/drawing/2014/main" id="{ADB9C283-544D-274A-18AD-74F63C589496}"/>
                </a:ext>
              </a:extLst>
            </p:cNvPr>
            <p:cNvSpPr/>
            <p:nvPr/>
          </p:nvSpPr>
          <p:spPr>
            <a:xfrm>
              <a:off x="6220421" y="3268960"/>
              <a:ext cx="2834640" cy="178695"/>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Kiểm tra TIC Valve =&gt; SATIS</a:t>
              </a:r>
              <a:endParaRPr lang="en-US" sz="917" dirty="0"/>
            </a:p>
          </p:txBody>
        </p:sp>
        <p:sp>
          <p:nvSpPr>
            <p:cNvPr id="36" name="Text 23">
              <a:extLst>
                <a:ext uri="{FF2B5EF4-FFF2-40B4-BE49-F238E27FC236}">
                  <a16:creationId xmlns:a16="http://schemas.microsoft.com/office/drawing/2014/main" id="{00BD0C31-0008-4F10-1142-824F83E37482}"/>
                </a:ext>
              </a:extLst>
            </p:cNvPr>
            <p:cNvSpPr/>
            <p:nvPr/>
          </p:nvSpPr>
          <p:spPr>
            <a:xfrm>
              <a:off x="6220421" y="3503018"/>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Thay thế Water Extractor</a:t>
              </a:r>
              <a:endParaRPr lang="en-US" sz="917" dirty="0"/>
            </a:p>
          </p:txBody>
        </p:sp>
        <p:sp>
          <p:nvSpPr>
            <p:cNvPr id="37" name="Text 24">
              <a:extLst>
                <a:ext uri="{FF2B5EF4-FFF2-40B4-BE49-F238E27FC236}">
                  <a16:creationId xmlns:a16="http://schemas.microsoft.com/office/drawing/2014/main" id="{47D3BE4F-0868-9E56-9555-B5142210E15D}"/>
                </a:ext>
              </a:extLst>
            </p:cNvPr>
            <p:cNvSpPr/>
            <p:nvPr/>
          </p:nvSpPr>
          <p:spPr>
            <a:xfrm>
              <a:off x="6220422" y="3737074"/>
              <a:ext cx="2834640" cy="168870"/>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Kiểm tra Water Spray Nozzle =&gt; SATIS</a:t>
              </a:r>
              <a:endParaRPr lang="en-US" sz="917" dirty="0"/>
            </a:p>
          </p:txBody>
        </p:sp>
        <p:sp>
          <p:nvSpPr>
            <p:cNvPr id="38" name="Text 25">
              <a:extLst>
                <a:ext uri="{FF2B5EF4-FFF2-40B4-BE49-F238E27FC236}">
                  <a16:creationId xmlns:a16="http://schemas.microsoft.com/office/drawing/2014/main" id="{30843FBE-3AAB-75D5-8BF6-E8D4D0F83C54}"/>
                </a:ext>
              </a:extLst>
            </p:cNvPr>
            <p:cNvSpPr/>
            <p:nvPr/>
          </p:nvSpPr>
          <p:spPr>
            <a:xfrm>
              <a:off x="6220421" y="3971132"/>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Thay thế Temp Sensor</a:t>
              </a:r>
              <a:endParaRPr lang="en-US" sz="917" dirty="0"/>
            </a:p>
          </p:txBody>
        </p:sp>
        <p:sp>
          <p:nvSpPr>
            <p:cNvPr id="39" name="Text 26">
              <a:extLst>
                <a:ext uri="{FF2B5EF4-FFF2-40B4-BE49-F238E27FC236}">
                  <a16:creationId xmlns:a16="http://schemas.microsoft.com/office/drawing/2014/main" id="{5CB45EA8-2919-E8FA-CE64-53D59CA834FE}"/>
                </a:ext>
              </a:extLst>
            </p:cNvPr>
            <p:cNvSpPr/>
            <p:nvPr/>
          </p:nvSpPr>
          <p:spPr>
            <a:xfrm>
              <a:off x="6220421" y="4205189"/>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Thay thế Condenser</a:t>
              </a:r>
              <a:endParaRPr lang="en-US" sz="917" dirty="0"/>
            </a:p>
          </p:txBody>
        </p:sp>
        <p:sp>
          <p:nvSpPr>
            <p:cNvPr id="40" name="Text 27">
              <a:extLst>
                <a:ext uri="{FF2B5EF4-FFF2-40B4-BE49-F238E27FC236}">
                  <a16:creationId xmlns:a16="http://schemas.microsoft.com/office/drawing/2014/main" id="{3A37BCEF-62A6-3397-2DAA-DC98ADD1FC5D}"/>
                </a:ext>
              </a:extLst>
            </p:cNvPr>
            <p:cNvSpPr/>
            <p:nvPr/>
          </p:nvSpPr>
          <p:spPr>
            <a:xfrm>
              <a:off x="6220421" y="4439245"/>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FF0000"/>
                  </a:solidFill>
                  <a:latin typeface="Exo" pitchFamily="34" charset="0"/>
                  <a:ea typeface="Exo" pitchFamily="34" charset="-122"/>
                  <a:cs typeface="Exo" pitchFamily="34" charset="-120"/>
                </a:rPr>
                <a:t>Thay ACM#1</a:t>
              </a:r>
              <a:endParaRPr lang="en-US" sz="917" dirty="0">
                <a:solidFill>
                  <a:srgbClr val="FF0000"/>
                </a:solidFill>
              </a:endParaRPr>
            </a:p>
          </p:txBody>
        </p:sp>
        <p:sp>
          <p:nvSpPr>
            <p:cNvPr id="41" name="Shape 28">
              <a:extLst>
                <a:ext uri="{FF2B5EF4-FFF2-40B4-BE49-F238E27FC236}">
                  <a16:creationId xmlns:a16="http://schemas.microsoft.com/office/drawing/2014/main" id="{3451E925-9705-08A6-84E9-B963CDAF9B4D}"/>
                </a:ext>
              </a:extLst>
            </p:cNvPr>
            <p:cNvSpPr/>
            <p:nvPr/>
          </p:nvSpPr>
          <p:spPr>
            <a:xfrm>
              <a:off x="5137844" y="4012108"/>
              <a:ext cx="360065" cy="12700"/>
            </a:xfrm>
            <a:prstGeom prst="roundRect">
              <a:avLst>
                <a:gd name="adj" fmla="val 850662"/>
              </a:avLst>
            </a:prstGeom>
            <a:solidFill>
              <a:srgbClr val="B6DCE1"/>
            </a:solidFill>
            <a:ln/>
          </p:spPr>
        </p:sp>
        <p:sp>
          <p:nvSpPr>
            <p:cNvPr id="42" name="Shape 29">
              <a:extLst>
                <a:ext uri="{FF2B5EF4-FFF2-40B4-BE49-F238E27FC236}">
                  <a16:creationId xmlns:a16="http://schemas.microsoft.com/office/drawing/2014/main" id="{9DCC62ED-C9A9-15AB-C4F9-AF95473CD186}"/>
                </a:ext>
              </a:extLst>
            </p:cNvPr>
            <p:cNvSpPr/>
            <p:nvPr/>
          </p:nvSpPr>
          <p:spPr>
            <a:xfrm>
              <a:off x="5485209" y="3883422"/>
              <a:ext cx="270073" cy="270073"/>
            </a:xfrm>
            <a:prstGeom prst="roundRect">
              <a:avLst>
                <a:gd name="adj" fmla="val 40002"/>
              </a:avLst>
            </a:prstGeom>
            <a:solidFill>
              <a:srgbClr val="D0F6FB"/>
            </a:solidFill>
            <a:ln w="7620">
              <a:solidFill>
                <a:srgbClr val="B6DCE1"/>
              </a:solidFill>
              <a:prstDash val="solid"/>
            </a:ln>
          </p:spPr>
        </p:sp>
        <p:sp>
          <p:nvSpPr>
            <p:cNvPr id="43" name="Text 30">
              <a:extLst>
                <a:ext uri="{FF2B5EF4-FFF2-40B4-BE49-F238E27FC236}">
                  <a16:creationId xmlns:a16="http://schemas.microsoft.com/office/drawing/2014/main" id="{9B2D12BD-9EC0-A756-0BFD-7A5D6CDD42B2}"/>
                </a:ext>
              </a:extLst>
            </p:cNvPr>
            <p:cNvSpPr/>
            <p:nvPr/>
          </p:nvSpPr>
          <p:spPr>
            <a:xfrm>
              <a:off x="5530255" y="3905944"/>
              <a:ext cx="179983" cy="225028"/>
            </a:xfrm>
            <a:prstGeom prst="rect">
              <a:avLst/>
            </a:prstGeom>
            <a:noFill/>
            <a:ln/>
          </p:spPr>
          <p:txBody>
            <a:bodyPr wrap="none" lIns="0" tIns="0" rIns="0" bIns="0" rtlCol="0" anchor="t"/>
            <a:lstStyle/>
            <a:p>
              <a:pPr algn="ctr">
                <a:lnSpc>
                  <a:spcPts val="1417"/>
                </a:lnSpc>
              </a:pPr>
              <a:r>
                <a:rPr lang="en-US" sz="1417" b="1" dirty="0">
                  <a:solidFill>
                    <a:srgbClr val="000000"/>
                  </a:solidFill>
                  <a:latin typeface="Montserrat Bold" pitchFamily="34" charset="0"/>
                  <a:ea typeface="Montserrat Bold" pitchFamily="34" charset="-122"/>
                  <a:cs typeface="Montserrat Bold" pitchFamily="34" charset="-120"/>
                </a:rPr>
                <a:t>5</a:t>
              </a:r>
              <a:endParaRPr lang="en-US" sz="1417" dirty="0"/>
            </a:p>
          </p:txBody>
        </p:sp>
        <p:sp>
          <p:nvSpPr>
            <p:cNvPr id="44" name="Text 31">
              <a:extLst>
                <a:ext uri="{FF2B5EF4-FFF2-40B4-BE49-F238E27FC236}">
                  <a16:creationId xmlns:a16="http://schemas.microsoft.com/office/drawing/2014/main" id="{4554A9A0-5EE0-6BD8-6BFD-7EC192992B4B}"/>
                </a:ext>
              </a:extLst>
            </p:cNvPr>
            <p:cNvSpPr/>
            <p:nvPr/>
          </p:nvSpPr>
          <p:spPr>
            <a:xfrm>
              <a:off x="3519686" y="3868341"/>
              <a:ext cx="1500386" cy="187523"/>
            </a:xfrm>
            <a:prstGeom prst="rect">
              <a:avLst/>
            </a:prstGeom>
            <a:noFill/>
            <a:ln/>
          </p:spPr>
          <p:txBody>
            <a:bodyPr wrap="none" lIns="0" tIns="0" rIns="0" bIns="0" rtlCol="0" anchor="t"/>
            <a:lstStyle/>
            <a:p>
              <a:pPr algn="r">
                <a:lnSpc>
                  <a:spcPts val="1458"/>
                </a:lnSpc>
              </a:pPr>
              <a:r>
                <a:rPr lang="en-US" sz="1167" b="1" dirty="0">
                  <a:solidFill>
                    <a:srgbClr val="007F99"/>
                  </a:solidFill>
                  <a:latin typeface="Montserrat Bold" pitchFamily="34" charset="0"/>
                  <a:ea typeface="Montserrat Bold" pitchFamily="34" charset="-122"/>
                  <a:cs typeface="Montserrat Bold" pitchFamily="34" charset="-120"/>
                </a:rPr>
                <a:t>Ngày 9/3</a:t>
              </a:r>
              <a:endParaRPr lang="en-US" sz="1167" dirty="0"/>
            </a:p>
          </p:txBody>
        </p:sp>
        <p:sp>
          <p:nvSpPr>
            <p:cNvPr id="45" name="Text 32">
              <a:extLst>
                <a:ext uri="{FF2B5EF4-FFF2-40B4-BE49-F238E27FC236}">
                  <a16:creationId xmlns:a16="http://schemas.microsoft.com/office/drawing/2014/main" id="{E1B33516-11E4-6947-A242-2FD7C0123F06}"/>
                </a:ext>
              </a:extLst>
            </p:cNvPr>
            <p:cNvSpPr/>
            <p:nvPr/>
          </p:nvSpPr>
          <p:spPr>
            <a:xfrm>
              <a:off x="2621721" y="4127799"/>
              <a:ext cx="2398352" cy="187523"/>
            </a:xfrm>
            <a:prstGeom prst="rect">
              <a:avLst/>
            </a:prstGeom>
            <a:noFill/>
            <a:ln/>
          </p:spPr>
          <p:txBody>
            <a:bodyPr wrap="none" lIns="0" tIns="0" rIns="0" bIns="0" rtlCol="0" anchor="t"/>
            <a:lstStyle/>
            <a:p>
              <a:pPr algn="r">
                <a:lnSpc>
                  <a:spcPts val="1500"/>
                </a:lnSpc>
              </a:pPr>
              <a:r>
                <a:rPr lang="en-US" sz="917" dirty="0">
                  <a:solidFill>
                    <a:srgbClr val="007F99"/>
                  </a:solidFill>
                  <a:latin typeface="Exo" pitchFamily="34" charset="0"/>
                  <a:ea typeface="Exo" pitchFamily="34" charset="-122"/>
                  <a:cs typeface="Exo" pitchFamily="34" charset="-120"/>
                </a:rPr>
                <a:t>ACM#1 tiếp tục lỗi. Raise ADD Pack#1 INOP</a:t>
              </a:r>
              <a:endParaRPr lang="en-US" sz="917" dirty="0"/>
            </a:p>
          </p:txBody>
        </p:sp>
        <p:sp>
          <p:nvSpPr>
            <p:cNvPr id="46" name="Text 33">
              <a:extLst>
                <a:ext uri="{FF2B5EF4-FFF2-40B4-BE49-F238E27FC236}">
                  <a16:creationId xmlns:a16="http://schemas.microsoft.com/office/drawing/2014/main" id="{9452FE8C-C60F-8D20-4B3E-7E1A08C185B3}"/>
                </a:ext>
              </a:extLst>
            </p:cNvPr>
            <p:cNvSpPr/>
            <p:nvPr/>
          </p:nvSpPr>
          <p:spPr>
            <a:xfrm>
              <a:off x="2621721" y="4391819"/>
              <a:ext cx="2398352" cy="239514"/>
            </a:xfrm>
            <a:prstGeom prst="rect">
              <a:avLst/>
            </a:prstGeom>
            <a:noFill/>
            <a:ln/>
          </p:spPr>
          <p:txBody>
            <a:bodyPr wrap="none" lIns="0" tIns="0" rIns="0" bIns="0" rtlCol="0" anchor="t"/>
            <a:lstStyle/>
            <a:p>
              <a:pPr marL="285739" indent="-285739" algn="r">
                <a:lnSpc>
                  <a:spcPts val="1500"/>
                </a:lnSpc>
                <a:buSzPct val="100000"/>
                <a:buChar char="•"/>
              </a:pPr>
              <a:r>
                <a:rPr lang="en-US" sz="917" dirty="0">
                  <a:solidFill>
                    <a:srgbClr val="007F99"/>
                  </a:solidFill>
                  <a:latin typeface="Exo" pitchFamily="34" charset="0"/>
                  <a:ea typeface="Exo" pitchFamily="34" charset="-122"/>
                  <a:cs typeface="Exo" pitchFamily="34" charset="-120"/>
                </a:rPr>
                <a:t>Thay thế Trim Air Vlv</a:t>
              </a:r>
              <a:endParaRPr lang="en-US" sz="917" dirty="0"/>
            </a:p>
          </p:txBody>
        </p:sp>
        <p:sp>
          <p:nvSpPr>
            <p:cNvPr id="47" name="Text 34">
              <a:extLst>
                <a:ext uri="{FF2B5EF4-FFF2-40B4-BE49-F238E27FC236}">
                  <a16:creationId xmlns:a16="http://schemas.microsoft.com/office/drawing/2014/main" id="{2C46033C-148D-ACE0-5B7A-A6F2D76F760C}"/>
                </a:ext>
              </a:extLst>
            </p:cNvPr>
            <p:cNvSpPr/>
            <p:nvPr/>
          </p:nvSpPr>
          <p:spPr>
            <a:xfrm>
              <a:off x="2621721" y="4625876"/>
              <a:ext cx="2398352" cy="192088"/>
            </a:xfrm>
            <a:prstGeom prst="rect">
              <a:avLst/>
            </a:prstGeom>
            <a:noFill/>
            <a:ln/>
          </p:spPr>
          <p:txBody>
            <a:bodyPr wrap="none" lIns="0" tIns="0" rIns="0" bIns="0" rtlCol="0" anchor="t"/>
            <a:lstStyle/>
            <a:p>
              <a:pPr marL="285739" indent="-285739" algn="r">
                <a:lnSpc>
                  <a:spcPts val="1500"/>
                </a:lnSpc>
                <a:buSzPct val="100000"/>
                <a:buChar char="•"/>
              </a:pPr>
              <a:r>
                <a:rPr lang="en-US" sz="917" dirty="0">
                  <a:solidFill>
                    <a:srgbClr val="007F99"/>
                  </a:solidFill>
                  <a:latin typeface="Exo" pitchFamily="34" charset="0"/>
                  <a:ea typeface="Exo" pitchFamily="34" charset="-122"/>
                  <a:cs typeface="Exo" pitchFamily="34" charset="-120"/>
                </a:rPr>
                <a:t>Leak Check Of The Pack =&gt; NO LEAK</a:t>
              </a:r>
              <a:endParaRPr lang="en-US" sz="917" dirty="0"/>
            </a:p>
          </p:txBody>
        </p:sp>
        <p:sp>
          <p:nvSpPr>
            <p:cNvPr id="48" name="Shape 35">
              <a:extLst>
                <a:ext uri="{FF2B5EF4-FFF2-40B4-BE49-F238E27FC236}">
                  <a16:creationId xmlns:a16="http://schemas.microsoft.com/office/drawing/2014/main" id="{CE4FEF70-5E1A-D6D4-2BF7-30E79E88E42B}"/>
                </a:ext>
              </a:extLst>
            </p:cNvPr>
            <p:cNvSpPr/>
            <p:nvPr/>
          </p:nvSpPr>
          <p:spPr>
            <a:xfrm>
              <a:off x="5742583" y="5134968"/>
              <a:ext cx="360065" cy="12700"/>
            </a:xfrm>
            <a:prstGeom prst="roundRect">
              <a:avLst>
                <a:gd name="adj" fmla="val 850662"/>
              </a:avLst>
            </a:prstGeom>
            <a:solidFill>
              <a:srgbClr val="B6DCE1"/>
            </a:solidFill>
            <a:ln/>
          </p:spPr>
        </p:sp>
        <p:sp>
          <p:nvSpPr>
            <p:cNvPr id="49" name="Shape 36">
              <a:extLst>
                <a:ext uri="{FF2B5EF4-FFF2-40B4-BE49-F238E27FC236}">
                  <a16:creationId xmlns:a16="http://schemas.microsoft.com/office/drawing/2014/main" id="{0FF147A5-6062-CC1E-F56B-F794AD318681}"/>
                </a:ext>
              </a:extLst>
            </p:cNvPr>
            <p:cNvSpPr/>
            <p:nvPr/>
          </p:nvSpPr>
          <p:spPr>
            <a:xfrm>
              <a:off x="5485209" y="5006281"/>
              <a:ext cx="270073" cy="270073"/>
            </a:xfrm>
            <a:prstGeom prst="roundRect">
              <a:avLst>
                <a:gd name="adj" fmla="val 40002"/>
              </a:avLst>
            </a:prstGeom>
            <a:solidFill>
              <a:srgbClr val="D0F6FB"/>
            </a:solidFill>
            <a:ln w="7620">
              <a:solidFill>
                <a:srgbClr val="B6DCE1"/>
              </a:solidFill>
              <a:prstDash val="solid"/>
            </a:ln>
          </p:spPr>
        </p:sp>
        <p:sp>
          <p:nvSpPr>
            <p:cNvPr id="50" name="Text 37">
              <a:extLst>
                <a:ext uri="{FF2B5EF4-FFF2-40B4-BE49-F238E27FC236}">
                  <a16:creationId xmlns:a16="http://schemas.microsoft.com/office/drawing/2014/main" id="{AB015261-9C5D-21EF-2A12-AB8324A3C3D8}"/>
                </a:ext>
              </a:extLst>
            </p:cNvPr>
            <p:cNvSpPr/>
            <p:nvPr/>
          </p:nvSpPr>
          <p:spPr>
            <a:xfrm>
              <a:off x="5530255" y="5028804"/>
              <a:ext cx="179983" cy="225028"/>
            </a:xfrm>
            <a:prstGeom prst="rect">
              <a:avLst/>
            </a:prstGeom>
            <a:noFill/>
            <a:ln/>
          </p:spPr>
          <p:txBody>
            <a:bodyPr wrap="none" lIns="0" tIns="0" rIns="0" bIns="0" rtlCol="0" anchor="t"/>
            <a:lstStyle/>
            <a:p>
              <a:pPr algn="ctr">
                <a:lnSpc>
                  <a:spcPts val="1417"/>
                </a:lnSpc>
              </a:pPr>
              <a:r>
                <a:rPr lang="en-US" sz="1417" b="1" dirty="0">
                  <a:solidFill>
                    <a:srgbClr val="000000"/>
                  </a:solidFill>
                  <a:latin typeface="Montserrat Bold" pitchFamily="34" charset="0"/>
                  <a:ea typeface="Montserrat Bold" pitchFamily="34" charset="-122"/>
                  <a:cs typeface="Montserrat Bold" pitchFamily="34" charset="-120"/>
                </a:rPr>
                <a:t>6</a:t>
              </a:r>
              <a:endParaRPr lang="en-US" sz="1417" dirty="0"/>
            </a:p>
          </p:txBody>
        </p:sp>
        <p:sp>
          <p:nvSpPr>
            <p:cNvPr id="51" name="Text 38">
              <a:extLst>
                <a:ext uri="{FF2B5EF4-FFF2-40B4-BE49-F238E27FC236}">
                  <a16:creationId xmlns:a16="http://schemas.microsoft.com/office/drawing/2014/main" id="{1B6D494F-9F7E-585B-819C-780F2B2CE581}"/>
                </a:ext>
              </a:extLst>
            </p:cNvPr>
            <p:cNvSpPr/>
            <p:nvPr/>
          </p:nvSpPr>
          <p:spPr>
            <a:xfrm>
              <a:off x="6220420" y="4991199"/>
              <a:ext cx="1500386" cy="187523"/>
            </a:xfrm>
            <a:prstGeom prst="rect">
              <a:avLst/>
            </a:prstGeom>
            <a:noFill/>
            <a:ln/>
          </p:spPr>
          <p:txBody>
            <a:bodyPr wrap="none" lIns="0" tIns="0" rIns="0" bIns="0" rtlCol="0" anchor="t"/>
            <a:lstStyle/>
            <a:p>
              <a:pPr>
                <a:lnSpc>
                  <a:spcPts val="1458"/>
                </a:lnSpc>
              </a:pPr>
              <a:r>
                <a:rPr lang="en-US" sz="1167" b="1" dirty="0">
                  <a:solidFill>
                    <a:srgbClr val="007F99"/>
                  </a:solidFill>
                  <a:latin typeface="Montserrat Bold" pitchFamily="34" charset="0"/>
                  <a:ea typeface="Montserrat Bold" pitchFamily="34" charset="-122"/>
                  <a:cs typeface="Montserrat Bold" pitchFamily="34" charset="-120"/>
                </a:rPr>
                <a:t>Ngày 13/03</a:t>
              </a:r>
              <a:endParaRPr lang="en-US" sz="1167" dirty="0"/>
            </a:p>
          </p:txBody>
        </p:sp>
        <p:sp>
          <p:nvSpPr>
            <p:cNvPr id="52" name="Text 39">
              <a:extLst>
                <a:ext uri="{FF2B5EF4-FFF2-40B4-BE49-F238E27FC236}">
                  <a16:creationId xmlns:a16="http://schemas.microsoft.com/office/drawing/2014/main" id="{8A816FBA-B209-584E-7C8E-D47E77862315}"/>
                </a:ext>
              </a:extLst>
            </p:cNvPr>
            <p:cNvSpPr/>
            <p:nvPr/>
          </p:nvSpPr>
          <p:spPr>
            <a:xfrm>
              <a:off x="6220421" y="5280620"/>
              <a:ext cx="2834640" cy="192088"/>
            </a:xfrm>
            <a:prstGeom prst="rect">
              <a:avLst/>
            </a:prstGeom>
            <a:noFill/>
            <a:ln/>
          </p:spPr>
          <p:txBody>
            <a:bodyPr wrap="none" lIns="0" tIns="0" rIns="0" bIns="0" rtlCol="0" anchor="t"/>
            <a:lstStyle/>
            <a:p>
              <a:pPr>
                <a:lnSpc>
                  <a:spcPts val="1500"/>
                </a:lnSpc>
              </a:pPr>
              <a:r>
                <a:rPr lang="en-US" sz="917" dirty="0">
                  <a:solidFill>
                    <a:srgbClr val="007F99"/>
                  </a:solidFill>
                  <a:latin typeface="Exo" pitchFamily="34" charset="0"/>
                  <a:ea typeface="Exo" pitchFamily="34" charset="-122"/>
                  <a:cs typeface="Exo" pitchFamily="34" charset="-120"/>
                </a:rPr>
                <a:t>Khắc phục hỏng hóc</a:t>
              </a:r>
              <a:endParaRPr lang="en-US" sz="917" dirty="0"/>
            </a:p>
          </p:txBody>
        </p:sp>
        <p:sp>
          <p:nvSpPr>
            <p:cNvPr id="53" name="Text 40">
              <a:extLst>
                <a:ext uri="{FF2B5EF4-FFF2-40B4-BE49-F238E27FC236}">
                  <a16:creationId xmlns:a16="http://schemas.microsoft.com/office/drawing/2014/main" id="{28E6E1DA-CBC6-A1BD-7A66-F0D72E4A4B46}"/>
                </a:ext>
              </a:extLst>
            </p:cNvPr>
            <p:cNvSpPr/>
            <p:nvPr/>
          </p:nvSpPr>
          <p:spPr>
            <a:xfrm>
              <a:off x="6220421" y="5514678"/>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FF0000"/>
                  </a:solidFill>
                  <a:latin typeface="Exo" pitchFamily="34" charset="0"/>
                  <a:ea typeface="Exo" pitchFamily="34" charset="-122"/>
                  <a:cs typeface="Exo" pitchFamily="34" charset="-120"/>
                </a:rPr>
                <a:t>Thay thế ACM#1</a:t>
              </a:r>
              <a:endParaRPr lang="en-US" sz="917" dirty="0">
                <a:solidFill>
                  <a:srgbClr val="FF0000"/>
                </a:solidFill>
              </a:endParaRPr>
            </a:p>
          </p:txBody>
        </p:sp>
        <p:sp>
          <p:nvSpPr>
            <p:cNvPr id="54" name="Text 41">
              <a:extLst>
                <a:ext uri="{FF2B5EF4-FFF2-40B4-BE49-F238E27FC236}">
                  <a16:creationId xmlns:a16="http://schemas.microsoft.com/office/drawing/2014/main" id="{33094D1A-4FF1-8847-F78F-84DB2339AB95}"/>
                </a:ext>
              </a:extLst>
            </p:cNvPr>
            <p:cNvSpPr/>
            <p:nvPr/>
          </p:nvSpPr>
          <p:spPr>
            <a:xfrm>
              <a:off x="6220421" y="5748734"/>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Thay thế T.I.C VALVE #1</a:t>
              </a:r>
              <a:endParaRPr lang="en-US" sz="917" dirty="0"/>
            </a:p>
          </p:txBody>
        </p:sp>
        <p:sp>
          <p:nvSpPr>
            <p:cNvPr id="55" name="Text 42">
              <a:extLst>
                <a:ext uri="{FF2B5EF4-FFF2-40B4-BE49-F238E27FC236}">
                  <a16:creationId xmlns:a16="http://schemas.microsoft.com/office/drawing/2014/main" id="{7F526726-3A0E-047F-6596-E2F007648F12}"/>
                </a:ext>
              </a:extLst>
            </p:cNvPr>
            <p:cNvSpPr/>
            <p:nvPr/>
          </p:nvSpPr>
          <p:spPr>
            <a:xfrm>
              <a:off x="6220421" y="5982792"/>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Thay thế Heat Exchanger #1</a:t>
              </a:r>
              <a:endParaRPr lang="en-US" sz="917" dirty="0"/>
            </a:p>
          </p:txBody>
        </p:sp>
        <p:sp>
          <p:nvSpPr>
            <p:cNvPr id="56" name="Text 43">
              <a:extLst>
                <a:ext uri="{FF2B5EF4-FFF2-40B4-BE49-F238E27FC236}">
                  <a16:creationId xmlns:a16="http://schemas.microsoft.com/office/drawing/2014/main" id="{CCD442CF-06A0-6230-6CB7-3DD21D8B5E45}"/>
                </a:ext>
              </a:extLst>
            </p:cNvPr>
            <p:cNvSpPr/>
            <p:nvPr/>
          </p:nvSpPr>
          <p:spPr>
            <a:xfrm>
              <a:off x="6220421" y="6216849"/>
              <a:ext cx="2834640" cy="192088"/>
            </a:xfrm>
            <a:prstGeom prst="rect">
              <a:avLst/>
            </a:prstGeom>
            <a:noFill/>
            <a:ln/>
          </p:spPr>
          <p:txBody>
            <a:bodyPr wrap="none" lIns="0" tIns="0" rIns="0" bIns="0" rtlCol="0" anchor="t"/>
            <a:lstStyle/>
            <a:p>
              <a:pPr marL="285739" indent="-285739">
                <a:lnSpc>
                  <a:spcPts val="1500"/>
                </a:lnSpc>
                <a:buSzPct val="100000"/>
                <a:buChar char="•"/>
              </a:pPr>
              <a:r>
                <a:rPr lang="en-US" sz="917" dirty="0">
                  <a:solidFill>
                    <a:srgbClr val="007F99"/>
                  </a:solidFill>
                  <a:latin typeface="Exo" pitchFamily="34" charset="0"/>
                  <a:ea typeface="Exo" pitchFamily="34" charset="-122"/>
                  <a:cs typeface="Exo" pitchFamily="34" charset="-120"/>
                </a:rPr>
                <a:t>Thay thế additional de-icing pressure switch</a:t>
              </a:r>
              <a:endParaRPr lang="en-US" sz="917" dirty="0"/>
            </a:p>
          </p:txBody>
        </p:sp>
      </p:grpSp>
    </p:spTree>
    <p:extLst>
      <p:ext uri="{BB962C8B-B14F-4D97-AF65-F5344CB8AC3E}">
        <p14:creationId xmlns:p14="http://schemas.microsoft.com/office/powerpoint/2010/main" val="2021517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16</a:t>
            </a:fld>
            <a:endParaRPr lang="en-US"/>
          </a:p>
        </p:txBody>
      </p:sp>
      <p:sp>
        <p:nvSpPr>
          <p:cNvPr id="5" name="Title 4"/>
          <p:cNvSpPr>
            <a:spLocks noGrp="1"/>
          </p:cNvSpPr>
          <p:nvPr>
            <p:ph type="title"/>
          </p:nvPr>
        </p:nvSpPr>
        <p:spPr>
          <a:xfrm>
            <a:off x="381000" y="76200"/>
            <a:ext cx="11277600" cy="815200"/>
          </a:xfrm>
        </p:spPr>
        <p:txBody>
          <a:bodyPr>
            <a:normAutofit/>
          </a:bodyPr>
          <a:lstStyle/>
          <a:p>
            <a:r>
              <a:rPr lang="en-US" dirty="0">
                <a:ln w="0"/>
                <a:solidFill>
                  <a:srgbClr val="FFC000"/>
                </a:solidFill>
                <a:latin typeface="Times New Roman" panose="02020603050405020304" pitchFamily="18" charset="0"/>
                <a:cs typeface="Times New Roman" panose="02020603050405020304" pitchFamily="18" charset="0"/>
              </a:rPr>
              <a:t>ATR72- ATA 21 &amp; ATA36 </a:t>
            </a:r>
            <a:endParaRPr lang="vi-VN"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24ACA7E8-7473-B0C1-5366-84F1328EE181}"/>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E982A7C1-E348-60FE-95B9-A1972A9F91A7}"/>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822D687F-E0FC-B05C-62B2-72EA1BB9B6EC}"/>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1. B225 – PACK #1 FAULT – 04 ACM REMOVALS</a:t>
              </a:r>
            </a:p>
          </p:txBody>
        </p:sp>
      </p:grpSp>
      <p:sp>
        <p:nvSpPr>
          <p:cNvPr id="13" name="TextBox 12">
            <a:extLst>
              <a:ext uri="{FF2B5EF4-FFF2-40B4-BE49-F238E27FC236}">
                <a16:creationId xmlns:a16="http://schemas.microsoft.com/office/drawing/2014/main" id="{A14F8A3B-843C-EF58-0F1A-346D23B295A6}"/>
              </a:ext>
            </a:extLst>
          </p:cNvPr>
          <p:cNvSpPr txBox="1"/>
          <p:nvPr/>
        </p:nvSpPr>
        <p:spPr>
          <a:xfrm>
            <a:off x="864262" y="1310833"/>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Phân</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tích</a:t>
            </a:r>
            <a:r>
              <a:rPr lang="en-US" b="1" dirty="0">
                <a:solidFill>
                  <a:srgbClr val="006885"/>
                </a:solidFill>
                <a:latin typeface="Montserrat SemiBold"/>
                <a:ea typeface="Cambria" panose="02040503050406030204" pitchFamily="18" charset="0"/>
                <a:cs typeface="Times New Roman" panose="02020603050405020304" pitchFamily="18" charset="0"/>
              </a:rPr>
              <a:t>/</a:t>
            </a:r>
            <a:r>
              <a:rPr lang="en-US" b="1" dirty="0" err="1">
                <a:solidFill>
                  <a:srgbClr val="006885"/>
                </a:solidFill>
                <a:latin typeface="Montserrat SemiBold"/>
                <a:ea typeface="Cambria" panose="02040503050406030204" pitchFamily="18" charset="0"/>
                <a:cs typeface="Times New Roman" panose="02020603050405020304" pitchFamily="18" charset="0"/>
              </a:rPr>
              <a:t>Đánh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giá</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33CE1798-523C-70A4-98E1-4365A7910AF6}"/>
              </a:ext>
            </a:extLst>
          </p:cNvPr>
          <p:cNvPicPr>
            <a:picLocks noChangeAspect="1"/>
          </p:cNvPicPr>
          <p:nvPr/>
        </p:nvPicPr>
        <p:blipFill>
          <a:blip r:embed="rId3"/>
          <a:stretch>
            <a:fillRect/>
          </a:stretch>
        </p:blipFill>
        <p:spPr>
          <a:xfrm>
            <a:off x="434478" y="1252342"/>
            <a:ext cx="510877" cy="512345"/>
          </a:xfrm>
          <a:prstGeom prst="rect">
            <a:avLst/>
          </a:prstGeom>
        </p:spPr>
      </p:pic>
      <p:pic>
        <p:nvPicPr>
          <p:cNvPr id="24" name="Picture 23">
            <a:extLst>
              <a:ext uri="{FF2B5EF4-FFF2-40B4-BE49-F238E27FC236}">
                <a16:creationId xmlns:a16="http://schemas.microsoft.com/office/drawing/2014/main" id="{EB44D501-B4B7-293C-E52F-90123BCE0E77}"/>
              </a:ext>
            </a:extLst>
          </p:cNvPr>
          <p:cNvPicPr>
            <a:picLocks noChangeAspect="1"/>
          </p:cNvPicPr>
          <p:nvPr/>
        </p:nvPicPr>
        <p:blipFill>
          <a:blip r:embed="rId4"/>
          <a:stretch>
            <a:fillRect/>
          </a:stretch>
        </p:blipFill>
        <p:spPr>
          <a:xfrm>
            <a:off x="5708230" y="2266471"/>
            <a:ext cx="6319981" cy="4475952"/>
          </a:xfrm>
          <a:prstGeom prst="rect">
            <a:avLst/>
          </a:prstGeom>
        </p:spPr>
      </p:pic>
      <p:sp>
        <p:nvSpPr>
          <p:cNvPr id="27" name="TextBox 26">
            <a:extLst>
              <a:ext uri="{FF2B5EF4-FFF2-40B4-BE49-F238E27FC236}">
                <a16:creationId xmlns:a16="http://schemas.microsoft.com/office/drawing/2014/main" id="{0BFF672C-15D5-1933-6D49-BE1A9262F1FC}"/>
              </a:ext>
            </a:extLst>
          </p:cNvPr>
          <p:cNvSpPr txBox="1"/>
          <p:nvPr/>
        </p:nvSpPr>
        <p:spPr>
          <a:xfrm>
            <a:off x="434478" y="1850923"/>
            <a:ext cx="6070957" cy="369332"/>
          </a:xfrm>
          <a:prstGeom prst="rect">
            <a:avLst/>
          </a:prstGeom>
          <a:noFill/>
        </p:spPr>
        <p:txBody>
          <a:bodyPr wrap="none" rtlCol="0">
            <a:spAutoFit/>
          </a:bodyPr>
          <a:lstStyle/>
          <a:p>
            <a:r>
              <a:rPr lang="en-US" b="1" dirty="0">
                <a:solidFill>
                  <a:srgbClr val="7030A0"/>
                </a:solidFill>
                <a:latin typeface="Times New Roman" panose="02020603050405020304" pitchFamily="18" charset="0"/>
                <a:cs typeface="Times New Roman" panose="02020603050405020304" pitchFamily="18" charset="0"/>
              </a:rPr>
              <a:t>1, </a:t>
            </a:r>
            <a:r>
              <a:rPr lang="en-US" b="1" dirty="0" err="1">
                <a:solidFill>
                  <a:srgbClr val="7030A0"/>
                </a:solidFill>
                <a:latin typeface="Times New Roman" panose="02020603050405020304" pitchFamily="18" charset="0"/>
                <a:cs typeface="Times New Roman" panose="02020603050405020304" pitchFamily="18" charset="0"/>
              </a:rPr>
              <a:t>Đối</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với</a:t>
            </a:r>
            <a:r>
              <a:rPr lang="en-US" b="1" dirty="0">
                <a:solidFill>
                  <a:srgbClr val="7030A0"/>
                </a:solidFill>
                <a:latin typeface="Times New Roman" panose="02020603050405020304" pitchFamily="18" charset="0"/>
                <a:cs typeface="Times New Roman" panose="02020603050405020304" pitchFamily="18" charset="0"/>
              </a:rPr>
              <a:t> ACM </a:t>
            </a:r>
            <a:r>
              <a:rPr lang="en-US" b="1" dirty="0" err="1">
                <a:solidFill>
                  <a:srgbClr val="7030A0"/>
                </a:solidFill>
                <a:latin typeface="Times New Roman" panose="02020603050405020304" pitchFamily="18" charset="0"/>
                <a:cs typeface="Times New Roman" panose="02020603050405020304" pitchFamily="18" charset="0"/>
              </a:rPr>
              <a:t>tháo</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ra</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lần</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đầu</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tiên</a:t>
            </a:r>
            <a:r>
              <a:rPr lang="en-US" b="1" dirty="0">
                <a:solidFill>
                  <a:srgbClr val="7030A0"/>
                </a:solidFill>
                <a:latin typeface="Times New Roman" panose="02020603050405020304" pitchFamily="18" charset="0"/>
                <a:cs typeface="Times New Roman" panose="02020603050405020304" pitchFamily="18" charset="0"/>
              </a:rPr>
              <a:t> PN 2205120-4, SN 2520</a:t>
            </a:r>
          </a:p>
        </p:txBody>
      </p:sp>
      <p:sp>
        <p:nvSpPr>
          <p:cNvPr id="28" name="TextBox 27">
            <a:extLst>
              <a:ext uri="{FF2B5EF4-FFF2-40B4-BE49-F238E27FC236}">
                <a16:creationId xmlns:a16="http://schemas.microsoft.com/office/drawing/2014/main" id="{73A76C35-C963-122E-7731-D8E36BE28482}"/>
              </a:ext>
            </a:extLst>
          </p:cNvPr>
          <p:cNvSpPr txBox="1"/>
          <p:nvPr/>
        </p:nvSpPr>
        <p:spPr>
          <a:xfrm>
            <a:off x="689916" y="2391013"/>
            <a:ext cx="5018314" cy="2462213"/>
          </a:xfrm>
          <a:prstGeom prst="rect">
            <a:avLst/>
          </a:prstGeom>
          <a:noFill/>
        </p:spPr>
        <p:txBody>
          <a:bodyPr wrap="square" rtlCol="0">
            <a:spAutoFit/>
          </a:bodyPr>
          <a:lstStyle/>
          <a:p>
            <a:pPr marL="285750" indent="-285750">
              <a:buFontTx/>
              <a:buChar char="-"/>
            </a:pPr>
            <a:r>
              <a:rPr lang="en-US" sz="1400" b="1" dirty="0" err="1">
                <a:latin typeface="Times New Roman" panose="02020603050405020304" pitchFamily="18" charset="0"/>
                <a:cs typeface="Times New Roman" panose="02020603050405020304" pitchFamily="18" charset="0"/>
              </a:rPr>
              <a:t>Lắp</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lên</a:t>
            </a:r>
            <a:r>
              <a:rPr lang="en-US" sz="1400" b="1" dirty="0">
                <a:latin typeface="Times New Roman" panose="02020603050405020304" pitchFamily="18" charset="0"/>
                <a:cs typeface="Times New Roman" panose="02020603050405020304" pitchFamily="18" charset="0"/>
              </a:rPr>
              <a:t> B225 </a:t>
            </a:r>
            <a:r>
              <a:rPr lang="en-US" sz="1400" b="1" dirty="0" err="1">
                <a:latin typeface="Times New Roman" panose="02020603050405020304" pitchFamily="18" charset="0"/>
                <a:cs typeface="Times New Roman" panose="02020603050405020304" pitchFamily="18" charset="0"/>
              </a:rPr>
              <a:t>từ</a:t>
            </a:r>
            <a:r>
              <a:rPr lang="en-US" sz="1400" b="1" dirty="0">
                <a:latin typeface="Times New Roman" panose="02020603050405020304" pitchFamily="18" charset="0"/>
                <a:cs typeface="Times New Roman" panose="02020603050405020304" pitchFamily="18" charset="0"/>
              </a:rPr>
              <a:t> 13/Jul/2018, Tháo </a:t>
            </a:r>
            <a:r>
              <a:rPr lang="en-US" sz="1400" b="1" dirty="0" err="1">
                <a:latin typeface="Times New Roman" panose="02020603050405020304" pitchFamily="18" charset="0"/>
                <a:cs typeface="Times New Roman" panose="02020603050405020304" pitchFamily="18" charset="0"/>
              </a:rPr>
              <a:t>xuống</a:t>
            </a:r>
            <a:r>
              <a:rPr lang="en-US" sz="1400" b="1" dirty="0">
                <a:latin typeface="Times New Roman" panose="02020603050405020304" pitchFamily="18" charset="0"/>
                <a:cs typeface="Times New Roman" panose="02020603050405020304" pitchFamily="18" charset="0"/>
              </a:rPr>
              <a:t> 04/Feb/2025, </a:t>
            </a:r>
          </a:p>
          <a:p>
            <a:pPr marL="285750" indent="-285750">
              <a:buFontTx/>
              <a:buChar char="-"/>
            </a:pPr>
            <a:r>
              <a:rPr lang="en-US" sz="1400" b="1" dirty="0">
                <a:latin typeface="Times New Roman" panose="02020603050405020304" pitchFamily="18" charset="0"/>
                <a:cs typeface="Times New Roman" panose="02020603050405020304" pitchFamily="18" charset="0"/>
              </a:rPr>
              <a:t>TSN = 22’635:38, CSN = 24’622, TSI = 6844:17, CSI = 8’544 </a:t>
            </a:r>
          </a:p>
          <a:p>
            <a:pPr marL="285750" indent="-285750">
              <a:buFontTx/>
              <a:buChar char="-"/>
            </a:pPr>
            <a:endParaRPr lang="en-US" sz="1400" b="1" dirty="0">
              <a:latin typeface="Times New Roman" panose="02020603050405020304" pitchFamily="18" charset="0"/>
              <a:cs typeface="Times New Roman" panose="02020603050405020304" pitchFamily="18" charset="0"/>
            </a:endParaRPr>
          </a:p>
          <a:p>
            <a:pPr marL="285750" indent="-285750">
              <a:buFontTx/>
              <a:buChar char="-"/>
            </a:pPr>
            <a:r>
              <a:rPr lang="en-US" sz="1400" b="1" dirty="0">
                <a:latin typeface="Times New Roman" panose="02020603050405020304" pitchFamily="18" charset="0"/>
                <a:cs typeface="Times New Roman" panose="02020603050405020304" pitchFamily="18" charset="0"/>
              </a:rPr>
              <a:t>Theo SFR </a:t>
            </a:r>
            <a:r>
              <a:rPr lang="en-US" sz="1400" b="1" dirty="0" err="1">
                <a:latin typeface="Times New Roman" panose="02020603050405020304" pitchFamily="18" charset="0"/>
                <a:cs typeface="Times New Roman" panose="02020603050405020304" pitchFamily="18" charset="0"/>
              </a:rPr>
              <a:t>thì</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có</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nhiều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hóc</a:t>
            </a:r>
            <a:r>
              <a:rPr lang="en-US" sz="1400" b="1" dirty="0">
                <a:latin typeface="Times New Roman" panose="02020603050405020304" pitchFamily="18" charset="0"/>
                <a:cs typeface="Times New Roman" panose="02020603050405020304" pitchFamily="18" charset="0"/>
              </a:rPr>
              <a:t>:</a:t>
            </a:r>
          </a:p>
          <a:p>
            <a:pPr marL="742950" lvl="1" indent="-285750" eaLnBrk="0" fontAlgn="base" hangingPunct="0">
              <a:spcBef>
                <a:spcPct val="0"/>
              </a:spcBef>
              <a:spcAft>
                <a:spcPct val="0"/>
              </a:spcAft>
              <a:buFont typeface="Arial" panose="020B0604020202020204" pitchFamily="34" charset="0"/>
              <a:buChar char="•"/>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Muff assembly found carbon contamination </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Times New Roman" panose="02020603050405020304" pitchFamily="18" charset="0"/>
                <a:cs typeface="Times New Roman" panose="02020603050405020304" pitchFamily="18" charset="0"/>
              </a:rPr>
              <a:t>I</a:t>
            </a: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mpeller found carbon contamination and eroded, </a:t>
            </a:r>
            <a:endParaRPr lang="en-US" altLang="en-US" sz="1400"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Times New Roman" panose="02020603050405020304" pitchFamily="18" charset="0"/>
                <a:cs typeface="Times New Roman" panose="02020603050405020304" pitchFamily="18" charset="0"/>
              </a:rPr>
              <a:t>W</a:t>
            </a: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heel found broken,</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Times New Roman" panose="02020603050405020304" pitchFamily="18" charset="0"/>
                <a:cs typeface="Times New Roman" panose="02020603050405020304" pitchFamily="18" charset="0"/>
              </a:rPr>
              <a:t>J</a:t>
            </a: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ournal bearing found damaged,</a:t>
            </a:r>
            <a:endParaRPr lang="en-US" altLang="en-US" sz="1400"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bearing housing found carbon contamination</a:t>
            </a:r>
          </a:p>
          <a:p>
            <a:pPr marL="742950" lvl="1" indent="-285750" eaLnBrk="0" fontAlgn="base" hangingPunct="0">
              <a:spcBef>
                <a:spcPct val="0"/>
              </a:spcBef>
              <a:spcAft>
                <a:spcPct val="0"/>
              </a:spcAft>
              <a:buFont typeface="Arial" panose="020B0604020202020204" pitchFamily="34" charset="0"/>
              <a:buChar char="•"/>
            </a:pPr>
            <a:r>
              <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nozzle ring found carbon contamination </a:t>
            </a:r>
          </a:p>
        </p:txBody>
      </p:sp>
      <p:sp>
        <p:nvSpPr>
          <p:cNvPr id="32" name="TextBox 31">
            <a:extLst>
              <a:ext uri="{FF2B5EF4-FFF2-40B4-BE49-F238E27FC236}">
                <a16:creationId xmlns:a16="http://schemas.microsoft.com/office/drawing/2014/main" id="{E714B28C-850E-D3C3-7D3C-689C82834CF9}"/>
              </a:ext>
            </a:extLst>
          </p:cNvPr>
          <p:cNvSpPr txBox="1"/>
          <p:nvPr/>
        </p:nvSpPr>
        <p:spPr>
          <a:xfrm>
            <a:off x="381000" y="5023984"/>
            <a:ext cx="4882392" cy="800219"/>
          </a:xfrm>
          <a:prstGeom prst="rect">
            <a:avLst/>
          </a:prstGeom>
          <a:noFill/>
        </p:spPr>
        <p:txBody>
          <a:bodyPr wrap="square" rtlCol="0">
            <a:spAutoFit/>
          </a:bodyPr>
          <a:lstStyle/>
          <a:p>
            <a:pPr marL="285750" indent="-285750">
              <a:buFont typeface="Symbol" panose="05050102010706020507" pitchFamily="18" charset="2"/>
              <a:buChar char="Þ"/>
            </a:pPr>
            <a:r>
              <a:rPr lang="en-US" b="1" dirty="0">
                <a:solidFill>
                  <a:srgbClr val="002060"/>
                </a:solidFill>
                <a:latin typeface="Times New Roman" panose="02020603050405020304" pitchFamily="18" charset="0"/>
                <a:cs typeface="Times New Roman" panose="02020603050405020304" pitchFamily="18" charset="0"/>
              </a:rPr>
              <a:t>Nguyên </a:t>
            </a:r>
            <a:r>
              <a:rPr lang="en-US" b="1" dirty="0" err="1">
                <a:solidFill>
                  <a:srgbClr val="002060"/>
                </a:solidFill>
                <a:latin typeface="Times New Roman" panose="02020603050405020304" pitchFamily="18" charset="0"/>
                <a:cs typeface="Times New Roman" panose="02020603050405020304" pitchFamily="18" charset="0"/>
              </a:rPr>
              <a:t>nhân</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hỏng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hóc</a:t>
            </a:r>
            <a:endParaRPr lang="en-US" b="1" dirty="0">
              <a:solidFill>
                <a:srgbClr val="002060"/>
              </a:solidFill>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Do </a:t>
            </a:r>
            <a:r>
              <a:rPr lang="en-US" sz="1400" dirty="0" err="1">
                <a:latin typeface="Times New Roman" panose="02020603050405020304" pitchFamily="18" charset="0"/>
                <a:cs typeface="Times New Roman" panose="02020603050405020304" pitchFamily="18" charset="0"/>
              </a:rPr>
              <a:t>khai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thác</a:t>
            </a:r>
            <a:r>
              <a:rPr lang="en-US" sz="1400" dirty="0">
                <a:latin typeface="Times New Roman" panose="02020603050405020304" pitchFamily="18" charset="0"/>
                <a:cs typeface="Times New Roman" panose="02020603050405020304" pitchFamily="18" charset="0"/>
              </a:rPr>
              <a:t> ở </a:t>
            </a:r>
            <a:r>
              <a:rPr lang="en-US" sz="1400" dirty="0" err="1">
                <a:latin typeface="Times New Roman" panose="02020603050405020304" pitchFamily="18" charset="0"/>
                <a:cs typeface="Times New Roman" panose="02020603050405020304" pitchFamily="18" charset="0"/>
              </a:rPr>
              <a:t>môi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trường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bụi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bẩn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thiết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sau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thời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gian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thác</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795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F33C3-588D-86A2-8C33-892366CA568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2878E2-22E5-8762-53A2-8715EF279D8A}"/>
              </a:ext>
            </a:extLst>
          </p:cNvPr>
          <p:cNvSpPr>
            <a:spLocks noGrp="1"/>
          </p:cNvSpPr>
          <p:nvPr>
            <p:ph type="sldNum" idx="12"/>
          </p:nvPr>
        </p:nvSpPr>
        <p:spPr/>
        <p:txBody>
          <a:bodyPr/>
          <a:lstStyle/>
          <a:p>
            <a:fld id="{6C6B6B8D-D74E-47CD-B5EE-156060B7CD17}" type="slidenum">
              <a:rPr lang="en-US" smtClean="0"/>
              <a:pPr/>
              <a:t>17</a:t>
            </a:fld>
            <a:endParaRPr lang="en-US"/>
          </a:p>
        </p:txBody>
      </p:sp>
      <p:sp>
        <p:nvSpPr>
          <p:cNvPr id="5" name="Title 4">
            <a:extLst>
              <a:ext uri="{FF2B5EF4-FFF2-40B4-BE49-F238E27FC236}">
                <a16:creationId xmlns:a16="http://schemas.microsoft.com/office/drawing/2014/main" id="{7AC7753B-7CFA-51F7-E886-0179D700E6B7}"/>
              </a:ext>
            </a:extLst>
          </p:cNvPr>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ATR72- ATA 21 &amp; ATA36 </a:t>
            </a:r>
            <a:endParaRPr lang="vi-VN" sz="2800"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71E5E3AE-2986-E89A-E25E-6592A3F7E643}"/>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31C154C2-A97A-838A-7EFF-38B076A84CB8}"/>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F813F9D-C370-7207-1748-89D246FD380B}"/>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1. B225 – PACK #1 FAULT – 04 ACM REMOVALS</a:t>
              </a:r>
            </a:p>
          </p:txBody>
        </p:sp>
      </p:grpSp>
      <p:sp>
        <p:nvSpPr>
          <p:cNvPr id="13" name="TextBox 12">
            <a:extLst>
              <a:ext uri="{FF2B5EF4-FFF2-40B4-BE49-F238E27FC236}">
                <a16:creationId xmlns:a16="http://schemas.microsoft.com/office/drawing/2014/main" id="{58345C30-EF5A-DC43-CC13-CAA33B3FA9A6}"/>
              </a:ext>
            </a:extLst>
          </p:cNvPr>
          <p:cNvSpPr txBox="1"/>
          <p:nvPr/>
        </p:nvSpPr>
        <p:spPr>
          <a:xfrm>
            <a:off x="864262" y="1310833"/>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Phân</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tích</a:t>
            </a:r>
            <a:r>
              <a:rPr lang="en-US" b="1" dirty="0">
                <a:solidFill>
                  <a:srgbClr val="006885"/>
                </a:solidFill>
                <a:latin typeface="Montserrat SemiBold"/>
                <a:ea typeface="Cambria" panose="02040503050406030204" pitchFamily="18" charset="0"/>
                <a:cs typeface="Times New Roman" panose="02020603050405020304" pitchFamily="18" charset="0"/>
              </a:rPr>
              <a:t>/</a:t>
            </a:r>
            <a:r>
              <a:rPr lang="en-US" b="1" dirty="0" err="1">
                <a:solidFill>
                  <a:srgbClr val="006885"/>
                </a:solidFill>
                <a:latin typeface="Montserrat SemiBold"/>
                <a:ea typeface="Cambria" panose="02040503050406030204" pitchFamily="18" charset="0"/>
                <a:cs typeface="Times New Roman" panose="02020603050405020304" pitchFamily="18" charset="0"/>
              </a:rPr>
              <a:t>Đánh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giá</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934B7F9D-265D-F1FE-3B56-D3321353CE3F}"/>
              </a:ext>
            </a:extLst>
          </p:cNvPr>
          <p:cNvPicPr>
            <a:picLocks noChangeAspect="1"/>
          </p:cNvPicPr>
          <p:nvPr/>
        </p:nvPicPr>
        <p:blipFill>
          <a:blip r:embed="rId3"/>
          <a:stretch>
            <a:fillRect/>
          </a:stretch>
        </p:blipFill>
        <p:spPr>
          <a:xfrm>
            <a:off x="434478" y="1252342"/>
            <a:ext cx="510877" cy="512345"/>
          </a:xfrm>
          <a:prstGeom prst="rect">
            <a:avLst/>
          </a:prstGeom>
        </p:spPr>
      </p:pic>
      <p:sp>
        <p:nvSpPr>
          <p:cNvPr id="27" name="TextBox 26">
            <a:extLst>
              <a:ext uri="{FF2B5EF4-FFF2-40B4-BE49-F238E27FC236}">
                <a16:creationId xmlns:a16="http://schemas.microsoft.com/office/drawing/2014/main" id="{8B294FB5-AB23-17CD-3C76-9C12E7F90CB4}"/>
              </a:ext>
            </a:extLst>
          </p:cNvPr>
          <p:cNvSpPr txBox="1"/>
          <p:nvPr/>
        </p:nvSpPr>
        <p:spPr>
          <a:xfrm>
            <a:off x="434478" y="1850923"/>
            <a:ext cx="8481874" cy="369332"/>
          </a:xfrm>
          <a:prstGeom prst="rect">
            <a:avLst/>
          </a:prstGeom>
          <a:noFill/>
        </p:spPr>
        <p:txBody>
          <a:bodyPr wrap="none" rtlCol="0">
            <a:spAutoFit/>
          </a:bodyPr>
          <a:lstStyle/>
          <a:p>
            <a:r>
              <a:rPr lang="en-US" b="1" dirty="0">
                <a:solidFill>
                  <a:srgbClr val="7030A0"/>
                </a:solidFill>
                <a:latin typeface="Times New Roman" panose="02020603050405020304" pitchFamily="18" charset="0"/>
                <a:cs typeface="Times New Roman" panose="02020603050405020304" pitchFamily="18" charset="0"/>
              </a:rPr>
              <a:t>2, </a:t>
            </a:r>
            <a:r>
              <a:rPr lang="en-US" b="1" dirty="0" err="1">
                <a:solidFill>
                  <a:srgbClr val="7030A0"/>
                </a:solidFill>
                <a:latin typeface="Times New Roman" panose="02020603050405020304" pitchFamily="18" charset="0"/>
                <a:cs typeface="Times New Roman" panose="02020603050405020304" pitchFamily="18" charset="0"/>
              </a:rPr>
              <a:t>Đối</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với</a:t>
            </a:r>
            <a:r>
              <a:rPr lang="en-US" b="1" dirty="0">
                <a:solidFill>
                  <a:srgbClr val="7030A0"/>
                </a:solidFill>
                <a:latin typeface="Times New Roman" panose="02020603050405020304" pitchFamily="18" charset="0"/>
                <a:cs typeface="Times New Roman" panose="02020603050405020304" pitchFamily="18" charset="0"/>
              </a:rPr>
              <a:t> 03 ACM </a:t>
            </a:r>
            <a:r>
              <a:rPr lang="en-US" b="1" dirty="0" err="1">
                <a:solidFill>
                  <a:srgbClr val="7030A0"/>
                </a:solidFill>
                <a:latin typeface="Times New Roman" panose="02020603050405020304" pitchFamily="18" charset="0"/>
                <a:cs typeface="Times New Roman" panose="02020603050405020304" pitchFamily="18" charset="0"/>
              </a:rPr>
              <a:t>tháo</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ra</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lần</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sau</a:t>
            </a:r>
            <a:r>
              <a:rPr lang="en-US" b="1" dirty="0">
                <a:solidFill>
                  <a:srgbClr val="7030A0"/>
                </a:solidFill>
                <a:latin typeface="Times New Roman" panose="02020603050405020304" pitchFamily="18" charset="0"/>
                <a:cs typeface="Times New Roman" panose="02020603050405020304" pitchFamily="18" charset="0"/>
              </a:rPr>
              <a:t>: SN 2559 (23/02), SN 0785 (03/03), SN 2569 (13/03)</a:t>
            </a:r>
          </a:p>
        </p:txBody>
      </p:sp>
      <p:sp>
        <p:nvSpPr>
          <p:cNvPr id="8" name="TextBox 7">
            <a:extLst>
              <a:ext uri="{FF2B5EF4-FFF2-40B4-BE49-F238E27FC236}">
                <a16:creationId xmlns:a16="http://schemas.microsoft.com/office/drawing/2014/main" id="{AD6FD676-1EB5-26F6-F9E4-33CB9C2BB4DC}"/>
              </a:ext>
            </a:extLst>
          </p:cNvPr>
          <p:cNvSpPr txBox="1"/>
          <p:nvPr/>
        </p:nvSpPr>
        <p:spPr>
          <a:xfrm>
            <a:off x="801248" y="2220255"/>
            <a:ext cx="7748333" cy="2185214"/>
          </a:xfrm>
          <a:prstGeom prst="rect">
            <a:avLst/>
          </a:prstGeom>
          <a:noFill/>
        </p:spPr>
        <p:txBody>
          <a:bodyPr wrap="square" rtlCol="0">
            <a:spAutoFit/>
          </a:bodyPr>
          <a:lstStyle/>
          <a:p>
            <a:pPr marL="285750" indent="-285750">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ACM </a:t>
            </a:r>
            <a:r>
              <a:rPr lang="en-US" sz="1600" dirty="0" err="1">
                <a:latin typeface="Times New Roman" panose="02020603050405020304" pitchFamily="18" charset="0"/>
                <a:cs typeface="Times New Roman" panose="02020603050405020304" pitchFamily="18" charset="0"/>
              </a:rPr>
              <a:t>tháo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tua</a:t>
            </a:r>
            <a:r>
              <a:rPr lang="en-US" sz="1600" dirty="0">
                <a:latin typeface="Times New Roman" panose="02020603050405020304" pitchFamily="18" charset="0"/>
                <a:cs typeface="Times New Roman" panose="02020603050405020304" pitchFamily="18" charset="0"/>
              </a:rPr>
              <a:t> bin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damage. Theo </a:t>
            </a:r>
            <a:r>
              <a:rPr lang="en-US" sz="1800" i="0" dirty="0">
                <a:solidFill>
                  <a:srgbClr val="000000"/>
                </a:solidFill>
                <a:effectLst/>
                <a:latin typeface="Times New Roman" panose="02020603050405020304" pitchFamily="18" charset="0"/>
                <a:cs typeface="Times New Roman" panose="02020603050405020304" pitchFamily="18" charset="0"/>
              </a:rPr>
              <a:t>SIL-1600D-01</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có</a:t>
            </a:r>
            <a:r>
              <a:rPr lang="en-US" dirty="0">
                <a:solidFill>
                  <a:srgbClr val="000000"/>
                </a:solidFill>
                <a:latin typeface="Times New Roman" panose="02020603050405020304" pitchFamily="18" charset="0"/>
                <a:cs typeface="Times New Roman" panose="02020603050405020304" pitchFamily="18" charset="0"/>
              </a:rPr>
              <a:t> 3 </a:t>
            </a:r>
            <a:r>
              <a:rPr lang="en-US" dirty="0" err="1">
                <a:solidFill>
                  <a:srgbClr val="000000"/>
                </a:solidFill>
                <a:latin typeface="Times New Roman" panose="02020603050405020304" pitchFamily="18" charset="0"/>
                <a:cs typeface="Times New Roman" panose="02020603050405020304" pitchFamily="18" charset="0"/>
              </a:rPr>
              <a:t>nguyên</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nhân</a:t>
            </a:r>
            <a:r>
              <a:rPr lang="en-US" dirty="0">
                <a:solidFill>
                  <a:srgbClr val="000000"/>
                </a:solidFill>
                <a:latin typeface="Times New Roman" panose="02020603050405020304" pitchFamily="18" charset="0"/>
                <a:cs typeface="Times New Roman" panose="02020603050405020304" pitchFamily="18" charset="0"/>
              </a:rPr>
              <a:t>: FOD, ACM over speed, Ice Formation.</a:t>
            </a:r>
          </a:p>
          <a:p>
            <a:pPr marL="285750" indent="-285750">
              <a:buFont typeface="Wingdings" panose="05000000000000000000" pitchFamily="2" charset="2"/>
              <a:buChar char="§"/>
            </a:pPr>
            <a:r>
              <a:rPr lang="en-US" dirty="0">
                <a:solidFill>
                  <a:srgbClr val="000000"/>
                </a:solidFill>
                <a:latin typeface="Times New Roman" panose="02020603050405020304" pitchFamily="18" charset="0"/>
                <a:cs typeface="Times New Roman" panose="02020603050405020304" pitchFamily="18" charset="0"/>
              </a:rPr>
              <a:t>Do </a:t>
            </a:r>
            <a:r>
              <a:rPr lang="en-US" dirty="0" err="1">
                <a:solidFill>
                  <a:srgbClr val="000000"/>
                </a:solidFill>
                <a:latin typeface="Times New Roman" panose="02020603050405020304" pitchFamily="18" charset="0"/>
                <a:cs typeface="Times New Roman" panose="02020603050405020304" pitchFamily="18" charset="0"/>
              </a:rPr>
              <a:t>các</a:t>
            </a:r>
            <a:r>
              <a:rPr lang="en-US" dirty="0">
                <a:solidFill>
                  <a:srgbClr val="000000"/>
                </a:solidFill>
                <a:latin typeface="Times New Roman" panose="02020603050405020304" pitchFamily="18" charset="0"/>
                <a:cs typeface="Times New Roman" panose="02020603050405020304" pitchFamily="18" charset="0"/>
              </a:rPr>
              <a:t> ACM </a:t>
            </a:r>
            <a:r>
              <a:rPr lang="en-US" dirty="0" err="1">
                <a:solidFill>
                  <a:srgbClr val="000000"/>
                </a:solidFill>
                <a:latin typeface="Times New Roman" panose="02020603050405020304" pitchFamily="18" charset="0"/>
                <a:cs typeface="Times New Roman" panose="02020603050405020304" pitchFamily="18" charset="0"/>
              </a:rPr>
              <a:t>vừa</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mới</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lắp</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lên</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nên</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nghi</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ngờ</a:t>
            </a:r>
            <a:r>
              <a:rPr lang="en-US" dirty="0">
                <a:solidFill>
                  <a:srgbClr val="000000"/>
                </a:solidFill>
                <a:latin typeface="Times New Roman" panose="02020603050405020304" pitchFamily="18" charset="0"/>
                <a:cs typeface="Times New Roman" panose="02020603050405020304" pitchFamily="18" charset="0"/>
              </a:rPr>
              <a:t> do </a:t>
            </a:r>
            <a:r>
              <a:rPr lang="en-US" dirty="0" err="1">
                <a:solidFill>
                  <a:srgbClr val="000000"/>
                </a:solidFill>
                <a:latin typeface="Times New Roman" panose="02020603050405020304" pitchFamily="18" charset="0"/>
                <a:cs typeface="Times New Roman" panose="02020603050405020304" pitchFamily="18" charset="0"/>
              </a:rPr>
              <a:t>bị</a:t>
            </a:r>
            <a:r>
              <a:rPr lang="en-US" dirty="0">
                <a:solidFill>
                  <a:srgbClr val="000000"/>
                </a:solidFill>
                <a:latin typeface="Times New Roman" panose="02020603050405020304" pitchFamily="18" charset="0"/>
                <a:cs typeface="Times New Roman" panose="02020603050405020304" pitchFamily="18" charset="0"/>
              </a:rPr>
              <a:t> Ice Formation:</a:t>
            </a:r>
          </a:p>
          <a:p>
            <a:pPr marL="800100" lvl="1" indent="-342900">
              <a:buFont typeface="Courier New" panose="02070309020205020404" pitchFamily="49" charset="0"/>
              <a:buChar char="o"/>
            </a:pPr>
            <a:r>
              <a:rPr lang="en-US" sz="1600" dirty="0">
                <a:solidFill>
                  <a:srgbClr val="000000"/>
                </a:solidFill>
                <a:latin typeface="Times New Roman" panose="02020603050405020304" pitchFamily="18" charset="0"/>
                <a:cs typeface="Times New Roman" panose="02020603050405020304" pitchFamily="18" charset="0"/>
              </a:rPr>
              <a:t>Do Temperature Sensor =&gt; </a:t>
            </a:r>
            <a:r>
              <a:rPr lang="en-US" sz="1600" dirty="0" err="1">
                <a:solidFill>
                  <a:srgbClr val="000000"/>
                </a:solidFill>
                <a:latin typeface="Times New Roman" panose="02020603050405020304" pitchFamily="18" charset="0"/>
                <a:cs typeface="Times New Roman" panose="02020603050405020304" pitchFamily="18" charset="0"/>
              </a:rPr>
              <a:t>thay</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hôm</a:t>
            </a:r>
            <a:r>
              <a:rPr lang="en-US" sz="1600" dirty="0">
                <a:solidFill>
                  <a:srgbClr val="000000"/>
                </a:solidFill>
                <a:latin typeface="Times New Roman" panose="02020603050405020304" pitchFamily="18" charset="0"/>
                <a:cs typeface="Times New Roman" panose="02020603050405020304" pitchFamily="18" charset="0"/>
              </a:rPr>
              <a:t> 03/03</a:t>
            </a:r>
          </a:p>
          <a:p>
            <a:pPr marL="800100" lvl="1" indent="-342900">
              <a:buFont typeface="Courier New" panose="02070309020205020404" pitchFamily="49" charset="0"/>
              <a:buChar char="o"/>
            </a:pPr>
            <a:r>
              <a:rPr lang="en-US" sz="1600" dirty="0">
                <a:solidFill>
                  <a:srgbClr val="000000"/>
                </a:solidFill>
                <a:latin typeface="Times New Roman" panose="02020603050405020304" pitchFamily="18" charset="0"/>
                <a:cs typeface="Times New Roman" panose="02020603050405020304" pitchFamily="18" charset="0"/>
              </a:rPr>
              <a:t>Do TIC Valve =&gt; </a:t>
            </a:r>
            <a:r>
              <a:rPr lang="en-US" sz="1600" dirty="0" err="1">
                <a:solidFill>
                  <a:srgbClr val="000000"/>
                </a:solidFill>
                <a:latin typeface="Times New Roman" panose="02020603050405020304" pitchFamily="18" charset="0"/>
                <a:cs typeface="Times New Roman" panose="02020603050405020304" pitchFamily="18" charset="0"/>
              </a:rPr>
              <a:t>thay</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err="1">
                <a:solidFill>
                  <a:srgbClr val="000000"/>
                </a:solidFill>
                <a:latin typeface="Times New Roman" panose="02020603050405020304" pitchFamily="18" charset="0"/>
                <a:cs typeface="Times New Roman" panose="02020603050405020304" pitchFamily="18" charset="0"/>
              </a:rPr>
              <a:t>hôm</a:t>
            </a:r>
            <a:r>
              <a:rPr lang="en-US" sz="1600" dirty="0">
                <a:solidFill>
                  <a:srgbClr val="000000"/>
                </a:solidFill>
                <a:latin typeface="Times New Roman" panose="02020603050405020304" pitchFamily="18" charset="0"/>
                <a:cs typeface="Times New Roman" panose="02020603050405020304" pitchFamily="18" charset="0"/>
              </a:rPr>
              <a:t> 07/02, </a:t>
            </a:r>
          </a:p>
          <a:p>
            <a:pPr marL="800100" lvl="1" indent="-342900">
              <a:buFont typeface="Courier New" panose="02070309020205020404" pitchFamily="49" charset="0"/>
              <a:buChar char="o"/>
            </a:pPr>
            <a:r>
              <a:rPr lang="en-US" sz="1600" dirty="0">
                <a:solidFill>
                  <a:srgbClr val="000000"/>
                </a:solidFill>
                <a:latin typeface="Times New Roman" panose="02020603050405020304" pitchFamily="18" charset="0"/>
                <a:cs typeface="Times New Roman" panose="02020603050405020304" pitchFamily="18" charset="0"/>
              </a:rPr>
              <a:t>Do condenser =&gt; </a:t>
            </a:r>
            <a:r>
              <a:rPr lang="en-US" sz="1600" dirty="0" err="1">
                <a:solidFill>
                  <a:srgbClr val="000000"/>
                </a:solidFill>
                <a:latin typeface="Times New Roman" panose="02020603050405020304" pitchFamily="18" charset="0"/>
                <a:cs typeface="Times New Roman" panose="02020603050405020304" pitchFamily="18" charset="0"/>
              </a:rPr>
              <a:t>thay</a:t>
            </a:r>
            <a:r>
              <a:rPr lang="en-US" sz="1600" dirty="0">
                <a:solidFill>
                  <a:srgbClr val="000000"/>
                </a:solidFill>
                <a:latin typeface="Times New Roman" panose="02020603050405020304" pitchFamily="18" charset="0"/>
                <a:cs typeface="Times New Roman" panose="02020603050405020304" pitchFamily="18" charset="0"/>
              </a:rPr>
              <a:t> 03/03</a:t>
            </a:r>
          </a:p>
          <a:p>
            <a:pPr marL="800100" lvl="1" indent="-342900">
              <a:buFont typeface="Courier New" panose="02070309020205020404" pitchFamily="49" charset="0"/>
              <a:buChar char="o"/>
            </a:pPr>
            <a:r>
              <a:rPr lang="en-US" sz="1600" dirty="0">
                <a:solidFill>
                  <a:srgbClr val="000000"/>
                </a:solidFill>
                <a:latin typeface="Times New Roman" panose="02020603050405020304" pitchFamily="18" charset="0"/>
                <a:cs typeface="Times New Roman" panose="02020603050405020304" pitchFamily="18" charset="0"/>
              </a:rPr>
              <a:t>Do Water extractor =&gt; </a:t>
            </a:r>
            <a:r>
              <a:rPr lang="en-US" sz="1600" dirty="0" err="1">
                <a:solidFill>
                  <a:srgbClr val="000000"/>
                </a:solidFill>
                <a:latin typeface="Times New Roman" panose="02020603050405020304" pitchFamily="18" charset="0"/>
                <a:cs typeface="Times New Roman" panose="02020603050405020304" pitchFamily="18" charset="0"/>
              </a:rPr>
              <a:t>thay</a:t>
            </a:r>
            <a:r>
              <a:rPr lang="en-US" sz="1600" dirty="0">
                <a:solidFill>
                  <a:srgbClr val="000000"/>
                </a:solidFill>
                <a:latin typeface="Times New Roman" panose="02020603050405020304" pitchFamily="18" charset="0"/>
                <a:cs typeface="Times New Roman" panose="02020603050405020304" pitchFamily="18" charset="0"/>
              </a:rPr>
              <a:t> 03/03</a:t>
            </a:r>
          </a:p>
          <a:p>
            <a:pPr marL="285750" indent="-285750">
              <a:buFont typeface="Wingdings" panose="05000000000000000000" pitchFamily="2" charset="2"/>
              <a:buChar char="§"/>
            </a:pPr>
            <a:endParaRPr lang="en-US" sz="1600" dirty="0"/>
          </a:p>
        </p:txBody>
      </p:sp>
      <p:pic>
        <p:nvPicPr>
          <p:cNvPr id="17" name="Picture 16">
            <a:extLst>
              <a:ext uri="{FF2B5EF4-FFF2-40B4-BE49-F238E27FC236}">
                <a16:creationId xmlns:a16="http://schemas.microsoft.com/office/drawing/2014/main" id="{B1B77FD4-1488-8651-ED01-656641EDA9D4}"/>
              </a:ext>
            </a:extLst>
          </p:cNvPr>
          <p:cNvPicPr>
            <a:picLocks noChangeAspect="1"/>
          </p:cNvPicPr>
          <p:nvPr/>
        </p:nvPicPr>
        <p:blipFill>
          <a:blip r:embed="rId4"/>
          <a:stretch>
            <a:fillRect/>
          </a:stretch>
        </p:blipFill>
        <p:spPr>
          <a:xfrm>
            <a:off x="163789" y="4124300"/>
            <a:ext cx="11799481" cy="2315786"/>
          </a:xfrm>
          <a:prstGeom prst="rect">
            <a:avLst/>
          </a:prstGeom>
        </p:spPr>
      </p:pic>
      <p:grpSp>
        <p:nvGrpSpPr>
          <p:cNvPr id="19" name="Group 18">
            <a:extLst>
              <a:ext uri="{FF2B5EF4-FFF2-40B4-BE49-F238E27FC236}">
                <a16:creationId xmlns:a16="http://schemas.microsoft.com/office/drawing/2014/main" id="{4348F63A-76FC-B2A8-74BE-1C2F3879BC6F}"/>
              </a:ext>
            </a:extLst>
          </p:cNvPr>
          <p:cNvGrpSpPr/>
          <p:nvPr/>
        </p:nvGrpSpPr>
        <p:grpSpPr>
          <a:xfrm>
            <a:off x="9122541" y="1252342"/>
            <a:ext cx="2840729" cy="2772472"/>
            <a:chOff x="9122541" y="1252342"/>
            <a:chExt cx="2840729" cy="2772472"/>
          </a:xfrm>
        </p:grpSpPr>
        <p:pic>
          <p:nvPicPr>
            <p:cNvPr id="14" name="Picture 13">
              <a:extLst>
                <a:ext uri="{FF2B5EF4-FFF2-40B4-BE49-F238E27FC236}">
                  <a16:creationId xmlns:a16="http://schemas.microsoft.com/office/drawing/2014/main" id="{57D1B520-FA27-D982-81C9-EDCF9F9E6C6F}"/>
                </a:ext>
              </a:extLst>
            </p:cNvPr>
            <p:cNvPicPr>
              <a:picLocks noChangeAspect="1"/>
            </p:cNvPicPr>
            <p:nvPr/>
          </p:nvPicPr>
          <p:blipFill>
            <a:blip r:embed="rId5"/>
            <a:stretch>
              <a:fillRect/>
            </a:stretch>
          </p:blipFill>
          <p:spPr>
            <a:xfrm>
              <a:off x="9122541" y="1252342"/>
              <a:ext cx="2840729" cy="2727852"/>
            </a:xfrm>
            <a:prstGeom prst="rect">
              <a:avLst/>
            </a:prstGeom>
          </p:spPr>
        </p:pic>
        <p:sp>
          <p:nvSpPr>
            <p:cNvPr id="18" name="TextBox 17">
              <a:extLst>
                <a:ext uri="{FF2B5EF4-FFF2-40B4-BE49-F238E27FC236}">
                  <a16:creationId xmlns:a16="http://schemas.microsoft.com/office/drawing/2014/main" id="{2F4B3E63-C5EA-F40B-CB5A-8EF7FD9D7781}"/>
                </a:ext>
              </a:extLst>
            </p:cNvPr>
            <p:cNvSpPr txBox="1"/>
            <p:nvPr/>
          </p:nvSpPr>
          <p:spPr>
            <a:xfrm>
              <a:off x="9448800" y="3655482"/>
              <a:ext cx="2427075" cy="369332"/>
            </a:xfrm>
            <a:prstGeom prst="rect">
              <a:avLst/>
            </a:prstGeom>
            <a:noFill/>
          </p:spPr>
          <p:txBody>
            <a:bodyPr wrap="none" rtlCol="0">
              <a:spAutoFit/>
            </a:bodyPr>
            <a:lstStyle/>
            <a:p>
              <a:r>
                <a:rPr lang="en-US" dirty="0">
                  <a:solidFill>
                    <a:srgbClr val="FFFF00"/>
                  </a:solidFill>
                </a:rPr>
                <a:t>Turbine blade damaged</a:t>
              </a:r>
            </a:p>
          </p:txBody>
        </p:sp>
      </p:grpSp>
      <p:sp>
        <p:nvSpPr>
          <p:cNvPr id="20" name="Arrow: Right 19">
            <a:extLst>
              <a:ext uri="{FF2B5EF4-FFF2-40B4-BE49-F238E27FC236}">
                <a16:creationId xmlns:a16="http://schemas.microsoft.com/office/drawing/2014/main" id="{A3D19D27-C211-6DFD-0A73-F6312719D1D0}"/>
              </a:ext>
            </a:extLst>
          </p:cNvPr>
          <p:cNvSpPr/>
          <p:nvPr/>
        </p:nvSpPr>
        <p:spPr>
          <a:xfrm>
            <a:off x="163789" y="6544894"/>
            <a:ext cx="781566" cy="217503"/>
          </a:xfrm>
          <a:prstGeom prst="rightArrow">
            <a:avLst>
              <a:gd name="adj1" fmla="val 50000"/>
              <a:gd name="adj2" fmla="val 3775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C3940F9-026F-D4AF-D195-222B024C53CC}"/>
              </a:ext>
            </a:extLst>
          </p:cNvPr>
          <p:cNvSpPr txBox="1"/>
          <p:nvPr/>
        </p:nvSpPr>
        <p:spPr>
          <a:xfrm>
            <a:off x="1045351" y="6480023"/>
            <a:ext cx="10690929" cy="369332"/>
          </a:xfrm>
          <a:prstGeom prst="rect">
            <a:avLst/>
          </a:prstGeom>
          <a:noFill/>
        </p:spPr>
        <p:txBody>
          <a:bodyPr wrap="square" rtlCol="0">
            <a:spAutoFit/>
          </a:bodyPr>
          <a:lstStyle/>
          <a:p>
            <a:r>
              <a:rPr lang="en-US" dirty="0" err="1">
                <a:solidFill>
                  <a:srgbClr val="FF0000"/>
                </a:solidFill>
              </a:rPr>
              <a:t>Đã</a:t>
            </a:r>
            <a:r>
              <a:rPr lang="en-US" dirty="0">
                <a:solidFill>
                  <a:srgbClr val="FF0000"/>
                </a:solidFill>
              </a:rPr>
              <a:t> </a:t>
            </a:r>
            <a:r>
              <a:rPr lang="en-US" dirty="0" err="1">
                <a:solidFill>
                  <a:srgbClr val="FF0000"/>
                </a:solidFill>
              </a:rPr>
              <a:t>thực</a:t>
            </a:r>
            <a:r>
              <a:rPr lang="en-US" dirty="0">
                <a:solidFill>
                  <a:srgbClr val="FF0000"/>
                </a:solidFill>
              </a:rPr>
              <a:t> </a:t>
            </a:r>
            <a:r>
              <a:rPr lang="en-US" dirty="0" err="1">
                <a:solidFill>
                  <a:srgbClr val="FF0000"/>
                </a:solidFill>
              </a:rPr>
              <a:t>hiện</a:t>
            </a:r>
            <a:r>
              <a:rPr lang="en-US" dirty="0">
                <a:solidFill>
                  <a:srgbClr val="FF0000"/>
                </a:solidFill>
              </a:rPr>
              <a:t> </a:t>
            </a:r>
            <a:r>
              <a:rPr lang="en-US" dirty="0" err="1">
                <a:solidFill>
                  <a:srgbClr val="FF0000"/>
                </a:solidFill>
              </a:rPr>
              <a:t>kiểm</a:t>
            </a:r>
            <a:r>
              <a:rPr lang="en-US" dirty="0">
                <a:solidFill>
                  <a:srgbClr val="FF0000"/>
                </a:solidFill>
              </a:rPr>
              <a:t> </a:t>
            </a:r>
            <a:r>
              <a:rPr lang="en-US" dirty="0" err="1">
                <a:solidFill>
                  <a:srgbClr val="FF0000"/>
                </a:solidFill>
              </a:rPr>
              <a:t>tra</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thay</a:t>
            </a:r>
            <a:r>
              <a:rPr lang="en-US" dirty="0">
                <a:solidFill>
                  <a:srgbClr val="FF0000"/>
                </a:solidFill>
              </a:rPr>
              <a:t> </a:t>
            </a:r>
            <a:r>
              <a:rPr lang="en-US" dirty="0" err="1">
                <a:solidFill>
                  <a:srgbClr val="FF0000"/>
                </a:solidFill>
              </a:rPr>
              <a:t>thế</a:t>
            </a:r>
            <a:r>
              <a:rPr lang="en-US" dirty="0">
                <a:solidFill>
                  <a:srgbClr val="FF0000"/>
                </a:solidFill>
              </a:rPr>
              <a:t> </a:t>
            </a:r>
            <a:r>
              <a:rPr lang="en-US" dirty="0" err="1">
                <a:solidFill>
                  <a:srgbClr val="FF0000"/>
                </a:solidFill>
              </a:rPr>
              <a:t>các</a:t>
            </a:r>
            <a:r>
              <a:rPr lang="en-US" dirty="0">
                <a:solidFill>
                  <a:srgbClr val="FF0000"/>
                </a:solidFill>
              </a:rPr>
              <a:t> component </a:t>
            </a:r>
            <a:r>
              <a:rPr lang="en-US" dirty="0" err="1">
                <a:solidFill>
                  <a:srgbClr val="FF0000"/>
                </a:solidFill>
              </a:rPr>
              <a:t>liên</a:t>
            </a:r>
            <a:r>
              <a:rPr lang="en-US" dirty="0">
                <a:solidFill>
                  <a:srgbClr val="FF0000"/>
                </a:solidFill>
              </a:rPr>
              <a:t> </a:t>
            </a:r>
            <a:r>
              <a:rPr lang="en-US" dirty="0" err="1">
                <a:solidFill>
                  <a:srgbClr val="FF0000"/>
                </a:solidFill>
              </a:rPr>
              <a:t>quan</a:t>
            </a:r>
            <a:r>
              <a:rPr lang="en-US" dirty="0">
                <a:solidFill>
                  <a:srgbClr val="FF0000"/>
                </a:solidFill>
              </a:rPr>
              <a:t> </a:t>
            </a:r>
            <a:r>
              <a:rPr lang="en-US" dirty="0" err="1">
                <a:solidFill>
                  <a:srgbClr val="FF0000"/>
                </a:solidFill>
              </a:rPr>
              <a:t>theo</a:t>
            </a:r>
            <a:r>
              <a:rPr lang="en-US" dirty="0">
                <a:solidFill>
                  <a:srgbClr val="FF0000"/>
                </a:solidFill>
              </a:rPr>
              <a:t> </a:t>
            </a:r>
            <a:r>
              <a:rPr lang="en-US" dirty="0" err="1">
                <a:solidFill>
                  <a:srgbClr val="FF0000"/>
                </a:solidFill>
              </a:rPr>
              <a:t>hướng</a:t>
            </a:r>
            <a:r>
              <a:rPr lang="en-US" dirty="0">
                <a:solidFill>
                  <a:srgbClr val="FF0000"/>
                </a:solidFill>
              </a:rPr>
              <a:t> </a:t>
            </a:r>
            <a:r>
              <a:rPr lang="en-US" dirty="0" err="1">
                <a:solidFill>
                  <a:srgbClr val="FF0000"/>
                </a:solidFill>
              </a:rPr>
              <a:t>dẫn</a:t>
            </a:r>
            <a:r>
              <a:rPr lang="en-US" dirty="0">
                <a:solidFill>
                  <a:srgbClr val="FF0000"/>
                </a:solidFill>
              </a:rPr>
              <a:t> NSX </a:t>
            </a:r>
            <a:r>
              <a:rPr lang="en-US" dirty="0" err="1">
                <a:solidFill>
                  <a:srgbClr val="FF0000"/>
                </a:solidFill>
              </a:rPr>
              <a:t>nhưng</a:t>
            </a:r>
            <a:r>
              <a:rPr lang="en-US" dirty="0">
                <a:solidFill>
                  <a:srgbClr val="FF0000"/>
                </a:solidFill>
              </a:rPr>
              <a:t> </a:t>
            </a:r>
            <a:r>
              <a:rPr lang="en-US" dirty="0" err="1">
                <a:solidFill>
                  <a:srgbClr val="FF0000"/>
                </a:solidFill>
              </a:rPr>
              <a:t>không</a:t>
            </a:r>
            <a:r>
              <a:rPr lang="en-US" dirty="0">
                <a:solidFill>
                  <a:srgbClr val="FF0000"/>
                </a:solidFill>
              </a:rPr>
              <a:t> </a:t>
            </a:r>
            <a:r>
              <a:rPr lang="en-US" dirty="0" err="1">
                <a:solidFill>
                  <a:srgbClr val="FF0000"/>
                </a:solidFill>
              </a:rPr>
              <a:t>khắc</a:t>
            </a:r>
            <a:r>
              <a:rPr lang="en-US" dirty="0">
                <a:solidFill>
                  <a:srgbClr val="FF0000"/>
                </a:solidFill>
              </a:rPr>
              <a:t> </a:t>
            </a:r>
            <a:r>
              <a:rPr lang="en-US" dirty="0" err="1">
                <a:solidFill>
                  <a:srgbClr val="FF0000"/>
                </a:solidFill>
              </a:rPr>
              <a:t>phục</a:t>
            </a:r>
            <a:r>
              <a:rPr lang="en-US" dirty="0">
                <a:solidFill>
                  <a:srgbClr val="FF0000"/>
                </a:solidFill>
              </a:rPr>
              <a:t> </a:t>
            </a:r>
            <a:r>
              <a:rPr lang="en-US" dirty="0" err="1">
                <a:solidFill>
                  <a:srgbClr val="FF0000"/>
                </a:solidFill>
              </a:rPr>
              <a:t>được</a:t>
            </a:r>
            <a:endParaRPr lang="en-US" dirty="0">
              <a:solidFill>
                <a:srgbClr val="FF0000"/>
              </a:solidFill>
            </a:endParaRPr>
          </a:p>
        </p:txBody>
      </p:sp>
    </p:spTree>
    <p:extLst>
      <p:ext uri="{BB962C8B-B14F-4D97-AF65-F5344CB8AC3E}">
        <p14:creationId xmlns:p14="http://schemas.microsoft.com/office/powerpoint/2010/main" val="1316113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02DBA-B139-1D5B-AC68-4B21917465B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70D1A9-26E5-613C-87B9-FADEAB463E0A}"/>
              </a:ext>
            </a:extLst>
          </p:cNvPr>
          <p:cNvSpPr>
            <a:spLocks noGrp="1"/>
          </p:cNvSpPr>
          <p:nvPr>
            <p:ph type="sldNum" idx="12"/>
          </p:nvPr>
        </p:nvSpPr>
        <p:spPr/>
        <p:txBody>
          <a:bodyPr/>
          <a:lstStyle/>
          <a:p>
            <a:fld id="{6C6B6B8D-D74E-47CD-B5EE-156060B7CD17}" type="slidenum">
              <a:rPr lang="en-US" smtClean="0"/>
              <a:pPr/>
              <a:t>18</a:t>
            </a:fld>
            <a:endParaRPr lang="en-US"/>
          </a:p>
        </p:txBody>
      </p:sp>
      <p:sp>
        <p:nvSpPr>
          <p:cNvPr id="5" name="Title 4">
            <a:extLst>
              <a:ext uri="{FF2B5EF4-FFF2-40B4-BE49-F238E27FC236}">
                <a16:creationId xmlns:a16="http://schemas.microsoft.com/office/drawing/2014/main" id="{47BEEA45-63E5-7CE5-45F8-6DEC89544EBB}"/>
              </a:ext>
            </a:extLst>
          </p:cNvPr>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ATR72- ATA 21 &amp; ATA36 </a:t>
            </a:r>
            <a:endParaRPr lang="vi-VN" sz="2800"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504DFAD4-69F1-3D80-2DE6-F19DA4798D53}"/>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98E305DA-574E-A889-5B8B-76FF1C18323A}"/>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9ED94B9-2B15-52E5-708F-E1EA9C04C44E}"/>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1. B225 – PACK #1 FAULT – 04 ACM REMOVALS</a:t>
              </a:r>
            </a:p>
          </p:txBody>
        </p:sp>
      </p:grpSp>
      <p:sp>
        <p:nvSpPr>
          <p:cNvPr id="13" name="TextBox 12">
            <a:extLst>
              <a:ext uri="{FF2B5EF4-FFF2-40B4-BE49-F238E27FC236}">
                <a16:creationId xmlns:a16="http://schemas.microsoft.com/office/drawing/2014/main" id="{A603A298-3666-03E7-EE5F-E13E2BE48A61}"/>
              </a:ext>
            </a:extLst>
          </p:cNvPr>
          <p:cNvSpPr txBox="1"/>
          <p:nvPr/>
        </p:nvSpPr>
        <p:spPr>
          <a:xfrm>
            <a:off x="864262" y="1310833"/>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Phân</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tích</a:t>
            </a:r>
            <a:r>
              <a:rPr lang="en-US" b="1" dirty="0">
                <a:solidFill>
                  <a:srgbClr val="006885"/>
                </a:solidFill>
                <a:latin typeface="Montserrat SemiBold"/>
                <a:ea typeface="Cambria" panose="02040503050406030204" pitchFamily="18" charset="0"/>
                <a:cs typeface="Times New Roman" panose="02020603050405020304" pitchFamily="18" charset="0"/>
              </a:rPr>
              <a:t>/</a:t>
            </a:r>
            <a:r>
              <a:rPr lang="en-US" b="1" dirty="0" err="1">
                <a:solidFill>
                  <a:srgbClr val="006885"/>
                </a:solidFill>
                <a:latin typeface="Montserrat SemiBold"/>
                <a:ea typeface="Cambria" panose="02040503050406030204" pitchFamily="18" charset="0"/>
                <a:cs typeface="Times New Roman" panose="02020603050405020304" pitchFamily="18" charset="0"/>
              </a:rPr>
              <a:t>Đánh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giá</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DF173975-7415-D145-8A6C-38CD6D94FBCE}"/>
              </a:ext>
            </a:extLst>
          </p:cNvPr>
          <p:cNvPicPr>
            <a:picLocks noChangeAspect="1"/>
          </p:cNvPicPr>
          <p:nvPr/>
        </p:nvPicPr>
        <p:blipFill>
          <a:blip r:embed="rId3"/>
          <a:stretch>
            <a:fillRect/>
          </a:stretch>
        </p:blipFill>
        <p:spPr>
          <a:xfrm>
            <a:off x="434478" y="1252342"/>
            <a:ext cx="510877" cy="512345"/>
          </a:xfrm>
          <a:prstGeom prst="rect">
            <a:avLst/>
          </a:prstGeom>
        </p:spPr>
      </p:pic>
      <p:sp>
        <p:nvSpPr>
          <p:cNvPr id="27" name="TextBox 26">
            <a:extLst>
              <a:ext uri="{FF2B5EF4-FFF2-40B4-BE49-F238E27FC236}">
                <a16:creationId xmlns:a16="http://schemas.microsoft.com/office/drawing/2014/main" id="{E3F7EDC3-E214-485E-777D-8D82CF1DA4F1}"/>
              </a:ext>
            </a:extLst>
          </p:cNvPr>
          <p:cNvSpPr txBox="1"/>
          <p:nvPr/>
        </p:nvSpPr>
        <p:spPr>
          <a:xfrm>
            <a:off x="434478" y="1850923"/>
            <a:ext cx="8481874" cy="369332"/>
          </a:xfrm>
          <a:prstGeom prst="rect">
            <a:avLst/>
          </a:prstGeom>
          <a:noFill/>
        </p:spPr>
        <p:txBody>
          <a:bodyPr wrap="none" rtlCol="0">
            <a:spAutoFit/>
          </a:bodyPr>
          <a:lstStyle/>
          <a:p>
            <a:r>
              <a:rPr lang="en-US" b="1" dirty="0">
                <a:solidFill>
                  <a:srgbClr val="7030A0"/>
                </a:solidFill>
                <a:latin typeface="Times New Roman" panose="02020603050405020304" pitchFamily="18" charset="0"/>
                <a:cs typeface="Times New Roman" panose="02020603050405020304" pitchFamily="18" charset="0"/>
              </a:rPr>
              <a:t>2, </a:t>
            </a:r>
            <a:r>
              <a:rPr lang="en-US" b="1" dirty="0" err="1">
                <a:solidFill>
                  <a:srgbClr val="7030A0"/>
                </a:solidFill>
                <a:latin typeface="Times New Roman" panose="02020603050405020304" pitchFamily="18" charset="0"/>
                <a:cs typeface="Times New Roman" panose="02020603050405020304" pitchFamily="18" charset="0"/>
              </a:rPr>
              <a:t>Đối</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với</a:t>
            </a:r>
            <a:r>
              <a:rPr lang="en-US" b="1" dirty="0">
                <a:solidFill>
                  <a:srgbClr val="7030A0"/>
                </a:solidFill>
                <a:latin typeface="Times New Roman" panose="02020603050405020304" pitchFamily="18" charset="0"/>
                <a:cs typeface="Times New Roman" panose="02020603050405020304" pitchFamily="18" charset="0"/>
              </a:rPr>
              <a:t> 03 ACM </a:t>
            </a:r>
            <a:r>
              <a:rPr lang="en-US" b="1" dirty="0" err="1">
                <a:solidFill>
                  <a:srgbClr val="7030A0"/>
                </a:solidFill>
                <a:latin typeface="Times New Roman" panose="02020603050405020304" pitchFamily="18" charset="0"/>
                <a:cs typeface="Times New Roman" panose="02020603050405020304" pitchFamily="18" charset="0"/>
              </a:rPr>
              <a:t>tháo</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ra</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lần</a:t>
            </a:r>
            <a:r>
              <a:rPr lang="en-US" b="1" dirty="0">
                <a:solidFill>
                  <a:srgbClr val="7030A0"/>
                </a:solidFill>
                <a:latin typeface="Times New Roman" panose="02020603050405020304" pitchFamily="18" charset="0"/>
                <a:cs typeface="Times New Roman" panose="02020603050405020304" pitchFamily="18" charset="0"/>
              </a:rPr>
              <a:t> </a:t>
            </a:r>
            <a:r>
              <a:rPr lang="en-US" b="1" dirty="0" err="1">
                <a:solidFill>
                  <a:srgbClr val="7030A0"/>
                </a:solidFill>
                <a:latin typeface="Times New Roman" panose="02020603050405020304" pitchFamily="18" charset="0"/>
                <a:cs typeface="Times New Roman" panose="02020603050405020304" pitchFamily="18" charset="0"/>
              </a:rPr>
              <a:t>sau</a:t>
            </a:r>
            <a:r>
              <a:rPr lang="en-US" b="1" dirty="0">
                <a:solidFill>
                  <a:srgbClr val="7030A0"/>
                </a:solidFill>
                <a:latin typeface="Times New Roman" panose="02020603050405020304" pitchFamily="18" charset="0"/>
                <a:cs typeface="Times New Roman" panose="02020603050405020304" pitchFamily="18" charset="0"/>
              </a:rPr>
              <a:t>: SN 2559 (23/02), SN 0785 (03/03), SN 2569 (13/03)</a:t>
            </a:r>
          </a:p>
        </p:txBody>
      </p:sp>
      <p:sp>
        <p:nvSpPr>
          <p:cNvPr id="10" name="TextBox 9">
            <a:extLst>
              <a:ext uri="{FF2B5EF4-FFF2-40B4-BE49-F238E27FC236}">
                <a16:creationId xmlns:a16="http://schemas.microsoft.com/office/drawing/2014/main" id="{AD5C8B3E-8E18-D5C9-BB7E-DC9CDD1E558C}"/>
              </a:ext>
            </a:extLst>
          </p:cNvPr>
          <p:cNvSpPr txBox="1"/>
          <p:nvPr/>
        </p:nvSpPr>
        <p:spPr>
          <a:xfrm>
            <a:off x="689917" y="2306491"/>
            <a:ext cx="7877127" cy="1354217"/>
          </a:xfrm>
          <a:prstGeom prst="rect">
            <a:avLst/>
          </a:prstGeom>
          <a:noFill/>
        </p:spPr>
        <p:txBody>
          <a:bodyPr wrap="square" rtlCol="0">
            <a:spAutoFit/>
          </a:bodyPr>
          <a:lstStyle/>
          <a:p>
            <a:pPr marL="285750" indent="-285750">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hỏng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lặp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ACM</a:t>
            </a:r>
          </a:p>
          <a:p>
            <a:pPr marL="742950" lvl="1"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Do TIC valve </a:t>
            </a:r>
            <a:r>
              <a:rPr lang="en-US" sz="1600" dirty="0" err="1">
                <a:latin typeface="Times New Roman" panose="02020603050405020304" pitchFamily="18" charset="0"/>
                <a:cs typeface="Times New Roman" panose="02020603050405020304" pitchFamily="18" charset="0"/>
              </a:rPr>
              <a:t>lắp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ngày</a:t>
            </a:r>
            <a:r>
              <a:rPr lang="en-US" sz="1600" dirty="0">
                <a:latin typeface="Times New Roman" panose="02020603050405020304" pitchFamily="18" charset="0"/>
                <a:cs typeface="Times New Roman" panose="02020603050405020304" pitchFamily="18" charset="0"/>
              </a:rPr>
              <a:t> 07/02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hóc</a:t>
            </a:r>
            <a:r>
              <a:rPr lang="en-US" sz="1600" dirty="0">
                <a:latin typeface="Times New Roman" panose="02020603050405020304" pitchFamily="18" charset="0"/>
                <a:cs typeface="Times New Roman" panose="02020603050405020304" pitchFamily="18" charset="0"/>
              </a:rPr>
              <a:t>. </a:t>
            </a:r>
          </a:p>
          <a:p>
            <a:pPr marL="742950" lvl="1"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Do Heat exchanger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bẩn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gây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tắc</a:t>
            </a:r>
            <a:r>
              <a:rPr lang="en-US" sz="1600" dirty="0">
                <a:latin typeface="Times New Roman" panose="02020603050405020304" pitchFamily="18" charset="0"/>
                <a:cs typeface="Times New Roman" panose="02020603050405020304" pitchFamily="18" charset="0"/>
              </a:rPr>
              <a:t>. HX này </a:t>
            </a:r>
            <a:r>
              <a:rPr lang="en-US" sz="1600" dirty="0" err="1">
                <a:latin typeface="Times New Roman" panose="02020603050405020304" pitchFamily="18" charset="0"/>
                <a:cs typeface="Times New Roman" panose="02020603050405020304" pitchFamily="18" charset="0"/>
              </a:rPr>
              <a:t>lắp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lên</a:t>
            </a:r>
            <a:r>
              <a:rPr lang="en-US" sz="1600" dirty="0">
                <a:latin typeface="Times New Roman" panose="02020603050405020304" pitchFamily="18" charset="0"/>
                <a:cs typeface="Times New Roman" panose="02020603050405020304" pitchFamily="18" charset="0"/>
              </a:rPr>
              <a:t> B225 </a:t>
            </a:r>
            <a:r>
              <a:rPr lang="en-US" sz="1600" dirty="0" err="1">
                <a:latin typeface="Times New Roman" panose="02020603050405020304" pitchFamily="18" charset="0"/>
                <a:cs typeface="Times New Roman" panose="02020603050405020304" pitchFamily="18" charset="0"/>
              </a:rPr>
              <a:t>từ</a:t>
            </a:r>
            <a:r>
              <a:rPr lang="en-US" sz="1600" dirty="0">
                <a:latin typeface="Times New Roman" panose="02020603050405020304" pitchFamily="18" charset="0"/>
                <a:cs typeface="Times New Roman" panose="02020603050405020304" pitchFamily="18" charset="0"/>
              </a:rPr>
              <a:t> 2021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nằm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trên</a:t>
            </a:r>
            <a:r>
              <a:rPr lang="en-US" sz="1600" dirty="0">
                <a:latin typeface="Times New Roman" panose="02020603050405020304" pitchFamily="18" charset="0"/>
                <a:cs typeface="Times New Roman" panose="02020603050405020304" pitchFamily="18" charset="0"/>
              </a:rPr>
              <a:t> B225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dài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ảnh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hưởng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quản</a:t>
            </a:r>
            <a:endParaRPr lang="en-US" sz="1600" dirty="0">
              <a:latin typeface="Times New Roman" panose="02020603050405020304" pitchFamily="18" charset="0"/>
              <a:cs typeface="Times New Roman" panose="02020603050405020304" pitchFamily="18" charset="0"/>
            </a:endParaRPr>
          </a:p>
          <a:p>
            <a:pPr marL="742950" lvl="1" indent="-285750">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Do Additional De-icing switch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lỗi</a:t>
            </a:r>
            <a:endParaRPr lang="en-US" sz="16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A28FC79F-792A-1A8F-1B12-D0F29056ED65}"/>
              </a:ext>
            </a:extLst>
          </p:cNvPr>
          <p:cNvPicPr>
            <a:picLocks noChangeAspect="1"/>
          </p:cNvPicPr>
          <p:nvPr/>
        </p:nvPicPr>
        <p:blipFill>
          <a:blip r:embed="rId4"/>
          <a:stretch>
            <a:fillRect/>
          </a:stretch>
        </p:blipFill>
        <p:spPr>
          <a:xfrm>
            <a:off x="5618974" y="3870061"/>
            <a:ext cx="2813336" cy="2819400"/>
          </a:xfrm>
          <a:prstGeom prst="rect">
            <a:avLst/>
          </a:prstGeom>
        </p:spPr>
      </p:pic>
      <p:pic>
        <p:nvPicPr>
          <p:cNvPr id="19" name="Picture 18">
            <a:extLst>
              <a:ext uri="{FF2B5EF4-FFF2-40B4-BE49-F238E27FC236}">
                <a16:creationId xmlns:a16="http://schemas.microsoft.com/office/drawing/2014/main" id="{641EAF80-B389-C244-ED75-6244D36AF3E6}"/>
              </a:ext>
            </a:extLst>
          </p:cNvPr>
          <p:cNvPicPr>
            <a:picLocks noChangeAspect="1"/>
          </p:cNvPicPr>
          <p:nvPr/>
        </p:nvPicPr>
        <p:blipFill>
          <a:blip r:embed="rId5"/>
          <a:stretch>
            <a:fillRect/>
          </a:stretch>
        </p:blipFill>
        <p:spPr>
          <a:xfrm>
            <a:off x="163789" y="3777722"/>
            <a:ext cx="4949231" cy="3004078"/>
          </a:xfrm>
          <a:prstGeom prst="rect">
            <a:avLst/>
          </a:prstGeom>
        </p:spPr>
      </p:pic>
      <p:sp>
        <p:nvSpPr>
          <p:cNvPr id="20" name="TextBox 19">
            <a:extLst>
              <a:ext uri="{FF2B5EF4-FFF2-40B4-BE49-F238E27FC236}">
                <a16:creationId xmlns:a16="http://schemas.microsoft.com/office/drawing/2014/main" id="{4C0D0CDA-F311-81BD-B5F0-08D3353500F9}"/>
              </a:ext>
            </a:extLst>
          </p:cNvPr>
          <p:cNvSpPr txBox="1"/>
          <p:nvPr/>
        </p:nvSpPr>
        <p:spPr>
          <a:xfrm>
            <a:off x="5895573" y="5848291"/>
            <a:ext cx="1245854" cy="369332"/>
          </a:xfrm>
          <a:prstGeom prst="rect">
            <a:avLst/>
          </a:prstGeom>
          <a:noFill/>
        </p:spPr>
        <p:txBody>
          <a:bodyPr wrap="none" rtlCol="0">
            <a:spAutoFit/>
          </a:bodyPr>
          <a:lstStyle/>
          <a:p>
            <a:r>
              <a:rPr lang="en-US" dirty="0">
                <a:solidFill>
                  <a:srgbClr val="FFFF00"/>
                </a:solidFill>
              </a:rPr>
              <a:t>HX </a:t>
            </a:r>
            <a:r>
              <a:rPr lang="en-US" dirty="0" err="1">
                <a:solidFill>
                  <a:srgbClr val="FFFF00"/>
                </a:solidFill>
              </a:rPr>
              <a:t>khá</a:t>
            </a:r>
            <a:r>
              <a:rPr lang="en-US" dirty="0">
                <a:solidFill>
                  <a:srgbClr val="FFFF00"/>
                </a:solidFill>
              </a:rPr>
              <a:t> </a:t>
            </a:r>
            <a:r>
              <a:rPr lang="en-US" dirty="0" err="1">
                <a:solidFill>
                  <a:srgbClr val="FFFF00"/>
                </a:solidFill>
              </a:rPr>
              <a:t>bẩn</a:t>
            </a:r>
            <a:endParaRPr lang="en-US" dirty="0">
              <a:solidFill>
                <a:srgbClr val="FFFF00"/>
              </a:solidFill>
            </a:endParaRPr>
          </a:p>
        </p:txBody>
      </p:sp>
      <p:sp>
        <p:nvSpPr>
          <p:cNvPr id="21" name="Arrow: Right 20">
            <a:extLst>
              <a:ext uri="{FF2B5EF4-FFF2-40B4-BE49-F238E27FC236}">
                <a16:creationId xmlns:a16="http://schemas.microsoft.com/office/drawing/2014/main" id="{36B99E5C-C7A4-41D5-A5FF-D2E4E29979EA}"/>
              </a:ext>
            </a:extLst>
          </p:cNvPr>
          <p:cNvSpPr/>
          <p:nvPr/>
        </p:nvSpPr>
        <p:spPr>
          <a:xfrm>
            <a:off x="9288781" y="2522259"/>
            <a:ext cx="388619" cy="10439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312B95E-B2BD-5D57-3D24-2F7E212DBFDB}"/>
              </a:ext>
            </a:extLst>
          </p:cNvPr>
          <p:cNvSpPr txBox="1"/>
          <p:nvPr/>
        </p:nvSpPr>
        <p:spPr>
          <a:xfrm>
            <a:off x="9836458" y="2354182"/>
            <a:ext cx="1822142" cy="1200329"/>
          </a:xfrm>
          <a:prstGeom prst="rect">
            <a:avLst/>
          </a:prstGeom>
          <a:noFill/>
        </p:spPr>
        <p:txBody>
          <a:bodyPr wrap="square" rtlCol="0">
            <a:spAutoFit/>
          </a:bodyPr>
          <a:lstStyle/>
          <a:p>
            <a:r>
              <a:rPr lang="en-US" dirty="0" err="1">
                <a:solidFill>
                  <a:srgbClr val="FF0000"/>
                </a:solidFill>
                <a:latin typeface="Times New Roman" panose="02020603050405020304" pitchFamily="18" charset="0"/>
                <a:cs typeface="Times New Roman" panose="02020603050405020304" pitchFamily="18" charset="0"/>
              </a:rPr>
              <a:t>Đã</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thay</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thế</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các</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thiết</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bị</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vào</a:t>
            </a:r>
            <a:r>
              <a:rPr lang="en-US" dirty="0">
                <a:solidFill>
                  <a:srgbClr val="FF0000"/>
                </a:solidFill>
                <a:latin typeface="Times New Roman" panose="02020603050405020304" pitchFamily="18" charset="0"/>
                <a:cs typeface="Times New Roman" panose="02020603050405020304" pitchFamily="18" charset="0"/>
              </a:rPr>
              <a:t> 13/03 </a:t>
            </a:r>
            <a:r>
              <a:rPr lang="en-US" dirty="0" err="1">
                <a:solidFill>
                  <a:srgbClr val="FF0000"/>
                </a:solidFill>
                <a:latin typeface="Times New Roman" panose="02020603050405020304" pitchFamily="18" charset="0"/>
                <a:cs typeface="Times New Roman" panose="02020603050405020304" pitchFamily="18" charset="0"/>
              </a:rPr>
              <a:t>và</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đang</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theo</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dõi</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thêm</a:t>
            </a:r>
            <a:endParaRPr lang="en-US" dirty="0">
              <a:solidFill>
                <a:srgbClr val="FF0000"/>
              </a:solidFill>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6BFFA170-F7B6-BE91-7D90-011978819842}"/>
              </a:ext>
            </a:extLst>
          </p:cNvPr>
          <p:cNvPicPr>
            <a:picLocks noChangeAspect="1"/>
          </p:cNvPicPr>
          <p:nvPr/>
        </p:nvPicPr>
        <p:blipFill>
          <a:blip r:embed="rId6"/>
          <a:stretch>
            <a:fillRect/>
          </a:stretch>
        </p:blipFill>
        <p:spPr>
          <a:xfrm>
            <a:off x="8567044" y="3907254"/>
            <a:ext cx="3452732" cy="2774210"/>
          </a:xfrm>
          <a:prstGeom prst="rect">
            <a:avLst/>
          </a:prstGeom>
        </p:spPr>
      </p:pic>
      <p:sp>
        <p:nvSpPr>
          <p:cNvPr id="25" name="TextBox 24">
            <a:extLst>
              <a:ext uri="{FF2B5EF4-FFF2-40B4-BE49-F238E27FC236}">
                <a16:creationId xmlns:a16="http://schemas.microsoft.com/office/drawing/2014/main" id="{C5C324B1-4793-AE07-E160-B07C495FF935}"/>
              </a:ext>
            </a:extLst>
          </p:cNvPr>
          <p:cNvSpPr txBox="1"/>
          <p:nvPr/>
        </p:nvSpPr>
        <p:spPr>
          <a:xfrm>
            <a:off x="8745517" y="5848291"/>
            <a:ext cx="3434979" cy="369332"/>
          </a:xfrm>
          <a:prstGeom prst="rect">
            <a:avLst/>
          </a:prstGeom>
          <a:noFill/>
        </p:spPr>
        <p:txBody>
          <a:bodyPr wrap="none" rtlCol="0">
            <a:spAutoFit/>
          </a:bodyPr>
          <a:lstStyle/>
          <a:p>
            <a:r>
              <a:rPr lang="en-US" dirty="0" err="1">
                <a:solidFill>
                  <a:srgbClr val="FFFF00"/>
                </a:solidFill>
              </a:rPr>
              <a:t>Có</a:t>
            </a:r>
            <a:r>
              <a:rPr lang="en-US" dirty="0">
                <a:solidFill>
                  <a:srgbClr val="FFFF00"/>
                </a:solidFill>
              </a:rPr>
              <a:t> </a:t>
            </a:r>
            <a:r>
              <a:rPr lang="en-US" dirty="0" err="1">
                <a:solidFill>
                  <a:srgbClr val="FFFF00"/>
                </a:solidFill>
              </a:rPr>
              <a:t>bụi</a:t>
            </a:r>
            <a:r>
              <a:rPr lang="en-US" dirty="0">
                <a:solidFill>
                  <a:srgbClr val="FFFF00"/>
                </a:solidFill>
              </a:rPr>
              <a:t> &amp; </a:t>
            </a:r>
            <a:r>
              <a:rPr lang="en-US" dirty="0" err="1">
                <a:solidFill>
                  <a:srgbClr val="FFFF00"/>
                </a:solidFill>
              </a:rPr>
              <a:t>mạt</a:t>
            </a:r>
            <a:r>
              <a:rPr lang="en-US" dirty="0">
                <a:solidFill>
                  <a:srgbClr val="FFFF00"/>
                </a:solidFill>
              </a:rPr>
              <a:t> ở Water drain </a:t>
            </a:r>
            <a:r>
              <a:rPr lang="en-US" dirty="0" err="1">
                <a:solidFill>
                  <a:srgbClr val="FFFF00"/>
                </a:solidFill>
              </a:rPr>
              <a:t>của</a:t>
            </a:r>
            <a:r>
              <a:rPr lang="en-US" dirty="0">
                <a:solidFill>
                  <a:srgbClr val="FFFF00"/>
                </a:solidFill>
              </a:rPr>
              <a:t> HX</a:t>
            </a:r>
          </a:p>
        </p:txBody>
      </p:sp>
    </p:spTree>
    <p:extLst>
      <p:ext uri="{BB962C8B-B14F-4D97-AF65-F5344CB8AC3E}">
        <p14:creationId xmlns:p14="http://schemas.microsoft.com/office/powerpoint/2010/main" val="4100675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BD311-EFC6-D10D-8E52-AA2AF4B033E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4A1739-2B3C-F1A3-D874-A5453477C2E7}"/>
              </a:ext>
            </a:extLst>
          </p:cNvPr>
          <p:cNvSpPr>
            <a:spLocks noGrp="1"/>
          </p:cNvSpPr>
          <p:nvPr>
            <p:ph type="sldNum" idx="12"/>
          </p:nvPr>
        </p:nvSpPr>
        <p:spPr/>
        <p:txBody>
          <a:bodyPr/>
          <a:lstStyle/>
          <a:p>
            <a:fld id="{6C6B6B8D-D74E-47CD-B5EE-156060B7CD17}" type="slidenum">
              <a:rPr lang="en-US" smtClean="0"/>
              <a:pPr/>
              <a:t>19</a:t>
            </a:fld>
            <a:endParaRPr lang="en-US"/>
          </a:p>
        </p:txBody>
      </p:sp>
      <p:sp>
        <p:nvSpPr>
          <p:cNvPr id="5" name="Title 4">
            <a:extLst>
              <a:ext uri="{FF2B5EF4-FFF2-40B4-BE49-F238E27FC236}">
                <a16:creationId xmlns:a16="http://schemas.microsoft.com/office/drawing/2014/main" id="{C76B4820-B109-50B4-9E18-D82A63E18FDF}"/>
              </a:ext>
            </a:extLst>
          </p:cNvPr>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ATR72- ATA 21 &amp; ATA36 </a:t>
            </a:r>
            <a:endParaRPr lang="vi-VN" sz="2800"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53404466-12F1-3818-4582-B2EDA5A266C1}"/>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7F9240F6-0274-0381-5875-6908C3404EF2}"/>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C7618EB3-39F6-708A-5D0C-2DC1F4FBAFA8}"/>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2. B225 – AOG 11/Mar - PACK #2 INTERMITTENT – PACK VALVE #2 FAULT</a:t>
              </a:r>
            </a:p>
          </p:txBody>
        </p:sp>
      </p:grpSp>
      <p:sp>
        <p:nvSpPr>
          <p:cNvPr id="10" name="Shape 2">
            <a:extLst>
              <a:ext uri="{FF2B5EF4-FFF2-40B4-BE49-F238E27FC236}">
                <a16:creationId xmlns:a16="http://schemas.microsoft.com/office/drawing/2014/main" id="{2410491F-767F-85CF-B300-575468F3EDE6}"/>
              </a:ext>
            </a:extLst>
          </p:cNvPr>
          <p:cNvSpPr/>
          <p:nvPr/>
        </p:nvSpPr>
        <p:spPr>
          <a:xfrm>
            <a:off x="754558" y="2089838"/>
            <a:ext cx="452239" cy="19050"/>
          </a:xfrm>
          <a:prstGeom prst="roundRect">
            <a:avLst>
              <a:gd name="adj" fmla="val 712232"/>
            </a:avLst>
          </a:prstGeom>
          <a:solidFill>
            <a:srgbClr val="B6DCE1"/>
          </a:solidFill>
          <a:ln/>
        </p:spPr>
      </p:sp>
      <p:sp>
        <p:nvSpPr>
          <p:cNvPr id="11" name="Shape 3">
            <a:extLst>
              <a:ext uri="{FF2B5EF4-FFF2-40B4-BE49-F238E27FC236}">
                <a16:creationId xmlns:a16="http://schemas.microsoft.com/office/drawing/2014/main" id="{0E67DC3C-05BD-CEE1-C695-2C1E575F65F2}"/>
              </a:ext>
            </a:extLst>
          </p:cNvPr>
          <p:cNvSpPr/>
          <p:nvPr/>
        </p:nvSpPr>
        <p:spPr>
          <a:xfrm>
            <a:off x="434478" y="1929798"/>
            <a:ext cx="339130" cy="339130"/>
          </a:xfrm>
          <a:prstGeom prst="roundRect">
            <a:avLst>
              <a:gd name="adj" fmla="val 40008"/>
            </a:avLst>
          </a:prstGeom>
          <a:solidFill>
            <a:srgbClr val="D0F6FB"/>
          </a:solidFill>
          <a:ln w="7620">
            <a:solidFill>
              <a:srgbClr val="B6DCE1"/>
            </a:solidFill>
            <a:prstDash val="solid"/>
          </a:ln>
        </p:spPr>
      </p:sp>
      <p:sp>
        <p:nvSpPr>
          <p:cNvPr id="12" name="Text 4">
            <a:extLst>
              <a:ext uri="{FF2B5EF4-FFF2-40B4-BE49-F238E27FC236}">
                <a16:creationId xmlns:a16="http://schemas.microsoft.com/office/drawing/2014/main" id="{ED0136EB-8813-9A1A-9A9F-A3CD75886C2B}"/>
              </a:ext>
            </a:extLst>
          </p:cNvPr>
          <p:cNvSpPr/>
          <p:nvPr/>
        </p:nvSpPr>
        <p:spPr>
          <a:xfrm>
            <a:off x="490983" y="1958075"/>
            <a:ext cx="226119" cy="282575"/>
          </a:xfrm>
          <a:prstGeom prst="rect">
            <a:avLst/>
          </a:prstGeom>
          <a:noFill/>
          <a:ln/>
        </p:spPr>
        <p:txBody>
          <a:bodyPr wrap="none" lIns="0" tIns="0" rIns="0" bIns="0" rtlCol="0" anchor="t"/>
          <a:lstStyle/>
          <a:p>
            <a:pPr algn="ctr">
              <a:lnSpc>
                <a:spcPts val="1750"/>
              </a:lnSpc>
            </a:pPr>
            <a:r>
              <a:rPr lang="en-US" sz="1750" b="1" dirty="0">
                <a:solidFill>
                  <a:srgbClr val="000000"/>
                </a:solidFill>
                <a:latin typeface="Montserrat Bold" pitchFamily="34" charset="0"/>
                <a:ea typeface="Montserrat Bold" pitchFamily="34" charset="-122"/>
                <a:cs typeface="Montserrat Bold" pitchFamily="34" charset="-120"/>
              </a:rPr>
              <a:t>1</a:t>
            </a:r>
            <a:endParaRPr lang="en-US" sz="1750" dirty="0"/>
          </a:p>
        </p:txBody>
      </p:sp>
      <p:sp>
        <p:nvSpPr>
          <p:cNvPr id="14" name="Text 5">
            <a:extLst>
              <a:ext uri="{FF2B5EF4-FFF2-40B4-BE49-F238E27FC236}">
                <a16:creationId xmlns:a16="http://schemas.microsoft.com/office/drawing/2014/main" id="{4B6CE0C9-7F38-5681-44D1-B5EC5F48B1E8}"/>
              </a:ext>
            </a:extLst>
          </p:cNvPr>
          <p:cNvSpPr/>
          <p:nvPr/>
        </p:nvSpPr>
        <p:spPr>
          <a:xfrm>
            <a:off x="1357808" y="1910946"/>
            <a:ext cx="2102247" cy="235446"/>
          </a:xfrm>
          <a:prstGeom prst="rect">
            <a:avLst/>
          </a:prstGeom>
          <a:noFill/>
          <a:ln/>
        </p:spPr>
        <p:txBody>
          <a:bodyPr wrap="none" lIns="0" tIns="0" rIns="0" bIns="0" rtlCol="0" anchor="t"/>
          <a:lstStyle/>
          <a:p>
            <a:pPr>
              <a:lnSpc>
                <a:spcPts val="1833"/>
              </a:lnSpc>
            </a:pPr>
            <a:r>
              <a:rPr lang="en-US" sz="1458" b="1" dirty="0" err="1">
                <a:solidFill>
                  <a:srgbClr val="007F99"/>
                </a:solidFill>
                <a:latin typeface="Montserrat Bold" pitchFamily="34" charset="0"/>
                <a:ea typeface="Montserrat Bold" pitchFamily="34" charset="-122"/>
                <a:cs typeface="Montserrat Bold" pitchFamily="34" charset="-120"/>
              </a:rPr>
              <a:t>Lỗi</a:t>
            </a:r>
            <a:r>
              <a:rPr lang="en-US" sz="1458" b="1" dirty="0">
                <a:solidFill>
                  <a:srgbClr val="007F99"/>
                </a:solidFill>
                <a:latin typeface="Montserrat Bold" pitchFamily="34" charset="0"/>
                <a:ea typeface="Montserrat Bold" pitchFamily="34" charset="-122"/>
                <a:cs typeface="Montserrat Bold" pitchFamily="34" charset="-120"/>
              </a:rPr>
              <a:t> ban đầu</a:t>
            </a:r>
            <a:endParaRPr lang="en-US" sz="1458" dirty="0"/>
          </a:p>
        </p:txBody>
      </p:sp>
      <p:sp>
        <p:nvSpPr>
          <p:cNvPr id="16" name="Text 6">
            <a:extLst>
              <a:ext uri="{FF2B5EF4-FFF2-40B4-BE49-F238E27FC236}">
                <a16:creationId xmlns:a16="http://schemas.microsoft.com/office/drawing/2014/main" id="{125947B7-E5FC-8846-7CA3-B66F5020B0B5}"/>
              </a:ext>
            </a:extLst>
          </p:cNvPr>
          <p:cNvSpPr/>
          <p:nvPr/>
        </p:nvSpPr>
        <p:spPr>
          <a:xfrm>
            <a:off x="1357808" y="2194836"/>
            <a:ext cx="4797623" cy="482203"/>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67" dirty="0">
                <a:solidFill>
                  <a:srgbClr val="007F99"/>
                </a:solidFill>
                <a:latin typeface="Exo" pitchFamily="34" charset="0"/>
                <a:ea typeface="Exo" pitchFamily="34" charset="-122"/>
                <a:cs typeface="Exo" pitchFamily="34" charset="-120"/>
              </a:rPr>
              <a:t>Hỏng hóc Pack #2 intermittent fault xuất hiện từ 03/03/2025. Đã thực hiện thay Pack valve#2 để khắc phục hỏng hóc.</a:t>
            </a:r>
            <a:endParaRPr lang="en-US" sz="1167" dirty="0"/>
          </a:p>
        </p:txBody>
      </p:sp>
      <p:sp>
        <p:nvSpPr>
          <p:cNvPr id="17" name="Shape 7">
            <a:extLst>
              <a:ext uri="{FF2B5EF4-FFF2-40B4-BE49-F238E27FC236}">
                <a16:creationId xmlns:a16="http://schemas.microsoft.com/office/drawing/2014/main" id="{9FECE9E1-0C29-41B9-60A3-DFB9ABEEEC2C}"/>
              </a:ext>
            </a:extLst>
          </p:cNvPr>
          <p:cNvSpPr/>
          <p:nvPr/>
        </p:nvSpPr>
        <p:spPr>
          <a:xfrm>
            <a:off x="754558" y="2834053"/>
            <a:ext cx="452239" cy="19050"/>
          </a:xfrm>
          <a:prstGeom prst="roundRect">
            <a:avLst>
              <a:gd name="adj" fmla="val 712232"/>
            </a:avLst>
          </a:prstGeom>
          <a:solidFill>
            <a:srgbClr val="B6DCE1"/>
          </a:solidFill>
          <a:ln/>
        </p:spPr>
      </p:sp>
      <p:sp>
        <p:nvSpPr>
          <p:cNvPr id="18" name="Shape 8">
            <a:extLst>
              <a:ext uri="{FF2B5EF4-FFF2-40B4-BE49-F238E27FC236}">
                <a16:creationId xmlns:a16="http://schemas.microsoft.com/office/drawing/2014/main" id="{4BD250F8-2CFE-C2E9-350F-5399EE0F327A}"/>
              </a:ext>
            </a:extLst>
          </p:cNvPr>
          <p:cNvSpPr/>
          <p:nvPr/>
        </p:nvSpPr>
        <p:spPr>
          <a:xfrm>
            <a:off x="434478" y="2674013"/>
            <a:ext cx="339130" cy="339130"/>
          </a:xfrm>
          <a:prstGeom prst="roundRect">
            <a:avLst>
              <a:gd name="adj" fmla="val 40008"/>
            </a:avLst>
          </a:prstGeom>
          <a:solidFill>
            <a:srgbClr val="D0F6FB"/>
          </a:solidFill>
          <a:ln w="7620">
            <a:solidFill>
              <a:srgbClr val="B6DCE1"/>
            </a:solidFill>
            <a:prstDash val="solid"/>
          </a:ln>
        </p:spPr>
      </p:sp>
      <p:sp>
        <p:nvSpPr>
          <p:cNvPr id="19" name="Text 9">
            <a:extLst>
              <a:ext uri="{FF2B5EF4-FFF2-40B4-BE49-F238E27FC236}">
                <a16:creationId xmlns:a16="http://schemas.microsoft.com/office/drawing/2014/main" id="{D703CBA9-7753-CC19-45C4-7E87128DC9F7}"/>
              </a:ext>
            </a:extLst>
          </p:cNvPr>
          <p:cNvSpPr/>
          <p:nvPr/>
        </p:nvSpPr>
        <p:spPr>
          <a:xfrm>
            <a:off x="490983" y="2702291"/>
            <a:ext cx="226119" cy="282575"/>
          </a:xfrm>
          <a:prstGeom prst="rect">
            <a:avLst/>
          </a:prstGeom>
          <a:noFill/>
          <a:ln/>
        </p:spPr>
        <p:txBody>
          <a:bodyPr wrap="none" lIns="0" tIns="0" rIns="0" bIns="0" rtlCol="0" anchor="t"/>
          <a:lstStyle/>
          <a:p>
            <a:pPr algn="ctr">
              <a:lnSpc>
                <a:spcPts val="1750"/>
              </a:lnSpc>
            </a:pPr>
            <a:r>
              <a:rPr lang="en-US" sz="1750" b="1" dirty="0">
                <a:solidFill>
                  <a:srgbClr val="000000"/>
                </a:solidFill>
                <a:latin typeface="Montserrat Bold" pitchFamily="34" charset="0"/>
                <a:ea typeface="Montserrat Bold" pitchFamily="34" charset="-122"/>
                <a:cs typeface="Montserrat Bold" pitchFamily="34" charset="-120"/>
              </a:rPr>
              <a:t>2</a:t>
            </a:r>
            <a:endParaRPr lang="en-US" sz="1750" dirty="0"/>
          </a:p>
        </p:txBody>
      </p:sp>
      <p:sp>
        <p:nvSpPr>
          <p:cNvPr id="20" name="Text 10">
            <a:extLst>
              <a:ext uri="{FF2B5EF4-FFF2-40B4-BE49-F238E27FC236}">
                <a16:creationId xmlns:a16="http://schemas.microsoft.com/office/drawing/2014/main" id="{909FB4AC-3A76-4982-9D17-FD5297FBAFE8}"/>
              </a:ext>
            </a:extLst>
          </p:cNvPr>
          <p:cNvSpPr/>
          <p:nvPr/>
        </p:nvSpPr>
        <p:spPr>
          <a:xfrm>
            <a:off x="1357808" y="2655162"/>
            <a:ext cx="1884363" cy="235446"/>
          </a:xfrm>
          <a:prstGeom prst="rect">
            <a:avLst/>
          </a:prstGeom>
          <a:noFill/>
          <a:ln/>
        </p:spPr>
        <p:txBody>
          <a:bodyPr wrap="none" lIns="0" tIns="0" rIns="0" bIns="0" rtlCol="0" anchor="t"/>
          <a:lstStyle/>
          <a:p>
            <a:pPr>
              <a:lnSpc>
                <a:spcPts val="1833"/>
              </a:lnSpc>
            </a:pPr>
            <a:r>
              <a:rPr lang="en-US" sz="1458" b="1" dirty="0">
                <a:solidFill>
                  <a:srgbClr val="007F99"/>
                </a:solidFill>
                <a:latin typeface="Montserrat Bold" pitchFamily="34" charset="0"/>
                <a:ea typeface="Montserrat Bold" pitchFamily="34" charset="-122"/>
                <a:cs typeface="Montserrat Bold" pitchFamily="34" charset="-120"/>
              </a:rPr>
              <a:t>Thay thế van</a:t>
            </a:r>
            <a:endParaRPr lang="en-US" sz="1458" dirty="0"/>
          </a:p>
        </p:txBody>
      </p:sp>
      <p:sp>
        <p:nvSpPr>
          <p:cNvPr id="21" name="Text 11">
            <a:extLst>
              <a:ext uri="{FF2B5EF4-FFF2-40B4-BE49-F238E27FC236}">
                <a16:creationId xmlns:a16="http://schemas.microsoft.com/office/drawing/2014/main" id="{A80ACD13-B2ED-0E13-5C1D-9FE5D90EE30B}"/>
              </a:ext>
            </a:extLst>
          </p:cNvPr>
          <p:cNvSpPr/>
          <p:nvPr/>
        </p:nvSpPr>
        <p:spPr>
          <a:xfrm>
            <a:off x="1357808" y="2946812"/>
            <a:ext cx="4797623" cy="775264"/>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67" dirty="0">
                <a:solidFill>
                  <a:srgbClr val="007F99"/>
                </a:solidFill>
                <a:latin typeface="Exo" pitchFamily="34" charset="0"/>
                <a:ea typeface="Exo" pitchFamily="34" charset="-122"/>
                <a:cs typeface="Exo" pitchFamily="34" charset="-120"/>
              </a:rPr>
              <a:t>P/N OFF 3214960-3, S/N OFF 1473 ( TSN=22524:25, CSN=25760, TSI=4778:38, CSI = 5885)</a:t>
            </a:r>
          </a:p>
          <a:p>
            <a:pPr marL="171450" indent="-171450">
              <a:buFont typeface="Arial" panose="020B0604020202020204" pitchFamily="34" charset="0"/>
              <a:buChar char="•"/>
            </a:pPr>
            <a:r>
              <a:rPr lang="en-US" sz="1167" dirty="0">
                <a:solidFill>
                  <a:srgbClr val="007F99"/>
                </a:solidFill>
                <a:latin typeface="Exo" pitchFamily="34" charset="0"/>
                <a:ea typeface="Exo" pitchFamily="34" charset="-122"/>
                <a:cs typeface="Exo" pitchFamily="34" charset="-120"/>
              </a:rPr>
              <a:t>P/N ON 3214960-3, S/N ON 1403</a:t>
            </a:r>
            <a:endParaRPr lang="en-US" sz="1167" dirty="0"/>
          </a:p>
        </p:txBody>
      </p:sp>
      <p:sp>
        <p:nvSpPr>
          <p:cNvPr id="22" name="Shape 12">
            <a:extLst>
              <a:ext uri="{FF2B5EF4-FFF2-40B4-BE49-F238E27FC236}">
                <a16:creationId xmlns:a16="http://schemas.microsoft.com/office/drawing/2014/main" id="{5CEDE2D5-27F9-5275-797E-43347A730BAE}"/>
              </a:ext>
            </a:extLst>
          </p:cNvPr>
          <p:cNvSpPr/>
          <p:nvPr/>
        </p:nvSpPr>
        <p:spPr>
          <a:xfrm>
            <a:off x="754558" y="3828522"/>
            <a:ext cx="452239" cy="19050"/>
          </a:xfrm>
          <a:prstGeom prst="roundRect">
            <a:avLst>
              <a:gd name="adj" fmla="val 712232"/>
            </a:avLst>
          </a:prstGeom>
          <a:solidFill>
            <a:srgbClr val="B6DCE1"/>
          </a:solidFill>
          <a:ln/>
        </p:spPr>
      </p:sp>
      <p:sp>
        <p:nvSpPr>
          <p:cNvPr id="23" name="Shape 13">
            <a:extLst>
              <a:ext uri="{FF2B5EF4-FFF2-40B4-BE49-F238E27FC236}">
                <a16:creationId xmlns:a16="http://schemas.microsoft.com/office/drawing/2014/main" id="{7D32A5E1-6DA5-A4FB-6AA3-66AA67AD2F80}"/>
              </a:ext>
            </a:extLst>
          </p:cNvPr>
          <p:cNvSpPr/>
          <p:nvPr/>
        </p:nvSpPr>
        <p:spPr>
          <a:xfrm>
            <a:off x="434478" y="3668482"/>
            <a:ext cx="339130" cy="339130"/>
          </a:xfrm>
          <a:prstGeom prst="roundRect">
            <a:avLst>
              <a:gd name="adj" fmla="val 40008"/>
            </a:avLst>
          </a:prstGeom>
          <a:solidFill>
            <a:srgbClr val="D0F6FB"/>
          </a:solidFill>
          <a:ln w="7620">
            <a:solidFill>
              <a:srgbClr val="B6DCE1"/>
            </a:solidFill>
            <a:prstDash val="solid"/>
          </a:ln>
        </p:spPr>
      </p:sp>
      <p:sp>
        <p:nvSpPr>
          <p:cNvPr id="24" name="Text 14">
            <a:extLst>
              <a:ext uri="{FF2B5EF4-FFF2-40B4-BE49-F238E27FC236}">
                <a16:creationId xmlns:a16="http://schemas.microsoft.com/office/drawing/2014/main" id="{0D5EEFE2-55B3-47E4-A9C7-92CA9199CE40}"/>
              </a:ext>
            </a:extLst>
          </p:cNvPr>
          <p:cNvSpPr/>
          <p:nvPr/>
        </p:nvSpPr>
        <p:spPr>
          <a:xfrm>
            <a:off x="490983" y="3696759"/>
            <a:ext cx="226119" cy="282575"/>
          </a:xfrm>
          <a:prstGeom prst="rect">
            <a:avLst/>
          </a:prstGeom>
          <a:noFill/>
          <a:ln/>
        </p:spPr>
        <p:txBody>
          <a:bodyPr wrap="none" lIns="0" tIns="0" rIns="0" bIns="0" rtlCol="0" anchor="t"/>
          <a:lstStyle/>
          <a:p>
            <a:pPr algn="ctr">
              <a:lnSpc>
                <a:spcPts val="1750"/>
              </a:lnSpc>
            </a:pPr>
            <a:r>
              <a:rPr lang="en-US" sz="1750" b="1" dirty="0">
                <a:solidFill>
                  <a:srgbClr val="000000"/>
                </a:solidFill>
                <a:latin typeface="Montserrat Bold" pitchFamily="34" charset="0"/>
                <a:ea typeface="Montserrat Bold" pitchFamily="34" charset="-122"/>
                <a:cs typeface="Montserrat Bold" pitchFamily="34" charset="-120"/>
              </a:rPr>
              <a:t>3</a:t>
            </a:r>
            <a:endParaRPr lang="en-US" sz="1750" dirty="0"/>
          </a:p>
        </p:txBody>
      </p:sp>
      <p:sp>
        <p:nvSpPr>
          <p:cNvPr id="25" name="Text 15">
            <a:extLst>
              <a:ext uri="{FF2B5EF4-FFF2-40B4-BE49-F238E27FC236}">
                <a16:creationId xmlns:a16="http://schemas.microsoft.com/office/drawing/2014/main" id="{AA2913A0-4E49-F4FD-124C-F16CB2BFD191}"/>
              </a:ext>
            </a:extLst>
          </p:cNvPr>
          <p:cNvSpPr/>
          <p:nvPr/>
        </p:nvSpPr>
        <p:spPr>
          <a:xfrm>
            <a:off x="1357808" y="3649630"/>
            <a:ext cx="2089646" cy="235446"/>
          </a:xfrm>
          <a:prstGeom prst="rect">
            <a:avLst/>
          </a:prstGeom>
          <a:noFill/>
          <a:ln/>
        </p:spPr>
        <p:txBody>
          <a:bodyPr wrap="none" lIns="0" tIns="0" rIns="0" bIns="0" rtlCol="0" anchor="t"/>
          <a:lstStyle/>
          <a:p>
            <a:pPr>
              <a:lnSpc>
                <a:spcPts val="1833"/>
              </a:lnSpc>
            </a:pPr>
            <a:r>
              <a:rPr lang="en-US" sz="1458" b="1" dirty="0">
                <a:solidFill>
                  <a:srgbClr val="007F99"/>
                </a:solidFill>
                <a:latin typeface="Montserrat Bold" pitchFamily="34" charset="0"/>
                <a:ea typeface="Montserrat Bold" pitchFamily="34" charset="-122"/>
                <a:cs typeface="Montserrat Bold" pitchFamily="34" charset="-120"/>
              </a:rPr>
              <a:t>Lỗi tiếp tục xuất hiện</a:t>
            </a:r>
            <a:endParaRPr lang="en-US" sz="1458" dirty="0"/>
          </a:p>
        </p:txBody>
      </p:sp>
      <p:sp>
        <p:nvSpPr>
          <p:cNvPr id="26" name="Text 16">
            <a:extLst>
              <a:ext uri="{FF2B5EF4-FFF2-40B4-BE49-F238E27FC236}">
                <a16:creationId xmlns:a16="http://schemas.microsoft.com/office/drawing/2014/main" id="{F0ACE9E8-36E7-A56E-2524-77A1C7107E73}"/>
              </a:ext>
            </a:extLst>
          </p:cNvPr>
          <p:cNvSpPr/>
          <p:nvPr/>
        </p:nvSpPr>
        <p:spPr>
          <a:xfrm>
            <a:off x="1357808" y="3953696"/>
            <a:ext cx="4797623" cy="500053"/>
          </a:xfrm>
          <a:prstGeom prst="rect">
            <a:avLst/>
          </a:prstGeom>
          <a:noFill/>
          <a:ln/>
        </p:spPr>
        <p:txBody>
          <a:bodyPr wrap="none" lIns="0" tIns="0" rIns="0" bIns="0" rtlCol="0" anchor="t"/>
          <a:lstStyle/>
          <a:p>
            <a:pPr marL="171450" indent="-171450">
              <a:buFont typeface="Wingdings" panose="05000000000000000000" pitchFamily="2" charset="2"/>
              <a:buChar char="§"/>
            </a:pPr>
            <a:r>
              <a:rPr lang="en-US" sz="1167" dirty="0" err="1">
                <a:solidFill>
                  <a:srgbClr val="007F99"/>
                </a:solidFill>
                <a:latin typeface="Exo" pitchFamily="34" charset="0"/>
                <a:ea typeface="Exo" pitchFamily="34" charset="-122"/>
                <a:cs typeface="Exo" pitchFamily="34" charset="-120"/>
              </a:rPr>
              <a:t>Ngày</a:t>
            </a:r>
            <a:r>
              <a:rPr lang="en-US" sz="1167" dirty="0">
                <a:solidFill>
                  <a:srgbClr val="007F99"/>
                </a:solidFill>
                <a:latin typeface="Exo" pitchFamily="34" charset="0"/>
                <a:ea typeface="Exo" pitchFamily="34" charset="-122"/>
                <a:cs typeface="Exo" pitchFamily="34" charset="-120"/>
              </a:rPr>
              <a:t> 11/03/2025, tổ bay phản ánh pack valve #2 fault. </a:t>
            </a:r>
          </a:p>
          <a:p>
            <a:r>
              <a:rPr lang="en-US" sz="1167" dirty="0">
                <a:solidFill>
                  <a:srgbClr val="007F99"/>
                </a:solidFill>
                <a:latin typeface="Exo" pitchFamily="34" charset="0"/>
                <a:ea typeface="Exo" pitchFamily="34" charset="-122"/>
                <a:cs typeface="Exo" pitchFamily="34" charset="-120"/>
              </a:rPr>
              <a:t>=&gt; </a:t>
            </a:r>
            <a:r>
              <a:rPr lang="en-US" sz="1167" dirty="0" err="1">
                <a:solidFill>
                  <a:srgbClr val="007F99"/>
                </a:solidFill>
                <a:latin typeface="Exo" pitchFamily="34" charset="0"/>
                <a:ea typeface="Exo" pitchFamily="34" charset="-122"/>
                <a:cs typeface="Exo" pitchFamily="34" charset="-120"/>
              </a:rPr>
              <a:t>tàu</a:t>
            </a:r>
            <a:r>
              <a:rPr lang="en-US" sz="1167" dirty="0">
                <a:solidFill>
                  <a:srgbClr val="007F99"/>
                </a:solidFill>
                <a:latin typeface="Exo" pitchFamily="34" charset="0"/>
                <a:ea typeface="Exo" pitchFamily="34" charset="-122"/>
                <a:cs typeface="Exo" pitchFamily="34" charset="-120"/>
              </a:rPr>
              <a:t> AOG </a:t>
            </a:r>
            <a:r>
              <a:rPr lang="en-US" sz="1167" dirty="0" err="1">
                <a:solidFill>
                  <a:srgbClr val="007F99"/>
                </a:solidFill>
                <a:latin typeface="Exo" pitchFamily="34" charset="0"/>
                <a:ea typeface="Exo" pitchFamily="34" charset="-122"/>
                <a:cs typeface="Exo" pitchFamily="34" charset="-120"/>
              </a:rPr>
              <a:t>để</a:t>
            </a:r>
            <a:r>
              <a:rPr lang="en-US" sz="1167" dirty="0">
                <a:solidFill>
                  <a:srgbClr val="007F99"/>
                </a:solidFill>
                <a:latin typeface="Exo" pitchFamily="34" charset="0"/>
                <a:ea typeface="Exo" pitchFamily="34" charset="-122"/>
                <a:cs typeface="Exo" pitchFamily="34" charset="-120"/>
              </a:rPr>
              <a:t> </a:t>
            </a:r>
            <a:r>
              <a:rPr lang="en-US" sz="1167" dirty="0" err="1">
                <a:solidFill>
                  <a:srgbClr val="007F99"/>
                </a:solidFill>
                <a:latin typeface="Exo" pitchFamily="34" charset="0"/>
                <a:ea typeface="Exo" pitchFamily="34" charset="-122"/>
                <a:cs typeface="Exo" pitchFamily="34" charset="-120"/>
              </a:rPr>
              <a:t>khắc</a:t>
            </a:r>
            <a:r>
              <a:rPr lang="en-US" sz="1167" dirty="0">
                <a:solidFill>
                  <a:srgbClr val="007F99"/>
                </a:solidFill>
                <a:latin typeface="Exo" pitchFamily="34" charset="0"/>
                <a:ea typeface="Exo" pitchFamily="34" charset="-122"/>
                <a:cs typeface="Exo" pitchFamily="34" charset="-120"/>
              </a:rPr>
              <a:t> </a:t>
            </a:r>
            <a:r>
              <a:rPr lang="en-US" sz="1167" dirty="0" err="1">
                <a:solidFill>
                  <a:srgbClr val="007F99"/>
                </a:solidFill>
                <a:latin typeface="Exo" pitchFamily="34" charset="0"/>
                <a:ea typeface="Exo" pitchFamily="34" charset="-122"/>
                <a:cs typeface="Exo" pitchFamily="34" charset="-120"/>
              </a:rPr>
              <a:t>phục</a:t>
            </a:r>
            <a:r>
              <a:rPr lang="en-US" sz="1167" dirty="0">
                <a:solidFill>
                  <a:srgbClr val="007F99"/>
                </a:solidFill>
                <a:latin typeface="Exo" pitchFamily="34" charset="0"/>
                <a:ea typeface="Exo" pitchFamily="34" charset="-122"/>
                <a:cs typeface="Exo" pitchFamily="34" charset="-120"/>
              </a:rPr>
              <a:t> </a:t>
            </a:r>
            <a:endParaRPr lang="en-US" sz="1167" dirty="0"/>
          </a:p>
        </p:txBody>
      </p:sp>
      <p:sp>
        <p:nvSpPr>
          <p:cNvPr id="27" name="Shape 17">
            <a:extLst>
              <a:ext uri="{FF2B5EF4-FFF2-40B4-BE49-F238E27FC236}">
                <a16:creationId xmlns:a16="http://schemas.microsoft.com/office/drawing/2014/main" id="{C17356AC-71A6-1CF2-DC35-F0A0A6E72705}"/>
              </a:ext>
            </a:extLst>
          </p:cNvPr>
          <p:cNvSpPr/>
          <p:nvPr/>
        </p:nvSpPr>
        <p:spPr>
          <a:xfrm>
            <a:off x="754558" y="4678562"/>
            <a:ext cx="452239" cy="19050"/>
          </a:xfrm>
          <a:prstGeom prst="roundRect">
            <a:avLst>
              <a:gd name="adj" fmla="val 712232"/>
            </a:avLst>
          </a:prstGeom>
          <a:solidFill>
            <a:srgbClr val="B6DCE1"/>
          </a:solidFill>
          <a:ln/>
        </p:spPr>
      </p:sp>
      <p:sp>
        <p:nvSpPr>
          <p:cNvPr id="28" name="Shape 18">
            <a:extLst>
              <a:ext uri="{FF2B5EF4-FFF2-40B4-BE49-F238E27FC236}">
                <a16:creationId xmlns:a16="http://schemas.microsoft.com/office/drawing/2014/main" id="{859B778F-EA69-DCC4-48ED-ECA4005E5EA5}"/>
              </a:ext>
            </a:extLst>
          </p:cNvPr>
          <p:cNvSpPr/>
          <p:nvPr/>
        </p:nvSpPr>
        <p:spPr>
          <a:xfrm>
            <a:off x="434478" y="4518522"/>
            <a:ext cx="339130" cy="339130"/>
          </a:xfrm>
          <a:prstGeom prst="roundRect">
            <a:avLst>
              <a:gd name="adj" fmla="val 40008"/>
            </a:avLst>
          </a:prstGeom>
          <a:solidFill>
            <a:srgbClr val="D0F6FB"/>
          </a:solidFill>
          <a:ln w="7620">
            <a:solidFill>
              <a:srgbClr val="B6DCE1"/>
            </a:solidFill>
            <a:prstDash val="solid"/>
          </a:ln>
        </p:spPr>
      </p:sp>
      <p:sp>
        <p:nvSpPr>
          <p:cNvPr id="29" name="Text 19">
            <a:extLst>
              <a:ext uri="{FF2B5EF4-FFF2-40B4-BE49-F238E27FC236}">
                <a16:creationId xmlns:a16="http://schemas.microsoft.com/office/drawing/2014/main" id="{4ABE2B8A-AF93-DC8D-7625-D549374FCFB4}"/>
              </a:ext>
            </a:extLst>
          </p:cNvPr>
          <p:cNvSpPr/>
          <p:nvPr/>
        </p:nvSpPr>
        <p:spPr>
          <a:xfrm>
            <a:off x="490983" y="4546799"/>
            <a:ext cx="226119" cy="282575"/>
          </a:xfrm>
          <a:prstGeom prst="rect">
            <a:avLst/>
          </a:prstGeom>
          <a:noFill/>
          <a:ln/>
        </p:spPr>
        <p:txBody>
          <a:bodyPr wrap="none" lIns="0" tIns="0" rIns="0" bIns="0" rtlCol="0" anchor="t"/>
          <a:lstStyle/>
          <a:p>
            <a:pPr algn="ctr">
              <a:lnSpc>
                <a:spcPts val="1750"/>
              </a:lnSpc>
            </a:pPr>
            <a:r>
              <a:rPr lang="en-US" sz="1750" b="1" dirty="0">
                <a:solidFill>
                  <a:srgbClr val="000000"/>
                </a:solidFill>
                <a:latin typeface="Montserrat Bold" pitchFamily="34" charset="0"/>
                <a:ea typeface="Montserrat Bold" pitchFamily="34" charset="-122"/>
                <a:cs typeface="Montserrat Bold" pitchFamily="34" charset="-120"/>
              </a:rPr>
              <a:t>4</a:t>
            </a:r>
            <a:endParaRPr lang="en-US" sz="1750" dirty="0"/>
          </a:p>
        </p:txBody>
      </p:sp>
      <p:sp>
        <p:nvSpPr>
          <p:cNvPr id="30" name="Text 20">
            <a:extLst>
              <a:ext uri="{FF2B5EF4-FFF2-40B4-BE49-F238E27FC236}">
                <a16:creationId xmlns:a16="http://schemas.microsoft.com/office/drawing/2014/main" id="{2D937621-06C9-CD91-3B84-1C9EB295879B}"/>
              </a:ext>
            </a:extLst>
          </p:cNvPr>
          <p:cNvSpPr/>
          <p:nvPr/>
        </p:nvSpPr>
        <p:spPr>
          <a:xfrm>
            <a:off x="1357808" y="4499670"/>
            <a:ext cx="1884363" cy="235446"/>
          </a:xfrm>
          <a:prstGeom prst="rect">
            <a:avLst/>
          </a:prstGeom>
          <a:noFill/>
          <a:ln/>
        </p:spPr>
        <p:txBody>
          <a:bodyPr wrap="none" lIns="0" tIns="0" rIns="0" bIns="0" rtlCol="0" anchor="t"/>
          <a:lstStyle/>
          <a:p>
            <a:pPr>
              <a:lnSpc>
                <a:spcPts val="1833"/>
              </a:lnSpc>
            </a:pPr>
            <a:r>
              <a:rPr lang="en-US" sz="1458" b="1" dirty="0">
                <a:solidFill>
                  <a:srgbClr val="007F99"/>
                </a:solidFill>
                <a:latin typeface="Montserrat Bold" pitchFamily="34" charset="0"/>
                <a:ea typeface="Montserrat Bold" pitchFamily="34" charset="-122"/>
                <a:cs typeface="Montserrat Bold" pitchFamily="34" charset="-120"/>
              </a:rPr>
              <a:t>Swap để xác định</a:t>
            </a:r>
            <a:endParaRPr lang="en-US" sz="1458" dirty="0"/>
          </a:p>
        </p:txBody>
      </p:sp>
      <p:sp>
        <p:nvSpPr>
          <p:cNvPr id="31" name="Text 21">
            <a:extLst>
              <a:ext uri="{FF2B5EF4-FFF2-40B4-BE49-F238E27FC236}">
                <a16:creationId xmlns:a16="http://schemas.microsoft.com/office/drawing/2014/main" id="{C6603090-4051-1E74-F745-F93C284A8340}"/>
              </a:ext>
            </a:extLst>
          </p:cNvPr>
          <p:cNvSpPr/>
          <p:nvPr/>
        </p:nvSpPr>
        <p:spPr>
          <a:xfrm>
            <a:off x="1357808" y="4859690"/>
            <a:ext cx="4797623" cy="723305"/>
          </a:xfrm>
          <a:prstGeom prst="rect">
            <a:avLst/>
          </a:prstGeom>
          <a:noFill/>
          <a:ln/>
        </p:spPr>
        <p:txBody>
          <a:bodyPr wrap="square" lIns="0" tIns="0" rIns="0" bIns="0" rtlCol="0" anchor="t"/>
          <a:lstStyle/>
          <a:p>
            <a:r>
              <a:rPr lang="en-US" sz="1167" dirty="0">
                <a:solidFill>
                  <a:srgbClr val="007F99"/>
                </a:solidFill>
                <a:latin typeface="Exo" pitchFamily="34" charset="0"/>
                <a:ea typeface="Exo" pitchFamily="34" charset="-122"/>
                <a:cs typeface="Exo" pitchFamily="34" charset="-120"/>
              </a:rPr>
              <a:t>Sau swap pack valve #2 và Pack valve #1, thì hỏng hóc nhảy sang Pack valve#1 </a:t>
            </a:r>
          </a:p>
          <a:p>
            <a:r>
              <a:rPr lang="en-US" sz="1167" dirty="0">
                <a:solidFill>
                  <a:srgbClr val="FF0000"/>
                </a:solidFill>
                <a:latin typeface="Exo" pitchFamily="34" charset="0"/>
                <a:ea typeface="Exo" pitchFamily="34" charset="-122"/>
                <a:cs typeface="Exo" pitchFamily="34" charset="-120"/>
              </a:rPr>
              <a:t>=&gt; nghi ngờ khối pack valve #2 lắp lên hôm 03/03/2025 bị hỏng.</a:t>
            </a:r>
            <a:endParaRPr lang="en-US" sz="1167" dirty="0">
              <a:solidFill>
                <a:srgbClr val="FF0000"/>
              </a:solidFill>
            </a:endParaRPr>
          </a:p>
        </p:txBody>
      </p:sp>
      <p:sp>
        <p:nvSpPr>
          <p:cNvPr id="36" name="Rectangle 35">
            <a:extLst>
              <a:ext uri="{FF2B5EF4-FFF2-40B4-BE49-F238E27FC236}">
                <a16:creationId xmlns:a16="http://schemas.microsoft.com/office/drawing/2014/main" id="{9CD9AEC1-E4A7-E637-EE8F-C5F7D62FEEBE}"/>
              </a:ext>
            </a:extLst>
          </p:cNvPr>
          <p:cNvSpPr/>
          <p:nvPr/>
        </p:nvSpPr>
        <p:spPr>
          <a:xfrm>
            <a:off x="300254" y="1500997"/>
            <a:ext cx="6108935" cy="524142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A0386FD-0AB1-067B-94F3-1DDC8B6A2FA9}"/>
              </a:ext>
            </a:extLst>
          </p:cNvPr>
          <p:cNvSpPr txBox="1"/>
          <p:nvPr/>
        </p:nvSpPr>
        <p:spPr>
          <a:xfrm>
            <a:off x="408664" y="1242558"/>
            <a:ext cx="2512226"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marL="285750" indent="-285750">
              <a:buFont typeface="Wingdings" panose="05000000000000000000" pitchFamily="2" charset="2"/>
              <a:buChar char="q"/>
            </a:pPr>
            <a:r>
              <a:rPr lang="en-US" b="1" dirty="0" err="1">
                <a:solidFill>
                  <a:srgbClr val="006885"/>
                </a:solidFill>
                <a:latin typeface="Montserrat SemiBold"/>
                <a:ea typeface="Cambria" panose="02040503050406030204" pitchFamily="18" charset="0"/>
                <a:cs typeface="Times New Roman" panose="02020603050405020304" pitchFamily="18" charset="0"/>
              </a:rPr>
              <a:t>Lịch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sử</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hỏng</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hóc</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9507DBA4-2907-5E84-C47C-32CD5CA290B4}"/>
              </a:ext>
            </a:extLst>
          </p:cNvPr>
          <p:cNvSpPr/>
          <p:nvPr/>
        </p:nvSpPr>
        <p:spPr>
          <a:xfrm>
            <a:off x="6560200" y="1479527"/>
            <a:ext cx="5545607" cy="52628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4239E0A7-F091-FF32-4C68-FC4A55718BF5}"/>
              </a:ext>
            </a:extLst>
          </p:cNvPr>
          <p:cNvSpPr txBox="1"/>
          <p:nvPr/>
        </p:nvSpPr>
        <p:spPr>
          <a:xfrm>
            <a:off x="6662788" y="1247993"/>
            <a:ext cx="3132112" cy="369332"/>
          </a:xfrm>
          <a:prstGeom prst="rect">
            <a:avLst/>
          </a:prstGeom>
          <a:solidFill>
            <a:schemeClr val="bg1"/>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lvl="0" indent="-285750" algn="just">
              <a:spcBef>
                <a:spcPts val="600"/>
              </a:spcBef>
              <a:buFont typeface="Wingdings" panose="05000000000000000000" pitchFamily="2" charset="2"/>
              <a:buChar char="v"/>
              <a:defRPr/>
            </a:pPr>
            <a:r>
              <a:rPr lang="en-US" b="1" dirty="0" err="1">
                <a:solidFill>
                  <a:srgbClr val="006885"/>
                </a:solidFill>
                <a:latin typeface="Montserrat SemiBold"/>
                <a:ea typeface="Cambria" panose="02040503050406030204" pitchFamily="18" charset="0"/>
                <a:cs typeface="Times New Roman" panose="02020603050405020304" pitchFamily="18" charset="0"/>
              </a:rPr>
              <a:t>Phân</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tích</a:t>
            </a:r>
            <a:r>
              <a:rPr lang="en-US" b="1" dirty="0">
                <a:solidFill>
                  <a:srgbClr val="006885"/>
                </a:solidFill>
                <a:latin typeface="Montserrat SemiBold"/>
                <a:ea typeface="Cambria" panose="02040503050406030204" pitchFamily="18" charset="0"/>
                <a:cs typeface="Times New Roman" panose="02020603050405020304" pitchFamily="18" charset="0"/>
              </a:rPr>
              <a:t>/</a:t>
            </a:r>
            <a:r>
              <a:rPr lang="en-US" b="1" dirty="0" err="1">
                <a:solidFill>
                  <a:srgbClr val="006885"/>
                </a:solidFill>
                <a:latin typeface="Montserrat SemiBold"/>
                <a:ea typeface="Cambria" panose="02040503050406030204" pitchFamily="18" charset="0"/>
                <a:cs typeface="Times New Roman" panose="02020603050405020304" pitchFamily="18" charset="0"/>
              </a:rPr>
              <a:t>Đánh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giá</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sp>
        <p:nvSpPr>
          <p:cNvPr id="45" name="Text 3">
            <a:extLst>
              <a:ext uri="{FF2B5EF4-FFF2-40B4-BE49-F238E27FC236}">
                <a16:creationId xmlns:a16="http://schemas.microsoft.com/office/drawing/2014/main" id="{05F83628-26D3-9493-7FEF-FC22C4DB6969}"/>
              </a:ext>
            </a:extLst>
          </p:cNvPr>
          <p:cNvSpPr/>
          <p:nvPr/>
        </p:nvSpPr>
        <p:spPr>
          <a:xfrm>
            <a:off x="7479838" y="2202894"/>
            <a:ext cx="4621006" cy="677443"/>
          </a:xfrm>
          <a:prstGeom prst="rect">
            <a:avLst/>
          </a:prstGeom>
          <a:noFill/>
          <a:ln/>
        </p:spPr>
        <p:txBody>
          <a:bodyPr wrap="square" lIns="0" tIns="0" rIns="0" bIns="0" rtlCol="0" anchor="t"/>
          <a:lstStyle/>
          <a:p>
            <a:r>
              <a:rPr lang="en-US" sz="1167" dirty="0" err="1">
                <a:solidFill>
                  <a:srgbClr val="007F99"/>
                </a:solidFill>
                <a:latin typeface="Exo" pitchFamily="34" charset="0"/>
              </a:rPr>
              <a:t>Được</a:t>
            </a:r>
            <a:r>
              <a:rPr lang="en-US" sz="1167" dirty="0">
                <a:solidFill>
                  <a:srgbClr val="007F99"/>
                </a:solidFill>
                <a:latin typeface="Exo" pitchFamily="34" charset="0"/>
              </a:rPr>
              <a:t> Ban QLVT mua cũ từ 25/02/2025, lần đi shop gần nhất, thực hiện OVH vào 28/03/2024 (không phải do OEM Honeywell thực hiện)</a:t>
            </a:r>
          </a:p>
        </p:txBody>
      </p:sp>
      <p:sp>
        <p:nvSpPr>
          <p:cNvPr id="46" name="Shape 2">
            <a:extLst>
              <a:ext uri="{FF2B5EF4-FFF2-40B4-BE49-F238E27FC236}">
                <a16:creationId xmlns:a16="http://schemas.microsoft.com/office/drawing/2014/main" id="{3BB85B28-5A1A-09FC-ECB7-E8F2E0A3CCCD}"/>
              </a:ext>
            </a:extLst>
          </p:cNvPr>
          <p:cNvSpPr/>
          <p:nvPr/>
        </p:nvSpPr>
        <p:spPr>
          <a:xfrm>
            <a:off x="6974339" y="2038393"/>
            <a:ext cx="452239" cy="19050"/>
          </a:xfrm>
          <a:prstGeom prst="roundRect">
            <a:avLst>
              <a:gd name="adj" fmla="val 712232"/>
            </a:avLst>
          </a:prstGeom>
          <a:solidFill>
            <a:srgbClr val="B6DCE1"/>
          </a:solidFill>
          <a:ln/>
        </p:spPr>
      </p:sp>
      <p:sp>
        <p:nvSpPr>
          <p:cNvPr id="47" name="Shape 3">
            <a:extLst>
              <a:ext uri="{FF2B5EF4-FFF2-40B4-BE49-F238E27FC236}">
                <a16:creationId xmlns:a16="http://schemas.microsoft.com/office/drawing/2014/main" id="{08B22680-5C8A-1B5E-5CEA-4813A81506AE}"/>
              </a:ext>
            </a:extLst>
          </p:cNvPr>
          <p:cNvSpPr/>
          <p:nvPr/>
        </p:nvSpPr>
        <p:spPr>
          <a:xfrm>
            <a:off x="6654259" y="1878353"/>
            <a:ext cx="339130" cy="339130"/>
          </a:xfrm>
          <a:prstGeom prst="roundRect">
            <a:avLst>
              <a:gd name="adj" fmla="val 40008"/>
            </a:avLst>
          </a:prstGeom>
          <a:solidFill>
            <a:srgbClr val="D0F6FB"/>
          </a:solidFill>
          <a:ln w="7620">
            <a:solidFill>
              <a:srgbClr val="B6DCE1"/>
            </a:solidFill>
            <a:prstDash val="solid"/>
          </a:ln>
        </p:spPr>
      </p:sp>
      <p:sp>
        <p:nvSpPr>
          <p:cNvPr id="48" name="TextBox 47">
            <a:extLst>
              <a:ext uri="{FF2B5EF4-FFF2-40B4-BE49-F238E27FC236}">
                <a16:creationId xmlns:a16="http://schemas.microsoft.com/office/drawing/2014/main" id="{E65A27E8-E286-B46F-41B3-913D424708DD}"/>
              </a:ext>
            </a:extLst>
          </p:cNvPr>
          <p:cNvSpPr txBox="1"/>
          <p:nvPr/>
        </p:nvSpPr>
        <p:spPr>
          <a:xfrm>
            <a:off x="7426578" y="1768322"/>
            <a:ext cx="4465168" cy="375744"/>
          </a:xfrm>
          <a:prstGeom prst="rect">
            <a:avLst/>
          </a:prstGeom>
          <a:noFill/>
        </p:spPr>
        <p:txBody>
          <a:bodyPr wrap="square">
            <a:spAutoFit/>
          </a:bodyPr>
          <a:lstStyle/>
          <a:p>
            <a:pPr>
              <a:lnSpc>
                <a:spcPts val="2375"/>
              </a:lnSpc>
            </a:pPr>
            <a:r>
              <a:rPr lang="en-US" sz="1458" b="1" dirty="0" err="1">
                <a:solidFill>
                  <a:srgbClr val="007F99"/>
                </a:solidFill>
                <a:latin typeface="Montserrat Bold" pitchFamily="34" charset="0"/>
                <a:ea typeface="Montserrat Bold" pitchFamily="34" charset="-122"/>
              </a:rPr>
              <a:t>Khối</a:t>
            </a:r>
            <a:r>
              <a:rPr lang="en-US" sz="1458" b="1" dirty="0">
                <a:solidFill>
                  <a:srgbClr val="007F99"/>
                </a:solidFill>
                <a:latin typeface="Montserrat Bold" pitchFamily="34" charset="0"/>
                <a:ea typeface="Montserrat Bold" pitchFamily="34" charset="-122"/>
              </a:rPr>
              <a:t> pack valve S/N ON 1403: </a:t>
            </a:r>
          </a:p>
        </p:txBody>
      </p:sp>
      <p:sp>
        <p:nvSpPr>
          <p:cNvPr id="49" name="TextBox 48">
            <a:extLst>
              <a:ext uri="{FF2B5EF4-FFF2-40B4-BE49-F238E27FC236}">
                <a16:creationId xmlns:a16="http://schemas.microsoft.com/office/drawing/2014/main" id="{4AFB339D-6480-6469-F8EC-81E559662E12}"/>
              </a:ext>
            </a:extLst>
          </p:cNvPr>
          <p:cNvSpPr txBox="1"/>
          <p:nvPr/>
        </p:nvSpPr>
        <p:spPr>
          <a:xfrm>
            <a:off x="6691703" y="1863252"/>
            <a:ext cx="301686" cy="369332"/>
          </a:xfrm>
          <a:prstGeom prst="rect">
            <a:avLst/>
          </a:prstGeom>
          <a:noFill/>
        </p:spPr>
        <p:txBody>
          <a:bodyPr wrap="none" rtlCol="0">
            <a:spAutoFit/>
          </a:bodyPr>
          <a:lstStyle/>
          <a:p>
            <a:r>
              <a:rPr lang="en-US" b="1" dirty="0"/>
              <a:t>1</a:t>
            </a:r>
          </a:p>
        </p:txBody>
      </p:sp>
      <p:sp>
        <p:nvSpPr>
          <p:cNvPr id="51" name="TextBox 50">
            <a:extLst>
              <a:ext uri="{FF2B5EF4-FFF2-40B4-BE49-F238E27FC236}">
                <a16:creationId xmlns:a16="http://schemas.microsoft.com/office/drawing/2014/main" id="{E9B7AA0E-843F-D48F-B976-8A000EE142A0}"/>
              </a:ext>
            </a:extLst>
          </p:cNvPr>
          <p:cNvSpPr txBox="1"/>
          <p:nvPr/>
        </p:nvSpPr>
        <p:spPr>
          <a:xfrm>
            <a:off x="7466743" y="3011847"/>
            <a:ext cx="4548374" cy="461665"/>
          </a:xfrm>
          <a:prstGeom prst="rect">
            <a:avLst/>
          </a:prstGeom>
          <a:noFill/>
        </p:spPr>
        <p:txBody>
          <a:bodyPr wrap="square">
            <a:spAutoFit/>
          </a:bodyPr>
          <a:lstStyle/>
          <a:p>
            <a:pPr marL="0" indent="0" algn="l">
              <a:buNone/>
            </a:pPr>
            <a:r>
              <a:rPr lang="en-US" sz="1167" dirty="0" err="1">
                <a:solidFill>
                  <a:srgbClr val="007F99"/>
                </a:solidFill>
                <a:latin typeface="Exo" pitchFamily="34" charset="0"/>
              </a:rPr>
              <a:t>Tính</a:t>
            </a:r>
            <a:r>
              <a:rPr lang="en-US" sz="1167" dirty="0">
                <a:solidFill>
                  <a:srgbClr val="007F99"/>
                </a:solidFill>
                <a:latin typeface="Exo" pitchFamily="34" charset="0"/>
              </a:rPr>
              <a:t> </a:t>
            </a:r>
            <a:r>
              <a:rPr lang="en-US" sz="1167" dirty="0" err="1">
                <a:solidFill>
                  <a:srgbClr val="007F99"/>
                </a:solidFill>
                <a:latin typeface="Exo" pitchFamily="34" charset="0"/>
              </a:rPr>
              <a:t>từ</a:t>
            </a:r>
            <a:r>
              <a:rPr lang="en-US" sz="1167" dirty="0">
                <a:solidFill>
                  <a:srgbClr val="007F99"/>
                </a:solidFill>
                <a:latin typeface="Exo" pitchFamily="34" charset="0"/>
              </a:rPr>
              <a:t> 2020 </a:t>
            </a:r>
            <a:r>
              <a:rPr lang="en-US" sz="1167" dirty="0" err="1">
                <a:solidFill>
                  <a:srgbClr val="007F99"/>
                </a:solidFill>
                <a:latin typeface="Exo" pitchFamily="34" charset="0"/>
              </a:rPr>
              <a:t>có</a:t>
            </a:r>
            <a:r>
              <a:rPr lang="en-US" sz="1167" dirty="0">
                <a:solidFill>
                  <a:srgbClr val="007F99"/>
                </a:solidFill>
                <a:latin typeface="Exo" pitchFamily="34" charset="0"/>
              </a:rPr>
              <a:t> 11 </a:t>
            </a:r>
            <a:r>
              <a:rPr lang="en-US" sz="1167" dirty="0" err="1">
                <a:solidFill>
                  <a:srgbClr val="007F99"/>
                </a:solidFill>
                <a:latin typeface="Exo" pitchFamily="34" charset="0"/>
              </a:rPr>
              <a:t>lần</a:t>
            </a:r>
            <a:r>
              <a:rPr lang="en-US" sz="1167" dirty="0">
                <a:solidFill>
                  <a:srgbClr val="007F99"/>
                </a:solidFill>
                <a:latin typeface="Exo" pitchFamily="34" charset="0"/>
              </a:rPr>
              <a:t> </a:t>
            </a:r>
            <a:r>
              <a:rPr lang="en-US" sz="1167" dirty="0" err="1">
                <a:solidFill>
                  <a:srgbClr val="007F99"/>
                </a:solidFill>
                <a:latin typeface="Exo" pitchFamily="34" charset="0"/>
              </a:rPr>
              <a:t>tháo</a:t>
            </a:r>
            <a:r>
              <a:rPr lang="en-US" sz="1167" dirty="0">
                <a:solidFill>
                  <a:srgbClr val="007F99"/>
                </a:solidFill>
                <a:latin typeface="Exo" pitchFamily="34" charset="0"/>
              </a:rPr>
              <a:t> </a:t>
            </a:r>
            <a:r>
              <a:rPr lang="en-US" sz="1167" dirty="0" err="1">
                <a:solidFill>
                  <a:srgbClr val="007F99"/>
                </a:solidFill>
                <a:latin typeface="Exo" pitchFamily="34" charset="0"/>
              </a:rPr>
              <a:t>lắp</a:t>
            </a:r>
            <a:r>
              <a:rPr lang="en-US" sz="1167" dirty="0">
                <a:solidFill>
                  <a:srgbClr val="007F99"/>
                </a:solidFill>
                <a:latin typeface="Exo" pitchFamily="34" charset="0"/>
              </a:rPr>
              <a:t>, MTBUR =9,401, </a:t>
            </a:r>
          </a:p>
          <a:p>
            <a:pPr marL="0" indent="0" algn="l">
              <a:buNone/>
            </a:pPr>
            <a:r>
              <a:rPr lang="en-US" sz="1167" dirty="0" err="1">
                <a:solidFill>
                  <a:srgbClr val="007F99"/>
                </a:solidFill>
                <a:latin typeface="Exo" pitchFamily="34" charset="0"/>
              </a:rPr>
              <a:t>xấp</a:t>
            </a:r>
            <a:r>
              <a:rPr lang="en-US" sz="1167" dirty="0">
                <a:solidFill>
                  <a:srgbClr val="007F99"/>
                </a:solidFill>
                <a:latin typeface="Exo" pitchFamily="34" charset="0"/>
              </a:rPr>
              <a:t> </a:t>
            </a:r>
            <a:r>
              <a:rPr lang="en-US" sz="1167" dirty="0" err="1">
                <a:solidFill>
                  <a:srgbClr val="007F99"/>
                </a:solidFill>
                <a:latin typeface="Exo" pitchFamily="34" charset="0"/>
              </a:rPr>
              <a:t>xỉ</a:t>
            </a:r>
            <a:r>
              <a:rPr lang="en-US" sz="1167" dirty="0">
                <a:solidFill>
                  <a:srgbClr val="007F99"/>
                </a:solidFill>
                <a:latin typeface="Exo" pitchFamily="34" charset="0"/>
              </a:rPr>
              <a:t> </a:t>
            </a:r>
            <a:r>
              <a:rPr lang="en-US" sz="1167" dirty="0" err="1">
                <a:solidFill>
                  <a:srgbClr val="007F99"/>
                </a:solidFill>
                <a:latin typeface="Exo" pitchFamily="34" charset="0"/>
              </a:rPr>
              <a:t>với</a:t>
            </a:r>
            <a:r>
              <a:rPr lang="en-US" sz="1167" dirty="0">
                <a:solidFill>
                  <a:srgbClr val="007F99"/>
                </a:solidFill>
                <a:latin typeface="Exo" pitchFamily="34" charset="0"/>
              </a:rPr>
              <a:t> G- MTBUR = 10,000, WW- MTBUR = 11,288</a:t>
            </a:r>
          </a:p>
        </p:txBody>
      </p:sp>
      <p:sp>
        <p:nvSpPr>
          <p:cNvPr id="52" name="Shape 7">
            <a:extLst>
              <a:ext uri="{FF2B5EF4-FFF2-40B4-BE49-F238E27FC236}">
                <a16:creationId xmlns:a16="http://schemas.microsoft.com/office/drawing/2014/main" id="{85B4A986-A9B3-CFC1-5C61-26A70C553E0B}"/>
              </a:ext>
            </a:extLst>
          </p:cNvPr>
          <p:cNvSpPr/>
          <p:nvPr/>
        </p:nvSpPr>
        <p:spPr>
          <a:xfrm>
            <a:off x="6974339" y="2849849"/>
            <a:ext cx="452239" cy="19050"/>
          </a:xfrm>
          <a:prstGeom prst="roundRect">
            <a:avLst>
              <a:gd name="adj" fmla="val 712232"/>
            </a:avLst>
          </a:prstGeom>
          <a:solidFill>
            <a:srgbClr val="B6DCE1"/>
          </a:solidFill>
          <a:ln/>
        </p:spPr>
      </p:sp>
      <p:sp>
        <p:nvSpPr>
          <p:cNvPr id="53" name="Shape 8">
            <a:extLst>
              <a:ext uri="{FF2B5EF4-FFF2-40B4-BE49-F238E27FC236}">
                <a16:creationId xmlns:a16="http://schemas.microsoft.com/office/drawing/2014/main" id="{6F399257-0C03-D672-9142-E2AA8170602C}"/>
              </a:ext>
            </a:extLst>
          </p:cNvPr>
          <p:cNvSpPr/>
          <p:nvPr/>
        </p:nvSpPr>
        <p:spPr>
          <a:xfrm>
            <a:off x="6654259" y="2689809"/>
            <a:ext cx="339130" cy="339130"/>
          </a:xfrm>
          <a:prstGeom prst="roundRect">
            <a:avLst>
              <a:gd name="adj" fmla="val 40008"/>
            </a:avLst>
          </a:prstGeom>
          <a:solidFill>
            <a:srgbClr val="D0F6FB"/>
          </a:solidFill>
          <a:ln w="7620">
            <a:solidFill>
              <a:srgbClr val="B6DCE1"/>
            </a:solidFill>
            <a:prstDash val="solid"/>
          </a:ln>
        </p:spPr>
      </p:sp>
      <p:sp>
        <p:nvSpPr>
          <p:cNvPr id="54" name="Text 9">
            <a:extLst>
              <a:ext uri="{FF2B5EF4-FFF2-40B4-BE49-F238E27FC236}">
                <a16:creationId xmlns:a16="http://schemas.microsoft.com/office/drawing/2014/main" id="{1558129D-7D4C-94E6-4136-B9C0A99B8175}"/>
              </a:ext>
            </a:extLst>
          </p:cNvPr>
          <p:cNvSpPr/>
          <p:nvPr/>
        </p:nvSpPr>
        <p:spPr>
          <a:xfrm>
            <a:off x="6710764" y="2718087"/>
            <a:ext cx="226119" cy="282575"/>
          </a:xfrm>
          <a:prstGeom prst="rect">
            <a:avLst/>
          </a:prstGeom>
          <a:noFill/>
          <a:ln/>
        </p:spPr>
        <p:txBody>
          <a:bodyPr wrap="none" lIns="0" tIns="0" rIns="0" bIns="0" rtlCol="0" anchor="t"/>
          <a:lstStyle/>
          <a:p>
            <a:pPr algn="ctr">
              <a:lnSpc>
                <a:spcPts val="1750"/>
              </a:lnSpc>
            </a:pPr>
            <a:r>
              <a:rPr lang="en-US" sz="1750" b="1" dirty="0">
                <a:solidFill>
                  <a:srgbClr val="000000"/>
                </a:solidFill>
                <a:latin typeface="Montserrat Bold" pitchFamily="34" charset="0"/>
                <a:ea typeface="Montserrat Bold" pitchFamily="34" charset="-122"/>
                <a:cs typeface="Montserrat Bold" pitchFamily="34" charset="-120"/>
              </a:rPr>
              <a:t>2</a:t>
            </a:r>
            <a:endParaRPr lang="en-US" sz="1750" dirty="0"/>
          </a:p>
        </p:txBody>
      </p:sp>
      <p:sp>
        <p:nvSpPr>
          <p:cNvPr id="55" name="Text 10">
            <a:extLst>
              <a:ext uri="{FF2B5EF4-FFF2-40B4-BE49-F238E27FC236}">
                <a16:creationId xmlns:a16="http://schemas.microsoft.com/office/drawing/2014/main" id="{C34DB07A-031E-DD87-5866-F84991AD2E51}"/>
              </a:ext>
            </a:extLst>
          </p:cNvPr>
          <p:cNvSpPr/>
          <p:nvPr/>
        </p:nvSpPr>
        <p:spPr>
          <a:xfrm>
            <a:off x="7577589" y="2670958"/>
            <a:ext cx="2990786" cy="235446"/>
          </a:xfrm>
          <a:prstGeom prst="rect">
            <a:avLst/>
          </a:prstGeom>
          <a:noFill/>
          <a:ln/>
        </p:spPr>
        <p:txBody>
          <a:bodyPr wrap="none" lIns="0" tIns="0" rIns="0" bIns="0" rtlCol="0" anchor="t"/>
          <a:lstStyle/>
          <a:p>
            <a:pPr>
              <a:lnSpc>
                <a:spcPts val="1833"/>
              </a:lnSpc>
            </a:pPr>
            <a:r>
              <a:rPr lang="en-US" sz="1458" b="1" dirty="0" err="1">
                <a:solidFill>
                  <a:srgbClr val="007F99"/>
                </a:solidFill>
                <a:latin typeface="Montserrat Bold" pitchFamily="34" charset="0"/>
                <a:ea typeface="Montserrat Bold" pitchFamily="34" charset="-122"/>
              </a:rPr>
              <a:t>Độ</a:t>
            </a:r>
            <a:r>
              <a:rPr lang="en-US" sz="1458" b="1" dirty="0">
                <a:solidFill>
                  <a:srgbClr val="007F99"/>
                </a:solidFill>
                <a:latin typeface="Montserrat Bold" pitchFamily="34" charset="0"/>
                <a:ea typeface="Montserrat Bold" pitchFamily="34" charset="-122"/>
              </a:rPr>
              <a:t> tin </a:t>
            </a:r>
            <a:r>
              <a:rPr lang="en-US" sz="1458" b="1" dirty="0" err="1">
                <a:solidFill>
                  <a:srgbClr val="007F99"/>
                </a:solidFill>
                <a:latin typeface="Montserrat Bold" pitchFamily="34" charset="0"/>
                <a:ea typeface="Montserrat Bold" pitchFamily="34" charset="-122"/>
              </a:rPr>
              <a:t>cậy</a:t>
            </a:r>
            <a:r>
              <a:rPr lang="en-US" sz="1458" b="1" dirty="0">
                <a:solidFill>
                  <a:srgbClr val="007F99"/>
                </a:solidFill>
                <a:latin typeface="Montserrat Bold" pitchFamily="34" charset="0"/>
                <a:ea typeface="Montserrat Bold" pitchFamily="34" charset="-122"/>
              </a:rPr>
              <a:t> </a:t>
            </a:r>
            <a:r>
              <a:rPr lang="en-US" sz="1458" b="1" dirty="0" err="1">
                <a:solidFill>
                  <a:srgbClr val="007F99"/>
                </a:solidFill>
                <a:latin typeface="Montserrat Bold" pitchFamily="34" charset="0"/>
                <a:ea typeface="Montserrat Bold" pitchFamily="34" charset="-122"/>
              </a:rPr>
              <a:t>khối</a:t>
            </a:r>
            <a:r>
              <a:rPr lang="en-US" sz="1458" b="1" dirty="0">
                <a:solidFill>
                  <a:srgbClr val="007F99"/>
                </a:solidFill>
                <a:latin typeface="Montserrat Bold" pitchFamily="34" charset="0"/>
                <a:ea typeface="Montserrat Bold" pitchFamily="34" charset="-122"/>
              </a:rPr>
              <a:t> pack valve</a:t>
            </a:r>
            <a:endParaRPr lang="en-US" sz="1458" dirty="0"/>
          </a:p>
        </p:txBody>
      </p:sp>
      <p:sp>
        <p:nvSpPr>
          <p:cNvPr id="56" name="Shape 12">
            <a:extLst>
              <a:ext uri="{FF2B5EF4-FFF2-40B4-BE49-F238E27FC236}">
                <a16:creationId xmlns:a16="http://schemas.microsoft.com/office/drawing/2014/main" id="{96C832A3-FF4C-8130-8544-8FF3FDD731A8}"/>
              </a:ext>
            </a:extLst>
          </p:cNvPr>
          <p:cNvSpPr/>
          <p:nvPr/>
        </p:nvSpPr>
        <p:spPr>
          <a:xfrm>
            <a:off x="6974339" y="3827849"/>
            <a:ext cx="452239" cy="19050"/>
          </a:xfrm>
          <a:prstGeom prst="roundRect">
            <a:avLst>
              <a:gd name="adj" fmla="val 712232"/>
            </a:avLst>
          </a:prstGeom>
          <a:solidFill>
            <a:srgbClr val="B6DCE1"/>
          </a:solidFill>
          <a:ln/>
        </p:spPr>
      </p:sp>
      <p:sp>
        <p:nvSpPr>
          <p:cNvPr id="57" name="Shape 13">
            <a:extLst>
              <a:ext uri="{FF2B5EF4-FFF2-40B4-BE49-F238E27FC236}">
                <a16:creationId xmlns:a16="http://schemas.microsoft.com/office/drawing/2014/main" id="{374EF065-E695-819B-4F89-23AE86E213A8}"/>
              </a:ext>
            </a:extLst>
          </p:cNvPr>
          <p:cNvSpPr/>
          <p:nvPr/>
        </p:nvSpPr>
        <p:spPr>
          <a:xfrm>
            <a:off x="6654259" y="3667809"/>
            <a:ext cx="339130" cy="339130"/>
          </a:xfrm>
          <a:prstGeom prst="roundRect">
            <a:avLst>
              <a:gd name="adj" fmla="val 40008"/>
            </a:avLst>
          </a:prstGeom>
          <a:solidFill>
            <a:srgbClr val="D0F6FB"/>
          </a:solidFill>
          <a:ln w="7620">
            <a:solidFill>
              <a:srgbClr val="B6DCE1"/>
            </a:solidFill>
            <a:prstDash val="solid"/>
          </a:ln>
        </p:spPr>
      </p:sp>
      <p:sp>
        <p:nvSpPr>
          <p:cNvPr id="58" name="Text 14">
            <a:extLst>
              <a:ext uri="{FF2B5EF4-FFF2-40B4-BE49-F238E27FC236}">
                <a16:creationId xmlns:a16="http://schemas.microsoft.com/office/drawing/2014/main" id="{09A75F09-B8E3-005F-E796-FBEC669577CC}"/>
              </a:ext>
            </a:extLst>
          </p:cNvPr>
          <p:cNvSpPr/>
          <p:nvPr/>
        </p:nvSpPr>
        <p:spPr>
          <a:xfrm>
            <a:off x="6710764" y="3696086"/>
            <a:ext cx="226119" cy="282575"/>
          </a:xfrm>
          <a:prstGeom prst="rect">
            <a:avLst/>
          </a:prstGeom>
          <a:noFill/>
          <a:ln/>
        </p:spPr>
        <p:txBody>
          <a:bodyPr wrap="none" lIns="0" tIns="0" rIns="0" bIns="0" rtlCol="0" anchor="t"/>
          <a:lstStyle/>
          <a:p>
            <a:pPr algn="ctr">
              <a:lnSpc>
                <a:spcPts val="1750"/>
              </a:lnSpc>
            </a:pPr>
            <a:r>
              <a:rPr lang="en-US" sz="1750" b="1" dirty="0">
                <a:solidFill>
                  <a:srgbClr val="000000"/>
                </a:solidFill>
                <a:latin typeface="Montserrat Bold" pitchFamily="34" charset="0"/>
                <a:ea typeface="Montserrat Bold" pitchFamily="34" charset="-122"/>
                <a:cs typeface="Montserrat Bold" pitchFamily="34" charset="-120"/>
              </a:rPr>
              <a:t>3</a:t>
            </a:r>
            <a:endParaRPr lang="en-US" sz="1750" dirty="0"/>
          </a:p>
        </p:txBody>
      </p:sp>
      <p:sp>
        <p:nvSpPr>
          <p:cNvPr id="59" name="Text 15">
            <a:extLst>
              <a:ext uri="{FF2B5EF4-FFF2-40B4-BE49-F238E27FC236}">
                <a16:creationId xmlns:a16="http://schemas.microsoft.com/office/drawing/2014/main" id="{D862A52A-40E9-04B9-C403-CAB270DCFD24}"/>
              </a:ext>
            </a:extLst>
          </p:cNvPr>
          <p:cNvSpPr/>
          <p:nvPr/>
        </p:nvSpPr>
        <p:spPr>
          <a:xfrm>
            <a:off x="7577589" y="3648957"/>
            <a:ext cx="3583218" cy="235446"/>
          </a:xfrm>
          <a:prstGeom prst="rect">
            <a:avLst/>
          </a:prstGeom>
          <a:noFill/>
          <a:ln/>
        </p:spPr>
        <p:txBody>
          <a:bodyPr wrap="none" lIns="0" tIns="0" rIns="0" bIns="0" rtlCol="0" anchor="t"/>
          <a:lstStyle/>
          <a:p>
            <a:pPr>
              <a:lnSpc>
                <a:spcPts val="1833"/>
              </a:lnSpc>
            </a:pPr>
            <a:r>
              <a:rPr lang="en-US" sz="1458" b="1" dirty="0">
                <a:solidFill>
                  <a:srgbClr val="007F99"/>
                </a:solidFill>
                <a:latin typeface="Montserrat Bold" pitchFamily="34" charset="0"/>
                <a:ea typeface="Montserrat Bold" pitchFamily="34" charset="-122"/>
              </a:rPr>
              <a:t>Nguyên </a:t>
            </a:r>
            <a:r>
              <a:rPr lang="en-US" sz="1458" b="1" dirty="0" err="1">
                <a:solidFill>
                  <a:srgbClr val="007F99"/>
                </a:solidFill>
                <a:latin typeface="Montserrat Bold" pitchFamily="34" charset="0"/>
                <a:ea typeface="Montserrat Bold" pitchFamily="34" charset="-122"/>
              </a:rPr>
              <a:t>nhân</a:t>
            </a:r>
            <a:r>
              <a:rPr lang="en-US" sz="1458" b="1" dirty="0">
                <a:solidFill>
                  <a:srgbClr val="007F99"/>
                </a:solidFill>
                <a:latin typeface="Montserrat Bold" pitchFamily="34" charset="0"/>
                <a:ea typeface="Montserrat Bold" pitchFamily="34" charset="-122"/>
              </a:rPr>
              <a:t> </a:t>
            </a:r>
            <a:r>
              <a:rPr lang="en-US" sz="1458" b="1" dirty="0" err="1">
                <a:solidFill>
                  <a:srgbClr val="007F99"/>
                </a:solidFill>
                <a:latin typeface="Montserrat Bold" pitchFamily="34" charset="0"/>
                <a:ea typeface="Montserrat Bold" pitchFamily="34" charset="-122"/>
              </a:rPr>
              <a:t>hỏng</a:t>
            </a:r>
            <a:r>
              <a:rPr lang="en-US" sz="1458" b="1" dirty="0">
                <a:solidFill>
                  <a:srgbClr val="007F99"/>
                </a:solidFill>
                <a:latin typeface="Montserrat Bold" pitchFamily="34" charset="0"/>
                <a:ea typeface="Montserrat Bold" pitchFamily="34" charset="-122"/>
              </a:rPr>
              <a:t> </a:t>
            </a:r>
            <a:r>
              <a:rPr lang="en-US" sz="1458" b="1" dirty="0" err="1">
                <a:solidFill>
                  <a:srgbClr val="007F99"/>
                </a:solidFill>
                <a:latin typeface="Montserrat Bold" pitchFamily="34" charset="0"/>
                <a:ea typeface="Montserrat Bold" pitchFamily="34" charset="-122"/>
              </a:rPr>
              <a:t>hóc</a:t>
            </a:r>
            <a:endParaRPr lang="en-US" sz="1458" dirty="0"/>
          </a:p>
        </p:txBody>
      </p:sp>
      <p:sp>
        <p:nvSpPr>
          <p:cNvPr id="60" name="TextBox 59">
            <a:extLst>
              <a:ext uri="{FF2B5EF4-FFF2-40B4-BE49-F238E27FC236}">
                <a16:creationId xmlns:a16="http://schemas.microsoft.com/office/drawing/2014/main" id="{35434591-2170-3775-3335-411BFBE5795D}"/>
              </a:ext>
            </a:extLst>
          </p:cNvPr>
          <p:cNvSpPr txBox="1"/>
          <p:nvPr/>
        </p:nvSpPr>
        <p:spPr>
          <a:xfrm>
            <a:off x="7463029" y="3952771"/>
            <a:ext cx="4634101" cy="1569660"/>
          </a:xfrm>
          <a:prstGeom prst="rect">
            <a:avLst/>
          </a:prstGeom>
          <a:noFill/>
        </p:spPr>
        <p:txBody>
          <a:bodyPr wrap="square" rtlCol="0">
            <a:spAutoFit/>
          </a:bodyPr>
          <a:lstStyle/>
          <a:p>
            <a:r>
              <a:rPr lang="vi-VN" sz="1167" dirty="0">
                <a:solidFill>
                  <a:srgbClr val="007F99"/>
                </a:solidFill>
                <a:latin typeface="Exo" pitchFamily="34" charset="0"/>
              </a:rPr>
              <a:t>Theo SFR hỏng hóc pack valve do nhiều nguyên nhân khác nhau</a:t>
            </a:r>
            <a:r>
              <a:rPr lang="en-US" sz="1167" dirty="0">
                <a:solidFill>
                  <a:srgbClr val="007F99"/>
                </a:solidFill>
                <a:latin typeface="Exo" pitchFamily="34" charset="0"/>
              </a:rPr>
              <a:t>:</a:t>
            </a:r>
          </a:p>
          <a:p>
            <a:pPr marL="171450" indent="-171450">
              <a:buFont typeface="Courier New" panose="02070309020205020404" pitchFamily="49" charset="0"/>
              <a:buChar char="o"/>
            </a:pPr>
            <a:r>
              <a:rPr lang="vi-VN" sz="1167" dirty="0">
                <a:solidFill>
                  <a:srgbClr val="007F99"/>
                </a:solidFill>
                <a:latin typeface="Exo" pitchFamily="34" charset="0"/>
              </a:rPr>
              <a:t>Externally dirty </a:t>
            </a:r>
            <a:endParaRPr lang="en-US" sz="1167" dirty="0">
              <a:solidFill>
                <a:srgbClr val="007F99"/>
              </a:solidFill>
              <a:latin typeface="Exo" pitchFamily="34" charset="0"/>
            </a:endParaRPr>
          </a:p>
          <a:p>
            <a:pPr marL="171450" indent="-171450">
              <a:buFont typeface="Courier New" panose="02070309020205020404" pitchFamily="49" charset="0"/>
              <a:buChar char="o"/>
            </a:pPr>
            <a:r>
              <a:rPr lang="vi-VN" sz="1167" dirty="0">
                <a:solidFill>
                  <a:srgbClr val="007F99"/>
                </a:solidFill>
                <a:latin typeface="Exo" pitchFamily="34" charset="0"/>
              </a:rPr>
              <a:t>Solenoid valve ASSY inop/intermittent </a:t>
            </a:r>
            <a:endParaRPr lang="en-US" sz="1167" dirty="0">
              <a:solidFill>
                <a:srgbClr val="007F99"/>
              </a:solidFill>
              <a:latin typeface="Exo" pitchFamily="34" charset="0"/>
            </a:endParaRPr>
          </a:p>
          <a:p>
            <a:pPr marL="171450" indent="-171450">
              <a:buFont typeface="Courier New" panose="02070309020205020404" pitchFamily="49" charset="0"/>
              <a:buChar char="o"/>
            </a:pPr>
            <a:r>
              <a:rPr lang="vi-VN" sz="1167" dirty="0">
                <a:solidFill>
                  <a:srgbClr val="007F99"/>
                </a:solidFill>
                <a:latin typeface="Exo" pitchFamily="34" charset="0"/>
              </a:rPr>
              <a:t>Sensitive Switch ASSY intermittent </a:t>
            </a:r>
            <a:endParaRPr lang="en-US" sz="1167" dirty="0">
              <a:solidFill>
                <a:srgbClr val="007F99"/>
              </a:solidFill>
              <a:latin typeface="Exo" pitchFamily="34" charset="0"/>
            </a:endParaRPr>
          </a:p>
          <a:p>
            <a:pPr marL="171450" indent="-171450">
              <a:buFont typeface="Courier New" panose="02070309020205020404" pitchFamily="49" charset="0"/>
              <a:buChar char="o"/>
            </a:pPr>
            <a:r>
              <a:rPr lang="vi-VN" sz="1167" dirty="0">
                <a:solidFill>
                  <a:srgbClr val="007F99"/>
                </a:solidFill>
                <a:latin typeface="Exo" pitchFamily="34" charset="0"/>
              </a:rPr>
              <a:t>Bearing corrored </a:t>
            </a:r>
            <a:endParaRPr lang="en-US" sz="1167" dirty="0">
              <a:solidFill>
                <a:srgbClr val="007F99"/>
              </a:solidFill>
              <a:latin typeface="Exo" pitchFamily="34" charset="0"/>
            </a:endParaRPr>
          </a:p>
          <a:p>
            <a:pPr marL="171450" indent="-171450">
              <a:buFont typeface="Courier New" panose="02070309020205020404" pitchFamily="49" charset="0"/>
              <a:buChar char="o"/>
            </a:pPr>
            <a:r>
              <a:rPr lang="vi-VN" sz="1167" dirty="0">
                <a:solidFill>
                  <a:srgbClr val="007F99"/>
                </a:solidFill>
                <a:latin typeface="Exo" pitchFamily="34" charset="0"/>
              </a:rPr>
              <a:t>Butterfly stuck </a:t>
            </a:r>
            <a:endParaRPr lang="en-US" sz="1167" dirty="0">
              <a:solidFill>
                <a:srgbClr val="007F99"/>
              </a:solidFill>
              <a:latin typeface="Exo" pitchFamily="34" charset="0"/>
            </a:endParaRPr>
          </a:p>
          <a:p>
            <a:r>
              <a:rPr lang="vi-VN" sz="1167" dirty="0">
                <a:solidFill>
                  <a:srgbClr val="007F99"/>
                </a:solidFill>
                <a:latin typeface="Exo" pitchFamily="34" charset="0"/>
              </a:rPr>
              <a:t>Không phải là hỏng hóc nổi cộm trên Worldwide, ATR/OEM không có SB nào cải tiến. </a:t>
            </a:r>
            <a:endParaRPr lang="en-US" sz="1167" dirty="0">
              <a:solidFill>
                <a:srgbClr val="007F99"/>
              </a:solidFill>
              <a:latin typeface="Exo" pitchFamily="34" charset="0"/>
            </a:endParaRPr>
          </a:p>
        </p:txBody>
      </p:sp>
      <p:sp>
        <p:nvSpPr>
          <p:cNvPr id="61" name="Shape 17">
            <a:extLst>
              <a:ext uri="{FF2B5EF4-FFF2-40B4-BE49-F238E27FC236}">
                <a16:creationId xmlns:a16="http://schemas.microsoft.com/office/drawing/2014/main" id="{D56C433A-9784-B4A0-1EDC-28E41A6CB5BD}"/>
              </a:ext>
            </a:extLst>
          </p:cNvPr>
          <p:cNvSpPr/>
          <p:nvPr/>
        </p:nvSpPr>
        <p:spPr>
          <a:xfrm>
            <a:off x="6961187" y="5705167"/>
            <a:ext cx="452239" cy="19050"/>
          </a:xfrm>
          <a:prstGeom prst="roundRect">
            <a:avLst>
              <a:gd name="adj" fmla="val 712232"/>
            </a:avLst>
          </a:prstGeom>
          <a:solidFill>
            <a:srgbClr val="B6DCE1"/>
          </a:solidFill>
          <a:ln/>
        </p:spPr>
      </p:sp>
      <p:sp>
        <p:nvSpPr>
          <p:cNvPr id="62" name="Shape 18">
            <a:extLst>
              <a:ext uri="{FF2B5EF4-FFF2-40B4-BE49-F238E27FC236}">
                <a16:creationId xmlns:a16="http://schemas.microsoft.com/office/drawing/2014/main" id="{9BF8534B-8AE3-E0CB-BC9F-D64642B30823}"/>
              </a:ext>
            </a:extLst>
          </p:cNvPr>
          <p:cNvSpPr/>
          <p:nvPr/>
        </p:nvSpPr>
        <p:spPr>
          <a:xfrm>
            <a:off x="6641107" y="5545127"/>
            <a:ext cx="339130" cy="339130"/>
          </a:xfrm>
          <a:prstGeom prst="roundRect">
            <a:avLst>
              <a:gd name="adj" fmla="val 40008"/>
            </a:avLst>
          </a:prstGeom>
          <a:solidFill>
            <a:srgbClr val="D0F6FB"/>
          </a:solidFill>
          <a:ln w="7620">
            <a:solidFill>
              <a:srgbClr val="B6DCE1"/>
            </a:solidFill>
            <a:prstDash val="solid"/>
          </a:ln>
        </p:spPr>
      </p:sp>
      <p:sp>
        <p:nvSpPr>
          <p:cNvPr id="63" name="Text 19">
            <a:extLst>
              <a:ext uri="{FF2B5EF4-FFF2-40B4-BE49-F238E27FC236}">
                <a16:creationId xmlns:a16="http://schemas.microsoft.com/office/drawing/2014/main" id="{27CFD507-DCC6-7B7F-8DBF-F5FDD09734A6}"/>
              </a:ext>
            </a:extLst>
          </p:cNvPr>
          <p:cNvSpPr/>
          <p:nvPr/>
        </p:nvSpPr>
        <p:spPr>
          <a:xfrm>
            <a:off x="6697612" y="5573404"/>
            <a:ext cx="226119" cy="282575"/>
          </a:xfrm>
          <a:prstGeom prst="rect">
            <a:avLst/>
          </a:prstGeom>
          <a:noFill/>
          <a:ln/>
        </p:spPr>
        <p:txBody>
          <a:bodyPr wrap="none" lIns="0" tIns="0" rIns="0" bIns="0" rtlCol="0" anchor="t"/>
          <a:lstStyle/>
          <a:p>
            <a:pPr algn="ctr">
              <a:lnSpc>
                <a:spcPts val="1750"/>
              </a:lnSpc>
            </a:pPr>
            <a:r>
              <a:rPr lang="en-US" sz="1750" b="1" dirty="0">
                <a:solidFill>
                  <a:srgbClr val="000000"/>
                </a:solidFill>
                <a:latin typeface="Montserrat Bold" pitchFamily="34" charset="0"/>
                <a:ea typeface="Montserrat Bold" pitchFamily="34" charset="-122"/>
                <a:cs typeface="Montserrat Bold" pitchFamily="34" charset="-120"/>
              </a:rPr>
              <a:t>4</a:t>
            </a:r>
            <a:endParaRPr lang="en-US" sz="1750" dirty="0"/>
          </a:p>
        </p:txBody>
      </p:sp>
      <p:sp>
        <p:nvSpPr>
          <p:cNvPr id="64" name="Text 20">
            <a:extLst>
              <a:ext uri="{FF2B5EF4-FFF2-40B4-BE49-F238E27FC236}">
                <a16:creationId xmlns:a16="http://schemas.microsoft.com/office/drawing/2014/main" id="{A4CAA5E1-8D32-CC38-E654-3C09443A9590}"/>
              </a:ext>
            </a:extLst>
          </p:cNvPr>
          <p:cNvSpPr/>
          <p:nvPr/>
        </p:nvSpPr>
        <p:spPr>
          <a:xfrm>
            <a:off x="7564437" y="5526275"/>
            <a:ext cx="1884363" cy="235446"/>
          </a:xfrm>
          <a:prstGeom prst="rect">
            <a:avLst/>
          </a:prstGeom>
          <a:noFill/>
          <a:ln/>
        </p:spPr>
        <p:txBody>
          <a:bodyPr wrap="none" lIns="0" tIns="0" rIns="0" bIns="0" rtlCol="0" anchor="t"/>
          <a:lstStyle/>
          <a:p>
            <a:pPr>
              <a:lnSpc>
                <a:spcPts val="1833"/>
              </a:lnSpc>
            </a:pPr>
            <a:r>
              <a:rPr lang="en-US" sz="1458" b="1" dirty="0" err="1">
                <a:solidFill>
                  <a:srgbClr val="007F99"/>
                </a:solidFill>
                <a:latin typeface="Montserrat Bold" pitchFamily="34" charset="0"/>
                <a:ea typeface="Montserrat Bold" pitchFamily="34" charset="-122"/>
                <a:cs typeface="Montserrat Bold" pitchFamily="34" charset="-120"/>
              </a:rPr>
              <a:t>Giải</a:t>
            </a:r>
            <a:r>
              <a:rPr lang="en-US" sz="1458" b="1" dirty="0">
                <a:solidFill>
                  <a:srgbClr val="007F99"/>
                </a:solidFill>
                <a:latin typeface="Montserrat Bold" pitchFamily="34" charset="0"/>
                <a:ea typeface="Montserrat Bold" pitchFamily="34" charset="-122"/>
                <a:cs typeface="Montserrat Bold" pitchFamily="34" charset="-120"/>
              </a:rPr>
              <a:t> </a:t>
            </a:r>
            <a:r>
              <a:rPr lang="en-US" sz="1458" b="1" dirty="0" err="1">
                <a:solidFill>
                  <a:srgbClr val="007F99"/>
                </a:solidFill>
                <a:latin typeface="Montserrat Bold" pitchFamily="34" charset="0"/>
                <a:ea typeface="Montserrat Bold" pitchFamily="34" charset="-122"/>
                <a:cs typeface="Montserrat Bold" pitchFamily="34" charset="-120"/>
              </a:rPr>
              <a:t>pháp</a:t>
            </a:r>
            <a:endParaRPr lang="en-US" sz="1458" dirty="0"/>
          </a:p>
        </p:txBody>
      </p:sp>
      <p:sp>
        <p:nvSpPr>
          <p:cNvPr id="65" name="TextBox 64">
            <a:extLst>
              <a:ext uri="{FF2B5EF4-FFF2-40B4-BE49-F238E27FC236}">
                <a16:creationId xmlns:a16="http://schemas.microsoft.com/office/drawing/2014/main" id="{A25A50E1-4D1C-7BFF-5296-BBE58C0A49F2}"/>
              </a:ext>
            </a:extLst>
          </p:cNvPr>
          <p:cNvSpPr txBox="1"/>
          <p:nvPr/>
        </p:nvSpPr>
        <p:spPr>
          <a:xfrm>
            <a:off x="7479838" y="5752739"/>
            <a:ext cx="4387821"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err="1">
                <a:solidFill>
                  <a:srgbClr val="007F99"/>
                </a:solidFill>
                <a:latin typeface="Exo" pitchFamily="34" charset="0"/>
                <a:ea typeface="Exo" pitchFamily="34" charset="-122"/>
                <a:cs typeface="Exo" pitchFamily="34" charset="-120"/>
              </a:rPr>
              <a:t>Đảm</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bảo</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dự</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phòng</a:t>
            </a:r>
            <a:r>
              <a:rPr lang="en-US" sz="1200" dirty="0">
                <a:solidFill>
                  <a:srgbClr val="007F99"/>
                </a:solidFill>
                <a:latin typeface="Exo" pitchFamily="34" charset="0"/>
                <a:ea typeface="Exo" pitchFamily="34" charset="-122"/>
                <a:cs typeface="Exo" pitchFamily="34" charset="-120"/>
              </a:rPr>
              <a:t>, </a:t>
            </a:r>
          </a:p>
          <a:p>
            <a:pPr marL="171450" indent="-171450">
              <a:buFont typeface="Arial" panose="020B0604020202020204" pitchFamily="34" charset="0"/>
              <a:buChar char="•"/>
            </a:pPr>
            <a:r>
              <a:rPr lang="en-US" sz="1200" dirty="0" err="1">
                <a:solidFill>
                  <a:srgbClr val="007F99"/>
                </a:solidFill>
                <a:latin typeface="Exo" pitchFamily="34" charset="0"/>
                <a:ea typeface="Exo" pitchFamily="34" charset="-122"/>
                <a:cs typeface="Exo" pitchFamily="34" charset="-120"/>
              </a:rPr>
              <a:t>Kiểm</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tra</a:t>
            </a:r>
            <a:r>
              <a:rPr lang="en-US" sz="1200" dirty="0">
                <a:solidFill>
                  <a:srgbClr val="007F99"/>
                </a:solidFill>
                <a:latin typeface="Exo" pitchFamily="34" charset="0"/>
                <a:ea typeface="Exo" pitchFamily="34" charset="-122"/>
                <a:cs typeface="Exo" pitchFamily="34" charset="-120"/>
              </a:rPr>
              <a:t> filter </a:t>
            </a:r>
            <a:r>
              <a:rPr lang="en-US" sz="1200" dirty="0" err="1">
                <a:solidFill>
                  <a:srgbClr val="007F99"/>
                </a:solidFill>
                <a:latin typeface="Exo" pitchFamily="34" charset="0"/>
                <a:ea typeface="Exo" pitchFamily="34" charset="-122"/>
                <a:cs typeface="Exo" pitchFamily="34" charset="-120"/>
              </a:rPr>
              <a:t>để</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tránh</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bị</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tắc</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tần</a:t>
            </a:r>
            <a:r>
              <a:rPr lang="en-US" sz="1200" dirty="0">
                <a:solidFill>
                  <a:srgbClr val="007F99"/>
                </a:solidFill>
                <a:latin typeface="Exo" pitchFamily="34" charset="0"/>
                <a:ea typeface="Exo" pitchFamily="34" charset="-122"/>
                <a:cs typeface="Exo" pitchFamily="34" charset="-120"/>
              </a:rPr>
              <a:t> </a:t>
            </a:r>
            <a:r>
              <a:rPr lang="en-US" sz="1200" dirty="0" err="1">
                <a:solidFill>
                  <a:srgbClr val="007F99"/>
                </a:solidFill>
                <a:latin typeface="Exo" pitchFamily="34" charset="0"/>
                <a:ea typeface="Exo" pitchFamily="34" charset="-122"/>
                <a:cs typeface="Exo" pitchFamily="34" charset="-120"/>
              </a:rPr>
              <a:t>suất</a:t>
            </a:r>
            <a:r>
              <a:rPr lang="en-US" sz="1200" dirty="0">
                <a:solidFill>
                  <a:srgbClr val="007F99"/>
                </a:solidFill>
                <a:latin typeface="Exo" pitchFamily="34" charset="0"/>
                <a:ea typeface="Exo" pitchFamily="34" charset="-122"/>
                <a:cs typeface="Exo" pitchFamily="34" charset="-120"/>
              </a:rPr>
              <a:t> 2000 FH </a:t>
            </a:r>
            <a:r>
              <a:rPr lang="en-US" sz="1200" dirty="0" err="1">
                <a:solidFill>
                  <a:srgbClr val="007F99"/>
                </a:solidFill>
                <a:latin typeface="Exo" pitchFamily="34" charset="0"/>
                <a:ea typeface="Exo" pitchFamily="34" charset="-122"/>
                <a:cs typeface="Exo" pitchFamily="34" charset="-120"/>
              </a:rPr>
              <a:t>theo</a:t>
            </a:r>
            <a:r>
              <a:rPr lang="en-US" sz="1200" dirty="0">
                <a:solidFill>
                  <a:srgbClr val="007F99"/>
                </a:solidFill>
                <a:latin typeface="Exo" pitchFamily="34" charset="0"/>
                <a:ea typeface="Exo" pitchFamily="34" charset="-122"/>
                <a:cs typeface="Exo" pitchFamily="34" charset="-120"/>
              </a:rPr>
              <a:t> AMP Task VNA-21 -CHK-10000-5</a:t>
            </a:r>
          </a:p>
        </p:txBody>
      </p:sp>
      <p:pic>
        <p:nvPicPr>
          <p:cNvPr id="67" name="Picture 66">
            <a:extLst>
              <a:ext uri="{FF2B5EF4-FFF2-40B4-BE49-F238E27FC236}">
                <a16:creationId xmlns:a16="http://schemas.microsoft.com/office/drawing/2014/main" id="{344528C0-7C11-D88C-B057-088B33527602}"/>
              </a:ext>
            </a:extLst>
          </p:cNvPr>
          <p:cNvPicPr>
            <a:picLocks noChangeAspect="1"/>
          </p:cNvPicPr>
          <p:nvPr/>
        </p:nvPicPr>
        <p:blipFill>
          <a:blip r:embed="rId3"/>
          <a:stretch>
            <a:fillRect/>
          </a:stretch>
        </p:blipFill>
        <p:spPr>
          <a:xfrm>
            <a:off x="1525008" y="5527284"/>
            <a:ext cx="1755245" cy="1182217"/>
          </a:xfrm>
          <a:prstGeom prst="rect">
            <a:avLst/>
          </a:prstGeom>
        </p:spPr>
      </p:pic>
      <p:pic>
        <p:nvPicPr>
          <p:cNvPr id="69" name="Picture 68">
            <a:extLst>
              <a:ext uri="{FF2B5EF4-FFF2-40B4-BE49-F238E27FC236}">
                <a16:creationId xmlns:a16="http://schemas.microsoft.com/office/drawing/2014/main" id="{36A93201-F57F-05D2-574F-F763390E336E}"/>
              </a:ext>
            </a:extLst>
          </p:cNvPr>
          <p:cNvPicPr>
            <a:picLocks noChangeAspect="1"/>
          </p:cNvPicPr>
          <p:nvPr/>
        </p:nvPicPr>
        <p:blipFill>
          <a:blip r:embed="rId4"/>
          <a:stretch>
            <a:fillRect/>
          </a:stretch>
        </p:blipFill>
        <p:spPr>
          <a:xfrm>
            <a:off x="3312797" y="5546578"/>
            <a:ext cx="1455207" cy="1141859"/>
          </a:xfrm>
          <a:prstGeom prst="rect">
            <a:avLst/>
          </a:prstGeom>
        </p:spPr>
      </p:pic>
    </p:spTree>
    <p:extLst>
      <p:ext uri="{BB962C8B-B14F-4D97-AF65-F5344CB8AC3E}">
        <p14:creationId xmlns:p14="http://schemas.microsoft.com/office/powerpoint/2010/main" val="235145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903E-2CA7-6970-25E7-EF645507BC4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EC1D3B-2D6D-4B44-7350-9878AA6DAE88}"/>
              </a:ext>
            </a:extLst>
          </p:cNvPr>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ATR72- ATA 21 &amp; ATA36 </a:t>
            </a:r>
            <a:endParaRPr lang="vi-VN" sz="2800"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5275D523-8E09-5293-1450-3A3602D55A91}"/>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FD9DAD0E-BF8C-85BD-F2EA-217B2D27E24F}"/>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01B55BDF-A213-8F76-3B4F-E8DEAC47E974}"/>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3. B218 – GTB, 15/Mar- ENG#1 BLEED LEAK</a:t>
              </a:r>
            </a:p>
          </p:txBody>
        </p:sp>
      </p:grpSp>
      <p:pic>
        <p:nvPicPr>
          <p:cNvPr id="34" name="Picture 33">
            <a:extLst>
              <a:ext uri="{FF2B5EF4-FFF2-40B4-BE49-F238E27FC236}">
                <a16:creationId xmlns:a16="http://schemas.microsoft.com/office/drawing/2014/main" id="{17E06601-9A78-5364-EAD8-97D40AE8C57D}"/>
              </a:ext>
            </a:extLst>
          </p:cNvPr>
          <p:cNvPicPr>
            <a:picLocks noChangeAspect="1"/>
          </p:cNvPicPr>
          <p:nvPr/>
        </p:nvPicPr>
        <p:blipFill>
          <a:blip r:embed="rId3"/>
          <a:stretch>
            <a:fillRect/>
          </a:stretch>
        </p:blipFill>
        <p:spPr>
          <a:xfrm>
            <a:off x="8024792" y="1275614"/>
            <a:ext cx="4073238" cy="5128954"/>
          </a:xfrm>
          <a:prstGeom prst="rect">
            <a:avLst/>
          </a:prstGeom>
        </p:spPr>
      </p:pic>
      <p:sp>
        <p:nvSpPr>
          <p:cNvPr id="35" name="Text 1">
            <a:extLst>
              <a:ext uri="{FF2B5EF4-FFF2-40B4-BE49-F238E27FC236}">
                <a16:creationId xmlns:a16="http://schemas.microsoft.com/office/drawing/2014/main" id="{1A808CA7-CA9B-13AB-0C9E-D144A28EA851}"/>
              </a:ext>
            </a:extLst>
          </p:cNvPr>
          <p:cNvSpPr/>
          <p:nvPr/>
        </p:nvSpPr>
        <p:spPr>
          <a:xfrm>
            <a:off x="523199" y="1275614"/>
            <a:ext cx="6954488" cy="604838"/>
          </a:xfrm>
          <a:prstGeom prst="rect">
            <a:avLst/>
          </a:prstGeom>
          <a:noFill/>
          <a:ln/>
        </p:spPr>
        <p:txBody>
          <a:bodyPr wrap="square" lIns="0" tIns="0" rIns="0" bIns="0" rtlCol="0" anchor="t"/>
          <a:lstStyle/>
          <a:p>
            <a:pPr marL="285750" indent="-285750">
              <a:buFont typeface="Wingdings" panose="05000000000000000000" pitchFamily="2" charset="2"/>
              <a:buChar char="v"/>
            </a:pPr>
            <a:r>
              <a:rPr lang="en-US" sz="1400" dirty="0">
                <a:solidFill>
                  <a:srgbClr val="007F99"/>
                </a:solidFill>
                <a:latin typeface="Exo" pitchFamily="34" charset="0"/>
                <a:ea typeface="Exo" pitchFamily="34" charset="-122"/>
                <a:cs typeface="Exo" pitchFamily="34" charset="-120"/>
              </a:rPr>
              <a:t>Phát hiện O-ring P/N ASNA2141-40-07 bị damage, vị trí on the ducts located at the nacelle/wing junction (Zone 511, vị trí rib 9 và rib 10).</a:t>
            </a:r>
            <a:endParaRPr lang="en-US" sz="1400" dirty="0"/>
          </a:p>
        </p:txBody>
      </p:sp>
      <p:sp>
        <p:nvSpPr>
          <p:cNvPr id="38" name="Text 2">
            <a:extLst>
              <a:ext uri="{FF2B5EF4-FFF2-40B4-BE49-F238E27FC236}">
                <a16:creationId xmlns:a16="http://schemas.microsoft.com/office/drawing/2014/main" id="{51C5CE0B-EE03-700C-8389-16395E47464B}"/>
              </a:ext>
            </a:extLst>
          </p:cNvPr>
          <p:cNvSpPr/>
          <p:nvPr/>
        </p:nvSpPr>
        <p:spPr>
          <a:xfrm>
            <a:off x="493780" y="1848847"/>
            <a:ext cx="7299591" cy="546181"/>
          </a:xfrm>
          <a:prstGeom prst="rect">
            <a:avLst/>
          </a:prstGeom>
          <a:noFill/>
          <a:ln/>
        </p:spPr>
        <p:txBody>
          <a:bodyPr wrap="square" lIns="0" tIns="0" rIns="0" bIns="0" rtlCol="0" anchor="t"/>
          <a:lstStyle/>
          <a:p>
            <a:pPr marL="285750" indent="-285750">
              <a:buFont typeface="Wingdings" panose="05000000000000000000" pitchFamily="2" charset="2"/>
              <a:buChar char="v"/>
            </a:pPr>
            <a:r>
              <a:rPr lang="en-US" sz="1400" dirty="0">
                <a:solidFill>
                  <a:srgbClr val="007F99"/>
                </a:solidFill>
                <a:latin typeface="Exo" pitchFamily="34" charset="0"/>
                <a:ea typeface="Exo" pitchFamily="34" charset="-122"/>
                <a:cs typeface="Exo" pitchFamily="34" charset="-120"/>
              </a:rPr>
              <a:t>Đây là silicone seal dễ bị lão hóa sau một thời gian khai thác, mặc dù seal này </a:t>
            </a:r>
            <a:r>
              <a:rPr lang="en-US" sz="1400" dirty="0" err="1">
                <a:solidFill>
                  <a:srgbClr val="007F99"/>
                </a:solidFill>
                <a:latin typeface="Exo" pitchFamily="34" charset="0"/>
                <a:ea typeface="Exo" pitchFamily="34" charset="-122"/>
                <a:cs typeface="Exo" pitchFamily="34" charset="-120"/>
              </a:rPr>
              <a:t>đã</a:t>
            </a:r>
            <a:r>
              <a:rPr lang="en-US" sz="1400" dirty="0">
                <a:solidFill>
                  <a:srgbClr val="007F99"/>
                </a:solidFill>
                <a:latin typeface="Exo" pitchFamily="34" charset="0"/>
                <a:ea typeface="Exo" pitchFamily="34" charset="-122"/>
                <a:cs typeface="Exo" pitchFamily="34" charset="-120"/>
              </a:rPr>
              <a:t> </a:t>
            </a:r>
            <a:r>
              <a:rPr lang="en-US" sz="1400" dirty="0" err="1">
                <a:solidFill>
                  <a:srgbClr val="007F99"/>
                </a:solidFill>
                <a:latin typeface="Exo" pitchFamily="34" charset="0"/>
                <a:ea typeface="Exo" pitchFamily="34" charset="-122"/>
                <a:cs typeface="Exo" pitchFamily="34" charset="-120"/>
              </a:rPr>
              <a:t>được</a:t>
            </a:r>
            <a:r>
              <a:rPr lang="en-US" sz="1400" dirty="0">
                <a:solidFill>
                  <a:srgbClr val="007F99"/>
                </a:solidFill>
                <a:latin typeface="Exo" pitchFamily="34" charset="0"/>
                <a:ea typeface="Exo" pitchFamily="34" charset="-122"/>
                <a:cs typeface="Exo" pitchFamily="34" charset="-120"/>
              </a:rPr>
              <a:t> NSX cải tiến và lắp trên đội tàu bay ATR72 thông qua SB ATR72-36-1011 (năm 2010).</a:t>
            </a:r>
            <a:endParaRPr lang="en-US" sz="1400" dirty="0"/>
          </a:p>
        </p:txBody>
      </p:sp>
      <p:grpSp>
        <p:nvGrpSpPr>
          <p:cNvPr id="83" name="Group 82">
            <a:extLst>
              <a:ext uri="{FF2B5EF4-FFF2-40B4-BE49-F238E27FC236}">
                <a16:creationId xmlns:a16="http://schemas.microsoft.com/office/drawing/2014/main" id="{D5861ACA-11E6-324C-F968-D1EC5E463322}"/>
              </a:ext>
            </a:extLst>
          </p:cNvPr>
          <p:cNvGrpSpPr/>
          <p:nvPr/>
        </p:nvGrpSpPr>
        <p:grpSpPr>
          <a:xfrm>
            <a:off x="523198" y="2914325"/>
            <a:ext cx="7599839" cy="3928069"/>
            <a:chOff x="1039820" y="1390551"/>
            <a:chExt cx="9505764" cy="4983957"/>
          </a:xfrm>
        </p:grpSpPr>
        <p:sp>
          <p:nvSpPr>
            <p:cNvPr id="84" name="Shape 1">
              <a:extLst>
                <a:ext uri="{FF2B5EF4-FFF2-40B4-BE49-F238E27FC236}">
                  <a16:creationId xmlns:a16="http://schemas.microsoft.com/office/drawing/2014/main" id="{D86F06EE-33BD-FF3D-14FD-81BFE5FAA75C}"/>
                </a:ext>
              </a:extLst>
            </p:cNvPr>
            <p:cNvSpPr/>
            <p:nvPr/>
          </p:nvSpPr>
          <p:spPr>
            <a:xfrm>
              <a:off x="5709742" y="1390551"/>
              <a:ext cx="19050" cy="4983957"/>
            </a:xfrm>
            <a:prstGeom prst="roundRect">
              <a:avLst>
                <a:gd name="adj" fmla="val 834312"/>
              </a:avLst>
            </a:prstGeom>
            <a:solidFill>
              <a:srgbClr val="B6DCE1"/>
            </a:solidFill>
            <a:ln/>
          </p:spPr>
        </p:sp>
        <p:sp>
          <p:nvSpPr>
            <p:cNvPr id="85" name="Shape 2">
              <a:extLst>
                <a:ext uri="{FF2B5EF4-FFF2-40B4-BE49-F238E27FC236}">
                  <a16:creationId xmlns:a16="http://schemas.microsoft.com/office/drawing/2014/main" id="{4C772618-999C-B7C2-58B2-B900268C0838}"/>
                </a:ext>
              </a:extLst>
            </p:cNvPr>
            <p:cNvSpPr/>
            <p:nvPr/>
          </p:nvSpPr>
          <p:spPr>
            <a:xfrm>
              <a:off x="5009952" y="1778298"/>
              <a:ext cx="529729" cy="19050"/>
            </a:xfrm>
            <a:prstGeom prst="roundRect">
              <a:avLst>
                <a:gd name="adj" fmla="val 834312"/>
              </a:avLst>
            </a:prstGeom>
            <a:solidFill>
              <a:srgbClr val="B6DCE1"/>
            </a:solidFill>
            <a:ln/>
          </p:spPr>
        </p:sp>
        <p:sp>
          <p:nvSpPr>
            <p:cNvPr id="86" name="Shape 3">
              <a:extLst>
                <a:ext uri="{FF2B5EF4-FFF2-40B4-BE49-F238E27FC236}">
                  <a16:creationId xmlns:a16="http://schemas.microsoft.com/office/drawing/2014/main" id="{2CF8B602-8A74-3CCE-E04C-D22328BF9030}"/>
                </a:ext>
              </a:extLst>
            </p:cNvPr>
            <p:cNvSpPr/>
            <p:nvPr/>
          </p:nvSpPr>
          <p:spPr>
            <a:xfrm>
              <a:off x="5520631" y="1589187"/>
              <a:ext cx="397272" cy="397272"/>
            </a:xfrm>
            <a:prstGeom prst="roundRect">
              <a:avLst>
                <a:gd name="adj" fmla="val 40007"/>
              </a:avLst>
            </a:prstGeom>
            <a:solidFill>
              <a:srgbClr val="D0F6FB"/>
            </a:solidFill>
            <a:ln w="7620">
              <a:solidFill>
                <a:srgbClr val="B6DCE1"/>
              </a:solidFill>
              <a:prstDash val="solid"/>
            </a:ln>
          </p:spPr>
        </p:sp>
        <p:sp>
          <p:nvSpPr>
            <p:cNvPr id="87" name="Text 4">
              <a:extLst>
                <a:ext uri="{FF2B5EF4-FFF2-40B4-BE49-F238E27FC236}">
                  <a16:creationId xmlns:a16="http://schemas.microsoft.com/office/drawing/2014/main" id="{05E7616A-D53E-78AA-41B8-D1CFF6BB594B}"/>
                </a:ext>
              </a:extLst>
            </p:cNvPr>
            <p:cNvSpPr/>
            <p:nvPr/>
          </p:nvSpPr>
          <p:spPr>
            <a:xfrm>
              <a:off x="5586859" y="1622276"/>
              <a:ext cx="264815" cy="331093"/>
            </a:xfrm>
            <a:prstGeom prst="rect">
              <a:avLst/>
            </a:prstGeom>
            <a:noFill/>
            <a:ln/>
          </p:spPr>
          <p:txBody>
            <a:bodyPr wrap="none" lIns="0" tIns="0" rIns="0" bIns="0" rtlCol="0" anchor="t"/>
            <a:lstStyle/>
            <a:p>
              <a:pPr algn="ctr">
                <a:lnSpc>
                  <a:spcPts val="2083"/>
                </a:lnSpc>
              </a:pPr>
              <a:r>
                <a:rPr lang="en-US" sz="2000" b="1" dirty="0">
                  <a:solidFill>
                    <a:srgbClr val="000000"/>
                  </a:solidFill>
                  <a:latin typeface="Montserrat Bold" pitchFamily="34" charset="0"/>
                  <a:ea typeface="Montserrat Bold" pitchFamily="34" charset="-122"/>
                  <a:cs typeface="Montserrat Bold" pitchFamily="34" charset="-120"/>
                </a:rPr>
                <a:t>1</a:t>
              </a:r>
              <a:endParaRPr lang="en-US" sz="2000" dirty="0"/>
            </a:p>
          </p:txBody>
        </p:sp>
        <p:sp>
          <p:nvSpPr>
            <p:cNvPr id="88" name="Text 5">
              <a:extLst>
                <a:ext uri="{FF2B5EF4-FFF2-40B4-BE49-F238E27FC236}">
                  <a16:creationId xmlns:a16="http://schemas.microsoft.com/office/drawing/2014/main" id="{98E2E75E-641B-3900-672F-994EC4B09E9D}"/>
                </a:ext>
              </a:extLst>
            </p:cNvPr>
            <p:cNvSpPr/>
            <p:nvPr/>
          </p:nvSpPr>
          <p:spPr>
            <a:xfrm>
              <a:off x="1558672" y="1567061"/>
              <a:ext cx="3277648" cy="275928"/>
            </a:xfrm>
            <a:prstGeom prst="rect">
              <a:avLst/>
            </a:prstGeom>
            <a:noFill/>
            <a:ln/>
          </p:spPr>
          <p:txBody>
            <a:bodyPr wrap="none" lIns="0" tIns="0" rIns="0" bIns="0" rtlCol="0" anchor="t"/>
            <a:lstStyle/>
            <a:p>
              <a:pPr algn="r">
                <a:lnSpc>
                  <a:spcPts val="2167"/>
                </a:lnSpc>
              </a:pPr>
              <a:r>
                <a:rPr lang="en-US" sz="1600" b="1" dirty="0">
                  <a:solidFill>
                    <a:srgbClr val="007F99"/>
                  </a:solidFill>
                  <a:latin typeface="Montserrat Bold" pitchFamily="34" charset="0"/>
                  <a:ea typeface="Montserrat Bold" pitchFamily="34" charset="-122"/>
                  <a:cs typeface="Montserrat Bold" pitchFamily="34" charset="-120"/>
                </a:rPr>
                <a:t>Chương trình đánh chặn</a:t>
              </a:r>
              <a:endParaRPr lang="en-US" sz="1600" dirty="0"/>
            </a:p>
          </p:txBody>
        </p:sp>
        <p:sp>
          <p:nvSpPr>
            <p:cNvPr id="89" name="Text 6">
              <a:extLst>
                <a:ext uri="{FF2B5EF4-FFF2-40B4-BE49-F238E27FC236}">
                  <a16:creationId xmlns:a16="http://schemas.microsoft.com/office/drawing/2014/main" id="{1313F15F-880D-BAE4-83EF-FD1957AEA755}"/>
                </a:ext>
              </a:extLst>
            </p:cNvPr>
            <p:cNvSpPr/>
            <p:nvPr/>
          </p:nvSpPr>
          <p:spPr>
            <a:xfrm>
              <a:off x="1039821" y="1948855"/>
              <a:ext cx="3836784" cy="1412875"/>
            </a:xfrm>
            <a:prstGeom prst="rect">
              <a:avLst/>
            </a:prstGeom>
            <a:noFill/>
            <a:ln/>
          </p:spPr>
          <p:txBody>
            <a:bodyPr wrap="square" lIns="0" tIns="0" rIns="0" bIns="0" rtlCol="0" anchor="t"/>
            <a:lstStyle/>
            <a:p>
              <a:pPr marL="171450" indent="-171450" algn="just">
                <a:buFont typeface="Courier New" panose="02070309020205020404" pitchFamily="49" charset="0"/>
                <a:buChar char="o"/>
              </a:pPr>
              <a:r>
                <a:rPr lang="en-US" sz="1200" dirty="0">
                  <a:solidFill>
                    <a:srgbClr val="007F99"/>
                  </a:solidFill>
                  <a:latin typeface="Exo" pitchFamily="34" charset="0"/>
                  <a:ea typeface="Exo" pitchFamily="34" charset="-122"/>
                  <a:cs typeface="Exo" pitchFamily="34" charset="-120"/>
                </a:rPr>
                <a:t>AMP task VNA-36-RAI-10000-1 - check leading edge bleed duct O-ring and discard if </a:t>
              </a:r>
              <a:r>
                <a:rPr lang="en-US" sz="1200" dirty="0" err="1">
                  <a:solidFill>
                    <a:srgbClr val="007F99"/>
                  </a:solidFill>
                  <a:latin typeface="Exo" pitchFamily="34" charset="0"/>
                  <a:ea typeface="Exo" pitchFamily="34" charset="-122"/>
                  <a:cs typeface="Exo" pitchFamily="34" charset="-120"/>
                </a:rPr>
                <a:t>neccessary</a:t>
              </a:r>
              <a:r>
                <a:rPr lang="en-US" sz="1200" dirty="0">
                  <a:solidFill>
                    <a:srgbClr val="007F99"/>
                  </a:solidFill>
                  <a:latin typeface="Exo" pitchFamily="34" charset="0"/>
                  <a:ea typeface="Exo" pitchFamily="34" charset="-122"/>
                  <a:cs typeface="Exo" pitchFamily="34" charset="-120"/>
                </a:rPr>
                <a:t>, </a:t>
              </a:r>
            </a:p>
            <a:p>
              <a:pPr marL="171450" indent="-171450" algn="just">
                <a:buFont typeface="Courier New" panose="02070309020205020404" pitchFamily="49" charset="0"/>
                <a:buChar char="o"/>
              </a:pPr>
              <a:r>
                <a:rPr lang="en-US" sz="1200" dirty="0" err="1">
                  <a:solidFill>
                    <a:srgbClr val="007F99"/>
                  </a:solidFill>
                  <a:latin typeface="Exo" pitchFamily="34" charset="0"/>
                  <a:ea typeface="Exo" pitchFamily="34" charset="-122"/>
                  <a:cs typeface="Exo" pitchFamily="34" charset="-120"/>
                </a:rPr>
                <a:t>Tần</a:t>
              </a:r>
              <a:r>
                <a:rPr lang="en-US" sz="1200" dirty="0">
                  <a:solidFill>
                    <a:srgbClr val="007F99"/>
                  </a:solidFill>
                  <a:latin typeface="Exo" pitchFamily="34" charset="0"/>
                  <a:ea typeface="Exo" pitchFamily="34" charset="-122"/>
                  <a:cs typeface="Exo" pitchFamily="34" charset="-120"/>
                </a:rPr>
                <a:t> suất 3000 FH</a:t>
              </a:r>
              <a:endParaRPr lang="en-US" sz="1200" dirty="0"/>
            </a:p>
          </p:txBody>
        </p:sp>
        <p:sp>
          <p:nvSpPr>
            <p:cNvPr id="90" name="Shape 7">
              <a:extLst>
                <a:ext uri="{FF2B5EF4-FFF2-40B4-BE49-F238E27FC236}">
                  <a16:creationId xmlns:a16="http://schemas.microsoft.com/office/drawing/2014/main" id="{E9AF4D29-C4CB-B2BD-DA9E-6958056AA1E7}"/>
                </a:ext>
              </a:extLst>
            </p:cNvPr>
            <p:cNvSpPr/>
            <p:nvPr/>
          </p:nvSpPr>
          <p:spPr>
            <a:xfrm>
              <a:off x="5898853" y="2661146"/>
              <a:ext cx="529729" cy="19050"/>
            </a:xfrm>
            <a:prstGeom prst="roundRect">
              <a:avLst>
                <a:gd name="adj" fmla="val 834312"/>
              </a:avLst>
            </a:prstGeom>
            <a:solidFill>
              <a:srgbClr val="B6DCE1"/>
            </a:solidFill>
            <a:ln/>
          </p:spPr>
        </p:sp>
        <p:sp>
          <p:nvSpPr>
            <p:cNvPr id="91" name="Shape 8">
              <a:extLst>
                <a:ext uri="{FF2B5EF4-FFF2-40B4-BE49-F238E27FC236}">
                  <a16:creationId xmlns:a16="http://schemas.microsoft.com/office/drawing/2014/main" id="{B0E9A4FD-051F-D39E-5B4B-123571563396}"/>
                </a:ext>
              </a:extLst>
            </p:cNvPr>
            <p:cNvSpPr/>
            <p:nvPr/>
          </p:nvSpPr>
          <p:spPr>
            <a:xfrm>
              <a:off x="5520631" y="2472035"/>
              <a:ext cx="397272" cy="397272"/>
            </a:xfrm>
            <a:prstGeom prst="roundRect">
              <a:avLst>
                <a:gd name="adj" fmla="val 40007"/>
              </a:avLst>
            </a:prstGeom>
            <a:solidFill>
              <a:srgbClr val="D0F6FB"/>
            </a:solidFill>
            <a:ln w="7620">
              <a:solidFill>
                <a:srgbClr val="B6DCE1"/>
              </a:solidFill>
              <a:prstDash val="solid"/>
            </a:ln>
          </p:spPr>
        </p:sp>
        <p:sp>
          <p:nvSpPr>
            <p:cNvPr id="92" name="Text 9">
              <a:extLst>
                <a:ext uri="{FF2B5EF4-FFF2-40B4-BE49-F238E27FC236}">
                  <a16:creationId xmlns:a16="http://schemas.microsoft.com/office/drawing/2014/main" id="{BD6EC548-A9B7-FB4D-8CD2-6B641395AEBB}"/>
                </a:ext>
              </a:extLst>
            </p:cNvPr>
            <p:cNvSpPr/>
            <p:nvPr/>
          </p:nvSpPr>
          <p:spPr>
            <a:xfrm>
              <a:off x="5586859" y="2505125"/>
              <a:ext cx="264815" cy="331094"/>
            </a:xfrm>
            <a:prstGeom prst="rect">
              <a:avLst/>
            </a:prstGeom>
            <a:noFill/>
            <a:ln/>
          </p:spPr>
          <p:txBody>
            <a:bodyPr wrap="none" lIns="0" tIns="0" rIns="0" bIns="0" rtlCol="0" anchor="t"/>
            <a:lstStyle/>
            <a:p>
              <a:pPr algn="ctr">
                <a:lnSpc>
                  <a:spcPts val="2083"/>
                </a:lnSpc>
              </a:pPr>
              <a:r>
                <a:rPr lang="en-US" sz="2000" b="1" dirty="0">
                  <a:solidFill>
                    <a:srgbClr val="000000"/>
                  </a:solidFill>
                  <a:latin typeface="Montserrat Bold" pitchFamily="34" charset="0"/>
                  <a:ea typeface="Montserrat Bold" pitchFamily="34" charset="-122"/>
                  <a:cs typeface="Montserrat Bold" pitchFamily="34" charset="-120"/>
                </a:rPr>
                <a:t>2</a:t>
              </a:r>
              <a:endParaRPr lang="en-US" sz="2000" dirty="0"/>
            </a:p>
          </p:txBody>
        </p:sp>
        <p:sp>
          <p:nvSpPr>
            <p:cNvPr id="93" name="Text 10">
              <a:extLst>
                <a:ext uri="{FF2B5EF4-FFF2-40B4-BE49-F238E27FC236}">
                  <a16:creationId xmlns:a16="http://schemas.microsoft.com/office/drawing/2014/main" id="{02CE6B36-A4DE-6127-2E7A-4BD548531643}"/>
                </a:ext>
              </a:extLst>
            </p:cNvPr>
            <p:cNvSpPr/>
            <p:nvPr/>
          </p:nvSpPr>
          <p:spPr>
            <a:xfrm>
              <a:off x="6602215" y="2449909"/>
              <a:ext cx="2553097" cy="275928"/>
            </a:xfrm>
            <a:prstGeom prst="rect">
              <a:avLst/>
            </a:prstGeom>
            <a:noFill/>
            <a:ln/>
          </p:spPr>
          <p:txBody>
            <a:bodyPr wrap="none" lIns="0" tIns="0" rIns="0" bIns="0" rtlCol="0" anchor="t"/>
            <a:lstStyle/>
            <a:p>
              <a:pPr>
                <a:lnSpc>
                  <a:spcPts val="2167"/>
                </a:lnSpc>
              </a:pPr>
              <a:r>
                <a:rPr lang="en-US" sz="1600" b="1" dirty="0">
                  <a:solidFill>
                    <a:srgbClr val="007F99"/>
                  </a:solidFill>
                  <a:latin typeface="Montserrat Bold" pitchFamily="34" charset="0"/>
                  <a:ea typeface="Montserrat Bold" pitchFamily="34" charset="-122"/>
                  <a:cs typeface="Montserrat Bold" pitchFamily="34" charset="-120"/>
                </a:rPr>
                <a:t>Lần kiểm tra gần nhất</a:t>
              </a:r>
              <a:endParaRPr lang="en-US" sz="1600" dirty="0"/>
            </a:p>
          </p:txBody>
        </p:sp>
        <p:sp>
          <p:nvSpPr>
            <p:cNvPr id="94" name="Text 11">
              <a:extLst>
                <a:ext uri="{FF2B5EF4-FFF2-40B4-BE49-F238E27FC236}">
                  <a16:creationId xmlns:a16="http://schemas.microsoft.com/office/drawing/2014/main" id="{84E241D3-0D6F-FB17-59B6-5C1464A3C852}"/>
                </a:ext>
              </a:extLst>
            </p:cNvPr>
            <p:cNvSpPr/>
            <p:nvPr/>
          </p:nvSpPr>
          <p:spPr>
            <a:xfrm>
              <a:off x="6602217" y="2831703"/>
              <a:ext cx="3943367" cy="847725"/>
            </a:xfrm>
            <a:prstGeom prst="rect">
              <a:avLst/>
            </a:prstGeom>
            <a:noFill/>
            <a:ln/>
          </p:spPr>
          <p:txBody>
            <a:bodyPr wrap="square" lIns="0" tIns="0" rIns="0" bIns="0" rtlCol="0" anchor="t"/>
            <a:lstStyle/>
            <a:p>
              <a:pPr marL="171450" indent="-171450">
                <a:buFont typeface="Courier New" panose="02070309020205020404" pitchFamily="49" charset="0"/>
                <a:buChar char="o"/>
              </a:pPr>
              <a:r>
                <a:rPr lang="en-US" sz="1200" dirty="0">
                  <a:solidFill>
                    <a:srgbClr val="007F99"/>
                  </a:solidFill>
                  <a:latin typeface="Exo" pitchFamily="34" charset="0"/>
                  <a:ea typeface="Exo" pitchFamily="34" charset="-122"/>
                  <a:cs typeface="Exo" pitchFamily="34" charset="-120"/>
                </a:rPr>
                <a:t>B218 được thực hiện task này lần gần nhất vào 02/11/2023 nhưng không có finding. </a:t>
              </a:r>
            </a:p>
            <a:p>
              <a:pPr marL="171450" indent="-171450">
                <a:buFont typeface="Courier New" panose="02070309020205020404" pitchFamily="49" charset="0"/>
                <a:buChar char="o"/>
              </a:pPr>
              <a:r>
                <a:rPr lang="en-US" sz="1200" dirty="0" err="1">
                  <a:solidFill>
                    <a:srgbClr val="007F99"/>
                  </a:solidFill>
                  <a:latin typeface="Exo" pitchFamily="34" charset="0"/>
                  <a:ea typeface="Exo" pitchFamily="34" charset="-122"/>
                  <a:cs typeface="Exo" pitchFamily="34" charset="-120"/>
                </a:rPr>
                <a:t>Dự</a:t>
              </a:r>
              <a:r>
                <a:rPr lang="en-US" sz="1200" dirty="0">
                  <a:solidFill>
                    <a:srgbClr val="007F99"/>
                  </a:solidFill>
                  <a:latin typeface="Exo" pitchFamily="34" charset="0"/>
                  <a:ea typeface="Exo" pitchFamily="34" charset="-122"/>
                  <a:cs typeface="Exo" pitchFamily="34" charset="-120"/>
                </a:rPr>
                <a:t> kiến lần kiểm tra tiếp theo vào Jun/2025</a:t>
              </a:r>
              <a:endParaRPr lang="en-US" sz="1200" dirty="0"/>
            </a:p>
          </p:txBody>
        </p:sp>
        <p:sp>
          <p:nvSpPr>
            <p:cNvPr id="95" name="Shape 12">
              <a:extLst>
                <a:ext uri="{FF2B5EF4-FFF2-40B4-BE49-F238E27FC236}">
                  <a16:creationId xmlns:a16="http://schemas.microsoft.com/office/drawing/2014/main" id="{D694E5FB-BEAF-ACD2-4D6B-84D32CCF6BF2}"/>
                </a:ext>
              </a:extLst>
            </p:cNvPr>
            <p:cNvSpPr/>
            <p:nvPr/>
          </p:nvSpPr>
          <p:spPr>
            <a:xfrm>
              <a:off x="5009952" y="4102497"/>
              <a:ext cx="529729" cy="19050"/>
            </a:xfrm>
            <a:prstGeom prst="roundRect">
              <a:avLst>
                <a:gd name="adj" fmla="val 834312"/>
              </a:avLst>
            </a:prstGeom>
            <a:solidFill>
              <a:srgbClr val="B6DCE1"/>
            </a:solidFill>
            <a:ln/>
          </p:spPr>
        </p:sp>
        <p:sp>
          <p:nvSpPr>
            <p:cNvPr id="96" name="Shape 13">
              <a:extLst>
                <a:ext uri="{FF2B5EF4-FFF2-40B4-BE49-F238E27FC236}">
                  <a16:creationId xmlns:a16="http://schemas.microsoft.com/office/drawing/2014/main" id="{F2B44E5A-EC2C-7CB2-21C5-3B3AA7841F34}"/>
                </a:ext>
              </a:extLst>
            </p:cNvPr>
            <p:cNvSpPr/>
            <p:nvPr/>
          </p:nvSpPr>
          <p:spPr>
            <a:xfrm>
              <a:off x="5520631" y="3913386"/>
              <a:ext cx="397272" cy="397272"/>
            </a:xfrm>
            <a:prstGeom prst="roundRect">
              <a:avLst>
                <a:gd name="adj" fmla="val 40007"/>
              </a:avLst>
            </a:prstGeom>
            <a:solidFill>
              <a:srgbClr val="D0F6FB"/>
            </a:solidFill>
            <a:ln w="7620">
              <a:solidFill>
                <a:srgbClr val="B6DCE1"/>
              </a:solidFill>
              <a:prstDash val="solid"/>
            </a:ln>
          </p:spPr>
        </p:sp>
        <p:sp>
          <p:nvSpPr>
            <p:cNvPr id="97" name="Text 14">
              <a:extLst>
                <a:ext uri="{FF2B5EF4-FFF2-40B4-BE49-F238E27FC236}">
                  <a16:creationId xmlns:a16="http://schemas.microsoft.com/office/drawing/2014/main" id="{BE342DBA-8AD0-A763-02BC-833FA01EB3EF}"/>
                </a:ext>
              </a:extLst>
            </p:cNvPr>
            <p:cNvSpPr/>
            <p:nvPr/>
          </p:nvSpPr>
          <p:spPr>
            <a:xfrm>
              <a:off x="5586859" y="3946475"/>
              <a:ext cx="264815" cy="331093"/>
            </a:xfrm>
            <a:prstGeom prst="rect">
              <a:avLst/>
            </a:prstGeom>
            <a:noFill/>
            <a:ln/>
          </p:spPr>
          <p:txBody>
            <a:bodyPr wrap="none" lIns="0" tIns="0" rIns="0" bIns="0" rtlCol="0" anchor="t"/>
            <a:lstStyle/>
            <a:p>
              <a:pPr algn="ctr">
                <a:lnSpc>
                  <a:spcPts val="2083"/>
                </a:lnSpc>
              </a:pPr>
              <a:r>
                <a:rPr lang="en-US" sz="2000" b="1" dirty="0">
                  <a:solidFill>
                    <a:srgbClr val="000000"/>
                  </a:solidFill>
                  <a:latin typeface="Montserrat Bold" pitchFamily="34" charset="0"/>
                  <a:ea typeface="Montserrat Bold" pitchFamily="34" charset="-122"/>
                  <a:cs typeface="Montserrat Bold" pitchFamily="34" charset="-120"/>
                </a:rPr>
                <a:t>3</a:t>
              </a:r>
              <a:endParaRPr lang="en-US" sz="2000" dirty="0"/>
            </a:p>
          </p:txBody>
        </p:sp>
        <p:sp>
          <p:nvSpPr>
            <p:cNvPr id="98" name="Text 15">
              <a:extLst>
                <a:ext uri="{FF2B5EF4-FFF2-40B4-BE49-F238E27FC236}">
                  <a16:creationId xmlns:a16="http://schemas.microsoft.com/office/drawing/2014/main" id="{662FA140-1B84-1622-BB8A-97D115579D72}"/>
                </a:ext>
              </a:extLst>
            </p:cNvPr>
            <p:cNvSpPr/>
            <p:nvPr/>
          </p:nvSpPr>
          <p:spPr>
            <a:xfrm>
              <a:off x="2628901" y="3891260"/>
              <a:ext cx="2207419" cy="275928"/>
            </a:xfrm>
            <a:prstGeom prst="rect">
              <a:avLst/>
            </a:prstGeom>
            <a:noFill/>
            <a:ln/>
          </p:spPr>
          <p:txBody>
            <a:bodyPr wrap="none" lIns="0" tIns="0" rIns="0" bIns="0" rtlCol="0" anchor="t"/>
            <a:lstStyle/>
            <a:p>
              <a:pPr algn="r">
                <a:lnSpc>
                  <a:spcPts val="2167"/>
                </a:lnSpc>
              </a:pPr>
              <a:r>
                <a:rPr lang="en-US" sz="1600" b="1" dirty="0">
                  <a:solidFill>
                    <a:srgbClr val="007F99"/>
                  </a:solidFill>
                  <a:latin typeface="Montserrat Bold" pitchFamily="34" charset="0"/>
                  <a:ea typeface="Montserrat Bold" pitchFamily="34" charset="-122"/>
                  <a:cs typeface="Montserrat Bold" pitchFamily="34" charset="-120"/>
                </a:rPr>
                <a:t>Thay thế định kỳ</a:t>
              </a:r>
              <a:endParaRPr lang="en-US" sz="1600" dirty="0"/>
            </a:p>
          </p:txBody>
        </p:sp>
        <p:sp>
          <p:nvSpPr>
            <p:cNvPr id="99" name="Text 16">
              <a:extLst>
                <a:ext uri="{FF2B5EF4-FFF2-40B4-BE49-F238E27FC236}">
                  <a16:creationId xmlns:a16="http://schemas.microsoft.com/office/drawing/2014/main" id="{CD6BC489-705D-5290-396B-9A8FD78BED31}"/>
                </a:ext>
              </a:extLst>
            </p:cNvPr>
            <p:cNvSpPr/>
            <p:nvPr/>
          </p:nvSpPr>
          <p:spPr>
            <a:xfrm>
              <a:off x="1039820" y="4273055"/>
              <a:ext cx="3796496" cy="1130300"/>
            </a:xfrm>
            <a:prstGeom prst="rect">
              <a:avLst/>
            </a:prstGeom>
            <a:noFill/>
            <a:ln/>
          </p:spPr>
          <p:txBody>
            <a:bodyPr wrap="square" lIns="0" tIns="0" rIns="0" bIns="0" rtlCol="0" anchor="t"/>
            <a:lstStyle/>
            <a:p>
              <a:pPr marL="171450" indent="-171450" algn="just">
                <a:buFont typeface="Courier New" panose="02070309020205020404" pitchFamily="49" charset="0"/>
                <a:buChar char="o"/>
              </a:pPr>
              <a:r>
                <a:rPr lang="en-US" sz="1200" dirty="0">
                  <a:solidFill>
                    <a:srgbClr val="007F99"/>
                  </a:solidFill>
                  <a:latin typeface="Exo" pitchFamily="34" charset="0"/>
                  <a:ea typeface="Exo" pitchFamily="34" charset="-122"/>
                  <a:cs typeface="Exo" pitchFamily="34" charset="-120"/>
                </a:rPr>
                <a:t>Ngoài ra, Seal này cũng được thực hiện thay thế theo AMP Task VNA-21 -CHK-10000-1, tần suất 2Y. </a:t>
              </a:r>
            </a:p>
            <a:p>
              <a:pPr marL="171450" indent="-171450" algn="just">
                <a:buFont typeface="Courier New" panose="02070309020205020404" pitchFamily="49" charset="0"/>
                <a:buChar char="o"/>
              </a:pPr>
              <a:r>
                <a:rPr lang="en-US" sz="1200" dirty="0">
                  <a:solidFill>
                    <a:srgbClr val="007F99"/>
                  </a:solidFill>
                  <a:latin typeface="Exo" pitchFamily="34" charset="0"/>
                  <a:ea typeface="Exo" pitchFamily="34" charset="-122"/>
                  <a:cs typeface="Exo" pitchFamily="34" charset="-120"/>
                </a:rPr>
                <a:t>Seal trên B218 được thay gần nhất vào 02/06/2023 tại Y02-check.</a:t>
              </a:r>
              <a:endParaRPr lang="en-US" sz="1200" dirty="0"/>
            </a:p>
          </p:txBody>
        </p:sp>
        <p:sp>
          <p:nvSpPr>
            <p:cNvPr id="100" name="Shape 17">
              <a:extLst>
                <a:ext uri="{FF2B5EF4-FFF2-40B4-BE49-F238E27FC236}">
                  <a16:creationId xmlns:a16="http://schemas.microsoft.com/office/drawing/2014/main" id="{0CAF22B5-CA87-A6AF-3F65-A62816DE5537}"/>
                </a:ext>
              </a:extLst>
            </p:cNvPr>
            <p:cNvSpPr/>
            <p:nvPr/>
          </p:nvSpPr>
          <p:spPr>
            <a:xfrm>
              <a:off x="5898853" y="5123259"/>
              <a:ext cx="529729" cy="19050"/>
            </a:xfrm>
            <a:prstGeom prst="roundRect">
              <a:avLst>
                <a:gd name="adj" fmla="val 834312"/>
              </a:avLst>
            </a:prstGeom>
            <a:solidFill>
              <a:srgbClr val="B6DCE1"/>
            </a:solidFill>
            <a:ln/>
          </p:spPr>
        </p:sp>
        <p:sp>
          <p:nvSpPr>
            <p:cNvPr id="101" name="Shape 18">
              <a:extLst>
                <a:ext uri="{FF2B5EF4-FFF2-40B4-BE49-F238E27FC236}">
                  <a16:creationId xmlns:a16="http://schemas.microsoft.com/office/drawing/2014/main" id="{BE33E253-8D41-9FD4-7C58-6CB903235DE6}"/>
                </a:ext>
              </a:extLst>
            </p:cNvPr>
            <p:cNvSpPr/>
            <p:nvPr/>
          </p:nvSpPr>
          <p:spPr>
            <a:xfrm>
              <a:off x="5520631" y="4934148"/>
              <a:ext cx="397272" cy="397272"/>
            </a:xfrm>
            <a:prstGeom prst="roundRect">
              <a:avLst>
                <a:gd name="adj" fmla="val 40007"/>
              </a:avLst>
            </a:prstGeom>
            <a:solidFill>
              <a:srgbClr val="D0F6FB"/>
            </a:solidFill>
            <a:ln w="7620">
              <a:solidFill>
                <a:srgbClr val="B6DCE1"/>
              </a:solidFill>
              <a:prstDash val="solid"/>
            </a:ln>
          </p:spPr>
        </p:sp>
        <p:sp>
          <p:nvSpPr>
            <p:cNvPr id="102" name="Text 19">
              <a:extLst>
                <a:ext uri="{FF2B5EF4-FFF2-40B4-BE49-F238E27FC236}">
                  <a16:creationId xmlns:a16="http://schemas.microsoft.com/office/drawing/2014/main" id="{4D83A9B1-7651-E1FD-3753-3EACEBD8C617}"/>
                </a:ext>
              </a:extLst>
            </p:cNvPr>
            <p:cNvSpPr/>
            <p:nvPr/>
          </p:nvSpPr>
          <p:spPr>
            <a:xfrm>
              <a:off x="5586859" y="4967238"/>
              <a:ext cx="264815" cy="331093"/>
            </a:xfrm>
            <a:prstGeom prst="rect">
              <a:avLst/>
            </a:prstGeom>
            <a:noFill/>
            <a:ln/>
          </p:spPr>
          <p:txBody>
            <a:bodyPr wrap="none" lIns="0" tIns="0" rIns="0" bIns="0" rtlCol="0" anchor="t"/>
            <a:lstStyle/>
            <a:p>
              <a:pPr algn="ctr">
                <a:lnSpc>
                  <a:spcPts val="2083"/>
                </a:lnSpc>
              </a:pPr>
              <a:r>
                <a:rPr lang="en-US" sz="2000" b="1" dirty="0">
                  <a:solidFill>
                    <a:srgbClr val="000000"/>
                  </a:solidFill>
                  <a:latin typeface="Montserrat Bold" pitchFamily="34" charset="0"/>
                  <a:ea typeface="Montserrat Bold" pitchFamily="34" charset="-122"/>
                  <a:cs typeface="Montserrat Bold" pitchFamily="34" charset="-120"/>
                </a:rPr>
                <a:t>4</a:t>
              </a:r>
              <a:endParaRPr lang="en-US" sz="2000" dirty="0"/>
            </a:p>
          </p:txBody>
        </p:sp>
        <p:sp>
          <p:nvSpPr>
            <p:cNvPr id="103" name="Text 20">
              <a:extLst>
                <a:ext uri="{FF2B5EF4-FFF2-40B4-BE49-F238E27FC236}">
                  <a16:creationId xmlns:a16="http://schemas.microsoft.com/office/drawing/2014/main" id="{2EE263EC-C7C3-C763-390A-DF8F647F8E37}"/>
                </a:ext>
              </a:extLst>
            </p:cNvPr>
            <p:cNvSpPr/>
            <p:nvPr/>
          </p:nvSpPr>
          <p:spPr>
            <a:xfrm>
              <a:off x="6602215" y="4912023"/>
              <a:ext cx="2207419" cy="275928"/>
            </a:xfrm>
            <a:prstGeom prst="rect">
              <a:avLst/>
            </a:prstGeom>
            <a:noFill/>
            <a:ln/>
          </p:spPr>
          <p:txBody>
            <a:bodyPr wrap="none" lIns="0" tIns="0" rIns="0" bIns="0" rtlCol="0" anchor="t"/>
            <a:lstStyle/>
            <a:p>
              <a:pPr>
                <a:lnSpc>
                  <a:spcPts val="2167"/>
                </a:lnSpc>
              </a:pPr>
              <a:r>
                <a:rPr lang="en-US" sz="1600" b="1" dirty="0">
                  <a:solidFill>
                    <a:srgbClr val="007F99"/>
                  </a:solidFill>
                  <a:latin typeface="Montserrat Bold" pitchFamily="34" charset="0"/>
                  <a:ea typeface="Montserrat Bold" pitchFamily="34" charset="-122"/>
                  <a:cs typeface="Montserrat Bold" pitchFamily="34" charset="-120"/>
                </a:rPr>
                <a:t>Đề xuất giải pháp</a:t>
              </a:r>
              <a:endParaRPr lang="en-US" sz="1600" dirty="0"/>
            </a:p>
          </p:txBody>
        </p:sp>
        <p:sp>
          <p:nvSpPr>
            <p:cNvPr id="104" name="Text 21">
              <a:extLst>
                <a:ext uri="{FF2B5EF4-FFF2-40B4-BE49-F238E27FC236}">
                  <a16:creationId xmlns:a16="http://schemas.microsoft.com/office/drawing/2014/main" id="{6588211C-4677-AD12-0BC5-13A9CECEBC50}"/>
                </a:ext>
              </a:extLst>
            </p:cNvPr>
            <p:cNvSpPr/>
            <p:nvPr/>
          </p:nvSpPr>
          <p:spPr>
            <a:xfrm>
              <a:off x="6602214" y="5293817"/>
              <a:ext cx="3820486" cy="565150"/>
            </a:xfrm>
            <a:prstGeom prst="rect">
              <a:avLst/>
            </a:prstGeom>
            <a:noFill/>
            <a:ln/>
          </p:spPr>
          <p:txBody>
            <a:bodyPr wrap="square" lIns="0" tIns="0" rIns="0" bIns="0" rtlCol="0" anchor="t"/>
            <a:lstStyle/>
            <a:p>
              <a:r>
                <a:rPr lang="en-US" sz="1200" dirty="0">
                  <a:solidFill>
                    <a:srgbClr val="007F99"/>
                  </a:solidFill>
                  <a:latin typeface="Exo" pitchFamily="34" charset="0"/>
                  <a:ea typeface="Exo" pitchFamily="34" charset="-122"/>
                  <a:cs typeface="Exo" pitchFamily="34" charset="-120"/>
                </a:rPr>
                <a:t>Sẽ xem xét lại tần suất AMP task để triển khai thay thế seal này ở tần </a:t>
              </a:r>
              <a:r>
                <a:rPr lang="en-US" sz="1200" dirty="0" err="1">
                  <a:solidFill>
                    <a:srgbClr val="007F99"/>
                  </a:solidFill>
                  <a:latin typeface="Exo" pitchFamily="34" charset="0"/>
                  <a:ea typeface="Exo" pitchFamily="34" charset="-122"/>
                  <a:cs typeface="Exo" pitchFamily="34" charset="-120"/>
                </a:rPr>
                <a:t>suất</a:t>
              </a:r>
              <a:r>
                <a:rPr lang="en-US" sz="1200" dirty="0">
                  <a:solidFill>
                    <a:srgbClr val="007F99"/>
                  </a:solidFill>
                  <a:latin typeface="Exo" pitchFamily="34" charset="0"/>
                  <a:ea typeface="Exo" pitchFamily="34" charset="-122"/>
                  <a:cs typeface="Exo" pitchFamily="34" charset="-120"/>
                </a:rPr>
                <a:t> 4A (</a:t>
              </a:r>
              <a:r>
                <a:rPr lang="en-US" sz="1200" dirty="0" err="1">
                  <a:solidFill>
                    <a:srgbClr val="007F99"/>
                  </a:solidFill>
                  <a:latin typeface="Exo" pitchFamily="34" charset="0"/>
                  <a:ea typeface="Exo" pitchFamily="34" charset="-122"/>
                  <a:cs typeface="Exo" pitchFamily="34" charset="-120"/>
                </a:rPr>
                <a:t>khoảng</a:t>
              </a:r>
              <a:r>
                <a:rPr lang="en-US" sz="1200" dirty="0">
                  <a:solidFill>
                    <a:srgbClr val="007F99"/>
                  </a:solidFill>
                  <a:latin typeface="Exo" pitchFamily="34" charset="0"/>
                  <a:ea typeface="Exo" pitchFamily="34" charset="-122"/>
                  <a:cs typeface="Exo" pitchFamily="34" charset="-120"/>
                </a:rPr>
                <a:t> 1Y)</a:t>
              </a:r>
              <a:endParaRPr lang="en-US" sz="1200" dirty="0"/>
            </a:p>
          </p:txBody>
        </p:sp>
      </p:grpSp>
      <p:sp>
        <p:nvSpPr>
          <p:cNvPr id="105" name="TextBox 104">
            <a:extLst>
              <a:ext uri="{FF2B5EF4-FFF2-40B4-BE49-F238E27FC236}">
                <a16:creationId xmlns:a16="http://schemas.microsoft.com/office/drawing/2014/main" id="{1A6E90B3-E851-5B52-8F6C-1DB1C5A26BBE}"/>
              </a:ext>
            </a:extLst>
          </p:cNvPr>
          <p:cNvSpPr txBox="1"/>
          <p:nvPr/>
        </p:nvSpPr>
        <p:spPr>
          <a:xfrm>
            <a:off x="185980" y="2491473"/>
            <a:ext cx="7006691" cy="338554"/>
          </a:xfrm>
          <a:prstGeom prst="rect">
            <a:avLst/>
          </a:prstGeom>
          <a:noFill/>
        </p:spPr>
        <p:txBody>
          <a:bodyPr wrap="square" rtlCol="0">
            <a:spAutoFit/>
          </a:bodyPr>
          <a:lstStyle/>
          <a:p>
            <a:r>
              <a:rPr lang="en-US" sz="1600" b="1" dirty="0" err="1">
                <a:solidFill>
                  <a:srgbClr val="007F99"/>
                </a:solidFill>
                <a:latin typeface="Exo" pitchFamily="34" charset="0"/>
                <a:ea typeface="Exo" pitchFamily="34" charset="-122"/>
                <a:cs typeface="Exo" pitchFamily="34" charset="-120"/>
              </a:rPr>
              <a:t>Với</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hỏng</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hóc</a:t>
            </a:r>
            <a:r>
              <a:rPr lang="en-US" sz="1600" b="1" dirty="0">
                <a:solidFill>
                  <a:srgbClr val="007F99"/>
                </a:solidFill>
                <a:latin typeface="Exo" pitchFamily="34" charset="0"/>
                <a:ea typeface="Exo" pitchFamily="34" charset="-122"/>
                <a:cs typeface="Exo" pitchFamily="34" charset="-120"/>
              </a:rPr>
              <a:t> O-ring seal này </a:t>
            </a:r>
            <a:r>
              <a:rPr lang="en-US" sz="1600" b="1" dirty="0" err="1">
                <a:solidFill>
                  <a:srgbClr val="007F99"/>
                </a:solidFill>
                <a:latin typeface="Exo" pitchFamily="34" charset="0"/>
                <a:ea typeface="Exo" pitchFamily="34" charset="-122"/>
                <a:cs typeface="Exo" pitchFamily="34" charset="-120"/>
              </a:rPr>
              <a:t>thì</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đã</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có</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chương</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trình</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đánh</a:t>
            </a:r>
            <a:r>
              <a:rPr lang="en-US" sz="1600" b="1" dirty="0">
                <a:solidFill>
                  <a:srgbClr val="007F99"/>
                </a:solidFill>
                <a:latin typeface="Exo" pitchFamily="34" charset="0"/>
                <a:ea typeface="Exo" pitchFamily="34" charset="-122"/>
                <a:cs typeface="Exo" pitchFamily="34" charset="-120"/>
              </a:rPr>
              <a:t> </a:t>
            </a:r>
            <a:r>
              <a:rPr lang="en-US" sz="1600" b="1" dirty="0" err="1">
                <a:solidFill>
                  <a:srgbClr val="007F99"/>
                </a:solidFill>
                <a:latin typeface="Exo" pitchFamily="34" charset="0"/>
                <a:ea typeface="Exo" pitchFamily="34" charset="-122"/>
                <a:cs typeface="Exo" pitchFamily="34" charset="-120"/>
              </a:rPr>
              <a:t>chặn</a:t>
            </a:r>
            <a:endParaRPr lang="en-US" sz="1600" b="1" dirty="0"/>
          </a:p>
        </p:txBody>
      </p:sp>
      <p:pic>
        <p:nvPicPr>
          <p:cNvPr id="107" name="Picture 106">
            <a:extLst>
              <a:ext uri="{FF2B5EF4-FFF2-40B4-BE49-F238E27FC236}">
                <a16:creationId xmlns:a16="http://schemas.microsoft.com/office/drawing/2014/main" id="{54666326-277B-F41D-1F6F-A01CE4026BDE}"/>
              </a:ext>
            </a:extLst>
          </p:cNvPr>
          <p:cNvPicPr>
            <a:picLocks noChangeAspect="1"/>
          </p:cNvPicPr>
          <p:nvPr/>
        </p:nvPicPr>
        <p:blipFill>
          <a:blip r:embed="rId4"/>
          <a:stretch>
            <a:fillRect/>
          </a:stretch>
        </p:blipFill>
        <p:spPr>
          <a:xfrm>
            <a:off x="7985665" y="5040342"/>
            <a:ext cx="1278690" cy="1084088"/>
          </a:xfrm>
          <a:prstGeom prst="rect">
            <a:avLst/>
          </a:prstGeom>
        </p:spPr>
      </p:pic>
    </p:spTree>
    <p:extLst>
      <p:ext uri="{BB962C8B-B14F-4D97-AF65-F5344CB8AC3E}">
        <p14:creationId xmlns:p14="http://schemas.microsoft.com/office/powerpoint/2010/main" val="894393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F868-F704-0413-4D83-5C742E05080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4881D0-FE43-DE16-42D7-39511E410D1A}"/>
              </a:ext>
            </a:extLst>
          </p:cNvPr>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ATR72- ATA 21 &amp; ATA36 </a:t>
            </a:r>
            <a:endParaRPr lang="vi-VN" sz="2800"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D322C212-8E93-0840-8F7B-F6B3F40E95F2}"/>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7BB742B4-7ECB-CEB2-3903-B028EBC16CC2}"/>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850EFBA-828A-A96F-47B4-A1B691E8537C}"/>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4. Các </a:t>
              </a:r>
              <a:r>
                <a:rPr lang="en-US" sz="1600" b="1" dirty="0" err="1">
                  <a:solidFill>
                    <a:srgbClr val="002060"/>
                  </a:solidFill>
                  <a:latin typeface="Arial" panose="020B0604020202020204" pitchFamily="34" charset="0"/>
                  <a:cs typeface="Arial" panose="020B0604020202020204" pitchFamily="34" charset="0"/>
                </a:rPr>
                <a:t>giải</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pháp</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cho</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hệ</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thống</a:t>
              </a:r>
              <a:r>
                <a:rPr lang="en-US" sz="1600" b="1" dirty="0">
                  <a:solidFill>
                    <a:srgbClr val="002060"/>
                  </a:solidFill>
                  <a:latin typeface="Arial" panose="020B0604020202020204" pitchFamily="34" charset="0"/>
                  <a:cs typeface="Arial" panose="020B0604020202020204" pitchFamily="34" charset="0"/>
                </a:rPr>
                <a:t> ATA21 &amp; 36</a:t>
              </a:r>
            </a:p>
          </p:txBody>
        </p:sp>
      </p:grpSp>
      <p:sp>
        <p:nvSpPr>
          <p:cNvPr id="4" name="TextBox 3">
            <a:extLst>
              <a:ext uri="{FF2B5EF4-FFF2-40B4-BE49-F238E27FC236}">
                <a16:creationId xmlns:a16="http://schemas.microsoft.com/office/drawing/2014/main" id="{E1A4FAC0-A270-B8B1-FF5E-687E5B87DF24}"/>
              </a:ext>
            </a:extLst>
          </p:cNvPr>
          <p:cNvSpPr txBox="1"/>
          <p:nvPr/>
        </p:nvSpPr>
        <p:spPr>
          <a:xfrm>
            <a:off x="754602" y="1289027"/>
            <a:ext cx="6516210" cy="369332"/>
          </a:xfrm>
          <a:prstGeom prst="rect">
            <a:avLst/>
          </a:prstGeom>
          <a:noFill/>
        </p:spPr>
        <p:txBody>
          <a:bodyPr wrap="square" rtlCol="0">
            <a:spAutoFit/>
          </a:bodyPr>
          <a:lstStyle/>
          <a:p>
            <a:r>
              <a:rPr lang="en-US" b="1" dirty="0">
                <a:solidFill>
                  <a:srgbClr val="002060"/>
                </a:solidFill>
              </a:rPr>
              <a:t>a, </a:t>
            </a:r>
            <a:r>
              <a:rPr lang="en-US" b="1" dirty="0" err="1">
                <a:solidFill>
                  <a:srgbClr val="002060"/>
                </a:solidFill>
              </a:rPr>
              <a:t>Giải</a:t>
            </a:r>
            <a:r>
              <a:rPr lang="en-US" b="1" dirty="0">
                <a:solidFill>
                  <a:srgbClr val="002060"/>
                </a:solidFill>
              </a:rPr>
              <a:t> </a:t>
            </a:r>
            <a:r>
              <a:rPr lang="en-US" b="1" dirty="0" err="1">
                <a:solidFill>
                  <a:srgbClr val="002060"/>
                </a:solidFill>
                <a:latin typeface="Times New Roman" panose="02020603050405020304" pitchFamily="18" charset="0"/>
                <a:cs typeface="Times New Roman" panose="02020603050405020304" pitchFamily="18" charset="0"/>
              </a:rPr>
              <a:t>pháp</a:t>
            </a:r>
            <a:r>
              <a:rPr lang="en-US" b="1" dirty="0">
                <a:solidFill>
                  <a:srgbClr val="002060"/>
                </a:solidFill>
              </a:rPr>
              <a:t> </a:t>
            </a:r>
            <a:r>
              <a:rPr lang="en-US" b="1" dirty="0" err="1">
                <a:solidFill>
                  <a:srgbClr val="002060"/>
                </a:solidFill>
              </a:rPr>
              <a:t>nâng</a:t>
            </a:r>
            <a:r>
              <a:rPr lang="en-US" b="1" dirty="0">
                <a:solidFill>
                  <a:srgbClr val="002060"/>
                </a:solidFill>
              </a:rPr>
              <a:t> </a:t>
            </a:r>
            <a:r>
              <a:rPr lang="en-US" b="1" dirty="0" err="1">
                <a:solidFill>
                  <a:srgbClr val="002060"/>
                </a:solidFill>
              </a:rPr>
              <a:t>cấp</a:t>
            </a:r>
            <a:r>
              <a:rPr lang="en-US" b="1" dirty="0">
                <a:solidFill>
                  <a:srgbClr val="002060"/>
                </a:solidFill>
              </a:rPr>
              <a:t> </a:t>
            </a:r>
            <a:r>
              <a:rPr lang="en-US" b="1" dirty="0" err="1">
                <a:solidFill>
                  <a:srgbClr val="002060"/>
                </a:solidFill>
              </a:rPr>
              <a:t>tổng</a:t>
            </a:r>
            <a:r>
              <a:rPr lang="en-US" b="1" dirty="0">
                <a:solidFill>
                  <a:srgbClr val="002060"/>
                </a:solidFill>
              </a:rPr>
              <a:t> </a:t>
            </a:r>
            <a:r>
              <a:rPr lang="en-US" b="1" dirty="0" err="1">
                <a:solidFill>
                  <a:srgbClr val="002060"/>
                </a:solidFill>
              </a:rPr>
              <a:t>thể</a:t>
            </a:r>
            <a:r>
              <a:rPr lang="en-US" b="1" dirty="0">
                <a:solidFill>
                  <a:srgbClr val="002060"/>
                </a:solidFill>
              </a:rPr>
              <a:t> </a:t>
            </a:r>
            <a:r>
              <a:rPr lang="en-US" b="1" dirty="0" err="1">
                <a:solidFill>
                  <a:srgbClr val="002060"/>
                </a:solidFill>
              </a:rPr>
              <a:t>hệ</a:t>
            </a:r>
            <a:r>
              <a:rPr lang="en-US" b="1" dirty="0">
                <a:solidFill>
                  <a:srgbClr val="002060"/>
                </a:solidFill>
              </a:rPr>
              <a:t> </a:t>
            </a:r>
            <a:r>
              <a:rPr lang="en-US" b="1" dirty="0" err="1">
                <a:solidFill>
                  <a:srgbClr val="002060"/>
                </a:solidFill>
              </a:rPr>
              <a:t>thống</a:t>
            </a:r>
            <a:endParaRPr lang="en-US" b="1" dirty="0">
              <a:solidFill>
                <a:srgbClr val="002060"/>
              </a:solidFill>
            </a:endParaRPr>
          </a:p>
        </p:txBody>
      </p:sp>
      <p:pic>
        <p:nvPicPr>
          <p:cNvPr id="8" name="Picture 7">
            <a:extLst>
              <a:ext uri="{FF2B5EF4-FFF2-40B4-BE49-F238E27FC236}">
                <a16:creationId xmlns:a16="http://schemas.microsoft.com/office/drawing/2014/main" id="{FF61E938-329A-1D8C-6795-BFF4AAD9D191}"/>
              </a:ext>
            </a:extLst>
          </p:cNvPr>
          <p:cNvPicPr>
            <a:picLocks noChangeAspect="1"/>
          </p:cNvPicPr>
          <p:nvPr/>
        </p:nvPicPr>
        <p:blipFill>
          <a:blip r:embed="rId3"/>
          <a:stretch>
            <a:fillRect/>
          </a:stretch>
        </p:blipFill>
        <p:spPr>
          <a:xfrm>
            <a:off x="6186431" y="1355542"/>
            <a:ext cx="5899038" cy="4146916"/>
          </a:xfrm>
          <a:prstGeom prst="rect">
            <a:avLst/>
          </a:prstGeom>
        </p:spPr>
      </p:pic>
      <p:sp>
        <p:nvSpPr>
          <p:cNvPr id="10" name="TextBox 9">
            <a:extLst>
              <a:ext uri="{FF2B5EF4-FFF2-40B4-BE49-F238E27FC236}">
                <a16:creationId xmlns:a16="http://schemas.microsoft.com/office/drawing/2014/main" id="{50BF7ADE-7188-D220-47F6-CA7AD9D9CDFA}"/>
              </a:ext>
            </a:extLst>
          </p:cNvPr>
          <p:cNvSpPr txBox="1"/>
          <p:nvPr/>
        </p:nvSpPr>
        <p:spPr>
          <a:xfrm>
            <a:off x="923277" y="1701550"/>
            <a:ext cx="4975761" cy="2339102"/>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2019, Honeywell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ban </a:t>
            </a:r>
            <a:r>
              <a:rPr lang="en-US" sz="1600" dirty="0" err="1">
                <a:latin typeface="Times New Roman" panose="02020603050405020304" pitchFamily="18" charset="0"/>
                <a:cs typeface="Times New Roman" panose="02020603050405020304" pitchFamily="18" charset="0"/>
              </a:rPr>
              <a:t>hành</a:t>
            </a:r>
            <a:r>
              <a:rPr lang="en-US" sz="1600" dirty="0">
                <a:latin typeface="Times New Roman" panose="02020603050405020304" pitchFamily="18" charset="0"/>
                <a:cs typeface="Times New Roman" panose="02020603050405020304" pitchFamily="18" charset="0"/>
              </a:rPr>
              <a:t> VSB 5768C-21-685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nâng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toàn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hệ</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bao </a:t>
            </a:r>
            <a:r>
              <a:rPr lang="en-US" sz="1600" dirty="0" err="1">
                <a:latin typeface="Times New Roman" panose="02020603050405020304" pitchFamily="18" charset="0"/>
                <a:cs typeface="Times New Roman" panose="02020603050405020304" pitchFamily="18" charset="0"/>
              </a:rPr>
              <a:t>gồm</a:t>
            </a:r>
            <a:r>
              <a:rPr lang="en-US" sz="16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Nâng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ACM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VSB 1600D-21-683: chi </a:t>
            </a:r>
            <a:r>
              <a:rPr lang="en-US" sz="1600" dirty="0" err="1">
                <a:latin typeface="Times New Roman" panose="02020603050405020304" pitchFamily="18" charset="0"/>
                <a:cs typeface="Times New Roman" panose="02020603050405020304" pitchFamily="18" charset="0"/>
              </a:rPr>
              <a:t>phí</a:t>
            </a:r>
            <a:r>
              <a:rPr lang="en-US" sz="1600" dirty="0">
                <a:latin typeface="Times New Roman" panose="02020603050405020304" pitchFamily="18" charset="0"/>
                <a:cs typeface="Times New Roman" panose="02020603050405020304" pitchFamily="18" charset="0"/>
              </a:rPr>
              <a:t> 22K USD/ units</a:t>
            </a:r>
          </a:p>
          <a:p>
            <a:pPr marL="285750" indent="-285750">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Nâng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TIC valve: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VSB 5618C-21-672: chi </a:t>
            </a:r>
            <a:r>
              <a:rPr lang="en-US" sz="1600" dirty="0" err="1">
                <a:latin typeface="Times New Roman" panose="02020603050405020304" pitchFamily="18" charset="0"/>
                <a:cs typeface="Times New Roman" panose="02020603050405020304" pitchFamily="18" charset="0"/>
              </a:rPr>
              <a:t>phí</a:t>
            </a:r>
            <a:r>
              <a:rPr lang="en-US" sz="1600" dirty="0">
                <a:latin typeface="Times New Roman" panose="02020603050405020304" pitchFamily="18" charset="0"/>
                <a:cs typeface="Times New Roman" panose="02020603050405020304" pitchFamily="18" charset="0"/>
              </a:rPr>
              <a:t> 3,7K USD/ units</a:t>
            </a:r>
          </a:p>
          <a:p>
            <a:pPr marL="285750" indent="-285750">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Nâng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ECS (</a:t>
            </a:r>
            <a:r>
              <a:rPr lang="en-US" sz="1600" dirty="0" err="1">
                <a:latin typeface="Times New Roman" panose="02020603050405020304" pitchFamily="18" charset="0"/>
                <a:cs typeface="Times New Roman" panose="02020603050405020304" pitchFamily="18" charset="0"/>
              </a:rPr>
              <a:t>cải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tiến</a:t>
            </a:r>
            <a:r>
              <a:rPr lang="en-US" sz="1600" dirty="0">
                <a:latin typeface="Times New Roman" panose="02020603050405020304" pitchFamily="18" charset="0"/>
                <a:cs typeface="Times New Roman" panose="02020603050405020304" pitchFamily="18" charset="0"/>
              </a:rPr>
              <a:t> Water extractor, temperature sensor, water spay nozzle, Temperature controller</a:t>
            </a:r>
            <a:r>
              <a:rPr lang="en-US" dirty="0"/>
              <a: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VSB 5768C-21-685: chi </a:t>
            </a:r>
            <a:r>
              <a:rPr lang="en-US" sz="1600" dirty="0" err="1">
                <a:latin typeface="Times New Roman" panose="02020603050405020304" pitchFamily="18" charset="0"/>
                <a:cs typeface="Times New Roman" panose="02020603050405020304" pitchFamily="18" charset="0"/>
              </a:rPr>
              <a:t>phí</a:t>
            </a:r>
            <a:r>
              <a:rPr lang="en-US" sz="1600" dirty="0">
                <a:latin typeface="Times New Roman" panose="02020603050405020304" pitchFamily="18" charset="0"/>
                <a:cs typeface="Times New Roman" panose="02020603050405020304" pitchFamily="18" charset="0"/>
              </a:rPr>
              <a:t>  $25K USD per AC </a:t>
            </a:r>
          </a:p>
        </p:txBody>
      </p:sp>
      <p:sp>
        <p:nvSpPr>
          <p:cNvPr id="11" name="TextBox 10">
            <a:extLst>
              <a:ext uri="{FF2B5EF4-FFF2-40B4-BE49-F238E27FC236}">
                <a16:creationId xmlns:a16="http://schemas.microsoft.com/office/drawing/2014/main" id="{45FFAF28-C013-0BC3-D312-7B4994635000}"/>
              </a:ext>
            </a:extLst>
          </p:cNvPr>
          <p:cNvSpPr txBox="1"/>
          <p:nvPr/>
        </p:nvSpPr>
        <p:spPr>
          <a:xfrm>
            <a:off x="648070" y="4179019"/>
            <a:ext cx="5357500" cy="1323439"/>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Do chi </a:t>
            </a:r>
            <a:r>
              <a:rPr lang="en-US" sz="1600" dirty="0" err="1">
                <a:latin typeface="Times New Roman" panose="02020603050405020304" pitchFamily="18" charset="0"/>
                <a:cs typeface="Times New Roman" panose="02020603050405020304" pitchFamily="18" charset="0"/>
              </a:rPr>
              <a:t>phí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(77k USD/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pháp</a:t>
            </a:r>
            <a:r>
              <a:rPr lang="en-US" sz="1600" dirty="0">
                <a:latin typeface="Times New Roman" panose="02020603050405020304" pitchFamily="18" charset="0"/>
                <a:cs typeface="Times New Roman" panose="02020603050405020304" pitchFamily="18" charset="0"/>
              </a:rPr>
              <a:t> này.</a:t>
            </a:r>
          </a:p>
          <a:p>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chỉ</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nâng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TIC valve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on-attrition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nâng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07/12 </a:t>
            </a:r>
            <a:r>
              <a:rPr lang="en-US" sz="1600" dirty="0" err="1">
                <a:latin typeface="Times New Roman" panose="02020603050405020304" pitchFamily="18" charset="0"/>
                <a:cs typeface="Times New Roman" panose="02020603050405020304" pitchFamily="18" charset="0"/>
              </a:rPr>
              <a:t>khối</a:t>
            </a:r>
            <a:r>
              <a:rPr lang="en-US" sz="1600" dirty="0">
                <a:latin typeface="Times New Roman" panose="02020603050405020304" pitchFamily="18" charset="0"/>
                <a:cs typeface="Times New Roman" panose="02020603050405020304" pitchFamily="18" charset="0"/>
              </a:rPr>
              <a:t>)</a:t>
            </a:r>
          </a:p>
        </p:txBody>
      </p:sp>
      <p:sp>
        <p:nvSpPr>
          <p:cNvPr id="12" name="Arrow: Right 11">
            <a:extLst>
              <a:ext uri="{FF2B5EF4-FFF2-40B4-BE49-F238E27FC236}">
                <a16:creationId xmlns:a16="http://schemas.microsoft.com/office/drawing/2014/main" id="{8A02B469-BFA0-718A-5E50-453C71F77ED7}"/>
              </a:ext>
            </a:extLst>
          </p:cNvPr>
          <p:cNvSpPr/>
          <p:nvPr/>
        </p:nvSpPr>
        <p:spPr>
          <a:xfrm>
            <a:off x="1171852" y="5859262"/>
            <a:ext cx="399496" cy="2308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6255374-130B-6501-319F-32AC84655DF7}"/>
              </a:ext>
            </a:extLst>
          </p:cNvPr>
          <p:cNvSpPr txBox="1"/>
          <p:nvPr/>
        </p:nvSpPr>
        <p:spPr>
          <a:xfrm>
            <a:off x="1748901" y="5761608"/>
            <a:ext cx="3990339"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Xem </a:t>
            </a:r>
            <a:r>
              <a:rPr lang="en-US" dirty="0" err="1">
                <a:latin typeface="Times New Roman" panose="02020603050405020304" pitchFamily="18" charset="0"/>
                <a:cs typeface="Times New Roman" panose="02020603050405020304" pitchFamily="18" charset="0"/>
              </a:rPr>
              <a:t>xét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nâng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cấp</a:t>
            </a:r>
            <a:r>
              <a:rPr lang="en-US" dirty="0">
                <a:latin typeface="Times New Roman" panose="02020603050405020304" pitchFamily="18" charset="0"/>
                <a:cs typeface="Times New Roman" panose="02020603050405020304" pitchFamily="18" charset="0"/>
              </a:rPr>
              <a:t> ACM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on-attrition, chi </a:t>
            </a:r>
            <a:r>
              <a:rPr lang="en-US" dirty="0" err="1">
                <a:latin typeface="Times New Roman" panose="02020603050405020304" pitchFamily="18" charset="0"/>
                <a:cs typeface="Times New Roman" panose="02020603050405020304" pitchFamily="18" charset="0"/>
              </a:rPr>
              <a:t>phí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khoảng</a:t>
            </a:r>
            <a:r>
              <a:rPr lang="en-US" dirty="0">
                <a:latin typeface="Times New Roman" panose="02020603050405020304" pitchFamily="18" charset="0"/>
                <a:cs typeface="Times New Roman" panose="02020603050405020304" pitchFamily="18" charset="0"/>
              </a:rPr>
              <a:t> 7,5K USD/ unit</a:t>
            </a:r>
          </a:p>
        </p:txBody>
      </p:sp>
    </p:spTree>
    <p:extLst>
      <p:ext uri="{BB962C8B-B14F-4D97-AF65-F5344CB8AC3E}">
        <p14:creationId xmlns:p14="http://schemas.microsoft.com/office/powerpoint/2010/main" val="2858982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EF110-E1DE-EF95-E753-CAE7091B561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C877103-94ED-4BE0-55DD-BA0F1CC04C43}"/>
              </a:ext>
            </a:extLst>
          </p:cNvPr>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ATR72- ATA 21 &amp; ATA36 </a:t>
            </a:r>
            <a:endParaRPr lang="vi-VN" sz="2800" dirty="0">
              <a:ln w="0"/>
              <a:solidFill>
                <a:srgbClr val="FF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22B708FF-5869-5D94-4676-5160816C203C}"/>
              </a:ext>
            </a:extLst>
          </p:cNvPr>
          <p:cNvGrpSpPr/>
          <p:nvPr/>
        </p:nvGrpSpPr>
        <p:grpSpPr>
          <a:xfrm>
            <a:off x="434478" y="685797"/>
            <a:ext cx="9014322" cy="384771"/>
            <a:chOff x="709283" y="772649"/>
            <a:chExt cx="11134842" cy="236994"/>
          </a:xfrm>
        </p:grpSpPr>
        <p:sp>
          <p:nvSpPr>
            <p:cNvPr id="6" name="Rectangle: Single Corner Rounded 5">
              <a:extLst>
                <a:ext uri="{FF2B5EF4-FFF2-40B4-BE49-F238E27FC236}">
                  <a16:creationId xmlns:a16="http://schemas.microsoft.com/office/drawing/2014/main" id="{491C0150-C5B0-A1BA-7BFC-B0EA0EF20E33}"/>
                </a:ext>
              </a:extLst>
            </p:cNvPr>
            <p:cNvSpPr/>
            <p:nvPr/>
          </p:nvSpPr>
          <p:spPr>
            <a:xfrm flipH="1" flipV="1">
              <a:off x="709283" y="772649"/>
              <a:ext cx="11134842" cy="236994"/>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1D360F-A47C-4729-456E-7837A1AB3DEF}"/>
                </a:ext>
              </a:extLst>
            </p:cNvPr>
            <p:cNvSpPr/>
            <p:nvPr/>
          </p:nvSpPr>
          <p:spPr>
            <a:xfrm>
              <a:off x="818875" y="772650"/>
              <a:ext cx="10445094" cy="208527"/>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4. Các </a:t>
              </a:r>
              <a:r>
                <a:rPr lang="en-US" sz="1600" b="1" dirty="0" err="1">
                  <a:solidFill>
                    <a:srgbClr val="002060"/>
                  </a:solidFill>
                  <a:latin typeface="Arial" panose="020B0604020202020204" pitchFamily="34" charset="0"/>
                  <a:cs typeface="Arial" panose="020B0604020202020204" pitchFamily="34" charset="0"/>
                </a:rPr>
                <a:t>giải</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pháp</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cho</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hệ</a:t>
              </a:r>
              <a:r>
                <a:rPr lang="en-US" sz="1600" b="1" dirty="0">
                  <a:solidFill>
                    <a:srgbClr val="002060"/>
                  </a:solidFill>
                  <a:latin typeface="Arial" panose="020B0604020202020204" pitchFamily="34" charset="0"/>
                  <a:cs typeface="Arial" panose="020B0604020202020204" pitchFamily="34" charset="0"/>
                </a:rPr>
                <a:t> </a:t>
              </a:r>
              <a:r>
                <a:rPr lang="en-US" sz="1600" b="1" dirty="0" err="1">
                  <a:solidFill>
                    <a:srgbClr val="002060"/>
                  </a:solidFill>
                  <a:latin typeface="Arial" panose="020B0604020202020204" pitchFamily="34" charset="0"/>
                  <a:cs typeface="Arial" panose="020B0604020202020204" pitchFamily="34" charset="0"/>
                </a:rPr>
                <a:t>thống</a:t>
              </a:r>
              <a:r>
                <a:rPr lang="en-US" sz="1600" b="1" dirty="0">
                  <a:solidFill>
                    <a:srgbClr val="002060"/>
                  </a:solidFill>
                  <a:latin typeface="Arial" panose="020B0604020202020204" pitchFamily="34" charset="0"/>
                  <a:cs typeface="Arial" panose="020B0604020202020204" pitchFamily="34" charset="0"/>
                </a:rPr>
                <a:t> ATA21 &amp; 36</a:t>
              </a:r>
            </a:p>
          </p:txBody>
        </p:sp>
      </p:grpSp>
      <p:sp>
        <p:nvSpPr>
          <p:cNvPr id="4" name="TextBox 3">
            <a:extLst>
              <a:ext uri="{FF2B5EF4-FFF2-40B4-BE49-F238E27FC236}">
                <a16:creationId xmlns:a16="http://schemas.microsoft.com/office/drawing/2014/main" id="{C02DC26F-B64B-E4FE-D3A6-052108E9BECD}"/>
              </a:ext>
            </a:extLst>
          </p:cNvPr>
          <p:cNvSpPr txBox="1"/>
          <p:nvPr/>
        </p:nvSpPr>
        <p:spPr>
          <a:xfrm>
            <a:off x="754602" y="1289027"/>
            <a:ext cx="6516210" cy="369332"/>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b, Các </a:t>
            </a:r>
            <a:r>
              <a:rPr lang="en-US" b="1" dirty="0" err="1">
                <a:solidFill>
                  <a:srgbClr val="002060"/>
                </a:solidFill>
                <a:latin typeface="Times New Roman" panose="02020603050405020304" pitchFamily="18" charset="0"/>
                <a:cs typeface="Times New Roman" panose="02020603050405020304" pitchFamily="18" charset="0"/>
              </a:rPr>
              <a:t>giải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pháp</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đánh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chặn</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4E8ACFC-7A13-6177-3F3C-D30FDC2CAA9B}"/>
              </a:ext>
            </a:extLst>
          </p:cNvPr>
          <p:cNvSpPr txBox="1"/>
          <p:nvPr/>
        </p:nvSpPr>
        <p:spPr>
          <a:xfrm>
            <a:off x="1074199" y="1680165"/>
            <a:ext cx="10298096" cy="646331"/>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2018,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chặn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ATA21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36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a:t>
            </a:r>
          </a:p>
        </p:txBody>
      </p:sp>
      <p:graphicFrame>
        <p:nvGraphicFramePr>
          <p:cNvPr id="13" name="Table 12">
            <a:extLst>
              <a:ext uri="{FF2B5EF4-FFF2-40B4-BE49-F238E27FC236}">
                <a16:creationId xmlns:a16="http://schemas.microsoft.com/office/drawing/2014/main" id="{4017397B-33D0-B0EC-32A7-BE15F91CCE21}"/>
              </a:ext>
            </a:extLst>
          </p:cNvPr>
          <p:cNvGraphicFramePr>
            <a:graphicFrameLocks noGrp="1"/>
          </p:cNvGraphicFramePr>
          <p:nvPr>
            <p:extLst/>
          </p:nvPr>
        </p:nvGraphicFramePr>
        <p:xfrm>
          <a:off x="754602" y="2447124"/>
          <a:ext cx="10777490" cy="3720140"/>
        </p:xfrm>
        <a:graphic>
          <a:graphicData uri="http://schemas.openxmlformats.org/drawingml/2006/table">
            <a:tbl>
              <a:tblPr>
                <a:tableStyleId>{5C22544A-7EE6-4342-B048-85BDC9FD1C3A}</a:tableStyleId>
              </a:tblPr>
              <a:tblGrid>
                <a:gridCol w="2064291">
                  <a:extLst>
                    <a:ext uri="{9D8B030D-6E8A-4147-A177-3AD203B41FA5}">
                      <a16:colId xmlns:a16="http://schemas.microsoft.com/office/drawing/2014/main" val="3287771281"/>
                    </a:ext>
                  </a:extLst>
                </a:gridCol>
                <a:gridCol w="1968831">
                  <a:extLst>
                    <a:ext uri="{9D8B030D-6E8A-4147-A177-3AD203B41FA5}">
                      <a16:colId xmlns:a16="http://schemas.microsoft.com/office/drawing/2014/main" val="3206273655"/>
                    </a:ext>
                  </a:extLst>
                </a:gridCol>
                <a:gridCol w="6744368">
                  <a:extLst>
                    <a:ext uri="{9D8B030D-6E8A-4147-A177-3AD203B41FA5}">
                      <a16:colId xmlns:a16="http://schemas.microsoft.com/office/drawing/2014/main" val="3190764342"/>
                    </a:ext>
                  </a:extLst>
                </a:gridCol>
              </a:tblGrid>
              <a:tr h="186007">
                <a:tc>
                  <a:txBody>
                    <a:bodyPr/>
                    <a:lstStyle/>
                    <a:p>
                      <a:pPr algn="ctr" fontAlgn="ctr"/>
                      <a:r>
                        <a:rPr lang="en-US" sz="1100" b="1" u="none" strike="noStrike">
                          <a:effectLst/>
                          <a:latin typeface="Times New Roman" panose="02020603050405020304" pitchFamily="18" charset="0"/>
                          <a:cs typeface="Times New Roman" panose="02020603050405020304" pitchFamily="18" charset="0"/>
                        </a:rPr>
                        <a:t>Taskcard</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u="none" strike="noStrike">
                          <a:effectLst/>
                          <a:latin typeface="Times New Roman" panose="02020603050405020304" pitchFamily="18" charset="0"/>
                          <a:cs typeface="Times New Roman" panose="02020603050405020304" pitchFamily="18" charset="0"/>
                        </a:rPr>
                        <a:t>Frequency</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u="none" strike="noStrike" dirty="0">
                          <a:effectLst/>
                          <a:latin typeface="Times New Roman" panose="02020603050405020304" pitchFamily="18" charset="0"/>
                          <a:cs typeface="Times New Roman" panose="02020603050405020304" pitchFamily="18" charset="0"/>
                        </a:rPr>
                        <a:t>Task Description</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25553714"/>
                  </a:ext>
                </a:extLst>
              </a:tr>
              <a:tr h="744028">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VNA-21-CHK-10000-1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dirty="0">
                          <a:effectLst/>
                          <a:latin typeface="Times New Roman" panose="02020603050405020304" pitchFamily="18" charset="0"/>
                          <a:cs typeface="Times New Roman" panose="02020603050405020304" pitchFamily="18" charset="0"/>
                        </a:rPr>
                        <a:t>OP Int: 2 YR Thrs</a:t>
                      </a:r>
                      <a:endParaRPr lang="nl-NL"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AIR CONDITIONING-CHECK BLEED DUCT TIGHTNESS JIC 361100-CHK-10000 - CHECK AND REPLACEMENT IF NEEDED: LEADING EDGE BLEED DUCT SEALS JIC 361100-RAI-10010 + HANDLING BLEED VALVE DUCT SEALS + UNDERFLOOR BLEED DUCT SEALS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4518768"/>
                  </a:ext>
                </a:extLst>
              </a:tr>
              <a:tr h="558021">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VNA-21-CHK-10000-2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a:effectLst/>
                          <a:latin typeface="Times New Roman" panose="02020603050405020304" pitchFamily="18" charset="0"/>
                          <a:cs typeface="Times New Roman" panose="02020603050405020304" pitchFamily="18" charset="0"/>
                        </a:rPr>
                        <a:t>OP Int: 2000 H Thrs</a:t>
                      </a:r>
                      <a:endParaRPr lang="nl-NL"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a:effectLst/>
                          <a:latin typeface="Times New Roman" panose="02020603050405020304" pitchFamily="18" charset="0"/>
                          <a:cs typeface="Times New Roman" panose="02020603050405020304" pitchFamily="18" charset="0"/>
                        </a:rPr>
                        <a:t>TIGHTNESS OF PACK DUCT HOSE- CHECK OF TORQUE VALUE OF THE CLAMPS AT PACK DUCT HOSE NOTE: REFER TO PART 3Z-PAGE NO 13 OF SL ATR 72-21-6006 FOR PERFORMANCE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349504"/>
                  </a:ext>
                </a:extLst>
              </a:tr>
              <a:tr h="186007">
                <a:tc>
                  <a:txBody>
                    <a:bodyPr/>
                    <a:lstStyle/>
                    <a:p>
                      <a:pPr algn="l" fontAlgn="ctr"/>
                      <a:r>
                        <a:rPr lang="en-US" sz="1100" u="none" strike="noStrike">
                          <a:effectLst/>
                          <a:latin typeface="Times New Roman" panose="02020603050405020304" pitchFamily="18" charset="0"/>
                          <a:cs typeface="Times New Roman" panose="02020603050405020304" pitchFamily="18" charset="0"/>
                        </a:rPr>
                        <a:t>VNA-21-CHK-10000-4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a:effectLst/>
                          <a:latin typeface="Times New Roman" panose="02020603050405020304" pitchFamily="18" charset="0"/>
                          <a:cs typeface="Times New Roman" panose="02020603050405020304" pitchFamily="18" charset="0"/>
                        </a:rPr>
                        <a:t>OP Int: 5000 H Thrs</a:t>
                      </a:r>
                      <a:endParaRPr lang="nl-NL"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a:effectLst/>
                          <a:latin typeface="Times New Roman" panose="02020603050405020304" pitchFamily="18" charset="0"/>
                          <a:cs typeface="Times New Roman" panose="02020603050405020304" pitchFamily="18" charset="0"/>
                        </a:rPr>
                        <a:t>AIR CONDITIONING REMOVAL OF CONDENSERS FOR CLEANING</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8568485"/>
                  </a:ext>
                </a:extLst>
              </a:tr>
              <a:tr h="372014">
                <a:tc>
                  <a:txBody>
                    <a:bodyPr/>
                    <a:lstStyle/>
                    <a:p>
                      <a:pPr algn="l" fontAlgn="ctr"/>
                      <a:r>
                        <a:rPr lang="en-US" sz="1100" u="none" strike="noStrike">
                          <a:effectLst/>
                          <a:latin typeface="Times New Roman" panose="02020603050405020304" pitchFamily="18" charset="0"/>
                          <a:cs typeface="Times New Roman" panose="02020603050405020304" pitchFamily="18" charset="0"/>
                        </a:rPr>
                        <a:t>VNA-21-CHK-10000-5</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a:effectLst/>
                          <a:latin typeface="Times New Roman" panose="02020603050405020304" pitchFamily="18" charset="0"/>
                          <a:cs typeface="Times New Roman" panose="02020603050405020304" pitchFamily="18" charset="0"/>
                        </a:rPr>
                        <a:t>OP Int: 2000 H Thrs</a:t>
                      </a:r>
                      <a:endParaRPr lang="nl-NL"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AIR CONDITIONING CHECK THAT THE PACK VALVE FILTER IS NOT CONTAMINATED</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7590476"/>
                  </a:ext>
                </a:extLst>
              </a:tr>
              <a:tr h="744028">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VNA-21-CHK-10000-6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dirty="0">
                          <a:effectLst/>
                          <a:latin typeface="Times New Roman" panose="02020603050405020304" pitchFamily="18" charset="0"/>
                          <a:cs typeface="Times New Roman" panose="02020603050405020304" pitchFamily="18" charset="0"/>
                        </a:rPr>
                        <a:t>OP Int: 2000 H Thrs</a:t>
                      </a:r>
                      <a:endParaRPr lang="nl-NL"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AIR CONDITIONING - CHECK OF HP AIR BLEED VALVE DELIVERED PRESSURE. - CHECK OF PACK FLOW CONTROL VALVE DELIVERED PRESSURE. - OPERATIONAL TEST OF ADDITIONAL DE-ICING PRESSURE SWITCH AS PER MP A-21-51-50-03001-340A-A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6353498"/>
                  </a:ext>
                </a:extLst>
              </a:tr>
              <a:tr h="186007">
                <a:tc>
                  <a:txBody>
                    <a:bodyPr/>
                    <a:lstStyle/>
                    <a:p>
                      <a:pPr algn="l" fontAlgn="ctr"/>
                      <a:r>
                        <a:rPr lang="en-US" sz="1100" u="none" strike="noStrike">
                          <a:effectLst/>
                          <a:latin typeface="Times New Roman" panose="02020603050405020304" pitchFamily="18" charset="0"/>
                          <a:cs typeface="Times New Roman" panose="02020603050405020304" pitchFamily="18" charset="0"/>
                        </a:rPr>
                        <a:t>VNA-21-CHK-10000-7</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a:effectLst/>
                          <a:latin typeface="Times New Roman" panose="02020603050405020304" pitchFamily="18" charset="0"/>
                          <a:cs typeface="Times New Roman" panose="02020603050405020304" pitchFamily="18" charset="0"/>
                        </a:rPr>
                        <a:t>OP Int: 1000 H Thrs</a:t>
                      </a:r>
                      <a:endParaRPr lang="nl-NL"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a:effectLst/>
                          <a:latin typeface="Times New Roman" panose="02020603050405020304" pitchFamily="18" charset="0"/>
                          <a:cs typeface="Times New Roman" panose="02020603050405020304" pitchFamily="18" charset="0"/>
                        </a:rPr>
                        <a:t>AIR CONDITIONING - CHECK OF DUCT TEMPERATURE. - PACK LEAK CHECK.</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9703233"/>
                  </a:ext>
                </a:extLst>
              </a:tr>
              <a:tr h="372014">
                <a:tc>
                  <a:txBody>
                    <a:bodyPr/>
                    <a:lstStyle/>
                    <a:p>
                      <a:pPr algn="l" fontAlgn="ctr"/>
                      <a:r>
                        <a:rPr lang="en-US" sz="1100" u="none" strike="noStrike">
                          <a:effectLst/>
                          <a:latin typeface="Times New Roman" panose="02020603050405020304" pitchFamily="18" charset="0"/>
                          <a:cs typeface="Times New Roman" panose="02020603050405020304" pitchFamily="18" charset="0"/>
                        </a:rPr>
                        <a:t>VNA-21-CLN-10000-3</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a:effectLst/>
                          <a:latin typeface="Times New Roman" panose="02020603050405020304" pitchFamily="18" charset="0"/>
                          <a:cs typeface="Times New Roman" panose="02020603050405020304" pitchFamily="18" charset="0"/>
                        </a:rPr>
                        <a:t>OP Int: 750 H Thrs</a:t>
                      </a:r>
                      <a:endParaRPr lang="nl-NL"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CLEANING OF THE WATER SPRAY NOZZLES NOTE: REFER TO PART 3Z-PAGE NO 14 OF SLATR72-21-6006 FOR PERFORMANCE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1097563"/>
                  </a:ext>
                </a:extLst>
              </a:tr>
              <a:tr h="372014">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VNA-36-RA-10000-1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nl-NL" sz="1100" u="none" strike="noStrike">
                          <a:effectLst/>
                          <a:latin typeface="Times New Roman" panose="02020603050405020304" pitchFamily="18" charset="0"/>
                          <a:cs typeface="Times New Roman" panose="02020603050405020304" pitchFamily="18" charset="0"/>
                        </a:rPr>
                        <a:t>OP Int: 3000 H Thrs</a:t>
                      </a:r>
                      <a:endParaRPr lang="nl-NL"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100" u="none" strike="noStrike" dirty="0">
                          <a:effectLst/>
                          <a:latin typeface="Times New Roman" panose="02020603050405020304" pitchFamily="18" charset="0"/>
                          <a:cs typeface="Times New Roman" panose="02020603050405020304" pitchFamily="18" charset="0"/>
                        </a:rPr>
                        <a:t>AIR LEAK DETECTION SYSTEM CHECK LEADING EDGE BLEED DUCT O-RING AND DISCARD IF NECESSARY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300" marR="9300" marT="93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1518426"/>
                  </a:ext>
                </a:extLst>
              </a:tr>
            </a:tbl>
          </a:graphicData>
        </a:graphic>
      </p:graphicFrame>
      <p:sp>
        <p:nvSpPr>
          <p:cNvPr id="14" name="Arrow: Right 13">
            <a:extLst>
              <a:ext uri="{FF2B5EF4-FFF2-40B4-BE49-F238E27FC236}">
                <a16:creationId xmlns:a16="http://schemas.microsoft.com/office/drawing/2014/main" id="{0DC2FC31-4A28-2A6B-D94D-8ED9AA79DA37}"/>
              </a:ext>
            </a:extLst>
          </p:cNvPr>
          <p:cNvSpPr/>
          <p:nvPr/>
        </p:nvSpPr>
        <p:spPr>
          <a:xfrm>
            <a:off x="767919" y="6371947"/>
            <a:ext cx="612559" cy="3240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BB94D37-5A2B-8664-3FC8-FFE49A07E664}"/>
              </a:ext>
            </a:extLst>
          </p:cNvPr>
          <p:cNvSpPr txBox="1"/>
          <p:nvPr/>
        </p:nvSpPr>
        <p:spPr>
          <a:xfrm>
            <a:off x="1452980" y="6343094"/>
            <a:ext cx="10777490" cy="369332"/>
          </a:xfrm>
          <a:prstGeom prst="rect">
            <a:avLst/>
          </a:prstGeom>
          <a:noFill/>
        </p:spPr>
        <p:txBody>
          <a:bodyPr wrap="square" rtlCol="0">
            <a:spAutoFit/>
          </a:bodyPr>
          <a:lstStyle/>
          <a:p>
            <a:r>
              <a:rPr lang="en-US" dirty="0" err="1">
                <a:solidFill>
                  <a:srgbClr val="002060"/>
                </a:solidFill>
                <a:latin typeface="Times New Roman" panose="02020603050405020304" pitchFamily="18" charset="0"/>
                <a:cs typeface="Times New Roman" panose="02020603050405020304" pitchFamily="18" charset="0"/>
              </a:rPr>
              <a:t>Đang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tiếp</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tục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nghiên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cứu</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để</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điều</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chỉnh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tần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suất</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và</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bổ</a:t>
            </a:r>
            <a:r>
              <a:rPr lang="en-US" dirty="0">
                <a:solidFill>
                  <a:srgbClr val="002060"/>
                </a:solidFill>
                <a:latin typeface="Times New Roman" panose="02020603050405020304" pitchFamily="18" charset="0"/>
                <a:cs typeface="Times New Roman" panose="02020603050405020304" pitchFamily="18" charset="0"/>
              </a:rPr>
              <a:t> sung them </a:t>
            </a:r>
            <a:r>
              <a:rPr lang="en-US" dirty="0" err="1">
                <a:solidFill>
                  <a:srgbClr val="002060"/>
                </a:solidFill>
                <a:latin typeface="Times New Roman" panose="02020603050405020304" pitchFamily="18" charset="0"/>
                <a:cs typeface="Times New Roman" panose="02020603050405020304" pitchFamily="18" charset="0"/>
              </a:rPr>
              <a:t>các</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nội</a:t>
            </a:r>
            <a:r>
              <a:rPr lang="en-US" dirty="0">
                <a:solidFill>
                  <a:srgbClr val="002060"/>
                </a:solidFill>
                <a:latin typeface="Times New Roman" panose="02020603050405020304" pitchFamily="18" charset="0"/>
                <a:cs typeface="Times New Roman" panose="02020603050405020304" pitchFamily="18" charset="0"/>
              </a:rPr>
              <a:t> dung </a:t>
            </a:r>
            <a:r>
              <a:rPr lang="en-US" dirty="0" err="1">
                <a:solidFill>
                  <a:srgbClr val="002060"/>
                </a:solidFill>
                <a:latin typeface="Times New Roman" panose="02020603050405020304" pitchFamily="18" charset="0"/>
                <a:cs typeface="Times New Roman" panose="02020603050405020304" pitchFamily="18" charset="0"/>
              </a:rPr>
              <a:t>đánh</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chặn</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cho</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hệ</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thống</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điều</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hòa</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0776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49707"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
            </a:r>
            <a:r>
              <a:rPr lang="en-US" sz="2933" b="1" smtClean="0">
                <a:ln w="0"/>
                <a:solidFill>
                  <a:schemeClr val="accent4"/>
                </a:solidFill>
                <a:latin typeface="Times New Roman" panose="02020603050405020304" pitchFamily="18" charset="0"/>
                <a:cs typeface="Times New Roman" panose="02020603050405020304" pitchFamily="18" charset="0"/>
                <a:sym typeface="Montserrat SemiBold"/>
              </a:rPr>
              <a:t>ATR72</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762001" y="1195640"/>
            <a:ext cx="10668000" cy="156966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r>
              <a:rPr lang="en-US" sz="1600" smtClean="0">
                <a:solidFill>
                  <a:prstClr val="black"/>
                </a:solidFill>
                <a:latin typeface="Times New Roman" panose="02020603050405020304" pitchFamily="18" charset="0"/>
                <a:cs typeface="Times New Roman" panose="02020603050405020304" pitchFamily="18" charset="0"/>
              </a:rPr>
              <a:t>Tình trạng kỹ thuật đội tàu bay ATR72 trong tuần không tốt với các vụ việc nổi cộm sau:</a:t>
            </a:r>
          </a:p>
          <a:p>
            <a:pPr marL="285750" indent="-285750" algn="just">
              <a:buClrTx/>
              <a:buFontTx/>
              <a:buChar char="-"/>
            </a:pPr>
            <a:r>
              <a:rPr lang="en-US" sz="1600" smtClean="0">
                <a:solidFill>
                  <a:prstClr val="black"/>
                </a:solidFill>
                <a:latin typeface="Times New Roman" panose="02020603050405020304" pitchFamily="18" charset="0"/>
                <a:cs typeface="Times New Roman" panose="02020603050405020304" pitchFamily="18" charset="0"/>
              </a:rPr>
              <a:t>B225/AOG ngày 11/03/2025 do Pack #2 Fault, phải thay khối Pack Valve để khắc phục. Ngoài ra Pack #1 cũng INOP nên cabin không được mát và gây khó chịu cho hành khách.</a:t>
            </a:r>
          </a:p>
          <a:p>
            <a:pPr marL="285750" indent="-285750" algn="just">
              <a:buClrTx/>
              <a:buFontTx/>
              <a:buChar char="-"/>
            </a:pPr>
            <a:r>
              <a:rPr lang="en-US" sz="1600">
                <a:solidFill>
                  <a:prstClr val="black"/>
                </a:solidFill>
                <a:latin typeface="Times New Roman" panose="02020603050405020304" pitchFamily="18" charset="0"/>
                <a:cs typeface="Times New Roman" panose="02020603050405020304" pitchFamily="18" charset="0"/>
              </a:rPr>
              <a:t>B218/GTB, Delay ngày 15/03/2025 do Eng#1 Bleed Leak. Tàu quay lại kiểm tra và phát hiện Oring </a:t>
            </a:r>
            <a:r>
              <a:rPr lang="en-US" sz="1600">
                <a:solidFill>
                  <a:prstClr val="black"/>
                </a:solidFill>
                <a:latin typeface="Times New Roman" panose="02020603050405020304" pitchFamily="18" charset="0"/>
                <a:cs typeface="Times New Roman" panose="02020603050405020304" pitchFamily="18" charset="0"/>
              </a:rPr>
              <a:t>P/N </a:t>
            </a:r>
            <a:r>
              <a:rPr lang="en-US" sz="1600" smtClean="0">
                <a:solidFill>
                  <a:prstClr val="black"/>
                </a:solidFill>
                <a:latin typeface="Times New Roman" panose="02020603050405020304" pitchFamily="18" charset="0"/>
                <a:cs typeface="Times New Roman" panose="02020603050405020304" pitchFamily="18" charset="0"/>
              </a:rPr>
              <a:t>ASNA2141-40-07 bị damage do lão hóa. Hỏng hóc này đã được tăng cường kiểm tra đánh chặn, tuy nhiên lần kiểm tra gần nhất không phát hiện hỏng hóc. Ban KT sẽ xem xét lại tần suất AMP task để triển khai thay seal ở tần suất 4A.</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072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W11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10/03/2025-16/03/20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73084" cy="12926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kumimoji="0" lang="en-US" sz="1300" b="0" i="0" u="none" strike="noStrike" kern="120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rPr>
              <a:t>11/2025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cậy </a:t>
            </a:r>
            <a:r>
              <a:rPr kumimoji="0" lang="en-US" sz="13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các đội A321, A350, B787 đều đạt mục tiêu, riêng đội ATR72 không đạt</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99,86% cao hơn 0,23%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A350: 100% cao hơn 0,56%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99,71% </a:t>
            </a:r>
            <a:r>
              <a:rPr lang="en-US" sz="1300">
                <a:latin typeface="Times New Roman" panose="02020603050405020304" pitchFamily="18" charset="0"/>
                <a:cs typeface="Times New Roman" panose="02020603050405020304" pitchFamily="18" charset="0"/>
              </a:rPr>
              <a:t>cao hơn 0,35% so với 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99,60% thấp hơn 0,05%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1 sự kiện B218 ENG#1  BLEED LEAK.</a:t>
            </a:r>
            <a:endParaRPr lang="en-US" sz="13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extLst/>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3" name="Chart 2">
            <a:extLst>
              <a:ext uri="{FF2B5EF4-FFF2-40B4-BE49-F238E27FC236}">
                <a16:creationId xmlns:a16="http://schemas.microsoft.com/office/drawing/2014/main" id="{00000000-0008-0000-0000-000006000000}"/>
              </a:ext>
            </a:extLst>
          </p:cNvPr>
          <p:cNvGraphicFramePr>
            <a:graphicFrameLocks/>
          </p:cNvGraphicFramePr>
          <p:nvPr>
            <p:extLst/>
          </p:nvPr>
        </p:nvGraphicFramePr>
        <p:xfrm>
          <a:off x="518160" y="901739"/>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880283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25</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nvPr>
        </p:nvGraphicFramePr>
        <p:xfrm>
          <a:off x="156783" y="606959"/>
          <a:ext cx="11878434" cy="560961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lưu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Week 10 Engine.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xử</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on-watch, induction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13/03.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triển</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khai</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action items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báo</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cáo</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rgbClr val="FF0000"/>
                          </a:solidFill>
                          <a:effectLst/>
                          <a:latin typeface="+mn-lt"/>
                          <a:ea typeface="+mn-ea"/>
                          <a:cs typeface="Times New Roman" panose="02020603050405020304" pitchFamily="18" charset="0"/>
                          <a:sym typeface="Wingdings" panose="05000000000000000000" pitchFamily="2" charset="2"/>
                        </a:rPr>
                        <a:t> GE9X</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3427788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442104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solidFill>
                  <a:srgbClr val="FFC000"/>
                </a:solidFill>
              </a:rPr>
              <a:t>NHU CẦU ĐỘNG CƠ DỰ </a:t>
            </a:r>
            <a:r>
              <a:rPr lang="en-US">
                <a:solidFill>
                  <a:srgbClr val="FFC000"/>
                </a:solidFill>
              </a:rPr>
              <a:t>PHÒNG Q1-Q2/2025</a:t>
            </a:r>
            <a:endParaRPr lang="vi-VN" dirty="0">
              <a:solidFill>
                <a:srgbClr val="FFC000"/>
              </a:solidFill>
            </a:endParaRPr>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extLst/>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A893), HPT Blade (2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100FC), IPC Blade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soi </a:t>
            </a:r>
            <a:r>
              <a:rPr lang="en-US" sz="1333" dirty="0" err="1">
                <a:solidFill>
                  <a:prstClr val="black"/>
                </a:solidFill>
                <a:latin typeface="Times New Roman" panose="02020603050405020304" pitchFamily="18" charset="0"/>
                <a:cs typeface="Times New Roman" panose="02020603050405020304" pitchFamily="18" charset="0"/>
              </a:rPr>
              <a:t>năm</a:t>
            </a:r>
            <a:r>
              <a:rPr lang="en-US" sz="1333" dirty="0">
                <a:solidFill>
                  <a:prstClr val="black"/>
                </a:solidFill>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2014715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28</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T3-T/2025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extLst/>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Rủi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tháo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c</a:t>
            </a:r>
            <a:r>
              <a:rPr lang="vi-VN" sz="1200" dirty="0">
                <a:solidFill>
                  <a:prstClr val="black"/>
                </a:solidFill>
                <a:latin typeface="Times New Roman" panose="02020603050405020304" pitchFamily="18" charset="0"/>
                <a:cs typeface="Times New Roman" panose="02020603050405020304" pitchFamily="18" charset="0"/>
              </a:rPr>
              <a:t>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ngoài</a:t>
            </a:r>
            <a:r>
              <a:rPr lang="en-US" sz="1200" dirty="0">
                <a:solidFill>
                  <a:prstClr val="black"/>
                </a:solidFill>
                <a:latin typeface="Times New Roman" panose="02020603050405020304" pitchFamily="18" charset="0"/>
                <a:cs typeface="Times New Roman" panose="02020603050405020304" pitchFamily="18" charset="0"/>
              </a:rPr>
              <a:t> KH do High oil consumption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A893), HPT Blade (2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100FC), IPC Blade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soi </a:t>
            </a:r>
            <a:r>
              <a:rPr lang="en-US" sz="1200" dirty="0" err="1">
                <a:solidFill>
                  <a:prstClr val="black"/>
                </a:solidFill>
                <a:latin typeface="Times New Roman" panose="02020603050405020304" pitchFamily="18" charset="0"/>
                <a:cs typeface="Times New Roman" panose="02020603050405020304" pitchFamily="18" charset="0"/>
              </a:rPr>
              <a:t>năm</a:t>
            </a:r>
            <a:r>
              <a:rPr lang="en-US" sz="1200" dirty="0">
                <a:solidFill>
                  <a:prstClr val="black"/>
                </a:solidFill>
                <a:latin typeface="Times New Roman" panose="02020603050405020304" pitchFamily="18" charset="0"/>
                <a:cs typeface="Times New Roman" panose="02020603050405020304" pitchFamily="18" charset="0"/>
              </a:rPr>
              <a:t> 2025)</a:t>
            </a:r>
            <a:endParaRPr lang="en-US" sz="1200" dirty="0">
              <a:latin typeface="Times New Roman" panose="02020603050405020304" pitchFamily="18" charset="0"/>
              <a:cs typeface="Times New Roman" panose="02020603050405020304" pitchFamily="18" charset="0"/>
            </a:endParaRP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4122563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r>
              <a:rPr lang="en-US" sz="1400" dirty="0"/>
              <a:t>-</a:t>
            </a:r>
            <a:r>
              <a:rPr lang="vi-VN" sz="1400" dirty="0"/>
              <a:t>Giữ giờ động cơ P771710</a:t>
            </a:r>
            <a:r>
              <a:rPr lang="en-US" sz="1400" dirty="0"/>
              <a:t> </a:t>
            </a:r>
            <a:r>
              <a:rPr lang="en-US" sz="1400" dirty="0" err="1"/>
              <a:t>trên</a:t>
            </a:r>
            <a:r>
              <a:rPr lang="en-US" sz="1400" dirty="0"/>
              <a:t> A621</a:t>
            </a:r>
            <a:r>
              <a:rPr lang="vi-VN" sz="1400" dirty="0"/>
              <a:t> (hết hạn 05/07) và P772905 </a:t>
            </a:r>
            <a:r>
              <a:rPr lang="en-US" sz="1400" dirty="0" err="1"/>
              <a:t>trên</a:t>
            </a:r>
            <a:r>
              <a:rPr lang="en-US" sz="1400" dirty="0"/>
              <a:t> A619</a:t>
            </a:r>
            <a:r>
              <a:rPr lang="vi-VN" sz="1400" dirty="0"/>
              <a:t>(</a:t>
            </a:r>
            <a:r>
              <a:rPr lang="en-US" sz="1400" dirty="0" err="1"/>
              <a:t>hết</a:t>
            </a:r>
            <a:r>
              <a:rPr lang="en-US" sz="1400" dirty="0"/>
              <a:t> </a:t>
            </a:r>
            <a:r>
              <a:rPr lang="en-US" sz="1400" dirty="0" err="1"/>
              <a:t>hạn</a:t>
            </a:r>
            <a:r>
              <a:rPr lang="en-US" sz="1400" dirty="0"/>
              <a:t> </a:t>
            </a:r>
            <a:r>
              <a:rPr lang="vi-VN" sz="1400" dirty="0"/>
              <a:t>19/07) sang sau cao điểm hè (15/8) để có thêm 1 tàu từ giữa T7.</a:t>
            </a:r>
            <a:endParaRPr lang="en-US" sz="1400" dirty="0"/>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extLst/>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28783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extLst/>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A621#2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13/04/2025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0650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fld id="{00000000-1234-1234-1234-123412341234}" type="slidenum">
              <a:rPr lang="vi" smtClean="0"/>
              <a:pPr/>
              <a:t>31</a:t>
            </a:fld>
            <a:endParaRPr lang="vi"/>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T3-T4/25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extLst/>
          </p:nvPr>
        </p:nvGraphicFramePr>
        <p:xfrm>
          <a:off x="163789" y="1032931"/>
          <a:ext cx="11864421" cy="5709494"/>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49569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2846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a:t>
                      </a:r>
                      <a:r>
                        <a:rPr lang="vi-VN" sz="1200" b="0" i="0" u="none" strike="noStrike">
                          <a:solidFill>
                            <a:schemeClr val="tx1"/>
                          </a:solidFill>
                          <a:effectLst/>
                          <a:latin typeface="Calibri" panose="020F0502020204030204" pitchFamily="34" charset="0"/>
                        </a:rPr>
                        <a:t>414</a:t>
                      </a:r>
                      <a:endParaRPr lang="en-US" sz="1200" b="0" i="0" u="none" strike="noStrike">
                        <a:solidFill>
                          <a:schemeClr val="tx1"/>
                        </a:solidFill>
                        <a:effectLst/>
                        <a:latin typeface="Calibri" panose="020F0502020204030204" pitchFamily="34" charset="0"/>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42846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42846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REMOVAL</a:t>
                      </a:r>
                      <a:r>
                        <a:rPr lang="en-US" sz="1200" b="0" i="0" u="none" strike="noStrike" kern="1200" noProof="0">
                          <a:solidFill>
                            <a:schemeClr val="tx1"/>
                          </a:solidFill>
                          <a:effectLst/>
                          <a:latin typeface="Calibri" panose="020F0502020204030204" pitchFamily="34" charset="0"/>
                          <a:ea typeface="+mn-ea"/>
                          <a:cs typeface="+mn-cs"/>
                          <a:sym typeface="Arial"/>
                        </a:rPr>
                        <a:t>. QT Shop Visit</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00682">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REMOVAL</a:t>
                      </a:r>
                      <a:endParaRPr lang="en-US" sz="1200" b="0" i="0" u="none" strike="noStrike" kern="1200" noProof="0">
                        <a:solidFill>
                          <a:schemeClr val="tx1"/>
                        </a:solidFill>
                        <a:effectLst/>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sym typeface="Arial"/>
                        </a:rPr>
                        <a:t>Rob for A506#2 for 7 day engine run-up interval</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42846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sym typeface="Arial"/>
                        </a:rPr>
                        <a:t>QT Shop Visit</a:t>
                      </a:r>
                      <a:endParaRPr lang="en-GB" sz="1200" b="0" i="0" u="none" strike="noStrike" kern="1200" noProof="0">
                        <a:solidFill>
                          <a:schemeClr val="tx1"/>
                        </a:solidFill>
                        <a:effectLst/>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2846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sym typeface="Arial"/>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sym typeface="Arial"/>
                        </a:rPr>
                        <a:t>Giữ giờ P771710 để bay CĐ hè</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42846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868498"/>
                  </a:ext>
                </a:extLst>
              </a:tr>
              <a:tr h="42846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485768"/>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1710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0903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9-May-25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 11</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28465">
                <a:tc>
                  <a:txBody>
                    <a:bodyPr/>
                    <a:lstStyle/>
                    <a:p>
                      <a:pPr algn="ctr"/>
                      <a:r>
                        <a:rPr lang="en-GB" sz="1100">
                          <a:solidFill>
                            <a:schemeClr val="tx1"/>
                          </a:solidFill>
                          <a:latin typeface="Times New Roman" panose="02020603050405020304" pitchFamily="18" charset="0"/>
                          <a:cs typeface="Times New Roman" panose="02020603050405020304" pitchFamily="18" charset="0"/>
                        </a:rPr>
                        <a:t>12</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bl>
          </a:graphicData>
        </a:graphic>
      </p:graphicFrame>
    </p:spTree>
    <p:extLst>
      <p:ext uri="{BB962C8B-B14F-4D97-AF65-F5344CB8AC3E}">
        <p14:creationId xmlns:p14="http://schemas.microsoft.com/office/powerpoint/2010/main" val="2735695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32</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FFC000"/>
                </a:solidFill>
                <a:latin typeface="Times New Roman" panose="02020603050405020304" pitchFamily="18" charset="0"/>
                <a:cs typeface="Times New Roman" panose="02020603050405020304" pitchFamily="18" charset="0"/>
              </a:rPr>
              <a:t>ĐỘI BAY A321CEO</a:t>
            </a:r>
            <a:endParaRPr lang="en-GB" sz="2400" b="1" dirty="0">
              <a:solidFill>
                <a:srgbClr val="FFC0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23/02/2025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SGN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18/04/2025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25/04/2025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31/03/2025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07/04/2025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26/03/2025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18/06/2025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01/08/2025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14/08/2025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21/08/2025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29/04/2025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Q1-Q2/2025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16-18/03/2025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31/03-02/04/2025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13-15/04/2025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3875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V11694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A359#1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26-28/04/2025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V17043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1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18-20/06/2025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2002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V16558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44739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836082"/>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04058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33</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33</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extLst/>
          </p:nvPr>
        </p:nvGraphicFramePr>
        <p:xfrm>
          <a:off x="6867117" y="546172"/>
          <a:ext cx="5236309" cy="348400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4038600"/>
            <a:ext cx="12014853" cy="257577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958395 – 25 cycle </a:t>
            </a:r>
            <a:r>
              <a:rPr lang="en-US" sz="1467" dirty="0" err="1">
                <a:solidFill>
                  <a:schemeClr val="tx1"/>
                </a:solidFill>
                <a:latin typeface="Times New Roman" panose="02020603050405020304" pitchFamily="18" charset="0"/>
                <a:cs typeface="Times New Roman" panose="02020603050405020304" pitchFamily="18" charset="0"/>
              </a:rPr>
              <a:t>làm</a:t>
            </a:r>
            <a:r>
              <a:rPr lang="en-US" sz="1467" dirty="0">
                <a:solidFill>
                  <a:schemeClr val="tx1"/>
                </a:solidFill>
                <a:latin typeface="Times New Roman" panose="02020603050405020304" pitchFamily="18" charset="0"/>
                <a:cs typeface="Times New Roman" panose="02020603050405020304" pitchFamily="18" charset="0"/>
              </a:rPr>
              <a:t> ĐCDP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urgent (</a:t>
            </a:r>
            <a:r>
              <a:rPr lang="en-US" sz="1467" dirty="0" err="1">
                <a:solidFill>
                  <a:srgbClr val="FF0000"/>
                </a:solidFill>
                <a:latin typeface="Times New Roman" panose="02020603050405020304" pitchFamily="18" charset="0"/>
                <a:cs typeface="Times New Roman" panose="02020603050405020304" pitchFamily="18" charset="0"/>
              </a:rPr>
              <a:t>có</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lịch</a:t>
            </a:r>
            <a:r>
              <a:rPr lang="en-US" sz="1467" dirty="0">
                <a:solidFill>
                  <a:srgbClr val="FF0000"/>
                </a:solidFill>
                <a:latin typeface="Times New Roman" panose="02020603050405020304" pitchFamily="18" charset="0"/>
                <a:cs typeface="Times New Roman" panose="02020603050405020304" pitchFamily="18" charset="0"/>
              </a:rPr>
              <a:t> induct </a:t>
            </a:r>
            <a:r>
              <a:rPr lang="en-US" sz="1467" dirty="0" err="1">
                <a:solidFill>
                  <a:srgbClr val="FF0000"/>
                </a:solidFill>
                <a:latin typeface="Times New Roman" panose="02020603050405020304" pitchFamily="18" charset="0"/>
                <a:cs typeface="Times New Roman" panose="02020603050405020304" pitchFamily="18" charset="0"/>
              </a:rPr>
              <a:t>từ</a:t>
            </a:r>
            <a:r>
              <a:rPr lang="en-US" sz="1467" dirty="0">
                <a:solidFill>
                  <a:srgbClr val="FF0000"/>
                </a:solidFill>
                <a:latin typeface="Times New Roman" panose="02020603050405020304" pitchFamily="18" charset="0"/>
                <a:cs typeface="Times New Roman" panose="02020603050405020304" pitchFamily="18" charset="0"/>
              </a:rPr>
              <a:t> 06/May/2025</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a:t>
            </a:r>
          </a:p>
          <a:p>
            <a:pPr marL="548640" indent="-182880">
              <a:buFont typeface="Wingdings" panose="05000000000000000000" pitchFamily="2" charset="2"/>
              <a:buChar char="§"/>
              <a:defRPr/>
            </a:pPr>
            <a:r>
              <a:rPr lang="vi-VN" sz="1467" dirty="0">
                <a:solidFill>
                  <a:srgbClr val="ED0000"/>
                </a:solidFill>
                <a:latin typeface="Times New Roman" panose="02020603050405020304" pitchFamily="18" charset="0"/>
                <a:cs typeface="Times New Roman" panose="02020603050405020304" pitchFamily="18" charset="0"/>
              </a:rPr>
              <a:t>956577 (A864) – </a:t>
            </a:r>
            <a:r>
              <a:rPr lang="en-US" sz="1467" dirty="0">
                <a:solidFill>
                  <a:srgbClr val="ED0000"/>
                </a:solidFill>
                <a:latin typeface="Times New Roman" panose="02020603050405020304" pitchFamily="18" charset="0"/>
                <a:cs typeface="Times New Roman" panose="02020603050405020304" pitchFamily="18" charset="0"/>
              </a:rPr>
              <a:t>Remove in 25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không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được</a:t>
            </a:r>
            <a:r>
              <a:rPr lang="en-US" sz="1467" dirty="0">
                <a:solidFill>
                  <a:srgbClr val="ED0000"/>
                </a:solidFill>
                <a:latin typeface="Times New Roman" panose="02020603050405020304" pitchFamily="18" charset="0"/>
                <a:cs typeface="Times New Roman" panose="02020603050405020304" pitchFamily="18" charset="0"/>
              </a:rPr>
              <a:t> GE </a:t>
            </a:r>
            <a:r>
              <a:rPr lang="en-US" sz="1467" dirty="0" err="1">
                <a:solidFill>
                  <a:srgbClr val="ED0000"/>
                </a:solidFill>
                <a:latin typeface="Times New Roman" panose="02020603050405020304" pitchFamily="18" charset="0"/>
                <a:cs typeface="Times New Roman" panose="02020603050405020304" pitchFamily="18" charset="0"/>
              </a:rPr>
              <a:t>cấp</a:t>
            </a:r>
            <a:r>
              <a:rPr lang="en-US" sz="1467" dirty="0">
                <a:solidFill>
                  <a:srgbClr val="ED0000"/>
                </a:solidFill>
                <a:latin typeface="Times New Roman" panose="02020603050405020304" pitchFamily="18" charset="0"/>
                <a:cs typeface="Times New Roman" panose="02020603050405020304" pitchFamily="18" charset="0"/>
              </a:rPr>
              <a:t> DR (</a:t>
            </a:r>
            <a:r>
              <a:rPr lang="en-US" sz="1467" dirty="0" err="1">
                <a:solidFill>
                  <a:srgbClr val="ED0000"/>
                </a:solidFill>
                <a:latin typeface="Times New Roman" panose="02020603050405020304" pitchFamily="18" charset="0"/>
                <a:cs typeface="Times New Roman" panose="02020603050405020304" pitchFamily="18" charset="0"/>
              </a:rPr>
              <a:t>tần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suất</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trước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đó</a:t>
            </a:r>
            <a:r>
              <a:rPr lang="en-US" sz="1467" dirty="0">
                <a:solidFill>
                  <a:srgbClr val="ED0000"/>
                </a:solidFill>
                <a:latin typeface="Times New Roman" panose="02020603050405020304" pitchFamily="18" charset="0"/>
                <a:cs typeface="Times New Roman" panose="02020603050405020304" pitchFamily="18" charset="0"/>
              </a:rPr>
              <a:t>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Đã</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triển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khai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thay</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(=956556)</a:t>
            </a:r>
          </a:p>
          <a:p>
            <a:pPr marL="548640" indent="-182880">
              <a:buFont typeface="Wingdings" panose="05000000000000000000" pitchFamily="2" charset="2"/>
              <a:buChar char="§"/>
              <a:defRPr/>
            </a:pPr>
            <a:r>
              <a:rPr lang="vi-VN" sz="1467" dirty="0">
                <a:solidFill>
                  <a:srgbClr val="ED0000"/>
                </a:solidFill>
                <a:latin typeface="Times New Roman" panose="02020603050405020304" pitchFamily="18" charset="0"/>
                <a:cs typeface="Times New Roman" panose="02020603050405020304" pitchFamily="18" charset="0"/>
              </a:rPr>
              <a:t>956</a:t>
            </a:r>
            <a:r>
              <a:rPr lang="en-US" sz="1467" dirty="0">
                <a:solidFill>
                  <a:srgbClr val="ED0000"/>
                </a:solidFill>
                <a:latin typeface="Times New Roman" panose="02020603050405020304" pitchFamily="18" charset="0"/>
                <a:cs typeface="Times New Roman" panose="02020603050405020304" pitchFamily="18" charset="0"/>
              </a:rPr>
              <a:t>769</a:t>
            </a:r>
            <a:r>
              <a:rPr lang="vi-VN" sz="1467" dirty="0">
                <a:solidFill>
                  <a:srgbClr val="ED0000"/>
                </a:solidFill>
                <a:latin typeface="Times New Roman" panose="02020603050405020304" pitchFamily="18" charset="0"/>
                <a:cs typeface="Times New Roman" panose="02020603050405020304" pitchFamily="18" charset="0"/>
              </a:rPr>
              <a:t> (A86</a:t>
            </a:r>
            <a:r>
              <a:rPr lang="en-US" sz="1467" dirty="0">
                <a:solidFill>
                  <a:srgbClr val="ED0000"/>
                </a:solidFill>
                <a:latin typeface="Times New Roman" panose="02020603050405020304" pitchFamily="18" charset="0"/>
                <a:cs typeface="Times New Roman" panose="02020603050405020304" pitchFamily="18" charset="0"/>
              </a:rPr>
              <a:t>8</a:t>
            </a:r>
            <a:r>
              <a:rPr lang="vi-VN" sz="1467" dirty="0">
                <a:solidFill>
                  <a:srgbClr val="ED0000"/>
                </a:solidFill>
                <a:latin typeface="Times New Roman" panose="02020603050405020304" pitchFamily="18" charset="0"/>
                <a:cs typeface="Times New Roman" panose="02020603050405020304" pitchFamily="18" charset="0"/>
              </a:rPr>
              <a:t>) – </a:t>
            </a:r>
            <a:r>
              <a:rPr lang="en-US" sz="1467" dirty="0">
                <a:solidFill>
                  <a:srgbClr val="ED0000"/>
                </a:solidFill>
                <a:latin typeface="Times New Roman" panose="02020603050405020304" pitchFamily="18" charset="0"/>
                <a:cs typeface="Times New Roman" panose="02020603050405020304" pitchFamily="18" charset="0"/>
              </a:rPr>
              <a:t>Remove in 25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và</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sẽ</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phải</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lại</a:t>
            </a:r>
            <a:r>
              <a:rPr lang="en-US" sz="1467" dirty="0">
                <a:solidFill>
                  <a:srgbClr val="ED0000"/>
                </a:solidFill>
                <a:latin typeface="Times New Roman" panose="02020603050405020304" pitchFamily="18" charset="0"/>
                <a:cs typeface="Times New Roman" panose="02020603050405020304" pitchFamily="18" charset="0"/>
              </a:rPr>
              <a:t> T1B </a:t>
            </a:r>
            <a:r>
              <a:rPr lang="en-US" sz="1467" dirty="0" err="1">
                <a:solidFill>
                  <a:srgbClr val="ED0000"/>
                </a:solidFill>
                <a:latin typeface="Times New Roman" panose="02020603050405020304" pitchFamily="18" charset="0"/>
                <a:cs typeface="Times New Roman" panose="02020603050405020304" pitchFamily="18" charset="0"/>
              </a:rPr>
              <a:t>để</a:t>
            </a:r>
            <a:r>
              <a:rPr lang="en-US" sz="1467" dirty="0">
                <a:solidFill>
                  <a:srgbClr val="ED0000"/>
                </a:solidFill>
                <a:latin typeface="Times New Roman" panose="02020603050405020304" pitchFamily="18" charset="0"/>
                <a:cs typeface="Times New Roman" panose="02020603050405020304" pitchFamily="18" charset="0"/>
              </a:rPr>
              <a:t> GE </a:t>
            </a:r>
            <a:r>
              <a:rPr lang="en-US" sz="1467" dirty="0" err="1">
                <a:solidFill>
                  <a:srgbClr val="ED0000"/>
                </a:solidFill>
                <a:latin typeface="Times New Roman" panose="02020603050405020304" pitchFamily="18" charset="0"/>
                <a:cs typeface="Times New Roman" panose="02020603050405020304" pitchFamily="18" charset="0"/>
              </a:rPr>
              <a:t>xem</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xét</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cấp</a:t>
            </a:r>
            <a:r>
              <a:rPr lang="en-US" sz="1467" dirty="0">
                <a:solidFill>
                  <a:srgbClr val="ED0000"/>
                </a:solidFill>
                <a:latin typeface="Times New Roman" panose="02020603050405020304" pitchFamily="18" charset="0"/>
                <a:cs typeface="Times New Roman" panose="02020603050405020304" pitchFamily="18" charset="0"/>
              </a:rPr>
              <a:t> DR. T2B </a:t>
            </a:r>
            <a:r>
              <a:rPr lang="en-US" sz="1467" dirty="0" err="1">
                <a:solidFill>
                  <a:srgbClr val="ED0000"/>
                </a:solidFill>
                <a:latin typeface="Times New Roman" panose="02020603050405020304" pitchFamily="18" charset="0"/>
                <a:cs typeface="Times New Roman" panose="02020603050405020304" pitchFamily="18" charset="0"/>
              </a:rPr>
              <a:t>cũng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giảm</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còn</a:t>
            </a:r>
            <a:r>
              <a:rPr lang="en-US" sz="1467" dirty="0">
                <a:solidFill>
                  <a:srgbClr val="ED0000"/>
                </a:solidFill>
                <a:latin typeface="Times New Roman" panose="02020603050405020304" pitchFamily="18" charset="0"/>
                <a:cs typeface="Times New Roman" panose="02020603050405020304" pitchFamily="18" charset="0"/>
              </a:rPr>
              <a:t> 25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repetitive (</a:t>
            </a:r>
            <a:r>
              <a:rPr lang="en-US" sz="1467" dirty="0" err="1">
                <a:solidFill>
                  <a:srgbClr val="ED0000"/>
                </a:solidFill>
                <a:latin typeface="Times New Roman" panose="02020603050405020304" pitchFamily="18" charset="0"/>
                <a:cs typeface="Times New Roman" panose="02020603050405020304" pitchFamily="18" charset="0"/>
              </a:rPr>
              <a:t>tần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suất</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trước</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đó</a:t>
            </a:r>
            <a:r>
              <a:rPr lang="en-US" sz="1467" dirty="0">
                <a:solidFill>
                  <a:srgbClr val="ED0000"/>
                </a:solidFill>
                <a:latin typeface="Times New Roman" panose="02020603050405020304" pitchFamily="18" charset="0"/>
                <a:cs typeface="Times New Roman" panose="02020603050405020304" pitchFamily="18" charset="0"/>
              </a:rPr>
              <a:t>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Remove in 50 cyc or reinspect</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956913 (A871)</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956769</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01 ĐC;  150 cycle – 01 ĐC; 250 cycle – 02 ĐC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A870/</a:t>
            </a:r>
            <a:r>
              <a:rPr lang="vi-VN" sz="1467" dirty="0">
                <a:solidFill>
                  <a:srgbClr val="388600"/>
                </a:solidFill>
                <a:latin typeface="Times New Roman" panose="02020603050405020304" pitchFamily="18" charset="0"/>
                <a:cs typeface="Times New Roman" panose="02020603050405020304" pitchFamily="18" charset="0"/>
              </a:rPr>
              <a:t>956638</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vi-VN" sz="1467" dirty="0">
                <a:solidFill>
                  <a:srgbClr val="388600"/>
                </a:solidFill>
                <a:latin typeface="Times New Roman" panose="02020603050405020304" pitchFamily="18" charset="0"/>
                <a:cs typeface="Times New Roman" panose="02020603050405020304" pitchFamily="18" charset="0"/>
              </a:rPr>
              <a:t> </a:t>
            </a:r>
            <a:r>
              <a:rPr lang="en-US" sz="1467" dirty="0">
                <a:solidFill>
                  <a:srgbClr val="388600"/>
                </a:solidFill>
                <a:latin typeface="Times New Roman" panose="02020603050405020304" pitchFamily="18" charset="0"/>
                <a:cs typeface="Times New Roman" panose="02020603050405020304" pitchFamily="18" charset="0"/>
              </a:rPr>
              <a:t>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hoàn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Nga - </a:t>
            </a:r>
            <a:r>
              <a:rPr lang="en-US" sz="1467" b="1" dirty="0">
                <a:solidFill>
                  <a:srgbClr val="388600"/>
                </a:solidFill>
                <a:latin typeface="Times New Roman" panose="02020603050405020304" pitchFamily="18" charset="0"/>
                <a:cs typeface="Times New Roman" panose="02020603050405020304" pitchFamily="18" charset="0"/>
              </a:rPr>
              <a:t>12/03/2025.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tàu</a:t>
            </a:r>
            <a:r>
              <a:rPr lang="en-US" sz="1467" b="1" dirty="0">
                <a:solidFill>
                  <a:srgbClr val="388600"/>
                </a:solidFill>
                <a:latin typeface="Times New Roman" panose="02020603050405020304" pitchFamily="18" charset="0"/>
                <a:cs typeface="Times New Roman" panose="02020603050405020304" pitchFamily="18" charset="0"/>
              </a:rPr>
              <a:t> A870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lắp</a:t>
            </a:r>
            <a:r>
              <a:rPr lang="en-US" sz="1467" b="1" dirty="0">
                <a:solidFill>
                  <a:srgbClr val="388600"/>
                </a:solidFill>
                <a:latin typeface="Times New Roman" panose="02020603050405020304" pitchFamily="18" charset="0"/>
                <a:cs typeface="Times New Roman" panose="02020603050405020304" pitchFamily="18" charset="0"/>
              </a:rPr>
              <a:t> 02 </a:t>
            </a:r>
            <a:r>
              <a:rPr lang="en-US" sz="1467" b="1" dirty="0" err="1">
                <a:solidFill>
                  <a:srgbClr val="388600"/>
                </a:solidFill>
                <a:latin typeface="Times New Roman" panose="02020603050405020304" pitchFamily="18" charset="0"/>
                <a:cs typeface="Times New Roman" panose="02020603050405020304" pitchFamily="18" charset="0"/>
              </a:rPr>
              <a:t>động</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cơ</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gốc</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để</a:t>
            </a:r>
            <a:r>
              <a:rPr lang="en-US" sz="1467" b="1" dirty="0">
                <a:solidFill>
                  <a:srgbClr val="388600"/>
                </a:solidFill>
                <a:latin typeface="Times New Roman" panose="02020603050405020304" pitchFamily="18" charset="0"/>
                <a:cs typeface="Times New Roman" panose="02020603050405020304" pitchFamily="18" charset="0"/>
              </a:rPr>
              <a:t> bay Nga.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A864/956577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a:t>
            </a:r>
            <a:r>
              <a:rPr lang="en-US" sz="1467" b="1" dirty="0">
                <a:solidFill>
                  <a:schemeClr val="tx1"/>
                </a:solidFill>
                <a:latin typeface="Times New Roman" panose="02020603050405020304" pitchFamily="18" charset="0"/>
                <a:cs typeface="Times New Roman" panose="02020603050405020304" pitchFamily="18" charset="0"/>
              </a:rPr>
              <a:t>14/03 - 04/04/2025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khắc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phục</a:t>
            </a:r>
            <a:r>
              <a:rPr lang="en-US" sz="1467" dirty="0">
                <a:solidFill>
                  <a:schemeClr val="tx1"/>
                </a:solidFill>
                <a:latin typeface="Times New Roman" panose="02020603050405020304" pitchFamily="18" charset="0"/>
                <a:cs typeface="Times New Roman" panose="02020603050405020304" pitchFamily="18" charset="0"/>
              </a:rPr>
              <a:t> AOG </a:t>
            </a:r>
            <a:r>
              <a:rPr lang="en-US" sz="1467" dirty="0" err="1">
                <a:solidFill>
                  <a:schemeClr val="tx1"/>
                </a:solidFill>
                <a:latin typeface="Times New Roman" panose="02020603050405020304" pitchFamily="18" charset="0"/>
                <a:cs typeface="Times New Roman" panose="02020603050405020304" pitchFamily="18" charset="0"/>
              </a:rPr>
              <a:t>sử</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dụng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956556 </a:t>
            </a:r>
            <a:r>
              <a:rPr lang="en-US" sz="1467" dirty="0" err="1">
                <a:solidFill>
                  <a:schemeClr val="tx1"/>
                </a:solidFill>
                <a:latin typeface="Times New Roman" panose="02020603050405020304" pitchFamily="18" charset="0"/>
                <a:cs typeface="Times New Roman" panose="02020603050405020304" pitchFamily="18" charset="0"/>
              </a:rPr>
              <a:t>sửa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chữa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xong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cuối</a:t>
            </a:r>
            <a:r>
              <a:rPr lang="en-US" sz="1467" dirty="0">
                <a:solidFill>
                  <a:schemeClr val="tx1"/>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ENG SWAP 956697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A867. A864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Hoàn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A867 – </a:t>
            </a:r>
            <a:r>
              <a:rPr lang="en-US" sz="1467" b="1" dirty="0">
                <a:solidFill>
                  <a:schemeClr val="tx1"/>
                </a:solidFill>
                <a:latin typeface="Times New Roman" panose="02020603050405020304" pitchFamily="18" charset="0"/>
                <a:cs typeface="Times New Roman" panose="02020603050405020304" pitchFamily="18" charset="0"/>
              </a:rPr>
              <a:t>29/04/2025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thực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02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ENG SWAP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A864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extLst/>
          </p:nvPr>
        </p:nvGraphicFramePr>
        <p:xfrm>
          <a:off x="88573" y="546172"/>
          <a:ext cx="6778543" cy="3484008"/>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08766">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08766">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b="1" u="none" strike="noStrike" dirty="0">
                          <a:solidFill>
                            <a:srgbClr val="FF0000"/>
                          </a:solidFill>
                          <a:effectLst/>
                          <a:latin typeface="+mn-lt"/>
                        </a:rPr>
                        <a:t>14/03/2025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21/03/2025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08766">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30/03/2025</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FF0000"/>
                          </a:solidFill>
                          <a:effectLst/>
                          <a:latin typeface="+mn-lt"/>
                          <a:ea typeface="+mn-ea"/>
                          <a:cs typeface="Times New Roman" panose="02020603050405020304" pitchFamily="18" charset="0"/>
                        </a:rPr>
                        <a:t>T4/2025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08766">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 (T10/2025)</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0" i="0" u="none" strike="noStrike" kern="1200" dirty="0">
                        <a:solidFill>
                          <a:schemeClr val="tx1"/>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19/06/2025</a:t>
                      </a: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 (13/07/2025)</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28739">
                <a:tc>
                  <a:txBody>
                    <a:bodyPr/>
                    <a:lstStyle/>
                    <a:p>
                      <a:pPr algn="ctr" fontAlgn="ctr"/>
                      <a:r>
                        <a:rPr lang="en-US" sz="1200" b="0" i="0" u="none" strike="noStrike" dirty="0">
                          <a:solidFill>
                            <a:srgbClr val="FF0000"/>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rgbClr val="FF0000"/>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1" u="none" strike="noStrike" kern="1200" dirty="0">
                          <a:solidFill>
                            <a:srgbClr val="FF0000"/>
                          </a:solidFill>
                          <a:effectLst/>
                          <a:latin typeface="+mn-lt"/>
                          <a:ea typeface="+mn-ea"/>
                          <a:cs typeface="Times New Roman" panose="02020603050405020304" pitchFamily="18" charset="0"/>
                        </a:rPr>
                        <a:t>Induct TBD</a:t>
                      </a:r>
                    </a:p>
                  </a:txBody>
                  <a:tcPr marL="12700" marR="12700" marT="12700" marB="0" anchor="ctr"/>
                </a:tc>
                <a:tc>
                  <a:txBody>
                    <a:bodyPr/>
                    <a:lstStyle/>
                    <a:p>
                      <a:pPr algn="ctr" fontAlgn="ctr"/>
                      <a:r>
                        <a:rPr lang="en-US" sz="1200" b="1" u="none" strike="noStrike" kern="1200" dirty="0">
                          <a:solidFill>
                            <a:srgbClr val="FF0000"/>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9926">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01505">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1124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u="none" strike="noStrike" dirty="0">
                          <a:solidFill>
                            <a:srgbClr val="FF0000"/>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rgbClr val="FF0000"/>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3155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34</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34</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extLst/>
          </p:nvPr>
        </p:nvGraphicFramePr>
        <p:xfrm>
          <a:off x="59590" y="875397"/>
          <a:ext cx="5905159" cy="29260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565065">
                  <a:extLst>
                    <a:ext uri="{9D8B030D-6E8A-4147-A177-3AD203B41FA5}">
                      <a16:colId xmlns:a16="http://schemas.microsoft.com/office/drawing/2014/main" val="1674463010"/>
                    </a:ext>
                  </a:extLst>
                </a:gridCol>
                <a:gridCol w="914400">
                  <a:extLst>
                    <a:ext uri="{9D8B030D-6E8A-4147-A177-3AD203B41FA5}">
                      <a16:colId xmlns:a16="http://schemas.microsoft.com/office/drawing/2014/main" val="1549944897"/>
                    </a:ext>
                  </a:extLst>
                </a:gridCol>
                <a:gridCol w="838200">
                  <a:extLst>
                    <a:ext uri="{9D8B030D-6E8A-4147-A177-3AD203B41FA5}">
                      <a16:colId xmlns:a16="http://schemas.microsoft.com/office/drawing/2014/main" val="3687717734"/>
                    </a:ext>
                  </a:extLst>
                </a:gridCol>
                <a:gridCol w="1545149">
                  <a:extLst>
                    <a:ext uri="{9D8B030D-6E8A-4147-A177-3AD203B41FA5}">
                      <a16:colId xmlns:a16="http://schemas.microsoft.com/office/drawing/2014/main" val="4100307886"/>
                    </a:ext>
                  </a:extLst>
                </a:gridCol>
              </a:tblGrid>
              <a:tr h="40640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25400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29/03/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08/04/</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254000">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val="83465224"/>
                  </a:ext>
                </a:extLst>
              </a:tr>
              <a:tr h="254000">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20/06/25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254000">
                <a:tc>
                  <a:txBody>
                    <a:bodyPr/>
                    <a:lstStyle/>
                    <a:p>
                      <a:r>
                        <a:rPr lang="en-US" sz="1200" b="1" dirty="0">
                          <a:latin typeface="Times New Roman" panose="02020603050405020304" pitchFamily="18" charset="0"/>
                          <a:cs typeface="Times New Roman" panose="02020603050405020304" pitchFamily="18" charset="0"/>
                        </a:rPr>
                        <a:t>21422</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25/03/25</a:t>
                      </a:r>
                    </a:p>
                  </a:txBody>
                  <a:tcPr marL="121920" marR="121920" marT="60960" marB="60960" anchor="ctr"/>
                </a:tc>
                <a:tc>
                  <a:txBody>
                    <a:bodyPr/>
                    <a:lstStyle/>
                    <a:p>
                      <a:pPr marL="0" algn="l" defTabSz="914400" rtl="0" eaLnBrk="1" latinLnBrk="0" hangingPunct="1"/>
                      <a:r>
                        <a:rPr lang="en-US" sz="1200" b="0" kern="1200" dirty="0">
                          <a:solidFill>
                            <a:schemeClr val="tx1"/>
                          </a:solidFill>
                          <a:latin typeface="Times New Roman" panose="02020603050405020304" pitchFamily="18" charset="0"/>
                          <a:ea typeface="+mn-ea"/>
                          <a:cs typeface="Times New Roman" panose="02020603050405020304" pitchFamily="18" charset="0"/>
                        </a:rPr>
                        <a:t>05/04/25</a:t>
                      </a:r>
                    </a:p>
                  </a:txBody>
                  <a:tcPr marL="121920" marR="121920" marT="60960" marB="60960" anchor="ctr"/>
                </a:tc>
                <a:extLst>
                  <a:ext uri="{0D108BD9-81ED-4DB2-BD59-A6C34878D82A}">
                    <a16:rowId xmlns:a16="http://schemas.microsoft.com/office/drawing/2014/main" val="875011403"/>
                  </a:ext>
                </a:extLst>
              </a:tr>
              <a:tr h="254000">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17/04/25</a:t>
                      </a:r>
                    </a:p>
                  </a:txBody>
                  <a:tcPr marL="121920" marR="121920" marT="60960" marB="60960" anchor="ctr"/>
                </a:tc>
                <a:extLst>
                  <a:ext uri="{0D108BD9-81ED-4DB2-BD59-A6C34878D82A}">
                    <a16:rowId xmlns:a16="http://schemas.microsoft.com/office/drawing/2014/main" val="727372545"/>
                  </a:ext>
                </a:extLst>
              </a:tr>
              <a:tr h="254000">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val="829074625"/>
                  </a:ext>
                </a:extLst>
              </a:tr>
              <a:tr h="254000">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14/03/25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24/03/25</a:t>
                      </a:r>
                    </a:p>
                  </a:txBody>
                  <a:tcPr marL="121920" marR="121920" marT="60960" marB="60960" anchor="ctr"/>
                </a:tc>
                <a:extLst>
                  <a:ext uri="{0D108BD9-81ED-4DB2-BD59-A6C34878D82A}">
                    <a16:rowId xmlns:a16="http://schemas.microsoft.com/office/drawing/2014/main" val="1733130508"/>
                  </a:ext>
                </a:extLst>
              </a:tr>
              <a:tr h="254000">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extLst>
                  <a:ext uri="{0D108BD9-81ED-4DB2-BD59-A6C34878D82A}">
                    <a16:rowId xmlns:a16="http://schemas.microsoft.com/office/drawing/2014/main" val="313566637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extLst/>
          </p:nvPr>
        </p:nvGraphicFramePr>
        <p:xfrm>
          <a:off x="76200" y="4321843"/>
          <a:ext cx="5879459" cy="24384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0">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1927641313"/>
                  </a:ext>
                </a:extLst>
              </a:tr>
              <a:tr h="0">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T3/25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863729012"/>
                  </a:ext>
                </a:extLst>
              </a:tr>
              <a:tr h="0">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T4/25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3958768938"/>
                  </a:ext>
                </a:extLst>
              </a:tr>
              <a:tr h="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Đang</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vận</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chuyển</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(08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414473" y="3851378"/>
            <a:ext cx="5195392"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ch</a:t>
            </a:r>
            <a:r>
              <a:rPr lang="en-US" sz="2133" b="1" dirty="0">
                <a:solidFill>
                  <a:srgbClr val="002060"/>
                </a:solidFill>
                <a:latin typeface="Times New Roman" panose="02020603050405020304" pitchFamily="18" charset="0"/>
                <a:cs typeface="Times New Roman" panose="02020603050405020304" pitchFamily="18" charset="0"/>
              </a:rPr>
              <a:t>ờ </a:t>
            </a:r>
            <a:r>
              <a:rPr lang="en-US" sz="2133" b="1" dirty="0" err="1">
                <a:solidFill>
                  <a:srgbClr val="002060"/>
                </a:solidFill>
                <a:latin typeface="Times New Roman" panose="02020603050405020304" pitchFamily="18" charset="0"/>
                <a:cs typeface="Times New Roman" panose="02020603050405020304" pitchFamily="18" charset="0"/>
              </a:rPr>
              <a:t>sửa</a:t>
            </a:r>
            <a:r>
              <a:rPr lang="en-US" sz="2133" b="1" dirty="0">
                <a:solidFill>
                  <a:srgbClr val="002060"/>
                </a:solidFill>
                <a:latin typeface="Times New Roman" panose="02020603050405020304" pitchFamily="18" charset="0"/>
                <a:cs typeface="Times New Roman" panose="02020603050405020304" pitchFamily="18" charset="0"/>
              </a:rPr>
              <a:t> </a:t>
            </a:r>
            <a:r>
              <a:rPr lang="en-GB" sz="2133" b="1" dirty="0">
                <a:solidFill>
                  <a:srgbClr val="002060"/>
                </a:solidFill>
                <a:latin typeface="Times New Roman" panose="02020603050405020304" pitchFamily="18" charset="0"/>
                <a:cs typeface="Times New Roman" panose="02020603050405020304" pitchFamily="18" charset="0"/>
              </a:rPr>
              <a:t>(07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859609"/>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extLst/>
          </p:nvPr>
        </p:nvGraphicFramePr>
        <p:xfrm>
          <a:off x="6274810" y="3352800"/>
          <a:ext cx="5808956" cy="3200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extLst/>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3896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6" name="Chart 15">
            <a:extLst>
              <a:ext uri="{FF2B5EF4-FFF2-40B4-BE49-F238E27FC236}">
                <a16:creationId xmlns:a16="http://schemas.microsoft.com/office/drawing/2014/main" id="{A3E8964E-6605-453B-87FD-34C390A534B1}"/>
              </a:ext>
            </a:extLst>
          </p:cNvPr>
          <p:cNvGraphicFramePr>
            <a:graphicFrameLocks/>
          </p:cNvGraphicFramePr>
          <p:nvPr>
            <p:extLst/>
          </p:nvPr>
        </p:nvGraphicFramePr>
        <p:xfrm>
          <a:off x="304800" y="533400"/>
          <a:ext cx="11430000" cy="5562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pPr lvl="0"/>
            <a:r>
              <a:rPr lang="en-US" sz="900" dirty="0"/>
              <a:t>- </a:t>
            </a:r>
            <a:r>
              <a:rPr lang="en-GB" sz="1050" dirty="0" err="1"/>
              <a:t>Với</a:t>
            </a:r>
            <a:r>
              <a:rPr lang="en-GB" sz="1050" dirty="0"/>
              <a:t> 21346 (</a:t>
            </a:r>
            <a:r>
              <a:rPr lang="en-GB" sz="1050" dirty="0" err="1"/>
              <a:t>hết</a:t>
            </a:r>
            <a:r>
              <a:rPr lang="en-GB" sz="1050" dirty="0"/>
              <a:t> </a:t>
            </a:r>
            <a:r>
              <a:rPr lang="en-GB" sz="1050" dirty="0" err="1"/>
              <a:t>hạn</a:t>
            </a:r>
            <a:r>
              <a:rPr lang="en-GB" sz="1050" dirty="0"/>
              <a:t> 14/06): </a:t>
            </a:r>
            <a:r>
              <a:rPr lang="en-GB" sz="1050" dirty="0" err="1"/>
              <a:t>chờ</a:t>
            </a:r>
            <a:r>
              <a:rPr lang="en-GB" sz="1050" dirty="0"/>
              <a:t> </a:t>
            </a:r>
            <a:r>
              <a:rPr lang="en-GB" sz="1050" dirty="0" err="1"/>
              <a:t>động</a:t>
            </a:r>
            <a:r>
              <a:rPr lang="en-GB" sz="1050" dirty="0"/>
              <a:t> </a:t>
            </a:r>
            <a:r>
              <a:rPr lang="en-GB" sz="1050" dirty="0" err="1"/>
              <a:t>cơ</a:t>
            </a:r>
            <a:r>
              <a:rPr lang="en-GB" sz="1050" dirty="0"/>
              <a:t> 21269 </a:t>
            </a:r>
            <a:r>
              <a:rPr lang="en-GB" sz="1050" dirty="0" err="1"/>
              <a:t>đi</a:t>
            </a:r>
            <a:r>
              <a:rPr lang="en-GB" sz="1050" dirty="0"/>
              <a:t> shop </a:t>
            </a:r>
            <a:r>
              <a:rPr lang="en-GB" sz="1050" dirty="0" err="1"/>
              <a:t>về</a:t>
            </a:r>
            <a:r>
              <a:rPr lang="en-GB" sz="1050" dirty="0"/>
              <a:t> </a:t>
            </a:r>
            <a:r>
              <a:rPr lang="en-GB" sz="1050" dirty="0" err="1"/>
              <a:t>ngày</a:t>
            </a:r>
            <a:r>
              <a:rPr lang="en-GB" sz="1050" dirty="0"/>
              <a:t> 24/03 </a:t>
            </a:r>
            <a:r>
              <a:rPr lang="en-GB" sz="1050" dirty="0" err="1"/>
              <a:t>sẽ</a:t>
            </a:r>
            <a:r>
              <a:rPr lang="en-GB" sz="1050" dirty="0"/>
              <a:t> </a:t>
            </a:r>
            <a:r>
              <a:rPr lang="en-GB" sz="1050" dirty="0" err="1"/>
              <a:t>tháo</a:t>
            </a:r>
            <a:r>
              <a:rPr lang="en-GB" sz="1050" dirty="0"/>
              <a:t> </a:t>
            </a:r>
            <a:r>
              <a:rPr lang="en-GB" sz="1050" dirty="0" err="1"/>
              <a:t>động</a:t>
            </a:r>
            <a:r>
              <a:rPr lang="en-GB" sz="1050" dirty="0"/>
              <a:t> </a:t>
            </a:r>
            <a:r>
              <a:rPr lang="en-GB" sz="1050" dirty="0" err="1"/>
              <a:t>cơ</a:t>
            </a:r>
            <a:r>
              <a:rPr lang="en-GB" sz="1050" dirty="0"/>
              <a:t> </a:t>
            </a:r>
            <a:r>
              <a:rPr lang="en-GB" sz="1050" dirty="0" err="1"/>
              <a:t>này</a:t>
            </a:r>
            <a:r>
              <a:rPr lang="en-GB" sz="1050" dirty="0"/>
              <a:t> </a:t>
            </a:r>
            <a:r>
              <a:rPr lang="en-GB" sz="1050" dirty="0" err="1"/>
              <a:t>xuống</a:t>
            </a:r>
            <a:r>
              <a:rPr lang="en-GB" sz="1050" dirty="0"/>
              <a:t> </a:t>
            </a:r>
            <a:r>
              <a:rPr lang="en-GB" sz="1050" dirty="0" err="1"/>
              <a:t>giữ</a:t>
            </a:r>
            <a:r>
              <a:rPr lang="en-GB" sz="1050" dirty="0"/>
              <a:t> </a:t>
            </a:r>
            <a:r>
              <a:rPr lang="en-GB" sz="1050" dirty="0" err="1"/>
              <a:t>giờ</a:t>
            </a:r>
            <a:r>
              <a:rPr lang="en-GB" sz="1050" dirty="0"/>
              <a:t> </a:t>
            </a:r>
            <a:r>
              <a:rPr lang="en-GB" sz="1050" dirty="0" err="1"/>
              <a:t>đến</a:t>
            </a:r>
            <a:r>
              <a:rPr lang="en-GB" sz="1050" dirty="0"/>
              <a:t> 10/5 </a:t>
            </a:r>
            <a:r>
              <a:rPr lang="en-GB" sz="1050" dirty="0" err="1"/>
              <a:t>lắp</a:t>
            </a:r>
            <a:r>
              <a:rPr lang="en-GB" sz="1050" dirty="0"/>
              <a:t> </a:t>
            </a:r>
            <a:r>
              <a:rPr lang="en-GB" sz="1050" dirty="0" err="1"/>
              <a:t>lại</a:t>
            </a:r>
            <a:r>
              <a:rPr lang="en-GB" sz="1050" dirty="0"/>
              <a:t> A899 (</a:t>
            </a:r>
            <a:r>
              <a:rPr lang="en-GB" sz="1050" dirty="0" err="1"/>
              <a:t>tàu</a:t>
            </a:r>
            <a:r>
              <a:rPr lang="en-GB" sz="1050" dirty="0"/>
              <a:t> </a:t>
            </a:r>
            <a:r>
              <a:rPr lang="en-GB" sz="1050" dirty="0" err="1"/>
              <a:t>đang</a:t>
            </a:r>
            <a:r>
              <a:rPr lang="en-GB" sz="1050" dirty="0"/>
              <a:t> </a:t>
            </a:r>
            <a:r>
              <a:rPr lang="en-GB" sz="1050" dirty="0" err="1"/>
              <a:t>dừng</a:t>
            </a:r>
            <a:r>
              <a:rPr lang="en-GB" sz="1050" dirty="0"/>
              <a:t> </a:t>
            </a:r>
            <a:r>
              <a:rPr lang="en-GB" sz="1050" dirty="0" err="1"/>
              <a:t>làm</a:t>
            </a:r>
            <a:r>
              <a:rPr lang="en-GB" sz="1050" dirty="0"/>
              <a:t> 6Y</a:t>
            </a:r>
            <a:r>
              <a:rPr lang="en-US" sz="1050" dirty="0"/>
              <a:t>), </a:t>
            </a:r>
            <a:r>
              <a:rPr lang="en-US" sz="1050" dirty="0" err="1"/>
              <a:t>sau</a:t>
            </a:r>
            <a:r>
              <a:rPr lang="en-US" sz="1050" dirty="0"/>
              <a:t> </a:t>
            </a:r>
            <a:r>
              <a:rPr lang="en-US" sz="1050" dirty="0" err="1"/>
              <a:t>đó</a:t>
            </a:r>
            <a:r>
              <a:rPr lang="en-US" sz="1050" dirty="0"/>
              <a:t> </a:t>
            </a:r>
            <a:r>
              <a:rPr lang="en-US" sz="1050" dirty="0" err="1"/>
              <a:t>lắp</a:t>
            </a:r>
            <a:r>
              <a:rPr lang="en-US" sz="1050" dirty="0"/>
              <a:t> A899 </a:t>
            </a:r>
            <a:r>
              <a:rPr lang="en-US" sz="1050" dirty="0" err="1"/>
              <a:t>giữ</a:t>
            </a:r>
            <a:r>
              <a:rPr lang="en-US" sz="1050" dirty="0"/>
              <a:t> </a:t>
            </a:r>
            <a:r>
              <a:rPr lang="en-US" sz="1050" dirty="0" err="1"/>
              <a:t>thêm</a:t>
            </a:r>
            <a:r>
              <a:rPr lang="en-US" sz="1050" dirty="0"/>
              <a:t> 10 </a:t>
            </a:r>
            <a:r>
              <a:rPr lang="en-US" sz="1050" dirty="0" err="1"/>
              <a:t>ngày</a:t>
            </a:r>
            <a:r>
              <a:rPr lang="en-US" sz="1050" dirty="0"/>
              <a:t>. </a:t>
            </a:r>
            <a:endParaRPr lang="en-US" sz="1000" dirty="0"/>
          </a:p>
          <a:p>
            <a:pPr lvl="0"/>
            <a:r>
              <a:rPr lang="en-GB" sz="1050" dirty="0"/>
              <a:t>- </a:t>
            </a:r>
            <a:r>
              <a:rPr lang="en-GB" sz="1050" dirty="0" err="1"/>
              <a:t>Với</a:t>
            </a:r>
            <a:r>
              <a:rPr lang="en-GB" sz="1050" dirty="0"/>
              <a:t> 21418 (</a:t>
            </a:r>
            <a:r>
              <a:rPr lang="en-GB" sz="1050" dirty="0" err="1"/>
              <a:t>hết</a:t>
            </a:r>
            <a:r>
              <a:rPr lang="en-GB" sz="1050" dirty="0"/>
              <a:t> </a:t>
            </a:r>
            <a:r>
              <a:rPr lang="en-GB" sz="1050" dirty="0" err="1"/>
              <a:t>hạn</a:t>
            </a:r>
            <a:r>
              <a:rPr lang="en-GB" sz="1050" dirty="0"/>
              <a:t> 07/07): </a:t>
            </a:r>
            <a:r>
              <a:rPr lang="en-GB" sz="1050" dirty="0" err="1"/>
              <a:t>Lắp</a:t>
            </a:r>
            <a:r>
              <a:rPr lang="en-GB" sz="1050" dirty="0"/>
              <a:t> </a:t>
            </a:r>
            <a:r>
              <a:rPr lang="en-GB" sz="1050" dirty="0" err="1"/>
              <a:t>trên</a:t>
            </a:r>
            <a:r>
              <a:rPr lang="en-GB" sz="1050" dirty="0"/>
              <a:t> </a:t>
            </a:r>
            <a:r>
              <a:rPr lang="en-GB" sz="1050" dirty="0" err="1"/>
              <a:t>tàu</a:t>
            </a:r>
            <a:r>
              <a:rPr lang="en-GB" sz="1050" dirty="0"/>
              <a:t> A891 </a:t>
            </a:r>
            <a:r>
              <a:rPr lang="en-GB" sz="1050" dirty="0" err="1"/>
              <a:t>làm</a:t>
            </a:r>
            <a:r>
              <a:rPr lang="en-GB" sz="1050" dirty="0"/>
              <a:t> check </a:t>
            </a:r>
            <a:r>
              <a:rPr lang="en-GB" sz="1050" dirty="0" err="1"/>
              <a:t>từ</a:t>
            </a:r>
            <a:r>
              <a:rPr lang="en-GB" sz="1050" dirty="0"/>
              <a:t> 10/3 – 19/3; </a:t>
            </a:r>
            <a:r>
              <a:rPr lang="en-GB" sz="1050" dirty="0" err="1"/>
              <a:t>từ</a:t>
            </a:r>
            <a:r>
              <a:rPr lang="en-GB" sz="1050" dirty="0"/>
              <a:t> 16/04 – 10/05: </a:t>
            </a:r>
            <a:r>
              <a:rPr lang="en-GB" sz="1050" dirty="0" err="1"/>
              <a:t>lắp</a:t>
            </a:r>
            <a:r>
              <a:rPr lang="en-GB" sz="1050" dirty="0"/>
              <a:t> sang </a:t>
            </a:r>
            <a:r>
              <a:rPr lang="en-GB" sz="1050" dirty="0" err="1"/>
              <a:t>tàu</a:t>
            </a:r>
            <a:r>
              <a:rPr lang="en-GB" sz="1050" dirty="0"/>
              <a:t> A899 (</a:t>
            </a:r>
            <a:r>
              <a:rPr lang="en-GB" sz="1050" dirty="0" err="1"/>
              <a:t>làm</a:t>
            </a:r>
            <a:r>
              <a:rPr lang="en-GB" sz="1050" dirty="0"/>
              <a:t> 6Y) </a:t>
            </a:r>
            <a:r>
              <a:rPr lang="en-GB" sz="1050" dirty="0" err="1"/>
              <a:t>giữ</a:t>
            </a:r>
            <a:r>
              <a:rPr lang="en-GB" sz="1050" dirty="0"/>
              <a:t> </a:t>
            </a:r>
            <a:r>
              <a:rPr lang="en-GB" sz="1050" dirty="0" err="1"/>
              <a:t>thêm</a:t>
            </a:r>
            <a:r>
              <a:rPr lang="en-GB" sz="1050" dirty="0"/>
              <a:t> </a:t>
            </a:r>
            <a:r>
              <a:rPr lang="en-GB" sz="1050" dirty="0" err="1"/>
              <a:t>được</a:t>
            </a:r>
            <a:r>
              <a:rPr lang="en-GB" sz="1050" dirty="0"/>
              <a:t> 25 </a:t>
            </a:r>
            <a:r>
              <a:rPr lang="en-GB" sz="1050" dirty="0" err="1"/>
              <a:t>ngày</a:t>
            </a:r>
            <a:r>
              <a:rPr lang="en-GB" sz="1050" dirty="0"/>
              <a:t>, </a:t>
            </a:r>
            <a:r>
              <a:rPr lang="en-GB" sz="1050" dirty="0" err="1"/>
              <a:t>sau</a:t>
            </a:r>
            <a:r>
              <a:rPr lang="en-GB" sz="1050" dirty="0"/>
              <a:t> </a:t>
            </a:r>
            <a:r>
              <a:rPr lang="en-GB" sz="1050" dirty="0" err="1"/>
              <a:t>đó</a:t>
            </a:r>
            <a:r>
              <a:rPr lang="en-GB" sz="1050" dirty="0"/>
              <a:t> A899 </a:t>
            </a:r>
            <a:r>
              <a:rPr lang="en-GB" sz="1050" dirty="0" err="1"/>
              <a:t>chủ</a:t>
            </a:r>
            <a:r>
              <a:rPr lang="en-GB" sz="1050" dirty="0"/>
              <a:t> </a:t>
            </a:r>
            <a:r>
              <a:rPr lang="en-GB" sz="1050" dirty="0" err="1"/>
              <a:t>động</a:t>
            </a:r>
            <a:r>
              <a:rPr lang="en-GB" sz="1050" dirty="0"/>
              <a:t> d</a:t>
            </a:r>
            <a:r>
              <a:rPr lang="en-US" sz="1050" dirty="0" err="1"/>
              <a:t>ừng</a:t>
            </a:r>
            <a:r>
              <a:rPr lang="en-US" sz="1050" dirty="0"/>
              <a:t> </a:t>
            </a:r>
            <a:r>
              <a:rPr lang="en-US" sz="1050" dirty="0" err="1"/>
              <a:t>thêm</a:t>
            </a:r>
            <a:r>
              <a:rPr lang="en-US" sz="1050" dirty="0"/>
              <a:t> 10 </a:t>
            </a:r>
            <a:r>
              <a:rPr lang="en-US" sz="1050" dirty="0" err="1"/>
              <a:t>ngày</a:t>
            </a:r>
            <a:r>
              <a:rPr lang="en-US" sz="1050" dirty="0"/>
              <a:t>. </a:t>
            </a:r>
            <a:endParaRPr lang="en-US" sz="1000" dirty="0"/>
          </a:p>
        </p:txBody>
      </p:sp>
    </p:spTree>
    <p:extLst>
      <p:ext uri="{BB962C8B-B14F-4D97-AF65-F5344CB8AC3E}">
        <p14:creationId xmlns:p14="http://schemas.microsoft.com/office/powerpoint/2010/main" val="777890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36</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36</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3129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FFC000"/>
                </a:solidFill>
                <a:latin typeface="Times New Roman" panose="02020603050405020304" pitchFamily="18" charset="0"/>
                <a:cs typeface="Times New Roman" panose="02020603050405020304" pitchFamily="18" charset="0"/>
              </a:rPr>
              <a:t>Tình</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trạng</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sửa</a:t>
            </a:r>
            <a:r>
              <a:rPr lang="en-US" sz="2400" b="1" dirty="0">
                <a:solidFill>
                  <a:srgbClr val="FFC000"/>
                </a:solidFill>
                <a:latin typeface="Times New Roman" panose="02020603050405020304" pitchFamily="18" charset="0"/>
                <a:cs typeface="Times New Roman" panose="02020603050405020304" pitchFamily="18" charset="0"/>
              </a:rPr>
              <a:t> </a:t>
            </a:r>
            <a:r>
              <a:rPr lang="en-US" sz="2400" b="1" dirty="0" err="1">
                <a:solidFill>
                  <a:srgbClr val="FFC000"/>
                </a:solidFill>
                <a:latin typeface="Times New Roman" panose="02020603050405020304" pitchFamily="18" charset="0"/>
                <a:cs typeface="Times New Roman" panose="02020603050405020304" pitchFamily="18" charset="0"/>
              </a:rPr>
              <a:t>chữa</a:t>
            </a:r>
            <a:endParaRPr lang="en-GB" sz="2400" b="1" dirty="0">
              <a:solidFill>
                <a:srgbClr val="FFC00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extLst/>
          </p:nvPr>
        </p:nvGraphicFramePr>
        <p:xfrm>
          <a:off x="291533" y="1134199"/>
          <a:ext cx="11460202" cy="1863582"/>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FC0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FC0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0" y="3198167"/>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76200" y="3733800"/>
            <a:ext cx="11460201" cy="1692771"/>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ED0217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HPT Vane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38 FH), ED0233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78 FC), ED0214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err="1">
                <a:latin typeface="Times New Roman" panose="02020603050405020304" pitchFamily="18" charset="0"/>
                <a:cs typeface="Times New Roman" panose="02020603050405020304" pitchFamily="18" charset="0"/>
              </a:rPr>
              <a:t>còn</a:t>
            </a:r>
            <a:r>
              <a:rPr lang="en-US" sz="1600">
                <a:latin typeface="Times New Roman" panose="02020603050405020304" pitchFamily="18" charset="0"/>
                <a:cs typeface="Times New Roman" panose="02020603050405020304" pitchFamily="18" charset="0"/>
              </a:rPr>
              <a:t> 39 FC)</a:t>
            </a:r>
          </a:p>
          <a:p>
            <a:pPr marL="380990" indent="-380990">
              <a:spcBef>
                <a:spcPts val="800"/>
              </a:spcBef>
              <a:spcAft>
                <a:spcPts val="800"/>
              </a:spcAf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Động cơ dự phòng: ED0235 còn 916 FC giữ giờ trong kho.</a:t>
            </a:r>
          </a:p>
          <a:p>
            <a:pPr marL="380990" indent="-380990">
              <a:spcBef>
                <a:spcPts val="800"/>
              </a:spcBef>
              <a:spcAft>
                <a:spcPts val="800"/>
              </a:spcAft>
              <a:buFont typeface="Arial" panose="020B0604020202020204" pitchFamily="34" charset="0"/>
              <a:buChar char="•"/>
            </a:pPr>
            <a:r>
              <a:rPr lang="it-IT" sz="1600">
                <a:latin typeface="Times New Roman" panose="02020603050405020304" pitchFamily="18" charset="0"/>
                <a:cs typeface="Times New Roman" panose="02020603050405020304" pitchFamily="18" charset="0"/>
              </a:rPr>
              <a:t>Động </a:t>
            </a:r>
            <a:r>
              <a:rPr lang="it-IT" sz="1600" dirty="0">
                <a:latin typeface="Times New Roman" panose="02020603050405020304" pitchFamily="18" charset="0"/>
                <a:cs typeface="Times New Roman" panose="02020603050405020304" pitchFamily="18" charset="0"/>
              </a:rPr>
              <a:t>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8681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10/03/2025 – 16/03/2025: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A399, A602.</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A392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Lube Module), A606-A621 (Wash APU), A610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02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A399, A602.</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extLst/>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A399</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13/03.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vật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tư</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gửi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còn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A887.</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15/03. KH T/S SGN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15/03.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FC0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336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extLst/>
          </p:nvPr>
        </p:nvGraphicFramePr>
        <p:xfrm>
          <a:off x="548320" y="609600"/>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22730">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A887</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FC0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0474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40</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717498"/>
            <a:ext cx="10512582" cy="18733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A620/22/23/24/25, A886/887/895/898) /</a:t>
            </a:r>
            <a:r>
              <a:rPr lang="pt-BR" sz="1600" b="1" dirty="0">
                <a:solidFill>
                  <a:schemeClr val="accent1">
                    <a:lumMod val="75000"/>
                  </a:schemeClr>
                </a:solidFill>
                <a:cs typeface="Times New Roman" panose="02020603050405020304" pitchFamily="18" charset="0"/>
              </a:rPr>
              <a:t> SGN (A617, A509).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A339;</a:t>
            </a: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A890;</a:t>
            </a:r>
          </a:p>
          <a:p>
            <a:pPr marL="12700" indent="0" algn="just">
              <a:buSzPts val="1100"/>
              <a:buFont typeface="Arial" panose="020B0604020202020204" pitchFamily="34" charset="0"/>
              <a:buNone/>
            </a:pPr>
            <a:r>
              <a:rPr lang="en-US" sz="1600" b="1" dirty="0">
                <a:cs typeface="Times New Roman" panose="02020603050405020304" pitchFamily="18" charset="0"/>
              </a:rPr>
              <a:t>              ATR72: Nil;</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A864, A865;</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590800"/>
            <a:ext cx="11068012" cy="3971626"/>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600" b="1" dirty="0">
                <a:cs typeface="Times New Roman" panose="02020603050405020304" pitchFamily="18" charset="0"/>
              </a:rPr>
              <a:t>I. A321: </a:t>
            </a:r>
          </a:p>
          <a:p>
            <a:pPr marL="12700" indent="0" algn="just">
              <a:lnSpc>
                <a:spcPct val="100000"/>
              </a:lnSpc>
              <a:buSzPts val="1100"/>
              <a:buNone/>
            </a:pPr>
            <a:r>
              <a:rPr lang="es-ES" sz="1600" b="1" dirty="0">
                <a:solidFill>
                  <a:srgbClr val="FF0000"/>
                </a:solidFill>
                <a:cs typeface="Times New Roman" panose="02020603050405020304" pitchFamily="18" charset="0"/>
                <a:sym typeface="Wingdings" panose="05000000000000000000" pitchFamily="2" charset="2"/>
              </a:rPr>
              <a:t>    1. A339_HAN_Y01+EA03+EOs_10-17/03: A/C </a:t>
            </a:r>
            <a:r>
              <a:rPr lang="es-ES" sz="1600" b="1" dirty="0" err="1">
                <a:solidFill>
                  <a:srgbClr val="FF0000"/>
                </a:solidFill>
                <a:cs typeface="Times New Roman" panose="02020603050405020304" pitchFamily="18" charset="0"/>
                <a:sym typeface="Wingdings" panose="05000000000000000000" pitchFamily="2" charset="2"/>
              </a:rPr>
              <a:t>Serviceable</a:t>
            </a:r>
            <a:r>
              <a:rPr lang="es-ES" sz="1600" b="1" dirty="0">
                <a:solidFill>
                  <a:srgbClr val="FF0000"/>
                </a:solidFill>
                <a:cs typeface="Times New Roman" panose="02020603050405020304" pitchFamily="18" charset="0"/>
                <a:sym typeface="Wingdings" panose="05000000000000000000" pitchFamily="2" charset="2"/>
              </a:rPr>
              <a:t> 16/3.</a:t>
            </a:r>
          </a:p>
          <a:p>
            <a:pPr marL="12700" indent="0" algn="just">
              <a:lnSpc>
                <a:spcPct val="100000"/>
              </a:lnSpc>
              <a:buSzPts val="1100"/>
              <a:buNone/>
            </a:pPr>
            <a:r>
              <a:rPr lang="es-ES" sz="1600" dirty="0">
                <a:cs typeface="Times New Roman" panose="02020603050405020304" pitchFamily="18" charset="0"/>
                <a:sym typeface="Wingdings" panose="05000000000000000000" pitchFamily="2" charset="2"/>
              </a:rPr>
              <a:t>     - Do </a:t>
            </a:r>
            <a:r>
              <a:rPr lang="es-ES" sz="1600" dirty="0" err="1">
                <a:cs typeface="Times New Roman" panose="02020603050405020304" pitchFamily="18" charset="0"/>
                <a:sym typeface="Wingdings" panose="05000000000000000000" pitchFamily="2" charset="2"/>
              </a:rPr>
              <a:t>việc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sửa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chữa</a:t>
            </a:r>
            <a:r>
              <a:rPr lang="es-ES" sz="1600" dirty="0">
                <a:cs typeface="Times New Roman" panose="02020603050405020304" pitchFamily="18" charset="0"/>
                <a:sym typeface="Wingdings" panose="05000000000000000000" pitchFamily="2" charset="2"/>
              </a:rPr>
              <a:t> </a:t>
            </a:r>
            <a:r>
              <a:rPr lang="vi-VN" sz="1600" dirty="0">
                <a:cs typeface="Times New Roman" panose="02020603050405020304" pitchFamily="18" charset="0"/>
                <a:sym typeface="Wingdings" panose="05000000000000000000" pitchFamily="2" charset="2"/>
              </a:rPr>
              <a:t>SKIN PANEL BTW FR35.6</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được</a:t>
            </a:r>
            <a:r>
              <a:rPr lang="en-US" sz="1600" dirty="0">
                <a:cs typeface="Times New Roman" panose="02020603050405020304" pitchFamily="18" charset="0"/>
                <a:sym typeface="Wingdings" panose="05000000000000000000" pitchFamily="2" charset="2"/>
              </a:rPr>
              <a:t> Airbus </a:t>
            </a:r>
            <a:r>
              <a:rPr lang="en-US" sz="1600" dirty="0" err="1">
                <a:cs typeface="Times New Roman" panose="02020603050405020304" pitchFamily="18" charset="0"/>
                <a:sym typeface="Wingdings" panose="05000000000000000000" pitchFamily="2" charset="2"/>
              </a:rPr>
              <a:t>phản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hồi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hơn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a:t>
            </a:r>
            <a:endParaRPr lang="vi-VN" sz="1600" dirty="0">
              <a:cs typeface="Times New Roman" panose="02020603050405020304" pitchFamily="18" charset="0"/>
              <a:sym typeface="Wingdings" panose="05000000000000000000" pitchFamily="2" charset="2"/>
            </a:endParaRPr>
          </a:p>
          <a:p>
            <a:pPr marL="12700" indent="0" algn="just">
              <a:lnSpc>
                <a:spcPct val="100000"/>
              </a:lnSpc>
              <a:buSzPts val="1100"/>
              <a:buNone/>
            </a:pPr>
            <a:r>
              <a:rPr lang="vi-VN" sz="1600" dirty="0">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vi-VN" sz="1600" dirty="0">
                <a:cs typeface="Times New Roman" panose="02020603050405020304" pitchFamily="18" charset="0"/>
                <a:sym typeface="Wingdings" panose="05000000000000000000" pitchFamily="2" charset="2"/>
              </a:rPr>
              <a:t>= &gt;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được</a:t>
            </a:r>
            <a:r>
              <a:rPr lang="en-US" sz="1600" dirty="0">
                <a:cs typeface="Times New Roman" panose="02020603050405020304" pitchFamily="18" charset="0"/>
                <a:sym typeface="Wingdings" panose="05000000000000000000" pitchFamily="2" charset="2"/>
              </a:rPr>
              <a:t> Release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hơn</a:t>
            </a:r>
            <a:r>
              <a:rPr lang="en-US" sz="1600" dirty="0">
                <a:cs typeface="Times New Roman" panose="02020603050405020304" pitchFamily="18" charset="0"/>
                <a:sym typeface="Wingdings" panose="05000000000000000000" pitchFamily="2" charset="2"/>
              </a:rPr>
              <a:t> 1 </a:t>
            </a:r>
            <a:r>
              <a:rPr lang="en-US" sz="1600" dirty="0" err="1">
                <a:cs typeface="Times New Roman" panose="02020603050405020304" pitchFamily="18" charset="0"/>
                <a:sym typeface="Wingdings" panose="05000000000000000000" pitchFamily="2" charset="2"/>
              </a:rPr>
              <a:t>ngày</a:t>
            </a:r>
            <a:r>
              <a:rPr lang="en-US" sz="1600" dirty="0">
                <a:cs typeface="Times New Roman" panose="02020603050405020304" pitchFamily="18" charset="0"/>
                <a:sym typeface="Wingdings" panose="05000000000000000000" pitchFamily="2" charset="2"/>
              </a:rPr>
              <a:t>.</a:t>
            </a:r>
            <a:endParaRPr lang="es-ES" sz="1600" dirty="0">
              <a:cs typeface="Times New Roman" panose="02020603050405020304" pitchFamily="18" charset="0"/>
              <a:sym typeface="Wingdings" panose="05000000000000000000" pitchFamily="2" charset="2"/>
            </a:endParaRPr>
          </a:p>
          <a:p>
            <a:pPr marL="12700" indent="0" algn="just">
              <a:lnSpc>
                <a:spcPct val="100000"/>
              </a:lnSpc>
              <a:buSzPts val="1100"/>
              <a:buNone/>
            </a:pPr>
            <a:endParaRPr lang="es-ES" sz="1600" b="1" dirty="0">
              <a:solidFill>
                <a:srgbClr val="FF0000"/>
              </a:solidFill>
              <a:cs typeface="Times New Roman" panose="02020603050405020304" pitchFamily="18" charset="0"/>
              <a:sym typeface="Wingdings" panose="05000000000000000000" pitchFamily="2" charset="2"/>
            </a:endParaRPr>
          </a:p>
          <a:p>
            <a:pPr marL="12700" indent="0">
              <a:lnSpc>
                <a:spcPct val="120000"/>
              </a:lnSpc>
              <a:buSzPts val="1100"/>
              <a:buNone/>
            </a:pPr>
            <a:r>
              <a:rPr lang="en-US" sz="1600" b="1" dirty="0">
                <a:cs typeface="Times New Roman" panose="02020603050405020304" pitchFamily="18" charset="0"/>
              </a:rPr>
              <a:t>II. A350:</a:t>
            </a:r>
            <a:r>
              <a:rPr lang="es-ES" sz="1600" i="1" dirty="0">
                <a:cs typeface="Times New Roman" panose="02020603050405020304" pitchFamily="18" charset="0"/>
                <a:sym typeface="Wingdings" panose="05000000000000000000" pitchFamily="2" charset="2"/>
              </a:rPr>
              <a:t> </a:t>
            </a:r>
          </a:p>
          <a:p>
            <a:pPr marL="355600" indent="-342900" algn="just">
              <a:buSzPts val="1100"/>
              <a:buAutoNum type="arabicPeriod"/>
            </a:pPr>
            <a:r>
              <a:rPr lang="en-US" sz="1600" b="1" dirty="0">
                <a:solidFill>
                  <a:srgbClr val="FF0000"/>
                </a:solidFill>
                <a:cs typeface="Times New Roman" panose="02020603050405020304" pitchFamily="18" charset="0"/>
                <a:sym typeface="Wingdings" panose="05000000000000000000" pitchFamily="2" charset="2"/>
              </a:rPr>
              <a:t>A890_HAN_A11+EVENTS_15-24/03: On sked.</a:t>
            </a:r>
          </a:p>
          <a:p>
            <a:pPr marL="12700" indent="0" algn="just">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Triển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thực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hiện</a:t>
            </a:r>
            <a:r>
              <a:rPr lang="en-US" sz="1600" dirty="0">
                <a:cs typeface="Times New Roman" panose="02020603050405020304" pitchFamily="18" charset="0"/>
                <a:sym typeface="Wingdings" panose="05000000000000000000" pitchFamily="2" charset="2"/>
              </a:rPr>
              <a:t> Task A11 +  Task bị defer </a:t>
            </a:r>
            <a:r>
              <a:rPr lang="en-US" sz="1600" dirty="0" err="1">
                <a:cs typeface="Times New Roman" panose="02020603050405020304" pitchFamily="18" charset="0"/>
                <a:sym typeface="Wingdings" panose="05000000000000000000" pitchFamily="2" charset="2"/>
              </a:rPr>
              <a:t>của</a:t>
            </a:r>
            <a:r>
              <a:rPr lang="en-US" sz="1600" dirty="0">
                <a:cs typeface="Times New Roman" panose="02020603050405020304" pitchFamily="18" charset="0"/>
                <a:sym typeface="Wingdings" panose="05000000000000000000" pitchFamily="2" charset="2"/>
              </a:rPr>
              <a:t> Check C02, C01 + Thay Shackle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chê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tối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a:t>
            </a:r>
            <a:r>
              <a:rPr lang="en-US" sz="1600" dirty="0">
                <a:cs typeface="Times New Roman" panose="02020603050405020304" pitchFamily="18" charset="0"/>
                <a:sym typeface="Wingdings" panose="05000000000000000000" pitchFamily="2" charset="2"/>
              </a:rPr>
              <a:t> ground time </a:t>
            </a:r>
            <a:r>
              <a:rPr lang="en-US" sz="1600" dirty="0" err="1">
                <a:cs typeface="Times New Roman" panose="02020603050405020304" pitchFamily="18" charset="0"/>
                <a:sym typeface="Wingdings" panose="05000000000000000000" pitchFamily="2" charset="2"/>
              </a:rPr>
              <a:t>trước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Tết</a:t>
            </a:r>
            <a:r>
              <a:rPr lang="en-US" sz="1600" dirty="0">
                <a:cs typeface="Times New Roman" panose="02020603050405020304" pitchFamily="18" charset="0"/>
                <a:sym typeface="Wingdings" panose="05000000000000000000" pitchFamily="2" charset="2"/>
              </a:rPr>
              <a:t>.  </a:t>
            </a:r>
          </a:p>
          <a:p>
            <a:pPr marL="12700" indent="0" algn="just">
              <a:buSzPts val="1100"/>
              <a:buNone/>
            </a:pP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III. ATR72</a:t>
            </a:r>
          </a:p>
          <a:p>
            <a:pPr marL="12700" indent="0" algn="just">
              <a:buSzPts val="1100"/>
              <a:buFont typeface="Arial" panose="020B0604020202020204" pitchFamily="34" charset="0"/>
              <a:buNone/>
            </a:pPr>
            <a:r>
              <a:rPr lang="es-ES" sz="1600" b="1" dirty="0">
                <a:solidFill>
                  <a:srgbClr val="FF0000"/>
                </a:solidFill>
                <a:cs typeface="Times New Roman" panose="02020603050405020304" pitchFamily="18" charset="0"/>
                <a:sym typeface="Wingdings" panose="05000000000000000000" pitchFamily="2" charset="2"/>
              </a:rPr>
              <a:t>Nil</a:t>
            </a: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 </a:t>
            </a:r>
          </a:p>
        </p:txBody>
      </p:sp>
    </p:spTree>
    <p:extLst>
      <p:ext uri="{BB962C8B-B14F-4D97-AF65-F5344CB8AC3E}">
        <p14:creationId xmlns:p14="http://schemas.microsoft.com/office/powerpoint/2010/main" val="17322806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41</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spcBef>
                <a:spcPts val="600"/>
              </a:spcBef>
              <a:buSzPts val="1100"/>
              <a:buFont typeface="Arial" panose="020B0604020202020204" pitchFamily="34" charset="0"/>
              <a:buNone/>
            </a:pPr>
            <a:r>
              <a:rPr lang="es-ES" sz="1500" b="1" dirty="0">
                <a:cs typeface="Times New Roman" panose="02020603050405020304" pitchFamily="18" charset="0"/>
                <a:sym typeface="Wingdings" panose="05000000000000000000" pitchFamily="2" charset="2"/>
              </a:rPr>
              <a:t>IV</a:t>
            </a:r>
            <a:r>
              <a:rPr lang="en-US" sz="1500" b="1" dirty="0">
                <a:cs typeface="Times New Roman" panose="02020603050405020304" pitchFamily="18" charset="0"/>
              </a:rPr>
              <a:t>. B787: </a:t>
            </a:r>
          </a:p>
          <a:p>
            <a:pPr marL="12700" indent="0">
              <a:lnSpc>
                <a:spcPct val="120000"/>
              </a:lnSpc>
              <a:spcBef>
                <a:spcPts val="600"/>
              </a:spcBef>
              <a:buSzPts val="1100"/>
              <a:buNone/>
            </a:pPr>
            <a:r>
              <a:rPr lang="es-ES" sz="1500" b="1" dirty="0">
                <a:solidFill>
                  <a:srgbClr val="FF0000"/>
                </a:solidFill>
                <a:cs typeface="Times New Roman" panose="02020603050405020304" pitchFamily="18" charset="0"/>
                <a:sym typeface="Wingdings" panose="05000000000000000000" pitchFamily="2" charset="2"/>
              </a:rPr>
              <a:t>1.  A864_SGN_C03+C01 + ENGCHG_14/03-03/04: On </a:t>
            </a:r>
            <a:r>
              <a:rPr lang="es-ES" sz="1500" b="1" dirty="0" err="1">
                <a:solidFill>
                  <a:srgbClr val="FF0000"/>
                </a:solidFill>
                <a:cs typeface="Times New Roman" panose="02020603050405020304" pitchFamily="18" charset="0"/>
                <a:sym typeface="Wingdings" panose="05000000000000000000" pitchFamily="2" charset="2"/>
              </a:rPr>
              <a:t>sked</a:t>
            </a:r>
            <a:endParaRPr lang="es-ES" sz="1500" b="1" dirty="0">
              <a:solidFill>
                <a:srgbClr val="FF0000"/>
              </a:solidFill>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thay</a:t>
            </a:r>
            <a:r>
              <a:rPr lang="es-ES" sz="1600" dirty="0">
                <a:cs typeface="Times New Roman" panose="02020603050405020304" pitchFamily="18" charset="0"/>
                <a:sym typeface="Wingdings" panose="05000000000000000000" pitchFamily="2" charset="2"/>
              </a:rPr>
              <a:t> ENG do </a:t>
            </a:r>
            <a:r>
              <a:rPr lang="es-ES" sz="1600" dirty="0" err="1">
                <a:cs typeface="Times New Roman" panose="02020603050405020304" pitchFamily="18" charset="0"/>
                <a:sym typeface="Wingdings" panose="05000000000000000000" pitchFamily="2" charset="2"/>
              </a:rPr>
              <a:t>hỏng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Platform</a:t>
            </a:r>
            <a:r>
              <a:rPr lang="es-ES" sz="1600" dirty="0">
                <a:cs typeface="Times New Roman" panose="02020603050405020304" pitchFamily="18" charset="0"/>
                <a:sym typeface="Wingdings" panose="05000000000000000000" pitchFamily="2" charset="2"/>
              </a:rPr>
              <a:t> lifting” , RR </a:t>
            </a:r>
            <a:r>
              <a:rPr lang="es-ES" sz="1600" dirty="0" err="1">
                <a:cs typeface="Times New Roman" panose="02020603050405020304" pitchFamily="18" charset="0"/>
                <a:sym typeface="Wingdings" panose="05000000000000000000" pitchFamily="2" charset="2"/>
              </a:rPr>
              <a:t>yêu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tháo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trong</a:t>
            </a:r>
            <a:r>
              <a:rPr lang="es-ES" sz="1600" dirty="0">
                <a:cs typeface="Times New Roman" panose="02020603050405020304" pitchFamily="18" charset="0"/>
                <a:sym typeface="Wingdings" panose="05000000000000000000" pitchFamily="2" charset="2"/>
              </a:rPr>
              <a:t> 25 CY =&gt;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sớm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hơn</a:t>
            </a:r>
            <a:r>
              <a:rPr lang="es-ES" sz="1600" dirty="0">
                <a:cs typeface="Times New Roman" panose="02020603050405020304" pitchFamily="18" charset="0"/>
                <a:sym typeface="Wingdings" panose="05000000000000000000" pitchFamily="2" charset="2"/>
              </a:rPr>
              <a:t> so </a:t>
            </a:r>
            <a:r>
              <a:rPr lang="es-ES" sz="1600" dirty="0" err="1">
                <a:cs typeface="Times New Roman" panose="02020603050405020304" pitchFamily="18" charset="0"/>
                <a:sym typeface="Wingdings" panose="05000000000000000000" pitchFamily="2" charset="2"/>
              </a:rPr>
              <a:t>với</a:t>
            </a:r>
            <a:r>
              <a:rPr lang="es-ES" sz="1600" dirty="0">
                <a:cs typeface="Times New Roman" panose="02020603050405020304" pitchFamily="18" charset="0"/>
                <a:sym typeface="Wingdings" panose="05000000000000000000" pitchFamily="2" charset="2"/>
              </a:rPr>
              <a:t> KH </a:t>
            </a:r>
            <a:r>
              <a:rPr lang="es-ES" sz="1600" dirty="0" err="1">
                <a:cs typeface="Times New Roman" panose="02020603050405020304" pitchFamily="18" charset="0"/>
                <a:sym typeface="Wingdings" panose="05000000000000000000" pitchFamily="2" charset="2"/>
              </a:rPr>
              <a:t>dẫn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overlap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với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nhiều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khác</a:t>
            </a:r>
            <a:r>
              <a:rPr lang="es-ES" sz="1600" dirty="0">
                <a:cs typeface="Times New Roman" panose="02020603050405020304" pitchFamily="18" charset="0"/>
                <a:sym typeface="Wingdings" panose="05000000000000000000" pitchFamily="2" charset="2"/>
              </a:rPr>
              <a:t>.</a:t>
            </a:r>
          </a:p>
          <a:p>
            <a:pPr marL="12700" indent="0">
              <a:lnSpc>
                <a:spcPct val="120000"/>
              </a:lnSpc>
              <a:spcBef>
                <a:spcPts val="600"/>
              </a:spcBef>
              <a:buSzPts val="1100"/>
              <a:buNone/>
            </a:pPr>
            <a:endParaRPr lang="es-ES" sz="1600"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r>
              <a:rPr lang="es-ES" sz="1600" b="1" dirty="0">
                <a:solidFill>
                  <a:srgbClr val="FF0000"/>
                </a:solidFill>
                <a:cs typeface="Times New Roman" panose="02020603050405020304" pitchFamily="18" charset="0"/>
                <a:sym typeface="Wingdings" panose="05000000000000000000" pitchFamily="2" charset="2"/>
              </a:rPr>
              <a:t>2. A865_SGN_A08_16-17/04: </a:t>
            </a:r>
            <a:r>
              <a:rPr lang="es-ES" sz="1600" b="1" dirty="0" err="1">
                <a:solidFill>
                  <a:srgbClr val="FF0000"/>
                </a:solidFill>
                <a:cs typeface="Times New Roman" panose="02020603050405020304" pitchFamily="18" charset="0"/>
                <a:sym typeface="Wingdings" panose="05000000000000000000" pitchFamily="2" charset="2"/>
              </a:rPr>
              <a:t>Est</a:t>
            </a:r>
            <a:r>
              <a:rPr lang="es-ES" sz="1600" b="1" dirty="0">
                <a:solidFill>
                  <a:srgbClr val="FF0000"/>
                </a:solidFill>
                <a:cs typeface="Times New Roman" panose="02020603050405020304" pitchFamily="18" charset="0"/>
                <a:sym typeface="Wingdings" panose="05000000000000000000" pitchFamily="2" charset="2"/>
              </a:rPr>
              <a:t> 23h30p, 17/04.</a:t>
            </a:r>
          </a:p>
          <a:p>
            <a:pPr marL="12700" indent="0">
              <a:lnSpc>
                <a:spcPct val="120000"/>
              </a:lnSpc>
              <a:spcBef>
                <a:spcPts val="600"/>
              </a:spcBef>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được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giao</a:t>
            </a:r>
            <a:r>
              <a:rPr lang="es-ES" sz="1600" dirty="0">
                <a:cs typeface="Times New Roman" panose="02020603050405020304" pitchFamily="18" charset="0"/>
                <a:sym typeface="Wingdings" panose="05000000000000000000" pitchFamily="2" charset="2"/>
              </a:rPr>
              <a:t> cho Base SGN </a:t>
            </a:r>
            <a:r>
              <a:rPr lang="es-ES" sz="1600" dirty="0" err="1">
                <a:cs typeface="Times New Roman" panose="02020603050405020304" pitchFamily="18" charset="0"/>
                <a:sym typeface="Wingdings" panose="05000000000000000000" pitchFamily="2" charset="2"/>
              </a:rPr>
              <a:t>muộn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gần</a:t>
            </a:r>
            <a:r>
              <a:rPr lang="es-ES" sz="1600" dirty="0">
                <a:cs typeface="Times New Roman" panose="02020603050405020304" pitchFamily="18" charset="0"/>
                <a:sym typeface="Wingdings" panose="05000000000000000000" pitchFamily="2" charset="2"/>
              </a:rPr>
              <a:t> 2h30p so </a:t>
            </a:r>
            <a:r>
              <a:rPr lang="es-ES" sz="1600" dirty="0" err="1">
                <a:cs typeface="Times New Roman" panose="02020603050405020304" pitchFamily="18" charset="0"/>
                <a:sym typeface="Wingdings" panose="05000000000000000000" pitchFamily="2" charset="2"/>
              </a:rPr>
              <a:t>với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hoạch</a:t>
            </a:r>
            <a:r>
              <a:rPr lang="es-ES" sz="1600" dirty="0">
                <a:cs typeface="Times New Roman" panose="02020603050405020304" pitchFamily="18" charset="0"/>
                <a:sym typeface="Wingdings" panose="05000000000000000000" pitchFamily="2" charset="2"/>
              </a:rPr>
              <a:t>. = &gt; </a:t>
            </a:r>
            <a:r>
              <a:rPr lang="es-ES" sz="1600" dirty="0" err="1">
                <a:cs typeface="Times New Roman" panose="02020603050405020304" pitchFamily="18" charset="0"/>
                <a:sym typeface="Wingdings" panose="05000000000000000000" pitchFamily="2" charset="2"/>
              </a:rPr>
              <a:t>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hưởng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tới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việc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bô</a:t>
            </a:r>
            <a:r>
              <a:rPr lang="es-ES" sz="1600" dirty="0">
                <a:cs typeface="Times New Roman" panose="02020603050405020304" pitchFamily="18" charset="0"/>
                <a:sym typeface="Wingdings" panose="05000000000000000000" pitchFamily="2" charset="2"/>
              </a:rPr>
              <a:t>́ trí </a:t>
            </a:r>
            <a:r>
              <a:rPr lang="es-ES" sz="1600" dirty="0" err="1">
                <a:cs typeface="Times New Roman" panose="02020603050405020304" pitchFamily="18" charset="0"/>
                <a:sym typeface="Wingdings" panose="05000000000000000000" pitchFamily="2" charset="2"/>
              </a:rPr>
              <a:t>nhân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lực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do Base </a:t>
            </a:r>
            <a:r>
              <a:rPr lang="es-ES" sz="1600" dirty="0" err="1">
                <a:cs typeface="Times New Roman" panose="02020603050405020304" pitchFamily="18" charset="0"/>
                <a:sym typeface="Wingdings" panose="05000000000000000000" pitchFamily="2" charset="2"/>
              </a:rPr>
              <a:t>phải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bô</a:t>
            </a:r>
            <a:r>
              <a:rPr lang="es-ES" sz="1600" dirty="0">
                <a:cs typeface="Times New Roman" panose="02020603050405020304" pitchFamily="18" charset="0"/>
                <a:sym typeface="Wingdings" panose="05000000000000000000" pitchFamily="2" charset="2"/>
              </a:rPr>
              <a:t>́ trí </a:t>
            </a:r>
            <a:r>
              <a:rPr lang="es-ES" sz="1600" dirty="0" err="1">
                <a:cs typeface="Times New Roman" panose="02020603050405020304" pitchFamily="18" charset="0"/>
                <a:sym typeface="Wingdings" panose="05000000000000000000" pitchFamily="2" charset="2"/>
              </a:rPr>
              <a:t>nhân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lực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kéo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dài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buổi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tối</a:t>
            </a: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Kha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năng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hưởng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tới</a:t>
            </a:r>
            <a:r>
              <a:rPr lang="es-ES" sz="1600" dirty="0">
                <a:cs typeface="Times New Roman" panose="02020603050405020304" pitchFamily="18" charset="0"/>
                <a:sym typeface="Wingdings" panose="05000000000000000000" pitchFamily="2" charset="2"/>
              </a:rPr>
              <a:t> TAT </a:t>
            </a:r>
            <a:r>
              <a:rPr lang="es-ES" sz="1600" dirty="0" err="1">
                <a:cs typeface="Times New Roman" panose="02020603050405020304" pitchFamily="18" charset="0"/>
                <a:sym typeface="Wingdings" panose="05000000000000000000" pitchFamily="2" charset="2"/>
              </a:rPr>
              <a:t>khi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phát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sinh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lớn</a:t>
            </a:r>
            <a:r>
              <a:rPr lang="es-ES" sz="1600" dirty="0">
                <a:cs typeface="Times New Roman" panose="02020603050405020304" pitchFamily="18" charset="0"/>
                <a:sym typeface="Wingdings" panose="05000000000000000000" pitchFamily="2" charset="2"/>
              </a:rPr>
              <a:t>. </a:t>
            </a:r>
          </a:p>
          <a:p>
            <a:pPr marL="12700" indent="0">
              <a:lnSpc>
                <a:spcPct val="120000"/>
              </a:lnSpc>
              <a:spcBef>
                <a:spcPts val="600"/>
              </a:spcBef>
              <a:buSzPts val="1100"/>
              <a:buNone/>
            </a:pPr>
            <a:r>
              <a:rPr lang="es-ES" sz="1600" b="1" dirty="0">
                <a:cs typeface="Times New Roman" panose="02020603050405020304" pitchFamily="18" charset="0"/>
                <a:sym typeface="Wingdings" panose="05000000000000000000" pitchFamily="2" charset="2"/>
              </a:rPr>
              <a:t> = &gt; Đ/n OCC </a:t>
            </a:r>
            <a:r>
              <a:rPr lang="es-ES" sz="1600" b="1" dirty="0" err="1">
                <a:cs typeface="Times New Roman" panose="02020603050405020304" pitchFamily="18" charset="0"/>
                <a:sym typeface="Wingdings" panose="05000000000000000000" pitchFamily="2" charset="2"/>
              </a:rPr>
              <a:t>lưu</a:t>
            </a:r>
            <a:r>
              <a:rPr lang="es-ES" sz="1600" b="1" dirty="0">
                <a:cs typeface="Times New Roman" panose="02020603050405020304" pitchFamily="18" charset="0"/>
                <a:sym typeface="Wingdings" panose="05000000000000000000" pitchFamily="2" charset="2"/>
              </a:rPr>
              <a:t> ý </a:t>
            </a:r>
            <a:r>
              <a:rPr lang="es-ES" sz="1600" b="1" dirty="0" err="1">
                <a:cs typeface="Times New Roman" panose="02020603050405020304" pitchFamily="18" charset="0"/>
                <a:sym typeface="Wingdings" panose="05000000000000000000" pitchFamily="2" charset="2"/>
              </a:rPr>
              <a:t>hạn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chê</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bô</a:t>
            </a:r>
            <a:r>
              <a:rPr lang="es-ES" sz="1600" b="1" dirty="0">
                <a:cs typeface="Times New Roman" panose="02020603050405020304" pitchFamily="18" charset="0"/>
                <a:sym typeface="Wingdings" panose="05000000000000000000" pitchFamily="2" charset="2"/>
              </a:rPr>
              <a:t>́ trí </a:t>
            </a:r>
            <a:r>
              <a:rPr lang="es-ES" sz="1600" b="1" dirty="0" err="1">
                <a:cs typeface="Times New Roman" panose="02020603050405020304" pitchFamily="18" charset="0"/>
                <a:sym typeface="Wingdings" panose="05000000000000000000" pitchFamily="2" charset="2"/>
              </a:rPr>
              <a:t>tàu</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vê</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muộn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tương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tư</a:t>
            </a:r>
            <a:r>
              <a:rPr lang="es-ES" sz="1600" b="1" dirty="0">
                <a:cs typeface="Times New Roman" panose="02020603050405020304" pitchFamily="18" charset="0"/>
                <a:sym typeface="Wingdings" panose="05000000000000000000" pitchFamily="2" charset="2"/>
              </a:rPr>
              <a:t>̣.</a:t>
            </a:r>
          </a:p>
          <a:p>
            <a:pPr marL="12700" indent="0" algn="just">
              <a:buSzPts val="1100"/>
              <a:buNone/>
            </a:pPr>
            <a:endParaRPr lang="es-ES" sz="14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buSzPts val="1100"/>
              <a:buFont typeface="Arial" panose="020B0604020202020204" pitchFamily="34" charset="0"/>
              <a:buNone/>
            </a:pPr>
            <a:endParaRPr lang="es-ES" sz="21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18657754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FFC000"/>
                </a:solidFill>
                <a:ea typeface="Tahoma" pitchFamily="34" charset="0"/>
                <a:cs typeface="Times New Roman" panose="02020603050405020304" pitchFamily="18" charset="0"/>
              </a:rPr>
              <a:t>NGUỒN LỰC TÀU BAY – A321</a:t>
            </a:r>
          </a:p>
        </p:txBody>
      </p:sp>
      <p:graphicFrame>
        <p:nvGraphicFramePr>
          <p:cNvPr id="7" name="Table 6">
            <a:extLst>
              <a:ext uri="{FF2B5EF4-FFF2-40B4-BE49-F238E27FC236}">
                <a16:creationId xmlns:a16="http://schemas.microsoft.com/office/drawing/2014/main" id="{B3CCC1DC-F353-4DA5-A115-74F99D25FDA7}"/>
              </a:ext>
            </a:extLst>
          </p:cNvPr>
          <p:cNvGraphicFramePr>
            <a:graphicFrameLocks noGrp="1"/>
          </p:cNvGraphicFramePr>
          <p:nvPr>
            <p:extLst/>
          </p:nvPr>
        </p:nvGraphicFramePr>
        <p:xfrm>
          <a:off x="369434" y="762000"/>
          <a:ext cx="11365365" cy="5562600"/>
        </p:xfrm>
        <a:graphic>
          <a:graphicData uri="http://schemas.openxmlformats.org/drawingml/2006/table">
            <a:tbl>
              <a:tblPr>
                <a:tableStyleId>{5C22544A-7EE6-4342-B048-85BDC9FD1C3A}</a:tableStyleId>
              </a:tblPr>
              <a:tblGrid>
                <a:gridCol w="370449">
                  <a:extLst>
                    <a:ext uri="{9D8B030D-6E8A-4147-A177-3AD203B41FA5}">
                      <a16:colId xmlns:a16="http://schemas.microsoft.com/office/drawing/2014/main" val="1273267554"/>
                    </a:ext>
                  </a:extLst>
                </a:gridCol>
                <a:gridCol w="2548687">
                  <a:extLst>
                    <a:ext uri="{9D8B030D-6E8A-4147-A177-3AD203B41FA5}">
                      <a16:colId xmlns:a16="http://schemas.microsoft.com/office/drawing/2014/main" val="3201091839"/>
                    </a:ext>
                  </a:extLst>
                </a:gridCol>
                <a:gridCol w="533446">
                  <a:extLst>
                    <a:ext uri="{9D8B030D-6E8A-4147-A177-3AD203B41FA5}">
                      <a16:colId xmlns:a16="http://schemas.microsoft.com/office/drawing/2014/main" val="2594659908"/>
                    </a:ext>
                  </a:extLst>
                </a:gridCol>
                <a:gridCol w="548264">
                  <a:extLst>
                    <a:ext uri="{9D8B030D-6E8A-4147-A177-3AD203B41FA5}">
                      <a16:colId xmlns:a16="http://schemas.microsoft.com/office/drawing/2014/main" val="3445392560"/>
                    </a:ext>
                  </a:extLst>
                </a:gridCol>
                <a:gridCol w="548264">
                  <a:extLst>
                    <a:ext uri="{9D8B030D-6E8A-4147-A177-3AD203B41FA5}">
                      <a16:colId xmlns:a16="http://schemas.microsoft.com/office/drawing/2014/main" val="1212146897"/>
                    </a:ext>
                  </a:extLst>
                </a:gridCol>
                <a:gridCol w="548264">
                  <a:extLst>
                    <a:ext uri="{9D8B030D-6E8A-4147-A177-3AD203B41FA5}">
                      <a16:colId xmlns:a16="http://schemas.microsoft.com/office/drawing/2014/main" val="1484977228"/>
                    </a:ext>
                  </a:extLst>
                </a:gridCol>
                <a:gridCol w="548264">
                  <a:extLst>
                    <a:ext uri="{9D8B030D-6E8A-4147-A177-3AD203B41FA5}">
                      <a16:colId xmlns:a16="http://schemas.microsoft.com/office/drawing/2014/main" val="96793180"/>
                    </a:ext>
                  </a:extLst>
                </a:gridCol>
                <a:gridCol w="548264">
                  <a:extLst>
                    <a:ext uri="{9D8B030D-6E8A-4147-A177-3AD203B41FA5}">
                      <a16:colId xmlns:a16="http://schemas.microsoft.com/office/drawing/2014/main" val="3315222187"/>
                    </a:ext>
                  </a:extLst>
                </a:gridCol>
                <a:gridCol w="548264">
                  <a:extLst>
                    <a:ext uri="{9D8B030D-6E8A-4147-A177-3AD203B41FA5}">
                      <a16:colId xmlns:a16="http://schemas.microsoft.com/office/drawing/2014/main" val="2114447899"/>
                    </a:ext>
                  </a:extLst>
                </a:gridCol>
                <a:gridCol w="548264">
                  <a:extLst>
                    <a:ext uri="{9D8B030D-6E8A-4147-A177-3AD203B41FA5}">
                      <a16:colId xmlns:a16="http://schemas.microsoft.com/office/drawing/2014/main" val="1549401566"/>
                    </a:ext>
                  </a:extLst>
                </a:gridCol>
                <a:gridCol w="548264">
                  <a:extLst>
                    <a:ext uri="{9D8B030D-6E8A-4147-A177-3AD203B41FA5}">
                      <a16:colId xmlns:a16="http://schemas.microsoft.com/office/drawing/2014/main" val="939972147"/>
                    </a:ext>
                  </a:extLst>
                </a:gridCol>
                <a:gridCol w="548264">
                  <a:extLst>
                    <a:ext uri="{9D8B030D-6E8A-4147-A177-3AD203B41FA5}">
                      <a16:colId xmlns:a16="http://schemas.microsoft.com/office/drawing/2014/main" val="2865732214"/>
                    </a:ext>
                  </a:extLst>
                </a:gridCol>
                <a:gridCol w="2978407">
                  <a:extLst>
                    <a:ext uri="{9D8B030D-6E8A-4147-A177-3AD203B41FA5}">
                      <a16:colId xmlns:a16="http://schemas.microsoft.com/office/drawing/2014/main" val="3171179935"/>
                    </a:ext>
                  </a:extLst>
                </a:gridCol>
              </a:tblGrid>
              <a:tr h="501455">
                <a:tc gridSpan="13">
                  <a:txBody>
                    <a:bodyPr/>
                    <a:lstStyle/>
                    <a:p>
                      <a:pPr algn="ctr" fontAlgn="ctr"/>
                      <a:r>
                        <a:rPr lang="en-US" sz="1200" b="1" u="none" strike="noStrike" dirty="0">
                          <a:effectLst/>
                          <a:latin typeface="Times New Roman" panose="02020603050405020304" pitchFamily="18" charset="0"/>
                          <a:cs typeface="Times New Roman" panose="02020603050405020304" pitchFamily="18" charset="0"/>
                        </a:rPr>
                        <a:t>NGUỒN LỰC KỸ THUÂT FLEET A321 (CẬP NHẬT 15/03)</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7990862"/>
                  </a:ext>
                </a:extLst>
              </a:tr>
              <a:tr h="607824">
                <a:tc>
                  <a:txBody>
                    <a:bodyPr/>
                    <a:lstStyle/>
                    <a:p>
                      <a:pPr algn="ctr"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Mar-25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Apr-25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May-25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Jun-25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Jul-25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Aug-25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Sep-25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Oct-25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Nov-25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a:effectLst/>
                          <a:latin typeface="Times New Roman" panose="02020603050405020304" pitchFamily="18" charset="0"/>
                          <a:cs typeface="Times New Roman" panose="02020603050405020304" pitchFamily="18" charset="0"/>
                        </a:rPr>
                        <a:t>Dec-25</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tc>
                  <a:txBody>
                    <a:bodyPr/>
                    <a:lstStyle/>
                    <a:p>
                      <a:pPr algn="ctr" fontAlgn="ctr"/>
                      <a:r>
                        <a:rPr lang="en-US" sz="1200" b="1" u="none" strike="noStrike" dirty="0">
                          <a:effectLst/>
                          <a:latin typeface="Times New Roman" panose="02020603050405020304" pitchFamily="18" charset="0"/>
                          <a:cs typeface="Times New Roman" panose="02020603050405020304" pitchFamily="18" charset="0"/>
                        </a:rPr>
                        <a:t>Note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bg2">
                        <a:lumMod val="90000"/>
                      </a:schemeClr>
                    </a:solidFill>
                  </a:tcPr>
                </a:tc>
                <a:extLst>
                  <a:ext uri="{0D108BD9-81ED-4DB2-BD59-A6C34878D82A}">
                    <a16:rowId xmlns:a16="http://schemas.microsoft.com/office/drawing/2014/main" val="1928663344"/>
                  </a:ext>
                </a:extLst>
              </a:tr>
              <a:tr h="935035">
                <a:tc>
                  <a:txBody>
                    <a:bodyPr/>
                    <a:lstStyle/>
                    <a:p>
                      <a:pPr algn="ctr" fontAlgn="ctr"/>
                      <a:r>
                        <a:rPr lang="en-US" sz="1200" b="1" i="0" u="none" strike="noStrike">
                          <a:solidFill>
                            <a:srgbClr val="000000"/>
                          </a:solidFill>
                          <a:effectLst/>
                          <a:latin typeface="Times New Roman" panose="02020603050405020304" pitchFamily="18" charset="0"/>
                        </a:rPr>
                        <a:t>1</a:t>
                      </a:r>
                    </a:p>
                  </a:txBody>
                  <a:tcPr marL="9525" marR="9525" marT="9525" marB="0" anchor="ct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15.00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14.50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11.50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11.50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9525" marR="9525" marT="9525" marB="0" anchor="ctr"/>
                </a:tc>
                <a:tc>
                  <a:txBody>
                    <a:bodyPr/>
                    <a:lstStyle/>
                    <a:p>
                      <a:pPr algn="l" fontAlgn="ctr"/>
                      <a:r>
                        <a:rPr lang="vi-VN" sz="1200" b="0" i="0" u="none" strike="noStrike" dirty="0">
                          <a:solidFill>
                            <a:srgbClr val="FF0000"/>
                          </a:solidFill>
                          <a:effectLst/>
                          <a:latin typeface="Times New Roman" panose="02020603050405020304" pitchFamily="18" charset="0"/>
                        </a:rPr>
                        <a:t>Giữ giờ động cơ P771710 (hết hạn 05/07) và P772905 (19/07) sang sau cao điểm hè (15/8) để có thêm 1 tàu từ giữa T7.</a:t>
                      </a:r>
                    </a:p>
                  </a:txBody>
                  <a:tcPr marL="9525" marR="9525" marT="9525" marB="0" anchor="ctr"/>
                </a:tc>
                <a:extLst>
                  <a:ext uri="{0D108BD9-81ED-4DB2-BD59-A6C34878D82A}">
                    <a16:rowId xmlns:a16="http://schemas.microsoft.com/office/drawing/2014/main" val="4154138653"/>
                  </a:ext>
                </a:extLst>
              </a:tr>
              <a:tr h="850953">
                <a:tc>
                  <a:txBody>
                    <a:bodyPr/>
                    <a:lstStyle/>
                    <a:p>
                      <a:pPr algn="ctr" fontAlgn="ctr"/>
                      <a:r>
                        <a:rPr lang="en-US" sz="1200" b="1" i="0" u="none" strike="noStrike" dirty="0">
                          <a:solidFill>
                            <a:srgbClr val="000000"/>
                          </a:solidFill>
                          <a:effectLst/>
                          <a:latin typeface="Times New Roman" panose="02020603050405020304" pitchFamily="18" charset="0"/>
                        </a:rPr>
                        <a:t>2</a:t>
                      </a:r>
                    </a:p>
                  </a:txBody>
                  <a:tcPr marL="9525" marR="9525" marT="9525" marB="0" anchor="ctr">
                    <a:solidFill>
                      <a:schemeClr val="accent1">
                        <a:lumMod val="40000"/>
                        <a:lumOff val="60000"/>
                      </a:schemeClr>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solidFill>
                      <a:schemeClr val="accent1">
                        <a:lumMod val="40000"/>
                        <a:lumOff val="60000"/>
                      </a:schemeClr>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9525" marR="9525" marT="9525" marB="0" anchor="ctr">
                    <a:solidFill>
                      <a:schemeClr val="accent1">
                        <a:lumMod val="40000"/>
                        <a:lumOff val="60000"/>
                      </a:schemeClr>
                    </a:solidFill>
                  </a:tcPr>
                </a:tc>
                <a:extLst>
                  <a:ext uri="{0D108BD9-81ED-4DB2-BD59-A6C34878D82A}">
                    <a16:rowId xmlns:a16="http://schemas.microsoft.com/office/drawing/2014/main" val="1789031128"/>
                  </a:ext>
                </a:extLst>
              </a:tr>
              <a:tr h="1117383">
                <a:tc>
                  <a:txBody>
                    <a:bodyPr/>
                    <a:lstStyle/>
                    <a:p>
                      <a:pPr algn="ctr" fontAlgn="ctr"/>
                      <a:r>
                        <a:rPr lang="en-US" sz="1200" b="1" i="0" u="none" strike="noStrike">
                          <a:solidFill>
                            <a:srgbClr val="000000"/>
                          </a:solidFill>
                          <a:effectLst/>
                          <a:latin typeface="Times New Roman" panose="02020603050405020304" pitchFamily="18" charset="0"/>
                        </a:rPr>
                        <a:t>3</a:t>
                      </a:r>
                    </a:p>
                  </a:txBody>
                  <a:tcPr marL="9525" marR="9525" marT="9525" marB="0" anchor="ct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1.80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1.50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3.10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1.10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0.30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3.20</a:t>
                      </a:r>
                    </a:p>
                  </a:txBody>
                  <a:tcPr marL="9525" marR="9525" marT="9525" marB="0" anchor="ctr"/>
                </a:tc>
                <a:tc>
                  <a:txBody>
                    <a:bodyPr/>
                    <a:lstStyle/>
                    <a:p>
                      <a:pPr algn="ctr" fontAlgn="ctr"/>
                      <a:r>
                        <a:rPr lang="en-US" sz="1200" b="0" i="0" u="none" strike="noStrike">
                          <a:solidFill>
                            <a:srgbClr val="FF0000"/>
                          </a:solidFill>
                          <a:effectLst/>
                          <a:latin typeface="Times New Roman" panose="02020603050405020304" pitchFamily="18" charset="0"/>
                        </a:rPr>
                        <a:t>3.20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525" marR="9525" marT="9525" marB="0" anchor="ctr"/>
                </a:tc>
                <a:extLst>
                  <a:ext uri="{0D108BD9-81ED-4DB2-BD59-A6C34878D82A}">
                    <a16:rowId xmlns:a16="http://schemas.microsoft.com/office/drawing/2014/main" val="1830506601"/>
                  </a:ext>
                </a:extLst>
              </a:tr>
              <a:tr h="774975">
                <a:tc>
                  <a:txBody>
                    <a:bodyPr/>
                    <a:lstStyle/>
                    <a:p>
                      <a:pPr algn="ctr" fontAlgn="ctr"/>
                      <a:r>
                        <a:rPr lang="en-US" sz="1200" b="1" i="0" u="none" strike="noStrike" dirty="0">
                          <a:solidFill>
                            <a:srgbClr val="000000"/>
                          </a:solidFill>
                          <a:effectLst/>
                          <a:latin typeface="Times New Roman" panose="02020603050405020304" pitchFamily="18" charset="0"/>
                        </a:rPr>
                        <a:t>4</a:t>
                      </a:r>
                    </a:p>
                  </a:txBody>
                  <a:tcPr marL="9525" marR="9525" marT="9525" marB="0" anchor="ctr">
                    <a:solidFill>
                      <a:schemeClr val="accent1">
                        <a:lumMod val="40000"/>
                        <a:lumOff val="60000"/>
                      </a:schemeClr>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 + (2) + (3)</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16.80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16.00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16.10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000000"/>
                          </a:solidFill>
                          <a:effectLst/>
                          <a:latin typeface="Times New Roman" panose="02020603050405020304" pitchFamily="18" charset="0"/>
                        </a:rPr>
                        <a:t>12.60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11.30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14.70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15.20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15.00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14.00</a:t>
                      </a:r>
                    </a:p>
                  </a:txBody>
                  <a:tcPr marL="9525" marR="9525" marT="9525" marB="0" anchor="ctr">
                    <a:solidFill>
                      <a:schemeClr val="accent1">
                        <a:lumMod val="40000"/>
                        <a:lumOff val="60000"/>
                      </a:schemeClr>
                    </a:solidFill>
                  </a:tcPr>
                </a:tc>
                <a:tc>
                  <a:txBody>
                    <a:bodyPr/>
                    <a:lstStyle/>
                    <a:p>
                      <a:pPr algn="ctr" fontAlgn="ctr"/>
                      <a:r>
                        <a:rPr lang="en-US" sz="1200" b="0" i="0" u="none" strike="noStrike">
                          <a:solidFill>
                            <a:srgbClr val="FF0000"/>
                          </a:solidFill>
                          <a:effectLst/>
                          <a:latin typeface="Times New Roman" panose="02020603050405020304" pitchFamily="18" charset="0"/>
                        </a:rPr>
                        <a:t>14.00</a:t>
                      </a:r>
                    </a:p>
                  </a:txBody>
                  <a:tcPr marL="9525" marR="9525" marT="9525" marB="0" anchor="ctr">
                    <a:solidFill>
                      <a:schemeClr val="accent1">
                        <a:lumMod val="40000"/>
                        <a:lumOff val="60000"/>
                      </a:schemeClr>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9525" marR="9525" marT="9525" marB="0" anchor="ctr">
                    <a:solidFill>
                      <a:schemeClr val="accent1">
                        <a:lumMod val="40000"/>
                        <a:lumOff val="60000"/>
                      </a:schemeClr>
                    </a:solidFill>
                  </a:tcPr>
                </a:tc>
                <a:extLst>
                  <a:ext uri="{0D108BD9-81ED-4DB2-BD59-A6C34878D82A}">
                    <a16:rowId xmlns:a16="http://schemas.microsoft.com/office/drawing/2014/main" val="3202168364"/>
                  </a:ext>
                </a:extLst>
              </a:tr>
              <a:tr h="774975">
                <a:tc>
                  <a:txBody>
                    <a:bodyPr/>
                    <a:lstStyle/>
                    <a:p>
                      <a:pPr algn="ctr" fontAlgn="ctr"/>
                      <a:r>
                        <a:rPr lang="en-US" sz="1200" b="1" i="0" u="none" strike="noStrike">
                          <a:solidFill>
                            <a:srgbClr val="000000"/>
                          </a:solidFill>
                          <a:effectLst/>
                          <a:latin typeface="Times New Roman" panose="02020603050405020304" pitchFamily="18" charset="0"/>
                        </a:rPr>
                        <a:t>5</a:t>
                      </a:r>
                    </a:p>
                  </a:txBody>
                  <a:tcPr marL="9525" marR="9525" marT="9525" marB="0" anchor="ctr"/>
                </a:tc>
                <a:tc>
                  <a:txBody>
                    <a:bodyPr/>
                    <a:lstStyle/>
                    <a:p>
                      <a:pPr algn="ctr" fontAlgn="ctr"/>
                      <a:r>
                        <a:rPr lang="en-US" sz="1200" b="1" i="0" u="none" strike="noStrike" dirty="0" err="1">
                          <a:solidFill>
                            <a:srgbClr val="000000"/>
                          </a:solidFill>
                          <a:effectLst/>
                          <a:latin typeface="Times New Roman" panose="02020603050405020304" pitchFamily="18" charset="0"/>
                        </a:rPr>
                        <a:t>Tổng</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số</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tàu</a:t>
                      </a:r>
                      <a:r>
                        <a:rPr lang="en-US" sz="1200" b="1" i="0" u="none" strike="noStrike" dirty="0">
                          <a:solidFill>
                            <a:srgbClr val="000000"/>
                          </a:solidFill>
                          <a:effectLst/>
                          <a:latin typeface="Times New Roman" panose="02020603050405020304" pitchFamily="18" charset="0"/>
                        </a:rPr>
                        <a:t> A321 </a:t>
                      </a:r>
                      <a:r>
                        <a:rPr lang="en-US" sz="1200" b="1" i="0" u="none" strike="noStrike" dirty="0" err="1">
                          <a:solidFill>
                            <a:srgbClr val="000000"/>
                          </a:solidFill>
                          <a:effectLst/>
                          <a:latin typeface="Times New Roman" panose="02020603050405020304" pitchFamily="18" charset="0"/>
                        </a:rPr>
                        <a:t>thực</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tế</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có</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thể</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khai</a:t>
                      </a:r>
                      <a:r>
                        <a:rPr lang="en-US" sz="1200" b="1" i="0" u="none" strike="noStrike" dirty="0">
                          <a:solidFill>
                            <a:srgbClr val="000000"/>
                          </a:solidFill>
                          <a:effectLst/>
                          <a:latin typeface="Times New Roman" panose="02020603050405020304" pitchFamily="18" charset="0"/>
                        </a:rPr>
                        <a:t> </a:t>
                      </a:r>
                      <a:r>
                        <a:rPr lang="en-US" sz="1200" b="1" i="0" u="none" strike="noStrike" dirty="0" err="1">
                          <a:solidFill>
                            <a:srgbClr val="000000"/>
                          </a:solidFill>
                          <a:effectLst/>
                          <a:latin typeface="Times New Roman" panose="02020603050405020304" pitchFamily="18" charset="0"/>
                        </a:rPr>
                        <a:t>thác</a:t>
                      </a:r>
                      <a:endParaRPr lang="en-US" sz="12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48.2</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49.0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48.9</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52.4</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53.7</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50.3</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49.8</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9525" marR="9525" marT="9525" marB="0" anchor="ct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9525" marR="9525" marT="9525" marB="0" anchor="ct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9525" marR="9525" marT="9525" marB="0" anchor="ctr"/>
                </a:tc>
                <a:extLst>
                  <a:ext uri="{0D108BD9-81ED-4DB2-BD59-A6C34878D82A}">
                    <a16:rowId xmlns:a16="http://schemas.microsoft.com/office/drawing/2014/main" val="642683577"/>
                  </a:ext>
                </a:extLst>
              </a:tr>
            </a:tbl>
          </a:graphicData>
        </a:graphic>
      </p:graphicFrame>
    </p:spTree>
    <p:extLst>
      <p:ext uri="{BB962C8B-B14F-4D97-AF65-F5344CB8AC3E}">
        <p14:creationId xmlns:p14="http://schemas.microsoft.com/office/powerpoint/2010/main" val="1239500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FFC000"/>
                </a:solidFill>
                <a:ea typeface="Tahoma" pitchFamily="34" charset="0"/>
                <a:cs typeface="Times New Roman" panose="02020603050405020304" pitchFamily="18" charset="0"/>
              </a:rPr>
              <a:t>NGUỒN LỰC TÀU BAY – A350/B787</a:t>
            </a:r>
          </a:p>
        </p:txBody>
      </p:sp>
      <p:graphicFrame>
        <p:nvGraphicFramePr>
          <p:cNvPr id="2" name="Table 1"/>
          <p:cNvGraphicFramePr>
            <a:graphicFrameLocks noGrp="1"/>
          </p:cNvGraphicFramePr>
          <p:nvPr>
            <p:extLst>
              <p:ext uri="{D42A27DB-BD31-4B8C-83A1-F6EECF244321}">
                <p14:modId xmlns:p14="http://schemas.microsoft.com/office/powerpoint/2010/main" val="2415222769"/>
              </p:ext>
            </p:extLst>
          </p:nvPr>
        </p:nvGraphicFramePr>
        <p:xfrm>
          <a:off x="457200" y="838200"/>
          <a:ext cx="11430001" cy="5661660"/>
        </p:xfrm>
        <a:graphic>
          <a:graphicData uri="http://schemas.openxmlformats.org/drawingml/2006/table">
            <a:tbl>
              <a:tblPr/>
              <a:tblGrid>
                <a:gridCol w="375061">
                  <a:extLst>
                    <a:ext uri="{9D8B030D-6E8A-4147-A177-3AD203B41FA5}">
                      <a16:colId xmlns:a16="http://schemas.microsoft.com/office/drawing/2014/main" val="1004565224"/>
                    </a:ext>
                  </a:extLst>
                </a:gridCol>
                <a:gridCol w="2578548">
                  <a:extLst>
                    <a:ext uri="{9D8B030D-6E8A-4147-A177-3AD203B41FA5}">
                      <a16:colId xmlns:a16="http://schemas.microsoft.com/office/drawing/2014/main" val="3289719381"/>
                    </a:ext>
                  </a:extLst>
                </a:gridCol>
                <a:gridCol w="537590">
                  <a:extLst>
                    <a:ext uri="{9D8B030D-6E8A-4147-A177-3AD203B41FA5}">
                      <a16:colId xmlns:a16="http://schemas.microsoft.com/office/drawing/2014/main" val="3416396183"/>
                    </a:ext>
                  </a:extLst>
                </a:gridCol>
                <a:gridCol w="512585">
                  <a:extLst>
                    <a:ext uri="{9D8B030D-6E8A-4147-A177-3AD203B41FA5}">
                      <a16:colId xmlns:a16="http://schemas.microsoft.com/office/drawing/2014/main" val="2153024823"/>
                    </a:ext>
                  </a:extLst>
                </a:gridCol>
                <a:gridCol w="550090">
                  <a:extLst>
                    <a:ext uri="{9D8B030D-6E8A-4147-A177-3AD203B41FA5}">
                      <a16:colId xmlns:a16="http://schemas.microsoft.com/office/drawing/2014/main" val="941974191"/>
                    </a:ext>
                  </a:extLst>
                </a:gridCol>
                <a:gridCol w="512585">
                  <a:extLst>
                    <a:ext uri="{9D8B030D-6E8A-4147-A177-3AD203B41FA5}">
                      <a16:colId xmlns:a16="http://schemas.microsoft.com/office/drawing/2014/main" val="2736246932"/>
                    </a:ext>
                  </a:extLst>
                </a:gridCol>
                <a:gridCol w="462577">
                  <a:extLst>
                    <a:ext uri="{9D8B030D-6E8A-4147-A177-3AD203B41FA5}">
                      <a16:colId xmlns:a16="http://schemas.microsoft.com/office/drawing/2014/main" val="303143735"/>
                    </a:ext>
                  </a:extLst>
                </a:gridCol>
                <a:gridCol w="525085">
                  <a:extLst>
                    <a:ext uri="{9D8B030D-6E8A-4147-A177-3AD203B41FA5}">
                      <a16:colId xmlns:a16="http://schemas.microsoft.com/office/drawing/2014/main" val="682824655"/>
                    </a:ext>
                  </a:extLst>
                </a:gridCol>
                <a:gridCol w="500082">
                  <a:extLst>
                    <a:ext uri="{9D8B030D-6E8A-4147-A177-3AD203B41FA5}">
                      <a16:colId xmlns:a16="http://schemas.microsoft.com/office/drawing/2014/main" val="172847390"/>
                    </a:ext>
                  </a:extLst>
                </a:gridCol>
                <a:gridCol w="500082">
                  <a:extLst>
                    <a:ext uri="{9D8B030D-6E8A-4147-A177-3AD203B41FA5}">
                      <a16:colId xmlns:a16="http://schemas.microsoft.com/office/drawing/2014/main" val="542630356"/>
                    </a:ext>
                  </a:extLst>
                </a:gridCol>
                <a:gridCol w="525085">
                  <a:extLst>
                    <a:ext uri="{9D8B030D-6E8A-4147-A177-3AD203B41FA5}">
                      <a16:colId xmlns:a16="http://schemas.microsoft.com/office/drawing/2014/main" val="1396929017"/>
                    </a:ext>
                  </a:extLst>
                </a:gridCol>
                <a:gridCol w="512585">
                  <a:extLst>
                    <a:ext uri="{9D8B030D-6E8A-4147-A177-3AD203B41FA5}">
                      <a16:colId xmlns:a16="http://schemas.microsoft.com/office/drawing/2014/main" val="1397894284"/>
                    </a:ext>
                  </a:extLst>
                </a:gridCol>
                <a:gridCol w="3338046">
                  <a:extLst>
                    <a:ext uri="{9D8B030D-6E8A-4147-A177-3AD203B41FA5}">
                      <a16:colId xmlns:a16="http://schemas.microsoft.com/office/drawing/2014/main" val="1975254423"/>
                    </a:ext>
                  </a:extLst>
                </a:gridCol>
              </a:tblGrid>
              <a:tr h="259046">
                <a:tc gridSpan="13">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(CẬP NHẬT 15/03)</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73970941"/>
                  </a:ext>
                </a:extLst>
              </a:tr>
              <a:tr h="245440">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967973180"/>
                  </a:ext>
                </a:extLst>
              </a:tr>
              <a:tr h="141033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FF0000"/>
                          </a:solidFill>
                          <a:effectLst/>
                          <a:latin typeface="Times New Roman" panose="02020603050405020304" pitchFamily="18" charset="0"/>
                          <a:cs typeface="Times New Roman" panose="02020603050405020304" pitchFamily="18" charset="0"/>
                        </a:rPr>
                        <a:t>KB tốt giữ giờ 03 động cơ tháo trong cao điểm hè có thể đẩy lùi: </a:t>
                      </a:r>
                      <a:br>
                        <a:rPr lang="vi-VN" sz="1200" b="0" i="0" u="none" strike="noStrike">
                          <a:solidFill>
                            <a:srgbClr val="FF0000"/>
                          </a:solidFill>
                          <a:effectLst/>
                          <a:latin typeface="Times New Roman" panose="02020603050405020304" pitchFamily="18" charset="0"/>
                          <a:cs typeface="Times New Roman" panose="02020603050405020304" pitchFamily="18" charset="0"/>
                        </a:rPr>
                      </a:br>
                      <a:r>
                        <a:rPr lang="vi-VN" sz="1200" b="0" i="0" u="none" strike="noStrike">
                          <a:solidFill>
                            <a:srgbClr val="FF0000"/>
                          </a:solidFill>
                          <a:effectLst/>
                          <a:latin typeface="Times New Roman" panose="02020603050405020304" pitchFamily="18" charset="0"/>
                          <a:cs typeface="Times New Roman" panose="02020603050405020304" pitchFamily="18" charset="0"/>
                        </a:rPr>
                        <a:t>- Giữ giờ 21346 bằng spare trong 20 ngày, sau đó lắp lên A890 giữ giờ cùng 21418 trong 45 ngày; </a:t>
                      </a:r>
                      <a:br>
                        <a:rPr lang="vi-VN" sz="1200" b="0" i="0" u="none" strike="noStrike">
                          <a:solidFill>
                            <a:srgbClr val="FF0000"/>
                          </a:solidFill>
                          <a:effectLst/>
                          <a:latin typeface="Times New Roman" panose="02020603050405020304" pitchFamily="18" charset="0"/>
                          <a:cs typeface="Times New Roman" panose="02020603050405020304" pitchFamily="18" charset="0"/>
                        </a:rPr>
                      </a:br>
                      <a:r>
                        <a:rPr lang="vi-VN" sz="1200" b="0" i="0" u="none" strike="noStrike">
                          <a:solidFill>
                            <a:srgbClr val="FF0000"/>
                          </a:solidFill>
                          <a:effectLst/>
                          <a:latin typeface="Times New Roman" panose="02020603050405020304" pitchFamily="18" charset="0"/>
                          <a:cs typeface="Times New Roman" panose="02020603050405020304" pitchFamily="18" charset="0"/>
                        </a:rPr>
                        <a:t>- 21317 trên A897 hạn chế khai thác để extend 20 ngày.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1795828"/>
                  </a:ext>
                </a:extLst>
              </a:tr>
              <a:tr h="47011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A350 AOG do </a:t>
                      </a:r>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thiếu</a:t>
                      </a:r>
                      <a:r>
                        <a:rPr lang="en-US" sz="1200" b="1" i="0" u="none" strike="noStrike" dirty="0">
                          <a:solidFill>
                            <a:srgbClr val="000000"/>
                          </a:solidFill>
                          <a:effectLst/>
                          <a:latin typeface="Times New Roman" panose="02020603050405020304" pitchFamily="18" charset="0"/>
                          <a:cs typeface="Times New Roman" panose="02020603050405020304" pitchFamily="18" charset="0"/>
                        </a:rPr>
                        <a:t> ENG</a:t>
                      </a:r>
                      <a:br>
                        <a:rPr lang="en-US" sz="1200" b="1" i="0" u="none" strike="noStrike" dirty="0">
                          <a:solidFill>
                            <a:srgbClr val="000000"/>
                          </a:solidFill>
                          <a:effectLst/>
                          <a:latin typeface="Times New Roman" panose="02020603050405020304" pitchFamily="18" charset="0"/>
                          <a:cs typeface="Times New Roman" panose="02020603050405020304" pitchFamily="18" charset="0"/>
                        </a:rPr>
                      </a:br>
                      <a:r>
                        <a:rPr lang="en-US" sz="1200" b="1" i="0" u="none" strike="noStrike" dirty="0">
                          <a:solidFill>
                            <a:srgbClr val="000000"/>
                          </a:solidFill>
                          <a:effectLst/>
                          <a:latin typeface="Times New Roman" panose="02020603050405020304" pitchFamily="18" charset="0"/>
                          <a:cs typeface="Times New Roman" panose="02020603050405020304" pitchFamily="18" charset="0"/>
                        </a:rPr>
                        <a:t>Last updated 02/07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811987733"/>
                  </a:ext>
                </a:extLst>
              </a:tr>
              <a:tr h="31399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3997902"/>
                  </a:ext>
                </a:extLst>
              </a:tr>
              <a:tr h="31399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79497268"/>
                  </a:ext>
                </a:extLst>
              </a:tr>
              <a:tr h="714340">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0290356"/>
                  </a:ext>
                </a:extLst>
              </a:tr>
              <a:tr h="49454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FF0000"/>
                          </a:solidFill>
                          <a:effectLst/>
                          <a:latin typeface="Times New Roman" panose="02020603050405020304" pitchFamily="18" charset="0"/>
                          <a:cs typeface="Times New Roman" panose="02020603050405020304" pitchFamily="18" charset="0"/>
                        </a:rPr>
                        <a:t>Rủi ro AOG do 3 tàu đang có động cơ giảm tần xuất soi 25-50CY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22721793"/>
                  </a:ext>
                </a:extLst>
              </a:tr>
              <a:tr h="31399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5671929"/>
                  </a:ext>
                </a:extLst>
              </a:tr>
              <a:tr h="31399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nb-NO" sz="12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cs typeface="Times New Roman" panose="02020603050405020304" pitchFamily="18" charset="0"/>
                        </a:rPr>
                      </a:br>
                      <a:r>
                        <a:rPr lang="nb-NO" sz="12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94724915"/>
                  </a:ext>
                </a:extLst>
              </a:tr>
              <a:tr h="31399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6631513"/>
                  </a:ext>
                </a:extLst>
              </a:tr>
              <a:tr h="31399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278804555"/>
                  </a:ext>
                </a:extLst>
              </a:tr>
            </a:tbl>
          </a:graphicData>
        </a:graphic>
      </p:graphicFrame>
    </p:spTree>
    <p:extLst>
      <p:ext uri="{BB962C8B-B14F-4D97-AF65-F5344CB8AC3E}">
        <p14:creationId xmlns:p14="http://schemas.microsoft.com/office/powerpoint/2010/main" val="4271259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44</a:t>
            </a:fld>
            <a:endParaRPr lang="en-US" sz="1100" dirty="0"/>
          </a:p>
        </p:txBody>
      </p:sp>
      <p:sp>
        <p:nvSpPr>
          <p:cNvPr id="21" name="TextBox 20"/>
          <p:cNvSpPr txBox="1"/>
          <p:nvPr/>
        </p:nvSpPr>
        <p:spPr>
          <a:xfrm>
            <a:off x="7070" y="39402"/>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11</a:t>
            </a:r>
            <a:endParaRPr lang="vi-VN" sz="2700" dirty="0"/>
          </a:p>
        </p:txBody>
      </p:sp>
      <p:sp>
        <p:nvSpPr>
          <p:cNvPr id="24" name="TextBox 23"/>
          <p:cNvSpPr txBox="1"/>
          <p:nvPr/>
        </p:nvSpPr>
        <p:spPr>
          <a:xfrm>
            <a:off x="350880" y="3737068"/>
            <a:ext cx="11688720" cy="317317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Decal 30 </a:t>
            </a:r>
            <a:r>
              <a:rPr lang="en-US" sz="1100" b="1" dirty="0" err="1">
                <a:solidFill>
                  <a:schemeClr val="tx1"/>
                </a:solidFill>
                <a:latin typeface="Times New Roman" panose="02020603050405020304" pitchFamily="18" charset="0"/>
                <a:cs typeface="Times New Roman" panose="02020603050405020304" pitchFamily="18" charset="0"/>
              </a:rPr>
              <a:t>năm</a:t>
            </a:r>
            <a:r>
              <a:rPr lang="en-US" sz="1100" b="1" dirty="0">
                <a:solidFill>
                  <a:schemeClr val="tx1"/>
                </a:solidFill>
                <a:latin typeface="Times New Roman" panose="02020603050405020304" pitchFamily="18" charset="0"/>
                <a:cs typeface="Times New Roman" panose="02020603050405020304" pitchFamily="18" charset="0"/>
              </a:rPr>
              <a:t> 787-9</a:t>
            </a:r>
            <a:r>
              <a:rPr lang="en-US" sz="1100" dirty="0">
                <a:solidFill>
                  <a:schemeClr val="tx1"/>
                </a:solidFill>
                <a:latin typeface="Times New Roman" panose="02020603050405020304" pitchFamily="18" charset="0"/>
                <a:cs typeface="Times New Roman" panose="02020603050405020304" pitchFamily="18" charset="0"/>
              </a:rPr>
              <a:t>: Ban TT </a:t>
            </a:r>
            <a:r>
              <a:rPr lang="en-US" sz="1100" dirty="0" err="1">
                <a:solidFill>
                  <a:schemeClr val="tx1"/>
                </a:solidFill>
                <a:latin typeface="Times New Roman" panose="02020603050405020304" pitchFamily="18" charset="0"/>
                <a:cs typeface="Times New Roman" panose="02020603050405020304" pitchFamily="18" charset="0"/>
              </a:rPr>
              <a:t>yêu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thực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hiện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theo</a:t>
            </a:r>
            <a:r>
              <a:rPr lang="en-US" sz="1100" dirty="0">
                <a:solidFill>
                  <a:schemeClr val="tx1"/>
                </a:solidFill>
                <a:latin typeface="Times New Roman" panose="02020603050405020304" pitchFamily="18" charset="0"/>
                <a:cs typeface="Times New Roman" panose="02020603050405020304" pitchFamily="18" charset="0"/>
              </a:rPr>
              <a:t> decal </a:t>
            </a:r>
            <a:r>
              <a:rPr lang="en-US" sz="1100" dirty="0" err="1">
                <a:solidFill>
                  <a:schemeClr val="tx1"/>
                </a:solidFill>
                <a:latin typeface="Times New Roman" panose="02020603050405020304" pitchFamily="18" charset="0"/>
                <a:cs typeface="Times New Roman" panose="02020603050405020304" pitchFamily="18" charset="0"/>
              </a:rPr>
              <a:t>cũ</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không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t>
            </a:r>
            <a:r>
              <a:rPr lang="en-US" sz="1100" dirty="0">
                <a:solidFill>
                  <a:schemeClr val="tx1"/>
                </a:solidFill>
                <a:latin typeface="Times New Roman" panose="02020603050405020304" pitchFamily="18" charset="0"/>
                <a:cs typeface="Times New Roman" panose="02020603050405020304" pitchFamily="18" charset="0"/>
              </a:rPr>
              <a:t> ). Ban KT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thông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báo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lại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tác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tiếp</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tục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giục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để</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sớm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SB </a:t>
            </a:r>
            <a:r>
              <a:rPr lang="en-US" sz="1100" dirty="0" err="1">
                <a:solidFill>
                  <a:schemeClr val="tx1"/>
                </a:solidFill>
                <a:latin typeface="Times New Roman" panose="02020603050405020304" pitchFamily="18" charset="0"/>
                <a:cs typeface="Times New Roman" panose="02020603050405020304" pitchFamily="18" charset="0"/>
              </a:rPr>
              <a:t>trong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4/2025.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triển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khai</a:t>
            </a:r>
            <a:r>
              <a:rPr lang="en-US" sz="1100" dirty="0">
                <a:solidFill>
                  <a:schemeClr val="tx1"/>
                </a:solidFill>
                <a:latin typeface="Times New Roman" panose="02020603050405020304" pitchFamily="18" charset="0"/>
                <a:cs typeface="Times New Roman" panose="02020603050405020304" pitchFamily="18" charset="0"/>
              </a:rPr>
              <a:t> SO VAECO </a:t>
            </a:r>
            <a:r>
              <a:rPr lang="en-US" sz="1100" dirty="0" err="1">
                <a:solidFill>
                  <a:schemeClr val="tx1"/>
                </a:solidFill>
                <a:latin typeface="Times New Roman" panose="02020603050405020304" pitchFamily="18" charset="0"/>
                <a:cs typeface="Times New Roman" panose="02020603050405020304" pitchFamily="18" charset="0"/>
              </a:rPr>
              <a:t>chuẩn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bị</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vật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tư</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dụng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cụ</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để</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hỗ</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tác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thực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hiện</a:t>
            </a:r>
            <a:r>
              <a:rPr lang="en-US" sz="1100" dirty="0">
                <a:solidFill>
                  <a:schemeClr val="tx1"/>
                </a:solidFill>
                <a:latin typeface="Times New Roman" panose="02020603050405020304" pitchFamily="18" charset="0"/>
                <a:cs typeface="Times New Roman" panose="02020603050405020304" pitchFamily="18" charset="0"/>
              </a:rPr>
              <a:t> </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Tài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liệu</a:t>
            </a:r>
            <a:r>
              <a:rPr lang="en-US" sz="1100" dirty="0">
                <a:solidFill>
                  <a:schemeClr val="tx1"/>
                </a:solidFill>
                <a:latin typeface="Times New Roman" panose="02020603050405020304" pitchFamily="18" charset="0"/>
                <a:cs typeface="Times New Roman" panose="02020603050405020304" pitchFamily="18" charset="0"/>
              </a:rPr>
              <a:t> TSM </a:t>
            </a:r>
            <a:r>
              <a:rPr lang="en-US" sz="1100" dirty="0" err="1">
                <a:solidFill>
                  <a:schemeClr val="tx1"/>
                </a:solidFill>
                <a:latin typeface="Times New Roman" panose="02020603050405020304" pitchFamily="18" charset="0"/>
                <a:cs typeface="Times New Roman" panose="02020603050405020304" pitchFamily="18" charset="0"/>
              </a:rPr>
              <a:t>hệ</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thống</a:t>
            </a:r>
            <a:r>
              <a:rPr lang="en-US" sz="1100" dirty="0">
                <a:solidFill>
                  <a:schemeClr val="tx1"/>
                </a:solidFill>
                <a:latin typeface="Times New Roman" panose="02020603050405020304" pitchFamily="18" charset="0"/>
                <a:cs typeface="Times New Roman" panose="02020603050405020304" pitchFamily="18" charset="0"/>
              </a:rPr>
              <a:t> IFC: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6/3/2025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triển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khai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cho</a:t>
            </a:r>
            <a:r>
              <a:rPr lang="en-US" sz="1100" b="1" dirty="0">
                <a:solidFill>
                  <a:schemeClr val="tx1"/>
                </a:solidFill>
                <a:latin typeface="Times New Roman" panose="02020603050405020304" pitchFamily="18" charset="0"/>
                <a:cs typeface="Times New Roman" panose="02020603050405020304" pitchFamily="18" charset="0"/>
              </a:rPr>
              <a:t> VAECO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Vật tư </a:t>
            </a:r>
            <a:r>
              <a:rPr lang="en-US" sz="1100" dirty="0" err="1">
                <a:solidFill>
                  <a:schemeClr val="tx1"/>
                </a:solidFill>
                <a:latin typeface="Times New Roman" panose="02020603050405020304" pitchFamily="18" charset="0"/>
                <a:cs typeface="Times New Roman" panose="02020603050405020304" pitchFamily="18" charset="0"/>
              </a:rPr>
              <a:t>dự</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phòng</a:t>
            </a:r>
            <a:r>
              <a:rPr lang="en-US" sz="1100"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KFRU, MODMAN, KANDU;  FMA 01ea giao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4/2025 (tiếp tục giục Thales)</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 MPS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FSAT: </a:t>
            </a:r>
            <a:r>
              <a:rPr lang="en-US" sz="1100" b="1" dirty="0">
                <a:solidFill>
                  <a:schemeClr val="tx1"/>
                </a:solidFill>
                <a:latin typeface="Times New Roman" panose="02020603050405020304" pitchFamily="18" charset="0"/>
                <a:cs typeface="Times New Roman" panose="02020603050405020304" pitchFamily="18" charset="0"/>
              </a:rPr>
              <a:t>MPS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mod kit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SB release </a:t>
            </a:r>
            <a:r>
              <a:rPr lang="en-US" sz="1100" b="1" dirty="0" err="1">
                <a:solidFill>
                  <a:schemeClr val="tx1"/>
                </a:solidFill>
                <a:latin typeface="Times New Roman" panose="02020603050405020304" pitchFamily="18" charset="0"/>
                <a:cs typeface="Times New Roman" panose="02020603050405020304" pitchFamily="18" charset="0"/>
              </a:rPr>
              <a:t>cuối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3/2025. </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gửi 02 shipset tàu bảo quản đi nâng cấp firmwarre, TAT 60-70 ngày =&gt; </a:t>
            </a:r>
            <a:r>
              <a:rPr lang="en-US" sz="1100" b="1" dirty="0">
                <a:solidFill>
                  <a:schemeClr val="tx1"/>
                </a:solidFill>
                <a:latin typeface="Times New Roman" panose="02020603050405020304" pitchFamily="18" charset="0"/>
                <a:cs typeface="Times New Roman" panose="02020603050405020304" pitchFamily="18" charset="0"/>
              </a:rPr>
              <a:t>tiếp tục giục Thales &amp; Honeywell, </a:t>
            </a:r>
            <a:r>
              <a:rPr lang="en-US" sz="1100" b="1" dirty="0" err="1">
                <a:solidFill>
                  <a:schemeClr val="tx1"/>
                </a:solidFill>
                <a:latin typeface="Times New Roman" panose="02020603050405020304" pitchFamily="18" charset="0"/>
                <a:cs typeface="Times New Roman" panose="02020603050405020304" pitchFamily="18" charset="0"/>
              </a:rPr>
              <a:t>vật</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tư</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đến</a:t>
            </a:r>
            <a:r>
              <a:rPr lang="en-US" sz="1100" b="1"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antena gửi sửa chữa shop: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về</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và</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thay</a:t>
            </a:r>
            <a:r>
              <a:rPr lang="en-US" sz="1100" b="1" dirty="0">
                <a:solidFill>
                  <a:schemeClr val="tx1"/>
                </a:solidFill>
                <a:latin typeface="Times New Roman" panose="02020603050405020304" pitchFamily="18" charset="0"/>
                <a:cs typeface="Times New Roman" panose="02020603050405020304" pitchFamily="18" charset="0"/>
              </a:rPr>
              <a:t> A893 + A896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19-20/2/2025: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thực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hiện</a:t>
            </a:r>
            <a:endParaRPr lang="en-US" sz="1100" b="1" dirty="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FSAT </a:t>
            </a:r>
            <a:r>
              <a:rPr lang="en-US" sz="1100" dirty="0" err="1">
                <a:solidFill>
                  <a:schemeClr val="tx1"/>
                </a:solidFill>
                <a:latin typeface="Times New Roman" panose="02020603050405020304" pitchFamily="18" charset="0"/>
                <a:cs typeface="Times New Roman" panose="02020603050405020304" pitchFamily="18" charset="0"/>
              </a:rPr>
              <a:t>từ</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ngày</a:t>
            </a:r>
            <a:r>
              <a:rPr lang="en-US" sz="1100" dirty="0">
                <a:solidFill>
                  <a:schemeClr val="tx1"/>
                </a:solidFill>
                <a:latin typeface="Times New Roman" panose="02020603050405020304" pitchFamily="18" charset="0"/>
                <a:cs typeface="Times New Roman" panose="02020603050405020304" pitchFamily="18" charset="0"/>
              </a:rPr>
              <a:t> 4-7/3/2025: </a:t>
            </a:r>
            <a:r>
              <a:rPr lang="en-US" sz="1100" b="1" dirty="0" err="1">
                <a:solidFill>
                  <a:schemeClr val="tx1"/>
                </a:solidFill>
                <a:latin typeface="Times New Roman" panose="02020603050405020304" pitchFamily="18" charset="0"/>
                <a:cs typeface="Times New Roman" panose="02020603050405020304" pitchFamily="18" charset="0"/>
              </a:rPr>
              <a:t>đã</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thực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hiện</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kiểm</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tra</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tại</a:t>
            </a:r>
            <a:r>
              <a:rPr lang="en-US" sz="1100" b="1" dirty="0">
                <a:solidFill>
                  <a:schemeClr val="tx1"/>
                </a:solidFill>
                <a:latin typeface="Times New Roman" panose="02020603050405020304" pitchFamily="18" charset="0"/>
                <a:cs typeface="Times New Roman" panose="02020603050405020304" pitchFamily="18" charset="0"/>
              </a:rPr>
              <a:t> LAB =&gt; Thales </a:t>
            </a:r>
            <a:r>
              <a:rPr lang="en-US" sz="1100" b="1" dirty="0" err="1">
                <a:solidFill>
                  <a:schemeClr val="tx1"/>
                </a:solidFill>
                <a:latin typeface="Times New Roman" panose="02020603050405020304" pitchFamily="18" charset="0"/>
                <a:cs typeface="Times New Roman" panose="02020603050405020304" pitchFamily="18" charset="0"/>
              </a:rPr>
              <a:t>thông</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báo</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ngày</a:t>
            </a:r>
            <a:r>
              <a:rPr lang="en-US" sz="1100" b="1" dirty="0">
                <a:solidFill>
                  <a:schemeClr val="tx1"/>
                </a:solidFill>
                <a:latin typeface="Times New Roman" panose="02020603050405020304" pitchFamily="18" charset="0"/>
                <a:cs typeface="Times New Roman" panose="02020603050405020304" pitchFamily="18" charset="0"/>
              </a:rPr>
              <a:t> 14/3 SW delay </a:t>
            </a:r>
            <a:r>
              <a:rPr lang="en-US" sz="1100" b="1" dirty="0" err="1">
                <a:solidFill>
                  <a:schemeClr val="tx1"/>
                </a:solidFill>
                <a:latin typeface="Times New Roman" panose="02020603050405020304" pitchFamily="18" charset="0"/>
                <a:cs typeface="Times New Roman" panose="02020603050405020304" pitchFamily="18" charset="0"/>
              </a:rPr>
              <a:t>giữa</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4/2025 (</a:t>
            </a:r>
            <a:r>
              <a:rPr lang="en-US" sz="1100" b="1" dirty="0" err="1">
                <a:solidFill>
                  <a:schemeClr val="tx1"/>
                </a:solidFill>
                <a:latin typeface="Times New Roman" panose="02020603050405020304" pitchFamily="18" charset="0"/>
                <a:cs typeface="Times New Roman" panose="02020603050405020304" pitchFamily="18" charset="0"/>
              </a:rPr>
              <a:t>phát</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sinh</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khắc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phục</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lỗi</a:t>
            </a:r>
            <a:r>
              <a:rPr lang="en-US" sz="1100" b="1" dirty="0">
                <a:solidFill>
                  <a:schemeClr val="tx1"/>
                </a:solidFill>
                <a:latin typeface="Times New Roman" panose="02020603050405020304" pitchFamily="18" charset="0"/>
                <a:cs typeface="Times New Roman" panose="02020603050405020304" pitchFamily="18" charset="0"/>
              </a:rPr>
              <a:t> IFE)</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nhận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hoàn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thành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đánh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=&gt; </a:t>
            </a: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quả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lựa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chọn</a:t>
            </a:r>
            <a:r>
              <a:rPr lang="en-US" sz="1100" dirty="0">
                <a:solidFill>
                  <a:schemeClr val="tx1"/>
                </a:solidFill>
                <a:latin typeface="Times New Roman" panose="02020603050405020304" pitchFamily="18" charset="0"/>
                <a:cs typeface="Times New Roman" panose="02020603050405020304" pitchFamily="18" charset="0"/>
              </a:rPr>
              <a:t> NCC </a:t>
            </a:r>
            <a:r>
              <a:rPr lang="en-US" sz="1100" dirty="0" err="1">
                <a:solidFill>
                  <a:schemeClr val="tx1"/>
                </a:solidFill>
                <a:latin typeface="Times New Roman" panose="02020603050405020304" pitchFamily="18" charset="0"/>
                <a:cs typeface="Times New Roman" panose="02020603050405020304" pitchFamily="18" charset="0"/>
              </a:rPr>
              <a:t>ghế</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SB</a:t>
            </a:r>
          </a:p>
        </p:txBody>
      </p:sp>
      <p:sp>
        <p:nvSpPr>
          <p:cNvPr id="22" name="TextBox 21"/>
          <p:cNvSpPr txBox="1"/>
          <p:nvPr/>
        </p:nvSpPr>
        <p:spPr>
          <a:xfrm>
            <a:off x="365448" y="2800599"/>
            <a:ext cx="11674151"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11ea,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09 ea.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05</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05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a:latin typeface="Times New Roman" panose="02020603050405020304" pitchFamily="18" charset="0"/>
                <a:cs typeface="Times New Roman" panose="02020603050405020304" pitchFamily="18" charset="0"/>
              </a:rPr>
              <a:t>Hỏng hóc oven: </a:t>
            </a:r>
            <a:r>
              <a:rPr lang="en-US" sz="1100" dirty="0">
                <a:solidFill>
                  <a:schemeClr val="tx1"/>
                </a:solidFill>
                <a:latin typeface="Times New Roman" panose="02020603050405020304" pitchFamily="18" charset="0"/>
                <a:cs typeface="Times New Roman" panose="02020603050405020304" pitchFamily="18" charset="0"/>
              </a:rPr>
              <a:t>hỏng </a:t>
            </a:r>
            <a:r>
              <a:rPr lang="en-US" sz="1100" dirty="0" err="1">
                <a:solidFill>
                  <a:schemeClr val="tx1"/>
                </a:solidFill>
                <a:latin typeface="Times New Roman" panose="02020603050405020304" pitchFamily="18" charset="0"/>
                <a:cs typeface="Times New Roman" panose="02020603050405020304" pitchFamily="18" charset="0"/>
              </a:rPr>
              <a:t>hóc</a:t>
            </a:r>
            <a:r>
              <a:rPr lang="en-US" sz="1100" dirty="0">
                <a:solidFill>
                  <a:schemeClr val="tx1"/>
                </a:solidFill>
                <a:latin typeface="Times New Roman" panose="02020603050405020304" pitchFamily="18" charset="0"/>
                <a:cs typeface="Times New Roman" panose="02020603050405020304" pitchFamily="18" charset="0"/>
              </a:rPr>
              <a:t> 13ea, khắc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06ea,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07ea</a:t>
            </a:r>
          </a:p>
        </p:txBody>
      </p:sp>
      <p:sp>
        <p:nvSpPr>
          <p:cNvPr id="23" name="TextBox 22"/>
          <p:cNvSpPr txBox="1"/>
          <p:nvPr/>
        </p:nvSpPr>
        <p:spPr>
          <a:xfrm>
            <a:off x="365449" y="1295400"/>
            <a:ext cx="11674150"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797</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a:solidFill>
                  <a:schemeClr val="tx1"/>
                </a:solidFill>
                <a:latin typeface="Times New Roman" panose="02020603050405020304" pitchFamily="18" charset="0"/>
                <a:cs typeface="Times New Roman" panose="02020603050405020304" pitchFamily="18" charset="0"/>
              </a:rPr>
              <a:t>117 </a:t>
            </a:r>
            <a:r>
              <a:rPr lang="en-US" sz="1100" b="1" dirty="0">
                <a:latin typeface="Times New Roman" panose="02020603050405020304" pitchFamily="18" charset="0"/>
                <a:cs typeface="Times New Roman" panose="02020603050405020304" pitchFamily="18" charset="0"/>
              </a:rPr>
              <a:t>SVDU (</a:t>
            </a:r>
            <a:r>
              <a:rPr lang="en-US" sz="1100" b="1" dirty="0" err="1">
                <a:latin typeface="Times New Roman" panose="02020603050405020304" pitchFamily="18" charset="0"/>
                <a:cs typeface="Times New Roman" panose="02020603050405020304" pitchFamily="18" charset="0"/>
              </a:rPr>
              <a:t>còn</a:t>
            </a:r>
            <a:r>
              <a:rPr lang="en-US" sz="1100" b="1" dirty="0">
                <a:latin typeface="Times New Roman" panose="02020603050405020304" pitchFamily="18" charset="0"/>
                <a:cs typeface="Times New Roman" panose="02020603050405020304" pitchFamily="18" charset="0"/>
              </a:rPr>
              <a:t> 295 INOP SVDU). </a:t>
            </a:r>
            <a:r>
              <a:rPr lang="en-US" sz="1100" dirty="0">
                <a:solidFill>
                  <a:srgbClr val="FF0000"/>
                </a:solidFill>
                <a:latin typeface="Times New Roman" panose="02020603050405020304" pitchFamily="18" charset="0"/>
                <a:cs typeface="Times New Roman" panose="02020603050405020304" pitchFamily="18" charset="0"/>
              </a:rPr>
              <a:t>Trong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11:  hỏng </a:t>
            </a:r>
            <a:r>
              <a:rPr lang="en-US" sz="1100" dirty="0" err="1">
                <a:solidFill>
                  <a:srgbClr val="FF0000"/>
                </a:solidFill>
                <a:latin typeface="Times New Roman" panose="02020603050405020304" pitchFamily="18" charset="0"/>
                <a:cs typeface="Times New Roman" panose="02020603050405020304" pitchFamily="18" charset="0"/>
              </a:rPr>
              <a:t>mới</a:t>
            </a:r>
            <a:r>
              <a:rPr lang="en-US" sz="1100" dirty="0">
                <a:solidFill>
                  <a:srgbClr val="FF0000"/>
                </a:solidFill>
                <a:latin typeface="Times New Roman" panose="02020603050405020304" pitchFamily="18" charset="0"/>
                <a:cs typeface="Times New Roman" panose="02020603050405020304" pitchFamily="18" charset="0"/>
              </a:rPr>
              <a:t> 05 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15ea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dự kiến bổ sung 30 SVDU trong tháng 3/2025</a:t>
            </a:r>
          </a:p>
        </p:txBody>
      </p:sp>
      <p:sp>
        <p:nvSpPr>
          <p:cNvPr id="25" name="TextBox 24"/>
          <p:cNvSpPr txBox="1"/>
          <p:nvPr/>
        </p:nvSpPr>
        <p:spPr>
          <a:xfrm>
            <a:off x="366569" y="1887698"/>
            <a:ext cx="11673030"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Toilet </a:t>
            </a:r>
            <a:r>
              <a:rPr lang="en-US" sz="1100" b="1" dirty="0" err="1">
                <a:solidFill>
                  <a:schemeClr val="tx1"/>
                </a:solidFill>
                <a:latin typeface="Times New Roman" panose="02020603050405020304" pitchFamily="18" charset="0"/>
                <a:cs typeface="Times New Roman" panose="02020603050405020304" pitchFamily="18" charset="0"/>
              </a:rPr>
              <a:t>Assy</a:t>
            </a:r>
            <a:r>
              <a:rPr lang="en-US" sz="1100" b="1"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05 </a:t>
            </a:r>
            <a:r>
              <a:rPr lang="en-US" sz="1100" dirty="0" err="1">
                <a:solidFill>
                  <a:schemeClr val="tx1"/>
                </a:solidFill>
                <a:latin typeface="Times New Roman" panose="02020603050405020304" pitchFamily="18" charset="0"/>
                <a:cs typeface="Times New Roman" panose="02020603050405020304" pitchFamily="18" charset="0"/>
              </a:rPr>
              <a:t>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04ea,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Faucet </a:t>
            </a:r>
            <a:r>
              <a:rPr lang="en-US" sz="1100" b="1" dirty="0" err="1">
                <a:solidFill>
                  <a:schemeClr val="tx1"/>
                </a:solidFill>
                <a:latin typeface="Times New Roman" panose="02020603050405020304" pitchFamily="18" charset="0"/>
                <a:cs typeface="Times New Roman" panose="02020603050405020304" pitchFamily="18" charset="0"/>
              </a:rPr>
              <a:t>Assy</a:t>
            </a:r>
            <a:r>
              <a:rPr lang="en-US" sz="1100" b="1"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05ea,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03ea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Basin: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00ea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Boiler: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02ea,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p:txBody>
      </p:sp>
      <p:sp>
        <p:nvSpPr>
          <p:cNvPr id="26" name="TextBox 25"/>
          <p:cNvSpPr txBox="1"/>
          <p:nvPr/>
        </p:nvSpPr>
        <p:spPr>
          <a:xfrm>
            <a:off x="365449" y="451497"/>
            <a:ext cx="11674150"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11: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228 (</a:t>
            </a:r>
            <a:r>
              <a:rPr lang="en-US" sz="1100" dirty="0" err="1">
                <a:latin typeface="Times New Roman" panose="02020603050405020304" pitchFamily="18" charset="0"/>
                <a:cs typeface="Times New Roman" panose="02020603050405020304" pitchFamily="18" charset="0"/>
              </a:rPr>
              <a:t>giảm</a:t>
            </a:r>
            <a:r>
              <a:rPr lang="en-US" sz="1100" dirty="0">
                <a:latin typeface="Times New Roman" panose="02020603050405020304" pitchFamily="18" charset="0"/>
                <a:cs typeface="Times New Roman" panose="02020603050405020304" pitchFamily="18" charset="0"/>
              </a:rPr>
              <a:t> 2%),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87ADD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141ADD</a:t>
            </a:r>
            <a:r>
              <a:rPr lang="en-US" sz="1100" dirty="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6%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10).</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5449" y="685800"/>
            <a:ext cx="11674150"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11</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00,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00,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err="1">
                <a:latin typeface="Times New Roman" panose="02020603050405020304" pitchFamily="18" charset="0"/>
                <a:cs typeface="Times New Roman" panose="02020603050405020304" pitchFamily="18" charset="0"/>
              </a:rPr>
              <a:t>Ghế</a:t>
            </a:r>
            <a:r>
              <a:rPr lang="en-US" sz="1100" b="1" dirty="0">
                <a:latin typeface="Times New Roman" panose="02020603050405020304" pitchFamily="18" charset="0"/>
                <a:cs typeface="Times New Roman" panose="02020603050405020304" pitchFamily="18" charset="0"/>
              </a:rPr>
              <a:t>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07,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05,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02</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1854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344424"/>
            <a:ext cx="10820401" cy="461624"/>
          </a:xfrm>
          <a:prstGeom prst="rect">
            <a:avLst/>
          </a:prstGeom>
          <a:noFill/>
          <a:ln>
            <a:noFill/>
          </a:ln>
        </p:spPr>
        <p:txBody>
          <a:bodyPr spcFirstLastPara="1" wrap="square" lIns="91433" tIns="45700" rIns="91433" bIns="45700" anchor="t" anchorCtr="0">
            <a:spAutoFit/>
          </a:bodyPr>
          <a:lstStyle/>
          <a:p>
            <a:pPr lvl="0" algn="ctr"/>
            <a:r>
              <a:rPr lang="en-US" sz="24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400" dirty="0"/>
          </a:p>
        </p:txBody>
      </p:sp>
      <p:sp>
        <p:nvSpPr>
          <p:cNvPr id="66" name="Google Shape;66;p6"/>
          <p:cNvSpPr txBox="1"/>
          <p:nvPr/>
        </p:nvSpPr>
        <p:spPr>
          <a:xfrm>
            <a:off x="1143001" y="958100"/>
            <a:ext cx="10439398" cy="5632271"/>
          </a:xfrm>
          <a:prstGeom prst="rect">
            <a:avLst/>
          </a:prstGeom>
          <a:noFill/>
          <a:ln>
            <a:noFill/>
          </a:ln>
        </p:spPr>
        <p:txBody>
          <a:bodyPr spcFirstLastPara="1" wrap="square" lIns="91433" tIns="45700" rIns="91433" bIns="45700" anchor="t" anchorCtr="0">
            <a:spAutoFit/>
          </a:bodyPr>
          <a:lstStyle/>
          <a:p>
            <a:pPr lvl="0" algn="just">
              <a:lnSpc>
                <a:spcPct val="150000"/>
              </a:lnSpc>
            </a:pPr>
            <a:r>
              <a:rPr lang="en-US" sz="1600" b="1" smtClean="0">
                <a:latin typeface="Times New Roman" panose="02020603050405020304" pitchFamily="18" charset="0"/>
                <a:cs typeface="Times New Roman" panose="02020603050405020304" pitchFamily="18" charset="0"/>
              </a:rPr>
              <a:t>GIA </a:t>
            </a:r>
            <a:r>
              <a:rPr lang="en-US" sz="1600" b="1" dirty="0">
                <a:latin typeface="Times New Roman" panose="02020603050405020304" pitchFamily="18" charset="0"/>
                <a:cs typeface="Times New Roman" panose="02020603050405020304" pitchFamily="18" charset="0"/>
              </a:rPr>
              <a:t>HẠN THUÊ 10 TÀU VALC </a:t>
            </a:r>
          </a:p>
          <a:p>
            <a:pPr algn="just">
              <a:lnSpc>
                <a:spcPct val="150000"/>
              </a:lnSpc>
            </a:pPr>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ý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31/03/2025.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02 </a:t>
            </a: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tâm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FTAI. </a:t>
            </a:r>
            <a:r>
              <a:rPr lang="en-US" sz="1600" dirty="0" err="1">
                <a:latin typeface="Times New Roman" panose="02020603050405020304" pitchFamily="18" charset="0"/>
                <a:cs typeface="Times New Roman" panose="02020603050405020304" pitchFamily="18" charset="0"/>
              </a:rPr>
              <a:t>Thủ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chậm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3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30/06/2025.</a:t>
            </a:r>
          </a:p>
          <a:p>
            <a:pPr lvl="0" algn="just">
              <a:lnSpc>
                <a:spcPct val="150000"/>
              </a:lnSpc>
            </a:pPr>
            <a:r>
              <a:rPr lang="en-US" sz="1600" dirty="0">
                <a:latin typeface="Times New Roman" panose="02020603050405020304" pitchFamily="18" charset="0"/>
                <a:cs typeface="Times New Roman" panose="02020603050405020304" pitchFamily="18" charset="0"/>
              </a:rPr>
              <a:t>1,  Arena: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nội</a:t>
            </a:r>
            <a:r>
              <a:rPr lang="en-US" sz="1600" dirty="0">
                <a:latin typeface="Times New Roman" panose="02020603050405020304" pitchFamily="18" charset="0"/>
                <a:cs typeface="Times New Roman" panose="02020603050405020304" pitchFamily="18" charset="0"/>
              </a:rPr>
              <a:t> dung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KT</a:t>
            </a:r>
          </a:p>
          <a:p>
            <a:pPr lvl="0" algn="just">
              <a:lnSpc>
                <a:spcPct val="150000"/>
              </a:lnSpc>
            </a:pP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vấn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xuất</a:t>
            </a:r>
            <a:r>
              <a:rPr lang="en-US" sz="1600" dirty="0">
                <a:latin typeface="Times New Roman" panose="02020603050405020304" pitchFamily="18" charset="0"/>
                <a:cs typeface="Times New Roman" panose="02020603050405020304" pitchFamily="18" charset="0"/>
              </a:rPr>
              <a:t>:</a:t>
            </a:r>
          </a:p>
          <a:p>
            <a:pPr lvl="1" algn="just">
              <a:lnSpc>
                <a:spcPct val="150000"/>
              </a:lnSpc>
            </a:pPr>
            <a:r>
              <a:rPr lang="en-US" sz="1600" dirty="0">
                <a:latin typeface="Times New Roman" panose="02020603050405020304" pitchFamily="18" charset="0"/>
                <a:cs typeface="Times New Roman" panose="02020603050405020304" pitchFamily="18" charset="0"/>
              </a:rPr>
              <a:t>a.  </a:t>
            </a:r>
            <a:r>
              <a:rPr lang="vi-VN" sz="16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lvl="1" algn="just">
              <a:lnSpc>
                <a:spcPct val="150000"/>
              </a:lnSpc>
            </a:pPr>
            <a:r>
              <a:rPr lang="en-US" sz="1600" dirty="0">
                <a:latin typeface="Times New Roman" panose="02020603050405020304" pitchFamily="18" charset="0"/>
                <a:cs typeface="Times New Roman" panose="02020603050405020304" pitchFamily="18" charset="0"/>
              </a:rPr>
              <a:t>b.  </a:t>
            </a:r>
            <a:r>
              <a:rPr lang="vi-VN" sz="1600" dirty="0">
                <a:latin typeface="Times New Roman" panose="02020603050405020304" pitchFamily="18" charset="0"/>
                <a:cs typeface="Times New Roman" panose="02020603050405020304" pitchFamily="18" charset="0"/>
              </a:rPr>
              <a:t>Thực hiện balancing quỹ bảo dưỡng sau khi kết thúc gia hạn thuê.</a:t>
            </a:r>
          </a:p>
          <a:p>
            <a:pPr lvl="1" algn="just">
              <a:lnSpc>
                <a:spcPct val="150000"/>
              </a:lnSpc>
            </a:pPr>
            <a:r>
              <a:rPr lang="en-US" sz="1600" dirty="0">
                <a:latin typeface="Times New Roman" panose="02020603050405020304" pitchFamily="18" charset="0"/>
                <a:cs typeface="Times New Roman" panose="02020603050405020304" pitchFamily="18" charset="0"/>
              </a:rPr>
              <a:t>c.  </a:t>
            </a:r>
            <a:r>
              <a:rPr lang="vi-VN" sz="1600" dirty="0">
                <a:latin typeface="Times New Roman" panose="02020603050405020304" pitchFamily="18" charset="0"/>
                <a:cs typeface="Times New Roman" panose="02020603050405020304" pitchFamily="18" charset="0"/>
              </a:rPr>
              <a:t>Đồng ý giảm MR và đề xuất phương án buy-out</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cho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điều kiện trả</a:t>
            </a:r>
            <a:r>
              <a:rPr lang="en-US" sz="1600" dirty="0">
                <a:latin typeface="Times New Roman" panose="02020603050405020304" pitchFamily="18" charset="0"/>
                <a:cs typeface="Times New Roman" panose="02020603050405020304" pitchFamily="18" charset="0"/>
              </a:rPr>
              <a:t>.</a:t>
            </a:r>
          </a:p>
          <a:p>
            <a:pPr algn="just">
              <a:lnSpc>
                <a:spcPct val="150000"/>
              </a:lnSpc>
            </a:pPr>
            <a:r>
              <a:rPr lang="en-US" sz="1600" dirty="0">
                <a:latin typeface="Times New Roman" panose="02020603050405020304" pitchFamily="18" charset="0"/>
                <a:cs typeface="Times New Roman" panose="02020603050405020304" pitchFamily="18" charset="0"/>
              </a:rPr>
              <a:t>2,  FTAI: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As-is,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hỗ</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run-out.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ngoại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p>
          <a:p>
            <a:pPr algn="just">
              <a:lnSpc>
                <a:spcPct val="150000"/>
              </a:lnSpc>
            </a:pP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có</a:t>
            </a:r>
            <a:r>
              <a:rPr lang="en-US" sz="1600" b="1" dirty="0">
                <a:latin typeface="Times New Roman" panose="02020603050405020304" pitchFamily="18" charset="0"/>
                <a:cs typeface="Times New Roman" panose="02020603050405020304" pitchFamily="18" charset="0"/>
              </a:rPr>
              <a:t> 2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thực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hiện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phục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vụ</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công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bán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của</a:t>
            </a:r>
            <a:r>
              <a:rPr lang="en-US" sz="1600" b="1" dirty="0">
                <a:latin typeface="Times New Roman" panose="02020603050405020304" pitchFamily="18" charset="0"/>
                <a:cs typeface="Times New Roman" panose="02020603050405020304" pitchFamily="18" charset="0"/>
              </a:rPr>
              <a:t> VALC </a:t>
            </a:r>
            <a:r>
              <a:rPr lang="en-US" sz="1600" b="1" dirty="0" err="1">
                <a:latin typeface="Times New Roman" panose="02020603050405020304" pitchFamily="18" charset="0"/>
                <a:cs typeface="Times New Roman" panose="02020603050405020304" pitchFamily="18" charset="0"/>
              </a:rPr>
              <a:t>là</a:t>
            </a:r>
            <a:r>
              <a:rPr lang="en-US" sz="1600" b="1" dirty="0">
                <a:latin typeface="Times New Roman" panose="02020603050405020304" pitchFamily="18" charset="0"/>
                <a:cs typeface="Times New Roman" panose="02020603050405020304" pitchFamily="18" charset="0"/>
              </a:rPr>
              <a:t> Arena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a:latin typeface="Times New Roman" panose="02020603050405020304" pitchFamily="18" charset="0"/>
                <a:cs typeface="Times New Roman" panose="02020603050405020304" pitchFamily="18" charset="0"/>
              </a:rPr>
              <a:t>XAero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này</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xong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05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VN-A397(VAECO-HCM)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VN-A338/A392/A395/A604(VAECO-HAN</a:t>
            </a:r>
            <a:r>
              <a:rPr lang="en-US" sz="1600" b="1">
                <a:latin typeface="Times New Roman" panose="02020603050405020304" pitchFamily="18" charset="0"/>
                <a:cs typeface="Times New Roman" panose="02020603050405020304" pitchFamily="18" charset="0"/>
              </a:rPr>
              <a:t>)). </a:t>
            </a:r>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45</a:t>
            </a:fld>
            <a:endParaRPr/>
          </a:p>
        </p:txBody>
      </p:sp>
    </p:spTree>
    <p:extLst>
      <p:ext uri="{BB962C8B-B14F-4D97-AF65-F5344CB8AC3E}">
        <p14:creationId xmlns:p14="http://schemas.microsoft.com/office/powerpoint/2010/main" val="38050711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46</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3469802980"/>
              </p:ext>
            </p:extLst>
          </p:nvPr>
        </p:nvGraphicFramePr>
        <p:xfrm>
          <a:off x="4038600" y="720805"/>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646707294"/>
              </p:ext>
            </p:extLst>
          </p:nvPr>
        </p:nvGraphicFramePr>
        <p:xfrm>
          <a:off x="381000" y="3200400"/>
          <a:ext cx="10515600" cy="1710786"/>
        </p:xfrm>
        <a:graphic>
          <a:graphicData uri="http://schemas.openxmlformats.org/drawingml/2006/table">
            <a:tbl>
              <a:tblPr/>
              <a:tblGrid>
                <a:gridCol w="204769">
                  <a:extLst>
                    <a:ext uri="{9D8B030D-6E8A-4147-A177-3AD203B41FA5}">
                      <a16:colId xmlns:a16="http://schemas.microsoft.com/office/drawing/2014/main" val="2989269694"/>
                    </a:ext>
                  </a:extLst>
                </a:gridCol>
                <a:gridCol w="1309279">
                  <a:extLst>
                    <a:ext uri="{9D8B030D-6E8A-4147-A177-3AD203B41FA5}">
                      <a16:colId xmlns:a16="http://schemas.microsoft.com/office/drawing/2014/main" val="928270237"/>
                    </a:ext>
                  </a:extLst>
                </a:gridCol>
                <a:gridCol w="421948">
                  <a:extLst>
                    <a:ext uri="{9D8B030D-6E8A-4147-A177-3AD203B41FA5}">
                      <a16:colId xmlns:a16="http://schemas.microsoft.com/office/drawing/2014/main" val="469706655"/>
                    </a:ext>
                  </a:extLst>
                </a:gridCol>
                <a:gridCol w="455042">
                  <a:extLst>
                    <a:ext uri="{9D8B030D-6E8A-4147-A177-3AD203B41FA5}">
                      <a16:colId xmlns:a16="http://schemas.microsoft.com/office/drawing/2014/main" val="3557398440"/>
                    </a:ext>
                  </a:extLst>
                </a:gridCol>
                <a:gridCol w="5274347">
                  <a:extLst>
                    <a:ext uri="{9D8B030D-6E8A-4147-A177-3AD203B41FA5}">
                      <a16:colId xmlns:a16="http://schemas.microsoft.com/office/drawing/2014/main" val="1520996162"/>
                    </a:ext>
                  </a:extLst>
                </a:gridCol>
                <a:gridCol w="508819">
                  <a:extLst>
                    <a:ext uri="{9D8B030D-6E8A-4147-A177-3AD203B41FA5}">
                      <a16:colId xmlns:a16="http://schemas.microsoft.com/office/drawing/2014/main" val="3459673415"/>
                    </a:ext>
                  </a:extLst>
                </a:gridCol>
                <a:gridCol w="663947">
                  <a:extLst>
                    <a:ext uri="{9D8B030D-6E8A-4147-A177-3AD203B41FA5}">
                      <a16:colId xmlns:a16="http://schemas.microsoft.com/office/drawing/2014/main" val="704851194"/>
                    </a:ext>
                  </a:extLst>
                </a:gridCol>
                <a:gridCol w="1323758">
                  <a:extLst>
                    <a:ext uri="{9D8B030D-6E8A-4147-A177-3AD203B41FA5}">
                      <a16:colId xmlns:a16="http://schemas.microsoft.com/office/drawing/2014/main" val="1427581456"/>
                    </a:ext>
                  </a:extLst>
                </a:gridCol>
                <a:gridCol w="353691">
                  <a:extLst>
                    <a:ext uri="{9D8B030D-6E8A-4147-A177-3AD203B41FA5}">
                      <a16:colId xmlns:a16="http://schemas.microsoft.com/office/drawing/2014/main" val="169407641"/>
                    </a:ext>
                  </a:extLst>
                </a:gridCol>
              </a:tblGrid>
              <a:tr h="137534">
                <a:tc gridSpan="9">
                  <a:txBody>
                    <a:bodyPr/>
                    <a:lstStyle/>
                    <a:p>
                      <a:pPr algn="ctr" fontAlgn="ctr"/>
                      <a:r>
                        <a:rPr lang="vi-VN" sz="1000" b="1" i="0" u="none" strike="noStrike">
                          <a:solidFill>
                            <a:srgbClr val="000000"/>
                          </a:solidFill>
                          <a:effectLst/>
                          <a:latin typeface="Times New Roman" panose="02020603050405020304" pitchFamily="18" charset="0"/>
                        </a:rPr>
                        <a:t>BẢNG TỔNG HỢP VÀ THEO DÕI NHÂN NHƯỢNG - VIETNAM AIRLINES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62262789"/>
                  </a:ext>
                </a:extLst>
              </a:tr>
              <a:tr h="137534">
                <a:tc>
                  <a:txBody>
                    <a:bodyPr/>
                    <a:lstStyle/>
                    <a:p>
                      <a:pPr algn="ctr" fontAlgn="ctr"/>
                      <a:r>
                        <a:rPr lang="en-US" sz="1000" b="1" i="0" u="none" strike="noStrike">
                          <a:solidFill>
                            <a:srgbClr val="000000"/>
                          </a:solidFill>
                          <a:effectLst/>
                          <a:latin typeface="Times New Roman" panose="02020603050405020304" pitchFamily="18" charset="0"/>
                        </a:rPr>
                        <a:t>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Concession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Type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Reg</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Description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By</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Date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ADD/CHK/Task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Status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65641"/>
                  </a:ext>
                </a:extLst>
              </a:tr>
              <a:tr h="137534">
                <a:tc>
                  <a:txBody>
                    <a:bodyPr/>
                    <a:lstStyle/>
                    <a:p>
                      <a:pPr algn="ctr" fontAlgn="ctr"/>
                      <a:r>
                        <a:rPr lang="en-150" sz="1000" b="0" i="0" u="none" strike="noStrike">
                          <a:solidFill>
                            <a:srgbClr val="000000"/>
                          </a:solidFill>
                          <a:effectLst/>
                          <a:latin typeface="Times New Roman" panose="02020603050405020304" pitchFamily="18" charset="0"/>
                        </a:rPr>
                        <a:t>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00" b="0" i="0" u="none" strike="noStrike">
                          <a:solidFill>
                            <a:srgbClr val="000000"/>
                          </a:solidFill>
                          <a:effectLst/>
                          <a:latin typeface="Times New Roman" panose="02020603050405020304" pitchFamily="18" charset="0"/>
                        </a:rPr>
                        <a:t>865-01/25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 o the impact of changes Maintenance Schedule, schedule of A865 Group tasks A08 needs to be extended.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13-Mar-2025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OPEN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0638353"/>
                  </a:ext>
                </a:extLst>
              </a:tr>
              <a:tr h="137534">
                <a:tc>
                  <a:txBody>
                    <a:bodyPr/>
                    <a:lstStyle/>
                    <a:p>
                      <a:pPr algn="ctr" fontAlgn="ctr"/>
                      <a:r>
                        <a:rPr lang="en-150" sz="1000" b="0" i="0" u="none" strike="noStrike">
                          <a:solidFill>
                            <a:srgbClr val="000000"/>
                          </a:solidFill>
                          <a:effectLst/>
                          <a:latin typeface="Times New Roman" panose="02020603050405020304" pitchFamily="18" charset="0"/>
                        </a:rPr>
                        <a:t>2</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00" b="0" i="0" u="none" strike="noStrike">
                          <a:solidFill>
                            <a:srgbClr val="000000"/>
                          </a:solidFill>
                          <a:effectLst/>
                          <a:latin typeface="Times New Roman" panose="02020603050405020304" pitchFamily="18" charset="0"/>
                        </a:rPr>
                        <a:t>873-03/25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A873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tasks for check C01 for VN-A873 needs to be extended.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13-Mar-2025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OPEN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8406439"/>
                  </a:ext>
                </a:extLst>
              </a:tr>
              <a:tr h="137534">
                <a:tc>
                  <a:txBody>
                    <a:bodyPr/>
                    <a:lstStyle/>
                    <a:p>
                      <a:pPr algn="ctr" fontAlgn="ctr"/>
                      <a:r>
                        <a:rPr lang="en-150" sz="1000" b="0" i="0" u="none" strike="noStrike">
                          <a:solidFill>
                            <a:srgbClr val="000000"/>
                          </a:solidFill>
                          <a:effectLst/>
                          <a:latin typeface="Times New Roman" panose="02020603050405020304" pitchFamily="18" charset="0"/>
                        </a:rPr>
                        <a:t>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00" b="0" i="0" u="none" strike="noStrike">
                          <a:solidFill>
                            <a:srgbClr val="000000"/>
                          </a:solidFill>
                          <a:effectLst/>
                          <a:latin typeface="Times New Roman" panose="02020603050405020304" pitchFamily="18" charset="0"/>
                        </a:rPr>
                        <a:t>890-02/25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A890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 o the impact of changes Maintenance Schedule, schedule of A890 Group tasks needs to be extended.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12-Mar-2025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OPEN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8148594"/>
                  </a:ext>
                </a:extLst>
              </a:tr>
              <a:tr h="137534">
                <a:tc>
                  <a:txBody>
                    <a:bodyPr/>
                    <a:lstStyle/>
                    <a:p>
                      <a:pPr algn="ctr" fontAlgn="ctr"/>
                      <a:r>
                        <a:rPr lang="en-150" sz="1000" b="0" i="0" u="none" strike="noStrike">
                          <a:solidFill>
                            <a:srgbClr val="000000"/>
                          </a:solidFill>
                          <a:effectLst/>
                          <a:latin typeface="Times New Roman" panose="02020603050405020304" pitchFamily="18" charset="0"/>
                        </a:rPr>
                        <a:t>4</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HVN-VN-A610 14Mar25-1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A610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ADD B1421 WAS RAISED “SEAL OF FIXED FAIRING 633EB DAMAGED” IAW MCDL 27-15.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CAAV</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14-Mar-2025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 B1421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0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3432862"/>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208:35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124.17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844:40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805:35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525:55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257:35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218:40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386:05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572:35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950967"/>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70880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extLst/>
          </p:nvPr>
        </p:nvGraphicFramePr>
        <p:xfrm>
          <a:off x="925417" y="1219201"/>
          <a:ext cx="10521107" cy="21768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939580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nvPr>
        </p:nvGraphicFramePr>
        <p:xfrm>
          <a:off x="983673" y="1295400"/>
          <a:ext cx="10549845" cy="492222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025089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4" name="Google Shape;17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50</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75" name="Google Shape;175;g31ccdae391d_0_278"/>
          <p:cNvGraphicFramePr/>
          <p:nvPr/>
        </p:nvGraphicFramePr>
        <p:xfrm>
          <a:off x="558675" y="462325"/>
          <a:ext cx="10287000" cy="6299034"/>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đã upgrade AOG nhưng chưa có dự kiến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ST đang ship 2ea về kho pool dự phòng</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06397982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2" name="Google Shape;18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51</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3" name="Google Shape;18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0820561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0" name="Google Shape;19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91" name="Google Shape;19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22 đơn hàng quá hạn trong tổng số 29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14 LO / total  17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08 EO / total 12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92" name="Google Shape;19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93" name="Google Shape;193;g31ccdae391d_0_299"/>
          <p:cNvPicPr preferRelativeResize="0"/>
          <p:nvPr/>
        </p:nvPicPr>
        <p:blipFill>
          <a:blip r:embed="rId3">
            <a:alphaModFix/>
          </a:blip>
          <a:stretch>
            <a:fillRect/>
          </a:stretch>
        </p:blipFill>
        <p:spPr>
          <a:xfrm>
            <a:off x="2028825" y="1718749"/>
            <a:ext cx="7508274" cy="4563000"/>
          </a:xfrm>
          <a:prstGeom prst="rect">
            <a:avLst/>
          </a:prstGeom>
          <a:noFill/>
          <a:ln>
            <a:noFill/>
          </a:ln>
        </p:spPr>
      </p:pic>
    </p:spTree>
    <p:extLst>
      <p:ext uri="{BB962C8B-B14F-4D97-AF65-F5344CB8AC3E}">
        <p14:creationId xmlns:p14="http://schemas.microsoft.com/office/powerpoint/2010/main" val="414886285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1" name="Google Shape;201;g31ccdae391d_0_308"/>
          <p:cNvGraphicFramePr/>
          <p:nvPr/>
        </p:nvGraphicFramePr>
        <p:xfrm>
          <a:off x="607288" y="787650"/>
          <a:ext cx="11227800" cy="457814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17Mar2025.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EDD 05/2025.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- 02ea dự phòng in stock, cần 01ea cho A867.</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3099348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8" name="Google Shape;20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09" name="Google Shape;20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PTVT thay nhiều: VFSG, GPM, NSG, CAC, Pump Pack, FMU, GWIV, Tailcone light (hỏng hóc rất nhiều sub card led).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A867 - STS "ELEC GEN SYS L2: đã có VFSG.</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A869 - Brake worn to limit: giao SGN ngày 17/03.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A873, A879 -  CARGO HANDLING SYS INOP: yêu cầu MCDU, 02ea giao SGN 17/03.</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pic>
        <p:nvPicPr>
          <p:cNvPr id="210" name="Google Shape;210;g31ccdae391d_0_315"/>
          <p:cNvPicPr preferRelativeResize="0"/>
          <p:nvPr/>
        </p:nvPicPr>
        <p:blipFill>
          <a:blip r:embed="rId3">
            <a:alphaModFix/>
          </a:blip>
          <a:stretch>
            <a:fillRect/>
          </a:stretch>
        </p:blipFill>
        <p:spPr>
          <a:xfrm>
            <a:off x="804863" y="2971800"/>
            <a:ext cx="10582275" cy="2590800"/>
          </a:xfrm>
          <a:prstGeom prst="rect">
            <a:avLst/>
          </a:prstGeom>
          <a:noFill/>
          <a:ln>
            <a:noFill/>
          </a:ln>
        </p:spPr>
      </p:pic>
    </p:spTree>
    <p:extLst>
      <p:ext uri="{BB962C8B-B14F-4D97-AF65-F5344CB8AC3E}">
        <p14:creationId xmlns:p14="http://schemas.microsoft.com/office/powerpoint/2010/main" val="167940072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7" name="Google Shape;21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18" name="Google Shape;21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31 đơn hàng quá hạn trong tổng số 40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OSS: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07 overdue LO / total 09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24 overdue EO / total  31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trạng đơn hàng pool trong 4 tuần gần nhất:</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9" name="Google Shape;21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20" name="Google Shape;220;g31ccdae391d_0_323"/>
          <p:cNvPicPr preferRelativeResize="0"/>
          <p:nvPr/>
        </p:nvPicPr>
        <p:blipFill>
          <a:blip r:embed="rId3">
            <a:alphaModFix/>
          </a:blip>
          <a:stretch>
            <a:fillRect/>
          </a:stretch>
        </p:blipFill>
        <p:spPr>
          <a:xfrm>
            <a:off x="2662250" y="2160100"/>
            <a:ext cx="5999624" cy="4112125"/>
          </a:xfrm>
          <a:prstGeom prst="rect">
            <a:avLst/>
          </a:prstGeom>
          <a:noFill/>
          <a:ln>
            <a:noFill/>
          </a:ln>
        </p:spPr>
      </p:pic>
    </p:spTree>
    <p:extLst>
      <p:ext uri="{BB962C8B-B14F-4D97-AF65-F5344CB8AC3E}">
        <p14:creationId xmlns:p14="http://schemas.microsoft.com/office/powerpoint/2010/main" val="269636291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28" name="Google Shape;228;g31ccdae391d_0_332"/>
          <p:cNvGraphicFramePr/>
          <p:nvPr>
            <p:extLst/>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Spoiler Servo:</a:t>
                      </a: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01ea </a:t>
                      </a:r>
                      <a:r>
                        <a:rPr lang="en-US" sz="1300" dirty="0">
                          <a:latin typeface="Times New Roman"/>
                          <a:ea typeface="Times New Roman"/>
                          <a:cs typeface="Times New Roman"/>
                          <a:sym typeface="Times New Roman"/>
                        </a:rPr>
                        <a:t>in stock</a:t>
                      </a:r>
                      <a:r>
                        <a:rPr lang="en-US" sz="1300" u="none" strike="noStrike" cap="none"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FCRM: </a:t>
                      </a:r>
                      <a:r>
                        <a:rPr lang="en-US" sz="1300" u="none" strike="noStrike" cap="none" dirty="0">
                          <a:solidFill>
                            <a:schemeClr val="dk1"/>
                          </a:solidFill>
                          <a:latin typeface="Times New Roman"/>
                          <a:ea typeface="Times New Roman"/>
                          <a:cs typeface="Times New Roman"/>
                          <a:sym typeface="Times New Roman"/>
                        </a:rPr>
                        <a:t>0</a:t>
                      </a:r>
                      <a:r>
                        <a:rPr lang="en-US" sz="1300" dirty="0">
                          <a:solidFill>
                            <a:schemeClr val="dk1"/>
                          </a:solidFill>
                          <a:latin typeface="Times New Roman"/>
                          <a:ea typeface="Times New Roman"/>
                          <a:cs typeface="Times New Roman"/>
                          <a:sym typeface="Times New Roman"/>
                        </a:rPr>
                        <a:t>4e</a:t>
                      </a:r>
                      <a:r>
                        <a:rPr lang="en-US" sz="1300" u="none" strike="noStrike" cap="none" dirty="0">
                          <a:solidFill>
                            <a:schemeClr val="dk1"/>
                          </a:solidFill>
                          <a:latin typeface="Times New Roman"/>
                          <a:ea typeface="Times New Roman"/>
                          <a:cs typeface="Times New Roman"/>
                          <a:sym typeface="Times New Roman"/>
                        </a:rPr>
                        <a:t>a in stock</a:t>
                      </a:r>
                      <a:r>
                        <a:rPr lang="en-US" sz="1300" dirty="0">
                          <a:solidFill>
                            <a:schemeClr val="dk1"/>
                          </a:solidFill>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6</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08</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a:t>
                      </a:r>
                      <a:r>
                        <a:rPr lang="en-US" sz="1300" u="none" strike="noStrike" cap="none">
                          <a:solidFill>
                            <a:schemeClr val="dk1"/>
                          </a:solidFill>
                          <a:latin typeface="Times New Roman"/>
                          <a:ea typeface="Times New Roman"/>
                          <a:cs typeface="Times New Roman"/>
                          <a:sym typeface="Times New Roman"/>
                        </a:rPr>
                        <a:t> stock</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EDD 10/04.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+ 06ea EDD 10/04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+ 04ea EDD NIL.</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11</a:t>
                      </a:r>
                      <a:r>
                        <a:rPr lang="en-US" sz="1300" u="none" strike="noStrike" cap="none">
                          <a:solidFill>
                            <a:schemeClr val="dk1"/>
                          </a:solidFill>
                          <a:latin typeface="Times New Roman"/>
                          <a:ea typeface="Times New Roman"/>
                          <a:cs typeface="Times New Roman"/>
                          <a:sym typeface="Times New Roman"/>
                        </a:rPr>
                        <a:t>ea in stock (10ea của tàu BQ).</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01ea Controller in stock (01ea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5808878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5" name="Google Shape;23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36" name="Google Shape;23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Một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số</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PTVT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Một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pooling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OEM Honeywell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liên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quan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hệ</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thống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Chiller (VCRU, Motor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Controler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rất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hệ</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thống</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flight control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giảm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ảnh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hưởng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cần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lưu</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ý:</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A891 - OUTBOARD SEAL OF LH&amp;RH MOVEA-BLE FAIRING # 3 DAMAGED: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Seal (Vaeco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A896 - UPPER LATCH ASSY OF COCKPIT DOOR BOLTING SYSTEM IS NOT FULLY LOCKED: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Latch (Vaeco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EST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tuần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12..</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A894 - INBOARD SEAL OF LH INBOARD AILERON DAMAGED: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Seal (Vaeco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nâng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cấp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AOG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đơn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mua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chờ</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Airbus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cập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kế</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hoạch</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A897 - SEAL OF RH INBOARD AI-LERON DAMAGED: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Seal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aeco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chờ</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Airbus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cập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nhật</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kế</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hoạch</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237" name="Google Shape;237;g31ccdae391d_0_339"/>
          <p:cNvPicPr preferRelativeResize="0"/>
          <p:nvPr/>
        </p:nvPicPr>
        <p:blipFill>
          <a:blip r:embed="rId3">
            <a:alphaModFix/>
          </a:blip>
          <a:stretch>
            <a:fillRect/>
          </a:stretch>
        </p:blipFill>
        <p:spPr>
          <a:xfrm>
            <a:off x="795338" y="3981450"/>
            <a:ext cx="10601325" cy="1333500"/>
          </a:xfrm>
          <a:prstGeom prst="rect">
            <a:avLst/>
          </a:prstGeom>
          <a:noFill/>
          <a:ln>
            <a:noFill/>
          </a:ln>
        </p:spPr>
      </p:pic>
    </p:spTree>
    <p:extLst>
      <p:ext uri="{BB962C8B-B14F-4D97-AF65-F5344CB8AC3E}">
        <p14:creationId xmlns:p14="http://schemas.microsoft.com/office/powerpoint/2010/main" val="424624927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4" name="Google Shape;24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45" name="Google Shape;245;g31ccdae391d_0_347"/>
          <p:cNvGraphicFramePr/>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đang vận chuyển từ Pháp về (hàng đổi)</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321962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2" name="Google Shape;25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53" name="Google Shape;25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00 stock</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02ea giao SGN ngày 17/03. Dự  kiến  có  02 ea dự kiến về 20/3.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06ea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1 e</a:t>
                      </a:r>
                      <a:r>
                        <a:rPr lang="en-US" sz="1400" u="none" strike="noStrike" cap="none">
                          <a:latin typeface="Times New Roman"/>
                          <a:ea typeface="Times New Roman"/>
                          <a:cs typeface="Times New Roman"/>
                          <a:sym typeface="Times New Roman"/>
                        </a:rPr>
                        <a:t>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 Tuần 1 dự kiến shop vstea ra 5 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7358597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0" name="Google Shape;26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61" name="Google Shape;26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03ea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&amp;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new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22/01).</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09ea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21317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highlight>
                  <a:srgbClr val="FFFFFF"/>
                </a:highlight>
                <a:uLnTx/>
                <a:uFillTx/>
                <a:latin typeface="Times New Roman"/>
                <a:ea typeface="Times New Roman"/>
                <a:cs typeface="Times New Roman"/>
                <a:sym typeface="Times New Roman"/>
              </a:rPr>
              <a:t>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21422 &amp; 21269 &amp; 21201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SEASL 21584, 21414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21604).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21269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25/03.</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core engine stand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swap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09ea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5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956556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KLM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21/03.</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KLM shop: 956569, 956533, 956599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956947.</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GE shop: 958398 (delay in GEEVES).</a:t>
            </a:r>
            <a:endParaRPr kumimoji="0" sz="1500" b="0" i="0" u="none" strike="noStrike" kern="0" cap="none" spc="0" normalizeH="0" baseline="0" noProof="0" dirty="0">
              <a:ln>
                <a:noFill/>
              </a:ln>
              <a:solidFill>
                <a:srgbClr val="000000"/>
              </a:solidFill>
              <a:effectLst/>
              <a:highlight>
                <a:srgbClr val="FFFF00"/>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đáp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ứng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KH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2024-2025: B787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(956933; 958266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958934 958966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956626)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cần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Q1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năm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50661700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8" name="Google Shape;26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69" name="Google Shape;26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Ceo:</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13 (3 sở hữu, 10 thuê ngắn hạn)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03ea V17951 (HAN), V15851 (HAN), V16037 (SGN)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US chờ chuyển đi: NIL</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đang sửa tại shop: 10ea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Danh mục missing part list của động cơ sửa chữa về</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việc sửa chữa động cơ tại shop</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Làm việc với Ban KT về KH động cơ về, tháo trả.</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5064326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6" name="Google Shape;27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7" name="Google Shape;27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Tình trạng trả động cơ thuê </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78" name="Google Shape;278;g31ccdae391d_0_375"/>
          <p:cNvPicPr preferRelativeResize="0"/>
          <p:nvPr/>
        </p:nvPicPr>
        <p:blipFill>
          <a:blip r:embed="rId3">
            <a:alphaModFix/>
          </a:blip>
          <a:stretch>
            <a:fillRect/>
          </a:stretch>
        </p:blipFill>
        <p:spPr>
          <a:xfrm>
            <a:off x="166700" y="2095500"/>
            <a:ext cx="11488001" cy="2795275"/>
          </a:xfrm>
          <a:prstGeom prst="rect">
            <a:avLst/>
          </a:prstGeom>
          <a:noFill/>
          <a:ln>
            <a:noFill/>
          </a:ln>
        </p:spPr>
      </p:pic>
    </p:spTree>
    <p:extLst>
      <p:ext uri="{BB962C8B-B14F-4D97-AF65-F5344CB8AC3E}">
        <p14:creationId xmlns:p14="http://schemas.microsoft.com/office/powerpoint/2010/main" val="39894566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5" name="Google Shape;28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Neo:</a:t>
            </a: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05ea (2 sở hữu (đang SLB), 2 dài hạn và 01 thuê ngắn hạn thuê của PW).</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sửa chữa: có 8 động cơ đang sửa (05ại ESA và 02 tại IHI, 01 tại MTU-H)</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Đang đàm phán với đối tác sửa đổi hợp đồng thuê sau khi trình kí LOI (Willis và ELFC)</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Trong đó: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P771423: Đã Remove. Chờ vận chuyển. Dự kiến Induct tại ESA 15/4.</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P771041: Đang trong quá trình Inspect. Dự kiến Induct tại MTU-H 19/3.</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P770903: Lịch ready delay 10 ngày.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TAT tại shop kéo dài, hiện do shop quá tải các động cơ tháo cung phải đợi slot lên đến 200 ngày.</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động cơ sửa chữa tại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Tổ chức họp và tìm giải pháp với Ban KT, VAECO với danh mục MPL đc tháo khi gửi đi sửa.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00806150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2" name="Google Shape;29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06:  03 ENG sở hữu, 03 ENG thuê ngắn hạn: (ED0321) (ED0036) (ED0715).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ED0238 đang sửa tại shop PWC tại SING.</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ED0239, ED0217,ED0233 đang sửa tại SA.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 Khó khăn:</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shop vẫn đang gặp trình trạng thiếu part, dẫn đến TAT bị kéo dài tại cả 02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Tiếp tục theo sát các động cơ đang sửa chữa tại PWC và StandardAero.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93" name="Google Shape;293;g31ccdae391d_0_389"/>
          <p:cNvPicPr preferRelativeResize="0"/>
          <p:nvPr/>
        </p:nvPicPr>
        <p:blipFill>
          <a:blip r:embed="rId3">
            <a:alphaModFix/>
          </a:blip>
          <a:stretch>
            <a:fillRect/>
          </a:stretch>
        </p:blipFill>
        <p:spPr>
          <a:xfrm>
            <a:off x="124988" y="2497275"/>
            <a:ext cx="11942026" cy="3172099"/>
          </a:xfrm>
          <a:prstGeom prst="rect">
            <a:avLst/>
          </a:prstGeom>
          <a:noFill/>
          <a:ln>
            <a:noFill/>
          </a:ln>
        </p:spPr>
      </p:pic>
    </p:spTree>
    <p:extLst>
      <p:ext uri="{BB962C8B-B14F-4D97-AF65-F5344CB8AC3E}">
        <p14:creationId xmlns:p14="http://schemas.microsoft.com/office/powerpoint/2010/main" val="385162564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0" name="Google Shape;30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1" name="Google Shape;301;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A350: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21269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25/03</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B787: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956556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KLM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21/03.</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 V12505 (26/03).</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l"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NEO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P771423: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26/03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ESA.</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stock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ED0235).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+ED0239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release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14/04/2025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+ED0238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PWC: induct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24/01/2025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20768823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8" name="Google Shape;30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9" name="Google Shape;309;g31ccdae391d_0_403"/>
          <p:cNvSpPr txBox="1"/>
          <p:nvPr/>
        </p:nvSpPr>
        <p:spPr>
          <a:xfrm>
            <a:off x="7059775" y="425750"/>
            <a:ext cx="4085700" cy="4683900"/>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STK: 01 APU đang cho chuyển vào SGN thay cho APU tàu PA. APU tháo xuống vẫn SV và stk SGN</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Tháng 3: dk 00 ea về.</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+ 03 APU kho U/S:</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03 APU chờ gửi đi sửa chữa,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0 </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+ 02 APU đang vận chuyển đi shop Lufth sửa chữa.</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+ 01APU (P-00255) đã sửa xong đang ship về.</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STK: 0 APU</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 APU (PWC-Z926122) đang chờ induct.</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+ 01APU ( PWC-Z925500) đang sửa tại shop PW Poland gặp tình trạng kho khăn trong chuỗi cung ứng nên dk 14/04 về.</a:t>
            </a: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10" name="Google Shape;310;g31ccdae391d_0_403"/>
          <p:cNvPicPr preferRelativeResize="0"/>
          <p:nvPr/>
        </p:nvPicPr>
        <p:blipFill>
          <a:blip r:embed="rId3">
            <a:alphaModFix/>
          </a:blip>
          <a:stretch>
            <a:fillRect/>
          </a:stretch>
        </p:blipFill>
        <p:spPr>
          <a:xfrm>
            <a:off x="372775" y="495300"/>
            <a:ext cx="6546249" cy="5815026"/>
          </a:xfrm>
          <a:prstGeom prst="rect">
            <a:avLst/>
          </a:prstGeom>
          <a:noFill/>
          <a:ln>
            <a:noFill/>
          </a:ln>
        </p:spPr>
      </p:pic>
    </p:spTree>
    <p:extLst>
      <p:ext uri="{BB962C8B-B14F-4D97-AF65-F5344CB8AC3E}">
        <p14:creationId xmlns:p14="http://schemas.microsoft.com/office/powerpoint/2010/main" val="200224174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e189f61e-1295-4779-a752-040c7fad5177"/>
    <ds:schemaRef ds:uri="http://purl.org/dc/terms/"/>
    <ds:schemaRef ds:uri="http://schemas.microsoft.com/office/2006/metadata/properties"/>
    <ds:schemaRef ds:uri="http://www.w3.org/XML/1998/namespace"/>
    <ds:schemaRef ds:uri="http://schemas.microsoft.com/office/infopath/2007/PartnerControls"/>
    <ds:schemaRef ds:uri="b6015720-aa74-4be3-ba0d-eab08776cb9b"/>
    <ds:schemaRef ds:uri="http://schemas.microsoft.com/office/2006/documentManagement/types"/>
    <ds:schemaRef ds:uri="http://schemas.openxmlformats.org/package/2006/metadata/core-properties"/>
    <ds:schemaRef ds:uri="http://purl.org/dc/dcmitype/"/>
    <ds:schemaRef ds:uri="http://purl.org/dc/elements/1.1/"/>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73273</TotalTime>
  <Words>13106</Words>
  <Application>Microsoft Office PowerPoint</Application>
  <PresentationFormat>Widescreen</PresentationFormat>
  <Paragraphs>2524</Paragraphs>
  <Slides>68</Slides>
  <Notes>58</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68</vt:i4>
      </vt:variant>
    </vt:vector>
  </HeadingPairs>
  <TitlesOfParts>
    <vt:vector size="83" baseType="lpstr">
      <vt:lpstr>MS PGothic</vt:lpstr>
      <vt:lpstr>Arial</vt:lpstr>
      <vt:lpstr>Calibri</vt:lpstr>
      <vt:lpstr>Cambria</vt:lpstr>
      <vt:lpstr>Courier New</vt:lpstr>
      <vt:lpstr>Exo</vt:lpstr>
      <vt:lpstr>Montserrat</vt:lpstr>
      <vt:lpstr>Montserrat Bold</vt:lpstr>
      <vt:lpstr>Montserrat SemiBold</vt:lpstr>
      <vt:lpstr>Symbol</vt:lpstr>
      <vt:lpstr>Tahoma</vt:lpstr>
      <vt:lpstr>Times New Roman</vt:lpstr>
      <vt:lpstr>Wingdings</vt:lpstr>
      <vt:lpstr>16-9 MASTER TEMPLATE</vt:lpstr>
      <vt:lpstr>Office Theme</vt:lpstr>
      <vt:lpstr>BÁO CÁO KỸ THUẬT (Tuần 11: 10/03/2025 – 16/03/2025)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A320/ A321 </vt:lpstr>
      <vt:lpstr>TÌNH TRẠNG KỸ THUẬT ĐỘI BAY – A350</vt:lpstr>
      <vt:lpstr>PowerPoint Presentation</vt:lpstr>
      <vt:lpstr>TÌNH TRẠNG KỸ THUẬT ĐỘI BAY – B787</vt:lpstr>
      <vt:lpstr>PowerPoint Presentation</vt:lpstr>
      <vt:lpstr>PowerPoint Presentation</vt:lpstr>
      <vt:lpstr>TÌNH TRẠNG KỸ THUẬT ĐỘI BAY – ATR72</vt:lpstr>
      <vt:lpstr>TÌNH TRẠNG KỸ THUẬT ĐỘI BAY – ATR72</vt:lpstr>
      <vt:lpstr>ATR72- ATA 21 &amp; ATA36 </vt:lpstr>
      <vt:lpstr>ATR72- ATA 21 &amp; ATA36 </vt:lpstr>
      <vt:lpstr>ATR72- ATA 21 &amp; ATA36 </vt:lpstr>
      <vt:lpstr>ATR72- ATA 21 &amp; ATA36 </vt:lpstr>
      <vt:lpstr>ATR72- ATA 21 &amp; ATA36 </vt:lpstr>
      <vt:lpstr>ATR72- ATA 21 &amp; ATA36 </vt:lpstr>
      <vt:lpstr>ATR72- ATA 21 &amp; ATA36 </vt:lpstr>
      <vt:lpstr>ATR72- ATA 21 &amp; ATA36 </vt:lpstr>
      <vt:lpstr>PowerPoint Presentation</vt:lpstr>
      <vt:lpstr>DISPATCH RELIABILITY W11 (10/03/2025-16/03/2025)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Vu Chi Thanh</cp:lastModifiedBy>
  <cp:revision>11655</cp:revision>
  <cp:lastPrinted>2019-03-27T09:25:07Z</cp:lastPrinted>
  <dcterms:created xsi:type="dcterms:W3CDTF">2018-12-27T04:50:36Z</dcterms:created>
  <dcterms:modified xsi:type="dcterms:W3CDTF">2025-03-16T14:00:49Z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