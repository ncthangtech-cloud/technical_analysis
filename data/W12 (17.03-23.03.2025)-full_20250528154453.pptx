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charts/chart4.xml" ContentType="application/vnd.openxmlformats-officedocument.drawingml.chart+xml"/>
  <Override PartName="/ppt/theme/themeOverride1.xml" ContentType="application/vnd.openxmlformats-officedocument.themeOverride+xml"/>
  <Override PartName="/ppt/notesSlides/notesSlide3.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tags/tag1.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2.xml" ContentType="application/vnd.openxmlformats-officedocument.presentationml.tags+xml"/>
  <Override PartName="/ppt/notesSlides/notesSlide17.xml" ContentType="application/vnd.openxmlformats-officedocument.presentationml.notesSlide+xml"/>
  <Override PartName="/ppt/charts/chart7.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8.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23.xml" ContentType="application/vnd.openxmlformats-officedocument.presentationml.notesSlide+xml"/>
  <Override PartName="/ppt/charts/chart9.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24.xml" ContentType="application/vnd.openxmlformats-officedocument.presentationml.notesSlide+xml"/>
  <Override PartName="/ppt/charts/chart10.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25.xml" ContentType="application/vnd.openxmlformats-officedocument.presentationml.notesSlide+xml"/>
  <Override PartName="/ppt/charts/chart11.xml" ContentType="application/vnd.openxmlformats-officedocument.drawingml.chart+xml"/>
  <Override PartName="/ppt/charts/style6.xml" ContentType="application/vnd.ms-office.chartstyle+xml"/>
  <Override PartName="/ppt/charts/colors6.xml" ContentType="application/vnd.ms-office.chartcolorstyle+xml"/>
  <Override PartName="/ppt/charts/chart12.xml" ContentType="application/vnd.openxmlformats-officedocument.drawingml.chart+xml"/>
  <Override PartName="/ppt/charts/style7.xml" ContentType="application/vnd.ms-office.chartstyle+xml"/>
  <Override PartName="/ppt/charts/colors7.xml" ContentType="application/vnd.ms-office.chartcolorstyle+xml"/>
  <Override PartName="/ppt/charts/chart13.xml" ContentType="application/vnd.openxmlformats-officedocument.drawingml.chart+xml"/>
  <Override PartName="/ppt/charts/style8.xml" ContentType="application/vnd.ms-office.chartstyle+xml"/>
  <Override PartName="/ppt/charts/colors8.xml" ContentType="application/vnd.ms-office.chartcolorstyle+xml"/>
  <Override PartName="/ppt/charts/chart14.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rts/chart15.xml" ContentType="application/vnd.openxmlformats-officedocument.drawingml.chart+xml"/>
  <Override PartName="/ppt/notesSlides/notesSlide32.xml" ContentType="application/vnd.openxmlformats-officedocument.presentationml.notesSlide+xml"/>
  <Override PartName="/ppt/charts/chart16.xml" ContentType="application/vnd.openxmlformats-officedocument.drawingml.chart+xml"/>
  <Override PartName="/ppt/charts/style10.xml" ContentType="application/vnd.ms-office.chartstyle+xml"/>
  <Override PartName="/ppt/charts/colors10.xml" ContentType="application/vnd.ms-office.chartcolorstyle+xml"/>
  <Override PartName="/ppt/theme/themeOverride2.xml" ContentType="application/vnd.openxmlformats-officedocument.themeOverride+xml"/>
  <Override PartName="/ppt/notesSlides/notesSlide33.xml" ContentType="application/vnd.openxmlformats-officedocument.presentationml.notesSlide+xml"/>
  <Override PartName="/ppt/charts/chart17.xml" ContentType="application/vnd.openxmlformats-officedocument.drawingml.chart+xml"/>
  <Override PartName="/ppt/charts/style11.xml" ContentType="application/vnd.ms-office.chartstyle+xml"/>
  <Override PartName="/ppt/charts/colors11.xml" ContentType="application/vnd.ms-office.chartcolorstyle+xml"/>
  <Override PartName="/ppt/theme/themeOverride3.xml" ContentType="application/vnd.openxmlformats-officedocument.themeOverride+xml"/>
  <Override PartName="/ppt/notesSlides/notesSlide34.xml" ContentType="application/vnd.openxmlformats-officedocument.presentationml.notesSlide+xml"/>
  <Override PartName="/ppt/charts/chart18.xml" ContentType="application/vnd.openxmlformats-officedocument.drawingml.chart+xml"/>
  <Override PartName="/ppt/charts/style12.xml" ContentType="application/vnd.ms-office.chartstyle+xml"/>
  <Override PartName="/ppt/charts/colors12.xml" ContentType="application/vnd.ms-office.chartcolorstyle+xml"/>
  <Override PartName="/ppt/theme/themeOverride4.xml" ContentType="application/vnd.openxmlformats-officedocument.themeOverr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58" r:id="rId4"/>
    <p:sldMasterId id="2147483727" r:id="rId5"/>
  </p:sldMasterIdLst>
  <p:notesMasterIdLst>
    <p:notesMasterId r:id="rId71"/>
  </p:notesMasterIdLst>
  <p:sldIdLst>
    <p:sldId id="11486" r:id="rId6"/>
    <p:sldId id="11487" r:id="rId7"/>
    <p:sldId id="11488" r:id="rId8"/>
    <p:sldId id="11899" r:id="rId9"/>
    <p:sldId id="11493" r:id="rId10"/>
    <p:sldId id="11966" r:id="rId11"/>
    <p:sldId id="11967" r:id="rId12"/>
    <p:sldId id="11505" r:id="rId13"/>
    <p:sldId id="11968" r:id="rId14"/>
    <p:sldId id="11988" r:id="rId15"/>
    <p:sldId id="11989" r:id="rId16"/>
    <p:sldId id="11903" r:id="rId17"/>
    <p:sldId id="11990" r:id="rId18"/>
    <p:sldId id="11991" r:id="rId19"/>
    <p:sldId id="11969" r:id="rId20"/>
    <p:sldId id="11869" r:id="rId21"/>
    <p:sldId id="11970" r:id="rId22"/>
    <p:sldId id="11932" r:id="rId23"/>
    <p:sldId id="11960" r:id="rId24"/>
    <p:sldId id="11933" r:id="rId25"/>
    <p:sldId id="11971" r:id="rId26"/>
    <p:sldId id="11992" r:id="rId27"/>
    <p:sldId id="11973" r:id="rId28"/>
    <p:sldId id="11974" r:id="rId29"/>
    <p:sldId id="11975" r:id="rId30"/>
    <p:sldId id="11976" r:id="rId31"/>
    <p:sldId id="11977" r:id="rId32"/>
    <p:sldId id="11978" r:id="rId33"/>
    <p:sldId id="11979" r:id="rId34"/>
    <p:sldId id="11980" r:id="rId35"/>
    <p:sldId id="11981" r:id="rId36"/>
    <p:sldId id="11982" r:id="rId37"/>
    <p:sldId id="11983" r:id="rId38"/>
    <p:sldId id="11984" r:id="rId39"/>
    <p:sldId id="11986" r:id="rId40"/>
    <p:sldId id="11987" r:id="rId41"/>
    <p:sldId id="11957" r:id="rId42"/>
    <p:sldId id="11958" r:id="rId43"/>
    <p:sldId id="11959" r:id="rId44"/>
    <p:sldId id="11836" r:id="rId45"/>
    <p:sldId id="11545" r:id="rId46"/>
    <p:sldId id="11934" r:id="rId47"/>
    <p:sldId id="11935" r:id="rId48"/>
    <p:sldId id="11936" r:id="rId49"/>
    <p:sldId id="11937" r:id="rId50"/>
    <p:sldId id="11938" r:id="rId51"/>
    <p:sldId id="11939" r:id="rId52"/>
    <p:sldId id="11940" r:id="rId53"/>
    <p:sldId id="11941" r:id="rId54"/>
    <p:sldId id="11942" r:id="rId55"/>
    <p:sldId id="11943" r:id="rId56"/>
    <p:sldId id="11944" r:id="rId57"/>
    <p:sldId id="11945" r:id="rId58"/>
    <p:sldId id="11946" r:id="rId59"/>
    <p:sldId id="11947" r:id="rId60"/>
    <p:sldId id="11948" r:id="rId61"/>
    <p:sldId id="11949" r:id="rId62"/>
    <p:sldId id="11950" r:id="rId63"/>
    <p:sldId id="11951" r:id="rId64"/>
    <p:sldId id="11952" r:id="rId65"/>
    <p:sldId id="11953" r:id="rId66"/>
    <p:sldId id="11954" r:id="rId67"/>
    <p:sldId id="11955" r:id="rId68"/>
    <p:sldId id="11956" r:id="rId69"/>
    <p:sldId id="11888" r:id="rId70"/>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guyen Dinh Thanh" initials="NDT" lastIdx="1" clrIdx="0">
    <p:extLst>
      <p:ext uri="{19B8F6BF-5375-455C-9EA6-DF929625EA0E}">
        <p15:presenceInfo xmlns:p15="http://schemas.microsoft.com/office/powerpoint/2012/main" userId="d098a10a9a17dfc3" providerId="Windows Live"/>
      </p:ext>
    </p:extLst>
  </p:cmAuthor>
  <p:cmAuthor id="2" name="MayTinhBachVuong" initials="M" lastIdx="1" clrIdx="1">
    <p:extLst>
      <p:ext uri="{19B8F6BF-5375-455C-9EA6-DF929625EA0E}">
        <p15:presenceInfo xmlns:p15="http://schemas.microsoft.com/office/powerpoint/2012/main" userId="MayTinhBachVuon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F6E"/>
    <a:srgbClr val="FFFF00"/>
    <a:srgbClr val="0099FF"/>
    <a:srgbClr val="D2A4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115" autoAdjust="0"/>
    <p:restoredTop sz="95337" autoAdjust="0"/>
  </p:normalViewPr>
  <p:slideViewPr>
    <p:cSldViewPr>
      <p:cViewPr varScale="1">
        <p:scale>
          <a:sx n="115" d="100"/>
          <a:sy n="115" d="100"/>
        </p:scale>
        <p:origin x="138" y="84"/>
      </p:cViewPr>
      <p:guideLst>
        <p:guide orient="horz" pos="2160"/>
        <p:guide pos="3840"/>
      </p:guideLst>
    </p:cSldViewPr>
  </p:slideViewPr>
  <p:outlineViewPr>
    <p:cViewPr>
      <p:scale>
        <a:sx n="33" d="100"/>
        <a:sy n="33" d="100"/>
      </p:scale>
      <p:origin x="0" y="-268"/>
    </p:cViewPr>
  </p:outlineViewPr>
  <p:notesTextViewPr>
    <p:cViewPr>
      <p:scale>
        <a:sx n="3" d="2"/>
        <a:sy n="3" d="2"/>
      </p:scale>
      <p:origin x="0" y="0"/>
    </p:cViewPr>
  </p:notesTextViewPr>
  <p:sorterViewPr>
    <p:cViewPr>
      <p:scale>
        <a:sx n="100" d="100"/>
        <a:sy n="100" d="100"/>
      </p:scale>
      <p:origin x="0" y="0"/>
    </p:cViewPr>
  </p:sorterViewPr>
  <p:notesViewPr>
    <p:cSldViewPr>
      <p:cViewPr varScale="1">
        <p:scale>
          <a:sx n="99" d="100"/>
          <a:sy n="99" d="100"/>
        </p:scale>
        <p:origin x="4272" y="184"/>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viewProps" Target="viewProps.xml"/><Relationship Id="rId5" Type="http://schemas.openxmlformats.org/officeDocument/2006/relationships/slideMaster" Target="slideMasters/slideMaster2.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commentAuthors" Target="commentAuthor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tableStyles" Target="tableStyles.xml"/><Relationship Id="rId7" Type="http://schemas.openxmlformats.org/officeDocument/2006/relationships/slide" Target="slides/slide2.xml"/><Relationship Id="rId71"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oleObject" Target="file:///C:\Users\admin\Desktop\TAI%20LIEU%20LAM%20VIEC\MOC\BC_Tu&#226;n\2025\W12\W12%20(17.03-23.03.2025).xlsx" TargetMode="External"/></Relationships>
</file>

<file path=ppt/charts/_rels/chart2.xml.rels><?xml version="1.0" encoding="UTF-8" standalone="yes"?>
<Relationships xmlns="http://schemas.openxmlformats.org/package/2006/relationships"><Relationship Id="rId3" Type="http://schemas.openxmlformats.org/officeDocument/2006/relationships/oleObject" Target="file:///C:\Users\admin\Desktop\TAI%20LIEU%20LAM%20VIEC\MOC\BC_Tu&#226;n\2025\W12\W12%20(17.03-23.03.2025).xlsx" TargetMode="External"/><Relationship Id="rId2" Type="http://schemas.microsoft.com/office/2011/relationships/chartColorStyle" Target="colors1.xml"/><Relationship Id="rId1" Type="http://schemas.microsoft.com/office/2011/relationships/chartStyle" Target="style1.xml"/></Relationships>
</file>

<file path=ppt/charts/_rels/chart3.xml.rels><?xml version="1.0" encoding="UTF-8" standalone="yes"?>
<Relationships xmlns="http://schemas.openxmlformats.org/package/2006/relationships"><Relationship Id="rId3" Type="http://schemas.openxmlformats.org/officeDocument/2006/relationships/oleObject" Target="file:///C:\Users\admin\Desktop\TAI%20LIEU%20LAM%20VIEC\MOC\BC_Tu&#226;n\2025\W12\W12%20(17.03-23.03.2025).xlsx" TargetMode="External"/><Relationship Id="rId2" Type="http://schemas.microsoft.com/office/2011/relationships/chartColorStyle" Target="colors2.xml"/><Relationship Id="rId1" Type="http://schemas.microsoft.com/office/2011/relationships/chartStyle" Target="style2.xml"/></Relationships>
</file>

<file path=ppt/charts/_rels/chart4.xml.rels><?xml version="1.0" encoding="UTF-8" standalone="yes"?>
<Relationships xmlns="http://schemas.openxmlformats.org/package/2006/relationships"><Relationship Id="rId2" Type="http://schemas.openxmlformats.org/officeDocument/2006/relationships/oleObject" Target="file:///C:\Users\admin\Desktop\TAI%20LIEU%20LAM%20VIEC\MOC\BC_Tu&#226;n\2025\W12\W12%20(17.03-23.03.2025).xlsx" TargetMode="External"/><Relationship Id="rId1" Type="http://schemas.openxmlformats.org/officeDocument/2006/relationships/themeOverride" Target="../theme/themeOverride1.xml"/></Relationships>
</file>

<file path=ppt/charts/_rels/chart5.xml.rels><?xml version="1.0" encoding="UTF-8" standalone="yes"?>
<Relationships xmlns="http://schemas.openxmlformats.org/package/2006/relationships"><Relationship Id="rId1" Type="http://schemas.openxmlformats.org/officeDocument/2006/relationships/oleObject" Target="file:///C:\Users\admin\Desktop\TAI%20LIEU%20LAM%20VIEC\MOC\BC_Tu&#226;n\2025\W12\W12%20(17.03-23.03.2025).xlsx"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file:///C:\Users\admin\Desktop\TAI%20LIEU%20LAM%20VIEC\MOC\BC_Tu&#226;n\2025\W12\W12%20(17.03-23.03.2025).xlsx"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file:///D:\GOOGLE%20DRIVE-cty\BAO%20CAO%20DO%20TIN%20CAY\BAO%20CAO%20TUAN\BC%20chu%20nhat\2025\12\DR\DR-W12.xlsx" TargetMode="Externa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3.xml"/><Relationship Id="rId1" Type="http://schemas.microsoft.com/office/2011/relationships/chartStyle" Target="style3.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4.xml"/><Relationship Id="rId1" Type="http://schemas.microsoft.com/office/2011/relationships/chartStyle" Target="style4.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5.xml"/><Relationship Id="rId1" Type="http://schemas.microsoft.com/office/2011/relationships/chartStyle" Target="style5.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6.xml"/><Relationship Id="rId1" Type="http://schemas.microsoft.com/office/2011/relationships/chartStyle" Target="style6.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7.xml"/><Relationship Id="rId1" Type="http://schemas.microsoft.com/office/2011/relationships/chartStyle" Target="style7.xml"/></Relationships>
</file>

<file path=ppt/charts/_rels/chart13.xml.rels><?xml version="1.0" encoding="UTF-8" standalone="yes"?>
<Relationships xmlns="http://schemas.openxmlformats.org/package/2006/relationships"><Relationship Id="rId3" Type="http://schemas.openxmlformats.org/officeDocument/2006/relationships/oleObject" Target="NULL" TargetMode="External"/><Relationship Id="rId2" Type="http://schemas.microsoft.com/office/2011/relationships/chartColorStyle" Target="colors8.xml"/><Relationship Id="rId1" Type="http://schemas.microsoft.com/office/2011/relationships/chartStyle" Target="style8.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9.xml"/><Relationship Id="rId1" Type="http://schemas.microsoft.com/office/2011/relationships/chartStyle" Target="style9.xml"/></Relationships>
</file>

<file path=ppt/charts/_rels/chart15.xml.rels><?xml version="1.0" encoding="UTF-8" standalone="yes"?>
<Relationships xmlns="http://schemas.openxmlformats.org/package/2006/relationships"><Relationship Id="rId1" Type="http://schemas.openxmlformats.org/officeDocument/2006/relationships/oleObject" Target="file:///C:\Users\admin\Desktop\TAI%20LIEU%20LAM%20VIEC\MOC\BC_Tu&#226;n\2025\W12\W12%20(17.03-23.03.2025).xlsx" TargetMode="External"/></Relationships>
</file>

<file path=ppt/charts/_rels/chart16.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oleObject" Target="file:///D:\P.MOC\B&#225;o%20c&#225;o%20tu&#7847;n\L&#7883;ch%20bay%20h&#224;ng%20tu&#7847;n%202025.xlsx" TargetMode="External"/></Relationships>
</file>

<file path=ppt/charts/_rels/chart17.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11.xml"/><Relationship Id="rId1" Type="http://schemas.microsoft.com/office/2011/relationships/chartStyle" Target="style11.xml"/><Relationship Id="rId4" Type="http://schemas.openxmlformats.org/officeDocument/2006/relationships/oleObject" Target="file:///D:\P.MOC\B&#225;o%20c&#225;o%20tu&#7847;n\L&#7883;ch%20bay%20h&#224;ng%20tu&#7847;n%202025.xlsx" TargetMode="External"/></Relationships>
</file>

<file path=ppt/charts/_rels/chart18.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12.xml"/><Relationship Id="rId1" Type="http://schemas.microsoft.com/office/2011/relationships/chartStyle" Target="style12.xml"/><Relationship Id="rId4" Type="http://schemas.openxmlformats.org/officeDocument/2006/relationships/oleObject" Target="file:///D:\P.MOC\B&#225;o%20c&#225;o%20tu&#7847;n\L&#7883;ch%20bay%20h&#224;ng%20tu&#7847;n%202025.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1">
                <a:solidFill>
                  <a:schemeClr val="tx1"/>
                </a:solidFill>
                <a:latin typeface="Times New Roman" panose="02020603050405020304" pitchFamily="18" charset="0"/>
                <a:cs typeface="Times New Roman" panose="02020603050405020304" pitchFamily="18" charset="0"/>
              </a:rPr>
              <a:t>Thống</a:t>
            </a:r>
            <a:r>
              <a:rPr lang="en-US" sz="1600" b="1" baseline="0">
                <a:solidFill>
                  <a:schemeClr val="tx1"/>
                </a:solidFill>
                <a:latin typeface="Times New Roman" panose="02020603050405020304" pitchFamily="18" charset="0"/>
                <a:cs typeface="Times New Roman" panose="02020603050405020304" pitchFamily="18" charset="0"/>
              </a:rPr>
              <a:t> kê </a:t>
            </a:r>
            <a:r>
              <a:rPr lang="en-US" sz="1600" b="1">
                <a:solidFill>
                  <a:schemeClr val="tx1"/>
                </a:solidFill>
                <a:latin typeface="Times New Roman" panose="02020603050405020304" pitchFamily="18" charset="0"/>
                <a:cs typeface="Times New Roman" panose="02020603050405020304" pitchFamily="18" charset="0"/>
              </a:rPr>
              <a:t>GTB</a:t>
            </a:r>
          </a:p>
        </c:rich>
      </c:tx>
      <c:overlay val="0"/>
      <c:spPr>
        <a:noFill/>
        <a:ln>
          <a:noFill/>
        </a:ln>
        <a:effectLst/>
      </c:spPr>
    </c:title>
    <c:autoTitleDeleted val="0"/>
    <c:plotArea>
      <c:layout>
        <c:manualLayout>
          <c:layoutTarget val="inner"/>
          <c:xMode val="edge"/>
          <c:yMode val="edge"/>
          <c:x val="4.8553271516007079E-2"/>
          <c:y val="0.23258718451685151"/>
          <c:w val="0.92392962136768553"/>
          <c:h val="0.51878764300478664"/>
        </c:manualLayout>
      </c:layout>
      <c:barChart>
        <c:barDir val="col"/>
        <c:grouping val="clustered"/>
        <c:varyColors val="0"/>
        <c:ser>
          <c:idx val="0"/>
          <c:order val="0"/>
          <c:tx>
            <c:strRef>
              <c:f>'Data Chart'!$C$20</c:f>
              <c:strCache>
                <c:ptCount val="1"/>
                <c:pt idx="0">
                  <c:v>Last week</c:v>
                </c:pt>
              </c:strCache>
            </c:strRef>
          </c:tx>
          <c:spPr>
            <a:solidFill>
              <a:srgbClr val="FFC00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0"/>
              </c:ext>
            </c:extLst>
          </c:dLbls>
          <c:cat>
            <c:strRef>
              <c:f>'Data Chart'!$B$21:$B$26</c:f>
              <c:strCache>
                <c:ptCount val="6"/>
                <c:pt idx="0">
                  <c:v>A320</c:v>
                </c:pt>
                <c:pt idx="1">
                  <c:v>A321</c:v>
                </c:pt>
                <c:pt idx="2">
                  <c:v>A350</c:v>
                </c:pt>
                <c:pt idx="3">
                  <c:v>B787</c:v>
                </c:pt>
                <c:pt idx="4">
                  <c:v>ATR72</c:v>
                </c:pt>
                <c:pt idx="5">
                  <c:v>Tất cả</c:v>
                </c:pt>
              </c:strCache>
            </c:strRef>
          </c:cat>
          <c:val>
            <c:numRef>
              <c:f>'Data Chart'!$C$21:$C$26</c:f>
              <c:numCache>
                <c:formatCode>General</c:formatCode>
                <c:ptCount val="6"/>
                <c:pt idx="0">
                  <c:v>0</c:v>
                </c:pt>
                <c:pt idx="1">
                  <c:v>0</c:v>
                </c:pt>
                <c:pt idx="2">
                  <c:v>0</c:v>
                </c:pt>
                <c:pt idx="3">
                  <c:v>0</c:v>
                </c:pt>
                <c:pt idx="4">
                  <c:v>1</c:v>
                </c:pt>
                <c:pt idx="5">
                  <c:v>1</c:v>
                </c:pt>
              </c:numCache>
            </c:numRef>
          </c:val>
          <c:extLst xmlns:c15="http://schemas.microsoft.com/office/drawing/2012/chart">
            <c:ext xmlns:c16="http://schemas.microsoft.com/office/drawing/2014/chart" uri="{C3380CC4-5D6E-409C-BE32-E72D297353CC}">
              <c16:uniqueId val="{00000000-52E7-4D58-A2BF-9F39FD26E5FC}"/>
            </c:ext>
          </c:extLst>
        </c:ser>
        <c:ser>
          <c:idx val="1"/>
          <c:order val="1"/>
          <c:tx>
            <c:strRef>
              <c:f>'Data Chart'!$D$20</c:f>
              <c:strCache>
                <c:ptCount val="1"/>
                <c:pt idx="0">
                  <c:v>This week</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Chart'!$B$21:$B$26</c:f>
              <c:strCache>
                <c:ptCount val="6"/>
                <c:pt idx="0">
                  <c:v>A320</c:v>
                </c:pt>
                <c:pt idx="1">
                  <c:v>A321</c:v>
                </c:pt>
                <c:pt idx="2">
                  <c:v>A350</c:v>
                </c:pt>
                <c:pt idx="3">
                  <c:v>B787</c:v>
                </c:pt>
                <c:pt idx="4">
                  <c:v>ATR72</c:v>
                </c:pt>
                <c:pt idx="5">
                  <c:v>Tất cả</c:v>
                </c:pt>
              </c:strCache>
            </c:strRef>
          </c:cat>
          <c:val>
            <c:numRef>
              <c:f>'Data Chart'!$D$21:$D$26</c:f>
              <c:numCache>
                <c:formatCode>General</c:formatCode>
                <c:ptCount val="6"/>
                <c:pt idx="0">
                  <c:v>0</c:v>
                </c:pt>
                <c:pt idx="1">
                  <c:v>0</c:v>
                </c:pt>
                <c:pt idx="2">
                  <c:v>0</c:v>
                </c:pt>
                <c:pt idx="3">
                  <c:v>0</c:v>
                </c:pt>
                <c:pt idx="4">
                  <c:v>1</c:v>
                </c:pt>
                <c:pt idx="5">
                  <c:v>1</c:v>
                </c:pt>
              </c:numCache>
            </c:numRef>
          </c:val>
          <c:extLst>
            <c:ext xmlns:c16="http://schemas.microsoft.com/office/drawing/2014/chart" uri="{C3380CC4-5D6E-409C-BE32-E72D297353CC}">
              <c16:uniqueId val="{00000001-52E7-4D58-A2BF-9F39FD26E5FC}"/>
            </c:ext>
          </c:extLst>
        </c:ser>
        <c:dLbls>
          <c:showLegendKey val="0"/>
          <c:showVal val="0"/>
          <c:showCatName val="0"/>
          <c:showSerName val="0"/>
          <c:showPercent val="0"/>
          <c:showBubbleSize val="0"/>
        </c:dLbls>
        <c:gapWidth val="219"/>
        <c:overlap val="-27"/>
        <c:axId val="396808200"/>
        <c:axId val="396806632"/>
        <c:extLst/>
      </c:barChart>
      <c:catAx>
        <c:axId val="3968082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96806632"/>
        <c:crosses val="autoZero"/>
        <c:auto val="1"/>
        <c:lblAlgn val="ctr"/>
        <c:lblOffset val="100"/>
        <c:noMultiLvlLbl val="0"/>
      </c:catAx>
      <c:valAx>
        <c:axId val="39680663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96808200"/>
        <c:crosses val="autoZero"/>
        <c:crossBetween val="between"/>
        <c:majorUnit val="1"/>
      </c:valAx>
      <c:spPr>
        <a:noFill/>
        <a:ln>
          <a:noFill/>
        </a:ln>
        <a:effectLst/>
      </c:spPr>
    </c:plotArea>
    <c:legend>
      <c:legendPos val="b"/>
      <c:layout>
        <c:manualLayout>
          <c:xMode val="edge"/>
          <c:yMode val="edge"/>
          <c:x val="0.23472701799472892"/>
          <c:y val="0.88146435647144594"/>
          <c:w val="0.56147071762910628"/>
          <c:h val="9.5171103624036968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sz="1600" b="1">
                <a:solidFill>
                  <a:schemeClr val="tx1"/>
                </a:solidFill>
                <a:latin typeface="Times New Roman" panose="02020603050405020304" pitchFamily="18" charset="0"/>
                <a:cs typeface="Times New Roman" panose="02020603050405020304" pitchFamily="18" charset="0"/>
              </a:rPr>
              <a:t>AOG</a:t>
            </a:r>
          </a:p>
        </c:rich>
      </c:tx>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'Data Chart'!$C$2</c:f>
              <c:strCache>
                <c:ptCount val="1"/>
                <c:pt idx="0">
                  <c:v>Last week</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0"/>
              </c:ext>
            </c:extLst>
          </c:dLbls>
          <c:cat>
            <c:strRef>
              <c:f>'Data Chart'!$B$3:$B$8</c:f>
              <c:strCache>
                <c:ptCount val="6"/>
                <c:pt idx="0">
                  <c:v>A320</c:v>
                </c:pt>
                <c:pt idx="1">
                  <c:v>A321</c:v>
                </c:pt>
                <c:pt idx="2">
                  <c:v>A350</c:v>
                </c:pt>
                <c:pt idx="3">
                  <c:v>B787</c:v>
                </c:pt>
                <c:pt idx="4">
                  <c:v>ATR72</c:v>
                </c:pt>
                <c:pt idx="5">
                  <c:v>Tất cả</c:v>
                </c:pt>
              </c:strCache>
            </c:strRef>
          </c:cat>
          <c:val>
            <c:numRef>
              <c:f>'Data Chart'!$C$3:$C$8</c:f>
              <c:numCache>
                <c:formatCode>General</c:formatCode>
                <c:ptCount val="6"/>
                <c:pt idx="0">
                  <c:v>0</c:v>
                </c:pt>
                <c:pt idx="1">
                  <c:v>3</c:v>
                </c:pt>
                <c:pt idx="2">
                  <c:v>0</c:v>
                </c:pt>
                <c:pt idx="3">
                  <c:v>1</c:v>
                </c:pt>
                <c:pt idx="4">
                  <c:v>1</c:v>
                </c:pt>
                <c:pt idx="5">
                  <c:v>5</c:v>
                </c:pt>
              </c:numCache>
            </c:numRef>
          </c:val>
          <c:extLst xmlns:c15="http://schemas.microsoft.com/office/drawing/2012/chart">
            <c:ext xmlns:c16="http://schemas.microsoft.com/office/drawing/2014/chart" uri="{C3380CC4-5D6E-409C-BE32-E72D297353CC}">
              <c16:uniqueId val="{00000000-5AD3-4017-ABAE-F359BA419A3B}"/>
            </c:ext>
          </c:extLst>
        </c:ser>
        <c:ser>
          <c:idx val="1"/>
          <c:order val="1"/>
          <c:tx>
            <c:strRef>
              <c:f>'Data Chart'!$D$2</c:f>
              <c:strCache>
                <c:ptCount val="1"/>
                <c:pt idx="0">
                  <c:v>This week</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Chart'!$B$3:$B$8</c:f>
              <c:strCache>
                <c:ptCount val="6"/>
                <c:pt idx="0">
                  <c:v>A320</c:v>
                </c:pt>
                <c:pt idx="1">
                  <c:v>A321</c:v>
                </c:pt>
                <c:pt idx="2">
                  <c:v>A350</c:v>
                </c:pt>
                <c:pt idx="3">
                  <c:v>B787</c:v>
                </c:pt>
                <c:pt idx="4">
                  <c:v>ATR72</c:v>
                </c:pt>
                <c:pt idx="5">
                  <c:v>Tất cả</c:v>
                </c:pt>
              </c:strCache>
            </c:strRef>
          </c:cat>
          <c:val>
            <c:numRef>
              <c:f>'Data Chart'!$D$3:$D$8</c:f>
              <c:numCache>
                <c:formatCode>General</c:formatCode>
                <c:ptCount val="6"/>
                <c:pt idx="0">
                  <c:v>0</c:v>
                </c:pt>
                <c:pt idx="1">
                  <c:v>1</c:v>
                </c:pt>
                <c:pt idx="2">
                  <c:v>0</c:v>
                </c:pt>
                <c:pt idx="3">
                  <c:v>0</c:v>
                </c:pt>
                <c:pt idx="4">
                  <c:v>0</c:v>
                </c:pt>
                <c:pt idx="5">
                  <c:v>1</c:v>
                </c:pt>
              </c:numCache>
            </c:numRef>
          </c:val>
          <c:extLst>
            <c:ext xmlns:c16="http://schemas.microsoft.com/office/drawing/2014/chart" uri="{C3380CC4-5D6E-409C-BE32-E72D297353CC}">
              <c16:uniqueId val="{00000001-5AD3-4017-ABAE-F359BA419A3B}"/>
            </c:ext>
          </c:extLst>
        </c:ser>
        <c:dLbls>
          <c:dLblPos val="outEnd"/>
          <c:showLegendKey val="0"/>
          <c:showVal val="1"/>
          <c:showCatName val="0"/>
          <c:showSerName val="0"/>
          <c:showPercent val="0"/>
          <c:showBubbleSize val="0"/>
        </c:dLbls>
        <c:gapWidth val="219"/>
        <c:overlap val="-27"/>
        <c:axId val="396809768"/>
        <c:axId val="396805064"/>
        <c:extLst/>
      </c:barChart>
      <c:catAx>
        <c:axId val="3968097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96805064"/>
        <c:crosses val="autoZero"/>
        <c:auto val="1"/>
        <c:lblAlgn val="ctr"/>
        <c:lblOffset val="100"/>
        <c:noMultiLvlLbl val="0"/>
      </c:catAx>
      <c:valAx>
        <c:axId val="39680506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96809768"/>
        <c:crosses val="autoZero"/>
        <c:crossBetween val="between"/>
        <c:majorUnit val="3"/>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a:glow>
        <a:schemeClr val="accent1">
          <a:alpha val="40000"/>
        </a:schemeClr>
      </a:glow>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1" i="0" baseline="0">
                <a:solidFill>
                  <a:schemeClr val="tx1"/>
                </a:solidFill>
                <a:effectLst/>
                <a:latin typeface="Times New Roman" panose="02020603050405020304" pitchFamily="18" charset="0"/>
                <a:cs typeface="Times New Roman" panose="02020603050405020304" pitchFamily="18" charset="0"/>
              </a:rPr>
              <a:t>Thống kê ATB</a:t>
            </a:r>
            <a:endParaRPr lang="en-US" sz="1600">
              <a:solidFill>
                <a:schemeClr val="tx1"/>
              </a:solidFill>
              <a:effectLst/>
              <a:latin typeface="Times New Roman" panose="02020603050405020304" pitchFamily="18" charset="0"/>
              <a:cs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'Data Chart'!$C$27</c:f>
              <c:strCache>
                <c:ptCount val="1"/>
                <c:pt idx="0">
                  <c:v>Last week</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0"/>
              </c:ext>
            </c:extLst>
          </c:dLbls>
          <c:cat>
            <c:strRef>
              <c:f>'Data Chart'!$B$28:$B$33</c:f>
              <c:strCache>
                <c:ptCount val="6"/>
                <c:pt idx="0">
                  <c:v>A320</c:v>
                </c:pt>
                <c:pt idx="1">
                  <c:v>A321</c:v>
                </c:pt>
                <c:pt idx="2">
                  <c:v>A350</c:v>
                </c:pt>
                <c:pt idx="3">
                  <c:v>B787</c:v>
                </c:pt>
                <c:pt idx="4">
                  <c:v>ATR72</c:v>
                </c:pt>
                <c:pt idx="5">
                  <c:v>Tất cả</c:v>
                </c:pt>
              </c:strCache>
            </c:strRef>
          </c:cat>
          <c:val>
            <c:numRef>
              <c:f>'Data Chart'!$C$28:$C$33</c:f>
              <c:numCache>
                <c:formatCode>General</c:formatCode>
                <c:ptCount val="6"/>
                <c:pt idx="0">
                  <c:v>0</c:v>
                </c:pt>
                <c:pt idx="1">
                  <c:v>0</c:v>
                </c:pt>
                <c:pt idx="2">
                  <c:v>0</c:v>
                </c:pt>
                <c:pt idx="3">
                  <c:v>0</c:v>
                </c:pt>
                <c:pt idx="4">
                  <c:v>0</c:v>
                </c:pt>
                <c:pt idx="5">
                  <c:v>0</c:v>
                </c:pt>
              </c:numCache>
            </c:numRef>
          </c:val>
          <c:extLst xmlns:c15="http://schemas.microsoft.com/office/drawing/2012/chart">
            <c:ext xmlns:c16="http://schemas.microsoft.com/office/drawing/2014/chart" uri="{C3380CC4-5D6E-409C-BE32-E72D297353CC}">
              <c16:uniqueId val="{00000000-E57D-4D3B-8A6E-CDD58F39DF69}"/>
            </c:ext>
          </c:extLst>
        </c:ser>
        <c:ser>
          <c:idx val="1"/>
          <c:order val="1"/>
          <c:tx>
            <c:strRef>
              <c:f>'Data Chart'!$D$27</c:f>
              <c:strCache>
                <c:ptCount val="1"/>
                <c:pt idx="0">
                  <c:v>This week</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Chart'!$B$28:$B$33</c:f>
              <c:strCache>
                <c:ptCount val="6"/>
                <c:pt idx="0">
                  <c:v>A320</c:v>
                </c:pt>
                <c:pt idx="1">
                  <c:v>A321</c:v>
                </c:pt>
                <c:pt idx="2">
                  <c:v>A350</c:v>
                </c:pt>
                <c:pt idx="3">
                  <c:v>B787</c:v>
                </c:pt>
                <c:pt idx="4">
                  <c:v>ATR72</c:v>
                </c:pt>
                <c:pt idx="5">
                  <c:v>Tất cả</c:v>
                </c:pt>
              </c:strCache>
            </c:strRef>
          </c:cat>
          <c:val>
            <c:numRef>
              <c:f>'Data Chart'!$D$28:$D$33</c:f>
              <c:numCache>
                <c:formatCode>General</c:formatCode>
                <c:ptCount val="6"/>
                <c:pt idx="0">
                  <c:v>0</c:v>
                </c:pt>
                <c:pt idx="1">
                  <c:v>0</c:v>
                </c:pt>
                <c:pt idx="2">
                  <c:v>0</c:v>
                </c:pt>
                <c:pt idx="3">
                  <c:v>0</c:v>
                </c:pt>
                <c:pt idx="4">
                  <c:v>0</c:v>
                </c:pt>
                <c:pt idx="5">
                  <c:v>0</c:v>
                </c:pt>
              </c:numCache>
            </c:numRef>
          </c:val>
          <c:extLst>
            <c:ext xmlns:c16="http://schemas.microsoft.com/office/drawing/2014/chart" uri="{C3380CC4-5D6E-409C-BE32-E72D297353CC}">
              <c16:uniqueId val="{00000001-E57D-4D3B-8A6E-CDD58F39DF69}"/>
            </c:ext>
          </c:extLst>
        </c:ser>
        <c:dLbls>
          <c:showLegendKey val="0"/>
          <c:showVal val="0"/>
          <c:showCatName val="0"/>
          <c:showSerName val="0"/>
          <c:showPercent val="0"/>
          <c:showBubbleSize val="0"/>
        </c:dLbls>
        <c:gapWidth val="219"/>
        <c:overlap val="-27"/>
        <c:axId val="396808592"/>
        <c:axId val="396805456"/>
        <c:extLst/>
      </c:barChart>
      <c:catAx>
        <c:axId val="3968085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96805456"/>
        <c:crosses val="autoZero"/>
        <c:auto val="1"/>
        <c:lblAlgn val="ctr"/>
        <c:lblOffset val="100"/>
        <c:noMultiLvlLbl val="0"/>
      </c:catAx>
      <c:valAx>
        <c:axId val="39680545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96808592"/>
        <c:crosses val="autoZero"/>
        <c:crossBetween val="between"/>
        <c:majorUnit val="1"/>
      </c:valAx>
      <c:spPr>
        <a:noFill/>
        <a:ln>
          <a:noFill/>
        </a:ln>
        <a:effectLst/>
      </c:spPr>
    </c:plotArea>
    <c:legend>
      <c:legendPos val="b"/>
      <c:layout>
        <c:manualLayout>
          <c:xMode val="edge"/>
          <c:yMode val="edge"/>
          <c:x val="0.30501405613658977"/>
          <c:y val="0.87827375237682981"/>
          <c:w val="0.50965540838670731"/>
          <c:h val="9.8401482124286316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12700" cap="flat" cmpd="sng" algn="ctr">
      <a:solidFill>
        <a:schemeClr val="tx1"/>
      </a:solidFill>
      <a:round/>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vert="horz"/>
          <a:lstStyle/>
          <a:p>
            <a:pPr>
              <a:defRPr sz="1600">
                <a:latin typeface="Times New Roman" panose="02020603050405020304" pitchFamily="18" charset="0"/>
                <a:cs typeface="Times New Roman" panose="02020603050405020304" pitchFamily="18" charset="0"/>
              </a:defRPr>
            </a:pPr>
            <a:r>
              <a:rPr lang="en-US" sz="1600">
                <a:latin typeface="Times New Roman" panose="02020603050405020304" pitchFamily="18" charset="0"/>
                <a:cs typeface="Times New Roman" panose="02020603050405020304" pitchFamily="18" charset="0"/>
              </a:rPr>
              <a:t>Delay</a:t>
            </a:r>
          </a:p>
        </c:rich>
      </c:tx>
      <c:layout>
        <c:manualLayout>
          <c:xMode val="edge"/>
          <c:yMode val="edge"/>
          <c:x val="0.42060411198600178"/>
          <c:y val="2.7777777777777776E-2"/>
        </c:manualLayout>
      </c:layout>
      <c:overlay val="0"/>
      <c:spPr>
        <a:noFill/>
        <a:ln>
          <a:noFill/>
        </a:ln>
        <a:effectLst/>
      </c:spPr>
    </c:title>
    <c:autoTitleDeleted val="0"/>
    <c:plotArea>
      <c:layout/>
      <c:barChart>
        <c:barDir val="col"/>
        <c:grouping val="clustered"/>
        <c:varyColors val="0"/>
        <c:ser>
          <c:idx val="0"/>
          <c:order val="0"/>
          <c:tx>
            <c:strRef>
              <c:f>'Data Chart'!$C$10</c:f>
              <c:strCache>
                <c:ptCount val="1"/>
                <c:pt idx="0">
                  <c:v>Last week</c:v>
                </c:pt>
              </c:strCache>
            </c:strRef>
          </c:tx>
          <c:spPr>
            <a:solidFill>
              <a:srgbClr val="FFC00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0"/>
              </c:ext>
            </c:extLst>
          </c:dLbls>
          <c:cat>
            <c:strRef>
              <c:f>'Data Chart'!$B$11:$B$16</c:f>
              <c:strCache>
                <c:ptCount val="6"/>
                <c:pt idx="0">
                  <c:v>A320</c:v>
                </c:pt>
                <c:pt idx="1">
                  <c:v>A321</c:v>
                </c:pt>
                <c:pt idx="2">
                  <c:v>A350</c:v>
                </c:pt>
                <c:pt idx="3">
                  <c:v>B787</c:v>
                </c:pt>
                <c:pt idx="4">
                  <c:v>ATR72</c:v>
                </c:pt>
                <c:pt idx="5">
                  <c:v>Tất cả</c:v>
                </c:pt>
              </c:strCache>
            </c:strRef>
          </c:cat>
          <c:val>
            <c:numRef>
              <c:f>'Data Chart'!$C$11:$C$16</c:f>
              <c:numCache>
                <c:formatCode>General</c:formatCode>
                <c:ptCount val="6"/>
                <c:pt idx="0">
                  <c:v>0</c:v>
                </c:pt>
                <c:pt idx="1">
                  <c:v>3</c:v>
                </c:pt>
                <c:pt idx="2">
                  <c:v>0</c:v>
                </c:pt>
                <c:pt idx="3">
                  <c:v>1</c:v>
                </c:pt>
                <c:pt idx="4">
                  <c:v>1</c:v>
                </c:pt>
                <c:pt idx="5">
                  <c:v>5</c:v>
                </c:pt>
              </c:numCache>
            </c:numRef>
          </c:val>
          <c:extLst xmlns:c15="http://schemas.microsoft.com/office/drawing/2012/chart">
            <c:ext xmlns:c16="http://schemas.microsoft.com/office/drawing/2014/chart" uri="{C3380CC4-5D6E-409C-BE32-E72D297353CC}">
              <c16:uniqueId val="{00000000-A60C-41D3-AC1B-B621C14E2F1A}"/>
            </c:ext>
          </c:extLst>
        </c:ser>
        <c:ser>
          <c:idx val="1"/>
          <c:order val="1"/>
          <c:tx>
            <c:strRef>
              <c:f>'Data Chart'!$D$10</c:f>
              <c:strCache>
                <c:ptCount val="1"/>
                <c:pt idx="0">
                  <c:v>This week</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sz="1000">
                    <a:solidFill>
                      <a:schemeClr val="tx1"/>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Chart'!$B$11:$B$16</c:f>
              <c:strCache>
                <c:ptCount val="6"/>
                <c:pt idx="0">
                  <c:v>A320</c:v>
                </c:pt>
                <c:pt idx="1">
                  <c:v>A321</c:v>
                </c:pt>
                <c:pt idx="2">
                  <c:v>A350</c:v>
                </c:pt>
                <c:pt idx="3">
                  <c:v>B787</c:v>
                </c:pt>
                <c:pt idx="4">
                  <c:v>ATR72</c:v>
                </c:pt>
                <c:pt idx="5">
                  <c:v>Tất cả</c:v>
                </c:pt>
              </c:strCache>
            </c:strRef>
          </c:cat>
          <c:val>
            <c:numRef>
              <c:f>'Data Chart'!$D$11:$D$16</c:f>
              <c:numCache>
                <c:formatCode>General</c:formatCode>
                <c:ptCount val="6"/>
                <c:pt idx="0">
                  <c:v>0</c:v>
                </c:pt>
                <c:pt idx="1">
                  <c:v>3</c:v>
                </c:pt>
                <c:pt idx="2">
                  <c:v>0</c:v>
                </c:pt>
                <c:pt idx="3">
                  <c:v>0</c:v>
                </c:pt>
                <c:pt idx="4">
                  <c:v>0</c:v>
                </c:pt>
                <c:pt idx="5">
                  <c:v>3</c:v>
                </c:pt>
              </c:numCache>
            </c:numRef>
          </c:val>
          <c:extLst>
            <c:ext xmlns:c16="http://schemas.microsoft.com/office/drawing/2014/chart" uri="{C3380CC4-5D6E-409C-BE32-E72D297353CC}">
              <c16:uniqueId val="{00000001-A60C-41D3-AC1B-B621C14E2F1A}"/>
            </c:ext>
          </c:extLst>
        </c:ser>
        <c:dLbls>
          <c:dLblPos val="outEnd"/>
          <c:showLegendKey val="0"/>
          <c:showVal val="1"/>
          <c:showCatName val="0"/>
          <c:showSerName val="0"/>
          <c:showPercent val="0"/>
          <c:showBubbleSize val="0"/>
        </c:dLbls>
        <c:gapWidth val="219"/>
        <c:overlap val="-27"/>
        <c:axId val="396792912"/>
        <c:axId val="396794480"/>
        <c:extLst/>
      </c:barChart>
      <c:catAx>
        <c:axId val="3967929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vert="horz"/>
          <a:lstStyle/>
          <a:p>
            <a:pPr>
              <a:defRPr>
                <a:solidFill>
                  <a:schemeClr val="tx1"/>
                </a:solidFill>
                <a:latin typeface="Times New Roman" panose="02020603050405020304" pitchFamily="18" charset="0"/>
                <a:cs typeface="Times New Roman" panose="02020603050405020304" pitchFamily="18" charset="0"/>
              </a:defRPr>
            </a:pPr>
            <a:endParaRPr lang="en-US"/>
          </a:p>
        </c:txPr>
        <c:crossAx val="396794480"/>
        <c:crosses val="autoZero"/>
        <c:auto val="1"/>
        <c:lblAlgn val="ctr"/>
        <c:lblOffset val="100"/>
        <c:noMultiLvlLbl val="0"/>
      </c:catAx>
      <c:valAx>
        <c:axId val="3967944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vert="horz"/>
          <a:lstStyle/>
          <a:p>
            <a:pPr>
              <a:defRPr>
                <a:solidFill>
                  <a:schemeClr val="tx1"/>
                </a:solidFill>
                <a:latin typeface="Times New Roman" panose="02020603050405020304" pitchFamily="18" charset="0"/>
                <a:cs typeface="Times New Roman" panose="02020603050405020304" pitchFamily="18" charset="0"/>
              </a:defRPr>
            </a:pPr>
            <a:endParaRPr lang="en-US"/>
          </a:p>
        </c:txPr>
        <c:crossAx val="396792912"/>
        <c:crosses val="autoZero"/>
        <c:crossBetween val="between"/>
        <c:majorUnit val="5"/>
      </c:valAx>
      <c:spPr>
        <a:noFill/>
        <a:ln>
          <a:noFill/>
        </a:ln>
        <a:effectLst/>
      </c:spPr>
    </c:plotArea>
    <c:legend>
      <c:legendPos val="b"/>
      <c:layout>
        <c:manualLayout>
          <c:xMode val="edge"/>
          <c:yMode val="edge"/>
          <c:x val="0.28759995625546803"/>
          <c:y val="0.89409667541557303"/>
          <c:w val="0.53172947799883274"/>
          <c:h val="7.8125546806649168E-2"/>
        </c:manualLayout>
      </c:layout>
      <c:overlay val="0"/>
      <c:spPr>
        <a:noFill/>
        <a:ln>
          <a:noFill/>
        </a:ln>
        <a:effectLst/>
      </c:spPr>
      <c:txPr>
        <a:bodyPr rot="0" vert="horz"/>
        <a:lstStyle/>
        <a:p>
          <a:pPr>
            <a:defRPr>
              <a:latin typeface="Times New Roman" panose="02020603050405020304" pitchFamily="18" charset="0"/>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a:latin typeface="+mn-lt"/>
          <a:cs typeface="Times New Roman" panose="02020603050405020304" pitchFamily="18" charset="0"/>
        </a:defRPr>
      </a:pPr>
      <a:endParaRPr lang="en-US"/>
    </a:p>
  </c:txPr>
  <c:externalData r:id="rId2">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0">
                <a:solidFill>
                  <a:schemeClr val="tx1"/>
                </a:solidFill>
                <a:latin typeface="Times New Roman" panose="02020603050405020304" pitchFamily="18" charset="0"/>
                <a:cs typeface="Times New Roman" panose="02020603050405020304" pitchFamily="18" charset="0"/>
              </a:rPr>
              <a:t>ATB Comparison</a:t>
            </a:r>
          </a:p>
        </c:rich>
      </c:tx>
      <c:overlay val="0"/>
      <c:spPr>
        <a:noFill/>
        <a:ln>
          <a:noFill/>
        </a:ln>
        <a:effectLst/>
      </c:spPr>
    </c:title>
    <c:autoTitleDeleted val="0"/>
    <c:plotArea>
      <c:layout/>
      <c:lineChart>
        <c:grouping val="standard"/>
        <c:varyColors val="0"/>
        <c:ser>
          <c:idx val="0"/>
          <c:order val="0"/>
          <c:tx>
            <c:v>ATB in 2024</c:v>
          </c:tx>
          <c:spPr>
            <a:ln w="19050" cap="rnd">
              <a:solidFill>
                <a:srgbClr val="FFC000"/>
              </a:solidFill>
              <a:round/>
            </a:ln>
            <a:effectLst/>
          </c:spPr>
          <c:marker>
            <c:symbol val="circle"/>
            <c:size val="5"/>
            <c:spPr>
              <a:solidFill>
                <a:srgbClr val="FFC000"/>
              </a:solidFill>
              <a:ln w="9525">
                <a:solidFill>
                  <a:srgbClr val="FFC000"/>
                </a:solidFill>
              </a:ln>
              <a:effectLst/>
            </c:spPr>
          </c:marker>
          <c:cat>
            <c:numRef>
              <c:f>'Thống kê ATB, GTB'!$E$3:$E$55</c:f>
              <c:numCache>
                <c:formatCode>General</c:formatCode>
                <c:ptCount val="5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numCache>
            </c:numRef>
          </c:cat>
          <c:val>
            <c:numRef>
              <c:f>'Thống kê ATB, GTB'!$B$3:$B$54</c:f>
              <c:numCache>
                <c:formatCode>General</c:formatCode>
                <c:ptCount val="52"/>
                <c:pt idx="0">
                  <c:v>1</c:v>
                </c:pt>
                <c:pt idx="1">
                  <c:v>1</c:v>
                </c:pt>
                <c:pt idx="2">
                  <c:v>1</c:v>
                </c:pt>
                <c:pt idx="3">
                  <c:v>0</c:v>
                </c:pt>
                <c:pt idx="4">
                  <c:v>1</c:v>
                </c:pt>
                <c:pt idx="5">
                  <c:v>0</c:v>
                </c:pt>
                <c:pt idx="6">
                  <c:v>1</c:v>
                </c:pt>
                <c:pt idx="7">
                  <c:v>0</c:v>
                </c:pt>
                <c:pt idx="8">
                  <c:v>0</c:v>
                </c:pt>
                <c:pt idx="9">
                  <c:v>0</c:v>
                </c:pt>
                <c:pt idx="10">
                  <c:v>0</c:v>
                </c:pt>
                <c:pt idx="11">
                  <c:v>0</c:v>
                </c:pt>
                <c:pt idx="12">
                  <c:v>0</c:v>
                </c:pt>
                <c:pt idx="13">
                  <c:v>0</c:v>
                </c:pt>
                <c:pt idx="14">
                  <c:v>0</c:v>
                </c:pt>
                <c:pt idx="15">
                  <c:v>0</c:v>
                </c:pt>
                <c:pt idx="16">
                  <c:v>0</c:v>
                </c:pt>
                <c:pt idx="17">
                  <c:v>0</c:v>
                </c:pt>
                <c:pt idx="18">
                  <c:v>0</c:v>
                </c:pt>
                <c:pt idx="19">
                  <c:v>1</c:v>
                </c:pt>
                <c:pt idx="20">
                  <c:v>0</c:v>
                </c:pt>
                <c:pt idx="21">
                  <c:v>0</c:v>
                </c:pt>
                <c:pt idx="22">
                  <c:v>1</c:v>
                </c:pt>
                <c:pt idx="23">
                  <c:v>0</c:v>
                </c:pt>
                <c:pt idx="24">
                  <c:v>0</c:v>
                </c:pt>
                <c:pt idx="25">
                  <c:v>0</c:v>
                </c:pt>
                <c:pt idx="26">
                  <c:v>1</c:v>
                </c:pt>
                <c:pt idx="27">
                  <c:v>2</c:v>
                </c:pt>
                <c:pt idx="28">
                  <c:v>0</c:v>
                </c:pt>
                <c:pt idx="29">
                  <c:v>2</c:v>
                </c:pt>
                <c:pt idx="30">
                  <c:v>0</c:v>
                </c:pt>
                <c:pt idx="31">
                  <c:v>0</c:v>
                </c:pt>
                <c:pt idx="32">
                  <c:v>0</c:v>
                </c:pt>
                <c:pt idx="33">
                  <c:v>0</c:v>
                </c:pt>
                <c:pt idx="34">
                  <c:v>0</c:v>
                </c:pt>
                <c:pt idx="35">
                  <c:v>0</c:v>
                </c:pt>
                <c:pt idx="36">
                  <c:v>1</c:v>
                </c:pt>
                <c:pt idx="37">
                  <c:v>0</c:v>
                </c:pt>
                <c:pt idx="38">
                  <c:v>1</c:v>
                </c:pt>
                <c:pt idx="39">
                  <c:v>0</c:v>
                </c:pt>
                <c:pt idx="40">
                  <c:v>1</c:v>
                </c:pt>
                <c:pt idx="41">
                  <c:v>0</c:v>
                </c:pt>
                <c:pt idx="42">
                  <c:v>0</c:v>
                </c:pt>
                <c:pt idx="43">
                  <c:v>1</c:v>
                </c:pt>
                <c:pt idx="44">
                  <c:v>0</c:v>
                </c:pt>
                <c:pt idx="45">
                  <c:v>0</c:v>
                </c:pt>
                <c:pt idx="46">
                  <c:v>0</c:v>
                </c:pt>
                <c:pt idx="47">
                  <c:v>1</c:v>
                </c:pt>
                <c:pt idx="48">
                  <c:v>0</c:v>
                </c:pt>
                <c:pt idx="49">
                  <c:v>2</c:v>
                </c:pt>
                <c:pt idx="50">
                  <c:v>1</c:v>
                </c:pt>
                <c:pt idx="51">
                  <c:v>0</c:v>
                </c:pt>
              </c:numCache>
            </c:numRef>
          </c:val>
          <c:smooth val="0"/>
          <c:extLst>
            <c:ext xmlns:c16="http://schemas.microsoft.com/office/drawing/2014/chart" uri="{C3380CC4-5D6E-409C-BE32-E72D297353CC}">
              <c16:uniqueId val="{00000000-7947-47E7-8A47-4B54E005FA44}"/>
            </c:ext>
          </c:extLst>
        </c:ser>
        <c:ser>
          <c:idx val="1"/>
          <c:order val="1"/>
          <c:tx>
            <c:v>ATB in 2025</c:v>
          </c:tx>
          <c:spPr>
            <a:ln w="19050" cap="rnd">
              <a:solidFill>
                <a:srgbClr val="00B0F0"/>
              </a:solidFill>
              <a:round/>
            </a:ln>
            <a:effectLst/>
          </c:spPr>
          <c:marker>
            <c:symbol val="circle"/>
            <c:size val="5"/>
            <c:spPr>
              <a:solidFill>
                <a:srgbClr val="00B0F0"/>
              </a:solidFill>
              <a:ln w="9525">
                <a:solidFill>
                  <a:srgbClr val="00B0F0"/>
                </a:solidFill>
              </a:ln>
              <a:effectLst/>
            </c:spPr>
          </c:marker>
          <c:cat>
            <c:numRef>
              <c:f>'Thống kê ATB, GTB'!$E$3:$E$55</c:f>
              <c:numCache>
                <c:formatCode>General</c:formatCode>
                <c:ptCount val="5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numCache>
            </c:numRef>
          </c:cat>
          <c:val>
            <c:numRef>
              <c:f>'Thống kê ATB, GTB'!$F$3:$F$54</c:f>
              <c:numCache>
                <c:formatCode>General</c:formatCode>
                <c:ptCount val="52"/>
                <c:pt idx="0">
                  <c:v>0</c:v>
                </c:pt>
                <c:pt idx="1">
                  <c:v>0</c:v>
                </c:pt>
                <c:pt idx="2">
                  <c:v>0</c:v>
                </c:pt>
                <c:pt idx="3">
                  <c:v>0</c:v>
                </c:pt>
                <c:pt idx="4">
                  <c:v>0</c:v>
                </c:pt>
                <c:pt idx="5">
                  <c:v>0</c:v>
                </c:pt>
                <c:pt idx="6">
                  <c:v>0</c:v>
                </c:pt>
                <c:pt idx="7">
                  <c:v>0</c:v>
                </c:pt>
                <c:pt idx="8">
                  <c:v>0</c:v>
                </c:pt>
                <c:pt idx="9">
                  <c:v>1</c:v>
                </c:pt>
                <c:pt idx="10">
                  <c:v>0</c:v>
                </c:pt>
                <c:pt idx="11">
                  <c:v>0</c:v>
                </c:pt>
              </c:numCache>
            </c:numRef>
          </c:val>
          <c:smooth val="0"/>
          <c:extLst>
            <c:ext xmlns:c16="http://schemas.microsoft.com/office/drawing/2014/chart" uri="{C3380CC4-5D6E-409C-BE32-E72D297353CC}">
              <c16:uniqueId val="{00000001-7947-47E7-8A47-4B54E005FA44}"/>
            </c:ext>
          </c:extLst>
        </c:ser>
        <c:dLbls>
          <c:showLegendKey val="0"/>
          <c:showVal val="0"/>
          <c:showCatName val="0"/>
          <c:showSerName val="0"/>
          <c:showPercent val="0"/>
          <c:showBubbleSize val="0"/>
        </c:dLbls>
        <c:marker val="1"/>
        <c:smooth val="0"/>
        <c:axId val="396795264"/>
        <c:axId val="396792520"/>
      </c:lineChart>
      <c:catAx>
        <c:axId val="396795264"/>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Week</a:t>
                </a:r>
              </a:p>
            </c:rich>
          </c:tx>
          <c:layout>
            <c:manualLayout>
              <c:xMode val="edge"/>
              <c:yMode val="edge"/>
              <c:x val="0.4474479109594402"/>
              <c:y val="0.9044444444444445"/>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96792520"/>
        <c:crosses val="autoZero"/>
        <c:auto val="1"/>
        <c:lblAlgn val="ctr"/>
        <c:lblOffset val="100"/>
        <c:noMultiLvlLbl val="0"/>
      </c:catAx>
      <c:valAx>
        <c:axId val="396792520"/>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ATB</a:t>
                </a:r>
              </a:p>
            </c:rich>
          </c:tx>
          <c:layout>
            <c:manualLayout>
              <c:xMode val="edge"/>
              <c:yMode val="edge"/>
              <c:x val="9.2776673293571907E-3"/>
              <c:y val="0.43418862642169731"/>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96795264"/>
        <c:crosses val="autoZero"/>
        <c:crossBetween val="between"/>
        <c:majorUnit val="1"/>
        <c:minorUnit val="1"/>
      </c:valAx>
      <c:spPr>
        <a:noFill/>
        <a:ln>
          <a:solidFill>
            <a:schemeClr val="tx1">
              <a:lumMod val="25000"/>
              <a:lumOff val="75000"/>
            </a:schemeClr>
          </a:solidFill>
        </a:ln>
        <a:effectLst/>
      </c:spPr>
    </c:plotArea>
    <c:legend>
      <c:legendPos val="r"/>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0">
                <a:solidFill>
                  <a:schemeClr val="tx1"/>
                </a:solidFill>
                <a:latin typeface="Times New Roman" panose="02020603050405020304" pitchFamily="18" charset="0"/>
                <a:cs typeface="Times New Roman" panose="02020603050405020304" pitchFamily="18" charset="0"/>
              </a:rPr>
              <a:t>GTB Comparison</a:t>
            </a:r>
          </a:p>
        </c:rich>
      </c:tx>
      <c:overlay val="0"/>
      <c:spPr>
        <a:noFill/>
        <a:ln>
          <a:noFill/>
        </a:ln>
        <a:effectLst/>
      </c:spPr>
    </c:title>
    <c:autoTitleDeleted val="0"/>
    <c:plotArea>
      <c:layout/>
      <c:lineChart>
        <c:grouping val="standard"/>
        <c:varyColors val="0"/>
        <c:ser>
          <c:idx val="0"/>
          <c:order val="0"/>
          <c:tx>
            <c:v>GTB in 2024</c:v>
          </c:tx>
          <c:spPr>
            <a:ln w="19050" cap="rnd">
              <a:solidFill>
                <a:srgbClr val="FFC000"/>
              </a:solidFill>
              <a:round/>
            </a:ln>
            <a:effectLst/>
          </c:spPr>
          <c:marker>
            <c:symbol val="circle"/>
            <c:size val="5"/>
            <c:spPr>
              <a:solidFill>
                <a:srgbClr val="FFC000"/>
              </a:solidFill>
              <a:ln w="9525">
                <a:solidFill>
                  <a:srgbClr val="FFC000"/>
                </a:solidFill>
              </a:ln>
              <a:effectLst/>
            </c:spPr>
          </c:marker>
          <c:val>
            <c:numRef>
              <c:f>'Thống kê ATB, GTB'!$C$3:$C$54</c:f>
              <c:numCache>
                <c:formatCode>General</c:formatCode>
                <c:ptCount val="52"/>
                <c:pt idx="0">
                  <c:v>2</c:v>
                </c:pt>
                <c:pt idx="1">
                  <c:v>1</c:v>
                </c:pt>
                <c:pt idx="2">
                  <c:v>1</c:v>
                </c:pt>
                <c:pt idx="3">
                  <c:v>3</c:v>
                </c:pt>
                <c:pt idx="4">
                  <c:v>0</c:v>
                </c:pt>
                <c:pt idx="5">
                  <c:v>4</c:v>
                </c:pt>
                <c:pt idx="6">
                  <c:v>2</c:v>
                </c:pt>
                <c:pt idx="7">
                  <c:v>2</c:v>
                </c:pt>
                <c:pt idx="8">
                  <c:v>4</c:v>
                </c:pt>
                <c:pt idx="9">
                  <c:v>2</c:v>
                </c:pt>
                <c:pt idx="10">
                  <c:v>0</c:v>
                </c:pt>
                <c:pt idx="11">
                  <c:v>0</c:v>
                </c:pt>
                <c:pt idx="12">
                  <c:v>2</c:v>
                </c:pt>
                <c:pt idx="13">
                  <c:v>3</c:v>
                </c:pt>
                <c:pt idx="14">
                  <c:v>1</c:v>
                </c:pt>
                <c:pt idx="15">
                  <c:v>0</c:v>
                </c:pt>
                <c:pt idx="16">
                  <c:v>6</c:v>
                </c:pt>
                <c:pt idx="17">
                  <c:v>2</c:v>
                </c:pt>
                <c:pt idx="18">
                  <c:v>1</c:v>
                </c:pt>
                <c:pt idx="19">
                  <c:v>0</c:v>
                </c:pt>
                <c:pt idx="20">
                  <c:v>2</c:v>
                </c:pt>
                <c:pt idx="21">
                  <c:v>4</c:v>
                </c:pt>
                <c:pt idx="22">
                  <c:v>1</c:v>
                </c:pt>
                <c:pt idx="23">
                  <c:v>1</c:v>
                </c:pt>
                <c:pt idx="24">
                  <c:v>2</c:v>
                </c:pt>
                <c:pt idx="25">
                  <c:v>3</c:v>
                </c:pt>
                <c:pt idx="26">
                  <c:v>1</c:v>
                </c:pt>
                <c:pt idx="27">
                  <c:v>3</c:v>
                </c:pt>
                <c:pt idx="28">
                  <c:v>0</c:v>
                </c:pt>
                <c:pt idx="29">
                  <c:v>1</c:v>
                </c:pt>
                <c:pt idx="30">
                  <c:v>1</c:v>
                </c:pt>
                <c:pt idx="31">
                  <c:v>3</c:v>
                </c:pt>
                <c:pt idx="32">
                  <c:v>2</c:v>
                </c:pt>
                <c:pt idx="33">
                  <c:v>1</c:v>
                </c:pt>
                <c:pt idx="34">
                  <c:v>1</c:v>
                </c:pt>
                <c:pt idx="35">
                  <c:v>1</c:v>
                </c:pt>
                <c:pt idx="36">
                  <c:v>1</c:v>
                </c:pt>
                <c:pt idx="37">
                  <c:v>0</c:v>
                </c:pt>
                <c:pt idx="38">
                  <c:v>2</c:v>
                </c:pt>
                <c:pt idx="39">
                  <c:v>2</c:v>
                </c:pt>
                <c:pt idx="40">
                  <c:v>0</c:v>
                </c:pt>
                <c:pt idx="41">
                  <c:v>4</c:v>
                </c:pt>
                <c:pt idx="42">
                  <c:v>0</c:v>
                </c:pt>
                <c:pt idx="43">
                  <c:v>1</c:v>
                </c:pt>
                <c:pt idx="44">
                  <c:v>1</c:v>
                </c:pt>
                <c:pt idx="45">
                  <c:v>3</c:v>
                </c:pt>
                <c:pt idx="46">
                  <c:v>0</c:v>
                </c:pt>
                <c:pt idx="47">
                  <c:v>3</c:v>
                </c:pt>
                <c:pt idx="48">
                  <c:v>0</c:v>
                </c:pt>
                <c:pt idx="49">
                  <c:v>7</c:v>
                </c:pt>
                <c:pt idx="50">
                  <c:v>5</c:v>
                </c:pt>
                <c:pt idx="51">
                  <c:v>1</c:v>
                </c:pt>
              </c:numCache>
            </c:numRef>
          </c:val>
          <c:smooth val="0"/>
          <c:extLst>
            <c:ext xmlns:c16="http://schemas.microsoft.com/office/drawing/2014/chart" uri="{C3380CC4-5D6E-409C-BE32-E72D297353CC}">
              <c16:uniqueId val="{00000000-8DC2-4125-B660-531F5DDD8413}"/>
            </c:ext>
          </c:extLst>
        </c:ser>
        <c:ser>
          <c:idx val="1"/>
          <c:order val="1"/>
          <c:tx>
            <c:v>GTB in 2025</c:v>
          </c:tx>
          <c:spPr>
            <a:ln w="19050" cap="rnd">
              <a:solidFill>
                <a:srgbClr val="00B0F0"/>
              </a:solidFill>
              <a:round/>
            </a:ln>
            <a:effectLst/>
          </c:spPr>
          <c:marker>
            <c:symbol val="circle"/>
            <c:size val="5"/>
            <c:spPr>
              <a:solidFill>
                <a:srgbClr val="00B0F0"/>
              </a:solidFill>
              <a:ln w="9525">
                <a:solidFill>
                  <a:srgbClr val="00B0F0"/>
                </a:solidFill>
              </a:ln>
              <a:effectLst/>
            </c:spPr>
          </c:marker>
          <c:val>
            <c:numRef>
              <c:f>'Thống kê ATB, GTB'!$G$3:$G$54</c:f>
              <c:numCache>
                <c:formatCode>General</c:formatCode>
                <c:ptCount val="52"/>
                <c:pt idx="0">
                  <c:v>1</c:v>
                </c:pt>
                <c:pt idx="1">
                  <c:v>2</c:v>
                </c:pt>
                <c:pt idx="2">
                  <c:v>1</c:v>
                </c:pt>
                <c:pt idx="3">
                  <c:v>3</c:v>
                </c:pt>
                <c:pt idx="4">
                  <c:v>3</c:v>
                </c:pt>
                <c:pt idx="5">
                  <c:v>1</c:v>
                </c:pt>
                <c:pt idx="6">
                  <c:v>3</c:v>
                </c:pt>
                <c:pt idx="7">
                  <c:v>2</c:v>
                </c:pt>
                <c:pt idx="8">
                  <c:v>4</c:v>
                </c:pt>
                <c:pt idx="9">
                  <c:v>3</c:v>
                </c:pt>
                <c:pt idx="10">
                  <c:v>1</c:v>
                </c:pt>
                <c:pt idx="11">
                  <c:v>1</c:v>
                </c:pt>
              </c:numCache>
            </c:numRef>
          </c:val>
          <c:smooth val="0"/>
          <c:extLst>
            <c:ext xmlns:c16="http://schemas.microsoft.com/office/drawing/2014/chart" uri="{C3380CC4-5D6E-409C-BE32-E72D297353CC}">
              <c16:uniqueId val="{00000001-8DC2-4125-B660-531F5DDD8413}"/>
            </c:ext>
          </c:extLst>
        </c:ser>
        <c:dLbls>
          <c:showLegendKey val="0"/>
          <c:showVal val="0"/>
          <c:showCatName val="0"/>
          <c:showSerName val="0"/>
          <c:showPercent val="0"/>
          <c:showBubbleSize val="0"/>
        </c:dLbls>
        <c:marker val="1"/>
        <c:smooth val="0"/>
        <c:axId val="396796048"/>
        <c:axId val="396797616"/>
      </c:lineChart>
      <c:catAx>
        <c:axId val="396796048"/>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Week</a:t>
                </a:r>
              </a:p>
            </c:rich>
          </c:tx>
          <c:layout>
            <c:manualLayout>
              <c:xMode val="edge"/>
              <c:yMode val="edge"/>
              <c:x val="0.44707953377849297"/>
              <c:y val="0.91333330300378057"/>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96797616"/>
        <c:crosses val="autoZero"/>
        <c:auto val="1"/>
        <c:lblAlgn val="ctr"/>
        <c:lblOffset val="100"/>
        <c:noMultiLvlLbl val="0"/>
      </c:catAx>
      <c:valAx>
        <c:axId val="396797616"/>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GTB</a:t>
                </a:r>
              </a:p>
            </c:rich>
          </c:tx>
          <c:layout>
            <c:manualLayout>
              <c:xMode val="edge"/>
              <c:yMode val="edge"/>
              <c:x val="9.2876556191622411E-3"/>
              <c:y val="0.42974433236897019"/>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9679604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6484713059516321E-2"/>
          <c:y val="6.2711374378903909E-2"/>
          <c:w val="0.92226413421295206"/>
          <c:h val="0.76374283652369968"/>
        </c:manualLayout>
      </c:layout>
      <c:barChart>
        <c:barDir val="col"/>
        <c:grouping val="clustered"/>
        <c:varyColors val="0"/>
        <c:ser>
          <c:idx val="0"/>
          <c:order val="0"/>
          <c:tx>
            <c:strRef>
              <c:f>DR!$C$3</c:f>
              <c:strCache>
                <c:ptCount val="1"/>
                <c:pt idx="0">
                  <c:v>W11</c:v>
                </c:pt>
              </c:strCache>
            </c:strRef>
          </c:tx>
          <c:spPr>
            <a:solidFill>
              <a:schemeClr val="accent5">
                <a:lumMod val="50000"/>
              </a:schemeClr>
            </a:solidFill>
            <a:ln>
              <a:noFill/>
            </a:ln>
            <a:effectLst/>
          </c:spPr>
          <c:invertIfNegative val="0"/>
          <c:dLbls>
            <c:dLbl>
              <c:idx val="0"/>
              <c:layout>
                <c:manualLayout>
                  <c:x val="-4.4182621502209382E-3"/>
                  <c:y val="-1.1121491174714888E-7"/>
                </c:manualLayout>
              </c:layout>
              <c:showLegendKey val="0"/>
              <c:showVal val="1"/>
              <c:showCatName val="0"/>
              <c:showSerName val="0"/>
              <c:showPercent val="0"/>
              <c:showBubbleSize val="0"/>
              <c:extLst>
                <c:ext xmlns:c15="http://schemas.microsoft.com/office/drawing/2012/chart" uri="{CE6537A1-D6FC-4f65-9D91-7224C49458BB}">
                  <c15:layout>
                    <c:manualLayout>
                      <c:w val="4.8703937780973254E-2"/>
                      <c:h val="6.3644067796610151E-2"/>
                    </c:manualLayout>
                  </c15:layout>
                </c:ext>
                <c:ext xmlns:c16="http://schemas.microsoft.com/office/drawing/2014/chart" uri="{C3380CC4-5D6E-409C-BE32-E72D297353CC}">
                  <c16:uniqueId val="{00000000-78E1-482D-B93D-5C9ED2197C3F}"/>
                </c:ext>
              </c:extLst>
            </c:dLbl>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DR!$B$5:$B$8</c:f>
              <c:strCache>
                <c:ptCount val="4"/>
                <c:pt idx="0">
                  <c:v>A321</c:v>
                </c:pt>
                <c:pt idx="1">
                  <c:v>A350</c:v>
                </c:pt>
                <c:pt idx="2">
                  <c:v>B787</c:v>
                </c:pt>
                <c:pt idx="3">
                  <c:v>ATR72</c:v>
                </c:pt>
              </c:strCache>
            </c:strRef>
          </c:cat>
          <c:val>
            <c:numRef>
              <c:f>DR!$C$5:$C$8</c:f>
              <c:numCache>
                <c:formatCode>0.00</c:formatCode>
                <c:ptCount val="4"/>
                <c:pt idx="0">
                  <c:v>99.855002416626391</c:v>
                </c:pt>
                <c:pt idx="1">
                  <c:v>100</c:v>
                </c:pt>
                <c:pt idx="2">
                  <c:v>99.713467048710598</c:v>
                </c:pt>
                <c:pt idx="3">
                  <c:v>99.596774193548384</c:v>
                </c:pt>
              </c:numCache>
            </c:numRef>
          </c:val>
          <c:extLst>
            <c:ext xmlns:c16="http://schemas.microsoft.com/office/drawing/2014/chart" uri="{C3380CC4-5D6E-409C-BE32-E72D297353CC}">
              <c16:uniqueId val="{00000001-78E1-482D-B93D-5C9ED2197C3F}"/>
            </c:ext>
          </c:extLst>
        </c:ser>
        <c:ser>
          <c:idx val="1"/>
          <c:order val="1"/>
          <c:tx>
            <c:strRef>
              <c:f>DR!$D$3</c:f>
              <c:strCache>
                <c:ptCount val="1"/>
                <c:pt idx="0">
                  <c:v>W12</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DR!$B$5:$B$8</c:f>
              <c:strCache>
                <c:ptCount val="4"/>
                <c:pt idx="0">
                  <c:v>A321</c:v>
                </c:pt>
                <c:pt idx="1">
                  <c:v>A350</c:v>
                </c:pt>
                <c:pt idx="2">
                  <c:v>B787</c:v>
                </c:pt>
                <c:pt idx="3">
                  <c:v>ATR72</c:v>
                </c:pt>
              </c:strCache>
            </c:strRef>
          </c:cat>
          <c:val>
            <c:numRef>
              <c:f>DR!$D$5:$D$8</c:f>
              <c:numCache>
                <c:formatCode>0.00</c:formatCode>
                <c:ptCount val="4"/>
                <c:pt idx="0">
                  <c:v>99.855351976856312</c:v>
                </c:pt>
                <c:pt idx="1">
                  <c:v>100</c:v>
                </c:pt>
                <c:pt idx="2">
                  <c:v>100</c:v>
                </c:pt>
                <c:pt idx="3">
                  <c:v>99.635036496350367</c:v>
                </c:pt>
              </c:numCache>
            </c:numRef>
          </c:val>
          <c:extLst>
            <c:ext xmlns:c16="http://schemas.microsoft.com/office/drawing/2014/chart" uri="{C3380CC4-5D6E-409C-BE32-E72D297353CC}">
              <c16:uniqueId val="{00000002-78E1-482D-B93D-5C9ED2197C3F}"/>
            </c:ext>
          </c:extLst>
        </c:ser>
        <c:ser>
          <c:idx val="2"/>
          <c:order val="3"/>
          <c:tx>
            <c:strRef>
              <c:f>DR!$F$3</c:f>
              <c:strCache>
                <c:ptCount val="1"/>
                <c:pt idx="0">
                  <c:v>Target</c:v>
                </c:pt>
              </c:strCache>
            </c:strRef>
          </c:tx>
          <c:spPr>
            <a:solidFill>
              <a:srgbClr val="FFC000"/>
            </a:solidFill>
          </c:spPr>
          <c:invertIfNegative val="0"/>
          <c:dLbls>
            <c:dLbl>
              <c:idx val="0"/>
              <c:spPr>
                <a:noFill/>
                <a:ln>
                  <a:noFill/>
                </a:ln>
                <a:effectLst/>
              </c:spPr>
              <c:txPr>
                <a:bodyPr wrap="square" lIns="38100" tIns="19050" rIns="38100" bIns="19050" anchor="ctr">
                  <a:noAutofit/>
                </a:bodyPr>
                <a:lstStyle/>
                <a:p>
                  <a:pPr>
                    <a:defRPr sz="1100" b="1">
                      <a:solidFill>
                        <a:srgbClr val="FF0000"/>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78E1-482D-B93D-5C9ED2197C3F}"/>
                </c:ext>
              </c:extLst>
            </c:dLbl>
            <c:spPr>
              <a:noFill/>
              <a:ln>
                <a:noFill/>
              </a:ln>
              <a:effectLst/>
            </c:spPr>
            <c:txPr>
              <a:bodyPr wrap="square" lIns="38100" tIns="19050" rIns="38100" bIns="19050" anchor="ctr">
                <a:spAutoFit/>
              </a:bodyPr>
              <a:lstStyle/>
              <a:p>
                <a:pPr>
                  <a:defRPr sz="1100" b="1">
                    <a:solidFill>
                      <a:srgbClr val="FF0000"/>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DR!$B$5:$B$8</c:f>
              <c:strCache>
                <c:ptCount val="4"/>
                <c:pt idx="0">
                  <c:v>A321</c:v>
                </c:pt>
                <c:pt idx="1">
                  <c:v>A350</c:v>
                </c:pt>
                <c:pt idx="2">
                  <c:v>B787</c:v>
                </c:pt>
                <c:pt idx="3">
                  <c:v>ATR72</c:v>
                </c:pt>
              </c:strCache>
            </c:strRef>
          </c:cat>
          <c:val>
            <c:numRef>
              <c:f>DR!$F$5:$F$8</c:f>
              <c:numCache>
                <c:formatCode>0.00</c:formatCode>
                <c:ptCount val="4"/>
                <c:pt idx="0">
                  <c:v>99.63</c:v>
                </c:pt>
                <c:pt idx="1">
                  <c:v>99.44</c:v>
                </c:pt>
                <c:pt idx="2">
                  <c:v>99.36</c:v>
                </c:pt>
                <c:pt idx="3">
                  <c:v>99.65</c:v>
                </c:pt>
              </c:numCache>
            </c:numRef>
          </c:val>
          <c:extLst>
            <c:ext xmlns:c16="http://schemas.microsoft.com/office/drawing/2014/chart" uri="{C3380CC4-5D6E-409C-BE32-E72D297353CC}">
              <c16:uniqueId val="{00000004-78E1-482D-B93D-5C9ED2197C3F}"/>
            </c:ext>
          </c:extLst>
        </c:ser>
        <c:dLbls>
          <c:showLegendKey val="0"/>
          <c:showVal val="0"/>
          <c:showCatName val="0"/>
          <c:showSerName val="0"/>
          <c:showPercent val="0"/>
          <c:showBubbleSize val="0"/>
        </c:dLbls>
        <c:gapWidth val="219"/>
        <c:overlap val="-27"/>
        <c:axId val="450237776"/>
        <c:axId val="450238168"/>
        <c:extLst>
          <c:ext xmlns:c15="http://schemas.microsoft.com/office/drawing/2012/chart" uri="{02D57815-91ED-43cb-92C2-25804820EDAC}">
            <c15:filteredBarSeries>
              <c15:ser>
                <c:idx val="3"/>
                <c:order val="2"/>
                <c:tx>
                  <c:strRef>
                    <c:extLst>
                      <c:ext uri="{02D57815-91ED-43cb-92C2-25804820EDAC}">
                        <c15:formulaRef>
                          <c15:sqref>DR!$E$3</c15:sqref>
                        </c15:formulaRef>
                      </c:ext>
                    </c:extLst>
                    <c:strCache>
                      <c:ptCount val="1"/>
                    </c:strCache>
                  </c:strRef>
                </c:tx>
                <c:invertIfNegative val="0"/>
                <c:dLbls>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uri="{CE6537A1-D6FC-4f65-9D91-7224C49458BB}">
                      <c15:showLeaderLines val="1"/>
                    </c:ext>
                  </c:extLst>
                </c:dLbls>
                <c:cat>
                  <c:strRef>
                    <c:extLst>
                      <c:ext uri="{02D57815-91ED-43cb-92C2-25804820EDAC}">
                        <c15:formulaRef>
                          <c15:sqref>DR!$B$5:$B$8</c15:sqref>
                        </c15:formulaRef>
                      </c:ext>
                    </c:extLst>
                    <c:strCache>
                      <c:ptCount val="4"/>
                      <c:pt idx="0">
                        <c:v>A321</c:v>
                      </c:pt>
                      <c:pt idx="1">
                        <c:v>A350</c:v>
                      </c:pt>
                      <c:pt idx="2">
                        <c:v>B787</c:v>
                      </c:pt>
                      <c:pt idx="3">
                        <c:v>ATR72</c:v>
                      </c:pt>
                    </c:strCache>
                  </c:strRef>
                </c:cat>
                <c:val>
                  <c:numRef>
                    <c:extLst>
                      <c:ext uri="{02D57815-91ED-43cb-92C2-25804820EDAC}">
                        <c15:formulaRef>
                          <c15:sqref>DR!$E$5:$E$8</c15:sqref>
                        </c15:formulaRef>
                      </c:ext>
                    </c:extLst>
                    <c:numCache>
                      <c:formatCode>General</c:formatCode>
                      <c:ptCount val="4"/>
                    </c:numCache>
                  </c:numRef>
                </c:val>
                <c:extLst>
                  <c:ext xmlns:c16="http://schemas.microsoft.com/office/drawing/2014/chart" uri="{C3380CC4-5D6E-409C-BE32-E72D297353CC}">
                    <c16:uniqueId val="{00000005-78E1-482D-B93D-5C9ED2197C3F}"/>
                  </c:ext>
                </c:extLst>
              </c15:ser>
            </c15:filteredBarSeries>
          </c:ext>
        </c:extLst>
      </c:barChart>
      <c:catAx>
        <c:axId val="450237776"/>
        <c:scaling>
          <c:orientation val="minMax"/>
        </c:scaling>
        <c:delete val="0"/>
        <c:axPos val="b"/>
        <c:numFmt formatCode="General" sourceLinked="1"/>
        <c:majorTickMark val="none"/>
        <c:minorTickMark val="none"/>
        <c:tickLblPos val="nextTo"/>
        <c:spPr>
          <a:noFill/>
          <a:ln w="19050" cap="flat" cmpd="sng" algn="ctr">
            <a:solidFill>
              <a:srgbClr val="000000"/>
            </a:solidFill>
            <a:round/>
            <a:tailEnd type="triangle"/>
          </a:ln>
          <a:effectLst/>
        </c:spPr>
        <c:txPr>
          <a:bodyPr rot="-6000000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crossAx val="450238168"/>
        <c:crosses val="autoZero"/>
        <c:auto val="1"/>
        <c:lblAlgn val="ctr"/>
        <c:lblOffset val="100"/>
        <c:noMultiLvlLbl val="0"/>
      </c:catAx>
      <c:valAx>
        <c:axId val="450238168"/>
        <c:scaling>
          <c:orientation val="minMax"/>
          <c:max val="100"/>
          <c:min val="95"/>
        </c:scaling>
        <c:delete val="0"/>
        <c:axPos val="l"/>
        <c:numFmt formatCode="0.0" sourceLinked="0"/>
        <c:majorTickMark val="none"/>
        <c:minorTickMark val="none"/>
        <c:tickLblPos val="nextTo"/>
        <c:spPr>
          <a:noFill/>
          <a:ln w="15875">
            <a:solidFill>
              <a:srgbClr val="000000"/>
            </a:solidFill>
            <a:tailEnd type="triangle"/>
          </a:ln>
          <a:effectLst/>
        </c:spPr>
        <c:txPr>
          <a:bodyPr rot="-6000000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crossAx val="450237776"/>
        <c:crosses val="autoZero"/>
        <c:crossBetween val="between"/>
        <c:majorUnit val="1"/>
        <c:minorUnit val="0.5"/>
      </c:valAx>
      <c:spPr>
        <a:noFill/>
        <a:ln>
          <a:noFill/>
        </a:ln>
        <a:effectLst/>
      </c:spPr>
    </c:plotArea>
    <c:legend>
      <c:legendPos val="b"/>
      <c:layout>
        <c:manualLayout>
          <c:xMode val="edge"/>
          <c:yMode val="edge"/>
          <c:x val="0.33530118013598875"/>
          <c:y val="0.93235963844755665"/>
          <c:w val="0.28837344986830094"/>
          <c:h val="6.7640217261685578E-2"/>
        </c:manualLayout>
      </c:layout>
      <c:overlay val="0"/>
      <c:spPr>
        <a:noFill/>
        <a:ln>
          <a:noFill/>
        </a:ln>
        <a:effectLst/>
      </c:spPr>
      <c:txPr>
        <a:bodyPr rot="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4789942122619287E-2"/>
          <c:y val="4.4293689684825485E-2"/>
          <c:w val="0.93681234355610998"/>
          <c:h val="0.8358298845569484"/>
        </c:manualLayout>
      </c:layout>
      <c:lineChart>
        <c:grouping val="standard"/>
        <c:varyColors val="0"/>
        <c:ser>
          <c:idx val="0"/>
          <c:order val="0"/>
          <c:tx>
            <c:strRef>
              <c:f>Sheet1!$C$8</c:f>
              <c:strCache>
                <c:ptCount val="1"/>
                <c:pt idx="0">
                  <c:v>A321CEO</c:v>
                </c:pt>
              </c:strCache>
            </c:strRef>
          </c:tx>
          <c:spPr>
            <a:ln w="19050" cap="rnd">
              <a:solidFill>
                <a:srgbClr val="FFC000"/>
              </a:solidFill>
              <a:round/>
            </a:ln>
            <a:effectLst/>
          </c:spPr>
          <c:marker>
            <c:symbol val="circle"/>
            <c:size val="20"/>
            <c:spPr>
              <a:solidFill>
                <a:srgbClr val="FFC000"/>
              </a:solidFill>
              <a:ln w="9525">
                <a:solidFill>
                  <a:srgbClr val="FFC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Sheet1!$D$8:$AC$8</c:f>
              <c:numCache>
                <c:formatCode>General</c:formatCode>
                <c:ptCount val="6"/>
                <c:pt idx="0">
                  <c:v>0</c:v>
                </c:pt>
                <c:pt idx="1">
                  <c:v>0</c:v>
                </c:pt>
                <c:pt idx="2">
                  <c:v>0</c:v>
                </c:pt>
                <c:pt idx="3">
                  <c:v>0</c:v>
                </c:pt>
                <c:pt idx="4">
                  <c:v>0</c:v>
                </c:pt>
                <c:pt idx="5">
                  <c:v>0</c:v>
                </c:pt>
              </c:numCache>
            </c:numRef>
          </c:val>
          <c:smooth val="0"/>
          <c:extLst>
            <c:ext xmlns:c16="http://schemas.microsoft.com/office/drawing/2014/chart" uri="{C3380CC4-5D6E-409C-BE32-E72D297353CC}">
              <c16:uniqueId val="{00000000-D6AD-4063-8EE1-45911A2334ED}"/>
            </c:ext>
          </c:extLst>
        </c:ser>
        <c:ser>
          <c:idx val="2"/>
          <c:order val="2"/>
          <c:tx>
            <c:strRef>
              <c:f>Sheet1!$C$10</c:f>
              <c:strCache>
                <c:ptCount val="1"/>
                <c:pt idx="0">
                  <c:v>A350</c:v>
                </c:pt>
              </c:strCache>
            </c:strRef>
          </c:tx>
          <c:spPr>
            <a:ln w="19050" cap="rnd">
              <a:solidFill>
                <a:srgbClr val="00B0F0"/>
              </a:solidFill>
              <a:round/>
            </a:ln>
            <a:effectLst/>
          </c:spPr>
          <c:marker>
            <c:symbol val="circle"/>
            <c:size val="23"/>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Sheet1!$D$10:$AC$10</c:f>
              <c:numCache>
                <c:formatCode>General</c:formatCode>
                <c:ptCount val="6"/>
                <c:pt idx="0">
                  <c:v>8</c:v>
                </c:pt>
                <c:pt idx="1">
                  <c:v>8.5</c:v>
                </c:pt>
                <c:pt idx="2">
                  <c:v>8</c:v>
                </c:pt>
                <c:pt idx="3">
                  <c:v>7</c:v>
                </c:pt>
                <c:pt idx="4">
                  <c:v>6</c:v>
                </c:pt>
                <c:pt idx="5">
                  <c:v>4</c:v>
                </c:pt>
              </c:numCache>
            </c:numRef>
          </c:val>
          <c:smooth val="0"/>
          <c:extLst>
            <c:ext xmlns:c16="http://schemas.microsoft.com/office/drawing/2014/chart" uri="{C3380CC4-5D6E-409C-BE32-E72D297353CC}">
              <c16:uniqueId val="{00000001-D6AD-4063-8EE1-45911A2334ED}"/>
            </c:ext>
          </c:extLst>
        </c:ser>
        <c:ser>
          <c:idx val="3"/>
          <c:order val="3"/>
          <c:tx>
            <c:strRef>
              <c:f>Sheet1!$C$11</c:f>
              <c:strCache>
                <c:ptCount val="1"/>
                <c:pt idx="0">
                  <c:v>B787</c:v>
                </c:pt>
              </c:strCache>
            </c:strRef>
          </c:tx>
          <c:spPr>
            <a:ln w="19050" cap="rnd">
              <a:solidFill>
                <a:schemeClr val="accent2">
                  <a:lumMod val="60000"/>
                </a:schemeClr>
              </a:solidFill>
              <a:round/>
            </a:ln>
            <a:effectLst/>
          </c:spPr>
          <c:marker>
            <c:symbol val="circle"/>
            <c:size val="20"/>
            <c:spPr>
              <a:solidFill>
                <a:srgbClr val="00B050"/>
              </a:solidFill>
              <a:ln w="9525">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Sheet1!$D$11:$AC$11</c:f>
              <c:numCache>
                <c:formatCode>General</c:formatCode>
                <c:ptCount val="6"/>
                <c:pt idx="0">
                  <c:v>0</c:v>
                </c:pt>
                <c:pt idx="1">
                  <c:v>0</c:v>
                </c:pt>
                <c:pt idx="2">
                  <c:v>0</c:v>
                </c:pt>
                <c:pt idx="3">
                  <c:v>0</c:v>
                </c:pt>
                <c:pt idx="4">
                  <c:v>0</c:v>
                </c:pt>
                <c:pt idx="5">
                  <c:v>0</c:v>
                </c:pt>
              </c:numCache>
            </c:numRef>
          </c:val>
          <c:smooth val="0"/>
          <c:extLst>
            <c:ext xmlns:c16="http://schemas.microsoft.com/office/drawing/2014/chart" uri="{C3380CC4-5D6E-409C-BE32-E72D297353CC}">
              <c16:uniqueId val="{00000002-D6AD-4063-8EE1-45911A2334ED}"/>
            </c:ext>
          </c:extLst>
        </c:ser>
        <c:dLbls>
          <c:dLblPos val="ctr"/>
          <c:showLegendKey val="0"/>
          <c:showVal val="1"/>
          <c:showCatName val="0"/>
          <c:showSerName val="0"/>
          <c:showPercent val="0"/>
          <c:showBubbleSize val="0"/>
        </c:dLbls>
        <c:marker val="1"/>
        <c:smooth val="0"/>
        <c:axId val="507616568"/>
        <c:axId val="507616960"/>
      </c:lineChart>
      <c:lineChart>
        <c:grouping val="standard"/>
        <c:varyColors val="0"/>
        <c:ser>
          <c:idx val="1"/>
          <c:order val="1"/>
          <c:tx>
            <c:strRef>
              <c:f>Sheet1!$C$9</c:f>
              <c:strCache>
                <c:ptCount val="1"/>
                <c:pt idx="0">
                  <c:v>A321NEO</c:v>
                </c:pt>
              </c:strCache>
            </c:strRef>
          </c:tx>
          <c:spPr>
            <a:ln w="19050"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Sheet1!$D$9:$AC$9</c:f>
              <c:numCache>
                <c:formatCode>General</c:formatCode>
                <c:ptCount val="6"/>
                <c:pt idx="0">
                  <c:v>28.5</c:v>
                </c:pt>
                <c:pt idx="1">
                  <c:v>27.5</c:v>
                </c:pt>
                <c:pt idx="2">
                  <c:v>29.75</c:v>
                </c:pt>
                <c:pt idx="3">
                  <c:v>29</c:v>
                </c:pt>
                <c:pt idx="4">
                  <c:v>26</c:v>
                </c:pt>
                <c:pt idx="5">
                  <c:v>22.75</c:v>
                </c:pt>
              </c:numCache>
            </c:numRef>
          </c:val>
          <c:smooth val="0"/>
          <c:extLst>
            <c:ext xmlns:c16="http://schemas.microsoft.com/office/drawing/2014/chart" uri="{C3380CC4-5D6E-409C-BE32-E72D297353CC}">
              <c16:uniqueId val="{00000003-D6AD-4063-8EE1-45911A2334ED}"/>
            </c:ext>
          </c:extLst>
        </c:ser>
        <c:ser>
          <c:idx val="4"/>
          <c:order val="4"/>
          <c:tx>
            <c:strRef>
              <c:f>Sheet1!$C$12</c:f>
              <c:strCache>
                <c:ptCount val="1"/>
                <c:pt idx="0">
                  <c:v>ATR72</c:v>
                </c:pt>
              </c:strCache>
            </c:strRef>
          </c:tx>
          <c:spPr>
            <a:ln w="19050" cap="rnd">
              <a:solidFill>
                <a:schemeClr val="accent4">
                  <a:lumMod val="60000"/>
                </a:schemeClr>
              </a:solidFill>
              <a:round/>
            </a:ln>
            <a:effectLst/>
          </c:spPr>
          <c:marker>
            <c:symbol val="circle"/>
            <c:size val="20"/>
            <c:spPr>
              <a:solidFill>
                <a:schemeClr val="accent4">
                  <a:lumMod val="60000"/>
                </a:schemeClr>
              </a:solidFill>
              <a:ln w="9525">
                <a:solidFill>
                  <a:schemeClr val="accent4">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ysClr val="windowText" lastClr="000000"/>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Sheet1!$D$12:$AC$12</c:f>
              <c:numCache>
                <c:formatCode>General</c:formatCode>
                <c:ptCount val="6"/>
                <c:pt idx="0">
                  <c:v>0</c:v>
                </c:pt>
                <c:pt idx="1">
                  <c:v>0</c:v>
                </c:pt>
                <c:pt idx="2">
                  <c:v>0</c:v>
                </c:pt>
                <c:pt idx="3">
                  <c:v>0</c:v>
                </c:pt>
                <c:pt idx="4">
                  <c:v>0</c:v>
                </c:pt>
                <c:pt idx="5">
                  <c:v>0</c:v>
                </c:pt>
              </c:numCache>
            </c:numRef>
          </c:val>
          <c:smooth val="0"/>
          <c:extLst>
            <c:ext xmlns:c16="http://schemas.microsoft.com/office/drawing/2014/chart" uri="{C3380CC4-5D6E-409C-BE32-E72D297353CC}">
              <c16:uniqueId val="{00000004-D6AD-4063-8EE1-45911A2334ED}"/>
            </c:ext>
          </c:extLst>
        </c:ser>
        <c:dLbls>
          <c:showLegendKey val="0"/>
          <c:showVal val="0"/>
          <c:showCatName val="0"/>
          <c:showSerName val="0"/>
          <c:showPercent val="0"/>
          <c:showBubbleSize val="0"/>
        </c:dLbls>
        <c:marker val="1"/>
        <c:smooth val="0"/>
        <c:axId val="507618136"/>
        <c:axId val="507617744"/>
      </c:lineChart>
      <c:catAx>
        <c:axId val="50761656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crossAx val="507616960"/>
        <c:crosses val="autoZero"/>
        <c:auto val="1"/>
        <c:lblAlgn val="ctr"/>
        <c:lblOffset val="100"/>
        <c:noMultiLvlLbl val="0"/>
      </c:catAx>
      <c:valAx>
        <c:axId val="507616960"/>
        <c:scaling>
          <c:orientation val="minMax"/>
          <c:max val="20"/>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crossAx val="507616568"/>
        <c:crosses val="autoZero"/>
        <c:crossBetween val="between"/>
      </c:valAx>
      <c:valAx>
        <c:axId val="507617744"/>
        <c:scaling>
          <c:orientation val="minMax"/>
          <c:max val="35"/>
          <c:min val="0"/>
        </c:scaling>
        <c:delete val="0"/>
        <c:axPos val="r"/>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crossAx val="507618136"/>
        <c:crosses val="max"/>
        <c:crossBetween val="between"/>
      </c:valAx>
      <c:catAx>
        <c:axId val="507618136"/>
        <c:scaling>
          <c:orientation val="minMax"/>
        </c:scaling>
        <c:delete val="1"/>
        <c:axPos val="b"/>
        <c:numFmt formatCode="General" sourceLinked="1"/>
        <c:majorTickMark val="out"/>
        <c:minorTickMark val="none"/>
        <c:tickLblPos val="nextTo"/>
        <c:crossAx val="507617744"/>
        <c:crosses val="autoZero"/>
        <c:auto val="1"/>
        <c:lblAlgn val="ctr"/>
        <c:lblOffset val="100"/>
        <c:noMultiLvlLbl val="0"/>
      </c:catAx>
      <c:spPr>
        <a:noFill/>
        <a:ln>
          <a:noFill/>
        </a:ln>
        <a:effectLst/>
      </c:spPr>
    </c:plotArea>
    <c:legend>
      <c:legendPos val="b"/>
      <c:layout>
        <c:manualLayout>
          <c:xMode val="edge"/>
          <c:yMode val="edge"/>
          <c:x val="3.2108065818695741E-2"/>
          <c:y val="1.3638679970698371E-2"/>
          <c:w val="0.89903166467431961"/>
          <c:h val="7.3197199055431955E-2"/>
        </c:manualLayout>
      </c:layout>
      <c:overlay val="0"/>
      <c:spPr>
        <a:solidFill>
          <a:schemeClr val="bg1"/>
        </a:solidFill>
        <a:ln>
          <a:solidFill>
            <a:schemeClr val="accent1"/>
          </a:solid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sz="1600" b="1">
          <a:solidFill>
            <a:sysClr val="windowText" lastClr="000000"/>
          </a:solidFill>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4871626623595125E-2"/>
          <c:y val="4.7882687702116004E-2"/>
          <c:w val="0.93681234355610998"/>
          <c:h val="0.87227703924009881"/>
        </c:manualLayout>
      </c:layout>
      <c:lineChart>
        <c:grouping val="standard"/>
        <c:varyColors val="0"/>
        <c:ser>
          <c:idx val="0"/>
          <c:order val="0"/>
          <c:tx>
            <c:strRef>
              <c:f>Sheet1!$C$8</c:f>
              <c:strCache>
                <c:ptCount val="1"/>
                <c:pt idx="0">
                  <c:v>A321CEO</c:v>
                </c:pt>
              </c:strCache>
            </c:strRef>
          </c:tx>
          <c:spPr>
            <a:ln w="19050"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Sheet1!$D$7:$AQ$7</c:f>
              <c:strCache>
                <c:ptCount val="12"/>
                <c:pt idx="0">
                  <c:v>Mar-W1</c:v>
                </c:pt>
                <c:pt idx="1">
                  <c:v>Mar-W2</c:v>
                </c:pt>
                <c:pt idx="2">
                  <c:v>Mar-W3</c:v>
                </c:pt>
                <c:pt idx="3">
                  <c:v>Mar-W4</c:v>
                </c:pt>
                <c:pt idx="4">
                  <c:v>Apr-W1</c:v>
                </c:pt>
                <c:pt idx="5">
                  <c:v>Apr-W2</c:v>
                </c:pt>
                <c:pt idx="6">
                  <c:v>Apr-W3</c:v>
                </c:pt>
                <c:pt idx="7">
                  <c:v>Apr-W4</c:v>
                </c:pt>
                <c:pt idx="8">
                  <c:v>May-W1</c:v>
                </c:pt>
                <c:pt idx="9">
                  <c:v>May-W2</c:v>
                </c:pt>
                <c:pt idx="10">
                  <c:v>May-W3</c:v>
                </c:pt>
                <c:pt idx="11">
                  <c:v>May-W4</c:v>
                </c:pt>
              </c:strCache>
            </c:strRef>
          </c:cat>
          <c:val>
            <c:numRef>
              <c:f>Sheet1!$D$8:$AQ$8</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c:ext xmlns:c16="http://schemas.microsoft.com/office/drawing/2014/chart" uri="{C3380CC4-5D6E-409C-BE32-E72D297353CC}">
              <c16:uniqueId val="{00000000-BD83-4FDB-9BCE-4410951EBD59}"/>
            </c:ext>
          </c:extLst>
        </c:ser>
        <c:ser>
          <c:idx val="1"/>
          <c:order val="1"/>
          <c:tx>
            <c:strRef>
              <c:f>Sheet1!$C$9</c:f>
              <c:strCache>
                <c:ptCount val="1"/>
                <c:pt idx="0">
                  <c:v>A321NEO</c:v>
                </c:pt>
              </c:strCache>
            </c:strRef>
          </c:tx>
          <c:spPr>
            <a:ln w="19050" cap="rnd">
              <a:solidFill>
                <a:srgbClr val="00B0F0"/>
              </a:solidFill>
              <a:round/>
            </a:ln>
            <a:effectLst/>
          </c:spPr>
          <c:marker>
            <c:symbol val="circle"/>
            <c:size val="20"/>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Sheet1!$D$7:$AQ$7</c:f>
              <c:strCache>
                <c:ptCount val="12"/>
                <c:pt idx="0">
                  <c:v>Mar-W1</c:v>
                </c:pt>
                <c:pt idx="1">
                  <c:v>Mar-W2</c:v>
                </c:pt>
                <c:pt idx="2">
                  <c:v>Mar-W3</c:v>
                </c:pt>
                <c:pt idx="3">
                  <c:v>Mar-W4</c:v>
                </c:pt>
                <c:pt idx="4">
                  <c:v>Apr-W1</c:v>
                </c:pt>
                <c:pt idx="5">
                  <c:v>Apr-W2</c:v>
                </c:pt>
                <c:pt idx="6">
                  <c:v>Apr-W3</c:v>
                </c:pt>
                <c:pt idx="7">
                  <c:v>Apr-W4</c:v>
                </c:pt>
                <c:pt idx="8">
                  <c:v>May-W1</c:v>
                </c:pt>
                <c:pt idx="9">
                  <c:v>May-W2</c:v>
                </c:pt>
                <c:pt idx="10">
                  <c:v>May-W3</c:v>
                </c:pt>
                <c:pt idx="11">
                  <c:v>May-W4</c:v>
                </c:pt>
              </c:strCache>
            </c:strRef>
          </c:cat>
          <c:val>
            <c:numRef>
              <c:f>Sheet1!$D$9:$AQ$9</c:f>
              <c:numCache>
                <c:formatCode>General</c:formatCode>
                <c:ptCount val="12"/>
                <c:pt idx="0">
                  <c:v>30</c:v>
                </c:pt>
                <c:pt idx="1">
                  <c:v>29</c:v>
                </c:pt>
                <c:pt idx="2">
                  <c:v>30</c:v>
                </c:pt>
                <c:pt idx="3">
                  <c:v>30</c:v>
                </c:pt>
                <c:pt idx="4">
                  <c:v>30</c:v>
                </c:pt>
                <c:pt idx="5">
                  <c:v>29</c:v>
                </c:pt>
                <c:pt idx="6">
                  <c:v>29</c:v>
                </c:pt>
                <c:pt idx="7">
                  <c:v>28</c:v>
                </c:pt>
                <c:pt idx="8">
                  <c:v>27</c:v>
                </c:pt>
                <c:pt idx="9">
                  <c:v>26</c:v>
                </c:pt>
                <c:pt idx="10">
                  <c:v>26</c:v>
                </c:pt>
                <c:pt idx="11">
                  <c:v>25</c:v>
                </c:pt>
              </c:numCache>
            </c:numRef>
          </c:val>
          <c:smooth val="0"/>
          <c:extLst>
            <c:ext xmlns:c16="http://schemas.microsoft.com/office/drawing/2014/chart" uri="{C3380CC4-5D6E-409C-BE32-E72D297353CC}">
              <c16:uniqueId val="{00000001-BD83-4FDB-9BCE-4410951EBD59}"/>
            </c:ext>
          </c:extLst>
        </c:ser>
        <c:ser>
          <c:idx val="2"/>
          <c:order val="2"/>
          <c:tx>
            <c:strRef>
              <c:f>Sheet1!$C$10</c:f>
              <c:strCache>
                <c:ptCount val="1"/>
                <c:pt idx="0">
                  <c:v>A350</c:v>
                </c:pt>
              </c:strCache>
            </c:strRef>
          </c:tx>
          <c:spPr>
            <a:ln w="19050" cap="rnd">
              <a:solidFill>
                <a:schemeClr val="accent6"/>
              </a:solidFill>
              <a:round/>
            </a:ln>
            <a:effectLst/>
          </c:spPr>
          <c:marker>
            <c:symbol val="circle"/>
            <c:size val="20"/>
            <c:spPr>
              <a:solidFill>
                <a:srgbClr val="00B050"/>
              </a:solidFill>
              <a:ln w="9525">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Sheet1!$D$7:$AQ$7</c:f>
              <c:strCache>
                <c:ptCount val="12"/>
                <c:pt idx="0">
                  <c:v>Mar-W1</c:v>
                </c:pt>
                <c:pt idx="1">
                  <c:v>Mar-W2</c:v>
                </c:pt>
                <c:pt idx="2">
                  <c:v>Mar-W3</c:v>
                </c:pt>
                <c:pt idx="3">
                  <c:v>Mar-W4</c:v>
                </c:pt>
                <c:pt idx="4">
                  <c:v>Apr-W1</c:v>
                </c:pt>
                <c:pt idx="5">
                  <c:v>Apr-W2</c:v>
                </c:pt>
                <c:pt idx="6">
                  <c:v>Apr-W3</c:v>
                </c:pt>
                <c:pt idx="7">
                  <c:v>Apr-W4</c:v>
                </c:pt>
                <c:pt idx="8">
                  <c:v>May-W1</c:v>
                </c:pt>
                <c:pt idx="9">
                  <c:v>May-W2</c:v>
                </c:pt>
                <c:pt idx="10">
                  <c:v>May-W3</c:v>
                </c:pt>
                <c:pt idx="11">
                  <c:v>May-W4</c:v>
                </c:pt>
              </c:strCache>
            </c:strRef>
          </c:cat>
          <c:val>
            <c:numRef>
              <c:f>Sheet1!$D$10:$AQ$10</c:f>
              <c:numCache>
                <c:formatCode>General</c:formatCode>
                <c:ptCount val="12"/>
                <c:pt idx="0">
                  <c:v>8</c:v>
                </c:pt>
                <c:pt idx="1">
                  <c:v>8</c:v>
                </c:pt>
                <c:pt idx="2">
                  <c:v>8</c:v>
                </c:pt>
                <c:pt idx="3">
                  <c:v>7</c:v>
                </c:pt>
                <c:pt idx="4">
                  <c:v>7</c:v>
                </c:pt>
                <c:pt idx="5">
                  <c:v>7</c:v>
                </c:pt>
                <c:pt idx="6">
                  <c:v>7</c:v>
                </c:pt>
                <c:pt idx="7">
                  <c:v>7</c:v>
                </c:pt>
                <c:pt idx="8">
                  <c:v>6</c:v>
                </c:pt>
                <c:pt idx="9">
                  <c:v>6</c:v>
                </c:pt>
                <c:pt idx="10">
                  <c:v>6</c:v>
                </c:pt>
                <c:pt idx="11">
                  <c:v>6</c:v>
                </c:pt>
              </c:numCache>
            </c:numRef>
          </c:val>
          <c:smooth val="0"/>
          <c:extLst>
            <c:ext xmlns:c16="http://schemas.microsoft.com/office/drawing/2014/chart" uri="{C3380CC4-5D6E-409C-BE32-E72D297353CC}">
              <c16:uniqueId val="{00000002-BD83-4FDB-9BCE-4410951EBD59}"/>
            </c:ext>
          </c:extLst>
        </c:ser>
        <c:ser>
          <c:idx val="3"/>
          <c:order val="3"/>
          <c:tx>
            <c:strRef>
              <c:f>Sheet1!$C$11</c:f>
              <c:strCache>
                <c:ptCount val="1"/>
                <c:pt idx="0">
                  <c:v>B787</c:v>
                </c:pt>
              </c:strCache>
            </c:strRef>
          </c:tx>
          <c:spPr>
            <a:ln w="19050" cap="rnd">
              <a:solidFill>
                <a:schemeClr val="accent2">
                  <a:lumMod val="60000"/>
                </a:schemeClr>
              </a:solidFill>
              <a:round/>
            </a:ln>
            <a:effectLst/>
          </c:spPr>
          <c:marker>
            <c:symbol val="circle"/>
            <c:size val="20"/>
            <c:spPr>
              <a:solidFill>
                <a:schemeClr val="accent2">
                  <a:lumMod val="50000"/>
                </a:schemeClr>
              </a:solidFill>
              <a:ln w="9525">
                <a:solidFill>
                  <a:schemeClr val="accent2">
                    <a:lumMod val="5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Sheet1!$D$7:$AQ$7</c:f>
              <c:strCache>
                <c:ptCount val="12"/>
                <c:pt idx="0">
                  <c:v>Mar-W1</c:v>
                </c:pt>
                <c:pt idx="1">
                  <c:v>Mar-W2</c:v>
                </c:pt>
                <c:pt idx="2">
                  <c:v>Mar-W3</c:v>
                </c:pt>
                <c:pt idx="3">
                  <c:v>Mar-W4</c:v>
                </c:pt>
                <c:pt idx="4">
                  <c:v>Apr-W1</c:v>
                </c:pt>
                <c:pt idx="5">
                  <c:v>Apr-W2</c:v>
                </c:pt>
                <c:pt idx="6">
                  <c:v>Apr-W3</c:v>
                </c:pt>
                <c:pt idx="7">
                  <c:v>Apr-W4</c:v>
                </c:pt>
                <c:pt idx="8">
                  <c:v>May-W1</c:v>
                </c:pt>
                <c:pt idx="9">
                  <c:v>May-W2</c:v>
                </c:pt>
                <c:pt idx="10">
                  <c:v>May-W3</c:v>
                </c:pt>
                <c:pt idx="11">
                  <c:v>May-W4</c:v>
                </c:pt>
              </c:strCache>
            </c:strRef>
          </c:cat>
          <c:val>
            <c:numRef>
              <c:f>Sheet1!$D$11:$AQ$11</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c:ext xmlns:c16="http://schemas.microsoft.com/office/drawing/2014/chart" uri="{C3380CC4-5D6E-409C-BE32-E72D297353CC}">
              <c16:uniqueId val="{00000003-BD83-4FDB-9BCE-4410951EBD59}"/>
            </c:ext>
          </c:extLst>
        </c:ser>
        <c:ser>
          <c:idx val="4"/>
          <c:order val="4"/>
          <c:tx>
            <c:strRef>
              <c:f>Sheet1!$C$12</c:f>
              <c:strCache>
                <c:ptCount val="1"/>
                <c:pt idx="0">
                  <c:v>ATR72</c:v>
                </c:pt>
              </c:strCache>
            </c:strRef>
          </c:tx>
          <c:spPr>
            <a:ln w="19050" cap="rnd">
              <a:solidFill>
                <a:srgbClr val="FFC000"/>
              </a:solidFill>
              <a:round/>
            </a:ln>
            <a:effectLst/>
          </c:spPr>
          <c:marker>
            <c:symbol val="circle"/>
            <c:size val="20"/>
            <c:spPr>
              <a:solidFill>
                <a:schemeClr val="accent4">
                  <a:lumMod val="60000"/>
                </a:schemeClr>
              </a:solidFill>
              <a:ln w="9525">
                <a:solidFill>
                  <a:schemeClr val="accent4">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ysClr val="windowText" lastClr="000000"/>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Sheet1!$D$7:$AQ$7</c:f>
              <c:strCache>
                <c:ptCount val="12"/>
                <c:pt idx="0">
                  <c:v>Mar-W1</c:v>
                </c:pt>
                <c:pt idx="1">
                  <c:v>Mar-W2</c:v>
                </c:pt>
                <c:pt idx="2">
                  <c:v>Mar-W3</c:v>
                </c:pt>
                <c:pt idx="3">
                  <c:v>Mar-W4</c:v>
                </c:pt>
                <c:pt idx="4">
                  <c:v>Apr-W1</c:v>
                </c:pt>
                <c:pt idx="5">
                  <c:v>Apr-W2</c:v>
                </c:pt>
                <c:pt idx="6">
                  <c:v>Apr-W3</c:v>
                </c:pt>
                <c:pt idx="7">
                  <c:v>Apr-W4</c:v>
                </c:pt>
                <c:pt idx="8">
                  <c:v>May-W1</c:v>
                </c:pt>
                <c:pt idx="9">
                  <c:v>May-W2</c:v>
                </c:pt>
                <c:pt idx="10">
                  <c:v>May-W3</c:v>
                </c:pt>
                <c:pt idx="11">
                  <c:v>May-W4</c:v>
                </c:pt>
              </c:strCache>
            </c:strRef>
          </c:cat>
          <c:val>
            <c:numRef>
              <c:f>Sheet1!$D$12:$AQ$12</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c:ext xmlns:c16="http://schemas.microsoft.com/office/drawing/2014/chart" uri="{C3380CC4-5D6E-409C-BE32-E72D297353CC}">
              <c16:uniqueId val="{00000004-BD83-4FDB-9BCE-4410951EBD59}"/>
            </c:ext>
          </c:extLst>
        </c:ser>
        <c:dLbls>
          <c:dLblPos val="ctr"/>
          <c:showLegendKey val="0"/>
          <c:showVal val="1"/>
          <c:showCatName val="0"/>
          <c:showSerName val="0"/>
          <c:showPercent val="0"/>
          <c:showBubbleSize val="0"/>
        </c:dLbls>
        <c:marker val="1"/>
        <c:smooth val="0"/>
        <c:axId val="434896216"/>
        <c:axId val="434895824"/>
      </c:lineChart>
      <c:catAx>
        <c:axId val="434896216"/>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434895824"/>
        <c:crosses val="autoZero"/>
        <c:auto val="1"/>
        <c:lblAlgn val="ctr"/>
        <c:lblOffset val="100"/>
        <c:tickMarkSkip val="1"/>
        <c:noMultiLvlLbl val="0"/>
      </c:catAx>
      <c:valAx>
        <c:axId val="434895824"/>
        <c:scaling>
          <c:orientation val="minMax"/>
          <c:max val="34"/>
          <c:min val="-2"/>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434896216"/>
        <c:crosses val="autoZero"/>
        <c:crossBetween val="between"/>
      </c:valAx>
      <c:spPr>
        <a:noFill/>
        <a:ln>
          <a:noFill/>
        </a:ln>
        <a:effectLst/>
      </c:spPr>
    </c:plotArea>
    <c:legend>
      <c:legendPos val="b"/>
      <c:layout>
        <c:manualLayout>
          <c:xMode val="edge"/>
          <c:yMode val="edge"/>
          <c:x val="0.45427866677955575"/>
          <c:y val="0.36957218535300551"/>
          <c:w val="0.26506228656901759"/>
          <c:h val="0.21602423181857586"/>
        </c:manualLayout>
      </c:layout>
      <c:overlay val="0"/>
      <c:spPr>
        <a:solidFill>
          <a:schemeClr val="bg1"/>
        </a:solidFill>
        <a:ln>
          <a:solidFill>
            <a:schemeClr val="accent1"/>
          </a:solidFill>
        </a:ln>
        <a:effectLst/>
      </c:spPr>
      <c:txPr>
        <a:bodyPr rot="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sz="1600" b="1">
          <a:solidFill>
            <a:sysClr val="windowText" lastClr="000000"/>
          </a:solidFill>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4871626623595125E-2"/>
          <c:y val="4.7882687702116004E-2"/>
          <c:w val="0.93681234355610998"/>
          <c:h val="0.87227703924009881"/>
        </c:manualLayout>
      </c:layout>
      <c:lineChart>
        <c:grouping val="standard"/>
        <c:varyColors val="0"/>
        <c:ser>
          <c:idx val="0"/>
          <c:order val="0"/>
          <c:tx>
            <c:strRef>
              <c:f>Sheet1!$C$8</c:f>
              <c:strCache>
                <c:ptCount val="1"/>
                <c:pt idx="0">
                  <c:v>KB tốt + giữ giờ</c:v>
                </c:pt>
              </c:strCache>
            </c:strRef>
          </c:tx>
          <c:spPr>
            <a:ln w="31750" cap="rnd">
              <a:solidFill>
                <a:srgbClr val="FF0000"/>
              </a:solidFill>
              <a:round/>
            </a:ln>
            <a:effectLst/>
          </c:spPr>
          <c:marker>
            <c:symbol val="circle"/>
            <c:size val="27"/>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3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Sheet1!$D$7:$O$7</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Sheet1!$D$8:$O$8</c:f>
              <c:numCache>
                <c:formatCode>General</c:formatCode>
                <c:ptCount val="12"/>
                <c:pt idx="0">
                  <c:v>14.25</c:v>
                </c:pt>
                <c:pt idx="1">
                  <c:v>13.75</c:v>
                </c:pt>
                <c:pt idx="2">
                  <c:v>15.25</c:v>
                </c:pt>
                <c:pt idx="3">
                  <c:v>14.5</c:v>
                </c:pt>
                <c:pt idx="4">
                  <c:v>14</c:v>
                </c:pt>
                <c:pt idx="5">
                  <c:v>12</c:v>
                </c:pt>
                <c:pt idx="6">
                  <c:v>11</c:v>
                </c:pt>
                <c:pt idx="7">
                  <c:v>11.5</c:v>
                </c:pt>
                <c:pt idx="8">
                  <c:v>12</c:v>
                </c:pt>
                <c:pt idx="9">
                  <c:v>12</c:v>
                </c:pt>
                <c:pt idx="10">
                  <c:v>12</c:v>
                </c:pt>
                <c:pt idx="11">
                  <c:v>11</c:v>
                </c:pt>
              </c:numCache>
            </c:numRef>
          </c:val>
          <c:smooth val="0"/>
          <c:extLst>
            <c:ext xmlns:c16="http://schemas.microsoft.com/office/drawing/2014/chart" uri="{C3380CC4-5D6E-409C-BE32-E72D297353CC}">
              <c16:uniqueId val="{00000000-004B-458A-8713-88F7F4F6F328}"/>
            </c:ext>
          </c:extLst>
        </c:ser>
        <c:dLbls>
          <c:dLblPos val="ctr"/>
          <c:showLegendKey val="0"/>
          <c:showVal val="1"/>
          <c:showCatName val="0"/>
          <c:showSerName val="0"/>
          <c:showPercent val="0"/>
          <c:showBubbleSize val="0"/>
        </c:dLbls>
        <c:marker val="1"/>
        <c:smooth val="0"/>
        <c:axId val="434897000"/>
        <c:axId val="434890336"/>
      </c:lineChart>
      <c:catAx>
        <c:axId val="43489700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434890336"/>
        <c:crosses val="autoZero"/>
        <c:auto val="1"/>
        <c:lblAlgn val="ctr"/>
        <c:lblOffset val="100"/>
        <c:tickMarkSkip val="1"/>
        <c:noMultiLvlLbl val="0"/>
      </c:catAx>
      <c:valAx>
        <c:axId val="434890336"/>
        <c:scaling>
          <c:orientation val="minMax"/>
          <c:max val="16"/>
          <c:min val="5"/>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434897000"/>
        <c:crosses val="autoZero"/>
        <c:crossBetween val="between"/>
        <c:majorUnit val="1"/>
      </c:valAx>
      <c:spPr>
        <a:noFill/>
        <a:ln>
          <a:noFill/>
        </a:ln>
        <a:effectLst/>
      </c:spPr>
    </c:plotArea>
    <c:legend>
      <c:legendPos val="b"/>
      <c:layout>
        <c:manualLayout>
          <c:xMode val="edge"/>
          <c:yMode val="edge"/>
          <c:x val="0.10266573533147068"/>
          <c:y val="0.71905697169733995"/>
          <c:w val="0.24463220726441454"/>
          <c:h val="7.8271204498086958E-2"/>
        </c:manualLayout>
      </c:layout>
      <c:overlay val="0"/>
      <c:spPr>
        <a:solidFill>
          <a:schemeClr val="bg1"/>
        </a:solidFill>
        <a:ln>
          <a:solidFill>
            <a:schemeClr val="accent1"/>
          </a:solidFill>
        </a:ln>
        <a:effectLst/>
      </c:spPr>
      <c:txPr>
        <a:bodyPr rot="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sz="1600" b="1">
          <a:solidFill>
            <a:sysClr val="windowText" lastClr="000000"/>
          </a:solidFill>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r>
              <a:rPr lang="en-US" sz="1000" dirty="0">
                <a:solidFill>
                  <a:schemeClr val="tx1"/>
                </a:solidFill>
                <a:latin typeface="Times New Roman" panose="02020603050405020304" pitchFamily="18" charset="0"/>
              </a:rPr>
              <a:t>ĐỘI</a:t>
            </a:r>
            <a:r>
              <a:rPr lang="en-US" sz="1000" baseline="0" dirty="0">
                <a:solidFill>
                  <a:schemeClr val="tx1"/>
                </a:solidFill>
                <a:latin typeface="Times New Roman" panose="02020603050405020304" pitchFamily="18" charset="0"/>
              </a:rPr>
              <a:t> BAY B787</a:t>
            </a:r>
            <a:endParaRPr lang="en-US" sz="1000" dirty="0">
              <a:solidFill>
                <a:schemeClr val="tx1"/>
              </a:solidFill>
              <a:latin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8.78943944380291E-2"/>
          <c:y val="8.7481841457847848E-2"/>
          <c:w val="0.88719896978880353"/>
          <c:h val="0.79400996275743063"/>
        </c:manualLayout>
      </c:layout>
      <c:lineChart>
        <c:grouping val="standard"/>
        <c:varyColors val="0"/>
        <c:ser>
          <c:idx val="5"/>
          <c:order val="0"/>
          <c:tx>
            <c:strRef>
              <c:f>Sheet1!$G$1</c:f>
              <c:strCache>
                <c:ptCount val="1"/>
                <c:pt idx="0">
                  <c:v>B787 Available</c:v>
                </c:pt>
              </c:strCache>
            </c:strRef>
          </c:tx>
          <c:spPr>
            <a:ln w="28575" cap="rnd">
              <a:solidFill>
                <a:srgbClr val="FF0000"/>
              </a:solidFill>
              <a:round/>
            </a:ln>
            <a:effectLst/>
          </c:spPr>
          <c:marker>
            <c:symbol val="circle"/>
            <c:size val="20"/>
            <c:spPr>
              <a:solidFill>
                <a:srgbClr val="002060"/>
              </a:solidFill>
              <a:ln w="9525">
                <a:solidFill>
                  <a:srgbClr val="00206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Sheet1!$A$112:$A$123</c:f>
              <c:strCache>
                <c:ptCount val="12"/>
                <c:pt idx="0">
                  <c:v>Mar-W1</c:v>
                </c:pt>
                <c:pt idx="1">
                  <c:v>Mar-W2</c:v>
                </c:pt>
                <c:pt idx="2">
                  <c:v>Mar-W3</c:v>
                </c:pt>
                <c:pt idx="3">
                  <c:v>Mar-W4</c:v>
                </c:pt>
                <c:pt idx="4">
                  <c:v>Apr-W1</c:v>
                </c:pt>
                <c:pt idx="5">
                  <c:v>Apr-W2</c:v>
                </c:pt>
                <c:pt idx="6">
                  <c:v>Apr-W3</c:v>
                </c:pt>
                <c:pt idx="7">
                  <c:v>Apr-W4</c:v>
                </c:pt>
                <c:pt idx="8">
                  <c:v>May-W1</c:v>
                </c:pt>
                <c:pt idx="9">
                  <c:v>May-W2</c:v>
                </c:pt>
                <c:pt idx="10">
                  <c:v>May-W3</c:v>
                </c:pt>
                <c:pt idx="11">
                  <c:v>May-W4</c:v>
                </c:pt>
              </c:strCache>
            </c:strRef>
          </c:cat>
          <c:val>
            <c:numRef>
              <c:f>Sheet1!$G$112:$G$123</c:f>
              <c:numCache>
                <c:formatCode>General</c:formatCode>
                <c:ptCount val="12"/>
                <c:pt idx="0">
                  <c:v>17</c:v>
                </c:pt>
                <c:pt idx="1">
                  <c:v>17</c:v>
                </c:pt>
                <c:pt idx="2">
                  <c:v>17</c:v>
                </c:pt>
                <c:pt idx="3">
                  <c:v>17</c:v>
                </c:pt>
                <c:pt idx="4">
                  <c:v>17</c:v>
                </c:pt>
                <c:pt idx="5">
                  <c:v>16</c:v>
                </c:pt>
                <c:pt idx="6">
                  <c:v>16</c:v>
                </c:pt>
                <c:pt idx="7">
                  <c:v>16</c:v>
                </c:pt>
                <c:pt idx="8">
                  <c:v>17</c:v>
                </c:pt>
                <c:pt idx="9">
                  <c:v>17</c:v>
                </c:pt>
                <c:pt idx="10">
                  <c:v>17</c:v>
                </c:pt>
                <c:pt idx="11">
                  <c:v>17</c:v>
                </c:pt>
              </c:numCache>
            </c:numRef>
          </c:val>
          <c:smooth val="0"/>
          <c:extLst>
            <c:ext xmlns:c16="http://schemas.microsoft.com/office/drawing/2014/chart" uri="{C3380CC4-5D6E-409C-BE32-E72D297353CC}">
              <c16:uniqueId val="{00000000-39BA-43F7-838F-DB44C72A4044}"/>
            </c:ext>
          </c:extLst>
        </c:ser>
        <c:dLbls>
          <c:dLblPos val="ctr"/>
          <c:showLegendKey val="0"/>
          <c:showVal val="1"/>
          <c:showCatName val="0"/>
          <c:showSerName val="0"/>
          <c:showPercent val="0"/>
          <c:showBubbleSize val="0"/>
        </c:dLbls>
        <c:marker val="1"/>
        <c:smooth val="0"/>
        <c:axId val="434891120"/>
        <c:axId val="434893080"/>
      </c:lineChart>
      <c:catAx>
        <c:axId val="434891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crossAx val="434893080"/>
        <c:crosses val="autoZero"/>
        <c:auto val="1"/>
        <c:lblAlgn val="ctr"/>
        <c:lblOffset val="100"/>
        <c:noMultiLvlLbl val="0"/>
      </c:catAx>
      <c:valAx>
        <c:axId val="434893080"/>
        <c:scaling>
          <c:orientation val="minMax"/>
          <c:min val="1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434891120"/>
        <c:crosses val="autoZero"/>
        <c:crossBetween val="between"/>
      </c:valAx>
      <c:spPr>
        <a:noFill/>
        <a:ln>
          <a:noFill/>
        </a:ln>
        <a:effectLst/>
      </c:spPr>
    </c:plotArea>
    <c:legend>
      <c:legendPos val="b"/>
      <c:layout>
        <c:manualLayout>
          <c:xMode val="edge"/>
          <c:yMode val="edge"/>
          <c:x val="0.61250891982889899"/>
          <c:y val="0.55532237636395698"/>
          <c:w val="0.35697479887302619"/>
          <c:h val="9.3332332586484101E-2"/>
        </c:manualLayout>
      </c:layout>
      <c:overlay val="0"/>
      <c:spPr>
        <a:solidFill>
          <a:schemeClr val="bg1"/>
        </a:solidFill>
        <a:ln>
          <a:solidFill>
            <a:srgbClr val="00B0F0"/>
          </a:solidFill>
        </a:ln>
        <a:effectLst/>
      </c:spPr>
      <c:txPr>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28575">
      <a:solidFill>
        <a:schemeClr val="tx1"/>
      </a:solid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r>
              <a:rPr lang="en-US" sz="1400" b="1">
                <a:solidFill>
                  <a:schemeClr val="tx1"/>
                </a:solidFill>
              </a:rPr>
              <a:t>Số</a:t>
            </a:r>
            <a:r>
              <a:rPr lang="en-US" sz="1400" b="1" baseline="0">
                <a:solidFill>
                  <a:schemeClr val="tx1"/>
                </a:solidFill>
              </a:rPr>
              <a:t> lượng A350 thiếu động cơ</a:t>
            </a:r>
            <a:endParaRPr lang="en-US" sz="1400" b="1">
              <a:solidFill>
                <a:schemeClr val="tx1"/>
              </a:solidFill>
            </a:endParaRP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4.9428675307576782E-2"/>
          <c:y val="0.11299278803028311"/>
          <c:w val="0.943893299494588"/>
          <c:h val="0.77445073016708332"/>
        </c:manualLayout>
      </c:layout>
      <c:lineChart>
        <c:grouping val="standard"/>
        <c:varyColors val="0"/>
        <c:ser>
          <c:idx val="0"/>
          <c:order val="0"/>
          <c:tx>
            <c:strRef>
              <c:f>Sheet1!$B$1</c:f>
              <c:strCache>
                <c:ptCount val="1"/>
                <c:pt idx="0">
                  <c:v>NL báo KHPT</c:v>
                </c:pt>
              </c:strCache>
            </c:strRef>
          </c:tx>
          <c:spPr>
            <a:ln w="28575" cap="rnd">
              <a:solidFill>
                <a:schemeClr val="accent1"/>
              </a:solidFill>
              <a:round/>
            </a:ln>
            <a:effectLst/>
          </c:spPr>
          <c:marker>
            <c:symbol val="circle"/>
            <c:size val="25"/>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3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Sheet1!$A$9:$A$32</c:f>
              <c:strCache>
                <c:ptCount val="12"/>
                <c:pt idx="0">
                  <c:v>Mar-W1</c:v>
                </c:pt>
                <c:pt idx="1">
                  <c:v>Mar-W2</c:v>
                </c:pt>
                <c:pt idx="2">
                  <c:v>Mar-W3</c:v>
                </c:pt>
                <c:pt idx="3">
                  <c:v>Mar-W4</c:v>
                </c:pt>
                <c:pt idx="4">
                  <c:v>Apr-W1</c:v>
                </c:pt>
                <c:pt idx="5">
                  <c:v>Apr-W2</c:v>
                </c:pt>
                <c:pt idx="6">
                  <c:v>Apr-W3</c:v>
                </c:pt>
                <c:pt idx="7">
                  <c:v>Apr-W4</c:v>
                </c:pt>
                <c:pt idx="8">
                  <c:v>May-W1</c:v>
                </c:pt>
                <c:pt idx="9">
                  <c:v>May-W2</c:v>
                </c:pt>
                <c:pt idx="10">
                  <c:v>May-W3</c:v>
                </c:pt>
                <c:pt idx="11">
                  <c:v>May-W4</c:v>
                </c:pt>
              </c:strCache>
            </c:strRef>
          </c:cat>
          <c:val>
            <c:numRef>
              <c:f>Sheet1!$B$9:$B$32</c:f>
            </c:numRef>
          </c:val>
          <c:smooth val="1"/>
          <c:extLst>
            <c:ext xmlns:c16="http://schemas.microsoft.com/office/drawing/2014/chart" uri="{C3380CC4-5D6E-409C-BE32-E72D297353CC}">
              <c16:uniqueId val="{00000000-7DB7-40A0-96F5-1D2E7AF0F464}"/>
            </c:ext>
          </c:extLst>
        </c:ser>
        <c:ser>
          <c:idx val="1"/>
          <c:order val="1"/>
          <c:tx>
            <c:strRef>
              <c:f>Sheet1!$C$1</c:f>
              <c:strCache>
                <c:ptCount val="1"/>
                <c:pt idx="0">
                  <c:v>KH hiện tại</c:v>
                </c:pt>
              </c:strCache>
            </c:strRef>
          </c:tx>
          <c:spPr>
            <a:ln w="28575"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Sheet1!$A$9:$A$32</c:f>
              <c:strCache>
                <c:ptCount val="12"/>
                <c:pt idx="0">
                  <c:v>Mar-W1</c:v>
                </c:pt>
                <c:pt idx="1">
                  <c:v>Mar-W2</c:v>
                </c:pt>
                <c:pt idx="2">
                  <c:v>Mar-W3</c:v>
                </c:pt>
                <c:pt idx="3">
                  <c:v>Mar-W4</c:v>
                </c:pt>
                <c:pt idx="4">
                  <c:v>Apr-W1</c:v>
                </c:pt>
                <c:pt idx="5">
                  <c:v>Apr-W2</c:v>
                </c:pt>
                <c:pt idx="6">
                  <c:v>Apr-W3</c:v>
                </c:pt>
                <c:pt idx="7">
                  <c:v>Apr-W4</c:v>
                </c:pt>
                <c:pt idx="8">
                  <c:v>May-W1</c:v>
                </c:pt>
                <c:pt idx="9">
                  <c:v>May-W2</c:v>
                </c:pt>
                <c:pt idx="10">
                  <c:v>May-W3</c:v>
                </c:pt>
                <c:pt idx="11">
                  <c:v>May-W4</c:v>
                </c:pt>
              </c:strCache>
            </c:strRef>
          </c:cat>
          <c:val>
            <c:numRef>
              <c:f>Sheet1!$C$9:$C$32</c:f>
              <c:numCache>
                <c:formatCode>General</c:formatCode>
                <c:ptCount val="12"/>
                <c:pt idx="0">
                  <c:v>4</c:v>
                </c:pt>
                <c:pt idx="1">
                  <c:v>4</c:v>
                </c:pt>
                <c:pt idx="2">
                  <c:v>4</c:v>
                </c:pt>
                <c:pt idx="3">
                  <c:v>4</c:v>
                </c:pt>
                <c:pt idx="4">
                  <c:v>4</c:v>
                </c:pt>
                <c:pt idx="5">
                  <c:v>4</c:v>
                </c:pt>
                <c:pt idx="6">
                  <c:v>4</c:v>
                </c:pt>
                <c:pt idx="7">
                  <c:v>4</c:v>
                </c:pt>
                <c:pt idx="8">
                  <c:v>3</c:v>
                </c:pt>
                <c:pt idx="9">
                  <c:v>3</c:v>
                </c:pt>
                <c:pt idx="10">
                  <c:v>3</c:v>
                </c:pt>
                <c:pt idx="11">
                  <c:v>3</c:v>
                </c:pt>
              </c:numCache>
            </c:numRef>
          </c:val>
          <c:smooth val="1"/>
          <c:extLst>
            <c:ext xmlns:c16="http://schemas.microsoft.com/office/drawing/2014/chart" uri="{C3380CC4-5D6E-409C-BE32-E72D297353CC}">
              <c16:uniqueId val="{00000001-7DB7-40A0-96F5-1D2E7AF0F464}"/>
            </c:ext>
          </c:extLst>
        </c:ser>
        <c:dLbls>
          <c:showLegendKey val="0"/>
          <c:showVal val="0"/>
          <c:showCatName val="0"/>
          <c:showSerName val="0"/>
          <c:showPercent val="0"/>
          <c:showBubbleSize val="0"/>
        </c:dLbls>
        <c:marker val="1"/>
        <c:smooth val="0"/>
        <c:axId val="434900136"/>
        <c:axId val="434893472"/>
      </c:lineChart>
      <c:catAx>
        <c:axId val="4349001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crossAx val="434893472"/>
        <c:crosses val="autoZero"/>
        <c:auto val="1"/>
        <c:lblAlgn val="ctr"/>
        <c:lblOffset val="100"/>
        <c:noMultiLvlLbl val="0"/>
      </c:catAx>
      <c:valAx>
        <c:axId val="434893472"/>
        <c:scaling>
          <c:orientation val="minMax"/>
          <c:max val="6"/>
          <c:min val="1"/>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34900136"/>
        <c:crosses val="autoZero"/>
        <c:crossBetween val="between"/>
        <c:majorUnit val="1"/>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accent1"/>
      </a:solid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2"/>
          <c:order val="0"/>
          <c:tx>
            <c:strRef>
              <c:f>'Nguồn lực'!$B$5</c:f>
              <c:strCache>
                <c:ptCount val="1"/>
                <c:pt idx="0">
                  <c:v>KB tốt + giữ giờ</c:v>
                </c:pt>
              </c:strCache>
            </c:strRef>
          </c:tx>
          <c:spPr>
            <a:ln w="25400" cap="rnd">
              <a:solidFill>
                <a:srgbClr val="00B0F0"/>
              </a:solidFill>
              <a:round/>
            </a:ln>
            <a:effectLst/>
          </c:spPr>
          <c:marker>
            <c:symbol val="circle"/>
            <c:size val="25"/>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'Nguồn lực'!$C$5:$AD$5</c:f>
              <c:numCache>
                <c:formatCode>[=0]\ 0;0.##</c:formatCode>
                <c:ptCount val="12"/>
                <c:pt idx="0">
                  <c:v>4</c:v>
                </c:pt>
                <c:pt idx="1">
                  <c:v>4</c:v>
                </c:pt>
                <c:pt idx="2">
                  <c:v>4</c:v>
                </c:pt>
                <c:pt idx="3">
                  <c:v>4</c:v>
                </c:pt>
                <c:pt idx="4">
                  <c:v>3</c:v>
                </c:pt>
                <c:pt idx="5">
                  <c:v>1.5</c:v>
                </c:pt>
                <c:pt idx="6">
                  <c:v>0.5</c:v>
                </c:pt>
                <c:pt idx="7">
                  <c:v>0.5</c:v>
                </c:pt>
                <c:pt idx="8">
                  <c:v>2</c:v>
                </c:pt>
                <c:pt idx="9">
                  <c:v>1.5</c:v>
                </c:pt>
                <c:pt idx="10">
                  <c:v>1.5</c:v>
                </c:pt>
                <c:pt idx="11">
                  <c:v>2</c:v>
                </c:pt>
              </c:numCache>
            </c:numRef>
          </c:val>
          <c:smooth val="0"/>
          <c:extLst>
            <c:ext xmlns:c16="http://schemas.microsoft.com/office/drawing/2014/chart" uri="{C3380CC4-5D6E-409C-BE32-E72D297353CC}">
              <c16:uniqueId val="{00000002-4D65-4133-A13A-D06D51E9FDF7}"/>
            </c:ext>
          </c:extLst>
        </c:ser>
        <c:dLbls>
          <c:showLegendKey val="0"/>
          <c:showVal val="1"/>
          <c:showCatName val="0"/>
          <c:showSerName val="0"/>
          <c:showPercent val="0"/>
          <c:showBubbleSize val="0"/>
        </c:dLbls>
        <c:marker val="1"/>
        <c:smooth val="0"/>
        <c:axId val="450239344"/>
        <c:axId val="450240128"/>
      </c:lineChart>
      <c:catAx>
        <c:axId val="450239344"/>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450240128"/>
        <c:crosses val="autoZero"/>
        <c:auto val="1"/>
        <c:lblAlgn val="ctr"/>
        <c:lblOffset val="100"/>
        <c:noMultiLvlLbl val="0"/>
      </c:catAx>
      <c:valAx>
        <c:axId val="450240128"/>
        <c:scaling>
          <c:orientation val="minMax"/>
        </c:scaling>
        <c:delete val="0"/>
        <c:axPos val="l"/>
        <c:majorGridlines>
          <c:spPr>
            <a:ln w="9525" cap="flat" cmpd="sng" algn="ctr">
              <a:solidFill>
                <a:schemeClr val="tx1">
                  <a:lumMod val="15000"/>
                  <a:lumOff val="85000"/>
                </a:schemeClr>
              </a:solidFill>
              <a:round/>
            </a:ln>
            <a:effectLst/>
          </c:spPr>
        </c:majorGridlines>
        <c:numFmt formatCode="[=0]\ 0;0.##"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450239344"/>
        <c:crosses val="autoZero"/>
        <c:crossBetween val="between"/>
        <c:majorUnit val="1"/>
      </c:valAx>
      <c:spPr>
        <a:noFill/>
        <a:ln>
          <a:noFill/>
        </a:ln>
        <a:effectLst/>
      </c:spPr>
    </c:plotArea>
    <c:legend>
      <c:legendPos val="b"/>
      <c:layout>
        <c:manualLayout>
          <c:xMode val="edge"/>
          <c:yMode val="edge"/>
          <c:x val="0.15144093610372283"/>
          <c:y val="0.93521153495255305"/>
          <c:w val="0.75508914228530799"/>
          <c:h val="5.1455128914462765E-2"/>
        </c:manualLayout>
      </c:layout>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r>
              <a:rPr lang="en-US" sz="1000" dirty="0">
                <a:solidFill>
                  <a:schemeClr val="tx1"/>
                </a:solidFill>
              </a:rPr>
              <a:t>ĐỘI</a:t>
            </a:r>
            <a:r>
              <a:rPr lang="en-US" sz="1000" baseline="0" dirty="0">
                <a:solidFill>
                  <a:schemeClr val="tx1"/>
                </a:solidFill>
              </a:rPr>
              <a:t> </a:t>
            </a:r>
            <a:r>
              <a:rPr lang="en-US" sz="1000" baseline="0">
                <a:solidFill>
                  <a:schemeClr val="tx1"/>
                </a:solidFill>
              </a:rPr>
              <a:t>BAY ATR72</a:t>
            </a:r>
            <a:endParaRPr lang="en-US" sz="1000" dirty="0">
              <a:solidFill>
                <a:schemeClr val="tx1"/>
              </a:solidFill>
            </a:endParaRPr>
          </a:p>
        </c:rich>
      </c:tx>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7.6741006124173256E-2"/>
          <c:y val="7.6421014126223277E-2"/>
          <c:w val="0.86908620881679688"/>
          <c:h val="0.76207697550003184"/>
        </c:manualLayout>
      </c:layout>
      <c:barChart>
        <c:barDir val="col"/>
        <c:grouping val="clustered"/>
        <c:varyColors val="0"/>
        <c:ser>
          <c:idx val="3"/>
          <c:order val="0"/>
          <c:tx>
            <c:strRef>
              <c:f>Sheet1!$E$1</c:f>
              <c:strCache>
                <c:ptCount val="1"/>
                <c:pt idx="0">
                  <c:v>ATR AOG</c:v>
                </c:pt>
              </c:strCache>
            </c:strRef>
          </c:tx>
          <c:spPr>
            <a:solidFill>
              <a:schemeClr val="accent6">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Sheet1!$E$10:$E$33</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0-5DD9-45B0-A857-E17C1999913E}"/>
            </c:ext>
          </c:extLst>
        </c:ser>
        <c:dLbls>
          <c:dLblPos val="ctr"/>
          <c:showLegendKey val="0"/>
          <c:showVal val="1"/>
          <c:showCatName val="0"/>
          <c:showSerName val="0"/>
          <c:showPercent val="0"/>
          <c:showBubbleSize val="0"/>
        </c:dLbls>
        <c:gapWidth val="150"/>
        <c:axId val="434898960"/>
        <c:axId val="434899352"/>
      </c:barChart>
      <c:lineChart>
        <c:grouping val="standard"/>
        <c:varyColors val="0"/>
        <c:ser>
          <c:idx val="4"/>
          <c:order val="1"/>
          <c:tx>
            <c:strRef>
              <c:f>Sheet1!$F$1</c:f>
              <c:strCache>
                <c:ptCount val="1"/>
                <c:pt idx="0">
                  <c:v>ATR có thể khai thác</c:v>
                </c:pt>
              </c:strCache>
            </c:strRef>
          </c:tx>
          <c:spPr>
            <a:ln w="28575" cap="rnd">
              <a:solidFill>
                <a:schemeClr val="accent5">
                  <a:lumMod val="60000"/>
                </a:schemeClr>
              </a:solidFill>
              <a:round/>
            </a:ln>
            <a:effectLst/>
          </c:spPr>
          <c:marker>
            <c:symbol val="circle"/>
            <c:size val="20"/>
            <c:spPr>
              <a:solidFill>
                <a:schemeClr val="accent5">
                  <a:lumMod val="60000"/>
                </a:schemeClr>
              </a:solidFill>
              <a:ln w="9525">
                <a:solidFill>
                  <a:schemeClr val="accent5">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Sheet1!$F$10:$F$33</c:f>
              <c:numCache>
                <c:formatCode>General</c:formatCode>
                <c:ptCount val="12"/>
                <c:pt idx="0">
                  <c:v>5</c:v>
                </c:pt>
                <c:pt idx="1">
                  <c:v>5</c:v>
                </c:pt>
                <c:pt idx="2">
                  <c:v>5</c:v>
                </c:pt>
                <c:pt idx="3">
                  <c:v>5</c:v>
                </c:pt>
                <c:pt idx="4">
                  <c:v>5</c:v>
                </c:pt>
                <c:pt idx="5">
                  <c:v>5</c:v>
                </c:pt>
                <c:pt idx="6">
                  <c:v>6</c:v>
                </c:pt>
                <c:pt idx="7">
                  <c:v>6</c:v>
                </c:pt>
                <c:pt idx="8">
                  <c:v>6</c:v>
                </c:pt>
                <c:pt idx="9">
                  <c:v>6</c:v>
                </c:pt>
                <c:pt idx="10">
                  <c:v>6</c:v>
                </c:pt>
                <c:pt idx="11">
                  <c:v>6</c:v>
                </c:pt>
              </c:numCache>
            </c:numRef>
          </c:val>
          <c:smooth val="0"/>
          <c:extLst>
            <c:ext xmlns:c16="http://schemas.microsoft.com/office/drawing/2014/chart" uri="{C3380CC4-5D6E-409C-BE32-E72D297353CC}">
              <c16:uniqueId val="{00000001-5DD9-45B0-A857-E17C1999913E}"/>
            </c:ext>
          </c:extLst>
        </c:ser>
        <c:dLbls>
          <c:showLegendKey val="0"/>
          <c:showVal val="0"/>
          <c:showCatName val="0"/>
          <c:showSerName val="0"/>
          <c:showPercent val="0"/>
          <c:showBubbleSize val="0"/>
        </c:dLbls>
        <c:marker val="1"/>
        <c:smooth val="0"/>
        <c:axId val="434898960"/>
        <c:axId val="434899352"/>
      </c:lineChart>
      <c:catAx>
        <c:axId val="4348989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434899352"/>
        <c:crosses val="autoZero"/>
        <c:auto val="1"/>
        <c:lblAlgn val="ctr"/>
        <c:lblOffset val="100"/>
        <c:noMultiLvlLbl val="0"/>
      </c:catAx>
      <c:valAx>
        <c:axId val="434899352"/>
        <c:scaling>
          <c:orientation val="minMax"/>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434898960"/>
        <c:crosses val="autoZero"/>
        <c:crossBetween val="between"/>
      </c:valAx>
      <c:spPr>
        <a:noFill/>
        <a:ln>
          <a:noFill/>
        </a:ln>
        <a:effectLst/>
      </c:spPr>
    </c:plotArea>
    <c:legend>
      <c:legendPos val="b"/>
      <c:layout>
        <c:manualLayout>
          <c:xMode val="edge"/>
          <c:yMode val="edge"/>
          <c:x val="0.67513027291531713"/>
          <c:y val="6.004108159602075E-2"/>
          <c:w val="0.30713392618610735"/>
          <c:h val="5.4412364558412099E-2"/>
        </c:manualLayout>
      </c:layout>
      <c:overlay val="0"/>
      <c:spPr>
        <a:solidFill>
          <a:schemeClr val="bg1"/>
        </a:solidFill>
        <a:ln>
          <a:solidFill>
            <a:srgbClr val="00FF00"/>
          </a:solidFill>
        </a:ln>
        <a:effectLst/>
      </c:spPr>
      <c:txPr>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28575">
      <a:solidFill>
        <a:srgbClr val="00B050"/>
      </a:solid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600"/>
            </a:pPr>
            <a:r>
              <a:rPr lang="en-US" sz="1600"/>
              <a:t>Số nhân nhượng theo tuần</a:t>
            </a:r>
            <a:endParaRPr lang="vi-VN" sz="1600"/>
          </a:p>
        </c:rich>
      </c:tx>
      <c:overlay val="0"/>
    </c:title>
    <c:autoTitleDeleted val="0"/>
    <c:plotArea>
      <c:layout/>
      <c:barChart>
        <c:barDir val="col"/>
        <c:grouping val="clustered"/>
        <c:varyColors val="0"/>
        <c:ser>
          <c:idx val="0"/>
          <c:order val="0"/>
          <c:tx>
            <c:strRef>
              <c:f>'Data Chart'!$C$35</c:f>
              <c:strCache>
                <c:ptCount val="1"/>
                <c:pt idx="0">
                  <c:v>Last week</c:v>
                </c:pt>
              </c:strCache>
            </c:strRef>
          </c:tx>
          <c:spPr>
            <a:solidFill>
              <a:srgbClr val="FFC000"/>
            </a:solidFill>
          </c:spPr>
          <c:invertIfNegative val="0"/>
          <c:dLbls>
            <c:spPr>
              <a:noFill/>
              <a:ln>
                <a:noFill/>
              </a:ln>
              <a:effectLst/>
            </c:spPr>
            <c:txPr>
              <a:bodyPr wrap="square" lIns="38100" tIns="19050" rIns="38100" bIns="19050" anchor="ctr">
                <a:spAutoFit/>
              </a:bodyPr>
              <a:lstStyle/>
              <a:p>
                <a:pPr>
                  <a:defRPr sz="100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Chart'!$A$36:$B$41</c:f>
              <c:strCache>
                <c:ptCount val="6"/>
                <c:pt idx="0">
                  <c:v>A320</c:v>
                </c:pt>
                <c:pt idx="1">
                  <c:v>A321</c:v>
                </c:pt>
                <c:pt idx="2">
                  <c:v>A350</c:v>
                </c:pt>
                <c:pt idx="3">
                  <c:v>B787</c:v>
                </c:pt>
                <c:pt idx="4">
                  <c:v>ATR72</c:v>
                </c:pt>
                <c:pt idx="5">
                  <c:v>Tất cả</c:v>
                </c:pt>
              </c:strCache>
            </c:strRef>
          </c:cat>
          <c:val>
            <c:numRef>
              <c:f>'Data Chart'!$C$36:$C$41</c:f>
              <c:numCache>
                <c:formatCode>General</c:formatCode>
                <c:ptCount val="6"/>
                <c:pt idx="0">
                  <c:v>0</c:v>
                </c:pt>
                <c:pt idx="1">
                  <c:v>1</c:v>
                </c:pt>
                <c:pt idx="2">
                  <c:v>1</c:v>
                </c:pt>
                <c:pt idx="3">
                  <c:v>2</c:v>
                </c:pt>
                <c:pt idx="4">
                  <c:v>0</c:v>
                </c:pt>
                <c:pt idx="5" formatCode="0">
                  <c:v>4</c:v>
                </c:pt>
              </c:numCache>
            </c:numRef>
          </c:val>
          <c:extLst>
            <c:ext xmlns:c16="http://schemas.microsoft.com/office/drawing/2014/chart" uri="{C3380CC4-5D6E-409C-BE32-E72D297353CC}">
              <c16:uniqueId val="{00000000-2E4B-42A5-9C2A-71CC50CDA1D5}"/>
            </c:ext>
          </c:extLst>
        </c:ser>
        <c:ser>
          <c:idx val="1"/>
          <c:order val="1"/>
          <c:tx>
            <c:strRef>
              <c:f>'Data Chart'!$D$35</c:f>
              <c:strCache>
                <c:ptCount val="1"/>
                <c:pt idx="0">
                  <c:v>This week</c:v>
                </c:pt>
              </c:strCache>
            </c:strRef>
          </c:tx>
          <c:spPr>
            <a:solidFill>
              <a:srgbClr val="00B0F0"/>
            </a:solidFill>
          </c:spPr>
          <c:invertIfNegative val="0"/>
          <c:dLbls>
            <c:spPr>
              <a:noFill/>
              <a:ln>
                <a:noFill/>
              </a:ln>
              <a:effectLst/>
            </c:spPr>
            <c:txPr>
              <a:bodyPr wrap="square" lIns="38100" tIns="19050" rIns="38100" bIns="19050" anchor="ctr">
                <a:spAutoFit/>
              </a:bodyPr>
              <a:lstStyle/>
              <a:p>
                <a:pPr>
                  <a:defRPr sz="100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Chart'!$A$36:$B$41</c:f>
              <c:strCache>
                <c:ptCount val="6"/>
                <c:pt idx="0">
                  <c:v>A320</c:v>
                </c:pt>
                <c:pt idx="1">
                  <c:v>A321</c:v>
                </c:pt>
                <c:pt idx="2">
                  <c:v>A350</c:v>
                </c:pt>
                <c:pt idx="3">
                  <c:v>B787</c:v>
                </c:pt>
                <c:pt idx="4">
                  <c:v>ATR72</c:v>
                </c:pt>
                <c:pt idx="5">
                  <c:v>Tất cả</c:v>
                </c:pt>
              </c:strCache>
            </c:strRef>
          </c:cat>
          <c:val>
            <c:numRef>
              <c:f>'Data Chart'!$D$36:$D$41</c:f>
              <c:numCache>
                <c:formatCode>General</c:formatCode>
                <c:ptCount val="6"/>
                <c:pt idx="0">
                  <c:v>0</c:v>
                </c:pt>
                <c:pt idx="1">
                  <c:v>1</c:v>
                </c:pt>
                <c:pt idx="2">
                  <c:v>1</c:v>
                </c:pt>
                <c:pt idx="3">
                  <c:v>3</c:v>
                </c:pt>
                <c:pt idx="4">
                  <c:v>0</c:v>
                </c:pt>
                <c:pt idx="5" formatCode="0">
                  <c:v>5</c:v>
                </c:pt>
              </c:numCache>
            </c:numRef>
          </c:val>
          <c:extLst>
            <c:ext xmlns:c16="http://schemas.microsoft.com/office/drawing/2014/chart" uri="{C3380CC4-5D6E-409C-BE32-E72D297353CC}">
              <c16:uniqueId val="{00000001-2E4B-42A5-9C2A-71CC50CDA1D5}"/>
            </c:ext>
          </c:extLst>
        </c:ser>
        <c:dLbls>
          <c:showLegendKey val="0"/>
          <c:showVal val="0"/>
          <c:showCatName val="0"/>
          <c:showSerName val="0"/>
          <c:showPercent val="0"/>
          <c:showBubbleSize val="0"/>
        </c:dLbls>
        <c:gapWidth val="150"/>
        <c:axId val="450240520"/>
        <c:axId val="450237384"/>
      </c:barChart>
      <c:catAx>
        <c:axId val="450240520"/>
        <c:scaling>
          <c:orientation val="minMax"/>
        </c:scaling>
        <c:delete val="0"/>
        <c:axPos val="b"/>
        <c:numFmt formatCode="General" sourceLinked="0"/>
        <c:majorTickMark val="out"/>
        <c:minorTickMark val="none"/>
        <c:tickLblPos val="nextTo"/>
        <c:txPr>
          <a:bodyPr/>
          <a:lstStyle/>
          <a:p>
            <a:pPr>
              <a:defRPr sz="1000">
                <a:solidFill>
                  <a:schemeClr val="tx1"/>
                </a:solidFill>
              </a:defRPr>
            </a:pPr>
            <a:endParaRPr lang="en-US"/>
          </a:p>
        </c:txPr>
        <c:crossAx val="450237384"/>
        <c:crosses val="autoZero"/>
        <c:auto val="1"/>
        <c:lblAlgn val="ctr"/>
        <c:lblOffset val="100"/>
        <c:noMultiLvlLbl val="0"/>
      </c:catAx>
      <c:valAx>
        <c:axId val="450237384"/>
        <c:scaling>
          <c:orientation val="minMax"/>
        </c:scaling>
        <c:delete val="0"/>
        <c:axPos val="l"/>
        <c:numFmt formatCode="General" sourceLinked="1"/>
        <c:majorTickMark val="out"/>
        <c:minorTickMark val="none"/>
        <c:tickLblPos val="nextTo"/>
        <c:txPr>
          <a:bodyPr/>
          <a:lstStyle/>
          <a:p>
            <a:pPr>
              <a:defRPr sz="1000">
                <a:solidFill>
                  <a:schemeClr val="tx1"/>
                </a:solidFill>
              </a:defRPr>
            </a:pPr>
            <a:endParaRPr lang="en-US"/>
          </a:p>
        </c:txPr>
        <c:crossAx val="450240520"/>
        <c:crosses val="autoZero"/>
        <c:crossBetween val="between"/>
        <c:majorUnit val="4"/>
        <c:minorUnit val="2"/>
      </c:valAx>
    </c:plotArea>
    <c:legend>
      <c:legendPos val="b"/>
      <c:overlay val="0"/>
      <c:txPr>
        <a:bodyPr/>
        <a:lstStyle/>
        <a:p>
          <a:pPr>
            <a:defRPr sz="1000"/>
          </a:pPr>
          <a:endParaRPr lang="en-US"/>
        </a:p>
      </c:txPr>
    </c:legend>
    <c:plotVisOnly val="1"/>
    <c:dispBlanksAs val="gap"/>
    <c:showDLblsOverMax val="0"/>
  </c:chart>
  <c:spPr>
    <a:ln w="12700">
      <a:solidFill>
        <a:schemeClr val="tx1"/>
      </a:solidFill>
    </a:ln>
  </c:spPr>
  <c:txPr>
    <a:bodyPr/>
    <a:lstStyle/>
    <a:p>
      <a:pPr>
        <a:defRPr sz="1200">
          <a:latin typeface="Times New Roman" panose="02020603050405020304" pitchFamily="18" charset="0"/>
          <a:cs typeface="Times New Roman" panose="02020603050405020304" pitchFamily="18" charset="0"/>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400" b="1">
                <a:solidFill>
                  <a:schemeClr val="tx1"/>
                </a:solidFill>
              </a:rPr>
              <a:t>Trung bình giờ bay các</a:t>
            </a:r>
            <a:r>
              <a:rPr lang="en-US" sz="1400" b="1" baseline="0">
                <a:solidFill>
                  <a:schemeClr val="tx1"/>
                </a:solidFill>
              </a:rPr>
              <a:t> đội tàu</a:t>
            </a:r>
            <a:endParaRPr lang="en-US" sz="1400" b="1">
              <a:solidFill>
                <a:schemeClr val="tx1"/>
              </a:solidFill>
            </a:endParaRPr>
          </a:p>
        </c:rich>
      </c:tx>
      <c:overlay val="0"/>
      <c:spPr>
        <a:noFill/>
        <a:ln>
          <a:noFill/>
        </a:ln>
        <a:effectLst/>
      </c:spPr>
      <c:txPr>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Week!$A$2</c:f>
              <c:strCache>
                <c:ptCount val="1"/>
                <c:pt idx="0">
                  <c:v>This Week</c:v>
                </c:pt>
              </c:strCache>
            </c:strRef>
          </c:tx>
          <c:spPr>
            <a:solidFill>
              <a:srgbClr val="0070C0"/>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Week!$E$4:$E$12</c:f>
              <c:numCache>
                <c:formatCode>[h]:mm</c:formatCode>
                <c:ptCount val="9"/>
                <c:pt idx="0">
                  <c:v>6.5336463223787167E-2</c:v>
                </c:pt>
                <c:pt idx="1">
                  <c:v>7.9062753446877701E-2</c:v>
                </c:pt>
                <c:pt idx="2">
                  <c:v>8.6598258706467715E-2</c:v>
                </c:pt>
                <c:pt idx="3">
                  <c:v>0.20879629629629623</c:v>
                </c:pt>
                <c:pt idx="4">
                  <c:v>0.29328507532956694</c:v>
                </c:pt>
                <c:pt idx="5">
                  <c:v>0.27107699805068242</c:v>
                </c:pt>
                <c:pt idx="6">
                  <c:v>0.15457663989290496</c:v>
                </c:pt>
                <c:pt idx="7">
                  <c:v>0.14932781339031356</c:v>
                </c:pt>
                <c:pt idx="8">
                  <c:v>4.3174675587996821E-2</c:v>
                </c:pt>
              </c:numCache>
            </c:numRef>
          </c:val>
          <c:extLst>
            <c:ext xmlns:c16="http://schemas.microsoft.com/office/drawing/2014/chart" uri="{C3380CC4-5D6E-409C-BE32-E72D297353CC}">
              <c16:uniqueId val="{00000000-BF17-4844-86F9-63C6EDE03493}"/>
            </c:ext>
          </c:extLst>
        </c:ser>
        <c:ser>
          <c:idx val="6"/>
          <c:order val="1"/>
          <c:tx>
            <c:strRef>
              <c:f>Week!$G$2</c:f>
              <c:strCache>
                <c:ptCount val="1"/>
                <c:pt idx="0">
                  <c:v>Next Week</c:v>
                </c:pt>
              </c:strCache>
            </c:strRef>
          </c:tx>
          <c:spPr>
            <a:solidFill>
              <a:schemeClr val="accent2"/>
            </a:solidFill>
            <a:ln>
              <a:solidFill>
                <a:schemeClr val="accent2"/>
              </a:solid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Week!$K$4:$K$12</c:f>
              <c:numCache>
                <c:formatCode>[h]:mm</c:formatCode>
                <c:ptCount val="9"/>
                <c:pt idx="0">
                  <c:v>6.3391516516516505E-2</c:v>
                </c:pt>
                <c:pt idx="1">
                  <c:v>7.8847155045008832E-2</c:v>
                </c:pt>
                <c:pt idx="2">
                  <c:v>9.5314218921892277E-2</c:v>
                </c:pt>
                <c:pt idx="3">
                  <c:v>0.21676587301587297</c:v>
                </c:pt>
                <c:pt idx="4">
                  <c:v>0.28819444444444459</c:v>
                </c:pt>
                <c:pt idx="5">
                  <c:v>0.29370915032679745</c:v>
                </c:pt>
                <c:pt idx="6">
                  <c:v>0.15081157965194114</c:v>
                </c:pt>
                <c:pt idx="7">
                  <c:v>0.13996176654182296</c:v>
                </c:pt>
                <c:pt idx="8">
                  <c:v>4.3301399026764054E-2</c:v>
                </c:pt>
              </c:numCache>
            </c:numRef>
          </c:val>
          <c:extLst>
            <c:ext xmlns:c16="http://schemas.microsoft.com/office/drawing/2014/chart" uri="{C3380CC4-5D6E-409C-BE32-E72D297353CC}">
              <c16:uniqueId val="{00000001-BF17-4844-86F9-63C6EDE03493}"/>
            </c:ext>
          </c:extLst>
        </c:ser>
        <c:dLbls>
          <c:showLegendKey val="0"/>
          <c:showVal val="0"/>
          <c:showCatName val="0"/>
          <c:showSerName val="0"/>
          <c:showPercent val="0"/>
          <c:showBubbleSize val="0"/>
        </c:dLbls>
        <c:gapWidth val="75"/>
        <c:axId val="500536768"/>
        <c:axId val="431566440"/>
      </c:barChart>
      <c:catAx>
        <c:axId val="500536768"/>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431566440"/>
        <c:crosses val="autoZero"/>
        <c:auto val="1"/>
        <c:lblAlgn val="ctr"/>
        <c:lblOffset val="100"/>
        <c:noMultiLvlLbl val="0"/>
      </c:catAx>
      <c:valAx>
        <c:axId val="431566440"/>
        <c:scaling>
          <c:orientation val="minMax"/>
        </c:scaling>
        <c:delete val="0"/>
        <c:axPos val="l"/>
        <c:majorGridlines>
          <c:spPr>
            <a:ln w="9525" cap="flat" cmpd="sng" algn="ctr">
              <a:solidFill>
                <a:schemeClr val="tx1">
                  <a:lumMod val="15000"/>
                  <a:lumOff val="85000"/>
                </a:schemeClr>
              </a:solidFill>
              <a:round/>
            </a:ln>
            <a:effectLst/>
          </c:spPr>
        </c:majorGridlines>
        <c:numFmt formatCode="[h]:mm"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50053676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2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GB" sz="1400" b="1">
                <a:solidFill>
                  <a:schemeClr val="tx1"/>
                </a:solidFill>
              </a:rPr>
              <a:t>Số chuyến bay trung bình theo ngày của các Fleet tàu bay trong tuần</a:t>
            </a:r>
            <a:endParaRPr lang="en-US" sz="1400" b="1">
              <a:solidFill>
                <a:schemeClr val="tx1"/>
              </a:solidFill>
            </a:endParaRP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Week!$A$15</c:f>
              <c:strCache>
                <c:ptCount val="1"/>
                <c:pt idx="0">
                  <c:v>This Week</c:v>
                </c:pt>
              </c:strCache>
            </c:strRef>
          </c:tx>
          <c:spPr>
            <a:solidFill>
              <a:srgbClr val="0070C0"/>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Week!$A$17:$A$22</c:f>
              <c:strCache>
                <c:ptCount val="6"/>
                <c:pt idx="0">
                  <c:v>A320NEO</c:v>
                </c:pt>
                <c:pt idx="1">
                  <c:v>A321CEO</c:v>
                </c:pt>
                <c:pt idx="2">
                  <c:v>A321NEO</c:v>
                </c:pt>
                <c:pt idx="3">
                  <c:v>A350</c:v>
                </c:pt>
                <c:pt idx="4">
                  <c:v>B787</c:v>
                </c:pt>
                <c:pt idx="5">
                  <c:v>ATR72</c:v>
                </c:pt>
              </c:strCache>
            </c:strRef>
          </c:cat>
          <c:val>
            <c:numRef>
              <c:f>Week!$I$17:$I$22</c:f>
              <c:numCache>
                <c:formatCode>0.00</c:formatCode>
                <c:ptCount val="6"/>
                <c:pt idx="0">
                  <c:v>6.7619047619047619</c:v>
                </c:pt>
                <c:pt idx="1">
                  <c:v>6.0219780219780228</c:v>
                </c:pt>
                <c:pt idx="2">
                  <c:v>5.7428571428571429</c:v>
                </c:pt>
                <c:pt idx="3">
                  <c:v>2.3492063492063489</c:v>
                </c:pt>
                <c:pt idx="4">
                  <c:v>3.1517857142857144</c:v>
                </c:pt>
                <c:pt idx="5">
                  <c:v>7.8285714285714283</c:v>
                </c:pt>
              </c:numCache>
            </c:numRef>
          </c:val>
          <c:extLst>
            <c:ext xmlns:c16="http://schemas.microsoft.com/office/drawing/2014/chart" uri="{C3380CC4-5D6E-409C-BE32-E72D297353CC}">
              <c16:uniqueId val="{00000000-6B04-4684-AD96-F46F96806309}"/>
            </c:ext>
          </c:extLst>
        </c:ser>
        <c:ser>
          <c:idx val="1"/>
          <c:order val="1"/>
          <c:tx>
            <c:strRef>
              <c:f>Week!$K$15</c:f>
              <c:strCache>
                <c:ptCount val="1"/>
                <c:pt idx="0">
                  <c:v>Next Week</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Week!$A$17:$A$22</c:f>
              <c:strCache>
                <c:ptCount val="6"/>
                <c:pt idx="0">
                  <c:v>A320NEO</c:v>
                </c:pt>
                <c:pt idx="1">
                  <c:v>A321CEO</c:v>
                </c:pt>
                <c:pt idx="2">
                  <c:v>A321NEO</c:v>
                </c:pt>
                <c:pt idx="3">
                  <c:v>A350</c:v>
                </c:pt>
                <c:pt idx="4">
                  <c:v>B787</c:v>
                </c:pt>
                <c:pt idx="5">
                  <c:v>ATR72</c:v>
                </c:pt>
              </c:strCache>
            </c:strRef>
          </c:cat>
          <c:val>
            <c:numRef>
              <c:f>Week!$S$17:$S$22</c:f>
              <c:numCache>
                <c:formatCode>0.00</c:formatCode>
                <c:ptCount val="6"/>
                <c:pt idx="0">
                  <c:v>7.0476190476190483</c:v>
                </c:pt>
                <c:pt idx="1">
                  <c:v>6.0586080586080593</c:v>
                </c:pt>
                <c:pt idx="2">
                  <c:v>5.7714285714285714</c:v>
                </c:pt>
                <c:pt idx="3">
                  <c:v>2.2000000000000002</c:v>
                </c:pt>
                <c:pt idx="4">
                  <c:v>3.2410714285714284</c:v>
                </c:pt>
                <c:pt idx="5">
                  <c:v>7.8285714285714292</c:v>
                </c:pt>
              </c:numCache>
            </c:numRef>
          </c:val>
          <c:extLst>
            <c:ext xmlns:c16="http://schemas.microsoft.com/office/drawing/2014/chart" uri="{C3380CC4-5D6E-409C-BE32-E72D297353CC}">
              <c16:uniqueId val="{00000001-6B04-4684-AD96-F46F96806309}"/>
            </c:ext>
          </c:extLst>
        </c:ser>
        <c:dLbls>
          <c:showLegendKey val="0"/>
          <c:showVal val="1"/>
          <c:showCatName val="0"/>
          <c:showSerName val="0"/>
          <c:showPercent val="0"/>
          <c:showBubbleSize val="0"/>
        </c:dLbls>
        <c:gapWidth val="150"/>
        <c:axId val="398071632"/>
        <c:axId val="398072416"/>
      </c:barChart>
      <c:catAx>
        <c:axId val="398071632"/>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98072416"/>
        <c:crosses val="autoZero"/>
        <c:auto val="1"/>
        <c:lblAlgn val="ctr"/>
        <c:lblOffset val="100"/>
        <c:noMultiLvlLbl val="0"/>
      </c:catAx>
      <c:valAx>
        <c:axId val="398072416"/>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9807163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1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spPr>
            <a:solidFill>
              <a:srgbClr val="0070C0"/>
            </a:solidFill>
            <a:ln w="9525" cap="flat" cmpd="sng" algn="ctr">
              <a:solidFill>
                <a:srgbClr val="0070C0"/>
              </a:solidFill>
              <a:round/>
            </a:ln>
            <a:effectLst/>
          </c:spPr>
          <c:invertIfNegative val="0"/>
          <c:dPt>
            <c:idx val="0"/>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1-6056-46F3-9F0F-85CF00BC775C}"/>
              </c:ext>
            </c:extLst>
          </c:dPt>
          <c:dPt>
            <c:idx val="1"/>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3-6056-46F3-9F0F-85CF00BC775C}"/>
              </c:ext>
            </c:extLst>
          </c:dPt>
          <c:dPt>
            <c:idx val="2"/>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5-6056-46F3-9F0F-85CF00BC775C}"/>
              </c:ext>
            </c:extLst>
          </c:dPt>
          <c:dPt>
            <c:idx val="3"/>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7-6056-46F3-9F0F-85CF00BC775C}"/>
              </c:ext>
            </c:extLst>
          </c:dPt>
          <c:dPt>
            <c:idx val="4"/>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9-6056-46F3-9F0F-85CF00BC775C}"/>
              </c:ext>
            </c:extLst>
          </c:dPt>
          <c:dPt>
            <c:idx val="5"/>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B-6056-46F3-9F0F-85CF00BC775C}"/>
              </c:ext>
            </c:extLst>
          </c:dPt>
          <c:dPt>
            <c:idx val="6"/>
            <c:invertIfNegative val="0"/>
            <c:bubble3D val="0"/>
            <c:spPr>
              <a:solidFill>
                <a:srgbClr val="ED7D31"/>
              </a:solidFill>
              <a:ln w="9525" cap="flat" cmpd="sng" algn="ctr">
                <a:solidFill>
                  <a:srgbClr val="0070C0"/>
                </a:solidFill>
                <a:round/>
              </a:ln>
              <a:effectLst/>
            </c:spPr>
            <c:extLst>
              <c:ext xmlns:c16="http://schemas.microsoft.com/office/drawing/2014/chart" uri="{C3380CC4-5D6E-409C-BE32-E72D297353CC}">
                <c16:uniqueId val="{0000000D-6056-46F3-9F0F-85CF00BC775C}"/>
              </c:ext>
            </c:extLst>
          </c:dPt>
          <c:dPt>
            <c:idx val="15"/>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F-6056-46F3-9F0F-85CF00BC775C}"/>
              </c:ext>
            </c:extLst>
          </c:dPt>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numRef>
              <c:f>Week!$B$35:$BQ$35</c:f>
              <c:numCache>
                <c:formatCode>d\-mmm</c:formatCode>
                <c:ptCount val="68"/>
                <c:pt idx="0">
                  <c:v>45733</c:v>
                </c:pt>
                <c:pt idx="1">
                  <c:v>45734</c:v>
                </c:pt>
                <c:pt idx="2">
                  <c:v>45735</c:v>
                </c:pt>
                <c:pt idx="3">
                  <c:v>45736</c:v>
                </c:pt>
                <c:pt idx="4">
                  <c:v>45737</c:v>
                </c:pt>
                <c:pt idx="5">
                  <c:v>45738</c:v>
                </c:pt>
                <c:pt idx="6">
                  <c:v>45739</c:v>
                </c:pt>
                <c:pt idx="7">
                  <c:v>45740</c:v>
                </c:pt>
                <c:pt idx="8">
                  <c:v>45741</c:v>
                </c:pt>
                <c:pt idx="9">
                  <c:v>45742</c:v>
                </c:pt>
                <c:pt idx="10">
                  <c:v>45743</c:v>
                </c:pt>
                <c:pt idx="11">
                  <c:v>45744</c:v>
                </c:pt>
                <c:pt idx="12">
                  <c:v>45745</c:v>
                </c:pt>
                <c:pt idx="13">
                  <c:v>45746</c:v>
                </c:pt>
                <c:pt idx="14">
                  <c:v>45747</c:v>
                </c:pt>
                <c:pt idx="15">
                  <c:v>45748</c:v>
                </c:pt>
                <c:pt idx="16">
                  <c:v>45749</c:v>
                </c:pt>
                <c:pt idx="17">
                  <c:v>45750</c:v>
                </c:pt>
                <c:pt idx="18">
                  <c:v>45751</c:v>
                </c:pt>
                <c:pt idx="19">
                  <c:v>45752</c:v>
                </c:pt>
                <c:pt idx="20">
                  <c:v>45753</c:v>
                </c:pt>
                <c:pt idx="21">
                  <c:v>45754</c:v>
                </c:pt>
                <c:pt idx="22">
                  <c:v>45755</c:v>
                </c:pt>
                <c:pt idx="23">
                  <c:v>45756</c:v>
                </c:pt>
                <c:pt idx="24">
                  <c:v>45757</c:v>
                </c:pt>
                <c:pt idx="25">
                  <c:v>45758</c:v>
                </c:pt>
                <c:pt idx="26">
                  <c:v>45759</c:v>
                </c:pt>
                <c:pt idx="27">
                  <c:v>45760</c:v>
                </c:pt>
                <c:pt idx="28">
                  <c:v>45761</c:v>
                </c:pt>
                <c:pt idx="29">
                  <c:v>45762</c:v>
                </c:pt>
                <c:pt idx="30">
                  <c:v>45763</c:v>
                </c:pt>
                <c:pt idx="31">
                  <c:v>45764</c:v>
                </c:pt>
                <c:pt idx="32">
                  <c:v>45765</c:v>
                </c:pt>
                <c:pt idx="33">
                  <c:v>45766</c:v>
                </c:pt>
                <c:pt idx="34">
                  <c:v>45767</c:v>
                </c:pt>
                <c:pt idx="35">
                  <c:v>45768</c:v>
                </c:pt>
                <c:pt idx="36">
                  <c:v>45769</c:v>
                </c:pt>
                <c:pt idx="37">
                  <c:v>45770</c:v>
                </c:pt>
                <c:pt idx="38">
                  <c:v>45771</c:v>
                </c:pt>
                <c:pt idx="39">
                  <c:v>45772</c:v>
                </c:pt>
                <c:pt idx="40">
                  <c:v>45773</c:v>
                </c:pt>
                <c:pt idx="41">
                  <c:v>45774</c:v>
                </c:pt>
                <c:pt idx="42">
                  <c:v>45775</c:v>
                </c:pt>
                <c:pt idx="43">
                  <c:v>45776</c:v>
                </c:pt>
                <c:pt idx="44">
                  <c:v>45777</c:v>
                </c:pt>
              </c:numCache>
            </c:numRef>
          </c:cat>
          <c:val>
            <c:numRef>
              <c:f>Week!$B$36:$BQ$36</c:f>
              <c:numCache>
                <c:formatCode>General</c:formatCode>
                <c:ptCount val="68"/>
                <c:pt idx="0">
                  <c:v>398</c:v>
                </c:pt>
                <c:pt idx="1">
                  <c:v>399</c:v>
                </c:pt>
                <c:pt idx="2">
                  <c:v>401</c:v>
                </c:pt>
                <c:pt idx="3">
                  <c:v>402</c:v>
                </c:pt>
                <c:pt idx="4">
                  <c:v>421</c:v>
                </c:pt>
                <c:pt idx="5">
                  <c:v>408</c:v>
                </c:pt>
                <c:pt idx="6">
                  <c:v>420</c:v>
                </c:pt>
                <c:pt idx="7">
                  <c:v>405</c:v>
                </c:pt>
                <c:pt idx="8">
                  <c:v>394</c:v>
                </c:pt>
                <c:pt idx="9">
                  <c:v>408</c:v>
                </c:pt>
                <c:pt idx="10">
                  <c:v>410</c:v>
                </c:pt>
                <c:pt idx="11">
                  <c:v>427</c:v>
                </c:pt>
                <c:pt idx="12">
                  <c:v>416</c:v>
                </c:pt>
                <c:pt idx="13">
                  <c:v>432</c:v>
                </c:pt>
                <c:pt idx="14">
                  <c:v>428</c:v>
                </c:pt>
                <c:pt idx="15">
                  <c:v>393</c:v>
                </c:pt>
                <c:pt idx="16">
                  <c:v>410</c:v>
                </c:pt>
                <c:pt idx="17">
                  <c:v>398</c:v>
                </c:pt>
                <c:pt idx="18">
                  <c:v>428</c:v>
                </c:pt>
                <c:pt idx="19">
                  <c:v>442</c:v>
                </c:pt>
                <c:pt idx="20">
                  <c:v>441</c:v>
                </c:pt>
                <c:pt idx="21">
                  <c:v>450</c:v>
                </c:pt>
                <c:pt idx="22">
                  <c:v>434</c:v>
                </c:pt>
                <c:pt idx="23">
                  <c:v>410</c:v>
                </c:pt>
                <c:pt idx="24">
                  <c:v>415</c:v>
                </c:pt>
                <c:pt idx="25">
                  <c:v>430</c:v>
                </c:pt>
                <c:pt idx="26">
                  <c:v>409</c:v>
                </c:pt>
                <c:pt idx="27">
                  <c:v>417</c:v>
                </c:pt>
                <c:pt idx="28">
                  <c:v>412</c:v>
                </c:pt>
                <c:pt idx="29">
                  <c:v>396</c:v>
                </c:pt>
                <c:pt idx="30">
                  <c:v>413</c:v>
                </c:pt>
                <c:pt idx="31">
                  <c:v>413</c:v>
                </c:pt>
                <c:pt idx="32">
                  <c:v>420</c:v>
                </c:pt>
                <c:pt idx="33">
                  <c:v>418</c:v>
                </c:pt>
                <c:pt idx="34">
                  <c:v>439</c:v>
                </c:pt>
                <c:pt idx="35">
                  <c:v>426</c:v>
                </c:pt>
                <c:pt idx="36">
                  <c:v>405</c:v>
                </c:pt>
                <c:pt idx="37">
                  <c:v>410</c:v>
                </c:pt>
                <c:pt idx="38">
                  <c:v>417</c:v>
                </c:pt>
                <c:pt idx="39">
                  <c:v>440</c:v>
                </c:pt>
                <c:pt idx="40">
                  <c:v>455</c:v>
                </c:pt>
                <c:pt idx="41">
                  <c:v>455</c:v>
                </c:pt>
                <c:pt idx="42">
                  <c:v>441</c:v>
                </c:pt>
                <c:pt idx="43">
                  <c:v>444</c:v>
                </c:pt>
                <c:pt idx="44">
                  <c:v>463</c:v>
                </c:pt>
              </c:numCache>
            </c:numRef>
          </c:val>
          <c:extLst>
            <c:ext xmlns:c16="http://schemas.microsoft.com/office/drawing/2014/chart" uri="{C3380CC4-5D6E-409C-BE32-E72D297353CC}">
              <c16:uniqueId val="{00000010-6056-46F3-9F0F-85CF00BC775C}"/>
            </c:ext>
          </c:extLst>
        </c:ser>
        <c:dLbls>
          <c:showLegendKey val="0"/>
          <c:showVal val="1"/>
          <c:showCatName val="0"/>
          <c:showSerName val="0"/>
          <c:showPercent val="0"/>
          <c:showBubbleSize val="0"/>
        </c:dLbls>
        <c:gapWidth val="75"/>
        <c:axId val="167636232"/>
        <c:axId val="497736408"/>
      </c:barChart>
      <c:dateAx>
        <c:axId val="167636232"/>
        <c:scaling>
          <c:orientation val="minMax"/>
        </c:scaling>
        <c:delete val="0"/>
        <c:axPos val="b"/>
        <c:numFmt formatCode="d\-mmm"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497736408"/>
        <c:crosses val="autoZero"/>
        <c:auto val="1"/>
        <c:lblOffset val="100"/>
        <c:baseTimeUnit val="days"/>
      </c:dateAx>
      <c:valAx>
        <c:axId val="497736408"/>
        <c:scaling>
          <c:orientation val="minMax"/>
          <c:max val="470"/>
          <c:min val="350"/>
        </c:scaling>
        <c:delete val="0"/>
        <c:axPos val="l"/>
        <c:numFmt formatCode="General" sourceLinked="1"/>
        <c:majorTickMark val="none"/>
        <c:minorTickMark val="none"/>
        <c:tickLblPos val="nextTo"/>
        <c:spPr>
          <a:noFill/>
          <a:ln w="9525">
            <a:solidFill>
              <a:schemeClr val="tx1"/>
            </a:solid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67636232"/>
        <c:crosses val="autoZero"/>
        <c:crossBetween val="between"/>
        <c:majorUnit val="30"/>
        <c:minorUnit val="5"/>
      </c:valAx>
      <c:spPr>
        <a:noFill/>
        <a:ln>
          <a:noFill/>
        </a:ln>
        <a:effectLst/>
      </c:spPr>
    </c:plotArea>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1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6">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1440" tIns="45720" rIns="91440" bIns="45720" rtlCol="0"/>
          <a:lstStyle>
            <a:lvl1pPr algn="r">
              <a:defRPr sz="1200"/>
            </a:lvl1pPr>
          </a:lstStyle>
          <a:p>
            <a:fld id="{64E30043-8C10-7B47-A809-3F1C83F4798E}" type="datetimeFigureOut">
              <a:rPr lang="en-US" smtClean="0"/>
              <a:t>3/24/2025</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041" y="4473893"/>
            <a:ext cx="5608320" cy="366045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1440" tIns="45720" rIns="91440" bIns="45720" rtlCol="0" anchor="b"/>
          <a:lstStyle>
            <a:lvl1pPr algn="r">
              <a:defRPr sz="1200"/>
            </a:lvl1pPr>
          </a:lstStyle>
          <a:p>
            <a:fld id="{19A373DA-F9AA-A644-86AE-7CBAAC246365}" type="slidenum">
              <a:rPr lang="en-US" smtClean="0"/>
              <a:t>‹#›</a:t>
            </a:fld>
            <a:endParaRPr lang="en-US"/>
          </a:p>
        </p:txBody>
      </p:sp>
    </p:spTree>
    <p:extLst>
      <p:ext uri="{BB962C8B-B14F-4D97-AF65-F5344CB8AC3E}">
        <p14:creationId xmlns:p14="http://schemas.microsoft.com/office/powerpoint/2010/main" val="3310150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
        <p:cNvGrpSpPr/>
        <p:nvPr/>
      </p:nvGrpSpPr>
      <p:grpSpPr>
        <a:xfrm>
          <a:off x="0" y="0"/>
          <a:ext cx="0" cy="0"/>
          <a:chOff x="0" y="0"/>
          <a:chExt cx="0" cy="0"/>
        </a:xfrm>
      </p:grpSpPr>
      <p:sp>
        <p:nvSpPr>
          <p:cNvPr id="23" name="Google Shape;23;g301f5ae314a_0_0: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 name="Google Shape;24;g301f5ae314a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06987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9A373DA-F9AA-A644-86AE-7CBAAC246365}" type="slidenum">
              <a:rPr lang="en-US" smtClean="0"/>
              <a:t>1</a:t>
            </a:fld>
            <a:endParaRPr lang="en-US"/>
          </a:p>
        </p:txBody>
      </p:sp>
    </p:spTree>
    <p:extLst>
      <p:ext uri="{BB962C8B-B14F-4D97-AF65-F5344CB8AC3E}">
        <p14:creationId xmlns:p14="http://schemas.microsoft.com/office/powerpoint/2010/main" val="27952602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9A373DA-F9AA-A644-86AE-7CBAAC246365}" type="slidenum">
              <a:rPr lang="en-US" smtClean="0"/>
              <a:t>2</a:t>
            </a:fld>
            <a:endParaRPr lang="en-US"/>
          </a:p>
        </p:txBody>
      </p:sp>
    </p:spTree>
    <p:extLst>
      <p:ext uri="{BB962C8B-B14F-4D97-AF65-F5344CB8AC3E}">
        <p14:creationId xmlns:p14="http://schemas.microsoft.com/office/powerpoint/2010/main" val="37801443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77508-6FCD-C332-2C63-EC96CA868FBA}"/>
            </a:ext>
          </a:extLst>
        </p:cNvPr>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CC86E7A9-D037-13F3-9FD5-5D4213D1B77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a:extLst>
              <a:ext uri="{FF2B5EF4-FFF2-40B4-BE49-F238E27FC236}">
                <a16:creationId xmlns:a16="http://schemas.microsoft.com/office/drawing/2014/main" id="{DC9D1E90-5E87-E9CE-D197-CE4F629E5F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z="800" dirty="0">
              <a:latin typeface="+mn-lt"/>
            </a:endParaRPr>
          </a:p>
        </p:txBody>
      </p:sp>
      <p:sp>
        <p:nvSpPr>
          <p:cNvPr id="22532" name="Slide Number Placeholder 3">
            <a:extLst>
              <a:ext uri="{FF2B5EF4-FFF2-40B4-BE49-F238E27FC236}">
                <a16:creationId xmlns:a16="http://schemas.microsoft.com/office/drawing/2014/main" id="{0AB9E5D2-9481-7A05-B3F0-D52FF023192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4CC002-4D4A-4293-9E33-071F59E80170}"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684375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4</a:t>
            </a:fld>
            <a:endParaRPr/>
          </a:p>
        </p:txBody>
      </p:sp>
    </p:spTree>
    <p:extLst>
      <p:ext uri="{BB962C8B-B14F-4D97-AF65-F5344CB8AC3E}">
        <p14:creationId xmlns:p14="http://schemas.microsoft.com/office/powerpoint/2010/main" val="23780550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4AF5EB47-E03D-0D91-39FC-CC804F8BF772}"/>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FBD9FDC-6CB7-9CDF-6D99-A6F2219A5F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9E6A12EB-B4C3-DAA4-7E0D-96E242DAFFF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78678873-6256-3E24-DC72-D1919FF17EB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402284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125FDB2-27E1-9377-DBBD-DFFA8321F261}"/>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0D681CF1-17CC-AFF9-11AC-217D14FDF96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EE6DD6C9-BAEE-6753-BE87-8E1F6249842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3A9790D4-8A59-6CB8-4B30-291C61C21E4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7617355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368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5A07728F-659E-4563-8681-F0461742A695}" type="slidenum">
              <a:rPr lang="en-US" altLang="en-US" smtClean="0">
                <a:solidFill>
                  <a:srgbClr val="000000"/>
                </a:solidFill>
              </a:rPr>
              <a:pPr fontAlgn="base">
                <a:spcBef>
                  <a:spcPct val="0"/>
                </a:spcBef>
                <a:spcAft>
                  <a:spcPct val="0"/>
                </a:spcAft>
              </a:pPr>
              <a:t>7</a:t>
            </a:fld>
            <a:endParaRPr lang="en-US" altLang="en-US">
              <a:solidFill>
                <a:srgbClr val="000000"/>
              </a:solidFill>
            </a:endParaRPr>
          </a:p>
        </p:txBody>
      </p:sp>
    </p:spTree>
    <p:extLst>
      <p:ext uri="{BB962C8B-B14F-4D97-AF65-F5344CB8AC3E}">
        <p14:creationId xmlns:p14="http://schemas.microsoft.com/office/powerpoint/2010/main" val="41359332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125FDB2-27E1-9377-DBBD-DFFA8321F261}"/>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0D681CF1-17CC-AFF9-11AC-217D14FDF96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EE6DD6C9-BAEE-6753-BE87-8E1F6249842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3A9790D4-8A59-6CB8-4B30-291C61C21E4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6087405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9</a:t>
            </a:fld>
            <a:endParaRPr/>
          </a:p>
        </p:txBody>
      </p:sp>
    </p:spTree>
    <p:extLst>
      <p:ext uri="{BB962C8B-B14F-4D97-AF65-F5344CB8AC3E}">
        <p14:creationId xmlns:p14="http://schemas.microsoft.com/office/powerpoint/2010/main" val="19219676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10</a:t>
            </a:fld>
            <a:endParaRPr/>
          </a:p>
        </p:txBody>
      </p:sp>
    </p:spTree>
    <p:extLst>
      <p:ext uri="{BB962C8B-B14F-4D97-AF65-F5344CB8AC3E}">
        <p14:creationId xmlns:p14="http://schemas.microsoft.com/office/powerpoint/2010/main" val="10131113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E561243C-8838-2E44-36FA-6349D45CC3F7}"/>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101A832F-70B6-DFCB-B1D0-900934A4433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BF2CE732-C85A-6302-3377-97B871BEE10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6E0B033D-71A0-3FA8-8692-53B0C366D226}"/>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113304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12</a:t>
            </a:fld>
            <a:endParaRPr/>
          </a:p>
        </p:txBody>
      </p:sp>
    </p:spTree>
    <p:extLst>
      <p:ext uri="{BB962C8B-B14F-4D97-AF65-F5344CB8AC3E}">
        <p14:creationId xmlns:p14="http://schemas.microsoft.com/office/powerpoint/2010/main" val="29583623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13</a:t>
            </a:fld>
            <a:endParaRPr/>
          </a:p>
        </p:txBody>
      </p:sp>
    </p:spTree>
    <p:extLst>
      <p:ext uri="{BB962C8B-B14F-4D97-AF65-F5344CB8AC3E}">
        <p14:creationId xmlns:p14="http://schemas.microsoft.com/office/powerpoint/2010/main" val="28348431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B44E0767-5B1A-F998-1262-A19303E0387B}"/>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3FCCA5D-F40D-0166-85CE-8EF586347DF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66C5365F-D5DA-C3A3-2AF6-43BFF787E36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5D288B71-E817-876E-4F9E-12C672E9B35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9815677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15</a:t>
            </a:fld>
            <a:endParaRPr/>
          </a:p>
        </p:txBody>
      </p:sp>
    </p:spTree>
    <p:extLst>
      <p:ext uri="{BB962C8B-B14F-4D97-AF65-F5344CB8AC3E}">
        <p14:creationId xmlns:p14="http://schemas.microsoft.com/office/powerpoint/2010/main" val="18346670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3FC104A0-13B4-310F-A29D-C2D066A04A15}"/>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248459CD-70C2-5C9B-A2E9-60B9628C0AE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46DBF351-C24B-1104-8F07-A554E6D4FF1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8753D8A8-F896-0803-20E6-3DC18FF98DD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471565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17</a:t>
            </a:fld>
            <a:endParaRPr/>
          </a:p>
        </p:txBody>
      </p:sp>
    </p:spTree>
    <p:extLst>
      <p:ext uri="{BB962C8B-B14F-4D97-AF65-F5344CB8AC3E}">
        <p14:creationId xmlns:p14="http://schemas.microsoft.com/office/powerpoint/2010/main" val="35305683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18</a:t>
            </a:fld>
            <a:endParaRPr/>
          </a:p>
        </p:txBody>
      </p:sp>
    </p:spTree>
    <p:extLst>
      <p:ext uri="{BB962C8B-B14F-4D97-AF65-F5344CB8AC3E}">
        <p14:creationId xmlns:p14="http://schemas.microsoft.com/office/powerpoint/2010/main" val="12545147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19</a:t>
            </a:fld>
            <a:endParaRPr/>
          </a:p>
        </p:txBody>
      </p:sp>
    </p:spTree>
    <p:extLst>
      <p:ext uri="{BB962C8B-B14F-4D97-AF65-F5344CB8AC3E}">
        <p14:creationId xmlns:p14="http://schemas.microsoft.com/office/powerpoint/2010/main" val="19863718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B0F878AF-BBDD-C6ED-7AD5-5B685E158E0F}"/>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72F52688-1CC4-541B-43BC-86DB6E07C05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2ED4F4CC-70E6-F17D-4EB8-ECA86EB25FE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578DA26F-93B7-623C-25F5-0AA25B41617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20</a:t>
            </a:fld>
            <a:endParaRPr/>
          </a:p>
        </p:txBody>
      </p:sp>
    </p:spTree>
    <p:extLst>
      <p:ext uri="{BB962C8B-B14F-4D97-AF65-F5344CB8AC3E}">
        <p14:creationId xmlns:p14="http://schemas.microsoft.com/office/powerpoint/2010/main" val="3349563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B0F878AF-BBDD-C6ED-7AD5-5B685E158E0F}"/>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72F52688-1CC4-541B-43BC-86DB6E07C05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2ED4F4CC-70E6-F17D-4EB8-ECA86EB25FE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578DA26F-93B7-623C-25F5-0AA25B41617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21</a:t>
            </a:fld>
            <a:endParaRPr/>
          </a:p>
        </p:txBody>
      </p:sp>
    </p:spTree>
    <p:extLst>
      <p:ext uri="{BB962C8B-B14F-4D97-AF65-F5344CB8AC3E}">
        <p14:creationId xmlns:p14="http://schemas.microsoft.com/office/powerpoint/2010/main" val="32263842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A7C44048-5E54-913D-6718-81ADD22A47C0}"/>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3F2927F-22E1-2406-3F6D-272971FBB3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F3BCC66C-F401-1539-F528-5C627ACEAA0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29AD5FCB-0938-657E-F99F-296B870A9CD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22</a:t>
            </a:fld>
            <a:endParaRPr/>
          </a:p>
        </p:txBody>
      </p:sp>
    </p:spTree>
    <p:extLst>
      <p:ext uri="{BB962C8B-B14F-4D97-AF65-F5344CB8AC3E}">
        <p14:creationId xmlns:p14="http://schemas.microsoft.com/office/powerpoint/2010/main" val="29733225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E26068CF-38DB-1D6C-6DC7-F7D2D084AA39}"/>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65B994C1-1E18-D0D0-66A3-BAFA78B7E1C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2F0393F5-5A1F-BE21-BFE8-F6468BBE159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4DCB08EB-58F1-3868-A15A-E5412B0FB1B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23</a:t>
            </a:fld>
            <a:endParaRPr/>
          </a:p>
        </p:txBody>
      </p:sp>
    </p:spTree>
    <p:extLst>
      <p:ext uri="{BB962C8B-B14F-4D97-AF65-F5344CB8AC3E}">
        <p14:creationId xmlns:p14="http://schemas.microsoft.com/office/powerpoint/2010/main" val="40669793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345BC7C4-A2AF-0A92-C797-AFA7332B9B77}"/>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1DE54FAD-9C5B-FBB2-4944-B4F81AD9ACD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8D2EAB10-7BA4-F850-28F0-A084C51F228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8983371B-1407-FBAF-7F23-5A67DD72E0C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24</a:t>
            </a:fld>
            <a:endParaRPr/>
          </a:p>
        </p:txBody>
      </p:sp>
    </p:spTree>
    <p:extLst>
      <p:ext uri="{BB962C8B-B14F-4D97-AF65-F5344CB8AC3E}">
        <p14:creationId xmlns:p14="http://schemas.microsoft.com/office/powerpoint/2010/main" val="13040046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3" name="Google Shape;73;p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34</a:t>
            </a:fld>
            <a:endParaRPr/>
          </a:p>
        </p:txBody>
      </p:sp>
    </p:spTree>
    <p:extLst>
      <p:ext uri="{BB962C8B-B14F-4D97-AF65-F5344CB8AC3E}">
        <p14:creationId xmlns:p14="http://schemas.microsoft.com/office/powerpoint/2010/main" val="24405380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3" name="Google Shape;73;p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35</a:t>
            </a:fld>
            <a:endParaRPr/>
          </a:p>
        </p:txBody>
      </p:sp>
    </p:spTree>
    <p:extLst>
      <p:ext uri="{BB962C8B-B14F-4D97-AF65-F5344CB8AC3E}">
        <p14:creationId xmlns:p14="http://schemas.microsoft.com/office/powerpoint/2010/main" val="40055040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strike="noStrike" cap="none">
                <a:solidFill>
                  <a:srgbClr val="000000"/>
                </a:solidFill>
                <a:latin typeface="Times New Roman"/>
                <a:ea typeface="Times New Roman"/>
                <a:cs typeface="Times New Roman"/>
                <a:sym typeface="Times New Roman"/>
              </a:rPr>
              <a:t>36</a:t>
            </a:fld>
            <a:endParaRPr sz="13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2126317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fld id="{00000000-1234-1234-1234-123412341234}" type="slidenum">
              <a:rPr kumimoji="0" lang="en-US"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t>37</a:t>
            </a:fld>
            <a:endParaRPr kumimoji="0"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44638619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01f5ae314a_0_37: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 name="Google Shape;63;g301f5ae314a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912989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A373DA-F9AA-A644-86AE-7CBAAC246365}" type="slidenum">
              <a:rPr lang="en-US" smtClean="0"/>
              <a:t>40</a:t>
            </a:fld>
            <a:endParaRPr lang="en-US"/>
          </a:p>
        </p:txBody>
      </p:sp>
    </p:spTree>
    <p:extLst>
      <p:ext uri="{BB962C8B-B14F-4D97-AF65-F5344CB8AC3E}">
        <p14:creationId xmlns:p14="http://schemas.microsoft.com/office/powerpoint/2010/main" val="12334997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7187000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96015730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75433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1ccdae391d_0_24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 name="Google Shape;153;g31ccdae391d_0_24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4" name="Google Shape;154;g31ccdae391d_0_24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400"/>
            </a:pPr>
            <a:fld id="{00000000-1234-1234-1234-123412341234}" type="slidenum">
              <a:rPr lang="en-US"/>
              <a:pPr algn="r">
                <a:buSzPts val="1400"/>
              </a:pPr>
              <a:t>44</a:t>
            </a:fld>
            <a:endParaRPr/>
          </a:p>
        </p:txBody>
      </p:sp>
    </p:spTree>
    <p:extLst>
      <p:ext uri="{BB962C8B-B14F-4D97-AF65-F5344CB8AC3E}">
        <p14:creationId xmlns:p14="http://schemas.microsoft.com/office/powerpoint/2010/main" val="22498137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1ccdae391d_0_27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g31ccdae391d_0_271: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g31ccdae391d_0_271: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200"/>
              <a:buFont typeface="Calibri"/>
              <a:buNone/>
            </a:pPr>
            <a:fld id="{00000000-1234-1234-1234-123412341234}" type="slidenum">
              <a:rPr lang="en-US" sz="1200">
                <a:latin typeface="Calibri"/>
                <a:ea typeface="Calibri"/>
                <a:cs typeface="Calibri"/>
                <a:sym typeface="Calibri"/>
              </a:rPr>
              <a:pPr algn="r">
                <a:buSzPts val="1200"/>
                <a:buFont typeface="Calibri"/>
                <a:buNone/>
              </a:pPr>
              <a:t>45</a:t>
            </a:fld>
            <a:endParaRPr sz="1200">
              <a:latin typeface="Calibri"/>
              <a:ea typeface="Calibri"/>
              <a:cs typeface="Calibri"/>
              <a:sym typeface="Calibri"/>
            </a:endParaRPr>
          </a:p>
        </p:txBody>
      </p:sp>
    </p:spTree>
    <p:extLst>
      <p:ext uri="{BB962C8B-B14F-4D97-AF65-F5344CB8AC3E}">
        <p14:creationId xmlns:p14="http://schemas.microsoft.com/office/powerpoint/2010/main" val="360201677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1ccdae391d_0_27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0" name="Google Shape;170;g31ccdae391d_0_27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1" name="Google Shape;171;g31ccdae391d_0_27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200"/>
              <a:buFont typeface="Calibri"/>
              <a:buNone/>
            </a:pPr>
            <a:fld id="{00000000-1234-1234-1234-123412341234}" type="slidenum">
              <a:rPr lang="en-US" sz="1200">
                <a:latin typeface="Calibri"/>
                <a:ea typeface="Calibri"/>
                <a:cs typeface="Calibri"/>
                <a:sym typeface="Calibri"/>
              </a:rPr>
              <a:pPr algn="r">
                <a:buSzPts val="1200"/>
                <a:buFont typeface="Calibri"/>
                <a:buNone/>
              </a:pPr>
              <a:t>46</a:t>
            </a:fld>
            <a:endParaRPr sz="1200">
              <a:latin typeface="Calibri"/>
              <a:ea typeface="Calibri"/>
              <a:cs typeface="Calibri"/>
              <a:sym typeface="Calibri"/>
            </a:endParaRPr>
          </a:p>
        </p:txBody>
      </p:sp>
    </p:spTree>
    <p:extLst>
      <p:ext uri="{BB962C8B-B14F-4D97-AF65-F5344CB8AC3E}">
        <p14:creationId xmlns:p14="http://schemas.microsoft.com/office/powerpoint/2010/main" val="262292845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1ccdae391d_0_28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8" name="Google Shape;178;g31ccdae391d_0_28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9" name="Google Shape;179;g31ccdae391d_0_28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200"/>
              <a:buFont typeface="Calibri"/>
              <a:buNone/>
            </a:pPr>
            <a:fld id="{00000000-1234-1234-1234-123412341234}" type="slidenum">
              <a:rPr lang="en-US" sz="1200">
                <a:latin typeface="Calibri"/>
                <a:ea typeface="Calibri"/>
                <a:cs typeface="Calibri"/>
                <a:sym typeface="Calibri"/>
              </a:rPr>
              <a:pPr algn="r">
                <a:buSzPts val="1200"/>
                <a:buFont typeface="Calibri"/>
                <a:buNone/>
              </a:pPr>
              <a:t>47</a:t>
            </a:fld>
            <a:endParaRPr sz="1200">
              <a:latin typeface="Calibri"/>
              <a:ea typeface="Calibri"/>
              <a:cs typeface="Calibri"/>
              <a:sym typeface="Calibri"/>
            </a:endParaRPr>
          </a:p>
        </p:txBody>
      </p:sp>
    </p:spTree>
    <p:extLst>
      <p:ext uri="{BB962C8B-B14F-4D97-AF65-F5344CB8AC3E}">
        <p14:creationId xmlns:p14="http://schemas.microsoft.com/office/powerpoint/2010/main" val="33994773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1ccdae391d_0_29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6" name="Google Shape;186;g31ccdae391d_0_29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7" name="Google Shape;187;g31ccdae391d_0_29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400"/>
            </a:pPr>
            <a:fld id="{00000000-1234-1234-1234-123412341234}" type="slidenum">
              <a:rPr lang="en-US"/>
              <a:pPr algn="r">
                <a:buSzPts val="1400"/>
              </a:pPr>
              <a:t>48</a:t>
            </a:fld>
            <a:endParaRPr/>
          </a:p>
        </p:txBody>
      </p:sp>
    </p:spTree>
    <p:extLst>
      <p:ext uri="{BB962C8B-B14F-4D97-AF65-F5344CB8AC3E}">
        <p14:creationId xmlns:p14="http://schemas.microsoft.com/office/powerpoint/2010/main" val="66189939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1ccdae391d_0_30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6" name="Google Shape;196;g31ccdae391d_0_30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7" name="Google Shape;197;g31ccdae391d_0_30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200"/>
              <a:buFont typeface="Calibri"/>
              <a:buNone/>
            </a:pPr>
            <a:fld id="{00000000-1234-1234-1234-123412341234}" type="slidenum">
              <a:rPr lang="en-US" sz="1200">
                <a:latin typeface="Calibri"/>
                <a:ea typeface="Calibri"/>
                <a:cs typeface="Calibri"/>
                <a:sym typeface="Calibri"/>
              </a:rPr>
              <a:pPr algn="r">
                <a:buSzPts val="1200"/>
                <a:buFont typeface="Calibri"/>
                <a:buNone/>
              </a:pPr>
              <a:t>49</a:t>
            </a:fld>
            <a:endParaRPr sz="1200">
              <a:latin typeface="Calibri"/>
              <a:ea typeface="Calibri"/>
              <a:cs typeface="Calibri"/>
              <a:sym typeface="Calibri"/>
            </a:endParaRPr>
          </a:p>
        </p:txBody>
      </p:sp>
    </p:spTree>
    <p:extLst>
      <p:ext uri="{BB962C8B-B14F-4D97-AF65-F5344CB8AC3E}">
        <p14:creationId xmlns:p14="http://schemas.microsoft.com/office/powerpoint/2010/main" val="311480798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31ccdae391d_0_31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4" name="Google Shape;204;g31ccdae391d_0_31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5" name="Google Shape;205;g31ccdae391d_0_31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400"/>
            </a:pPr>
            <a:fld id="{00000000-1234-1234-1234-123412341234}" type="slidenum">
              <a:rPr lang="en-US"/>
              <a:pPr algn="r">
                <a:buSzPts val="1400"/>
              </a:pPr>
              <a:t>50</a:t>
            </a:fld>
            <a:endParaRPr/>
          </a:p>
        </p:txBody>
      </p:sp>
    </p:spTree>
    <p:extLst>
      <p:ext uri="{BB962C8B-B14F-4D97-AF65-F5344CB8AC3E}">
        <p14:creationId xmlns:p14="http://schemas.microsoft.com/office/powerpoint/2010/main" val="276747883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1ccdae391d_0_32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3" name="Google Shape;213;g31ccdae391d_0_32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4" name="Google Shape;214;g31ccdae391d_0_32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400"/>
            </a:pPr>
            <a:fld id="{00000000-1234-1234-1234-123412341234}" type="slidenum">
              <a:rPr lang="en-US"/>
              <a:pPr algn="r">
                <a:buSzPts val="1400"/>
              </a:pPr>
              <a:t>51</a:t>
            </a:fld>
            <a:endParaRPr/>
          </a:p>
        </p:txBody>
      </p:sp>
    </p:spTree>
    <p:extLst>
      <p:ext uri="{BB962C8B-B14F-4D97-AF65-F5344CB8AC3E}">
        <p14:creationId xmlns:p14="http://schemas.microsoft.com/office/powerpoint/2010/main" val="303367622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1ccdae391d_0_33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3" name="Google Shape;223;g31ccdae391d_0_33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4" name="Google Shape;224;g31ccdae391d_0_33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200"/>
              <a:buFont typeface="Calibri"/>
              <a:buNone/>
            </a:pPr>
            <a:fld id="{00000000-1234-1234-1234-123412341234}" type="slidenum">
              <a:rPr lang="en-US" sz="1200">
                <a:latin typeface="Calibri"/>
                <a:ea typeface="Calibri"/>
                <a:cs typeface="Calibri"/>
                <a:sym typeface="Calibri"/>
              </a:rPr>
              <a:pPr algn="r">
                <a:buSzPts val="1200"/>
                <a:buFont typeface="Calibri"/>
                <a:buNone/>
              </a:pPr>
              <a:t>52</a:t>
            </a:fld>
            <a:endParaRPr sz="1200">
              <a:latin typeface="Calibri"/>
              <a:ea typeface="Calibri"/>
              <a:cs typeface="Calibri"/>
              <a:sym typeface="Calibri"/>
            </a:endParaRPr>
          </a:p>
        </p:txBody>
      </p:sp>
    </p:spTree>
    <p:extLst>
      <p:ext uri="{BB962C8B-B14F-4D97-AF65-F5344CB8AC3E}">
        <p14:creationId xmlns:p14="http://schemas.microsoft.com/office/powerpoint/2010/main" val="291397014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31ccdae391d_0_33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1" name="Google Shape;231;g31ccdae391d_0_33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2" name="Google Shape;232;g31ccdae391d_0_33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400"/>
            </a:pPr>
            <a:fld id="{00000000-1234-1234-1234-123412341234}" type="slidenum">
              <a:rPr lang="en-US"/>
              <a:pPr algn="r">
                <a:buSzPts val="1400"/>
              </a:pPr>
              <a:t>53</a:t>
            </a:fld>
            <a:endParaRPr/>
          </a:p>
        </p:txBody>
      </p:sp>
    </p:spTree>
    <p:extLst>
      <p:ext uri="{BB962C8B-B14F-4D97-AF65-F5344CB8AC3E}">
        <p14:creationId xmlns:p14="http://schemas.microsoft.com/office/powerpoint/2010/main" val="117768484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31ccdae391d_0_347: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0" name="Google Shape;240;g31ccdae391d_0_347: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1" name="Google Shape;241;g31ccdae391d_0_347: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200"/>
              <a:buFont typeface="Calibri"/>
              <a:buNone/>
            </a:pPr>
            <a:fld id="{00000000-1234-1234-1234-123412341234}" type="slidenum">
              <a:rPr lang="en-US" sz="1200">
                <a:latin typeface="Calibri"/>
                <a:ea typeface="Calibri"/>
                <a:cs typeface="Calibri"/>
                <a:sym typeface="Calibri"/>
              </a:rPr>
              <a:pPr algn="r">
                <a:buSzPts val="1200"/>
                <a:buFont typeface="Calibri"/>
                <a:buNone/>
              </a:pPr>
              <a:t>54</a:t>
            </a:fld>
            <a:endParaRPr sz="1200">
              <a:latin typeface="Calibri"/>
              <a:ea typeface="Calibri"/>
              <a:cs typeface="Calibri"/>
              <a:sym typeface="Calibri"/>
            </a:endParaRPr>
          </a:p>
        </p:txBody>
      </p:sp>
    </p:spTree>
    <p:extLst>
      <p:ext uri="{BB962C8B-B14F-4D97-AF65-F5344CB8AC3E}">
        <p14:creationId xmlns:p14="http://schemas.microsoft.com/office/powerpoint/2010/main" val="296095931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1ccdae391d_0_354: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8" name="Google Shape;248;g31ccdae391d_0_354: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 name="Google Shape;249;g31ccdae391d_0_354: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200"/>
              <a:buFont typeface="Calibri"/>
              <a:buNone/>
            </a:pPr>
            <a:fld id="{00000000-1234-1234-1234-123412341234}" type="slidenum">
              <a:rPr lang="en-US" sz="1200">
                <a:latin typeface="Calibri"/>
                <a:ea typeface="Calibri"/>
                <a:cs typeface="Calibri"/>
                <a:sym typeface="Calibri"/>
              </a:rPr>
              <a:pPr algn="r">
                <a:buSzPts val="1200"/>
                <a:buFont typeface="Calibri"/>
                <a:buNone/>
              </a:pPr>
              <a:t>55</a:t>
            </a:fld>
            <a:endParaRPr sz="1200">
              <a:latin typeface="Calibri"/>
              <a:ea typeface="Calibri"/>
              <a:cs typeface="Calibri"/>
              <a:sym typeface="Calibri"/>
            </a:endParaRPr>
          </a:p>
        </p:txBody>
      </p:sp>
    </p:spTree>
    <p:extLst>
      <p:ext uri="{BB962C8B-B14F-4D97-AF65-F5344CB8AC3E}">
        <p14:creationId xmlns:p14="http://schemas.microsoft.com/office/powerpoint/2010/main" val="173275324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31ccdae391d_0_36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6" name="Google Shape;256;g31ccdae391d_0_361: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57" name="Google Shape;257;g31ccdae391d_0_361: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algn="r">
              <a:buSzPts val="1200"/>
            </a:pPr>
            <a:fld id="{00000000-1234-1234-1234-123412341234}" type="slidenum">
              <a:rPr lang="en-US" sz="1200">
                <a:latin typeface="Calibri"/>
                <a:ea typeface="Calibri"/>
                <a:cs typeface="Calibri"/>
                <a:sym typeface="Calibri"/>
              </a:rPr>
              <a:pPr algn="r">
                <a:buSzPts val="1200"/>
              </a:pPr>
              <a:t>56</a:t>
            </a:fld>
            <a:endParaRPr sz="1200">
              <a:latin typeface="Calibri"/>
              <a:ea typeface="Calibri"/>
              <a:cs typeface="Calibri"/>
              <a:sym typeface="Calibri"/>
            </a:endParaRPr>
          </a:p>
        </p:txBody>
      </p:sp>
    </p:spTree>
    <p:extLst>
      <p:ext uri="{BB962C8B-B14F-4D97-AF65-F5344CB8AC3E}">
        <p14:creationId xmlns:p14="http://schemas.microsoft.com/office/powerpoint/2010/main" val="102152995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31ccdae391d_0_368: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4" name="Google Shape;264;g31ccdae391d_0_368: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65" name="Google Shape;265;g31ccdae391d_0_368: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algn="r">
              <a:buSzPts val="1200"/>
            </a:pPr>
            <a:fld id="{00000000-1234-1234-1234-123412341234}" type="slidenum">
              <a:rPr lang="en-US" sz="1200">
                <a:latin typeface="Calibri"/>
                <a:ea typeface="Calibri"/>
                <a:cs typeface="Calibri"/>
                <a:sym typeface="Calibri"/>
              </a:rPr>
              <a:pPr algn="r">
                <a:buSzPts val="1200"/>
              </a:pPr>
              <a:t>57</a:t>
            </a:fld>
            <a:endParaRPr sz="1200">
              <a:latin typeface="Calibri"/>
              <a:ea typeface="Calibri"/>
              <a:cs typeface="Calibri"/>
              <a:sym typeface="Calibri"/>
            </a:endParaRPr>
          </a:p>
        </p:txBody>
      </p:sp>
    </p:spTree>
    <p:extLst>
      <p:ext uri="{BB962C8B-B14F-4D97-AF65-F5344CB8AC3E}">
        <p14:creationId xmlns:p14="http://schemas.microsoft.com/office/powerpoint/2010/main" val="383134383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31ccdae391d_0_375: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2" name="Google Shape;272;g31ccdae391d_0_375: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73" name="Google Shape;273;g31ccdae391d_0_375: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algn="r">
              <a:buSzPts val="1200"/>
            </a:pPr>
            <a:fld id="{00000000-1234-1234-1234-123412341234}" type="slidenum">
              <a:rPr lang="en-US" sz="1200">
                <a:latin typeface="Calibri"/>
                <a:ea typeface="Calibri"/>
                <a:cs typeface="Calibri"/>
                <a:sym typeface="Calibri"/>
              </a:rPr>
              <a:pPr algn="r">
                <a:buSzPts val="1200"/>
              </a:pPr>
              <a:t>58</a:t>
            </a:fld>
            <a:endParaRPr sz="1200">
              <a:latin typeface="Calibri"/>
              <a:ea typeface="Calibri"/>
              <a:cs typeface="Calibri"/>
              <a:sym typeface="Calibri"/>
            </a:endParaRPr>
          </a:p>
        </p:txBody>
      </p:sp>
    </p:spTree>
    <p:extLst>
      <p:ext uri="{BB962C8B-B14F-4D97-AF65-F5344CB8AC3E}">
        <p14:creationId xmlns:p14="http://schemas.microsoft.com/office/powerpoint/2010/main" val="85618349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1ccdae391d_0_383: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1" name="Google Shape;281;g31ccdae391d_0_383: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82" name="Google Shape;282;g31ccdae391d_0_383: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algn="r">
              <a:buSzPts val="1200"/>
            </a:pPr>
            <a:fld id="{00000000-1234-1234-1234-123412341234}" type="slidenum">
              <a:rPr lang="en-US" sz="1200">
                <a:latin typeface="Calibri"/>
                <a:ea typeface="Calibri"/>
                <a:cs typeface="Calibri"/>
                <a:sym typeface="Calibri"/>
              </a:rPr>
              <a:pPr algn="r">
                <a:buSzPts val="1200"/>
              </a:pPr>
              <a:t>59</a:t>
            </a:fld>
            <a:endParaRPr sz="1200">
              <a:latin typeface="Calibri"/>
              <a:ea typeface="Calibri"/>
              <a:cs typeface="Calibri"/>
              <a:sym typeface="Calibri"/>
            </a:endParaRPr>
          </a:p>
        </p:txBody>
      </p:sp>
    </p:spTree>
    <p:extLst>
      <p:ext uri="{BB962C8B-B14F-4D97-AF65-F5344CB8AC3E}">
        <p14:creationId xmlns:p14="http://schemas.microsoft.com/office/powerpoint/2010/main" val="365633460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31ccdae391d_0_389: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8" name="Google Shape;288;g31ccdae391d_0_389: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89" name="Google Shape;289;g31ccdae391d_0_389: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algn="r">
              <a:buSzPts val="1200"/>
            </a:pPr>
            <a:fld id="{00000000-1234-1234-1234-123412341234}" type="slidenum">
              <a:rPr lang="en-US" sz="1200">
                <a:latin typeface="Calibri"/>
                <a:ea typeface="Calibri"/>
                <a:cs typeface="Calibri"/>
                <a:sym typeface="Calibri"/>
              </a:rPr>
              <a:pPr algn="r">
                <a:buSzPts val="1200"/>
              </a:pPr>
              <a:t>60</a:t>
            </a:fld>
            <a:endParaRPr sz="1200">
              <a:latin typeface="Calibri"/>
              <a:ea typeface="Calibri"/>
              <a:cs typeface="Calibri"/>
              <a:sym typeface="Calibri"/>
            </a:endParaRPr>
          </a:p>
        </p:txBody>
      </p:sp>
    </p:spTree>
    <p:extLst>
      <p:ext uri="{BB962C8B-B14F-4D97-AF65-F5344CB8AC3E}">
        <p14:creationId xmlns:p14="http://schemas.microsoft.com/office/powerpoint/2010/main" val="100866990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31ccdae391d_0_396: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6" name="Google Shape;296;g31ccdae391d_0_396: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97" name="Google Shape;297;g31ccdae391d_0_396: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algn="r">
              <a:buSzPts val="1200"/>
            </a:pPr>
            <a:fld id="{00000000-1234-1234-1234-123412341234}" type="slidenum">
              <a:rPr lang="en-US" sz="1200">
                <a:latin typeface="Calibri"/>
                <a:ea typeface="Calibri"/>
                <a:cs typeface="Calibri"/>
                <a:sym typeface="Calibri"/>
              </a:rPr>
              <a:pPr algn="r">
                <a:buSzPts val="1200"/>
              </a:pPr>
              <a:t>61</a:t>
            </a:fld>
            <a:endParaRPr sz="1200">
              <a:latin typeface="Calibri"/>
              <a:ea typeface="Calibri"/>
              <a:cs typeface="Calibri"/>
              <a:sym typeface="Calibri"/>
            </a:endParaRPr>
          </a:p>
        </p:txBody>
      </p:sp>
    </p:spTree>
    <p:extLst>
      <p:ext uri="{BB962C8B-B14F-4D97-AF65-F5344CB8AC3E}">
        <p14:creationId xmlns:p14="http://schemas.microsoft.com/office/powerpoint/2010/main" val="348301217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31ccdae391d_0_40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4" name="Google Shape;304;g31ccdae391d_0_40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5" name="Google Shape;305;g31ccdae391d_0_40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200"/>
              <a:buFont typeface="Calibri"/>
              <a:buNone/>
            </a:pPr>
            <a:fld id="{00000000-1234-1234-1234-123412341234}" type="slidenum">
              <a:rPr lang="en-US" sz="1200">
                <a:latin typeface="Calibri"/>
                <a:ea typeface="Calibri"/>
                <a:cs typeface="Calibri"/>
                <a:sym typeface="Calibri"/>
              </a:rPr>
              <a:pPr algn="r">
                <a:buSzPts val="1200"/>
                <a:buFont typeface="Calibri"/>
                <a:buNone/>
              </a:pPr>
              <a:t>62</a:t>
            </a:fld>
            <a:endParaRPr sz="1200">
              <a:latin typeface="Calibri"/>
              <a:ea typeface="Calibri"/>
              <a:cs typeface="Calibri"/>
              <a:sym typeface="Calibri"/>
            </a:endParaRPr>
          </a:p>
        </p:txBody>
      </p:sp>
    </p:spTree>
    <p:extLst>
      <p:ext uri="{BB962C8B-B14F-4D97-AF65-F5344CB8AC3E}">
        <p14:creationId xmlns:p14="http://schemas.microsoft.com/office/powerpoint/2010/main" val="176206089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338eea6c084_0_0: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3" name="Google Shape;313;g338eea6c084_0_0: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4" name="Google Shape;314;g338eea6c084_0_0: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200"/>
              <a:buFont typeface="Calibri"/>
              <a:buNone/>
            </a:pPr>
            <a:fld id="{00000000-1234-1234-1234-123412341234}" type="slidenum">
              <a:rPr lang="en-US" sz="1200">
                <a:latin typeface="Calibri"/>
                <a:ea typeface="Calibri"/>
                <a:cs typeface="Calibri"/>
                <a:sym typeface="Calibri"/>
              </a:rPr>
              <a:pPr algn="r">
                <a:buSzPts val="1200"/>
                <a:buFont typeface="Calibri"/>
                <a:buNone/>
              </a:pPr>
              <a:t>63</a:t>
            </a:fld>
            <a:endParaRPr sz="1200">
              <a:latin typeface="Calibri"/>
              <a:ea typeface="Calibri"/>
              <a:cs typeface="Calibri"/>
              <a:sym typeface="Calibri"/>
            </a:endParaRPr>
          </a:p>
        </p:txBody>
      </p:sp>
    </p:spTree>
    <p:extLst>
      <p:ext uri="{BB962C8B-B14F-4D97-AF65-F5344CB8AC3E}">
        <p14:creationId xmlns:p14="http://schemas.microsoft.com/office/powerpoint/2010/main" val="63579963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01f5ae314a_0_7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g301f5ae314a_0_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51912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1366085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3" name="Content Placeholder 2"/>
          <p:cNvSpPr>
            <a:spLocks noGrp="1"/>
          </p:cNvSpPr>
          <p:nvPr>
            <p:ph idx="1"/>
          </p:nvPr>
        </p:nvSpPr>
        <p:spPr>
          <a:xfrm>
            <a:off x="838200" y="1378039"/>
            <a:ext cx="10515600" cy="4291916"/>
          </a:xfrm>
        </p:spPr>
        <p:txBody>
          <a:bodyPr>
            <a:normAutofit/>
          </a:bodyPr>
          <a:lstStyle>
            <a:lvl1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1pPr>
            <a:lvl2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2pPr>
            <a:lvl3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3pPr>
            <a:lvl4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4pPr>
            <a:lvl5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p:cNvSpPr>
            <a:spLocks noGrp="1"/>
          </p:cNvSpPr>
          <p:nvPr>
            <p:ph type="title"/>
          </p:nvPr>
        </p:nvSpPr>
        <p:spPr>
          <a:xfrm>
            <a:off x="838200" y="365126"/>
            <a:ext cx="10515600" cy="793974"/>
          </a:xfrm>
        </p:spPr>
        <p:txBody>
          <a:bodyPr>
            <a:normAutofit/>
          </a:bodyPr>
          <a:lstStyle>
            <a:lvl1pPr algn="ctr">
              <a:defRPr sz="2400" b="1" i="0">
                <a:solidFill>
                  <a:schemeClr val="accent4">
                    <a:lumMod val="75000"/>
                  </a:schemeClr>
                </a:solidFill>
                <a:latin typeface="Times New Roman" panose="02020603050405020304" pitchFamily="18" charset="0"/>
                <a:ea typeface="Tahoma" pitchFamily="34" charset="0"/>
                <a:cs typeface="Times New Roman" panose="02020603050405020304" pitchFamily="18" charset="0"/>
              </a:defRPr>
            </a:lvl1pPr>
          </a:lstStyle>
          <a:p>
            <a:r>
              <a:rPr lang="en-US" dirty="0"/>
              <a:t>Click to edit Master title style</a:t>
            </a:r>
          </a:p>
        </p:txBody>
      </p:sp>
      <p:sp>
        <p:nvSpPr>
          <p:cNvPr id="10"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4190353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Content Placeholder 2"/>
          <p:cNvSpPr>
            <a:spLocks noGrp="1"/>
          </p:cNvSpPr>
          <p:nvPr>
            <p:ph sz="half" idx="1"/>
          </p:nvPr>
        </p:nvSpPr>
        <p:spPr>
          <a:xfrm>
            <a:off x="838200" y="1825625"/>
            <a:ext cx="5181600" cy="387442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6"/>
            <a:ext cx="5181600" cy="3874420"/>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339011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a:xfrm>
            <a:off x="839788"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Text Placeholder 2"/>
          <p:cNvSpPr>
            <a:spLocks noGrp="1"/>
          </p:cNvSpPr>
          <p:nvPr>
            <p:ph type="body" idx="1"/>
          </p:nvPr>
        </p:nvSpPr>
        <p:spPr>
          <a:xfrm>
            <a:off x="839788" y="1681163"/>
            <a:ext cx="5157787"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b="0" i="0">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935352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7"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799317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8049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183188" y="2057400"/>
            <a:ext cx="6172200" cy="3642646"/>
          </a:xfrm>
        </p:spPr>
        <p:txBody>
          <a:bodyPr/>
          <a:lstStyle>
            <a:lvl1pPr>
              <a:defRPr sz="3200">
                <a:latin typeface="Times New Roman" panose="02020603050405020304" pitchFamily="18" charset="0"/>
              </a:defRPr>
            </a:lvl1pPr>
            <a:lvl2pPr>
              <a:defRPr sz="2800">
                <a:latin typeface="Times New Roman" panose="02020603050405020304" pitchFamily="18" charset="0"/>
              </a:defRPr>
            </a:lvl2pPr>
            <a:lvl3pPr>
              <a:defRPr sz="2400">
                <a:latin typeface="Times New Roman" panose="02020603050405020304" pitchFamily="18" charset="0"/>
              </a:defRPr>
            </a:lvl3pPr>
            <a:lvl4pPr>
              <a:defRPr sz="2000">
                <a:latin typeface="Times New Roman" panose="02020603050405020304" pitchFamily="18" charset="0"/>
              </a:defRPr>
            </a:lvl4pPr>
            <a:lvl5pPr>
              <a:defRPr sz="2000">
                <a:latin typeface="Times New Roman" panose="02020603050405020304" pitchFamily="18"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642646"/>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317562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183188" y="2057400"/>
            <a:ext cx="6172200" cy="3642645"/>
          </a:xfrm>
        </p:spPr>
        <p:txBody>
          <a:bodyPr/>
          <a:lstStyle>
            <a:lvl1pPr marL="0" indent="0">
              <a:buNone/>
              <a:defRPr sz="3200">
                <a:latin typeface="Times New Roman" panose="02020603050405020304"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642645"/>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pic>
        <p:nvPicPr>
          <p:cNvPr id="7" name="Picture 6">
            <a:extLst>
              <a:ext uri="{FF2B5EF4-FFF2-40B4-BE49-F238E27FC236}">
                <a16:creationId xmlns:a16="http://schemas.microsoft.com/office/drawing/2014/main" id="{89D8EE4B-A928-AF41-A818-5448DED387C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39165062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pic>
        <p:nvPicPr>
          <p:cNvPr id="2" name="Picture 1"/>
          <p:cNvPicPr>
            <a:picLocks noChangeAspect="1"/>
          </p:cNvPicPr>
          <p:nvPr userDrawn="1"/>
        </p:nvPicPr>
        <p:blipFill>
          <a:blip r:embed="rId3" cstate="print"/>
          <a:stretch>
            <a:fillRect/>
          </a:stretch>
        </p:blipFill>
        <p:spPr>
          <a:xfrm>
            <a:off x="7603958" y="541897"/>
            <a:ext cx="1795803" cy="544909"/>
          </a:xfrm>
          <a:prstGeom prst="rect">
            <a:avLst/>
          </a:prstGeom>
        </p:spPr>
      </p:pic>
    </p:spTree>
    <p:extLst>
      <p:ext uri="{BB962C8B-B14F-4D97-AF65-F5344CB8AC3E}">
        <p14:creationId xmlns:p14="http://schemas.microsoft.com/office/powerpoint/2010/main" val="3677509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type="title">
  <p:cSld name="2_Title slide">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vi" smtClean="0"/>
              <a:pPr/>
              <a:t>‹#›</a:t>
            </a:fld>
            <a:endParaRPr lang="vi"/>
          </a:p>
        </p:txBody>
      </p:sp>
      <p:sp>
        <p:nvSpPr>
          <p:cNvPr id="11" name="Google Shape;11;p2"/>
          <p:cNvSpPr>
            <a:spLocks noGrp="1"/>
          </p:cNvSpPr>
          <p:nvPr>
            <p:ph type="pic" idx="2"/>
          </p:nvPr>
        </p:nvSpPr>
        <p:spPr>
          <a:xfrm>
            <a:off x="509151" y="2698833"/>
            <a:ext cx="4972400" cy="2784400"/>
          </a:xfrm>
          <a:prstGeom prst="rect">
            <a:avLst/>
          </a:prstGeom>
          <a:noFill/>
          <a:ln>
            <a:noFill/>
          </a:ln>
        </p:spPr>
      </p:sp>
      <p:pic>
        <p:nvPicPr>
          <p:cNvPr id="12" name="Google Shape;12;p2" descr="A black and yellow lines on a blue surface&#10;&#10;Description automatically generated"/>
          <p:cNvPicPr preferRelativeResize="0"/>
          <p:nvPr/>
        </p:nvPicPr>
        <p:blipFill rotWithShape="1">
          <a:blip r:embed="rId2">
            <a:alphaModFix/>
          </a:blip>
          <a:srcRect/>
          <a:stretch/>
        </p:blipFill>
        <p:spPr>
          <a:xfrm>
            <a:off x="8650521" y="4650486"/>
            <a:ext cx="3545983" cy="2207517"/>
          </a:xfrm>
          <a:prstGeom prst="rect">
            <a:avLst/>
          </a:prstGeom>
          <a:noFill/>
          <a:ln>
            <a:noFill/>
          </a:ln>
        </p:spPr>
      </p:pic>
      <p:sp>
        <p:nvSpPr>
          <p:cNvPr id="13" name="Google Shape;13;p2"/>
          <p:cNvSpPr txBox="1">
            <a:spLocks noGrp="1"/>
          </p:cNvSpPr>
          <p:nvPr>
            <p:ph type="title"/>
          </p:nvPr>
        </p:nvSpPr>
        <p:spPr>
          <a:xfrm>
            <a:off x="509167" y="439933"/>
            <a:ext cx="25232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DEA610"/>
              </a:buClr>
              <a:buSzPts val="2100"/>
              <a:buFont typeface="Montserrat"/>
              <a:buNone/>
              <a:defRPr sz="2800" b="1">
                <a:solidFill>
                  <a:srgbClr val="DEA610"/>
                </a:solidFill>
                <a:latin typeface="Montserrat"/>
                <a:ea typeface="Montserrat"/>
                <a:cs typeface="Montserrat"/>
                <a:sym typeface="Montserrat"/>
              </a:defRPr>
            </a:lvl1pPr>
            <a:lvl2pPr lvl="1">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2pPr>
            <a:lvl3pPr lvl="2">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3pPr>
            <a:lvl4pPr lvl="3">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4pPr>
            <a:lvl5pPr lvl="4">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5pPr>
            <a:lvl6pPr lvl="5">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6pPr>
            <a:lvl7pPr lvl="6">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7pPr>
            <a:lvl8pPr lvl="7">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8pPr>
            <a:lvl9pPr lvl="8">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9pPr>
          </a:lstStyle>
          <a:p>
            <a:endParaRPr/>
          </a:p>
        </p:txBody>
      </p:sp>
      <p:sp>
        <p:nvSpPr>
          <p:cNvPr id="14" name="Google Shape;14;p2"/>
          <p:cNvSpPr txBox="1">
            <a:spLocks noGrp="1"/>
          </p:cNvSpPr>
          <p:nvPr>
            <p:ph type="title" idx="3"/>
          </p:nvPr>
        </p:nvSpPr>
        <p:spPr>
          <a:xfrm>
            <a:off x="5736767"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5" name="Google Shape;15;p2"/>
          <p:cNvSpPr txBox="1">
            <a:spLocks noGrp="1"/>
          </p:cNvSpPr>
          <p:nvPr>
            <p:ph type="title" idx="4"/>
          </p:nvPr>
        </p:nvSpPr>
        <p:spPr>
          <a:xfrm>
            <a:off x="5736767"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6" name="Google Shape;16;p2"/>
          <p:cNvSpPr txBox="1">
            <a:spLocks noGrp="1"/>
          </p:cNvSpPr>
          <p:nvPr>
            <p:ph type="title" idx="5"/>
          </p:nvPr>
        </p:nvSpPr>
        <p:spPr>
          <a:xfrm>
            <a:off x="8777600"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7" name="Google Shape;17;p2"/>
          <p:cNvSpPr txBox="1">
            <a:spLocks noGrp="1"/>
          </p:cNvSpPr>
          <p:nvPr>
            <p:ph type="title" idx="6"/>
          </p:nvPr>
        </p:nvSpPr>
        <p:spPr>
          <a:xfrm>
            <a:off x="8777600"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8" name="Google Shape;18;p2"/>
          <p:cNvSpPr txBox="1">
            <a:spLocks noGrp="1"/>
          </p:cNvSpPr>
          <p:nvPr>
            <p:ph type="title" idx="7"/>
          </p:nvPr>
        </p:nvSpPr>
        <p:spPr>
          <a:xfrm>
            <a:off x="5736767"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9" name="Google Shape;19;p2"/>
          <p:cNvSpPr txBox="1">
            <a:spLocks noGrp="1"/>
          </p:cNvSpPr>
          <p:nvPr>
            <p:ph type="title" idx="8"/>
          </p:nvPr>
        </p:nvSpPr>
        <p:spPr>
          <a:xfrm>
            <a:off x="5736767"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20" name="Google Shape;20;p2"/>
          <p:cNvSpPr txBox="1">
            <a:spLocks noGrp="1"/>
          </p:cNvSpPr>
          <p:nvPr>
            <p:ph type="title" idx="9"/>
          </p:nvPr>
        </p:nvSpPr>
        <p:spPr>
          <a:xfrm>
            <a:off x="8777600"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21" name="Google Shape;21;p2"/>
          <p:cNvSpPr txBox="1">
            <a:spLocks noGrp="1"/>
          </p:cNvSpPr>
          <p:nvPr>
            <p:ph type="title" idx="13"/>
          </p:nvPr>
        </p:nvSpPr>
        <p:spPr>
          <a:xfrm>
            <a:off x="8777600"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Tree>
    <p:extLst>
      <p:ext uri="{BB962C8B-B14F-4D97-AF65-F5344CB8AC3E}">
        <p14:creationId xmlns:p14="http://schemas.microsoft.com/office/powerpoint/2010/main" val="2769774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78"/>
        <p:cNvGrpSpPr/>
        <p:nvPr/>
      </p:nvGrpSpPr>
      <p:grpSpPr>
        <a:xfrm>
          <a:off x="0" y="0"/>
          <a:ext cx="0" cy="0"/>
          <a:chOff x="0" y="0"/>
          <a:chExt cx="0" cy="0"/>
        </a:xfrm>
      </p:grpSpPr>
      <p:sp>
        <p:nvSpPr>
          <p:cNvPr id="79" name="Google Shape;79;g31ccdae391d_0_417"/>
          <p:cNvSpPr txBox="1">
            <a:spLocks noGrp="1"/>
          </p:cNvSpPr>
          <p:nvPr>
            <p:ph type="body" idx="1"/>
          </p:nvPr>
        </p:nvSpPr>
        <p:spPr>
          <a:xfrm>
            <a:off x="838200" y="1825626"/>
            <a:ext cx="10515600" cy="388290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Montserrat"/>
                <a:ea typeface="Montserrat"/>
                <a:cs typeface="Montserrat"/>
                <a:sym typeface="Montserrat"/>
              </a:defRPr>
            </a:lvl1pPr>
            <a:lvl2pPr marL="914400" lvl="1" indent="-381000" algn="l">
              <a:lnSpc>
                <a:spcPct val="90000"/>
              </a:lnSpc>
              <a:spcBef>
                <a:spcPts val="500"/>
              </a:spcBef>
              <a:spcAft>
                <a:spcPts val="0"/>
              </a:spcAft>
              <a:buClr>
                <a:schemeClr val="dk1"/>
              </a:buClr>
              <a:buSzPts val="2400"/>
              <a:buChar char="•"/>
              <a:defRPr>
                <a:latin typeface="Montserrat"/>
                <a:ea typeface="Montserrat"/>
                <a:cs typeface="Montserrat"/>
                <a:sym typeface="Montserrat"/>
              </a:defRPr>
            </a:lvl2pPr>
            <a:lvl3pPr marL="1371600" lvl="2" indent="-355600" algn="l">
              <a:lnSpc>
                <a:spcPct val="90000"/>
              </a:lnSpc>
              <a:spcBef>
                <a:spcPts val="500"/>
              </a:spcBef>
              <a:spcAft>
                <a:spcPts val="0"/>
              </a:spcAft>
              <a:buClr>
                <a:schemeClr val="dk1"/>
              </a:buClr>
              <a:buSzPts val="2000"/>
              <a:buChar char="•"/>
              <a:defRPr>
                <a:latin typeface="Montserrat"/>
                <a:ea typeface="Montserrat"/>
                <a:cs typeface="Montserrat"/>
                <a:sym typeface="Montserrat"/>
              </a:defRPr>
            </a:lvl3pPr>
            <a:lvl4pPr marL="1828800" lvl="3"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4pPr>
            <a:lvl5pPr marL="2286000" lvl="4"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g31ccdae391d_0_41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D2A43B"/>
              </a:buClr>
              <a:buSzPts val="4400"/>
              <a:buFont typeface="Montserrat"/>
              <a:buNone/>
              <a:defRPr b="1" i="0">
                <a:solidFill>
                  <a:srgbClr val="D2A43B"/>
                </a:solidFill>
                <a:latin typeface="Montserrat"/>
                <a:ea typeface="Montserrat"/>
                <a:cs typeface="Montserrat"/>
                <a:sym typeface="Montserra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g31ccdae391d_0_417"/>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D2A43B"/>
              </a:solidFill>
              <a:effectLst/>
              <a:uLnTx/>
              <a:uFillTx/>
              <a:latin typeface="Montserrat"/>
              <a:sym typeface="Montserrat"/>
            </a:endParaRPr>
          </a:p>
        </p:txBody>
      </p:sp>
    </p:spTree>
    <p:extLst>
      <p:ext uri="{BB962C8B-B14F-4D97-AF65-F5344CB8AC3E}">
        <p14:creationId xmlns:p14="http://schemas.microsoft.com/office/powerpoint/2010/main" val="532739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2"/>
        <p:cNvGrpSpPr/>
        <p:nvPr/>
      </p:nvGrpSpPr>
      <p:grpSpPr>
        <a:xfrm>
          <a:off x="0" y="0"/>
          <a:ext cx="0" cy="0"/>
          <a:chOff x="0" y="0"/>
          <a:chExt cx="0" cy="0"/>
        </a:xfrm>
      </p:grpSpPr>
      <p:sp>
        <p:nvSpPr>
          <p:cNvPr id="83" name="Google Shape;83;g31ccdae391d_0_421"/>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g31ccdae391d_0_421"/>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85" name="Google Shape;85;g31ccdae391d_0_42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86" name="Google Shape;86;g31ccdae391d_0_42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87" name="Google Shape;87;g31ccdae391d_0_42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19317288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1_Title and Content">
    <p:spTree>
      <p:nvGrpSpPr>
        <p:cNvPr id="1" name="Shape 88"/>
        <p:cNvGrpSpPr/>
        <p:nvPr/>
      </p:nvGrpSpPr>
      <p:grpSpPr>
        <a:xfrm>
          <a:off x="0" y="0"/>
          <a:ext cx="0" cy="0"/>
          <a:chOff x="0" y="0"/>
          <a:chExt cx="0" cy="0"/>
        </a:xfrm>
      </p:grpSpPr>
      <p:sp>
        <p:nvSpPr>
          <p:cNvPr id="89" name="Google Shape;89;g31ccdae391d_0_42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g31ccdae391d_0_427"/>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g31ccdae391d_0_427"/>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92" name="Google Shape;92;g31ccdae391d_0_427"/>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93" name="Google Shape;93;g31ccdae391d_0_42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26078387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94"/>
        <p:cNvGrpSpPr/>
        <p:nvPr/>
      </p:nvGrpSpPr>
      <p:grpSpPr>
        <a:xfrm>
          <a:off x="0" y="0"/>
          <a:ext cx="0" cy="0"/>
          <a:chOff x="0" y="0"/>
          <a:chExt cx="0" cy="0"/>
        </a:xfrm>
      </p:grpSpPr>
      <p:sp>
        <p:nvSpPr>
          <p:cNvPr id="95" name="Google Shape;95;g31ccdae391d_0_433"/>
          <p:cNvSpPr txBox="1">
            <a:spLocks noGrp="1"/>
          </p:cNvSpPr>
          <p:nvPr>
            <p:ph type="title"/>
          </p:nvPr>
        </p:nvSpPr>
        <p:spPr>
          <a:xfrm>
            <a:off x="831850" y="1709738"/>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g31ccdae391d_0_433"/>
          <p:cNvSpPr txBox="1">
            <a:spLocks noGrp="1"/>
          </p:cNvSpPr>
          <p:nvPr>
            <p:ph type="body" idx="1"/>
          </p:nvPr>
        </p:nvSpPr>
        <p:spPr>
          <a:xfrm>
            <a:off x="831850" y="4589463"/>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97" name="Google Shape;97;g31ccdae391d_0_433"/>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98" name="Google Shape;98;g31ccdae391d_0_433"/>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99" name="Google Shape;99;g31ccdae391d_0_43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30544111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100"/>
        <p:cNvGrpSpPr/>
        <p:nvPr/>
      </p:nvGrpSpPr>
      <p:grpSpPr>
        <a:xfrm>
          <a:off x="0" y="0"/>
          <a:ext cx="0" cy="0"/>
          <a:chOff x="0" y="0"/>
          <a:chExt cx="0" cy="0"/>
        </a:xfrm>
      </p:grpSpPr>
      <p:sp>
        <p:nvSpPr>
          <p:cNvPr id="101" name="Google Shape;101;g31ccdae391d_0_439"/>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g31ccdae391d_0_439"/>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3" name="Google Shape;103;g31ccdae391d_0_439"/>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4" name="Google Shape;104;g31ccdae391d_0_439"/>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05" name="Google Shape;105;g31ccdae391d_0_439"/>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06" name="Google Shape;106;g31ccdae391d_0_439"/>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22263037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107"/>
        <p:cNvGrpSpPr/>
        <p:nvPr/>
      </p:nvGrpSpPr>
      <p:grpSpPr>
        <a:xfrm>
          <a:off x="0" y="0"/>
          <a:ext cx="0" cy="0"/>
          <a:chOff x="0" y="0"/>
          <a:chExt cx="0" cy="0"/>
        </a:xfrm>
      </p:grpSpPr>
      <p:sp>
        <p:nvSpPr>
          <p:cNvPr id="108" name="Google Shape;108;g31ccdae391d_0_446"/>
          <p:cNvSpPr txBox="1">
            <a:spLocks noGrp="1"/>
          </p:cNvSpPr>
          <p:nvPr>
            <p:ph type="title"/>
          </p:nvPr>
        </p:nvSpPr>
        <p:spPr>
          <a:xfrm>
            <a:off x="839788"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9" name="Google Shape;109;g31ccdae391d_0_446"/>
          <p:cNvSpPr txBox="1">
            <a:spLocks noGrp="1"/>
          </p:cNvSpPr>
          <p:nvPr>
            <p:ph type="body" idx="1"/>
          </p:nvPr>
        </p:nvSpPr>
        <p:spPr>
          <a:xfrm>
            <a:off x="839788"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0" name="Google Shape;110;g31ccdae391d_0_446"/>
          <p:cNvSpPr txBox="1">
            <a:spLocks noGrp="1"/>
          </p:cNvSpPr>
          <p:nvPr>
            <p:ph type="body" idx="2"/>
          </p:nvPr>
        </p:nvSpPr>
        <p:spPr>
          <a:xfrm>
            <a:off x="839788"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g31ccdae391d_0_446"/>
          <p:cNvSpPr txBox="1">
            <a:spLocks noGrp="1"/>
          </p:cNvSpPr>
          <p:nvPr>
            <p:ph type="body" idx="3"/>
          </p:nvPr>
        </p:nvSpPr>
        <p:spPr>
          <a:xfrm>
            <a:off x="6172200"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2" name="Google Shape;112;g31ccdae391d_0_446"/>
          <p:cNvSpPr txBox="1">
            <a:spLocks noGrp="1"/>
          </p:cNvSpPr>
          <p:nvPr>
            <p:ph type="body" idx="4"/>
          </p:nvPr>
        </p:nvSpPr>
        <p:spPr>
          <a:xfrm>
            <a:off x="6172200"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g31ccdae391d_0_446"/>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14" name="Google Shape;114;g31ccdae391d_0_446"/>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15" name="Google Shape;115;g31ccdae391d_0_446"/>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6851054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16"/>
        <p:cNvGrpSpPr/>
        <p:nvPr/>
      </p:nvGrpSpPr>
      <p:grpSpPr>
        <a:xfrm>
          <a:off x="0" y="0"/>
          <a:ext cx="0" cy="0"/>
          <a:chOff x="0" y="0"/>
          <a:chExt cx="0" cy="0"/>
        </a:xfrm>
      </p:grpSpPr>
      <p:sp>
        <p:nvSpPr>
          <p:cNvPr id="117" name="Google Shape;117;g31ccdae391d_0_45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8" name="Google Shape;118;g31ccdae391d_0_45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19" name="Google Shape;119;g31ccdae391d_0_45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20" name="Google Shape;120;g31ccdae391d_0_45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23925342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1"/>
        <p:cNvGrpSpPr/>
        <p:nvPr/>
      </p:nvGrpSpPr>
      <p:grpSpPr>
        <a:xfrm>
          <a:off x="0" y="0"/>
          <a:ext cx="0" cy="0"/>
          <a:chOff x="0" y="0"/>
          <a:chExt cx="0" cy="0"/>
        </a:xfrm>
      </p:grpSpPr>
      <p:sp>
        <p:nvSpPr>
          <p:cNvPr id="122" name="Google Shape;122;g31ccdae391d_0_460"/>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23" name="Google Shape;123;g31ccdae391d_0_460"/>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24" name="Google Shape;124;g31ccdae391d_0_460"/>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25587223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125"/>
        <p:cNvGrpSpPr/>
        <p:nvPr/>
      </p:nvGrpSpPr>
      <p:grpSpPr>
        <a:xfrm>
          <a:off x="0" y="0"/>
          <a:ext cx="0" cy="0"/>
          <a:chOff x="0" y="0"/>
          <a:chExt cx="0" cy="0"/>
        </a:xfrm>
      </p:grpSpPr>
      <p:sp>
        <p:nvSpPr>
          <p:cNvPr id="126" name="Google Shape;126;g31ccdae391d_0_464"/>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7" name="Google Shape;127;g31ccdae391d_0_464"/>
          <p:cNvSpPr txBox="1">
            <a:spLocks noGrp="1"/>
          </p:cNvSpPr>
          <p:nvPr>
            <p:ph type="body" idx="1"/>
          </p:nvPr>
        </p:nvSpPr>
        <p:spPr>
          <a:xfrm>
            <a:off x="5183188" y="987425"/>
            <a:ext cx="6172200" cy="4873500"/>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28" name="Google Shape;128;g31ccdae391d_0_464"/>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29" name="Google Shape;129;g31ccdae391d_0_46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30" name="Google Shape;130;g31ccdae391d_0_46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31" name="Google Shape;131;g31ccdae391d_0_46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6653796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132"/>
        <p:cNvGrpSpPr/>
        <p:nvPr/>
      </p:nvGrpSpPr>
      <p:grpSpPr>
        <a:xfrm>
          <a:off x="0" y="0"/>
          <a:ext cx="0" cy="0"/>
          <a:chOff x="0" y="0"/>
          <a:chExt cx="0" cy="0"/>
        </a:xfrm>
      </p:grpSpPr>
      <p:sp>
        <p:nvSpPr>
          <p:cNvPr id="133" name="Google Shape;133;g31ccdae391d_0_471"/>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4" name="Google Shape;134;g31ccdae391d_0_471"/>
          <p:cNvSpPr>
            <a:spLocks noGrp="1"/>
          </p:cNvSpPr>
          <p:nvPr>
            <p:ph type="pic" idx="2"/>
          </p:nvPr>
        </p:nvSpPr>
        <p:spPr>
          <a:xfrm>
            <a:off x="5183188" y="987425"/>
            <a:ext cx="6172200" cy="4873500"/>
          </a:xfrm>
          <a:prstGeom prst="rect">
            <a:avLst/>
          </a:prstGeom>
          <a:noFill/>
          <a:ln>
            <a:noFill/>
          </a:ln>
        </p:spPr>
      </p:sp>
      <p:sp>
        <p:nvSpPr>
          <p:cNvPr id="135" name="Google Shape;135;g31ccdae391d_0_471"/>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36" name="Google Shape;136;g31ccdae391d_0_47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37" name="Google Shape;137;g31ccdae391d_0_47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38" name="Google Shape;138;g31ccdae391d_0_47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14251937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139"/>
        <p:cNvGrpSpPr/>
        <p:nvPr/>
      </p:nvGrpSpPr>
      <p:grpSpPr>
        <a:xfrm>
          <a:off x="0" y="0"/>
          <a:ext cx="0" cy="0"/>
          <a:chOff x="0" y="0"/>
          <a:chExt cx="0" cy="0"/>
        </a:xfrm>
      </p:grpSpPr>
      <p:sp>
        <p:nvSpPr>
          <p:cNvPr id="140" name="Google Shape;140;g31ccdae391d_0_47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1" name="Google Shape;141;g31ccdae391d_0_478"/>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2" name="Google Shape;142;g31ccdae391d_0_478"/>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43" name="Google Shape;143;g31ccdae391d_0_478"/>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44" name="Google Shape;144;g31ccdae391d_0_478"/>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13182946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145"/>
        <p:cNvGrpSpPr/>
        <p:nvPr/>
      </p:nvGrpSpPr>
      <p:grpSpPr>
        <a:xfrm>
          <a:off x="0" y="0"/>
          <a:ext cx="0" cy="0"/>
          <a:chOff x="0" y="0"/>
          <a:chExt cx="0" cy="0"/>
        </a:xfrm>
      </p:grpSpPr>
      <p:sp>
        <p:nvSpPr>
          <p:cNvPr id="146" name="Google Shape;146;g31ccdae391d_0_484"/>
          <p:cNvSpPr txBox="1">
            <a:spLocks noGrp="1"/>
          </p:cNvSpPr>
          <p:nvPr>
            <p:ph type="title"/>
          </p:nvPr>
        </p:nvSpPr>
        <p:spPr>
          <a:xfrm rot="5400000">
            <a:off x="7133400" y="1956625"/>
            <a:ext cx="5811900"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7" name="Google Shape;147;g31ccdae391d_0_484"/>
          <p:cNvSpPr txBox="1">
            <a:spLocks noGrp="1"/>
          </p:cNvSpPr>
          <p:nvPr>
            <p:ph type="body" idx="1"/>
          </p:nvPr>
        </p:nvSpPr>
        <p:spPr>
          <a:xfrm rot="5400000">
            <a:off x="1799400"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8" name="Google Shape;148;g31ccdae391d_0_48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49" name="Google Shape;149;g31ccdae391d_0_48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50" name="Google Shape;150;g31ccdae391d_0_48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10139404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theme" Target="../theme/theme2.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image" Target="../media/image5.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defRPr>
            </a:lvl1pPr>
          </a:lstStyle>
          <a:p>
            <a:fld id="{EE876FE3-6897-AC45-A781-6CFE41690726}" type="datetime1">
              <a:rPr lang="en-US" smtClean="0">
                <a:solidFill>
                  <a:prstClr val="black">
                    <a:tint val="75000"/>
                  </a:prstClr>
                </a:solidFill>
              </a:rPr>
              <a:pPr/>
              <a:t>3/24/2025</a:t>
            </a:fld>
            <a:endParaRPr lang="en-US" dirty="0">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defRPr>
            </a:lvl1pPr>
          </a:lstStyle>
          <a:p>
            <a:fld id="{6C6B6B8D-D74E-47CD-B5EE-156060B7CD17}"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133946212"/>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74" r:id="rId10"/>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72"/>
        <p:cNvGrpSpPr/>
        <p:nvPr/>
      </p:nvGrpSpPr>
      <p:grpSpPr>
        <a:xfrm>
          <a:off x="0" y="0"/>
          <a:ext cx="0" cy="0"/>
          <a:chOff x="0" y="0"/>
          <a:chExt cx="0" cy="0"/>
        </a:xfrm>
      </p:grpSpPr>
      <p:sp>
        <p:nvSpPr>
          <p:cNvPr id="73" name="Google Shape;73;g31ccdae391d_0_41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marR="0" lvl="0" algn="l">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4" name="Google Shape;74;g31ccdae391d_0_41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Google Shape;75;g31ccdae391d_0_41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76" name="Google Shape;76;g31ccdae391d_0_41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77" name="Google Shape;77;g31ccdae391d_0_41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3297671403"/>
      </p:ext>
    </p:extLst>
  </p:cSld>
  <p:clrMap bg1="lt1" tx1="dk1" bg2="dk2" tx2="lt2" accent1="accent1" accent2="accent2" accent3="accent3" accent4="accent4" accent5="accent5" accent6="accent6" hlink="hlink" folHlink="folHlink"/>
  <p:sldLayoutIdLst>
    <p:sldLayoutId id="2147483728" r:id="rId1"/>
    <p:sldLayoutId id="2147483729" r:id="rId2"/>
    <p:sldLayoutId id="2147483730" r:id="rId3"/>
    <p:sldLayoutId id="2147483731" r:id="rId4"/>
    <p:sldLayoutId id="2147483732" r:id="rId5"/>
    <p:sldLayoutId id="2147483733" r:id="rId6"/>
    <p:sldLayoutId id="2147483734" r:id="rId7"/>
    <p:sldLayoutId id="2147483735" r:id="rId8"/>
    <p:sldLayoutId id="2147483736" r:id="rId9"/>
    <p:sldLayoutId id="2147483737" r:id="rId10"/>
    <p:sldLayoutId id="2147483738" r:id="rId11"/>
    <p:sldLayoutId id="214748373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0.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3.xml"/><Relationship Id="rId1" Type="http://schemas.openxmlformats.org/officeDocument/2006/relationships/slideLayout" Target="../slideLayouts/slideLayout10.xml"/><Relationship Id="rId4" Type="http://schemas.openxmlformats.org/officeDocument/2006/relationships/chart" Target="../charts/chart6.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0.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0.xml"/><Relationship Id="rId1" Type="http://schemas.openxmlformats.org/officeDocument/2006/relationships/tags" Target="../tags/tag2.xml"/><Relationship Id="rId4" Type="http://schemas.openxmlformats.org/officeDocument/2006/relationships/chart" Target="../charts/char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chart" Target="../charts/chart14.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10.xml"/><Relationship Id="rId4" Type="http://schemas.openxmlformats.org/officeDocument/2006/relationships/chart" Target="../charts/chart16.xml"/></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10.xml"/><Relationship Id="rId4" Type="http://schemas.openxmlformats.org/officeDocument/2006/relationships/chart" Target="../charts/chart17.xml"/></Relationships>
</file>

<file path=ppt/slides/_rels/slide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10.xml"/><Relationship Id="rId4" Type="http://schemas.openxmlformats.org/officeDocument/2006/relationships/chart" Target="../charts/chart18.xml"/></Relationships>
</file>

<file path=ppt/slides/_rels/slide4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5.xml"/><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2.xml"/><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4.xml"/><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9.xml"/><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5.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
        <p:cNvGrpSpPr/>
        <p:nvPr/>
      </p:nvGrpSpPr>
      <p:grpSpPr>
        <a:xfrm>
          <a:off x="0" y="0"/>
          <a:ext cx="0" cy="0"/>
          <a:chOff x="0" y="0"/>
          <a:chExt cx="0" cy="0"/>
        </a:xfrm>
      </p:grpSpPr>
      <p:pic>
        <p:nvPicPr>
          <p:cNvPr id="26" name="Google Shape;26;p3" descr="A blue background with yellow lines&#10;&#10;Description automatically generated"/>
          <p:cNvPicPr preferRelativeResize="0"/>
          <p:nvPr/>
        </p:nvPicPr>
        <p:blipFill rotWithShape="1">
          <a:blip r:embed="rId3">
            <a:alphaModFix/>
          </a:blip>
          <a:srcRect/>
          <a:stretch/>
        </p:blipFill>
        <p:spPr>
          <a:xfrm>
            <a:off x="1" y="9197"/>
            <a:ext cx="12191999" cy="6972297"/>
          </a:xfrm>
          <a:prstGeom prst="rect">
            <a:avLst/>
          </a:prstGeom>
          <a:noFill/>
          <a:ln>
            <a:noFill/>
          </a:ln>
        </p:spPr>
      </p:pic>
      <p:pic>
        <p:nvPicPr>
          <p:cNvPr id="28" name="Google Shape;28;p3" descr="A white text on a black background&#10;&#10;Description automatically generated"/>
          <p:cNvPicPr preferRelativeResize="0"/>
          <p:nvPr/>
        </p:nvPicPr>
        <p:blipFill rotWithShape="1">
          <a:blip r:embed="rId4">
            <a:alphaModFix/>
          </a:blip>
          <a:srcRect/>
          <a:stretch/>
        </p:blipFill>
        <p:spPr>
          <a:xfrm>
            <a:off x="615360" y="508566"/>
            <a:ext cx="2833825" cy="462665"/>
          </a:xfrm>
          <a:prstGeom prst="rect">
            <a:avLst/>
          </a:prstGeom>
          <a:noFill/>
          <a:ln>
            <a:noFill/>
          </a:ln>
        </p:spPr>
      </p:pic>
      <p:sp>
        <p:nvSpPr>
          <p:cNvPr id="30" name="Google Shape;30;p3"/>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vi"/>
              <a:pPr/>
              <a:t>0</a:t>
            </a:fld>
            <a:endParaRPr/>
          </a:p>
        </p:txBody>
      </p:sp>
      <p:sp>
        <p:nvSpPr>
          <p:cNvPr id="7" name="Title 1"/>
          <p:cNvSpPr>
            <a:spLocks noGrp="1"/>
          </p:cNvSpPr>
          <p:nvPr>
            <p:ph type="title"/>
          </p:nvPr>
        </p:nvSpPr>
        <p:spPr>
          <a:xfrm>
            <a:off x="584880" y="2667000"/>
            <a:ext cx="10417006" cy="2067564"/>
          </a:xfrm>
        </p:spPr>
        <p:txBody>
          <a:bodyPr>
            <a:normAutofit/>
          </a:bodyPr>
          <a:lstStyle/>
          <a:p>
            <a:pPr algn="ctr">
              <a:lnSpc>
                <a:spcPct val="150000"/>
              </a:lnSpc>
            </a:pP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BÁO CÁO KỸ THUẬT</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r>
            <a:b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b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(Tuần </a:t>
            </a:r>
            <a:r>
              <a:rPr lang="en-US" sz="4000"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12</a:t>
            </a:r>
            <a:r>
              <a:rPr lang="vi-VN" sz="4000"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en-US" sz="4000"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17/03/2025</a:t>
            </a:r>
            <a:r>
              <a:rPr lang="vi-VN" sz="4000"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en-US" sz="4000"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23</a:t>
            </a:r>
            <a:r>
              <a:rPr lang="vi-VN" sz="4000"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03</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/202</a:t>
            </a: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5</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endPar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30936106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1</a:t>
            </a:fld>
            <a:endParaRPr lang="en-US"/>
          </a:p>
        </p:txBody>
      </p:sp>
      <p:sp>
        <p:nvSpPr>
          <p:cNvPr id="5" name="Title 4"/>
          <p:cNvSpPr>
            <a:spLocks noGrp="1"/>
          </p:cNvSpPr>
          <p:nvPr>
            <p:ph type="title"/>
          </p:nvPr>
        </p:nvSpPr>
        <p:spPr>
          <a:xfrm>
            <a:off x="990599" y="142581"/>
            <a:ext cx="10306011" cy="506023"/>
          </a:xfrm>
        </p:spPr>
        <p:txBody>
          <a:bodyPr>
            <a:noAutofit/>
          </a:bodyPr>
          <a:lstStyle/>
          <a:p>
            <a:pPr algn="ctr"/>
            <a:r>
              <a:rPr lang="en-US" sz="2800">
                <a:ln w="0"/>
                <a:solidFill>
                  <a:schemeClr val="accent4"/>
                </a:solidFill>
                <a:latin typeface="Times New Roman" panose="02020603050405020304" pitchFamily="18" charset="0"/>
                <a:cs typeface="Times New Roman" panose="02020603050405020304" pitchFamily="18" charset="0"/>
              </a:rPr>
              <a:t>TỔNG HỢP AOG, DELAY VÀ GTB/ATB/DIV</a:t>
            </a:r>
            <a:endParaRPr lang="vi-VN" sz="28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9" name="Chart 8">
            <a:extLst>
              <a:ext uri="{FF2B5EF4-FFF2-40B4-BE49-F238E27FC236}">
                <a16:creationId xmlns:a16="http://schemas.microsoft.com/office/drawing/2014/main" id="{00000000-0008-0000-0900-000005000000}"/>
              </a:ext>
            </a:extLst>
          </p:cNvPr>
          <p:cNvGraphicFramePr>
            <a:graphicFrameLocks/>
          </p:cNvGraphicFramePr>
          <p:nvPr>
            <p:extLst>
              <p:ext uri="{D42A27DB-BD31-4B8C-83A1-F6EECF244321}">
                <p14:modId xmlns:p14="http://schemas.microsoft.com/office/powerpoint/2010/main" val="704351801"/>
              </p:ext>
            </p:extLst>
          </p:nvPr>
        </p:nvGraphicFramePr>
        <p:xfrm>
          <a:off x="1685212" y="3605378"/>
          <a:ext cx="4097655" cy="2376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9">
            <a:extLst>
              <a:ext uri="{FF2B5EF4-FFF2-40B4-BE49-F238E27FC236}">
                <a16:creationId xmlns:a16="http://schemas.microsoft.com/office/drawing/2014/main" id="{00000000-0008-0000-0900-00000F000000}"/>
              </a:ext>
            </a:extLst>
          </p:cNvPr>
          <p:cNvGraphicFramePr>
            <a:graphicFrameLocks/>
          </p:cNvGraphicFramePr>
          <p:nvPr>
            <p:extLst>
              <p:ext uri="{D42A27DB-BD31-4B8C-83A1-F6EECF244321}">
                <p14:modId xmlns:p14="http://schemas.microsoft.com/office/powerpoint/2010/main" val="3419044664"/>
              </p:ext>
            </p:extLst>
          </p:nvPr>
        </p:nvGraphicFramePr>
        <p:xfrm>
          <a:off x="1675687" y="871703"/>
          <a:ext cx="4116705" cy="2376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4" name="Chart 13">
            <a:extLst>
              <a:ext uri="{FF2B5EF4-FFF2-40B4-BE49-F238E27FC236}">
                <a16:creationId xmlns:a16="http://schemas.microsoft.com/office/drawing/2014/main" id="{8347F7AA-5E77-475C-B68E-49E6EF5DA0A7}"/>
              </a:ext>
            </a:extLst>
          </p:cNvPr>
          <p:cNvGraphicFramePr>
            <a:graphicFrameLocks/>
          </p:cNvGraphicFramePr>
          <p:nvPr>
            <p:extLst>
              <p:ext uri="{D42A27DB-BD31-4B8C-83A1-F6EECF244321}">
                <p14:modId xmlns:p14="http://schemas.microsoft.com/office/powerpoint/2010/main" val="3790542725"/>
              </p:ext>
            </p:extLst>
          </p:nvPr>
        </p:nvGraphicFramePr>
        <p:xfrm>
          <a:off x="6340312" y="3614107"/>
          <a:ext cx="4176000" cy="23760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1" name="Chart 10">
            <a:extLst>
              <a:ext uri="{FF2B5EF4-FFF2-40B4-BE49-F238E27FC236}">
                <a16:creationId xmlns:a16="http://schemas.microsoft.com/office/drawing/2014/main" id="{00000000-0008-0000-0900-000004000000}"/>
              </a:ext>
            </a:extLst>
          </p:cNvPr>
          <p:cNvGraphicFramePr>
            <a:graphicFrameLocks/>
          </p:cNvGraphicFramePr>
          <p:nvPr>
            <p:extLst>
              <p:ext uri="{D42A27DB-BD31-4B8C-83A1-F6EECF244321}">
                <p14:modId xmlns:p14="http://schemas.microsoft.com/office/powerpoint/2010/main" val="1097379028"/>
              </p:ext>
            </p:extLst>
          </p:nvPr>
        </p:nvGraphicFramePr>
        <p:xfrm>
          <a:off x="6400800" y="914400"/>
          <a:ext cx="4176000" cy="237600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368191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2</a:t>
            </a:fld>
            <a:endParaRPr lang="en-US"/>
          </a:p>
        </p:txBody>
      </p:sp>
      <p:sp>
        <p:nvSpPr>
          <p:cNvPr id="5" name="Title 4"/>
          <p:cNvSpPr>
            <a:spLocks noGrp="1"/>
          </p:cNvSpPr>
          <p:nvPr>
            <p:ph type="title"/>
          </p:nvPr>
        </p:nvSpPr>
        <p:spPr>
          <a:xfrm>
            <a:off x="1141240" y="304800"/>
            <a:ext cx="9983960" cy="429008"/>
          </a:xfrm>
        </p:spPr>
        <p:txBody>
          <a:bodyPr>
            <a:normAutofit fontScale="90000"/>
          </a:bodyPr>
          <a:lstStyle/>
          <a:p>
            <a:pPr algn="ctr"/>
            <a:r>
              <a:rPr lang="en-US" sz="2800">
                <a:ln w="0"/>
                <a:solidFill>
                  <a:srgbClr val="FFC000"/>
                </a:solidFill>
                <a:latin typeface="Times New Roman" panose="02020603050405020304" pitchFamily="18" charset="0"/>
                <a:cs typeface="Times New Roman" panose="02020603050405020304" pitchFamily="18" charset="0"/>
              </a:rPr>
              <a:t>ATB/GTB COMPARISON</a:t>
            </a:r>
            <a:endParaRPr lang="vi-VN" sz="2800" dirty="0">
              <a:ln w="0"/>
              <a:solidFill>
                <a:srgbClr val="FFC000"/>
              </a:solidFill>
              <a:latin typeface="Times New Roman" panose="02020603050405020304" pitchFamily="18" charset="0"/>
              <a:cs typeface="Times New Roman" panose="02020603050405020304" pitchFamily="18" charset="0"/>
            </a:endParaRPr>
          </a:p>
        </p:txBody>
      </p:sp>
      <p:graphicFrame>
        <p:nvGraphicFramePr>
          <p:cNvPr id="6" name="Chart 5">
            <a:extLst>
              <a:ext uri="{FF2B5EF4-FFF2-40B4-BE49-F238E27FC236}">
                <a16:creationId xmlns:a16="http://schemas.microsoft.com/office/drawing/2014/main" id="{00000000-0008-0000-0600-000004000000}"/>
              </a:ext>
            </a:extLst>
          </p:cNvPr>
          <p:cNvGraphicFramePr>
            <a:graphicFrameLocks/>
          </p:cNvGraphicFramePr>
          <p:nvPr>
            <p:extLst>
              <p:ext uri="{D42A27DB-BD31-4B8C-83A1-F6EECF244321}">
                <p14:modId xmlns:p14="http://schemas.microsoft.com/office/powerpoint/2010/main" val="1044599703"/>
              </p:ext>
            </p:extLst>
          </p:nvPr>
        </p:nvGraphicFramePr>
        <p:xfrm>
          <a:off x="1295400" y="838200"/>
          <a:ext cx="9603316" cy="2794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00000000-0008-0000-0600-000005000000}"/>
              </a:ext>
            </a:extLst>
          </p:cNvPr>
          <p:cNvGraphicFramePr>
            <a:graphicFrameLocks/>
          </p:cNvGraphicFramePr>
          <p:nvPr>
            <p:extLst>
              <p:ext uri="{D42A27DB-BD31-4B8C-83A1-F6EECF244321}">
                <p14:modId xmlns:p14="http://schemas.microsoft.com/office/powerpoint/2010/main" val="2554875537"/>
              </p:ext>
            </p:extLst>
          </p:nvPr>
        </p:nvGraphicFramePr>
        <p:xfrm>
          <a:off x="1293640" y="3808942"/>
          <a:ext cx="9593011" cy="2790612"/>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7655838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DA9AD-1F36-71AD-79EA-A60339FB5026}"/>
            </a:ext>
          </a:extLst>
        </p:cNvPr>
        <p:cNvGrpSpPr/>
        <p:nvPr/>
      </p:nvGrpSpPr>
      <p:grpSpPr>
        <a:xfrm>
          <a:off x="0" y="0"/>
          <a:ext cx="0" cy="0"/>
          <a:chOff x="0" y="0"/>
          <a:chExt cx="0" cy="0"/>
        </a:xfrm>
      </p:grpSpPr>
      <p:sp>
        <p:nvSpPr>
          <p:cNvPr id="21507" name="Slide Number Placeholder 3">
            <a:extLst>
              <a:ext uri="{FF2B5EF4-FFF2-40B4-BE49-F238E27FC236}">
                <a16:creationId xmlns:a16="http://schemas.microsoft.com/office/drawing/2014/main" id="{909AAD87-9B2B-3997-F3A5-296858406FB3}"/>
              </a:ext>
            </a:extLst>
          </p:cNvPr>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2452E6-5DF7-4F8A-959D-4B1DD34CA726}" type="slidenum">
              <a:rPr kumimoji="0" lang="en-US" altLang="en-US" sz="1200" b="0" i="0" u="none" strike="noStrike" kern="1200" cap="none" spc="0" normalizeH="0" baseline="0" noProof="0" smtClean="0">
                <a:ln>
                  <a:noFill/>
                </a:ln>
                <a:solidFill>
                  <a:srgbClr val="D2A43B"/>
                </a:solidFill>
                <a:effectLst/>
                <a:uLnTx/>
                <a:uFillTx/>
                <a:latin typeface="Montserra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D2A43B"/>
              </a:solidFill>
              <a:effectLst/>
              <a:uLnTx/>
              <a:uFillTx/>
              <a:latin typeface="Montserrat"/>
              <a:ea typeface="+mn-ea"/>
              <a:cs typeface="+mn-cs"/>
            </a:endParaRPr>
          </a:p>
        </p:txBody>
      </p:sp>
      <p:sp>
        <p:nvSpPr>
          <p:cNvPr id="21506" name="Title 4">
            <a:extLst>
              <a:ext uri="{FF2B5EF4-FFF2-40B4-BE49-F238E27FC236}">
                <a16:creationId xmlns:a16="http://schemas.microsoft.com/office/drawing/2014/main" id="{3045FD90-1673-FBCF-7889-FA2822771FA2}"/>
              </a:ext>
            </a:extLst>
          </p:cNvPr>
          <p:cNvSpPr>
            <a:spLocks noGrp="1"/>
          </p:cNvSpPr>
          <p:nvPr>
            <p:ph type="title"/>
          </p:nvPr>
        </p:nvSpPr>
        <p:spPr>
          <a:xfrm>
            <a:off x="125862" y="49270"/>
            <a:ext cx="5131938" cy="636530"/>
          </a:xfrm>
        </p:spPr>
        <p:txBody>
          <a:bodyPr>
            <a:normAutofit/>
          </a:bodyPr>
          <a:lstStyle/>
          <a:p>
            <a:pPr algn="ctr" eaLnBrk="1" hangingPunct="1"/>
            <a:r>
              <a:rPr lang="en-US" altLang="en-US" sz="28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CÁC SỰ KIỆN ATB/GTB/DIV</a:t>
            </a:r>
            <a:endParaRPr lang="vi-VN"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DE0D23D1-C1A6-8EB2-BEF6-B9530B0AE7E1}"/>
              </a:ext>
            </a:extLst>
          </p:cNvPr>
          <p:cNvSpPr txBox="1"/>
          <p:nvPr/>
        </p:nvSpPr>
        <p:spPr>
          <a:xfrm>
            <a:off x="228602" y="615269"/>
            <a:ext cx="11553282" cy="369332"/>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RTO: </a:t>
            </a:r>
            <a:r>
              <a:rPr kumimoji="0" lang="vi-VN" sz="18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lang="en-US" b="1" dirty="0">
                <a:solidFill>
                  <a:prstClr val="black"/>
                </a:solidFill>
                <a:latin typeface="Times New Roman" panose="02020603050405020304" pitchFamily="18" charset="0"/>
                <a:ea typeface="MS PGothic" pitchFamily="34" charset="-128"/>
                <a:cs typeface="Times New Roman" panose="02020603050405020304" pitchFamily="18" charset="0"/>
              </a:rPr>
              <a:t>1</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ATB: 00</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GTB: </a:t>
            </a:r>
            <a:r>
              <a:rPr kumimoji="0" lang="vi-VN" sz="18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lang="en-US" b="1" noProof="0" dirty="0">
                <a:solidFill>
                  <a:prstClr val="black"/>
                </a:solidFill>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DIV: 00</a:t>
            </a:r>
          </a:p>
        </p:txBody>
      </p:sp>
      <p:graphicFrame>
        <p:nvGraphicFramePr>
          <p:cNvPr id="3" name="Table 2"/>
          <p:cNvGraphicFramePr>
            <a:graphicFrameLocks noGrp="1"/>
          </p:cNvGraphicFramePr>
          <p:nvPr>
            <p:extLst>
              <p:ext uri="{D42A27DB-BD31-4B8C-83A1-F6EECF244321}">
                <p14:modId xmlns:p14="http://schemas.microsoft.com/office/powerpoint/2010/main" val="202561347"/>
              </p:ext>
            </p:extLst>
          </p:nvPr>
        </p:nvGraphicFramePr>
        <p:xfrm>
          <a:off x="233085" y="1287658"/>
          <a:ext cx="11548798" cy="4869512"/>
        </p:xfrm>
        <a:graphic>
          <a:graphicData uri="http://schemas.openxmlformats.org/drawingml/2006/table">
            <a:tbl>
              <a:tblPr/>
              <a:tblGrid>
                <a:gridCol w="333932">
                  <a:extLst>
                    <a:ext uri="{9D8B030D-6E8A-4147-A177-3AD203B41FA5}">
                      <a16:colId xmlns:a16="http://schemas.microsoft.com/office/drawing/2014/main" val="4038289466"/>
                    </a:ext>
                  </a:extLst>
                </a:gridCol>
                <a:gridCol w="312488">
                  <a:extLst>
                    <a:ext uri="{9D8B030D-6E8A-4147-A177-3AD203B41FA5}">
                      <a16:colId xmlns:a16="http://schemas.microsoft.com/office/drawing/2014/main" val="3957843482"/>
                    </a:ext>
                  </a:extLst>
                </a:gridCol>
                <a:gridCol w="752094">
                  <a:extLst>
                    <a:ext uri="{9D8B030D-6E8A-4147-A177-3AD203B41FA5}">
                      <a16:colId xmlns:a16="http://schemas.microsoft.com/office/drawing/2014/main" val="1490174247"/>
                    </a:ext>
                  </a:extLst>
                </a:gridCol>
                <a:gridCol w="620366">
                  <a:extLst>
                    <a:ext uri="{9D8B030D-6E8A-4147-A177-3AD203B41FA5}">
                      <a16:colId xmlns:a16="http://schemas.microsoft.com/office/drawing/2014/main" val="3566870774"/>
                    </a:ext>
                  </a:extLst>
                </a:gridCol>
                <a:gridCol w="661709">
                  <a:extLst>
                    <a:ext uri="{9D8B030D-6E8A-4147-A177-3AD203B41FA5}">
                      <a16:colId xmlns:a16="http://schemas.microsoft.com/office/drawing/2014/main" val="3134608598"/>
                    </a:ext>
                  </a:extLst>
                </a:gridCol>
                <a:gridCol w="514662">
                  <a:extLst>
                    <a:ext uri="{9D8B030D-6E8A-4147-A177-3AD203B41FA5}">
                      <a16:colId xmlns:a16="http://schemas.microsoft.com/office/drawing/2014/main" val="1407986645"/>
                    </a:ext>
                  </a:extLst>
                </a:gridCol>
                <a:gridCol w="1219864">
                  <a:extLst>
                    <a:ext uri="{9D8B030D-6E8A-4147-A177-3AD203B41FA5}">
                      <a16:colId xmlns:a16="http://schemas.microsoft.com/office/drawing/2014/main" val="2827963411"/>
                    </a:ext>
                  </a:extLst>
                </a:gridCol>
                <a:gridCol w="1752600">
                  <a:extLst>
                    <a:ext uri="{9D8B030D-6E8A-4147-A177-3AD203B41FA5}">
                      <a16:colId xmlns:a16="http://schemas.microsoft.com/office/drawing/2014/main" val="246680535"/>
                    </a:ext>
                  </a:extLst>
                </a:gridCol>
                <a:gridCol w="685800">
                  <a:extLst>
                    <a:ext uri="{9D8B030D-6E8A-4147-A177-3AD203B41FA5}">
                      <a16:colId xmlns:a16="http://schemas.microsoft.com/office/drawing/2014/main" val="1804046833"/>
                    </a:ext>
                  </a:extLst>
                </a:gridCol>
                <a:gridCol w="4695283">
                  <a:extLst>
                    <a:ext uri="{9D8B030D-6E8A-4147-A177-3AD203B41FA5}">
                      <a16:colId xmlns:a16="http://schemas.microsoft.com/office/drawing/2014/main" val="2477666348"/>
                    </a:ext>
                  </a:extLst>
                </a:gridCol>
              </a:tblGrid>
              <a:tr h="95416">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A/C</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STA</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ROUTE</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DATE</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EVENT</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REASON</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ACTION TAKEN</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ATA</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14998444"/>
                  </a:ext>
                </a:extLst>
              </a:tr>
              <a:tr h="1490870">
                <a:tc>
                  <a:txBody>
                    <a:bodyPr/>
                    <a:lstStyle/>
                    <a:p>
                      <a:pPr algn="l" fontAlgn="ctr"/>
                      <a:r>
                        <a:rPr lang="en-US" sz="1100" b="0" i="0" u="none" strike="noStrike" dirty="0">
                          <a:solidFill>
                            <a:srgbClr val="000000"/>
                          </a:solidFill>
                          <a:effectLst/>
                          <a:latin typeface="Calibri" panose="020F0502020204030204" pitchFamily="34" charset="0"/>
                        </a:rPr>
                        <a:t>B223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SGN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VN8091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SGN-VCS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23-03-25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RTO</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DURING ON  TAXI  WAY  CAPT CALL VHF INFORM  A/C HAS DEFFECT: ATCS  NOT ARM INTERMITTENT AND CAPT DECIDED GTB TO PARKING 2 , TSV IS READY , T/S INPROGRESS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dirty="0">
                          <a:solidFill>
                            <a:srgbClr val="000000"/>
                          </a:solidFill>
                          <a:effectLst/>
                          <a:latin typeface="Calibri" panose="020F0502020204030204" pitchFamily="34" charset="0"/>
                        </a:rPr>
                        <a:t>C/O RAISED ADD FOR  ATPCS   INOP, A/C SERVICEABLE</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A/C WAITING FOR OFFLOAD PAX, LUGGAGE DUE TO REDUCED LOAD</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61-22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100" b="0" i="0" u="none" strike="noStrike" dirty="0" smtClean="0">
                          <a:solidFill>
                            <a:srgbClr val="000000"/>
                          </a:solidFill>
                          <a:effectLst/>
                          <a:latin typeface="Calibri" panose="020F0502020204030204" pitchFamily="34" charset="0"/>
                        </a:rPr>
                        <a:t>Tàu B223 phát sinh hỏng hóc trong quá trình cất cánh do tổ bay thấy đèn ATPCS not ARM Intermittent trước vận tốc V1 và đã quyết định Reject T/O, tổ bay thực hiện reset hệ thống hoạt động bình thường. Hiện tại VAECO sẽ raise ADD ATPCS INOP và sẽ thực hiện kiểm tra lại tại nightstop theo khuyến cáo của ATR liên quan đến hỏng hóc này (Sensor, Connector, Relays, Switch). Sẽ cho dowload QAR bao gồm các dữ liệu liên quan đến hệ thống ATPCS để gửi ATR phân tích tìm hiểu nguyên nhân.</a:t>
                      </a:r>
                    </a:p>
                    <a:p>
                      <a:pPr algn="l" fontAlgn="ctr"/>
                      <a:r>
                        <a:rPr lang="vi-VN" sz="1100" b="0" i="0" u="none" strike="noStrike" dirty="0" smtClean="0">
                          <a:solidFill>
                            <a:srgbClr val="000000"/>
                          </a:solidFill>
                          <a:effectLst/>
                          <a:latin typeface="Calibri" panose="020F0502020204030204" pitchFamily="34" charset="0"/>
                        </a:rPr>
                        <a:t>Trước đó ngày 8/3/2025 B223 đã xảy ra hỏng hóc tương tự phát sinh trong quá trình cất cánh do tổ bay thấy đèn ATPCS not ARM trước vận tốc V1 và đã quyết định Reject T/O, sau đó tổ bay liên lạc VAECO và thực hiện dynamic test lại theo yêu cầu của CRS thì thấy hệ thống hoạt động bình thường. VAECO đã thực hiện kiểm tra lại tại nightstop theo khuyến cáo của ATR liên quan đến hỏng hóc này (Sensor, Connector, Relays, Switch) tuy nhiên không phát hiện gì bất thường và đã cho thay chủ động AFU #1 có giờ cao hơn để tiếp tục theo dõi. Dữ liệu QAR đã được gửi đên ATR để phân tích, phía ATR phản hồi không phát hiện được nguyên nhân gốc do thiếu các dữ liệu liên quan đến Power lever microswitch, Power management switch, and ATPCS pushbutton data in the QAR dataset.</a:t>
                      </a:r>
                    </a:p>
                    <a:p>
                      <a:pPr algn="l" fontAlgn="ctr"/>
                      <a:r>
                        <a:rPr lang="vi-VN" sz="1100" b="0" i="0" u="none" strike="noStrike" dirty="0" smtClean="0">
                          <a:solidFill>
                            <a:srgbClr val="000000"/>
                          </a:solidFill>
                          <a:effectLst/>
                          <a:latin typeface="Calibri" panose="020F0502020204030204" pitchFamily="34" charset="0"/>
                        </a:rPr>
                        <a:t>Theo thống kê ĐTC thì từ 2015-nay có 14 hỏng hóc (2018: 01, 2019: 05, 2020: 04, 2021: 01, 2024: 01, 2025: 01) liên quan đến hệ thống ATPCS trong đó có 06 lần khắc do hỏng hóc khối Auto Feather Unit (AFU), 01 lần do khối APTCS test switch, còn lại khắc phục do opt test.</a:t>
                      </a:r>
                    </a:p>
                    <a:p>
                      <a:pPr algn="l" fontAlgn="ctr"/>
                      <a:r>
                        <a:rPr lang="vi-VN" sz="1100" b="0" i="0" u="none" strike="noStrike" dirty="0" smtClean="0">
                          <a:solidFill>
                            <a:srgbClr val="000000"/>
                          </a:solidFill>
                          <a:effectLst/>
                          <a:latin typeface="Calibri" panose="020F0502020204030204" pitchFamily="34" charset="0"/>
                        </a:rPr>
                        <a:t>Tàu B223 lắp 2 khối AFU:</a:t>
                      </a:r>
                    </a:p>
                    <a:p>
                      <a:pPr algn="l" fontAlgn="ctr"/>
                      <a:r>
                        <a:rPr lang="vi-VN" sz="1100" b="0" i="0" u="none" strike="noStrike" dirty="0" smtClean="0">
                          <a:solidFill>
                            <a:srgbClr val="000000"/>
                          </a:solidFill>
                          <a:effectLst/>
                          <a:latin typeface="Calibri" panose="020F0502020204030204" pitchFamily="34" charset="0"/>
                        </a:rPr>
                        <a:t>•	AFU#1 vừa mới thay có S/N: RTY1411 có TSR = 83 FH tháo đi sửa từ 2020 do lỗi ATPCS not arm vừa mới được lắp lại B223.</a:t>
                      </a:r>
                    </a:p>
                    <a:p>
                      <a:pPr algn="l" fontAlgn="ctr"/>
                      <a:r>
                        <a:rPr lang="vi-VN" sz="1100" b="0" i="0" u="none" strike="noStrike" dirty="0" smtClean="0">
                          <a:solidFill>
                            <a:srgbClr val="000000"/>
                          </a:solidFill>
                          <a:effectLst/>
                          <a:latin typeface="Calibri" panose="020F0502020204030204" pitchFamily="34" charset="0"/>
                        </a:rPr>
                        <a:t>•	AFU#2 S/N: MM1760 (thuộc động cơ thuê Willis) có TSR= 2880 FH. Khối này có ngưỡng OVH soft-time 12000 FH, hiện tại vẫn thực hiện khi được gửi đi shop cùng động cơ.</a:t>
                      </a:r>
                    </a:p>
                    <a:p>
                      <a:pPr algn="l" fontAlgn="ctr"/>
                      <a:endParaRPr lang="vi-VN"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04762513"/>
                  </a:ext>
                </a:extLst>
              </a:tr>
            </a:tbl>
          </a:graphicData>
        </a:graphic>
      </p:graphicFrame>
    </p:spTree>
    <p:custDataLst>
      <p:tags r:id="rId1"/>
    </p:custDataLst>
    <p:extLst>
      <p:ext uri="{BB962C8B-B14F-4D97-AF65-F5344CB8AC3E}">
        <p14:creationId xmlns:p14="http://schemas.microsoft.com/office/powerpoint/2010/main" val="1203624134"/>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4</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07979" y="295296"/>
            <a:ext cx="11556838" cy="424691"/>
          </a:xfrm>
          <a:prstGeom prst="rect">
            <a:avLst/>
          </a:prstGeom>
          <a:noFill/>
          <a:ln>
            <a:noFill/>
          </a:ln>
        </p:spPr>
        <p:txBody>
          <a:bodyPr spcFirstLastPara="1" wrap="square" lIns="91433" tIns="45700" rIns="91433" bIns="45700" anchor="t" anchorCtr="0">
            <a:spAutoFit/>
          </a:bodyPr>
          <a:lstStyle/>
          <a:p>
            <a:pPr lvl="0">
              <a:lnSpc>
                <a:spcPct val="90000"/>
              </a:lnSpc>
              <a:buClr>
                <a:srgbClr val="DEA610"/>
              </a:buClr>
              <a:buSzPts val="2100"/>
            </a:pPr>
            <a:r>
              <a:rPr lang="en-US" sz="24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SemiBold"/>
              </a:rPr>
              <a:t>CÁC CHUYẾN BAY DELAY ĐẦU NGÀY VÀ DELAY DO THAY LỐP</a:t>
            </a:r>
            <a:endParaRPr sz="24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a:endParaRPr>
          </a:p>
        </p:txBody>
      </p:sp>
      <p:sp>
        <p:nvSpPr>
          <p:cNvPr id="6" name="TextBox 5">
            <a:extLst>
              <a:ext uri="{FF2B5EF4-FFF2-40B4-BE49-F238E27FC236}">
                <a16:creationId xmlns:a16="http://schemas.microsoft.com/office/drawing/2014/main" id="{2A0D8269-7016-40C9-871E-187A7FEACF1F}"/>
              </a:ext>
            </a:extLst>
          </p:cNvPr>
          <p:cNvSpPr txBox="1"/>
          <p:nvPr/>
        </p:nvSpPr>
        <p:spPr>
          <a:xfrm>
            <a:off x="302664" y="743554"/>
            <a:ext cx="11171451" cy="338554"/>
          </a:xfrm>
          <a:prstGeom prst="rect">
            <a:avLst/>
          </a:prstGeom>
          <a:noFill/>
        </p:spPr>
        <p:txBody>
          <a:bodyPr wrap="square">
            <a:spAutoFit/>
          </a:bodyPr>
          <a:lstStyle/>
          <a:p>
            <a:pPr algn="just">
              <a:buClrTx/>
              <a:buFontTx/>
              <a:buNone/>
              <a:defRPr/>
            </a:pPr>
            <a:r>
              <a:rPr lang="en-US" sz="1600" b="1" dirty="0">
                <a:solidFill>
                  <a:prstClr val="black"/>
                </a:solidFill>
                <a:latin typeface="Times New Roman" panose="02020603050405020304" pitchFamily="18" charset="0"/>
                <a:cs typeface="Times New Roman" panose="02020603050405020304" pitchFamily="18" charset="0"/>
              </a:rPr>
              <a:t>CÁC CHUYẾN BAY DELAY ĐẦU NGÀY</a:t>
            </a:r>
          </a:p>
        </p:txBody>
      </p:sp>
      <p:graphicFrame>
        <p:nvGraphicFramePr>
          <p:cNvPr id="3" name="Table 2"/>
          <p:cNvGraphicFramePr>
            <a:graphicFrameLocks noGrp="1"/>
          </p:cNvGraphicFramePr>
          <p:nvPr>
            <p:extLst>
              <p:ext uri="{D42A27DB-BD31-4B8C-83A1-F6EECF244321}">
                <p14:modId xmlns:p14="http://schemas.microsoft.com/office/powerpoint/2010/main" val="3897920615"/>
              </p:ext>
            </p:extLst>
          </p:nvPr>
        </p:nvGraphicFramePr>
        <p:xfrm>
          <a:off x="301591" y="1079799"/>
          <a:ext cx="11463226" cy="882660"/>
        </p:xfrm>
        <a:graphic>
          <a:graphicData uri="http://schemas.openxmlformats.org/drawingml/2006/table">
            <a:tbl>
              <a:tblPr/>
              <a:tblGrid>
                <a:gridCol w="427560">
                  <a:extLst>
                    <a:ext uri="{9D8B030D-6E8A-4147-A177-3AD203B41FA5}">
                      <a16:colId xmlns:a16="http://schemas.microsoft.com/office/drawing/2014/main" val="1400939127"/>
                    </a:ext>
                  </a:extLst>
                </a:gridCol>
                <a:gridCol w="531561">
                  <a:extLst>
                    <a:ext uri="{9D8B030D-6E8A-4147-A177-3AD203B41FA5}">
                      <a16:colId xmlns:a16="http://schemas.microsoft.com/office/drawing/2014/main" val="815328117"/>
                    </a:ext>
                  </a:extLst>
                </a:gridCol>
                <a:gridCol w="381337">
                  <a:extLst>
                    <a:ext uri="{9D8B030D-6E8A-4147-A177-3AD203B41FA5}">
                      <a16:colId xmlns:a16="http://schemas.microsoft.com/office/drawing/2014/main" val="1720360630"/>
                    </a:ext>
                  </a:extLst>
                </a:gridCol>
                <a:gridCol w="1155567">
                  <a:extLst>
                    <a:ext uri="{9D8B030D-6E8A-4147-A177-3AD203B41FA5}">
                      <a16:colId xmlns:a16="http://schemas.microsoft.com/office/drawing/2014/main" val="1684777201"/>
                    </a:ext>
                  </a:extLst>
                </a:gridCol>
                <a:gridCol w="392893">
                  <a:extLst>
                    <a:ext uri="{9D8B030D-6E8A-4147-A177-3AD203B41FA5}">
                      <a16:colId xmlns:a16="http://schemas.microsoft.com/office/drawing/2014/main" val="1451179484"/>
                    </a:ext>
                  </a:extLst>
                </a:gridCol>
                <a:gridCol w="751118">
                  <a:extLst>
                    <a:ext uri="{9D8B030D-6E8A-4147-A177-3AD203B41FA5}">
                      <a16:colId xmlns:a16="http://schemas.microsoft.com/office/drawing/2014/main" val="2273417757"/>
                    </a:ext>
                  </a:extLst>
                </a:gridCol>
                <a:gridCol w="658673">
                  <a:extLst>
                    <a:ext uri="{9D8B030D-6E8A-4147-A177-3AD203B41FA5}">
                      <a16:colId xmlns:a16="http://schemas.microsoft.com/office/drawing/2014/main" val="3922052826"/>
                    </a:ext>
                  </a:extLst>
                </a:gridCol>
                <a:gridCol w="774230">
                  <a:extLst>
                    <a:ext uri="{9D8B030D-6E8A-4147-A177-3AD203B41FA5}">
                      <a16:colId xmlns:a16="http://schemas.microsoft.com/office/drawing/2014/main" val="3029852354"/>
                    </a:ext>
                  </a:extLst>
                </a:gridCol>
                <a:gridCol w="2403580">
                  <a:extLst>
                    <a:ext uri="{9D8B030D-6E8A-4147-A177-3AD203B41FA5}">
                      <a16:colId xmlns:a16="http://schemas.microsoft.com/office/drawing/2014/main" val="2636508086"/>
                    </a:ext>
                  </a:extLst>
                </a:gridCol>
                <a:gridCol w="3986707">
                  <a:extLst>
                    <a:ext uri="{9D8B030D-6E8A-4147-A177-3AD203B41FA5}">
                      <a16:colId xmlns:a16="http://schemas.microsoft.com/office/drawing/2014/main" val="1882276902"/>
                    </a:ext>
                  </a:extLst>
                </a:gridCol>
              </a:tblGrid>
              <a:tr h="289698">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NO</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FLEET</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A/C</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STA</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ROUTINE</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39288818"/>
                  </a:ext>
                </a:extLst>
              </a:tr>
              <a:tr h="496179">
                <a:tc>
                  <a:txBody>
                    <a:bodyPr/>
                    <a:lstStyle/>
                    <a:p>
                      <a:pPr algn="ctr" fontAlgn="ctr"/>
                      <a:r>
                        <a:rPr lang="en-US" sz="1100" b="0" i="0" u="none" strike="noStrike" dirty="0">
                          <a:solidFill>
                            <a:srgbClr val="000000"/>
                          </a:solidFill>
                          <a:effectLst/>
                          <a:latin typeface="Times New Roman" panose="02020603050405020304" pitchFamily="18" charset="0"/>
                        </a:rPr>
                        <a:t>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A321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A390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100" b="0" i="0" u="none" strike="noStrike">
                          <a:solidFill>
                            <a:srgbClr val="000000"/>
                          </a:solidFill>
                          <a:effectLst/>
                          <a:latin typeface="Times New Roman" panose="02020603050405020304" pitchFamily="18" charset="0"/>
                        </a:rPr>
                        <a:t>21-Mar-2025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SGN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smtClean="0">
                          <a:solidFill>
                            <a:srgbClr val="000000"/>
                          </a:solidFill>
                          <a:effectLst/>
                          <a:latin typeface="Times New Roman" panose="02020603050405020304" pitchFamily="18" charset="0"/>
                        </a:rPr>
                        <a:t>14</a:t>
                      </a:r>
                      <a:endParaRPr lang="en-US" sz="1100" b="0" i="0" u="none" strike="noStrike" dirty="0">
                        <a:solidFill>
                          <a:srgbClr val="000000"/>
                        </a:solidFill>
                        <a:effectLst/>
                        <a:latin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VN1366</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SGN-UIH</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dirty="0" err="1">
                          <a:solidFill>
                            <a:srgbClr val="000000"/>
                          </a:solidFill>
                          <a:effectLst/>
                          <a:latin typeface="Times New Roman" panose="02020603050405020304" pitchFamily="18" charset="0"/>
                        </a:rPr>
                        <a:t>phát</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sinh</a:t>
                      </a:r>
                      <a:r>
                        <a:rPr lang="en-US" sz="1100" b="0" i="0" u="none" strike="noStrike" dirty="0">
                          <a:solidFill>
                            <a:srgbClr val="000000"/>
                          </a:solidFill>
                          <a:effectLst/>
                          <a:latin typeface="Times New Roman" panose="02020603050405020304" pitchFamily="18" charset="0"/>
                        </a:rPr>
                        <a:t> ADD ENG #2: RUBBER SEAL  AT POS 11 O`CLOCK DAMAGE </a:t>
                      </a:r>
                      <a:r>
                        <a:rPr lang="en-US" sz="1100" b="0" i="0" u="none" strike="noStrike" dirty="0" err="1">
                          <a:solidFill>
                            <a:srgbClr val="000000"/>
                          </a:solidFill>
                          <a:effectLst/>
                          <a:latin typeface="Times New Roman" panose="02020603050405020304" pitchFamily="18" charset="0"/>
                        </a:rPr>
                        <a:t>hạn</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có</a:t>
                      </a:r>
                      <a:r>
                        <a:rPr lang="en-US" sz="1100" b="0" i="0" u="none" strike="noStrike" dirty="0">
                          <a:solidFill>
                            <a:srgbClr val="000000"/>
                          </a:solidFill>
                          <a:effectLst/>
                          <a:latin typeface="Times New Roman" panose="02020603050405020304" pitchFamily="18" charset="0"/>
                        </a:rPr>
                        <a:t> 5FC, </a:t>
                      </a:r>
                      <a:r>
                        <a:rPr lang="en-US" sz="1100" b="0" i="0" u="none" strike="noStrike" dirty="0" err="1">
                          <a:solidFill>
                            <a:srgbClr val="000000"/>
                          </a:solidFill>
                          <a:effectLst/>
                          <a:latin typeface="Times New Roman" panose="02020603050405020304" pitchFamily="18" charset="0"/>
                        </a:rPr>
                        <a:t>cần</a:t>
                      </a:r>
                      <a:r>
                        <a:rPr lang="en-US" sz="1100" b="0" i="0" u="none" strike="noStrike" dirty="0">
                          <a:solidFill>
                            <a:srgbClr val="000000"/>
                          </a:solidFill>
                          <a:effectLst/>
                          <a:latin typeface="Times New Roman" panose="02020603050405020304" pitchFamily="18" charset="0"/>
                        </a:rPr>
                        <a:t> N/S HAN </a:t>
                      </a:r>
                      <a:r>
                        <a:rPr lang="en-US" sz="1100" b="0" i="0" u="none" strike="noStrike" dirty="0" err="1">
                          <a:solidFill>
                            <a:srgbClr val="000000"/>
                          </a:solidFill>
                          <a:effectLst/>
                          <a:latin typeface="Times New Roman" panose="02020603050405020304" pitchFamily="18" charset="0"/>
                        </a:rPr>
                        <a:t>để</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khắc</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phục</a:t>
                      </a:r>
                      <a:endParaRPr lang="en-US" sz="1100" b="0" i="0" u="none" strike="noStrike" dirty="0">
                        <a:solidFill>
                          <a:srgbClr val="000000"/>
                        </a:solidFill>
                        <a:effectLst/>
                        <a:latin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200" b="0" i="0" u="none" strike="noStrike" dirty="0" err="1" smtClean="0">
                          <a:solidFill>
                            <a:srgbClr val="000000"/>
                          </a:solidFill>
                          <a:effectLst/>
                          <a:latin typeface="Times New Roman" panose="02020603050405020304" pitchFamily="18" charset="0"/>
                          <a:cs typeface="Times New Roman" panose="02020603050405020304" pitchFamily="18" charset="0"/>
                        </a:rPr>
                        <a:t>Tàu</a:t>
                      </a:r>
                      <a:r>
                        <a:rPr lang="en-US" sz="1200" b="0" i="0" u="none" strike="noStrike" baseline="0" dirty="0" smtClean="0">
                          <a:solidFill>
                            <a:srgbClr val="000000"/>
                          </a:solidFill>
                          <a:effectLst/>
                          <a:latin typeface="Times New Roman" panose="02020603050405020304" pitchFamily="18" charset="0"/>
                          <a:cs typeface="Times New Roman" panose="02020603050405020304" pitchFamily="18" charset="0"/>
                        </a:rPr>
                        <a:t> </a:t>
                      </a:r>
                      <a:r>
                        <a:rPr lang="en-US" sz="1200" b="0" i="0" u="none" strike="noStrike" baseline="0" dirty="0" err="1" smtClean="0">
                          <a:solidFill>
                            <a:srgbClr val="000000"/>
                          </a:solidFill>
                          <a:effectLst/>
                          <a:latin typeface="Times New Roman" panose="02020603050405020304" pitchFamily="18" charset="0"/>
                          <a:cs typeface="Times New Roman" panose="02020603050405020304" pitchFamily="18" charset="0"/>
                        </a:rPr>
                        <a:t>sau</a:t>
                      </a:r>
                      <a:r>
                        <a:rPr lang="en-US" sz="1200" b="0" i="0" u="none" strike="noStrike" baseline="0" dirty="0" smtClean="0">
                          <a:solidFill>
                            <a:srgbClr val="000000"/>
                          </a:solidFill>
                          <a:effectLst/>
                          <a:latin typeface="Times New Roman" panose="02020603050405020304" pitchFamily="18" charset="0"/>
                          <a:cs typeface="Times New Roman" panose="02020603050405020304" pitchFamily="18" charset="0"/>
                        </a:rPr>
                        <a:t> </a:t>
                      </a:r>
                      <a:r>
                        <a:rPr lang="en-US" sz="1200" b="0" i="0" u="none" strike="noStrike" baseline="0" dirty="0" err="1" smtClean="0">
                          <a:solidFill>
                            <a:srgbClr val="000000"/>
                          </a:solidFill>
                          <a:effectLst/>
                          <a:latin typeface="Times New Roman" panose="02020603050405020304" pitchFamily="18" charset="0"/>
                          <a:cs typeface="Times New Roman" panose="02020603050405020304" pitchFamily="18" charset="0"/>
                        </a:rPr>
                        <a:t>đó</a:t>
                      </a:r>
                      <a:r>
                        <a:rPr lang="en-US" sz="1200" b="0" i="0" u="none" strike="noStrike" baseline="0" dirty="0" smtClean="0">
                          <a:solidFill>
                            <a:srgbClr val="000000"/>
                          </a:solidFill>
                          <a:effectLst/>
                          <a:latin typeface="Times New Roman" panose="02020603050405020304" pitchFamily="18" charset="0"/>
                          <a:cs typeface="Times New Roman" panose="02020603050405020304" pitchFamily="18" charset="0"/>
                        </a:rPr>
                        <a:t> </a:t>
                      </a:r>
                      <a:r>
                        <a:rPr lang="en-US" sz="1200" b="0" i="0" u="none" strike="noStrike" baseline="0" dirty="0" err="1" smtClean="0">
                          <a:solidFill>
                            <a:srgbClr val="000000"/>
                          </a:solidFill>
                          <a:effectLst/>
                          <a:latin typeface="Times New Roman" panose="02020603050405020304" pitchFamily="18" charset="0"/>
                          <a:cs typeface="Times New Roman" panose="02020603050405020304" pitchFamily="18" charset="0"/>
                        </a:rPr>
                        <a:t>đã</a:t>
                      </a:r>
                      <a:r>
                        <a:rPr lang="en-US" sz="1200" b="0" i="0" u="none" strike="noStrike" baseline="0" dirty="0" smtClean="0">
                          <a:solidFill>
                            <a:srgbClr val="000000"/>
                          </a:solidFill>
                          <a:effectLst/>
                          <a:latin typeface="Times New Roman" panose="02020603050405020304" pitchFamily="18" charset="0"/>
                          <a:cs typeface="Times New Roman" panose="02020603050405020304" pitchFamily="18" charset="0"/>
                        </a:rPr>
                        <a:t> </a:t>
                      </a:r>
                      <a:r>
                        <a:rPr lang="en-US" sz="1200" b="0" i="0" u="none" strike="noStrike" baseline="0" dirty="0" err="1" smtClean="0">
                          <a:solidFill>
                            <a:srgbClr val="000000"/>
                          </a:solidFill>
                          <a:effectLst/>
                          <a:latin typeface="Times New Roman" panose="02020603050405020304" pitchFamily="18" charset="0"/>
                          <a:cs typeface="Times New Roman" panose="02020603050405020304" pitchFamily="18" charset="0"/>
                        </a:rPr>
                        <a:t>thực</a:t>
                      </a:r>
                      <a:r>
                        <a:rPr lang="en-US" sz="1200" b="0" i="0" u="none" strike="noStrike" baseline="0" dirty="0" smtClean="0">
                          <a:solidFill>
                            <a:srgbClr val="000000"/>
                          </a:solidFill>
                          <a:effectLst/>
                          <a:latin typeface="Times New Roman" panose="02020603050405020304" pitchFamily="18" charset="0"/>
                          <a:cs typeface="Times New Roman" panose="02020603050405020304" pitchFamily="18" charset="0"/>
                        </a:rPr>
                        <a:t> </a:t>
                      </a:r>
                      <a:r>
                        <a:rPr lang="en-US" sz="1200" b="0" i="0" u="none" strike="noStrike" baseline="0" dirty="0" err="1" smtClean="0">
                          <a:solidFill>
                            <a:srgbClr val="000000"/>
                          </a:solidFill>
                          <a:effectLst/>
                          <a:latin typeface="Times New Roman" panose="02020603050405020304" pitchFamily="18" charset="0"/>
                          <a:cs typeface="Times New Roman" panose="02020603050405020304" pitchFamily="18" charset="0"/>
                        </a:rPr>
                        <a:t>hiện</a:t>
                      </a:r>
                      <a:r>
                        <a:rPr lang="en-US" sz="1200" b="0" i="0" u="none" strike="noStrike" baseline="0" dirty="0" smtClean="0">
                          <a:solidFill>
                            <a:srgbClr val="000000"/>
                          </a:solidFill>
                          <a:effectLst/>
                          <a:latin typeface="Times New Roman" panose="02020603050405020304" pitchFamily="18" charset="0"/>
                          <a:cs typeface="Times New Roman" panose="02020603050405020304" pitchFamily="18" charset="0"/>
                        </a:rPr>
                        <a:t> </a:t>
                      </a:r>
                      <a:r>
                        <a:rPr lang="en-US" sz="1200" b="0" i="0" u="none" strike="noStrike" baseline="0" dirty="0" err="1" smtClean="0">
                          <a:solidFill>
                            <a:srgbClr val="000000"/>
                          </a:solidFill>
                          <a:effectLst/>
                          <a:latin typeface="Times New Roman" panose="02020603050405020304" pitchFamily="18" charset="0"/>
                          <a:cs typeface="Times New Roman" panose="02020603050405020304" pitchFamily="18" charset="0"/>
                        </a:rPr>
                        <a:t>thay</a:t>
                      </a:r>
                      <a:r>
                        <a:rPr lang="en-US" sz="1200" b="0" i="0" u="none" strike="noStrike" baseline="0" dirty="0" smtClean="0">
                          <a:solidFill>
                            <a:srgbClr val="000000"/>
                          </a:solidFill>
                          <a:effectLst/>
                          <a:latin typeface="Times New Roman" panose="02020603050405020304" pitchFamily="18" charset="0"/>
                          <a:cs typeface="Times New Roman" panose="02020603050405020304" pitchFamily="18" charset="0"/>
                        </a:rPr>
                        <a:t> rubber seal</a:t>
                      </a:r>
                      <a:endParaRPr lang="vi-V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97811605"/>
                  </a:ext>
                </a:extLst>
              </a:tr>
            </a:tbl>
          </a:graphicData>
        </a:graphic>
      </p:graphicFrame>
      <p:sp>
        <p:nvSpPr>
          <p:cNvPr id="5" name="TextBox 4">
            <a:extLst>
              <a:ext uri="{FF2B5EF4-FFF2-40B4-BE49-F238E27FC236}">
                <a16:creationId xmlns:a16="http://schemas.microsoft.com/office/drawing/2014/main" id="{92DF34E4-5EAF-DD7F-DEE2-26E7FBD9CDA2}"/>
              </a:ext>
            </a:extLst>
          </p:cNvPr>
          <p:cNvSpPr txBox="1"/>
          <p:nvPr/>
        </p:nvSpPr>
        <p:spPr>
          <a:xfrm>
            <a:off x="400672" y="2207514"/>
            <a:ext cx="11171451" cy="338554"/>
          </a:xfrm>
          <a:prstGeom prst="rect">
            <a:avLst/>
          </a:prstGeom>
          <a:noFill/>
        </p:spPr>
        <p:txBody>
          <a:bodyPr wrap="square">
            <a:spAutoFit/>
          </a:bodyPr>
          <a:lstStyle/>
          <a:p>
            <a:pPr algn="just">
              <a:buClrTx/>
              <a:buFontTx/>
              <a:buNone/>
              <a:defRPr/>
            </a:pPr>
            <a:r>
              <a:rPr lang="en-US" sz="1600" b="1" dirty="0">
                <a:solidFill>
                  <a:prstClr val="black"/>
                </a:solidFill>
                <a:latin typeface="Times New Roman" panose="02020603050405020304" pitchFamily="18" charset="0"/>
                <a:cs typeface="Times New Roman" panose="02020603050405020304" pitchFamily="18" charset="0"/>
              </a:rPr>
              <a:t>CÁC CHUYẾN BAY DELAY DO THAY LỐP</a:t>
            </a:r>
          </a:p>
        </p:txBody>
      </p:sp>
      <p:graphicFrame>
        <p:nvGraphicFramePr>
          <p:cNvPr id="8" name="Table 7"/>
          <p:cNvGraphicFramePr>
            <a:graphicFrameLocks noGrp="1"/>
          </p:cNvGraphicFramePr>
          <p:nvPr>
            <p:extLst>
              <p:ext uri="{D42A27DB-BD31-4B8C-83A1-F6EECF244321}">
                <p14:modId xmlns:p14="http://schemas.microsoft.com/office/powerpoint/2010/main" val="1726564812"/>
              </p:ext>
            </p:extLst>
          </p:nvPr>
        </p:nvGraphicFramePr>
        <p:xfrm>
          <a:off x="301591" y="2525748"/>
          <a:ext cx="11463226" cy="2361644"/>
        </p:xfrm>
        <a:graphic>
          <a:graphicData uri="http://schemas.openxmlformats.org/drawingml/2006/table">
            <a:tbl>
              <a:tblPr/>
              <a:tblGrid>
                <a:gridCol w="580907">
                  <a:extLst>
                    <a:ext uri="{9D8B030D-6E8A-4147-A177-3AD203B41FA5}">
                      <a16:colId xmlns:a16="http://schemas.microsoft.com/office/drawing/2014/main" val="3674468684"/>
                    </a:ext>
                  </a:extLst>
                </a:gridCol>
                <a:gridCol w="348544">
                  <a:extLst>
                    <a:ext uri="{9D8B030D-6E8A-4147-A177-3AD203B41FA5}">
                      <a16:colId xmlns:a16="http://schemas.microsoft.com/office/drawing/2014/main" val="2661305286"/>
                    </a:ext>
                  </a:extLst>
                </a:gridCol>
                <a:gridCol w="1097269">
                  <a:extLst>
                    <a:ext uri="{9D8B030D-6E8A-4147-A177-3AD203B41FA5}">
                      <a16:colId xmlns:a16="http://schemas.microsoft.com/office/drawing/2014/main" val="2048303182"/>
                    </a:ext>
                  </a:extLst>
                </a:gridCol>
                <a:gridCol w="593816">
                  <a:extLst>
                    <a:ext uri="{9D8B030D-6E8A-4147-A177-3AD203B41FA5}">
                      <a16:colId xmlns:a16="http://schemas.microsoft.com/office/drawing/2014/main" val="2906750635"/>
                    </a:ext>
                  </a:extLst>
                </a:gridCol>
                <a:gridCol w="645452">
                  <a:extLst>
                    <a:ext uri="{9D8B030D-6E8A-4147-A177-3AD203B41FA5}">
                      <a16:colId xmlns:a16="http://schemas.microsoft.com/office/drawing/2014/main" val="756422633"/>
                    </a:ext>
                  </a:extLst>
                </a:gridCol>
                <a:gridCol w="619634">
                  <a:extLst>
                    <a:ext uri="{9D8B030D-6E8A-4147-A177-3AD203B41FA5}">
                      <a16:colId xmlns:a16="http://schemas.microsoft.com/office/drawing/2014/main" val="1916856600"/>
                    </a:ext>
                  </a:extLst>
                </a:gridCol>
                <a:gridCol w="567997">
                  <a:extLst>
                    <a:ext uri="{9D8B030D-6E8A-4147-A177-3AD203B41FA5}">
                      <a16:colId xmlns:a16="http://schemas.microsoft.com/office/drawing/2014/main" val="1098231851"/>
                    </a:ext>
                  </a:extLst>
                </a:gridCol>
                <a:gridCol w="2723807">
                  <a:extLst>
                    <a:ext uri="{9D8B030D-6E8A-4147-A177-3AD203B41FA5}">
                      <a16:colId xmlns:a16="http://schemas.microsoft.com/office/drawing/2014/main" val="244507178"/>
                    </a:ext>
                  </a:extLst>
                </a:gridCol>
                <a:gridCol w="4285800">
                  <a:extLst>
                    <a:ext uri="{9D8B030D-6E8A-4147-A177-3AD203B41FA5}">
                      <a16:colId xmlns:a16="http://schemas.microsoft.com/office/drawing/2014/main" val="278955444"/>
                    </a:ext>
                  </a:extLst>
                </a:gridCol>
              </a:tblGrid>
              <a:tr h="324938">
                <a:tc>
                  <a:txBody>
                    <a:bodyPr/>
                    <a:lstStyle/>
                    <a:p>
                      <a:pPr algn="l" fontAlgn="ctr"/>
                      <a:r>
                        <a:rPr lang="en-US" sz="1050" b="0" i="0" u="none" strike="noStrike" dirty="0">
                          <a:solidFill>
                            <a:srgbClr val="000000"/>
                          </a:solidFill>
                          <a:effectLst/>
                          <a:latin typeface="Times New Roman" panose="02020603050405020304" pitchFamily="18" charset="0"/>
                          <a:cs typeface="Times New Roman" panose="02020603050405020304" pitchFamily="18" charset="0"/>
                        </a:rPr>
                        <a:t>FLEET</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A/C</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STA</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ROUTINE</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252737485"/>
                  </a:ext>
                </a:extLst>
              </a:tr>
              <a:tr h="430895">
                <a:tc>
                  <a:txBody>
                    <a:bodyPr/>
                    <a:lstStyle/>
                    <a:p>
                      <a:pPr algn="l" fontAlgn="t"/>
                      <a:r>
                        <a:rPr lang="en-US" sz="1100" b="0" i="0" u="none" strike="noStrike" dirty="0">
                          <a:solidFill>
                            <a:srgbClr val="000000"/>
                          </a:solidFill>
                          <a:effectLst/>
                          <a:latin typeface="Calibri" panose="020F0502020204030204" pitchFamily="34" charset="0"/>
                        </a:rPr>
                        <a:t>B787</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A878</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22:30 20/03/2025</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dirty="0">
                          <a:solidFill>
                            <a:srgbClr val="000000"/>
                          </a:solidFill>
                          <a:effectLst/>
                          <a:latin typeface="Calibri" panose="020F0502020204030204" pitchFamily="34" charset="0"/>
                        </a:rPr>
                        <a:t>SGN</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9</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VN326</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SGN-KIX</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dirty="0">
                          <a:solidFill>
                            <a:srgbClr val="000000"/>
                          </a:solidFill>
                          <a:effectLst/>
                          <a:latin typeface="Calibri" panose="020F0502020204030204" pitchFamily="34" charset="0"/>
                        </a:rPr>
                        <a:t>T/X FOUND RH NW WORN TO LIMIT + MW#5 TREAD GROOVE DEPTH &lt; 1  T/X FOUND RH NW WORN TO LIMIT AND MW#5 TREAD GROOVE DEPTH WORN LESS THAN 1 MM.</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 C/O RPLD RH NW AND MW#5 SATIS EVENT CLOSED C/O RPLD SATIS . A/C SERVICEABLE TOTAL DELAY 9 MINS. TECH DELAY 0 MIN, A/C ARRIVAL LATE : 10 MINS</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91178907"/>
                  </a:ext>
                </a:extLst>
              </a:tr>
              <a:tr h="430895">
                <a:tc>
                  <a:txBody>
                    <a:bodyPr/>
                    <a:lstStyle/>
                    <a:p>
                      <a:pPr algn="l" fontAlgn="t"/>
                      <a:r>
                        <a:rPr lang="en-US" sz="1100" b="0" i="0" u="none" strike="noStrike" dirty="0">
                          <a:solidFill>
                            <a:srgbClr val="000000"/>
                          </a:solidFill>
                          <a:effectLst/>
                          <a:latin typeface="Calibri" panose="020F0502020204030204" pitchFamily="34" charset="0"/>
                        </a:rPr>
                        <a:t>A321</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dirty="0">
                          <a:solidFill>
                            <a:srgbClr val="000000"/>
                          </a:solidFill>
                          <a:effectLst/>
                          <a:latin typeface="Calibri" panose="020F0502020204030204" pitchFamily="34" charset="0"/>
                        </a:rPr>
                        <a:t>A392</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dirty="0">
                          <a:solidFill>
                            <a:srgbClr val="000000"/>
                          </a:solidFill>
                          <a:effectLst/>
                          <a:latin typeface="Calibri" panose="020F0502020204030204" pitchFamily="34" charset="0"/>
                        </a:rPr>
                        <a:t>17:30 21/03/2025</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dirty="0">
                          <a:solidFill>
                            <a:srgbClr val="000000"/>
                          </a:solidFill>
                          <a:effectLst/>
                          <a:latin typeface="Calibri" panose="020F0502020204030204" pitchFamily="34" charset="0"/>
                        </a:rPr>
                        <a:t> </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dirty="0">
                          <a:solidFill>
                            <a:srgbClr val="000000"/>
                          </a:solidFill>
                          <a:effectLst/>
                          <a:latin typeface="Calibri" panose="020F0502020204030204" pitchFamily="34" charset="0"/>
                        </a:rPr>
                        <a:t>40</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VN1940</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dirty="0">
                          <a:solidFill>
                            <a:srgbClr val="000000"/>
                          </a:solidFill>
                          <a:effectLst/>
                          <a:latin typeface="Calibri" panose="020F0502020204030204" pitchFamily="34" charset="0"/>
                        </a:rPr>
                        <a:t>DAD-CXR</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dirty="0">
                          <a:solidFill>
                            <a:srgbClr val="000000"/>
                          </a:solidFill>
                          <a:effectLst/>
                          <a:latin typeface="Calibri" panose="020F0502020204030204" pitchFamily="34" charset="0"/>
                        </a:rPr>
                        <a:t>MAIN WHEEL BRK 1 WORN TO LIMIT </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dirty="0">
                          <a:solidFill>
                            <a:srgbClr val="000000"/>
                          </a:solidFill>
                          <a:effectLst/>
                          <a:latin typeface="Calibri" panose="020F0502020204030204" pitchFamily="34" charset="0"/>
                        </a:rPr>
                        <a:t>BRK #1 WORN TO LIMIT EVENT CLOSED  TOTAL DELAY: 40 MINS</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TECH DELAY: 15 MINS</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A/C ARRIVE LATE: 5 MINS</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28222249"/>
                  </a:ext>
                </a:extLst>
              </a:tr>
              <a:tr h="430895">
                <a:tc>
                  <a:txBody>
                    <a:bodyPr/>
                    <a:lstStyle/>
                    <a:p>
                      <a:pPr algn="l" fontAlgn="t"/>
                      <a:r>
                        <a:rPr lang="en-US" sz="1100" b="0" i="0" u="none" strike="noStrike" dirty="0">
                          <a:solidFill>
                            <a:srgbClr val="000000"/>
                          </a:solidFill>
                          <a:effectLst/>
                          <a:latin typeface="Calibri" panose="020F0502020204030204" pitchFamily="34" charset="0"/>
                        </a:rPr>
                        <a:t>B787</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A879</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dirty="0">
                          <a:solidFill>
                            <a:srgbClr val="000000"/>
                          </a:solidFill>
                          <a:effectLst/>
                          <a:latin typeface="Calibri" panose="020F0502020204030204" pitchFamily="34" charset="0"/>
                        </a:rPr>
                        <a:t>16:00 17/03/2025</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dirty="0">
                          <a:solidFill>
                            <a:srgbClr val="000000"/>
                          </a:solidFill>
                          <a:effectLst/>
                          <a:latin typeface="Calibri" panose="020F0502020204030204" pitchFamily="34" charset="0"/>
                        </a:rPr>
                        <a:t>SGN</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 </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VN252</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dirty="0">
                          <a:solidFill>
                            <a:srgbClr val="000000"/>
                          </a:solidFill>
                          <a:effectLst/>
                          <a:latin typeface="Calibri" panose="020F0502020204030204" pitchFamily="34" charset="0"/>
                        </a:rPr>
                        <a:t>SGN-HAN</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dirty="0">
                          <a:solidFill>
                            <a:srgbClr val="000000"/>
                          </a:solidFill>
                          <a:effectLst/>
                          <a:latin typeface="Calibri" panose="020F0502020204030204" pitchFamily="34" charset="0"/>
                        </a:rPr>
                        <a:t>TRANSIT CHECK FOUND MW #8 INNER SHOULDER CORD EXPOSED TRANSIT CHECK FOUND MW #8 INNER SHOULDER CORD EXPOSED, REMAINING SHOULDER GROOVE DEPTH IS 1 MM</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dirty="0">
                          <a:solidFill>
                            <a:srgbClr val="000000"/>
                          </a:solidFill>
                          <a:effectLst/>
                          <a:latin typeface="Calibri" panose="020F0502020204030204" pitchFamily="34" charset="0"/>
                        </a:rPr>
                        <a:t>REPLACE NEW MW #8 SATIS TRANSIT CHECK FOUND MW #8 INNER SHOULDER CORD EXPOSED EVENT CLOSED  TOTAL DELAY: 7 MINS, TECH DELAY 0 MIN</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5508815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AA5D49C-15C9-37CE-7BA9-BE2BBFA9A454}"/>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0D69D7C3-0595-0160-49CC-961C3B307824}"/>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F0CA75EA-080A-64A9-246F-8C137B5AAA1A}"/>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95B60134-59D7-B9ED-2806-C1F57EA05F77}"/>
              </a:ext>
            </a:extLst>
          </p:cNvPr>
          <p:cNvSpPr txBox="1"/>
          <p:nvPr/>
        </p:nvSpPr>
        <p:spPr>
          <a:xfrm>
            <a:off x="134290" y="107088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smtClean="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smtClean="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5FE3B712-9690-42A3-A50E-24E99475755A}"/>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noProof="0" dirty="0" smtClean="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03</a:t>
            </a:r>
            <a:r>
              <a:rPr kumimoji="0" lang="en-US"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p>
        </p:txBody>
      </p:sp>
      <p:graphicFrame>
        <p:nvGraphicFramePr>
          <p:cNvPr id="3" name="Table 2"/>
          <p:cNvGraphicFramePr>
            <a:graphicFrameLocks noGrp="1"/>
          </p:cNvGraphicFramePr>
          <p:nvPr>
            <p:extLst>
              <p:ext uri="{D42A27DB-BD31-4B8C-83A1-F6EECF244321}">
                <p14:modId xmlns:p14="http://schemas.microsoft.com/office/powerpoint/2010/main" val="3218510920"/>
              </p:ext>
            </p:extLst>
          </p:nvPr>
        </p:nvGraphicFramePr>
        <p:xfrm>
          <a:off x="116181" y="1447800"/>
          <a:ext cx="11706824" cy="2237630"/>
        </p:xfrm>
        <a:graphic>
          <a:graphicData uri="http://schemas.openxmlformats.org/drawingml/2006/table">
            <a:tbl>
              <a:tblPr/>
              <a:tblGrid>
                <a:gridCol w="322909">
                  <a:extLst>
                    <a:ext uri="{9D8B030D-6E8A-4147-A177-3AD203B41FA5}">
                      <a16:colId xmlns:a16="http://schemas.microsoft.com/office/drawing/2014/main" val="1793832132"/>
                    </a:ext>
                  </a:extLst>
                </a:gridCol>
                <a:gridCol w="838200">
                  <a:extLst>
                    <a:ext uri="{9D8B030D-6E8A-4147-A177-3AD203B41FA5}">
                      <a16:colId xmlns:a16="http://schemas.microsoft.com/office/drawing/2014/main" val="109558353"/>
                    </a:ext>
                  </a:extLst>
                </a:gridCol>
                <a:gridCol w="685800">
                  <a:extLst>
                    <a:ext uri="{9D8B030D-6E8A-4147-A177-3AD203B41FA5}">
                      <a16:colId xmlns:a16="http://schemas.microsoft.com/office/drawing/2014/main" val="2981346840"/>
                    </a:ext>
                  </a:extLst>
                </a:gridCol>
                <a:gridCol w="381000">
                  <a:extLst>
                    <a:ext uri="{9D8B030D-6E8A-4147-A177-3AD203B41FA5}">
                      <a16:colId xmlns:a16="http://schemas.microsoft.com/office/drawing/2014/main" val="1585845206"/>
                    </a:ext>
                  </a:extLst>
                </a:gridCol>
                <a:gridCol w="3886200">
                  <a:extLst>
                    <a:ext uri="{9D8B030D-6E8A-4147-A177-3AD203B41FA5}">
                      <a16:colId xmlns:a16="http://schemas.microsoft.com/office/drawing/2014/main" val="1507092633"/>
                    </a:ext>
                  </a:extLst>
                </a:gridCol>
                <a:gridCol w="3048000">
                  <a:extLst>
                    <a:ext uri="{9D8B030D-6E8A-4147-A177-3AD203B41FA5}">
                      <a16:colId xmlns:a16="http://schemas.microsoft.com/office/drawing/2014/main" val="2589245263"/>
                    </a:ext>
                  </a:extLst>
                </a:gridCol>
                <a:gridCol w="381000">
                  <a:extLst>
                    <a:ext uri="{9D8B030D-6E8A-4147-A177-3AD203B41FA5}">
                      <a16:colId xmlns:a16="http://schemas.microsoft.com/office/drawing/2014/main" val="908218"/>
                    </a:ext>
                  </a:extLst>
                </a:gridCol>
                <a:gridCol w="2163715">
                  <a:extLst>
                    <a:ext uri="{9D8B030D-6E8A-4147-A177-3AD203B41FA5}">
                      <a16:colId xmlns:a16="http://schemas.microsoft.com/office/drawing/2014/main" val="649488762"/>
                    </a:ext>
                  </a:extLst>
                </a:gridCol>
              </a:tblGrid>
              <a:tr h="388827">
                <a:tc>
                  <a:txBody>
                    <a:bodyPr/>
                    <a:lstStyle/>
                    <a:p>
                      <a:pPr algn="l" fontAlgn="ctr"/>
                      <a:r>
                        <a:rPr lang="en-US" sz="1000" b="0" i="0" u="none" strike="noStrike" dirty="0">
                          <a:solidFill>
                            <a:srgbClr val="000000"/>
                          </a:solidFill>
                          <a:effectLst/>
                          <a:latin typeface="Calibri" panose="020F0502020204030204" pitchFamily="34" charset="0"/>
                        </a:rPr>
                        <a:t>A/C</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Calibri" panose="020F0502020204030204" pitchFamily="34" charset="0"/>
                        </a:rPr>
                        <a:t>OPEN DATE</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Calibri" panose="020F0502020204030204" pitchFamily="34" charset="0"/>
                        </a:rPr>
                        <a:t>CLOSED DATE</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dirty="0">
                          <a:solidFill>
                            <a:srgbClr val="000000"/>
                          </a:solidFill>
                          <a:effectLst/>
                          <a:latin typeface="Calibri" panose="020F0502020204030204" pitchFamily="34" charset="0"/>
                        </a:rPr>
                        <a:t>STA</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Calibri" panose="020F0502020204030204" pitchFamily="34" charset="0"/>
                        </a:rPr>
                        <a:t>DEFECT</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dirty="0">
                          <a:solidFill>
                            <a:srgbClr val="000000"/>
                          </a:solidFill>
                          <a:effectLst/>
                          <a:latin typeface="Calibri" panose="020F0502020204030204" pitchFamily="34" charset="0"/>
                        </a:rPr>
                        <a:t>ACTION</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Calibri" panose="020F0502020204030204" pitchFamily="34" charset="0"/>
                        </a:rPr>
                        <a:t>ATA</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Calibri" panose="020F0502020204030204" pitchFamily="34" charset="0"/>
                        </a:rPr>
                        <a:t>Engineering Assessment</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722022239"/>
                  </a:ext>
                </a:extLst>
              </a:tr>
              <a:tr h="1749722">
                <a:tc>
                  <a:txBody>
                    <a:bodyPr/>
                    <a:lstStyle/>
                    <a:p>
                      <a:pPr algn="l" fontAlgn="b"/>
                      <a:r>
                        <a:rPr lang="en-US" sz="1100" b="0" i="0" u="none" strike="noStrike" dirty="0">
                          <a:solidFill>
                            <a:srgbClr val="000000"/>
                          </a:solidFill>
                          <a:effectLst/>
                          <a:latin typeface="Calibri" panose="020F0502020204030204" pitchFamily="34" charset="0"/>
                        </a:rPr>
                        <a:t>A356</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04:40 19/03/2025</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14:20 19/03/2025</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HAN</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C/O WO 7092703 T/S ENG #2 HIGH OIL CONSUMPTION </a:t>
                      </a:r>
                      <a:r>
                        <a:rPr lang="en-US" sz="1100" b="0" i="0" u="none" strike="noStrike" dirty="0" smtClean="0">
                          <a:solidFill>
                            <a:srgbClr val="000000"/>
                          </a:solidFill>
                          <a:effectLst/>
                          <a:latin typeface="Calibri" panose="020F0502020204030204" pitchFamily="34" charset="0"/>
                        </a:rPr>
                        <a:t>1</a:t>
                      </a:r>
                      <a:r>
                        <a:rPr lang="en-US" sz="1100" b="0" i="0" u="none" strike="noStrike" dirty="0">
                          <a:solidFill>
                            <a:srgbClr val="000000"/>
                          </a:solidFill>
                          <a:effectLst/>
                          <a:latin typeface="Calibri" panose="020F0502020204030204" pitchFamily="34" charset="0"/>
                        </a:rPr>
                        <a:t>. STEP 4.A(3) DO THE CHECK OF THE OIL SYSTEM EXTERNALS FOR SIGNS OF LEAKAGE AFTER C/O ITEM 08 HIGH POWER ASSURRANCE TEST FOUND OIL LEAK AT OIL SCAVENGE TUBE BEARING NO 5 AT END TUBE BIFFERCATION PANEL AND TUBE ASSY REF IPC 79-22-49-80A ITEM 500(PRE SB79-0088</a:t>
                      </a:r>
                      <a:r>
                        <a:rPr lang="en-US" sz="1100" b="0" i="0" u="none" strike="noStrike" dirty="0" smtClean="0">
                          <a:solidFill>
                            <a:srgbClr val="000000"/>
                          </a:solidFill>
                          <a:effectLst/>
                          <a:latin typeface="Calibri" panose="020F0502020204030204" pitchFamily="34" charset="0"/>
                        </a:rPr>
                        <a:t>).</a:t>
                      </a:r>
                      <a:r>
                        <a:rPr lang="en-US" sz="1100" b="0" i="0" u="none" strike="noStrike" dirty="0">
                          <a:solidFill>
                            <a:srgbClr val="000000"/>
                          </a:solidFill>
                          <a:effectLst/>
                          <a:latin typeface="Calibri" panose="020F0502020204030204" pitchFamily="34" charset="0"/>
                        </a:rPr>
                        <a:t/>
                      </a:r>
                      <a:br>
                        <a:rPr lang="en-US" sz="1100" b="0" i="0" u="none" strike="noStrike" dirty="0">
                          <a:solidFill>
                            <a:srgbClr val="000000"/>
                          </a:solidFill>
                          <a:effectLst/>
                          <a:latin typeface="Calibri" panose="020F0502020204030204" pitchFamily="34" charset="0"/>
                        </a:rPr>
                      </a:br>
                      <a:r>
                        <a:rPr lang="en-US" sz="1100" b="0" i="0" u="none" strike="noStrike" dirty="0" smtClean="0">
                          <a:solidFill>
                            <a:srgbClr val="000000"/>
                          </a:solidFill>
                          <a:effectLst/>
                          <a:latin typeface="Calibri" panose="020F0502020204030204" pitchFamily="34" charset="0"/>
                        </a:rPr>
                        <a:t>NO </a:t>
                      </a:r>
                      <a:r>
                        <a:rPr lang="en-US" sz="1100" b="0" i="0" u="none" strike="noStrike" dirty="0">
                          <a:solidFill>
                            <a:srgbClr val="000000"/>
                          </a:solidFill>
                          <a:effectLst/>
                          <a:latin typeface="Calibri" panose="020F0502020204030204" pitchFamily="34" charset="0"/>
                        </a:rPr>
                        <a:t>AMM/ IETP for replace the tube. Upper tube (</a:t>
                      </a:r>
                      <a:r>
                        <a:rPr lang="en-US" sz="1100" b="0" i="0" u="none" strike="noStrike" dirty="0" err="1">
                          <a:solidFill>
                            <a:srgbClr val="000000"/>
                          </a:solidFill>
                          <a:effectLst/>
                          <a:latin typeface="Calibri" panose="020F0502020204030204" pitchFamily="34" charset="0"/>
                        </a:rPr>
                        <a:t>ipc</a:t>
                      </a:r>
                      <a:r>
                        <a:rPr lang="en-US" sz="1100" b="0" i="0" u="none" strike="noStrike" dirty="0">
                          <a:solidFill>
                            <a:srgbClr val="000000"/>
                          </a:solidFill>
                          <a:effectLst/>
                          <a:latin typeface="Calibri" panose="020F0502020204030204" pitchFamily="34" charset="0"/>
                        </a:rPr>
                        <a:t> 79-22-49-80A item 500) avail at HAN, lower tube (</a:t>
                      </a:r>
                      <a:r>
                        <a:rPr lang="en-US" sz="1100" b="0" i="0" u="none" strike="noStrike" dirty="0" err="1">
                          <a:solidFill>
                            <a:srgbClr val="000000"/>
                          </a:solidFill>
                          <a:effectLst/>
                          <a:latin typeface="Calibri" panose="020F0502020204030204" pitchFamily="34" charset="0"/>
                        </a:rPr>
                        <a:t>ipc</a:t>
                      </a:r>
                      <a:r>
                        <a:rPr lang="en-US" sz="1100" b="0" i="0" u="none" strike="noStrike" dirty="0">
                          <a:solidFill>
                            <a:srgbClr val="000000"/>
                          </a:solidFill>
                          <a:effectLst/>
                          <a:latin typeface="Calibri" panose="020F0502020204030204" pitchFamily="34" charset="0"/>
                        </a:rPr>
                        <a:t> 79-22-49-82A item 240) not avail at HAN. TA No 14079 sent for support</a:t>
                      </a:r>
                      <a:r>
                        <a:rPr lang="en-US" sz="1100" b="0" i="0" u="none" strike="noStrike" dirty="0" smtClean="0">
                          <a:solidFill>
                            <a:srgbClr val="000000"/>
                          </a:solidFill>
                          <a:effectLst/>
                          <a:latin typeface="Calibri" panose="020F0502020204030204" pitchFamily="34" charset="0"/>
                        </a:rPr>
                        <a:t>.</a:t>
                      </a:r>
                      <a:r>
                        <a:rPr lang="en-US" sz="1100" b="0" i="0" u="none" strike="noStrike" dirty="0">
                          <a:solidFill>
                            <a:srgbClr val="000000"/>
                          </a:solidFill>
                          <a:effectLst/>
                          <a:latin typeface="Calibri" panose="020F0502020204030204" pitchFamily="34" charset="0"/>
                        </a:rPr>
                        <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2. C/O ITEM 05 TO REMOVE EXHAUST CONE FOR CHECK FOUND BOLT BROKEN NEED STRUCTURE SUPPORT</a:t>
                      </a:r>
                      <a:r>
                        <a:rPr lang="en-US" sz="1100" b="0" i="0" u="none" strike="noStrike" dirty="0" smtClean="0">
                          <a:solidFill>
                            <a:srgbClr val="000000"/>
                          </a:solidFill>
                          <a:effectLst/>
                          <a:latin typeface="Calibri" panose="020F0502020204030204" pitchFamily="34" charset="0"/>
                        </a:rPr>
                        <a:t>.</a:t>
                      </a:r>
                      <a:endParaRPr lang="en-US" sz="1100" b="0" i="0" u="none" strike="noStrike" dirty="0">
                        <a:solidFill>
                          <a:srgbClr val="000000"/>
                        </a:solidFill>
                        <a:effectLst/>
                        <a:latin typeface="Calibri" panose="020F0502020204030204" pitchFamily="34" charset="0"/>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 EVENT CLOSED </a:t>
                      </a:r>
                      <a:r>
                        <a:rPr lang="en-US" sz="1100" b="0" i="0" u="none" strike="noStrike" dirty="0" smtClean="0">
                          <a:solidFill>
                            <a:srgbClr val="000000"/>
                          </a:solidFill>
                          <a:effectLst/>
                          <a:latin typeface="Calibri" panose="020F0502020204030204" pitchFamily="34" charset="0"/>
                        </a:rPr>
                        <a:t>1</a:t>
                      </a:r>
                      <a:r>
                        <a:rPr lang="en-US" sz="1100" b="0" i="0" u="none" strike="noStrike" dirty="0">
                          <a:solidFill>
                            <a:srgbClr val="000000"/>
                          </a:solidFill>
                          <a:effectLst/>
                          <a:latin typeface="Calibri" panose="020F0502020204030204" pitchFamily="34" charset="0"/>
                        </a:rPr>
                        <a:t>. C/O REPLACED OIL TUBE, ENGINE RUN UP HI POWER -&gt; SATIS.</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2. STRUCTURE HANBASE REPAIR AND INSTALL NEW BOLT -&gt; </a:t>
                      </a:r>
                      <a:r>
                        <a:rPr lang="en-US" sz="1100" b="0" i="0" u="none" strike="noStrike" dirty="0" smtClean="0">
                          <a:solidFill>
                            <a:srgbClr val="000000"/>
                          </a:solidFill>
                          <a:effectLst/>
                          <a:latin typeface="Calibri" panose="020F0502020204030204" pitchFamily="34" charset="0"/>
                        </a:rPr>
                        <a:t>SATIS </a:t>
                      </a:r>
                      <a:endParaRPr lang="en-US" sz="1100" b="0" i="0" u="none" strike="noStrike" dirty="0">
                        <a:solidFill>
                          <a:srgbClr val="000000"/>
                        </a:solidFill>
                        <a:effectLst/>
                        <a:latin typeface="Calibri" panose="020F0502020204030204" pitchFamily="34" charset="0"/>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79</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vi-VN" sz="1100" b="0" i="0" u="none" strike="noStrike" dirty="0">
                          <a:solidFill>
                            <a:srgbClr val="000000"/>
                          </a:solidFill>
                          <a:effectLst/>
                          <a:latin typeface="Calibri" panose="020F0502020204030204" pitchFamily="34" charset="0"/>
                        </a:rPr>
                        <a:t>Động cơ V15099 có TSN/CSN = 39239.80/21803; TSO/CSO = 4467.50/3070. Qua kiểm tra phát hiện chảy dầu ở đường ống hồi dầu của ổ bi số 5. Ngoài ra các thông số động cơ trên ADEM không có gì bất thường. Tiếp tục theo dõi thêm.</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54848050"/>
                  </a:ext>
                </a:extLst>
              </a:tr>
            </a:tbl>
          </a:graphicData>
        </a:graphic>
      </p:graphicFrame>
    </p:spTree>
    <p:extLst>
      <p:ext uri="{BB962C8B-B14F-4D97-AF65-F5344CB8AC3E}">
        <p14:creationId xmlns:p14="http://schemas.microsoft.com/office/powerpoint/2010/main" val="7340332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C91F1225-FC0E-5433-C8DA-3A180CA7EE00}"/>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C4F1B922-C038-04CB-CF61-EB34175F72F3}"/>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C85FF762-C7BE-C174-D0AA-48FABC7CA19E}"/>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56F14B7E-3168-5765-1022-FBD74E75809D}"/>
              </a:ext>
            </a:extLst>
          </p:cNvPr>
          <p:cNvSpPr txBox="1"/>
          <p:nvPr/>
        </p:nvSpPr>
        <p:spPr>
          <a:xfrm>
            <a:off x="152398" y="105982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 </a:t>
            </a:r>
            <a:r>
              <a:rPr lang="en-US" sz="1600" b="1" noProof="0" dirty="0" smtClean="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03</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E0B7B82D-1374-56D5-C3DF-62BC7E089176}"/>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02</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smtClean="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03</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p>
        </p:txBody>
      </p:sp>
      <p:graphicFrame>
        <p:nvGraphicFramePr>
          <p:cNvPr id="5" name="Table 4"/>
          <p:cNvGraphicFramePr>
            <a:graphicFrameLocks noGrp="1"/>
          </p:cNvGraphicFramePr>
          <p:nvPr>
            <p:extLst>
              <p:ext uri="{D42A27DB-BD31-4B8C-83A1-F6EECF244321}">
                <p14:modId xmlns:p14="http://schemas.microsoft.com/office/powerpoint/2010/main" val="886315706"/>
              </p:ext>
            </p:extLst>
          </p:nvPr>
        </p:nvGraphicFramePr>
        <p:xfrm>
          <a:off x="152398" y="1530715"/>
          <a:ext cx="11902274" cy="4274053"/>
        </p:xfrm>
        <a:graphic>
          <a:graphicData uri="http://schemas.openxmlformats.org/drawingml/2006/table">
            <a:tbl>
              <a:tblPr/>
              <a:tblGrid>
                <a:gridCol w="381002">
                  <a:extLst>
                    <a:ext uri="{9D8B030D-6E8A-4147-A177-3AD203B41FA5}">
                      <a16:colId xmlns:a16="http://schemas.microsoft.com/office/drawing/2014/main" val="608974268"/>
                    </a:ext>
                  </a:extLst>
                </a:gridCol>
                <a:gridCol w="685800">
                  <a:extLst>
                    <a:ext uri="{9D8B030D-6E8A-4147-A177-3AD203B41FA5}">
                      <a16:colId xmlns:a16="http://schemas.microsoft.com/office/drawing/2014/main" val="2896819842"/>
                    </a:ext>
                  </a:extLst>
                </a:gridCol>
                <a:gridCol w="304800">
                  <a:extLst>
                    <a:ext uri="{9D8B030D-6E8A-4147-A177-3AD203B41FA5}">
                      <a16:colId xmlns:a16="http://schemas.microsoft.com/office/drawing/2014/main" val="4281250764"/>
                    </a:ext>
                  </a:extLst>
                </a:gridCol>
                <a:gridCol w="457200">
                  <a:extLst>
                    <a:ext uri="{9D8B030D-6E8A-4147-A177-3AD203B41FA5}">
                      <a16:colId xmlns:a16="http://schemas.microsoft.com/office/drawing/2014/main" val="736738989"/>
                    </a:ext>
                  </a:extLst>
                </a:gridCol>
                <a:gridCol w="457200">
                  <a:extLst>
                    <a:ext uri="{9D8B030D-6E8A-4147-A177-3AD203B41FA5}">
                      <a16:colId xmlns:a16="http://schemas.microsoft.com/office/drawing/2014/main" val="2638907757"/>
                    </a:ext>
                  </a:extLst>
                </a:gridCol>
                <a:gridCol w="533400">
                  <a:extLst>
                    <a:ext uri="{9D8B030D-6E8A-4147-A177-3AD203B41FA5}">
                      <a16:colId xmlns:a16="http://schemas.microsoft.com/office/drawing/2014/main" val="177343146"/>
                    </a:ext>
                  </a:extLst>
                </a:gridCol>
                <a:gridCol w="1447800">
                  <a:extLst>
                    <a:ext uri="{9D8B030D-6E8A-4147-A177-3AD203B41FA5}">
                      <a16:colId xmlns:a16="http://schemas.microsoft.com/office/drawing/2014/main" val="879939685"/>
                    </a:ext>
                  </a:extLst>
                </a:gridCol>
                <a:gridCol w="4495800">
                  <a:extLst>
                    <a:ext uri="{9D8B030D-6E8A-4147-A177-3AD203B41FA5}">
                      <a16:colId xmlns:a16="http://schemas.microsoft.com/office/drawing/2014/main" val="2266327883"/>
                    </a:ext>
                  </a:extLst>
                </a:gridCol>
                <a:gridCol w="304800">
                  <a:extLst>
                    <a:ext uri="{9D8B030D-6E8A-4147-A177-3AD203B41FA5}">
                      <a16:colId xmlns:a16="http://schemas.microsoft.com/office/drawing/2014/main" val="1602966887"/>
                    </a:ext>
                  </a:extLst>
                </a:gridCol>
                <a:gridCol w="2834472">
                  <a:extLst>
                    <a:ext uri="{9D8B030D-6E8A-4147-A177-3AD203B41FA5}">
                      <a16:colId xmlns:a16="http://schemas.microsoft.com/office/drawing/2014/main" val="3315154492"/>
                    </a:ext>
                  </a:extLst>
                </a:gridCol>
              </a:tblGrid>
              <a:tr h="679085">
                <a:tc>
                  <a:txBody>
                    <a:bodyPr/>
                    <a:lstStyle/>
                    <a:p>
                      <a:pPr algn="l" fontAlgn="ctr"/>
                      <a:r>
                        <a:rPr lang="en-US" sz="1000" b="0" i="0" u="none" strike="noStrike" dirty="0">
                          <a:solidFill>
                            <a:srgbClr val="000000"/>
                          </a:solidFill>
                          <a:effectLst/>
                          <a:latin typeface="Calibri" panose="020F0502020204030204" pitchFamily="34" charset="0"/>
                        </a:rPr>
                        <a:t>A/C</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Calibri" panose="020F0502020204030204" pitchFamily="34" charset="0"/>
                        </a:rPr>
                        <a:t>DELAY DATE</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Calibri" panose="020F0502020204030204" pitchFamily="34" charset="0"/>
                        </a:rPr>
                        <a:t>STA</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Calibri" panose="020F0502020204030204" pitchFamily="34" charset="0"/>
                        </a:rPr>
                        <a:t>DELAY MINUTES</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Calibri" panose="020F0502020204030204" pitchFamily="34" charset="0"/>
                        </a:rPr>
                        <a:t>FLIGHT NO</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Calibri" panose="020F0502020204030204" pitchFamily="34" charset="0"/>
                        </a:rPr>
                        <a:t>ROUTINE</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Calibri" panose="020F0502020204030204" pitchFamily="34" charset="0"/>
                        </a:rPr>
                        <a:t>DELAY DESC</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dirty="0">
                          <a:solidFill>
                            <a:srgbClr val="000000"/>
                          </a:solidFill>
                          <a:effectLst/>
                          <a:latin typeface="Calibri" panose="020F0502020204030204" pitchFamily="34" charset="0"/>
                        </a:rPr>
                        <a:t>DELAY ACTION</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Calibri" panose="020F0502020204030204" pitchFamily="34" charset="0"/>
                        </a:rPr>
                        <a:t>ATA</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Calibri" panose="020F0502020204030204" pitchFamily="34" charset="0"/>
                        </a:rPr>
                        <a:t>Engineering Assessment</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809565260"/>
                  </a:ext>
                </a:extLst>
              </a:tr>
              <a:tr h="1709799">
                <a:tc>
                  <a:txBody>
                    <a:bodyPr/>
                    <a:lstStyle/>
                    <a:p>
                      <a:pPr algn="l" fontAlgn="b"/>
                      <a:r>
                        <a:rPr lang="en-US" sz="1100" b="0" i="0" u="none" strike="noStrike">
                          <a:solidFill>
                            <a:srgbClr val="000000"/>
                          </a:solidFill>
                          <a:effectLst/>
                          <a:latin typeface="Calibri" panose="020F0502020204030204" pitchFamily="34" charset="0"/>
                        </a:rPr>
                        <a:t>A398</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20:00 19/03/2025</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SGN</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40</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VN1268</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SGN-VII</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MSG: PACK 1 REGUL FAULT + ENG #1 BLEED LEAK </a:t>
                      </a:r>
                      <a:r>
                        <a:rPr lang="en-US" sz="1100" b="0" i="0" u="none" strike="noStrike" dirty="0" smtClean="0">
                          <a:solidFill>
                            <a:srgbClr val="000000"/>
                          </a:solidFill>
                          <a:effectLst/>
                          <a:latin typeface="Calibri" panose="020F0502020204030204" pitchFamily="34" charset="0"/>
                        </a:rPr>
                        <a:t>AFTER </a:t>
                      </a:r>
                      <a:r>
                        <a:rPr lang="en-US" sz="1100" b="0" i="0" u="none" strike="noStrike" dirty="0">
                          <a:solidFill>
                            <a:srgbClr val="000000"/>
                          </a:solidFill>
                          <a:effectLst/>
                          <a:latin typeface="Calibri" panose="020F0502020204030204" pitchFamily="34" charset="0"/>
                        </a:rPr>
                        <a:t>FLIGHT SCHEDULE CHANGE, A398 NEEDED TO BE DE-FUELED 21 TONS TO 9 TONS</a:t>
                      </a:r>
                      <a:r>
                        <a:rPr lang="en-US" sz="1100" b="0" i="0" u="none" strike="noStrike" dirty="0" smtClean="0">
                          <a:solidFill>
                            <a:srgbClr val="000000"/>
                          </a:solidFill>
                          <a:effectLst/>
                          <a:latin typeface="Calibri" panose="020F0502020204030204" pitchFamily="34" charset="0"/>
                        </a:rPr>
                        <a:t>.</a:t>
                      </a:r>
                      <a:r>
                        <a:rPr lang="en-US" sz="1100" b="0" i="0" u="none" strike="noStrike" dirty="0">
                          <a:solidFill>
                            <a:srgbClr val="000000"/>
                          </a:solidFill>
                          <a:effectLst/>
                          <a:latin typeface="Calibri" panose="020F0502020204030204" pitchFamily="34" charset="0"/>
                        </a:rPr>
                        <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
                      </a:r>
                      <a:br>
                        <a:rPr lang="en-US" sz="1100" b="0" i="0" u="none" strike="noStrike" dirty="0">
                          <a:solidFill>
                            <a:srgbClr val="000000"/>
                          </a:solidFill>
                          <a:effectLst/>
                          <a:latin typeface="Calibri" panose="020F0502020204030204" pitchFamily="34" charset="0"/>
                        </a:rPr>
                      </a:br>
                      <a:r>
                        <a:rPr lang="en-US" sz="1100" b="0" i="0" u="none" strike="noStrike" dirty="0" smtClean="0">
                          <a:solidFill>
                            <a:srgbClr val="000000"/>
                          </a:solidFill>
                          <a:effectLst/>
                          <a:latin typeface="Calibri" panose="020F0502020204030204" pitchFamily="34" charset="0"/>
                        </a:rPr>
                        <a:t>MSG </a:t>
                      </a:r>
                      <a:r>
                        <a:rPr lang="en-US" sz="1100" b="0" i="0" u="none" strike="noStrike" dirty="0">
                          <a:solidFill>
                            <a:srgbClr val="000000"/>
                          </a:solidFill>
                          <a:effectLst/>
                          <a:latin typeface="Calibri" panose="020F0502020204030204" pitchFamily="34" charset="0"/>
                        </a:rPr>
                        <a:t>APPEARED: PACK 1 REGUL FAULT </a:t>
                      </a:r>
                      <a:r>
                        <a:rPr lang="en-US" sz="1100" b="0" i="0" u="none" strike="noStrike" dirty="0" smtClean="0">
                          <a:solidFill>
                            <a:srgbClr val="000000"/>
                          </a:solidFill>
                          <a:effectLst/>
                          <a:latin typeface="Calibri" panose="020F0502020204030204" pitchFamily="34" charset="0"/>
                        </a:rPr>
                        <a:t> </a:t>
                      </a:r>
                      <a:r>
                        <a:rPr lang="en-US" sz="1100" b="0" i="0" u="none" strike="noStrike" dirty="0">
                          <a:solidFill>
                            <a:srgbClr val="000000"/>
                          </a:solidFill>
                          <a:effectLst/>
                          <a:latin typeface="Calibri" panose="020F0502020204030204" pitchFamily="34" charset="0"/>
                        </a:rPr>
                        <a:t>ENG #1 BLEED LEAK</a:t>
                      </a:r>
                      <a:r>
                        <a:rPr lang="en-US" sz="1100" b="0" i="0" u="none" strike="noStrike" dirty="0" smtClean="0">
                          <a:solidFill>
                            <a:srgbClr val="000000"/>
                          </a:solidFill>
                          <a:effectLst/>
                          <a:latin typeface="Calibri" panose="020F0502020204030204" pitchFamily="34" charset="0"/>
                        </a:rPr>
                        <a:t>.</a:t>
                      </a:r>
                      <a:endParaRPr lang="en-US" sz="1100" b="0" i="0" u="none" strike="noStrike" dirty="0">
                        <a:solidFill>
                          <a:srgbClr val="000000"/>
                        </a:solidFill>
                        <a:effectLst/>
                        <a:latin typeface="Calibri" panose="020F0502020204030204" pitchFamily="34" charset="0"/>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 EVENT CLOSED </a:t>
                      </a:r>
                      <a:r>
                        <a:rPr lang="en-US" sz="1100" b="0" i="0" u="none" strike="noStrike" dirty="0" smtClean="0">
                          <a:solidFill>
                            <a:srgbClr val="000000"/>
                          </a:solidFill>
                          <a:effectLst/>
                          <a:latin typeface="Calibri" panose="020F0502020204030204" pitchFamily="34" charset="0"/>
                        </a:rPr>
                        <a:t>ACTION:</a:t>
                      </a:r>
                      <a:r>
                        <a:rPr lang="en-US" sz="1100" b="0" i="0" u="none" strike="noStrike" dirty="0">
                          <a:solidFill>
                            <a:srgbClr val="000000"/>
                          </a:solidFill>
                          <a:effectLst/>
                          <a:latin typeface="Calibri" panose="020F0502020204030204" pitchFamily="34" charset="0"/>
                        </a:rPr>
                        <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 C/O DE-FUELLING FROM 21 TONS TO 9 TONS. </a:t>
                      </a:r>
                      <a:r>
                        <a:rPr lang="en-US" sz="1100" b="0" i="0" u="none" strike="noStrike" dirty="0" smtClean="0">
                          <a:solidFill>
                            <a:srgbClr val="000000"/>
                          </a:solidFill>
                          <a:effectLst/>
                          <a:latin typeface="Calibri" panose="020F0502020204030204" pitchFamily="34" charset="0"/>
                        </a:rPr>
                        <a:t>SATIS</a:t>
                      </a:r>
                      <a:r>
                        <a:rPr lang="en-US" sz="1100" b="0" i="0" u="none" strike="noStrike" dirty="0">
                          <a:solidFill>
                            <a:srgbClr val="000000"/>
                          </a:solidFill>
                          <a:effectLst/>
                          <a:latin typeface="Calibri" panose="020F0502020204030204" pitchFamily="34" charset="0"/>
                        </a:rPr>
                        <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 C/O RESET BUT NIL HELP. ADD B1806 RAISED FOR ENG #1 PYLON LEAK DET FAULT </a:t>
                      </a:r>
                      <a:r>
                        <a:rPr lang="en-US" sz="1100" b="0" i="0" u="none" strike="noStrike" dirty="0" smtClean="0">
                          <a:solidFill>
                            <a:srgbClr val="000000"/>
                          </a:solidFill>
                          <a:effectLst/>
                          <a:latin typeface="Calibri" panose="020F0502020204030204" pitchFamily="34" charset="0"/>
                        </a:rPr>
                        <a:t> </a:t>
                      </a:r>
                      <a:r>
                        <a:rPr lang="en-US" sz="1100" b="0" i="0" u="none" strike="noStrike" dirty="0">
                          <a:solidFill>
                            <a:srgbClr val="000000"/>
                          </a:solidFill>
                          <a:effectLst/>
                          <a:latin typeface="Calibri" panose="020F0502020204030204" pitchFamily="34" charset="0"/>
                        </a:rPr>
                        <a:t>ADD B1807 RAISED FOR ENG BLEED AIR SYS #1 INOP WITH C/O MAINT </a:t>
                      </a:r>
                      <a:r>
                        <a:rPr lang="en-US" sz="1100" b="0" i="0" u="none" strike="noStrike" dirty="0" smtClean="0">
                          <a:solidFill>
                            <a:srgbClr val="000000"/>
                          </a:solidFill>
                          <a:effectLst/>
                          <a:latin typeface="Calibri" panose="020F0502020204030204" pitchFamily="34" charset="0"/>
                        </a:rPr>
                        <a:t>REQUIRE</a:t>
                      </a:r>
                      <a:r>
                        <a:rPr lang="en-US" sz="1100" b="0" i="0" u="none" strike="noStrike" dirty="0">
                          <a:solidFill>
                            <a:srgbClr val="000000"/>
                          </a:solidFill>
                          <a:effectLst/>
                          <a:latin typeface="Calibri" panose="020F0502020204030204" pitchFamily="34" charset="0"/>
                        </a:rPr>
                        <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
                      </a:r>
                      <a:br>
                        <a:rPr lang="en-US" sz="1100" b="0" i="0" u="none" strike="noStrike" dirty="0">
                          <a:solidFill>
                            <a:srgbClr val="000000"/>
                          </a:solidFill>
                          <a:effectLst/>
                          <a:latin typeface="Calibri" panose="020F0502020204030204" pitchFamily="34" charset="0"/>
                        </a:rPr>
                      </a:br>
                      <a:endParaRPr lang="en-US" sz="1100" b="0" i="0" u="none" strike="noStrike" dirty="0">
                        <a:solidFill>
                          <a:srgbClr val="000000"/>
                        </a:solidFill>
                        <a:effectLst/>
                        <a:latin typeface="Calibri" panose="020F0502020204030204" pitchFamily="34" charset="0"/>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36-00</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vi-VN" sz="1100" b="0" i="0" u="none" strike="noStrike" dirty="0">
                          <a:solidFill>
                            <a:srgbClr val="000000"/>
                          </a:solidFill>
                          <a:effectLst/>
                          <a:latin typeface="Calibri" panose="020F0502020204030204" pitchFamily="34" charset="0"/>
                        </a:rPr>
                        <a:t>Hỏng hóc liên quan đến sensing element. Nguyên nhân có thể do thiết bị này bị lão hóa sau một thời gian khai thác. Hiện chưa có giải pháp cải tiền từ AIB. Vaeco lưu ý NVKT khi lắp sensing element mới cần tuân thủ theo đúng hướng dẫn trong AMM</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28293273"/>
                  </a:ext>
                </a:extLst>
              </a:tr>
              <a:tr h="735562">
                <a:tc>
                  <a:txBody>
                    <a:bodyPr/>
                    <a:lstStyle/>
                    <a:p>
                      <a:pPr algn="l" fontAlgn="b"/>
                      <a:r>
                        <a:rPr lang="en-US" sz="1100" b="0" i="0" u="none" strike="noStrike" dirty="0">
                          <a:solidFill>
                            <a:srgbClr val="000000"/>
                          </a:solidFill>
                          <a:effectLst/>
                          <a:latin typeface="Calibri" panose="020F0502020204030204" pitchFamily="34" charset="0"/>
                        </a:rPr>
                        <a:t>A398</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15:25 20/03/2025</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SGN</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22</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VN920</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SGN-PNH</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ENG1 ATTRITION LINING GOUGED AT 8H POSITION WITHIN LIMIT </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smtClean="0">
                          <a:solidFill>
                            <a:srgbClr val="000000"/>
                          </a:solidFill>
                          <a:effectLst/>
                          <a:latin typeface="Calibri" panose="020F0502020204030204" pitchFamily="34" charset="0"/>
                        </a:rPr>
                        <a:t>FINAL </a:t>
                      </a:r>
                      <a:r>
                        <a:rPr lang="en-US" sz="1100" b="0" i="0" u="none" strike="noStrike" dirty="0">
                          <a:solidFill>
                            <a:srgbClr val="000000"/>
                          </a:solidFill>
                          <a:effectLst/>
                          <a:latin typeface="Calibri" panose="020F0502020204030204" pitchFamily="34" charset="0"/>
                        </a:rPr>
                        <a:t>ACTION: </a:t>
                      </a:r>
                      <a:r>
                        <a:rPr lang="en-US" sz="1100" b="0" i="0" u="none" strike="noStrike" dirty="0" smtClean="0">
                          <a:solidFill>
                            <a:srgbClr val="000000"/>
                          </a:solidFill>
                          <a:effectLst/>
                          <a:latin typeface="Calibri" panose="020F0502020204030204" pitchFamily="34" charset="0"/>
                        </a:rPr>
                        <a:t>C/O </a:t>
                      </a:r>
                      <a:r>
                        <a:rPr lang="en-US" sz="1100" b="0" i="0" u="none" strike="noStrike" dirty="0">
                          <a:solidFill>
                            <a:srgbClr val="000000"/>
                          </a:solidFill>
                          <a:effectLst/>
                          <a:latin typeface="Calibri" panose="020F0502020204030204" pitchFamily="34" charset="0"/>
                        </a:rPr>
                        <a:t>INSPECTION AND RAISED ADD B1809 SATIS. A/C </a:t>
                      </a:r>
                      <a:r>
                        <a:rPr lang="en-US" sz="1100" b="0" i="0" u="none" strike="noStrike" dirty="0" smtClean="0">
                          <a:solidFill>
                            <a:srgbClr val="000000"/>
                          </a:solidFill>
                          <a:effectLst/>
                          <a:latin typeface="Calibri" panose="020F0502020204030204" pitchFamily="34" charset="0"/>
                        </a:rPr>
                        <a:t>SERVICEABLE </a:t>
                      </a:r>
                      <a:r>
                        <a:rPr lang="en-US" sz="1100" b="0" i="0" u="none" strike="noStrike" dirty="0">
                          <a:solidFill>
                            <a:srgbClr val="000000"/>
                          </a:solidFill>
                          <a:effectLst/>
                          <a:latin typeface="Calibri" panose="020F0502020204030204" pitchFamily="34" charset="0"/>
                        </a:rPr>
                        <a:t>ENG1 ATTRITION LINING GOUGED AT 8H POSITION WITHIN THE LIMIT EVENT CLOSED </a:t>
                      </a:r>
                      <a:r>
                        <a:rPr lang="en-US" sz="1100" b="0" i="0" u="none" strike="noStrike" dirty="0" smtClean="0">
                          <a:solidFill>
                            <a:srgbClr val="000000"/>
                          </a:solidFill>
                          <a:effectLst/>
                          <a:latin typeface="Calibri" panose="020F0502020204030204" pitchFamily="34" charset="0"/>
                        </a:rPr>
                        <a:t> ENG1 </a:t>
                      </a:r>
                      <a:r>
                        <a:rPr lang="en-US" sz="1100" b="0" i="0" u="none" strike="noStrike" dirty="0">
                          <a:solidFill>
                            <a:srgbClr val="000000"/>
                          </a:solidFill>
                          <a:effectLst/>
                          <a:latin typeface="Calibri" panose="020F0502020204030204" pitchFamily="34" charset="0"/>
                        </a:rPr>
                        <a:t>ATTRITION LINING GOUGED AT 8H POSITION WITHIN </a:t>
                      </a:r>
                      <a:r>
                        <a:rPr lang="en-US" sz="1100" b="0" i="0" u="none" strike="noStrike" dirty="0" smtClean="0">
                          <a:solidFill>
                            <a:srgbClr val="000000"/>
                          </a:solidFill>
                          <a:effectLst/>
                          <a:latin typeface="Calibri" panose="020F0502020204030204" pitchFamily="34" charset="0"/>
                        </a:rPr>
                        <a:t>LIMIT</a:t>
                      </a:r>
                      <a:endParaRPr lang="en-US" sz="1100" b="0" i="0" u="none" strike="noStrike" dirty="0">
                        <a:solidFill>
                          <a:srgbClr val="000000"/>
                        </a:solidFill>
                        <a:effectLst/>
                        <a:latin typeface="Calibri" panose="020F0502020204030204" pitchFamily="34" charset="0"/>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72-00</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vi-VN" sz="1100" b="0" i="0" u="none" strike="noStrike" dirty="0">
                          <a:solidFill>
                            <a:srgbClr val="000000"/>
                          </a:solidFill>
                          <a:effectLst/>
                          <a:latin typeface="Calibri" panose="020F0502020204030204" pitchFamily="34" charset="0"/>
                        </a:rPr>
                        <a:t>Động cơ V10533 có TSN/CSN = 64340.77/30508. Đây là động cơ thuê ngắn hạn, có kế hoạch trả cuối T6/2025. Attrition Lining có thể bị bong tróc do Fan Blade mài vào trong quá trình động cơ hoạt động. Đánh giá đây là hỏng hóc thông thường.</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96563513"/>
                  </a:ext>
                </a:extLst>
              </a:tr>
              <a:tr h="735562">
                <a:tc>
                  <a:txBody>
                    <a:bodyPr/>
                    <a:lstStyle/>
                    <a:p>
                      <a:pPr algn="l" fontAlgn="b"/>
                      <a:r>
                        <a:rPr lang="en-US" sz="1100" b="0" i="0" u="none" strike="noStrike" dirty="0">
                          <a:solidFill>
                            <a:srgbClr val="000000"/>
                          </a:solidFill>
                          <a:effectLst/>
                          <a:latin typeface="Calibri" panose="020F0502020204030204" pitchFamily="34" charset="0"/>
                        </a:rPr>
                        <a:t>A397</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14:00 18/03/2025</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PEK</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20</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VN513</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PEK-HAN</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F/CTL FLAP SYS1 FAULT </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 EVENT CLOSED </a:t>
                      </a:r>
                      <a:r>
                        <a:rPr lang="en-US" sz="1100" b="0" i="0" u="none" strike="noStrike" dirty="0" smtClean="0">
                          <a:solidFill>
                            <a:srgbClr val="000000"/>
                          </a:solidFill>
                          <a:effectLst/>
                          <a:latin typeface="Calibri" panose="020F0502020204030204" pitchFamily="34" charset="0"/>
                        </a:rPr>
                        <a:t>C/O </a:t>
                      </a:r>
                      <a:r>
                        <a:rPr lang="en-US" sz="1100" b="0" i="0" u="none" strike="noStrike" dirty="0">
                          <a:solidFill>
                            <a:srgbClr val="000000"/>
                          </a:solidFill>
                          <a:effectLst/>
                          <a:latin typeface="Calibri" panose="020F0502020204030204" pitchFamily="34" charset="0"/>
                        </a:rPr>
                        <a:t>GND PERFORMED BITE TEST OF THE SFCC(FLAP SYSTEM) ,TEST OK,MSG </a:t>
                      </a:r>
                      <a:r>
                        <a:rPr lang="en-US" sz="1100" b="0" i="0" u="none" strike="noStrike" dirty="0" smtClean="0">
                          <a:solidFill>
                            <a:srgbClr val="000000"/>
                          </a:solidFill>
                          <a:effectLst/>
                          <a:latin typeface="Calibri" panose="020F0502020204030204" pitchFamily="34" charset="0"/>
                        </a:rPr>
                        <a:t>GONE F/CTL </a:t>
                      </a:r>
                      <a:r>
                        <a:rPr lang="en-US" sz="1100" b="0" i="0" u="none" strike="noStrike" dirty="0">
                          <a:solidFill>
                            <a:srgbClr val="000000"/>
                          </a:solidFill>
                          <a:effectLst/>
                          <a:latin typeface="Calibri" panose="020F0502020204030204" pitchFamily="34" charset="0"/>
                        </a:rPr>
                        <a:t>FLAP SYS1 </a:t>
                      </a:r>
                      <a:r>
                        <a:rPr lang="en-US" sz="1100" b="0" i="0" u="none" strike="noStrike" dirty="0" smtClean="0">
                          <a:solidFill>
                            <a:srgbClr val="000000"/>
                          </a:solidFill>
                          <a:effectLst/>
                          <a:latin typeface="Calibri" panose="020F0502020204030204" pitchFamily="34" charset="0"/>
                        </a:rPr>
                        <a:t>FAULT</a:t>
                      </a:r>
                      <a:r>
                        <a:rPr lang="en-US" sz="1100" b="0" i="0" u="none" strike="noStrike" dirty="0">
                          <a:solidFill>
                            <a:srgbClr val="000000"/>
                          </a:solidFill>
                          <a:effectLst/>
                          <a:latin typeface="Calibri" panose="020F0502020204030204" pitchFamily="34" charset="0"/>
                        </a:rPr>
                        <a:t/>
                      </a:r>
                      <a:br>
                        <a:rPr lang="en-US" sz="1100" b="0" i="0" u="none" strike="noStrike" dirty="0">
                          <a:solidFill>
                            <a:srgbClr val="000000"/>
                          </a:solidFill>
                          <a:effectLst/>
                          <a:latin typeface="Calibri" panose="020F0502020204030204" pitchFamily="34" charset="0"/>
                        </a:rPr>
                      </a:br>
                      <a:endParaRPr lang="en-US" sz="1100" b="0" i="0" u="none" strike="noStrike" dirty="0">
                        <a:solidFill>
                          <a:srgbClr val="000000"/>
                        </a:solidFill>
                        <a:effectLst/>
                        <a:latin typeface="Calibri" panose="020F0502020204030204" pitchFamily="34" charset="0"/>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27-51</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vi-VN" sz="1100" b="0" i="0" u="none" strike="noStrike" dirty="0">
                          <a:solidFill>
                            <a:srgbClr val="000000"/>
                          </a:solidFill>
                          <a:effectLst/>
                          <a:latin typeface="Calibri" panose="020F0502020204030204" pitchFamily="34" charset="0"/>
                        </a:rPr>
                        <a:t>Sau khi reset không còn cảnh báo, tàu khai thác bình thường. Tiếp tục theo dõi thêm</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7284531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Slide Number Placeholder 3"/>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C4F79AF3-24C5-47EC-8B09-710ADAA97244}" type="slidenum">
              <a:rPr lang="en-US" altLang="en-US" sz="1200" smtClean="0">
                <a:solidFill>
                  <a:srgbClr val="D2A43B"/>
                </a:solidFill>
                <a:latin typeface="Montserrat"/>
              </a:rPr>
              <a:pPr fontAlgn="base">
                <a:lnSpc>
                  <a:spcPct val="100000"/>
                </a:lnSpc>
                <a:spcBef>
                  <a:spcPct val="0"/>
                </a:spcBef>
                <a:spcAft>
                  <a:spcPct val="0"/>
                </a:spcAft>
                <a:buFontTx/>
                <a:buNone/>
              </a:pPr>
              <a:t>7</a:t>
            </a:fld>
            <a:endParaRPr lang="en-US" altLang="en-US" sz="1200">
              <a:solidFill>
                <a:srgbClr val="D2A43B"/>
              </a:solidFill>
              <a:latin typeface="Montserrat"/>
            </a:endParaRPr>
          </a:p>
        </p:txBody>
      </p:sp>
      <p:sp>
        <p:nvSpPr>
          <p:cNvPr id="1048638" name="Title 4"/>
          <p:cNvSpPr>
            <a:spLocks noGrp="1"/>
          </p:cNvSpPr>
          <p:nvPr>
            <p:ph type="title"/>
          </p:nvPr>
        </p:nvSpPr>
        <p:spPr>
          <a:xfrm>
            <a:off x="1051775" y="521594"/>
            <a:ext cx="8686799" cy="609600"/>
          </a:xfrm>
        </p:spPr>
        <p:txBody>
          <a:bodyPr rtlCol="0">
            <a:normAutofit/>
          </a:bodyPr>
          <a:lstStyle/>
          <a:p>
            <a:pPr eaLnBrk="1" fontAlgn="auto" hangingPunct="1">
              <a:spcAft>
                <a:spcPts val="0"/>
              </a:spcAft>
              <a:defRPr/>
            </a:pPr>
            <a:r>
              <a:rPr lang="en-US" sz="2400" dirty="0">
                <a:ln w="0"/>
                <a:solidFill>
                  <a:schemeClr val="accent4"/>
                </a:solidFill>
                <a:latin typeface="Times New Roman" panose="02020603050405020304" pitchFamily="18" charset="0"/>
                <a:cs typeface="Times New Roman" panose="02020603050405020304" pitchFamily="18" charset="0"/>
              </a:rPr>
              <a:t>TÌNH TRẠNG KỸ THUẬT ĐỘI BAY A320/ A321 </a:t>
            </a:r>
            <a:endParaRPr lang="vi-VN" sz="2400" dirty="0">
              <a:ln w="0"/>
              <a:solidFill>
                <a:schemeClr val="accent4"/>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4311CC99-42A4-BD10-390B-EE6B3A4DC329}"/>
              </a:ext>
            </a:extLst>
          </p:cNvPr>
          <p:cNvSpPr txBox="1"/>
          <p:nvPr/>
        </p:nvSpPr>
        <p:spPr>
          <a:xfrm>
            <a:off x="1047482" y="1143000"/>
            <a:ext cx="10229811" cy="2831544"/>
          </a:xfrm>
          <a:prstGeom prst="rect">
            <a:avLst/>
          </a:prstGeom>
          <a:noFill/>
        </p:spPr>
        <p:txBody>
          <a:bodyPr wrap="square">
            <a:spAutoFit/>
          </a:bodyPr>
          <a:lstStyle/>
          <a:p>
            <a:pPr lvl="0" algn="just">
              <a:lnSpc>
                <a:spcPct val="150000"/>
              </a:lnSpc>
              <a:defRPr/>
            </a:pPr>
            <a:r>
              <a:rPr lang="en-US" sz="1600" b="1" dirty="0" err="1">
                <a:latin typeface="Times New Roman" panose="02020603050405020304" pitchFamily="18" charset="0"/>
                <a:cs typeface="Times New Roman" panose="02020603050405020304" pitchFamily="18" charset="0"/>
              </a:rPr>
              <a:t>Nhận</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xét</a:t>
            </a:r>
            <a:r>
              <a:rPr lang="en-US" sz="1600" b="1" dirty="0">
                <a:latin typeface="Times New Roman" panose="02020603050405020304" pitchFamily="18" charset="0"/>
                <a:cs typeface="Times New Roman" panose="02020603050405020304" pitchFamily="18" charset="0"/>
              </a:rPr>
              <a:t>: </a:t>
            </a:r>
          </a:p>
          <a:p>
            <a:pPr lvl="0" algn="just">
              <a:lnSpc>
                <a:spcPct val="150000"/>
              </a:lnSpc>
              <a:defRPr/>
            </a:pPr>
            <a:r>
              <a:rPr lang="en-US" sz="1600" dirty="0" err="1" smtClean="0">
                <a:latin typeface="Times New Roman" panose="02020603050405020304" pitchFamily="18" charset="0"/>
                <a:cs typeface="Times New Roman" panose="02020603050405020304" pitchFamily="18" charset="0"/>
              </a:rPr>
              <a:t>Các</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phát</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sinh</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trong</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tuần</a:t>
            </a:r>
            <a:endParaRPr lang="vi-VN" sz="16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1600" dirty="0">
                <a:latin typeface="Times New Roman" panose="02020603050405020304" pitchFamily="18" charset="0"/>
                <a:cs typeface="Times New Roman" panose="02020603050405020304" pitchFamily="18" charset="0"/>
              </a:rPr>
              <a:t>A356 </a:t>
            </a:r>
            <a:r>
              <a:rPr lang="en-US" sz="1600" dirty="0" err="1" smtClean="0">
                <a:latin typeface="Times New Roman" panose="02020603050405020304" pitchFamily="18" charset="0"/>
                <a:cs typeface="Times New Roman" panose="02020603050405020304" pitchFamily="18" charset="0"/>
              </a:rPr>
              <a:t>trong</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quá</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trình</a:t>
            </a:r>
            <a:r>
              <a:rPr lang="en-US" sz="1600" dirty="0" smtClean="0">
                <a:latin typeface="Times New Roman" panose="02020603050405020304" pitchFamily="18" charset="0"/>
                <a:cs typeface="Times New Roman" panose="02020603050405020304" pitchFamily="18" charset="0"/>
              </a:rPr>
              <a:t> T/S </a:t>
            </a:r>
            <a:r>
              <a:rPr lang="en-US" sz="1600" dirty="0" err="1" smtClean="0">
                <a:latin typeface="Times New Roman" panose="02020603050405020304" pitchFamily="18" charset="0"/>
                <a:cs typeface="Times New Roman" panose="02020603050405020304" pitchFamily="18" charset="0"/>
              </a:rPr>
              <a:t>khắc</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phục</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lỗi</a:t>
            </a:r>
            <a:r>
              <a:rPr lang="en-US" sz="1600" dirty="0" smtClean="0">
                <a:latin typeface="Times New Roman" panose="02020603050405020304" pitchFamily="18" charset="0"/>
                <a:cs typeface="Times New Roman" panose="02020603050405020304" pitchFamily="18" charset="0"/>
              </a:rPr>
              <a:t> </a:t>
            </a:r>
            <a:r>
              <a:rPr lang="en-US" sz="1600" dirty="0"/>
              <a:t>ENG 2 HIGH OIL </a:t>
            </a:r>
            <a:r>
              <a:rPr lang="en-US" sz="1600" dirty="0" smtClean="0"/>
              <a:t>CONSUMPTION </a:t>
            </a:r>
            <a:r>
              <a:rPr lang="en-US" sz="1600" dirty="0" err="1" smtClean="0">
                <a:latin typeface="Times New Roman" panose="02020603050405020304" pitchFamily="18" charset="0"/>
                <a:cs typeface="Times New Roman" panose="02020603050405020304" pitchFamily="18" charset="0"/>
              </a:rPr>
              <a:t>phát</a:t>
            </a:r>
            <a:r>
              <a:rPr lang="en-US" sz="1600" dirty="0" smtClean="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hiện</a:t>
            </a:r>
            <a:r>
              <a:rPr lang="en-US" sz="1600" dirty="0">
                <a:latin typeface="Times New Roman" panose="02020603050405020304" pitchFamily="18" charset="0"/>
                <a:cs typeface="Times New Roman" panose="02020603050405020304" pitchFamily="18" charset="0"/>
              </a:rPr>
              <a:t> oil leak ở </a:t>
            </a:r>
            <a:r>
              <a:rPr lang="en-US" sz="1600" dirty="0" err="1">
                <a:latin typeface="Times New Roman" panose="02020603050405020304" pitchFamily="18" charset="0"/>
                <a:cs typeface="Times New Roman" panose="02020603050405020304" pitchFamily="18" charset="0"/>
              </a:rPr>
              <a:t>đường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ống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dẫn</a:t>
            </a:r>
            <a:r>
              <a:rPr lang="en-US" sz="1600" dirty="0">
                <a:latin typeface="Times New Roman" panose="02020603050405020304" pitchFamily="18" charset="0"/>
                <a:cs typeface="Times New Roman" panose="02020603050405020304" pitchFamily="18" charset="0"/>
              </a:rPr>
              <a:t> oil SCAVENGE TUBE BEARING </a:t>
            </a:r>
            <a:r>
              <a:rPr lang="en-US" sz="1600" dirty="0" err="1">
                <a:latin typeface="Times New Roman" panose="02020603050405020304" pitchFamily="18" charset="0"/>
                <a:cs typeface="Times New Roman" panose="02020603050405020304" pitchFamily="18" charset="0"/>
              </a:rPr>
              <a:t>và</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thay</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đường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ống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trước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đó</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đã</a:t>
            </a:r>
            <a:r>
              <a:rPr lang="en-US" sz="1600" dirty="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phải</a:t>
            </a:r>
            <a:r>
              <a:rPr lang="en-US" sz="1600" dirty="0" smtClean="0">
                <a:latin typeface="Times New Roman" panose="02020603050405020304" pitchFamily="18" charset="0"/>
                <a:cs typeface="Times New Roman" panose="02020603050405020304" pitchFamily="18" charset="0"/>
              </a:rPr>
              <a:t> bay </a:t>
            </a:r>
            <a:r>
              <a:rPr lang="en-US" sz="1600" dirty="0" err="1">
                <a:latin typeface="Times New Roman" panose="02020603050405020304" pitchFamily="18" charset="0"/>
                <a:cs typeface="Times New Roman" panose="02020603050405020304" pitchFamily="18" charset="0"/>
              </a:rPr>
              <a:t>hạn</a:t>
            </a:r>
            <a:r>
              <a:rPr lang="en-US" sz="1600" dirty="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chế</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rất</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lâu</a:t>
            </a:r>
            <a:r>
              <a:rPr lang="en-US" sz="1600" dirty="0" smtClean="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về</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hỏng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hóc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này</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thay</a:t>
            </a:r>
            <a:r>
              <a:rPr lang="en-US" sz="1600" dirty="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cả</a:t>
            </a:r>
            <a:r>
              <a:rPr lang="en-US" sz="1600" dirty="0" smtClean="0">
                <a:latin typeface="Times New Roman" panose="02020603050405020304" pitchFamily="18" charset="0"/>
                <a:cs typeface="Times New Roman" panose="02020603050405020304" pitchFamily="18" charset="0"/>
              </a:rPr>
              <a:t> FCOC </a:t>
            </a:r>
            <a:r>
              <a:rPr lang="en-US" sz="1600" dirty="0" err="1">
                <a:latin typeface="Times New Roman" panose="02020603050405020304" pitchFamily="18" charset="0"/>
                <a:cs typeface="Times New Roman" panose="02020603050405020304" pitchFamily="18" charset="0"/>
              </a:rPr>
              <a:t>và</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kiểm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các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vị</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trí</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khác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không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phát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hiện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bất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thường</a:t>
            </a:r>
            <a:r>
              <a:rPr lang="en-US" sz="1600" dirty="0" smtClean="0">
                <a:latin typeface="Times New Roman" panose="02020603050405020304" pitchFamily="18" charset="0"/>
                <a:cs typeface="Times New Roman" panose="02020603050405020304" pitchFamily="18" charset="0"/>
              </a:rPr>
              <a:t>)</a:t>
            </a:r>
          </a:p>
          <a:p>
            <a:pPr marL="342900" indent="-342900">
              <a:buFont typeface="+mj-lt"/>
              <a:buAutoNum type="arabicPeriod"/>
            </a:pPr>
            <a:r>
              <a:rPr lang="en-US" sz="1600" dirty="0" err="1" smtClean="0">
                <a:latin typeface="Times New Roman" panose="02020603050405020304" pitchFamily="18" charset="0"/>
                <a:cs typeface="Times New Roman" panose="02020603050405020304" pitchFamily="18" charset="0"/>
              </a:rPr>
              <a:t>Ngoài</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ra</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trong</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tuần</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tàu</a:t>
            </a:r>
            <a:r>
              <a:rPr lang="en-US" sz="1600" dirty="0" smtClean="0">
                <a:latin typeface="Times New Roman" panose="02020603050405020304" pitchFamily="18" charset="0"/>
                <a:cs typeface="Times New Roman" panose="02020603050405020304" pitchFamily="18" charset="0"/>
              </a:rPr>
              <a:t> A610 </a:t>
            </a:r>
            <a:r>
              <a:rPr lang="en-US" sz="1600" dirty="0" err="1" smtClean="0">
                <a:latin typeface="Times New Roman" panose="02020603050405020304" pitchFamily="18" charset="0"/>
                <a:cs typeface="Times New Roman" panose="02020603050405020304" pitchFamily="18" charset="0"/>
              </a:rPr>
              <a:t>xuất</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hiện</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lại</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hỏng</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hóc</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về</a:t>
            </a:r>
            <a:r>
              <a:rPr lang="en-US" sz="1600" dirty="0" smtClean="0">
                <a:latin typeface="Times New Roman" panose="02020603050405020304" pitchFamily="18" charset="0"/>
                <a:cs typeface="Times New Roman" panose="02020603050405020304" pitchFamily="18" charset="0"/>
              </a:rPr>
              <a:t> Eng1 HPV (</a:t>
            </a:r>
            <a:r>
              <a:rPr lang="en-US" sz="1600" dirty="0" err="1" smtClean="0">
                <a:latin typeface="Times New Roman" panose="02020603050405020304" pitchFamily="18" charset="0"/>
                <a:cs typeface="Times New Roman" panose="02020603050405020304" pitchFamily="18" charset="0"/>
              </a:rPr>
              <a:t>tàu</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trước</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đây</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đã</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từng</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thay</a:t>
            </a:r>
            <a:r>
              <a:rPr lang="en-US" sz="1600" dirty="0" smtClean="0">
                <a:latin typeface="Times New Roman" panose="02020603050405020304" pitchFamily="18" charset="0"/>
                <a:cs typeface="Times New Roman" panose="02020603050405020304" pitchFamily="18" charset="0"/>
              </a:rPr>
              <a:t> HPV 7 </a:t>
            </a:r>
            <a:r>
              <a:rPr lang="en-US" sz="1600" dirty="0" err="1" smtClean="0">
                <a:latin typeface="Times New Roman" panose="02020603050405020304" pitchFamily="18" charset="0"/>
                <a:cs typeface="Times New Roman" panose="02020603050405020304" pitchFamily="18" charset="0"/>
              </a:rPr>
              <a:t>lần</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trong</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đó</a:t>
            </a:r>
            <a:r>
              <a:rPr lang="en-US" sz="1600" dirty="0" smtClean="0">
                <a:latin typeface="Times New Roman" panose="02020603050405020304" pitchFamily="18" charset="0"/>
                <a:cs typeface="Times New Roman" panose="02020603050405020304" pitchFamily="18" charset="0"/>
              </a:rPr>
              <a:t> 4 </a:t>
            </a:r>
            <a:r>
              <a:rPr lang="en-US" sz="1600" dirty="0" err="1" smtClean="0">
                <a:latin typeface="Times New Roman" panose="02020603050405020304" pitchFamily="18" charset="0"/>
                <a:cs typeface="Times New Roman" panose="02020603050405020304" pitchFamily="18" charset="0"/>
              </a:rPr>
              <a:t>lần</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có</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xác</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nhận</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hỏng</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hóc</a:t>
            </a:r>
            <a:r>
              <a:rPr lang="en-US" sz="1600" dirty="0" smtClean="0">
                <a:latin typeface="Times New Roman" panose="02020603050405020304" pitchFamily="18" charset="0"/>
                <a:cs typeface="Times New Roman" panose="02020603050405020304" pitchFamily="18" charset="0"/>
              </a:rPr>
              <a:t> do HPV, 3 </a:t>
            </a:r>
            <a:r>
              <a:rPr lang="en-US" sz="1600" dirty="0" err="1" smtClean="0">
                <a:latin typeface="Times New Roman" panose="02020603050405020304" pitchFamily="18" charset="0"/>
                <a:cs typeface="Times New Roman" panose="02020603050405020304" pitchFamily="18" charset="0"/>
              </a:rPr>
              <a:t>lần</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còn</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lại</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đang</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chờ</a:t>
            </a:r>
            <a:r>
              <a:rPr lang="en-US" sz="1600" dirty="0" smtClean="0">
                <a:latin typeface="Times New Roman" panose="02020603050405020304" pitchFamily="18" charset="0"/>
                <a:cs typeface="Times New Roman" panose="02020603050405020304" pitchFamily="18" charset="0"/>
              </a:rPr>
              <a:t> SFR </a:t>
            </a:r>
            <a:r>
              <a:rPr lang="en-US" sz="1600" dirty="0" err="1" smtClean="0">
                <a:latin typeface="Times New Roman" panose="02020603050405020304" pitchFamily="18" charset="0"/>
                <a:cs typeface="Times New Roman" panose="02020603050405020304" pitchFamily="18" charset="0"/>
              </a:rPr>
              <a:t>để</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phân</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tích</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sau</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khi</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kiểm</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tra</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phát</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hiện</a:t>
            </a:r>
            <a:r>
              <a:rPr lang="en-US" sz="1600" dirty="0" smtClean="0">
                <a:latin typeface="Times New Roman" panose="02020603050405020304" pitchFamily="18" charset="0"/>
                <a:cs typeface="Times New Roman" panose="02020603050405020304" pitchFamily="18" charset="0"/>
              </a:rPr>
              <a:t> </a:t>
            </a:r>
            <a:r>
              <a:rPr lang="en-US" sz="1600" dirty="0" err="1"/>
              <a:t>v</a:t>
            </a:r>
            <a:r>
              <a:rPr lang="en-US" sz="1600" dirty="0" err="1" smtClean="0"/>
              <a:t>ị</a:t>
            </a:r>
            <a:r>
              <a:rPr lang="en-US" sz="1600" dirty="0" smtClean="0"/>
              <a:t> </a:t>
            </a:r>
            <a:r>
              <a:rPr lang="en-US" sz="1600" dirty="0" err="1"/>
              <a:t>trí</a:t>
            </a:r>
            <a:r>
              <a:rPr lang="en-US" sz="1600" dirty="0"/>
              <a:t> </a:t>
            </a:r>
            <a:r>
              <a:rPr lang="en-US" sz="1600" dirty="0" err="1"/>
              <a:t>của</a:t>
            </a:r>
            <a:r>
              <a:rPr lang="en-US" sz="1600" dirty="0"/>
              <a:t> </a:t>
            </a:r>
            <a:r>
              <a:rPr lang="en-US" sz="1600" dirty="0" smtClean="0"/>
              <a:t>valve </a:t>
            </a:r>
            <a:r>
              <a:rPr lang="en-US" sz="1600" dirty="0" err="1" smtClean="0"/>
              <a:t>khi</a:t>
            </a:r>
            <a:r>
              <a:rPr lang="en-US" sz="1600" dirty="0" smtClean="0"/>
              <a:t> </a:t>
            </a:r>
            <a:r>
              <a:rPr lang="en-US" sz="1600" dirty="0" err="1" smtClean="0"/>
              <a:t>điều</a:t>
            </a:r>
            <a:r>
              <a:rPr lang="en-US" sz="1600" dirty="0" smtClean="0"/>
              <a:t> </a:t>
            </a:r>
            <a:r>
              <a:rPr lang="en-US" sz="1600" dirty="0" err="1" smtClean="0"/>
              <a:t>khiển</a:t>
            </a:r>
            <a:r>
              <a:rPr lang="en-US" sz="1600" dirty="0" smtClean="0"/>
              <a:t> manually </a:t>
            </a:r>
            <a:r>
              <a:rPr lang="en-US" sz="1600" dirty="0" err="1"/>
              <a:t>không</a:t>
            </a:r>
            <a:r>
              <a:rPr lang="en-US" sz="1600" dirty="0"/>
              <a:t> </a:t>
            </a:r>
            <a:r>
              <a:rPr lang="en-US" sz="1600" dirty="0" err="1"/>
              <a:t>khớp</a:t>
            </a:r>
            <a:r>
              <a:rPr lang="en-US" sz="1600" dirty="0"/>
              <a:t> </a:t>
            </a:r>
            <a:r>
              <a:rPr lang="en-US" sz="1600" dirty="0" err="1"/>
              <a:t>với</a:t>
            </a:r>
            <a:r>
              <a:rPr lang="en-US" sz="1600" dirty="0"/>
              <a:t> </a:t>
            </a:r>
            <a:r>
              <a:rPr lang="en-US" sz="1600" dirty="0" err="1"/>
              <a:t>vị</a:t>
            </a:r>
            <a:r>
              <a:rPr lang="en-US" sz="1600" dirty="0"/>
              <a:t> </a:t>
            </a:r>
            <a:r>
              <a:rPr lang="en-US" sz="1600" dirty="0" err="1"/>
              <a:t>trí</a:t>
            </a:r>
            <a:r>
              <a:rPr lang="en-US" sz="1600" dirty="0"/>
              <a:t> </a:t>
            </a:r>
            <a:r>
              <a:rPr lang="en-US" sz="1600" dirty="0" err="1"/>
              <a:t>hiển</a:t>
            </a:r>
            <a:r>
              <a:rPr lang="en-US" sz="1600" dirty="0"/>
              <a:t> </a:t>
            </a:r>
            <a:r>
              <a:rPr lang="en-US" sz="1600" dirty="0" err="1"/>
              <a:t>thị</a:t>
            </a:r>
            <a:r>
              <a:rPr lang="en-US" sz="1600" dirty="0"/>
              <a:t> </a:t>
            </a:r>
            <a:r>
              <a:rPr lang="en-US" sz="1600" dirty="0" err="1"/>
              <a:t>trên</a:t>
            </a:r>
            <a:r>
              <a:rPr lang="en-US" sz="1600" dirty="0"/>
              <a:t> </a:t>
            </a:r>
            <a:r>
              <a:rPr lang="en-US" sz="1600" dirty="0" smtClean="0"/>
              <a:t>ECAM </a:t>
            </a:r>
            <a:r>
              <a:rPr lang="en-US" sz="1600" dirty="0" err="1" smtClean="0"/>
              <a:t>nên</a:t>
            </a:r>
            <a:r>
              <a:rPr lang="en-US" sz="1600" dirty="0" smtClean="0"/>
              <a:t> </a:t>
            </a:r>
            <a:r>
              <a:rPr lang="en-US" sz="1600" dirty="0" err="1" smtClean="0"/>
              <a:t>tiếp</a:t>
            </a:r>
            <a:r>
              <a:rPr lang="en-US" sz="1600" dirty="0" smtClean="0"/>
              <a:t> </a:t>
            </a:r>
            <a:r>
              <a:rPr lang="en-US" sz="1600" dirty="0" err="1" smtClean="0"/>
              <a:t>tục</a:t>
            </a:r>
            <a:r>
              <a:rPr lang="en-US" sz="1600" dirty="0" smtClean="0"/>
              <a:t> </a:t>
            </a:r>
            <a:r>
              <a:rPr lang="en-US" sz="1600" dirty="0" err="1" smtClean="0"/>
              <a:t>đặt</a:t>
            </a:r>
            <a:r>
              <a:rPr lang="en-US" sz="1600" dirty="0" smtClean="0"/>
              <a:t> </a:t>
            </a:r>
            <a:r>
              <a:rPr lang="en-US" sz="1600" dirty="0" err="1" smtClean="0"/>
              <a:t>hàng</a:t>
            </a:r>
            <a:r>
              <a:rPr lang="en-US" sz="1600" dirty="0" smtClean="0"/>
              <a:t> HPV </a:t>
            </a:r>
            <a:r>
              <a:rPr lang="en-US" sz="1600" dirty="0" err="1" smtClean="0"/>
              <a:t>để</a:t>
            </a:r>
            <a:r>
              <a:rPr lang="en-US" sz="1600" dirty="0" smtClean="0"/>
              <a:t> </a:t>
            </a:r>
            <a:r>
              <a:rPr lang="en-US" sz="1600" dirty="0" err="1" smtClean="0"/>
              <a:t>khắc</a:t>
            </a:r>
            <a:r>
              <a:rPr lang="en-US" sz="1600" dirty="0" smtClean="0"/>
              <a:t> </a:t>
            </a:r>
            <a:r>
              <a:rPr lang="en-US" sz="1600" dirty="0" err="1" smtClean="0"/>
              <a:t>phục</a:t>
            </a:r>
            <a:r>
              <a:rPr lang="en-US" sz="1600" dirty="0" smtClean="0"/>
              <a:t> (</a:t>
            </a:r>
            <a:r>
              <a:rPr lang="en-US" sz="1600" dirty="0" err="1" smtClean="0"/>
              <a:t>phía</a:t>
            </a:r>
            <a:r>
              <a:rPr lang="en-US" sz="1600" dirty="0" smtClean="0"/>
              <a:t> VAECO </a:t>
            </a:r>
            <a:r>
              <a:rPr lang="en-US" sz="1600" dirty="0" err="1" smtClean="0"/>
              <a:t>cũng</a:t>
            </a:r>
            <a:r>
              <a:rPr lang="en-US" sz="1600" dirty="0" smtClean="0"/>
              <a:t> </a:t>
            </a:r>
            <a:r>
              <a:rPr lang="en-US" sz="1600" dirty="0" err="1" smtClean="0"/>
              <a:t>đã</a:t>
            </a:r>
            <a:r>
              <a:rPr lang="en-US" sz="1600" dirty="0" smtClean="0"/>
              <a:t> </a:t>
            </a:r>
            <a:r>
              <a:rPr lang="en-US" sz="1600" dirty="0" err="1" smtClean="0"/>
              <a:t>gửi</a:t>
            </a:r>
            <a:r>
              <a:rPr lang="en-US" sz="1600" dirty="0" smtClean="0"/>
              <a:t> </a:t>
            </a:r>
            <a:r>
              <a:rPr lang="en-US" sz="1600" dirty="0" err="1" smtClean="0"/>
              <a:t>thông</a:t>
            </a:r>
            <a:r>
              <a:rPr lang="en-US" sz="1600" dirty="0" smtClean="0"/>
              <a:t> tin </a:t>
            </a:r>
            <a:r>
              <a:rPr lang="en-US" sz="1600" dirty="0" err="1" smtClean="0"/>
              <a:t>cho</a:t>
            </a:r>
            <a:r>
              <a:rPr lang="en-US" sz="1600" dirty="0" smtClean="0"/>
              <a:t> AIB </a:t>
            </a:r>
            <a:r>
              <a:rPr lang="en-US" sz="1600" dirty="0" err="1" smtClean="0"/>
              <a:t>để</a:t>
            </a:r>
            <a:r>
              <a:rPr lang="en-US" sz="1600" dirty="0" smtClean="0"/>
              <a:t> </a:t>
            </a:r>
            <a:r>
              <a:rPr lang="en-US" sz="1600" dirty="0" err="1" smtClean="0"/>
              <a:t>xác</a:t>
            </a:r>
            <a:r>
              <a:rPr lang="en-US" sz="1600" dirty="0" smtClean="0"/>
              <a:t> </a:t>
            </a:r>
            <a:r>
              <a:rPr lang="en-US" sz="1600" dirty="0" err="1" smtClean="0"/>
              <a:t>định</a:t>
            </a:r>
            <a:r>
              <a:rPr lang="en-US" sz="1600" dirty="0" smtClean="0"/>
              <a:t> </a:t>
            </a:r>
            <a:r>
              <a:rPr lang="en-US" sz="1600" dirty="0" err="1" smtClean="0"/>
              <a:t>thêm</a:t>
            </a:r>
            <a:r>
              <a:rPr lang="en-US" sz="1600" dirty="0" smtClean="0"/>
              <a:t> </a:t>
            </a:r>
            <a:r>
              <a:rPr lang="en-US" sz="1600" dirty="0" err="1" smtClean="0"/>
              <a:t>về</a:t>
            </a:r>
            <a:r>
              <a:rPr lang="en-US" sz="1600" dirty="0" smtClean="0"/>
              <a:t> </a:t>
            </a:r>
            <a:r>
              <a:rPr lang="en-US" sz="1600" dirty="0" err="1" smtClean="0"/>
              <a:t>nguyên</a:t>
            </a:r>
            <a:r>
              <a:rPr lang="en-US" sz="1600" dirty="0" smtClean="0"/>
              <a:t> </a:t>
            </a:r>
            <a:r>
              <a:rPr lang="en-US" sz="1600" dirty="0" err="1" smtClean="0"/>
              <a:t>nhân</a:t>
            </a:r>
            <a:r>
              <a:rPr lang="en-US" sz="1600" dirty="0" smtClean="0"/>
              <a:t> </a:t>
            </a:r>
            <a:r>
              <a:rPr lang="en-US" sz="1600" dirty="0" err="1" smtClean="0"/>
              <a:t>của</a:t>
            </a:r>
            <a:r>
              <a:rPr lang="en-US" sz="1600" dirty="0" smtClean="0"/>
              <a:t> </a:t>
            </a:r>
            <a:r>
              <a:rPr lang="en-US" sz="1600" dirty="0" err="1" smtClean="0"/>
              <a:t>hỏng</a:t>
            </a:r>
            <a:r>
              <a:rPr lang="en-US" sz="1600" dirty="0" smtClean="0"/>
              <a:t> </a:t>
            </a:r>
            <a:r>
              <a:rPr lang="en-US" sz="1600" dirty="0" err="1" smtClean="0"/>
              <a:t>hóc</a:t>
            </a:r>
            <a:r>
              <a:rPr lang="en-US" sz="1600" dirty="0" smtClean="0"/>
              <a:t>)</a:t>
            </a:r>
            <a:r>
              <a:rPr lang="en-US" sz="1600" dirty="0" smtClean="0">
                <a:latin typeface="Times New Roman" panose="02020603050405020304" pitchFamily="18" charset="0"/>
                <a:cs typeface="Times New Roman" panose="02020603050405020304" pitchFamily="18" charset="0"/>
              </a:rPr>
              <a:t> </a:t>
            </a:r>
            <a:endParaRPr lang="en-US" sz="1600" dirty="0">
              <a:latin typeface="Times New Roman" panose="02020603050405020304" pitchFamily="18" charset="0"/>
              <a:cs typeface="Times New Roman" panose="02020603050405020304" pitchFamily="18" charset="0"/>
            </a:endParaRPr>
          </a:p>
          <a:p>
            <a:pPr marL="342900" indent="-342900">
              <a:buFont typeface="+mj-lt"/>
              <a:buAutoNum type="arabicPeriod"/>
            </a:pP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0225025"/>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C91F1225-FC0E-5433-C8DA-3A180CA7EE00}"/>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C4F1B922-C038-04CB-CF61-EB34175F72F3}"/>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C85FF762-C7BE-C174-D0AA-48FABC7CA19E}"/>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A350</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E0B7B82D-1374-56D5-C3DF-62BC7E089176}"/>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00 	</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DA2E25CF-F09B-0F7D-8BE1-4832D15B9FCD}"/>
              </a:ext>
            </a:extLst>
          </p:cNvPr>
          <p:cNvSpPr txBox="1"/>
          <p:nvPr/>
        </p:nvSpPr>
        <p:spPr>
          <a:xfrm>
            <a:off x="134290" y="107088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Fleet A350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có</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tình</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trạng</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kỹ</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thuật</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tốt</a:t>
            </a:r>
            <a:endParaRPr kumimoji="0" lang="en-US" sz="1600" b="1"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2379539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9</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57576" y="66595"/>
            <a:ext cx="7860513"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A350</a:t>
            </a:r>
            <a:endParaRPr lang="en-US" sz="2933" b="1">
              <a:ln w="0"/>
              <a:solidFill>
                <a:schemeClr val="accent4"/>
              </a:solidFill>
              <a:latin typeface="Times New Roman" panose="02020603050405020304" pitchFamily="18" charset="0"/>
              <a:cs typeface="Times New Roman" panose="02020603050405020304" pitchFamily="18" charset="0"/>
              <a:sym typeface="Montserrat"/>
            </a:endParaRPr>
          </a:p>
        </p:txBody>
      </p:sp>
      <p:graphicFrame>
        <p:nvGraphicFramePr>
          <p:cNvPr id="3" name="Table 2">
            <a:extLst>
              <a:ext uri="{FF2B5EF4-FFF2-40B4-BE49-F238E27FC236}">
                <a16:creationId xmlns:a16="http://schemas.microsoft.com/office/drawing/2014/main" id="{500E41CC-2886-EEF1-DAB5-AF843E78AFE9}"/>
              </a:ext>
            </a:extLst>
          </p:cNvPr>
          <p:cNvGraphicFramePr>
            <a:graphicFrameLocks noGrp="1"/>
          </p:cNvGraphicFramePr>
          <p:nvPr>
            <p:extLst/>
          </p:nvPr>
        </p:nvGraphicFramePr>
        <p:xfrm>
          <a:off x="257575" y="565153"/>
          <a:ext cx="11676851" cy="6243529"/>
        </p:xfrm>
        <a:graphic>
          <a:graphicData uri="http://schemas.openxmlformats.org/drawingml/2006/table">
            <a:tbl>
              <a:tblPr/>
              <a:tblGrid>
                <a:gridCol w="356981">
                  <a:extLst>
                    <a:ext uri="{9D8B030D-6E8A-4147-A177-3AD203B41FA5}">
                      <a16:colId xmlns:a16="http://schemas.microsoft.com/office/drawing/2014/main" val="3168774685"/>
                    </a:ext>
                  </a:extLst>
                </a:gridCol>
                <a:gridCol w="545171">
                  <a:extLst>
                    <a:ext uri="{9D8B030D-6E8A-4147-A177-3AD203B41FA5}">
                      <a16:colId xmlns:a16="http://schemas.microsoft.com/office/drawing/2014/main" val="88018513"/>
                    </a:ext>
                  </a:extLst>
                </a:gridCol>
                <a:gridCol w="594732">
                  <a:extLst>
                    <a:ext uri="{9D8B030D-6E8A-4147-A177-3AD203B41FA5}">
                      <a16:colId xmlns:a16="http://schemas.microsoft.com/office/drawing/2014/main" val="3156483764"/>
                    </a:ext>
                  </a:extLst>
                </a:gridCol>
                <a:gridCol w="1239024">
                  <a:extLst>
                    <a:ext uri="{9D8B030D-6E8A-4147-A177-3AD203B41FA5}">
                      <a16:colId xmlns:a16="http://schemas.microsoft.com/office/drawing/2014/main" val="393603451"/>
                    </a:ext>
                  </a:extLst>
                </a:gridCol>
                <a:gridCol w="1100253">
                  <a:extLst>
                    <a:ext uri="{9D8B030D-6E8A-4147-A177-3AD203B41FA5}">
                      <a16:colId xmlns:a16="http://schemas.microsoft.com/office/drawing/2014/main" val="431687833"/>
                    </a:ext>
                  </a:extLst>
                </a:gridCol>
                <a:gridCol w="1298499">
                  <a:extLst>
                    <a:ext uri="{9D8B030D-6E8A-4147-A177-3AD203B41FA5}">
                      <a16:colId xmlns:a16="http://schemas.microsoft.com/office/drawing/2014/main" val="1167882579"/>
                    </a:ext>
                  </a:extLst>
                </a:gridCol>
                <a:gridCol w="6542191">
                  <a:extLst>
                    <a:ext uri="{9D8B030D-6E8A-4147-A177-3AD203B41FA5}">
                      <a16:colId xmlns:a16="http://schemas.microsoft.com/office/drawing/2014/main" val="2468069846"/>
                    </a:ext>
                  </a:extLst>
                </a:gridCol>
              </a:tblGrid>
              <a:tr h="185184">
                <a:tc>
                  <a:txBody>
                    <a:bodyPr/>
                    <a:lstStyle/>
                    <a:p>
                      <a:pPr algn="ctr" fontAlgn="ctr"/>
                      <a:r>
                        <a:rPr lang="en-US" sz="1200" b="0" i="0" u="none" strike="noStrike">
                          <a:solidFill>
                            <a:srgbClr val="000000"/>
                          </a:solidFill>
                          <a:effectLst/>
                          <a:latin typeface="Calibri" panose="020F0502020204030204" pitchFamily="34" charset="0"/>
                        </a:rPr>
                        <a:t>No</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Fleet</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A/C</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Tình trạng tàu bay</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Tình trạng KT</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200" b="0" i="0" u="none" strike="noStrike">
                          <a:solidFill>
                            <a:srgbClr val="000000"/>
                          </a:solidFill>
                          <a:effectLst/>
                          <a:latin typeface="Calibri" panose="020F0502020204030204" pitchFamily="34" charset="0"/>
                        </a:rPr>
                        <a:t>Điều kiện chuyên cơ</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Ghi chú</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45616810"/>
                  </a:ext>
                </a:extLst>
              </a:tr>
              <a:tr h="550944">
                <a:tc>
                  <a:txBody>
                    <a:bodyPr/>
                    <a:lstStyle/>
                    <a:p>
                      <a:pPr algn="ctr" fontAlgn="ctr"/>
                      <a:r>
                        <a:rPr lang="en-US" sz="1200" b="0" i="0" u="none" strike="noStrike">
                          <a:solidFill>
                            <a:srgbClr val="000000"/>
                          </a:solidFill>
                          <a:effectLst/>
                          <a:latin typeface="Calibri" panose="020F0502020204030204" pitchFamily="34" charset="0"/>
                        </a:rPr>
                        <a:t>1</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A886</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BQDB</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1. ADD B1372 RAISED DM AIR REDUNDANCY LOSS ON FUEL INERTING</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2. ADD B1379 RAISED PACK 1 REGULATION REDUNDANCY</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3. ADD B1381 RAISED F/CTL R OUT R AILERON G ACTUATOR</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95640380"/>
                  </a:ext>
                </a:extLst>
              </a:tr>
              <a:tr h="185184">
                <a:tc>
                  <a:txBody>
                    <a:bodyPr/>
                    <a:lstStyle/>
                    <a:p>
                      <a:pPr algn="ctr" fontAlgn="ctr"/>
                      <a:r>
                        <a:rPr lang="en-US" sz="1200" b="0" i="0" u="none" strike="noStrike">
                          <a:solidFill>
                            <a:srgbClr val="000000"/>
                          </a:solidFill>
                          <a:effectLst/>
                          <a:latin typeface="Calibri" panose="020F0502020204030204" pitchFamily="34" charset="0"/>
                        </a:rPr>
                        <a:t>2</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A887</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BQDB</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200" b="0" i="0" u="none" strike="noStrike">
                          <a:solidFill>
                            <a:srgbClr val="000000"/>
                          </a:solidFill>
                          <a:effectLst/>
                          <a:latin typeface="Calibri" panose="020F0502020204030204" pitchFamily="34" charset="0"/>
                        </a:rPr>
                        <a:t>1. ADD B1246 RAISED AIR PACK 2 REGUL REDUNDANCY</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41613665"/>
                  </a:ext>
                </a:extLst>
              </a:tr>
              <a:tr h="368064">
                <a:tc>
                  <a:txBody>
                    <a:bodyPr/>
                    <a:lstStyle/>
                    <a:p>
                      <a:pPr algn="ctr" fontAlgn="ctr"/>
                      <a:r>
                        <a:rPr lang="en-US" sz="1200" b="0" i="0" u="none" strike="noStrike">
                          <a:solidFill>
                            <a:srgbClr val="000000"/>
                          </a:solidFill>
                          <a:effectLst/>
                          <a:latin typeface="Calibri" panose="020F0502020204030204" pitchFamily="34" charset="0"/>
                        </a:rPr>
                        <a:t>3</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A888</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1. Eng 2 21682  giảm tần suất soi heatshield 2400FH/400FC</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2. SKYWISE MSG: ENG 1-SD-ENG-QOIL DISPLAYED IN GREEN PULSING COLOUR</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26911785"/>
                  </a:ext>
                </a:extLst>
              </a:tr>
              <a:tr h="733824">
                <a:tc>
                  <a:txBody>
                    <a:bodyPr/>
                    <a:lstStyle/>
                    <a:p>
                      <a:pPr algn="ctr" fontAlgn="ctr"/>
                      <a:r>
                        <a:rPr lang="en-US" sz="1200" b="0" i="0" u="none" strike="noStrike">
                          <a:solidFill>
                            <a:srgbClr val="000000"/>
                          </a:solidFill>
                          <a:effectLst/>
                          <a:latin typeface="Calibri" panose="020F0502020204030204" pitchFamily="34" charset="0"/>
                        </a:rPr>
                        <a:t>4</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A889</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Đạt</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1. Eng 1 21088 giảm tần suất soi HPT blade 800FH/100FC</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2. ADD B1188 RAISED THE OUTBOARD SEAL OF LH MOVEABLE FAIRING # 4 DAMAGED (38CM)</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3. ADD B1233 RAISED DM AIR RAM DOOR INERTING SYS1 ACTUATOR</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4. ADD B1234 RAISED DM FUEL INERTING SYS</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23627800"/>
                  </a:ext>
                </a:extLst>
              </a:tr>
              <a:tr h="550944">
                <a:tc>
                  <a:txBody>
                    <a:bodyPr/>
                    <a:lstStyle/>
                    <a:p>
                      <a:pPr algn="ctr" fontAlgn="ctr"/>
                      <a:r>
                        <a:rPr lang="en-US" sz="1200" b="0" i="0" u="none" strike="noStrike">
                          <a:solidFill>
                            <a:srgbClr val="000000"/>
                          </a:solidFill>
                          <a:effectLst/>
                          <a:latin typeface="Calibri" panose="020F0502020204030204" pitchFamily="34" charset="0"/>
                        </a:rPr>
                        <a:t>5</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A890</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Định kỳ</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1. TR 81489576: PREVENTIVE RECOMMENDATION PACK 2 INTERNAL LEAKAGE</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2. ADD B1497 RAISED BRAKE FAN 5 DEACTIVE</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3. FM: SPDB-2,CABIN(2XY) / WRG TO SPDB-2,CABIN(2XY) PIN 2XYUAA</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87328930"/>
                  </a:ext>
                </a:extLst>
              </a:tr>
              <a:tr h="185184">
                <a:tc>
                  <a:txBody>
                    <a:bodyPr/>
                    <a:lstStyle/>
                    <a:p>
                      <a:pPr algn="ctr" fontAlgn="ctr"/>
                      <a:r>
                        <a:rPr lang="en-US" sz="1200" b="0" i="0" u="none" strike="noStrike">
                          <a:solidFill>
                            <a:srgbClr val="000000"/>
                          </a:solidFill>
                          <a:effectLst/>
                          <a:latin typeface="Calibri" panose="020F0502020204030204" pitchFamily="34" charset="0"/>
                        </a:rPr>
                        <a:t>6</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A891</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Đạt</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 </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20272888"/>
                  </a:ext>
                </a:extLst>
              </a:tr>
              <a:tr h="368064">
                <a:tc>
                  <a:txBody>
                    <a:bodyPr/>
                    <a:lstStyle/>
                    <a:p>
                      <a:pPr algn="ctr" fontAlgn="ctr"/>
                      <a:r>
                        <a:rPr lang="en-US" sz="1200" b="0" i="0" u="none" strike="noStrike">
                          <a:solidFill>
                            <a:srgbClr val="000000"/>
                          </a:solidFill>
                          <a:effectLst/>
                          <a:latin typeface="Calibri" panose="020F0502020204030204" pitchFamily="34" charset="0"/>
                        </a:rPr>
                        <a:t>7</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A892</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200" b="0" i="0" u="none" strike="noStrike">
                          <a:solidFill>
                            <a:srgbClr val="000000"/>
                          </a:solidFill>
                          <a:effectLst/>
                          <a:latin typeface="Calibri" panose="020F0502020204030204" pitchFamily="34" charset="0"/>
                        </a:rPr>
                        <a:t>1. ADD B1455 RAISED THE DROOP-NOSE END-FILLING PANEL AT R/H MISSING</a:t>
                      </a:r>
                      <a:br>
                        <a:rPr lang="en-SG" sz="1200" b="0" i="0" u="none" strike="noStrike">
                          <a:solidFill>
                            <a:srgbClr val="000000"/>
                          </a:solidFill>
                          <a:effectLst/>
                          <a:latin typeface="Calibri" panose="020F0502020204030204" pitchFamily="34" charset="0"/>
                        </a:rPr>
                      </a:br>
                      <a:r>
                        <a:rPr lang="en-SG" sz="1200" b="0" i="0" u="none" strike="noStrike">
                          <a:solidFill>
                            <a:srgbClr val="000000"/>
                          </a:solidFill>
                          <a:effectLst/>
                          <a:latin typeface="Calibri" panose="020F0502020204030204" pitchFamily="34" charset="0"/>
                        </a:rPr>
                        <a:t>2. ENGINE: #2/21368 ON AIRCRAFT VN-A892: P25 MEASUREMENT ERROR</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02469246"/>
                  </a:ext>
                </a:extLst>
              </a:tr>
              <a:tr h="368064">
                <a:tc>
                  <a:txBody>
                    <a:bodyPr/>
                    <a:lstStyle/>
                    <a:p>
                      <a:pPr algn="ctr" fontAlgn="ctr"/>
                      <a:r>
                        <a:rPr lang="en-US" sz="1200" b="0" i="0" u="none" strike="noStrike">
                          <a:solidFill>
                            <a:srgbClr val="000000"/>
                          </a:solidFill>
                          <a:effectLst/>
                          <a:latin typeface="Calibri" panose="020F0502020204030204" pitchFamily="34" charset="0"/>
                        </a:rPr>
                        <a:t>8</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A893</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200" b="0" i="0" u="none" strike="noStrike">
                          <a:solidFill>
                            <a:srgbClr val="000000"/>
                          </a:solidFill>
                          <a:effectLst/>
                          <a:latin typeface="Calibri" panose="020F0502020204030204" pitchFamily="34" charset="0"/>
                        </a:rPr>
                        <a:t>1. Không chọn chuyên cơ do động cơ số 2 S/N 21369 tiêu hao dầu nhờn cao, Rolls-Royce chưa đưa ra được giải pháp khắc phục.</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93831198"/>
                  </a:ext>
                </a:extLst>
              </a:tr>
              <a:tr h="916704">
                <a:tc>
                  <a:txBody>
                    <a:bodyPr/>
                    <a:lstStyle/>
                    <a:p>
                      <a:pPr algn="ctr" fontAlgn="ctr"/>
                      <a:r>
                        <a:rPr lang="en-US" sz="1200" b="0" i="0" u="none" strike="noStrike">
                          <a:solidFill>
                            <a:srgbClr val="000000"/>
                          </a:solidFill>
                          <a:effectLst/>
                          <a:latin typeface="Calibri" panose="020F0502020204030204" pitchFamily="34" charset="0"/>
                        </a:rPr>
                        <a:t>9</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A894</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1. Eng 2 21425 giảm tần suất soi HPT blade 800FH/100FC</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2. TR 81557714: PREVENTIVE RECOMMENDATION SERVO-CONTROL OUTBOARD AILERON GREEN LH PRESSURE SENSOR DEGRADATION (1CR1)</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3. ADD B1128 RAISED DM AIR PACK 2 RAM AIR DOOR INLET OPEN</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4. ADD B1129 RAISED DM FUEL INERTING SYS</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8929819"/>
                  </a:ext>
                </a:extLst>
              </a:tr>
              <a:tr h="185184">
                <a:tc>
                  <a:txBody>
                    <a:bodyPr/>
                    <a:lstStyle/>
                    <a:p>
                      <a:pPr algn="ctr" fontAlgn="ctr"/>
                      <a:r>
                        <a:rPr lang="en-US" sz="1200" b="0" i="0" u="none" strike="noStrike">
                          <a:solidFill>
                            <a:srgbClr val="000000"/>
                          </a:solidFill>
                          <a:effectLst/>
                          <a:latin typeface="Calibri" panose="020F0502020204030204" pitchFamily="34" charset="0"/>
                        </a:rPr>
                        <a:t>10</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A895</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BQDB</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SG" sz="1200" b="0" i="0" u="none" strike="noStrike">
                        <a:solidFill>
                          <a:srgbClr val="000000"/>
                        </a:solidFill>
                        <a:effectLst/>
                        <a:latin typeface="Calibri" panose="020F0502020204030204" pitchFamily="34" charset="0"/>
                      </a:endParaRP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04092153"/>
                  </a:ext>
                </a:extLst>
              </a:tr>
              <a:tr h="550944">
                <a:tc>
                  <a:txBody>
                    <a:bodyPr/>
                    <a:lstStyle/>
                    <a:p>
                      <a:pPr algn="ctr" fontAlgn="ctr"/>
                      <a:r>
                        <a:rPr lang="en-US" sz="1200" b="0" i="0" u="none" strike="noStrike">
                          <a:solidFill>
                            <a:srgbClr val="000000"/>
                          </a:solidFill>
                          <a:effectLst/>
                          <a:latin typeface="Calibri" panose="020F0502020204030204" pitchFamily="34" charset="0"/>
                        </a:rPr>
                        <a:t>11</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A896</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200" b="0" i="0" u="none" strike="noStrike">
                          <a:solidFill>
                            <a:srgbClr val="000000"/>
                          </a:solidFill>
                          <a:effectLst/>
                          <a:latin typeface="Calibri" panose="020F0502020204030204" pitchFamily="34" charset="0"/>
                        </a:rPr>
                        <a:t>1. ADD B954 RAISED UPPER LATCH ASSY OF COCKPIT DOOR BOLTING SYSTEM IS NOT FULLY LOCKED </a:t>
                      </a:r>
                      <a:br>
                        <a:rPr lang="en-SG" sz="1200" b="0" i="0" u="none" strike="noStrike">
                          <a:solidFill>
                            <a:srgbClr val="000000"/>
                          </a:solidFill>
                          <a:effectLst/>
                          <a:latin typeface="Calibri" panose="020F0502020204030204" pitchFamily="34" charset="0"/>
                        </a:rPr>
                      </a:br>
                      <a:r>
                        <a:rPr lang="en-SG" sz="1200" b="0" i="0" u="none" strike="noStrike">
                          <a:solidFill>
                            <a:srgbClr val="000000"/>
                          </a:solidFill>
                          <a:effectLst/>
                          <a:latin typeface="Calibri" panose="020F0502020204030204" pitchFamily="34" charset="0"/>
                        </a:rPr>
                        <a:t>2. TR 81416394: PREVENTIVE RECOMMENDATION PACK 1 INTERNAL LEAKAGE</a:t>
                      </a:r>
                      <a:br>
                        <a:rPr lang="en-SG" sz="1200" b="0" i="0" u="none" strike="noStrike">
                          <a:solidFill>
                            <a:srgbClr val="000000"/>
                          </a:solidFill>
                          <a:effectLst/>
                          <a:latin typeface="Calibri" panose="020F0502020204030204" pitchFamily="34" charset="0"/>
                        </a:rPr>
                      </a:br>
                      <a:r>
                        <a:rPr lang="en-SG" sz="1200" b="0" i="0" u="none" strike="noStrike">
                          <a:solidFill>
                            <a:srgbClr val="000000"/>
                          </a:solidFill>
                          <a:effectLst/>
                          <a:latin typeface="Calibri" panose="020F0502020204030204" pitchFamily="34" charset="0"/>
                        </a:rPr>
                        <a:t>3. DM: BRAKES ALTN+EMER BRK =&gt; monitor</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41625205"/>
                  </a:ext>
                </a:extLst>
              </a:tr>
              <a:tr h="368064">
                <a:tc>
                  <a:txBody>
                    <a:bodyPr/>
                    <a:lstStyle/>
                    <a:p>
                      <a:pPr algn="ctr" fontAlgn="ctr"/>
                      <a:r>
                        <a:rPr lang="en-US" sz="1200" b="0" i="0" u="none" strike="noStrike">
                          <a:solidFill>
                            <a:srgbClr val="000000"/>
                          </a:solidFill>
                          <a:effectLst/>
                          <a:latin typeface="Calibri" panose="020F0502020204030204" pitchFamily="34" charset="0"/>
                        </a:rPr>
                        <a:t>12</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A897</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1. Eng 2 21214 giảm tần suất soi heatshield 2400FH/400FC</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2. A897 có logo Skyteam</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0959302"/>
                  </a:ext>
                </a:extLst>
              </a:tr>
              <a:tr h="541993">
                <a:tc>
                  <a:txBody>
                    <a:bodyPr/>
                    <a:lstStyle/>
                    <a:p>
                      <a:pPr algn="ctr" fontAlgn="ctr"/>
                      <a:r>
                        <a:rPr lang="en-US" sz="1200" b="0" i="0" u="none" strike="noStrike">
                          <a:solidFill>
                            <a:srgbClr val="000000"/>
                          </a:solidFill>
                          <a:effectLst/>
                          <a:latin typeface="Calibri" panose="020F0502020204030204" pitchFamily="34" charset="0"/>
                        </a:rPr>
                        <a:t>13</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A898</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BQDB</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200" b="0" i="0" u="none" strike="noStrike">
                        <a:solidFill>
                          <a:srgbClr val="000000"/>
                        </a:solidFill>
                        <a:effectLst/>
                        <a:latin typeface="Calibri" panose="020F0502020204030204" pitchFamily="34" charset="0"/>
                      </a:endParaRP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58576209"/>
                  </a:ext>
                </a:extLst>
              </a:tr>
              <a:tr h="185184">
                <a:tc>
                  <a:txBody>
                    <a:bodyPr/>
                    <a:lstStyle/>
                    <a:p>
                      <a:pPr algn="ctr" fontAlgn="ctr"/>
                      <a:r>
                        <a:rPr lang="en-US" sz="1200" b="0" i="0" u="none" strike="noStrike">
                          <a:solidFill>
                            <a:srgbClr val="000000"/>
                          </a:solidFill>
                          <a:effectLst/>
                          <a:latin typeface="Calibri" panose="020F0502020204030204" pitchFamily="34" charset="0"/>
                        </a:rPr>
                        <a:t>14</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A899</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Đạt</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1. Eng 1 21048 giảm tần suất soi HPT blade 800FH/100FC</a:t>
                      </a:r>
                    </a:p>
                  </a:txBody>
                  <a:tcPr marL="2304" marR="2304" marT="23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55752416"/>
                  </a:ext>
                </a:extLst>
              </a:tr>
            </a:tbl>
          </a:graphicData>
        </a:graphic>
      </p:graphicFrame>
    </p:spTree>
    <p:extLst>
      <p:ext uri="{BB962C8B-B14F-4D97-AF65-F5344CB8AC3E}">
        <p14:creationId xmlns:p14="http://schemas.microsoft.com/office/powerpoint/2010/main" val="37784171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4" name="Google Shape;82;p7">
            <a:extLst>
              <a:ext uri="{FF2B5EF4-FFF2-40B4-BE49-F238E27FC236}">
                <a16:creationId xmlns:a16="http://schemas.microsoft.com/office/drawing/2014/main" id="{E8C503CE-18C5-4A3D-AD46-240DA1F966DC}"/>
              </a:ext>
            </a:extLst>
          </p:cNvPr>
          <p:cNvSpPr txBox="1"/>
          <p:nvPr/>
        </p:nvSpPr>
        <p:spPr>
          <a:xfrm>
            <a:off x="212083" y="107143"/>
            <a:ext cx="8438437"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A350</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id="{5914447B-A879-4C97-AD62-7AFABAF9410A}"/>
              </a:ext>
            </a:extLst>
          </p:cNvPr>
          <p:cNvSpPr/>
          <p:nvPr/>
        </p:nvSpPr>
        <p:spPr>
          <a:xfrm>
            <a:off x="210231" y="535899"/>
            <a:ext cx="11769687" cy="1077218"/>
          </a:xfrm>
          <a:prstGeom prst="rect">
            <a:avLst/>
          </a:prstGeom>
        </p:spPr>
        <p:txBody>
          <a:bodyPr wrap="square">
            <a:spAutoFit/>
          </a:bodyPr>
          <a:lstStyle/>
          <a:p>
            <a:pPr algn="just">
              <a:buClrTx/>
              <a:buFontTx/>
              <a:buNone/>
            </a:pPr>
            <a:r>
              <a:rPr lang="en-US" sz="1600" b="1" err="1">
                <a:solidFill>
                  <a:prstClr val="black"/>
                </a:solidFill>
                <a:latin typeface="Times New Roman" panose="02020603050405020304" pitchFamily="18" charset="0"/>
                <a:cs typeface="Times New Roman" panose="02020603050405020304" pitchFamily="18" charset="0"/>
              </a:rPr>
              <a:t>Nhận</a:t>
            </a:r>
            <a:r>
              <a:rPr lang="en-US" sz="1600" b="1">
                <a:solidFill>
                  <a:prstClr val="black"/>
                </a:solidFill>
                <a:latin typeface="Times New Roman" panose="02020603050405020304" pitchFamily="18" charset="0"/>
                <a:cs typeface="Times New Roman" panose="02020603050405020304" pitchFamily="18" charset="0"/>
              </a:rPr>
              <a:t> </a:t>
            </a:r>
            <a:r>
              <a:rPr lang="en-US" sz="1600" b="1" err="1">
                <a:solidFill>
                  <a:prstClr val="black"/>
                </a:solidFill>
                <a:latin typeface="Times New Roman" panose="02020603050405020304" pitchFamily="18" charset="0"/>
                <a:cs typeface="Times New Roman" panose="02020603050405020304" pitchFamily="18" charset="0"/>
              </a:rPr>
              <a:t>xét</a:t>
            </a:r>
            <a:r>
              <a:rPr lang="en-US" sz="1600" b="1">
                <a:solidFill>
                  <a:prstClr val="black"/>
                </a:solidFill>
                <a:latin typeface="Times New Roman" panose="02020603050405020304" pitchFamily="18" charset="0"/>
                <a:cs typeface="Times New Roman" panose="02020603050405020304" pitchFamily="18" charset="0"/>
              </a:rPr>
              <a:t>: </a:t>
            </a:r>
          </a:p>
          <a:p>
            <a:pPr marL="380990" indent="-380990" algn="just">
              <a:buFontTx/>
              <a:buChar char="-"/>
            </a:pPr>
            <a:r>
              <a:rPr lang="vi-VN" sz="1600">
                <a:solidFill>
                  <a:prstClr val="black"/>
                </a:solidFill>
                <a:latin typeface="Times New Roman" panose="02020603050405020304" pitchFamily="18" charset="0"/>
                <a:cs typeface="Times New Roman" panose="02020603050405020304" pitchFamily="18" charset="0"/>
              </a:rPr>
              <a:t>Tình hình kỹ thuật đội bay A3</a:t>
            </a:r>
            <a:r>
              <a:rPr lang="en-US" sz="1600">
                <a:solidFill>
                  <a:prstClr val="black"/>
                </a:solidFill>
                <a:latin typeface="Times New Roman" panose="02020603050405020304" pitchFamily="18" charset="0"/>
                <a:cs typeface="Times New Roman" panose="02020603050405020304" pitchFamily="18" charset="0"/>
              </a:rPr>
              <a:t>50 trong tuần tốt.</a:t>
            </a:r>
          </a:p>
          <a:p>
            <a:pPr marL="380990" indent="-380990" algn="just">
              <a:buFontTx/>
              <a:buChar char="-"/>
            </a:pPr>
            <a:r>
              <a:rPr lang="en-US" sz="1600" err="1">
                <a:solidFill>
                  <a:prstClr val="black"/>
                </a:solidFill>
                <a:latin typeface="Times New Roman" panose="02020603050405020304" pitchFamily="18" charset="0"/>
                <a:cs typeface="Times New Roman" panose="02020603050405020304" pitchFamily="18" charset="0"/>
              </a:rPr>
              <a:t>Hỏng</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hóc</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nổi</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cộm</a:t>
            </a:r>
            <a:r>
              <a:rPr lang="en-US" sz="1600">
                <a:solidFill>
                  <a:prstClr val="black"/>
                </a:solidFill>
                <a:latin typeface="Times New Roman" panose="02020603050405020304" pitchFamily="18" charset="0"/>
                <a:cs typeface="Times New Roman" panose="02020603050405020304" pitchFamily="18" charset="0"/>
              </a:rPr>
              <a:t>: </a:t>
            </a:r>
          </a:p>
          <a:p>
            <a:pPr marL="609585" lvl="1" algn="just"/>
            <a:r>
              <a:rPr lang="en-US" sz="1600">
                <a:latin typeface="Times New Roman" panose="02020603050405020304" pitchFamily="18" charset="0"/>
                <a:cs typeface="Times New Roman" panose="02020603050405020304" pitchFamily="18" charset="0"/>
              </a:rPr>
              <a:t>+ NIL.</a:t>
            </a:r>
            <a:endParaRPr lang="en-US" sz="160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0597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FCD2F7F1-EC77-040F-D02F-CB420ADAF06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FE098302-6DCD-71EE-1FBF-9F6961136E89}"/>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97340C5B-610F-40BC-689E-C441111B49A7}"/>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
            </a:r>
            <a:r>
              <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B787</a:t>
            </a:r>
          </a:p>
        </p:txBody>
      </p:sp>
      <p:sp>
        <p:nvSpPr>
          <p:cNvPr id="9" name="TextBox 8">
            <a:extLst>
              <a:ext uri="{FF2B5EF4-FFF2-40B4-BE49-F238E27FC236}">
                <a16:creationId xmlns:a16="http://schemas.microsoft.com/office/drawing/2014/main" id="{D48FB457-A375-1917-6C38-EA994CBDA891}"/>
              </a:ext>
            </a:extLst>
          </p:cNvPr>
          <p:cNvSpPr txBox="1"/>
          <p:nvPr/>
        </p:nvSpPr>
        <p:spPr>
          <a:xfrm>
            <a:off x="152400" y="699251"/>
            <a:ext cx="11231514"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kumimoji="0" lang="vi-VN"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a:t>
            </a:r>
            <a:r>
              <a:rPr lang="vi-VN"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00</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DA2E25CF-F09B-0F7D-8BE1-4832D15B9FCD}"/>
              </a:ext>
            </a:extLst>
          </p:cNvPr>
          <p:cNvSpPr txBox="1"/>
          <p:nvPr/>
        </p:nvSpPr>
        <p:spPr>
          <a:xfrm>
            <a:off x="141513" y="1088305"/>
            <a:ext cx="11242401"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Fleet </a:t>
            </a:r>
            <a:r>
              <a:rPr lang="en-US" sz="1600" b="1" dirty="0" smtClean="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B787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có</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tình</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trạng</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kỹ</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thuật</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tốt</a:t>
            </a:r>
            <a:endParaRPr kumimoji="0" lang="en-US" sz="1600" b="1"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6481190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12</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175690" y="2906"/>
            <a:ext cx="8474831"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B787</a:t>
            </a:r>
            <a:endParaRPr lang="en-US" sz="2933" b="1">
              <a:ln w="0"/>
              <a:solidFill>
                <a:schemeClr val="accent4"/>
              </a:solidFill>
              <a:latin typeface="Times New Roman" panose="02020603050405020304" pitchFamily="18" charset="0"/>
              <a:cs typeface="Times New Roman" panose="02020603050405020304" pitchFamily="18" charset="0"/>
              <a:sym typeface="Montserrat"/>
            </a:endParaRPr>
          </a:p>
        </p:txBody>
      </p:sp>
      <p:graphicFrame>
        <p:nvGraphicFramePr>
          <p:cNvPr id="3" name="Table 2">
            <a:extLst>
              <a:ext uri="{FF2B5EF4-FFF2-40B4-BE49-F238E27FC236}">
                <a16:creationId xmlns:a16="http://schemas.microsoft.com/office/drawing/2014/main" id="{10C4A9DA-1EE7-88F5-3B48-4C02006031BF}"/>
              </a:ext>
            </a:extLst>
          </p:cNvPr>
          <p:cNvGraphicFramePr>
            <a:graphicFrameLocks noGrp="1"/>
          </p:cNvGraphicFramePr>
          <p:nvPr>
            <p:extLst/>
          </p:nvPr>
        </p:nvGraphicFramePr>
        <p:xfrm>
          <a:off x="175690" y="501464"/>
          <a:ext cx="11840623" cy="6719400"/>
        </p:xfrm>
        <a:graphic>
          <a:graphicData uri="http://schemas.openxmlformats.org/drawingml/2006/table">
            <a:tbl>
              <a:tblPr/>
              <a:tblGrid>
                <a:gridCol w="369481">
                  <a:extLst>
                    <a:ext uri="{9D8B030D-6E8A-4147-A177-3AD203B41FA5}">
                      <a16:colId xmlns:a16="http://schemas.microsoft.com/office/drawing/2014/main" val="2049382704"/>
                    </a:ext>
                  </a:extLst>
                </a:gridCol>
                <a:gridCol w="693853">
                  <a:extLst>
                    <a:ext uri="{9D8B030D-6E8A-4147-A177-3AD203B41FA5}">
                      <a16:colId xmlns:a16="http://schemas.microsoft.com/office/drawing/2014/main" val="71932930"/>
                    </a:ext>
                  </a:extLst>
                </a:gridCol>
                <a:gridCol w="733503">
                  <a:extLst>
                    <a:ext uri="{9D8B030D-6E8A-4147-A177-3AD203B41FA5}">
                      <a16:colId xmlns:a16="http://schemas.microsoft.com/office/drawing/2014/main" val="953839999"/>
                    </a:ext>
                  </a:extLst>
                </a:gridCol>
                <a:gridCol w="1486829">
                  <a:extLst>
                    <a:ext uri="{9D8B030D-6E8A-4147-A177-3AD203B41FA5}">
                      <a16:colId xmlns:a16="http://schemas.microsoft.com/office/drawing/2014/main" val="3598293006"/>
                    </a:ext>
                  </a:extLst>
                </a:gridCol>
                <a:gridCol w="1169639">
                  <a:extLst>
                    <a:ext uri="{9D8B030D-6E8A-4147-A177-3AD203B41FA5}">
                      <a16:colId xmlns:a16="http://schemas.microsoft.com/office/drawing/2014/main" val="1906888170"/>
                    </a:ext>
                  </a:extLst>
                </a:gridCol>
                <a:gridCol w="1556215">
                  <a:extLst>
                    <a:ext uri="{9D8B030D-6E8A-4147-A177-3AD203B41FA5}">
                      <a16:colId xmlns:a16="http://schemas.microsoft.com/office/drawing/2014/main" val="1589354852"/>
                    </a:ext>
                  </a:extLst>
                </a:gridCol>
                <a:gridCol w="5831103">
                  <a:extLst>
                    <a:ext uri="{9D8B030D-6E8A-4147-A177-3AD203B41FA5}">
                      <a16:colId xmlns:a16="http://schemas.microsoft.com/office/drawing/2014/main" val="400990494"/>
                    </a:ext>
                  </a:extLst>
                </a:gridCol>
              </a:tblGrid>
              <a:tr h="228520">
                <a:tc>
                  <a:txBody>
                    <a:bodyPr/>
                    <a:lstStyle/>
                    <a:p>
                      <a:pPr algn="ctr" fontAlgn="ctr"/>
                      <a:r>
                        <a:rPr lang="en-US" sz="1500" b="0" i="0" u="none" strike="noStrike">
                          <a:solidFill>
                            <a:srgbClr val="000000"/>
                          </a:solidFill>
                          <a:effectLst/>
                          <a:latin typeface="Calibri" panose="020F0502020204030204" pitchFamily="34" charset="0"/>
                        </a:rPr>
                        <a:t>No</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Fleet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A/C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Tình trạng tàu bay</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Tình trạng KT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500" b="0" i="0" u="none" strike="noStrike">
                          <a:solidFill>
                            <a:srgbClr val="000000"/>
                          </a:solidFill>
                          <a:effectLst/>
                          <a:latin typeface="Calibri" panose="020F0502020204030204" pitchFamily="34" charset="0"/>
                        </a:rPr>
                        <a:t>Điều kiện chuyên cơ</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Ghi chú</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27541645"/>
                  </a:ext>
                </a:extLst>
              </a:tr>
              <a:tr h="228520">
                <a:tc>
                  <a:txBody>
                    <a:bodyPr/>
                    <a:lstStyle/>
                    <a:p>
                      <a:pPr algn="ctr" fontAlgn="ctr"/>
                      <a:r>
                        <a:rPr lang="en-US" sz="1500" b="0" i="0" u="none" strike="noStrike">
                          <a:solidFill>
                            <a:srgbClr val="000000"/>
                          </a:solidFill>
                          <a:effectLst/>
                          <a:latin typeface="Calibri" panose="020F0502020204030204" pitchFamily="34" charset="0"/>
                        </a:rPr>
                        <a:t>1</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B787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A861</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Khai thác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Tốt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Đạt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500" b="0" i="0" u="none" strike="noStrike">
                          <a:solidFill>
                            <a:srgbClr val="000000"/>
                          </a:solidFill>
                          <a:effectLst/>
                          <a:latin typeface="Calibri" panose="020F0502020204030204" pitchFamily="34" charset="0"/>
                        </a:rPr>
                        <a:t> </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42792060"/>
                  </a:ext>
                </a:extLst>
              </a:tr>
              <a:tr h="228520">
                <a:tc>
                  <a:txBody>
                    <a:bodyPr/>
                    <a:lstStyle/>
                    <a:p>
                      <a:pPr algn="ctr" fontAlgn="ctr"/>
                      <a:r>
                        <a:rPr lang="en-US" sz="1500" b="0" i="0" u="none" strike="noStrike">
                          <a:solidFill>
                            <a:srgbClr val="000000"/>
                          </a:solidFill>
                          <a:effectLst/>
                          <a:latin typeface="Calibri" panose="020F0502020204030204" pitchFamily="34" charset="0"/>
                        </a:rPr>
                        <a:t>2</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B787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A862</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Khai thác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Tốt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Không</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pt-BR" sz="1500" b="0" i="0" u="none" strike="noStrike">
                          <a:solidFill>
                            <a:srgbClr val="000000"/>
                          </a:solidFill>
                          <a:effectLst/>
                          <a:latin typeface="Calibri" panose="020F0502020204030204" pitchFamily="34" charset="0"/>
                        </a:rPr>
                        <a:t>B1322 FUEL PUMP CENTER R</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11321943"/>
                  </a:ext>
                </a:extLst>
              </a:tr>
              <a:tr h="452040">
                <a:tc>
                  <a:txBody>
                    <a:bodyPr/>
                    <a:lstStyle/>
                    <a:p>
                      <a:pPr algn="ctr" fontAlgn="ctr"/>
                      <a:r>
                        <a:rPr lang="en-US" sz="1500" b="0" i="0" u="none" strike="noStrike">
                          <a:solidFill>
                            <a:srgbClr val="000000"/>
                          </a:solidFill>
                          <a:effectLst/>
                          <a:latin typeface="Calibri" panose="020F0502020204030204" pitchFamily="34" charset="0"/>
                        </a:rPr>
                        <a:t>3</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B787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A863</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Khai thác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Tốt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Không</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500" b="0" i="0" u="none" strike="noStrike">
                          <a:solidFill>
                            <a:srgbClr val="000000"/>
                          </a:solidFill>
                          <a:effectLst/>
                          <a:latin typeface="Calibri" panose="020F0502020204030204" pitchFamily="34" charset="0"/>
                        </a:rPr>
                        <a:t>Engine 1 (958170) HPT 1B có hỏng hóc (giảm tần suất 50FC)</a:t>
                      </a:r>
                      <a:br>
                        <a:rPr lang="en-US" sz="1500" b="0" i="0" u="none" strike="noStrike">
                          <a:solidFill>
                            <a:srgbClr val="000000"/>
                          </a:solidFill>
                          <a:effectLst/>
                          <a:latin typeface="Calibri" panose="020F0502020204030204" pitchFamily="34" charset="0"/>
                        </a:rPr>
                      </a:br>
                      <a:r>
                        <a:rPr lang="en-US" sz="1500" b="0" i="0" u="none" strike="noStrike">
                          <a:solidFill>
                            <a:srgbClr val="000000"/>
                          </a:solidFill>
                          <a:effectLst/>
                          <a:latin typeface="Calibri" panose="020F0502020204030204" pitchFamily="34" charset="0"/>
                        </a:rPr>
                        <a:t>B1601 STS TAIL AIRFLOW SYS</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29458809"/>
                  </a:ext>
                </a:extLst>
              </a:tr>
              <a:tr h="228520">
                <a:tc>
                  <a:txBody>
                    <a:bodyPr/>
                    <a:lstStyle/>
                    <a:p>
                      <a:pPr algn="ctr" fontAlgn="ctr"/>
                      <a:r>
                        <a:rPr lang="en-US" sz="1500" b="0" i="0" u="none" strike="noStrike">
                          <a:solidFill>
                            <a:srgbClr val="000000"/>
                          </a:solidFill>
                          <a:effectLst/>
                          <a:latin typeface="Calibri" panose="020F0502020204030204" pitchFamily="34" charset="0"/>
                        </a:rPr>
                        <a:t>4</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B787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A864</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Định kỳ</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Tốt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Không</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500" b="0" i="0" u="none" strike="noStrike">
                          <a:solidFill>
                            <a:srgbClr val="000000"/>
                          </a:solidFill>
                          <a:effectLst/>
                          <a:latin typeface="Calibri" panose="020F0502020204030204" pitchFamily="34" charset="0"/>
                        </a:rPr>
                        <a:t>Engine 2 (956577) HPT 1B có hỏng hóc (giảm tần suất 50FC)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8900224"/>
                  </a:ext>
                </a:extLst>
              </a:tr>
              <a:tr h="228520">
                <a:tc>
                  <a:txBody>
                    <a:bodyPr/>
                    <a:lstStyle/>
                    <a:p>
                      <a:pPr algn="ctr" fontAlgn="ctr"/>
                      <a:r>
                        <a:rPr lang="en-US" sz="1500" b="0" i="0" u="none" strike="noStrike">
                          <a:solidFill>
                            <a:srgbClr val="000000"/>
                          </a:solidFill>
                          <a:effectLst/>
                          <a:latin typeface="Calibri" panose="020F0502020204030204" pitchFamily="34" charset="0"/>
                        </a:rPr>
                        <a:t>5</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B787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A865</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Khai thác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Tốt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Đạt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500" b="0" i="0" u="none" strike="noStrike">
                          <a:solidFill>
                            <a:srgbClr val="000000"/>
                          </a:solidFill>
                          <a:effectLst/>
                          <a:latin typeface="Calibri" panose="020F0502020204030204" pitchFamily="34" charset="0"/>
                        </a:rPr>
                        <a:t> </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48022228"/>
                  </a:ext>
                </a:extLst>
              </a:tr>
              <a:tr h="452040">
                <a:tc>
                  <a:txBody>
                    <a:bodyPr/>
                    <a:lstStyle/>
                    <a:p>
                      <a:pPr algn="ctr" fontAlgn="ctr"/>
                      <a:r>
                        <a:rPr lang="en-US" sz="1500" b="0" i="0" u="none" strike="noStrike">
                          <a:solidFill>
                            <a:srgbClr val="000000"/>
                          </a:solidFill>
                          <a:effectLst/>
                          <a:latin typeface="Calibri" panose="020F0502020204030204" pitchFamily="34" charset="0"/>
                        </a:rPr>
                        <a:t>6</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B787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A866</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Khai thác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Tốt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Đạt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500" b="0" i="0" u="none" strike="noStrike">
                          <a:solidFill>
                            <a:srgbClr val="000000"/>
                          </a:solidFill>
                          <a:effectLst/>
                          <a:latin typeface="Calibri" panose="020F0502020204030204" pitchFamily="34" charset="0"/>
                        </a:rPr>
                        <a:t>+ Động cơ số 2 giảm tần suất soi 100 FC HPTS1B missing material theo Departure Recommendation 01643368 Revision 0.0</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20070007"/>
                  </a:ext>
                </a:extLst>
              </a:tr>
              <a:tr h="1122600">
                <a:tc>
                  <a:txBody>
                    <a:bodyPr/>
                    <a:lstStyle/>
                    <a:p>
                      <a:pPr algn="ctr" fontAlgn="ctr"/>
                      <a:r>
                        <a:rPr lang="en-US" sz="1500" b="0" i="0" u="none" strike="noStrike">
                          <a:solidFill>
                            <a:srgbClr val="000000"/>
                          </a:solidFill>
                          <a:effectLst/>
                          <a:latin typeface="Calibri" panose="020F0502020204030204" pitchFamily="34" charset="0"/>
                        </a:rPr>
                        <a:t>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B787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A867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Khai thác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Tốt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Không</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500" b="0" i="0" u="none" strike="noStrike">
                          <a:solidFill>
                            <a:srgbClr val="000000"/>
                          </a:solidFill>
                          <a:effectLst/>
                          <a:latin typeface="Calibri" panose="020F0502020204030204" pitchFamily="34" charset="0"/>
                        </a:rPr>
                        <a:t>+ Động cơ số 1 HPT STG 2 CRACK, giảm tần suất soi 250 FC theo DR Recommendation 01379322 Revision 0.0</a:t>
                      </a:r>
                      <a:br>
                        <a:rPr lang="vi-VN" sz="1500" b="0" i="0" u="none" strike="noStrike">
                          <a:solidFill>
                            <a:srgbClr val="000000"/>
                          </a:solidFill>
                          <a:effectLst/>
                          <a:latin typeface="Calibri" panose="020F0502020204030204" pitchFamily="34" charset="0"/>
                        </a:rPr>
                      </a:br>
                      <a:r>
                        <a:rPr lang="vi-VN" sz="1500" b="0" i="0" u="none" strike="noStrike">
                          <a:solidFill>
                            <a:srgbClr val="000000"/>
                          </a:solidFill>
                          <a:effectLst/>
                          <a:latin typeface="Calibri" panose="020F0502020204030204" pitchFamily="34" charset="0"/>
                        </a:rPr>
                        <a:t>B1536 TAIL AIRFLOW SYS</a:t>
                      </a:r>
                      <a:br>
                        <a:rPr lang="vi-VN" sz="1500" b="0" i="0" u="none" strike="noStrike">
                          <a:solidFill>
                            <a:srgbClr val="000000"/>
                          </a:solidFill>
                          <a:effectLst/>
                          <a:latin typeface="Calibri" panose="020F0502020204030204" pitchFamily="34" charset="0"/>
                        </a:rPr>
                      </a:br>
                      <a:r>
                        <a:rPr lang="vi-VN" sz="1500" b="0" i="0" u="none" strike="noStrike">
                          <a:solidFill>
                            <a:srgbClr val="000000"/>
                          </a:solidFill>
                          <a:effectLst/>
                          <a:latin typeface="Calibri" panose="020F0502020204030204" pitchFamily="34" charset="0"/>
                        </a:rPr>
                        <a:t>Left Air Conditioning Pack is degraded. (Active - Mode)</a:t>
                      </a:r>
                      <a:br>
                        <a:rPr lang="vi-VN" sz="1500" b="0" i="0" u="none" strike="noStrike">
                          <a:solidFill>
                            <a:srgbClr val="000000"/>
                          </a:solidFill>
                          <a:effectLst/>
                          <a:latin typeface="Calibri" panose="020F0502020204030204" pitchFamily="34" charset="0"/>
                        </a:rPr>
                      </a:br>
                      <a:r>
                        <a:rPr lang="vi-VN" sz="1500" b="0" i="0" u="none" strike="noStrike">
                          <a:solidFill>
                            <a:srgbClr val="000000"/>
                          </a:solidFill>
                          <a:effectLst/>
                          <a:latin typeface="Calibri" panose="020F0502020204030204" pitchFamily="34" charset="0"/>
                        </a:rPr>
                        <a:t>B1558 01 GREEN WINGTIP LIGHT INOP.</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52759963"/>
                  </a:ext>
                </a:extLst>
              </a:tr>
              <a:tr h="228520">
                <a:tc>
                  <a:txBody>
                    <a:bodyPr/>
                    <a:lstStyle/>
                    <a:p>
                      <a:pPr algn="ctr" fontAlgn="ctr"/>
                      <a:r>
                        <a:rPr lang="en-US" sz="1500" b="0" i="0" u="none" strike="noStrike">
                          <a:solidFill>
                            <a:srgbClr val="000000"/>
                          </a:solidFill>
                          <a:effectLst/>
                          <a:latin typeface="Calibri" panose="020F0502020204030204" pitchFamily="34" charset="0"/>
                        </a:rPr>
                        <a:t>8</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B787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A868</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Khai thác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Tốt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Không</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500" b="0" i="0" u="none" strike="noStrike">
                          <a:solidFill>
                            <a:srgbClr val="000000"/>
                          </a:solidFill>
                          <a:effectLst/>
                          <a:latin typeface="Calibri" panose="020F0502020204030204" pitchFamily="34" charset="0"/>
                        </a:rPr>
                        <a:t>B1121 RAISED : REMOVE ENG#1 (SN: 956769) IN 25 CYCLES,DL: 6280 FC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56593556"/>
                  </a:ext>
                </a:extLst>
              </a:tr>
              <a:tr h="452040">
                <a:tc>
                  <a:txBody>
                    <a:bodyPr/>
                    <a:lstStyle/>
                    <a:p>
                      <a:pPr algn="ctr" fontAlgn="ctr"/>
                      <a:r>
                        <a:rPr lang="en-US" sz="1500" b="0" i="0" u="none" strike="noStrike">
                          <a:solidFill>
                            <a:srgbClr val="000000"/>
                          </a:solidFill>
                          <a:effectLst/>
                          <a:latin typeface="Calibri" panose="020F0502020204030204" pitchFamily="34" charset="0"/>
                        </a:rPr>
                        <a:t>9</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B787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A869</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Khai thác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Tốt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Đạt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500" b="0" i="0" u="none" strike="noStrike">
                          <a:solidFill>
                            <a:srgbClr val="000000"/>
                          </a:solidFill>
                          <a:effectLst/>
                          <a:latin typeface="Calibri" panose="020F0502020204030204" pitchFamily="34" charset="0"/>
                        </a:rPr>
                        <a:t>+ Động cơ số 1 giảm tần suất soi 250 FC (HPT S2 blade cracks) và soi giảm tần suất 250 FC (fuel nozzle cup missing materials)</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87836338"/>
                  </a:ext>
                </a:extLst>
              </a:tr>
              <a:tr h="228520">
                <a:tc>
                  <a:txBody>
                    <a:bodyPr/>
                    <a:lstStyle/>
                    <a:p>
                      <a:pPr algn="ctr" fontAlgn="ctr"/>
                      <a:r>
                        <a:rPr lang="en-US" sz="1500" b="0" i="0" u="none" strike="noStrike">
                          <a:solidFill>
                            <a:srgbClr val="000000"/>
                          </a:solidFill>
                          <a:effectLst/>
                          <a:latin typeface="Calibri" panose="020F0502020204030204" pitchFamily="34" charset="0"/>
                        </a:rPr>
                        <a:t>10</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B787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A870</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Khai thác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Tốt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Đạt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500" b="0" i="0" u="none" strike="noStrike">
                          <a:solidFill>
                            <a:srgbClr val="000000"/>
                          </a:solidFill>
                          <a:effectLst/>
                          <a:latin typeface="Calibri" panose="020F0502020204030204" pitchFamily="34" charset="0"/>
                        </a:rPr>
                        <a:t>B1374 TAIL AIRFLOW SYS</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14274917"/>
                  </a:ext>
                </a:extLst>
              </a:tr>
              <a:tr h="228520">
                <a:tc>
                  <a:txBody>
                    <a:bodyPr/>
                    <a:lstStyle/>
                    <a:p>
                      <a:pPr algn="ctr" fontAlgn="ctr"/>
                      <a:r>
                        <a:rPr lang="en-US" sz="1500" b="0" i="0" u="none" strike="noStrike">
                          <a:solidFill>
                            <a:srgbClr val="000000"/>
                          </a:solidFill>
                          <a:effectLst/>
                          <a:latin typeface="Calibri" panose="020F0502020204030204" pitchFamily="34" charset="0"/>
                        </a:rPr>
                        <a:t>11</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B787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A871</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Khai thác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Tốt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Không</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500" b="0" i="0" u="none" strike="noStrike">
                          <a:solidFill>
                            <a:srgbClr val="000000"/>
                          </a:solidFill>
                          <a:effectLst/>
                          <a:latin typeface="Calibri" panose="020F0502020204030204" pitchFamily="34" charset="0"/>
                        </a:rPr>
                        <a:t>Engine 1 (956913) HPT 1B có hỏng hóc (giảm tần suất 50FC)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54469300"/>
                  </a:ext>
                </a:extLst>
              </a:tr>
              <a:tr h="228520">
                <a:tc>
                  <a:txBody>
                    <a:bodyPr/>
                    <a:lstStyle/>
                    <a:p>
                      <a:pPr algn="ctr" fontAlgn="ctr"/>
                      <a:r>
                        <a:rPr lang="en-US" sz="1500" b="0" i="0" u="none" strike="noStrike">
                          <a:solidFill>
                            <a:srgbClr val="000000"/>
                          </a:solidFill>
                          <a:effectLst/>
                          <a:latin typeface="Calibri" panose="020F0502020204030204" pitchFamily="34" charset="0"/>
                        </a:rPr>
                        <a:t>12</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B787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A872</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Khai thác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Tốt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Đạt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500" b="0" i="0" u="none" strike="noStrike">
                          <a:solidFill>
                            <a:srgbClr val="000000"/>
                          </a:solidFill>
                          <a:effectLst/>
                          <a:latin typeface="Calibri" panose="020F0502020204030204" pitchFamily="34" charset="0"/>
                        </a:rPr>
                        <a:t> </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63688662"/>
                  </a:ext>
                </a:extLst>
              </a:tr>
              <a:tr h="452040">
                <a:tc>
                  <a:txBody>
                    <a:bodyPr/>
                    <a:lstStyle/>
                    <a:p>
                      <a:pPr algn="ctr" fontAlgn="ctr"/>
                      <a:r>
                        <a:rPr lang="en-US" sz="1500" b="0" i="0" u="none" strike="noStrike">
                          <a:solidFill>
                            <a:srgbClr val="000000"/>
                          </a:solidFill>
                          <a:effectLst/>
                          <a:latin typeface="Calibri" panose="020F0502020204030204" pitchFamily="34" charset="0"/>
                        </a:rPr>
                        <a:t>13</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B787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A873</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Khai thác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Tốt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Không</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500" b="0" i="0" u="none" strike="noStrike">
                          <a:solidFill>
                            <a:srgbClr val="000000"/>
                          </a:solidFill>
                          <a:effectLst/>
                          <a:latin typeface="Calibri" panose="020F0502020204030204" pitchFamily="34" charset="0"/>
                        </a:rPr>
                        <a:t>+ động cơ số 2 giảm tần suất soi HPT 1nd stage 100 FC</a:t>
                      </a:r>
                      <a:br>
                        <a:rPr lang="vi-VN" sz="1500" b="0" i="0" u="none" strike="noStrike">
                          <a:solidFill>
                            <a:srgbClr val="000000"/>
                          </a:solidFill>
                          <a:effectLst/>
                          <a:latin typeface="Calibri" panose="020F0502020204030204" pitchFamily="34" charset="0"/>
                        </a:rPr>
                      </a:br>
                      <a:r>
                        <a:rPr lang="vi-VN" sz="1500" b="0" i="0" u="none" strike="noStrike">
                          <a:solidFill>
                            <a:srgbClr val="000000"/>
                          </a:solidFill>
                          <a:effectLst/>
                          <a:latin typeface="Calibri" panose="020F0502020204030204" pitchFamily="34" charset="0"/>
                        </a:rPr>
                        <a:t>+ B520 STS HYD PUMP DEPRESS PRI R</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4839024"/>
                  </a:ext>
                </a:extLst>
              </a:tr>
              <a:tr h="228520">
                <a:tc>
                  <a:txBody>
                    <a:bodyPr/>
                    <a:lstStyle/>
                    <a:p>
                      <a:pPr algn="ctr" fontAlgn="ctr"/>
                      <a:r>
                        <a:rPr lang="en-US" sz="1500" b="0" i="0" u="none" strike="noStrike">
                          <a:solidFill>
                            <a:srgbClr val="000000"/>
                          </a:solidFill>
                          <a:effectLst/>
                          <a:latin typeface="Calibri" panose="020F0502020204030204" pitchFamily="34" charset="0"/>
                        </a:rPr>
                        <a:t>14</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B787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A874</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500" b="0" i="0" u="none" strike="noStrike">
                          <a:solidFill>
                            <a:srgbClr val="000000"/>
                          </a:solidFill>
                          <a:effectLst/>
                          <a:latin typeface="Calibri" panose="020F0502020204030204" pitchFamily="34" charset="0"/>
                        </a:rPr>
                        <a:t>Khai thác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Tốt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Đạt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500" b="0" i="0" u="none" strike="noStrike">
                          <a:solidFill>
                            <a:srgbClr val="000000"/>
                          </a:solidFill>
                          <a:effectLst/>
                          <a:latin typeface="Calibri" panose="020F0502020204030204" pitchFamily="34" charset="0"/>
                        </a:rPr>
                        <a:t>+ động cơ số 2 giảm tần suất soi HPT 1nd stage 100 FC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99789435"/>
                  </a:ext>
                </a:extLst>
              </a:tr>
              <a:tr h="228520">
                <a:tc>
                  <a:txBody>
                    <a:bodyPr/>
                    <a:lstStyle/>
                    <a:p>
                      <a:pPr algn="ctr" fontAlgn="ctr"/>
                      <a:r>
                        <a:rPr lang="en-US" sz="1500" b="0" i="0" u="none" strike="noStrike">
                          <a:solidFill>
                            <a:srgbClr val="000000"/>
                          </a:solidFill>
                          <a:effectLst/>
                          <a:latin typeface="Calibri" panose="020F0502020204030204" pitchFamily="34" charset="0"/>
                        </a:rPr>
                        <a:t>15</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B787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A877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500" b="0" i="0" u="none" strike="noStrike">
                          <a:solidFill>
                            <a:srgbClr val="000000"/>
                          </a:solidFill>
                          <a:effectLst/>
                          <a:latin typeface="Calibri" panose="020F0502020204030204" pitchFamily="34" charset="0"/>
                        </a:rPr>
                        <a:t>Khai thác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Tốt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Đạt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500" b="0" i="0" u="none" strike="noStrike">
                          <a:solidFill>
                            <a:srgbClr val="000000"/>
                          </a:solidFill>
                          <a:effectLst/>
                          <a:latin typeface="Calibri" panose="020F0502020204030204" pitchFamily="34" charset="0"/>
                        </a:rPr>
                        <a:t> </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17230268"/>
                  </a:ext>
                </a:extLst>
              </a:tr>
              <a:tr h="228520">
                <a:tc>
                  <a:txBody>
                    <a:bodyPr/>
                    <a:lstStyle/>
                    <a:p>
                      <a:pPr algn="ctr" fontAlgn="ctr"/>
                      <a:r>
                        <a:rPr lang="en-US" sz="1500" b="0" i="0" u="none" strike="noStrike">
                          <a:solidFill>
                            <a:srgbClr val="000000"/>
                          </a:solidFill>
                          <a:effectLst/>
                          <a:latin typeface="Calibri" panose="020F0502020204030204" pitchFamily="34" charset="0"/>
                        </a:rPr>
                        <a:t>16</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B787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A878</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500" b="0" i="0" u="none" strike="noStrike">
                          <a:solidFill>
                            <a:srgbClr val="000000"/>
                          </a:solidFill>
                          <a:effectLst/>
                          <a:latin typeface="Calibri" panose="020F0502020204030204" pitchFamily="34" charset="0"/>
                        </a:rPr>
                        <a:t>Khai thác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Tốt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Đạt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500" b="0" i="0" u="none" strike="noStrike">
                          <a:solidFill>
                            <a:srgbClr val="000000"/>
                          </a:solidFill>
                          <a:effectLst/>
                          <a:latin typeface="Calibri" panose="020F0502020204030204" pitchFamily="34" charset="0"/>
                        </a:rPr>
                        <a:t> </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53398140"/>
                  </a:ext>
                </a:extLst>
              </a:tr>
              <a:tr h="675560">
                <a:tc>
                  <a:txBody>
                    <a:bodyPr/>
                    <a:lstStyle/>
                    <a:p>
                      <a:pPr algn="ctr" fontAlgn="ctr"/>
                      <a:r>
                        <a:rPr lang="en-US" sz="1500" b="0" i="0" u="none" strike="noStrike">
                          <a:solidFill>
                            <a:srgbClr val="000000"/>
                          </a:solidFill>
                          <a:effectLst/>
                          <a:latin typeface="Calibri" panose="020F0502020204030204" pitchFamily="34" charset="0"/>
                        </a:rPr>
                        <a:t>17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B787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A879</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Khai thác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Tốt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Calibri" panose="020F0502020204030204" pitchFamily="34" charset="0"/>
                        </a:rPr>
                        <a:t>Đạt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500" b="0" i="0" u="none" strike="noStrike">
                          <a:solidFill>
                            <a:srgbClr val="000000"/>
                          </a:solidFill>
                          <a:effectLst/>
                          <a:latin typeface="Calibri" panose="020F0502020204030204" pitchFamily="34" charset="0"/>
                        </a:rPr>
                        <a:t>+ Động cơ số 1 HPT blage stg 1 cracked giảm tần suất soi 250 FC; Động cơ số 2 HPT blage stg 1 cracked giảm tần suất soi 100 FCGE DR 01664320 Revision 0.0</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88727"/>
                  </a:ext>
                </a:extLst>
              </a:tr>
            </a:tbl>
          </a:graphicData>
        </a:graphic>
      </p:graphicFrame>
    </p:spTree>
    <p:extLst>
      <p:ext uri="{BB962C8B-B14F-4D97-AF65-F5344CB8AC3E}">
        <p14:creationId xmlns:p14="http://schemas.microsoft.com/office/powerpoint/2010/main" val="20462226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13</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39379" y="207227"/>
            <a:ext cx="8037304"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B787</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id="{795CC2F9-72E9-47BD-A040-3231760CEEDB}"/>
              </a:ext>
            </a:extLst>
          </p:cNvPr>
          <p:cNvSpPr/>
          <p:nvPr/>
        </p:nvSpPr>
        <p:spPr>
          <a:xfrm>
            <a:off x="250650" y="594263"/>
            <a:ext cx="11690701" cy="1569660"/>
          </a:xfrm>
          <a:prstGeom prst="rect">
            <a:avLst/>
          </a:prstGeom>
        </p:spPr>
        <p:txBody>
          <a:bodyPr wrap="square">
            <a:spAutoFit/>
          </a:bodyPr>
          <a:lstStyle/>
          <a:p>
            <a:pPr algn="just">
              <a:buClrTx/>
              <a:buFontTx/>
              <a:buNone/>
            </a:pPr>
            <a:r>
              <a:rPr lang="en-US" sz="1600" b="1" err="1">
                <a:solidFill>
                  <a:prstClr val="black"/>
                </a:solidFill>
                <a:latin typeface="Times New Roman" panose="02020603050405020304" pitchFamily="18" charset="0"/>
                <a:cs typeface="Times New Roman" panose="02020603050405020304" pitchFamily="18" charset="0"/>
              </a:rPr>
              <a:t>Nhận</a:t>
            </a:r>
            <a:r>
              <a:rPr lang="en-US" sz="1600" b="1">
                <a:solidFill>
                  <a:prstClr val="black"/>
                </a:solidFill>
                <a:latin typeface="Times New Roman" panose="02020603050405020304" pitchFamily="18" charset="0"/>
                <a:cs typeface="Times New Roman" panose="02020603050405020304" pitchFamily="18" charset="0"/>
              </a:rPr>
              <a:t> </a:t>
            </a:r>
            <a:r>
              <a:rPr lang="en-US" sz="1600" b="1" err="1">
                <a:solidFill>
                  <a:prstClr val="black"/>
                </a:solidFill>
                <a:latin typeface="Times New Roman" panose="02020603050405020304" pitchFamily="18" charset="0"/>
                <a:cs typeface="Times New Roman" panose="02020603050405020304" pitchFamily="18" charset="0"/>
              </a:rPr>
              <a:t>xét</a:t>
            </a:r>
            <a:r>
              <a:rPr lang="en-US" sz="1600" b="1">
                <a:solidFill>
                  <a:prstClr val="black"/>
                </a:solidFill>
                <a:latin typeface="Times New Roman" panose="02020603050405020304" pitchFamily="18" charset="0"/>
                <a:cs typeface="Times New Roman" panose="02020603050405020304" pitchFamily="18" charset="0"/>
              </a:rPr>
              <a:t>: </a:t>
            </a:r>
          </a:p>
          <a:p>
            <a:pPr marL="380990" indent="-380990" algn="just">
              <a:buFontTx/>
              <a:buChar char="-"/>
            </a:pPr>
            <a:r>
              <a:rPr lang="vi-VN" sz="1600">
                <a:solidFill>
                  <a:prstClr val="black"/>
                </a:solidFill>
                <a:latin typeface="Times New Roman" panose="02020603050405020304" pitchFamily="18" charset="0"/>
                <a:cs typeface="Times New Roman" panose="02020603050405020304" pitchFamily="18" charset="0"/>
              </a:rPr>
              <a:t>Tình hình kỹ thuật đội bay </a:t>
            </a:r>
            <a:r>
              <a:rPr lang="en-US" sz="1600">
                <a:solidFill>
                  <a:prstClr val="black"/>
                </a:solidFill>
                <a:latin typeface="Times New Roman" panose="02020603050405020304" pitchFamily="18" charset="0"/>
                <a:cs typeface="Times New Roman" panose="02020603050405020304" pitchFamily="18" charset="0"/>
              </a:rPr>
              <a:t>B787 trong tuần tốt. </a:t>
            </a:r>
          </a:p>
          <a:p>
            <a:pPr marL="380990" indent="-380990" algn="just">
              <a:buFontTx/>
              <a:buChar char="-"/>
            </a:pPr>
            <a:r>
              <a:rPr lang="en-US" sz="1600" err="1">
                <a:solidFill>
                  <a:prstClr val="black"/>
                </a:solidFill>
                <a:latin typeface="Times New Roman" panose="02020603050405020304" pitchFamily="18" charset="0"/>
                <a:cs typeface="Times New Roman" panose="02020603050405020304" pitchFamily="18" charset="0"/>
              </a:rPr>
              <a:t>Hỏng</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hóc</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nổi</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cộm</a:t>
            </a:r>
            <a:r>
              <a:rPr lang="en-US" sz="1600">
                <a:solidFill>
                  <a:prstClr val="black"/>
                </a:solidFill>
                <a:latin typeface="Times New Roman" panose="02020603050405020304" pitchFamily="18" charset="0"/>
                <a:cs typeface="Times New Roman" panose="02020603050405020304" pitchFamily="18" charset="0"/>
              </a:rPr>
              <a:t>: </a:t>
            </a:r>
          </a:p>
          <a:p>
            <a:pPr marL="609585" lvl="1" algn="just"/>
            <a:r>
              <a:rPr lang="en-SG" sz="1600">
                <a:solidFill>
                  <a:prstClr val="black"/>
                </a:solidFill>
                <a:latin typeface="Times New Roman" panose="02020603050405020304" pitchFamily="18" charset="0"/>
                <a:cs typeface="Times New Roman" panose="02020603050405020304" pitchFamily="18" charset="0"/>
              </a:rPr>
              <a:t>+ A868 động cơ số 1 </a:t>
            </a:r>
            <a:r>
              <a:rPr lang="en-US" sz="1600">
                <a:solidFill>
                  <a:prstClr val="black"/>
                </a:solidFill>
                <a:latin typeface="Times New Roman" panose="02020603050405020304" pitchFamily="18" charset="0"/>
                <a:cs typeface="Times New Roman" panose="02020603050405020304" pitchFamily="18" charset="0"/>
              </a:rPr>
              <a:t>HPT STG 1+2 (giảm tần suất 25FC) soi lại ngày 19/03 phát sinh phải tháo trong 25FC, đã thông báo đến OCC để hạn chế khai thác đến hết 07/04, sau đó tàu dừng làm định kỳ A08+dán decal và chờ thay động cơ với dự kiến 21/04 mới có động cơ.</a:t>
            </a:r>
            <a:r>
              <a:rPr lang="en-SG" sz="1600">
                <a:solidFill>
                  <a:prstClr val="black"/>
                </a:solidFill>
                <a:latin typeface="Times New Roman" panose="02020603050405020304" pitchFamily="18" charset="0"/>
                <a:cs typeface="Times New Roman" panose="02020603050405020304" pitchFamily="18" charset="0"/>
              </a:rPr>
              <a:t> </a:t>
            </a:r>
            <a:endParaRPr lang="en-SG" sz="160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93670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E792E031-A495-C425-F4D6-8B23CC62A112}"/>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9EF91500-24F8-9A79-AC28-72188765A159}"/>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5C1F1A29-C2BD-434E-677B-E97D46A702DD}"/>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ATR72</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967EFEE8-7A57-C8BE-9EB9-D2B348474B51}"/>
              </a:ext>
            </a:extLst>
          </p:cNvPr>
          <p:cNvSpPr txBox="1"/>
          <p:nvPr/>
        </p:nvSpPr>
        <p:spPr>
          <a:xfrm>
            <a:off x="76199" y="1135253"/>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vi-VN"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RTO</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a:t>
            </a:r>
          </a:p>
        </p:txBody>
      </p:sp>
      <p:sp>
        <p:nvSpPr>
          <p:cNvPr id="9" name="TextBox 8">
            <a:extLst>
              <a:ext uri="{FF2B5EF4-FFF2-40B4-BE49-F238E27FC236}">
                <a16:creationId xmlns:a16="http://schemas.microsoft.com/office/drawing/2014/main" id="{792301F0-8542-2D8A-C66A-326C6F3CDFAE}"/>
              </a:ext>
            </a:extLst>
          </p:cNvPr>
          <p:cNvSpPr txBox="1"/>
          <p:nvPr/>
        </p:nvSpPr>
        <p:spPr>
          <a:xfrm>
            <a:off x="76200" y="693720"/>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00</a:t>
            </a:r>
            <a:r>
              <a:rPr kumimoji="0" lang="en-US" sz="1600" b="1" i="0" u="none" strike="noStrike" kern="1200" cap="none" spc="0" normalizeH="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a:t>
            </a:r>
          </a:p>
        </p:txBody>
      </p:sp>
      <p:graphicFrame>
        <p:nvGraphicFramePr>
          <p:cNvPr id="5" name="Table 4">
            <a:extLst>
              <a:ext uri="{FF2B5EF4-FFF2-40B4-BE49-F238E27FC236}">
                <a16:creationId xmlns:a16="http://schemas.microsoft.com/office/drawing/2014/main" id="{8CDACDDA-45A6-E770-1106-DB2A6718C47B}"/>
              </a:ext>
            </a:extLst>
          </p:cNvPr>
          <p:cNvGraphicFramePr>
            <a:graphicFrameLocks noGrp="1"/>
          </p:cNvGraphicFramePr>
          <p:nvPr>
            <p:extLst>
              <p:ext uri="{D42A27DB-BD31-4B8C-83A1-F6EECF244321}">
                <p14:modId xmlns:p14="http://schemas.microsoft.com/office/powerpoint/2010/main" val="1483707850"/>
              </p:ext>
            </p:extLst>
          </p:nvPr>
        </p:nvGraphicFramePr>
        <p:xfrm>
          <a:off x="216116" y="1582636"/>
          <a:ext cx="11548799" cy="5037152"/>
        </p:xfrm>
        <a:graphic>
          <a:graphicData uri="http://schemas.openxmlformats.org/drawingml/2006/table">
            <a:tbl>
              <a:tblPr/>
              <a:tblGrid>
                <a:gridCol w="269253">
                  <a:extLst>
                    <a:ext uri="{9D8B030D-6E8A-4147-A177-3AD203B41FA5}">
                      <a16:colId xmlns:a16="http://schemas.microsoft.com/office/drawing/2014/main" val="3771653392"/>
                    </a:ext>
                  </a:extLst>
                </a:gridCol>
                <a:gridCol w="269253">
                  <a:extLst>
                    <a:ext uri="{9D8B030D-6E8A-4147-A177-3AD203B41FA5}">
                      <a16:colId xmlns:a16="http://schemas.microsoft.com/office/drawing/2014/main" val="3692127407"/>
                    </a:ext>
                  </a:extLst>
                </a:gridCol>
                <a:gridCol w="553062">
                  <a:extLst>
                    <a:ext uri="{9D8B030D-6E8A-4147-A177-3AD203B41FA5}">
                      <a16:colId xmlns:a16="http://schemas.microsoft.com/office/drawing/2014/main" val="1511296589"/>
                    </a:ext>
                  </a:extLst>
                </a:gridCol>
                <a:gridCol w="363856">
                  <a:extLst>
                    <a:ext uri="{9D8B030D-6E8A-4147-A177-3AD203B41FA5}">
                      <a16:colId xmlns:a16="http://schemas.microsoft.com/office/drawing/2014/main" val="187409135"/>
                    </a:ext>
                  </a:extLst>
                </a:gridCol>
                <a:gridCol w="785929">
                  <a:extLst>
                    <a:ext uri="{9D8B030D-6E8A-4147-A177-3AD203B41FA5}">
                      <a16:colId xmlns:a16="http://schemas.microsoft.com/office/drawing/2014/main" val="3924555128"/>
                    </a:ext>
                  </a:extLst>
                </a:gridCol>
                <a:gridCol w="363856">
                  <a:extLst>
                    <a:ext uri="{9D8B030D-6E8A-4147-A177-3AD203B41FA5}">
                      <a16:colId xmlns:a16="http://schemas.microsoft.com/office/drawing/2014/main" val="349048030"/>
                    </a:ext>
                  </a:extLst>
                </a:gridCol>
                <a:gridCol w="2219524">
                  <a:extLst>
                    <a:ext uri="{9D8B030D-6E8A-4147-A177-3AD203B41FA5}">
                      <a16:colId xmlns:a16="http://schemas.microsoft.com/office/drawing/2014/main" val="1095899970"/>
                    </a:ext>
                  </a:extLst>
                </a:gridCol>
                <a:gridCol w="2104983">
                  <a:extLst>
                    <a:ext uri="{9D8B030D-6E8A-4147-A177-3AD203B41FA5}">
                      <a16:colId xmlns:a16="http://schemas.microsoft.com/office/drawing/2014/main" val="2039674739"/>
                    </a:ext>
                  </a:extLst>
                </a:gridCol>
                <a:gridCol w="304800">
                  <a:extLst>
                    <a:ext uri="{9D8B030D-6E8A-4147-A177-3AD203B41FA5}">
                      <a16:colId xmlns:a16="http://schemas.microsoft.com/office/drawing/2014/main" val="4062303050"/>
                    </a:ext>
                  </a:extLst>
                </a:gridCol>
                <a:gridCol w="4314283">
                  <a:extLst>
                    <a:ext uri="{9D8B030D-6E8A-4147-A177-3AD203B41FA5}">
                      <a16:colId xmlns:a16="http://schemas.microsoft.com/office/drawing/2014/main" val="3712378646"/>
                    </a:ext>
                  </a:extLst>
                </a:gridCol>
              </a:tblGrid>
              <a:tr h="95416">
                <a:tc>
                  <a:txBody>
                    <a:bodyPr/>
                    <a:lstStyle/>
                    <a:p>
                      <a:pPr algn="l" fontAlgn="ctr"/>
                      <a:r>
                        <a:rPr lang="en-US" sz="1100" b="0" i="0" u="none" strike="noStrike" dirty="0">
                          <a:solidFill>
                            <a:srgbClr val="000000"/>
                          </a:solidFill>
                          <a:effectLst/>
                          <a:latin typeface="Calibri" panose="020F0502020204030204" pitchFamily="34" charset="0"/>
                        </a:rPr>
                        <a:t>A/C</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dirty="0">
                          <a:solidFill>
                            <a:srgbClr val="000000"/>
                          </a:solidFill>
                          <a:effectLst/>
                          <a:latin typeface="Calibri" panose="020F0502020204030204" pitchFamily="34" charset="0"/>
                        </a:rPr>
                        <a:t>STA</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Calibri" panose="020F0502020204030204" pitchFamily="34" charset="0"/>
                        </a:rPr>
                        <a:t>FLIGHT NO</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Calibri" panose="020F0502020204030204" pitchFamily="34" charset="0"/>
                        </a:rPr>
                        <a:t>ROUTE</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Calibri" panose="020F0502020204030204" pitchFamily="34" charset="0"/>
                        </a:rPr>
                        <a:t>DATE</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Calibri" panose="020F0502020204030204" pitchFamily="34" charset="0"/>
                        </a:rPr>
                        <a:t>EVENT</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Calibri" panose="020F0502020204030204" pitchFamily="34" charset="0"/>
                        </a:rPr>
                        <a:t>REASON</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Calibri" panose="020F0502020204030204" pitchFamily="34" charset="0"/>
                        </a:rPr>
                        <a:t>ACTION TAKEN</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Calibri" panose="020F0502020204030204" pitchFamily="34" charset="0"/>
                        </a:rPr>
                        <a:t>ATA</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Calibri" panose="020F0502020204030204" pitchFamily="34" charset="0"/>
                        </a:rPr>
                        <a:t>Engineering Assessment</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334707115"/>
                  </a:ext>
                </a:extLst>
              </a:tr>
              <a:tr h="1490870">
                <a:tc>
                  <a:txBody>
                    <a:bodyPr/>
                    <a:lstStyle/>
                    <a:p>
                      <a:pPr algn="l" fontAlgn="ctr"/>
                      <a:r>
                        <a:rPr lang="en-US" sz="1100" b="0" i="0" u="none" strike="noStrike" dirty="0">
                          <a:solidFill>
                            <a:srgbClr val="000000"/>
                          </a:solidFill>
                          <a:effectLst/>
                          <a:latin typeface="Calibri" panose="020F0502020204030204" pitchFamily="34" charset="0"/>
                        </a:rPr>
                        <a:t>B223</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dirty="0">
                          <a:solidFill>
                            <a:srgbClr val="000000"/>
                          </a:solidFill>
                          <a:effectLst/>
                          <a:latin typeface="Calibri" panose="020F0502020204030204" pitchFamily="34" charset="0"/>
                        </a:rPr>
                        <a:t>SGN</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dirty="0">
                          <a:solidFill>
                            <a:srgbClr val="000000"/>
                          </a:solidFill>
                          <a:effectLst/>
                          <a:latin typeface="Calibri" panose="020F0502020204030204" pitchFamily="34" charset="0"/>
                        </a:rPr>
                        <a:t>VN8091</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dirty="0">
                          <a:solidFill>
                            <a:srgbClr val="000000"/>
                          </a:solidFill>
                          <a:effectLst/>
                          <a:latin typeface="Calibri" panose="020F0502020204030204" pitchFamily="34" charset="0"/>
                        </a:rPr>
                        <a:t>SGN-VCS</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dirty="0">
                          <a:solidFill>
                            <a:srgbClr val="000000"/>
                          </a:solidFill>
                          <a:effectLst/>
                          <a:latin typeface="Calibri" panose="020F0502020204030204" pitchFamily="34" charset="0"/>
                        </a:rPr>
                        <a:t>14:15</a:t>
                      </a:r>
                      <a:r>
                        <a:rPr lang="vi-VN" sz="1100" b="0" i="0" u="none" strike="noStrike" dirty="0">
                          <a:solidFill>
                            <a:srgbClr val="000000"/>
                          </a:solidFill>
                          <a:effectLst/>
                          <a:latin typeface="Calibri" panose="020F0502020204030204" pitchFamily="34" charset="0"/>
                        </a:rPr>
                        <a:t> 23/03/2025</a:t>
                      </a:r>
                      <a:endParaRPr lang="en-US" sz="1100" b="0" i="0" u="none" strike="noStrike" dirty="0">
                        <a:solidFill>
                          <a:srgbClr val="000000"/>
                        </a:solidFill>
                        <a:effectLst/>
                        <a:latin typeface="Calibri" panose="020F0502020204030204" pitchFamily="34" charset="0"/>
                      </a:endParaRP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100" b="0" i="0" u="none" strike="noStrike" dirty="0">
                          <a:solidFill>
                            <a:srgbClr val="000000"/>
                          </a:solidFill>
                          <a:effectLst/>
                          <a:latin typeface="Calibri" panose="020F0502020204030204" pitchFamily="34" charset="0"/>
                        </a:rPr>
                        <a:t>RTO</a:t>
                      </a:r>
                      <a:endParaRPr lang="en-US" sz="1100" b="0" i="0" u="none" strike="noStrike" dirty="0">
                        <a:solidFill>
                          <a:srgbClr val="000000"/>
                        </a:solidFill>
                        <a:effectLst/>
                        <a:latin typeface="Calibri" panose="020F0502020204030204" pitchFamily="34" charset="0"/>
                      </a:endParaRP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dirty="0">
                          <a:solidFill>
                            <a:srgbClr val="000000"/>
                          </a:solidFill>
                          <a:effectLst/>
                          <a:latin typeface="Calibri" panose="020F0502020204030204" pitchFamily="34" charset="0"/>
                        </a:rPr>
                        <a:t>DURING ON  TAXI  WAY  CAPT CALL VHF INFORM  A/C HAS DEFFECT: ATCS  NOT ARM INTERMITTENT AND CAPT DECIDED GTB TO PARKING 2 , TSV IS READY , T/S INPROGRESS</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dirty="0">
                          <a:solidFill>
                            <a:srgbClr val="000000"/>
                          </a:solidFill>
                          <a:effectLst/>
                          <a:latin typeface="Calibri" panose="020F0502020204030204" pitchFamily="34" charset="0"/>
                        </a:rPr>
                        <a:t>- C/O RAISED ADD FOR  ATPCS   INOP, A/C SERVICEABLE</a:t>
                      </a:r>
                    </a:p>
                    <a:p>
                      <a:pPr algn="l" fontAlgn="ctr"/>
                      <a:r>
                        <a:rPr lang="en-US" sz="1100" b="0" i="0" u="none" strike="noStrike" dirty="0">
                          <a:solidFill>
                            <a:srgbClr val="000000"/>
                          </a:solidFill>
                          <a:effectLst/>
                          <a:latin typeface="Calibri" panose="020F0502020204030204" pitchFamily="34" charset="0"/>
                        </a:rPr>
                        <a:t>- A/C WAITING FOR OFFLOAD PAX, LUGGAGE DUE TO REDUCED LOAD</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dirty="0" smtClean="0">
                          <a:solidFill>
                            <a:srgbClr val="000000"/>
                          </a:solidFill>
                          <a:effectLst/>
                          <a:latin typeface="Calibri" panose="020F0502020204030204" pitchFamily="34" charset="0"/>
                        </a:rPr>
                        <a:t>61-22</a:t>
                      </a:r>
                      <a:endParaRPr lang="en-US" sz="1100" b="0" i="0" u="none" strike="noStrike" dirty="0">
                        <a:solidFill>
                          <a:srgbClr val="000000"/>
                        </a:solidFill>
                        <a:effectLst/>
                        <a:latin typeface="Calibri" panose="020F0502020204030204" pitchFamily="34" charset="0"/>
                      </a:endParaRP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100" b="0" i="0" u="none" strike="noStrike" dirty="0">
                          <a:solidFill>
                            <a:srgbClr val="000000"/>
                          </a:solidFill>
                          <a:effectLst/>
                          <a:latin typeface="Calibri" panose="020F0502020204030204" pitchFamily="34" charset="0"/>
                        </a:rPr>
                        <a:t>Tàu B223 phát sinh hỏng hóc trong quá trình cất cánh do tổ bay thấy đèn ATPCS not ARM Intermittent trước vận tốc V1 và đã quyết định Reject T/O, tổ bay thực hiện reset hệ thống hoạt động bình thường. Hiện tại VAECO sẽ raise ADD ATPCS INOP và sẽ thực hiện kiểm tra lại tại nightstop theo khuyến cáo của ATR liên quan đến hỏng hóc này (Sensor, Connector, Relays, Switch). Sẽ cho dowload QAR bao gồm các dữ liệu liên quan đến hệ thống ATPCS để gửi ATR phân tích tìm hiểu nguyên nhân.</a:t>
                      </a:r>
                    </a:p>
                    <a:p>
                      <a:pPr algn="l" fontAlgn="ctr"/>
                      <a:r>
                        <a:rPr lang="vi-VN" sz="1100" b="0" i="0" u="none" strike="noStrike" dirty="0">
                          <a:solidFill>
                            <a:srgbClr val="000000"/>
                          </a:solidFill>
                          <a:effectLst/>
                          <a:latin typeface="Calibri" panose="020F0502020204030204" pitchFamily="34" charset="0"/>
                        </a:rPr>
                        <a:t>Trước đó ngày 8/3/2025 B223 đã xảy ra hỏng hóc tương tự phát sinh trong quá trình cất cánh do tổ bay thấy đèn ATPCS not ARM trước vận tốc V1 và đã quyết định Reject T/O, sau đó tổ bay liên lạc VAECO và thực hiện dynamic test lại theo yêu cầu của CRS thì thấy hệ thống hoạt động bình thường. VAECO đã thực hiện kiểm tra lại tại nightstop theo khuyến cáo của ATR liên quan đến hỏng hóc này (Sensor, Connector, Relays, Switch) tuy nhiên không phát hiện gì bất thường và đã cho thay chủ động AFU #1 có giờ cao hơn để tiếp tục theo dõi. Dữ liệu QAR đã được gửi đên ATR để phân tích, phía ATR phản hồi không phát hiện được nguyên nhân gốc do thiếu các dữ liệu liên quan đến Power lever microswitch, Power management switch, and ATPCS pushbutton data in the QAR dataset.</a:t>
                      </a:r>
                    </a:p>
                    <a:p>
                      <a:pPr algn="l" fontAlgn="ctr"/>
                      <a:r>
                        <a:rPr lang="vi-VN" sz="1100" b="0" i="0" u="none" strike="noStrike" dirty="0">
                          <a:solidFill>
                            <a:srgbClr val="000000"/>
                          </a:solidFill>
                          <a:effectLst/>
                          <a:latin typeface="Calibri" panose="020F0502020204030204" pitchFamily="34" charset="0"/>
                        </a:rPr>
                        <a:t>Theo thống kê ĐTC thì từ 2015-nay có 14 hỏng hóc (2018: 01, 2019: 05, 2020: 04, 2021: 01, 2024: 01, 2025: 01) liên quan đến hệ thống ATPCS trong đó có 06 lần khắc do hỏng hóc khối Auto Feather Unit (AFU), 01 lần do khối APTCS test switch, còn lại khắc phục do opt test.</a:t>
                      </a:r>
                    </a:p>
                    <a:p>
                      <a:pPr algn="l" fontAlgn="ctr"/>
                      <a:r>
                        <a:rPr lang="vi-VN" sz="1100" b="0" i="0" u="none" strike="noStrike" dirty="0">
                          <a:solidFill>
                            <a:srgbClr val="000000"/>
                          </a:solidFill>
                          <a:effectLst/>
                          <a:latin typeface="Calibri" panose="020F0502020204030204" pitchFamily="34" charset="0"/>
                        </a:rPr>
                        <a:t>Tàu B223 lắp 2 khối AFU:</a:t>
                      </a:r>
                    </a:p>
                    <a:p>
                      <a:pPr algn="l" fontAlgn="ctr"/>
                      <a:r>
                        <a:rPr lang="vi-VN" sz="1100" b="0" i="0" u="none" strike="noStrike" dirty="0">
                          <a:solidFill>
                            <a:srgbClr val="000000"/>
                          </a:solidFill>
                          <a:effectLst/>
                          <a:latin typeface="Calibri" panose="020F0502020204030204" pitchFamily="34" charset="0"/>
                        </a:rPr>
                        <a:t>•	AFU#1 vừa mới thay có S/N: RTY1411 có TSR = 83 FH tháo đi sửa từ 2020 do lỗi ATPCS not arm vừa mới được lắp lại B223.</a:t>
                      </a:r>
                    </a:p>
                    <a:p>
                      <a:pPr algn="l" fontAlgn="ctr"/>
                      <a:r>
                        <a:rPr lang="vi-VN" sz="1100" b="0" i="0" u="none" strike="noStrike" dirty="0">
                          <a:solidFill>
                            <a:srgbClr val="000000"/>
                          </a:solidFill>
                          <a:effectLst/>
                          <a:latin typeface="Calibri" panose="020F0502020204030204" pitchFamily="34" charset="0"/>
                        </a:rPr>
                        <a:t>•	AFU#2 S/N: MM1760 (thuộc động cơ thuê Willis) có TSR= 2880 FH. Khối này có ngưỡng OVH soft-time 12000 FH, hiện tại vẫn thực hiện khi được gửi đi shop cùng động cơ.</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73251718"/>
                  </a:ext>
                </a:extLst>
              </a:tr>
            </a:tbl>
          </a:graphicData>
        </a:graphic>
      </p:graphicFrame>
    </p:spTree>
    <p:extLst>
      <p:ext uri="{BB962C8B-B14F-4D97-AF65-F5344CB8AC3E}">
        <p14:creationId xmlns:p14="http://schemas.microsoft.com/office/powerpoint/2010/main" val="17611916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15</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649707" y="533400"/>
            <a:ext cx="8037304"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t>
            </a:r>
            <a:r>
              <a:rPr lang="en-US" sz="2933" b="1" smtClean="0">
                <a:ln w="0"/>
                <a:solidFill>
                  <a:schemeClr val="accent4"/>
                </a:solidFill>
                <a:latin typeface="Times New Roman" panose="02020603050405020304" pitchFamily="18" charset="0"/>
                <a:cs typeface="Times New Roman" panose="02020603050405020304" pitchFamily="18" charset="0"/>
                <a:sym typeface="Montserrat SemiBold"/>
              </a:rPr>
              <a:t>ATR72</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id="{795CC2F9-72E9-47BD-A040-3231760CEEDB}"/>
              </a:ext>
            </a:extLst>
          </p:cNvPr>
          <p:cNvSpPr/>
          <p:nvPr/>
        </p:nvSpPr>
        <p:spPr>
          <a:xfrm>
            <a:off x="762001" y="1195640"/>
            <a:ext cx="10668000" cy="2554545"/>
          </a:xfrm>
          <a:prstGeom prst="rect">
            <a:avLst/>
          </a:prstGeom>
        </p:spPr>
        <p:txBody>
          <a:bodyPr wrap="square">
            <a:spAutoFit/>
          </a:bodyPr>
          <a:lstStyle/>
          <a:p>
            <a:pPr algn="just">
              <a:buClrTx/>
              <a:buFontTx/>
              <a:buNone/>
            </a:pPr>
            <a:r>
              <a:rPr lang="en-US" sz="1600" b="1" dirty="0" err="1">
                <a:solidFill>
                  <a:prstClr val="black"/>
                </a:solidFill>
                <a:latin typeface="Times New Roman" panose="02020603050405020304" pitchFamily="18" charset="0"/>
                <a:cs typeface="Times New Roman" panose="02020603050405020304" pitchFamily="18" charset="0"/>
              </a:rPr>
              <a:t>Nhận</a:t>
            </a:r>
            <a:r>
              <a:rPr lang="en-US" sz="1600" b="1" dirty="0">
                <a:solidFill>
                  <a:prstClr val="black"/>
                </a:solidFill>
                <a:latin typeface="Times New Roman" panose="02020603050405020304" pitchFamily="18" charset="0"/>
                <a:cs typeface="Times New Roman" panose="02020603050405020304" pitchFamily="18" charset="0"/>
              </a:rPr>
              <a:t> </a:t>
            </a:r>
            <a:r>
              <a:rPr lang="en-US" sz="1600" b="1" dirty="0" err="1">
                <a:solidFill>
                  <a:prstClr val="black"/>
                </a:solidFill>
                <a:latin typeface="Times New Roman" panose="02020603050405020304" pitchFamily="18" charset="0"/>
                <a:cs typeface="Times New Roman" panose="02020603050405020304" pitchFamily="18" charset="0"/>
              </a:rPr>
              <a:t>xét</a:t>
            </a:r>
            <a:r>
              <a:rPr lang="en-US" sz="1600" b="1" dirty="0">
                <a:solidFill>
                  <a:prstClr val="black"/>
                </a:solidFill>
                <a:latin typeface="Times New Roman" panose="02020603050405020304" pitchFamily="18" charset="0"/>
                <a:cs typeface="Times New Roman" panose="02020603050405020304" pitchFamily="18" charset="0"/>
              </a:rPr>
              <a:t>: </a:t>
            </a:r>
            <a:r>
              <a:rPr lang="vi-VN" sz="1600" dirty="0">
                <a:solidFill>
                  <a:prstClr val="black"/>
                </a:solidFill>
                <a:cs typeface="Times New Roman" panose="02020603050405020304" pitchFamily="18" charset="0"/>
              </a:rPr>
              <a:t>Đội bay ATR72 trong tuần hoạt động tương đối ổn định, có 01 TH RTO tàu B223 ngày 22/03/2025 do trong quá trình cất cánh tổ bay thấy đèn ATPCS not ARM Intermittent trước vận tốc V1 và đã quyết định Reject T/O, tổ bay thực hiện reset hệ thống hoạt động bình thường. Trước đó, ngày 08/3/2025 B223 cũng đã xảy ra hỏng hóc này 1 lần và VAECO đã thực hiện kiểm tra lại tại nightstop theo khuyến cáo của ATR liên quan đến hỏng hóc này (Sensor, Connector, Relays, Switch) tuy nhiên không phát hiện gì bất thường và đã cho thay chủ động AFU #1 có giờ cao hơn để tiếp tục theo dõi. Dữ liệu QAR đã được gửi đên ATR để phân tích, phía ATR phản hồi không phát hiện được nguyên nhân gốc do thiếu các dữ liệu liên quan đến Power lever microswitch, Power management switch, and ATPCS pushbutton data in the QAR dataset. Lần này, VAECO raise ADD ATPCS INOP và sẽ thực hiện kiểm tra lại tại nightstop theo khuyến cáo của ATR liên quan đến hỏng hóc này (Sensor, Connector, Relays, Switch). Sẽ cho dowload QAR bao gồm các dữ liệu liên quan đến hệ thống ATPCS để gửi ATR phân tích tìm hiểu nguyên nhân.</a:t>
            </a:r>
            <a:endParaRPr lang="en-SG" sz="16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20728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554909D-4576-933D-CD81-4BA601F47856}"/>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B0B05232-48BF-3B43-E8AE-43FA6A3D88AA}"/>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84D028AA-A55C-EAF0-9D7C-9D32C1075691}"/>
              </a:ext>
            </a:extLst>
          </p:cNvPr>
          <p:cNvSpPr>
            <a:spLocks noGrp="1"/>
          </p:cNvSpPr>
          <p:nvPr>
            <p:ph type="title"/>
          </p:nvPr>
        </p:nvSpPr>
        <p:spPr>
          <a:xfrm>
            <a:off x="304800" y="96660"/>
            <a:ext cx="9155467" cy="551496"/>
          </a:xfrm>
        </p:spPr>
        <p:txBody>
          <a:bodyPr rtlCol="0">
            <a:noAutofit/>
          </a:bodyPr>
          <a:lstStyle/>
          <a:p>
            <a:pPr>
              <a:defRPr/>
            </a:pPr>
            <a:r>
              <a:rPr lang="en-US">
                <a:ln w="0"/>
                <a:solidFill>
                  <a:schemeClr val="accent4"/>
                </a:solidFill>
                <a:latin typeface="Times New Roman" panose="02020603050405020304" pitchFamily="18" charset="0"/>
                <a:cs typeface="Times New Roman" panose="02020603050405020304" pitchFamily="18" charset="0"/>
              </a:rPr>
              <a:t>DISPATCH RELIABILITY W12 </a:t>
            </a:r>
            <a:r>
              <a:rPr lang="vi-VN">
                <a:ln w="0"/>
                <a:solidFill>
                  <a:schemeClr val="accent4"/>
                </a:solidFill>
                <a:latin typeface="Times New Roman" panose="02020603050405020304" pitchFamily="18" charset="0"/>
                <a:cs typeface="Times New Roman" panose="02020603050405020304" pitchFamily="18" charset="0"/>
              </a:rPr>
              <a:t>(</a:t>
            </a:r>
            <a:r>
              <a:rPr lang="en-US">
                <a:ln w="0"/>
                <a:solidFill>
                  <a:schemeClr val="accent4"/>
                </a:solidFill>
                <a:latin typeface="Times New Roman" panose="02020603050405020304" pitchFamily="18" charset="0"/>
                <a:cs typeface="Times New Roman" panose="02020603050405020304" pitchFamily="18" charset="0"/>
              </a:rPr>
              <a:t>17/03/2025-23/03/20</a:t>
            </a:r>
            <a:r>
              <a:rPr lang="vi-VN">
                <a:ln w="0"/>
                <a:solidFill>
                  <a:schemeClr val="accent4"/>
                </a:solidFill>
                <a:latin typeface="Times New Roman" panose="02020603050405020304" pitchFamily="18" charset="0"/>
                <a:cs typeface="Times New Roman" panose="02020603050405020304" pitchFamily="18" charset="0"/>
              </a:rPr>
              <a:t>2</a:t>
            </a:r>
            <a:r>
              <a:rPr lang="en-US">
                <a:ln w="0"/>
                <a:solidFill>
                  <a:schemeClr val="accent4"/>
                </a:solidFill>
                <a:latin typeface="Times New Roman" panose="02020603050405020304" pitchFamily="18" charset="0"/>
                <a:cs typeface="Times New Roman" panose="02020603050405020304" pitchFamily="18" charset="0"/>
              </a:rPr>
              <a:t>5)</a:t>
            </a:r>
            <a:endParaRPr lang="vi-VN" dirty="0">
              <a:ln w="0"/>
              <a:solidFill>
                <a:schemeClr val="accent4"/>
              </a:solidFill>
              <a:latin typeface="Times New Roman" panose="02020603050405020304" pitchFamily="18" charset="0"/>
              <a:cs typeface="Times New Roman" panose="02020603050405020304" pitchFamily="18" charset="0"/>
            </a:endParaRPr>
          </a:p>
        </p:txBody>
      </p:sp>
      <p:sp>
        <p:nvSpPr>
          <p:cNvPr id="8" name="TextBox 7"/>
          <p:cNvSpPr txBox="1"/>
          <p:nvPr/>
        </p:nvSpPr>
        <p:spPr>
          <a:xfrm>
            <a:off x="552666" y="4395787"/>
            <a:ext cx="7073084" cy="14927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Trong </a:t>
            </a:r>
            <a:r>
              <a:rPr kumimoji="0" lang="en-US" sz="1300" b="0"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tuần 12/2025 </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chỉ số độ tin </a:t>
            </a:r>
            <a:r>
              <a:rPr kumimoji="0" lang="en-US" sz="1300" b="0"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cậy </a:t>
            </a:r>
            <a:r>
              <a:rPr kumimoji="0" lang="en-US" sz="1300" b="0" i="0" u="none" strike="noStrike" kern="1200" cap="none" spc="0" normalizeH="0" noProof="0">
                <a:ln>
                  <a:noFill/>
                </a:ln>
                <a:solidFill>
                  <a:prstClr val="black"/>
                </a:solidFill>
                <a:effectLst/>
                <a:uLnTx/>
                <a:uFillTx/>
                <a:latin typeface="Times New Roman" panose="02020603050405020304" pitchFamily="18" charset="0"/>
                <a:cs typeface="Times New Roman" panose="02020603050405020304" pitchFamily="18" charset="0"/>
              </a:rPr>
              <a:t>các đội A321, A350, B787 đều đạt mục tiêu, riêng đội ATR72 xấp xỉ đạt mục tiêu:</a:t>
            </a:r>
            <a:endParaRPr kumimoji="0" lang="en-US" sz="13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defRPr/>
            </a:pPr>
            <a:r>
              <a:rPr lang="en-US" sz="1300" dirty="0">
                <a:solidFill>
                  <a:prstClr val="black"/>
                </a:solidFill>
                <a:latin typeface="Times New Roman" panose="02020603050405020304" pitchFamily="18" charset="0"/>
                <a:cs typeface="Times New Roman" panose="02020603050405020304" pitchFamily="18" charset="0"/>
              </a:rPr>
              <a:t>A3</a:t>
            </a:r>
            <a:r>
              <a:rPr lang="vi-VN" sz="1300" dirty="0">
                <a:solidFill>
                  <a:prstClr val="black"/>
                </a:solidFill>
                <a:latin typeface="Times New Roman" panose="02020603050405020304" pitchFamily="18" charset="0"/>
                <a:cs typeface="Times New Roman" panose="02020603050405020304" pitchFamily="18" charset="0"/>
              </a:rPr>
              <a:t>21</a:t>
            </a:r>
            <a:r>
              <a:rPr lang="en-US" sz="1300">
                <a:solidFill>
                  <a:prstClr val="black"/>
                </a:solidFill>
                <a:latin typeface="Times New Roman" panose="02020603050405020304" pitchFamily="18" charset="0"/>
                <a:cs typeface="Times New Roman" panose="02020603050405020304" pitchFamily="18" charset="0"/>
              </a:rPr>
              <a:t>: 99,86% cao hơn 0,23% </a:t>
            </a:r>
            <a:r>
              <a:rPr lang="en-US" sz="1300" dirty="0">
                <a:solidFill>
                  <a:prstClr val="black"/>
                </a:solidFill>
                <a:latin typeface="Times New Roman" panose="02020603050405020304" pitchFamily="18" charset="0"/>
                <a:cs typeface="Times New Roman" panose="02020603050405020304" pitchFamily="18" charset="0"/>
              </a:rPr>
              <a:t>so với </a:t>
            </a:r>
            <a:r>
              <a:rPr lang="en-US" sz="1300">
                <a:solidFill>
                  <a:prstClr val="black"/>
                </a:solidFill>
                <a:latin typeface="Times New Roman" panose="02020603050405020304" pitchFamily="18" charset="0"/>
                <a:cs typeface="Times New Roman" panose="02020603050405020304" pitchFamily="18" charset="0"/>
              </a:rPr>
              <a:t>mục tiêu.</a:t>
            </a:r>
            <a:endParaRPr lang="vi-VN" sz="1300" dirty="0">
              <a:solidFill>
                <a:prstClr val="black"/>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defRPr/>
            </a:pPr>
            <a:r>
              <a:rPr lang="en-US" sz="1300">
                <a:solidFill>
                  <a:prstClr val="black"/>
                </a:solidFill>
                <a:latin typeface="Times New Roman" panose="02020603050405020304" pitchFamily="18" charset="0"/>
                <a:cs typeface="Times New Roman" panose="02020603050405020304" pitchFamily="18" charset="0"/>
              </a:rPr>
              <a:t>A350: 100% cao hơn 0,56% </a:t>
            </a:r>
            <a:r>
              <a:rPr lang="en-US" sz="1300" dirty="0">
                <a:solidFill>
                  <a:prstClr val="black"/>
                </a:solidFill>
                <a:latin typeface="Times New Roman" panose="02020603050405020304" pitchFamily="18" charset="0"/>
                <a:cs typeface="Times New Roman" panose="02020603050405020304" pitchFamily="18" charset="0"/>
              </a:rPr>
              <a:t>so với </a:t>
            </a:r>
            <a:r>
              <a:rPr lang="en-US" sz="1300">
                <a:solidFill>
                  <a:prstClr val="black"/>
                </a:solidFill>
                <a:latin typeface="Times New Roman" panose="02020603050405020304" pitchFamily="18" charset="0"/>
                <a:cs typeface="Times New Roman" panose="02020603050405020304" pitchFamily="18" charset="0"/>
              </a:rPr>
              <a:t>mục tiêu. </a:t>
            </a:r>
          </a:p>
          <a:p>
            <a:pPr marL="285750" indent="-285750">
              <a:buFont typeface="Wingdings" panose="05000000000000000000" pitchFamily="2" charset="2"/>
              <a:buChar char="v"/>
              <a:defRPr/>
            </a:pPr>
            <a:r>
              <a:rPr lang="en-US" sz="1300">
                <a:solidFill>
                  <a:prstClr val="black"/>
                </a:solidFill>
                <a:latin typeface="Times New Roman" panose="02020603050405020304" pitchFamily="18" charset="0"/>
                <a:cs typeface="Times New Roman" panose="02020603050405020304" pitchFamily="18" charset="0"/>
              </a:rPr>
              <a:t>B787: 100% </a:t>
            </a:r>
            <a:r>
              <a:rPr lang="en-US" sz="1300">
                <a:latin typeface="Times New Roman" panose="02020603050405020304" pitchFamily="18" charset="0"/>
                <a:cs typeface="Times New Roman" panose="02020603050405020304" pitchFamily="18" charset="0"/>
              </a:rPr>
              <a:t>cao hơn 0,64% so với mục tiêu.</a:t>
            </a:r>
          </a:p>
          <a:p>
            <a:pPr marL="285750" indent="-285750">
              <a:buFont typeface="Wingdings" panose="05000000000000000000" pitchFamily="2" charset="2"/>
              <a:buChar char="v"/>
              <a:defRPr/>
            </a:pPr>
            <a:r>
              <a:rPr lang="en-US" sz="1300">
                <a:solidFill>
                  <a:prstClr val="black"/>
                </a:solidFill>
                <a:latin typeface="Times New Roman" panose="02020603050405020304" pitchFamily="18" charset="0"/>
                <a:cs typeface="Times New Roman" panose="02020603050405020304" pitchFamily="18" charset="0"/>
              </a:rPr>
              <a:t>ATR72: 99,64% thấp hơn 0,01% </a:t>
            </a:r>
            <a:r>
              <a:rPr lang="en-US" sz="1300" dirty="0">
                <a:solidFill>
                  <a:prstClr val="black"/>
                </a:solidFill>
                <a:latin typeface="Times New Roman" panose="02020603050405020304" pitchFamily="18" charset="0"/>
                <a:cs typeface="Times New Roman" panose="02020603050405020304" pitchFamily="18" charset="0"/>
              </a:rPr>
              <a:t>so với </a:t>
            </a:r>
            <a:r>
              <a:rPr lang="en-US" sz="1300">
                <a:solidFill>
                  <a:prstClr val="black"/>
                </a:solidFill>
                <a:latin typeface="Times New Roman" panose="02020603050405020304" pitchFamily="18" charset="0"/>
                <a:cs typeface="Times New Roman" panose="02020603050405020304" pitchFamily="18" charset="0"/>
              </a:rPr>
              <a:t>mục tiêu do có 1 sự kiện B223 Rejected T/O do ATPCS  NOT ARM INTERMITTENT.</a:t>
            </a:r>
            <a:endParaRPr lang="en-US" sz="1300" dirty="0">
              <a:solidFill>
                <a:prstClr val="black"/>
              </a:solidFill>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29C63447-9F0E-F5EB-F621-78A1848A848E}"/>
              </a:ext>
            </a:extLst>
          </p:cNvPr>
          <p:cNvGraphicFramePr>
            <a:graphicFrameLocks noGrp="1"/>
          </p:cNvGraphicFramePr>
          <p:nvPr/>
        </p:nvGraphicFramePr>
        <p:xfrm>
          <a:off x="7625750" y="4533234"/>
          <a:ext cx="4082595" cy="1272344"/>
        </p:xfrm>
        <a:graphic>
          <a:graphicData uri="http://schemas.openxmlformats.org/drawingml/2006/table">
            <a:tbl>
              <a:tblPr/>
              <a:tblGrid>
                <a:gridCol w="1255255">
                  <a:extLst>
                    <a:ext uri="{9D8B030D-6E8A-4147-A177-3AD203B41FA5}">
                      <a16:colId xmlns:a16="http://schemas.microsoft.com/office/drawing/2014/main" val="2169649306"/>
                    </a:ext>
                  </a:extLst>
                </a:gridCol>
                <a:gridCol w="1496650">
                  <a:extLst>
                    <a:ext uri="{9D8B030D-6E8A-4147-A177-3AD203B41FA5}">
                      <a16:colId xmlns:a16="http://schemas.microsoft.com/office/drawing/2014/main" val="3397981216"/>
                    </a:ext>
                  </a:extLst>
                </a:gridCol>
                <a:gridCol w="1330690">
                  <a:extLst>
                    <a:ext uri="{9D8B030D-6E8A-4147-A177-3AD203B41FA5}">
                      <a16:colId xmlns:a16="http://schemas.microsoft.com/office/drawing/2014/main" val="4123869646"/>
                    </a:ext>
                  </a:extLst>
                </a:gridCol>
              </a:tblGrid>
              <a:tr h="502724">
                <a:tc>
                  <a:txBody>
                    <a:bodyPr/>
                    <a:lstStyle/>
                    <a:p>
                      <a:pPr algn="ctr" fontAlgn="ctr"/>
                      <a:r>
                        <a:rPr lang="en-US" sz="1400" b="1" i="0" u="none" strike="noStrike" dirty="0" err="1">
                          <a:solidFill>
                            <a:srgbClr val="00B050"/>
                          </a:solidFill>
                          <a:effectLst/>
                          <a:latin typeface="Times New Roman" panose="02020603050405020304" pitchFamily="18" charset="0"/>
                        </a:rPr>
                        <a:t>Loại</a:t>
                      </a:r>
                      <a:r>
                        <a:rPr lang="en-US" sz="1400" b="1" i="0" u="none" strike="noStrike" dirty="0">
                          <a:solidFill>
                            <a:srgbClr val="00B050"/>
                          </a:solidFill>
                          <a:effectLst/>
                          <a:latin typeface="Times New Roman" panose="02020603050405020304" pitchFamily="18" charset="0"/>
                        </a:rPr>
                        <a:t> </a:t>
                      </a:r>
                      <a:r>
                        <a:rPr lang="en-US" sz="1400" b="1" i="0" u="none" strike="noStrike" dirty="0" err="1">
                          <a:solidFill>
                            <a:srgbClr val="00B050"/>
                          </a:solidFill>
                          <a:effectLst/>
                          <a:latin typeface="Times New Roman" panose="02020603050405020304" pitchFamily="18" charset="0"/>
                        </a:rPr>
                        <a:t>máy</a:t>
                      </a:r>
                      <a:r>
                        <a:rPr lang="en-US" sz="1400" b="1" i="0" u="none" strike="noStrike" dirty="0">
                          <a:solidFill>
                            <a:srgbClr val="00B050"/>
                          </a:solidFill>
                          <a:effectLst/>
                          <a:latin typeface="Times New Roman" panose="02020603050405020304" pitchFamily="18" charset="0"/>
                        </a:rPr>
                        <a:t> bay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B050"/>
                          </a:solidFill>
                          <a:effectLst/>
                          <a:latin typeface="Times New Roman" panose="02020603050405020304" pitchFamily="18" charset="0"/>
                        </a:rPr>
                        <a:t>Số chuyến chậm, </a:t>
                      </a:r>
                      <a:br>
                        <a:rPr lang="en-US" sz="1400" b="1" i="0" u="none" strike="noStrike">
                          <a:solidFill>
                            <a:srgbClr val="00B050"/>
                          </a:solidFill>
                          <a:effectLst/>
                          <a:latin typeface="Times New Roman" panose="02020603050405020304" pitchFamily="18" charset="0"/>
                        </a:rPr>
                      </a:br>
                      <a:r>
                        <a:rPr lang="en-US" sz="1400" b="1" i="0" u="none" strike="noStrike">
                          <a:solidFill>
                            <a:srgbClr val="00B050"/>
                          </a:solidFill>
                          <a:effectLst/>
                          <a:latin typeface="Times New Roman" panose="02020603050405020304" pitchFamily="18" charset="0"/>
                        </a:rPr>
                        <a:t>hủy chuyến KT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B050"/>
                          </a:solidFill>
                          <a:effectLst/>
                          <a:latin typeface="Times New Roman" panose="02020603050405020304" pitchFamily="18" charset="0"/>
                        </a:rPr>
                        <a:t>FC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38093152"/>
                  </a:ext>
                </a:extLst>
              </a:tr>
              <a:tr h="164465">
                <a:tc>
                  <a:txBody>
                    <a:bodyPr/>
                    <a:lstStyle/>
                    <a:p>
                      <a:pPr algn="l" fontAlgn="ctr"/>
                      <a:r>
                        <a:rPr lang="en-US" sz="1200" b="1" i="0" u="none" strike="noStrike">
                          <a:solidFill>
                            <a:srgbClr val="00B050"/>
                          </a:solidFill>
                          <a:effectLst/>
                          <a:latin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2074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406977045"/>
                  </a:ext>
                </a:extLst>
              </a:tr>
              <a:tr h="164465">
                <a:tc>
                  <a:txBody>
                    <a:bodyPr/>
                    <a:lstStyle/>
                    <a:p>
                      <a:pPr algn="l" fontAlgn="ctr"/>
                      <a:r>
                        <a:rPr lang="en-US" sz="1200" b="1" i="0" u="none" strike="noStrike" dirty="0">
                          <a:solidFill>
                            <a:srgbClr val="00B05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148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50568924"/>
                  </a:ext>
                </a:extLst>
              </a:tr>
              <a:tr h="164465">
                <a:tc>
                  <a:txBody>
                    <a:bodyPr/>
                    <a:lstStyle/>
                    <a:p>
                      <a:pPr algn="l" fontAlgn="ctr"/>
                      <a:r>
                        <a:rPr lang="en-US" sz="1200" b="1" i="0" u="none" strike="noStrike">
                          <a:solidFill>
                            <a:srgbClr val="00B05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353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529025990"/>
                  </a:ext>
                </a:extLst>
              </a:tr>
              <a:tr h="162092">
                <a:tc>
                  <a:txBody>
                    <a:bodyPr/>
                    <a:lstStyle/>
                    <a:p>
                      <a:pPr algn="l" fontAlgn="ctr"/>
                      <a:r>
                        <a:rPr lang="en-US" sz="1200" b="1" i="0" u="none" strike="noStrike">
                          <a:solidFill>
                            <a:srgbClr val="00B05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274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804591176"/>
                  </a:ext>
                </a:extLst>
              </a:tr>
            </a:tbl>
          </a:graphicData>
        </a:graphic>
      </p:graphicFrame>
      <p:graphicFrame>
        <p:nvGraphicFramePr>
          <p:cNvPr id="7" name="Chart 6">
            <a:extLst>
              <a:ext uri="{FF2B5EF4-FFF2-40B4-BE49-F238E27FC236}">
                <a16:creationId xmlns:a16="http://schemas.microsoft.com/office/drawing/2014/main" id="{00000000-0008-0000-0000-000006000000}"/>
              </a:ext>
            </a:extLst>
          </p:cNvPr>
          <p:cNvGraphicFramePr>
            <a:graphicFrameLocks/>
          </p:cNvGraphicFramePr>
          <p:nvPr/>
        </p:nvGraphicFramePr>
        <p:xfrm>
          <a:off x="552665" y="1107614"/>
          <a:ext cx="11155680" cy="3219450"/>
        </p:xfrm>
        <a:graphic>
          <a:graphicData uri="http://schemas.openxmlformats.org/drawingml/2006/chart">
            <c:chart xmlns:c="http://schemas.openxmlformats.org/drawingml/2006/chart" xmlns:r="http://schemas.openxmlformats.org/officeDocument/2006/relationships" r:id="rId4"/>
          </a:graphicData>
        </a:graphic>
      </p:graphicFrame>
    </p:spTree>
    <p:custDataLst>
      <p:tags r:id="rId1"/>
    </p:custDataLst>
    <p:extLst>
      <p:ext uri="{BB962C8B-B14F-4D97-AF65-F5344CB8AC3E}">
        <p14:creationId xmlns:p14="http://schemas.microsoft.com/office/powerpoint/2010/main" val="24202760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17</a:t>
            </a:fld>
            <a:endParaRPr>
              <a:latin typeface="Times New Roman" panose="02020603050405020304" pitchFamily="18" charset="0"/>
              <a:cs typeface="Times New Roman" panose="02020603050405020304" pitchFamily="18" charset="0"/>
            </a:endParaRPr>
          </a:p>
        </p:txBody>
      </p:sp>
      <p:sp>
        <p:nvSpPr>
          <p:cNvPr id="8" name="Title 2">
            <a:extLst>
              <a:ext uri="{FF2B5EF4-FFF2-40B4-BE49-F238E27FC236}">
                <a16:creationId xmlns:a16="http://schemas.microsoft.com/office/drawing/2014/main" id="{A54B3B80-6D5D-62F3-88B2-C803136634FB}"/>
              </a:ext>
            </a:extLst>
          </p:cNvPr>
          <p:cNvSpPr>
            <a:spLocks noGrp="1"/>
          </p:cNvSpPr>
          <p:nvPr>
            <p:ph type="title"/>
          </p:nvPr>
        </p:nvSpPr>
        <p:spPr>
          <a:xfrm>
            <a:off x="0" y="0"/>
            <a:ext cx="9312664" cy="508000"/>
          </a:xfrm>
        </p:spPr>
        <p:txBody>
          <a:bodyPr>
            <a:normAutofit fontScale="90000"/>
          </a:bodyPr>
          <a:lstStyle/>
          <a:p>
            <a:pPr eaLnBrk="1" hangingPunct="1"/>
            <a:r>
              <a:rPr lang="en-US" altLang="en-US" sz="3200" dirty="0">
                <a:solidFill>
                  <a:srgbClr val="FFC000"/>
                </a:solidFill>
                <a:latin typeface="Times New Roman" panose="02020603050405020304" pitchFamily="18" charset="0"/>
                <a:cs typeface="Times New Roman" panose="02020603050405020304" pitchFamily="18" charset="0"/>
              </a:rPr>
              <a:t>CÁC CÔNG VIỆC </a:t>
            </a:r>
            <a:r>
              <a:rPr lang="en-US" altLang="en-US" sz="3600" dirty="0">
                <a:solidFill>
                  <a:srgbClr val="FFC000"/>
                </a:solidFill>
                <a:latin typeface="Times New Roman" panose="02020603050405020304" pitchFamily="18" charset="0"/>
                <a:cs typeface="Times New Roman" panose="02020603050405020304" pitchFamily="18" charset="0"/>
              </a:rPr>
              <a:t>TRỌNG</a:t>
            </a:r>
            <a:r>
              <a:rPr lang="en-US" altLang="en-US" sz="3200" dirty="0">
                <a:solidFill>
                  <a:srgbClr val="FFC000"/>
                </a:solidFill>
                <a:latin typeface="Times New Roman" panose="02020603050405020304" pitchFamily="18" charset="0"/>
                <a:cs typeface="Times New Roman" panose="02020603050405020304" pitchFamily="18" charset="0"/>
              </a:rPr>
              <a:t> ĐIỂM TRONG TUẦN</a:t>
            </a: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nvGraphicFramePr>
        <p:xfrm>
          <a:off x="156783" y="508000"/>
          <a:ext cx="11878434" cy="6258459"/>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val="2758273930"/>
                    </a:ext>
                  </a:extLst>
                </a:gridCol>
                <a:gridCol w="1182943">
                  <a:extLst>
                    <a:ext uri="{9D8B030D-6E8A-4147-A177-3AD203B41FA5}">
                      <a16:colId xmlns:a16="http://schemas.microsoft.com/office/drawing/2014/main" val="221963637"/>
                    </a:ext>
                  </a:extLst>
                </a:gridCol>
                <a:gridCol w="8899599">
                  <a:extLst>
                    <a:ext uri="{9D8B030D-6E8A-4147-A177-3AD203B41FA5}">
                      <a16:colId xmlns:a16="http://schemas.microsoft.com/office/drawing/2014/main" val="426833219"/>
                    </a:ext>
                  </a:extLst>
                </a:gridCol>
                <a:gridCol w="1373165">
                  <a:extLst>
                    <a:ext uri="{9D8B030D-6E8A-4147-A177-3AD203B41FA5}">
                      <a16:colId xmlns:a16="http://schemas.microsoft.com/office/drawing/2014/main" val="3649942957"/>
                    </a:ext>
                  </a:extLst>
                </a:gridCol>
              </a:tblGrid>
              <a:tr h="503416">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1840877">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PW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chương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trình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A321 CEO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NEO</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SSA 2024: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tăng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SSA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13.5k/10k,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90M.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Tiếp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tục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tăng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bao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gồm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SSA 2022.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quả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23/10: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chỉ</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cam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16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gửi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đủ</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16 engine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đến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Shop)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a cam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số</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l</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ợng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SV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2025. SSA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vẫn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giữ</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nguyên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07/11: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xác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nhận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1 Slot QT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T12 </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2024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tổng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17 slot.</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29/12: HĐ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SSA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được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 PW &amp;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ký</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được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ban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hành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đến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vị</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quan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26/2,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thông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báo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dự</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kiến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2025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chỉ</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14 – 16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chữa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GTF.</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Ban KT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draft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a:t>
                      </a:r>
                      <a:r>
                        <a:rPr lang="vi-VN"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cao</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lãnh</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đạo</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gửi</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tiếp</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tục</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về</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vấn</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slot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chữa</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dự</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kiến</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trong</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tuần</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endPar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tăng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mức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5972957"/>
                  </a:ext>
                </a:extLst>
              </a:tr>
              <a:tr h="1840877">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2</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Genx-1B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B787 –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Nội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dung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GE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KLM</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KLM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T7/2024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tuần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28 (02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đco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956556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T11/2023 induct 12/07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956533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T01/2024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chờ</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T9/2024)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thông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báo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năng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xếp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được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total 05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còn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01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ESN 956695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đang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chữa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KLM.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a:t>
                      </a:r>
                      <a:endPar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HĐ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Group C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ký</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vấn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rất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chế</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thay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02 ĐC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đáp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ứng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T7.</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Ban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cung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gói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tàu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787-10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sắp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nhận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cung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Letter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tàu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787-10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nhận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T7/2024.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cao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Airshow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23/07/2025.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26/11: EVP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họp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cập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nhật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tình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trạng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bay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Leadership</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vi-VN"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Ngày 11/02</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a:t>
                      </a:r>
                      <a:r>
                        <a:rPr lang="vi-VN"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Đ</a:t>
                      </a:r>
                      <a:r>
                        <a:rPr lang="vi-VN"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ã họp telecon giữa VNA và GE dưới sự chị đạo của EVP về tình trạng động cơ GEnx hiện tại</a:t>
                      </a:r>
                      <a:endPar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endParaRP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rgbClr val="FF0000"/>
                          </a:solidFill>
                          <a:effectLst/>
                          <a:latin typeface="+mn-lt"/>
                          <a:ea typeface="+mn-ea"/>
                          <a:cs typeface="Times New Roman" panose="02020603050405020304" pitchFamily="18" charset="0"/>
                          <a:sym typeface="Wingdings" panose="05000000000000000000" pitchFamily="2" charset="2"/>
                        </a:rPr>
                        <a:t>Tuần</a:t>
                      </a:r>
                      <a:r>
                        <a:rPr lang="en-US" sz="1300" u="none" strike="noStrike" kern="1200" baseline="0" dirty="0">
                          <a:solidFill>
                            <a:srgbClr val="FF0000"/>
                          </a:solidFill>
                          <a:effectLst/>
                          <a:latin typeface="+mn-lt"/>
                          <a:ea typeface="+mn-ea"/>
                          <a:cs typeface="Times New Roman" panose="02020603050405020304" pitchFamily="18" charset="0"/>
                          <a:sym typeface="Wingdings" panose="05000000000000000000" pitchFamily="2" charset="2"/>
                        </a:rPr>
                        <a:t> 10 – 14/03: </a:t>
                      </a:r>
                      <a:r>
                        <a:rPr lang="en-US" sz="1300" u="none" strike="noStrike" kern="1200" baseline="0" dirty="0" err="1">
                          <a:solidFill>
                            <a:srgbClr val="FF0000"/>
                          </a:solidFill>
                          <a:effectLst/>
                          <a:latin typeface="+mn-lt"/>
                          <a:ea typeface="+mn-ea"/>
                          <a:cs typeface="Times New Roman" panose="02020603050405020304" pitchFamily="18" charset="0"/>
                          <a:sym typeface="Wingdings" panose="05000000000000000000" pitchFamily="2" charset="2"/>
                        </a:rPr>
                        <a:t>Họp</a:t>
                      </a:r>
                      <a:r>
                        <a:rPr lang="en-US" sz="1300" u="none" strike="noStrike" kern="1200" baseline="0" dirty="0">
                          <a:solidFill>
                            <a:srgbClr val="FF0000"/>
                          </a:solidFill>
                          <a:effectLst/>
                          <a:latin typeface="+mn-lt"/>
                          <a:ea typeface="+mn-ea"/>
                          <a:cs typeface="Times New Roman" panose="02020603050405020304" pitchFamily="18" charset="0"/>
                          <a:sym typeface="Wingdings" panose="05000000000000000000" pitchFamily="2" charset="2"/>
                        </a:rPr>
                        <a:t> Technical Review GE – Working Level (12/03) </a:t>
                      </a:r>
                      <a:r>
                        <a:rPr lang="en-US" sz="1300" u="none" strike="noStrike" kern="1200" baseline="0" dirty="0" err="1">
                          <a:solidFill>
                            <a:srgbClr val="FF0000"/>
                          </a:solidFill>
                          <a:effectLst/>
                          <a:latin typeface="+mn-lt"/>
                          <a:ea typeface="+mn-ea"/>
                          <a:cs typeface="Times New Roman" panose="02020603050405020304" pitchFamily="18" charset="0"/>
                          <a:sym typeface="Wingdings" panose="05000000000000000000" pitchFamily="2" charset="2"/>
                        </a:rPr>
                        <a:t>và</a:t>
                      </a:r>
                      <a:r>
                        <a:rPr lang="en-US" sz="1300" u="none" strike="noStrike" kern="1200" baseline="0" dirty="0">
                          <a:solidFill>
                            <a:srgbClr val="FF0000"/>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mn-lt"/>
                          <a:ea typeface="+mn-ea"/>
                          <a:cs typeface="Times New Roman" panose="02020603050405020304" pitchFamily="18" charset="0"/>
                          <a:sym typeface="Wingdings" panose="05000000000000000000" pitchFamily="2" charset="2"/>
                        </a:rPr>
                        <a:t>Giới</a:t>
                      </a:r>
                      <a:r>
                        <a:rPr lang="en-US" sz="1300" u="none" strike="noStrike" kern="1200" baseline="0" dirty="0">
                          <a:solidFill>
                            <a:srgbClr val="FF0000"/>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mn-lt"/>
                          <a:ea typeface="+mn-ea"/>
                          <a:cs typeface="Times New Roman" panose="02020603050405020304" pitchFamily="18" charset="0"/>
                          <a:sym typeface="Wingdings" panose="05000000000000000000" pitchFamily="2" charset="2"/>
                        </a:rPr>
                        <a:t>thiệu</a:t>
                      </a:r>
                      <a:r>
                        <a:rPr lang="en-US" sz="1300" u="none" strike="noStrike" kern="1200" baseline="0" dirty="0">
                          <a:solidFill>
                            <a:srgbClr val="FF0000"/>
                          </a:solidFill>
                          <a:effectLst/>
                          <a:latin typeface="+mn-lt"/>
                          <a:ea typeface="+mn-ea"/>
                          <a:cs typeface="Times New Roman" panose="02020603050405020304" pitchFamily="18" charset="0"/>
                          <a:sym typeface="Wingdings" panose="05000000000000000000" pitchFamily="2" charset="2"/>
                        </a:rPr>
                        <a:t> GE9X (B777X) </a:t>
                      </a:r>
                      <a:r>
                        <a:rPr lang="en-US" sz="1300" u="none" strike="noStrike" kern="1200" baseline="0" dirty="0" err="1">
                          <a:solidFill>
                            <a:srgbClr val="FF0000"/>
                          </a:solidFill>
                          <a:effectLst/>
                          <a:latin typeface="+mn-lt"/>
                          <a:ea typeface="+mn-ea"/>
                          <a:cs typeface="Times New Roman" panose="02020603050405020304" pitchFamily="18" charset="0"/>
                          <a:sym typeface="Wingdings" panose="05000000000000000000" pitchFamily="2" charset="2"/>
                        </a:rPr>
                        <a:t>ngày</a:t>
                      </a:r>
                      <a:r>
                        <a:rPr lang="en-US" sz="1300" u="none" strike="noStrike" kern="1200" baseline="0" dirty="0">
                          <a:solidFill>
                            <a:srgbClr val="FF0000"/>
                          </a:solidFill>
                          <a:effectLst/>
                          <a:latin typeface="+mn-lt"/>
                          <a:ea typeface="+mn-ea"/>
                          <a:cs typeface="Times New Roman" panose="02020603050405020304" pitchFamily="18" charset="0"/>
                          <a:sym typeface="Wingdings" panose="05000000000000000000" pitchFamily="2" charset="2"/>
                        </a:rPr>
                        <a:t> 13/03</a:t>
                      </a:r>
                      <a:endPar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fr-FR" sz="1300" kern="1200" dirty="0">
                          <a:solidFill>
                            <a:schemeClr val="tx1"/>
                          </a:solidFill>
                          <a:effectLst/>
                          <a:latin typeface="Times New Roman" panose="02020603050405020304" pitchFamily="18" charset="0"/>
                          <a:ea typeface="+mn-ea"/>
                          <a:cs typeface="Times New Roman" panose="02020603050405020304" pitchFamily="18" charset="0"/>
                        </a:rPr>
                        <a:t>KT/QLVT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làm</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việc</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về</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Removal Plan / ĐCDP / TAT /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Tình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trạng</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KT…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báo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cáo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Lãnh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TCT.</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107005"/>
                  </a:ext>
                </a:extLst>
              </a:tr>
              <a:tr h="1926617">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3</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fr-FR" sz="1300" kern="1200" dirty="0">
                          <a:solidFill>
                            <a:schemeClr val="tx1"/>
                          </a:solidFill>
                          <a:effectLst/>
                          <a:latin typeface="Times New Roman" panose="02020603050405020304" pitchFamily="18" charset="0"/>
                          <a:ea typeface="+mn-ea"/>
                          <a:cs typeface="Times New Roman" panose="02020603050405020304" pitchFamily="18" charset="0"/>
                        </a:rPr>
                        <a:t>KT/QLVT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làm</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việc</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về</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Removal Plan / ĐCDP / TAT /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Tình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trạng</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KT…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báo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cáo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Lãnh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TCT.</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3 –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7, VP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kế</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hoạch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nguồn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lực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A350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cũng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xuất</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pháp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AOG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trong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chờ</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SV...). Ban KT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phối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hợp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QLVT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đòi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cũng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như</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triển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khai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pháp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AOG.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Ban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hợp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QLVT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tính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toán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draft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cao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nhằm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theo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HĐ TCA.</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Trong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buổi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MRO Asia, Ban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bổ</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sung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thêm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sửa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chữa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 slot QT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cuối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T10 –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T11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để</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giảm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thêm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 AOG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giai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đoạn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17/12 SVP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của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sang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CEO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của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tuy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đạt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đ</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ợc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cụ</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thể</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04/03 VP RR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sang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làm</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việc</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VNA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về</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các</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vấn</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đề</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nguồn</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lực</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tài</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chính</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Phía</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sẽ</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tìm</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kiếm</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các</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giải</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pháp</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giảm</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AOG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cho</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VNA,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đồng</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thời</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phía</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VNA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phối</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hợp</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để</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giải</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quyết</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các</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vấn</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đề</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tài</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chính</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còn</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tồn</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động</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như</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CRC, Day in service. </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Tiếp</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tục</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RR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slot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chữa</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c</a:t>
                      </a:r>
                      <a:r>
                        <a:rPr lang="vi-VN" sz="1300" kern="1200" dirty="0">
                          <a:solidFill>
                            <a:schemeClr val="tx1"/>
                          </a:solidFill>
                          <a:effectLst/>
                          <a:latin typeface="Times New Roman" panose="02020603050405020304" pitchFamily="18" charset="0"/>
                          <a:ea typeface="+mn-ea"/>
                          <a:cs typeface="Times New Roman" panose="02020603050405020304" pitchFamily="18" charset="0"/>
                        </a:rPr>
                        <a:t>ơ</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giảm</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TAT.</a:t>
                      </a:r>
                    </a:p>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9920082"/>
                  </a:ext>
                </a:extLst>
              </a:tr>
            </a:tbl>
          </a:graphicData>
        </a:graphic>
      </p:graphicFrame>
    </p:spTree>
    <p:extLst>
      <p:ext uri="{BB962C8B-B14F-4D97-AF65-F5344CB8AC3E}">
        <p14:creationId xmlns:p14="http://schemas.microsoft.com/office/powerpoint/2010/main" val="8087442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18</a:t>
            </a:fld>
            <a:endParaRPr>
              <a:latin typeface="Times New Roman" panose="02020603050405020304" pitchFamily="18" charset="0"/>
              <a:cs typeface="Times New Roman" panose="02020603050405020304" pitchFamily="18" charset="0"/>
            </a:endParaRPr>
          </a:p>
        </p:txBody>
      </p:sp>
      <p:sp>
        <p:nvSpPr>
          <p:cNvPr id="8" name="Title 2">
            <a:extLst>
              <a:ext uri="{FF2B5EF4-FFF2-40B4-BE49-F238E27FC236}">
                <a16:creationId xmlns:a16="http://schemas.microsoft.com/office/drawing/2014/main" id="{A54B3B80-6D5D-62F3-88B2-C803136634FB}"/>
              </a:ext>
            </a:extLst>
          </p:cNvPr>
          <p:cNvSpPr>
            <a:spLocks noGrp="1"/>
          </p:cNvSpPr>
          <p:nvPr>
            <p:ph type="title"/>
          </p:nvPr>
        </p:nvSpPr>
        <p:spPr>
          <a:xfrm>
            <a:off x="0" y="0"/>
            <a:ext cx="9312664" cy="508000"/>
          </a:xfrm>
        </p:spPr>
        <p:txBody>
          <a:bodyPr>
            <a:normAutofit fontScale="90000"/>
          </a:bodyPr>
          <a:lstStyle/>
          <a:p>
            <a:pPr eaLnBrk="1" hangingPunct="1"/>
            <a:r>
              <a:rPr lang="en-US" altLang="en-US" sz="3200" dirty="0">
                <a:solidFill>
                  <a:srgbClr val="FFC000"/>
                </a:solidFill>
                <a:latin typeface="Times New Roman" panose="02020603050405020304" pitchFamily="18" charset="0"/>
                <a:cs typeface="Times New Roman" panose="02020603050405020304" pitchFamily="18" charset="0"/>
              </a:rPr>
              <a:t>CÁC CÔNG VIỆC </a:t>
            </a:r>
            <a:r>
              <a:rPr lang="en-US" altLang="en-US" sz="3600" dirty="0">
                <a:solidFill>
                  <a:srgbClr val="FFC000"/>
                </a:solidFill>
                <a:latin typeface="Times New Roman" panose="02020603050405020304" pitchFamily="18" charset="0"/>
                <a:cs typeface="Times New Roman" panose="02020603050405020304" pitchFamily="18" charset="0"/>
              </a:rPr>
              <a:t>TRỌNG</a:t>
            </a:r>
            <a:r>
              <a:rPr lang="en-US" altLang="en-US" sz="3200" dirty="0">
                <a:solidFill>
                  <a:srgbClr val="FFC000"/>
                </a:solidFill>
                <a:latin typeface="Times New Roman" panose="02020603050405020304" pitchFamily="18" charset="0"/>
                <a:cs typeface="Times New Roman" panose="02020603050405020304" pitchFamily="18" charset="0"/>
              </a:rPr>
              <a:t> ĐIỂM TRONG TUẦN</a:t>
            </a: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extLst>
              <p:ext uri="{D42A27DB-BD31-4B8C-83A1-F6EECF244321}">
                <p14:modId xmlns:p14="http://schemas.microsoft.com/office/powerpoint/2010/main" val="2345712409"/>
              </p:ext>
            </p:extLst>
          </p:nvPr>
        </p:nvGraphicFramePr>
        <p:xfrm>
          <a:off x="228600" y="609600"/>
          <a:ext cx="11878434" cy="5384031"/>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val="2758273930"/>
                    </a:ext>
                  </a:extLst>
                </a:gridCol>
                <a:gridCol w="1182943">
                  <a:extLst>
                    <a:ext uri="{9D8B030D-6E8A-4147-A177-3AD203B41FA5}">
                      <a16:colId xmlns:a16="http://schemas.microsoft.com/office/drawing/2014/main" val="221963637"/>
                    </a:ext>
                  </a:extLst>
                </a:gridCol>
                <a:gridCol w="8899599">
                  <a:extLst>
                    <a:ext uri="{9D8B030D-6E8A-4147-A177-3AD203B41FA5}">
                      <a16:colId xmlns:a16="http://schemas.microsoft.com/office/drawing/2014/main" val="426833219"/>
                    </a:ext>
                  </a:extLst>
                </a:gridCol>
                <a:gridCol w="1373165">
                  <a:extLst>
                    <a:ext uri="{9D8B030D-6E8A-4147-A177-3AD203B41FA5}">
                      <a16:colId xmlns:a16="http://schemas.microsoft.com/office/drawing/2014/main" val="3649942957"/>
                    </a:ext>
                  </a:extLst>
                </a:gridCol>
              </a:tblGrid>
              <a:tr h="444099">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495701">
                <a:tc>
                  <a:txBody>
                    <a:bodyPr/>
                    <a:lstStyle/>
                    <a:p>
                      <a:pPr algn="ctr" fontAlgn="b"/>
                      <a:r>
                        <a:rPr lang="en-US" sz="1400" b="0" i="0" u="none" strike="noStrike" dirty="0" smtClean="0">
                          <a:solidFill>
                            <a:schemeClr val="tx1"/>
                          </a:solidFill>
                          <a:effectLst/>
                          <a:latin typeface="Times New Roman" panose="02020603050405020304" pitchFamily="18" charset="0"/>
                          <a:cs typeface="Times New Roman" panose="02020603050405020304" pitchFamily="18" charset="0"/>
                        </a:rPr>
                        <a:t>4</a:t>
                      </a:r>
                      <a:endParaRPr lang="en-US" sz="14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Decal 30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năm</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787-9.</a:t>
                      </a:r>
                      <a:endParaRPr lang="vi-VN"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lnSpc>
                          <a:spcPct val="130000"/>
                        </a:lnSpc>
                        <a:buFontTx/>
                        <a:buChar char="-"/>
                      </a:pPr>
                      <a:r>
                        <a:rPr lang="en-US" sz="1400" dirty="0">
                          <a:solidFill>
                            <a:schemeClr val="tx1"/>
                          </a:solidFill>
                          <a:latin typeface="Times New Roman" panose="02020603050405020304" pitchFamily="18" charset="0"/>
                          <a:cs typeface="Times New Roman" panose="02020603050405020304" pitchFamily="18" charset="0"/>
                        </a:rPr>
                        <a:t>Ban TT </a:t>
                      </a:r>
                      <a:r>
                        <a:rPr lang="en-US" sz="1400" dirty="0" err="1">
                          <a:solidFill>
                            <a:schemeClr val="tx1"/>
                          </a:solidFill>
                          <a:latin typeface="Times New Roman" panose="02020603050405020304" pitchFamily="18" charset="0"/>
                          <a:cs typeface="Times New Roman" panose="02020603050405020304" pitchFamily="18" charset="0"/>
                        </a:rPr>
                        <a:t>yêu</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cầu</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thực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hiện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theo</a:t>
                      </a:r>
                      <a:r>
                        <a:rPr lang="en-US" sz="1400" dirty="0">
                          <a:solidFill>
                            <a:schemeClr val="tx1"/>
                          </a:solidFill>
                          <a:latin typeface="Times New Roman" panose="02020603050405020304" pitchFamily="18" charset="0"/>
                          <a:cs typeface="Times New Roman" panose="02020603050405020304" pitchFamily="18" charset="0"/>
                        </a:rPr>
                        <a:t> decal </a:t>
                      </a:r>
                      <a:r>
                        <a:rPr lang="en-US" sz="1400" dirty="0" err="1">
                          <a:solidFill>
                            <a:schemeClr val="tx1"/>
                          </a:solidFill>
                          <a:latin typeface="Times New Roman" panose="02020603050405020304" pitchFamily="18" charset="0"/>
                          <a:cs typeface="Times New Roman" panose="02020603050405020304" pitchFamily="18" charset="0"/>
                        </a:rPr>
                        <a:t>cũ</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không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có</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chữ</a:t>
                      </a:r>
                      <a:r>
                        <a:rPr lang="en-US" sz="1400" dirty="0">
                          <a:solidFill>
                            <a:schemeClr val="tx1"/>
                          </a:solidFill>
                          <a:latin typeface="Times New Roman" panose="02020603050405020304" pitchFamily="18" charset="0"/>
                          <a:cs typeface="Times New Roman" panose="02020603050405020304" pitchFamily="18" charset="0"/>
                        </a:rPr>
                        <a:t> ). Ban KT </a:t>
                      </a: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thông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báo</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lại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đối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tác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tiếp</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tục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giục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để</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sớm</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có</a:t>
                      </a:r>
                      <a:r>
                        <a:rPr lang="en-US" sz="1400" dirty="0">
                          <a:solidFill>
                            <a:schemeClr val="tx1"/>
                          </a:solidFill>
                          <a:latin typeface="Times New Roman" panose="02020603050405020304" pitchFamily="18" charset="0"/>
                          <a:cs typeface="Times New Roman" panose="02020603050405020304" pitchFamily="18" charset="0"/>
                        </a:rPr>
                        <a:t> SB </a:t>
                      </a:r>
                      <a:r>
                        <a:rPr lang="en-US" sz="1400" dirty="0" err="1">
                          <a:solidFill>
                            <a:schemeClr val="tx1"/>
                          </a:solidFill>
                          <a:latin typeface="Times New Roman" panose="02020603050405020304" pitchFamily="18" charset="0"/>
                          <a:cs typeface="Times New Roman" panose="02020603050405020304" pitchFamily="18" charset="0"/>
                        </a:rPr>
                        <a:t>trong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đầu</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tháng</a:t>
                      </a:r>
                      <a:r>
                        <a:rPr lang="en-US" sz="1400" dirty="0">
                          <a:solidFill>
                            <a:schemeClr val="tx1"/>
                          </a:solidFill>
                          <a:latin typeface="Times New Roman" panose="02020603050405020304" pitchFamily="18" charset="0"/>
                          <a:cs typeface="Times New Roman" panose="02020603050405020304" pitchFamily="18" charset="0"/>
                        </a:rPr>
                        <a:t> 4/2025. </a:t>
                      </a: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triển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khai</a:t>
                      </a:r>
                      <a:r>
                        <a:rPr lang="en-US" sz="1400" dirty="0">
                          <a:solidFill>
                            <a:schemeClr val="tx1"/>
                          </a:solidFill>
                          <a:latin typeface="Times New Roman" panose="02020603050405020304" pitchFamily="18" charset="0"/>
                          <a:cs typeface="Times New Roman" panose="02020603050405020304" pitchFamily="18" charset="0"/>
                        </a:rPr>
                        <a:t> SO VAECO </a:t>
                      </a:r>
                      <a:r>
                        <a:rPr lang="en-US" sz="1400" dirty="0" err="1">
                          <a:solidFill>
                            <a:schemeClr val="tx1"/>
                          </a:solidFill>
                          <a:latin typeface="Times New Roman" panose="02020603050405020304" pitchFamily="18" charset="0"/>
                          <a:cs typeface="Times New Roman" panose="02020603050405020304" pitchFamily="18" charset="0"/>
                        </a:rPr>
                        <a:t>chuẩn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bị</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vật</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tư</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dụng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cụ</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để</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hỗ</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trợ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đối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tác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vào</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thực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hiện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ngày</a:t>
                      </a:r>
                      <a:r>
                        <a:rPr lang="en-US" sz="1400" dirty="0">
                          <a:solidFill>
                            <a:schemeClr val="tx1"/>
                          </a:solidFill>
                          <a:latin typeface="Times New Roman" panose="02020603050405020304" pitchFamily="18" charset="0"/>
                          <a:cs typeface="Times New Roman" panose="02020603050405020304" pitchFamily="18" charset="0"/>
                        </a:rPr>
                        <a:t> 8-13/4/2025</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Tiếp</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tục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giục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đối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tác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để</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sớm</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SB trong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đầu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4/2025</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5972957"/>
                  </a:ext>
                </a:extLst>
              </a:tr>
              <a:tr h="1247144">
                <a:tc>
                  <a:txBody>
                    <a:bodyPr/>
                    <a:lstStyle/>
                    <a:p>
                      <a:pPr algn="ctr" fontAlgn="b"/>
                      <a:r>
                        <a:rPr lang="en-US" sz="1400" b="0" i="0" u="none" strike="noStrike" dirty="0" smtClean="0">
                          <a:solidFill>
                            <a:schemeClr val="tx1"/>
                          </a:solidFill>
                          <a:effectLst/>
                          <a:latin typeface="Times New Roman" panose="02020603050405020304" pitchFamily="18" charset="0"/>
                          <a:cs typeface="Times New Roman" panose="02020603050405020304" pitchFamily="18" charset="0"/>
                        </a:rPr>
                        <a:t>5</a:t>
                      </a:r>
                      <a:endParaRPr lang="en-US" sz="14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IFC 10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A350 </a:t>
                      </a:r>
                      <a:endParaRPr lang="vi-VN"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8925" lvl="1" indent="-285750">
                        <a:lnSpc>
                          <a:spcPct val="130000"/>
                        </a:lnSpc>
                        <a:buFontTx/>
                        <a:buChar char="-"/>
                      </a:pPr>
                      <a:r>
                        <a:rPr lang="en-US" sz="1400" dirty="0" err="1">
                          <a:solidFill>
                            <a:schemeClr val="tx1"/>
                          </a:solidFill>
                          <a:latin typeface="Times New Roman" panose="02020603050405020304" pitchFamily="18" charset="0"/>
                          <a:cs typeface="Times New Roman" panose="02020603050405020304" pitchFamily="18" charset="0"/>
                        </a:rPr>
                        <a:t>Tài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liệu</a:t>
                      </a:r>
                      <a:r>
                        <a:rPr lang="en-US" sz="1400" dirty="0">
                          <a:solidFill>
                            <a:schemeClr val="tx1"/>
                          </a:solidFill>
                          <a:latin typeface="Times New Roman" panose="02020603050405020304" pitchFamily="18" charset="0"/>
                          <a:cs typeface="Times New Roman" panose="02020603050405020304" pitchFamily="18" charset="0"/>
                        </a:rPr>
                        <a:t> TSM </a:t>
                      </a:r>
                      <a:r>
                        <a:rPr lang="en-US" sz="1400" dirty="0" err="1">
                          <a:solidFill>
                            <a:schemeClr val="tx1"/>
                          </a:solidFill>
                          <a:latin typeface="Times New Roman" panose="02020603050405020304" pitchFamily="18" charset="0"/>
                          <a:cs typeface="Times New Roman" panose="02020603050405020304" pitchFamily="18" charset="0"/>
                        </a:rPr>
                        <a:t>hệ</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thống</a:t>
                      </a:r>
                      <a:r>
                        <a:rPr lang="en-US" sz="1400" dirty="0">
                          <a:solidFill>
                            <a:schemeClr val="tx1"/>
                          </a:solidFill>
                          <a:latin typeface="Times New Roman" panose="02020603050405020304" pitchFamily="18" charset="0"/>
                          <a:cs typeface="Times New Roman" panose="02020603050405020304" pitchFamily="18" charset="0"/>
                        </a:rPr>
                        <a:t> IFC: </a:t>
                      </a:r>
                      <a:r>
                        <a:rPr lang="en-US" sz="1400" b="1" dirty="0" err="1">
                          <a:solidFill>
                            <a:schemeClr val="tx1"/>
                          </a:solidFill>
                          <a:latin typeface="Times New Roman" panose="02020603050405020304" pitchFamily="18" charset="0"/>
                          <a:cs typeface="Times New Roman" panose="02020603050405020304" pitchFamily="18" charset="0"/>
                        </a:rPr>
                        <a:t>Đã</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giao</a:t>
                      </a:r>
                      <a:r>
                        <a:rPr lang="en-US" sz="1400" b="1" dirty="0">
                          <a:solidFill>
                            <a:schemeClr val="tx1"/>
                          </a:solidFill>
                          <a:latin typeface="Times New Roman" panose="02020603050405020304" pitchFamily="18" charset="0"/>
                          <a:cs typeface="Times New Roman" panose="02020603050405020304" pitchFamily="18" charset="0"/>
                        </a:rPr>
                        <a:t> 6/3/2025 </a:t>
                      </a:r>
                      <a:r>
                        <a:rPr lang="en-US" sz="1400" b="1" dirty="0" err="1">
                          <a:solidFill>
                            <a:schemeClr val="tx1"/>
                          </a:solidFill>
                          <a:latin typeface="Times New Roman" panose="02020603050405020304" pitchFamily="18" charset="0"/>
                          <a:cs typeface="Times New Roman" panose="02020603050405020304" pitchFamily="18" charset="0"/>
                        </a:rPr>
                        <a:t>và</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triển</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khai</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cho</a:t>
                      </a:r>
                      <a:r>
                        <a:rPr lang="en-US" sz="1400" b="1" dirty="0">
                          <a:solidFill>
                            <a:schemeClr val="tx1"/>
                          </a:solidFill>
                          <a:latin typeface="Times New Roman" panose="02020603050405020304" pitchFamily="18" charset="0"/>
                          <a:cs typeface="Times New Roman" panose="02020603050405020304" pitchFamily="18" charset="0"/>
                        </a:rPr>
                        <a:t> VAECO</a:t>
                      </a:r>
                    </a:p>
                    <a:p>
                      <a:pPr marL="288925" lvl="1" indent="-285750">
                        <a:lnSpc>
                          <a:spcPct val="130000"/>
                        </a:lnSpc>
                        <a:buFontTx/>
                        <a:buChar char="-"/>
                      </a:pPr>
                      <a:r>
                        <a:rPr lang="en-US" sz="1400" dirty="0" err="1">
                          <a:solidFill>
                            <a:schemeClr val="tx1"/>
                          </a:solidFill>
                          <a:latin typeface="Times New Roman" panose="02020603050405020304" pitchFamily="18" charset="0"/>
                          <a:cs typeface="Times New Roman" panose="02020603050405020304" pitchFamily="18" charset="0"/>
                        </a:rPr>
                        <a:t>Vật</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tư</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dự</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phòng</a:t>
                      </a:r>
                      <a:r>
                        <a:rPr lang="en-US" sz="1400"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đã</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giao</a:t>
                      </a:r>
                      <a:r>
                        <a:rPr lang="en-US" sz="1400" b="1" dirty="0">
                          <a:solidFill>
                            <a:schemeClr val="tx1"/>
                          </a:solidFill>
                          <a:latin typeface="Times New Roman" panose="02020603050405020304" pitchFamily="18" charset="0"/>
                          <a:cs typeface="Times New Roman" panose="02020603050405020304" pitchFamily="18" charset="0"/>
                        </a:rPr>
                        <a:t> KFRU, MODMAN, KANDU;  FMA 01ea </a:t>
                      </a:r>
                      <a:r>
                        <a:rPr lang="en-US" sz="1400" b="1" dirty="0" err="1">
                          <a:solidFill>
                            <a:schemeClr val="tx1"/>
                          </a:solidFill>
                          <a:latin typeface="Times New Roman" panose="02020603050405020304" pitchFamily="18" charset="0"/>
                          <a:cs typeface="Times New Roman" panose="02020603050405020304" pitchFamily="18" charset="0"/>
                        </a:rPr>
                        <a:t>giao</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tháng</a:t>
                      </a:r>
                      <a:r>
                        <a:rPr lang="en-US" sz="1400" b="1" dirty="0">
                          <a:solidFill>
                            <a:schemeClr val="tx1"/>
                          </a:solidFill>
                          <a:latin typeface="Times New Roman" panose="02020603050405020304" pitchFamily="18" charset="0"/>
                          <a:cs typeface="Times New Roman" panose="02020603050405020304" pitchFamily="18" charset="0"/>
                        </a:rPr>
                        <a:t> 4/2025 (</a:t>
                      </a:r>
                      <a:r>
                        <a:rPr lang="en-US" sz="1400" b="1" dirty="0" err="1">
                          <a:solidFill>
                            <a:schemeClr val="tx1"/>
                          </a:solidFill>
                          <a:latin typeface="Times New Roman" panose="02020603050405020304" pitchFamily="18" charset="0"/>
                          <a:cs typeface="Times New Roman" panose="02020603050405020304" pitchFamily="18" charset="0"/>
                        </a:rPr>
                        <a:t>tiếp</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tục</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giục</a:t>
                      </a:r>
                      <a:r>
                        <a:rPr lang="en-US" sz="1400" b="1" dirty="0">
                          <a:solidFill>
                            <a:schemeClr val="tx1"/>
                          </a:solidFill>
                          <a:latin typeface="Times New Roman" panose="02020603050405020304" pitchFamily="18" charset="0"/>
                          <a:cs typeface="Times New Roman" panose="02020603050405020304" pitchFamily="18" charset="0"/>
                        </a:rPr>
                        <a:t> Thales)</a:t>
                      </a:r>
                    </a:p>
                    <a:p>
                      <a:pPr marL="288925" lvl="1" indent="-285750">
                        <a:lnSpc>
                          <a:spcPct val="130000"/>
                        </a:lnSpc>
                        <a:buFontTx/>
                        <a:buChar char="-"/>
                      </a:pPr>
                      <a:r>
                        <a:rPr lang="en-US" sz="1400" dirty="0">
                          <a:solidFill>
                            <a:schemeClr val="tx1"/>
                          </a:solidFill>
                          <a:latin typeface="Times New Roman" panose="02020603050405020304" pitchFamily="18" charset="0"/>
                          <a:cs typeface="Times New Roman" panose="02020603050405020304" pitchFamily="18" charset="0"/>
                        </a:rPr>
                        <a:t> MPS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FSAT: </a:t>
                      </a:r>
                      <a:r>
                        <a:rPr lang="en-US" sz="1400" b="1" dirty="0">
                          <a:solidFill>
                            <a:schemeClr val="tx1"/>
                          </a:solidFill>
                          <a:latin typeface="Times New Roman" panose="02020603050405020304" pitchFamily="18" charset="0"/>
                          <a:cs typeface="Times New Roman" panose="02020603050405020304" pitchFamily="18" charset="0"/>
                        </a:rPr>
                        <a:t>MPS </a:t>
                      </a:r>
                      <a:r>
                        <a:rPr lang="en-US" sz="1400" b="1" dirty="0" err="1">
                          <a:solidFill>
                            <a:schemeClr val="tx1"/>
                          </a:solidFill>
                          <a:latin typeface="Times New Roman" panose="02020603050405020304" pitchFamily="18" charset="0"/>
                          <a:cs typeface="Times New Roman" panose="02020603050405020304" pitchFamily="18" charset="0"/>
                        </a:rPr>
                        <a:t>và</a:t>
                      </a:r>
                      <a:r>
                        <a:rPr lang="en-US" sz="1400" b="1" dirty="0">
                          <a:solidFill>
                            <a:schemeClr val="tx1"/>
                          </a:solidFill>
                          <a:latin typeface="Times New Roman" panose="02020603050405020304" pitchFamily="18" charset="0"/>
                          <a:cs typeface="Times New Roman" panose="02020603050405020304" pitchFamily="18" charset="0"/>
                        </a:rPr>
                        <a:t> mod kit </a:t>
                      </a:r>
                      <a:r>
                        <a:rPr lang="en-US" sz="1400" b="1" dirty="0" err="1">
                          <a:solidFill>
                            <a:schemeClr val="tx1"/>
                          </a:solidFill>
                          <a:latin typeface="Times New Roman" panose="02020603050405020304" pitchFamily="18" charset="0"/>
                          <a:cs typeface="Times New Roman" panose="02020603050405020304" pitchFamily="18" charset="0"/>
                        </a:rPr>
                        <a:t>đã</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giao</a:t>
                      </a:r>
                      <a:r>
                        <a:rPr lang="en-US" sz="1400" b="1" dirty="0">
                          <a:solidFill>
                            <a:schemeClr val="tx1"/>
                          </a:solidFill>
                          <a:latin typeface="Times New Roman" panose="02020603050405020304" pitchFamily="18" charset="0"/>
                          <a:cs typeface="Times New Roman" panose="02020603050405020304" pitchFamily="18" charset="0"/>
                        </a:rPr>
                        <a:t>, SB release </a:t>
                      </a:r>
                      <a:r>
                        <a:rPr lang="en-US" sz="1400" b="1" dirty="0" err="1">
                          <a:solidFill>
                            <a:schemeClr val="tx1"/>
                          </a:solidFill>
                          <a:latin typeface="Times New Roman" panose="02020603050405020304" pitchFamily="18" charset="0"/>
                          <a:cs typeface="Times New Roman" panose="02020603050405020304" pitchFamily="18" charset="0"/>
                        </a:rPr>
                        <a:t>cuối</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tháng</a:t>
                      </a:r>
                      <a:r>
                        <a:rPr lang="en-US" sz="1400" b="1" dirty="0">
                          <a:solidFill>
                            <a:schemeClr val="tx1"/>
                          </a:solidFill>
                          <a:latin typeface="Times New Roman" panose="02020603050405020304" pitchFamily="18" charset="0"/>
                          <a:cs typeface="Times New Roman" panose="02020603050405020304" pitchFamily="18" charset="0"/>
                        </a:rPr>
                        <a:t> 3/2025. </a:t>
                      </a:r>
                    </a:p>
                    <a:p>
                      <a:pPr marL="288925" lvl="1" indent="-285750">
                        <a:lnSpc>
                          <a:spcPct val="130000"/>
                        </a:lnSpc>
                        <a:buFontTx/>
                        <a:buChar char="-"/>
                      </a:pP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gửi</a:t>
                      </a:r>
                      <a:r>
                        <a:rPr lang="en-US" sz="1400" dirty="0">
                          <a:solidFill>
                            <a:schemeClr val="tx1"/>
                          </a:solidFill>
                          <a:latin typeface="Times New Roman" panose="02020603050405020304" pitchFamily="18" charset="0"/>
                          <a:cs typeface="Times New Roman" panose="02020603050405020304" pitchFamily="18" charset="0"/>
                        </a:rPr>
                        <a:t> 02 </a:t>
                      </a:r>
                      <a:r>
                        <a:rPr lang="en-US" sz="1400" dirty="0" err="1">
                          <a:solidFill>
                            <a:schemeClr val="tx1"/>
                          </a:solidFill>
                          <a:latin typeface="Times New Roman" panose="02020603050405020304" pitchFamily="18" charset="0"/>
                          <a:cs typeface="Times New Roman" panose="02020603050405020304" pitchFamily="18" charset="0"/>
                        </a:rPr>
                        <a:t>shipset</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tàu</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bảo</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quản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nâng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cấp</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firmwarre</a:t>
                      </a:r>
                      <a:r>
                        <a:rPr lang="en-US" sz="1400" dirty="0">
                          <a:solidFill>
                            <a:schemeClr val="tx1"/>
                          </a:solidFill>
                          <a:latin typeface="Times New Roman" panose="02020603050405020304" pitchFamily="18" charset="0"/>
                          <a:cs typeface="Times New Roman" panose="02020603050405020304" pitchFamily="18" charset="0"/>
                        </a:rPr>
                        <a:t>, TAT 60-70 </a:t>
                      </a:r>
                      <a:r>
                        <a:rPr lang="en-US" sz="1400" dirty="0" err="1">
                          <a:solidFill>
                            <a:schemeClr val="tx1"/>
                          </a:solidFill>
                          <a:latin typeface="Times New Roman" panose="02020603050405020304" pitchFamily="18" charset="0"/>
                          <a:cs typeface="Times New Roman" panose="02020603050405020304" pitchFamily="18" charset="0"/>
                        </a:rPr>
                        <a:t>ngày</a:t>
                      </a:r>
                      <a:r>
                        <a:rPr lang="en-US" sz="1400" dirty="0">
                          <a:solidFill>
                            <a:schemeClr val="tx1"/>
                          </a:solidFill>
                          <a:latin typeface="Times New Roman" panose="02020603050405020304" pitchFamily="18" charset="0"/>
                          <a:cs typeface="Times New Roman" panose="02020603050405020304" pitchFamily="18" charset="0"/>
                        </a:rPr>
                        <a:t> =&gt; </a:t>
                      </a:r>
                      <a:r>
                        <a:rPr lang="en-US" sz="1400" b="1" dirty="0" err="1">
                          <a:solidFill>
                            <a:schemeClr val="tx1"/>
                          </a:solidFill>
                          <a:latin typeface="Times New Roman" panose="02020603050405020304" pitchFamily="18" charset="0"/>
                          <a:cs typeface="Times New Roman" panose="02020603050405020304" pitchFamily="18" charset="0"/>
                        </a:rPr>
                        <a:t>đã</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về</a:t>
                      </a:r>
                      <a:r>
                        <a:rPr lang="en-US" sz="1400" b="1" dirty="0">
                          <a:solidFill>
                            <a:schemeClr val="tx1"/>
                          </a:solidFill>
                          <a:latin typeface="Times New Roman" panose="02020603050405020304" pitchFamily="18" charset="0"/>
                          <a:cs typeface="Times New Roman" panose="02020603050405020304" pitchFamily="18" charset="0"/>
                        </a:rPr>
                        <a:t> 02 KANDU, 02 FMA, 01 MODMAN; </a:t>
                      </a:r>
                      <a:r>
                        <a:rPr lang="en-US" sz="1400" b="1" dirty="0" err="1">
                          <a:solidFill>
                            <a:schemeClr val="tx1"/>
                          </a:solidFill>
                          <a:latin typeface="Times New Roman" panose="02020603050405020304" pitchFamily="18" charset="0"/>
                          <a:cs typeface="Times New Roman" panose="02020603050405020304" pitchFamily="18" charset="0"/>
                        </a:rPr>
                        <a:t>tiếp</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tục</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giục</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về</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sớm</a:t>
                      </a:r>
                      <a:r>
                        <a:rPr lang="en-US" sz="1400" b="1" dirty="0">
                          <a:solidFill>
                            <a:schemeClr val="tx1"/>
                          </a:solidFill>
                          <a:latin typeface="Times New Roman" panose="02020603050405020304" pitchFamily="18" charset="0"/>
                          <a:cs typeface="Times New Roman" panose="02020603050405020304" pitchFamily="18" charset="0"/>
                        </a:rPr>
                        <a:t> 02 KRFU + 01 MODMAN</a:t>
                      </a:r>
                    </a:p>
                    <a:p>
                      <a:pPr marL="288925" lvl="1" indent="-285750">
                        <a:lnSpc>
                          <a:spcPct val="130000"/>
                        </a:lnSpc>
                        <a:buFontTx/>
                        <a:buChar char="-"/>
                      </a:pPr>
                      <a:r>
                        <a:rPr lang="en-US" sz="1400" dirty="0" err="1">
                          <a:solidFill>
                            <a:schemeClr val="tx1"/>
                          </a:solidFill>
                          <a:latin typeface="Times New Roman" panose="02020603050405020304" pitchFamily="18" charset="0"/>
                          <a:cs typeface="Times New Roman" panose="02020603050405020304" pitchFamily="18" charset="0"/>
                        </a:rPr>
                        <a:t>Đào</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tạo</a:t>
                      </a:r>
                      <a:r>
                        <a:rPr lang="en-US" sz="1400" dirty="0">
                          <a:solidFill>
                            <a:schemeClr val="tx1"/>
                          </a:solidFill>
                          <a:latin typeface="Times New Roman" panose="02020603050405020304" pitchFamily="18" charset="0"/>
                          <a:cs typeface="Times New Roman" panose="02020603050405020304" pitchFamily="18" charset="0"/>
                        </a:rPr>
                        <a:t> IFC VAECO 19-20/2/2025: </a:t>
                      </a:r>
                      <a:r>
                        <a:rPr lang="en-US" sz="1400" b="1" dirty="0" err="1">
                          <a:solidFill>
                            <a:schemeClr val="tx1"/>
                          </a:solidFill>
                          <a:latin typeface="Times New Roman" panose="02020603050405020304" pitchFamily="18" charset="0"/>
                          <a:cs typeface="Times New Roman" panose="02020603050405020304" pitchFamily="18" charset="0"/>
                        </a:rPr>
                        <a:t>đã</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thực</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hiện</a:t>
                      </a:r>
                      <a:endParaRPr lang="en-US" sz="1400" b="1" dirty="0">
                        <a:solidFill>
                          <a:schemeClr val="tx1"/>
                        </a:solidFill>
                        <a:latin typeface="Times New Roman" panose="02020603050405020304" pitchFamily="18" charset="0"/>
                        <a:cs typeface="Times New Roman" panose="02020603050405020304" pitchFamily="18" charset="0"/>
                      </a:endParaRPr>
                    </a:p>
                    <a:p>
                      <a:pPr marL="288925" lvl="1" indent="-285750">
                        <a:lnSpc>
                          <a:spcPct val="130000"/>
                        </a:lnSpc>
                        <a:buFontTx/>
                        <a:buChar char="-"/>
                      </a:pPr>
                      <a:r>
                        <a:rPr lang="en-US" sz="1400" dirty="0">
                          <a:solidFill>
                            <a:schemeClr val="tx1"/>
                          </a:solidFill>
                          <a:latin typeface="Times New Roman" panose="02020603050405020304" pitchFamily="18" charset="0"/>
                          <a:cs typeface="Times New Roman" panose="02020603050405020304" pitchFamily="18" charset="0"/>
                        </a:rPr>
                        <a:t>FSAT </a:t>
                      </a:r>
                      <a:r>
                        <a:rPr lang="en-US" sz="1400" dirty="0" err="1">
                          <a:solidFill>
                            <a:schemeClr val="tx1"/>
                          </a:solidFill>
                          <a:latin typeface="Times New Roman" panose="02020603050405020304" pitchFamily="18" charset="0"/>
                          <a:cs typeface="Times New Roman" panose="02020603050405020304" pitchFamily="18" charset="0"/>
                        </a:rPr>
                        <a:t>từ</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ngày</a:t>
                      </a:r>
                      <a:r>
                        <a:rPr lang="en-US" sz="1400" dirty="0">
                          <a:solidFill>
                            <a:schemeClr val="tx1"/>
                          </a:solidFill>
                          <a:latin typeface="Times New Roman" panose="02020603050405020304" pitchFamily="18" charset="0"/>
                          <a:cs typeface="Times New Roman" panose="02020603050405020304" pitchFamily="18" charset="0"/>
                        </a:rPr>
                        <a:t> 4-7/3/2025: </a:t>
                      </a:r>
                      <a:r>
                        <a:rPr lang="en-US" sz="1400" b="1" dirty="0" err="1">
                          <a:solidFill>
                            <a:schemeClr val="tx1"/>
                          </a:solidFill>
                          <a:latin typeface="Times New Roman" panose="02020603050405020304" pitchFamily="18" charset="0"/>
                          <a:cs typeface="Times New Roman" panose="02020603050405020304" pitchFamily="18" charset="0"/>
                        </a:rPr>
                        <a:t>đã</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thực</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hiện</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kiểm</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tra</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tại</a:t>
                      </a:r>
                      <a:r>
                        <a:rPr lang="en-US" sz="1400" b="1" dirty="0">
                          <a:solidFill>
                            <a:schemeClr val="tx1"/>
                          </a:solidFill>
                          <a:latin typeface="Times New Roman" panose="02020603050405020304" pitchFamily="18" charset="0"/>
                          <a:cs typeface="Times New Roman" panose="02020603050405020304" pitchFamily="18" charset="0"/>
                        </a:rPr>
                        <a:t> LAB =&gt; Thales </a:t>
                      </a:r>
                      <a:r>
                        <a:rPr lang="en-US" sz="1400" b="1" dirty="0" err="1">
                          <a:solidFill>
                            <a:schemeClr val="tx1"/>
                          </a:solidFill>
                          <a:latin typeface="Times New Roman" panose="02020603050405020304" pitchFamily="18" charset="0"/>
                          <a:cs typeface="Times New Roman" panose="02020603050405020304" pitchFamily="18" charset="0"/>
                        </a:rPr>
                        <a:t>thông</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báo</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ngày</a:t>
                      </a:r>
                      <a:r>
                        <a:rPr lang="en-US" sz="1400" b="1" dirty="0">
                          <a:solidFill>
                            <a:schemeClr val="tx1"/>
                          </a:solidFill>
                          <a:latin typeface="Times New Roman" panose="02020603050405020304" pitchFamily="18" charset="0"/>
                          <a:cs typeface="Times New Roman" panose="02020603050405020304" pitchFamily="18" charset="0"/>
                        </a:rPr>
                        <a:t> 14/3 SW delay </a:t>
                      </a:r>
                      <a:r>
                        <a:rPr lang="en-US" sz="1400" b="1" dirty="0" err="1">
                          <a:solidFill>
                            <a:schemeClr val="tx1"/>
                          </a:solidFill>
                          <a:latin typeface="Times New Roman" panose="02020603050405020304" pitchFamily="18" charset="0"/>
                          <a:cs typeface="Times New Roman" panose="02020603050405020304" pitchFamily="18" charset="0"/>
                        </a:rPr>
                        <a:t>giữa</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tháng</a:t>
                      </a:r>
                      <a:r>
                        <a:rPr lang="en-US" sz="1400" b="1" dirty="0">
                          <a:solidFill>
                            <a:schemeClr val="tx1"/>
                          </a:solidFill>
                          <a:latin typeface="Times New Roman" panose="02020603050405020304" pitchFamily="18" charset="0"/>
                          <a:cs typeface="Times New Roman" panose="02020603050405020304" pitchFamily="18" charset="0"/>
                        </a:rPr>
                        <a:t> 4/2025 (</a:t>
                      </a:r>
                      <a:r>
                        <a:rPr lang="en-US" sz="1400" b="1" dirty="0" err="1">
                          <a:solidFill>
                            <a:schemeClr val="tx1"/>
                          </a:solidFill>
                          <a:latin typeface="Times New Roman" panose="02020603050405020304" pitchFamily="18" charset="0"/>
                          <a:cs typeface="Times New Roman" panose="02020603050405020304" pitchFamily="18" charset="0"/>
                        </a:rPr>
                        <a:t>phát</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sinh</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khắc</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phục</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lỗi</a:t>
                      </a:r>
                      <a:r>
                        <a:rPr lang="en-US" sz="1400" b="1" dirty="0">
                          <a:solidFill>
                            <a:schemeClr val="tx1"/>
                          </a:solidFill>
                          <a:latin typeface="Times New Roman" panose="02020603050405020304" pitchFamily="18" charset="0"/>
                          <a:cs typeface="Times New Roman" panose="02020603050405020304" pitchFamily="18" charset="0"/>
                        </a:rPr>
                        <a:t> IFE)</a:t>
                      </a:r>
                    </a:p>
                    <a:p>
                      <a:pPr marL="288925" lvl="1" indent="-288925">
                        <a:lnSpc>
                          <a:spcPct val="130000"/>
                        </a:lnSpc>
                        <a:buFontTx/>
                        <a:buChar char="-"/>
                        <a:tabLst>
                          <a:tab pos="396875" algn="l"/>
                        </a:tabLst>
                      </a:pPr>
                      <a:r>
                        <a:rPr lang="en-US" sz="1400" b="1" dirty="0" err="1">
                          <a:solidFill>
                            <a:schemeClr val="tx1"/>
                          </a:solidFill>
                          <a:latin typeface="Times New Roman" panose="02020603050405020304" pitchFamily="18" charset="0"/>
                          <a:cs typeface="Times New Roman" panose="02020603050405020304" pitchFamily="18" charset="0"/>
                        </a:rPr>
                        <a:t>Nâng</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cấp</a:t>
                      </a:r>
                      <a:r>
                        <a:rPr lang="en-US" sz="1400" b="1" dirty="0">
                          <a:solidFill>
                            <a:schemeClr val="tx1"/>
                          </a:solidFill>
                          <a:latin typeface="Times New Roman" panose="02020603050405020304" pitchFamily="18" charset="0"/>
                          <a:cs typeface="Times New Roman" panose="02020603050405020304" pitchFamily="18" charset="0"/>
                        </a:rPr>
                        <a:t> SW on-wing 02 </a:t>
                      </a:r>
                      <a:r>
                        <a:rPr lang="en-US" sz="1400" b="1" dirty="0" err="1">
                          <a:solidFill>
                            <a:schemeClr val="tx1"/>
                          </a:solidFill>
                          <a:latin typeface="Times New Roman" panose="02020603050405020304" pitchFamily="18" charset="0"/>
                          <a:cs typeface="Times New Roman" panose="02020603050405020304" pitchFamily="18" charset="0"/>
                        </a:rPr>
                        <a:t>tàu</a:t>
                      </a:r>
                      <a:r>
                        <a:rPr lang="en-US" sz="1400" b="1" dirty="0">
                          <a:solidFill>
                            <a:schemeClr val="tx1"/>
                          </a:solidFill>
                          <a:latin typeface="Times New Roman" panose="02020603050405020304" pitchFamily="18" charset="0"/>
                          <a:cs typeface="Times New Roman" panose="02020603050405020304" pitchFamily="18" charset="0"/>
                        </a:rPr>
                        <a:t>: A892 &amp; A899 </a:t>
                      </a:r>
                      <a:r>
                        <a:rPr lang="en-US" sz="1400" b="1" dirty="0" err="1">
                          <a:solidFill>
                            <a:schemeClr val="tx1"/>
                          </a:solidFill>
                          <a:latin typeface="Times New Roman" panose="02020603050405020304" pitchFamily="18" charset="0"/>
                          <a:cs typeface="Times New Roman" panose="02020603050405020304" pitchFamily="18" charset="0"/>
                        </a:rPr>
                        <a:t>ngày</a:t>
                      </a:r>
                      <a:r>
                        <a:rPr lang="en-US" sz="1400" b="1" dirty="0">
                          <a:solidFill>
                            <a:schemeClr val="tx1"/>
                          </a:solidFill>
                          <a:latin typeface="Times New Roman" panose="02020603050405020304" pitchFamily="18" charset="0"/>
                          <a:cs typeface="Times New Roman" panose="02020603050405020304" pitchFamily="18" charset="0"/>
                        </a:rPr>
                        <a:t> 7-11/4/2025</a:t>
                      </a:r>
                      <a:endParaRPr lang="en-US" sz="14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4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107005"/>
                  </a:ext>
                </a:extLst>
              </a:tr>
              <a:tr h="507751">
                <a:tc>
                  <a:txBody>
                    <a:bodyPr/>
                    <a:lstStyle/>
                    <a:p>
                      <a:pPr algn="ctr" fontAlgn="b"/>
                      <a:r>
                        <a:rPr lang="en-US" sz="1400" b="0" i="0" u="none" strike="noStrike" dirty="0" smtClean="0">
                          <a:solidFill>
                            <a:schemeClr val="tx1"/>
                          </a:solidFill>
                          <a:effectLst/>
                          <a:latin typeface="Times New Roman" panose="02020603050405020304" pitchFamily="18" charset="0"/>
                          <a:cs typeface="Times New Roman" panose="02020603050405020304" pitchFamily="18" charset="0"/>
                        </a:rPr>
                        <a:t>6</a:t>
                      </a:r>
                      <a:endParaRPr lang="en-US" sz="14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CĐCH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ghế</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23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A321CEO</a:t>
                      </a:r>
                      <a:endParaRPr lang="vi-VN"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8925" marR="0" lvl="1" indent="-288925" algn="l" defTabSz="914400" rtl="0" eaLnBrk="1" fontAlgn="auto" latinLnBrk="0" hangingPunct="1">
                        <a:lnSpc>
                          <a:spcPct val="130000"/>
                        </a:lnSpc>
                        <a:spcBef>
                          <a:spcPts val="0"/>
                        </a:spcBef>
                        <a:spcAft>
                          <a:spcPts val="0"/>
                        </a:spcAft>
                        <a:buClrTx/>
                        <a:buSzTx/>
                        <a:buFontTx/>
                        <a:buChar char="-"/>
                        <a:tabLst/>
                        <a:defRPr/>
                      </a:pP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phát</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HSYC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lần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lần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nhận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bản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chào</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lần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a:t>
                      </a:r>
                    </a:p>
                    <a:p>
                      <a:pPr marL="288925" marR="0" lvl="1" indent="-288925" algn="l" defTabSz="914400" rtl="0" eaLnBrk="1" fontAlgn="auto" latinLnBrk="0" hangingPunct="1">
                        <a:lnSpc>
                          <a:spcPct val="130000"/>
                        </a:lnSpc>
                        <a:spcBef>
                          <a:spcPts val="0"/>
                        </a:spcBef>
                        <a:spcAft>
                          <a:spcPts val="0"/>
                        </a:spcAft>
                        <a:buClrTx/>
                        <a:buSzTx/>
                        <a:buFontTx/>
                        <a:buChar char="-"/>
                        <a:tabLst/>
                        <a:defRPr/>
                      </a:pP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Tổ</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hoàn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thành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đánh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giá</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bản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chào</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lần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 =&gt;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tổ</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trình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kết</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quả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lựa</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chọn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NCC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ghế</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SB</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4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9920082"/>
                  </a:ext>
                </a:extLst>
              </a:tr>
              <a:tr h="507751">
                <a:tc>
                  <a:txBody>
                    <a:bodyPr/>
                    <a:lstStyle/>
                    <a:p>
                      <a:pPr algn="ctr" fontAlgn="b"/>
                      <a:r>
                        <a:rPr lang="en-US" sz="1300" b="0" i="0" u="none" strike="noStrike" dirty="0" smtClean="0">
                          <a:solidFill>
                            <a:schemeClr val="tx1"/>
                          </a:solidFill>
                          <a:effectLst/>
                          <a:latin typeface="Times New Roman" panose="02020603050405020304" pitchFamily="18" charset="0"/>
                          <a:cs typeface="Times New Roman" panose="02020603050405020304" pitchFamily="18" charset="0"/>
                        </a:rPr>
                        <a:t>7</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eTechlog</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33363" marR="0" lvl="0" indent="-173038"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11-Mar: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phê</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duyệt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KQLCNCC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AMOSeTL</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của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SwissAS</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Đang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ký</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hợp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đồng</a:t>
                      </a:r>
                      <a:endPar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0325" marR="0" lvl="0" indent="0" algn="l" defTabSz="914400" rtl="0" eaLnBrk="1" fontAlgn="b" latinLnBrk="0" hangingPunct="1">
                        <a:lnSpc>
                          <a:spcPct val="100000"/>
                        </a:lnSpc>
                        <a:spcBef>
                          <a:spcPts val="0"/>
                        </a:spcBef>
                        <a:spcAft>
                          <a:spcPts val="0"/>
                        </a:spcAft>
                        <a:buClrTx/>
                        <a:buSzTx/>
                        <a:buFontTx/>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Kiện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toàn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Tổ</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triển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khai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nghị</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CAAV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triển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khai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phase 1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trong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quy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trình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5 phase</a:t>
                      </a: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7322611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19</a:t>
            </a:fld>
            <a:endParaRPr>
              <a:latin typeface="Times New Roman" panose="02020603050405020304" pitchFamily="18" charset="0"/>
              <a:cs typeface="Times New Roman" panose="02020603050405020304" pitchFamily="18" charset="0"/>
            </a:endParaRPr>
          </a:p>
        </p:txBody>
      </p:sp>
      <p:sp>
        <p:nvSpPr>
          <p:cNvPr id="8" name="Title 2">
            <a:extLst>
              <a:ext uri="{FF2B5EF4-FFF2-40B4-BE49-F238E27FC236}">
                <a16:creationId xmlns:a16="http://schemas.microsoft.com/office/drawing/2014/main" id="{A54B3B80-6D5D-62F3-88B2-C803136634FB}"/>
              </a:ext>
            </a:extLst>
          </p:cNvPr>
          <p:cNvSpPr>
            <a:spLocks noGrp="1"/>
          </p:cNvSpPr>
          <p:nvPr>
            <p:ph type="title"/>
          </p:nvPr>
        </p:nvSpPr>
        <p:spPr>
          <a:xfrm>
            <a:off x="0" y="0"/>
            <a:ext cx="9312664" cy="508000"/>
          </a:xfrm>
        </p:spPr>
        <p:txBody>
          <a:bodyPr>
            <a:normAutofit fontScale="90000"/>
          </a:bodyPr>
          <a:lstStyle/>
          <a:p>
            <a:pPr eaLnBrk="1" hangingPunct="1"/>
            <a:r>
              <a:rPr lang="en-US" altLang="en-US" sz="3200" dirty="0">
                <a:solidFill>
                  <a:srgbClr val="FFC000"/>
                </a:solidFill>
                <a:latin typeface="Times New Roman" panose="02020603050405020304" pitchFamily="18" charset="0"/>
                <a:cs typeface="Times New Roman" panose="02020603050405020304" pitchFamily="18" charset="0"/>
              </a:rPr>
              <a:t>CÁC CÔNG VIỆC </a:t>
            </a:r>
            <a:r>
              <a:rPr lang="en-US" altLang="en-US" sz="3600" dirty="0">
                <a:solidFill>
                  <a:srgbClr val="FFC000"/>
                </a:solidFill>
                <a:latin typeface="Times New Roman" panose="02020603050405020304" pitchFamily="18" charset="0"/>
                <a:cs typeface="Times New Roman" panose="02020603050405020304" pitchFamily="18" charset="0"/>
              </a:rPr>
              <a:t>TRỌNG</a:t>
            </a:r>
            <a:r>
              <a:rPr lang="en-US" altLang="en-US" sz="3200" dirty="0">
                <a:solidFill>
                  <a:srgbClr val="FFC000"/>
                </a:solidFill>
                <a:latin typeface="Times New Roman" panose="02020603050405020304" pitchFamily="18" charset="0"/>
                <a:cs typeface="Times New Roman" panose="02020603050405020304" pitchFamily="18" charset="0"/>
              </a:rPr>
              <a:t> ĐIỂM TRONG TUẦN</a:t>
            </a: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extLst>
              <p:ext uri="{D42A27DB-BD31-4B8C-83A1-F6EECF244321}">
                <p14:modId xmlns:p14="http://schemas.microsoft.com/office/powerpoint/2010/main" val="1402182"/>
              </p:ext>
            </p:extLst>
          </p:nvPr>
        </p:nvGraphicFramePr>
        <p:xfrm>
          <a:off x="156783" y="508000"/>
          <a:ext cx="11878434" cy="6181494"/>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val="2758273930"/>
                    </a:ext>
                  </a:extLst>
                </a:gridCol>
                <a:gridCol w="1182943">
                  <a:extLst>
                    <a:ext uri="{9D8B030D-6E8A-4147-A177-3AD203B41FA5}">
                      <a16:colId xmlns:a16="http://schemas.microsoft.com/office/drawing/2014/main" val="221963637"/>
                    </a:ext>
                  </a:extLst>
                </a:gridCol>
                <a:gridCol w="8899599">
                  <a:extLst>
                    <a:ext uri="{9D8B030D-6E8A-4147-A177-3AD203B41FA5}">
                      <a16:colId xmlns:a16="http://schemas.microsoft.com/office/drawing/2014/main" val="426833219"/>
                    </a:ext>
                  </a:extLst>
                </a:gridCol>
                <a:gridCol w="1373165">
                  <a:extLst>
                    <a:ext uri="{9D8B030D-6E8A-4147-A177-3AD203B41FA5}">
                      <a16:colId xmlns:a16="http://schemas.microsoft.com/office/drawing/2014/main" val="3649942957"/>
                    </a:ext>
                  </a:extLst>
                </a:gridCol>
              </a:tblGrid>
              <a:tr h="444099">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2145438">
                <a:tc>
                  <a:txBody>
                    <a:bodyPr/>
                    <a:lstStyle/>
                    <a:p>
                      <a:pPr algn="ctr" fontAlgn="b"/>
                      <a:r>
                        <a:rPr lang="en-US" sz="1300" b="0" i="0" u="none" strike="noStrike" dirty="0" smtClean="0">
                          <a:solidFill>
                            <a:schemeClr val="tx1"/>
                          </a:solidFill>
                          <a:effectLst/>
                          <a:latin typeface="Times New Roman" panose="02020603050405020304" pitchFamily="18" charset="0"/>
                          <a:cs typeface="Times New Roman" panose="02020603050405020304" pitchFamily="18" charset="0"/>
                        </a:rPr>
                        <a:t>8</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300" b="0" dirty="0" smtClean="0">
                          <a:ln w="0"/>
                          <a:solidFill>
                            <a:schemeClr val="tx1"/>
                          </a:solidFill>
                          <a:latin typeface="Times New Roman" panose="02020603050405020304" pitchFamily="18" charset="0"/>
                          <a:cs typeface="Times New Roman" panose="02020603050405020304" pitchFamily="18" charset="0"/>
                        </a:rPr>
                        <a:t>CÔNG TÁC BÁN TRẢ/ TIẾP NHẬN/BÀN GIAO TÀU BAY</a:t>
                      </a:r>
                      <a:endParaRPr lang="en-US" sz="1300" b="0" dirty="0" smtClean="0">
                        <a:solidFill>
                          <a:schemeClr val="tx1"/>
                        </a:solidFill>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50000"/>
                        </a:lnSpc>
                      </a:pPr>
                      <a:r>
                        <a:rPr lang="vi-VN" sz="1300" dirty="0" smtClean="0">
                          <a:latin typeface="Times New Roman" panose="02020603050405020304" pitchFamily="18" charset="0"/>
                          <a:cs typeface="Times New Roman" panose="02020603050405020304" pitchFamily="18" charset="0"/>
                        </a:rPr>
                        <a:t>VNA và VALC đã đồng ý gia hạn tạm thời 10 tàu thuê đến hết 31/03/2025. Hiện có 02 đối tác quan tâm tới mua và cho thuê lại tàu bay là Arena và FTAI. Thủ tục bán tàu của VALC chậm nên khả năng cần gia hạn hợp đồng thuê tiếp 3 tháng đến 30/06/2025.</a:t>
                      </a:r>
                    </a:p>
                    <a:p>
                      <a:pPr algn="just">
                        <a:lnSpc>
                          <a:spcPct val="150000"/>
                        </a:lnSpc>
                      </a:pPr>
                      <a:r>
                        <a:rPr lang="vi-VN" sz="1300" dirty="0" smtClean="0">
                          <a:latin typeface="Times New Roman" panose="02020603050405020304" pitchFamily="18" charset="0"/>
                          <a:cs typeface="Times New Roman" panose="02020603050405020304" pitchFamily="18" charset="0"/>
                        </a:rPr>
                        <a:t>1,  Arena: Bản chào gia hạn thuê 10 tàu A321 với thời gian trung bình 5 năm, hiện đang trong quá trình đàm phán gia hạn. Cơ bản đã đàm phán thống nhất các nội dung liên quan tới KT</a:t>
                      </a:r>
                    </a:p>
                    <a:p>
                      <a:pPr algn="just">
                        <a:lnSpc>
                          <a:spcPct val="150000"/>
                        </a:lnSpc>
                      </a:pPr>
                      <a:r>
                        <a:rPr lang="vi-VN" sz="1300" dirty="0" smtClean="0">
                          <a:latin typeface="Times New Roman" panose="02020603050405020304" pitchFamily="18" charset="0"/>
                          <a:cs typeface="Times New Roman" panose="02020603050405020304" pitchFamily="18" charset="0"/>
                        </a:rPr>
                        <a:t>Các vấn đề lớn / cơ bản Arena đang đề xuất:</a:t>
                      </a:r>
                    </a:p>
                    <a:p>
                      <a:pPr algn="just">
                        <a:lnSpc>
                          <a:spcPct val="150000"/>
                        </a:lnSpc>
                      </a:pPr>
                      <a:r>
                        <a:rPr lang="vi-VN" sz="1300" dirty="0" smtClean="0">
                          <a:latin typeface="Times New Roman" panose="02020603050405020304" pitchFamily="18" charset="0"/>
                          <a:cs typeface="Times New Roman" panose="02020603050405020304" pitchFamily="18" charset="0"/>
                        </a:rPr>
                        <a:t>a.  10 tàu bay cần được duy trì khả năng khai thác sau khi hết hợp đồng gia hạn với Arena.</a:t>
                      </a:r>
                    </a:p>
                    <a:p>
                      <a:pPr algn="just">
                        <a:lnSpc>
                          <a:spcPct val="150000"/>
                        </a:lnSpc>
                      </a:pPr>
                      <a:r>
                        <a:rPr lang="vi-VN" sz="1300" dirty="0" smtClean="0">
                          <a:latin typeface="Times New Roman" panose="02020603050405020304" pitchFamily="18" charset="0"/>
                          <a:cs typeface="Times New Roman" panose="02020603050405020304" pitchFamily="18" charset="0"/>
                        </a:rPr>
                        <a:t>b.  Thực hiện balancing quỹ bảo dưỡng sau khi kết thúc gia hạn thuê.</a:t>
                      </a:r>
                    </a:p>
                    <a:p>
                      <a:pPr algn="just">
                        <a:lnSpc>
                          <a:spcPct val="150000"/>
                        </a:lnSpc>
                      </a:pPr>
                      <a:r>
                        <a:rPr lang="vi-VN" sz="1300" dirty="0" smtClean="0">
                          <a:latin typeface="Times New Roman" panose="02020603050405020304" pitchFamily="18" charset="0"/>
                          <a:cs typeface="Times New Roman" panose="02020603050405020304" pitchFamily="18" charset="0"/>
                        </a:rPr>
                        <a:t>c.  Đồng ý giảm MR và đề xuất phương án buy-out cho một số điều kiện trả.</a:t>
                      </a:r>
                    </a:p>
                    <a:p>
                      <a:pPr algn="just">
                        <a:lnSpc>
                          <a:spcPct val="150000"/>
                        </a:lnSpc>
                      </a:pPr>
                      <a:r>
                        <a:rPr lang="vi-VN" sz="1300" dirty="0" smtClean="0">
                          <a:latin typeface="Times New Roman" panose="02020603050405020304" pitchFamily="18" charset="0"/>
                          <a:cs typeface="Times New Roman" panose="02020603050405020304" pitchFamily="18" charset="0"/>
                        </a:rPr>
                        <a:t>2,  FTAI: Bản chào thuê 10 tàu A321 với điều kiện trả là As-is, có đảm bảo hỗ trợ động cơ khai thác đến hết run-out. Không phải thực hiện đóng quỹ ngoại trừ động cơ. Bản chào có nhiều thuận lợi cho VNA trong quá trình khai thác và trả tàu bay. </a:t>
                      </a:r>
                    </a:p>
                    <a:p>
                      <a:pPr algn="just">
                        <a:lnSpc>
                          <a:spcPct val="150000"/>
                        </a:lnSpc>
                      </a:pPr>
                      <a:r>
                        <a:rPr lang="vi-VN" sz="1300" dirty="0" smtClean="0">
                          <a:latin typeface="Times New Roman" panose="02020603050405020304" pitchFamily="18" charset="0"/>
                          <a:cs typeface="Times New Roman" panose="02020603050405020304" pitchFamily="18" charset="0"/>
                        </a:rPr>
                        <a:t>Đã có 2 đối tác thực hiện kiểm tra tàu bay và tài liệu phục vụ công tác bán tàu của VALC là Arena và XAero. Các đối tác này đã kiểm tra xong tàu bay và tài liệu (kiểm tra 05 tàu bay VN-A397(VAECO-HCM) và VN-A338/A392/A395/A604(VAECO-HAN)). </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52064478"/>
                  </a:ext>
                </a:extLst>
              </a:tr>
              <a:tr h="2145438">
                <a:tc>
                  <a:txBody>
                    <a:bodyPr/>
                    <a:lstStyle/>
                    <a:p>
                      <a:pPr algn="ctr" fontAlgn="b"/>
                      <a:r>
                        <a:rPr lang="en-US" sz="1300" b="0" i="0" u="none" strike="noStrike" dirty="0" smtClean="0">
                          <a:solidFill>
                            <a:schemeClr val="tx1"/>
                          </a:solidFill>
                          <a:effectLst/>
                          <a:latin typeface="Times New Roman" panose="02020603050405020304" pitchFamily="18" charset="0"/>
                          <a:cs typeface="Times New Roman" panose="02020603050405020304" pitchFamily="18" charset="0"/>
                        </a:rPr>
                        <a:t>9</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0325" indent="0" algn="l" fontAlgn="ct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Nâng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MTOW A350/B787</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33363" marR="0" lvl="0" indent="-173038"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họp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nhiều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Boeing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Airbus.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chờ</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OCC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nhận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payload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tăng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đ</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ợc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theo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KHPT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tính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toán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quả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0325" marR="0" lvl="0" indent="0" algn="l" defTabSz="914400" rtl="0" eaLnBrk="1" fontAlgn="b" latinLnBrk="0" hangingPunct="1">
                        <a:lnSpc>
                          <a:spcPct val="100000"/>
                        </a:lnSpc>
                        <a:spcBef>
                          <a:spcPts val="0"/>
                        </a:spcBef>
                        <a:spcAft>
                          <a:spcPts val="0"/>
                        </a:spcAft>
                        <a:buClrTx/>
                        <a:buSzTx/>
                        <a:buFontTx/>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A350 (2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tàu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cuối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thuộc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standard 2018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A898, A899):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đánh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khó</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thực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bay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Mỹ</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nay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phải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nạp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full tank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dầu</a:t>
                      </a:r>
                      <a:endPar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5109016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FCDADE51-C6B9-5C4B-8E7E-2C9068925992}"/>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247D3536-C804-0133-4A2E-A846C5CD8D46}"/>
              </a:ext>
            </a:extLst>
          </p:cNvPr>
          <p:cNvSpPr>
            <a:spLocks noGrp="1"/>
          </p:cNvSpPr>
          <p:nvPr>
            <p:ph type="title"/>
          </p:nvPr>
        </p:nvSpPr>
        <p:spPr>
          <a:xfrm>
            <a:off x="771524" y="2977615"/>
            <a:ext cx="10648952" cy="627834"/>
          </a:xfrm>
          <a:noFill/>
        </p:spPr>
        <p:txBody>
          <a:bodyPr wrap="square" rtlCol="0">
            <a:spAutoFit/>
          </a:bodyPr>
          <a:lstStyle/>
          <a:p>
            <a:pPr algn="ctr"/>
            <a:r>
              <a:rPr lang="vi-VN" sz="3200" dirty="0">
                <a:ln w="0"/>
                <a:solidFill>
                  <a:srgbClr val="0070C0"/>
                </a:solidFill>
                <a:latin typeface="Times New Roman" panose="02020603050405020304" pitchFamily="18" charset="0"/>
                <a:ea typeface="+mn-ea"/>
                <a:cs typeface="Times New Roman" panose="02020603050405020304" pitchFamily="18" charset="0"/>
              </a:rPr>
              <a:t>KHẢ NĂNG CUNG ỨNG ĐỘNG CƠ</a:t>
            </a:r>
            <a:r>
              <a:rPr lang="en-US" sz="3200" dirty="0">
                <a:ln w="0"/>
                <a:solidFill>
                  <a:srgbClr val="0070C0"/>
                </a:solidFill>
                <a:latin typeface="Times New Roman" panose="02020603050405020304" pitchFamily="18" charset="0"/>
                <a:ea typeface="+mn-ea"/>
                <a:cs typeface="Times New Roman" panose="02020603050405020304" pitchFamily="18" charset="0"/>
              </a:rPr>
              <a:t>/APU</a:t>
            </a:r>
          </a:p>
        </p:txBody>
      </p:sp>
    </p:spTree>
    <p:extLst>
      <p:ext uri="{BB962C8B-B14F-4D97-AF65-F5344CB8AC3E}">
        <p14:creationId xmlns:p14="http://schemas.microsoft.com/office/powerpoint/2010/main" val="16273379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FCDADE51-C6B9-5C4B-8E7E-2C906892599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09F39F1-CDB6-3B62-4B32-ACAA9A730526}"/>
              </a:ext>
            </a:extLst>
          </p:cNvPr>
          <p:cNvSpPr txBox="1">
            <a:spLocks/>
          </p:cNvSpPr>
          <p:nvPr/>
        </p:nvSpPr>
        <p:spPr>
          <a:xfrm>
            <a:off x="381000" y="152400"/>
            <a:ext cx="9132732" cy="458687"/>
          </a:xfrm>
          <a:prstGeom prst="rect">
            <a:avLst/>
          </a:prstGeom>
        </p:spPr>
        <p:txBody>
          <a:bodyPr vert="horz" lIns="91440" tIns="45720" rIns="91440" bIns="45720" rtlCol="0" anchor="ctr">
            <a:noAutofit/>
          </a:bodyPr>
          <a:lstStyle>
            <a:defPPr>
              <a:defRPr lang="en-US"/>
            </a:defPPr>
            <a:lvl1pPr>
              <a:lnSpc>
                <a:spcPct val="90000"/>
              </a:lnSpc>
              <a:spcBef>
                <a:spcPct val="0"/>
              </a:spcBef>
              <a:buNone/>
              <a:defRPr sz="2800" b="1">
                <a:solidFill>
                  <a:srgbClr val="D2A43B"/>
                </a:solidFill>
                <a:latin typeface="Times New Roman" panose="02020603050405020304" pitchFamily="18" charset="0"/>
                <a:ea typeface="Tahoma" pitchFamily="34" charset="0"/>
                <a:cs typeface="Times New Roman" panose="02020603050405020304" pitchFamily="18" charset="0"/>
              </a:defRPr>
            </a:lvl1pPr>
          </a:lstStyle>
          <a:p>
            <a:pPr defTabSz="914377">
              <a:defRPr/>
            </a:pPr>
            <a:r>
              <a:rPr lang="en-US" dirty="0"/>
              <a:t>NHU CẦU ĐỘNG CƠ DỰ PHÒNG Q1-Q2/2025</a:t>
            </a:r>
            <a:endParaRPr lang="vi-VN" dirty="0"/>
          </a:p>
        </p:txBody>
      </p:sp>
      <p:graphicFrame>
        <p:nvGraphicFramePr>
          <p:cNvPr id="5" name="Chart 4">
            <a:extLst>
              <a:ext uri="{FF2B5EF4-FFF2-40B4-BE49-F238E27FC236}">
                <a16:creationId xmlns:a16="http://schemas.microsoft.com/office/drawing/2014/main" id="{211010DD-A36B-7A4B-2FF6-01A604A6123F}"/>
              </a:ext>
            </a:extLst>
          </p:cNvPr>
          <p:cNvGraphicFramePr>
            <a:graphicFrameLocks/>
          </p:cNvGraphicFramePr>
          <p:nvPr/>
        </p:nvGraphicFramePr>
        <p:xfrm>
          <a:off x="495300" y="801732"/>
          <a:ext cx="11236328" cy="4607249"/>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a:extLst>
              <a:ext uri="{FF2B5EF4-FFF2-40B4-BE49-F238E27FC236}">
                <a16:creationId xmlns:a16="http://schemas.microsoft.com/office/drawing/2014/main" id="{4DD2277F-2B8A-7B9C-24AD-6310EB414239}"/>
              </a:ext>
            </a:extLst>
          </p:cNvPr>
          <p:cNvSpPr txBox="1"/>
          <p:nvPr/>
        </p:nvSpPr>
        <p:spPr>
          <a:xfrm>
            <a:off x="477836" y="5458746"/>
            <a:ext cx="11236328" cy="1323054"/>
          </a:xfrm>
          <a:prstGeom prst="rect">
            <a:avLst/>
          </a:prstGeom>
          <a:noFill/>
          <a:ln>
            <a:solidFill>
              <a:schemeClr val="accent1"/>
            </a:solidFill>
          </a:ln>
        </p:spPr>
        <p:txBody>
          <a:bodyPr wrap="square" rtlCol="0">
            <a:spAutoFit/>
          </a:bodyPr>
          <a:lstStyle/>
          <a:p>
            <a:pPr defTabSz="914377">
              <a:defRPr/>
            </a:pPr>
            <a:r>
              <a:rPr lang="en-US" sz="1333" b="1" dirty="0">
                <a:solidFill>
                  <a:prstClr val="black"/>
                </a:solidFill>
                <a:latin typeface="Times New Roman" panose="02020603050405020304" pitchFamily="18" charset="0"/>
                <a:cs typeface="Times New Roman" panose="02020603050405020304" pitchFamily="18" charset="0"/>
              </a:rPr>
              <a:t>*A321CEO: </a:t>
            </a:r>
            <a:r>
              <a:rPr lang="en-US" sz="1333" dirty="0" err="1">
                <a:solidFill>
                  <a:prstClr val="black"/>
                </a:solidFill>
                <a:latin typeface="Times New Roman" panose="02020603050405020304" pitchFamily="18" charset="0"/>
                <a:cs typeface="Times New Roman" panose="02020603050405020304" pitchFamily="18" charset="0"/>
              </a:rPr>
              <a:t>Dự</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kiến</a:t>
            </a:r>
            <a:r>
              <a:rPr lang="en-US" sz="1333" dirty="0">
                <a:solidFill>
                  <a:prstClr val="black"/>
                </a:solidFill>
                <a:latin typeface="Times New Roman" panose="02020603050405020304" pitchFamily="18" charset="0"/>
                <a:cs typeface="Times New Roman" panose="02020603050405020304" pitchFamily="18" charset="0"/>
              </a:rPr>
              <a:t> Q3-Q4/2025 </a:t>
            </a:r>
            <a:r>
              <a:rPr lang="en-US" sz="1333" dirty="0" err="1">
                <a:solidFill>
                  <a:prstClr val="black"/>
                </a:solidFill>
                <a:latin typeface="Times New Roman" panose="02020603050405020304" pitchFamily="18" charset="0"/>
                <a:cs typeface="Times New Roman" panose="02020603050405020304" pitchFamily="18" charset="0"/>
              </a:rPr>
              <a:t>trả</a:t>
            </a:r>
            <a:r>
              <a:rPr lang="en-US" sz="1333" dirty="0">
                <a:solidFill>
                  <a:prstClr val="black"/>
                </a:solidFill>
                <a:latin typeface="Times New Roman" panose="02020603050405020304" pitchFamily="18" charset="0"/>
                <a:cs typeface="Times New Roman" panose="02020603050405020304" pitchFamily="18" charset="0"/>
              </a:rPr>
              <a:t> 3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thuê</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Cần</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duy</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trì</a:t>
            </a:r>
            <a:r>
              <a:rPr lang="en-US" sz="1333" dirty="0">
                <a:solidFill>
                  <a:prstClr val="black"/>
                </a:solidFill>
                <a:latin typeface="Times New Roman" panose="02020603050405020304" pitchFamily="18" charset="0"/>
                <a:cs typeface="Times New Roman" panose="02020603050405020304" pitchFamily="18" charset="0"/>
              </a:rPr>
              <a:t> 9-10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dự</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phòng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trong</a:t>
            </a:r>
            <a:r>
              <a:rPr lang="en-US" sz="1333" dirty="0">
                <a:solidFill>
                  <a:prstClr val="black"/>
                </a:solidFill>
                <a:latin typeface="Times New Roman" panose="02020603050405020304" pitchFamily="18" charset="0"/>
                <a:cs typeface="Times New Roman" panose="02020603050405020304" pitchFamily="18" charset="0"/>
              </a:rPr>
              <a:t> 2026.</a:t>
            </a:r>
          </a:p>
          <a:p>
            <a:pPr defTabSz="914377">
              <a:defRPr/>
            </a:pPr>
            <a:r>
              <a:rPr lang="en-US" sz="1333" b="1" dirty="0">
                <a:solidFill>
                  <a:prstClr val="black"/>
                </a:solidFill>
                <a:latin typeface="Times New Roman" panose="02020603050405020304" pitchFamily="18" charset="0"/>
                <a:cs typeface="Times New Roman" panose="02020603050405020304" pitchFamily="18" charset="0"/>
              </a:rPr>
              <a:t>*A321NEO</a:t>
            </a:r>
            <a:r>
              <a:rPr lang="en-US" sz="1333" dirty="0">
                <a:solidFill>
                  <a:prstClr val="black"/>
                </a:solidFill>
                <a:latin typeface="Times New Roman" panose="02020603050405020304" pitchFamily="18" charset="0"/>
                <a:cs typeface="Times New Roman" panose="02020603050405020304" pitchFamily="18" charset="0"/>
              </a:rPr>
              <a:t>: </a:t>
            </a:r>
            <a:r>
              <a:rPr lang="vi-VN" sz="1333" dirty="0">
                <a:solidFill>
                  <a:prstClr val="black"/>
                </a:solidFill>
                <a:latin typeface="Times New Roman" panose="02020603050405020304" pitchFamily="18" charset="0"/>
                <a:cs typeface="Times New Roman" panose="02020603050405020304" pitchFamily="18" charset="0"/>
              </a:rPr>
              <a:t>Rủi ro động cơ đi shop về muộn (thực tế đã bị shop delay nhiều lần) và rủi ro tháo động cơ </a:t>
            </a:r>
            <a:r>
              <a:rPr lang="vi-VN" sz="1333" dirty="0">
                <a:latin typeface="Times New Roman" panose="02020603050405020304" pitchFamily="18" charset="0"/>
                <a:cs typeface="Times New Roman" panose="02020603050405020304" pitchFamily="18" charset="0"/>
              </a:rPr>
              <a:t>ngoài KH do Vibration, Oil Leak…08 động cơ đang sửa chữa bị delay nhiều lần từ đầu tháng 12, với tổng ~ 366 days, tương ứng ~ 183 AOG days.</a:t>
            </a:r>
            <a:endParaRPr lang="en-US" sz="1333" dirty="0">
              <a:highlight>
                <a:srgbClr val="FFFF00"/>
              </a:highlight>
              <a:latin typeface="Times New Roman" panose="02020603050405020304" pitchFamily="18" charset="0"/>
              <a:cs typeface="Times New Roman" panose="02020603050405020304" pitchFamily="18" charset="0"/>
            </a:endParaRPr>
          </a:p>
          <a:p>
            <a:pPr defTabSz="914377">
              <a:defRPr/>
            </a:pPr>
            <a:r>
              <a:rPr lang="en-US" sz="1333" b="1" dirty="0">
                <a:solidFill>
                  <a:prstClr val="black"/>
                </a:solidFill>
                <a:latin typeface="Times New Roman" panose="02020603050405020304" pitchFamily="18" charset="0"/>
                <a:cs typeface="Times New Roman" panose="02020603050405020304" pitchFamily="18" charset="0"/>
              </a:rPr>
              <a:t>*B787: </a:t>
            </a:r>
            <a:r>
              <a:rPr lang="en-US" sz="1333" dirty="0">
                <a:solidFill>
                  <a:prstClr val="black"/>
                </a:solidFill>
                <a:latin typeface="Times New Roman" panose="02020603050405020304" pitchFamily="18" charset="0"/>
                <a:cs typeface="Times New Roman" panose="02020603050405020304" pitchFamily="18" charset="0"/>
              </a:rPr>
              <a:t>Nhu </a:t>
            </a:r>
            <a:r>
              <a:rPr lang="en-US" sz="1333" dirty="0" err="1">
                <a:solidFill>
                  <a:prstClr val="black"/>
                </a:solidFill>
                <a:latin typeface="Times New Roman" panose="02020603050405020304" pitchFamily="18" charset="0"/>
                <a:cs typeface="Times New Roman" panose="02020603050405020304" pitchFamily="18" charset="0"/>
              </a:rPr>
              <a:t>cầu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dựa</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trên</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kế</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hoạch</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nhận</a:t>
            </a:r>
            <a:r>
              <a:rPr lang="en-US" sz="1333" dirty="0">
                <a:solidFill>
                  <a:prstClr val="black"/>
                </a:solidFill>
                <a:latin typeface="Times New Roman" panose="02020603050405020304" pitchFamily="18" charset="0"/>
                <a:cs typeface="Times New Roman" panose="02020603050405020304" pitchFamily="18" charset="0"/>
              </a:rPr>
              <a:t> 02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thuê</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vào</a:t>
            </a:r>
            <a:r>
              <a:rPr lang="en-US" sz="1333" dirty="0">
                <a:solidFill>
                  <a:prstClr val="black"/>
                </a:solidFill>
                <a:latin typeface="Times New Roman" panose="02020603050405020304" pitchFamily="18" charset="0"/>
                <a:cs typeface="Times New Roman" panose="02020603050405020304" pitchFamily="18" charset="0"/>
              </a:rPr>
              <a:t> T9 </a:t>
            </a:r>
            <a:r>
              <a:rPr lang="en-US" sz="1333" dirty="0" err="1">
                <a:solidFill>
                  <a:prstClr val="black"/>
                </a:solidFill>
                <a:latin typeface="Times New Roman" panose="02020603050405020304" pitchFamily="18" charset="0"/>
                <a:cs typeface="Times New Roman" panose="02020603050405020304" pitchFamily="18" charset="0"/>
              </a:rPr>
              <a:t>và</a:t>
            </a:r>
            <a:r>
              <a:rPr lang="en-US" sz="1333" dirty="0">
                <a:solidFill>
                  <a:prstClr val="black"/>
                </a:solidFill>
                <a:latin typeface="Times New Roman" panose="02020603050405020304" pitchFamily="18" charset="0"/>
                <a:cs typeface="Times New Roman" panose="02020603050405020304" pitchFamily="18" charset="0"/>
              </a:rPr>
              <a:t> T11.</a:t>
            </a:r>
          </a:p>
          <a:p>
            <a:pPr defTabSz="914377">
              <a:defRPr/>
            </a:pPr>
            <a:r>
              <a:rPr lang="en-US" sz="1333" b="1" dirty="0">
                <a:solidFill>
                  <a:prstClr val="black"/>
                </a:solidFill>
                <a:latin typeface="Times New Roman" panose="02020603050405020304" pitchFamily="18" charset="0"/>
                <a:cs typeface="Times New Roman" panose="02020603050405020304" pitchFamily="18" charset="0"/>
              </a:rPr>
              <a:t>*ATR: </a:t>
            </a:r>
            <a:r>
              <a:rPr lang="en-US" sz="1333" dirty="0">
                <a:solidFill>
                  <a:prstClr val="black"/>
                </a:solidFill>
                <a:latin typeface="Times New Roman" panose="02020603050405020304" pitchFamily="18" charset="0"/>
                <a:cs typeface="Times New Roman" panose="02020603050405020304" pitchFamily="18" charset="0"/>
              </a:rPr>
              <a:t>Nhu </a:t>
            </a:r>
            <a:r>
              <a:rPr lang="en-US" sz="1333" dirty="0" err="1">
                <a:solidFill>
                  <a:prstClr val="black"/>
                </a:solidFill>
                <a:latin typeface="Times New Roman" panose="02020603050405020304" pitchFamily="18" charset="0"/>
                <a:cs typeface="Times New Roman" panose="02020603050405020304" pitchFamily="18" charset="0"/>
              </a:rPr>
              <a:t>cầu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này</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đã</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tính</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nhu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cầu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nguồn</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lực</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cho</a:t>
            </a:r>
            <a:r>
              <a:rPr lang="en-US" sz="1333" dirty="0">
                <a:solidFill>
                  <a:prstClr val="black"/>
                </a:solidFill>
                <a:latin typeface="Times New Roman" panose="02020603050405020304" pitchFamily="18" charset="0"/>
                <a:cs typeface="Times New Roman" panose="02020603050405020304" pitchFamily="18" charset="0"/>
              </a:rPr>
              <a:t> 05 </a:t>
            </a:r>
            <a:r>
              <a:rPr lang="en-US" sz="1333" dirty="0" err="1">
                <a:solidFill>
                  <a:prstClr val="black"/>
                </a:solidFill>
                <a:latin typeface="Times New Roman" panose="02020603050405020304" pitchFamily="18" charset="0"/>
                <a:cs typeface="Times New Roman" panose="02020603050405020304" pitchFamily="18" charset="0"/>
              </a:rPr>
              <a:t>tàu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gồm</a:t>
            </a:r>
            <a:r>
              <a:rPr lang="en-US" sz="1333" dirty="0">
                <a:solidFill>
                  <a:prstClr val="black"/>
                </a:solidFill>
                <a:latin typeface="Times New Roman" panose="02020603050405020304" pitchFamily="18" charset="0"/>
                <a:cs typeface="Times New Roman" panose="02020603050405020304" pitchFamily="18" charset="0"/>
              </a:rPr>
              <a:t> B225 RTS </a:t>
            </a:r>
            <a:r>
              <a:rPr lang="en-US" sz="1333" dirty="0" err="1">
                <a:solidFill>
                  <a:prstClr val="black"/>
                </a:solidFill>
                <a:latin typeface="Times New Roman" panose="02020603050405020304" pitchFamily="18" charset="0"/>
                <a:cs typeface="Times New Roman" panose="02020603050405020304" pitchFamily="18" charset="0"/>
              </a:rPr>
              <a:t>từ</a:t>
            </a:r>
            <a:r>
              <a:rPr lang="en-US" sz="1333" dirty="0">
                <a:solidFill>
                  <a:prstClr val="black"/>
                </a:solidFill>
                <a:latin typeface="Times New Roman" panose="02020603050405020304" pitchFamily="18" charset="0"/>
                <a:cs typeface="Times New Roman" panose="02020603050405020304" pitchFamily="18" charset="0"/>
              </a:rPr>
              <a:t> T1/2025).</a:t>
            </a:r>
          </a:p>
          <a:p>
            <a:pPr defTabSz="914377">
              <a:defRPr/>
            </a:pPr>
            <a:r>
              <a:rPr lang="en-US" sz="1333" b="1" dirty="0">
                <a:solidFill>
                  <a:prstClr val="black"/>
                </a:solidFill>
                <a:latin typeface="Times New Roman" panose="02020603050405020304" pitchFamily="18" charset="0"/>
                <a:cs typeface="Times New Roman" panose="02020603050405020304" pitchFamily="18" charset="0"/>
              </a:rPr>
              <a:t>*A350</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Rủi</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ro</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tháo</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c</a:t>
            </a:r>
            <a:r>
              <a:rPr lang="vi-VN" sz="1333" dirty="0">
                <a:solidFill>
                  <a:prstClr val="black"/>
                </a:solidFill>
                <a:latin typeface="Times New Roman" panose="02020603050405020304" pitchFamily="18" charset="0"/>
                <a:cs typeface="Times New Roman" panose="02020603050405020304" pitchFamily="18" charset="0"/>
              </a:rPr>
              <a:t>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ngoài</a:t>
            </a:r>
            <a:r>
              <a:rPr lang="en-US" sz="1333" dirty="0">
                <a:solidFill>
                  <a:prstClr val="black"/>
                </a:solidFill>
                <a:latin typeface="Times New Roman" panose="02020603050405020304" pitchFamily="18" charset="0"/>
                <a:cs typeface="Times New Roman" panose="02020603050405020304" pitchFamily="18" charset="0"/>
              </a:rPr>
              <a:t> KH do High oil consumption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A893), HPT Blade (2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100FC), IPC Blade (3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cần</a:t>
            </a:r>
            <a:r>
              <a:rPr lang="en-US" sz="1333" dirty="0">
                <a:solidFill>
                  <a:prstClr val="black"/>
                </a:solidFill>
                <a:latin typeface="Times New Roman" panose="02020603050405020304" pitchFamily="18" charset="0"/>
                <a:cs typeface="Times New Roman" panose="02020603050405020304" pitchFamily="18" charset="0"/>
              </a:rPr>
              <a:t> soi </a:t>
            </a:r>
            <a:r>
              <a:rPr lang="en-US" sz="1333" dirty="0" err="1">
                <a:solidFill>
                  <a:prstClr val="black"/>
                </a:solidFill>
                <a:latin typeface="Times New Roman" panose="02020603050405020304" pitchFamily="18" charset="0"/>
                <a:cs typeface="Times New Roman" panose="02020603050405020304" pitchFamily="18" charset="0"/>
              </a:rPr>
              <a:t>năm</a:t>
            </a:r>
            <a:r>
              <a:rPr lang="en-US" sz="1333" dirty="0">
                <a:solidFill>
                  <a:prstClr val="black"/>
                </a:solidFill>
                <a:latin typeface="Times New Roman" panose="02020603050405020304" pitchFamily="18" charset="0"/>
                <a:cs typeface="Times New Roman" panose="02020603050405020304" pitchFamily="18" charset="0"/>
              </a:rPr>
              <a:t> 2025)</a:t>
            </a:r>
          </a:p>
        </p:txBody>
      </p:sp>
    </p:spTree>
    <p:extLst>
      <p:ext uri="{BB962C8B-B14F-4D97-AF65-F5344CB8AC3E}">
        <p14:creationId xmlns:p14="http://schemas.microsoft.com/office/powerpoint/2010/main" val="42280997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55B988DA-38D1-571B-6871-9FBC014FB168}"/>
            </a:ext>
          </a:extLst>
        </p:cNvPr>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54CB31C7-4E2E-A024-3D90-6B5B7D962E96}"/>
              </a:ext>
            </a:extLst>
          </p:cNvPr>
          <p:cNvSpPr txBox="1">
            <a:spLocks/>
          </p:cNvSpPr>
          <p:nvPr/>
        </p:nvSpPr>
        <p:spPr>
          <a:xfrm>
            <a:off x="8534400" y="6371168"/>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mn-cs"/>
              </a:rPr>
              <a:pPr>
                <a:buClrTx/>
                <a:buFontTx/>
                <a:buNone/>
                <a:defRPr/>
              </a:pPr>
              <a:t>22</a:t>
            </a:fld>
            <a:endParaRPr lang="en-US" sz="1600" dirty="0">
              <a:solidFill>
                <a:srgbClr val="D2A43B"/>
              </a:solidFill>
              <a:latin typeface="Times New Roman" panose="02020603050405020304" pitchFamily="18" charset="0"/>
              <a:ea typeface="+mn-ea"/>
              <a:cs typeface="+mn-cs"/>
            </a:endParaRPr>
          </a:p>
        </p:txBody>
      </p:sp>
      <p:sp>
        <p:nvSpPr>
          <p:cNvPr id="7" name="TextBox 6">
            <a:extLst>
              <a:ext uri="{FF2B5EF4-FFF2-40B4-BE49-F238E27FC236}">
                <a16:creationId xmlns:a16="http://schemas.microsoft.com/office/drawing/2014/main" id="{ECD7242A-6EC4-6B1A-A438-79B9107F1CD6}"/>
              </a:ext>
            </a:extLst>
          </p:cNvPr>
          <p:cNvSpPr txBox="1"/>
          <p:nvPr/>
        </p:nvSpPr>
        <p:spPr>
          <a:xfrm>
            <a:off x="203197" y="0"/>
            <a:ext cx="15341603"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NHU CẦU ĐỘNG CƠ DỰ PHÒNG CÁC </a:t>
            </a:r>
            <a:r>
              <a:rPr lang="en-US" sz="2667" b="1">
                <a:ln w="0"/>
                <a:solidFill>
                  <a:srgbClr val="FBAC00"/>
                </a:solidFill>
                <a:latin typeface="Times New Roman" panose="02020603050405020304" pitchFamily="18" charset="0"/>
                <a:cs typeface="Times New Roman" panose="02020603050405020304" pitchFamily="18" charset="0"/>
              </a:rPr>
              <a:t>FLEET T3-T/2025</a:t>
            </a:r>
            <a:endParaRPr lang="vi-VN"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8" name="Chart 7">
            <a:extLst>
              <a:ext uri="{FF2B5EF4-FFF2-40B4-BE49-F238E27FC236}">
                <a16:creationId xmlns:a16="http://schemas.microsoft.com/office/drawing/2014/main" id="{3AE6B01F-84E3-881B-E0A6-2DB2CB883A49}"/>
              </a:ext>
            </a:extLst>
          </p:cNvPr>
          <p:cNvGraphicFramePr>
            <a:graphicFrameLocks/>
          </p:cNvGraphicFramePr>
          <p:nvPr/>
        </p:nvGraphicFramePr>
        <p:xfrm>
          <a:off x="190500" y="592815"/>
          <a:ext cx="11811000" cy="4673672"/>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6E40E499-B08B-C67F-623B-F023D733338B}"/>
              </a:ext>
            </a:extLst>
          </p:cNvPr>
          <p:cNvSpPr txBox="1"/>
          <p:nvPr/>
        </p:nvSpPr>
        <p:spPr>
          <a:xfrm>
            <a:off x="190500" y="5266487"/>
            <a:ext cx="11811000" cy="1384995"/>
          </a:xfrm>
          <a:prstGeom prst="rect">
            <a:avLst/>
          </a:prstGeom>
          <a:noFill/>
          <a:ln>
            <a:solidFill>
              <a:schemeClr val="accent1"/>
            </a:solidFill>
          </a:ln>
        </p:spPr>
        <p:txBody>
          <a:bodyPr wrap="square" rtlCol="0">
            <a:spAutoFit/>
          </a:bodyPr>
          <a:lstStyle/>
          <a:p>
            <a:r>
              <a:rPr lang="en-US" sz="1200" b="1" dirty="0">
                <a:latin typeface="Times New Roman" panose="02020603050405020304" pitchFamily="18" charset="0"/>
                <a:cs typeface="Times New Roman" panose="02020603050405020304" pitchFamily="18" charset="0"/>
              </a:rPr>
              <a:t>Action </a:t>
            </a:r>
            <a:r>
              <a:rPr lang="en-US" sz="1200" b="1" dirty="0" err="1">
                <a:latin typeface="Times New Roman" panose="02020603050405020304" pitchFamily="18" charset="0"/>
                <a:cs typeface="Times New Roman" panose="02020603050405020304" pitchFamily="18" charset="0"/>
              </a:rPr>
              <a:t>ngắn</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hạn</a:t>
            </a:r>
            <a:r>
              <a:rPr lang="en-US" sz="1200" b="1" dirty="0">
                <a:latin typeface="Times New Roman" panose="02020603050405020304" pitchFamily="18" charset="0"/>
                <a:cs typeface="Times New Roman" panose="02020603050405020304" pitchFamily="18" charset="0"/>
              </a:rPr>
              <a:t> &amp; </a:t>
            </a:r>
            <a:r>
              <a:rPr lang="en-US" sz="1200" b="1" dirty="0" err="1">
                <a:latin typeface="Times New Roman" panose="02020603050405020304" pitchFamily="18" charset="0"/>
                <a:cs typeface="Times New Roman" panose="02020603050405020304" pitchFamily="18" charset="0"/>
              </a:rPr>
              <a:t>rủi</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ro</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nhận</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diện</a:t>
            </a:r>
            <a:r>
              <a:rPr lang="en-US" sz="1200" dirty="0">
                <a:latin typeface="Times New Roman" panose="02020603050405020304" pitchFamily="18" charset="0"/>
                <a:cs typeface="Times New Roman" panose="02020603050405020304" pitchFamily="18" charset="0"/>
              </a:rPr>
              <a:t>:</a:t>
            </a:r>
          </a:p>
          <a:p>
            <a:pPr defTabSz="914377">
              <a:defRPr/>
            </a:pPr>
            <a:r>
              <a:rPr lang="en-US" sz="1200" dirty="0">
                <a:latin typeface="Times New Roman" panose="02020603050405020304" pitchFamily="18" charset="0"/>
                <a:cs typeface="Times New Roman" panose="02020603050405020304" pitchFamily="18" charset="0"/>
              </a:rPr>
              <a:t>*</a:t>
            </a:r>
            <a:r>
              <a:rPr lang="en-US" sz="1200" b="1" dirty="0">
                <a:latin typeface="Times New Roman" panose="02020603050405020304" pitchFamily="18" charset="0"/>
                <a:cs typeface="Times New Roman" panose="02020603050405020304" pitchFamily="18" charset="0"/>
              </a:rPr>
              <a:t>A321CEO </a:t>
            </a:r>
            <a:r>
              <a:rPr lang="en-US" sz="1200" dirty="0">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Dự</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kiến</a:t>
            </a:r>
            <a:r>
              <a:rPr lang="en-US" sz="1200" dirty="0">
                <a:solidFill>
                  <a:prstClr val="black"/>
                </a:solidFill>
                <a:latin typeface="Times New Roman" panose="02020603050405020304" pitchFamily="18" charset="0"/>
                <a:cs typeface="Times New Roman" panose="02020603050405020304" pitchFamily="18" charset="0"/>
              </a:rPr>
              <a:t> Q3-Q4/2025 </a:t>
            </a:r>
            <a:r>
              <a:rPr lang="en-US" sz="1200" dirty="0" err="1">
                <a:solidFill>
                  <a:prstClr val="black"/>
                </a:solidFill>
                <a:latin typeface="Times New Roman" panose="02020603050405020304" pitchFamily="18" charset="0"/>
                <a:cs typeface="Times New Roman" panose="02020603050405020304" pitchFamily="18" charset="0"/>
              </a:rPr>
              <a:t>trả</a:t>
            </a:r>
            <a:r>
              <a:rPr lang="en-US" sz="1200" dirty="0">
                <a:solidFill>
                  <a:prstClr val="black"/>
                </a:solidFill>
                <a:latin typeface="Times New Roman" panose="02020603050405020304" pitchFamily="18" charset="0"/>
                <a:cs typeface="Times New Roman" panose="02020603050405020304" pitchFamily="18" charset="0"/>
              </a:rPr>
              <a:t> 3 </a:t>
            </a:r>
            <a:r>
              <a:rPr lang="en-US" sz="1200" dirty="0" err="1">
                <a:solidFill>
                  <a:prstClr val="black"/>
                </a:solidFill>
                <a:latin typeface="Times New Roman" panose="02020603050405020304" pitchFamily="18" charset="0"/>
                <a:cs typeface="Times New Roman" panose="02020603050405020304" pitchFamily="18" charset="0"/>
              </a:rPr>
              <a:t>động</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cơ</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thuê</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Cần</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duy</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trì</a:t>
            </a:r>
            <a:r>
              <a:rPr lang="en-US" sz="1200" dirty="0">
                <a:solidFill>
                  <a:prstClr val="black"/>
                </a:solidFill>
                <a:latin typeface="Times New Roman" panose="02020603050405020304" pitchFamily="18" charset="0"/>
                <a:cs typeface="Times New Roman" panose="02020603050405020304" pitchFamily="18" charset="0"/>
              </a:rPr>
              <a:t> 9-10 </a:t>
            </a:r>
            <a:r>
              <a:rPr lang="en-US" sz="1200" dirty="0" err="1">
                <a:solidFill>
                  <a:prstClr val="black"/>
                </a:solidFill>
                <a:latin typeface="Times New Roman" panose="02020603050405020304" pitchFamily="18" charset="0"/>
                <a:cs typeface="Times New Roman" panose="02020603050405020304" pitchFamily="18" charset="0"/>
              </a:rPr>
              <a:t>động</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cơ</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dự</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phòng</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trong</a:t>
            </a:r>
            <a:r>
              <a:rPr lang="en-US" sz="1200" dirty="0">
                <a:solidFill>
                  <a:prstClr val="black"/>
                </a:solidFill>
                <a:latin typeface="Times New Roman" panose="02020603050405020304" pitchFamily="18" charset="0"/>
                <a:cs typeface="Times New Roman" panose="02020603050405020304" pitchFamily="18" charset="0"/>
              </a:rPr>
              <a:t> 2026.</a:t>
            </a:r>
          </a:p>
          <a:p>
            <a:r>
              <a:rPr lang="en-US" sz="1200" dirty="0">
                <a:latin typeface="Times New Roman" panose="02020603050405020304" pitchFamily="18" charset="0"/>
                <a:cs typeface="Times New Roman" panose="02020603050405020304" pitchFamily="18" charset="0"/>
              </a:rPr>
              <a:t>*</a:t>
            </a:r>
            <a:r>
              <a:rPr lang="en-US" sz="1200" b="1" dirty="0">
                <a:latin typeface="Times New Roman" panose="02020603050405020304" pitchFamily="18" charset="0"/>
                <a:cs typeface="Times New Roman" panose="02020603050405020304" pitchFamily="18" charset="0"/>
              </a:rPr>
              <a:t>A321NEO </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Rủi</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đi</a:t>
            </a:r>
            <a:r>
              <a:rPr lang="en-US" sz="1200" dirty="0">
                <a:latin typeface="Times New Roman" panose="02020603050405020304" pitchFamily="18" charset="0"/>
                <a:cs typeface="Times New Roman" panose="02020603050405020304" pitchFamily="18" charset="0"/>
              </a:rPr>
              <a:t> shop </a:t>
            </a:r>
            <a:r>
              <a:rPr lang="en-US" sz="1200" dirty="0" err="1">
                <a:latin typeface="Times New Roman" panose="02020603050405020304" pitchFamily="18" charset="0"/>
                <a:cs typeface="Times New Roman" panose="02020603050405020304" pitchFamily="18" charset="0"/>
              </a:rPr>
              <a:t>về</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muộn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thực</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tế</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đã</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bị</a:t>
            </a:r>
            <a:r>
              <a:rPr lang="en-US" sz="1200" dirty="0">
                <a:latin typeface="Times New Roman" panose="02020603050405020304" pitchFamily="18" charset="0"/>
                <a:cs typeface="Times New Roman" panose="02020603050405020304" pitchFamily="18" charset="0"/>
              </a:rPr>
              <a:t> shop delay </a:t>
            </a:r>
            <a:r>
              <a:rPr lang="en-US" sz="1200" dirty="0" err="1">
                <a:latin typeface="Times New Roman" panose="02020603050405020304" pitchFamily="18" charset="0"/>
                <a:cs typeface="Times New Roman" panose="02020603050405020304" pitchFamily="18" charset="0"/>
              </a:rPr>
              <a:t>nhiều</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lần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và</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rủi</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tháo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ngoài</a:t>
            </a:r>
            <a:r>
              <a:rPr lang="en-US" sz="1200" dirty="0">
                <a:latin typeface="Times New Roman" panose="02020603050405020304" pitchFamily="18" charset="0"/>
                <a:cs typeface="Times New Roman" panose="02020603050405020304" pitchFamily="18" charset="0"/>
              </a:rPr>
              <a:t> KH do Vibration, Oil Leak, HPT </a:t>
            </a:r>
            <a:r>
              <a:rPr lang="en-US" sz="1200" dirty="0" err="1">
                <a:latin typeface="Times New Roman" panose="02020603050405020304" pitchFamily="18" charset="0"/>
                <a:cs typeface="Times New Roman" panose="02020603050405020304" pitchFamily="18" charset="0"/>
              </a:rPr>
              <a:t>Balde</a:t>
            </a:r>
            <a:r>
              <a:rPr lang="en-US" sz="1200" dirty="0">
                <a:latin typeface="Times New Roman" panose="02020603050405020304" pitchFamily="18" charset="0"/>
                <a:cs typeface="Times New Roman" panose="02020603050405020304" pitchFamily="18" charset="0"/>
              </a:rPr>
              <a:t>…</a:t>
            </a:r>
            <a:r>
              <a:rPr lang="vi-VN" sz="1200" dirty="0">
                <a:cs typeface="Times New Roman" panose="02020603050405020304" pitchFamily="18" charset="0"/>
              </a:rPr>
              <a:t>08 động cơ đang sửa chữa bị delay nhiều lần từ đầu tháng 12, với tổng ~ 366 days, tương ứng ~ 183 AOG days</a:t>
            </a:r>
            <a:r>
              <a:rPr lang="vi-VN" sz="1200" dirty="0">
                <a:solidFill>
                  <a:srgbClr val="FF0000"/>
                </a:solidFill>
                <a:cs typeface="Times New Roman" panose="02020603050405020304" pitchFamily="18" charset="0"/>
              </a:rPr>
              <a:t>.</a:t>
            </a:r>
            <a:endParaRPr lang="en-US" sz="1200" dirty="0">
              <a:highlight>
                <a:srgbClr val="FFFF00"/>
              </a:highlight>
              <a:latin typeface="Times New Roman" panose="02020603050405020304" pitchFamily="18" charset="0"/>
              <a:cs typeface="Times New Roman" panose="02020603050405020304" pitchFamily="18" charset="0"/>
            </a:endParaRPr>
          </a:p>
          <a:p>
            <a:pPr marL="0" lvl="1"/>
            <a:r>
              <a:rPr lang="en-US" sz="1200" dirty="0">
                <a:latin typeface="Times New Roman" panose="02020603050405020304" pitchFamily="18" charset="0"/>
                <a:cs typeface="Times New Roman" panose="02020603050405020304" pitchFamily="18" charset="0"/>
              </a:rPr>
              <a:t>*</a:t>
            </a:r>
            <a:r>
              <a:rPr lang="en-US" sz="1200" b="1" dirty="0">
                <a:latin typeface="Times New Roman" panose="02020603050405020304" pitchFamily="18" charset="0"/>
                <a:cs typeface="Times New Roman" panose="02020603050405020304" pitchFamily="18" charset="0"/>
              </a:rPr>
              <a:t>B787 </a:t>
            </a:r>
            <a:r>
              <a:rPr lang="en-US" sz="1200" dirty="0">
                <a:latin typeface="Times New Roman" panose="02020603050405020304" pitchFamily="18" charset="0"/>
                <a:cs typeface="Times New Roman" panose="02020603050405020304" pitchFamily="18" charset="0"/>
              </a:rPr>
              <a:t>: Nhu </a:t>
            </a:r>
            <a:r>
              <a:rPr lang="en-US" sz="1200" dirty="0" err="1">
                <a:latin typeface="Times New Roman" panose="02020603050405020304" pitchFamily="18" charset="0"/>
                <a:cs typeface="Times New Roman" panose="02020603050405020304" pitchFamily="18" charset="0"/>
              </a:rPr>
              <a:t>cầu</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cơ</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cập</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nhật</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sau</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khi</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có</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kế</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hoạch</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nhận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thêm</a:t>
            </a:r>
            <a:r>
              <a:rPr lang="en-US" sz="1200" dirty="0">
                <a:latin typeface="Times New Roman" panose="02020603050405020304" pitchFamily="18" charset="0"/>
                <a:cs typeface="Times New Roman" panose="02020603050405020304" pitchFamily="18" charset="0"/>
              </a:rPr>
              <a:t> 02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cơ</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thuê</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và</a:t>
            </a:r>
            <a:r>
              <a:rPr lang="en-US" sz="1200" dirty="0">
                <a:latin typeface="Times New Roman" panose="02020603050405020304" pitchFamily="18" charset="0"/>
                <a:cs typeface="Times New Roman" panose="02020603050405020304" pitchFamily="18" charset="0"/>
              </a:rPr>
              <a:t> T9 </a:t>
            </a:r>
            <a:r>
              <a:rPr lang="en-US" sz="1200" dirty="0" err="1">
                <a:latin typeface="Times New Roman" panose="02020603050405020304" pitchFamily="18" charset="0"/>
                <a:cs typeface="Times New Roman" panose="02020603050405020304" pitchFamily="18" charset="0"/>
              </a:rPr>
              <a:t>và</a:t>
            </a:r>
            <a:r>
              <a:rPr lang="en-US" sz="1200" dirty="0">
                <a:latin typeface="Times New Roman" panose="02020603050405020304" pitchFamily="18" charset="0"/>
                <a:cs typeface="Times New Roman" panose="02020603050405020304" pitchFamily="18" charset="0"/>
              </a:rPr>
              <a:t> T12/2024.</a:t>
            </a:r>
          </a:p>
          <a:p>
            <a:pPr marL="0" lvl="1"/>
            <a:r>
              <a:rPr lang="en-US" sz="1200" dirty="0">
                <a:latin typeface="Times New Roman" panose="02020603050405020304" pitchFamily="18" charset="0"/>
                <a:cs typeface="Times New Roman" panose="02020603050405020304" pitchFamily="18" charset="0"/>
              </a:rPr>
              <a:t>*</a:t>
            </a:r>
            <a:r>
              <a:rPr lang="en-US" sz="1200" b="1" dirty="0">
                <a:latin typeface="Times New Roman" panose="02020603050405020304" pitchFamily="18" charset="0"/>
                <a:cs typeface="Times New Roman" panose="02020603050405020304" pitchFamily="18" charset="0"/>
              </a:rPr>
              <a:t>A350: </a:t>
            </a:r>
            <a:r>
              <a:rPr lang="en-US" sz="1200" dirty="0">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Rủi</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ro</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tháo</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động</a:t>
            </a:r>
            <a:r>
              <a:rPr lang="en-US" sz="1200" dirty="0">
                <a:solidFill>
                  <a:prstClr val="black"/>
                </a:solidFill>
                <a:latin typeface="Times New Roman" panose="02020603050405020304" pitchFamily="18" charset="0"/>
                <a:cs typeface="Times New Roman" panose="02020603050405020304" pitchFamily="18" charset="0"/>
              </a:rPr>
              <a:t> c</a:t>
            </a:r>
            <a:r>
              <a:rPr lang="vi-VN" sz="1200" dirty="0">
                <a:solidFill>
                  <a:prstClr val="black"/>
                </a:solidFill>
                <a:latin typeface="Times New Roman" panose="02020603050405020304" pitchFamily="18" charset="0"/>
                <a:cs typeface="Times New Roman" panose="02020603050405020304" pitchFamily="18" charset="0"/>
              </a:rPr>
              <a:t>ơ</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ngoài</a:t>
            </a:r>
            <a:r>
              <a:rPr lang="en-US" sz="1200" dirty="0">
                <a:solidFill>
                  <a:prstClr val="black"/>
                </a:solidFill>
                <a:latin typeface="Times New Roman" panose="02020603050405020304" pitchFamily="18" charset="0"/>
                <a:cs typeface="Times New Roman" panose="02020603050405020304" pitchFamily="18" charset="0"/>
              </a:rPr>
              <a:t> KH do High oil consumption (</a:t>
            </a:r>
            <a:r>
              <a:rPr lang="en-US" sz="1200" dirty="0" err="1">
                <a:solidFill>
                  <a:prstClr val="black"/>
                </a:solidFill>
                <a:latin typeface="Times New Roman" panose="02020603050405020304" pitchFamily="18" charset="0"/>
                <a:cs typeface="Times New Roman" panose="02020603050405020304" pitchFamily="18" charset="0"/>
              </a:rPr>
              <a:t>động</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cơ</a:t>
            </a:r>
            <a:r>
              <a:rPr lang="en-US" sz="1200" dirty="0">
                <a:solidFill>
                  <a:prstClr val="black"/>
                </a:solidFill>
                <a:latin typeface="Times New Roman" panose="02020603050405020304" pitchFamily="18" charset="0"/>
                <a:cs typeface="Times New Roman" panose="02020603050405020304" pitchFamily="18" charset="0"/>
              </a:rPr>
              <a:t> A893), HPT Blade (2 </a:t>
            </a:r>
            <a:r>
              <a:rPr lang="en-US" sz="1200" dirty="0" err="1">
                <a:solidFill>
                  <a:prstClr val="black"/>
                </a:solidFill>
                <a:latin typeface="Times New Roman" panose="02020603050405020304" pitchFamily="18" charset="0"/>
                <a:cs typeface="Times New Roman" panose="02020603050405020304" pitchFamily="18" charset="0"/>
              </a:rPr>
              <a:t>động</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cơ</a:t>
            </a:r>
            <a:r>
              <a:rPr lang="en-US" sz="1200" dirty="0">
                <a:solidFill>
                  <a:prstClr val="black"/>
                </a:solidFill>
                <a:latin typeface="Times New Roman" panose="02020603050405020304" pitchFamily="18" charset="0"/>
                <a:cs typeface="Times New Roman" panose="02020603050405020304" pitchFamily="18" charset="0"/>
              </a:rPr>
              <a:t> 100FC), IPC Blade (3 </a:t>
            </a:r>
            <a:r>
              <a:rPr lang="en-US" sz="1200" dirty="0" err="1">
                <a:solidFill>
                  <a:prstClr val="black"/>
                </a:solidFill>
                <a:latin typeface="Times New Roman" panose="02020603050405020304" pitchFamily="18" charset="0"/>
                <a:cs typeface="Times New Roman" panose="02020603050405020304" pitchFamily="18" charset="0"/>
              </a:rPr>
              <a:t>động</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cơ</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cần</a:t>
            </a:r>
            <a:r>
              <a:rPr lang="en-US" sz="1200" dirty="0">
                <a:solidFill>
                  <a:prstClr val="black"/>
                </a:solidFill>
                <a:latin typeface="Times New Roman" panose="02020603050405020304" pitchFamily="18" charset="0"/>
                <a:cs typeface="Times New Roman" panose="02020603050405020304" pitchFamily="18" charset="0"/>
              </a:rPr>
              <a:t> soi </a:t>
            </a:r>
            <a:r>
              <a:rPr lang="en-US" sz="1200" dirty="0" err="1">
                <a:solidFill>
                  <a:prstClr val="black"/>
                </a:solidFill>
                <a:latin typeface="Times New Roman" panose="02020603050405020304" pitchFamily="18" charset="0"/>
                <a:cs typeface="Times New Roman" panose="02020603050405020304" pitchFamily="18" charset="0"/>
              </a:rPr>
              <a:t>năm</a:t>
            </a:r>
            <a:r>
              <a:rPr lang="en-US" sz="1200" dirty="0">
                <a:solidFill>
                  <a:prstClr val="black"/>
                </a:solidFill>
                <a:latin typeface="Times New Roman" panose="02020603050405020304" pitchFamily="18" charset="0"/>
                <a:cs typeface="Times New Roman" panose="02020603050405020304" pitchFamily="18" charset="0"/>
              </a:rPr>
              <a:t> 2025)</a:t>
            </a:r>
            <a:endParaRPr lang="en-US" sz="1200" dirty="0">
              <a:latin typeface="Times New Roman" panose="02020603050405020304" pitchFamily="18" charset="0"/>
              <a:cs typeface="Times New Roman" panose="02020603050405020304" pitchFamily="18" charset="0"/>
            </a:endParaRPr>
          </a:p>
          <a:p>
            <a:pPr marL="0" lvl="1"/>
            <a:r>
              <a:rPr lang="en-US" sz="1200" b="1" dirty="0">
                <a:latin typeface="Times New Roman" panose="02020603050405020304" pitchFamily="18" charset="0"/>
                <a:cs typeface="Times New Roman" panose="02020603050405020304" pitchFamily="18" charset="0"/>
              </a:rPr>
              <a:t>*ATR72: </a:t>
            </a:r>
            <a:r>
              <a:rPr lang="vi-VN" sz="1200" dirty="0">
                <a:latin typeface="Times New Roman" panose="02020603050405020304" pitchFamily="18" charset="0"/>
                <a:cs typeface="Times New Roman" panose="02020603050405020304" pitchFamily="18" charset="0"/>
              </a:rPr>
              <a:t>B225</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dùng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cơ</a:t>
            </a:r>
            <a:r>
              <a:rPr lang="en-US" sz="1200" dirty="0">
                <a:latin typeface="Times New Roman" panose="02020603050405020304" pitchFamily="18" charset="0"/>
                <a:cs typeface="Times New Roman" panose="02020603050405020304" pitchFamily="18" charset="0"/>
              </a:rPr>
              <a:t> ED0214 </a:t>
            </a:r>
            <a:r>
              <a:rPr lang="en-US" sz="1200" dirty="0" err="1">
                <a:latin typeface="Times New Roman" panose="02020603050405020304" pitchFamily="18" charset="0"/>
                <a:cs typeface="Times New Roman" panose="02020603050405020304" pitchFamily="18" charset="0"/>
              </a:rPr>
              <a:t>trong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kho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còn</a:t>
            </a:r>
            <a:r>
              <a:rPr lang="en-US" sz="1200" dirty="0">
                <a:latin typeface="Times New Roman" panose="02020603050405020304" pitchFamily="18" charset="0"/>
                <a:cs typeface="Times New Roman" panose="02020603050405020304" pitchFamily="18" charset="0"/>
              </a:rPr>
              <a:t> 151 FC </a:t>
            </a:r>
            <a:r>
              <a:rPr lang="en-US" sz="1200" dirty="0" err="1">
                <a:latin typeface="Times New Roman" panose="02020603050405020304" pitchFamily="18" charset="0"/>
                <a:cs typeface="Times New Roman" panose="02020603050405020304" pitchFamily="18" charset="0"/>
              </a:rPr>
              <a:t>và</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cơ</a:t>
            </a:r>
            <a:r>
              <a:rPr lang="en-US" sz="1200" dirty="0">
                <a:latin typeface="Times New Roman" panose="02020603050405020304" pitchFamily="18" charset="0"/>
                <a:cs typeface="Times New Roman" panose="02020603050405020304" pitchFamily="18" charset="0"/>
              </a:rPr>
              <a:t> ED0241 </a:t>
            </a:r>
            <a:r>
              <a:rPr lang="en-US" sz="1200" dirty="0" err="1">
                <a:latin typeface="Times New Roman" panose="02020603050405020304" pitchFamily="18" charset="0"/>
                <a:cs typeface="Times New Roman" panose="02020603050405020304" pitchFamily="18" charset="0"/>
              </a:rPr>
              <a:t>từ</a:t>
            </a:r>
            <a:r>
              <a:rPr lang="en-US" sz="1200" dirty="0">
                <a:latin typeface="Times New Roman" panose="02020603050405020304" pitchFamily="18" charset="0"/>
                <a:cs typeface="Times New Roman" panose="02020603050405020304" pitchFamily="18" charset="0"/>
              </a:rPr>
              <a:t> shop </a:t>
            </a:r>
            <a:r>
              <a:rPr lang="en-US" sz="1200" dirty="0" err="1">
                <a:latin typeface="Times New Roman" panose="02020603050405020304" pitchFamily="18" charset="0"/>
                <a:cs typeface="Times New Roman" panose="02020603050405020304" pitchFamily="18" charset="0"/>
              </a:rPr>
              <a:t>về</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Dự</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kiến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giữa</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tháng</a:t>
            </a:r>
            <a:r>
              <a:rPr lang="en-US" sz="1200" dirty="0">
                <a:latin typeface="Times New Roman" panose="02020603050405020304" pitchFamily="18" charset="0"/>
                <a:cs typeface="Times New Roman" panose="02020603050405020304" pitchFamily="18" charset="0"/>
              </a:rPr>
              <a:t> 1/25 </a:t>
            </a:r>
            <a:r>
              <a:rPr lang="en-US" sz="1200" dirty="0" err="1">
                <a:latin typeface="Times New Roman" panose="02020603050405020304" pitchFamily="18" charset="0"/>
                <a:cs typeface="Times New Roman" panose="02020603050405020304" pitchFamily="18" charset="0"/>
              </a:rPr>
              <a:t>sẽ</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lấy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cơ</a:t>
            </a:r>
            <a:r>
              <a:rPr lang="en-US" sz="1200" dirty="0">
                <a:latin typeface="Times New Roman" panose="02020603050405020304" pitchFamily="18" charset="0"/>
                <a:cs typeface="Times New Roman" panose="02020603050405020304" pitchFamily="18" charset="0"/>
              </a:rPr>
              <a:t> ED0181 </a:t>
            </a:r>
            <a:r>
              <a:rPr lang="en-US" sz="1200" dirty="0" err="1">
                <a:latin typeface="Times New Roman" panose="02020603050405020304" pitchFamily="18" charset="0"/>
                <a:cs typeface="Times New Roman" panose="02020603050405020304" pitchFamily="18" charset="0"/>
              </a:rPr>
              <a:t>từ</a:t>
            </a:r>
            <a:r>
              <a:rPr lang="en-US" sz="1200" dirty="0">
                <a:latin typeface="Times New Roman" panose="02020603050405020304" pitchFamily="18" charset="0"/>
                <a:cs typeface="Times New Roman" panose="02020603050405020304" pitchFamily="18" charset="0"/>
              </a:rPr>
              <a:t> Shop </a:t>
            </a:r>
            <a:r>
              <a:rPr lang="en-US" sz="1200" dirty="0" err="1">
                <a:latin typeface="Times New Roman" panose="02020603050405020304" pitchFamily="18" charset="0"/>
                <a:cs typeface="Times New Roman" panose="02020603050405020304" pitchFamily="18" charset="0"/>
              </a:rPr>
              <a:t>về</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thay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cho</a:t>
            </a:r>
            <a:r>
              <a:rPr lang="en-US" sz="1200" dirty="0">
                <a:latin typeface="Times New Roman" panose="02020603050405020304" pitchFamily="18" charset="0"/>
                <a:cs typeface="Times New Roman" panose="02020603050405020304" pitchFamily="18" charset="0"/>
              </a:rPr>
              <a:t> ED0214.</a:t>
            </a:r>
          </a:p>
        </p:txBody>
      </p:sp>
    </p:spTree>
    <p:extLst>
      <p:ext uri="{BB962C8B-B14F-4D97-AF65-F5344CB8AC3E}">
        <p14:creationId xmlns:p14="http://schemas.microsoft.com/office/powerpoint/2010/main" val="7387401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366920A6-6915-5AA0-8C7B-86FFAA7C863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936F650-D34B-32F5-0EFD-8481BE8666F3}"/>
              </a:ext>
            </a:extLst>
          </p:cNvPr>
          <p:cNvSpPr txBox="1"/>
          <p:nvPr/>
        </p:nvSpPr>
        <p:spPr>
          <a:xfrm>
            <a:off x="690253" y="115968"/>
            <a:ext cx="14875495"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DỰ BÁO AOG </a:t>
            </a:r>
            <a:r>
              <a:rPr lang="en-US" sz="2667" b="1">
                <a:ln w="0"/>
                <a:solidFill>
                  <a:srgbClr val="FBAC00"/>
                </a:solidFill>
                <a:latin typeface="Times New Roman" panose="02020603050405020304" pitchFamily="18" charset="0"/>
                <a:cs typeface="Times New Roman" panose="02020603050405020304" pitchFamily="18" charset="0"/>
              </a:rPr>
              <a:t>A321NEO 2025 </a:t>
            </a:r>
            <a:r>
              <a:rPr lang="en-US" sz="2667" b="1" dirty="0">
                <a:ln w="0"/>
                <a:solidFill>
                  <a:srgbClr val="FBAC00"/>
                </a:solidFill>
                <a:latin typeface="Times New Roman" panose="02020603050405020304" pitchFamily="18" charset="0"/>
                <a:cs typeface="Times New Roman" panose="02020603050405020304" pitchFamily="18" charset="0"/>
              </a:rPr>
              <a:t>DO HPT HUB</a:t>
            </a:r>
          </a:p>
        </p:txBody>
      </p:sp>
      <p:sp>
        <p:nvSpPr>
          <p:cNvPr id="6" name="Rectangle 5">
            <a:extLst>
              <a:ext uri="{FF2B5EF4-FFF2-40B4-BE49-F238E27FC236}">
                <a16:creationId xmlns:a16="http://schemas.microsoft.com/office/drawing/2014/main" id="{F732C424-6503-4AF0-A801-38325F00ECC8}"/>
              </a:ext>
            </a:extLst>
          </p:cNvPr>
          <p:cNvSpPr/>
          <p:nvPr/>
        </p:nvSpPr>
        <p:spPr>
          <a:xfrm>
            <a:off x="228600" y="6077034"/>
            <a:ext cx="11201400" cy="523220"/>
          </a:xfrm>
          <a:prstGeom prst="rect">
            <a:avLst/>
          </a:prstGeom>
          <a:solidFill>
            <a:srgbClr val="FFFF00"/>
          </a:solidFill>
          <a:ln>
            <a:solidFill>
              <a:schemeClr val="accent1"/>
            </a:solidFill>
          </a:ln>
        </p:spPr>
        <p:txBody>
          <a:bodyPr wrap="square">
            <a:spAutoFit/>
          </a:bodyPr>
          <a:lstStyle/>
          <a:p>
            <a:pPr algn="ctr"/>
            <a:r>
              <a:rPr lang="en-US" sz="1400" b="1" dirty="0"/>
              <a:t>PH</a:t>
            </a:r>
            <a:r>
              <a:rPr lang="vi-VN" sz="1400" b="1" dirty="0"/>
              <a:t>Ư</a:t>
            </a:r>
            <a:r>
              <a:rPr lang="en-US" sz="1400" b="1" dirty="0"/>
              <a:t>ƠNG ÁN GIỮ GIỜ</a:t>
            </a:r>
          </a:p>
          <a:p>
            <a:r>
              <a:rPr lang="en-US" sz="1400" dirty="0"/>
              <a:t>-</a:t>
            </a:r>
            <a:r>
              <a:rPr lang="vi-VN" sz="1400" dirty="0"/>
              <a:t>Giữ giờ động cơ P771710</a:t>
            </a:r>
            <a:r>
              <a:rPr lang="en-US" sz="1400" dirty="0"/>
              <a:t> </a:t>
            </a:r>
            <a:r>
              <a:rPr lang="en-US" sz="1400" dirty="0" err="1"/>
              <a:t>trên</a:t>
            </a:r>
            <a:r>
              <a:rPr lang="en-US" sz="1400" dirty="0"/>
              <a:t> A621</a:t>
            </a:r>
            <a:r>
              <a:rPr lang="vi-VN" sz="1400" dirty="0"/>
              <a:t> (hết hạn 05/07) và P772905 </a:t>
            </a:r>
            <a:r>
              <a:rPr lang="en-US" sz="1400" dirty="0" err="1"/>
              <a:t>trên</a:t>
            </a:r>
            <a:r>
              <a:rPr lang="en-US" sz="1400" dirty="0"/>
              <a:t> A619</a:t>
            </a:r>
            <a:r>
              <a:rPr lang="vi-VN" sz="1400" dirty="0"/>
              <a:t>(</a:t>
            </a:r>
            <a:r>
              <a:rPr lang="en-US" sz="1400" dirty="0" err="1"/>
              <a:t>hết</a:t>
            </a:r>
            <a:r>
              <a:rPr lang="en-US" sz="1400" dirty="0"/>
              <a:t> </a:t>
            </a:r>
            <a:r>
              <a:rPr lang="en-US" sz="1400" dirty="0" err="1"/>
              <a:t>hạn</a:t>
            </a:r>
            <a:r>
              <a:rPr lang="en-US" sz="1400" dirty="0"/>
              <a:t> </a:t>
            </a:r>
            <a:r>
              <a:rPr lang="vi-VN" sz="1400" dirty="0"/>
              <a:t>19/07) sang sau cao điểm hè (15/8) để có thêm 1 tàu từ giữa T7.</a:t>
            </a:r>
            <a:endParaRPr lang="en-US" sz="1400" dirty="0"/>
          </a:p>
        </p:txBody>
      </p:sp>
      <p:graphicFrame>
        <p:nvGraphicFramePr>
          <p:cNvPr id="3" name="Chart 2">
            <a:extLst>
              <a:ext uri="{FF2B5EF4-FFF2-40B4-BE49-F238E27FC236}">
                <a16:creationId xmlns:a16="http://schemas.microsoft.com/office/drawing/2014/main" id="{B6D2BFDC-B8A6-1C6A-1378-381323CC21AE}"/>
              </a:ext>
            </a:extLst>
          </p:cNvPr>
          <p:cNvGraphicFramePr>
            <a:graphicFrameLocks/>
          </p:cNvGraphicFramePr>
          <p:nvPr/>
        </p:nvGraphicFramePr>
        <p:xfrm>
          <a:off x="232458" y="914400"/>
          <a:ext cx="11811000" cy="497847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7067775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CF201DCB-0F48-45FA-23D1-D69FC207E90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7759506-148F-6ED1-3F13-4D127FBBC4FC}"/>
              </a:ext>
            </a:extLst>
          </p:cNvPr>
          <p:cNvSpPr txBox="1"/>
          <p:nvPr/>
        </p:nvSpPr>
        <p:spPr>
          <a:xfrm>
            <a:off x="153472" y="517989"/>
            <a:ext cx="4267200" cy="461665"/>
          </a:xfrm>
          <a:prstGeom prst="rect">
            <a:avLst/>
          </a:prstGeom>
          <a:noFill/>
        </p:spPr>
        <p:txBody>
          <a:bodyPr wrap="square" rtlCol="0">
            <a:spAutoFit/>
          </a:bodyPr>
          <a:lstStyle/>
          <a:p>
            <a:pPr defTabSz="1219170">
              <a:defRPr/>
            </a:pPr>
            <a:r>
              <a:rPr lang="en-US" sz="2400" b="1" dirty="0" err="1">
                <a:solidFill>
                  <a:srgbClr val="002060"/>
                </a:solidFill>
                <a:latin typeface="Times New Roman" panose="02020603050405020304" pitchFamily="18" charset="0"/>
                <a:cs typeface="Times New Roman" panose="02020603050405020304" pitchFamily="18" charset="0"/>
              </a:rPr>
              <a:t>Tình</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trạng</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sửa</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chữa</a:t>
            </a:r>
            <a:endParaRPr lang="en-GB" sz="24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1AC2A46E-4E4A-6339-72C3-1800A18927D9}"/>
              </a:ext>
            </a:extLst>
          </p:cNvPr>
          <p:cNvGraphicFramePr>
            <a:graphicFrameLocks noGrp="1"/>
          </p:cNvGraphicFramePr>
          <p:nvPr/>
        </p:nvGraphicFramePr>
        <p:xfrm>
          <a:off x="162461" y="1051467"/>
          <a:ext cx="11867079" cy="5352146"/>
        </p:xfrm>
        <a:graphic>
          <a:graphicData uri="http://schemas.openxmlformats.org/drawingml/2006/table">
            <a:tbl>
              <a:tblPr firstRow="1" bandRow="1">
                <a:tableStyleId>{5C22544A-7EE6-4342-B048-85BDC9FD1C3A}</a:tableStyleId>
              </a:tblPr>
              <a:tblGrid>
                <a:gridCol w="474684">
                  <a:extLst>
                    <a:ext uri="{9D8B030D-6E8A-4147-A177-3AD203B41FA5}">
                      <a16:colId xmlns:a16="http://schemas.microsoft.com/office/drawing/2014/main" val="1598605427"/>
                    </a:ext>
                  </a:extLst>
                </a:gridCol>
                <a:gridCol w="886855">
                  <a:extLst>
                    <a:ext uri="{9D8B030D-6E8A-4147-A177-3AD203B41FA5}">
                      <a16:colId xmlns:a16="http://schemas.microsoft.com/office/drawing/2014/main" val="3845954792"/>
                    </a:ext>
                  </a:extLst>
                </a:gridCol>
                <a:gridCol w="1170104">
                  <a:extLst>
                    <a:ext uri="{9D8B030D-6E8A-4147-A177-3AD203B41FA5}">
                      <a16:colId xmlns:a16="http://schemas.microsoft.com/office/drawing/2014/main" val="2148822928"/>
                    </a:ext>
                  </a:extLst>
                </a:gridCol>
                <a:gridCol w="1265823">
                  <a:extLst>
                    <a:ext uri="{9D8B030D-6E8A-4147-A177-3AD203B41FA5}">
                      <a16:colId xmlns:a16="http://schemas.microsoft.com/office/drawing/2014/main" val="2136763095"/>
                    </a:ext>
                  </a:extLst>
                </a:gridCol>
                <a:gridCol w="1740505">
                  <a:extLst>
                    <a:ext uri="{9D8B030D-6E8A-4147-A177-3AD203B41FA5}">
                      <a16:colId xmlns:a16="http://schemas.microsoft.com/office/drawing/2014/main" val="1185879436"/>
                    </a:ext>
                  </a:extLst>
                </a:gridCol>
                <a:gridCol w="2768984">
                  <a:extLst>
                    <a:ext uri="{9D8B030D-6E8A-4147-A177-3AD203B41FA5}">
                      <a16:colId xmlns:a16="http://schemas.microsoft.com/office/drawing/2014/main" val="3807119371"/>
                    </a:ext>
                  </a:extLst>
                </a:gridCol>
                <a:gridCol w="3560124">
                  <a:extLst>
                    <a:ext uri="{9D8B030D-6E8A-4147-A177-3AD203B41FA5}">
                      <a16:colId xmlns:a16="http://schemas.microsoft.com/office/drawing/2014/main" val="3735753066"/>
                    </a:ext>
                  </a:extLst>
                </a:gridCol>
              </a:tblGrid>
              <a:tr h="450741">
                <a:tc>
                  <a:txBody>
                    <a:bodyPr/>
                    <a:lstStyle/>
                    <a:p>
                      <a:pPr algn="ctr"/>
                      <a:r>
                        <a:rPr lang="en-GB" sz="1100" dirty="0">
                          <a:latin typeface="Times New Roman" panose="02020603050405020304" pitchFamily="18" charset="0"/>
                          <a:cs typeface="Times New Roman" panose="02020603050405020304" pitchFamily="18" charset="0"/>
                        </a:rPr>
                        <a:t>No.</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ESN</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Status</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a:latin typeface="Times New Roman" panose="02020603050405020304" pitchFamily="18" charset="0"/>
                          <a:cs typeface="Times New Roman" panose="02020603050405020304" pitchFamily="18" charset="0"/>
                        </a:rPr>
                        <a:t>Induction</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err="1">
                          <a:latin typeface="Times New Roman" panose="02020603050405020304" pitchFamily="18" charset="0"/>
                          <a:cs typeface="Times New Roman" panose="02020603050405020304" pitchFamily="18" charset="0"/>
                        </a:rPr>
                        <a:t>Dự</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kiến</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về</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a:latin typeface="Times New Roman" panose="02020603050405020304" pitchFamily="18" charset="0"/>
                          <a:cs typeface="Times New Roman" panose="02020603050405020304" pitchFamily="18" charset="0"/>
                        </a:rPr>
                        <a:t>KH Sử dụng</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a:latin typeface="Times New Roman" panose="02020603050405020304" pitchFamily="18" charset="0"/>
                          <a:cs typeface="Times New Roman" panose="02020603050405020304" pitchFamily="18" charset="0"/>
                        </a:rPr>
                        <a:t>Remark</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460013">
                <a:tc>
                  <a:txBody>
                    <a:bodyPr/>
                    <a:lstStyle/>
                    <a:p>
                      <a:pPr algn="ctr"/>
                      <a:r>
                        <a:rPr lang="en-US" sz="1100">
                          <a:latin typeface="Times New Roman" panose="02020603050405020304" pitchFamily="18" charset="0"/>
                          <a:cs typeface="Times New Roman" panose="02020603050405020304" pitchFamily="18" charset="0"/>
                        </a:rPr>
                        <a:t>1</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P770903</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b="0" kern="1200" dirty="0">
                          <a:solidFill>
                            <a:schemeClr val="tx1"/>
                          </a:solidFill>
                          <a:latin typeface="Times New Roman" panose="02020603050405020304" pitchFamily="18" charset="0"/>
                          <a:ea typeface="+mn-ea"/>
                          <a:cs typeface="Times New Roman" panose="02020603050405020304" pitchFamily="18" charset="0"/>
                        </a:rPr>
                        <a:t>18/07/2024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07/05/2025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kern="1200" noProof="0">
                          <a:solidFill>
                            <a:schemeClr val="tx1"/>
                          </a:solidFill>
                          <a:latin typeface="Times New Roman" panose="02020603050405020304" pitchFamily="18" charset="0"/>
                          <a:ea typeface="+mn-ea"/>
                          <a:cs typeface="Times New Roman" panose="02020603050405020304" pitchFamily="18" charset="0"/>
                        </a:rPr>
                        <a:t>RTS A501</a:t>
                      </a:r>
                      <a:endParaRPr lang="en-GB" sz="1100" b="0" kern="1200" noProof="0" dirty="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967959161"/>
                  </a:ext>
                </a:extLst>
              </a:tr>
              <a:tr h="697685">
                <a:tc>
                  <a:txBody>
                    <a:bodyPr/>
                    <a:lstStyle/>
                    <a:p>
                      <a:pPr algn="ctr"/>
                      <a:r>
                        <a:rPr lang="en-GB" sz="1100" dirty="0">
                          <a:latin typeface="Times New Roman" panose="02020603050405020304" pitchFamily="18" charset="0"/>
                          <a:cs typeface="Times New Roman" panose="02020603050405020304" pitchFamily="18" charset="0"/>
                        </a:rPr>
                        <a:t>2</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100" dirty="0">
                          <a:solidFill>
                            <a:schemeClr val="tx1"/>
                          </a:solidFill>
                          <a:effectLst/>
                          <a:latin typeface="Times New Roman" panose="02020603050405020304" pitchFamily="18" charset="0"/>
                          <a:cs typeface="Times New Roman" panose="02020603050405020304" pitchFamily="18" charset="0"/>
                        </a:rPr>
                        <a:t>P770904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22/04/2024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22/04/2025</a:t>
                      </a:r>
                      <a:endParaRPr lang="en-GB" sz="1100" dirty="0">
                        <a:solidFill>
                          <a:schemeClr val="tx1"/>
                        </a:solidFill>
                        <a:latin typeface="Times New Roman" panose="02020603050405020304" pitchFamily="18"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A616</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Delay do post test </a:t>
                      </a:r>
                      <a:r>
                        <a:rPr lang="en-US" sz="1100">
                          <a:solidFill>
                            <a:schemeClr val="tx1"/>
                          </a:solidFill>
                          <a:latin typeface="Times New Roman" panose="02020603050405020304" pitchFamily="18" charset="0"/>
                          <a:cs typeface="Times New Roman" panose="02020603050405020304" pitchFamily="18" charset="0"/>
                        </a:rPr>
                        <a:t>BSI finding on IBR6 &amp; TB1. Re-induct, dự kiến delay sang T2/2025.</a:t>
                      </a:r>
                      <a:endParaRPr lang="en-GB" sz="11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410844604"/>
                  </a:ext>
                </a:extLst>
              </a:tr>
              <a:tr h="460013">
                <a:tc>
                  <a:txBody>
                    <a:bodyPr/>
                    <a:lstStyle/>
                    <a:p>
                      <a:pPr algn="ctr"/>
                      <a:r>
                        <a:rPr lang="en-US" sz="1100" dirty="0">
                          <a:latin typeface="Times New Roman" panose="02020603050405020304" pitchFamily="18" charset="0"/>
                          <a:cs typeface="Times New Roman" panose="02020603050405020304" pitchFamily="18" charset="0"/>
                        </a:rPr>
                        <a:t>3</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P771075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25/07/2024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07/03/2025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A621#2 ENG CHANGE</a:t>
                      </a: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Giữ giờ bay cao điểm hè</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36697217"/>
                  </a:ext>
                </a:extLst>
              </a:tr>
              <a:tr h="460013">
                <a:tc>
                  <a:txBody>
                    <a:bodyPr/>
                    <a:lstStyle/>
                    <a:p>
                      <a:pPr algn="ctr"/>
                      <a:r>
                        <a:rPr lang="en-GB" sz="1100" dirty="0">
                          <a:latin typeface="Times New Roman" panose="02020603050405020304" pitchFamily="18" charset="0"/>
                          <a:cs typeface="Times New Roman" panose="02020603050405020304" pitchFamily="18" charset="0"/>
                        </a:rPr>
                        <a:t>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P771130</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25/09/2024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/04/2025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A616</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518084637"/>
                  </a:ext>
                </a:extLst>
              </a:tr>
              <a:tr h="460013">
                <a:tc>
                  <a:txBody>
                    <a:bodyPr/>
                    <a:lstStyle/>
                    <a:p>
                      <a:pPr algn="ctr"/>
                      <a:r>
                        <a:rPr lang="en-GB" sz="1100" dirty="0">
                          <a:latin typeface="Times New Roman" panose="02020603050405020304" pitchFamily="18" charset="0"/>
                          <a:cs typeface="Times New Roman" panose="02020603050405020304" pitchFamily="18" charset="0"/>
                        </a:rPr>
                        <a:t>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P771391</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Inducted</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11/10/2024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25/05/2025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A625</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753673127"/>
                  </a:ext>
                </a:extLst>
              </a:tr>
              <a:tr h="460013">
                <a:tc>
                  <a:txBody>
                    <a:bodyPr/>
                    <a:lstStyle/>
                    <a:p>
                      <a:pPr algn="ctr"/>
                      <a:r>
                        <a:rPr lang="en-GB" sz="1100" dirty="0">
                          <a:latin typeface="Times New Roman" panose="02020603050405020304" pitchFamily="18" charset="0"/>
                          <a:cs typeface="Times New Roman" panose="02020603050405020304" pitchFamily="18" charset="0"/>
                        </a:rPr>
                        <a:t>6</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P771077</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24/10/2024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17/05/2025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A619#2 ENG CHANGE</a:t>
                      </a: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Giữ giờ bay cao điểm hè</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502614763"/>
                  </a:ext>
                </a:extLst>
              </a:tr>
              <a:tr h="460013">
                <a:tc>
                  <a:txBody>
                    <a:bodyPr/>
                    <a:lstStyle/>
                    <a:p>
                      <a:pPr algn="ctr"/>
                      <a:r>
                        <a:rPr lang="en-GB" sz="1100">
                          <a:latin typeface="Times New Roman" panose="02020603050405020304" pitchFamily="18" charset="0"/>
                          <a:cs typeface="Times New Roman" panose="02020603050405020304" pitchFamily="18" charset="0"/>
                        </a:rPr>
                        <a:t>7</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P771387</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05/11/2024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29/05/2025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 A625</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dirty="0">
                          <a:solidFill>
                            <a:schemeClr val="tx1"/>
                          </a:solidFill>
                          <a:effectLst/>
                          <a:latin typeface="Times New Roman" panose="02020603050405020304" pitchFamily="18" charset="0"/>
                          <a:ea typeface="+mn-ea"/>
                          <a:cs typeface="Times New Roman" panose="02020603050405020304" pitchFamily="18" charset="0"/>
                        </a:rPr>
                        <a:t>Target build ~4280 FC do HPT Hub not affected by AD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991877321"/>
                  </a:ext>
                </a:extLst>
              </a:tr>
              <a:tr h="460013">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8</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P771373</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20/02/2025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29/08/2025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806751762"/>
                  </a:ext>
                </a:extLst>
              </a:tr>
              <a:tr h="523616">
                <a:tc>
                  <a:txBody>
                    <a:bodyPr/>
                    <a:lstStyle/>
                    <a:p>
                      <a:pPr algn="ctr"/>
                      <a:r>
                        <a:rPr lang="en-GB" sz="1100">
                          <a:solidFill>
                            <a:schemeClr val="tx1"/>
                          </a:solidFill>
                          <a:latin typeface="Times New Roman" panose="02020603050405020304" pitchFamily="18" charset="0"/>
                          <a:cs typeface="Times New Roman" panose="02020603050405020304" pitchFamily="18" charset="0"/>
                        </a:rPr>
                        <a:t> 9</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P771041</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Not 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19/03/2025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12/06/2025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WSC QT</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79968567"/>
                  </a:ext>
                </a:extLst>
              </a:tr>
              <a:tr h="460013">
                <a:tc>
                  <a:txBody>
                    <a:bodyPr/>
                    <a:lstStyle/>
                    <a:p>
                      <a:pPr algn="ctr"/>
                      <a:r>
                        <a:rPr lang="en-GB" sz="1100">
                          <a:solidFill>
                            <a:schemeClr val="tx1"/>
                          </a:solidFill>
                          <a:latin typeface="Times New Roman" panose="02020603050405020304" pitchFamily="18" charset="0"/>
                          <a:cs typeface="Times New Roman" panose="02020603050405020304" pitchFamily="18" charset="0"/>
                        </a:rPr>
                        <a:t>10</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P771423</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Not 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15/04/2025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09/07/2025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2465008"/>
                  </a:ext>
                </a:extLst>
              </a:tr>
            </a:tbl>
          </a:graphicData>
        </a:graphic>
      </p:graphicFrame>
      <p:sp>
        <p:nvSpPr>
          <p:cNvPr id="4" name="TextBox 3">
            <a:extLst>
              <a:ext uri="{FF2B5EF4-FFF2-40B4-BE49-F238E27FC236}">
                <a16:creationId xmlns:a16="http://schemas.microsoft.com/office/drawing/2014/main" id="{8E657E58-C6AA-4957-1D5D-8F4F96FE5488}"/>
              </a:ext>
            </a:extLst>
          </p:cNvPr>
          <p:cNvSpPr txBox="1"/>
          <p:nvPr/>
        </p:nvSpPr>
        <p:spPr>
          <a:xfrm>
            <a:off x="153473" y="103041"/>
            <a:ext cx="14875495"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TÌNH TRẠNG ĐỘNG CƠ ĐỘI BAY A321NEO</a:t>
            </a:r>
            <a:endParaRPr lang="en-GB"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187609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7566C40-78C1-9EC0-1727-A8DD49C3FD9B}"/>
              </a:ext>
            </a:extLst>
          </p:cNvPr>
          <p:cNvSpPr>
            <a:spLocks noGrp="1"/>
          </p:cNvSpPr>
          <p:nvPr>
            <p:ph type="sldNum" idx="12"/>
          </p:nvPr>
        </p:nvSpPr>
        <p:spPr/>
        <p:txBody>
          <a:bodyPr/>
          <a:lstStyle/>
          <a:p>
            <a:fld id="{00000000-1234-1234-1234-123412341234}" type="slidenum">
              <a:rPr lang="vi" smtClean="0"/>
              <a:pPr/>
              <a:t>25</a:t>
            </a:fld>
            <a:endParaRPr lang="vi"/>
          </a:p>
        </p:txBody>
      </p:sp>
      <p:sp>
        <p:nvSpPr>
          <p:cNvPr id="16" name="TextBox 15">
            <a:extLst>
              <a:ext uri="{FF2B5EF4-FFF2-40B4-BE49-F238E27FC236}">
                <a16:creationId xmlns:a16="http://schemas.microsoft.com/office/drawing/2014/main" id="{A2528A14-5474-03B4-BF8A-AFDB59E54730}"/>
              </a:ext>
            </a:extLst>
          </p:cNvPr>
          <p:cNvSpPr txBox="1"/>
          <p:nvPr/>
        </p:nvSpPr>
        <p:spPr>
          <a:xfrm>
            <a:off x="0" y="431801"/>
            <a:ext cx="7890933" cy="461665"/>
          </a:xfrm>
          <a:prstGeom prst="rect">
            <a:avLst/>
          </a:prstGeom>
          <a:noFill/>
        </p:spPr>
        <p:txBody>
          <a:bodyPr wrap="square" rtlCol="0">
            <a:spAutoFit/>
          </a:bodyPr>
          <a:lstStyle/>
          <a:p>
            <a:pPr defTabSz="1219170">
              <a:defRPr/>
            </a:pPr>
            <a:r>
              <a:rPr lang="en-US" sz="2400" b="1" dirty="0" err="1">
                <a:solidFill>
                  <a:srgbClr val="002060"/>
                </a:solidFill>
                <a:latin typeface="Times New Roman" panose="02020603050405020304" pitchFamily="18" charset="0"/>
                <a:cs typeface="Times New Roman" panose="02020603050405020304" pitchFamily="18" charset="0"/>
              </a:rPr>
              <a:t>Kế</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hoạch</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thay</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động</a:t>
            </a:r>
            <a:r>
              <a:rPr lang="en-US" sz="2400" b="1" dirty="0">
                <a:solidFill>
                  <a:srgbClr val="002060"/>
                </a:solidFill>
                <a:latin typeface="Times New Roman" panose="02020603050405020304" pitchFamily="18" charset="0"/>
                <a:cs typeface="Times New Roman" panose="02020603050405020304" pitchFamily="18" charset="0"/>
              </a:rPr>
              <a:t> c</a:t>
            </a:r>
            <a:r>
              <a:rPr lang="vi-VN" sz="2400" b="1" dirty="0">
                <a:solidFill>
                  <a:srgbClr val="002060"/>
                </a:solidFill>
                <a:latin typeface="Times New Roman" panose="02020603050405020304" pitchFamily="18" charset="0"/>
                <a:cs typeface="Times New Roman" panose="02020603050405020304" pitchFamily="18" charset="0"/>
              </a:rPr>
              <a:t>ơ</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a:solidFill>
                  <a:srgbClr val="002060"/>
                </a:solidFill>
                <a:latin typeface="Times New Roman" panose="02020603050405020304" pitchFamily="18" charset="0"/>
                <a:cs typeface="Times New Roman" panose="02020603050405020304" pitchFamily="18" charset="0"/>
              </a:rPr>
              <a:t>A321NEO T3-T4/25</a:t>
            </a:r>
            <a:endParaRPr lang="en-GB" sz="2400" b="1" dirty="0">
              <a:solidFill>
                <a:srgbClr val="002060"/>
              </a:solidFill>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FF648BE0-3FB3-B153-2A56-6AAF25C6C6E2}"/>
              </a:ext>
            </a:extLst>
          </p:cNvPr>
          <p:cNvSpPr txBox="1"/>
          <p:nvPr/>
        </p:nvSpPr>
        <p:spPr>
          <a:xfrm>
            <a:off x="1" y="-5952"/>
            <a:ext cx="9584267"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TÌNH TRẠNG ĐỘNG CƠ ĐỘI BAY A321NEO</a:t>
            </a:r>
            <a:endParaRPr lang="en-GB"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18" name="Table 2">
            <a:extLst>
              <a:ext uri="{FF2B5EF4-FFF2-40B4-BE49-F238E27FC236}">
                <a16:creationId xmlns:a16="http://schemas.microsoft.com/office/drawing/2014/main" id="{6F2FE8BC-4850-BD1B-EABA-12CA92CD86BA}"/>
              </a:ext>
            </a:extLst>
          </p:cNvPr>
          <p:cNvGraphicFramePr>
            <a:graphicFrameLocks noGrp="1"/>
          </p:cNvGraphicFramePr>
          <p:nvPr/>
        </p:nvGraphicFramePr>
        <p:xfrm>
          <a:off x="163789" y="1032931"/>
          <a:ext cx="11864421" cy="5768709"/>
        </p:xfrm>
        <a:graphic>
          <a:graphicData uri="http://schemas.openxmlformats.org/drawingml/2006/table">
            <a:tbl>
              <a:tblPr firstRow="1" bandRow="1">
                <a:tableStyleId>{5C22544A-7EE6-4342-B048-85BDC9FD1C3A}</a:tableStyleId>
              </a:tblPr>
              <a:tblGrid>
                <a:gridCol w="518103">
                  <a:extLst>
                    <a:ext uri="{9D8B030D-6E8A-4147-A177-3AD203B41FA5}">
                      <a16:colId xmlns:a16="http://schemas.microsoft.com/office/drawing/2014/main" val="1598605427"/>
                    </a:ext>
                  </a:extLst>
                </a:gridCol>
                <a:gridCol w="1162593">
                  <a:extLst>
                    <a:ext uri="{9D8B030D-6E8A-4147-A177-3AD203B41FA5}">
                      <a16:colId xmlns:a16="http://schemas.microsoft.com/office/drawing/2014/main" val="3845954792"/>
                    </a:ext>
                  </a:extLst>
                </a:gridCol>
                <a:gridCol w="1190421">
                  <a:extLst>
                    <a:ext uri="{9D8B030D-6E8A-4147-A177-3AD203B41FA5}">
                      <a16:colId xmlns:a16="http://schemas.microsoft.com/office/drawing/2014/main" val="2148822928"/>
                    </a:ext>
                  </a:extLst>
                </a:gridCol>
                <a:gridCol w="1190421">
                  <a:extLst>
                    <a:ext uri="{9D8B030D-6E8A-4147-A177-3AD203B41FA5}">
                      <a16:colId xmlns:a16="http://schemas.microsoft.com/office/drawing/2014/main" val="2136763095"/>
                    </a:ext>
                  </a:extLst>
                </a:gridCol>
                <a:gridCol w="1190421">
                  <a:extLst>
                    <a:ext uri="{9D8B030D-6E8A-4147-A177-3AD203B41FA5}">
                      <a16:colId xmlns:a16="http://schemas.microsoft.com/office/drawing/2014/main" val="4058157000"/>
                    </a:ext>
                  </a:extLst>
                </a:gridCol>
                <a:gridCol w="1190421">
                  <a:extLst>
                    <a:ext uri="{9D8B030D-6E8A-4147-A177-3AD203B41FA5}">
                      <a16:colId xmlns:a16="http://schemas.microsoft.com/office/drawing/2014/main" val="1185879436"/>
                    </a:ext>
                  </a:extLst>
                </a:gridCol>
                <a:gridCol w="1190421">
                  <a:extLst>
                    <a:ext uri="{9D8B030D-6E8A-4147-A177-3AD203B41FA5}">
                      <a16:colId xmlns:a16="http://schemas.microsoft.com/office/drawing/2014/main" val="3807119371"/>
                    </a:ext>
                  </a:extLst>
                </a:gridCol>
                <a:gridCol w="890210">
                  <a:extLst>
                    <a:ext uri="{9D8B030D-6E8A-4147-A177-3AD203B41FA5}">
                      <a16:colId xmlns:a16="http://schemas.microsoft.com/office/drawing/2014/main" val="2251645117"/>
                    </a:ext>
                  </a:extLst>
                </a:gridCol>
                <a:gridCol w="3341410">
                  <a:extLst>
                    <a:ext uri="{9D8B030D-6E8A-4147-A177-3AD203B41FA5}">
                      <a16:colId xmlns:a16="http://schemas.microsoft.com/office/drawing/2014/main" val="3735753066"/>
                    </a:ext>
                  </a:extLst>
                </a:gridCol>
              </a:tblGrid>
              <a:tr h="495697">
                <a:tc>
                  <a:txBody>
                    <a:bodyPr/>
                    <a:lstStyle/>
                    <a:p>
                      <a:pPr algn="ctr"/>
                      <a:r>
                        <a:rPr lang="en-GB" sz="1200" dirty="0">
                          <a:latin typeface="Times New Roman" panose="02020603050405020304" pitchFamily="18" charset="0"/>
                          <a:cs typeface="Times New Roman" panose="02020603050405020304" pitchFamily="18" charset="0"/>
                        </a:rPr>
                        <a:t>No.</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Times New Roman" panose="02020603050405020304" pitchFamily="18" charset="0"/>
                          <a:cs typeface="Times New Roman" panose="02020603050405020304" pitchFamily="18" charset="0"/>
                        </a:rPr>
                        <a:t>ESN OFF</a:t>
                      </a:r>
                      <a:endParaRPr lang="en-GB" sz="12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ESN ON</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Remove from</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Install on</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dirty="0">
                          <a:solidFill>
                            <a:schemeClr val="lt1"/>
                          </a:solidFill>
                          <a:latin typeface="Times New Roman" panose="02020603050405020304" pitchFamily="18" charset="0"/>
                          <a:ea typeface="+mn-ea"/>
                          <a:cs typeface="Times New Roman" panose="02020603050405020304" pitchFamily="18" charset="0"/>
                        </a:rPr>
                        <a:t>Removal Date</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Install Date</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Shopvisit</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200">
                          <a:latin typeface="Times New Roman" panose="02020603050405020304" pitchFamily="18" charset="0"/>
                          <a:cs typeface="Times New Roman" panose="02020603050405020304" pitchFamily="18" charset="0"/>
                        </a:rPr>
                        <a:t>Remark</a:t>
                      </a:r>
                      <a:endParaRPr lang="en-GB" sz="12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428465">
                <a:tc>
                  <a:txBody>
                    <a:bodyPr/>
                    <a:lstStyle/>
                    <a:p>
                      <a:pPr algn="ctr"/>
                      <a:r>
                        <a:rPr lang="en-US" sz="1100">
                          <a:latin typeface="Times New Roman" panose="02020603050405020304" pitchFamily="18" charset="0"/>
                          <a:cs typeface="Times New Roman" panose="02020603050405020304" pitchFamily="18" charset="0"/>
                        </a:rPr>
                        <a:t>1</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sym typeface="Arial"/>
                        </a:rPr>
                        <a:t>P771041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sym typeface="Arial"/>
                        </a:rPr>
                        <a:t>A616#2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sym typeface="Arial"/>
                        </a:rPr>
                        <a:t>20-Feb-25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Yes</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vi-VN" sz="1200" b="0" i="0" u="none" strike="noStrike" kern="1200" noProof="0">
                          <a:solidFill>
                            <a:schemeClr val="tx1"/>
                          </a:solidFill>
                          <a:effectLst/>
                          <a:latin typeface="Calibri" panose="020F0502020204030204" pitchFamily="34" charset="0"/>
                          <a:ea typeface="+mn-ea"/>
                          <a:cs typeface="+mn-cs"/>
                          <a:sym typeface="Arial"/>
                        </a:rPr>
                        <a:t>ENG REMOVAL</a:t>
                      </a:r>
                      <a:r>
                        <a:rPr lang="en-US" sz="1200" b="0" i="0" u="none" strike="noStrike" kern="1200" noProof="0">
                          <a:solidFill>
                            <a:schemeClr val="tx1"/>
                          </a:solidFill>
                          <a:effectLst/>
                          <a:latin typeface="Calibri" panose="020F0502020204030204" pitchFamily="34" charset="0"/>
                          <a:ea typeface="+mn-ea"/>
                          <a:cs typeface="+mn-cs"/>
                          <a:sym typeface="Arial"/>
                        </a:rPr>
                        <a:t>. QT Shop Visit</a:t>
                      </a:r>
                      <a:endParaRPr lang="en-GB" sz="1200" b="0" i="0" u="none" strike="noStrike" kern="1200" noProof="0">
                        <a:solidFill>
                          <a:schemeClr val="tx1"/>
                        </a:solidFill>
                        <a:effectLst/>
                        <a:latin typeface="Calibri" panose="020F0502020204030204" pitchFamily="34" charset="0"/>
                        <a:ea typeface="+mn-ea"/>
                        <a:cs typeface="+mn-cs"/>
                        <a:sym typeface="Aria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6505085"/>
                  </a:ext>
                </a:extLst>
              </a:tr>
              <a:tr h="428465">
                <a:tc>
                  <a:txBody>
                    <a:bodyPr/>
                    <a:lstStyle/>
                    <a:p>
                      <a:pPr algn="ctr"/>
                      <a:r>
                        <a:rPr lang="en-GB" sz="1100" dirty="0">
                          <a:latin typeface="Times New Roman" panose="02020603050405020304" pitchFamily="18" charset="0"/>
                          <a:cs typeface="Times New Roman" panose="02020603050405020304" pitchFamily="18" charset="0"/>
                        </a:rPr>
                        <a:t>2</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sym typeface="Arial"/>
                        </a:rPr>
                        <a:t>P771090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sym typeface="Arial"/>
                        </a:rPr>
                        <a:t>A616#1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8-Mar-25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vi-VN" sz="1200" b="0" i="0" u="none" strike="noStrike" kern="1200" noProof="0">
                          <a:solidFill>
                            <a:schemeClr val="tx1"/>
                          </a:solidFill>
                          <a:effectLst/>
                          <a:latin typeface="Calibri" panose="020F0502020204030204" pitchFamily="34" charset="0"/>
                          <a:ea typeface="+mn-ea"/>
                          <a:cs typeface="+mn-cs"/>
                          <a:sym typeface="Arial"/>
                        </a:rPr>
                        <a:t>ENG REMOVAL</a:t>
                      </a:r>
                      <a:endParaRPr lang="en-US" sz="1200" b="0" i="0" u="none" strike="noStrike" kern="1200" noProof="0">
                        <a:solidFill>
                          <a:schemeClr val="tx1"/>
                        </a:solidFill>
                        <a:effectLst/>
                        <a:latin typeface="Calibri" panose="020F0502020204030204" pitchFamily="34" charset="0"/>
                        <a:ea typeface="+mn-ea"/>
                        <a:cs typeface="+mn-cs"/>
                        <a:sym typeface="Aria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sym typeface="Arial"/>
                        </a:rPr>
                        <a:t>Rob for A506#2 for 7 day engine run-up interval</a:t>
                      </a:r>
                      <a:endParaRPr lang="en-GB" sz="1200" b="0" i="0" u="none" strike="noStrike" kern="1200" noProof="0">
                        <a:solidFill>
                          <a:schemeClr val="tx1"/>
                        </a:solidFill>
                        <a:effectLst/>
                        <a:latin typeface="Calibri" panose="020F0502020204030204" pitchFamily="34" charset="0"/>
                        <a:ea typeface="+mn-ea"/>
                        <a:cs typeface="+mn-cs"/>
                        <a:sym typeface="Aria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2066291"/>
                  </a:ext>
                </a:extLst>
              </a:tr>
              <a:tr h="428465">
                <a:tc>
                  <a:txBody>
                    <a:bodyPr/>
                    <a:lstStyle/>
                    <a:p>
                      <a:pPr algn="ctr"/>
                      <a:r>
                        <a:rPr lang="en-US" sz="1100" dirty="0">
                          <a:latin typeface="Times New Roman" panose="02020603050405020304" pitchFamily="18" charset="0"/>
                          <a:cs typeface="Times New Roman" panose="02020603050405020304" pitchFamily="18" charset="0"/>
                        </a:rPr>
                        <a:t>3</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P771423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Calibri" panose="020F0502020204030204" pitchFamily="34" charset="0"/>
                          <a:ea typeface="+mn-ea"/>
                          <a:cs typeface="+mn-cs"/>
                          <a:sym typeface="Arial"/>
                        </a:rPr>
                        <a:t>P771090</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A506#2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Calibri" panose="020F0502020204030204" pitchFamily="34" charset="0"/>
                          <a:ea typeface="+mn-ea"/>
                          <a:cs typeface="+mn-cs"/>
                        </a:rPr>
                        <a:t>A506#2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Calibri" panose="020F0502020204030204" pitchFamily="34" charset="0"/>
                          <a:ea typeface="+mn-ea"/>
                          <a:cs typeface="+mn-cs"/>
                        </a:rPr>
                        <a:t>8-Mar-25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Calibri" panose="020F0502020204030204" pitchFamily="34" charset="0"/>
                          <a:ea typeface="+mn-ea"/>
                          <a:cs typeface="+mn-cs"/>
                        </a:rPr>
                        <a:t>10-Mar-25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Yes</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sym typeface="Arial"/>
                        </a:rPr>
                        <a:t>QT Shop Visit</a:t>
                      </a:r>
                      <a:endParaRPr lang="en-GB" sz="1200" b="0" i="0" u="none" strike="noStrike" kern="1200" noProof="0">
                        <a:solidFill>
                          <a:schemeClr val="tx1"/>
                        </a:solidFill>
                        <a:effectLst/>
                        <a:latin typeface="Calibri" panose="020F0502020204030204" pitchFamily="34" charset="0"/>
                        <a:ea typeface="+mn-ea"/>
                        <a:cs typeface="+mn-cs"/>
                        <a:sym typeface="Aria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84227953"/>
                  </a:ext>
                </a:extLst>
              </a:tr>
              <a:tr h="500682">
                <a:tc>
                  <a:txBody>
                    <a:bodyPr/>
                    <a:lstStyle/>
                    <a:p>
                      <a:pPr algn="ctr"/>
                      <a:r>
                        <a:rPr lang="en-GB" sz="1100" dirty="0">
                          <a:latin typeface="Times New Roman" panose="02020603050405020304" pitchFamily="18" charset="0"/>
                          <a:cs typeface="Times New Roman" panose="02020603050405020304" pitchFamily="18" charset="0"/>
                        </a:rPr>
                        <a:t>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P771710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Calibri" panose="020F0502020204030204" pitchFamily="34" charset="0"/>
                          <a:ea typeface="+mn-ea"/>
                          <a:cs typeface="+mn-cs"/>
                          <a:sym typeface="Arial"/>
                        </a:rPr>
                        <a:t>P771075</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A621#2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Calibri" panose="020F0502020204030204" pitchFamily="34" charset="0"/>
                          <a:ea typeface="+mn-ea"/>
                          <a:cs typeface="+mn-cs"/>
                        </a:rPr>
                        <a:t>A621#2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Calibri" panose="020F0502020204030204" pitchFamily="34" charset="0"/>
                          <a:ea typeface="+mn-ea"/>
                          <a:cs typeface="+mn-cs"/>
                        </a:rPr>
                        <a:t>7-Mar-25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Calibri" panose="020F0502020204030204" pitchFamily="34" charset="0"/>
                          <a:ea typeface="+mn-ea"/>
                          <a:cs typeface="+mn-cs"/>
                        </a:rPr>
                        <a:t>9-Mar-25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sym typeface="Arial"/>
                        </a:rPr>
                        <a:t>Giữ giờ P771710 để bay CĐ hè</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1565641"/>
                  </a:ext>
                </a:extLst>
              </a:tr>
              <a:tr h="428465">
                <a:tc>
                  <a:txBody>
                    <a:bodyPr/>
                    <a:lstStyle/>
                    <a:p>
                      <a:pPr algn="ctr"/>
                      <a:r>
                        <a:rPr lang="en-GB" sz="1100" dirty="0">
                          <a:latin typeface="Times New Roman" panose="02020603050405020304" pitchFamily="18" charset="0"/>
                          <a:cs typeface="Times New Roman" panose="02020603050405020304" pitchFamily="18" charset="0"/>
                        </a:rPr>
                        <a:t>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kern="1200">
                          <a:solidFill>
                            <a:schemeClr val="tx1"/>
                          </a:solidFill>
                          <a:effectLst/>
                          <a:latin typeface="Calibri" panose="020F0502020204030204" pitchFamily="34" charset="0"/>
                          <a:ea typeface="+mn-ea"/>
                          <a:cs typeface="+mn-cs"/>
                          <a:sym typeface="Arial"/>
                        </a:rPr>
                        <a:t>P7709</a:t>
                      </a:r>
                      <a:r>
                        <a:rPr lang="en-US" sz="1200" b="0" i="0" u="none" strike="noStrike" kern="1200">
                          <a:solidFill>
                            <a:schemeClr val="tx1"/>
                          </a:solidFill>
                          <a:effectLst/>
                          <a:latin typeface="Calibri" panose="020F0502020204030204" pitchFamily="34" charset="0"/>
                          <a:ea typeface="+mn-ea"/>
                          <a:cs typeface="+mn-cs"/>
                          <a:sym typeface="Arial"/>
                        </a:rPr>
                        <a:t>94</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sym typeface="Arial"/>
                        </a:rPr>
                        <a:t>A503#1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10-Apr-25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Install U/S engine P770994 in HAN to perform check, release stand and run-up 7 day interval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84390368"/>
                  </a:ext>
                </a:extLst>
              </a:tr>
              <a:tr h="428465">
                <a:tc>
                  <a:txBody>
                    <a:bodyPr/>
                    <a:lstStyle/>
                    <a:p>
                      <a:pPr algn="ctr"/>
                      <a:r>
                        <a:rPr lang="en-GB" sz="1100" dirty="0">
                          <a:latin typeface="Times New Roman" panose="02020603050405020304" pitchFamily="18" charset="0"/>
                          <a:cs typeface="Times New Roman" panose="02020603050405020304" pitchFamily="18" charset="0"/>
                        </a:rPr>
                        <a:t>6</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kern="1200">
                          <a:solidFill>
                            <a:schemeClr val="tx1"/>
                          </a:solidFill>
                          <a:effectLst/>
                          <a:latin typeface="Calibri" panose="020F0502020204030204" pitchFamily="34" charset="0"/>
                          <a:ea typeface="+mn-ea"/>
                          <a:cs typeface="+mn-cs"/>
                          <a:sym typeface="Arial"/>
                        </a:rPr>
                        <a:t>P77</a:t>
                      </a:r>
                      <a:r>
                        <a:rPr lang="en-US" sz="1200" b="0" i="0" u="none" strike="noStrike" kern="1200">
                          <a:solidFill>
                            <a:schemeClr val="tx1"/>
                          </a:solidFill>
                          <a:effectLst/>
                          <a:latin typeface="Calibri" panose="020F0502020204030204" pitchFamily="34" charset="0"/>
                          <a:ea typeface="+mn-ea"/>
                          <a:cs typeface="+mn-cs"/>
                          <a:sym typeface="Arial"/>
                        </a:rPr>
                        <a:t>1022</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sym typeface="Arial"/>
                        </a:rPr>
                        <a:t>A503#2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10-Apr-25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Install U/S engine P770994 in HAN to perform check, release stand and run-up 7 day interval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63539945"/>
                  </a:ext>
                </a:extLst>
              </a:tr>
              <a:tr h="428465">
                <a:tc>
                  <a:txBody>
                    <a:bodyPr/>
                    <a:lstStyle/>
                    <a:p>
                      <a:pPr algn="ctr"/>
                      <a:r>
                        <a:rPr lang="en-GB" sz="1100">
                          <a:latin typeface="Times New Roman" panose="02020603050405020304" pitchFamily="18" charset="0"/>
                          <a:cs typeface="Times New Roman" panose="02020603050405020304" pitchFamily="18" charset="0"/>
                        </a:rPr>
                        <a:t>7</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kern="1200">
                          <a:solidFill>
                            <a:schemeClr val="tx1"/>
                          </a:solidFill>
                          <a:effectLst/>
                          <a:latin typeface="Calibri" panose="020F0502020204030204" pitchFamily="34" charset="0"/>
                          <a:ea typeface="+mn-ea"/>
                          <a:cs typeface="+mn-cs"/>
                          <a:sym typeface="Arial"/>
                        </a:rPr>
                        <a:t>P770904</a:t>
                      </a:r>
                      <a:endParaRPr lang="en-US" sz="1200" b="0" i="0" u="none" strike="noStrike" kern="1200">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sym typeface="Arial"/>
                        </a:rPr>
                        <a:t>A616#2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22-Apr-25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vi-VN" sz="1200" b="0" i="0" u="none" strike="noStrike" kern="1200" noProof="0">
                          <a:solidFill>
                            <a:schemeClr val="tx1"/>
                          </a:solidFill>
                          <a:effectLst/>
                          <a:latin typeface="Calibri" panose="020F0502020204030204" pitchFamily="34" charset="0"/>
                          <a:ea typeface="+mn-ea"/>
                          <a:cs typeface="+mn-cs"/>
                          <a:sym typeface="Arial"/>
                        </a:rPr>
                        <a:t>ENG </a:t>
                      </a:r>
                      <a:r>
                        <a:rPr lang="en-US" sz="1200" b="0" i="0" u="none" strike="noStrike" kern="1200" noProof="0">
                          <a:solidFill>
                            <a:schemeClr val="tx1"/>
                          </a:solidFill>
                          <a:effectLst/>
                          <a:latin typeface="Calibri" panose="020F0502020204030204" pitchFamily="34" charset="0"/>
                          <a:ea typeface="+mn-ea"/>
                          <a:cs typeface="+mn-cs"/>
                          <a:sym typeface="Arial"/>
                        </a:rPr>
                        <a:t>INSTALL to RTS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1868498"/>
                  </a:ext>
                </a:extLst>
              </a:tr>
              <a:tr h="428465">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8</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kern="1200">
                          <a:solidFill>
                            <a:schemeClr val="tx1"/>
                          </a:solidFill>
                          <a:effectLst/>
                          <a:latin typeface="Calibri" panose="020F0502020204030204" pitchFamily="34" charset="0"/>
                          <a:ea typeface="+mn-ea"/>
                          <a:cs typeface="+mn-cs"/>
                          <a:sym typeface="Arial"/>
                        </a:rPr>
                        <a:t>P77</a:t>
                      </a:r>
                      <a:r>
                        <a:rPr lang="en-US" sz="1200" b="0" i="0" u="none" strike="noStrike" kern="1200">
                          <a:solidFill>
                            <a:schemeClr val="tx1"/>
                          </a:solidFill>
                          <a:effectLst/>
                          <a:latin typeface="Calibri" panose="020F0502020204030204" pitchFamily="34" charset="0"/>
                          <a:ea typeface="+mn-ea"/>
                          <a:cs typeface="+mn-cs"/>
                          <a:sym typeface="Arial"/>
                        </a:rPr>
                        <a:t>1130</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sym typeface="Arial"/>
                        </a:rPr>
                        <a:t>A616#1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25-Apr-25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vi-VN" sz="1200" b="0" i="0" u="none" strike="noStrike" kern="1200" noProof="0">
                          <a:solidFill>
                            <a:schemeClr val="tx1"/>
                          </a:solidFill>
                          <a:effectLst/>
                          <a:latin typeface="Calibri" panose="020F0502020204030204" pitchFamily="34" charset="0"/>
                          <a:ea typeface="+mn-ea"/>
                          <a:cs typeface="+mn-cs"/>
                          <a:sym typeface="Arial"/>
                        </a:rPr>
                        <a:t>ENG </a:t>
                      </a:r>
                      <a:r>
                        <a:rPr lang="en-US" sz="1200" b="0" i="0" u="none" strike="noStrike" kern="1200" noProof="0">
                          <a:solidFill>
                            <a:schemeClr val="tx1"/>
                          </a:solidFill>
                          <a:effectLst/>
                          <a:latin typeface="Calibri" panose="020F0502020204030204" pitchFamily="34" charset="0"/>
                          <a:ea typeface="+mn-ea"/>
                          <a:cs typeface="+mn-cs"/>
                          <a:sym typeface="Arial"/>
                        </a:rPr>
                        <a:t>INSTALL to RTS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62485768"/>
                  </a:ext>
                </a:extLst>
              </a:tr>
              <a:tr h="428465">
                <a:tc>
                  <a:txBody>
                    <a:bodyPr/>
                    <a:lstStyle/>
                    <a:p>
                      <a:pPr algn="ctr"/>
                      <a:r>
                        <a:rPr lang="en-GB" sz="1100">
                          <a:solidFill>
                            <a:schemeClr val="tx1"/>
                          </a:solidFill>
                          <a:latin typeface="Times New Roman" panose="02020603050405020304" pitchFamily="18" charset="0"/>
                          <a:cs typeface="Times New Roman" panose="02020603050405020304" pitchFamily="18" charset="0"/>
                        </a:rPr>
                        <a:t> 9</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P771110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kern="1200">
                          <a:solidFill>
                            <a:schemeClr val="tx1"/>
                          </a:solidFill>
                          <a:effectLst/>
                          <a:latin typeface="Calibri" panose="020F0502020204030204" pitchFamily="34" charset="0"/>
                          <a:ea typeface="+mn-ea"/>
                          <a:cs typeface="+mn-cs"/>
                          <a:sym typeface="Arial"/>
                        </a:rPr>
                        <a:t>P77</a:t>
                      </a:r>
                      <a:r>
                        <a:rPr lang="en-US" sz="1200" b="0" i="0" u="none" strike="noStrike" kern="1200">
                          <a:solidFill>
                            <a:schemeClr val="tx1"/>
                          </a:solidFill>
                          <a:effectLst/>
                          <a:latin typeface="Calibri" panose="020F0502020204030204" pitchFamily="34" charset="0"/>
                          <a:ea typeface="+mn-ea"/>
                          <a:cs typeface="+mn-cs"/>
                          <a:sym typeface="Arial"/>
                        </a:rPr>
                        <a:t>1710</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A501#2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A501#2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1-Apr-25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3-Apr-25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CHANGE to RTS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02644935"/>
                  </a:ext>
                </a:extLst>
              </a:tr>
              <a:tr h="428465">
                <a:tc>
                  <a:txBody>
                    <a:bodyPr/>
                    <a:lstStyle/>
                    <a:p>
                      <a:pPr algn="ctr"/>
                      <a:r>
                        <a:rPr lang="en-GB" sz="1100">
                          <a:solidFill>
                            <a:schemeClr val="tx1"/>
                          </a:solidFill>
                          <a:latin typeface="Times New Roman" panose="02020603050405020304" pitchFamily="18" charset="0"/>
                          <a:cs typeface="Times New Roman" panose="02020603050405020304" pitchFamily="18" charset="0"/>
                        </a:rPr>
                        <a:t>10</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P771131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kern="1200">
                          <a:solidFill>
                            <a:schemeClr val="tx1"/>
                          </a:solidFill>
                          <a:effectLst/>
                          <a:latin typeface="Calibri" panose="020F0502020204030204" pitchFamily="34" charset="0"/>
                          <a:ea typeface="+mn-ea"/>
                          <a:cs typeface="+mn-cs"/>
                          <a:sym typeface="Arial"/>
                        </a:rPr>
                        <a:t>P77</a:t>
                      </a:r>
                      <a:r>
                        <a:rPr lang="en-US" sz="1200" b="0" i="0" u="none" strike="noStrike" kern="1200">
                          <a:solidFill>
                            <a:schemeClr val="tx1"/>
                          </a:solidFill>
                          <a:effectLst/>
                          <a:latin typeface="Calibri" panose="020F0502020204030204" pitchFamily="34" charset="0"/>
                          <a:ea typeface="+mn-ea"/>
                          <a:cs typeface="+mn-cs"/>
                          <a:sym typeface="Arial"/>
                        </a:rPr>
                        <a:t>0903</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A501#1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A501#1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7-May-25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9-May-25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CHANGE to RTS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1236811"/>
                  </a:ext>
                </a:extLst>
              </a:tr>
              <a:tr h="428465">
                <a:tc>
                  <a:txBody>
                    <a:bodyPr/>
                    <a:lstStyle/>
                    <a:p>
                      <a:pPr algn="ctr"/>
                      <a:r>
                        <a:rPr lang="en-GB" sz="1100">
                          <a:solidFill>
                            <a:schemeClr val="tx1"/>
                          </a:solidFill>
                          <a:latin typeface="Times New Roman" panose="02020603050405020304" pitchFamily="18" charset="0"/>
                          <a:cs typeface="Times New Roman" panose="02020603050405020304" pitchFamily="18" charset="0"/>
                        </a:rPr>
                        <a:t> 11</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P771177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P771110</a:t>
                      </a:r>
                      <a:endParaRPr lang="en-US" sz="1200" b="0" i="0" u="none" strike="noStrike" kern="1200">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A622#1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A622#1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3-Apr-25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5-Apr-25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CHANGE</a:t>
                      </a:r>
                      <a:endParaRPr lang="en-GB" sz="1200" b="0" i="0" u="none" strike="noStrike" kern="1200" noProof="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5520155"/>
                  </a:ext>
                </a:extLst>
              </a:tr>
              <a:tr h="428465">
                <a:tc>
                  <a:txBody>
                    <a:bodyPr/>
                    <a:lstStyle/>
                    <a:p>
                      <a:pPr algn="ctr"/>
                      <a:r>
                        <a:rPr lang="en-GB" sz="1100">
                          <a:solidFill>
                            <a:schemeClr val="tx1"/>
                          </a:solidFill>
                          <a:latin typeface="Times New Roman" panose="02020603050405020304" pitchFamily="18" charset="0"/>
                          <a:cs typeface="Times New Roman" panose="02020603050405020304" pitchFamily="18" charset="0"/>
                        </a:rPr>
                        <a:t>12</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P771131</a:t>
                      </a:r>
                      <a:endParaRPr lang="en-US" sz="1200" b="0" i="0" u="none" strike="noStrike" kern="1200">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kern="1200">
                          <a:solidFill>
                            <a:schemeClr val="tx1"/>
                          </a:solidFill>
                          <a:effectLst/>
                          <a:latin typeface="Calibri" panose="020F0502020204030204" pitchFamily="34" charset="0"/>
                          <a:ea typeface="+mn-ea"/>
                          <a:cs typeface="+mn-cs"/>
                        </a:rPr>
                        <a:t>A623#2</a:t>
                      </a:r>
                      <a:endParaRPr lang="en-US" sz="1200" b="0" i="0" u="none" strike="noStrike" kern="1200">
                        <a:solidFill>
                          <a:schemeClr val="tx1"/>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7-May-25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INSTALLATION</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1110417"/>
                  </a:ext>
                </a:extLst>
              </a:tr>
            </a:tbl>
          </a:graphicData>
        </a:graphic>
      </p:graphicFrame>
    </p:spTree>
    <p:extLst>
      <p:ext uri="{BB962C8B-B14F-4D97-AF65-F5344CB8AC3E}">
        <p14:creationId xmlns:p14="http://schemas.microsoft.com/office/powerpoint/2010/main" val="11733663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C04D1-B131-A396-A21D-BABB2FBC0F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0AF8DC-DB52-2B80-A0CB-44CC8F1F6223}"/>
              </a:ext>
            </a:extLst>
          </p:cNvPr>
          <p:cNvSpPr>
            <a:spLocks noGrp="1"/>
          </p:cNvSpPr>
          <p:nvPr>
            <p:ph type="sldNum" idx="12"/>
          </p:nvPr>
        </p:nvSpPr>
        <p:spPr/>
        <p:txBody>
          <a:bodyPr/>
          <a:lstStyle/>
          <a:p>
            <a:fld id="{00000000-1234-1234-1234-123412341234}" type="slidenum">
              <a:rPr lang="vi" smtClean="0"/>
              <a:pPr/>
              <a:t>26</a:t>
            </a:fld>
            <a:endParaRPr lang="vi"/>
          </a:p>
        </p:txBody>
      </p:sp>
      <p:sp>
        <p:nvSpPr>
          <p:cNvPr id="4" name="TextBox 3">
            <a:extLst>
              <a:ext uri="{FF2B5EF4-FFF2-40B4-BE49-F238E27FC236}">
                <a16:creationId xmlns:a16="http://schemas.microsoft.com/office/drawing/2014/main" id="{6A298D6A-885F-D023-4F90-0DB964121D89}"/>
              </a:ext>
            </a:extLst>
          </p:cNvPr>
          <p:cNvSpPr txBox="1"/>
          <p:nvPr/>
        </p:nvSpPr>
        <p:spPr>
          <a:xfrm>
            <a:off x="2867825" y="145192"/>
            <a:ext cx="5764090" cy="461665"/>
          </a:xfrm>
          <a:prstGeom prst="rect">
            <a:avLst/>
          </a:prstGeom>
          <a:noFill/>
        </p:spPr>
        <p:txBody>
          <a:bodyPr wrap="square" rtlCol="0">
            <a:spAutoFit/>
          </a:bodyPr>
          <a:lstStyle/>
          <a:p>
            <a:pPr algn="ctr"/>
            <a:r>
              <a:rPr lang="en-US" sz="2400" b="1" dirty="0">
                <a:solidFill>
                  <a:srgbClr val="DAA600"/>
                </a:solidFill>
                <a:latin typeface="Times New Roman" panose="02020603050405020304" pitchFamily="18" charset="0"/>
                <a:cs typeface="Times New Roman" panose="02020603050405020304" pitchFamily="18" charset="0"/>
              </a:rPr>
              <a:t>ĐỘI BAY A321CEO</a:t>
            </a:r>
            <a:endParaRPr lang="en-GB" sz="2400" b="1" dirty="0">
              <a:solidFill>
                <a:srgbClr val="DAA600"/>
              </a:solidFill>
              <a:latin typeface="Times New Roman" panose="02020603050405020304" pitchFamily="18" charset="0"/>
              <a:cs typeface="Times New Roman" panose="02020603050405020304" pitchFamily="18" charset="0"/>
            </a:endParaRPr>
          </a:p>
        </p:txBody>
      </p:sp>
      <p:graphicFrame>
        <p:nvGraphicFramePr>
          <p:cNvPr id="7" name="Table 2">
            <a:extLst>
              <a:ext uri="{FF2B5EF4-FFF2-40B4-BE49-F238E27FC236}">
                <a16:creationId xmlns:a16="http://schemas.microsoft.com/office/drawing/2014/main" id="{7BBB0B2C-0AB6-AE2A-F08B-65F49223079D}"/>
              </a:ext>
            </a:extLst>
          </p:cNvPr>
          <p:cNvGraphicFramePr>
            <a:graphicFrameLocks noGrp="1"/>
          </p:cNvGraphicFramePr>
          <p:nvPr/>
        </p:nvGraphicFramePr>
        <p:xfrm>
          <a:off x="185138" y="1041725"/>
          <a:ext cx="5339361" cy="3638990"/>
        </p:xfrm>
        <a:graphic>
          <a:graphicData uri="http://schemas.openxmlformats.org/drawingml/2006/table">
            <a:tbl>
              <a:tblPr firstRow="1" bandRow="1">
                <a:tableStyleId>{5C22544A-7EE6-4342-B048-85BDC9FD1C3A}</a:tableStyleId>
              </a:tblPr>
              <a:tblGrid>
                <a:gridCol w="430883">
                  <a:extLst>
                    <a:ext uri="{9D8B030D-6E8A-4147-A177-3AD203B41FA5}">
                      <a16:colId xmlns:a16="http://schemas.microsoft.com/office/drawing/2014/main" val="1598605427"/>
                    </a:ext>
                  </a:extLst>
                </a:gridCol>
                <a:gridCol w="701211">
                  <a:extLst>
                    <a:ext uri="{9D8B030D-6E8A-4147-A177-3AD203B41FA5}">
                      <a16:colId xmlns:a16="http://schemas.microsoft.com/office/drawing/2014/main" val="3845954792"/>
                    </a:ext>
                  </a:extLst>
                </a:gridCol>
                <a:gridCol w="1023768">
                  <a:extLst>
                    <a:ext uri="{9D8B030D-6E8A-4147-A177-3AD203B41FA5}">
                      <a16:colId xmlns:a16="http://schemas.microsoft.com/office/drawing/2014/main" val="2148822928"/>
                    </a:ext>
                  </a:extLst>
                </a:gridCol>
                <a:gridCol w="872619">
                  <a:extLst>
                    <a:ext uri="{9D8B030D-6E8A-4147-A177-3AD203B41FA5}">
                      <a16:colId xmlns:a16="http://schemas.microsoft.com/office/drawing/2014/main" val="1185879436"/>
                    </a:ext>
                  </a:extLst>
                </a:gridCol>
                <a:gridCol w="2310880">
                  <a:extLst>
                    <a:ext uri="{9D8B030D-6E8A-4147-A177-3AD203B41FA5}">
                      <a16:colId xmlns:a16="http://schemas.microsoft.com/office/drawing/2014/main" val="3328294324"/>
                    </a:ext>
                  </a:extLst>
                </a:gridCol>
              </a:tblGrid>
              <a:tr h="259882">
                <a:tc>
                  <a:txBody>
                    <a:bodyPr/>
                    <a:lstStyle/>
                    <a:p>
                      <a:pPr algn="ct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ESN</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Status</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err="1">
                          <a:latin typeface="Times New Roman" panose="02020603050405020304" pitchFamily="18" charset="0"/>
                          <a:cs typeface="Times New Roman" panose="02020603050405020304" pitchFamily="18" charset="0"/>
                        </a:rPr>
                        <a:t>Ngày</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xong</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Remark</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1950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V15851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HAN SERV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28/01/2024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4237589"/>
                  </a:ext>
                </a:extLst>
              </a:tr>
              <a:tr h="173734">
                <a:tc>
                  <a:txBody>
                    <a:bodyPr/>
                    <a:lstStyle/>
                    <a:p>
                      <a:pPr algn="ctr"/>
                      <a:r>
                        <a:rPr lang="en-US" sz="1100" dirty="0">
                          <a:solidFill>
                            <a:schemeClr val="tx1"/>
                          </a:solidFill>
                          <a:latin typeface="Times New Roman" panose="02020603050405020304" pitchFamily="18" charset="0"/>
                          <a:cs typeface="Times New Roman" panose="02020603050405020304" pitchFamily="18" charset="0"/>
                        </a:rPr>
                        <a:t>2</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V17951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HAN SERV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26/12/2024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04525903"/>
                  </a:ext>
                </a:extLst>
              </a:tr>
              <a:tr h="259882">
                <a:tc>
                  <a:txBody>
                    <a:bodyPr/>
                    <a:lstStyle/>
                    <a:p>
                      <a:pPr algn="ctr"/>
                      <a:r>
                        <a:rPr lang="en-US" sz="1100" dirty="0">
                          <a:solidFill>
                            <a:schemeClr val="tx1"/>
                          </a:solidFill>
                          <a:latin typeface="Times New Roman" panose="02020603050405020304" pitchFamily="18" charset="0"/>
                          <a:cs typeface="Times New Roman" panose="02020603050405020304" pitchFamily="18" charset="0"/>
                        </a:rPr>
                        <a:t>3</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V16037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SGN SERV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23/02/2025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5220057"/>
                  </a:ext>
                </a:extLst>
              </a:tr>
              <a:tr h="259882">
                <a:tc>
                  <a:txBody>
                    <a:bodyPr/>
                    <a:lstStyle/>
                    <a:p>
                      <a:pPr algn="ctr"/>
                      <a:r>
                        <a:rPr lang="en-GB" sz="1100" dirty="0">
                          <a:solidFill>
                            <a:srgbClr val="FF0000"/>
                          </a:solidFill>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V16338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25/04/2025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rgbClr val="FF0000"/>
                          </a:solidFill>
                          <a:latin typeface="Times New Roman" panose="02020603050405020304" pitchFamily="18" charset="0"/>
                          <a:cs typeface="Times New Roman" panose="02020603050405020304" pitchFamily="18" charset="0"/>
                        </a:rPr>
                        <a:t>02/05/2025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HAN (pre 25/04)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59882">
                <a:tc>
                  <a:txBody>
                    <a:bodyPr/>
                    <a:lstStyle/>
                    <a:p>
                      <a:pPr algn="ctr"/>
                      <a:r>
                        <a:rPr lang="en-GB" sz="1100" dirty="0">
                          <a:solidFill>
                            <a:srgbClr val="FF0000"/>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V16692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(CHCEC)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05/05/2025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rgbClr val="FF0000"/>
                          </a:solidFill>
                          <a:latin typeface="Times New Roman" panose="02020603050405020304" pitchFamily="18" charset="0"/>
                          <a:cs typeface="Times New Roman" panose="02020603050405020304" pitchFamily="18" charset="0"/>
                        </a:rPr>
                        <a:t>17/05/2025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HAN (pre 13/05)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59882">
                <a:tc>
                  <a:txBody>
                    <a:bodyPr/>
                    <a:lstStyle/>
                    <a:p>
                      <a:pPr algn="ctr"/>
                      <a:r>
                        <a:rPr lang="en-GB" sz="1100" dirty="0">
                          <a:solidFill>
                            <a:srgbClr val="FF0000"/>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V16456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31/03/2025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rgbClr val="FF0000"/>
                          </a:solidFill>
                          <a:latin typeface="Times New Roman" panose="02020603050405020304" pitchFamily="18" charset="0"/>
                          <a:cs typeface="Times New Roman" panose="02020603050405020304" pitchFamily="18" charset="0"/>
                        </a:rPr>
                        <a:t>09/04/2025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SGN (pre 07/04)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r h="259882">
                <a:tc>
                  <a:txBody>
                    <a:bodyPr/>
                    <a:lstStyle/>
                    <a:p>
                      <a:pPr algn="ctr"/>
                      <a:r>
                        <a:rPr lang="en-GB" sz="1100" dirty="0">
                          <a:solidFill>
                            <a:srgbClr val="FF0000"/>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V12505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24/03/2025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rgbClr val="FF0000"/>
                          </a:solidFill>
                          <a:latin typeface="Times New Roman" panose="02020603050405020304" pitchFamily="18" charset="0"/>
                          <a:cs typeface="Times New Roman" panose="02020603050405020304" pitchFamily="18" charset="0"/>
                        </a:rPr>
                        <a:t>01/04/2025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SGN (pre 26/03)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4"/>
                  </a:ext>
                </a:extLst>
              </a:tr>
              <a:tr h="265336">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(CHCEC)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26/05/2025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08/06/2025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5"/>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V16799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18/06/2025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28/06/2025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7"/>
                  </a:ext>
                </a:extLst>
              </a:tr>
              <a:tr h="196996">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28/07/2025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09/08/2025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8"/>
                  </a:ext>
                </a:extLst>
              </a:tr>
              <a:tr h="19892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V16694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01/08/2025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08/08/2025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0"/>
                  </a:ext>
                </a:extLst>
              </a:tr>
              <a:tr h="245444">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V15858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14/08/2025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21/08/2025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1"/>
                  </a:ext>
                </a:extLst>
              </a:tr>
              <a:tr h="156570">
                <a:tc>
                  <a:txBody>
                    <a:bodyPr/>
                    <a:lstStyle/>
                    <a:p>
                      <a:pPr algn="ctr"/>
                      <a:r>
                        <a:rPr lang="en-GB" sz="1100" dirty="0">
                          <a:solidFill>
                            <a:srgbClr val="FF0000"/>
                          </a:solidFill>
                          <a:latin typeface="Times New Roman" panose="02020603050405020304" pitchFamily="18" charset="0"/>
                          <a:cs typeface="Times New Roman" panose="020206030504050203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V17403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05/05/2025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rgbClr val="FF0000"/>
                          </a:solidFill>
                          <a:latin typeface="Times New Roman" panose="02020603050405020304" pitchFamily="18" charset="0"/>
                          <a:cs typeface="Times New Roman" panose="02020603050405020304" pitchFamily="18" charset="0"/>
                        </a:rPr>
                        <a:t>12/05/2025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HAN (pre 06/05)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2"/>
                  </a:ext>
                </a:extLst>
              </a:tr>
            </a:tbl>
          </a:graphicData>
        </a:graphic>
      </p:graphicFrame>
      <p:sp>
        <p:nvSpPr>
          <p:cNvPr id="10" name="TextBox 9">
            <a:extLst>
              <a:ext uri="{FF2B5EF4-FFF2-40B4-BE49-F238E27FC236}">
                <a16:creationId xmlns:a16="http://schemas.microsoft.com/office/drawing/2014/main" id="{065B7C68-FAE0-542E-3B49-CC53ADF9B04A}"/>
              </a:ext>
            </a:extLst>
          </p:cNvPr>
          <p:cNvSpPr txBox="1"/>
          <p:nvPr/>
        </p:nvSpPr>
        <p:spPr>
          <a:xfrm>
            <a:off x="6731101" y="606857"/>
            <a:ext cx="3788281"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Kế</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hoạch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đội</a:t>
            </a:r>
            <a:r>
              <a:rPr lang="en-US" b="1" dirty="0">
                <a:solidFill>
                  <a:srgbClr val="002060"/>
                </a:solidFill>
                <a:latin typeface="Times New Roman" panose="02020603050405020304" pitchFamily="18" charset="0"/>
                <a:cs typeface="Times New Roman" panose="02020603050405020304" pitchFamily="18" charset="0"/>
              </a:rPr>
              <a:t> A321CEO Q1-Q2/2025</a:t>
            </a:r>
            <a:endParaRPr lang="en-GB" b="1" dirty="0">
              <a:solidFill>
                <a:srgbClr val="002060"/>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694FDAB8-BE54-1FE3-A128-4924718F86B6}"/>
              </a:ext>
            </a:extLst>
          </p:cNvPr>
          <p:cNvSpPr txBox="1"/>
          <p:nvPr/>
        </p:nvSpPr>
        <p:spPr>
          <a:xfrm>
            <a:off x="953116" y="626875"/>
            <a:ext cx="3692036"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Các</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động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đã</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tháo</a:t>
            </a:r>
            <a:r>
              <a:rPr lang="en-US" b="1" dirty="0">
                <a:solidFill>
                  <a:srgbClr val="002060"/>
                </a:solidFill>
                <a:latin typeface="Times New Roman" panose="02020603050405020304" pitchFamily="18" charset="0"/>
                <a:cs typeface="Times New Roman" panose="02020603050405020304" pitchFamily="18" charset="0"/>
              </a:rPr>
              <a:t>/</a:t>
            </a:r>
            <a:r>
              <a:rPr lang="en-US" b="1" dirty="0" err="1">
                <a:solidFill>
                  <a:srgbClr val="002060"/>
                </a:solidFill>
                <a:latin typeface="Times New Roman" panose="02020603050405020304" pitchFamily="18" charset="0"/>
                <a:cs typeface="Times New Roman" panose="02020603050405020304" pitchFamily="18" charset="0"/>
              </a:rPr>
              <a:t>đang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sửa</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chữa</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798A4453-6D37-A3D5-A532-1D65A56E72A5}"/>
              </a:ext>
            </a:extLst>
          </p:cNvPr>
          <p:cNvGraphicFramePr>
            <a:graphicFrameLocks noGrp="1"/>
          </p:cNvGraphicFramePr>
          <p:nvPr/>
        </p:nvGraphicFramePr>
        <p:xfrm>
          <a:off x="5737199" y="1035392"/>
          <a:ext cx="6207275" cy="2519367"/>
        </p:xfrm>
        <a:graphic>
          <a:graphicData uri="http://schemas.openxmlformats.org/drawingml/2006/table">
            <a:tbl>
              <a:tblPr firstRow="1" bandRow="1">
                <a:tableStyleId>{93296810-A885-4BE3-A3E7-6D5BEEA58F35}</a:tableStyleId>
              </a:tblPr>
              <a:tblGrid>
                <a:gridCol w="536402">
                  <a:extLst>
                    <a:ext uri="{9D8B030D-6E8A-4147-A177-3AD203B41FA5}">
                      <a16:colId xmlns:a16="http://schemas.microsoft.com/office/drawing/2014/main" val="4292553957"/>
                    </a:ext>
                  </a:extLst>
                </a:gridCol>
                <a:gridCol w="835915">
                  <a:extLst>
                    <a:ext uri="{9D8B030D-6E8A-4147-A177-3AD203B41FA5}">
                      <a16:colId xmlns:a16="http://schemas.microsoft.com/office/drawing/2014/main" val="4057841190"/>
                    </a:ext>
                  </a:extLst>
                </a:gridCol>
                <a:gridCol w="826627">
                  <a:extLst>
                    <a:ext uri="{9D8B030D-6E8A-4147-A177-3AD203B41FA5}">
                      <a16:colId xmlns:a16="http://schemas.microsoft.com/office/drawing/2014/main" val="4208667331"/>
                    </a:ext>
                  </a:extLst>
                </a:gridCol>
                <a:gridCol w="1263161">
                  <a:extLst>
                    <a:ext uri="{9D8B030D-6E8A-4147-A177-3AD203B41FA5}">
                      <a16:colId xmlns:a16="http://schemas.microsoft.com/office/drawing/2014/main" val="4243809776"/>
                    </a:ext>
                  </a:extLst>
                </a:gridCol>
                <a:gridCol w="2745170">
                  <a:extLst>
                    <a:ext uri="{9D8B030D-6E8A-4147-A177-3AD203B41FA5}">
                      <a16:colId xmlns:a16="http://schemas.microsoft.com/office/drawing/2014/main" val="1351526185"/>
                    </a:ext>
                  </a:extLst>
                </a:gridCol>
              </a:tblGrid>
              <a:tr h="280997">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AC</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Ngày</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tháo</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lắp</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67819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V11696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A363#2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23-25/03/2025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HSR,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V16037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4149846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V16512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A357#2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01-03/04/2025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V17951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0234962"/>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V11752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A354#2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10-12/04/2025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HSR,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V16456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3960055"/>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V15876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A610#1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14-16/04/2025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V15851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213773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V16462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XU350#2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17-19/04/2025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AD Hub,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V12505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017303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V16049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A359#2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05-07/05/2025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V16338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071077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V15935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A392#2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19-21/05/2025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V16692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507966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V11694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A359#1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01-03/06/2025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HSR,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V17403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54226108"/>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V16570</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A329#2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05-07/06/2025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V16558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120027"/>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10</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A398#1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28-30/06/2025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Tháo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Willis,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V16799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6076786"/>
                  </a:ext>
                </a:extLst>
              </a:tr>
            </a:tbl>
          </a:graphicData>
        </a:graphic>
      </p:graphicFrame>
      <p:sp>
        <p:nvSpPr>
          <p:cNvPr id="3" name="TextBox 2">
            <a:extLst>
              <a:ext uri="{FF2B5EF4-FFF2-40B4-BE49-F238E27FC236}">
                <a16:creationId xmlns:a16="http://schemas.microsoft.com/office/drawing/2014/main" id="{4DE6CC1A-C4DC-6FC8-06CD-779939B6893C}"/>
              </a:ext>
            </a:extLst>
          </p:cNvPr>
          <p:cNvSpPr txBox="1"/>
          <p:nvPr/>
        </p:nvSpPr>
        <p:spPr>
          <a:xfrm>
            <a:off x="7340536" y="3568160"/>
            <a:ext cx="2582758"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Tình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trạng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động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thuê</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8E7616FB-C309-B068-5BA6-2EC84567F23C}"/>
              </a:ext>
            </a:extLst>
          </p:cNvPr>
          <p:cNvGraphicFramePr>
            <a:graphicFrameLocks noGrp="1"/>
          </p:cNvGraphicFramePr>
          <p:nvPr/>
        </p:nvGraphicFramePr>
        <p:xfrm>
          <a:off x="5760208" y="3956846"/>
          <a:ext cx="6207275" cy="2519367"/>
        </p:xfrm>
        <a:graphic>
          <a:graphicData uri="http://schemas.openxmlformats.org/drawingml/2006/table">
            <a:tbl>
              <a:tblPr firstRow="1" bandRow="1">
                <a:tableStyleId>{93296810-A885-4BE3-A3E7-6D5BEEA58F35}</a:tableStyleId>
              </a:tblPr>
              <a:tblGrid>
                <a:gridCol w="536402">
                  <a:extLst>
                    <a:ext uri="{9D8B030D-6E8A-4147-A177-3AD203B41FA5}">
                      <a16:colId xmlns:a16="http://schemas.microsoft.com/office/drawing/2014/main" val="4292553957"/>
                    </a:ext>
                  </a:extLst>
                </a:gridCol>
                <a:gridCol w="835915">
                  <a:extLst>
                    <a:ext uri="{9D8B030D-6E8A-4147-A177-3AD203B41FA5}">
                      <a16:colId xmlns:a16="http://schemas.microsoft.com/office/drawing/2014/main" val="4057841190"/>
                    </a:ext>
                  </a:extLst>
                </a:gridCol>
                <a:gridCol w="826627">
                  <a:extLst>
                    <a:ext uri="{9D8B030D-6E8A-4147-A177-3AD203B41FA5}">
                      <a16:colId xmlns:a16="http://schemas.microsoft.com/office/drawing/2014/main" val="4208667331"/>
                    </a:ext>
                  </a:extLst>
                </a:gridCol>
                <a:gridCol w="1263161">
                  <a:extLst>
                    <a:ext uri="{9D8B030D-6E8A-4147-A177-3AD203B41FA5}">
                      <a16:colId xmlns:a16="http://schemas.microsoft.com/office/drawing/2014/main" val="4243809776"/>
                    </a:ext>
                  </a:extLst>
                </a:gridCol>
                <a:gridCol w="2745170">
                  <a:extLst>
                    <a:ext uri="{9D8B030D-6E8A-4147-A177-3AD203B41FA5}">
                      <a16:colId xmlns:a16="http://schemas.microsoft.com/office/drawing/2014/main" val="1351526185"/>
                    </a:ext>
                  </a:extLst>
                </a:gridCol>
              </a:tblGrid>
              <a:tr h="280997">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Lessor</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Hạn</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trả</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67819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V17365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SMBC</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T11/2025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017303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31/12/2025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162735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T7/2025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071077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V13137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 T11/2025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V18818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27/12/2025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429295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V15346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03/01/2026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64767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V15369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08/01/2026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053351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V18874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17/03/2026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680001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V18977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14/03/2026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971113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10</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V13187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07/04/2026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5628123"/>
                  </a:ext>
                </a:extLst>
              </a:tr>
            </a:tbl>
          </a:graphicData>
        </a:graphic>
      </p:graphicFrame>
    </p:spTree>
    <p:extLst>
      <p:ext uri="{BB962C8B-B14F-4D97-AF65-F5344CB8AC3E}">
        <p14:creationId xmlns:p14="http://schemas.microsoft.com/office/powerpoint/2010/main" val="26593014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D3F78-EE7A-6244-EF60-C9D5576F3B5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78AFE3E-3844-01D3-D72D-0F4786BACA0F}"/>
              </a:ext>
            </a:extLst>
          </p:cNvPr>
          <p:cNvSpPr>
            <a:spLocks noGrp="1"/>
          </p:cNvSpPr>
          <p:nvPr>
            <p:ph type="sldNum" idx="12"/>
          </p:nvPr>
        </p:nvSpPr>
        <p:spPr/>
        <p:txBody>
          <a:bodyPr/>
          <a:lstStyle/>
          <a:p>
            <a:fld id="{00000000-1234-1234-1234-123412341234}" type="slidenum">
              <a:rPr lang="vi"/>
              <a:pPr/>
              <a:t>27</a:t>
            </a:fld>
            <a:endParaRPr lang="vi"/>
          </a:p>
        </p:txBody>
      </p:sp>
      <p:sp>
        <p:nvSpPr>
          <p:cNvPr id="3" name="Slide Number Placeholder 3">
            <a:extLst>
              <a:ext uri="{FF2B5EF4-FFF2-40B4-BE49-F238E27FC236}">
                <a16:creationId xmlns:a16="http://schemas.microsoft.com/office/drawing/2014/main" id="{BB68B28C-7DC1-3513-7C03-97417DFFBE37}"/>
              </a:ext>
            </a:extLst>
          </p:cNvPr>
          <p:cNvSpPr txBox="1">
            <a:spLocks/>
          </p:cNvSpPr>
          <p:nvPr/>
        </p:nvSpPr>
        <p:spPr>
          <a:xfrm>
            <a:off x="11480800" y="7745888"/>
            <a:ext cx="3657600" cy="486833"/>
          </a:xfrm>
          <a:prstGeom prst="rect">
            <a:avLst/>
          </a:prstGeom>
          <a:noFill/>
          <a:ln>
            <a:noFill/>
          </a:ln>
        </p:spPr>
        <p:txBody>
          <a:bodyPr spcFirstLastPara="1" wrap="square" lIns="121900" tIns="121900" rIns="121900" bIns="121900" anchor="ctr" anchorCtr="0">
            <a:norm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2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27</a:t>
            </a:fld>
            <a:endParaRPr lang="en-US" sz="1200" dirty="0">
              <a:solidFill>
                <a:srgbClr val="D2A43B"/>
              </a:solidFill>
              <a:latin typeface="Times New Roman" panose="02020603050405020304" pitchFamily="18" charset="0"/>
              <a:ea typeface="+mn-ea"/>
              <a:cs typeface="Times New Roman" panose="02020603050405020304" pitchFamily="18" charset="0"/>
              <a:sym typeface="Montserrat"/>
            </a:endParaRPr>
          </a:p>
        </p:txBody>
      </p:sp>
      <p:graphicFrame>
        <p:nvGraphicFramePr>
          <p:cNvPr id="4" name="Chart 3">
            <a:extLst>
              <a:ext uri="{FF2B5EF4-FFF2-40B4-BE49-F238E27FC236}">
                <a16:creationId xmlns:a16="http://schemas.microsoft.com/office/drawing/2014/main" id="{C6B0DA9E-4175-8F90-5644-7AB7D854EA46}"/>
              </a:ext>
            </a:extLst>
          </p:cNvPr>
          <p:cNvGraphicFramePr/>
          <p:nvPr/>
        </p:nvGraphicFramePr>
        <p:xfrm>
          <a:off x="6867117" y="491750"/>
          <a:ext cx="5236309" cy="3484007"/>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B830FD37-0C62-DD9A-7EAB-6CFC0D17CDB3}"/>
              </a:ext>
            </a:extLst>
          </p:cNvPr>
          <p:cNvSpPr txBox="1"/>
          <p:nvPr/>
        </p:nvSpPr>
        <p:spPr>
          <a:xfrm>
            <a:off x="88573" y="3984177"/>
            <a:ext cx="12014853" cy="2801536"/>
          </a:xfrm>
          <a:prstGeom prst="rect">
            <a:avLst/>
          </a:prstGeom>
          <a:solidFill>
            <a:schemeClr val="bg1"/>
          </a:solidFill>
          <a:ln>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marL="380990" indent="-380990" defTabSz="1219170">
              <a:buFontTx/>
              <a:buChar char="-"/>
              <a:defRPr/>
            </a:pPr>
            <a:r>
              <a:rPr lang="en-US" sz="1467" b="1" dirty="0" err="1">
                <a:solidFill>
                  <a:schemeClr val="tx1"/>
                </a:solidFill>
                <a:latin typeface="Times New Roman" panose="02020603050405020304" pitchFamily="18" charset="0"/>
                <a:cs typeface="Times New Roman" panose="02020603050405020304" pitchFamily="18" charset="0"/>
              </a:rPr>
              <a:t>Động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cơ</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dự</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phòng</a:t>
            </a:r>
            <a:r>
              <a:rPr lang="en-US" sz="1467" b="1" dirty="0">
                <a:solidFill>
                  <a:schemeClr val="tx1"/>
                </a:solidFill>
                <a:latin typeface="Times New Roman" panose="02020603050405020304" pitchFamily="18" charset="0"/>
                <a:cs typeface="Times New Roman" panose="02020603050405020304" pitchFamily="18" charset="0"/>
              </a:rPr>
              <a:t>:</a:t>
            </a:r>
            <a:r>
              <a:rPr lang="en-US" sz="1467" dirty="0">
                <a:solidFill>
                  <a:schemeClr val="tx1"/>
                </a:solidFill>
                <a:latin typeface="Times New Roman" panose="02020603050405020304" pitchFamily="18" charset="0"/>
                <a:cs typeface="Times New Roman" panose="02020603050405020304" pitchFamily="18" charset="0"/>
              </a:rPr>
              <a:t> 958395 – 25 cycle </a:t>
            </a:r>
            <a:r>
              <a:rPr lang="en-US" sz="1467" dirty="0" err="1">
                <a:solidFill>
                  <a:schemeClr val="tx1"/>
                </a:solidFill>
                <a:latin typeface="Times New Roman" panose="02020603050405020304" pitchFamily="18" charset="0"/>
                <a:cs typeface="Times New Roman" panose="02020603050405020304" pitchFamily="18" charset="0"/>
              </a:rPr>
              <a:t>làm</a:t>
            </a:r>
            <a:r>
              <a:rPr lang="en-US" sz="1467" dirty="0">
                <a:solidFill>
                  <a:schemeClr val="tx1"/>
                </a:solidFill>
                <a:latin typeface="Times New Roman" panose="02020603050405020304" pitchFamily="18" charset="0"/>
                <a:cs typeface="Times New Roman" panose="02020603050405020304" pitchFamily="18" charset="0"/>
              </a:rPr>
              <a:t> ĐCDP </a:t>
            </a:r>
            <a:r>
              <a:rPr lang="en-US" sz="1467" dirty="0" err="1">
                <a:solidFill>
                  <a:schemeClr val="tx1"/>
                </a:solidFill>
                <a:latin typeface="Times New Roman" panose="02020603050405020304" pitchFamily="18" charset="0"/>
                <a:cs typeface="Times New Roman" panose="02020603050405020304" pitchFamily="18" charset="0"/>
              </a:rPr>
              <a:t>nếu</a:t>
            </a:r>
            <a:r>
              <a:rPr lang="en-US" sz="1467" dirty="0">
                <a:solidFill>
                  <a:schemeClr val="tx1"/>
                </a:solidFill>
                <a:latin typeface="Times New Roman" panose="02020603050405020304" pitchFamily="18" charset="0"/>
                <a:cs typeface="Times New Roman" panose="02020603050405020304" pitchFamily="18" charset="0"/>
              </a:rPr>
              <a:t> urgent (</a:t>
            </a:r>
            <a:r>
              <a:rPr lang="en-US" sz="1467" dirty="0" err="1">
                <a:solidFill>
                  <a:srgbClr val="ED0000"/>
                </a:solidFill>
                <a:latin typeface="Times New Roman" panose="02020603050405020304" pitchFamily="18" charset="0"/>
                <a:cs typeface="Times New Roman" panose="02020603050405020304" pitchFamily="18" charset="0"/>
              </a:rPr>
              <a:t>đã</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FF0000"/>
                </a:solidFill>
                <a:latin typeface="Times New Roman" panose="02020603050405020304" pitchFamily="18" charset="0"/>
                <a:cs typeface="Times New Roman" panose="02020603050405020304" pitchFamily="18" charset="0"/>
              </a:rPr>
              <a:t>có</a:t>
            </a:r>
            <a:r>
              <a:rPr lang="en-US" sz="1467" dirty="0">
                <a:solidFill>
                  <a:srgbClr val="FF0000"/>
                </a:solidFill>
                <a:latin typeface="Times New Roman" panose="02020603050405020304" pitchFamily="18" charset="0"/>
                <a:cs typeface="Times New Roman" panose="02020603050405020304" pitchFamily="18" charset="0"/>
              </a:rPr>
              <a:t> </a:t>
            </a:r>
            <a:r>
              <a:rPr lang="en-US" sz="1467" dirty="0" err="1">
                <a:solidFill>
                  <a:srgbClr val="FF0000"/>
                </a:solidFill>
                <a:latin typeface="Times New Roman" panose="02020603050405020304" pitchFamily="18" charset="0"/>
                <a:cs typeface="Times New Roman" panose="02020603050405020304" pitchFamily="18" charset="0"/>
              </a:rPr>
              <a:t>lịch</a:t>
            </a:r>
            <a:r>
              <a:rPr lang="en-US" sz="1467" dirty="0">
                <a:solidFill>
                  <a:srgbClr val="FF0000"/>
                </a:solidFill>
                <a:latin typeface="Times New Roman" panose="02020603050405020304" pitchFamily="18" charset="0"/>
                <a:cs typeface="Times New Roman" panose="02020603050405020304" pitchFamily="18" charset="0"/>
              </a:rPr>
              <a:t> induct </a:t>
            </a:r>
            <a:r>
              <a:rPr lang="en-US" sz="1467" dirty="0" err="1">
                <a:solidFill>
                  <a:srgbClr val="FF0000"/>
                </a:solidFill>
                <a:latin typeface="Times New Roman" panose="02020603050405020304" pitchFamily="18" charset="0"/>
                <a:cs typeface="Times New Roman" panose="02020603050405020304" pitchFamily="18" charset="0"/>
              </a:rPr>
              <a:t>từ</a:t>
            </a:r>
            <a:r>
              <a:rPr lang="en-US" sz="1467" dirty="0">
                <a:solidFill>
                  <a:srgbClr val="FF0000"/>
                </a:solidFill>
                <a:latin typeface="Times New Roman" panose="02020603050405020304" pitchFamily="18" charset="0"/>
                <a:cs typeface="Times New Roman" panose="02020603050405020304" pitchFamily="18" charset="0"/>
              </a:rPr>
              <a:t> 06/May/2025</a:t>
            </a:r>
            <a:r>
              <a:rPr lang="en-US" sz="1467" dirty="0">
                <a:solidFill>
                  <a:schemeClr val="tx1"/>
                </a:solidFill>
                <a:latin typeface="Times New Roman" panose="02020603050405020304" pitchFamily="18" charset="0"/>
                <a:cs typeface="Times New Roman" panose="02020603050405020304" pitchFamily="18" charset="0"/>
              </a:rPr>
              <a:t>).</a:t>
            </a:r>
          </a:p>
          <a:p>
            <a:pPr marL="380990" indent="-380990" defTabSz="1219170">
              <a:buFontTx/>
              <a:buChar char="-"/>
              <a:defRPr/>
            </a:pPr>
            <a:r>
              <a:rPr lang="en-US" sz="1467" b="1" dirty="0" err="1">
                <a:solidFill>
                  <a:schemeClr val="tx1"/>
                </a:solidFill>
                <a:latin typeface="Times New Roman" panose="02020603050405020304" pitchFamily="18" charset="0"/>
                <a:cs typeface="Times New Roman" panose="02020603050405020304" pitchFamily="18" charset="0"/>
              </a:rPr>
              <a:t>Động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cơ</a:t>
            </a:r>
            <a:r>
              <a:rPr lang="en-US" sz="1467" b="1" dirty="0">
                <a:solidFill>
                  <a:schemeClr val="tx1"/>
                </a:solidFill>
                <a:latin typeface="Times New Roman" panose="02020603050405020304" pitchFamily="18" charset="0"/>
                <a:cs typeface="Times New Roman" panose="02020603050405020304" pitchFamily="18" charset="0"/>
              </a:rPr>
              <a:t> on-watch &amp; </a:t>
            </a:r>
            <a:r>
              <a:rPr lang="en-US" sz="1467" b="1" dirty="0" err="1">
                <a:solidFill>
                  <a:schemeClr val="tx1"/>
                </a:solidFill>
                <a:latin typeface="Times New Roman" panose="02020603050405020304" pitchFamily="18" charset="0"/>
                <a:cs typeface="Times New Roman" panose="02020603050405020304" pitchFamily="18" charset="0"/>
              </a:rPr>
              <a:t>Hạn</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chế</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khai</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thác</a:t>
            </a:r>
            <a:r>
              <a:rPr lang="en-US" sz="1467" b="1" dirty="0">
                <a:solidFill>
                  <a:schemeClr val="tx1"/>
                </a:solidFill>
                <a:latin typeface="Times New Roman" panose="02020603050405020304" pitchFamily="18" charset="0"/>
                <a:cs typeface="Times New Roman" panose="02020603050405020304" pitchFamily="18" charset="0"/>
              </a:rPr>
              <a:t>:</a:t>
            </a:r>
          </a:p>
          <a:p>
            <a:pPr marL="548640" indent="-182880">
              <a:buFont typeface="Wingdings" panose="05000000000000000000" pitchFamily="2" charset="2"/>
              <a:buChar char="§"/>
              <a:defRPr/>
            </a:pPr>
            <a:r>
              <a:rPr lang="vi-VN" sz="1467" dirty="0">
                <a:solidFill>
                  <a:srgbClr val="ED0000"/>
                </a:solidFill>
                <a:latin typeface="Times New Roman" panose="02020603050405020304" pitchFamily="18" charset="0"/>
                <a:cs typeface="Times New Roman" panose="02020603050405020304" pitchFamily="18" charset="0"/>
              </a:rPr>
              <a:t>956577 (A864) – </a:t>
            </a:r>
            <a:r>
              <a:rPr lang="en-US" sz="1467" dirty="0">
                <a:solidFill>
                  <a:srgbClr val="ED0000"/>
                </a:solidFill>
                <a:latin typeface="Times New Roman" panose="02020603050405020304" pitchFamily="18" charset="0"/>
                <a:cs typeface="Times New Roman" panose="02020603050405020304" pitchFamily="18" charset="0"/>
              </a:rPr>
              <a:t>Remove in 25 </a:t>
            </a:r>
            <a:r>
              <a:rPr lang="en-US" sz="1467" dirty="0" err="1">
                <a:solidFill>
                  <a:srgbClr val="ED0000"/>
                </a:solidFill>
                <a:latin typeface="Times New Roman" panose="02020603050405020304" pitchFamily="18" charset="0"/>
                <a:cs typeface="Times New Roman" panose="02020603050405020304" pitchFamily="18" charset="0"/>
              </a:rPr>
              <a:t>cyc</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và</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đang</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triển</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khai</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thay</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động</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cơ</a:t>
            </a:r>
            <a:r>
              <a:rPr lang="en-US" sz="1467" dirty="0">
                <a:solidFill>
                  <a:srgbClr val="ED0000"/>
                </a:solidFill>
                <a:latin typeface="Times New Roman" panose="02020603050405020304" pitchFamily="18" charset="0"/>
                <a:cs typeface="Times New Roman" panose="02020603050405020304" pitchFamily="18" charset="0"/>
              </a:rPr>
              <a:t> (=956556 </a:t>
            </a:r>
            <a:r>
              <a:rPr lang="en-US" sz="1467" dirty="0" err="1">
                <a:solidFill>
                  <a:srgbClr val="ED0000"/>
                </a:solidFill>
                <a:latin typeface="Times New Roman" panose="02020603050405020304" pitchFamily="18" charset="0"/>
                <a:cs typeface="Times New Roman" panose="02020603050405020304" pitchFamily="18" charset="0"/>
              </a:rPr>
              <a:t>nhận</a:t>
            </a:r>
            <a:r>
              <a:rPr lang="en-US" sz="1467" dirty="0">
                <a:solidFill>
                  <a:srgbClr val="ED0000"/>
                </a:solidFill>
                <a:latin typeface="Times New Roman" panose="02020603050405020304" pitchFamily="18" charset="0"/>
                <a:cs typeface="Times New Roman" panose="02020603050405020304" pitchFamily="18" charset="0"/>
              </a:rPr>
              <a:t> 24/04). </a:t>
            </a:r>
            <a:r>
              <a:rPr lang="en-US" sz="1467" dirty="0" err="1">
                <a:solidFill>
                  <a:srgbClr val="ED0000"/>
                </a:solidFill>
                <a:latin typeface="Times New Roman" panose="02020603050405020304" pitchFamily="18" charset="0"/>
                <a:cs typeface="Times New Roman" panose="02020603050405020304" pitchFamily="18" charset="0"/>
              </a:rPr>
              <a:t>Dự</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kiến</a:t>
            </a:r>
            <a:r>
              <a:rPr lang="en-US" sz="1467" dirty="0">
                <a:solidFill>
                  <a:srgbClr val="ED0000"/>
                </a:solidFill>
                <a:latin typeface="Times New Roman" panose="02020603050405020304" pitchFamily="18" charset="0"/>
                <a:cs typeface="Times New Roman" panose="02020603050405020304" pitchFamily="18" charset="0"/>
              </a:rPr>
              <a:t> 04/04 release </a:t>
            </a:r>
            <a:r>
              <a:rPr lang="en-US" sz="1467" dirty="0" err="1">
                <a:solidFill>
                  <a:srgbClr val="ED0000"/>
                </a:solidFill>
                <a:latin typeface="Times New Roman" panose="02020603050405020304" pitchFamily="18" charset="0"/>
                <a:cs typeface="Times New Roman" panose="02020603050405020304" pitchFamily="18" charset="0"/>
              </a:rPr>
              <a:t>tàu</a:t>
            </a:r>
            <a:r>
              <a:rPr lang="en-US" sz="1467" dirty="0">
                <a:solidFill>
                  <a:srgbClr val="ED0000"/>
                </a:solidFill>
                <a:latin typeface="Times New Roman" panose="02020603050405020304" pitchFamily="18" charset="0"/>
                <a:cs typeface="Times New Roman" panose="02020603050405020304" pitchFamily="18" charset="0"/>
              </a:rPr>
              <a:t> A864</a:t>
            </a:r>
          </a:p>
          <a:p>
            <a:pPr marL="548640" indent="-182880">
              <a:buFont typeface="Wingdings" panose="05000000000000000000" pitchFamily="2" charset="2"/>
              <a:buChar char="§"/>
              <a:defRPr/>
            </a:pPr>
            <a:r>
              <a:rPr lang="vi-VN" sz="1467" dirty="0">
                <a:solidFill>
                  <a:srgbClr val="ED0000"/>
                </a:solidFill>
                <a:latin typeface="Times New Roman" panose="02020603050405020304" pitchFamily="18" charset="0"/>
                <a:cs typeface="Times New Roman" panose="02020603050405020304" pitchFamily="18" charset="0"/>
              </a:rPr>
              <a:t>956</a:t>
            </a:r>
            <a:r>
              <a:rPr lang="en-US" sz="1467" dirty="0">
                <a:solidFill>
                  <a:srgbClr val="ED0000"/>
                </a:solidFill>
                <a:latin typeface="Times New Roman" panose="02020603050405020304" pitchFamily="18" charset="0"/>
                <a:cs typeface="Times New Roman" panose="02020603050405020304" pitchFamily="18" charset="0"/>
              </a:rPr>
              <a:t>769</a:t>
            </a:r>
            <a:r>
              <a:rPr lang="vi-VN" sz="1467" dirty="0">
                <a:solidFill>
                  <a:srgbClr val="ED0000"/>
                </a:solidFill>
                <a:latin typeface="Times New Roman" panose="02020603050405020304" pitchFamily="18" charset="0"/>
                <a:cs typeface="Times New Roman" panose="02020603050405020304" pitchFamily="18" charset="0"/>
              </a:rPr>
              <a:t> (A86</a:t>
            </a:r>
            <a:r>
              <a:rPr lang="en-US" sz="1467" dirty="0">
                <a:solidFill>
                  <a:srgbClr val="ED0000"/>
                </a:solidFill>
                <a:latin typeface="Times New Roman" panose="02020603050405020304" pitchFamily="18" charset="0"/>
                <a:cs typeface="Times New Roman" panose="02020603050405020304" pitchFamily="18" charset="0"/>
              </a:rPr>
              <a:t>8</a:t>
            </a:r>
            <a:r>
              <a:rPr lang="vi-VN" sz="1467" dirty="0">
                <a:solidFill>
                  <a:srgbClr val="ED0000"/>
                </a:solidFill>
                <a:latin typeface="Times New Roman" panose="02020603050405020304" pitchFamily="18" charset="0"/>
                <a:cs typeface="Times New Roman" panose="02020603050405020304" pitchFamily="18" charset="0"/>
              </a:rPr>
              <a:t>) – </a:t>
            </a:r>
            <a:r>
              <a:rPr lang="en-US" sz="1467" dirty="0">
                <a:solidFill>
                  <a:srgbClr val="ED0000"/>
                </a:solidFill>
                <a:latin typeface="Times New Roman" panose="02020603050405020304" pitchFamily="18" charset="0"/>
                <a:cs typeface="Times New Roman" panose="02020603050405020304" pitchFamily="18" charset="0"/>
              </a:rPr>
              <a:t>Remove in 25 </a:t>
            </a:r>
            <a:r>
              <a:rPr lang="en-US" sz="1467" dirty="0" err="1">
                <a:solidFill>
                  <a:srgbClr val="ED0000"/>
                </a:solidFill>
                <a:latin typeface="Times New Roman" panose="02020603050405020304" pitchFamily="18" charset="0"/>
                <a:cs typeface="Times New Roman" panose="02020603050405020304" pitchFamily="18" charset="0"/>
              </a:rPr>
              <a:t>cyc</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và</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chỉ</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khai</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thác</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hạn</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chế</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được</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đến</a:t>
            </a:r>
            <a:r>
              <a:rPr lang="en-US" sz="1467" dirty="0">
                <a:solidFill>
                  <a:srgbClr val="ED0000"/>
                </a:solidFill>
                <a:latin typeface="Times New Roman" panose="02020603050405020304" pitchFamily="18" charset="0"/>
                <a:cs typeface="Times New Roman" panose="02020603050405020304" pitchFamily="18" charset="0"/>
              </a:rPr>
              <a:t> 07/04. </a:t>
            </a:r>
            <a:r>
              <a:rPr lang="en-US" sz="1467" dirty="0" err="1">
                <a:solidFill>
                  <a:srgbClr val="ED0000"/>
                </a:solidFill>
                <a:latin typeface="Times New Roman" panose="02020603050405020304" pitchFamily="18" charset="0"/>
                <a:cs typeface="Times New Roman" panose="02020603050405020304" pitchFamily="18" charset="0"/>
              </a:rPr>
              <a:t>Hiện</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cần</a:t>
            </a:r>
            <a:r>
              <a:rPr lang="en-US" sz="1467" dirty="0">
                <a:solidFill>
                  <a:srgbClr val="ED0000"/>
                </a:solidFill>
                <a:latin typeface="Times New Roman" panose="02020603050405020304" pitchFamily="18" charset="0"/>
                <a:cs typeface="Times New Roman" panose="02020603050405020304" pitchFamily="18" charset="0"/>
              </a:rPr>
              <a:t> ĐCDP </a:t>
            </a:r>
            <a:r>
              <a:rPr lang="en-US" sz="1467" dirty="0" err="1">
                <a:solidFill>
                  <a:srgbClr val="ED0000"/>
                </a:solidFill>
                <a:latin typeface="Times New Roman" panose="02020603050405020304" pitchFamily="18" charset="0"/>
                <a:cs typeface="Times New Roman" panose="02020603050405020304" pitchFamily="18" charset="0"/>
              </a:rPr>
              <a:t>để</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thay</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thế</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hoặc</a:t>
            </a:r>
            <a:r>
              <a:rPr lang="en-US" sz="1467" dirty="0">
                <a:solidFill>
                  <a:srgbClr val="ED0000"/>
                </a:solidFill>
                <a:latin typeface="Times New Roman" panose="02020603050405020304" pitchFamily="18" charset="0"/>
                <a:cs typeface="Times New Roman" panose="02020603050405020304" pitchFamily="18" charset="0"/>
              </a:rPr>
              <a:t> AOG </a:t>
            </a:r>
            <a:r>
              <a:rPr lang="en-US" sz="1467" dirty="0" err="1">
                <a:solidFill>
                  <a:srgbClr val="ED0000"/>
                </a:solidFill>
                <a:latin typeface="Times New Roman" panose="02020603050405020304" pitchFamily="18" charset="0"/>
                <a:cs typeface="Times New Roman" panose="02020603050405020304" pitchFamily="18" charset="0"/>
              </a:rPr>
              <a:t>hết</a:t>
            </a:r>
            <a:r>
              <a:rPr lang="en-US" sz="1467" dirty="0">
                <a:solidFill>
                  <a:srgbClr val="ED0000"/>
                </a:solidFill>
                <a:latin typeface="Times New Roman" panose="02020603050405020304" pitchFamily="18" charset="0"/>
                <a:cs typeface="Times New Roman" panose="02020603050405020304" pitchFamily="18" charset="0"/>
              </a:rPr>
              <a:t> T4/2025</a:t>
            </a:r>
          </a:p>
          <a:p>
            <a:pPr marL="548640" indent="-182880">
              <a:buFont typeface="Wingdings" panose="05000000000000000000" pitchFamily="2" charset="2"/>
              <a:buChar char="§"/>
              <a:defRPr/>
            </a:pPr>
            <a:r>
              <a:rPr lang="vi-VN" sz="1467" dirty="0">
                <a:solidFill>
                  <a:schemeClr val="tx1"/>
                </a:solidFill>
                <a:latin typeface="Times New Roman" panose="02020603050405020304" pitchFamily="18" charset="0"/>
                <a:cs typeface="Times New Roman" panose="02020603050405020304" pitchFamily="18" charset="0"/>
              </a:rPr>
              <a:t>Remove in 50 cyc or reinspect</a:t>
            </a:r>
            <a:r>
              <a:rPr lang="en-US" sz="1467" dirty="0">
                <a:solidFill>
                  <a:schemeClr val="tx1"/>
                </a:solidFill>
                <a:latin typeface="Times New Roman" panose="02020603050405020304" pitchFamily="18" charset="0"/>
                <a:cs typeface="Times New Roman" panose="02020603050405020304" pitchFamily="18" charset="0"/>
              </a:rPr>
              <a:t>: </a:t>
            </a:r>
            <a:r>
              <a:rPr lang="vi-VN" sz="1467" dirty="0">
                <a:solidFill>
                  <a:schemeClr val="tx1"/>
                </a:solidFill>
                <a:latin typeface="Times New Roman" panose="02020603050405020304" pitchFamily="18" charset="0"/>
                <a:cs typeface="Times New Roman" panose="02020603050405020304" pitchFamily="18" charset="0"/>
              </a:rPr>
              <a:t>956913 (A871)</a:t>
            </a:r>
            <a:r>
              <a:rPr lang="en-US" sz="1467" dirty="0">
                <a:solidFill>
                  <a:schemeClr val="tx1"/>
                </a:solidFill>
                <a:latin typeface="Times New Roman" panose="02020603050405020304" pitchFamily="18" charset="0"/>
                <a:cs typeface="Times New Roman" panose="02020603050405020304" pitchFamily="18" charset="0"/>
              </a:rPr>
              <a:t>, </a:t>
            </a:r>
            <a:r>
              <a:rPr lang="vi-VN" sz="1467" dirty="0">
                <a:solidFill>
                  <a:schemeClr val="tx1"/>
                </a:solidFill>
                <a:latin typeface="Times New Roman" panose="02020603050405020304" pitchFamily="18" charset="0"/>
                <a:cs typeface="Times New Roman" panose="02020603050405020304" pitchFamily="18" charset="0"/>
              </a:rPr>
              <a:t>958170 (A863)</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Rủi</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ro</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cao</a:t>
            </a:r>
            <a:r>
              <a:rPr lang="en-US" sz="1467" dirty="0">
                <a:solidFill>
                  <a:srgbClr val="ED0000"/>
                </a:solidFill>
                <a:latin typeface="Times New Roman" panose="02020603050405020304" pitchFamily="18" charset="0"/>
                <a:cs typeface="Times New Roman" panose="02020603050405020304" pitchFamily="18" charset="0"/>
              </a:rPr>
              <a:t> do </a:t>
            </a:r>
            <a:r>
              <a:rPr lang="en-US" sz="1467" dirty="0" err="1">
                <a:solidFill>
                  <a:srgbClr val="ED0000"/>
                </a:solidFill>
                <a:latin typeface="Times New Roman" panose="02020603050405020304" pitchFamily="18" charset="0"/>
                <a:cs typeface="Times New Roman" panose="02020603050405020304" pitchFamily="18" charset="0"/>
              </a:rPr>
              <a:t>cùng</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dạng</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hỏng</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hóc</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với</a:t>
            </a:r>
            <a:r>
              <a:rPr lang="en-US" sz="1467" dirty="0">
                <a:solidFill>
                  <a:srgbClr val="ED0000"/>
                </a:solidFill>
                <a:latin typeface="Times New Roman" panose="02020603050405020304" pitchFamily="18" charset="0"/>
                <a:cs typeface="Times New Roman" panose="02020603050405020304" pitchFamily="18" charset="0"/>
              </a:rPr>
              <a:t> 956769 </a:t>
            </a:r>
            <a:r>
              <a:rPr lang="en-US" sz="1467" dirty="0" err="1">
                <a:solidFill>
                  <a:srgbClr val="ED0000"/>
                </a:solidFill>
                <a:latin typeface="Times New Roman" panose="02020603050405020304" pitchFamily="18" charset="0"/>
                <a:cs typeface="Times New Roman" panose="02020603050405020304" pitchFamily="18" charset="0"/>
              </a:rPr>
              <a:t>và</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sẽ</a:t>
            </a:r>
            <a:r>
              <a:rPr lang="en-US" sz="1467" dirty="0">
                <a:solidFill>
                  <a:srgbClr val="ED0000"/>
                </a:solidFill>
                <a:latin typeface="Times New Roman" panose="02020603050405020304" pitchFamily="18" charset="0"/>
                <a:cs typeface="Times New Roman" panose="02020603050405020304" pitchFamily="18" charset="0"/>
              </a:rPr>
              <a:t> soi </a:t>
            </a:r>
            <a:r>
              <a:rPr lang="en-US" sz="1467" dirty="0" err="1">
                <a:solidFill>
                  <a:srgbClr val="ED0000"/>
                </a:solidFill>
                <a:latin typeface="Times New Roman" panose="02020603050405020304" pitchFamily="18" charset="0"/>
                <a:cs typeface="Times New Roman" panose="02020603050405020304" pitchFamily="18" charset="0"/>
              </a:rPr>
              <a:t>lại</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cuối</a:t>
            </a:r>
            <a:r>
              <a:rPr lang="en-US" sz="1467" dirty="0">
                <a:solidFill>
                  <a:srgbClr val="ED0000"/>
                </a:solidFill>
                <a:latin typeface="Times New Roman" panose="02020603050405020304" pitchFamily="18" charset="0"/>
                <a:cs typeface="Times New Roman" panose="02020603050405020304" pitchFamily="18" charset="0"/>
              </a:rPr>
              <a:t> T3. </a:t>
            </a:r>
          </a:p>
          <a:p>
            <a:pPr marL="548640" indent="-182880">
              <a:buFont typeface="Wingdings" panose="05000000000000000000" pitchFamily="2" charset="2"/>
              <a:buChar char="§"/>
              <a:defRPr/>
            </a:pPr>
            <a:r>
              <a:rPr lang="vi-VN" sz="1467" dirty="0">
                <a:solidFill>
                  <a:schemeClr val="tx1"/>
                </a:solidFill>
                <a:latin typeface="Times New Roman" panose="02020603050405020304" pitchFamily="18" charset="0"/>
                <a:cs typeface="Times New Roman" panose="02020603050405020304" pitchFamily="18" charset="0"/>
              </a:rPr>
              <a:t>100 cycle – 0</a:t>
            </a:r>
            <a:r>
              <a:rPr lang="en-US" sz="1467" dirty="0">
                <a:solidFill>
                  <a:schemeClr val="tx1"/>
                </a:solidFill>
                <a:latin typeface="Times New Roman" panose="02020603050405020304" pitchFamily="18" charset="0"/>
                <a:cs typeface="Times New Roman" panose="02020603050405020304" pitchFamily="18" charset="0"/>
              </a:rPr>
              <a:t>2</a:t>
            </a:r>
            <a:r>
              <a:rPr lang="vi-VN" sz="1467" dirty="0">
                <a:solidFill>
                  <a:schemeClr val="tx1"/>
                </a:solidFill>
                <a:latin typeface="Times New Roman" panose="02020603050405020304" pitchFamily="18" charset="0"/>
                <a:cs typeface="Times New Roman" panose="02020603050405020304" pitchFamily="18" charset="0"/>
              </a:rPr>
              <a:t> ĐC;  150 cycle – 01 ĐC; 250 cycle – 0</a:t>
            </a:r>
            <a:r>
              <a:rPr lang="en-US" sz="1467" dirty="0">
                <a:solidFill>
                  <a:schemeClr val="tx1"/>
                </a:solidFill>
                <a:latin typeface="Times New Roman" panose="02020603050405020304" pitchFamily="18" charset="0"/>
                <a:cs typeface="Times New Roman" panose="02020603050405020304" pitchFamily="18" charset="0"/>
              </a:rPr>
              <a:t>1</a:t>
            </a:r>
            <a:r>
              <a:rPr lang="vi-VN" sz="1467" dirty="0">
                <a:solidFill>
                  <a:schemeClr val="tx1"/>
                </a:solidFill>
                <a:latin typeface="Times New Roman" panose="02020603050405020304" pitchFamily="18" charset="0"/>
                <a:cs typeface="Times New Roman" panose="02020603050405020304" pitchFamily="18" charset="0"/>
              </a:rPr>
              <a:t> ĐC</a:t>
            </a:r>
            <a:r>
              <a:rPr lang="en-US" sz="1467" dirty="0">
                <a:solidFill>
                  <a:schemeClr val="tx1"/>
                </a:solidFill>
                <a:latin typeface="Times New Roman" panose="02020603050405020304" pitchFamily="18" charset="0"/>
                <a:cs typeface="Times New Roman" panose="02020603050405020304" pitchFamily="18" charset="0"/>
              </a:rPr>
              <a:t>.</a:t>
            </a:r>
          </a:p>
          <a:p>
            <a:pPr marL="548640" indent="-182880">
              <a:buFont typeface="Wingdings" panose="05000000000000000000" pitchFamily="2" charset="2"/>
              <a:buChar char="§"/>
              <a:defRPr/>
            </a:pPr>
            <a:r>
              <a:rPr lang="en-US" sz="1467" dirty="0" err="1">
                <a:solidFill>
                  <a:srgbClr val="ED0000"/>
                </a:solidFill>
                <a:latin typeface="Times New Roman" panose="02020603050405020304" pitchFamily="18" charset="0"/>
                <a:cs typeface="Times New Roman" panose="02020603050405020304" pitchFamily="18" charset="0"/>
              </a:rPr>
              <a:t>Hạn</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chế</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khai</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thác</a:t>
            </a:r>
            <a:r>
              <a:rPr lang="en-US" sz="1467" dirty="0">
                <a:solidFill>
                  <a:srgbClr val="ED0000"/>
                </a:solidFill>
                <a:latin typeface="Times New Roman" panose="02020603050405020304" pitchFamily="18" charset="0"/>
                <a:cs typeface="Times New Roman" panose="02020603050405020304" pitchFamily="18" charset="0"/>
              </a:rPr>
              <a:t>: A868 (</a:t>
            </a:r>
            <a:r>
              <a:rPr lang="en-US" sz="1467" dirty="0" err="1">
                <a:solidFill>
                  <a:srgbClr val="ED0000"/>
                </a:solidFill>
                <a:latin typeface="Times New Roman" panose="02020603050405020304" pitchFamily="18" charset="0"/>
                <a:cs typeface="Times New Roman" panose="02020603050405020304" pitchFamily="18" charset="0"/>
              </a:rPr>
              <a:t>chỉ</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khai</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thác</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được</a:t>
            </a:r>
            <a:r>
              <a:rPr lang="en-US" sz="1467" dirty="0">
                <a:solidFill>
                  <a:srgbClr val="ED0000"/>
                </a:solidFill>
                <a:latin typeface="Times New Roman" panose="02020603050405020304" pitchFamily="18" charset="0"/>
                <a:cs typeface="Times New Roman" panose="02020603050405020304" pitchFamily="18" charset="0"/>
              </a:rPr>
              <a:t> 25 </a:t>
            </a:r>
            <a:r>
              <a:rPr lang="en-US" sz="1467" dirty="0" err="1">
                <a:solidFill>
                  <a:srgbClr val="ED0000"/>
                </a:solidFill>
                <a:latin typeface="Times New Roman" panose="02020603050405020304" pitchFamily="18" charset="0"/>
                <a:cs typeface="Times New Roman" panose="02020603050405020304" pitchFamily="18" charset="0"/>
              </a:rPr>
              <a:t>cyc</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và</a:t>
            </a:r>
            <a:r>
              <a:rPr lang="en-US" sz="1467" dirty="0">
                <a:solidFill>
                  <a:srgbClr val="ED0000"/>
                </a:solidFill>
                <a:latin typeface="Times New Roman" panose="02020603050405020304" pitchFamily="18" charset="0"/>
                <a:cs typeface="Times New Roman" panose="02020603050405020304" pitchFamily="18" charset="0"/>
              </a:rPr>
              <a:t> A873 (</a:t>
            </a:r>
            <a:r>
              <a:rPr lang="en-US" sz="1467" dirty="0" err="1">
                <a:solidFill>
                  <a:srgbClr val="ED0000"/>
                </a:solidFill>
                <a:latin typeface="Times New Roman" panose="02020603050405020304" pitchFamily="18" charset="0"/>
                <a:cs typeface="Times New Roman" panose="02020603050405020304" pitchFamily="18" charset="0"/>
              </a:rPr>
              <a:t>cả</a:t>
            </a:r>
            <a:r>
              <a:rPr lang="en-US" sz="1467" dirty="0">
                <a:solidFill>
                  <a:srgbClr val="ED0000"/>
                </a:solidFill>
                <a:latin typeface="Times New Roman" panose="02020603050405020304" pitchFamily="18" charset="0"/>
                <a:cs typeface="Times New Roman" panose="02020603050405020304" pitchFamily="18" charset="0"/>
              </a:rPr>
              <a:t> 2 </a:t>
            </a:r>
            <a:r>
              <a:rPr lang="en-US" sz="1467" dirty="0" err="1">
                <a:solidFill>
                  <a:srgbClr val="ED0000"/>
                </a:solidFill>
                <a:latin typeface="Times New Roman" panose="02020603050405020304" pitchFamily="18" charset="0"/>
                <a:cs typeface="Times New Roman" panose="02020603050405020304" pitchFamily="18" charset="0"/>
              </a:rPr>
              <a:t>động</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cơ</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chỉ</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được</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khai</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thác</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đến</a:t>
            </a:r>
            <a:r>
              <a:rPr lang="en-US" sz="1467" dirty="0">
                <a:solidFill>
                  <a:srgbClr val="ED0000"/>
                </a:solidFill>
                <a:latin typeface="Times New Roman" panose="02020603050405020304" pitchFamily="18" charset="0"/>
                <a:cs typeface="Times New Roman" panose="02020603050405020304" pitchFamily="18" charset="0"/>
              </a:rPr>
              <a:t> CSN 5500 </a:t>
            </a:r>
            <a:r>
              <a:rPr lang="en-US" sz="1467" dirty="0" err="1">
                <a:solidFill>
                  <a:srgbClr val="ED0000"/>
                </a:solidFill>
                <a:latin typeface="Times New Roman" panose="02020603050405020304" pitchFamily="18" charset="0"/>
                <a:cs typeface="Times New Roman" panose="02020603050405020304" pitchFamily="18" charset="0"/>
              </a:rPr>
              <a:t>cyc</a:t>
            </a:r>
            <a:r>
              <a:rPr lang="en-US" sz="1467" dirty="0">
                <a:solidFill>
                  <a:srgbClr val="ED0000"/>
                </a:solidFill>
                <a:latin typeface="Times New Roman" panose="02020603050405020304" pitchFamily="18" charset="0"/>
                <a:cs typeface="Times New Roman" panose="02020603050405020304" pitchFamily="18" charset="0"/>
              </a:rPr>
              <a:t>).</a:t>
            </a:r>
          </a:p>
          <a:p>
            <a:pPr marL="380990" indent="-380990" defTabSz="1219170">
              <a:buFontTx/>
              <a:buChar char="-"/>
              <a:defRPr/>
            </a:pPr>
            <a:r>
              <a:rPr lang="en-US" sz="1467" b="1" dirty="0" err="1">
                <a:solidFill>
                  <a:schemeClr val="tx1"/>
                </a:solidFill>
                <a:latin typeface="Times New Roman" panose="02020603050405020304" pitchFamily="18" charset="0"/>
                <a:cs typeface="Times New Roman" panose="02020603050405020304" pitchFamily="18" charset="0"/>
              </a:rPr>
              <a:t>Công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tác</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kế</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hoạch</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trọng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điểm</a:t>
            </a:r>
            <a:r>
              <a:rPr lang="en-US" sz="1467" b="1" dirty="0">
                <a:solidFill>
                  <a:schemeClr val="tx1"/>
                </a:solidFill>
                <a:latin typeface="Times New Roman" panose="02020603050405020304" pitchFamily="18" charset="0"/>
                <a:cs typeface="Times New Roman" panose="02020603050405020304" pitchFamily="18" charset="0"/>
              </a:rPr>
              <a:t>:</a:t>
            </a:r>
          </a:p>
          <a:p>
            <a:pPr marL="548640" indent="-182880">
              <a:buFont typeface="Wingdings" panose="05000000000000000000" pitchFamily="2" charset="2"/>
              <a:buChar char="§"/>
              <a:defRPr/>
            </a:pPr>
            <a:r>
              <a:rPr lang="en-US" sz="1467" dirty="0">
                <a:solidFill>
                  <a:srgbClr val="388600"/>
                </a:solidFill>
                <a:latin typeface="Times New Roman" panose="02020603050405020304" pitchFamily="18" charset="0"/>
                <a:cs typeface="Times New Roman" panose="02020603050405020304" pitchFamily="18" charset="0"/>
              </a:rPr>
              <a:t>A870/</a:t>
            </a:r>
            <a:r>
              <a:rPr lang="vi-VN" sz="1467" dirty="0">
                <a:solidFill>
                  <a:srgbClr val="388600"/>
                </a:solidFill>
                <a:latin typeface="Times New Roman" panose="02020603050405020304" pitchFamily="18" charset="0"/>
                <a:cs typeface="Times New Roman" panose="02020603050405020304" pitchFamily="18" charset="0"/>
              </a:rPr>
              <a:t>956638</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khắc</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phục</a:t>
            </a:r>
            <a:r>
              <a:rPr lang="vi-VN" sz="1467" dirty="0">
                <a:solidFill>
                  <a:srgbClr val="388600"/>
                </a:solidFill>
                <a:latin typeface="Times New Roman" panose="02020603050405020304" pitchFamily="18" charset="0"/>
                <a:cs typeface="Times New Roman" panose="02020603050405020304" pitchFamily="18" charset="0"/>
              </a:rPr>
              <a:t> </a:t>
            </a:r>
            <a:r>
              <a:rPr lang="en-US" sz="1467" dirty="0">
                <a:solidFill>
                  <a:srgbClr val="388600"/>
                </a:solidFill>
                <a:latin typeface="Times New Roman" panose="02020603050405020304" pitchFamily="18" charset="0"/>
                <a:cs typeface="Times New Roman" panose="02020603050405020304" pitchFamily="18" charset="0"/>
              </a:rPr>
              <a:t>AOG </a:t>
            </a:r>
            <a:r>
              <a:rPr lang="en-US" sz="1467" dirty="0" err="1">
                <a:solidFill>
                  <a:srgbClr val="388600"/>
                </a:solidFill>
                <a:latin typeface="Times New Roman" panose="02020603050405020304" pitchFamily="18" charset="0"/>
                <a:cs typeface="Times New Roman" panose="02020603050405020304" pitchFamily="18" charset="0"/>
              </a:rPr>
              <a:t>và</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hoàn</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thiện</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cấu</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hình</a:t>
            </a:r>
            <a:r>
              <a:rPr lang="en-US" sz="1467" dirty="0">
                <a:solidFill>
                  <a:srgbClr val="388600"/>
                </a:solidFill>
                <a:latin typeface="Times New Roman" panose="02020603050405020304" pitchFamily="18" charset="0"/>
                <a:cs typeface="Times New Roman" panose="02020603050405020304" pitchFamily="18" charset="0"/>
              </a:rPr>
              <a:t> bay Nga - </a:t>
            </a:r>
            <a:r>
              <a:rPr lang="en-US" sz="1467" b="1" dirty="0">
                <a:solidFill>
                  <a:srgbClr val="388600"/>
                </a:solidFill>
                <a:latin typeface="Times New Roman" panose="02020603050405020304" pitchFamily="18" charset="0"/>
                <a:cs typeface="Times New Roman" panose="02020603050405020304" pitchFamily="18" charset="0"/>
              </a:rPr>
              <a:t>12/03/2025. </a:t>
            </a:r>
            <a:r>
              <a:rPr lang="en-US" sz="1467" b="1" dirty="0" err="1">
                <a:solidFill>
                  <a:srgbClr val="388600"/>
                </a:solidFill>
                <a:latin typeface="Times New Roman" panose="02020603050405020304" pitchFamily="18" charset="0"/>
                <a:cs typeface="Times New Roman" panose="02020603050405020304" pitchFamily="18" charset="0"/>
              </a:rPr>
              <a:t>Đã</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hoàn</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thành</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tàu</a:t>
            </a:r>
            <a:r>
              <a:rPr lang="en-US" sz="1467" b="1" dirty="0">
                <a:solidFill>
                  <a:srgbClr val="388600"/>
                </a:solidFill>
                <a:latin typeface="Times New Roman" panose="02020603050405020304" pitchFamily="18" charset="0"/>
                <a:cs typeface="Times New Roman" panose="02020603050405020304" pitchFamily="18" charset="0"/>
              </a:rPr>
              <a:t> A870 </a:t>
            </a:r>
            <a:r>
              <a:rPr lang="en-US" sz="1467" b="1" dirty="0" err="1">
                <a:solidFill>
                  <a:srgbClr val="388600"/>
                </a:solidFill>
                <a:latin typeface="Times New Roman" panose="02020603050405020304" pitchFamily="18" charset="0"/>
                <a:cs typeface="Times New Roman" panose="02020603050405020304" pitchFamily="18" charset="0"/>
              </a:rPr>
              <a:t>đã</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lắp</a:t>
            </a:r>
            <a:r>
              <a:rPr lang="en-US" sz="1467" b="1" dirty="0">
                <a:solidFill>
                  <a:srgbClr val="388600"/>
                </a:solidFill>
                <a:latin typeface="Times New Roman" panose="02020603050405020304" pitchFamily="18" charset="0"/>
                <a:cs typeface="Times New Roman" panose="02020603050405020304" pitchFamily="18" charset="0"/>
              </a:rPr>
              <a:t> 02 </a:t>
            </a:r>
            <a:r>
              <a:rPr lang="en-US" sz="1467" b="1" dirty="0" err="1">
                <a:solidFill>
                  <a:srgbClr val="388600"/>
                </a:solidFill>
                <a:latin typeface="Times New Roman" panose="02020603050405020304" pitchFamily="18" charset="0"/>
                <a:cs typeface="Times New Roman" panose="02020603050405020304" pitchFamily="18" charset="0"/>
              </a:rPr>
              <a:t>động</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cơ</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gốc</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để</a:t>
            </a:r>
            <a:r>
              <a:rPr lang="en-US" sz="1467" b="1" dirty="0">
                <a:solidFill>
                  <a:srgbClr val="388600"/>
                </a:solidFill>
                <a:latin typeface="Times New Roman" panose="02020603050405020304" pitchFamily="18" charset="0"/>
                <a:cs typeface="Times New Roman" panose="02020603050405020304" pitchFamily="18" charset="0"/>
              </a:rPr>
              <a:t> bay Nga. </a:t>
            </a:r>
          </a:p>
          <a:p>
            <a:pPr marL="548640" indent="-182880">
              <a:buFont typeface="Wingdings" panose="05000000000000000000" pitchFamily="2" charset="2"/>
              <a:buChar char="§"/>
              <a:defRPr/>
            </a:pPr>
            <a:r>
              <a:rPr lang="en-US" sz="1467" dirty="0">
                <a:solidFill>
                  <a:schemeClr val="tx1"/>
                </a:solidFill>
                <a:latin typeface="Times New Roman" panose="02020603050405020304" pitchFamily="18" charset="0"/>
                <a:cs typeface="Times New Roman" panose="02020603050405020304" pitchFamily="18" charset="0"/>
              </a:rPr>
              <a:t>A864/956577 </a:t>
            </a:r>
            <a:r>
              <a:rPr lang="en-US" sz="1467" dirty="0" err="1">
                <a:solidFill>
                  <a:schemeClr val="tx1"/>
                </a:solidFill>
                <a:latin typeface="Times New Roman" panose="02020603050405020304" pitchFamily="18" charset="0"/>
                <a:cs typeface="Times New Roman" panose="02020603050405020304" pitchFamily="18" charset="0"/>
              </a:rPr>
              <a:t>từ</a:t>
            </a:r>
            <a:r>
              <a:rPr lang="en-US" sz="1467" dirty="0">
                <a:solidFill>
                  <a:schemeClr val="tx1"/>
                </a:solidFill>
                <a:latin typeface="Times New Roman" panose="02020603050405020304" pitchFamily="18" charset="0"/>
                <a:cs typeface="Times New Roman" panose="02020603050405020304" pitchFamily="18" charset="0"/>
              </a:rPr>
              <a:t> </a:t>
            </a:r>
            <a:r>
              <a:rPr lang="en-US" sz="1467" b="1" dirty="0">
                <a:solidFill>
                  <a:schemeClr val="tx1"/>
                </a:solidFill>
                <a:latin typeface="Times New Roman" panose="02020603050405020304" pitchFamily="18" charset="0"/>
                <a:cs typeface="Times New Roman" panose="02020603050405020304" pitchFamily="18" charset="0"/>
              </a:rPr>
              <a:t>14/03 - 04/04/2025</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khắc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phục</a:t>
            </a:r>
            <a:r>
              <a:rPr lang="en-US" sz="1467" dirty="0">
                <a:solidFill>
                  <a:schemeClr val="tx1"/>
                </a:solidFill>
                <a:latin typeface="Times New Roman" panose="02020603050405020304" pitchFamily="18" charset="0"/>
                <a:cs typeface="Times New Roman" panose="02020603050405020304" pitchFamily="18" charset="0"/>
              </a:rPr>
              <a:t> AOG </a:t>
            </a:r>
            <a:r>
              <a:rPr lang="en-US" sz="1467" dirty="0" err="1">
                <a:solidFill>
                  <a:schemeClr val="tx1"/>
                </a:solidFill>
                <a:latin typeface="Times New Roman" panose="02020603050405020304" pitchFamily="18" charset="0"/>
                <a:cs typeface="Times New Roman" panose="02020603050405020304" pitchFamily="18" charset="0"/>
              </a:rPr>
              <a:t>sử</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dụng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cơ</a:t>
            </a:r>
            <a:r>
              <a:rPr lang="en-US" sz="1467" dirty="0">
                <a:solidFill>
                  <a:schemeClr val="tx1"/>
                </a:solidFill>
                <a:latin typeface="Times New Roman" panose="02020603050405020304" pitchFamily="18" charset="0"/>
                <a:cs typeface="Times New Roman" panose="02020603050405020304" pitchFamily="18" charset="0"/>
              </a:rPr>
              <a:t> 956556 </a:t>
            </a:r>
            <a:r>
              <a:rPr lang="en-US" sz="1467" dirty="0" err="1">
                <a:solidFill>
                  <a:schemeClr val="tx1"/>
                </a:solidFill>
                <a:latin typeface="Times New Roman" panose="02020603050405020304" pitchFamily="18" charset="0"/>
                <a:cs typeface="Times New Roman" panose="02020603050405020304" pitchFamily="18" charset="0"/>
              </a:rPr>
              <a:t>và</a:t>
            </a:r>
            <a:r>
              <a:rPr lang="en-US" sz="1467" dirty="0">
                <a:solidFill>
                  <a:schemeClr val="tx1"/>
                </a:solidFill>
                <a:latin typeface="Times New Roman" panose="02020603050405020304" pitchFamily="18" charset="0"/>
                <a:cs typeface="Times New Roman" panose="02020603050405020304" pitchFamily="18" charset="0"/>
              </a:rPr>
              <a:t> ENG SWAP 956697 </a:t>
            </a:r>
            <a:r>
              <a:rPr lang="en-US" sz="1467" dirty="0" err="1">
                <a:solidFill>
                  <a:schemeClr val="tx1"/>
                </a:solidFill>
                <a:latin typeface="Times New Roman" panose="02020603050405020304" pitchFamily="18" charset="0"/>
                <a:cs typeface="Times New Roman" panose="02020603050405020304" pitchFamily="18" charset="0"/>
              </a:rPr>
              <a:t>với</a:t>
            </a:r>
            <a:r>
              <a:rPr lang="en-US" sz="1467" dirty="0">
                <a:solidFill>
                  <a:schemeClr val="tx1"/>
                </a:solidFill>
                <a:latin typeface="Times New Roman" panose="02020603050405020304" pitchFamily="18" charset="0"/>
                <a:cs typeface="Times New Roman" panose="02020603050405020304" pitchFamily="18" charset="0"/>
              </a:rPr>
              <a:t> A867. A864 </a:t>
            </a:r>
            <a:r>
              <a:rPr lang="en-US" sz="1467" dirty="0" err="1">
                <a:solidFill>
                  <a:schemeClr val="tx1"/>
                </a:solidFill>
                <a:latin typeface="Times New Roman" panose="02020603050405020304" pitchFamily="18" charset="0"/>
                <a:cs typeface="Times New Roman" panose="02020603050405020304" pitchFamily="18" charset="0"/>
              </a:rPr>
              <a:t>sẽ</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thay</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cả</a:t>
            </a:r>
            <a:r>
              <a:rPr lang="en-US" sz="1467" dirty="0">
                <a:solidFill>
                  <a:schemeClr val="tx1"/>
                </a:solidFill>
                <a:latin typeface="Times New Roman" panose="02020603050405020304" pitchFamily="18" charset="0"/>
                <a:cs typeface="Times New Roman" panose="02020603050405020304" pitchFamily="18" charset="0"/>
              </a:rPr>
              <a:t> 2 </a:t>
            </a: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cơ</a:t>
            </a:r>
            <a:endParaRPr lang="en-US" sz="1467" dirty="0">
              <a:solidFill>
                <a:schemeClr val="tx1"/>
              </a:solidFill>
              <a:latin typeface="Times New Roman" panose="02020603050405020304" pitchFamily="18" charset="0"/>
              <a:cs typeface="Times New Roman" panose="02020603050405020304" pitchFamily="18" charset="0"/>
            </a:endParaRPr>
          </a:p>
          <a:p>
            <a:pPr marL="548640" indent="-182880">
              <a:buFont typeface="Wingdings" panose="05000000000000000000" pitchFamily="2" charset="2"/>
              <a:buChar char="§"/>
              <a:defRPr/>
            </a:pPr>
            <a:r>
              <a:rPr lang="en-US" sz="1467" dirty="0">
                <a:solidFill>
                  <a:schemeClr val="tx1"/>
                </a:solidFill>
                <a:latin typeface="Times New Roman" panose="02020603050405020304" pitchFamily="18" charset="0"/>
                <a:cs typeface="Times New Roman" panose="02020603050405020304" pitchFamily="18" charset="0"/>
              </a:rPr>
              <a:t>Hoàn </a:t>
            </a:r>
            <a:r>
              <a:rPr lang="en-US" sz="1467" dirty="0" err="1">
                <a:solidFill>
                  <a:schemeClr val="tx1"/>
                </a:solidFill>
                <a:latin typeface="Times New Roman" panose="02020603050405020304" pitchFamily="18" charset="0"/>
                <a:cs typeface="Times New Roman" panose="02020603050405020304" pitchFamily="18" charset="0"/>
              </a:rPr>
              <a:t>thiện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cấu</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hình</a:t>
            </a:r>
            <a:r>
              <a:rPr lang="en-US" sz="1467" dirty="0">
                <a:solidFill>
                  <a:schemeClr val="tx1"/>
                </a:solidFill>
                <a:latin typeface="Times New Roman" panose="02020603050405020304" pitchFamily="18" charset="0"/>
                <a:cs typeface="Times New Roman" panose="02020603050405020304" pitchFamily="18" charset="0"/>
              </a:rPr>
              <a:t> bay Nga </a:t>
            </a:r>
            <a:r>
              <a:rPr lang="en-US" sz="1467" dirty="0" err="1">
                <a:solidFill>
                  <a:schemeClr val="tx1"/>
                </a:solidFill>
                <a:latin typeface="Times New Roman" panose="02020603050405020304" pitchFamily="18" charset="0"/>
                <a:cs typeface="Times New Roman" panose="02020603050405020304" pitchFamily="18" charset="0"/>
              </a:rPr>
              <a:t>tàu</a:t>
            </a:r>
            <a:r>
              <a:rPr lang="en-US" sz="1467" dirty="0">
                <a:solidFill>
                  <a:schemeClr val="tx1"/>
                </a:solidFill>
                <a:latin typeface="Times New Roman" panose="02020603050405020304" pitchFamily="18" charset="0"/>
                <a:cs typeface="Times New Roman" panose="02020603050405020304" pitchFamily="18" charset="0"/>
              </a:rPr>
              <a:t> A867 – </a:t>
            </a:r>
            <a:r>
              <a:rPr lang="en-US" sz="1467" b="1" dirty="0">
                <a:solidFill>
                  <a:schemeClr val="tx1"/>
                </a:solidFill>
                <a:latin typeface="Times New Roman" panose="02020603050405020304" pitchFamily="18" charset="0"/>
                <a:cs typeface="Times New Roman" panose="02020603050405020304" pitchFamily="18" charset="0"/>
              </a:rPr>
              <a:t>29/04/2025</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thực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hiện</a:t>
            </a:r>
            <a:r>
              <a:rPr lang="en-US" sz="1467" dirty="0">
                <a:solidFill>
                  <a:schemeClr val="tx1"/>
                </a:solidFill>
                <a:latin typeface="Times New Roman" panose="02020603050405020304" pitchFamily="18" charset="0"/>
                <a:cs typeface="Times New Roman" panose="02020603050405020304" pitchFamily="18" charset="0"/>
              </a:rPr>
              <a:t> 02 </a:t>
            </a:r>
            <a:r>
              <a:rPr lang="en-US" sz="1467" dirty="0" err="1">
                <a:solidFill>
                  <a:schemeClr val="tx1"/>
                </a:solidFill>
                <a:latin typeface="Times New Roman" panose="02020603050405020304" pitchFamily="18" charset="0"/>
                <a:cs typeface="Times New Roman" panose="02020603050405020304" pitchFamily="18" charset="0"/>
              </a:rPr>
              <a:t>lần</a:t>
            </a:r>
            <a:r>
              <a:rPr lang="en-US" sz="1467" dirty="0">
                <a:solidFill>
                  <a:schemeClr val="tx1"/>
                </a:solidFill>
                <a:latin typeface="Times New Roman" panose="02020603050405020304" pitchFamily="18" charset="0"/>
                <a:cs typeface="Times New Roman" panose="02020603050405020304" pitchFamily="18" charset="0"/>
              </a:rPr>
              <a:t> ENG SWAP </a:t>
            </a:r>
            <a:r>
              <a:rPr lang="en-US" sz="1467" dirty="0" err="1">
                <a:solidFill>
                  <a:schemeClr val="tx1"/>
                </a:solidFill>
                <a:latin typeface="Times New Roman" panose="02020603050405020304" pitchFamily="18" charset="0"/>
                <a:cs typeface="Times New Roman" panose="02020603050405020304" pitchFamily="18" charset="0"/>
              </a:rPr>
              <a:t>với</a:t>
            </a:r>
            <a:r>
              <a:rPr lang="en-US" sz="1467" dirty="0">
                <a:solidFill>
                  <a:schemeClr val="tx1"/>
                </a:solidFill>
                <a:latin typeface="Times New Roman" panose="02020603050405020304" pitchFamily="18" charset="0"/>
                <a:cs typeface="Times New Roman" panose="02020603050405020304" pitchFamily="18" charset="0"/>
              </a:rPr>
              <a:t> A864 </a:t>
            </a:r>
            <a:r>
              <a:rPr lang="en-US" sz="1467" dirty="0" err="1">
                <a:solidFill>
                  <a:schemeClr val="tx1"/>
                </a:solidFill>
                <a:latin typeface="Times New Roman" panose="02020603050405020304" pitchFamily="18" charset="0"/>
                <a:cs typeface="Times New Roman" panose="02020603050405020304" pitchFamily="18" charset="0"/>
              </a:rPr>
              <a:t>trong</a:t>
            </a:r>
            <a:r>
              <a:rPr lang="en-US" sz="1467" dirty="0">
                <a:solidFill>
                  <a:schemeClr val="tx1"/>
                </a:solidFill>
                <a:latin typeface="Times New Roman" panose="02020603050405020304" pitchFamily="18" charset="0"/>
                <a:cs typeface="Times New Roman" panose="02020603050405020304" pitchFamily="18" charset="0"/>
              </a:rPr>
              <a:t> T3/2025 </a:t>
            </a:r>
            <a:r>
              <a:rPr lang="en-US" sz="1467" dirty="0" err="1">
                <a:solidFill>
                  <a:schemeClr val="tx1"/>
                </a:solidFill>
                <a:latin typeface="Times New Roman" panose="02020603050405020304" pitchFamily="18" charset="0"/>
                <a:cs typeface="Times New Roman" panose="02020603050405020304" pitchFamily="18" charset="0"/>
              </a:rPr>
              <a:t>và</a:t>
            </a:r>
            <a:r>
              <a:rPr lang="en-US" sz="1467" dirty="0">
                <a:solidFill>
                  <a:schemeClr val="tx1"/>
                </a:solidFill>
                <a:latin typeface="Times New Roman" panose="02020603050405020304" pitchFamily="18" charset="0"/>
                <a:cs typeface="Times New Roman" panose="02020603050405020304" pitchFamily="18" charset="0"/>
              </a:rPr>
              <a:t> A861 </a:t>
            </a:r>
            <a:r>
              <a:rPr lang="en-US" sz="1467" dirty="0" err="1">
                <a:solidFill>
                  <a:schemeClr val="tx1"/>
                </a:solidFill>
                <a:latin typeface="Times New Roman" panose="02020603050405020304" pitchFamily="18" charset="0"/>
                <a:cs typeface="Times New Roman" panose="02020603050405020304" pitchFamily="18" charset="0"/>
              </a:rPr>
              <a:t>trong</a:t>
            </a:r>
            <a:r>
              <a:rPr lang="en-US" sz="1467" dirty="0">
                <a:solidFill>
                  <a:schemeClr val="tx1"/>
                </a:solidFill>
                <a:latin typeface="Times New Roman" panose="02020603050405020304" pitchFamily="18" charset="0"/>
                <a:cs typeface="Times New Roman" panose="02020603050405020304" pitchFamily="18" charset="0"/>
              </a:rPr>
              <a:t> T4/2025). </a:t>
            </a:r>
            <a:r>
              <a:rPr lang="en-US" sz="1467" b="1" dirty="0" err="1">
                <a:solidFill>
                  <a:srgbClr val="ED0000"/>
                </a:solidFill>
                <a:latin typeface="Times New Roman" panose="02020603050405020304" pitchFamily="18" charset="0"/>
                <a:cs typeface="Times New Roman" panose="02020603050405020304" pitchFamily="18" charset="0"/>
              </a:rPr>
              <a:t>Nếu</a:t>
            </a:r>
            <a:r>
              <a:rPr lang="en-US" sz="1467" b="1" dirty="0">
                <a:solidFill>
                  <a:srgbClr val="ED0000"/>
                </a:solidFill>
                <a:latin typeface="Times New Roman" panose="02020603050405020304" pitchFamily="18" charset="0"/>
                <a:cs typeface="Times New Roman" panose="02020603050405020304" pitchFamily="18" charset="0"/>
              </a:rPr>
              <a:t> A868 AOG </a:t>
            </a:r>
            <a:r>
              <a:rPr lang="en-US" sz="1467" b="1" dirty="0" err="1">
                <a:solidFill>
                  <a:srgbClr val="ED0000"/>
                </a:solidFill>
                <a:latin typeface="Times New Roman" panose="02020603050405020304" pitchFamily="18" charset="0"/>
                <a:cs typeface="Times New Roman" panose="02020603050405020304" pitchFamily="18" charset="0"/>
              </a:rPr>
              <a:t>có</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thể</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ảnh</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hưởng</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đến</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tiến</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a:solidFill>
                  <a:srgbClr val="ED0000"/>
                </a:solidFill>
                <a:latin typeface="Times New Roman" panose="02020603050405020304" pitchFamily="18" charset="0"/>
                <a:cs typeface="Times New Roman" panose="02020603050405020304" pitchFamily="18" charset="0"/>
              </a:rPr>
              <a:t>độ </a:t>
            </a:r>
            <a:r>
              <a:rPr lang="en-US" sz="1467" b="1" dirty="0">
                <a:solidFill>
                  <a:srgbClr val="ED0000"/>
                </a:solidFill>
                <a:latin typeface="Times New Roman" panose="02020603050405020304" pitchFamily="18" charset="0"/>
                <a:cs typeface="Times New Roman" panose="02020603050405020304" pitchFamily="18" charset="0"/>
              </a:rPr>
              <a:t>swap </a:t>
            </a:r>
            <a:r>
              <a:rPr lang="en-US" sz="1467" b="1" dirty="0" err="1">
                <a:solidFill>
                  <a:srgbClr val="ED0000"/>
                </a:solidFill>
                <a:latin typeface="Times New Roman" panose="02020603050405020304" pitchFamily="18" charset="0"/>
                <a:cs typeface="Times New Roman" panose="02020603050405020304" pitchFamily="18" charset="0"/>
              </a:rPr>
              <a:t>động</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cơ</a:t>
            </a:r>
            <a:r>
              <a:rPr lang="en-US" sz="1467" b="1" dirty="0">
                <a:solidFill>
                  <a:srgbClr val="ED0000"/>
                </a:solidFill>
                <a:latin typeface="Times New Roman" panose="02020603050405020304" pitchFamily="18" charset="0"/>
                <a:cs typeface="Times New Roman" panose="02020603050405020304" pitchFamily="18" charset="0"/>
              </a:rPr>
              <a:t> A867/A861 </a:t>
            </a:r>
            <a:r>
              <a:rPr lang="en-US" sz="1467" b="1" dirty="0" err="1">
                <a:solidFill>
                  <a:srgbClr val="ED0000"/>
                </a:solidFill>
                <a:latin typeface="Times New Roman" panose="02020603050405020304" pitchFamily="18" charset="0"/>
                <a:cs typeface="Times New Roman" panose="02020603050405020304" pitchFamily="18" charset="0"/>
              </a:rPr>
              <a:t>trong</a:t>
            </a:r>
            <a:r>
              <a:rPr lang="en-US" sz="1467" b="1" dirty="0">
                <a:solidFill>
                  <a:srgbClr val="ED0000"/>
                </a:solidFill>
                <a:latin typeface="Times New Roman" panose="02020603050405020304" pitchFamily="18" charset="0"/>
                <a:cs typeface="Times New Roman" panose="02020603050405020304" pitchFamily="18" charset="0"/>
              </a:rPr>
              <a:t> T4/2025.</a:t>
            </a:r>
          </a:p>
        </p:txBody>
      </p:sp>
      <p:graphicFrame>
        <p:nvGraphicFramePr>
          <p:cNvPr id="6" name="Table 5">
            <a:extLst>
              <a:ext uri="{FF2B5EF4-FFF2-40B4-BE49-F238E27FC236}">
                <a16:creationId xmlns:a16="http://schemas.microsoft.com/office/drawing/2014/main" id="{66BC6617-EF33-BB90-B1C0-6DFD65C9FC16}"/>
              </a:ext>
            </a:extLst>
          </p:cNvPr>
          <p:cNvGraphicFramePr>
            <a:graphicFrameLocks noGrp="1"/>
          </p:cNvGraphicFramePr>
          <p:nvPr/>
        </p:nvGraphicFramePr>
        <p:xfrm>
          <a:off x="88573" y="483330"/>
          <a:ext cx="6778543" cy="3484008"/>
        </p:xfrm>
        <a:graphic>
          <a:graphicData uri="http://schemas.openxmlformats.org/drawingml/2006/table">
            <a:tbl>
              <a:tblPr firstRow="1" bandRow="1">
                <a:tableStyleId>{7DF18680-E054-41AD-8BC1-D1AEF772440D}</a:tableStyleId>
              </a:tblPr>
              <a:tblGrid>
                <a:gridCol w="680205">
                  <a:extLst>
                    <a:ext uri="{9D8B030D-6E8A-4147-A177-3AD203B41FA5}">
                      <a16:colId xmlns:a16="http://schemas.microsoft.com/office/drawing/2014/main" val="1598605427"/>
                    </a:ext>
                  </a:extLst>
                </a:gridCol>
                <a:gridCol w="669252">
                  <a:extLst>
                    <a:ext uri="{9D8B030D-6E8A-4147-A177-3AD203B41FA5}">
                      <a16:colId xmlns:a16="http://schemas.microsoft.com/office/drawing/2014/main" val="3845954792"/>
                    </a:ext>
                  </a:extLst>
                </a:gridCol>
                <a:gridCol w="924170">
                  <a:extLst>
                    <a:ext uri="{9D8B030D-6E8A-4147-A177-3AD203B41FA5}">
                      <a16:colId xmlns:a16="http://schemas.microsoft.com/office/drawing/2014/main" val="3803391337"/>
                    </a:ext>
                  </a:extLst>
                </a:gridCol>
                <a:gridCol w="1722414">
                  <a:extLst>
                    <a:ext uri="{9D8B030D-6E8A-4147-A177-3AD203B41FA5}">
                      <a16:colId xmlns:a16="http://schemas.microsoft.com/office/drawing/2014/main" val="2148822928"/>
                    </a:ext>
                  </a:extLst>
                </a:gridCol>
                <a:gridCol w="954581">
                  <a:extLst>
                    <a:ext uri="{9D8B030D-6E8A-4147-A177-3AD203B41FA5}">
                      <a16:colId xmlns:a16="http://schemas.microsoft.com/office/drawing/2014/main" val="1106888684"/>
                    </a:ext>
                  </a:extLst>
                </a:gridCol>
                <a:gridCol w="721013">
                  <a:extLst>
                    <a:ext uri="{9D8B030D-6E8A-4147-A177-3AD203B41FA5}">
                      <a16:colId xmlns:a16="http://schemas.microsoft.com/office/drawing/2014/main" val="1185879436"/>
                    </a:ext>
                  </a:extLst>
                </a:gridCol>
                <a:gridCol w="1106908">
                  <a:extLst>
                    <a:ext uri="{9D8B030D-6E8A-4147-A177-3AD203B41FA5}">
                      <a16:colId xmlns:a16="http://schemas.microsoft.com/office/drawing/2014/main" val="558551088"/>
                    </a:ext>
                  </a:extLst>
                </a:gridCol>
              </a:tblGrid>
              <a:tr h="408766">
                <a:tc>
                  <a:txBody>
                    <a:bodyPr/>
                    <a:lstStyle/>
                    <a:p>
                      <a:pPr algn="ctr" fontAlgn="ctr"/>
                      <a:r>
                        <a:rPr lang="en-US" sz="1200" u="none" strike="noStrike" dirty="0">
                          <a:solidFill>
                            <a:schemeClr val="bg1"/>
                          </a:solidFill>
                          <a:effectLst/>
                          <a:latin typeface="+mn-lt"/>
                        </a:rPr>
                        <a:t>Engine SV</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fontAlgn="ctr"/>
                      <a:r>
                        <a:rPr lang="en-US" sz="1200" u="none" strike="noStrike" dirty="0">
                          <a:solidFill>
                            <a:schemeClr val="bg1"/>
                          </a:solidFill>
                          <a:effectLst/>
                          <a:latin typeface="+mn-lt"/>
                        </a:rPr>
                        <a:t>Shop</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i="0" u="none" strike="noStrike" dirty="0" err="1">
                          <a:solidFill>
                            <a:schemeClr val="bg1"/>
                          </a:solidFill>
                          <a:effectLst/>
                          <a:latin typeface="Calibri" panose="020F0502020204030204" pitchFamily="34" charset="0"/>
                          <a:cs typeface="Calibri" panose="020F0502020204030204" pitchFamily="34" charset="0"/>
                        </a:rPr>
                        <a:t>Ngày</a:t>
                      </a:r>
                      <a:r>
                        <a:rPr lang="en-US" sz="1200" b="1" i="0" u="none" strike="noStrike" dirty="0">
                          <a:solidFill>
                            <a:schemeClr val="bg1"/>
                          </a:solidFill>
                          <a:effectLst/>
                          <a:latin typeface="Calibri" panose="020F0502020204030204" pitchFamily="34" charset="0"/>
                          <a:cs typeface="Calibri" panose="020F0502020204030204" pitchFamily="34" charset="0"/>
                        </a:rPr>
                        <a:t> </a:t>
                      </a:r>
                      <a:r>
                        <a:rPr lang="en-US" sz="1200" b="1" i="0" u="none" strike="noStrike" dirty="0" err="1">
                          <a:solidFill>
                            <a:schemeClr val="bg1"/>
                          </a:solidFill>
                          <a:effectLst/>
                          <a:latin typeface="Calibri" panose="020F0502020204030204" pitchFamily="34" charset="0"/>
                          <a:cs typeface="Calibri" panose="020F0502020204030204" pitchFamily="34" charset="0"/>
                        </a:rPr>
                        <a:t>tháo</a:t>
                      </a:r>
                      <a:endParaRPr lang="vi-VN" sz="1200" b="1" i="0" u="none" strike="noStrike" dirty="0">
                        <a:solidFill>
                          <a:schemeClr val="bg1"/>
                        </a:solidFill>
                        <a:effectLst/>
                        <a:latin typeface="Calibri" panose="020F0502020204030204" pitchFamily="34" charset="0"/>
                        <a:cs typeface="Calibri" panose="020F0502020204030204" pitchFamily="34"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vi-VN" sz="1200" u="none" strike="noStrike" dirty="0">
                          <a:solidFill>
                            <a:schemeClr val="bg1"/>
                          </a:solidFill>
                          <a:effectLst/>
                          <a:latin typeface="Calibri" panose="020F0502020204030204" pitchFamily="34" charset="0"/>
                          <a:cs typeface="Calibri" panose="020F0502020204030204" pitchFamily="34" charset="0"/>
                        </a:rPr>
                        <a:t>Ngày sửa xong</a:t>
                      </a:r>
                      <a:r>
                        <a:rPr lang="en-US" sz="1200" u="none" strike="noStrike" dirty="0">
                          <a:solidFill>
                            <a:schemeClr val="bg1"/>
                          </a:solidFill>
                          <a:effectLst/>
                          <a:latin typeface="Calibri" panose="020F0502020204030204" pitchFamily="34" charset="0"/>
                          <a:cs typeface="Calibri" panose="020F0502020204030204" pitchFamily="34" charset="0"/>
                        </a:rPr>
                        <a:t> &amp;</a:t>
                      </a:r>
                    </a:p>
                    <a:p>
                      <a:pPr algn="ctr" fontAlgn="ctr"/>
                      <a:r>
                        <a:rPr lang="en-US" sz="1200" u="none" strike="noStrike" dirty="0" err="1">
                          <a:solidFill>
                            <a:schemeClr val="bg1"/>
                          </a:solidFill>
                          <a:effectLst/>
                          <a:latin typeface="Calibri" panose="020F0502020204030204" pitchFamily="34" charset="0"/>
                          <a:cs typeface="Calibri" panose="020F0502020204030204" pitchFamily="34" charset="0"/>
                        </a:rPr>
                        <a:t>Ngày</a:t>
                      </a:r>
                      <a:r>
                        <a:rPr lang="en-US" sz="1200" u="none" strike="noStrike" dirty="0">
                          <a:solidFill>
                            <a:schemeClr val="bg1"/>
                          </a:solidFill>
                          <a:effectLst/>
                          <a:latin typeface="Calibri" panose="020F0502020204030204" pitchFamily="34" charset="0"/>
                          <a:cs typeface="Calibri" panose="020F0502020204030204" pitchFamily="34" charset="0"/>
                        </a:rPr>
                        <a:t> Induction</a:t>
                      </a:r>
                      <a:r>
                        <a:rPr lang="vi-VN" sz="1200" u="none" strike="noStrike" dirty="0">
                          <a:solidFill>
                            <a:schemeClr val="bg1"/>
                          </a:solidFill>
                          <a:effectLst/>
                          <a:latin typeface="Calibri" panose="020F0502020204030204" pitchFamily="34" charset="0"/>
                          <a:cs typeface="Calibri" panose="020F0502020204030204" pitchFamily="34" charset="0"/>
                        </a:rPr>
                        <a:t> </a:t>
                      </a:r>
                      <a:endParaRPr lang="vi-VN" sz="1200" b="1" i="0" u="none" strike="noStrike" dirty="0">
                        <a:solidFill>
                          <a:schemeClr val="bg1"/>
                        </a:solidFill>
                        <a:effectLst/>
                        <a:latin typeface="Calibri" panose="020F0502020204030204" pitchFamily="34" charset="0"/>
                        <a:cs typeface="Calibri" panose="020F0502020204030204" pitchFamily="34"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về</a:t>
                      </a:r>
                      <a:r>
                        <a:rPr lang="en-US" sz="1200" b="1" u="none" strike="noStrike" dirty="0">
                          <a:solidFill>
                            <a:schemeClr val="bg1"/>
                          </a:solidFill>
                          <a:effectLst/>
                          <a:latin typeface="+mn-lt"/>
                        </a:rPr>
                        <a:t> </a:t>
                      </a:r>
                    </a:p>
                    <a:p>
                      <a:pPr algn="ctr" fontAlgn="ctr"/>
                      <a:r>
                        <a:rPr lang="en-US" sz="1200" b="1" u="none" strike="noStrike" dirty="0">
                          <a:solidFill>
                            <a:schemeClr val="bg1"/>
                          </a:solidFill>
                          <a:effectLst/>
                          <a:latin typeface="+mn-lt"/>
                        </a:rPr>
                        <a:t>(+7 </a:t>
                      </a: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vc</a:t>
                      </a:r>
                      <a:r>
                        <a:rPr lang="en-US" sz="1200" b="1" u="none" strike="noStrike" dirty="0">
                          <a:solidFill>
                            <a:schemeClr val="bg1"/>
                          </a:solidFill>
                          <a:effectLst/>
                          <a:latin typeface="+mn-lt"/>
                        </a:rPr>
                        <a:t>)</a:t>
                      </a:r>
                      <a:endParaRPr lang="vi-VN"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u="none" strike="noStrike" dirty="0" err="1">
                          <a:solidFill>
                            <a:schemeClr val="bg1"/>
                          </a:solidFill>
                          <a:effectLst/>
                          <a:latin typeface="+mn-lt"/>
                        </a:rPr>
                        <a:t>Dùng</a:t>
                      </a:r>
                      <a:r>
                        <a:rPr lang="en-US" sz="1200" u="none" strike="noStrike" dirty="0">
                          <a:solidFill>
                            <a:schemeClr val="bg1"/>
                          </a:solidFill>
                          <a:effectLst/>
                          <a:latin typeface="+mn-lt"/>
                        </a:rPr>
                        <a:t> </a:t>
                      </a:r>
                      <a:r>
                        <a:rPr lang="en-US" sz="1200" u="none" strike="noStrike" dirty="0" err="1">
                          <a:solidFill>
                            <a:schemeClr val="bg1"/>
                          </a:solidFill>
                          <a:effectLst/>
                          <a:latin typeface="+mn-lt"/>
                        </a:rPr>
                        <a:t>cho</a:t>
                      </a:r>
                      <a:r>
                        <a:rPr lang="en-US" sz="1200" u="none" strike="noStrike" dirty="0">
                          <a:solidFill>
                            <a:schemeClr val="bg1"/>
                          </a:solidFill>
                          <a:effectLst/>
                          <a:latin typeface="+mn-lt"/>
                        </a:rPr>
                        <a:t> </a:t>
                      </a:r>
                      <a:r>
                        <a:rPr lang="en-US" sz="1200" u="none" strike="noStrike" dirty="0" err="1">
                          <a:solidFill>
                            <a:schemeClr val="bg1"/>
                          </a:solidFill>
                          <a:effectLst/>
                          <a:latin typeface="+mn-lt"/>
                        </a:rPr>
                        <a:t>tàu</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tháo</a:t>
                      </a:r>
                      <a:r>
                        <a:rPr lang="en-US" sz="1200" b="1" u="none" strike="noStrike" dirty="0">
                          <a:solidFill>
                            <a:schemeClr val="bg1"/>
                          </a:solidFill>
                          <a:effectLst/>
                          <a:latin typeface="+mn-lt"/>
                        </a:rPr>
                        <a:t> ĐC </a:t>
                      </a:r>
                      <a:r>
                        <a:rPr lang="en-US" sz="1200" b="1" u="none" strike="noStrike" dirty="0" err="1">
                          <a:solidFill>
                            <a:schemeClr val="bg1"/>
                          </a:solidFill>
                          <a:effectLst/>
                          <a:latin typeface="+mn-lt"/>
                        </a:rPr>
                        <a:t>tiếp</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theo</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234812354"/>
                  </a:ext>
                </a:extLst>
              </a:tr>
              <a:tr h="408766">
                <a:tc>
                  <a:txBody>
                    <a:bodyPr/>
                    <a:lstStyle/>
                    <a:p>
                      <a:pPr algn="ctr" fontAlgn="ctr"/>
                      <a:r>
                        <a:rPr lang="en-US" sz="1200" b="0" u="none" strike="noStrike" dirty="0">
                          <a:solidFill>
                            <a:schemeClr val="tx1"/>
                          </a:solidFill>
                          <a:effectLst/>
                          <a:latin typeface="+mn-lt"/>
                        </a:rPr>
                        <a:t>956556</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u="none" strike="noStrike" dirty="0">
                          <a:solidFill>
                            <a:schemeClr val="tx1"/>
                          </a:solidFill>
                          <a:effectLst/>
                          <a:latin typeface="+mn-lt"/>
                          <a:cs typeface="Times New Roman" panose="02020603050405020304" pitchFamily="18" charset="0"/>
                        </a:rPr>
                        <a:t>20/11/2023</a:t>
                      </a:r>
                    </a:p>
                  </a:txBody>
                  <a:tcPr marL="12700" marR="12700" marT="12700" marB="0" anchor="ctr"/>
                </a:tc>
                <a:tc>
                  <a:txBody>
                    <a:bodyPr/>
                    <a:lstStyle/>
                    <a:p>
                      <a:pPr algn="ctr" fontAlgn="ctr"/>
                      <a:r>
                        <a:rPr lang="en-US" sz="1200" b="1" u="none" strike="noStrike" dirty="0">
                          <a:solidFill>
                            <a:srgbClr val="006C00"/>
                          </a:solidFill>
                          <a:effectLst/>
                          <a:latin typeface="+mn-lt"/>
                        </a:rPr>
                        <a:t>12/03/2025</a:t>
                      </a:r>
                    </a:p>
                    <a:p>
                      <a:pPr algn="ctr" fontAlgn="ctr"/>
                      <a:r>
                        <a:rPr lang="en-US" sz="1200" u="none" strike="noStrike" dirty="0">
                          <a:solidFill>
                            <a:schemeClr val="tx1"/>
                          </a:solidFill>
                          <a:effectLst/>
                          <a:latin typeface="+mn-lt"/>
                        </a:rPr>
                        <a:t>Inducted 12/08/2024</a:t>
                      </a:r>
                      <a:endParaRPr lang="en-US" sz="120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1" i="0" u="none" strike="noStrike" dirty="0">
                          <a:solidFill>
                            <a:srgbClr val="006C00"/>
                          </a:solidFill>
                          <a:effectLst/>
                          <a:latin typeface="+mn-lt"/>
                          <a:cs typeface="Times New Roman" panose="02020603050405020304" pitchFamily="18" charset="0"/>
                        </a:rPr>
                        <a:t>24/03/2025</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A864</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24/03/2025</a:t>
                      </a: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610276437"/>
                  </a:ext>
                </a:extLst>
              </a:tr>
              <a:tr h="408766">
                <a:tc>
                  <a:txBody>
                    <a:bodyPr/>
                    <a:lstStyle/>
                    <a:p>
                      <a:pPr algn="ctr" fontAlgn="ctr"/>
                      <a:r>
                        <a:rPr lang="en-US" sz="1200" b="0" u="none" strike="noStrike" dirty="0">
                          <a:solidFill>
                            <a:schemeClr val="tx1"/>
                          </a:solidFill>
                          <a:effectLst/>
                          <a:latin typeface="+mn-lt"/>
                        </a:rPr>
                        <a:t>956533</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26/01/2024</a:t>
                      </a:r>
                    </a:p>
                  </a:txBody>
                  <a:tcPr marL="12700" marR="12700" marT="12700" marB="0" anchor="ctr"/>
                </a:tc>
                <a:tc>
                  <a:txBody>
                    <a:bodyPr/>
                    <a:lstStyle/>
                    <a:p>
                      <a:pPr algn="ctr" fontAlgn="ctr"/>
                      <a:r>
                        <a:rPr lang="en-US" sz="1200" b="1" u="none" strike="noStrike" dirty="0">
                          <a:solidFill>
                            <a:srgbClr val="FF0000"/>
                          </a:solidFill>
                          <a:effectLst/>
                          <a:latin typeface="+mn-lt"/>
                          <a:cs typeface="Times New Roman" panose="02020603050405020304" pitchFamily="18" charset="0"/>
                        </a:rPr>
                        <a:t>17/04/2025</a:t>
                      </a:r>
                    </a:p>
                    <a:p>
                      <a:pPr algn="ctr" fontAlgn="ctr"/>
                      <a:r>
                        <a:rPr lang="en-US" sz="1200" b="0" u="none" strike="noStrike" dirty="0">
                          <a:solidFill>
                            <a:schemeClr val="tx1"/>
                          </a:solidFill>
                          <a:effectLst/>
                          <a:latin typeface="+mn-lt"/>
                          <a:cs typeface="Times New Roman" panose="02020603050405020304" pitchFamily="18" charset="0"/>
                        </a:rPr>
                        <a:t>Inducted 05/10/2024</a:t>
                      </a:r>
                    </a:p>
                  </a:txBody>
                  <a:tcPr marL="12700" marR="12700" marT="12700" marB="0" anchor="ctr"/>
                </a:tc>
                <a:tc>
                  <a:txBody>
                    <a:bodyPr/>
                    <a:lstStyle/>
                    <a:p>
                      <a:pPr marL="0" algn="ctr" defTabSz="914400" rtl="0" eaLnBrk="1" fontAlgn="ctr" latinLnBrk="0" hangingPunct="1"/>
                      <a:r>
                        <a:rPr lang="en-US" sz="1200" b="1" i="0" u="none" strike="noStrike" kern="1200" dirty="0">
                          <a:solidFill>
                            <a:srgbClr val="FF0000"/>
                          </a:solidFill>
                          <a:effectLst/>
                          <a:latin typeface="+mn-lt"/>
                          <a:ea typeface="+mn-ea"/>
                          <a:cs typeface="Times New Roman" panose="02020603050405020304" pitchFamily="18" charset="0"/>
                        </a:rPr>
                        <a:t>24/04/2025</a:t>
                      </a: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880068930"/>
                  </a:ext>
                </a:extLst>
              </a:tr>
              <a:tr h="408766">
                <a:tc>
                  <a:txBody>
                    <a:bodyPr/>
                    <a:lstStyle/>
                    <a:p>
                      <a:pPr algn="ctr" fontAlgn="ctr"/>
                      <a:r>
                        <a:rPr lang="en-US" sz="1200" b="0" u="none" strike="noStrike" dirty="0">
                          <a:solidFill>
                            <a:schemeClr val="tx1"/>
                          </a:solidFill>
                          <a:effectLst/>
                          <a:latin typeface="+mn-lt"/>
                        </a:rPr>
                        <a:t>956569</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28/07/2024</a:t>
                      </a:r>
                    </a:p>
                  </a:txBody>
                  <a:tcPr marL="12700" marR="12700" marT="12700" marB="0" anchor="ctr"/>
                </a:tc>
                <a:tc>
                  <a:txBody>
                    <a:bodyPr/>
                    <a:lstStyle/>
                    <a:p>
                      <a:pPr algn="ctr" fontAlgn="ctr"/>
                      <a:r>
                        <a:rPr lang="en-US" sz="1200" b="1" u="none" strike="noStrike" dirty="0">
                          <a:solidFill>
                            <a:schemeClr val="tx1"/>
                          </a:solidFill>
                          <a:effectLst/>
                          <a:latin typeface="+mn-lt"/>
                          <a:cs typeface="Times New Roman" panose="02020603050405020304" pitchFamily="18" charset="0"/>
                        </a:rPr>
                        <a:t>TBD (T10/2025)</a:t>
                      </a:r>
                    </a:p>
                    <a:p>
                      <a:pPr algn="ctr" fontAlgn="ctr"/>
                      <a:r>
                        <a:rPr lang="en-US" sz="1200" b="0" u="none" strike="noStrike" dirty="0">
                          <a:solidFill>
                            <a:schemeClr val="tx1"/>
                          </a:solidFill>
                          <a:effectLst/>
                          <a:latin typeface="+mn-lt"/>
                          <a:cs typeface="Times New Roman" panose="02020603050405020304" pitchFamily="18" charset="0"/>
                        </a:rPr>
                        <a:t>Inducted 12/11/2024</a:t>
                      </a:r>
                    </a:p>
                  </a:txBody>
                  <a:tcPr marL="12700" marR="12700" marT="12700" marB="0" anchor="ctr"/>
                </a:tc>
                <a:tc>
                  <a:txBody>
                    <a:bodyPr/>
                    <a:lstStyle/>
                    <a:p>
                      <a:pPr marL="0" algn="ctr" defTabSz="914400" rtl="0" eaLnBrk="1" fontAlgn="ctr" latinLnBrk="0" hangingPunct="1"/>
                      <a:r>
                        <a:rPr lang="en-US" sz="1200" b="0" i="0" u="none" strike="noStrike" dirty="0">
                          <a:solidFill>
                            <a:schemeClr val="tx1"/>
                          </a:solidFill>
                          <a:effectLst/>
                          <a:latin typeface="+mn-lt"/>
                          <a:cs typeface="Times New Roman" panose="02020603050405020304" pitchFamily="18" charset="0"/>
                        </a:rPr>
                        <a:t>TBD</a:t>
                      </a:r>
                      <a:endParaRPr lang="en-US" sz="1200" b="0" i="0" u="none" strike="noStrike" kern="1200" dirty="0">
                        <a:solidFill>
                          <a:schemeClr val="tx1"/>
                        </a:solidFill>
                        <a:effectLst/>
                        <a:latin typeface="+mn-lt"/>
                        <a:ea typeface="+mn-ea"/>
                        <a:cs typeface="Times New Roman" panose="02020603050405020304" pitchFamily="18" charset="0"/>
                      </a:endParaRP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dirty="0" err="1">
                          <a:solidFill>
                            <a:schemeClr val="tx1"/>
                          </a:solidFill>
                          <a:effectLst/>
                          <a:latin typeface="+mn-lt"/>
                          <a:cs typeface="Times New Roman" panose="02020603050405020304" pitchFamily="18" charset="0"/>
                        </a:rPr>
                        <a:t>Ngày</a:t>
                      </a:r>
                      <a:r>
                        <a:rPr lang="en-US" sz="1200" b="0" i="0" u="none" strike="noStrike" dirty="0">
                          <a:solidFill>
                            <a:schemeClr val="tx1"/>
                          </a:solidFill>
                          <a:effectLst/>
                          <a:latin typeface="+mn-lt"/>
                          <a:cs typeface="Times New Roman" panose="02020603050405020304" pitchFamily="18" charset="0"/>
                        </a:rPr>
                        <a:t> </a:t>
                      </a:r>
                      <a:r>
                        <a:rPr lang="en-US" sz="1200" b="0" i="0" u="none" strike="noStrike" dirty="0" err="1">
                          <a:solidFill>
                            <a:schemeClr val="tx1"/>
                          </a:solidFill>
                          <a:effectLst/>
                          <a:latin typeface="+mn-lt"/>
                          <a:cs typeface="Times New Roman" panose="02020603050405020304" pitchFamily="18" charset="0"/>
                        </a:rPr>
                        <a:t>sửa</a:t>
                      </a:r>
                      <a:r>
                        <a:rPr lang="en-US" sz="1200" b="0" i="0" u="none" strike="noStrike" dirty="0">
                          <a:solidFill>
                            <a:schemeClr val="tx1"/>
                          </a:solidFill>
                          <a:effectLst/>
                          <a:latin typeface="+mn-lt"/>
                          <a:cs typeface="Times New Roman" panose="02020603050405020304" pitchFamily="18" charset="0"/>
                        </a:rPr>
                        <a:t> </a:t>
                      </a:r>
                      <a:r>
                        <a:rPr lang="en-US" sz="1200" b="0" i="0" u="none" strike="noStrike" dirty="0" err="1">
                          <a:solidFill>
                            <a:schemeClr val="tx1"/>
                          </a:solidFill>
                          <a:effectLst/>
                          <a:latin typeface="+mn-lt"/>
                          <a:cs typeface="Times New Roman" panose="02020603050405020304" pitchFamily="18" charset="0"/>
                        </a:rPr>
                        <a:t>xong</a:t>
                      </a:r>
                      <a:r>
                        <a:rPr lang="en-US" sz="1200" b="0" i="0" u="none" strike="noStrike" dirty="0">
                          <a:solidFill>
                            <a:schemeClr val="tx1"/>
                          </a:solidFill>
                          <a:effectLst/>
                          <a:latin typeface="+mn-lt"/>
                          <a:cs typeface="Times New Roman" panose="02020603050405020304" pitchFamily="18" charset="0"/>
                        </a:rPr>
                        <a:t> </a:t>
                      </a:r>
                      <a:r>
                        <a:rPr lang="en-US" sz="1200" b="0" i="0" u="none" strike="noStrike" dirty="0" err="1">
                          <a:solidFill>
                            <a:schemeClr val="tx1"/>
                          </a:solidFill>
                          <a:effectLst/>
                          <a:latin typeface="+mn-lt"/>
                          <a:cs typeface="Times New Roman" panose="02020603050405020304" pitchFamily="18" charset="0"/>
                        </a:rPr>
                        <a:t>có</a:t>
                      </a:r>
                      <a:r>
                        <a:rPr lang="en-US" sz="1200" b="0" i="0" u="none" strike="noStrike" dirty="0">
                          <a:solidFill>
                            <a:schemeClr val="tx1"/>
                          </a:solidFill>
                          <a:effectLst/>
                          <a:latin typeface="+mn-lt"/>
                          <a:cs typeface="Times New Roman" panose="02020603050405020304" pitchFamily="18" charset="0"/>
                        </a:rPr>
                        <a:t> </a:t>
                      </a:r>
                      <a:r>
                        <a:rPr lang="en-US" sz="1200" b="0" i="0" u="none" strike="noStrike" dirty="0" err="1">
                          <a:solidFill>
                            <a:schemeClr val="tx1"/>
                          </a:solidFill>
                          <a:effectLst/>
                          <a:latin typeface="+mn-lt"/>
                          <a:cs typeface="Times New Roman" panose="02020603050405020304" pitchFamily="18" charset="0"/>
                        </a:rPr>
                        <a:t>thể</a:t>
                      </a:r>
                      <a:r>
                        <a:rPr lang="en-US" sz="1200" b="0" i="0" u="none" strike="noStrike" dirty="0">
                          <a:solidFill>
                            <a:schemeClr val="tx1"/>
                          </a:solidFill>
                          <a:effectLst/>
                          <a:latin typeface="+mn-lt"/>
                          <a:cs typeface="Times New Roman" panose="02020603050405020304" pitchFamily="18" charset="0"/>
                        </a:rPr>
                        <a:t> </a:t>
                      </a:r>
                      <a:r>
                        <a:rPr lang="en-US" sz="1200" b="0" i="0" u="none" strike="noStrike" dirty="0" err="1">
                          <a:solidFill>
                            <a:schemeClr val="tx1"/>
                          </a:solidFill>
                          <a:effectLst/>
                          <a:latin typeface="+mn-lt"/>
                          <a:cs typeface="Times New Roman" panose="02020603050405020304" pitchFamily="18" charset="0"/>
                        </a:rPr>
                        <a:t>thay</a:t>
                      </a:r>
                      <a:r>
                        <a:rPr lang="en-US" sz="1200" b="0" i="0" u="none" strike="noStrike" dirty="0">
                          <a:solidFill>
                            <a:schemeClr val="tx1"/>
                          </a:solidFill>
                          <a:effectLst/>
                          <a:latin typeface="+mn-lt"/>
                          <a:cs typeface="Times New Roman" panose="02020603050405020304" pitchFamily="18" charset="0"/>
                        </a:rPr>
                        <a:t> </a:t>
                      </a:r>
                      <a:r>
                        <a:rPr lang="en-US" sz="1200" b="0" i="0" u="none" strike="noStrike" dirty="0" err="1">
                          <a:solidFill>
                            <a:schemeClr val="tx1"/>
                          </a:solidFill>
                          <a:effectLst/>
                          <a:latin typeface="+mn-lt"/>
                          <a:cs typeface="Times New Roman" panose="02020603050405020304" pitchFamily="18" charset="0"/>
                        </a:rPr>
                        <a:t>đổi</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08617102"/>
                  </a:ext>
                </a:extLst>
              </a:tr>
              <a:tr h="408766">
                <a:tc>
                  <a:txBody>
                    <a:bodyPr/>
                    <a:lstStyle/>
                    <a:p>
                      <a:pPr algn="ctr" fontAlgn="ctr"/>
                      <a:r>
                        <a:rPr lang="en-US" sz="1200" b="0" i="0" u="none" strike="noStrike" dirty="0">
                          <a:solidFill>
                            <a:schemeClr val="tx1"/>
                          </a:solidFill>
                          <a:effectLst/>
                          <a:latin typeface="+mn-lt"/>
                          <a:cs typeface="Times New Roman" panose="02020603050405020304" pitchFamily="18" charset="0"/>
                        </a:rPr>
                        <a:t>958398</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GEEVES</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21/06/2024</a:t>
                      </a:r>
                    </a:p>
                  </a:txBody>
                  <a:tcPr marL="12700" marR="12700" marT="12700" marB="0" anchor="ctr"/>
                </a:tc>
                <a:tc>
                  <a:txBody>
                    <a:bodyPr/>
                    <a:lstStyle/>
                    <a:p>
                      <a:pPr algn="ctr" fontAlgn="ctr"/>
                      <a:r>
                        <a:rPr lang="en-US" sz="1200" b="1" u="none" strike="noStrike" dirty="0">
                          <a:solidFill>
                            <a:schemeClr val="tx1"/>
                          </a:solidFill>
                          <a:effectLst/>
                          <a:latin typeface="+mn-lt"/>
                          <a:cs typeface="Times New Roman" panose="02020603050405020304" pitchFamily="18" charset="0"/>
                        </a:rPr>
                        <a:t>12/06/2025</a:t>
                      </a:r>
                    </a:p>
                    <a:p>
                      <a:pPr algn="ctr" fontAlgn="ctr"/>
                      <a:r>
                        <a:rPr lang="en-US" sz="1200" b="0" u="none" strike="noStrike" dirty="0">
                          <a:solidFill>
                            <a:schemeClr val="tx1"/>
                          </a:solidFill>
                          <a:effectLst/>
                          <a:latin typeface="+mn-lt"/>
                          <a:cs typeface="Times New Roman" panose="02020603050405020304" pitchFamily="18" charset="0"/>
                        </a:rPr>
                        <a:t>Inducted 17/07/2024</a:t>
                      </a:r>
                    </a:p>
                  </a:txBody>
                  <a:tcPr marL="12700" marR="12700" marT="12700" marB="0" anchor="ctr"/>
                </a:tc>
                <a:tc>
                  <a:txBody>
                    <a:bodyPr/>
                    <a:lstStyle/>
                    <a:p>
                      <a:pPr algn="ctr" fontAlgn="ctr"/>
                      <a:r>
                        <a:rPr lang="en-US" sz="1200" b="1" i="0" u="none" strike="noStrike" dirty="0">
                          <a:solidFill>
                            <a:schemeClr val="tx1"/>
                          </a:solidFill>
                          <a:effectLst/>
                          <a:latin typeface="+mn-lt"/>
                          <a:cs typeface="Times New Roman" panose="02020603050405020304" pitchFamily="18" charset="0"/>
                        </a:rPr>
                        <a:t>19/06/2025</a:t>
                      </a:r>
                    </a:p>
                  </a:txBody>
                  <a:tcPr marL="12700" marR="12700" marT="12700" marB="0" anchor="ctr"/>
                </a:tc>
                <a:tc>
                  <a:txBody>
                    <a:bodyPr/>
                    <a:lstStyle/>
                    <a:p>
                      <a:pPr algn="ctr" fontAlgn="ctr"/>
                      <a:endParaRPr lang="en-US" sz="1200" b="1" i="0" u="none" strike="noStrike" dirty="0">
                        <a:solidFill>
                          <a:srgbClr val="00B050"/>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rgbClr val="00B050"/>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168631574"/>
                  </a:ext>
                </a:extLst>
              </a:tr>
              <a:tr h="408766">
                <a:tc>
                  <a:txBody>
                    <a:bodyPr/>
                    <a:lstStyle/>
                    <a:p>
                      <a:pPr algn="ctr" fontAlgn="ctr"/>
                      <a:r>
                        <a:rPr lang="en-US" sz="1200" b="0" i="0" u="none" strike="noStrike" dirty="0">
                          <a:solidFill>
                            <a:schemeClr val="tx1"/>
                          </a:solidFill>
                          <a:effectLst/>
                          <a:latin typeface="+mn-lt"/>
                          <a:cs typeface="Times New Roman" panose="02020603050405020304" pitchFamily="18" charset="0"/>
                        </a:rPr>
                        <a:t>956599</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05/09/2024</a:t>
                      </a:r>
                    </a:p>
                  </a:txBody>
                  <a:tcPr marL="12700" marR="12700" marT="12700" marB="0" anchor="ctr"/>
                </a:tc>
                <a:tc>
                  <a:txBody>
                    <a:bodyPr/>
                    <a:lstStyle/>
                    <a:p>
                      <a:pPr algn="ctr" fontAlgn="ctr"/>
                      <a:r>
                        <a:rPr lang="en-US" sz="1200" b="1" u="none" strike="noStrike" dirty="0">
                          <a:solidFill>
                            <a:schemeClr val="tx1"/>
                          </a:solidFill>
                          <a:effectLst/>
                          <a:latin typeface="+mn-lt"/>
                          <a:cs typeface="Times New Roman" panose="02020603050405020304" pitchFamily="18" charset="0"/>
                        </a:rPr>
                        <a:t>TBD (T07/2025)</a:t>
                      </a:r>
                    </a:p>
                    <a:p>
                      <a:pPr algn="ctr" fontAlgn="ctr"/>
                      <a:r>
                        <a:rPr lang="en-US" sz="1200" b="0" u="none" strike="noStrike" dirty="0">
                          <a:solidFill>
                            <a:schemeClr val="tx1"/>
                          </a:solidFill>
                          <a:effectLst/>
                          <a:latin typeface="+mn-lt"/>
                          <a:cs typeface="Times New Roman" panose="02020603050405020304" pitchFamily="18" charset="0"/>
                        </a:rPr>
                        <a:t>Inducted 26/11/2024</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dirty="0" err="1">
                          <a:solidFill>
                            <a:schemeClr val="tx1"/>
                          </a:solidFill>
                          <a:effectLst/>
                          <a:latin typeface="+mn-lt"/>
                          <a:cs typeface="Times New Roman" panose="02020603050405020304" pitchFamily="18" charset="0"/>
                        </a:rPr>
                        <a:t>Ngày</a:t>
                      </a:r>
                      <a:r>
                        <a:rPr lang="en-US" sz="1200" b="0" i="0" u="none" strike="noStrike" dirty="0">
                          <a:solidFill>
                            <a:schemeClr val="tx1"/>
                          </a:solidFill>
                          <a:effectLst/>
                          <a:latin typeface="+mn-lt"/>
                          <a:cs typeface="Times New Roman" panose="02020603050405020304" pitchFamily="18" charset="0"/>
                        </a:rPr>
                        <a:t> </a:t>
                      </a:r>
                      <a:r>
                        <a:rPr lang="en-US" sz="1200" b="0" i="0" u="none" strike="noStrike" dirty="0" err="1">
                          <a:solidFill>
                            <a:schemeClr val="tx1"/>
                          </a:solidFill>
                          <a:effectLst/>
                          <a:latin typeface="+mn-lt"/>
                          <a:cs typeface="Times New Roman" panose="02020603050405020304" pitchFamily="18" charset="0"/>
                        </a:rPr>
                        <a:t>sửa</a:t>
                      </a:r>
                      <a:r>
                        <a:rPr lang="en-US" sz="1200" b="0" i="0" u="none" strike="noStrike" dirty="0">
                          <a:solidFill>
                            <a:schemeClr val="tx1"/>
                          </a:solidFill>
                          <a:effectLst/>
                          <a:latin typeface="+mn-lt"/>
                          <a:cs typeface="Times New Roman" panose="02020603050405020304" pitchFamily="18" charset="0"/>
                        </a:rPr>
                        <a:t> </a:t>
                      </a:r>
                      <a:r>
                        <a:rPr lang="en-US" sz="1200" b="0" i="0" u="none" strike="noStrike" dirty="0" err="1">
                          <a:solidFill>
                            <a:schemeClr val="tx1"/>
                          </a:solidFill>
                          <a:effectLst/>
                          <a:latin typeface="+mn-lt"/>
                          <a:cs typeface="Times New Roman" panose="02020603050405020304" pitchFamily="18" charset="0"/>
                        </a:rPr>
                        <a:t>xong</a:t>
                      </a:r>
                      <a:r>
                        <a:rPr lang="en-US" sz="1200" b="0" i="0" u="none" strike="noStrike" dirty="0">
                          <a:solidFill>
                            <a:schemeClr val="tx1"/>
                          </a:solidFill>
                          <a:effectLst/>
                          <a:latin typeface="+mn-lt"/>
                          <a:cs typeface="Times New Roman" panose="02020603050405020304" pitchFamily="18" charset="0"/>
                        </a:rPr>
                        <a:t> </a:t>
                      </a:r>
                      <a:r>
                        <a:rPr lang="en-US" sz="1200" b="0" i="0" u="none" strike="noStrike" dirty="0" err="1">
                          <a:solidFill>
                            <a:schemeClr val="tx1"/>
                          </a:solidFill>
                          <a:effectLst/>
                          <a:latin typeface="+mn-lt"/>
                          <a:cs typeface="Times New Roman" panose="02020603050405020304" pitchFamily="18" charset="0"/>
                        </a:rPr>
                        <a:t>có</a:t>
                      </a:r>
                      <a:r>
                        <a:rPr lang="en-US" sz="1200" b="0" i="0" u="none" strike="noStrike" dirty="0">
                          <a:solidFill>
                            <a:schemeClr val="tx1"/>
                          </a:solidFill>
                          <a:effectLst/>
                          <a:latin typeface="+mn-lt"/>
                          <a:cs typeface="Times New Roman" panose="02020603050405020304" pitchFamily="18" charset="0"/>
                        </a:rPr>
                        <a:t> </a:t>
                      </a:r>
                      <a:r>
                        <a:rPr lang="en-US" sz="1200" b="0" i="0" u="none" strike="noStrike" dirty="0" err="1">
                          <a:solidFill>
                            <a:schemeClr val="tx1"/>
                          </a:solidFill>
                          <a:effectLst/>
                          <a:latin typeface="+mn-lt"/>
                          <a:cs typeface="Times New Roman" panose="02020603050405020304" pitchFamily="18" charset="0"/>
                        </a:rPr>
                        <a:t>thể</a:t>
                      </a:r>
                      <a:r>
                        <a:rPr lang="en-US" sz="1200" b="0" i="0" u="none" strike="noStrike" dirty="0">
                          <a:solidFill>
                            <a:schemeClr val="tx1"/>
                          </a:solidFill>
                          <a:effectLst/>
                          <a:latin typeface="+mn-lt"/>
                          <a:cs typeface="Times New Roman" panose="02020603050405020304" pitchFamily="18" charset="0"/>
                        </a:rPr>
                        <a:t> </a:t>
                      </a:r>
                      <a:r>
                        <a:rPr lang="en-US" sz="1200" b="0" i="0" u="none" strike="noStrike" dirty="0" err="1">
                          <a:solidFill>
                            <a:schemeClr val="tx1"/>
                          </a:solidFill>
                          <a:effectLst/>
                          <a:latin typeface="+mn-lt"/>
                          <a:cs typeface="Times New Roman" panose="02020603050405020304" pitchFamily="18" charset="0"/>
                        </a:rPr>
                        <a:t>thay</a:t>
                      </a:r>
                      <a:r>
                        <a:rPr lang="en-US" sz="1200" b="0" i="0" u="none" strike="noStrike" dirty="0">
                          <a:solidFill>
                            <a:schemeClr val="tx1"/>
                          </a:solidFill>
                          <a:effectLst/>
                          <a:latin typeface="+mn-lt"/>
                          <a:cs typeface="Times New Roman" panose="02020603050405020304" pitchFamily="18" charset="0"/>
                        </a:rPr>
                        <a:t> </a:t>
                      </a:r>
                      <a:r>
                        <a:rPr lang="en-US" sz="1200" b="0" i="0" u="none" strike="noStrike" dirty="0" err="1">
                          <a:solidFill>
                            <a:schemeClr val="tx1"/>
                          </a:solidFill>
                          <a:effectLst/>
                          <a:latin typeface="+mn-lt"/>
                          <a:cs typeface="Times New Roman" panose="02020603050405020304" pitchFamily="18" charset="0"/>
                        </a:rPr>
                        <a:t>đổi</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167051134"/>
                  </a:ext>
                </a:extLst>
              </a:tr>
              <a:tr h="228739">
                <a:tc>
                  <a:txBody>
                    <a:bodyPr/>
                    <a:lstStyle/>
                    <a:p>
                      <a:pPr algn="ctr" fontAlgn="ctr"/>
                      <a:r>
                        <a:rPr lang="en-US" sz="1200" b="1" i="0" u="none" strike="noStrike" dirty="0">
                          <a:solidFill>
                            <a:srgbClr val="FF0000"/>
                          </a:solidFill>
                          <a:effectLst/>
                          <a:latin typeface="+mn-lt"/>
                          <a:cs typeface="Times New Roman" panose="02020603050405020304" pitchFamily="18" charset="0"/>
                        </a:rPr>
                        <a:t>956638</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1" i="0" u="none" strike="noStrike" dirty="0">
                          <a:solidFill>
                            <a:srgbClr val="FF0000"/>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1" u="none" strike="noStrike" dirty="0">
                          <a:solidFill>
                            <a:srgbClr val="FF0000"/>
                          </a:solidFill>
                          <a:effectLst/>
                          <a:latin typeface="+mn-lt"/>
                          <a:cs typeface="Times New Roman" panose="02020603050405020304" pitchFamily="18" charset="0"/>
                        </a:rPr>
                        <a:t>11/03/2025</a:t>
                      </a:r>
                    </a:p>
                  </a:txBody>
                  <a:tcPr marL="12700" marR="12700" marT="12700" marB="0" anchor="ctr"/>
                </a:tc>
                <a:tc>
                  <a:txBody>
                    <a:bodyPr/>
                    <a:lstStyle/>
                    <a:p>
                      <a:pPr algn="ctr" fontAlgn="ctr"/>
                      <a:r>
                        <a:rPr lang="en-US" sz="1200" b="1" u="none" strike="noStrike" kern="1200" dirty="0">
                          <a:solidFill>
                            <a:srgbClr val="FF0000"/>
                          </a:solidFill>
                          <a:effectLst/>
                          <a:latin typeface="+mn-lt"/>
                          <a:ea typeface="+mn-ea"/>
                          <a:cs typeface="Times New Roman" panose="02020603050405020304" pitchFamily="18" charset="0"/>
                        </a:rPr>
                        <a:t>Induction 27/05/2025</a:t>
                      </a:r>
                    </a:p>
                  </a:txBody>
                  <a:tcPr marL="12700" marR="12700" marT="12700" marB="0" anchor="ctr"/>
                </a:tc>
                <a:tc>
                  <a:txBody>
                    <a:bodyPr/>
                    <a:lstStyle/>
                    <a:p>
                      <a:pPr algn="ctr" fontAlgn="ctr"/>
                      <a:r>
                        <a:rPr lang="en-US" sz="1200" b="1" u="none" strike="noStrike" kern="1200" dirty="0">
                          <a:solidFill>
                            <a:srgbClr val="FF0000"/>
                          </a:solidFill>
                          <a:effectLst/>
                          <a:latin typeface="+mn-lt"/>
                          <a:ea typeface="+mn-ea"/>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rgbClr val="FF0000"/>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rgbClr val="FF0000"/>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980115374"/>
                  </a:ext>
                </a:extLst>
              </a:tr>
              <a:tr h="389926">
                <a:tc>
                  <a:txBody>
                    <a:bodyPr/>
                    <a:lstStyle/>
                    <a:p>
                      <a:pPr algn="ctr" fontAlgn="ctr"/>
                      <a:r>
                        <a:rPr lang="en-US" sz="1200" b="0" i="0" u="none" strike="noStrike" dirty="0">
                          <a:solidFill>
                            <a:schemeClr val="tx1"/>
                          </a:solidFill>
                          <a:effectLst/>
                          <a:latin typeface="+mn-lt"/>
                          <a:cs typeface="Times New Roman" panose="02020603050405020304" pitchFamily="18" charset="0"/>
                        </a:rPr>
                        <a:t>956947</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13/11/2024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TBD</a:t>
                      </a:r>
                    </a:p>
                    <a:p>
                      <a:pPr algn="ctr" fontAlgn="ctr"/>
                      <a:r>
                        <a:rPr lang="en-US" sz="1200" b="0" u="none" strike="noStrike" dirty="0">
                          <a:solidFill>
                            <a:schemeClr val="tx1"/>
                          </a:solidFill>
                          <a:effectLst/>
                          <a:latin typeface="+mn-lt"/>
                          <a:cs typeface="Times New Roman" panose="02020603050405020304" pitchFamily="18" charset="0"/>
                        </a:rPr>
                        <a:t>Inducted 04/03/2025       </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90409908"/>
                  </a:ext>
                </a:extLst>
              </a:tr>
              <a:tr h="201505">
                <a:tc>
                  <a:txBody>
                    <a:bodyPr/>
                    <a:lstStyle/>
                    <a:p>
                      <a:pPr algn="ctr" fontAlgn="ctr"/>
                      <a:r>
                        <a:rPr lang="en-US" sz="1200" b="0" i="0" u="none" strike="noStrike" dirty="0">
                          <a:solidFill>
                            <a:schemeClr val="tx1"/>
                          </a:solidFill>
                          <a:effectLst/>
                          <a:latin typeface="+mn-lt"/>
                          <a:cs typeface="Times New Roman" panose="02020603050405020304" pitchFamily="18" charset="0"/>
                        </a:rPr>
                        <a:t>956534</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15/12/2024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Induction 15/04/2025</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764472465"/>
                  </a:ext>
                </a:extLst>
              </a:tr>
              <a:tr h="211242">
                <a:tc>
                  <a:txBody>
                    <a:bodyPr/>
                    <a:lstStyle/>
                    <a:p>
                      <a:pPr algn="ctr" fontAlgn="ctr"/>
                      <a:r>
                        <a:rPr lang="en-US" sz="1200" b="0" i="0" u="none" strike="noStrike" dirty="0">
                          <a:solidFill>
                            <a:schemeClr val="tx1"/>
                          </a:solidFill>
                          <a:effectLst/>
                          <a:latin typeface="+mn-lt"/>
                          <a:cs typeface="Times New Roman" panose="02020603050405020304" pitchFamily="18" charset="0"/>
                        </a:rPr>
                        <a:t>958395</a:t>
                      </a:r>
                    </a:p>
                  </a:txBody>
                  <a:tcPr marL="12700" marR="12700" marT="1270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 CAL</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u="none" strike="noStrike" dirty="0">
                          <a:solidFill>
                            <a:schemeClr val="tx1"/>
                          </a:solidFill>
                          <a:effectLst/>
                          <a:latin typeface="+mn-lt"/>
                          <a:cs typeface="Times New Roman" panose="02020603050405020304" pitchFamily="18" charset="0"/>
                        </a:rPr>
                        <a:t>11/02/2025</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u="none" strike="noStrike" dirty="0">
                          <a:solidFill>
                            <a:schemeClr val="tx1"/>
                          </a:solidFill>
                          <a:effectLst/>
                          <a:latin typeface="+mn-lt"/>
                          <a:cs typeface="Times New Roman" panose="02020603050405020304" pitchFamily="18" charset="0"/>
                        </a:rPr>
                        <a:t>Induction 06/05/2025</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endParaRPr lang="en-US" sz="1200" b="1" i="0" u="none" strike="noStrike" dirty="0">
                        <a:solidFill>
                          <a:srgbClr val="FF0000"/>
                        </a:solidFill>
                        <a:effectLst/>
                        <a:latin typeface="+mn-lt"/>
                        <a:cs typeface="Times New Roman" panose="02020603050405020304" pitchFamily="18" charset="0"/>
                      </a:endParaRP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endParaRPr lang="en-US" sz="1200" b="1" i="0" u="none" strike="noStrike" dirty="0">
                        <a:solidFill>
                          <a:srgbClr val="FF0000"/>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9697906"/>
                  </a:ext>
                </a:extLst>
              </a:tr>
            </a:tbl>
          </a:graphicData>
        </a:graphic>
      </p:graphicFrame>
      <p:sp>
        <p:nvSpPr>
          <p:cNvPr id="7" name="TextBox 6">
            <a:extLst>
              <a:ext uri="{FF2B5EF4-FFF2-40B4-BE49-F238E27FC236}">
                <a16:creationId xmlns:a16="http://schemas.microsoft.com/office/drawing/2014/main" id="{1D51DD3A-A3BC-37D8-A7BC-C2D1AAF32241}"/>
              </a:ext>
            </a:extLst>
          </p:cNvPr>
          <p:cNvSpPr txBox="1"/>
          <p:nvPr/>
        </p:nvSpPr>
        <p:spPr>
          <a:xfrm>
            <a:off x="-2309" y="0"/>
            <a:ext cx="14875495" cy="502766"/>
          </a:xfrm>
          <a:prstGeom prst="rect">
            <a:avLst/>
          </a:prstGeom>
          <a:noFill/>
        </p:spPr>
        <p:txBody>
          <a:bodyPr wrap="square" rtlCol="0">
            <a:spAutoFit/>
          </a:bodyPr>
          <a:lstStyle/>
          <a:p>
            <a:pPr defTabSz="1219170">
              <a:defRPr/>
            </a:pPr>
            <a:r>
              <a:rPr lang="vi-VN" sz="2667" b="1" dirty="0">
                <a:ln w="0"/>
                <a:solidFill>
                  <a:srgbClr val="FBAC00"/>
                </a:solidFill>
                <a:latin typeface="Times New Roman" panose="02020603050405020304" pitchFamily="18" charset="0"/>
                <a:cs typeface="Times New Roman" panose="02020603050405020304" pitchFamily="18" charset="0"/>
              </a:rPr>
              <a:t>KHẢ NĂNG CUNG ỨNG ĐỘNG CƠ </a:t>
            </a:r>
            <a:r>
              <a:rPr lang="en-US" sz="2667" b="1" dirty="0">
                <a:ln w="0"/>
                <a:solidFill>
                  <a:srgbClr val="FBAC00"/>
                </a:solidFill>
                <a:latin typeface="Times New Roman" panose="02020603050405020304" pitchFamily="18" charset="0"/>
                <a:cs typeface="Times New Roman" panose="02020603050405020304" pitchFamily="18" charset="0"/>
              </a:rPr>
              <a:t>ĐỘI BAY B787</a:t>
            </a:r>
            <a:endParaRPr lang="vi-VN"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62660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92F53-6C68-14D6-9DEA-AEB34D75A18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41B87A-D677-E2CD-D388-4756C0FD6622}"/>
              </a:ext>
            </a:extLst>
          </p:cNvPr>
          <p:cNvSpPr>
            <a:spLocks noGrp="1"/>
          </p:cNvSpPr>
          <p:nvPr>
            <p:ph type="sldNum" idx="12"/>
          </p:nvPr>
        </p:nvSpPr>
        <p:spPr/>
        <p:txBody>
          <a:bodyPr/>
          <a:lstStyle/>
          <a:p>
            <a:fld id="{00000000-1234-1234-1234-123412341234}" type="slidenum">
              <a:rPr lang="vi" smtClean="0">
                <a:cs typeface="Times New Roman" panose="02020603050405020304" pitchFamily="18" charset="0"/>
              </a:rPr>
              <a:pPr/>
              <a:t>28</a:t>
            </a:fld>
            <a:endParaRPr lang="vi">
              <a:cs typeface="Times New Roman" panose="02020603050405020304" pitchFamily="18" charset="0"/>
            </a:endParaRPr>
          </a:p>
        </p:txBody>
      </p:sp>
      <p:sp>
        <p:nvSpPr>
          <p:cNvPr id="3" name="Slide Number Placeholder 3">
            <a:extLst>
              <a:ext uri="{FF2B5EF4-FFF2-40B4-BE49-F238E27FC236}">
                <a16:creationId xmlns:a16="http://schemas.microsoft.com/office/drawing/2014/main" id="{AE0CA383-C720-0F92-7585-419599FF38E2}"/>
              </a:ext>
            </a:extLst>
          </p:cNvPr>
          <p:cNvSpPr txBox="1">
            <a:spLocks/>
          </p:cNvSpPr>
          <p:nvPr/>
        </p:nvSpPr>
        <p:spPr>
          <a:xfrm>
            <a:off x="10890552" y="7736647"/>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28</a:t>
            </a:fld>
            <a:endParaRPr lang="en-US" sz="1600" dirty="0">
              <a:solidFill>
                <a:srgbClr val="D2A43B"/>
              </a:solidFill>
              <a:latin typeface="Times New Roman" panose="02020603050405020304" pitchFamily="18" charset="0"/>
              <a:ea typeface="+mn-ea"/>
              <a:cs typeface="Times New Roman" panose="02020603050405020304" pitchFamily="18" charset="0"/>
              <a:sym typeface="Montserrat"/>
            </a:endParaRPr>
          </a:p>
        </p:txBody>
      </p:sp>
      <p:sp>
        <p:nvSpPr>
          <p:cNvPr id="4" name="TextBox 3">
            <a:extLst>
              <a:ext uri="{FF2B5EF4-FFF2-40B4-BE49-F238E27FC236}">
                <a16:creationId xmlns:a16="http://schemas.microsoft.com/office/drawing/2014/main" id="{EF695E52-C896-9BB0-D877-6900CC294C68}"/>
              </a:ext>
            </a:extLst>
          </p:cNvPr>
          <p:cNvSpPr txBox="1"/>
          <p:nvPr/>
        </p:nvSpPr>
        <p:spPr>
          <a:xfrm>
            <a:off x="59590" y="0"/>
            <a:ext cx="14875495" cy="502766"/>
          </a:xfrm>
          <a:prstGeom prst="rect">
            <a:avLst/>
          </a:prstGeom>
          <a:noFill/>
        </p:spPr>
        <p:txBody>
          <a:bodyPr wrap="square" rtlCol="0">
            <a:spAutoFit/>
          </a:bodyPr>
          <a:lstStyle/>
          <a:p>
            <a:pPr defTabSz="1219170">
              <a:defRPr/>
            </a:pPr>
            <a:r>
              <a:rPr lang="en-GB" sz="2667" b="1" dirty="0">
                <a:ln w="0"/>
                <a:solidFill>
                  <a:srgbClr val="FBAC00"/>
                </a:solidFill>
                <a:latin typeface="Times New Roman" panose="02020603050405020304" pitchFamily="18" charset="0"/>
                <a:cs typeface="Times New Roman" panose="02020603050405020304" pitchFamily="18" charset="0"/>
              </a:rPr>
              <a:t>TÌNH TRẠNG ĐỘNG CƠ A350</a:t>
            </a:r>
            <a:endParaRPr lang="vi-VN"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9BAFF210-6A48-BE4D-D3F6-9B8EEEA5040F}"/>
              </a:ext>
            </a:extLst>
          </p:cNvPr>
          <p:cNvGraphicFramePr>
            <a:graphicFrameLocks noGrp="1"/>
          </p:cNvGraphicFramePr>
          <p:nvPr/>
        </p:nvGraphicFramePr>
        <p:xfrm>
          <a:off x="59590" y="875397"/>
          <a:ext cx="5905159" cy="3230880"/>
        </p:xfrm>
        <a:graphic>
          <a:graphicData uri="http://schemas.openxmlformats.org/drawingml/2006/table">
            <a:tbl>
              <a:tblPr firstRow="1" bandRow="1">
                <a:tableStyleId>{5C22544A-7EE6-4342-B048-85BDC9FD1C3A}</a:tableStyleId>
              </a:tblPr>
              <a:tblGrid>
                <a:gridCol w="1042345">
                  <a:extLst>
                    <a:ext uri="{9D8B030D-6E8A-4147-A177-3AD203B41FA5}">
                      <a16:colId xmlns:a16="http://schemas.microsoft.com/office/drawing/2014/main" val="1930757539"/>
                    </a:ext>
                  </a:extLst>
                </a:gridCol>
                <a:gridCol w="1565065">
                  <a:extLst>
                    <a:ext uri="{9D8B030D-6E8A-4147-A177-3AD203B41FA5}">
                      <a16:colId xmlns:a16="http://schemas.microsoft.com/office/drawing/2014/main" val="1674463010"/>
                    </a:ext>
                  </a:extLst>
                </a:gridCol>
                <a:gridCol w="914400">
                  <a:extLst>
                    <a:ext uri="{9D8B030D-6E8A-4147-A177-3AD203B41FA5}">
                      <a16:colId xmlns:a16="http://schemas.microsoft.com/office/drawing/2014/main" val="1549944897"/>
                    </a:ext>
                  </a:extLst>
                </a:gridCol>
                <a:gridCol w="838200">
                  <a:extLst>
                    <a:ext uri="{9D8B030D-6E8A-4147-A177-3AD203B41FA5}">
                      <a16:colId xmlns:a16="http://schemas.microsoft.com/office/drawing/2014/main" val="3687717734"/>
                    </a:ext>
                  </a:extLst>
                </a:gridCol>
                <a:gridCol w="1545149">
                  <a:extLst>
                    <a:ext uri="{9D8B030D-6E8A-4147-A177-3AD203B41FA5}">
                      <a16:colId xmlns:a16="http://schemas.microsoft.com/office/drawing/2014/main" val="4100307886"/>
                    </a:ext>
                  </a:extLst>
                </a:gridCol>
              </a:tblGrid>
              <a:tr h="406400">
                <a:tc>
                  <a:txBody>
                    <a:bodyPr/>
                    <a:lstStyle/>
                    <a:p>
                      <a:r>
                        <a:rPr lang="en-US" sz="1200">
                          <a:latin typeface="Times New Roman" panose="02020603050405020304" pitchFamily="18" charset="0"/>
                          <a:cs typeface="Times New Roman" panose="02020603050405020304" pitchFamily="18" charset="0"/>
                        </a:rPr>
                        <a:t>Động c</a:t>
                      </a:r>
                      <a:r>
                        <a:rPr lang="vi-VN" sz="1200">
                          <a:latin typeface="Times New Roman" panose="02020603050405020304" pitchFamily="18" charset="0"/>
                          <a:cs typeface="Times New Roman" panose="02020603050405020304" pitchFamily="18" charset="0"/>
                        </a:rPr>
                        <a:t>ơ</a:t>
                      </a:r>
                      <a:endParaRPr lang="en-US" sz="120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dirty="0">
                          <a:latin typeface="Times New Roman" panose="02020603050405020304" pitchFamily="18" charset="0"/>
                          <a:cs typeface="Times New Roman" panose="02020603050405020304" pitchFamily="18" charset="0"/>
                        </a:rPr>
                        <a:t>Status</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err="1">
                          <a:latin typeface="Times New Roman" panose="02020603050405020304" pitchFamily="18" charset="0"/>
                          <a:cs typeface="Times New Roman" panose="02020603050405020304" pitchFamily="18" charset="0"/>
                        </a:rPr>
                        <a:t>Ngày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sửa</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err="1">
                          <a:latin typeface="Times New Roman" panose="02020603050405020304" pitchFamily="18" charset="0"/>
                          <a:cs typeface="Times New Roman" panose="02020603050405020304" pitchFamily="18" charset="0"/>
                        </a:rPr>
                        <a:t>Ngày</a:t>
                      </a:r>
                      <a:r>
                        <a:rPr lang="en-US" sz="1200">
                          <a:latin typeface="Times New Roman" panose="02020603050405020304" pitchFamily="18" charset="0"/>
                          <a:cs typeface="Times New Roman" panose="02020603050405020304" pitchFamily="18" charset="0"/>
                        </a:rPr>
                        <a:t> xong</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err="1">
                          <a:latin typeface="Times New Roman" panose="02020603050405020304" pitchFamily="18" charset="0"/>
                          <a:cs typeface="Times New Roman" panose="02020603050405020304" pitchFamily="18" charset="0"/>
                        </a:rPr>
                        <a:t>Ngày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về</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dự</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kiến</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2058823"/>
                  </a:ext>
                </a:extLst>
              </a:tr>
              <a:tr h="254000">
                <a:tc>
                  <a:txBody>
                    <a:bodyPr/>
                    <a:lstStyle/>
                    <a:p>
                      <a:r>
                        <a:rPr lang="en-US" sz="1200" b="1" dirty="0">
                          <a:latin typeface="Times New Roman" panose="02020603050405020304" pitchFamily="18" charset="0"/>
                          <a:cs typeface="Times New Roman" panose="02020603050405020304" pitchFamily="18" charset="0"/>
                        </a:rPr>
                        <a:t>21047</a:t>
                      </a: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N3 </a:t>
                      </a:r>
                      <a:r>
                        <a:rPr lang="en-GB" sz="1200" dirty="0">
                          <a:latin typeface="Times New Roman" panose="02020603050405020304" pitchFamily="18" charset="0"/>
                          <a:cs typeface="Times New Roman" panose="02020603050405020304" pitchFamily="18" charset="0"/>
                        </a:rPr>
                        <a:t>– 2RF</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14/08/24</a:t>
                      </a:r>
                    </a:p>
                  </a:txBody>
                  <a:tcPr marL="121920" marR="121920" marT="60960" marB="60960" anchor="ctr"/>
                </a:tc>
                <a:tc>
                  <a:txBody>
                    <a:bodyPr/>
                    <a:lstStyle/>
                    <a:p>
                      <a:r>
                        <a:rPr lang="en-US" sz="1200" b="1">
                          <a:solidFill>
                            <a:srgbClr val="FF0000"/>
                          </a:solidFill>
                          <a:latin typeface="Times New Roman" panose="02020603050405020304" pitchFamily="18" charset="0"/>
                          <a:cs typeface="Times New Roman" panose="02020603050405020304" pitchFamily="18" charset="0"/>
                        </a:rPr>
                        <a:t>08/04/</a:t>
                      </a:r>
                      <a:r>
                        <a:rPr lang="vi-VN" sz="1200" b="1" dirty="0">
                          <a:solidFill>
                            <a:srgbClr val="FF0000"/>
                          </a:solidFill>
                          <a:latin typeface="Times New Roman" panose="02020603050405020304" pitchFamily="18" charset="0"/>
                          <a:cs typeface="Times New Roman" panose="02020603050405020304" pitchFamily="18" charset="0"/>
                        </a:rPr>
                        <a:t>25</a:t>
                      </a:r>
                      <a:endParaRPr lang="en-US" sz="1200" b="1" dirty="0">
                        <a:solidFill>
                          <a:srgbClr val="FF0000"/>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1">
                          <a:solidFill>
                            <a:srgbClr val="FF0000"/>
                          </a:solidFill>
                          <a:latin typeface="Times New Roman" panose="02020603050405020304" pitchFamily="18" charset="0"/>
                          <a:cs typeface="Times New Roman" panose="02020603050405020304" pitchFamily="18" charset="0"/>
                        </a:rPr>
                        <a:t>18/04/</a:t>
                      </a:r>
                      <a:r>
                        <a:rPr lang="vi-VN" sz="1200" b="1">
                          <a:solidFill>
                            <a:srgbClr val="FF0000"/>
                          </a:solidFill>
                          <a:latin typeface="Times New Roman" panose="02020603050405020304" pitchFamily="18" charset="0"/>
                          <a:cs typeface="Times New Roman" panose="02020603050405020304" pitchFamily="18" charset="0"/>
                        </a:rPr>
                        <a:t>25</a:t>
                      </a:r>
                      <a:r>
                        <a:rPr lang="en-US" sz="1200" b="1">
                          <a:solidFill>
                            <a:srgbClr val="FF0000"/>
                          </a:solidFill>
                          <a:latin typeface="Times New Roman" panose="02020603050405020304" pitchFamily="18" charset="0"/>
                          <a:cs typeface="Times New Roman" panose="02020603050405020304" pitchFamily="18" charset="0"/>
                        </a:rPr>
                        <a:t> (+10 days)</a:t>
                      </a:r>
                      <a:endParaRPr lang="en-US" sz="1200" b="1" dirty="0">
                        <a:solidFill>
                          <a:srgbClr val="FF0000"/>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2082573017"/>
                  </a:ext>
                </a:extLst>
              </a:tr>
              <a:tr h="254000">
                <a:tc>
                  <a:txBody>
                    <a:bodyPr/>
                    <a:lstStyle/>
                    <a:p>
                      <a:r>
                        <a:rPr lang="en-US" sz="1200" b="1" dirty="0">
                          <a:latin typeface="Times New Roman" panose="02020603050405020304" pitchFamily="18" charset="0"/>
                          <a:cs typeface="Times New Roman" panose="02020603050405020304" pitchFamily="18" charset="0"/>
                        </a:rPr>
                        <a:t>21043</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N3 </a:t>
                      </a:r>
                      <a:r>
                        <a:rPr lang="en-US" sz="1200" dirty="0">
                          <a:latin typeface="Times New Roman" panose="02020603050405020304" pitchFamily="18" charset="0"/>
                          <a:cs typeface="Times New Roman" panose="02020603050405020304" pitchFamily="18" charset="0"/>
                        </a:rPr>
                        <a:t>– 2RF</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14/11/24</a:t>
                      </a: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02/06/25</a:t>
                      </a: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10/06/25</a:t>
                      </a:r>
                    </a:p>
                  </a:txBody>
                  <a:tcPr marL="121920" marR="121920" marT="60960" marB="60960" anchor="ctr"/>
                </a:tc>
                <a:extLst>
                  <a:ext uri="{0D108BD9-81ED-4DB2-BD59-A6C34878D82A}">
                    <a16:rowId xmlns:a16="http://schemas.microsoft.com/office/drawing/2014/main" val="83465224"/>
                  </a:ext>
                </a:extLst>
              </a:tr>
              <a:tr h="254000">
                <a:tc>
                  <a:txBody>
                    <a:bodyPr/>
                    <a:lstStyle/>
                    <a:p>
                      <a:r>
                        <a:rPr lang="en-US" sz="1200" b="1" dirty="0">
                          <a:latin typeface="Times New Roman" panose="02020603050405020304" pitchFamily="18" charset="0"/>
                          <a:cs typeface="Times New Roman" panose="02020603050405020304" pitchFamily="18" charset="0"/>
                        </a:rPr>
                        <a:t>21137</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N3 – 2RF</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12/12/24</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20/06/25</a:t>
                      </a: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30/06/25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733553736"/>
                  </a:ext>
                </a:extLst>
              </a:tr>
              <a:tr h="254000">
                <a:tc>
                  <a:txBody>
                    <a:bodyPr/>
                    <a:lstStyle/>
                    <a:p>
                      <a:r>
                        <a:rPr lang="en-US" sz="1200" b="1" dirty="0">
                          <a:latin typeface="Times New Roman" panose="02020603050405020304" pitchFamily="18" charset="0"/>
                          <a:cs typeface="Times New Roman" panose="02020603050405020304" pitchFamily="18" charset="0"/>
                        </a:rPr>
                        <a:t>21422</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1RF – HAESL</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21/12/24</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algn="l" defTabSz="914400" rtl="0" eaLnBrk="1" latinLnBrk="0" hangingPunct="1"/>
                      <a:r>
                        <a:rPr lang="en-US" sz="1200" b="0" kern="1200" dirty="0">
                          <a:solidFill>
                            <a:schemeClr val="tx1"/>
                          </a:solidFill>
                          <a:latin typeface="Times New Roman" panose="02020603050405020304" pitchFamily="18" charset="0"/>
                          <a:ea typeface="+mn-ea"/>
                          <a:cs typeface="Times New Roman" panose="02020603050405020304" pitchFamily="18" charset="0"/>
                        </a:rPr>
                        <a:t>25/03/25</a:t>
                      </a:r>
                    </a:p>
                  </a:txBody>
                  <a:tcPr marL="121920" marR="121920" marT="60960" marB="60960" anchor="ctr"/>
                </a:tc>
                <a:tc>
                  <a:txBody>
                    <a:bodyPr/>
                    <a:lstStyle/>
                    <a:p>
                      <a:pPr marL="0" algn="l" defTabSz="914400" rtl="0" eaLnBrk="1" latinLnBrk="0" hangingPunct="1"/>
                      <a:r>
                        <a:rPr lang="en-US" sz="1200" b="0" kern="1200" dirty="0">
                          <a:solidFill>
                            <a:schemeClr val="tx1"/>
                          </a:solidFill>
                          <a:latin typeface="Times New Roman" panose="02020603050405020304" pitchFamily="18" charset="0"/>
                          <a:ea typeface="+mn-ea"/>
                          <a:cs typeface="Times New Roman" panose="02020603050405020304" pitchFamily="18" charset="0"/>
                        </a:rPr>
                        <a:t>05/04/25</a:t>
                      </a:r>
                    </a:p>
                  </a:txBody>
                  <a:tcPr marL="121920" marR="121920" marT="60960" marB="60960" anchor="ctr"/>
                </a:tc>
                <a:extLst>
                  <a:ext uri="{0D108BD9-81ED-4DB2-BD59-A6C34878D82A}">
                    <a16:rowId xmlns:a16="http://schemas.microsoft.com/office/drawing/2014/main" val="875011403"/>
                  </a:ext>
                </a:extLst>
              </a:tr>
              <a:tr h="254000">
                <a:tc>
                  <a:txBody>
                    <a:bodyPr/>
                    <a:lstStyle/>
                    <a:p>
                      <a:r>
                        <a:rPr lang="en-US" sz="1200" b="1" dirty="0">
                          <a:latin typeface="Times New Roman" panose="02020603050405020304" pitchFamily="18" charset="0"/>
                          <a:cs typeface="Times New Roman" panose="02020603050405020304" pitchFamily="18" charset="0"/>
                        </a:rPr>
                        <a:t>21201</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HAESL – 2RF</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28/12/24</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29/04/25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17/04/25</a:t>
                      </a:r>
                    </a:p>
                  </a:txBody>
                  <a:tcPr marL="121920" marR="121920" marT="60960" marB="60960" anchor="ctr"/>
                </a:tc>
                <a:extLst>
                  <a:ext uri="{0D108BD9-81ED-4DB2-BD59-A6C34878D82A}">
                    <a16:rowId xmlns:a16="http://schemas.microsoft.com/office/drawing/2014/main" val="727372545"/>
                  </a:ext>
                </a:extLst>
              </a:tr>
              <a:tr h="254000">
                <a:tc>
                  <a:txBody>
                    <a:bodyPr/>
                    <a:lstStyle/>
                    <a:p>
                      <a:r>
                        <a:rPr lang="en-US" sz="1200" b="1" dirty="0">
                          <a:latin typeface="Times New Roman" panose="02020603050405020304" pitchFamily="18" charset="0"/>
                          <a:cs typeface="Times New Roman" panose="02020603050405020304" pitchFamily="18" charset="0"/>
                        </a:rPr>
                        <a:t>21584</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SAESL – 1RF</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23/01/25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23/05/25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02/06/25</a:t>
                      </a:r>
                    </a:p>
                  </a:txBody>
                  <a:tcPr marL="121920" marR="121920" marT="60960" marB="60960" anchor="ctr"/>
                </a:tc>
                <a:extLst>
                  <a:ext uri="{0D108BD9-81ED-4DB2-BD59-A6C34878D82A}">
                    <a16:rowId xmlns:a16="http://schemas.microsoft.com/office/drawing/2014/main" val="829074625"/>
                  </a:ext>
                </a:extLst>
              </a:tr>
              <a:tr h="254000">
                <a:tc>
                  <a:txBody>
                    <a:bodyPr/>
                    <a:lstStyle/>
                    <a:p>
                      <a:r>
                        <a:rPr lang="en-US" sz="1200" b="1">
                          <a:latin typeface="Times New Roman" panose="02020603050405020304" pitchFamily="18" charset="0"/>
                          <a:cs typeface="Times New Roman" panose="02020603050405020304" pitchFamily="18" charset="0"/>
                        </a:rPr>
                        <a:t>21269</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HAESL – QT</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27/01/25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14/03/25</a:t>
                      </a:r>
                    </a:p>
                  </a:txBody>
                  <a:tcPr marL="121920" marR="121920" marT="60960" marB="60960" anchor="ctr"/>
                </a:tc>
                <a:tc>
                  <a:txBody>
                    <a:bodyPr/>
                    <a:lstStyle/>
                    <a:p>
                      <a:r>
                        <a:rPr lang="en-US" sz="1200" b="1">
                          <a:solidFill>
                            <a:srgbClr val="FF0000"/>
                          </a:solidFill>
                          <a:latin typeface="Times New Roman" panose="02020603050405020304" pitchFamily="18" charset="0"/>
                          <a:cs typeface="Times New Roman" panose="02020603050405020304" pitchFamily="18" charset="0"/>
                        </a:rPr>
                        <a:t>26/03/25</a:t>
                      </a:r>
                      <a:endParaRPr lang="en-US" sz="1200" b="1" dirty="0">
                        <a:solidFill>
                          <a:srgbClr val="FF0000"/>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733130508"/>
                  </a:ext>
                </a:extLst>
              </a:tr>
              <a:tr h="254000">
                <a:tc>
                  <a:txBody>
                    <a:bodyPr/>
                    <a:lstStyle/>
                    <a:p>
                      <a:r>
                        <a:rPr lang="en-US" sz="1200" b="1">
                          <a:latin typeface="Times New Roman" panose="02020603050405020304" pitchFamily="18" charset="0"/>
                          <a:cs typeface="Times New Roman" panose="02020603050405020304" pitchFamily="18" charset="0"/>
                        </a:rPr>
                        <a:t>21040</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HAESL-2RF</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07/02/25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07/06/25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17/06/25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3135666374"/>
                  </a:ext>
                </a:extLst>
              </a:tr>
              <a:tr h="254000">
                <a:tc>
                  <a:txBody>
                    <a:bodyPr/>
                    <a:lstStyle/>
                    <a:p>
                      <a:r>
                        <a:rPr lang="en-US" sz="1200" b="1">
                          <a:latin typeface="Times New Roman" panose="02020603050405020304" pitchFamily="18" charset="0"/>
                          <a:cs typeface="Times New Roman" panose="02020603050405020304" pitchFamily="18" charset="0"/>
                        </a:rPr>
                        <a:t>21414</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SAESL-1RF</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21/03/25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17/07/25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27/07/25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3083589412"/>
                  </a:ext>
                </a:extLst>
              </a:tr>
            </a:tbl>
          </a:graphicData>
        </a:graphic>
      </p:graphicFrame>
      <p:graphicFrame>
        <p:nvGraphicFramePr>
          <p:cNvPr id="6" name="Table 5">
            <a:extLst>
              <a:ext uri="{FF2B5EF4-FFF2-40B4-BE49-F238E27FC236}">
                <a16:creationId xmlns:a16="http://schemas.microsoft.com/office/drawing/2014/main" id="{7BFB9EC9-2DB3-4DC1-4221-D1E337486ABA}"/>
              </a:ext>
            </a:extLst>
          </p:cNvPr>
          <p:cNvGraphicFramePr>
            <a:graphicFrameLocks noGrp="1"/>
          </p:cNvGraphicFramePr>
          <p:nvPr/>
        </p:nvGraphicFramePr>
        <p:xfrm>
          <a:off x="62878" y="4633508"/>
          <a:ext cx="5879459" cy="2133600"/>
        </p:xfrm>
        <a:graphic>
          <a:graphicData uri="http://schemas.openxmlformats.org/drawingml/2006/table">
            <a:tbl>
              <a:tblPr firstRow="1" bandRow="1">
                <a:tableStyleId>{21E4AEA4-8DFA-4A89-87EB-49C32662AFE0}</a:tableStyleId>
              </a:tblPr>
              <a:tblGrid>
                <a:gridCol w="991528">
                  <a:extLst>
                    <a:ext uri="{9D8B030D-6E8A-4147-A177-3AD203B41FA5}">
                      <a16:colId xmlns:a16="http://schemas.microsoft.com/office/drawing/2014/main" val="1930757539"/>
                    </a:ext>
                  </a:extLst>
                </a:gridCol>
                <a:gridCol w="1042096">
                  <a:extLst>
                    <a:ext uri="{9D8B030D-6E8A-4147-A177-3AD203B41FA5}">
                      <a16:colId xmlns:a16="http://schemas.microsoft.com/office/drawing/2014/main" val="1674463010"/>
                    </a:ext>
                  </a:extLst>
                </a:gridCol>
                <a:gridCol w="1823000">
                  <a:extLst>
                    <a:ext uri="{9D8B030D-6E8A-4147-A177-3AD203B41FA5}">
                      <a16:colId xmlns:a16="http://schemas.microsoft.com/office/drawing/2014/main" val="1549944897"/>
                    </a:ext>
                  </a:extLst>
                </a:gridCol>
                <a:gridCol w="2022835">
                  <a:extLst>
                    <a:ext uri="{9D8B030D-6E8A-4147-A177-3AD203B41FA5}">
                      <a16:colId xmlns:a16="http://schemas.microsoft.com/office/drawing/2014/main" val="3366431274"/>
                    </a:ext>
                  </a:extLst>
                </a:gridCol>
              </a:tblGrid>
              <a:tr h="0">
                <a:tc>
                  <a:txBody>
                    <a:bodyPr/>
                    <a:lstStyle/>
                    <a:p>
                      <a:r>
                        <a:rPr lang="en-US" sz="1200">
                          <a:latin typeface="Times New Roman" panose="02020603050405020304" pitchFamily="18" charset="0"/>
                          <a:cs typeface="Times New Roman" panose="02020603050405020304" pitchFamily="18" charset="0"/>
                        </a:rPr>
                        <a:t>Động c</a:t>
                      </a:r>
                      <a:r>
                        <a:rPr lang="vi-VN" sz="1200">
                          <a:latin typeface="Times New Roman" panose="02020603050405020304" pitchFamily="18" charset="0"/>
                          <a:cs typeface="Times New Roman" panose="02020603050405020304" pitchFamily="18" charset="0"/>
                        </a:rPr>
                        <a:t>ơ</a:t>
                      </a:r>
                      <a:endParaRPr lang="en-US" sz="120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dirty="0">
                          <a:latin typeface="Times New Roman" panose="02020603050405020304" pitchFamily="18" charset="0"/>
                          <a:cs typeface="Times New Roman" panose="02020603050405020304" pitchFamily="18" charset="0"/>
                        </a:rPr>
                        <a:t>Status</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err="1">
                          <a:latin typeface="Times New Roman" panose="02020603050405020304" pitchFamily="18" charset="0"/>
                          <a:cs typeface="Times New Roman" panose="02020603050405020304" pitchFamily="18" charset="0"/>
                        </a:rPr>
                        <a:t>Ngày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sửa</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dự</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kiến</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Remark</a:t>
                      </a:r>
                    </a:p>
                  </a:txBody>
                  <a:tcPr marL="121920" marR="121920" marT="60960" marB="60960" anchor="ctr"/>
                </a:tc>
                <a:extLst>
                  <a:ext uri="{0D108BD9-81ED-4DB2-BD59-A6C34878D82A}">
                    <a16:rowId xmlns:a16="http://schemas.microsoft.com/office/drawing/2014/main" val="1532058823"/>
                  </a:ext>
                </a:extLst>
              </a:tr>
              <a:tr h="0">
                <a:tc>
                  <a:txBody>
                    <a:bodyPr/>
                    <a:lstStyle/>
                    <a:p>
                      <a:r>
                        <a:rPr lang="en-GB" sz="1200" b="1" dirty="0">
                          <a:latin typeface="Times New Roman" panose="02020603050405020304" pitchFamily="18" charset="0"/>
                          <a:cs typeface="Times New Roman" panose="02020603050405020304" pitchFamily="18" charset="0"/>
                        </a:rPr>
                        <a:t>21035</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latin typeface="Times New Roman" panose="02020603050405020304" pitchFamily="18" charset="0"/>
                          <a:cs typeface="Times New Roman" panose="02020603050405020304" pitchFamily="18" charset="0"/>
                        </a:rPr>
                        <a:t>A887</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dirty="0">
                          <a:latin typeface="Times New Roman" panose="02020603050405020304" pitchFamily="18" charset="0"/>
                          <a:cs typeface="Times New Roman" panose="02020603050405020304" pitchFamily="18" charset="0"/>
                        </a:rPr>
                        <a:t>2025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Tàu BQDB</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tc>
                <a:extLst>
                  <a:ext uri="{0D108BD9-81ED-4DB2-BD59-A6C34878D82A}">
                    <a16:rowId xmlns:a16="http://schemas.microsoft.com/office/drawing/2014/main" val="4282079846"/>
                  </a:ext>
                </a:extLst>
              </a:tr>
              <a:tr h="0">
                <a:tc>
                  <a:txBody>
                    <a:bodyPr/>
                    <a:lstStyle/>
                    <a:p>
                      <a:r>
                        <a:rPr lang="en-GB" sz="1200" b="1" dirty="0">
                          <a:latin typeface="Times New Roman" panose="02020603050405020304" pitchFamily="18" charset="0"/>
                          <a:cs typeface="Times New Roman" panose="02020603050405020304" pitchFamily="18" charset="0"/>
                        </a:rPr>
                        <a:t>21268</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A898</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2025</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BQDB</a:t>
                      </a:r>
                    </a:p>
                  </a:txBody>
                  <a:tcPr marL="121920" marR="121920" marT="60960" marB="60960" anchor="ctr"/>
                </a:tc>
                <a:extLst>
                  <a:ext uri="{0D108BD9-81ED-4DB2-BD59-A6C34878D82A}">
                    <a16:rowId xmlns:a16="http://schemas.microsoft.com/office/drawing/2014/main" val="4177050543"/>
                  </a:ext>
                </a:extLst>
              </a:tr>
              <a:tr h="0">
                <a:tc>
                  <a:txBody>
                    <a:bodyPr/>
                    <a:lstStyle/>
                    <a:p>
                      <a:r>
                        <a:rPr lang="en-GB" sz="1200" b="1">
                          <a:latin typeface="Times New Roman" panose="02020603050405020304" pitchFamily="18" charset="0"/>
                          <a:cs typeface="Times New Roman" panose="02020603050405020304" pitchFamily="18" charset="0"/>
                        </a:rPr>
                        <a:t>21024</a:t>
                      </a:r>
                      <a:endParaRPr lang="en-GB"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A898</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2025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Tàu BQDB</a:t>
                      </a:r>
                    </a:p>
                  </a:txBody>
                  <a:tcPr marL="121920" marR="121920" marT="60960" marB="60960" anchor="ctr"/>
                </a:tc>
                <a:extLst>
                  <a:ext uri="{0D108BD9-81ED-4DB2-BD59-A6C34878D82A}">
                    <a16:rowId xmlns:a16="http://schemas.microsoft.com/office/drawing/2014/main" val="4001673644"/>
                  </a:ext>
                </a:extLst>
              </a:tr>
              <a:tr h="0">
                <a:tc>
                  <a:txBody>
                    <a:bodyPr/>
                    <a:lstStyle/>
                    <a:p>
                      <a:r>
                        <a:rPr lang="en-GB" sz="1200" b="1" dirty="0">
                          <a:latin typeface="Times New Roman" panose="02020603050405020304" pitchFamily="18" charset="0"/>
                          <a:cs typeface="Times New Roman" panose="02020603050405020304" pitchFamily="18" charset="0"/>
                        </a:rPr>
                        <a:t>21136</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Send to shop</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T3/25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dirty="0" err="1">
                          <a:solidFill>
                            <a:schemeClr val="tx1"/>
                          </a:solidFill>
                          <a:latin typeface="Times New Roman" panose="02020603050405020304" pitchFamily="18" charset="0"/>
                          <a:cs typeface="Times New Roman" panose="02020603050405020304" pitchFamily="18" charset="0"/>
                        </a:rPr>
                        <a:t>Đã</a:t>
                      </a:r>
                      <a:r>
                        <a:rPr lang="en-US" sz="1200" b="0" dirty="0">
                          <a:solidFill>
                            <a:schemeClr val="tx1"/>
                          </a:solidFill>
                          <a:latin typeface="Times New Roman" panose="02020603050405020304" pitchFamily="18" charset="0"/>
                          <a:cs typeface="Times New Roman" panose="02020603050405020304" pitchFamily="18" charset="0"/>
                        </a:rPr>
                        <a:t> </a:t>
                      </a:r>
                      <a:r>
                        <a:rPr lang="en-US" sz="1200" b="0" dirty="0" err="1">
                          <a:solidFill>
                            <a:schemeClr val="tx1"/>
                          </a:solidFill>
                          <a:latin typeface="Times New Roman" panose="02020603050405020304" pitchFamily="18" charset="0"/>
                          <a:cs typeface="Times New Roman" panose="02020603050405020304" pitchFamily="18" charset="0"/>
                        </a:rPr>
                        <a:t>đến</a:t>
                      </a:r>
                      <a:r>
                        <a:rPr lang="en-US" sz="1200" b="0" dirty="0">
                          <a:solidFill>
                            <a:schemeClr val="tx1"/>
                          </a:solidFill>
                          <a:latin typeface="Times New Roman" panose="02020603050405020304" pitchFamily="18" charset="0"/>
                          <a:cs typeface="Times New Roman" panose="02020603050405020304" pitchFamily="18" charset="0"/>
                        </a:rPr>
                        <a:t> shop</a:t>
                      </a:r>
                    </a:p>
                  </a:txBody>
                  <a:tcPr marL="121920" marR="121920" marT="60960" marB="60960" anchor="ctr"/>
                </a:tc>
                <a:extLst>
                  <a:ext uri="{0D108BD9-81ED-4DB2-BD59-A6C34878D82A}">
                    <a16:rowId xmlns:a16="http://schemas.microsoft.com/office/drawing/2014/main" val="1927641313"/>
                  </a:ext>
                </a:extLst>
              </a:tr>
              <a:tr h="0">
                <a:tc>
                  <a:txBody>
                    <a:bodyPr/>
                    <a:lstStyle/>
                    <a:p>
                      <a:r>
                        <a:rPr lang="en-GB" sz="1200" b="1" dirty="0">
                          <a:latin typeface="Times New Roman" panose="02020603050405020304" pitchFamily="18" charset="0"/>
                          <a:cs typeface="Times New Roman" panose="02020603050405020304" pitchFamily="18" charset="0"/>
                        </a:rPr>
                        <a:t>21604</a:t>
                      </a:r>
                    </a:p>
                  </a:txBody>
                  <a:tcPr marL="121920" marR="121920" marT="60960" marB="60960" anchor="ctr"/>
                </a:tc>
                <a:tc>
                  <a:txBody>
                    <a:bodyPr/>
                    <a:lstStyle/>
                    <a:p>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Send to shop</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T4/25</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err="1">
                          <a:solidFill>
                            <a:schemeClr val="tx1"/>
                          </a:solidFill>
                          <a:latin typeface="Times New Roman" panose="02020603050405020304" pitchFamily="18" charset="0"/>
                          <a:cs typeface="Times New Roman" panose="02020603050405020304" pitchFamily="18" charset="0"/>
                        </a:rPr>
                        <a:t>Đã</a:t>
                      </a:r>
                      <a:r>
                        <a:rPr lang="en-US" sz="1200" b="0" dirty="0">
                          <a:solidFill>
                            <a:schemeClr val="tx1"/>
                          </a:solidFill>
                          <a:latin typeface="Times New Roman" panose="02020603050405020304" pitchFamily="18" charset="0"/>
                          <a:cs typeface="Times New Roman" panose="02020603050405020304" pitchFamily="18" charset="0"/>
                        </a:rPr>
                        <a:t> </a:t>
                      </a:r>
                      <a:r>
                        <a:rPr lang="en-US" sz="1200" b="0" dirty="0" err="1">
                          <a:solidFill>
                            <a:schemeClr val="tx1"/>
                          </a:solidFill>
                          <a:latin typeface="Times New Roman" panose="02020603050405020304" pitchFamily="18" charset="0"/>
                          <a:cs typeface="Times New Roman" panose="02020603050405020304" pitchFamily="18" charset="0"/>
                        </a:rPr>
                        <a:t>đến</a:t>
                      </a:r>
                      <a:r>
                        <a:rPr lang="en-US" sz="1200" b="0" dirty="0">
                          <a:solidFill>
                            <a:schemeClr val="tx1"/>
                          </a:solidFill>
                          <a:latin typeface="Times New Roman" panose="02020603050405020304" pitchFamily="18" charset="0"/>
                          <a:cs typeface="Times New Roman" panose="02020603050405020304" pitchFamily="18" charset="0"/>
                        </a:rPr>
                        <a:t> shop</a:t>
                      </a:r>
                    </a:p>
                  </a:txBody>
                  <a:tcPr marL="121920" marR="121920" marT="60960" marB="60960" anchor="ctr"/>
                </a:tc>
                <a:extLst>
                  <a:ext uri="{0D108BD9-81ED-4DB2-BD59-A6C34878D82A}">
                    <a16:rowId xmlns:a16="http://schemas.microsoft.com/office/drawing/2014/main" val="3958768938"/>
                  </a:ext>
                </a:extLst>
              </a:tr>
              <a:tr h="0">
                <a:tc>
                  <a:txBody>
                    <a:bodyPr/>
                    <a:lstStyle/>
                    <a:p>
                      <a:r>
                        <a:rPr lang="en-GB" sz="1200" b="1">
                          <a:latin typeface="Times New Roman" panose="02020603050405020304" pitchFamily="18" charset="0"/>
                          <a:cs typeface="Times New Roman" panose="02020603050405020304" pitchFamily="18" charset="0"/>
                        </a:rPr>
                        <a:t>21048</a:t>
                      </a:r>
                      <a:endParaRPr lang="en-GB"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Off-Wing</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T4/25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err="1">
                          <a:solidFill>
                            <a:schemeClr val="tx1"/>
                          </a:solidFill>
                          <a:latin typeface="Times New Roman" panose="02020603050405020304" pitchFamily="18" charset="0"/>
                          <a:cs typeface="Times New Roman" panose="02020603050405020304" pitchFamily="18" charset="0"/>
                        </a:rPr>
                        <a:t>Đang</a:t>
                      </a:r>
                      <a:r>
                        <a:rPr lang="en-US" sz="1200" b="0" dirty="0">
                          <a:solidFill>
                            <a:schemeClr val="tx1"/>
                          </a:solidFill>
                          <a:latin typeface="Times New Roman" panose="02020603050405020304" pitchFamily="18" charset="0"/>
                          <a:cs typeface="Times New Roman" panose="02020603050405020304" pitchFamily="18" charset="0"/>
                        </a:rPr>
                        <a:t> </a:t>
                      </a:r>
                      <a:r>
                        <a:rPr lang="en-US" sz="1200" b="0" dirty="0" err="1">
                          <a:solidFill>
                            <a:schemeClr val="tx1"/>
                          </a:solidFill>
                          <a:latin typeface="Times New Roman" panose="02020603050405020304" pitchFamily="18" charset="0"/>
                          <a:cs typeface="Times New Roman" panose="02020603050405020304" pitchFamily="18" charset="0"/>
                        </a:rPr>
                        <a:t>vận</a:t>
                      </a:r>
                      <a:r>
                        <a:rPr lang="en-US" sz="1200" b="0" dirty="0">
                          <a:solidFill>
                            <a:schemeClr val="tx1"/>
                          </a:solidFill>
                          <a:latin typeface="Times New Roman" panose="02020603050405020304" pitchFamily="18" charset="0"/>
                          <a:cs typeface="Times New Roman" panose="02020603050405020304" pitchFamily="18" charset="0"/>
                        </a:rPr>
                        <a:t> </a:t>
                      </a:r>
                      <a:r>
                        <a:rPr lang="en-US" sz="1200" b="0" dirty="0" err="1">
                          <a:solidFill>
                            <a:schemeClr val="tx1"/>
                          </a:solidFill>
                          <a:latin typeface="Times New Roman" panose="02020603050405020304" pitchFamily="18" charset="0"/>
                          <a:cs typeface="Times New Roman" panose="02020603050405020304" pitchFamily="18" charset="0"/>
                        </a:rPr>
                        <a:t>chuyển</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2545338606"/>
                  </a:ext>
                </a:extLst>
              </a:tr>
            </a:tbl>
          </a:graphicData>
        </a:graphic>
      </p:graphicFrame>
      <p:sp>
        <p:nvSpPr>
          <p:cNvPr id="7" name="TextBox 6">
            <a:extLst>
              <a:ext uri="{FF2B5EF4-FFF2-40B4-BE49-F238E27FC236}">
                <a16:creationId xmlns:a16="http://schemas.microsoft.com/office/drawing/2014/main" id="{3665DF89-9C1E-039A-24B3-2AC39417A7A0}"/>
              </a:ext>
            </a:extLst>
          </p:cNvPr>
          <p:cNvSpPr txBox="1"/>
          <p:nvPr/>
        </p:nvSpPr>
        <p:spPr>
          <a:xfrm>
            <a:off x="-486043" y="380920"/>
            <a:ext cx="6705299" cy="420564"/>
          </a:xfrm>
          <a:prstGeom prst="rect">
            <a:avLst/>
          </a:prstGeom>
          <a:noFill/>
        </p:spPr>
        <p:txBody>
          <a:bodyPr wrap="square" rtlCol="0">
            <a:spAutoFit/>
          </a:bodyPr>
          <a:lstStyle/>
          <a:p>
            <a:pPr algn="ctr" defTabSz="1219170">
              <a:defRPr/>
            </a:pPr>
            <a:r>
              <a:rPr lang="en-GB" sz="2133" b="1" dirty="0" err="1">
                <a:solidFill>
                  <a:srgbClr val="002060"/>
                </a:solidFill>
                <a:latin typeface="Times New Roman" panose="02020603050405020304" pitchFamily="18" charset="0"/>
                <a:cs typeface="Times New Roman" panose="02020603050405020304" pitchFamily="18" charset="0"/>
              </a:rPr>
              <a:t>Các</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động</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err="1">
                <a:solidFill>
                  <a:srgbClr val="002060"/>
                </a:solidFill>
                <a:latin typeface="Times New Roman" panose="02020603050405020304" pitchFamily="18" charset="0"/>
                <a:cs typeface="Times New Roman" panose="02020603050405020304" pitchFamily="18" charset="0"/>
              </a:rPr>
              <a:t>cơ</a:t>
            </a:r>
            <a:r>
              <a:rPr lang="en-GB" sz="2133" b="1">
                <a:solidFill>
                  <a:srgbClr val="002060"/>
                </a:solidFill>
                <a:latin typeface="Times New Roman" panose="02020603050405020304" pitchFamily="18" charset="0"/>
                <a:cs typeface="Times New Roman" panose="02020603050405020304" pitchFamily="18" charset="0"/>
              </a:rPr>
              <a:t> đang trong shop (08 động c</a:t>
            </a:r>
            <a:r>
              <a:rPr lang="en-US" sz="2133" b="1">
                <a:solidFill>
                  <a:srgbClr val="002060"/>
                </a:solidFill>
                <a:latin typeface="Times New Roman" panose="02020603050405020304" pitchFamily="18" charset="0"/>
                <a:cs typeface="Times New Roman" panose="02020603050405020304" pitchFamily="18" charset="0"/>
              </a:rPr>
              <a:t>ơ)</a:t>
            </a:r>
            <a:endParaRPr lang="en-GB" sz="2133" b="1" dirty="0">
              <a:solidFill>
                <a:srgbClr val="002060"/>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19C2447A-358B-03A9-2203-B477C2215D4C}"/>
              </a:ext>
            </a:extLst>
          </p:cNvPr>
          <p:cNvSpPr txBox="1"/>
          <p:nvPr/>
        </p:nvSpPr>
        <p:spPr>
          <a:xfrm>
            <a:off x="381000" y="4182893"/>
            <a:ext cx="5195392" cy="420564"/>
          </a:xfrm>
          <a:prstGeom prst="rect">
            <a:avLst/>
          </a:prstGeom>
          <a:noFill/>
        </p:spPr>
        <p:txBody>
          <a:bodyPr wrap="square" rtlCol="0">
            <a:spAutoFit/>
          </a:bodyPr>
          <a:lstStyle/>
          <a:p>
            <a:pPr algn="ctr" defTabSz="1219170">
              <a:defRPr/>
            </a:pPr>
            <a:r>
              <a:rPr lang="en-GB" sz="2133" b="1" dirty="0">
                <a:solidFill>
                  <a:srgbClr val="002060"/>
                </a:solidFill>
                <a:latin typeface="Times New Roman" panose="02020603050405020304" pitchFamily="18" charset="0"/>
                <a:cs typeface="Times New Roman" panose="02020603050405020304" pitchFamily="18" charset="0"/>
              </a:rPr>
              <a:t>Các </a:t>
            </a:r>
            <a:r>
              <a:rPr lang="en-GB" sz="2133" b="1" dirty="0" err="1">
                <a:solidFill>
                  <a:srgbClr val="002060"/>
                </a:solidFill>
                <a:latin typeface="Times New Roman" panose="02020603050405020304" pitchFamily="18" charset="0"/>
                <a:cs typeface="Times New Roman" panose="02020603050405020304" pitchFamily="18" charset="0"/>
              </a:rPr>
              <a:t>động</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cơ</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ch</a:t>
            </a:r>
            <a:r>
              <a:rPr lang="en-US" sz="2133" b="1" dirty="0">
                <a:solidFill>
                  <a:srgbClr val="002060"/>
                </a:solidFill>
                <a:latin typeface="Times New Roman" panose="02020603050405020304" pitchFamily="18" charset="0"/>
                <a:cs typeface="Times New Roman" panose="02020603050405020304" pitchFamily="18" charset="0"/>
              </a:rPr>
              <a:t>ờ </a:t>
            </a:r>
            <a:r>
              <a:rPr lang="en-US" sz="2133" b="1" dirty="0" err="1">
                <a:solidFill>
                  <a:srgbClr val="002060"/>
                </a:solidFill>
                <a:latin typeface="Times New Roman" panose="02020603050405020304" pitchFamily="18" charset="0"/>
                <a:cs typeface="Times New Roman" panose="02020603050405020304" pitchFamily="18" charset="0"/>
              </a:rPr>
              <a:t>sửa</a:t>
            </a:r>
            <a:r>
              <a:rPr lang="en-US" sz="2133" b="1" dirty="0">
                <a:solidFill>
                  <a:srgbClr val="002060"/>
                </a:solidFill>
                <a:latin typeface="Times New Roman" panose="02020603050405020304" pitchFamily="18" charset="0"/>
                <a:cs typeface="Times New Roman" panose="02020603050405020304" pitchFamily="18" charset="0"/>
              </a:rPr>
              <a:t> </a:t>
            </a:r>
            <a:r>
              <a:rPr lang="en-GB" sz="2133" b="1">
                <a:solidFill>
                  <a:srgbClr val="002060"/>
                </a:solidFill>
                <a:latin typeface="Times New Roman" panose="02020603050405020304" pitchFamily="18" charset="0"/>
                <a:cs typeface="Times New Roman" panose="02020603050405020304" pitchFamily="18" charset="0"/>
              </a:rPr>
              <a:t>(06 </a:t>
            </a:r>
            <a:r>
              <a:rPr lang="en-GB" sz="2133" b="1" dirty="0" err="1">
                <a:solidFill>
                  <a:srgbClr val="002060"/>
                </a:solidFill>
                <a:latin typeface="Times New Roman" panose="02020603050405020304" pitchFamily="18" charset="0"/>
                <a:cs typeface="Times New Roman" panose="02020603050405020304" pitchFamily="18" charset="0"/>
              </a:rPr>
              <a:t>động</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cơ</a:t>
            </a:r>
            <a:r>
              <a:rPr lang="en-GB" sz="2133" b="1" dirty="0">
                <a:solidFill>
                  <a:srgbClr val="002060"/>
                </a:solidFill>
                <a:latin typeface="Times New Roman" panose="02020603050405020304" pitchFamily="18" charset="0"/>
                <a:cs typeface="Times New Roman" panose="02020603050405020304" pitchFamily="18" charset="0"/>
              </a:rPr>
              <a:t>)</a:t>
            </a:r>
          </a:p>
        </p:txBody>
      </p:sp>
      <p:sp>
        <p:nvSpPr>
          <p:cNvPr id="10" name="TextBox 9">
            <a:extLst>
              <a:ext uri="{FF2B5EF4-FFF2-40B4-BE49-F238E27FC236}">
                <a16:creationId xmlns:a16="http://schemas.microsoft.com/office/drawing/2014/main" id="{E1A7F173-F863-E486-EAEF-8B51EDF0DABA}"/>
              </a:ext>
            </a:extLst>
          </p:cNvPr>
          <p:cNvSpPr txBox="1"/>
          <p:nvPr/>
        </p:nvSpPr>
        <p:spPr>
          <a:xfrm>
            <a:off x="6495328" y="2859609"/>
            <a:ext cx="5167083" cy="461665"/>
          </a:xfrm>
          <a:prstGeom prst="rect">
            <a:avLst/>
          </a:prstGeom>
          <a:noFill/>
        </p:spPr>
        <p:txBody>
          <a:bodyPr wrap="square" rtlCol="0">
            <a:spAutoFit/>
          </a:bodyPr>
          <a:lstStyle/>
          <a:p>
            <a:pPr algn="ctr" defTabSz="1219170">
              <a:defRPr/>
            </a:pPr>
            <a:r>
              <a:rPr lang="en-US" sz="2400" b="1">
                <a:solidFill>
                  <a:srgbClr val="002060"/>
                </a:solidFill>
                <a:latin typeface="Times New Roman" panose="02020603050405020304" pitchFamily="18" charset="0"/>
                <a:cs typeface="Times New Roman" panose="02020603050405020304" pitchFamily="18" charset="0"/>
              </a:rPr>
              <a:t>Số tàu AOG (kb tốt)</a:t>
            </a:r>
            <a:endParaRPr lang="en-GB" sz="24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1" name="Chart 10">
            <a:extLst>
              <a:ext uri="{FF2B5EF4-FFF2-40B4-BE49-F238E27FC236}">
                <a16:creationId xmlns:a16="http://schemas.microsoft.com/office/drawing/2014/main" id="{39ED28EB-EF54-433B-60B3-87892499A24D}"/>
              </a:ext>
            </a:extLst>
          </p:cNvPr>
          <p:cNvGraphicFramePr/>
          <p:nvPr/>
        </p:nvGraphicFramePr>
        <p:xfrm>
          <a:off x="6274810" y="3352800"/>
          <a:ext cx="5808956" cy="32004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Table 11">
            <a:extLst>
              <a:ext uri="{FF2B5EF4-FFF2-40B4-BE49-F238E27FC236}">
                <a16:creationId xmlns:a16="http://schemas.microsoft.com/office/drawing/2014/main" id="{4BCF0C24-45DA-44DA-8EDA-2C6618ED53DE}"/>
              </a:ext>
            </a:extLst>
          </p:cNvPr>
          <p:cNvGraphicFramePr>
            <a:graphicFrameLocks noGrp="1"/>
          </p:cNvGraphicFramePr>
          <p:nvPr/>
        </p:nvGraphicFramePr>
        <p:xfrm>
          <a:off x="6229534" y="907137"/>
          <a:ext cx="5625452" cy="1706880"/>
        </p:xfrm>
        <a:graphic>
          <a:graphicData uri="http://schemas.openxmlformats.org/drawingml/2006/table">
            <a:tbl>
              <a:tblPr firstRow="1" bandRow="1">
                <a:tableStyleId>{93296810-A885-4BE3-A3E7-6D5BEEA58F35}</a:tableStyleId>
              </a:tblPr>
              <a:tblGrid>
                <a:gridCol w="1004609">
                  <a:extLst>
                    <a:ext uri="{9D8B030D-6E8A-4147-A177-3AD203B41FA5}">
                      <a16:colId xmlns:a16="http://schemas.microsoft.com/office/drawing/2014/main" val="1930757539"/>
                    </a:ext>
                  </a:extLst>
                </a:gridCol>
                <a:gridCol w="4620843">
                  <a:extLst>
                    <a:ext uri="{9D8B030D-6E8A-4147-A177-3AD203B41FA5}">
                      <a16:colId xmlns:a16="http://schemas.microsoft.com/office/drawing/2014/main" val="1674463010"/>
                    </a:ext>
                  </a:extLst>
                </a:gridCol>
              </a:tblGrid>
              <a:tr h="191279">
                <a:tc>
                  <a:txBody>
                    <a:bodyPr/>
                    <a:lstStyle/>
                    <a:p>
                      <a:r>
                        <a:rPr lang="en-US" sz="1200">
                          <a:latin typeface="Times New Roman" panose="02020603050405020304" pitchFamily="18" charset="0"/>
                          <a:cs typeface="Times New Roman" panose="02020603050405020304" pitchFamily="18" charset="0"/>
                        </a:rPr>
                        <a:t>Tàu</a:t>
                      </a: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Tình trạng động c</a:t>
                      </a:r>
                      <a:r>
                        <a:rPr lang="vi-VN" sz="120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2058823"/>
                  </a:ext>
                </a:extLst>
              </a:tr>
              <a:tr h="191279">
                <a:tc>
                  <a:txBody>
                    <a:bodyPr/>
                    <a:lstStyle/>
                    <a:p>
                      <a:r>
                        <a:rPr lang="en-US" sz="1200">
                          <a:latin typeface="Times New Roman" panose="02020603050405020304" pitchFamily="18" charset="0"/>
                          <a:cs typeface="Times New Roman" panose="02020603050405020304" pitchFamily="18" charset="0"/>
                        </a:rPr>
                        <a:t>A886</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Trống 2 động c</a:t>
                      </a:r>
                      <a:r>
                        <a:rPr lang="vi-VN" sz="120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2082573017"/>
                  </a:ext>
                </a:extLst>
              </a:tr>
              <a:tr h="306046">
                <a:tc>
                  <a:txBody>
                    <a:bodyPr/>
                    <a:lstStyle/>
                    <a:p>
                      <a:r>
                        <a:rPr lang="en-US" sz="1200">
                          <a:latin typeface="Times New Roman" panose="02020603050405020304" pitchFamily="18" charset="0"/>
                          <a:cs typeface="Times New Roman" panose="02020603050405020304" pitchFamily="18" charset="0"/>
                        </a:rPr>
                        <a:t>A887</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Trống 1 động c</a:t>
                      </a:r>
                      <a:r>
                        <a:rPr lang="vi-VN" sz="1200">
                          <a:latin typeface="Times New Roman" panose="02020603050405020304" pitchFamily="18" charset="0"/>
                          <a:cs typeface="Times New Roman" panose="02020603050405020304" pitchFamily="18" charset="0"/>
                        </a:rPr>
                        <a:t>ơ</a:t>
                      </a:r>
                      <a:endParaRPr lang="en-US" sz="120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1 động c</a:t>
                      </a:r>
                      <a:r>
                        <a:rPr lang="vi-VN" sz="1200">
                          <a:latin typeface="Times New Roman" panose="02020603050405020304" pitchFamily="18" charset="0"/>
                          <a:cs typeface="Times New Roman" panose="02020603050405020304" pitchFamily="18" charset="0"/>
                        </a:rPr>
                        <a:t>ơ</a:t>
                      </a:r>
                      <a:r>
                        <a:rPr lang="en-US" sz="1200">
                          <a:latin typeface="Times New Roman" panose="02020603050405020304" pitchFamily="18" charset="0"/>
                          <a:cs typeface="Times New Roman" panose="02020603050405020304" pitchFamily="18" charset="0"/>
                        </a:rPr>
                        <a:t> đến hạn kiểm tra LPT</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83465224"/>
                  </a:ext>
                </a:extLst>
              </a:tr>
              <a:tr h="270381">
                <a:tc>
                  <a:txBody>
                    <a:bodyPr/>
                    <a:lstStyle/>
                    <a:p>
                      <a:r>
                        <a:rPr lang="en-US" sz="1200">
                          <a:latin typeface="Times New Roman" panose="02020603050405020304" pitchFamily="18" charset="0"/>
                          <a:cs typeface="Times New Roman" panose="02020603050405020304" pitchFamily="18" charset="0"/>
                        </a:rPr>
                        <a:t>A895</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Trống 2 động c</a:t>
                      </a:r>
                      <a:r>
                        <a:rPr lang="vi-VN" sz="120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3218884716"/>
                  </a:ext>
                </a:extLst>
              </a:tr>
              <a:tr h="191279">
                <a:tc>
                  <a:txBody>
                    <a:bodyPr/>
                    <a:lstStyle/>
                    <a:p>
                      <a:r>
                        <a:rPr lang="en-US" sz="1200">
                          <a:latin typeface="Times New Roman" panose="02020603050405020304" pitchFamily="18" charset="0"/>
                          <a:cs typeface="Times New Roman" panose="02020603050405020304" pitchFamily="18" charset="0"/>
                        </a:rPr>
                        <a:t>A898</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2 động c</a:t>
                      </a:r>
                      <a:r>
                        <a:rPr lang="vi-VN" sz="1200">
                          <a:latin typeface="Times New Roman" panose="02020603050405020304" pitchFamily="18" charset="0"/>
                          <a:cs typeface="Times New Roman" panose="02020603050405020304" pitchFamily="18" charset="0"/>
                        </a:rPr>
                        <a:t>ơ</a:t>
                      </a:r>
                      <a:r>
                        <a:rPr lang="en-US" sz="1200">
                          <a:latin typeface="Times New Roman" panose="02020603050405020304" pitchFamily="18" charset="0"/>
                          <a:cs typeface="Times New Roman" panose="02020603050405020304" pitchFamily="18" charset="0"/>
                        </a:rPr>
                        <a:t> đến hạn kiểm tra LPT</a:t>
                      </a:r>
                    </a:p>
                  </a:txBody>
                  <a:tcPr marL="121920" marR="121920" marT="60960" marB="60960" anchor="ctr"/>
                </a:tc>
                <a:extLst>
                  <a:ext uri="{0D108BD9-81ED-4DB2-BD59-A6C34878D82A}">
                    <a16:rowId xmlns:a16="http://schemas.microsoft.com/office/drawing/2014/main" val="1733553736"/>
                  </a:ext>
                </a:extLst>
              </a:tr>
            </a:tbl>
          </a:graphicData>
        </a:graphic>
      </p:graphicFrame>
      <p:sp>
        <p:nvSpPr>
          <p:cNvPr id="13" name="TextBox 12">
            <a:extLst>
              <a:ext uri="{FF2B5EF4-FFF2-40B4-BE49-F238E27FC236}">
                <a16:creationId xmlns:a16="http://schemas.microsoft.com/office/drawing/2014/main" id="{90C76007-F5F9-4B91-90BD-15B1D817EC54}"/>
              </a:ext>
            </a:extLst>
          </p:cNvPr>
          <p:cNvSpPr txBox="1"/>
          <p:nvPr/>
        </p:nvSpPr>
        <p:spPr>
          <a:xfrm>
            <a:off x="6014053" y="423991"/>
            <a:ext cx="6705299" cy="420564"/>
          </a:xfrm>
          <a:prstGeom prst="rect">
            <a:avLst/>
          </a:prstGeom>
          <a:noFill/>
        </p:spPr>
        <p:txBody>
          <a:bodyPr wrap="square" rtlCol="0">
            <a:spAutoFit/>
          </a:bodyPr>
          <a:lstStyle/>
          <a:p>
            <a:pPr algn="ctr" defTabSz="1219170">
              <a:defRPr/>
            </a:pPr>
            <a:r>
              <a:rPr lang="en-US" sz="2133" b="1">
                <a:solidFill>
                  <a:srgbClr val="002060"/>
                </a:solidFill>
                <a:latin typeface="Times New Roman" panose="02020603050405020304" pitchFamily="18" charset="0"/>
                <a:cs typeface="Times New Roman" panose="02020603050405020304" pitchFamily="18" charset="0"/>
              </a:rPr>
              <a:t>Các tàu đang AOG (04 tàu)</a:t>
            </a:r>
            <a:endParaRPr lang="en-GB" sz="2133"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85214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83F1044C-49FE-4761-AB6C-08C2C66EE4F0}"/>
              </a:ext>
            </a:extLst>
          </p:cNvPr>
          <p:cNvSpPr txBox="1"/>
          <p:nvPr/>
        </p:nvSpPr>
        <p:spPr>
          <a:xfrm>
            <a:off x="690253" y="115968"/>
            <a:ext cx="14875495"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DỰ BÁO </a:t>
            </a:r>
            <a:r>
              <a:rPr lang="en-US" sz="2667" b="1">
                <a:ln w="0"/>
                <a:solidFill>
                  <a:srgbClr val="FBAC00"/>
                </a:solidFill>
                <a:latin typeface="Times New Roman" panose="02020603050405020304" pitchFamily="18" charset="0"/>
                <a:cs typeface="Times New Roman" panose="02020603050405020304" pitchFamily="18" charset="0"/>
              </a:rPr>
              <a:t>AOG A350 2025 DO THIẾU ĐỘNG C</a:t>
            </a:r>
            <a:r>
              <a:rPr lang="vi-VN" sz="2667" b="1">
                <a:ln w="0"/>
                <a:solidFill>
                  <a:srgbClr val="FBAC00"/>
                </a:solidFill>
                <a:latin typeface="Times New Roman" panose="02020603050405020304" pitchFamily="18" charset="0"/>
                <a:cs typeface="Times New Roman" panose="02020603050405020304" pitchFamily="18" charset="0"/>
              </a:rPr>
              <a:t>Ơ</a:t>
            </a:r>
            <a:endParaRPr lang="en-US"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16" name="Chart 15">
            <a:extLst>
              <a:ext uri="{FF2B5EF4-FFF2-40B4-BE49-F238E27FC236}">
                <a16:creationId xmlns:a16="http://schemas.microsoft.com/office/drawing/2014/main" id="{A3E8964E-6605-453B-87FD-34C390A534B1}"/>
              </a:ext>
            </a:extLst>
          </p:cNvPr>
          <p:cNvGraphicFramePr>
            <a:graphicFrameLocks/>
          </p:cNvGraphicFramePr>
          <p:nvPr/>
        </p:nvGraphicFramePr>
        <p:xfrm>
          <a:off x="304800" y="533400"/>
          <a:ext cx="11430000" cy="5562600"/>
        </p:xfrm>
        <a:graphic>
          <a:graphicData uri="http://schemas.openxmlformats.org/drawingml/2006/chart">
            <c:chart xmlns:c="http://schemas.openxmlformats.org/drawingml/2006/chart" xmlns:r="http://schemas.openxmlformats.org/officeDocument/2006/relationships" r:id="rId2"/>
          </a:graphicData>
        </a:graphic>
      </p:graphicFrame>
      <p:sp>
        <p:nvSpPr>
          <p:cNvPr id="17" name="Rectangle 16">
            <a:extLst>
              <a:ext uri="{FF2B5EF4-FFF2-40B4-BE49-F238E27FC236}">
                <a16:creationId xmlns:a16="http://schemas.microsoft.com/office/drawing/2014/main" id="{E9C07DA6-E964-4FA0-BC5D-1A4F09D3658F}"/>
              </a:ext>
            </a:extLst>
          </p:cNvPr>
          <p:cNvSpPr/>
          <p:nvPr/>
        </p:nvSpPr>
        <p:spPr>
          <a:xfrm>
            <a:off x="228600" y="6111240"/>
            <a:ext cx="12039600" cy="630942"/>
          </a:xfrm>
          <a:prstGeom prst="rect">
            <a:avLst/>
          </a:prstGeom>
          <a:solidFill>
            <a:srgbClr val="FFFF00"/>
          </a:solidFill>
          <a:ln>
            <a:solidFill>
              <a:schemeClr val="accent1"/>
            </a:solidFill>
          </a:ln>
        </p:spPr>
        <p:txBody>
          <a:bodyPr wrap="square">
            <a:spAutoFit/>
          </a:bodyPr>
          <a:lstStyle/>
          <a:p>
            <a:pPr algn="ctr"/>
            <a:r>
              <a:rPr lang="en-US" sz="1400" b="1" dirty="0"/>
              <a:t>PH</a:t>
            </a:r>
            <a:r>
              <a:rPr lang="vi-VN" sz="1400" b="1" dirty="0"/>
              <a:t>Ư</a:t>
            </a:r>
            <a:r>
              <a:rPr lang="en-US" sz="1400" b="1" dirty="0"/>
              <a:t>ƠNG ÁN GIỮ GIỜ</a:t>
            </a:r>
          </a:p>
          <a:p>
            <a:pPr lvl="0"/>
            <a:r>
              <a:rPr lang="en-US" sz="900" dirty="0"/>
              <a:t>- </a:t>
            </a:r>
            <a:r>
              <a:rPr lang="en-GB" sz="1050" dirty="0" err="1"/>
              <a:t>Với</a:t>
            </a:r>
            <a:r>
              <a:rPr lang="en-GB" sz="1050" dirty="0"/>
              <a:t> 21346 (</a:t>
            </a:r>
            <a:r>
              <a:rPr lang="en-GB" sz="1050" dirty="0" err="1"/>
              <a:t>hết</a:t>
            </a:r>
            <a:r>
              <a:rPr lang="en-GB" sz="1050" dirty="0"/>
              <a:t> </a:t>
            </a:r>
            <a:r>
              <a:rPr lang="en-GB" sz="1050" dirty="0" err="1"/>
              <a:t>hạn</a:t>
            </a:r>
            <a:r>
              <a:rPr lang="en-GB" sz="1050" dirty="0"/>
              <a:t> 14/06): </a:t>
            </a:r>
            <a:r>
              <a:rPr lang="en-GB" sz="1050" dirty="0" err="1"/>
              <a:t>chờ</a:t>
            </a:r>
            <a:r>
              <a:rPr lang="en-GB" sz="1050" dirty="0"/>
              <a:t> </a:t>
            </a:r>
            <a:r>
              <a:rPr lang="en-GB" sz="1050" dirty="0" err="1"/>
              <a:t>động</a:t>
            </a:r>
            <a:r>
              <a:rPr lang="en-GB" sz="1050" dirty="0"/>
              <a:t> </a:t>
            </a:r>
            <a:r>
              <a:rPr lang="en-GB" sz="1050" dirty="0" err="1"/>
              <a:t>cơ</a:t>
            </a:r>
            <a:r>
              <a:rPr lang="en-GB" sz="1050" dirty="0"/>
              <a:t> 21269 </a:t>
            </a:r>
            <a:r>
              <a:rPr lang="en-GB" sz="1050" dirty="0" err="1"/>
              <a:t>đi</a:t>
            </a:r>
            <a:r>
              <a:rPr lang="en-GB" sz="1050" dirty="0"/>
              <a:t> shop </a:t>
            </a:r>
            <a:r>
              <a:rPr lang="en-GB" sz="1050" dirty="0" err="1"/>
              <a:t>về</a:t>
            </a:r>
            <a:r>
              <a:rPr lang="en-GB" sz="1050" dirty="0"/>
              <a:t> </a:t>
            </a:r>
            <a:r>
              <a:rPr lang="en-GB" sz="1050" dirty="0" err="1"/>
              <a:t>ngày</a:t>
            </a:r>
            <a:r>
              <a:rPr lang="en-GB" sz="1050" dirty="0"/>
              <a:t> 24/03 </a:t>
            </a:r>
            <a:r>
              <a:rPr lang="en-GB" sz="1050" dirty="0" err="1"/>
              <a:t>sẽ</a:t>
            </a:r>
            <a:r>
              <a:rPr lang="en-GB" sz="1050" dirty="0"/>
              <a:t> </a:t>
            </a:r>
            <a:r>
              <a:rPr lang="en-GB" sz="1050" dirty="0" err="1"/>
              <a:t>tháo</a:t>
            </a:r>
            <a:r>
              <a:rPr lang="en-GB" sz="1050" dirty="0"/>
              <a:t> </a:t>
            </a:r>
            <a:r>
              <a:rPr lang="en-GB" sz="1050" dirty="0" err="1"/>
              <a:t>động</a:t>
            </a:r>
            <a:r>
              <a:rPr lang="en-GB" sz="1050" dirty="0"/>
              <a:t> </a:t>
            </a:r>
            <a:r>
              <a:rPr lang="en-GB" sz="1050" dirty="0" err="1"/>
              <a:t>cơ</a:t>
            </a:r>
            <a:r>
              <a:rPr lang="en-GB" sz="1050" dirty="0"/>
              <a:t> </a:t>
            </a:r>
            <a:r>
              <a:rPr lang="en-GB" sz="1050" dirty="0" err="1"/>
              <a:t>này</a:t>
            </a:r>
            <a:r>
              <a:rPr lang="en-GB" sz="1050" dirty="0"/>
              <a:t> </a:t>
            </a:r>
            <a:r>
              <a:rPr lang="en-GB" sz="1050" dirty="0" err="1"/>
              <a:t>xuống</a:t>
            </a:r>
            <a:r>
              <a:rPr lang="en-GB" sz="1050" dirty="0"/>
              <a:t> </a:t>
            </a:r>
            <a:r>
              <a:rPr lang="en-GB" sz="1050" dirty="0" err="1"/>
              <a:t>giữ</a:t>
            </a:r>
            <a:r>
              <a:rPr lang="en-GB" sz="1050" dirty="0"/>
              <a:t> </a:t>
            </a:r>
            <a:r>
              <a:rPr lang="en-GB" sz="1050" dirty="0" err="1"/>
              <a:t>giờ</a:t>
            </a:r>
            <a:r>
              <a:rPr lang="en-GB" sz="1050" dirty="0"/>
              <a:t> </a:t>
            </a:r>
            <a:r>
              <a:rPr lang="en-GB" sz="1050" dirty="0" err="1"/>
              <a:t>đến</a:t>
            </a:r>
            <a:r>
              <a:rPr lang="en-GB" sz="1050" dirty="0"/>
              <a:t> 10/5 </a:t>
            </a:r>
            <a:r>
              <a:rPr lang="en-GB" sz="1050" dirty="0" err="1"/>
              <a:t>lắp</a:t>
            </a:r>
            <a:r>
              <a:rPr lang="en-GB" sz="1050" dirty="0"/>
              <a:t> </a:t>
            </a:r>
            <a:r>
              <a:rPr lang="en-GB" sz="1050" dirty="0" err="1"/>
              <a:t>lại</a:t>
            </a:r>
            <a:r>
              <a:rPr lang="en-GB" sz="1050" dirty="0"/>
              <a:t> A899 (</a:t>
            </a:r>
            <a:r>
              <a:rPr lang="en-GB" sz="1050" dirty="0" err="1"/>
              <a:t>tàu</a:t>
            </a:r>
            <a:r>
              <a:rPr lang="en-GB" sz="1050" dirty="0"/>
              <a:t> </a:t>
            </a:r>
            <a:r>
              <a:rPr lang="en-GB" sz="1050" dirty="0" err="1"/>
              <a:t>đang</a:t>
            </a:r>
            <a:r>
              <a:rPr lang="en-GB" sz="1050" dirty="0"/>
              <a:t> </a:t>
            </a:r>
            <a:r>
              <a:rPr lang="en-GB" sz="1050" dirty="0" err="1"/>
              <a:t>dừng</a:t>
            </a:r>
            <a:r>
              <a:rPr lang="en-GB" sz="1050" dirty="0"/>
              <a:t> </a:t>
            </a:r>
            <a:r>
              <a:rPr lang="en-GB" sz="1050" dirty="0" err="1"/>
              <a:t>làm</a:t>
            </a:r>
            <a:r>
              <a:rPr lang="en-GB" sz="1050" dirty="0"/>
              <a:t> 6Y</a:t>
            </a:r>
            <a:r>
              <a:rPr lang="en-US" sz="1050" dirty="0"/>
              <a:t>), </a:t>
            </a:r>
            <a:r>
              <a:rPr lang="en-US" sz="1050" dirty="0" err="1"/>
              <a:t>sau</a:t>
            </a:r>
            <a:r>
              <a:rPr lang="en-US" sz="1050" dirty="0"/>
              <a:t> </a:t>
            </a:r>
            <a:r>
              <a:rPr lang="en-US" sz="1050" dirty="0" err="1"/>
              <a:t>đó</a:t>
            </a:r>
            <a:r>
              <a:rPr lang="en-US" sz="1050" dirty="0"/>
              <a:t> </a:t>
            </a:r>
            <a:r>
              <a:rPr lang="en-US" sz="1050" dirty="0" err="1"/>
              <a:t>lắp</a:t>
            </a:r>
            <a:r>
              <a:rPr lang="en-US" sz="1050" dirty="0"/>
              <a:t> A899 </a:t>
            </a:r>
            <a:r>
              <a:rPr lang="en-US" sz="1050" dirty="0" err="1"/>
              <a:t>giữ</a:t>
            </a:r>
            <a:r>
              <a:rPr lang="en-US" sz="1050" dirty="0"/>
              <a:t> </a:t>
            </a:r>
            <a:r>
              <a:rPr lang="en-US" sz="1050" dirty="0" err="1"/>
              <a:t>thêm</a:t>
            </a:r>
            <a:r>
              <a:rPr lang="en-US" sz="1050" dirty="0"/>
              <a:t> 10 </a:t>
            </a:r>
            <a:r>
              <a:rPr lang="en-US" sz="1050" dirty="0" err="1"/>
              <a:t>ngày</a:t>
            </a:r>
            <a:r>
              <a:rPr lang="en-US" sz="1050" dirty="0"/>
              <a:t>. </a:t>
            </a:r>
            <a:endParaRPr lang="en-US" sz="1000" dirty="0"/>
          </a:p>
          <a:p>
            <a:pPr lvl="0"/>
            <a:r>
              <a:rPr lang="en-GB" sz="1050" dirty="0"/>
              <a:t>- </a:t>
            </a:r>
            <a:r>
              <a:rPr lang="en-GB" sz="1050" dirty="0" err="1"/>
              <a:t>Với</a:t>
            </a:r>
            <a:r>
              <a:rPr lang="en-GB" sz="1050" dirty="0"/>
              <a:t> 21418 (</a:t>
            </a:r>
            <a:r>
              <a:rPr lang="en-GB" sz="1050" dirty="0" err="1"/>
              <a:t>hết</a:t>
            </a:r>
            <a:r>
              <a:rPr lang="en-GB" sz="1050" dirty="0"/>
              <a:t> </a:t>
            </a:r>
            <a:r>
              <a:rPr lang="en-GB" sz="1050" dirty="0" err="1"/>
              <a:t>hạn</a:t>
            </a:r>
            <a:r>
              <a:rPr lang="en-GB" sz="1050" dirty="0"/>
              <a:t> 07/07): </a:t>
            </a:r>
            <a:r>
              <a:rPr lang="en-GB" sz="1050" dirty="0" err="1"/>
              <a:t>Lắp</a:t>
            </a:r>
            <a:r>
              <a:rPr lang="en-GB" sz="1050" dirty="0"/>
              <a:t> </a:t>
            </a:r>
            <a:r>
              <a:rPr lang="en-GB" sz="1050" dirty="0" err="1"/>
              <a:t>trên</a:t>
            </a:r>
            <a:r>
              <a:rPr lang="en-GB" sz="1050" dirty="0"/>
              <a:t> </a:t>
            </a:r>
            <a:r>
              <a:rPr lang="en-GB" sz="1050" dirty="0" err="1"/>
              <a:t>tàu</a:t>
            </a:r>
            <a:r>
              <a:rPr lang="en-GB" sz="1050" dirty="0"/>
              <a:t> A891 </a:t>
            </a:r>
            <a:r>
              <a:rPr lang="en-GB" sz="1050" dirty="0" err="1"/>
              <a:t>làm</a:t>
            </a:r>
            <a:r>
              <a:rPr lang="en-GB" sz="1050" dirty="0"/>
              <a:t> check </a:t>
            </a:r>
            <a:r>
              <a:rPr lang="en-GB" sz="1050" dirty="0" err="1"/>
              <a:t>từ</a:t>
            </a:r>
            <a:r>
              <a:rPr lang="en-GB" sz="1050" dirty="0"/>
              <a:t> 10/3 – 19/3; </a:t>
            </a:r>
            <a:r>
              <a:rPr lang="en-GB" sz="1050" dirty="0" err="1"/>
              <a:t>từ</a:t>
            </a:r>
            <a:r>
              <a:rPr lang="en-GB" sz="1050" dirty="0"/>
              <a:t> 16/04 – 10/05: </a:t>
            </a:r>
            <a:r>
              <a:rPr lang="en-GB" sz="1050" dirty="0" err="1"/>
              <a:t>lắp</a:t>
            </a:r>
            <a:r>
              <a:rPr lang="en-GB" sz="1050" dirty="0"/>
              <a:t> sang </a:t>
            </a:r>
            <a:r>
              <a:rPr lang="en-GB" sz="1050" dirty="0" err="1"/>
              <a:t>tàu</a:t>
            </a:r>
            <a:r>
              <a:rPr lang="en-GB" sz="1050" dirty="0"/>
              <a:t> A899 (</a:t>
            </a:r>
            <a:r>
              <a:rPr lang="en-GB" sz="1050" dirty="0" err="1"/>
              <a:t>làm</a:t>
            </a:r>
            <a:r>
              <a:rPr lang="en-GB" sz="1050" dirty="0"/>
              <a:t> 6Y) </a:t>
            </a:r>
            <a:r>
              <a:rPr lang="en-GB" sz="1050" dirty="0" err="1"/>
              <a:t>giữ</a:t>
            </a:r>
            <a:r>
              <a:rPr lang="en-GB" sz="1050" dirty="0"/>
              <a:t> </a:t>
            </a:r>
            <a:r>
              <a:rPr lang="en-GB" sz="1050" dirty="0" err="1"/>
              <a:t>thêm</a:t>
            </a:r>
            <a:r>
              <a:rPr lang="en-GB" sz="1050" dirty="0"/>
              <a:t> </a:t>
            </a:r>
            <a:r>
              <a:rPr lang="en-GB" sz="1050" dirty="0" err="1"/>
              <a:t>được</a:t>
            </a:r>
            <a:r>
              <a:rPr lang="en-GB" sz="1050" dirty="0"/>
              <a:t> 25 </a:t>
            </a:r>
            <a:r>
              <a:rPr lang="en-GB" sz="1050" dirty="0" err="1"/>
              <a:t>ngày</a:t>
            </a:r>
            <a:r>
              <a:rPr lang="en-GB" sz="1050" dirty="0"/>
              <a:t>, </a:t>
            </a:r>
            <a:r>
              <a:rPr lang="en-GB" sz="1050" dirty="0" err="1"/>
              <a:t>sau</a:t>
            </a:r>
            <a:r>
              <a:rPr lang="en-GB" sz="1050" dirty="0"/>
              <a:t> </a:t>
            </a:r>
            <a:r>
              <a:rPr lang="en-GB" sz="1050" dirty="0" err="1"/>
              <a:t>đó</a:t>
            </a:r>
            <a:r>
              <a:rPr lang="en-GB" sz="1050" dirty="0"/>
              <a:t> A899 </a:t>
            </a:r>
            <a:r>
              <a:rPr lang="en-GB" sz="1050" dirty="0" err="1"/>
              <a:t>chủ</a:t>
            </a:r>
            <a:r>
              <a:rPr lang="en-GB" sz="1050" dirty="0"/>
              <a:t> </a:t>
            </a:r>
            <a:r>
              <a:rPr lang="en-GB" sz="1050" dirty="0" err="1"/>
              <a:t>động</a:t>
            </a:r>
            <a:r>
              <a:rPr lang="en-GB" sz="1050" dirty="0"/>
              <a:t> d</a:t>
            </a:r>
            <a:r>
              <a:rPr lang="en-US" sz="1050" dirty="0" err="1"/>
              <a:t>ừng</a:t>
            </a:r>
            <a:r>
              <a:rPr lang="en-US" sz="1050" dirty="0"/>
              <a:t> </a:t>
            </a:r>
            <a:r>
              <a:rPr lang="en-US" sz="1050" dirty="0" err="1"/>
              <a:t>thêm</a:t>
            </a:r>
            <a:r>
              <a:rPr lang="en-US" sz="1050" dirty="0"/>
              <a:t> 10 </a:t>
            </a:r>
            <a:r>
              <a:rPr lang="en-US" sz="1050" dirty="0" err="1"/>
              <a:t>ngày</a:t>
            </a:r>
            <a:r>
              <a:rPr lang="en-US" sz="1050" dirty="0"/>
              <a:t>. </a:t>
            </a:r>
            <a:endParaRPr lang="en-US" sz="1000" dirty="0"/>
          </a:p>
        </p:txBody>
      </p:sp>
    </p:spTree>
    <p:extLst>
      <p:ext uri="{BB962C8B-B14F-4D97-AF65-F5344CB8AC3E}">
        <p14:creationId xmlns:p14="http://schemas.microsoft.com/office/powerpoint/2010/main" val="7923795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6EF2E-39D3-88C6-5607-59E0B3AACB2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CA0A6B4-0D57-91D1-E90B-8552E0AD5555}"/>
              </a:ext>
            </a:extLst>
          </p:cNvPr>
          <p:cNvSpPr>
            <a:spLocks noGrp="1"/>
          </p:cNvSpPr>
          <p:nvPr>
            <p:ph type="sldNum" idx="12"/>
          </p:nvPr>
        </p:nvSpPr>
        <p:spPr/>
        <p:txBody>
          <a:bodyPr/>
          <a:lstStyle/>
          <a:p>
            <a:fld id="{00000000-1234-1234-1234-123412341234}" type="slidenum">
              <a:rPr lang="vi" smtClean="0"/>
              <a:pPr/>
              <a:t>30</a:t>
            </a:fld>
            <a:endParaRPr lang="vi"/>
          </a:p>
        </p:txBody>
      </p:sp>
      <p:sp>
        <p:nvSpPr>
          <p:cNvPr id="8" name="Slide Number Placeholder 3">
            <a:extLst>
              <a:ext uri="{FF2B5EF4-FFF2-40B4-BE49-F238E27FC236}">
                <a16:creationId xmlns:a16="http://schemas.microsoft.com/office/drawing/2014/main" id="{A871A205-15F4-FDCC-D904-DBF790C95818}"/>
              </a:ext>
            </a:extLst>
          </p:cNvPr>
          <p:cNvSpPr txBox="1">
            <a:spLocks/>
          </p:cNvSpPr>
          <p:nvPr/>
        </p:nvSpPr>
        <p:spPr>
          <a:xfrm>
            <a:off x="11480800" y="7745888"/>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30</a:t>
            </a:fld>
            <a:endParaRPr lang="en-US" sz="1600" dirty="0">
              <a:solidFill>
                <a:srgbClr val="D2A43B"/>
              </a:solidFill>
              <a:latin typeface="Times New Roman" panose="02020603050405020304" pitchFamily="18" charset="0"/>
              <a:ea typeface="+mn-ea"/>
              <a:cs typeface="Times New Roman" panose="02020603050405020304" pitchFamily="18" charset="0"/>
              <a:sym typeface="Montserrat"/>
            </a:endParaRPr>
          </a:p>
        </p:txBody>
      </p:sp>
      <p:sp>
        <p:nvSpPr>
          <p:cNvPr id="9" name="TextBox 8">
            <a:extLst>
              <a:ext uri="{FF2B5EF4-FFF2-40B4-BE49-F238E27FC236}">
                <a16:creationId xmlns:a16="http://schemas.microsoft.com/office/drawing/2014/main" id="{45661717-286B-9E25-9E8B-05A140AC533E}"/>
              </a:ext>
            </a:extLst>
          </p:cNvPr>
          <p:cNvSpPr txBox="1"/>
          <p:nvPr/>
        </p:nvSpPr>
        <p:spPr>
          <a:xfrm>
            <a:off x="317020" y="5056389"/>
            <a:ext cx="11557960" cy="371255"/>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marL="380990" indent="-380990" defTabSz="1219170">
              <a:lnSpc>
                <a:spcPct val="125000"/>
              </a:lnSpc>
              <a:buFont typeface="Arial" panose="020B0604020202020204" pitchFamily="34" charset="0"/>
              <a:buChar char="•"/>
              <a:defRPr/>
            </a:pPr>
            <a:r>
              <a:rPr lang="en-US" sz="1600">
                <a:solidFill>
                  <a:schemeClr val="tx1"/>
                </a:solidFill>
                <a:latin typeface="Times New Roman" panose="02020603050405020304" pitchFamily="18" charset="0"/>
                <a:cs typeface="Times New Roman" panose="02020603050405020304" pitchFamily="18" charset="0"/>
              </a:rPr>
              <a:t>Từ </a:t>
            </a:r>
            <a:r>
              <a:rPr lang="en-US" sz="1600" dirty="0" err="1">
                <a:solidFill>
                  <a:schemeClr val="tx1"/>
                </a:solidFill>
                <a:latin typeface="Times New Roman" panose="02020603050405020304" pitchFamily="18" charset="0"/>
                <a:cs typeface="Times New Roman" panose="02020603050405020304" pitchFamily="18" charset="0"/>
              </a:rPr>
              <a:t>tháng</a:t>
            </a:r>
            <a:r>
              <a:rPr lang="en-US" sz="1600" dirty="0">
                <a:solidFill>
                  <a:schemeClr val="tx1"/>
                </a:solidFill>
                <a:latin typeface="Times New Roman" panose="02020603050405020304" pitchFamily="18" charset="0"/>
                <a:cs typeface="Times New Roman" panose="02020603050405020304" pitchFamily="18" charset="0"/>
              </a:rPr>
              <a:t> 11/2024, </a:t>
            </a:r>
            <a:r>
              <a:rPr lang="en-US" sz="1600" dirty="0" err="1">
                <a:solidFill>
                  <a:schemeClr val="tx1"/>
                </a:solidFill>
                <a:latin typeface="Times New Roman" panose="02020603050405020304" pitchFamily="18" charset="0"/>
                <a:cs typeface="Times New Roman" panose="02020603050405020304" pitchFamily="18" charset="0"/>
              </a:rPr>
              <a:t>khai</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thác</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với</a:t>
            </a:r>
            <a:r>
              <a:rPr lang="en-US" sz="1600" dirty="0">
                <a:solidFill>
                  <a:schemeClr val="tx1"/>
                </a:solidFill>
                <a:latin typeface="Times New Roman" panose="02020603050405020304" pitchFamily="18" charset="0"/>
                <a:cs typeface="Times New Roman" panose="02020603050405020304" pitchFamily="18" charset="0"/>
              </a:rPr>
              <a:t> 05 </a:t>
            </a:r>
            <a:r>
              <a:rPr lang="en-US" sz="1600" dirty="0" err="1">
                <a:solidFill>
                  <a:schemeClr val="tx1"/>
                </a:solidFill>
                <a:latin typeface="Times New Roman" panose="02020603050405020304" pitchFamily="18" charset="0"/>
                <a:cs typeface="Times New Roman" panose="02020603050405020304" pitchFamily="18" charset="0"/>
              </a:rPr>
              <a:t>tàu</a:t>
            </a:r>
            <a:r>
              <a:rPr lang="en-US" sz="1600" dirty="0">
                <a:solidFill>
                  <a:schemeClr val="tx1"/>
                </a:solidFill>
                <a:latin typeface="Times New Roman" panose="02020603050405020304" pitchFamily="18" charset="0"/>
                <a:cs typeface="Times New Roman" panose="02020603050405020304" pitchFamily="18" charset="0"/>
              </a:rPr>
              <a:t> do </a:t>
            </a:r>
            <a:r>
              <a:rPr lang="en-US" sz="1600" dirty="0" err="1">
                <a:solidFill>
                  <a:schemeClr val="tx1"/>
                </a:solidFill>
                <a:latin typeface="Times New Roman" panose="02020603050405020304" pitchFamily="18" charset="0"/>
                <a:cs typeface="Times New Roman" panose="02020603050405020304" pitchFamily="18" charset="0"/>
              </a:rPr>
              <a:t>đã</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cho</a:t>
            </a:r>
            <a:r>
              <a:rPr lang="en-US" sz="1600" dirty="0">
                <a:solidFill>
                  <a:schemeClr val="tx1"/>
                </a:solidFill>
                <a:latin typeface="Times New Roman" panose="02020603050405020304" pitchFamily="18" charset="0"/>
                <a:cs typeface="Times New Roman" panose="02020603050405020304" pitchFamily="18" charset="0"/>
              </a:rPr>
              <a:t> K6 </a:t>
            </a:r>
            <a:r>
              <a:rPr lang="en-US" sz="1600" dirty="0" err="1">
                <a:solidFill>
                  <a:schemeClr val="tx1"/>
                </a:solidFill>
                <a:latin typeface="Times New Roman" panose="02020603050405020304" pitchFamily="18" charset="0"/>
                <a:cs typeface="Times New Roman" panose="02020603050405020304" pitchFamily="18" charset="0"/>
              </a:rPr>
              <a:t>thuê</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khô</a:t>
            </a:r>
            <a:r>
              <a:rPr lang="en-US" sz="1600" dirty="0">
                <a:solidFill>
                  <a:schemeClr val="tx1"/>
                </a:solidFill>
                <a:latin typeface="Times New Roman" panose="02020603050405020304" pitchFamily="18" charset="0"/>
                <a:cs typeface="Times New Roman" panose="02020603050405020304" pitchFamily="18" charset="0"/>
              </a:rPr>
              <a:t> B220. </a:t>
            </a:r>
            <a:r>
              <a:rPr lang="en-US" sz="1600" dirty="0" err="1">
                <a:solidFill>
                  <a:schemeClr val="tx1"/>
                </a:solidFill>
                <a:latin typeface="Times New Roman" panose="02020603050405020304" pitchFamily="18" charset="0"/>
                <a:cs typeface="Times New Roman" panose="02020603050405020304" pitchFamily="18" charset="0"/>
              </a:rPr>
              <a:t>Tháng</a:t>
            </a:r>
            <a:r>
              <a:rPr lang="en-US" sz="1600" dirty="0">
                <a:solidFill>
                  <a:schemeClr val="tx1"/>
                </a:solidFill>
                <a:latin typeface="Times New Roman" panose="02020603050405020304" pitchFamily="18" charset="0"/>
                <a:cs typeface="Times New Roman" panose="02020603050405020304" pitchFamily="18" charset="0"/>
              </a:rPr>
              <a:t> 7/2025 </a:t>
            </a:r>
            <a:r>
              <a:rPr lang="en-US" sz="1600" dirty="0" err="1">
                <a:solidFill>
                  <a:schemeClr val="tx1"/>
                </a:solidFill>
                <a:latin typeface="Times New Roman" panose="02020603050405020304" pitchFamily="18" charset="0"/>
                <a:cs typeface="Times New Roman" panose="02020603050405020304" pitchFamily="18" charset="0"/>
              </a:rPr>
              <a:t>sẽ</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khai</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thác</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trở</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lại</a:t>
            </a:r>
            <a:r>
              <a:rPr lang="en-US" sz="1600" dirty="0">
                <a:solidFill>
                  <a:schemeClr val="tx1"/>
                </a:solidFill>
                <a:latin typeface="Times New Roman" panose="02020603050405020304" pitchFamily="18" charset="0"/>
                <a:cs typeface="Times New Roman" panose="02020603050405020304" pitchFamily="18" charset="0"/>
              </a:rPr>
              <a:t> 06 </a:t>
            </a:r>
            <a:r>
              <a:rPr lang="en-US" sz="1600" dirty="0" err="1">
                <a:solidFill>
                  <a:schemeClr val="tx1"/>
                </a:solidFill>
                <a:latin typeface="Times New Roman" panose="02020603050405020304" pitchFamily="18" charset="0"/>
                <a:cs typeface="Times New Roman" panose="02020603050405020304" pitchFamily="18" charset="0"/>
              </a:rPr>
              <a:t>tàu</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sau</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khi</a:t>
            </a:r>
            <a:r>
              <a:rPr lang="en-US" sz="1600" dirty="0">
                <a:solidFill>
                  <a:schemeClr val="tx1"/>
                </a:solidFill>
                <a:latin typeface="Times New Roman" panose="02020603050405020304" pitchFamily="18" charset="0"/>
                <a:cs typeface="Times New Roman" panose="02020603050405020304" pitchFamily="18" charset="0"/>
              </a:rPr>
              <a:t> K6 </a:t>
            </a:r>
            <a:r>
              <a:rPr lang="en-US" sz="1600" dirty="0" err="1">
                <a:solidFill>
                  <a:schemeClr val="tx1"/>
                </a:solidFill>
                <a:latin typeface="Times New Roman" panose="02020603050405020304" pitchFamily="18" charset="0"/>
                <a:cs typeface="Times New Roman" panose="02020603050405020304" pitchFamily="18" charset="0"/>
              </a:rPr>
              <a:t>trả</a:t>
            </a:r>
            <a:r>
              <a:rPr lang="en-US" sz="1600" dirty="0">
                <a:solidFill>
                  <a:schemeClr val="tx1"/>
                </a:solidFill>
                <a:latin typeface="Times New Roman" panose="02020603050405020304" pitchFamily="18" charset="0"/>
                <a:cs typeface="Times New Roman" panose="02020603050405020304" pitchFamily="18" charset="0"/>
              </a:rPr>
              <a:t> B220.</a:t>
            </a:r>
          </a:p>
        </p:txBody>
      </p:sp>
      <p:graphicFrame>
        <p:nvGraphicFramePr>
          <p:cNvPr id="10" name="Chart 9">
            <a:extLst>
              <a:ext uri="{FF2B5EF4-FFF2-40B4-BE49-F238E27FC236}">
                <a16:creationId xmlns:a16="http://schemas.microsoft.com/office/drawing/2014/main" id="{76DFC592-D88A-43FC-09E5-06AD8D727013}"/>
              </a:ext>
            </a:extLst>
          </p:cNvPr>
          <p:cNvGraphicFramePr/>
          <p:nvPr/>
        </p:nvGraphicFramePr>
        <p:xfrm>
          <a:off x="295373" y="770468"/>
          <a:ext cx="11557960" cy="4216400"/>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a:extLst>
              <a:ext uri="{FF2B5EF4-FFF2-40B4-BE49-F238E27FC236}">
                <a16:creationId xmlns:a16="http://schemas.microsoft.com/office/drawing/2014/main" id="{0AA8E0DF-2FF0-D5DB-6896-3F1AD07908A4}"/>
              </a:ext>
            </a:extLst>
          </p:cNvPr>
          <p:cNvSpPr txBox="1"/>
          <p:nvPr/>
        </p:nvSpPr>
        <p:spPr>
          <a:xfrm>
            <a:off x="0" y="88859"/>
            <a:ext cx="11142133" cy="502766"/>
          </a:xfrm>
          <a:prstGeom prst="rect">
            <a:avLst/>
          </a:prstGeom>
          <a:noFill/>
        </p:spPr>
        <p:txBody>
          <a:bodyPr wrap="square" rtlCol="0">
            <a:spAutoFit/>
          </a:bodyPr>
          <a:lstStyle/>
          <a:p>
            <a:pPr defTabSz="1219170">
              <a:defRPr/>
            </a:pPr>
            <a:r>
              <a:rPr lang="vi-VN" sz="2667" b="1" dirty="0">
                <a:ln w="0"/>
                <a:solidFill>
                  <a:srgbClr val="FBAC00"/>
                </a:solidFill>
                <a:latin typeface="Times New Roman" panose="02020603050405020304" pitchFamily="18" charset="0"/>
                <a:cs typeface="Times New Roman" panose="02020603050405020304" pitchFamily="18" charset="0"/>
              </a:rPr>
              <a:t>KHẢ NĂNG CUNG ỨNG ĐỘNG CƠ </a:t>
            </a:r>
            <a:r>
              <a:rPr lang="en-US" sz="2667" b="1" dirty="0">
                <a:ln w="0"/>
                <a:solidFill>
                  <a:srgbClr val="FBAC00"/>
                </a:solidFill>
                <a:latin typeface="Times New Roman" panose="02020603050405020304" pitchFamily="18" charset="0"/>
                <a:cs typeface="Times New Roman" panose="02020603050405020304" pitchFamily="18" charset="0"/>
              </a:rPr>
              <a:t>ĐỘI BAY ATR72</a:t>
            </a:r>
            <a:endParaRPr lang="vi-VN"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56737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C0E34002-24DE-E466-318F-A982D9E240D3}"/>
              </a:ext>
            </a:extLst>
          </p:cNvPr>
          <p:cNvSpPr txBox="1"/>
          <p:nvPr/>
        </p:nvSpPr>
        <p:spPr>
          <a:xfrm>
            <a:off x="0" y="475864"/>
            <a:ext cx="4165600" cy="461665"/>
          </a:xfrm>
          <a:prstGeom prst="rect">
            <a:avLst/>
          </a:prstGeom>
          <a:noFill/>
        </p:spPr>
        <p:txBody>
          <a:bodyPr wrap="square" rtlCol="0">
            <a:spAutoFit/>
          </a:bodyPr>
          <a:lstStyle/>
          <a:p>
            <a:pPr defTabSz="1219170">
              <a:defRPr/>
            </a:pPr>
            <a:r>
              <a:rPr lang="en-US" sz="2400" b="1" dirty="0" err="1">
                <a:solidFill>
                  <a:srgbClr val="002060"/>
                </a:solidFill>
                <a:latin typeface="Times New Roman" panose="02020603050405020304" pitchFamily="18" charset="0"/>
                <a:cs typeface="Times New Roman" panose="02020603050405020304" pitchFamily="18" charset="0"/>
              </a:rPr>
              <a:t>Tình</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trạng</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sửa</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chữa</a:t>
            </a:r>
            <a:endParaRPr lang="en-GB" sz="24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4" name="Table 2">
            <a:extLst>
              <a:ext uri="{FF2B5EF4-FFF2-40B4-BE49-F238E27FC236}">
                <a16:creationId xmlns:a16="http://schemas.microsoft.com/office/drawing/2014/main" id="{C9E599B2-7A6B-AE61-6B47-ABFA60F331B8}"/>
              </a:ext>
            </a:extLst>
          </p:cNvPr>
          <p:cNvGraphicFramePr>
            <a:graphicFrameLocks noGrp="1"/>
          </p:cNvGraphicFramePr>
          <p:nvPr/>
        </p:nvGraphicFramePr>
        <p:xfrm>
          <a:off x="291533" y="1134199"/>
          <a:ext cx="11460202" cy="3023771"/>
        </p:xfrm>
        <a:graphic>
          <a:graphicData uri="http://schemas.openxmlformats.org/drawingml/2006/table">
            <a:tbl>
              <a:tblPr firstRow="1" bandRow="1">
                <a:tableStyleId>{5C22544A-7EE6-4342-B048-85BDC9FD1C3A}</a:tableStyleId>
              </a:tblPr>
              <a:tblGrid>
                <a:gridCol w="533157">
                  <a:extLst>
                    <a:ext uri="{9D8B030D-6E8A-4147-A177-3AD203B41FA5}">
                      <a16:colId xmlns:a16="http://schemas.microsoft.com/office/drawing/2014/main" val="1598605427"/>
                    </a:ext>
                  </a:extLst>
                </a:gridCol>
                <a:gridCol w="1147672">
                  <a:extLst>
                    <a:ext uri="{9D8B030D-6E8A-4147-A177-3AD203B41FA5}">
                      <a16:colId xmlns:a16="http://schemas.microsoft.com/office/drawing/2014/main" val="3845954792"/>
                    </a:ext>
                  </a:extLst>
                </a:gridCol>
                <a:gridCol w="1298823">
                  <a:extLst>
                    <a:ext uri="{9D8B030D-6E8A-4147-A177-3AD203B41FA5}">
                      <a16:colId xmlns:a16="http://schemas.microsoft.com/office/drawing/2014/main" val="2148822928"/>
                    </a:ext>
                  </a:extLst>
                </a:gridCol>
                <a:gridCol w="2062836">
                  <a:extLst>
                    <a:ext uri="{9D8B030D-6E8A-4147-A177-3AD203B41FA5}">
                      <a16:colId xmlns:a16="http://schemas.microsoft.com/office/drawing/2014/main" val="2136763095"/>
                    </a:ext>
                  </a:extLst>
                </a:gridCol>
                <a:gridCol w="2139239">
                  <a:extLst>
                    <a:ext uri="{9D8B030D-6E8A-4147-A177-3AD203B41FA5}">
                      <a16:colId xmlns:a16="http://schemas.microsoft.com/office/drawing/2014/main" val="1185879436"/>
                    </a:ext>
                  </a:extLst>
                </a:gridCol>
                <a:gridCol w="1986435">
                  <a:extLst>
                    <a:ext uri="{9D8B030D-6E8A-4147-A177-3AD203B41FA5}">
                      <a16:colId xmlns:a16="http://schemas.microsoft.com/office/drawing/2014/main" val="3807119371"/>
                    </a:ext>
                  </a:extLst>
                </a:gridCol>
                <a:gridCol w="2292040">
                  <a:extLst>
                    <a:ext uri="{9D8B030D-6E8A-4147-A177-3AD203B41FA5}">
                      <a16:colId xmlns:a16="http://schemas.microsoft.com/office/drawing/2014/main" val="3735753066"/>
                    </a:ext>
                  </a:extLst>
                </a:gridCol>
              </a:tblGrid>
              <a:tr h="709240">
                <a:tc>
                  <a:txBody>
                    <a:bodyPr/>
                    <a:lstStyle/>
                    <a:p>
                      <a:pPr algn="ctr"/>
                      <a:r>
                        <a:rPr lang="en-GB" sz="1500">
                          <a:latin typeface="Times New Roman" panose="02020603050405020304" pitchFamily="18" charset="0"/>
                          <a:cs typeface="Times New Roman" panose="02020603050405020304" pitchFamily="18" charset="0"/>
                        </a:rPr>
                        <a:t>No.</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Times New Roman" panose="02020603050405020304" pitchFamily="18" charset="0"/>
                          <a:cs typeface="Times New Roman" panose="02020603050405020304" pitchFamily="18" charset="0"/>
                        </a:rPr>
                        <a:t>ESN</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Times New Roman" panose="02020603050405020304" pitchFamily="18" charset="0"/>
                          <a:cs typeface="Times New Roman" panose="02020603050405020304" pitchFamily="18" charset="0"/>
                        </a:rPr>
                        <a:t>Status</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500">
                          <a:latin typeface="Times New Roman" panose="02020603050405020304" pitchFamily="18" charset="0"/>
                          <a:cs typeface="Times New Roman" panose="02020603050405020304" pitchFamily="18" charset="0"/>
                        </a:rPr>
                        <a:t>Induction</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err="1">
                          <a:latin typeface="Times New Roman" panose="02020603050405020304" pitchFamily="18" charset="0"/>
                          <a:cs typeface="Times New Roman" panose="02020603050405020304" pitchFamily="18" charset="0"/>
                        </a:rPr>
                        <a:t>Dự</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kiến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về</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500">
                          <a:latin typeface="Times New Roman" panose="02020603050405020304" pitchFamily="18" charset="0"/>
                          <a:cs typeface="Times New Roman" panose="02020603050405020304" pitchFamily="18" charset="0"/>
                        </a:rPr>
                        <a:t>KH Sử dụng</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500">
                          <a:latin typeface="Times New Roman" panose="02020603050405020304" pitchFamily="18" charset="0"/>
                          <a:cs typeface="Times New Roman" panose="02020603050405020304" pitchFamily="18" charset="0"/>
                        </a:rPr>
                        <a:t>Remark</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577171">
                <a:tc>
                  <a:txBody>
                    <a:bodyPr/>
                    <a:lstStyle/>
                    <a:p>
                      <a:pPr algn="ctr"/>
                      <a:r>
                        <a:rPr lang="vi-VN" sz="1500">
                          <a:latin typeface="Times New Roman" panose="02020603050405020304" pitchFamily="18" charset="0"/>
                          <a:cs typeface="Times New Roman" panose="02020603050405020304" pitchFamily="18" charset="0"/>
                        </a:rPr>
                        <a:t>1</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5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ED0239</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16/10/2024</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500" b="0" kern="1200">
                          <a:solidFill>
                            <a:schemeClr val="tx1"/>
                          </a:solidFill>
                          <a:latin typeface="Times New Roman" panose="02020603050405020304" pitchFamily="18" charset="0"/>
                          <a:ea typeface="+mn-ea"/>
                          <a:cs typeface="Times New Roman" panose="02020603050405020304" pitchFamily="18" charset="0"/>
                        </a:rPr>
                        <a:t>15/04/2025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Stagger/Engine change</a:t>
                      </a:r>
                      <a:endParaRPr lang="en-GB" sz="15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N/A</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227979002"/>
                  </a:ext>
                </a:extLst>
              </a:tr>
              <a:tr h="577171">
                <a:tc>
                  <a:txBody>
                    <a:bodyPr/>
                    <a:lstStyle/>
                    <a:p>
                      <a:pPr algn="ctr"/>
                      <a:r>
                        <a:rPr lang="vi-VN" sz="1500">
                          <a:latin typeface="Times New Roman" panose="02020603050405020304" pitchFamily="18" charset="0"/>
                          <a:cs typeface="Times New Roman" panose="02020603050405020304" pitchFamily="18" charset="0"/>
                        </a:rPr>
                        <a:t>2</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ED238</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24/01/2025</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500" b="0" kern="1200">
                          <a:solidFill>
                            <a:schemeClr val="tx1"/>
                          </a:solidFill>
                          <a:latin typeface="Times New Roman" panose="02020603050405020304" pitchFamily="18" charset="0"/>
                          <a:ea typeface="+mn-ea"/>
                          <a:cs typeface="Times New Roman" panose="02020603050405020304" pitchFamily="18" charset="0"/>
                        </a:rPr>
                        <a:t>TBD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Stagger/Engine change</a:t>
                      </a:r>
                      <a:endPar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N/A</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817893171"/>
                  </a:ext>
                </a:extLst>
              </a:tr>
              <a:tr h="577171">
                <a:tc>
                  <a:txBody>
                    <a:bodyPr/>
                    <a:lstStyle/>
                    <a:p>
                      <a:pPr algn="ctr"/>
                      <a:r>
                        <a:rPr lang="en-GB" sz="1500">
                          <a:latin typeface="Times New Roman" panose="02020603050405020304" pitchFamily="18" charset="0"/>
                          <a:cs typeface="Times New Roman" panose="02020603050405020304" pitchFamily="18" charset="0"/>
                        </a:rPr>
                        <a:t>3</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ED0217</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20/03/2025</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500" b="0" kern="1200">
                          <a:solidFill>
                            <a:schemeClr val="tx1"/>
                          </a:solidFill>
                          <a:latin typeface="Times New Roman" panose="02020603050405020304" pitchFamily="18" charset="0"/>
                          <a:ea typeface="+mn-ea"/>
                          <a:cs typeface="Times New Roman" panose="02020603050405020304" pitchFamily="18" charset="0"/>
                        </a:rPr>
                        <a:t>TBD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Stagger/Engine change</a:t>
                      </a:r>
                      <a:endPar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N/A</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434517888"/>
                  </a:ext>
                </a:extLst>
              </a:tr>
              <a:tr h="577171">
                <a:tc>
                  <a:txBody>
                    <a:bodyPr/>
                    <a:lstStyle/>
                    <a:p>
                      <a:pPr algn="ctr"/>
                      <a:r>
                        <a:rPr lang="en-GB" sz="1500">
                          <a:latin typeface="Times New Roman" panose="02020603050405020304" pitchFamily="18" charset="0"/>
                          <a:cs typeface="Times New Roman" panose="02020603050405020304" pitchFamily="18" charset="0"/>
                        </a:rPr>
                        <a:t>4</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ED0233</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Mar/2025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algn="ctr" fontAlgn="ctr"/>
                      <a:r>
                        <a:rPr lang="en-US" sz="1500" b="0" kern="1200">
                          <a:solidFill>
                            <a:schemeClr val="tx1"/>
                          </a:solidFill>
                          <a:latin typeface="Times New Roman" panose="02020603050405020304" pitchFamily="18" charset="0"/>
                          <a:ea typeface="+mn-ea"/>
                          <a:cs typeface="Times New Roman" panose="02020603050405020304" pitchFamily="18" charset="0"/>
                        </a:rPr>
                        <a:t>TBD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endParaRPr lang="en-GB" sz="15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N/A</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3546132875"/>
                  </a:ext>
                </a:extLst>
              </a:tr>
            </a:tbl>
          </a:graphicData>
        </a:graphic>
      </p:graphicFrame>
      <p:sp>
        <p:nvSpPr>
          <p:cNvPr id="15" name="TextBox 14">
            <a:extLst>
              <a:ext uri="{FF2B5EF4-FFF2-40B4-BE49-F238E27FC236}">
                <a16:creationId xmlns:a16="http://schemas.microsoft.com/office/drawing/2014/main" id="{A3B0CE8D-D087-9B22-2C61-0CD1AD45567F}"/>
              </a:ext>
            </a:extLst>
          </p:cNvPr>
          <p:cNvSpPr txBox="1"/>
          <p:nvPr/>
        </p:nvSpPr>
        <p:spPr>
          <a:xfrm>
            <a:off x="1" y="805"/>
            <a:ext cx="11418041"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TÌNH TRẠNG ĐỘNG CƠ ĐỘI BAY ATR</a:t>
            </a:r>
            <a:endParaRPr lang="en-GB" sz="2667" b="1" dirty="0">
              <a:ln w="0"/>
              <a:solidFill>
                <a:srgbClr val="FBAC00"/>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86965A40-485F-F6CF-1E94-FB69A37B616A}"/>
              </a:ext>
            </a:extLst>
          </p:cNvPr>
          <p:cNvSpPr txBox="1"/>
          <p:nvPr/>
        </p:nvSpPr>
        <p:spPr>
          <a:xfrm>
            <a:off x="36922" y="4247118"/>
            <a:ext cx="7239699" cy="461665"/>
          </a:xfrm>
          <a:prstGeom prst="rect">
            <a:avLst/>
          </a:prstGeom>
          <a:noFill/>
        </p:spPr>
        <p:txBody>
          <a:bodyPr wrap="square" rtlCol="0">
            <a:spAutoFit/>
          </a:bodyPr>
          <a:lstStyle/>
          <a:p>
            <a:pPr defTabSz="1219170">
              <a:defRPr/>
            </a:pPr>
            <a:r>
              <a:rPr lang="en-US" sz="2400" b="1" dirty="0" err="1">
                <a:solidFill>
                  <a:srgbClr val="002060"/>
                </a:solidFill>
                <a:latin typeface="Times New Roman" panose="02020603050405020304" pitchFamily="18" charset="0"/>
                <a:cs typeface="Times New Roman" panose="02020603050405020304" pitchFamily="18" charset="0"/>
              </a:rPr>
              <a:t>Tình</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trạng</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động</a:t>
            </a:r>
            <a:r>
              <a:rPr lang="en-US" sz="2400" b="1" dirty="0">
                <a:solidFill>
                  <a:srgbClr val="002060"/>
                </a:solidFill>
                <a:latin typeface="Times New Roman" panose="02020603050405020304" pitchFamily="18" charset="0"/>
                <a:cs typeface="Times New Roman" panose="02020603050405020304" pitchFamily="18" charset="0"/>
              </a:rPr>
              <a:t> cơ </a:t>
            </a:r>
            <a:r>
              <a:rPr lang="en-US" sz="2400" b="1" dirty="0" err="1">
                <a:solidFill>
                  <a:srgbClr val="002060"/>
                </a:solidFill>
                <a:latin typeface="Times New Roman" panose="02020603050405020304" pitchFamily="18" charset="0"/>
                <a:cs typeface="Times New Roman" panose="02020603050405020304" pitchFamily="18" charset="0"/>
              </a:rPr>
              <a:t>cơ</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đội</a:t>
            </a:r>
            <a:r>
              <a:rPr lang="en-US" sz="2400" b="1" dirty="0">
                <a:solidFill>
                  <a:srgbClr val="002060"/>
                </a:solidFill>
                <a:latin typeface="Times New Roman" panose="02020603050405020304" pitchFamily="18" charset="0"/>
                <a:cs typeface="Times New Roman" panose="02020603050405020304" pitchFamily="18" charset="0"/>
              </a:rPr>
              <a:t> bay</a:t>
            </a:r>
            <a:endParaRPr lang="en-GB" sz="2400" b="1" dirty="0">
              <a:solidFill>
                <a:srgbClr val="002060"/>
              </a:solidFill>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E8A28E79-E20A-AF25-AF54-BB552A4A1E80}"/>
              </a:ext>
            </a:extLst>
          </p:cNvPr>
          <p:cNvSpPr txBox="1"/>
          <p:nvPr/>
        </p:nvSpPr>
        <p:spPr>
          <a:xfrm>
            <a:off x="113122" y="4782751"/>
            <a:ext cx="11460201" cy="1692771"/>
          </a:xfrm>
          <a:prstGeom prst="rect">
            <a:avLst/>
          </a:prstGeom>
          <a:noFill/>
        </p:spPr>
        <p:txBody>
          <a:bodyPr wrap="square" rtlCol="0">
            <a:spAutoFit/>
          </a:bodyPr>
          <a:lstStyle/>
          <a:p>
            <a:pPr marL="380990" indent="-380990">
              <a:spcBef>
                <a:spcPts val="800"/>
              </a:spcBef>
              <a:spcAft>
                <a:spcPts val="800"/>
              </a:spcAft>
              <a:buFont typeface="Arial" panose="020B0604020202020204" pitchFamily="34" charset="0"/>
              <a:buChar char="•"/>
            </a:pPr>
            <a:r>
              <a:rPr lang="en-US" sz="1600" dirty="0" err="1">
                <a:latin typeface="Times New Roman" panose="02020603050405020304" pitchFamily="18" charset="0"/>
                <a:cs typeface="Times New Roman" panose="02020603050405020304" pitchFamily="18" charset="0"/>
              </a:rPr>
              <a:t>Động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không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khai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thác</a:t>
            </a:r>
            <a:r>
              <a:rPr lang="en-US" sz="1600">
                <a:latin typeface="Times New Roman" panose="02020603050405020304" pitchFamily="18" charset="0"/>
                <a:cs typeface="Times New Roman" panose="02020603050405020304" pitchFamily="18" charset="0"/>
              </a:rPr>
              <a:t>: ED0214 </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hết</a:t>
            </a:r>
            <a:r>
              <a:rPr lang="en-US" sz="1600" dirty="0">
                <a:latin typeface="Times New Roman" panose="02020603050405020304" pitchFamily="18" charset="0"/>
                <a:cs typeface="Times New Roman" panose="02020603050405020304" pitchFamily="18" charset="0"/>
              </a:rPr>
              <a:t> LLP, </a:t>
            </a:r>
            <a:r>
              <a:rPr lang="en-US" sz="1600" err="1">
                <a:latin typeface="Times New Roman" panose="02020603050405020304" pitchFamily="18" charset="0"/>
                <a:cs typeface="Times New Roman" panose="02020603050405020304" pitchFamily="18" charset="0"/>
              </a:rPr>
              <a:t>còn</a:t>
            </a:r>
            <a:r>
              <a:rPr lang="en-US" sz="1600">
                <a:latin typeface="Times New Roman" panose="02020603050405020304" pitchFamily="18" charset="0"/>
                <a:cs typeface="Times New Roman" panose="02020603050405020304" pitchFamily="18" charset="0"/>
              </a:rPr>
              <a:t> 39 FC) dự kiến gửi đi Shop trong T4/2025.</a:t>
            </a:r>
          </a:p>
          <a:p>
            <a:pPr marL="380990" indent="-380990">
              <a:spcBef>
                <a:spcPts val="800"/>
              </a:spcBef>
              <a:spcAft>
                <a:spcPts val="800"/>
              </a:spcAft>
              <a:buFont typeface="Arial" panose="020B0604020202020204" pitchFamily="34" charset="0"/>
              <a:buChar char="•"/>
            </a:pPr>
            <a:r>
              <a:rPr lang="en-US" sz="1600">
                <a:latin typeface="Times New Roman" panose="02020603050405020304" pitchFamily="18" charset="0"/>
                <a:cs typeface="Times New Roman" panose="02020603050405020304" pitchFamily="18" charset="0"/>
              </a:rPr>
              <a:t>Động cơ dự phòng: ED0235 còn 916 FC giữ giờ trong kho.</a:t>
            </a:r>
          </a:p>
          <a:p>
            <a:pPr marL="380990" indent="-380990">
              <a:spcBef>
                <a:spcPts val="800"/>
              </a:spcBef>
              <a:spcAft>
                <a:spcPts val="800"/>
              </a:spcAft>
              <a:buFont typeface="Arial" panose="020B0604020202020204" pitchFamily="34" charset="0"/>
              <a:buChar char="•"/>
            </a:pPr>
            <a:r>
              <a:rPr lang="it-IT" sz="1600">
                <a:latin typeface="Times New Roman" panose="02020603050405020304" pitchFamily="18" charset="0"/>
                <a:cs typeface="Times New Roman" panose="02020603050405020304" pitchFamily="18" charset="0"/>
              </a:rPr>
              <a:t>Động </a:t>
            </a:r>
            <a:r>
              <a:rPr lang="it-IT" sz="1600" dirty="0">
                <a:latin typeface="Times New Roman" panose="02020603050405020304" pitchFamily="18" charset="0"/>
                <a:cs typeface="Times New Roman" panose="02020603050405020304" pitchFamily="18" charset="0"/>
              </a:rPr>
              <a:t>cơ thuê: ED0321, ED0036 và ED0715</a:t>
            </a:r>
          </a:p>
          <a:p>
            <a:pPr marL="380990" indent="-380990">
              <a:spcBef>
                <a:spcPts val="800"/>
              </a:spcBef>
              <a:spcAft>
                <a:spcPts val="800"/>
              </a:spcAft>
              <a:buFont typeface="Arial" panose="020B0604020202020204" pitchFamily="34" charset="0"/>
              <a:buChar char="•"/>
            </a:pPr>
            <a:r>
              <a:rPr lang="it-IT" sz="1600" dirty="0">
                <a:latin typeface="Times New Roman" panose="02020603050405020304" pitchFamily="18" charset="0"/>
                <a:cs typeface="Times New Roman" panose="02020603050405020304" pitchFamily="18" charset="0"/>
              </a:rPr>
              <a:t>Động cơ cao giờ: NIL</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28089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EBBF0-4138-B510-1979-FBCC81398ABF}"/>
            </a:ext>
          </a:extLst>
        </p:cNvPr>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3AEDC4A0-D9E4-308A-B81A-C497E56EC867}"/>
              </a:ext>
            </a:extLst>
          </p:cNvPr>
          <p:cNvSpPr>
            <a:spLocks noGrp="1"/>
          </p:cNvSpPr>
          <p:nvPr>
            <p:ph type="sldNum" sz="quarter" idx="12"/>
          </p:nvPr>
        </p:nvSpPr>
        <p:spPr>
          <a:xfrm>
            <a:off x="11469279" y="8154511"/>
            <a:ext cx="3657600" cy="486833"/>
          </a:xfrm>
        </p:spPr>
        <p:txBody>
          <a:bodyPr>
            <a:normAutofit/>
          </a:bodyPr>
          <a:lstStyle/>
          <a:p>
            <a:pPr defTabSz="1219170">
              <a:defRPr/>
            </a:pPr>
            <a:r>
              <a:rPr lang="en-US" sz="1600" dirty="0">
                <a:solidFill>
                  <a:srgbClr val="D2A43B"/>
                </a:solidFill>
                <a:latin typeface="Montserrat" pitchFamily="2" charset="77"/>
              </a:rPr>
              <a:t>1</a:t>
            </a:r>
          </a:p>
        </p:txBody>
      </p:sp>
      <p:sp>
        <p:nvSpPr>
          <p:cNvPr id="4" name="TextBox 3">
            <a:extLst>
              <a:ext uri="{FF2B5EF4-FFF2-40B4-BE49-F238E27FC236}">
                <a16:creationId xmlns:a16="http://schemas.microsoft.com/office/drawing/2014/main" id="{5039FD0F-D84D-F582-FC95-7FD457F3C903}"/>
              </a:ext>
            </a:extLst>
          </p:cNvPr>
          <p:cNvSpPr txBox="1"/>
          <p:nvPr/>
        </p:nvSpPr>
        <p:spPr>
          <a:xfrm>
            <a:off x="61186" y="565752"/>
            <a:ext cx="12054615" cy="1077218"/>
          </a:xfrm>
          <a:prstGeom prst="rect">
            <a:avLst/>
          </a:prstGeom>
          <a:noFill/>
          <a:ln>
            <a:solidFill>
              <a:schemeClr val="tx1"/>
            </a:solidFill>
          </a:ln>
        </p:spPr>
        <p:txBody>
          <a:bodyPr wrap="square" rtlCol="0">
            <a:spAutoFit/>
          </a:bodyPr>
          <a:lstStyle/>
          <a:p>
            <a:pPr defTabSz="1219170">
              <a:defRPr/>
            </a:pPr>
            <a:r>
              <a:rPr lang="en-US" sz="1600" dirty="0" err="1">
                <a:solidFill>
                  <a:prstClr val="black"/>
                </a:solidFill>
                <a:latin typeface="Times New Roman" panose="02020603050405020304" pitchFamily="18" charset="0"/>
                <a:cs typeface="Times New Roman" panose="02020603050405020304" pitchFamily="18" charset="0"/>
              </a:rPr>
              <a:t>Từ</a:t>
            </a:r>
            <a:r>
              <a:rPr lang="en-US" sz="1600" dirty="0">
                <a:solidFill>
                  <a:prstClr val="black"/>
                </a:solidFill>
                <a:latin typeface="Times New Roman" panose="02020603050405020304" pitchFamily="18" charset="0"/>
                <a:cs typeface="Times New Roman" panose="02020603050405020304" pitchFamily="18" charset="0"/>
              </a:rPr>
              <a:t> 17/03/2025 – 23/03/2025:</a:t>
            </a:r>
          </a:p>
          <a:p>
            <a:pPr marL="380990" indent="-380990" defTabSz="1219170">
              <a:buFont typeface="Times New Roman" panose="02020603050405020304" pitchFamily="18" charset="0"/>
              <a:buChar char="⁃"/>
              <a:defRPr/>
            </a:pPr>
            <a:r>
              <a:rPr lang="en-US" sz="1600" dirty="0" err="1">
                <a:solidFill>
                  <a:prstClr val="black"/>
                </a:solidFill>
                <a:latin typeface="Times New Roman" panose="02020603050405020304" pitchFamily="18" charset="0"/>
                <a:cs typeface="Times New Roman" panose="02020603050405020304" pitchFamily="18" charset="0"/>
              </a:rPr>
              <a:t>Phát</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sinh</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trong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tuần</a:t>
            </a:r>
            <a:r>
              <a:rPr lang="en-US" sz="1600" dirty="0">
                <a:solidFill>
                  <a:prstClr val="black"/>
                </a:solidFill>
                <a:latin typeface="Times New Roman" panose="02020603050405020304" pitchFamily="18" charset="0"/>
                <a:cs typeface="Times New Roman" panose="02020603050405020304" pitchFamily="18" charset="0"/>
              </a:rPr>
              <a:t>: NIL.</a:t>
            </a:r>
          </a:p>
          <a:p>
            <a:pPr marL="380990" indent="-380990">
              <a:buFont typeface="Times New Roman" panose="02020603050405020304" pitchFamily="18" charset="0"/>
              <a:buChar char="⁃"/>
              <a:defRPr/>
            </a:pPr>
            <a:r>
              <a:rPr lang="en-US" sz="1600" dirty="0" err="1">
                <a:solidFill>
                  <a:prstClr val="black"/>
                </a:solidFill>
                <a:latin typeface="Times New Roman" panose="02020603050405020304" pitchFamily="18" charset="0"/>
                <a:cs typeface="Times New Roman" panose="02020603050405020304" pitchFamily="18" charset="0"/>
              </a:rPr>
              <a:t>Đã</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khắc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phục</a:t>
            </a:r>
            <a:r>
              <a:rPr lang="en-US" sz="1600" dirty="0">
                <a:solidFill>
                  <a:prstClr val="black"/>
                </a:solidFill>
                <a:latin typeface="Times New Roman" panose="02020603050405020304" pitchFamily="18" charset="0"/>
                <a:cs typeface="Times New Roman" panose="02020603050405020304" pitchFamily="18" charset="0"/>
              </a:rPr>
              <a:t>: A323 (Wash APU), A605-A331 (</a:t>
            </a:r>
            <a:r>
              <a:rPr lang="en-US" sz="1600" dirty="0" err="1">
                <a:solidFill>
                  <a:prstClr val="black"/>
                </a:solidFill>
                <a:latin typeface="Times New Roman" panose="02020603050405020304" pitchFamily="18" charset="0"/>
                <a:cs typeface="Times New Roman" panose="02020603050405020304" pitchFamily="18" charset="0"/>
              </a:rPr>
              <a:t>thay</a:t>
            </a:r>
            <a:r>
              <a:rPr lang="en-US" sz="1600" dirty="0">
                <a:solidFill>
                  <a:prstClr val="black"/>
                </a:solidFill>
                <a:latin typeface="Times New Roman" panose="02020603050405020304" pitchFamily="18" charset="0"/>
                <a:cs typeface="Times New Roman" panose="02020603050405020304" pitchFamily="18" charset="0"/>
              </a:rPr>
              <a:t> Exciter), A602 (Ops test).</a:t>
            </a:r>
          </a:p>
          <a:p>
            <a:pPr marL="380990" indent="-380990" defTabSz="1219170">
              <a:buFont typeface="Times New Roman" panose="02020603050405020304" pitchFamily="18" charset="0"/>
              <a:buChar char="⁃"/>
              <a:defRPr/>
            </a:pPr>
            <a:r>
              <a:rPr lang="en-US" sz="1600" dirty="0" err="1">
                <a:solidFill>
                  <a:prstClr val="black"/>
                </a:solidFill>
                <a:latin typeface="Times New Roman" panose="02020603050405020304" pitchFamily="18" charset="0"/>
                <a:cs typeface="Times New Roman" panose="02020603050405020304" pitchFamily="18" charset="0"/>
              </a:rPr>
              <a:t>Hiện</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không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có</a:t>
            </a:r>
            <a:r>
              <a:rPr lang="en-US" sz="1600" dirty="0">
                <a:solidFill>
                  <a:prstClr val="black"/>
                </a:solidFill>
                <a:latin typeface="Times New Roman" panose="02020603050405020304" pitchFamily="18" charset="0"/>
                <a:cs typeface="Times New Roman" panose="02020603050405020304" pitchFamily="18" charset="0"/>
              </a:rPr>
              <a:t> APU </a:t>
            </a:r>
            <a:r>
              <a:rPr lang="en-US" sz="1600" dirty="0" err="1">
                <a:solidFill>
                  <a:prstClr val="black"/>
                </a:solidFill>
                <a:latin typeface="Times New Roman" panose="02020603050405020304" pitchFamily="18" charset="0"/>
                <a:cs typeface="Times New Roman" panose="02020603050405020304" pitchFamily="18" charset="0"/>
              </a:rPr>
              <a:t>chờ</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khắc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phục</a:t>
            </a:r>
            <a:r>
              <a:rPr lang="en-US" sz="1600" dirty="0">
                <a:solidFill>
                  <a:prstClr val="black"/>
                </a:solidFill>
                <a:latin typeface="Times New Roman" panose="02020603050405020304" pitchFamily="18" charset="0"/>
                <a:cs typeface="Times New Roman" panose="02020603050405020304" pitchFamily="18" charset="0"/>
              </a:rPr>
              <a:t>.</a:t>
            </a:r>
          </a:p>
        </p:txBody>
      </p:sp>
      <p:graphicFrame>
        <p:nvGraphicFramePr>
          <p:cNvPr id="3" name="Table 2">
            <a:extLst>
              <a:ext uri="{FF2B5EF4-FFF2-40B4-BE49-F238E27FC236}">
                <a16:creationId xmlns:a16="http://schemas.microsoft.com/office/drawing/2014/main" id="{6684DBD8-A2D2-50A1-B1FB-698DABA16090}"/>
              </a:ext>
            </a:extLst>
          </p:cNvPr>
          <p:cNvGraphicFramePr>
            <a:graphicFrameLocks noGrp="1"/>
          </p:cNvGraphicFramePr>
          <p:nvPr/>
        </p:nvGraphicFramePr>
        <p:xfrm>
          <a:off x="61186" y="1787548"/>
          <a:ext cx="12054615" cy="4841852"/>
        </p:xfrm>
        <a:graphic>
          <a:graphicData uri="http://schemas.openxmlformats.org/drawingml/2006/table">
            <a:tbl>
              <a:tblPr firstRow="1" firstCol="1" bandRow="1">
                <a:tableStyleId>{5C22544A-7EE6-4342-B048-85BDC9FD1C3A}</a:tableStyleId>
              </a:tblPr>
              <a:tblGrid>
                <a:gridCol w="635792">
                  <a:extLst>
                    <a:ext uri="{9D8B030D-6E8A-4147-A177-3AD203B41FA5}">
                      <a16:colId xmlns:a16="http://schemas.microsoft.com/office/drawing/2014/main" val="1827702162"/>
                    </a:ext>
                  </a:extLst>
                </a:gridCol>
                <a:gridCol w="1715656">
                  <a:extLst>
                    <a:ext uri="{9D8B030D-6E8A-4147-A177-3AD203B41FA5}">
                      <a16:colId xmlns:a16="http://schemas.microsoft.com/office/drawing/2014/main" val="2395768341"/>
                    </a:ext>
                  </a:extLst>
                </a:gridCol>
                <a:gridCol w="4013376">
                  <a:extLst>
                    <a:ext uri="{9D8B030D-6E8A-4147-A177-3AD203B41FA5}">
                      <a16:colId xmlns:a16="http://schemas.microsoft.com/office/drawing/2014/main" val="4155011410"/>
                    </a:ext>
                  </a:extLst>
                </a:gridCol>
                <a:gridCol w="5689791">
                  <a:extLst>
                    <a:ext uri="{9D8B030D-6E8A-4147-A177-3AD203B41FA5}">
                      <a16:colId xmlns:a16="http://schemas.microsoft.com/office/drawing/2014/main" val="1412321077"/>
                    </a:ext>
                  </a:extLst>
                </a:gridCol>
              </a:tblGrid>
              <a:tr h="418667">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A/C</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pPr>
                      <a:r>
                        <a:rPr lang="en-US" sz="1500" b="1" kern="1200" dirty="0">
                          <a:solidFill>
                            <a:schemeClr val="tx1"/>
                          </a:solidFill>
                          <a:effectLst/>
                          <a:latin typeface="Times New Roman" panose="02020603050405020304" pitchFamily="18" charset="0"/>
                          <a:ea typeface="+mn-ea"/>
                          <a:cs typeface="Times New Roman" panose="02020603050405020304" pitchFamily="18" charset="0"/>
                        </a:rPr>
                        <a:t>Issue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tabLst>
                          <a:tab pos="388620" algn="l"/>
                        </a:tabLst>
                      </a:pPr>
                      <a:r>
                        <a:rPr lang="en-US" sz="1500" b="1" kern="1200" dirty="0">
                          <a:solidFill>
                            <a:schemeClr val="dk1"/>
                          </a:solidFill>
                          <a:effectLst/>
                          <a:latin typeface="Times New Roman" panose="02020603050405020304" pitchFamily="18" charset="0"/>
                          <a:ea typeface="+mn-ea"/>
                          <a:cs typeface="Times New Roman" panose="02020603050405020304" pitchFamily="18" charset="0"/>
                        </a:rPr>
                        <a:t>Troubleshoot action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tabLst>
                          <a:tab pos="388620" algn="l"/>
                        </a:tabLst>
                      </a:pPr>
                      <a:r>
                        <a:rPr lang="en-US" sz="1500" b="1" kern="1200" dirty="0">
                          <a:solidFill>
                            <a:schemeClr val="dk1"/>
                          </a:solidFill>
                          <a:effectLst/>
                          <a:latin typeface="Times New Roman" panose="02020603050405020304" pitchFamily="18" charset="0"/>
                          <a:ea typeface="+mn-ea"/>
                          <a:cs typeface="Times New Roman" panose="02020603050405020304" pitchFamily="18" charset="0"/>
                        </a:rPr>
                        <a:t>Note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35328572"/>
                  </a:ext>
                </a:extLst>
              </a:tr>
              <a:tr h="1474395">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NIL</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A321:</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Hiện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02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đã</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kế</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hoạch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thay</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cho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các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cao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giờ</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Các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BQDB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đã</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A350: Hiện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02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spare.</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B787:</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Hiện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02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spare.</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Đề nghị Vaeco cho kiểm tra ngay khi tàu N/S đối với các tàu 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hỏng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hóc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hoặc</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 báo bad smell và cung cấp WO T/S kịp thời. </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Đã thống nhất quy trình khắc phục APU bad smell. Vaeco ra TI mở ADD “APU Bleed bad smell for Air conditioning”, tổ bay được phép sử dụng APU để khởi động động cơ. Hạn ADD 6 tháng, Vaeco tiếp tục lên lịch T/S. Đã cập nhật nội dung vào FON2</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2</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/061 R0</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4</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 </a:t>
                      </a: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6034225"/>
                  </a:ext>
                </a:extLst>
              </a:tr>
              <a:tr h="1474395">
                <a:tc>
                  <a:txBody>
                    <a:bodyPr/>
                    <a:lstStyle/>
                    <a:p>
                      <a:pPr marL="0" marR="0" algn="ctr">
                        <a:spcBef>
                          <a:spcPts val="0"/>
                        </a:spcBef>
                        <a:spcAft>
                          <a:spcPts val="0"/>
                        </a:spcAft>
                      </a:pPr>
                      <a:endPar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vi-VN"/>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485791511"/>
                  </a:ext>
                </a:extLst>
              </a:tr>
              <a:tr h="1474395">
                <a:tc>
                  <a:txBody>
                    <a:bodyPr/>
                    <a:lstStyle/>
                    <a:p>
                      <a:pPr marL="0" marR="0" algn="ctr">
                        <a:spcBef>
                          <a:spcPts val="0"/>
                        </a:spcBef>
                        <a:spcAft>
                          <a:spcPts val="0"/>
                        </a:spcAft>
                      </a:pPr>
                      <a:endPar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vi-VN"/>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636160297"/>
                  </a:ext>
                </a:extLst>
              </a:tr>
            </a:tbl>
          </a:graphicData>
        </a:graphic>
      </p:graphicFrame>
      <p:sp>
        <p:nvSpPr>
          <p:cNvPr id="5" name="TextBox 4">
            <a:extLst>
              <a:ext uri="{FF2B5EF4-FFF2-40B4-BE49-F238E27FC236}">
                <a16:creationId xmlns:a16="http://schemas.microsoft.com/office/drawing/2014/main" id="{C90E461A-8FB3-5729-0D39-FAC90BDE96E0}"/>
              </a:ext>
            </a:extLst>
          </p:cNvPr>
          <p:cNvSpPr txBox="1"/>
          <p:nvPr/>
        </p:nvSpPr>
        <p:spPr>
          <a:xfrm>
            <a:off x="0" y="4175"/>
            <a:ext cx="10155179"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HỎNG HÓC APU TRONG TUẦN</a:t>
            </a:r>
            <a:endParaRPr lang="en-GB"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3859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84535-CFCE-183F-8794-12D95900EC70}"/>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44E34AA5-0AD7-89EB-D556-85A4E3C161E2}"/>
              </a:ext>
            </a:extLst>
          </p:cNvPr>
          <p:cNvGraphicFramePr>
            <a:graphicFrameLocks noGrp="1"/>
          </p:cNvGraphicFramePr>
          <p:nvPr/>
        </p:nvGraphicFramePr>
        <p:xfrm>
          <a:off x="548320" y="609600"/>
          <a:ext cx="11169547" cy="4419600"/>
        </p:xfrm>
        <a:graphic>
          <a:graphicData uri="http://schemas.openxmlformats.org/drawingml/2006/table">
            <a:tbl>
              <a:tblPr firstRow="1" bandRow="1">
                <a:tableStyleId>{7DF18680-E054-41AD-8BC1-D1AEF772440D}</a:tableStyleId>
              </a:tblPr>
              <a:tblGrid>
                <a:gridCol w="1801539">
                  <a:extLst>
                    <a:ext uri="{9D8B030D-6E8A-4147-A177-3AD203B41FA5}">
                      <a16:colId xmlns:a16="http://schemas.microsoft.com/office/drawing/2014/main" val="1598605427"/>
                    </a:ext>
                  </a:extLst>
                </a:gridCol>
                <a:gridCol w="1692295">
                  <a:extLst>
                    <a:ext uri="{9D8B030D-6E8A-4147-A177-3AD203B41FA5}">
                      <a16:colId xmlns:a16="http://schemas.microsoft.com/office/drawing/2014/main" val="3845954792"/>
                    </a:ext>
                  </a:extLst>
                </a:gridCol>
                <a:gridCol w="3352017">
                  <a:extLst>
                    <a:ext uri="{9D8B030D-6E8A-4147-A177-3AD203B41FA5}">
                      <a16:colId xmlns:a16="http://schemas.microsoft.com/office/drawing/2014/main" val="2148822928"/>
                    </a:ext>
                  </a:extLst>
                </a:gridCol>
                <a:gridCol w="2161848">
                  <a:extLst>
                    <a:ext uri="{9D8B030D-6E8A-4147-A177-3AD203B41FA5}">
                      <a16:colId xmlns:a16="http://schemas.microsoft.com/office/drawing/2014/main" val="1106888684"/>
                    </a:ext>
                  </a:extLst>
                </a:gridCol>
                <a:gridCol w="2161848">
                  <a:extLst>
                    <a:ext uri="{9D8B030D-6E8A-4147-A177-3AD203B41FA5}">
                      <a16:colId xmlns:a16="http://schemas.microsoft.com/office/drawing/2014/main" val="571731565"/>
                    </a:ext>
                  </a:extLst>
                </a:gridCol>
              </a:tblGrid>
              <a:tr h="422730">
                <a:tc>
                  <a:txBody>
                    <a:bodyPr/>
                    <a:lstStyle/>
                    <a:p>
                      <a:pPr algn="ctr" fontAlgn="ctr"/>
                      <a:r>
                        <a:rPr lang="en-US" sz="1500" u="none" strike="noStrike">
                          <a:solidFill>
                            <a:schemeClr val="bg1"/>
                          </a:solidFill>
                          <a:effectLst/>
                          <a:latin typeface="Times New Roman" panose="02020603050405020304" pitchFamily="18" charset="0"/>
                          <a:cs typeface="Times New Roman" panose="02020603050405020304" pitchFamily="18" charset="0"/>
                        </a:rPr>
                        <a:t>APU S/N</a:t>
                      </a:r>
                      <a:endParaRPr lang="en-US"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u="none" strike="noStrike">
                          <a:solidFill>
                            <a:schemeClr val="bg1"/>
                          </a:solidFill>
                          <a:effectLst/>
                          <a:latin typeface="Times New Roman" panose="02020603050405020304" pitchFamily="18" charset="0"/>
                          <a:cs typeface="Times New Roman" panose="02020603050405020304" pitchFamily="18" charset="0"/>
                        </a:rPr>
                        <a:t>Shop</a:t>
                      </a:r>
                      <a:endParaRPr lang="en-US"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dirty="0">
                          <a:solidFill>
                            <a:schemeClr val="bg1"/>
                          </a:solidFill>
                          <a:effectLst/>
                          <a:latin typeface="Times New Roman" panose="02020603050405020304" pitchFamily="18" charset="0"/>
                          <a:cs typeface="Times New Roman" panose="02020603050405020304" pitchFamily="18" charset="0"/>
                        </a:rPr>
                        <a:t>Induction date</a:t>
                      </a:r>
                      <a:endParaRPr lang="vi-VN"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Dự</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kiến</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ngày</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về</a:t>
                      </a:r>
                      <a:endParaRPr lang="vi-VN"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a:solidFill>
                            <a:schemeClr val="bg1"/>
                          </a:solidFill>
                          <a:effectLst/>
                          <a:latin typeface="Times New Roman" panose="02020603050405020304" pitchFamily="18" charset="0"/>
                          <a:cs typeface="Times New Roman" panose="02020603050405020304" pitchFamily="18" charset="0"/>
                        </a:rPr>
                        <a:t>Dự kiến dùng cho tàu</a:t>
                      </a:r>
                      <a:endParaRPr lang="vi-VN"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extLst>
                  <a:ext uri="{0D108BD9-81ED-4DB2-BD59-A6C34878D82A}">
                    <a16:rowId xmlns:a16="http://schemas.microsoft.com/office/drawing/2014/main" val="1234812354"/>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P-4541</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EPCOR</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22-May-24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25-Mar-24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A329</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3716492321"/>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P-5207</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19-Feb-25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10-Apr-25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A606</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3841585950"/>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P-2973</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Not inducted</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N/A</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A620</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702873862"/>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P-6032</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Not inducted</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N/A</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A605</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28517020"/>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P-5295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Not inducted</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N/A</a:t>
                      </a:r>
                    </a:p>
                  </a:txBody>
                  <a:tcPr marL="12700" marR="12700" marT="12700" marB="0" anchor="ctr">
                    <a:solidFill>
                      <a:schemeClr val="accent1">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A396</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728158122"/>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P-8607</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AMECO</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Not inducted</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N/A</a:t>
                      </a:r>
                    </a:p>
                  </a:txBody>
                  <a:tcPr marL="12700" marR="12700" marT="12700" marB="0" anchor="ctr">
                    <a:solidFill>
                      <a:schemeClr val="accent1">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A390</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1694765632"/>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PWC-Z925500</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22-Dec-24</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15-Apr-25</a:t>
                      </a:r>
                    </a:p>
                  </a:txBody>
                  <a:tcPr marL="12700" marR="12700" marT="12700" marB="0" anchor="ctr">
                    <a:solidFill>
                      <a:schemeClr val="accent6">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A869</a:t>
                      </a:r>
                    </a:p>
                  </a:txBody>
                  <a:tcPr marL="12700" marR="12700" marT="12700" marB="0" anchor="ctr">
                    <a:solidFill>
                      <a:schemeClr val="accent6">
                        <a:lumMod val="20000"/>
                        <a:lumOff val="80000"/>
                      </a:schemeClr>
                    </a:solidFill>
                  </a:tcPr>
                </a:tc>
                <a:extLst>
                  <a:ext uri="{0D108BD9-81ED-4DB2-BD59-A6C34878D82A}">
                    <a16:rowId xmlns:a16="http://schemas.microsoft.com/office/drawing/2014/main" val="3190860515"/>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PWC-Z926122</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14-Mar-24</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05-Apr-25</a:t>
                      </a:r>
                    </a:p>
                  </a:txBody>
                  <a:tcPr marL="12700" marR="12700" marT="12700" marB="0" anchor="ctr">
                    <a:solidFill>
                      <a:schemeClr val="accent6">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A871</a:t>
                      </a:r>
                    </a:p>
                  </a:txBody>
                  <a:tcPr marL="12700" marR="12700" marT="12700" marB="0" anchor="ctr">
                    <a:solidFill>
                      <a:schemeClr val="accent6">
                        <a:lumMod val="20000"/>
                        <a:lumOff val="80000"/>
                      </a:schemeClr>
                    </a:solidFill>
                  </a:tcPr>
                </a:tc>
                <a:extLst>
                  <a:ext uri="{0D108BD9-81ED-4DB2-BD59-A6C34878D82A}">
                    <a16:rowId xmlns:a16="http://schemas.microsoft.com/office/drawing/2014/main" val="2901684868"/>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P-00263</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LUFTHANSA</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17-Mar-25</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30-Apr-25</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A886</a:t>
                      </a:r>
                    </a:p>
                  </a:txBody>
                  <a:tcPr marL="12700" marR="12700" marT="12700" marB="0" anchor="ctr">
                    <a:solidFill>
                      <a:schemeClr val="accent2">
                        <a:lumMod val="40000"/>
                        <a:lumOff val="60000"/>
                      </a:schemeClr>
                    </a:solidFill>
                  </a:tcPr>
                </a:tc>
                <a:extLst>
                  <a:ext uri="{0D108BD9-81ED-4DB2-BD59-A6C34878D82A}">
                    <a16:rowId xmlns:a16="http://schemas.microsoft.com/office/drawing/2014/main" val="148885825"/>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P-00194</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LUFTHANSA</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26-Mar-25</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15-Jun-25</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A892</a:t>
                      </a:r>
                    </a:p>
                  </a:txBody>
                  <a:tcPr marL="12700" marR="12700" marT="12700" marB="0" anchor="ctr">
                    <a:solidFill>
                      <a:schemeClr val="accent2">
                        <a:lumMod val="40000"/>
                        <a:lumOff val="60000"/>
                      </a:schemeClr>
                    </a:solidFill>
                  </a:tcPr>
                </a:tc>
                <a:extLst>
                  <a:ext uri="{0D108BD9-81ED-4DB2-BD59-A6C34878D82A}">
                    <a16:rowId xmlns:a16="http://schemas.microsoft.com/office/drawing/2014/main" val="2828264085"/>
                  </a:ext>
                </a:extLst>
              </a:tr>
            </a:tbl>
          </a:graphicData>
        </a:graphic>
      </p:graphicFrame>
      <p:sp>
        <p:nvSpPr>
          <p:cNvPr id="3" name="TextBox 2">
            <a:extLst>
              <a:ext uri="{FF2B5EF4-FFF2-40B4-BE49-F238E27FC236}">
                <a16:creationId xmlns:a16="http://schemas.microsoft.com/office/drawing/2014/main" id="{683815DC-3726-60C6-9F9A-C1A095C6A727}"/>
              </a:ext>
            </a:extLst>
          </p:cNvPr>
          <p:cNvSpPr txBox="1"/>
          <p:nvPr/>
        </p:nvSpPr>
        <p:spPr>
          <a:xfrm>
            <a:off x="508019" y="5151765"/>
            <a:ext cx="11169547" cy="1241622"/>
          </a:xfrm>
          <a:prstGeom prst="rect">
            <a:avLst/>
          </a:prstGeom>
          <a:noFill/>
        </p:spPr>
        <p:txBody>
          <a:bodyPr wrap="square" rtlCol="0">
            <a:spAutoFit/>
          </a:bodyPr>
          <a:lstStyle/>
          <a:p>
            <a:pPr defTabSz="1219170">
              <a:defRPr/>
            </a:pPr>
            <a:r>
              <a:rPr lang="en-US" sz="1867" b="1" dirty="0" err="1">
                <a:solidFill>
                  <a:prstClr val="black"/>
                </a:solidFill>
                <a:latin typeface="Times New Roman" panose="02020603050405020304" pitchFamily="18" charset="0"/>
                <a:cs typeface="Times New Roman" panose="02020603050405020304" pitchFamily="18" charset="0"/>
              </a:rPr>
              <a:t>Đánh</a:t>
            </a:r>
            <a:r>
              <a:rPr lang="en-US" sz="1867" b="1" dirty="0">
                <a:solidFill>
                  <a:prstClr val="black"/>
                </a:solidFill>
                <a:latin typeface="Times New Roman" panose="02020603050405020304" pitchFamily="18" charset="0"/>
                <a:cs typeface="Times New Roman" panose="02020603050405020304" pitchFamily="18" charset="0"/>
              </a:rPr>
              <a:t> </a:t>
            </a:r>
            <a:r>
              <a:rPr lang="en-US" sz="1867" b="1" dirty="0" err="1">
                <a:solidFill>
                  <a:prstClr val="black"/>
                </a:solidFill>
                <a:latin typeface="Times New Roman" panose="02020603050405020304" pitchFamily="18" charset="0"/>
                <a:cs typeface="Times New Roman" panose="02020603050405020304" pitchFamily="18" charset="0"/>
              </a:rPr>
              <a:t>giá</a:t>
            </a:r>
            <a:r>
              <a:rPr lang="en-US" sz="1867" b="1" dirty="0">
                <a:solidFill>
                  <a:prstClr val="black"/>
                </a:solidFill>
                <a:latin typeface="Times New Roman" panose="02020603050405020304" pitchFamily="18" charset="0"/>
                <a:cs typeface="Times New Roman" panose="02020603050405020304" pitchFamily="18" charset="0"/>
              </a:rPr>
              <a:t>:</a:t>
            </a:r>
          </a:p>
          <a:p>
            <a:pPr marL="990575" lvl="1" indent="-380990" defTabSz="1219170">
              <a:buFont typeface="Arial" panose="020B0604020202020204" pitchFamily="34" charset="0"/>
              <a:buChar char="•"/>
              <a:defRPr/>
            </a:pPr>
            <a:r>
              <a:rPr lang="en-US" sz="1867" dirty="0" err="1">
                <a:solidFill>
                  <a:prstClr val="black"/>
                </a:solidFill>
                <a:latin typeface="Times New Roman" panose="02020603050405020304" pitchFamily="18" charset="0"/>
                <a:cs typeface="Times New Roman" panose="02020603050405020304" pitchFamily="18" charset="0"/>
              </a:rPr>
              <a:t>Đội</a:t>
            </a:r>
            <a:r>
              <a:rPr lang="en-US" sz="1867" dirty="0">
                <a:solidFill>
                  <a:prstClr val="black"/>
                </a:solidFill>
                <a:latin typeface="Times New Roman" panose="02020603050405020304" pitchFamily="18" charset="0"/>
                <a:cs typeface="Times New Roman" panose="02020603050405020304" pitchFamily="18" charset="0"/>
              </a:rPr>
              <a:t> bay A321: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rủi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ro</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ảnh</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hưởng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khai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thác</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t>
            </a:r>
          </a:p>
          <a:p>
            <a:pPr marL="990575" lvl="1" indent="-380990">
              <a:buFont typeface="Arial" panose="020B0604020202020204" pitchFamily="34" charset="0"/>
              <a:buChar char="•"/>
              <a:defRPr/>
            </a:pP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Đội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bay A350: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rủi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ro</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ảnh</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hưởng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khai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thác</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t>
            </a:r>
          </a:p>
          <a:p>
            <a:pPr marL="990575" lvl="1" indent="-380990" defTabSz="1219170">
              <a:buFont typeface="Arial" panose="020B0604020202020204" pitchFamily="34" charset="0"/>
              <a:buChar char="•"/>
              <a:defRPr/>
            </a:pP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Đội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bay B787: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rủi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ro</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ảnh</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hưởng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khai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thác</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t>
            </a:r>
          </a:p>
        </p:txBody>
      </p:sp>
      <p:sp>
        <p:nvSpPr>
          <p:cNvPr id="4" name="TextBox 3">
            <a:extLst>
              <a:ext uri="{FF2B5EF4-FFF2-40B4-BE49-F238E27FC236}">
                <a16:creationId xmlns:a16="http://schemas.microsoft.com/office/drawing/2014/main" id="{2A0F6081-1E4E-10D7-02C6-BC54E456A673}"/>
              </a:ext>
            </a:extLst>
          </p:cNvPr>
          <p:cNvSpPr txBox="1"/>
          <p:nvPr/>
        </p:nvSpPr>
        <p:spPr>
          <a:xfrm>
            <a:off x="1" y="1"/>
            <a:ext cx="7521623"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TÌNH TRẠNG SỬA CHỮA APU TẠI SHOP</a:t>
            </a:r>
            <a:endParaRPr lang="en-GB"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05058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7" name="Google Shape;77;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D2A43B"/>
              </a:buClr>
              <a:buSzPts val="1200"/>
              <a:buFont typeface="Montserrat"/>
              <a:buNone/>
            </a:pPr>
            <a:fld id="{00000000-1234-1234-1234-123412341234}" type="slidenum">
              <a:rPr lang="en-US"/>
              <a:t>34</a:t>
            </a:fld>
            <a:endParaRPr dirty="0"/>
          </a:p>
        </p:txBody>
      </p:sp>
      <p:sp>
        <p:nvSpPr>
          <p:cNvPr id="76" name="Google Shape;76;p2"/>
          <p:cNvSpPr txBox="1">
            <a:spLocks noGrp="1"/>
          </p:cNvSpPr>
          <p:nvPr>
            <p:ph type="title"/>
          </p:nvPr>
        </p:nvSpPr>
        <p:spPr>
          <a:xfrm>
            <a:off x="762001" y="283335"/>
            <a:ext cx="9777833" cy="4572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sz="2400" b="1" dirty="0">
                <a:solidFill>
                  <a:srgbClr val="FFC000"/>
                </a:solidFill>
                <a:latin typeface="Times New Roman" panose="02020603050405020304" pitchFamily="18" charset="0"/>
                <a:cs typeface="Times New Roman" panose="02020603050405020304" pitchFamily="18" charset="0"/>
              </a:rPr>
              <a:t>CÁC TÀU BQDB VÀ ĐANG TRONG BẢO DƯỠNG ĐỊNH KỲ (BD</a:t>
            </a:r>
            <a:r>
              <a:rPr lang="en-US" sz="2400" dirty="0">
                <a:solidFill>
                  <a:srgbClr val="FFC000"/>
                </a:solidFill>
                <a:latin typeface="Times New Roman" panose="02020603050405020304" pitchFamily="18" charset="0"/>
                <a:cs typeface="Times New Roman" panose="02020603050405020304" pitchFamily="18" charset="0"/>
              </a:rPr>
              <a:t>Đ</a:t>
            </a:r>
            <a:r>
              <a:rPr lang="en-US" sz="2400" b="1" dirty="0">
                <a:solidFill>
                  <a:srgbClr val="FFC000"/>
                </a:solidFill>
                <a:latin typeface="Times New Roman" panose="02020603050405020304" pitchFamily="18" charset="0"/>
                <a:cs typeface="Times New Roman" panose="02020603050405020304" pitchFamily="18" charset="0"/>
              </a:rPr>
              <a:t>K)</a:t>
            </a:r>
            <a:endParaRPr sz="2400" b="0" dirty="0">
              <a:solidFill>
                <a:srgbClr val="FFC000"/>
              </a:solidFill>
              <a:latin typeface="Times New Roman" panose="02020603050405020304" pitchFamily="18" charset="0"/>
              <a:cs typeface="Times New Roman" panose="02020603050405020304" pitchFamily="18" charset="0"/>
            </a:endParaRPr>
          </a:p>
        </p:txBody>
      </p:sp>
      <p:sp>
        <p:nvSpPr>
          <p:cNvPr id="5" name="Google Shape;75;p2">
            <a:extLst>
              <a:ext uri="{FF2B5EF4-FFF2-40B4-BE49-F238E27FC236}">
                <a16:creationId xmlns:a16="http://schemas.microsoft.com/office/drawing/2014/main" id="{637BC1EA-95C9-6D4F-9E46-CF744FAC7800}"/>
              </a:ext>
            </a:extLst>
          </p:cNvPr>
          <p:cNvSpPr txBox="1">
            <a:spLocks/>
          </p:cNvSpPr>
          <p:nvPr/>
        </p:nvSpPr>
        <p:spPr>
          <a:xfrm>
            <a:off x="152400" y="717498"/>
            <a:ext cx="10512582" cy="1873302"/>
          </a:xfrm>
          <a:prstGeom prst="rect">
            <a:avLst/>
          </a:prstGeom>
          <a:noFill/>
          <a:ln>
            <a:noFill/>
          </a:ln>
        </p:spPr>
        <p:txBody>
          <a:bodyPr spcFirstLastPara="1" wrap="square" lIns="91425" tIns="45700" rIns="91425" bIns="457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gn="just">
              <a:buSzPts val="1100"/>
              <a:buFont typeface="Arial" panose="020B0604020202020204" pitchFamily="34" charset="0"/>
              <a:buNone/>
            </a:pPr>
            <a:r>
              <a:rPr lang="en-US" sz="1600" b="1" dirty="0">
                <a:cs typeface="Times New Roman" panose="02020603050405020304" pitchFamily="18" charset="0"/>
              </a:rPr>
              <a:t>BQDB: </a:t>
            </a:r>
            <a:r>
              <a:rPr lang="pt-BR" sz="1600" b="1" dirty="0">
                <a:cs typeface="Times New Roman" panose="02020603050405020304" pitchFamily="18" charset="0"/>
              </a:rPr>
              <a:t>HAN (A501/03/05/06/08/10/11/16, A620/22/23/24/25, A886/887/895/898) /</a:t>
            </a:r>
            <a:r>
              <a:rPr lang="pt-BR" sz="1600" b="1" dirty="0">
                <a:solidFill>
                  <a:schemeClr val="accent1">
                    <a:lumMod val="75000"/>
                  </a:schemeClr>
                </a:solidFill>
                <a:cs typeface="Times New Roman" panose="02020603050405020304" pitchFamily="18" charset="0"/>
              </a:rPr>
              <a:t> SGN (A617, A509).</a:t>
            </a:r>
            <a:endParaRPr lang="en-US" sz="1600" b="1" dirty="0">
              <a:cs typeface="Times New Roman" panose="02020603050405020304" pitchFamily="18" charset="0"/>
            </a:endParaRPr>
          </a:p>
          <a:p>
            <a:pPr marL="12700" indent="0" algn="just">
              <a:buSzPts val="1100"/>
              <a:buFont typeface="Arial" panose="020B0604020202020204" pitchFamily="34" charset="0"/>
              <a:buNone/>
            </a:pPr>
            <a:r>
              <a:rPr lang="en-US" sz="1600" b="1" dirty="0">
                <a:cs typeface="Times New Roman" panose="02020603050405020304" pitchFamily="18" charset="0"/>
              </a:rPr>
              <a:t>BDĐK: A321: Nil;</a:t>
            </a:r>
          </a:p>
          <a:p>
            <a:pPr marL="12700" indent="0" algn="just">
              <a:buSzPts val="1100"/>
              <a:buFont typeface="Arial" panose="020B0604020202020204" pitchFamily="34" charset="0"/>
              <a:buNone/>
            </a:pPr>
            <a:r>
              <a:rPr lang="en-US" sz="1600" b="1" dirty="0">
                <a:solidFill>
                  <a:schemeClr val="accent1"/>
                </a:solidFill>
                <a:cs typeface="Times New Roman" panose="02020603050405020304" pitchFamily="18" charset="0"/>
              </a:rPr>
              <a:t>              </a:t>
            </a:r>
            <a:r>
              <a:rPr lang="en-US" sz="1600" b="1" dirty="0">
                <a:cs typeface="Times New Roman" panose="02020603050405020304" pitchFamily="18" charset="0"/>
              </a:rPr>
              <a:t>A350: A890;</a:t>
            </a:r>
          </a:p>
          <a:p>
            <a:pPr marL="12700" indent="0" algn="just">
              <a:buSzPts val="1100"/>
              <a:buFont typeface="Arial" panose="020B0604020202020204" pitchFamily="34" charset="0"/>
              <a:buNone/>
            </a:pPr>
            <a:r>
              <a:rPr lang="en-US" sz="1600" b="1" dirty="0">
                <a:cs typeface="Times New Roman" panose="02020603050405020304" pitchFamily="18" charset="0"/>
              </a:rPr>
              <a:t>              ATR72: Nil;</a:t>
            </a:r>
          </a:p>
          <a:p>
            <a:pPr marL="12700" indent="0" algn="just">
              <a:buClr>
                <a:schemeClr val="dk1"/>
              </a:buClr>
              <a:buSzPts val="1100"/>
              <a:buFont typeface="Arial" panose="020B0604020202020204" pitchFamily="34" charset="0"/>
              <a:buNone/>
            </a:pPr>
            <a:r>
              <a:rPr lang="en-US" sz="1600" b="1" dirty="0">
                <a:cs typeface="Times New Roman" panose="02020603050405020304" pitchFamily="18" charset="0"/>
              </a:rPr>
              <a:t>              B787: A864, A867;</a:t>
            </a:r>
            <a:endParaRPr lang="en-US" sz="1600" dirty="0">
              <a:cs typeface="Times New Roman" panose="02020603050405020304" pitchFamily="18" charset="0"/>
              <a:sym typeface="Wingdings" panose="05000000000000000000" pitchFamily="2" charset="2"/>
            </a:endParaRPr>
          </a:p>
          <a:p>
            <a:pPr marL="12700" indent="0" algn="just">
              <a:buSzPts val="1100"/>
              <a:buNone/>
            </a:pPr>
            <a:endParaRPr lang="es-ES" sz="1600" dirty="0">
              <a:cs typeface="Times New Roman" panose="02020603050405020304" pitchFamily="18" charset="0"/>
              <a:sym typeface="Wingdings" panose="05000000000000000000" pitchFamily="2" charset="2"/>
            </a:endParaRPr>
          </a:p>
        </p:txBody>
      </p:sp>
      <p:sp>
        <p:nvSpPr>
          <p:cNvPr id="6" name="Google Shape;75;p2">
            <a:extLst>
              <a:ext uri="{FF2B5EF4-FFF2-40B4-BE49-F238E27FC236}">
                <a16:creationId xmlns:a16="http://schemas.microsoft.com/office/drawing/2014/main" id="{637BC1EA-95C9-6D4F-9E46-CF744FAC7800}"/>
              </a:ext>
            </a:extLst>
          </p:cNvPr>
          <p:cNvSpPr txBox="1">
            <a:spLocks/>
          </p:cNvSpPr>
          <p:nvPr/>
        </p:nvSpPr>
        <p:spPr>
          <a:xfrm>
            <a:off x="228599" y="2590800"/>
            <a:ext cx="11068012" cy="3971626"/>
          </a:xfrm>
          <a:prstGeom prst="rect">
            <a:avLst/>
          </a:prstGeom>
          <a:noFill/>
          <a:ln>
            <a:noFill/>
          </a:ln>
        </p:spPr>
        <p:txBody>
          <a:bodyPr spcFirstLastPara="1" wrap="square" lIns="91425" tIns="45700" rIns="91425" bIns="457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gn="just">
              <a:buClr>
                <a:schemeClr val="dk1"/>
              </a:buClr>
              <a:buSzPts val="1100"/>
              <a:buNone/>
            </a:pPr>
            <a:r>
              <a:rPr lang="en-US" sz="1600" b="1" dirty="0">
                <a:cs typeface="Times New Roman" panose="02020603050405020304" pitchFamily="18" charset="0"/>
              </a:rPr>
              <a:t>I. A321: </a:t>
            </a:r>
          </a:p>
          <a:p>
            <a:pPr marL="12700" indent="0" algn="just">
              <a:lnSpc>
                <a:spcPct val="100000"/>
              </a:lnSpc>
              <a:buSzPts val="1100"/>
              <a:buNone/>
            </a:pPr>
            <a:r>
              <a:rPr lang="es-ES" sz="1600" b="1" dirty="0">
                <a:solidFill>
                  <a:srgbClr val="FF0000"/>
                </a:solidFill>
                <a:cs typeface="Times New Roman" panose="02020603050405020304" pitchFamily="18" charset="0"/>
                <a:sym typeface="Wingdings" panose="05000000000000000000" pitchFamily="2" charset="2"/>
              </a:rPr>
              <a:t>    </a:t>
            </a:r>
            <a:r>
              <a:rPr lang="en-US" sz="1600" b="1" dirty="0">
                <a:solidFill>
                  <a:srgbClr val="FF0000"/>
                </a:solidFill>
                <a:cs typeface="Times New Roman" panose="02020603050405020304" pitchFamily="18" charset="0"/>
                <a:sym typeface="Wingdings" panose="05000000000000000000" pitchFamily="2" charset="2"/>
              </a:rPr>
              <a:t>Nil</a:t>
            </a:r>
            <a:endParaRPr lang="es-ES" sz="1600" dirty="0">
              <a:cs typeface="Times New Roman" panose="02020603050405020304" pitchFamily="18" charset="0"/>
              <a:sym typeface="Wingdings" panose="05000000000000000000" pitchFamily="2" charset="2"/>
            </a:endParaRPr>
          </a:p>
          <a:p>
            <a:pPr marL="12700" indent="0" algn="just">
              <a:lnSpc>
                <a:spcPct val="100000"/>
              </a:lnSpc>
              <a:buSzPts val="1100"/>
              <a:buNone/>
            </a:pPr>
            <a:endParaRPr lang="es-ES" sz="1600" b="1" dirty="0">
              <a:solidFill>
                <a:srgbClr val="FF0000"/>
              </a:solidFill>
              <a:cs typeface="Times New Roman" panose="02020603050405020304" pitchFamily="18" charset="0"/>
              <a:sym typeface="Wingdings" panose="05000000000000000000" pitchFamily="2" charset="2"/>
            </a:endParaRPr>
          </a:p>
          <a:p>
            <a:pPr marL="12700" indent="0">
              <a:lnSpc>
                <a:spcPct val="120000"/>
              </a:lnSpc>
              <a:buSzPts val="1100"/>
              <a:buNone/>
            </a:pPr>
            <a:r>
              <a:rPr lang="en-US" sz="1600" b="1" dirty="0">
                <a:cs typeface="Times New Roman" panose="02020603050405020304" pitchFamily="18" charset="0"/>
              </a:rPr>
              <a:t>II. A350:</a:t>
            </a:r>
            <a:r>
              <a:rPr lang="es-ES" sz="1600" i="1" dirty="0">
                <a:cs typeface="Times New Roman" panose="02020603050405020304" pitchFamily="18" charset="0"/>
                <a:sym typeface="Wingdings" panose="05000000000000000000" pitchFamily="2" charset="2"/>
              </a:rPr>
              <a:t> </a:t>
            </a:r>
          </a:p>
          <a:p>
            <a:pPr marL="355600" indent="-342900" algn="just">
              <a:buSzPts val="1100"/>
              <a:buAutoNum type="arabicPeriod"/>
            </a:pPr>
            <a:r>
              <a:rPr lang="en-US" sz="1600" b="1" dirty="0">
                <a:solidFill>
                  <a:srgbClr val="FF0000"/>
                </a:solidFill>
                <a:cs typeface="Times New Roman" panose="02020603050405020304" pitchFamily="18" charset="0"/>
                <a:sym typeface="Wingdings" panose="05000000000000000000" pitchFamily="2" charset="2"/>
              </a:rPr>
              <a:t>A890_HAN_A11+EVENTS_15-24/03: On sked.</a:t>
            </a:r>
          </a:p>
          <a:p>
            <a:pPr marL="12700" indent="0" algn="just">
              <a:buSzPts val="1100"/>
              <a:buNone/>
            </a:pPr>
            <a:r>
              <a:rPr lang="en-US" sz="1600" dirty="0">
                <a:cs typeface="Times New Roman" panose="02020603050405020304" pitchFamily="18" charset="0"/>
                <a:sym typeface="Wingdings" panose="05000000000000000000" pitchFamily="2" charset="2"/>
              </a:rPr>
              <a:t>   - </a:t>
            </a:r>
            <a:r>
              <a:rPr lang="en-US" sz="1600" dirty="0" err="1">
                <a:cs typeface="Times New Roman" panose="02020603050405020304" pitchFamily="18" charset="0"/>
                <a:sym typeface="Wingdings" panose="05000000000000000000" pitchFamily="2" charset="2"/>
              </a:rPr>
              <a:t>Triển</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khai</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thực</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hiện</a:t>
            </a:r>
            <a:r>
              <a:rPr lang="en-US" sz="1600" dirty="0">
                <a:cs typeface="Times New Roman" panose="02020603050405020304" pitchFamily="18" charset="0"/>
                <a:sym typeface="Wingdings" panose="05000000000000000000" pitchFamily="2" charset="2"/>
              </a:rPr>
              <a:t> Task A11 +  Task bị defer </a:t>
            </a:r>
            <a:r>
              <a:rPr lang="en-US" sz="1600" dirty="0" err="1">
                <a:cs typeface="Times New Roman" panose="02020603050405020304" pitchFamily="18" charset="0"/>
                <a:sym typeface="Wingdings" panose="05000000000000000000" pitchFamily="2" charset="2"/>
              </a:rPr>
              <a:t>của</a:t>
            </a:r>
            <a:r>
              <a:rPr lang="en-US" sz="1600" dirty="0">
                <a:cs typeface="Times New Roman" panose="02020603050405020304" pitchFamily="18" charset="0"/>
                <a:sym typeface="Wingdings" panose="05000000000000000000" pitchFamily="2" charset="2"/>
              </a:rPr>
              <a:t> Check C02, C01 + Thay Shackle </a:t>
            </a:r>
            <a:r>
              <a:rPr lang="en-US" sz="1600" dirty="0" err="1">
                <a:cs typeface="Times New Roman" panose="02020603050405020304" pitchFamily="18" charset="0"/>
                <a:sym typeface="Wingdings" panose="05000000000000000000" pitchFamily="2" charset="2"/>
              </a:rPr>
              <a:t>đê</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hạn</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chê</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tối</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đa</a:t>
            </a:r>
            <a:r>
              <a:rPr lang="en-US" sz="1600" dirty="0">
                <a:cs typeface="Times New Roman" panose="02020603050405020304" pitchFamily="18" charset="0"/>
                <a:sym typeface="Wingdings" panose="05000000000000000000" pitchFamily="2" charset="2"/>
              </a:rPr>
              <a:t> ground time </a:t>
            </a:r>
            <a:r>
              <a:rPr lang="en-US" sz="1600" dirty="0" err="1">
                <a:cs typeface="Times New Roman" panose="02020603050405020304" pitchFamily="18" charset="0"/>
                <a:sym typeface="Wingdings" panose="05000000000000000000" pitchFamily="2" charset="2"/>
              </a:rPr>
              <a:t>trước</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Tết</a:t>
            </a:r>
            <a:r>
              <a:rPr lang="en-US" sz="1600" dirty="0">
                <a:cs typeface="Times New Roman" panose="02020603050405020304" pitchFamily="18" charset="0"/>
                <a:sym typeface="Wingdings" panose="05000000000000000000" pitchFamily="2" charset="2"/>
              </a:rPr>
              <a:t>.  </a:t>
            </a:r>
          </a:p>
          <a:p>
            <a:pPr marL="12700" indent="0" algn="just">
              <a:buSzPts val="1100"/>
              <a:buNone/>
            </a:pPr>
            <a:r>
              <a:rPr lang="en-US" sz="1600" dirty="0">
                <a:cs typeface="Times New Roman" panose="02020603050405020304" pitchFamily="18" charset="0"/>
                <a:sym typeface="Wingdings" panose="05000000000000000000" pitchFamily="2" charset="2"/>
              </a:rPr>
              <a:t>   - Est Service 16h00, 24/03.</a:t>
            </a:r>
          </a:p>
          <a:p>
            <a:pPr marL="12700" indent="0" algn="just">
              <a:buSzPts val="1100"/>
              <a:buNone/>
            </a:pPr>
            <a:endParaRPr lang="en-US" sz="1600" b="1" dirty="0">
              <a:solidFill>
                <a:srgbClr val="FF0000"/>
              </a:solidFill>
              <a:cs typeface="Times New Roman" panose="02020603050405020304" pitchFamily="18" charset="0"/>
              <a:sym typeface="Wingdings" panose="05000000000000000000" pitchFamily="2" charset="2"/>
            </a:endParaRPr>
          </a:p>
          <a:p>
            <a:pPr marL="12700" indent="0" algn="just">
              <a:buSzPts val="1100"/>
              <a:buFont typeface="Arial" panose="020B0604020202020204" pitchFamily="34" charset="0"/>
              <a:buNone/>
            </a:pPr>
            <a:r>
              <a:rPr lang="es-ES" sz="1600" b="1" dirty="0">
                <a:cs typeface="Times New Roman" panose="02020603050405020304" pitchFamily="18" charset="0"/>
                <a:sym typeface="Wingdings" panose="05000000000000000000" pitchFamily="2" charset="2"/>
              </a:rPr>
              <a:t>III. ATR72</a:t>
            </a:r>
          </a:p>
          <a:p>
            <a:pPr marL="12700" indent="0" algn="just">
              <a:buSzPts val="1100"/>
              <a:buFont typeface="Arial" panose="020B0604020202020204" pitchFamily="34" charset="0"/>
              <a:buNone/>
            </a:pPr>
            <a:r>
              <a:rPr lang="es-ES" sz="1600" b="1" dirty="0">
                <a:solidFill>
                  <a:srgbClr val="FF0000"/>
                </a:solidFill>
                <a:cs typeface="Times New Roman" panose="02020603050405020304" pitchFamily="18" charset="0"/>
                <a:sym typeface="Wingdings" panose="05000000000000000000" pitchFamily="2" charset="2"/>
              </a:rPr>
              <a:t>Nil</a:t>
            </a:r>
            <a:endParaRPr lang="en-US" sz="1600" b="1" dirty="0">
              <a:solidFill>
                <a:srgbClr val="FF0000"/>
              </a:solidFill>
              <a:cs typeface="Times New Roman" panose="02020603050405020304" pitchFamily="18" charset="0"/>
              <a:sym typeface="Wingdings" panose="05000000000000000000" pitchFamily="2" charset="2"/>
            </a:endParaRPr>
          </a:p>
          <a:p>
            <a:pPr marL="12700" indent="0" algn="just">
              <a:buSzPts val="1100"/>
              <a:buNone/>
            </a:pPr>
            <a:endParaRPr lang="en-US" sz="1600" b="1" dirty="0">
              <a:solidFill>
                <a:srgbClr val="FF0000"/>
              </a:solidFill>
              <a:cs typeface="Times New Roman" panose="02020603050405020304" pitchFamily="18" charset="0"/>
              <a:sym typeface="Wingdings" panose="05000000000000000000" pitchFamily="2" charset="2"/>
            </a:endParaRPr>
          </a:p>
          <a:p>
            <a:pPr marL="12700" indent="0" algn="just">
              <a:buSzPts val="1100"/>
              <a:buNone/>
            </a:pPr>
            <a:r>
              <a:rPr lang="en-US" sz="1600" b="1" dirty="0">
                <a:solidFill>
                  <a:srgbClr val="FF0000"/>
                </a:solidFill>
                <a:cs typeface="Times New Roman" panose="02020603050405020304" pitchFamily="18" charset="0"/>
                <a:sym typeface="Wingdings" panose="05000000000000000000" pitchFamily="2" charset="2"/>
              </a:rPr>
              <a:t> </a:t>
            </a:r>
          </a:p>
        </p:txBody>
      </p:sp>
    </p:spTree>
    <p:extLst>
      <p:ext uri="{BB962C8B-B14F-4D97-AF65-F5344CB8AC3E}">
        <p14:creationId xmlns:p14="http://schemas.microsoft.com/office/powerpoint/2010/main" val="1948577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7" name="Google Shape;77;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D2A43B"/>
              </a:buClr>
              <a:buSzPts val="1200"/>
              <a:buFont typeface="Montserrat"/>
              <a:buNone/>
            </a:pPr>
            <a:fld id="{00000000-1234-1234-1234-123412341234}" type="slidenum">
              <a:rPr lang="en-US"/>
              <a:t>35</a:t>
            </a:fld>
            <a:endParaRPr dirty="0"/>
          </a:p>
        </p:txBody>
      </p:sp>
      <p:sp>
        <p:nvSpPr>
          <p:cNvPr id="76" name="Google Shape;76;p2"/>
          <p:cNvSpPr txBox="1">
            <a:spLocks noGrp="1"/>
          </p:cNvSpPr>
          <p:nvPr>
            <p:ph type="title"/>
          </p:nvPr>
        </p:nvSpPr>
        <p:spPr>
          <a:xfrm>
            <a:off x="838200" y="152400"/>
            <a:ext cx="9777833" cy="609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sz="2400" b="1" dirty="0">
                <a:solidFill>
                  <a:srgbClr val="FFC000"/>
                </a:solidFill>
                <a:latin typeface="Times New Roman" panose="02020603050405020304" pitchFamily="18" charset="0"/>
                <a:cs typeface="Times New Roman" panose="02020603050405020304" pitchFamily="18" charset="0"/>
              </a:rPr>
              <a:t>CÁC TÀU BQDB VÀ ĐANG TRONG BẢO DƯỠNG ĐỊNH KỲ (BD</a:t>
            </a:r>
            <a:r>
              <a:rPr lang="en-US" sz="2400" dirty="0">
                <a:solidFill>
                  <a:srgbClr val="FFC000"/>
                </a:solidFill>
                <a:latin typeface="Times New Roman" panose="02020603050405020304" pitchFamily="18" charset="0"/>
                <a:cs typeface="Times New Roman" panose="02020603050405020304" pitchFamily="18" charset="0"/>
              </a:rPr>
              <a:t>Đ</a:t>
            </a:r>
            <a:r>
              <a:rPr lang="en-US" sz="2400" b="1" dirty="0">
                <a:solidFill>
                  <a:srgbClr val="FFC000"/>
                </a:solidFill>
                <a:latin typeface="Times New Roman" panose="02020603050405020304" pitchFamily="18" charset="0"/>
                <a:cs typeface="Times New Roman" panose="02020603050405020304" pitchFamily="18" charset="0"/>
              </a:rPr>
              <a:t>K)</a:t>
            </a:r>
            <a:endParaRPr sz="2400" b="0" dirty="0">
              <a:solidFill>
                <a:srgbClr val="FFC000"/>
              </a:solidFill>
              <a:latin typeface="Times New Roman" panose="02020603050405020304" pitchFamily="18" charset="0"/>
              <a:cs typeface="Times New Roman" panose="02020603050405020304" pitchFamily="18" charset="0"/>
            </a:endParaRPr>
          </a:p>
        </p:txBody>
      </p:sp>
      <p:sp>
        <p:nvSpPr>
          <p:cNvPr id="4" name="Text Placeholder 1">
            <a:extLst>
              <a:ext uri="{FF2B5EF4-FFF2-40B4-BE49-F238E27FC236}">
                <a16:creationId xmlns:a16="http://schemas.microsoft.com/office/drawing/2014/main" id="{312CF2C2-6EB0-B14C-95A4-C4BAAE6ACB25}"/>
              </a:ext>
            </a:extLst>
          </p:cNvPr>
          <p:cNvSpPr txBox="1">
            <a:spLocks/>
          </p:cNvSpPr>
          <p:nvPr/>
        </p:nvSpPr>
        <p:spPr>
          <a:xfrm>
            <a:off x="838200" y="762000"/>
            <a:ext cx="10591800" cy="579120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nSpc>
                <a:spcPct val="120000"/>
              </a:lnSpc>
              <a:spcBef>
                <a:spcPts val="600"/>
              </a:spcBef>
              <a:buSzPts val="1100"/>
              <a:buFont typeface="Arial" panose="020B0604020202020204" pitchFamily="34" charset="0"/>
              <a:buNone/>
            </a:pPr>
            <a:r>
              <a:rPr lang="es-ES" sz="1500" b="1" dirty="0">
                <a:cs typeface="Times New Roman" panose="02020603050405020304" pitchFamily="18" charset="0"/>
                <a:sym typeface="Wingdings" panose="05000000000000000000" pitchFamily="2" charset="2"/>
              </a:rPr>
              <a:t>IV</a:t>
            </a:r>
            <a:r>
              <a:rPr lang="en-US" sz="1500" b="1" dirty="0">
                <a:cs typeface="Times New Roman" panose="02020603050405020304" pitchFamily="18" charset="0"/>
              </a:rPr>
              <a:t>. B787: </a:t>
            </a:r>
          </a:p>
          <a:p>
            <a:pPr marL="12700" indent="0">
              <a:lnSpc>
                <a:spcPct val="120000"/>
              </a:lnSpc>
              <a:spcBef>
                <a:spcPts val="600"/>
              </a:spcBef>
              <a:buSzPts val="1100"/>
              <a:buNone/>
            </a:pPr>
            <a:r>
              <a:rPr lang="es-ES" sz="1500" b="1" dirty="0">
                <a:solidFill>
                  <a:srgbClr val="FF0000"/>
                </a:solidFill>
                <a:cs typeface="Times New Roman" panose="02020603050405020304" pitchFamily="18" charset="0"/>
                <a:sym typeface="Wingdings" panose="05000000000000000000" pitchFamily="2" charset="2"/>
              </a:rPr>
              <a:t>1. A867_SGN_ENGCHG_22/03-23/04: </a:t>
            </a:r>
            <a:r>
              <a:rPr lang="es-ES" sz="1500" b="1" dirty="0" err="1">
                <a:solidFill>
                  <a:srgbClr val="FF0000"/>
                </a:solidFill>
                <a:cs typeface="Times New Roman" panose="02020603050405020304" pitchFamily="18" charset="0"/>
                <a:sym typeface="Wingdings" panose="05000000000000000000" pitchFamily="2" charset="2"/>
              </a:rPr>
              <a:t>On</a:t>
            </a:r>
            <a:r>
              <a:rPr lang="es-ES" sz="1500" b="1" dirty="0">
                <a:solidFill>
                  <a:srgbClr val="FF0000"/>
                </a:solidFill>
                <a:cs typeface="Times New Roman" panose="02020603050405020304" pitchFamily="18" charset="0"/>
                <a:sym typeface="Wingdings" panose="05000000000000000000" pitchFamily="2" charset="2"/>
              </a:rPr>
              <a:t> </a:t>
            </a:r>
            <a:r>
              <a:rPr lang="es-ES" sz="1500" b="1" dirty="0" err="1">
                <a:solidFill>
                  <a:srgbClr val="FF0000"/>
                </a:solidFill>
                <a:cs typeface="Times New Roman" panose="02020603050405020304" pitchFamily="18" charset="0"/>
                <a:sym typeface="Wingdings" panose="05000000000000000000" pitchFamily="2" charset="2"/>
              </a:rPr>
              <a:t>sked</a:t>
            </a:r>
            <a:endParaRPr lang="es-ES" sz="1500" b="1" dirty="0">
              <a:solidFill>
                <a:srgbClr val="FF0000"/>
              </a:solidFill>
              <a:cs typeface="Times New Roman" panose="02020603050405020304" pitchFamily="18" charset="0"/>
              <a:sym typeface="Wingdings" panose="05000000000000000000" pitchFamily="2" charset="2"/>
            </a:endParaRPr>
          </a:p>
          <a:p>
            <a:pPr marL="12700" indent="0">
              <a:lnSpc>
                <a:spcPct val="120000"/>
              </a:lnSpc>
              <a:spcBef>
                <a:spcPts val="600"/>
              </a:spcBef>
              <a:buSzPts val="1100"/>
              <a:buNone/>
            </a:pPr>
            <a:endParaRPr lang="es-ES" sz="1600" dirty="0">
              <a:cs typeface="Times New Roman" panose="02020603050405020304" pitchFamily="18" charset="0"/>
              <a:sym typeface="Wingdings" panose="05000000000000000000" pitchFamily="2" charset="2"/>
            </a:endParaRPr>
          </a:p>
          <a:p>
            <a:pPr marL="12700" indent="0">
              <a:lnSpc>
                <a:spcPct val="120000"/>
              </a:lnSpc>
              <a:spcBef>
                <a:spcPts val="600"/>
              </a:spcBef>
              <a:buSzPts val="1100"/>
              <a:buNone/>
            </a:pPr>
            <a:r>
              <a:rPr lang="es-ES" sz="1600" b="1" dirty="0">
                <a:solidFill>
                  <a:srgbClr val="FF0000"/>
                </a:solidFill>
                <a:cs typeface="Times New Roman" panose="02020603050405020304" pitchFamily="18" charset="0"/>
                <a:sym typeface="Wingdings" panose="05000000000000000000" pitchFamily="2" charset="2"/>
              </a:rPr>
              <a:t>2. A86</a:t>
            </a:r>
            <a:r>
              <a:rPr lang="en-US" sz="1600" b="1" dirty="0">
                <a:solidFill>
                  <a:srgbClr val="FF0000"/>
                </a:solidFill>
                <a:cs typeface="Times New Roman" panose="02020603050405020304" pitchFamily="18" charset="0"/>
                <a:sym typeface="Wingdings" panose="05000000000000000000" pitchFamily="2" charset="2"/>
              </a:rPr>
              <a:t>4_SGN_ENG CHG + C01 + C03_14/03-03/04</a:t>
            </a:r>
            <a:r>
              <a:rPr lang="es-ES" sz="1600" b="1" dirty="0">
                <a:solidFill>
                  <a:srgbClr val="FF0000"/>
                </a:solidFill>
                <a:cs typeface="Times New Roman" panose="02020603050405020304" pitchFamily="18" charset="0"/>
                <a:sym typeface="Wingdings" panose="05000000000000000000" pitchFamily="2" charset="2"/>
              </a:rPr>
              <a:t>: </a:t>
            </a:r>
            <a:r>
              <a:rPr lang="es-ES" sz="1600" b="1" dirty="0" err="1">
                <a:solidFill>
                  <a:srgbClr val="FF0000"/>
                </a:solidFill>
                <a:cs typeface="Times New Roman" panose="02020603050405020304" pitchFamily="18" charset="0"/>
                <a:sym typeface="Wingdings" panose="05000000000000000000" pitchFamily="2" charset="2"/>
              </a:rPr>
              <a:t>On</a:t>
            </a:r>
            <a:r>
              <a:rPr lang="es-ES" sz="1600" b="1" dirty="0">
                <a:solidFill>
                  <a:srgbClr val="FF0000"/>
                </a:solidFill>
                <a:cs typeface="Times New Roman" panose="02020603050405020304" pitchFamily="18" charset="0"/>
                <a:sym typeface="Wingdings" panose="05000000000000000000" pitchFamily="2" charset="2"/>
              </a:rPr>
              <a:t> </a:t>
            </a:r>
            <a:r>
              <a:rPr lang="es-ES" sz="1600" b="1" dirty="0" err="1">
                <a:solidFill>
                  <a:srgbClr val="FF0000"/>
                </a:solidFill>
                <a:cs typeface="Times New Roman" panose="02020603050405020304" pitchFamily="18" charset="0"/>
                <a:sym typeface="Wingdings" panose="05000000000000000000" pitchFamily="2" charset="2"/>
              </a:rPr>
              <a:t>sked</a:t>
            </a:r>
            <a:r>
              <a:rPr lang="es-ES" sz="1600" b="1" dirty="0">
                <a:solidFill>
                  <a:srgbClr val="FF0000"/>
                </a:solidFill>
                <a:cs typeface="Times New Roman" panose="02020603050405020304" pitchFamily="18" charset="0"/>
                <a:sym typeface="Wingdings" panose="05000000000000000000" pitchFamily="2" charset="2"/>
              </a:rPr>
              <a:t>.</a:t>
            </a:r>
          </a:p>
          <a:p>
            <a:pPr marL="12700" indent="0">
              <a:lnSpc>
                <a:spcPct val="120000"/>
              </a:lnSpc>
              <a:spcBef>
                <a:spcPts val="600"/>
              </a:spcBef>
              <a:buSzPts val="1100"/>
              <a:buNone/>
            </a:pPr>
            <a:r>
              <a:rPr lang="es-ES" sz="1600" b="1" dirty="0">
                <a:solidFill>
                  <a:srgbClr val="FF0000"/>
                </a:solidFill>
                <a:cs typeface="Times New Roman" panose="02020603050405020304" pitchFamily="18" charset="0"/>
                <a:sym typeface="Wingdings" panose="05000000000000000000" pitchFamily="2" charset="2"/>
              </a:rPr>
              <a:t>    </a:t>
            </a:r>
            <a:r>
              <a:rPr lang="es-ES" sz="1600" b="1" dirty="0">
                <a:cs typeface="Times New Roman" panose="02020603050405020304" pitchFamily="18" charset="0"/>
                <a:sym typeface="Wingdings" panose="05000000000000000000" pitchFamily="2" charset="2"/>
              </a:rPr>
              <a:t>-</a:t>
            </a:r>
            <a:r>
              <a:rPr lang="es-ES" sz="1600" dirty="0" err="1">
                <a:cs typeface="Times New Roman" panose="02020603050405020304" pitchFamily="18" charset="0"/>
                <a:sym typeface="Wingdings" panose="05000000000000000000" pitchFamily="2" charset="2"/>
              </a:rPr>
              <a:t>Tàu</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cần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thay</a:t>
            </a:r>
            <a:r>
              <a:rPr lang="es-ES" sz="1600" dirty="0">
                <a:cs typeface="Times New Roman" panose="02020603050405020304" pitchFamily="18" charset="0"/>
                <a:sym typeface="Wingdings" panose="05000000000000000000" pitchFamily="2" charset="2"/>
              </a:rPr>
              <a:t> ENG do </a:t>
            </a:r>
            <a:r>
              <a:rPr lang="es-ES" sz="1600" dirty="0" err="1">
                <a:cs typeface="Times New Roman" panose="02020603050405020304" pitchFamily="18" charset="0"/>
                <a:sym typeface="Wingdings" panose="05000000000000000000" pitchFamily="2" charset="2"/>
              </a:rPr>
              <a:t>hỏng</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hóc</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Platform</a:t>
            </a:r>
            <a:r>
              <a:rPr lang="es-ES" sz="1600" dirty="0">
                <a:cs typeface="Times New Roman" panose="02020603050405020304" pitchFamily="18" charset="0"/>
                <a:sym typeface="Wingdings" panose="05000000000000000000" pitchFamily="2" charset="2"/>
              </a:rPr>
              <a:t> lifting” , RR </a:t>
            </a:r>
            <a:r>
              <a:rPr lang="es-ES" sz="1600" dirty="0" err="1">
                <a:cs typeface="Times New Roman" panose="02020603050405020304" pitchFamily="18" charset="0"/>
                <a:sym typeface="Wingdings" panose="05000000000000000000" pitchFamily="2" charset="2"/>
              </a:rPr>
              <a:t>yêu</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cầu</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tháo</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trong</a:t>
            </a:r>
            <a:r>
              <a:rPr lang="es-ES" sz="1600" dirty="0">
                <a:cs typeface="Times New Roman" panose="02020603050405020304" pitchFamily="18" charset="0"/>
                <a:sym typeface="Wingdings" panose="05000000000000000000" pitchFamily="2" charset="2"/>
              </a:rPr>
              <a:t> 25 CY =&gt; </a:t>
            </a:r>
            <a:r>
              <a:rPr lang="es-ES" sz="1600" dirty="0" err="1">
                <a:cs typeface="Times New Roman" panose="02020603050405020304" pitchFamily="18" charset="0"/>
                <a:sym typeface="Wingdings" panose="05000000000000000000" pitchFamily="2" charset="2"/>
              </a:rPr>
              <a:t>Check</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cần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thực</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hiện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sớm</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hơn</a:t>
            </a:r>
            <a:r>
              <a:rPr lang="es-ES" sz="1600" dirty="0">
                <a:cs typeface="Times New Roman" panose="02020603050405020304" pitchFamily="18" charset="0"/>
                <a:sym typeface="Wingdings" panose="05000000000000000000" pitchFamily="2" charset="2"/>
              </a:rPr>
              <a:t> so </a:t>
            </a:r>
            <a:r>
              <a:rPr lang="es-ES" sz="1600" dirty="0" err="1">
                <a:cs typeface="Times New Roman" panose="02020603050405020304" pitchFamily="18" charset="0"/>
                <a:sym typeface="Wingdings" panose="05000000000000000000" pitchFamily="2" charset="2"/>
              </a:rPr>
              <a:t>với</a:t>
            </a:r>
            <a:r>
              <a:rPr lang="es-ES" sz="1600" dirty="0">
                <a:cs typeface="Times New Roman" panose="02020603050405020304" pitchFamily="18" charset="0"/>
                <a:sym typeface="Wingdings" panose="05000000000000000000" pitchFamily="2" charset="2"/>
              </a:rPr>
              <a:t> KH </a:t>
            </a:r>
            <a:r>
              <a:rPr lang="es-ES" sz="1600" dirty="0" err="1">
                <a:cs typeface="Times New Roman" panose="02020603050405020304" pitchFamily="18" charset="0"/>
                <a:sym typeface="Wingdings" panose="05000000000000000000" pitchFamily="2" charset="2"/>
              </a:rPr>
              <a:t>dẫn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đến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overlap</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với</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nhiều</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Check</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đến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hạn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khác</a:t>
            </a:r>
            <a:r>
              <a:rPr lang="es-ES" sz="1600" dirty="0">
                <a:cs typeface="Times New Roman" panose="02020603050405020304" pitchFamily="18" charset="0"/>
                <a:sym typeface="Wingdings" panose="05000000000000000000" pitchFamily="2" charset="2"/>
              </a:rPr>
              <a:t>.</a:t>
            </a:r>
            <a:endParaRPr lang="es-ES" sz="1600" b="1" dirty="0">
              <a:solidFill>
                <a:srgbClr val="FF0000"/>
              </a:solidFill>
              <a:cs typeface="Times New Roman" panose="02020603050405020304" pitchFamily="18" charset="0"/>
              <a:sym typeface="Wingdings" panose="05000000000000000000" pitchFamily="2" charset="2"/>
            </a:endParaRPr>
          </a:p>
          <a:p>
            <a:pPr marL="12700" indent="0">
              <a:lnSpc>
                <a:spcPct val="120000"/>
              </a:lnSpc>
              <a:spcBef>
                <a:spcPts val="600"/>
              </a:spcBef>
              <a:buSzPts val="1100"/>
              <a:buNone/>
            </a:pPr>
            <a:r>
              <a:rPr lang="es-ES" sz="1600" dirty="0">
                <a:cs typeface="Times New Roman" panose="02020603050405020304" pitchFamily="18" charset="0"/>
                <a:sym typeface="Wingdings" panose="05000000000000000000" pitchFamily="2" charset="2"/>
              </a:rPr>
              <a:t>    - </a:t>
            </a:r>
            <a:r>
              <a:rPr lang="vi-VN" sz="1600" dirty="0">
                <a:cs typeface="Times New Roman" panose="02020603050405020304" pitchFamily="18" charset="0"/>
                <a:sym typeface="Wingdings" panose="05000000000000000000" pitchFamily="2" charset="2"/>
              </a:rPr>
              <a:t>Nhiều vật tư bị Rob + Finding</a:t>
            </a:r>
            <a:r>
              <a:rPr lang="en-US" sz="1600" dirty="0">
                <a:cs typeface="Times New Roman" panose="02020603050405020304" pitchFamily="18" charset="0"/>
                <a:sym typeface="Wingdings" panose="05000000000000000000" pitchFamily="2" charset="2"/>
              </a:rPr>
              <a:t>s</a:t>
            </a:r>
            <a:r>
              <a:rPr lang="vi-VN"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cần</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vê</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theo</a:t>
            </a:r>
            <a:r>
              <a:rPr lang="vi-VN" sz="1600" dirty="0">
                <a:cs typeface="Times New Roman" panose="02020603050405020304" pitchFamily="18" charset="0"/>
                <a:sym typeface="Wingdings" panose="05000000000000000000" pitchFamily="2" charset="2"/>
              </a:rPr>
              <a:t> dự kiến</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đê</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đảm</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bảo</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tiến</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đô</a:t>
            </a:r>
            <a:r>
              <a:rPr lang="en-US" sz="1600" dirty="0">
                <a:cs typeface="Times New Roman" panose="02020603050405020304" pitchFamily="18" charset="0"/>
                <a:sym typeface="Wingdings" panose="05000000000000000000" pitchFamily="2" charset="2"/>
              </a:rPr>
              <a:t>̣</a:t>
            </a:r>
            <a:r>
              <a:rPr lang="vi-VN" sz="1600" dirty="0">
                <a:cs typeface="Times New Roman" panose="02020603050405020304" pitchFamily="18" charset="0"/>
                <a:sym typeface="Wingdings" panose="05000000000000000000" pitchFamily="2" charset="2"/>
              </a:rPr>
              <a:t>: BRAKE, BOTTLE ASSY, LATCH, HOSE...</a:t>
            </a:r>
            <a:r>
              <a:rPr lang="es-ES" sz="1600" dirty="0">
                <a:cs typeface="Times New Roman" panose="02020603050405020304" pitchFamily="18" charset="0"/>
                <a:sym typeface="Wingdings" panose="05000000000000000000" pitchFamily="2" charset="2"/>
              </a:rPr>
              <a:t>. </a:t>
            </a:r>
          </a:p>
          <a:p>
            <a:pPr marL="12700" indent="0">
              <a:lnSpc>
                <a:spcPct val="120000"/>
              </a:lnSpc>
              <a:spcBef>
                <a:spcPts val="600"/>
              </a:spcBef>
              <a:buSzPts val="1100"/>
              <a:buNone/>
            </a:pPr>
            <a:r>
              <a:rPr lang="es-ES" sz="1600" dirty="0">
                <a:cs typeface="Times New Roman" panose="02020603050405020304" pitchFamily="18" charset="0"/>
                <a:sym typeface="Wingdings" panose="05000000000000000000" pitchFamily="2" charset="2"/>
              </a:rPr>
              <a:t>    - ENG </a:t>
            </a:r>
            <a:r>
              <a:rPr lang="es-ES" sz="1600" dirty="0" err="1">
                <a:cs typeface="Times New Roman" panose="02020603050405020304" pitchFamily="18" charset="0"/>
                <a:sym typeface="Wingdings" panose="05000000000000000000" pitchFamily="2" charset="2"/>
              </a:rPr>
              <a:t>dư</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kiến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sáng</a:t>
            </a:r>
            <a:r>
              <a:rPr lang="es-ES" sz="1600" dirty="0">
                <a:cs typeface="Times New Roman" panose="02020603050405020304" pitchFamily="18" charset="0"/>
                <a:sym typeface="Wingdings" panose="05000000000000000000" pitchFamily="2" charset="2"/>
              </a:rPr>
              <a:t> 24/3 </a:t>
            </a:r>
            <a:r>
              <a:rPr lang="es-ES" sz="1600" dirty="0" err="1">
                <a:cs typeface="Times New Roman" panose="02020603050405020304" pitchFamily="18" charset="0"/>
                <a:sym typeface="Wingdings" panose="05000000000000000000" pitchFamily="2" charset="2"/>
              </a:rPr>
              <a:t>giao</a:t>
            </a:r>
            <a:r>
              <a:rPr lang="es-ES" sz="1600" dirty="0">
                <a:cs typeface="Times New Roman" panose="02020603050405020304" pitchFamily="18" charset="0"/>
                <a:sym typeface="Wingdings" panose="05000000000000000000" pitchFamily="2" charset="2"/>
              </a:rPr>
              <a:t> VAECO.</a:t>
            </a:r>
          </a:p>
          <a:p>
            <a:pPr marL="12700" indent="0">
              <a:lnSpc>
                <a:spcPct val="120000"/>
              </a:lnSpc>
              <a:spcBef>
                <a:spcPts val="600"/>
              </a:spcBef>
              <a:buSzPts val="1100"/>
              <a:buNone/>
            </a:pPr>
            <a:r>
              <a:rPr lang="es-ES" sz="1600" dirty="0">
                <a:cs typeface="Times New Roman" panose="02020603050405020304" pitchFamily="18" charset="0"/>
                <a:sym typeface="Wingdings" panose="05000000000000000000" pitchFamily="2" charset="2"/>
              </a:rPr>
              <a:t>    - </a:t>
            </a:r>
            <a:r>
              <a:rPr lang="es-ES" sz="1600" dirty="0" err="1">
                <a:cs typeface="Times New Roman" panose="02020603050405020304" pitchFamily="18" charset="0"/>
                <a:sym typeface="Wingdings" panose="05000000000000000000" pitchFamily="2" charset="2"/>
              </a:rPr>
              <a:t>Cần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thay</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Inboard</a:t>
            </a:r>
            <a:r>
              <a:rPr lang="es-ES" sz="1600" dirty="0">
                <a:cs typeface="Times New Roman" panose="02020603050405020304" pitchFamily="18" charset="0"/>
                <a:sym typeface="Wingdings" panose="05000000000000000000" pitchFamily="2" charset="2"/>
              </a:rPr>
              <a:t> Spoiler PCU, </a:t>
            </a:r>
            <a:r>
              <a:rPr lang="es-ES" sz="1600" dirty="0" err="1">
                <a:cs typeface="Times New Roman" panose="02020603050405020304" pitchFamily="18" charset="0"/>
                <a:sym typeface="Wingdings" panose="05000000000000000000" pitchFamily="2" charset="2"/>
              </a:rPr>
              <a:t>tuy</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nhiên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Spare</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not</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Avail</a:t>
            </a:r>
            <a:r>
              <a:rPr lang="es-ES" sz="1600" dirty="0">
                <a:cs typeface="Times New Roman" panose="02020603050405020304" pitchFamily="18" charset="0"/>
                <a:sym typeface="Wingdings" panose="05000000000000000000" pitchFamily="2" charset="2"/>
              </a:rPr>
              <a:t> = &gt; </a:t>
            </a:r>
            <a:r>
              <a:rPr lang="es-ES" sz="1600" dirty="0" err="1">
                <a:cs typeface="Times New Roman" panose="02020603050405020304" pitchFamily="18" charset="0"/>
                <a:sym typeface="Wingdings" panose="05000000000000000000" pitchFamily="2" charset="2"/>
              </a:rPr>
              <a:t>Cần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co</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vật</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tư</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đê</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thay</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trong</a:t>
            </a:r>
            <a:r>
              <a:rPr lang="es-ES" sz="1600" dirty="0">
                <a:cs typeface="Times New Roman" panose="02020603050405020304" pitchFamily="18" charset="0"/>
                <a:sym typeface="Wingdings" panose="05000000000000000000" pitchFamily="2" charset="2"/>
              </a:rPr>
              <a:t> 30 </a:t>
            </a:r>
            <a:r>
              <a:rPr lang="es-ES" sz="1600" dirty="0" err="1">
                <a:cs typeface="Times New Roman" panose="02020603050405020304" pitchFamily="18" charset="0"/>
                <a:sym typeface="Wingdings" panose="05000000000000000000" pitchFamily="2" charset="2"/>
              </a:rPr>
              <a:t>ngày</a:t>
            </a:r>
            <a:r>
              <a:rPr lang="es-ES" sz="1600" dirty="0">
                <a:cs typeface="Times New Roman" panose="02020603050405020304" pitchFamily="18" charset="0"/>
                <a:sym typeface="Wingdings" panose="05000000000000000000" pitchFamily="2" charset="2"/>
              </a:rPr>
              <a:t> = &gt; </a:t>
            </a:r>
            <a:r>
              <a:rPr lang="es-ES" sz="1600" dirty="0" err="1">
                <a:cs typeface="Times New Roman" panose="02020603050405020304" pitchFamily="18" charset="0"/>
                <a:sym typeface="Wingdings" panose="05000000000000000000" pitchFamily="2" charset="2"/>
              </a:rPr>
              <a:t>Xem</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xét</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cung</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ứng</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trong</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check</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tránh</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cần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dừng</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thêm</a:t>
            </a:r>
            <a:r>
              <a:rPr lang="es-ES" sz="1600" dirty="0">
                <a:cs typeface="Times New Roman" panose="02020603050405020304" pitchFamily="18" charset="0"/>
                <a:sym typeface="Wingdings" panose="05000000000000000000" pitchFamily="2" charset="2"/>
              </a:rPr>
              <a:t> ở Line.</a:t>
            </a:r>
          </a:p>
          <a:p>
            <a:pPr marL="12700" indent="0">
              <a:lnSpc>
                <a:spcPct val="120000"/>
              </a:lnSpc>
              <a:spcBef>
                <a:spcPts val="600"/>
              </a:spcBef>
              <a:buSzPts val="1100"/>
              <a:buNone/>
            </a:pPr>
            <a:r>
              <a:rPr lang="es-ES" sz="1600" dirty="0">
                <a:cs typeface="Times New Roman" panose="02020603050405020304" pitchFamily="18" charset="0"/>
                <a:sym typeface="Wingdings" panose="05000000000000000000" pitchFamily="2" charset="2"/>
              </a:rPr>
              <a:t>     </a:t>
            </a:r>
            <a:endParaRPr lang="es-ES" sz="1400" b="1" dirty="0">
              <a:solidFill>
                <a:srgbClr val="FF0000"/>
              </a:solidFill>
              <a:cs typeface="Times New Roman" panose="02020603050405020304" pitchFamily="18" charset="0"/>
              <a:sym typeface="Wingdings" panose="05000000000000000000" pitchFamily="2" charset="2"/>
            </a:endParaRPr>
          </a:p>
          <a:p>
            <a:pPr marL="12700" indent="0" algn="just">
              <a:buSzPts val="1100"/>
              <a:buNone/>
            </a:pPr>
            <a:endParaRPr lang="en-US" sz="1400" dirty="0">
              <a:cs typeface="Times New Roman" panose="02020603050405020304" pitchFamily="18" charset="0"/>
              <a:sym typeface="Wingdings" panose="05000000000000000000" pitchFamily="2" charset="2"/>
            </a:endParaRPr>
          </a:p>
          <a:p>
            <a:pPr marL="12700" indent="0">
              <a:buSzPts val="1100"/>
              <a:buFont typeface="Arial" panose="020B0604020202020204" pitchFamily="34" charset="0"/>
              <a:buNone/>
            </a:pPr>
            <a:endParaRPr lang="es-ES" sz="2100" b="1" dirty="0">
              <a:solidFill>
                <a:srgbClr val="FF0000"/>
              </a:solidFill>
              <a:cs typeface="Times New Roman" panose="02020603050405020304" pitchFamily="18" charset="0"/>
              <a:sym typeface="Wingdings" panose="05000000000000000000" pitchFamily="2" charset="2"/>
            </a:endParaRPr>
          </a:p>
          <a:p>
            <a:pPr marL="50800" indent="0">
              <a:buFont typeface="Arial" panose="020B0604020202020204" pitchFamily="34" charset="0"/>
              <a:buNone/>
            </a:pPr>
            <a:endParaRPr lang="x-none" dirty="0"/>
          </a:p>
        </p:txBody>
      </p:sp>
    </p:spTree>
    <p:extLst>
      <p:ext uri="{BB962C8B-B14F-4D97-AF65-F5344CB8AC3E}">
        <p14:creationId xmlns:p14="http://schemas.microsoft.com/office/powerpoint/2010/main" val="26518944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5" name="Title 1">
            <a:extLst>
              <a:ext uri="{FF2B5EF4-FFF2-40B4-BE49-F238E27FC236}">
                <a16:creationId xmlns:a16="http://schemas.microsoft.com/office/drawing/2014/main" id="{5781951A-75AB-4FD9-911A-99894057CF57}"/>
              </a:ext>
            </a:extLst>
          </p:cNvPr>
          <p:cNvSpPr txBox="1">
            <a:spLocks/>
          </p:cNvSpPr>
          <p:nvPr/>
        </p:nvSpPr>
        <p:spPr>
          <a:xfrm>
            <a:off x="369435" y="214911"/>
            <a:ext cx="10730211"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r>
              <a:rPr lang="en-US" sz="2400" b="1" dirty="0">
                <a:solidFill>
                  <a:srgbClr val="D2A43B"/>
                </a:solidFill>
                <a:ea typeface="Tahoma" pitchFamily="34" charset="0"/>
                <a:cs typeface="Times New Roman" panose="02020603050405020304" pitchFamily="18" charset="0"/>
              </a:rPr>
              <a:t>NGUỒN LỰC TÀU BAY – A321</a:t>
            </a:r>
          </a:p>
        </p:txBody>
      </p:sp>
      <p:graphicFrame>
        <p:nvGraphicFramePr>
          <p:cNvPr id="2" name="Table 1">
            <a:extLst>
              <a:ext uri="{FF2B5EF4-FFF2-40B4-BE49-F238E27FC236}">
                <a16:creationId xmlns:a16="http://schemas.microsoft.com/office/drawing/2014/main" id="{997CCDC8-C3AA-342B-C0A2-CB458D1BC877}"/>
              </a:ext>
            </a:extLst>
          </p:cNvPr>
          <p:cNvGraphicFramePr>
            <a:graphicFrameLocks noGrp="1"/>
          </p:cNvGraphicFramePr>
          <p:nvPr>
            <p:extLst/>
          </p:nvPr>
        </p:nvGraphicFramePr>
        <p:xfrm>
          <a:off x="369434" y="1143000"/>
          <a:ext cx="11441565" cy="5181599"/>
        </p:xfrm>
        <a:graphic>
          <a:graphicData uri="http://schemas.openxmlformats.org/drawingml/2006/table">
            <a:tbl>
              <a:tblPr/>
              <a:tblGrid>
                <a:gridCol w="345907">
                  <a:extLst>
                    <a:ext uri="{9D8B030D-6E8A-4147-A177-3AD203B41FA5}">
                      <a16:colId xmlns:a16="http://schemas.microsoft.com/office/drawing/2014/main" val="2160222281"/>
                    </a:ext>
                  </a:extLst>
                </a:gridCol>
                <a:gridCol w="2341530">
                  <a:extLst>
                    <a:ext uri="{9D8B030D-6E8A-4147-A177-3AD203B41FA5}">
                      <a16:colId xmlns:a16="http://schemas.microsoft.com/office/drawing/2014/main" val="3680346087"/>
                    </a:ext>
                  </a:extLst>
                </a:gridCol>
                <a:gridCol w="572078">
                  <a:extLst>
                    <a:ext uri="{9D8B030D-6E8A-4147-A177-3AD203B41FA5}">
                      <a16:colId xmlns:a16="http://schemas.microsoft.com/office/drawing/2014/main" val="908276212"/>
                    </a:ext>
                  </a:extLst>
                </a:gridCol>
                <a:gridCol w="545470">
                  <a:extLst>
                    <a:ext uri="{9D8B030D-6E8A-4147-A177-3AD203B41FA5}">
                      <a16:colId xmlns:a16="http://schemas.microsoft.com/office/drawing/2014/main" val="2655849431"/>
                    </a:ext>
                  </a:extLst>
                </a:gridCol>
                <a:gridCol w="598686">
                  <a:extLst>
                    <a:ext uri="{9D8B030D-6E8A-4147-A177-3AD203B41FA5}">
                      <a16:colId xmlns:a16="http://schemas.microsoft.com/office/drawing/2014/main" val="2557129605"/>
                    </a:ext>
                  </a:extLst>
                </a:gridCol>
                <a:gridCol w="532166">
                  <a:extLst>
                    <a:ext uri="{9D8B030D-6E8A-4147-A177-3AD203B41FA5}">
                      <a16:colId xmlns:a16="http://schemas.microsoft.com/office/drawing/2014/main" val="1459188924"/>
                    </a:ext>
                  </a:extLst>
                </a:gridCol>
                <a:gridCol w="505558">
                  <a:extLst>
                    <a:ext uri="{9D8B030D-6E8A-4147-A177-3AD203B41FA5}">
                      <a16:colId xmlns:a16="http://schemas.microsoft.com/office/drawing/2014/main" val="1525655465"/>
                    </a:ext>
                  </a:extLst>
                </a:gridCol>
                <a:gridCol w="545470">
                  <a:extLst>
                    <a:ext uri="{9D8B030D-6E8A-4147-A177-3AD203B41FA5}">
                      <a16:colId xmlns:a16="http://schemas.microsoft.com/office/drawing/2014/main" val="1613642432"/>
                    </a:ext>
                  </a:extLst>
                </a:gridCol>
                <a:gridCol w="532166">
                  <a:extLst>
                    <a:ext uri="{9D8B030D-6E8A-4147-A177-3AD203B41FA5}">
                      <a16:colId xmlns:a16="http://schemas.microsoft.com/office/drawing/2014/main" val="3162104189"/>
                    </a:ext>
                  </a:extLst>
                </a:gridCol>
                <a:gridCol w="545470">
                  <a:extLst>
                    <a:ext uri="{9D8B030D-6E8A-4147-A177-3AD203B41FA5}">
                      <a16:colId xmlns:a16="http://schemas.microsoft.com/office/drawing/2014/main" val="3246493817"/>
                    </a:ext>
                  </a:extLst>
                </a:gridCol>
                <a:gridCol w="545470">
                  <a:extLst>
                    <a:ext uri="{9D8B030D-6E8A-4147-A177-3AD203B41FA5}">
                      <a16:colId xmlns:a16="http://schemas.microsoft.com/office/drawing/2014/main" val="2901393751"/>
                    </a:ext>
                  </a:extLst>
                </a:gridCol>
                <a:gridCol w="545470">
                  <a:extLst>
                    <a:ext uri="{9D8B030D-6E8A-4147-A177-3AD203B41FA5}">
                      <a16:colId xmlns:a16="http://schemas.microsoft.com/office/drawing/2014/main" val="1821256675"/>
                    </a:ext>
                  </a:extLst>
                </a:gridCol>
                <a:gridCol w="532166">
                  <a:extLst>
                    <a:ext uri="{9D8B030D-6E8A-4147-A177-3AD203B41FA5}">
                      <a16:colId xmlns:a16="http://schemas.microsoft.com/office/drawing/2014/main" val="1747379095"/>
                    </a:ext>
                  </a:extLst>
                </a:gridCol>
                <a:gridCol w="2753958">
                  <a:extLst>
                    <a:ext uri="{9D8B030D-6E8A-4147-A177-3AD203B41FA5}">
                      <a16:colId xmlns:a16="http://schemas.microsoft.com/office/drawing/2014/main" val="626406388"/>
                    </a:ext>
                  </a:extLst>
                </a:gridCol>
              </a:tblGrid>
              <a:tr h="433367">
                <a:tc gridSpan="14">
                  <a:txBody>
                    <a:bodyPr/>
                    <a:lstStyle/>
                    <a:p>
                      <a:pPr algn="ctr" fontAlgn="ctr"/>
                      <a:r>
                        <a:rPr lang="en-US" sz="1400" b="1" i="0" u="none" strike="noStrike" dirty="0">
                          <a:solidFill>
                            <a:srgbClr val="000000"/>
                          </a:solidFill>
                          <a:effectLst/>
                          <a:latin typeface="Times New Roman" panose="02020603050405020304" pitchFamily="18" charset="0"/>
                        </a:rPr>
                        <a:t>NGUỒN LỰC KỸ THUÂT FLEET A321 (CẬP NHẬT 23/03)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195996487"/>
                  </a:ext>
                </a:extLst>
              </a:tr>
              <a:tr h="525293">
                <a:tc>
                  <a:txBody>
                    <a:bodyPr/>
                    <a:lstStyle/>
                    <a:p>
                      <a:pPr algn="ctr" fontAlgn="ctr"/>
                      <a:r>
                        <a:rPr lang="en-US" sz="1200" b="1" i="0" u="none" strike="noStrike">
                          <a:solidFill>
                            <a:srgbClr val="000000"/>
                          </a:solidFill>
                          <a:effectLst/>
                          <a:latin typeface="Times New Roman" panose="02020603050405020304" pitchFamily="18" charset="0"/>
                        </a:rPr>
                        <a:t>STT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Mar-25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Apr-25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May-25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Jun-25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Jul-25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Aug-25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Sep-25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Oct-25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Nov-25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Jan-26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2521127484"/>
                  </a:ext>
                </a:extLst>
              </a:tr>
              <a:tr h="1047542">
                <a:tc>
                  <a:txBody>
                    <a:bodyPr/>
                    <a:lstStyle/>
                    <a:p>
                      <a:pPr algn="ctr" fontAlgn="ctr"/>
                      <a:r>
                        <a:rPr lang="en-US" sz="1200" b="1" i="0" u="none" strike="noStrike">
                          <a:solidFill>
                            <a:srgbClr val="000000"/>
                          </a:solidFill>
                          <a:effectLst/>
                          <a:latin typeface="Times New Roman" panose="02020603050405020304" pitchFamily="18"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pt-BR" sz="1200" b="1" i="0" u="none" strike="noStrike">
                          <a:solidFill>
                            <a:srgbClr val="000000"/>
                          </a:solidFill>
                          <a:effectLst/>
                          <a:latin typeface="Times New Roman" panose="02020603050405020304" pitchFamily="18" charset="0"/>
                        </a:rPr>
                        <a:t>A321 NEO AOG</a:t>
                      </a:r>
                      <a:br>
                        <a:rPr lang="pt-BR" sz="1200" b="1" i="0" u="none" strike="noStrike">
                          <a:solidFill>
                            <a:srgbClr val="000000"/>
                          </a:solidFill>
                          <a:effectLst/>
                          <a:latin typeface="Times New Roman" panose="02020603050405020304" pitchFamily="18" charset="0"/>
                        </a:rPr>
                      </a:br>
                      <a:r>
                        <a:rPr lang="pt-BR" sz="1200" b="1" i="0" u="none" strike="noStrike">
                          <a:solidFill>
                            <a:srgbClr val="000000"/>
                          </a:solidFill>
                          <a:effectLst/>
                          <a:latin typeface="Times New Roman" panose="02020603050405020304" pitchFamily="18" charset="0"/>
                        </a:rPr>
                        <a:t> do thiếu ENG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15.00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14.50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11.50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11.50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a:solidFill>
                            <a:srgbClr val="000000"/>
                          </a:solidFill>
                          <a:effectLst/>
                          <a:latin typeface="Times New Roman" panose="02020603050405020304" pitchFamily="18" charset="0"/>
                        </a:rPr>
                        <a:t>- 04/2025: thêm 0.5 tàu do ENG về muộn</a:t>
                      </a:r>
                      <a:br>
                        <a:rPr lang="en-US" sz="1200" b="0" i="0" u="none" strike="noStrike">
                          <a:solidFill>
                            <a:srgbClr val="000000"/>
                          </a:solidFill>
                          <a:effectLst/>
                          <a:latin typeface="Times New Roman" panose="02020603050405020304" pitchFamily="18" charset="0"/>
                        </a:rPr>
                      </a:br>
                      <a:r>
                        <a:rPr lang="en-US" sz="1200" b="0" i="0" u="none" strike="noStrike">
                          <a:solidFill>
                            <a:srgbClr val="000000"/>
                          </a:solidFill>
                          <a:effectLst/>
                          <a:latin typeface="Times New Roman" panose="02020603050405020304" pitchFamily="18" charset="0"/>
                        </a:rPr>
                        <a:t>- 03/2025: thêm 0.5 tàu do ENG về muộn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46616464"/>
                  </a:ext>
                </a:extLst>
              </a:tr>
              <a:tr h="735411">
                <a:tc>
                  <a:txBody>
                    <a:bodyPr/>
                    <a:lstStyle/>
                    <a:p>
                      <a:pPr algn="ctr" fontAlgn="ctr"/>
                      <a:r>
                        <a:rPr lang="en-US" sz="1200" b="1" i="0" u="none" strike="noStrike">
                          <a:solidFill>
                            <a:srgbClr val="000000"/>
                          </a:solidFill>
                          <a:effectLst/>
                          <a:latin typeface="Times New Roman" panose="02020603050405020304" pitchFamily="18"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pt-BR" sz="1200" b="1" i="0" u="none" strike="noStrike">
                          <a:solidFill>
                            <a:srgbClr val="000000"/>
                          </a:solidFill>
                          <a:effectLst/>
                          <a:latin typeface="Times New Roman" panose="02020603050405020304" pitchFamily="18" charset="0"/>
                        </a:rPr>
                        <a:t>A321 CEO AOG do thiếu ENG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716609507"/>
                  </a:ext>
                </a:extLst>
              </a:tr>
              <a:tr h="801072">
                <a:tc>
                  <a:txBody>
                    <a:bodyPr/>
                    <a:lstStyle/>
                    <a:p>
                      <a:pPr algn="ctr" fontAlgn="ctr"/>
                      <a:r>
                        <a:rPr lang="en-US" sz="1200" b="1" i="0" u="none" strike="noStrike">
                          <a:solidFill>
                            <a:srgbClr val="000000"/>
                          </a:solidFill>
                          <a:effectLst/>
                          <a:latin typeface="Times New Roman" panose="02020603050405020304" pitchFamily="18"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0000"/>
                          </a:solidFill>
                          <a:effectLst/>
                          <a:latin typeface="Times New Roman" panose="02020603050405020304" pitchFamily="18" charset="0"/>
                        </a:rPr>
                        <a:t>A321 dừng thực hiện BD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pt-BR" sz="1200" b="0" i="0" u="none" strike="noStrike">
                          <a:solidFill>
                            <a:srgbClr val="000000"/>
                          </a:solidFill>
                          <a:effectLst/>
                          <a:latin typeface="Times New Roman" panose="02020603050405020304" pitchFamily="18" charset="0"/>
                        </a:rPr>
                        <a:t>03/2025: thêm 0.2 tàu dừng do A614 AOG 04-09/03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92430165"/>
                  </a:ext>
                </a:extLst>
              </a:tr>
              <a:tr h="819457">
                <a:tc>
                  <a:txBody>
                    <a:bodyPr/>
                    <a:lstStyle/>
                    <a:p>
                      <a:pPr algn="ctr" fontAlgn="ctr"/>
                      <a:r>
                        <a:rPr lang="en-US" sz="1200" b="1" i="0" u="none" strike="noStrike">
                          <a:solidFill>
                            <a:srgbClr val="000000"/>
                          </a:solidFill>
                          <a:effectLst/>
                          <a:latin typeface="Times New Roman" panose="02020603050405020304" pitchFamily="18"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Tổng số tàu A321 Dừng</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(Do thiếu ENG + BD)</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(4) = (1) + (2) + (3)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17.20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15.80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12.60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14.70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15.20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15.00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14.00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14.00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13.20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3432151531"/>
                  </a:ext>
                </a:extLst>
              </a:tr>
              <a:tr h="819457">
                <a:tc>
                  <a:txBody>
                    <a:bodyPr/>
                    <a:lstStyle/>
                    <a:p>
                      <a:pPr algn="ctr" fontAlgn="ctr"/>
                      <a:r>
                        <a:rPr lang="en-US" sz="1200" b="1" i="0" u="none" strike="noStrike">
                          <a:solidFill>
                            <a:srgbClr val="000000"/>
                          </a:solidFill>
                          <a:effectLst/>
                          <a:latin typeface="Times New Roman" panose="02020603050405020304" pitchFamily="18"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0000"/>
                          </a:solidFill>
                          <a:effectLst/>
                          <a:latin typeface="Times New Roman" panose="02020603050405020304" pitchFamily="18" charset="0"/>
                        </a:rPr>
                        <a:t>Tổng số tàu A321 thực tế có thể khai thác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47.8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49.2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48.9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52.4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53.7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50.3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49.8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50.0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51.0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51.0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51.8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7247085"/>
                  </a:ext>
                </a:extLst>
              </a:tr>
            </a:tbl>
          </a:graphicData>
        </a:graphic>
      </p:graphicFrame>
    </p:spTree>
    <p:extLst>
      <p:ext uri="{BB962C8B-B14F-4D97-AF65-F5344CB8AC3E}">
        <p14:creationId xmlns:p14="http://schemas.microsoft.com/office/powerpoint/2010/main" val="31686745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Title 1">
            <a:extLst>
              <a:ext uri="{FF2B5EF4-FFF2-40B4-BE49-F238E27FC236}">
                <a16:creationId xmlns:a16="http://schemas.microsoft.com/office/drawing/2014/main" id="{5781951A-75AB-4FD9-911A-99894057CF57}"/>
              </a:ext>
            </a:extLst>
          </p:cNvPr>
          <p:cNvSpPr txBox="1">
            <a:spLocks/>
          </p:cNvSpPr>
          <p:nvPr/>
        </p:nvSpPr>
        <p:spPr>
          <a:xfrm>
            <a:off x="304800" y="54848"/>
            <a:ext cx="9792802"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r>
              <a:rPr lang="en-US" sz="2400" b="1" dirty="0">
                <a:solidFill>
                  <a:srgbClr val="D2A43B"/>
                </a:solidFill>
                <a:ea typeface="Tahoma" pitchFamily="34" charset="0"/>
                <a:cs typeface="Times New Roman" panose="02020603050405020304" pitchFamily="18" charset="0"/>
              </a:rPr>
              <a:t>NGUỒN LỰC TÀU BAY – A350/B787</a:t>
            </a:r>
          </a:p>
        </p:txBody>
      </p:sp>
      <p:graphicFrame>
        <p:nvGraphicFramePr>
          <p:cNvPr id="3" name="Table 2">
            <a:extLst>
              <a:ext uri="{FF2B5EF4-FFF2-40B4-BE49-F238E27FC236}">
                <a16:creationId xmlns:a16="http://schemas.microsoft.com/office/drawing/2014/main" id="{48F3D3C5-715B-7D0E-FEF2-77C27D4613E6}"/>
              </a:ext>
            </a:extLst>
          </p:cNvPr>
          <p:cNvGraphicFramePr>
            <a:graphicFrameLocks noGrp="1"/>
          </p:cNvGraphicFramePr>
          <p:nvPr>
            <p:extLst/>
          </p:nvPr>
        </p:nvGraphicFramePr>
        <p:xfrm>
          <a:off x="419100" y="491359"/>
          <a:ext cx="11353800" cy="6325994"/>
        </p:xfrm>
        <a:graphic>
          <a:graphicData uri="http://schemas.openxmlformats.org/drawingml/2006/table">
            <a:tbl>
              <a:tblPr/>
              <a:tblGrid>
                <a:gridCol w="376033">
                  <a:extLst>
                    <a:ext uri="{9D8B030D-6E8A-4147-A177-3AD203B41FA5}">
                      <a16:colId xmlns:a16="http://schemas.microsoft.com/office/drawing/2014/main" val="2462432002"/>
                    </a:ext>
                  </a:extLst>
                </a:gridCol>
                <a:gridCol w="2571587">
                  <a:extLst>
                    <a:ext uri="{9D8B030D-6E8A-4147-A177-3AD203B41FA5}">
                      <a16:colId xmlns:a16="http://schemas.microsoft.com/office/drawing/2014/main" val="2032177862"/>
                    </a:ext>
                  </a:extLst>
                </a:gridCol>
                <a:gridCol w="533725">
                  <a:extLst>
                    <a:ext uri="{9D8B030D-6E8A-4147-A177-3AD203B41FA5}">
                      <a16:colId xmlns:a16="http://schemas.microsoft.com/office/drawing/2014/main" val="3232154118"/>
                    </a:ext>
                  </a:extLst>
                </a:gridCol>
                <a:gridCol w="497336">
                  <a:extLst>
                    <a:ext uri="{9D8B030D-6E8A-4147-A177-3AD203B41FA5}">
                      <a16:colId xmlns:a16="http://schemas.microsoft.com/office/drawing/2014/main" val="2411517180"/>
                    </a:ext>
                  </a:extLst>
                </a:gridCol>
                <a:gridCol w="545855">
                  <a:extLst>
                    <a:ext uri="{9D8B030D-6E8A-4147-A177-3AD203B41FA5}">
                      <a16:colId xmlns:a16="http://schemas.microsoft.com/office/drawing/2014/main" val="3701555205"/>
                    </a:ext>
                  </a:extLst>
                </a:gridCol>
                <a:gridCol w="497336">
                  <a:extLst>
                    <a:ext uri="{9D8B030D-6E8A-4147-A177-3AD203B41FA5}">
                      <a16:colId xmlns:a16="http://schemas.microsoft.com/office/drawing/2014/main" val="2655600309"/>
                    </a:ext>
                  </a:extLst>
                </a:gridCol>
                <a:gridCol w="460945">
                  <a:extLst>
                    <a:ext uri="{9D8B030D-6E8A-4147-A177-3AD203B41FA5}">
                      <a16:colId xmlns:a16="http://schemas.microsoft.com/office/drawing/2014/main" val="377515579"/>
                    </a:ext>
                  </a:extLst>
                </a:gridCol>
                <a:gridCol w="521595">
                  <a:extLst>
                    <a:ext uri="{9D8B030D-6E8A-4147-A177-3AD203B41FA5}">
                      <a16:colId xmlns:a16="http://schemas.microsoft.com/office/drawing/2014/main" val="2934201303"/>
                    </a:ext>
                  </a:extLst>
                </a:gridCol>
                <a:gridCol w="497336">
                  <a:extLst>
                    <a:ext uri="{9D8B030D-6E8A-4147-A177-3AD203B41FA5}">
                      <a16:colId xmlns:a16="http://schemas.microsoft.com/office/drawing/2014/main" val="3245005194"/>
                    </a:ext>
                  </a:extLst>
                </a:gridCol>
                <a:gridCol w="497336">
                  <a:extLst>
                    <a:ext uri="{9D8B030D-6E8A-4147-A177-3AD203B41FA5}">
                      <a16:colId xmlns:a16="http://schemas.microsoft.com/office/drawing/2014/main" val="2646923633"/>
                    </a:ext>
                  </a:extLst>
                </a:gridCol>
                <a:gridCol w="521595">
                  <a:extLst>
                    <a:ext uri="{9D8B030D-6E8A-4147-A177-3AD203B41FA5}">
                      <a16:colId xmlns:a16="http://schemas.microsoft.com/office/drawing/2014/main" val="1345692272"/>
                    </a:ext>
                  </a:extLst>
                </a:gridCol>
                <a:gridCol w="497336">
                  <a:extLst>
                    <a:ext uri="{9D8B030D-6E8A-4147-A177-3AD203B41FA5}">
                      <a16:colId xmlns:a16="http://schemas.microsoft.com/office/drawing/2014/main" val="3967678259"/>
                    </a:ext>
                  </a:extLst>
                </a:gridCol>
                <a:gridCol w="3335785">
                  <a:extLst>
                    <a:ext uri="{9D8B030D-6E8A-4147-A177-3AD203B41FA5}">
                      <a16:colId xmlns:a16="http://schemas.microsoft.com/office/drawing/2014/main" val="2649467477"/>
                    </a:ext>
                  </a:extLst>
                </a:gridCol>
              </a:tblGrid>
              <a:tr h="265899">
                <a:tc gridSpan="13">
                  <a:txBody>
                    <a:bodyPr/>
                    <a:lstStyle/>
                    <a:p>
                      <a:pPr algn="ctr" fontAlgn="ctr"/>
                      <a:r>
                        <a:rPr lang="en-US" sz="1400" b="1" i="0" u="none" strike="noStrike" dirty="0">
                          <a:solidFill>
                            <a:srgbClr val="000000"/>
                          </a:solidFill>
                          <a:effectLst/>
                          <a:latin typeface="Times New Roman" panose="02020603050405020304" pitchFamily="18" charset="0"/>
                        </a:rPr>
                        <a:t>NGUỒN LỰC KỸ THUÂT A350/B787 (CẬP NHẬT 23/03)</a:t>
                      </a:r>
                    </a:p>
                  </a:txBody>
                  <a:tcPr marL="0" marR="0" marT="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318624785"/>
                  </a:ext>
                </a:extLst>
              </a:tr>
              <a:tr h="251395">
                <a:tc>
                  <a:txBody>
                    <a:bodyPr/>
                    <a:lstStyle/>
                    <a:p>
                      <a:pPr algn="ctr" fontAlgn="ctr"/>
                      <a:r>
                        <a:rPr lang="en-US" sz="1200" b="1" i="0" u="none" strike="noStrike" dirty="0">
                          <a:solidFill>
                            <a:srgbClr val="000000"/>
                          </a:solidFill>
                          <a:effectLst/>
                          <a:latin typeface="Times New Roman" panose="02020603050405020304" pitchFamily="18" charset="0"/>
                        </a:rPr>
                        <a:t>STT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algn="ctr" fontAlgn="ctr"/>
                      <a:r>
                        <a:rPr lang="en-US" sz="1200" b="1" i="0" u="none" strike="noStrike" dirty="0">
                          <a:solidFill>
                            <a:srgbClr val="000000"/>
                          </a:solidFill>
                          <a:effectLst/>
                          <a:latin typeface="Times New Roman" panose="02020603050405020304" pitchFamily="18" charset="0"/>
                        </a:rPr>
                        <a:t>A/C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algn="ctr" fontAlgn="ctr"/>
                      <a:r>
                        <a:rPr lang="en-US" sz="1200" b="1" i="0" u="none" strike="noStrike">
                          <a:solidFill>
                            <a:srgbClr val="000000"/>
                          </a:solidFill>
                          <a:effectLst/>
                          <a:latin typeface="Times New Roman" panose="02020603050405020304" pitchFamily="18" charset="0"/>
                        </a:rPr>
                        <a:t>Mar-25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algn="ctr" fontAlgn="ctr"/>
                      <a:r>
                        <a:rPr lang="en-US" sz="1200" b="1" i="0" u="none" strike="noStrike">
                          <a:solidFill>
                            <a:srgbClr val="000000"/>
                          </a:solidFill>
                          <a:effectLst/>
                          <a:latin typeface="Times New Roman" panose="02020603050405020304" pitchFamily="18" charset="0"/>
                        </a:rPr>
                        <a:t>Apr-25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algn="ctr" fontAlgn="ctr"/>
                      <a:r>
                        <a:rPr lang="en-US" sz="1200" b="1" i="0" u="none" strike="noStrike">
                          <a:solidFill>
                            <a:srgbClr val="000000"/>
                          </a:solidFill>
                          <a:effectLst/>
                          <a:latin typeface="Times New Roman" panose="02020603050405020304" pitchFamily="18" charset="0"/>
                        </a:rPr>
                        <a:t>May-25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algn="ctr" fontAlgn="ctr"/>
                      <a:r>
                        <a:rPr lang="en-US" sz="1200" b="1" i="0" u="none" strike="noStrike">
                          <a:solidFill>
                            <a:srgbClr val="000000"/>
                          </a:solidFill>
                          <a:effectLst/>
                          <a:latin typeface="Times New Roman" panose="02020603050405020304" pitchFamily="18" charset="0"/>
                        </a:rPr>
                        <a:t>Jun-25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algn="ctr" fontAlgn="ctr"/>
                      <a:r>
                        <a:rPr lang="en-US" sz="1200" b="1" i="0" u="none" strike="noStrike">
                          <a:solidFill>
                            <a:srgbClr val="000000"/>
                          </a:solidFill>
                          <a:effectLst/>
                          <a:latin typeface="Times New Roman" panose="02020603050405020304" pitchFamily="18" charset="0"/>
                        </a:rPr>
                        <a:t>Jul-25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algn="ctr" fontAlgn="ctr"/>
                      <a:r>
                        <a:rPr lang="en-US" sz="1200" b="1" i="0" u="none" strike="noStrike">
                          <a:solidFill>
                            <a:srgbClr val="000000"/>
                          </a:solidFill>
                          <a:effectLst/>
                          <a:latin typeface="Times New Roman" panose="02020603050405020304" pitchFamily="18" charset="0"/>
                        </a:rPr>
                        <a:t>Aug-25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algn="ctr" fontAlgn="ctr"/>
                      <a:r>
                        <a:rPr lang="en-US" sz="1200" b="1" i="0" u="none" strike="noStrike">
                          <a:solidFill>
                            <a:srgbClr val="000000"/>
                          </a:solidFill>
                          <a:effectLst/>
                          <a:latin typeface="Times New Roman" panose="02020603050405020304" pitchFamily="18" charset="0"/>
                        </a:rPr>
                        <a:t>Sep-25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algn="ctr" fontAlgn="ctr"/>
                      <a:r>
                        <a:rPr lang="en-US" sz="1200" b="1" i="0" u="none" strike="noStrike">
                          <a:solidFill>
                            <a:srgbClr val="000000"/>
                          </a:solidFill>
                          <a:effectLst/>
                          <a:latin typeface="Times New Roman" panose="02020603050405020304" pitchFamily="18" charset="0"/>
                        </a:rPr>
                        <a:t>Oct-25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algn="ctr" fontAlgn="ctr"/>
                      <a:r>
                        <a:rPr lang="en-US" sz="1200" b="1" i="0" u="none" strike="noStrike">
                          <a:solidFill>
                            <a:srgbClr val="000000"/>
                          </a:solidFill>
                          <a:effectLst/>
                          <a:latin typeface="Times New Roman" panose="02020603050405020304" pitchFamily="18" charset="0"/>
                        </a:rPr>
                        <a:t>Nov-25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algn="ctr" fontAlgn="ctr"/>
                      <a:r>
                        <a:rPr lang="en-US" sz="1200" b="1" i="0" u="none" strike="noStrike">
                          <a:solidFill>
                            <a:srgbClr val="000000"/>
                          </a:solidFill>
                          <a:effectLst/>
                          <a:latin typeface="Times New Roman" panose="02020603050405020304" pitchFamily="18" charset="0"/>
                        </a:rPr>
                        <a:t>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algn="ctr" fontAlgn="ctr"/>
                      <a:r>
                        <a:rPr lang="en-US" sz="1200" b="1" i="0" u="none" strike="noStrike" dirty="0">
                          <a:solidFill>
                            <a:srgbClr val="000000"/>
                          </a:solidFill>
                          <a:effectLst/>
                          <a:latin typeface="Times New Roman" panose="02020603050405020304" pitchFamily="18" charset="0"/>
                        </a:rPr>
                        <a:t>Note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971323032"/>
                  </a:ext>
                </a:extLst>
              </a:tr>
              <a:tr h="1361723">
                <a:tc>
                  <a:txBody>
                    <a:bodyPr/>
                    <a:lstStyle/>
                    <a:p>
                      <a:pPr algn="ctr" fontAlgn="ctr"/>
                      <a:r>
                        <a:rPr lang="en-US" sz="1200" b="0" i="0" u="none" strike="noStrike">
                          <a:solidFill>
                            <a:srgbClr val="000000"/>
                          </a:solidFill>
                          <a:effectLst/>
                          <a:latin typeface="Times New Roman" panose="02020603050405020304" pitchFamily="18"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pt-BR" sz="1200" b="1" i="0" u="none" strike="noStrike" dirty="0">
                          <a:solidFill>
                            <a:srgbClr val="000000"/>
                          </a:solidFill>
                          <a:effectLst/>
                          <a:latin typeface="Times New Roman" panose="02020603050405020304" pitchFamily="18" charset="0"/>
                        </a:rPr>
                        <a:t>A350 AOG do thiếu ENG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imes New Roman" panose="02020603050405020304" pitchFamily="18"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imes New Roman" panose="02020603050405020304" pitchFamily="18"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imes New Roman" panose="02020603050405020304" pitchFamily="18" charset="0"/>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imes New Roman" panose="02020603050405020304" pitchFamily="18"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200" b="0" i="0" u="none" strike="noStrike" dirty="0">
                          <a:solidFill>
                            <a:srgbClr val="000000"/>
                          </a:solidFill>
                          <a:effectLst/>
                          <a:latin typeface="Times New Roman" panose="02020603050405020304" pitchFamily="18" charset="0"/>
                        </a:rPr>
                        <a:t>KB tốt giữ giờ 03 động cơ tháo trong cao điểm hè:  - 21346 (A891): Cần giữ giờ 63 ngày (đã lên phương án giữ giờ 50 ngày bao gồm offwing 23 ngày và 27 ngày swap ENG với A899 Y6);</a:t>
                      </a:r>
                      <a:br>
                        <a:rPr lang="vi-VN" sz="1200" b="0" i="0" u="none" strike="noStrike" dirty="0">
                          <a:solidFill>
                            <a:srgbClr val="000000"/>
                          </a:solidFill>
                          <a:effectLst/>
                          <a:latin typeface="Times New Roman" panose="02020603050405020304" pitchFamily="18" charset="0"/>
                        </a:rPr>
                      </a:br>
                      <a:r>
                        <a:rPr lang="vi-VN" sz="1200" b="0" i="0" u="none" strike="noStrike" dirty="0">
                          <a:solidFill>
                            <a:srgbClr val="000000"/>
                          </a:solidFill>
                          <a:effectLst/>
                          <a:latin typeface="Times New Roman" panose="02020603050405020304" pitchFamily="18" charset="0"/>
                        </a:rPr>
                        <a:t>- 21418 (A890): Cần giữ giờ 38 ngày (đã lên phương án giữ giờ 30 ngày bao bồm dừng Đkỳ 10 ngày và 20 ngày swap ENG với A899 Y6) </a:t>
                      </a:r>
                      <a:br>
                        <a:rPr lang="vi-VN" sz="1200" b="0" i="0" u="none" strike="noStrike" dirty="0">
                          <a:solidFill>
                            <a:srgbClr val="000000"/>
                          </a:solidFill>
                          <a:effectLst/>
                          <a:latin typeface="Times New Roman" panose="02020603050405020304" pitchFamily="18" charset="0"/>
                        </a:rPr>
                      </a:br>
                      <a:r>
                        <a:rPr lang="vi-VN" sz="1200" b="0" i="0" u="none" strike="noStrike" dirty="0">
                          <a:solidFill>
                            <a:srgbClr val="000000"/>
                          </a:solidFill>
                          <a:effectLst/>
                          <a:latin typeface="Times New Roman" panose="02020603050405020304" pitchFamily="18" charset="0"/>
                        </a:rPr>
                        <a:t>- 21317 (A897): Cần giữ giờ 12 ngày.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5013741"/>
                  </a:ext>
                </a:extLst>
              </a:tr>
              <a:tr h="346475">
                <a:tc>
                  <a:txBody>
                    <a:bodyPr/>
                    <a:lstStyle/>
                    <a:p>
                      <a:pPr algn="ctr" fontAlgn="ctr"/>
                      <a:r>
                        <a:rPr lang="en-US" sz="1200" b="0" i="0" u="none" strike="noStrike">
                          <a:solidFill>
                            <a:srgbClr val="000000"/>
                          </a:solidFill>
                          <a:effectLst/>
                          <a:latin typeface="Times New Roman" panose="02020603050405020304" pitchFamily="18"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A350 dừng BD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0.8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dirty="0">
                          <a:solidFill>
                            <a:srgbClr val="FF0000"/>
                          </a:solidFill>
                          <a:effectLst/>
                          <a:latin typeface="Times New Roman" panose="02020603050405020304" pitchFamily="18" charset="0"/>
                        </a:rPr>
                        <a:t>06/2025: </a:t>
                      </a:r>
                      <a:r>
                        <a:rPr lang="en-US" sz="1200" b="0" i="0" u="none" strike="noStrike" dirty="0" err="1">
                          <a:solidFill>
                            <a:srgbClr val="FF0000"/>
                          </a:solidFill>
                          <a:effectLst/>
                          <a:latin typeface="Times New Roman" panose="02020603050405020304" pitchFamily="18" charset="0"/>
                        </a:rPr>
                        <a:t>tăng</a:t>
                      </a:r>
                      <a:r>
                        <a:rPr lang="en-US" sz="1200" b="0" i="0" u="none" strike="noStrike" dirty="0">
                          <a:solidFill>
                            <a:srgbClr val="FF0000"/>
                          </a:solidFill>
                          <a:effectLst/>
                          <a:latin typeface="Times New Roman" panose="02020603050405020304" pitchFamily="18" charset="0"/>
                        </a:rPr>
                        <a:t> 0.5 </a:t>
                      </a:r>
                      <a:r>
                        <a:rPr lang="en-US" sz="1200" b="0" i="0" u="none" strike="noStrike" dirty="0" err="1">
                          <a:solidFill>
                            <a:srgbClr val="FF0000"/>
                          </a:solidFill>
                          <a:effectLst/>
                          <a:latin typeface="Times New Roman" panose="02020603050405020304" pitchFamily="18" charset="0"/>
                        </a:rPr>
                        <a:t>tàu</a:t>
                      </a:r>
                      <a:r>
                        <a:rPr lang="en-US" sz="1200" b="0" i="0" u="none" strike="noStrike" dirty="0">
                          <a:solidFill>
                            <a:srgbClr val="FF0000"/>
                          </a:solidFill>
                          <a:effectLst/>
                          <a:latin typeface="Times New Roman" panose="02020603050405020304" pitchFamily="18" charset="0"/>
                        </a:rPr>
                        <a:t> do A886/A887 RTS </a:t>
                      </a:r>
                      <a:r>
                        <a:rPr lang="en-US" sz="1200" b="0" i="0" u="none" strike="noStrike" dirty="0" err="1">
                          <a:solidFill>
                            <a:srgbClr val="FF0000"/>
                          </a:solidFill>
                          <a:effectLst/>
                          <a:latin typeface="Times New Roman" panose="02020603050405020304" pitchFamily="18" charset="0"/>
                        </a:rPr>
                        <a:t>cần</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hoàn</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thiện</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cấu</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hình</a:t>
                      </a:r>
                      <a:r>
                        <a:rPr lang="en-US" sz="1200" b="0" i="0" u="none" strike="noStrike" dirty="0">
                          <a:solidFill>
                            <a:srgbClr val="FF0000"/>
                          </a:solidFill>
                          <a:effectLst/>
                          <a:latin typeface="Times New Roman" panose="02020603050405020304" pitchFamily="18" charset="0"/>
                        </a:rPr>
                        <a:t> ENG và </a:t>
                      </a:r>
                      <a:r>
                        <a:rPr lang="en-US" sz="1200" b="0" i="0" u="none" strike="noStrike" dirty="0" err="1">
                          <a:solidFill>
                            <a:srgbClr val="FF0000"/>
                          </a:solidFill>
                          <a:effectLst/>
                          <a:latin typeface="Times New Roman" panose="02020603050405020304" pitchFamily="18" charset="0"/>
                        </a:rPr>
                        <a:t>thực</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hiện</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các</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công</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việc</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hết</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hạn</a:t>
                      </a:r>
                      <a:endParaRPr lang="en-US" sz="1200" b="0" i="0" u="none" strike="noStrike" dirty="0">
                        <a:solidFill>
                          <a:srgbClr val="FF0000"/>
                        </a:solidFill>
                        <a:effectLst/>
                        <a:latin typeface="Times New Roman" panose="02020603050405020304"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2231206830"/>
                  </a:ext>
                </a:extLst>
              </a:tr>
              <a:tr h="322300">
                <a:tc>
                  <a:txBody>
                    <a:bodyPr/>
                    <a:lstStyle/>
                    <a:p>
                      <a:pPr algn="ctr" fontAlgn="ctr"/>
                      <a:r>
                        <a:rPr lang="en-US" sz="1200" b="0" i="0" u="none" strike="noStrike">
                          <a:solidFill>
                            <a:srgbClr val="000000"/>
                          </a:solidFill>
                          <a:effectLst/>
                          <a:latin typeface="Times New Roman" panose="02020603050405020304" pitchFamily="18"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0000"/>
                          </a:solidFill>
                          <a:effectLst/>
                          <a:latin typeface="Times New Roman" panose="02020603050405020304" pitchFamily="18" charset="0"/>
                        </a:rPr>
                        <a:t>A350 Dừng (ENG + BD)</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(3) = (1) + (2)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5.1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5.1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50163541"/>
                  </a:ext>
                </a:extLst>
              </a:tr>
              <a:tr h="322300">
                <a:tc>
                  <a:txBody>
                    <a:bodyPr/>
                    <a:lstStyle/>
                    <a:p>
                      <a:pPr algn="ctr" fontAlgn="ctr"/>
                      <a:r>
                        <a:rPr lang="en-US" sz="1200" b="0" i="0" u="none" strike="noStrike">
                          <a:solidFill>
                            <a:srgbClr val="000000"/>
                          </a:solidFill>
                          <a:effectLst/>
                          <a:latin typeface="Times New Roman" panose="02020603050405020304" pitchFamily="18"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A350 thực tế có thể khai thác</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(4) = 14 - (3)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8.9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8.9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9.4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2845046935"/>
                  </a:ext>
                </a:extLst>
              </a:tr>
              <a:tr h="733235">
                <a:tc>
                  <a:txBody>
                    <a:bodyPr/>
                    <a:lstStyle/>
                    <a:p>
                      <a:pPr algn="ctr" fontAlgn="ctr"/>
                      <a:r>
                        <a:rPr lang="en-US" sz="1200" b="0" i="0" u="none" strike="noStrike">
                          <a:solidFill>
                            <a:srgbClr val="000000"/>
                          </a:solidFill>
                          <a:effectLst/>
                          <a:latin typeface="Times New Roman" panose="02020603050405020304" pitchFamily="18"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pt-BR" sz="1200" b="1" i="0" u="none" strike="noStrike">
                          <a:solidFill>
                            <a:srgbClr val="000000"/>
                          </a:solidFill>
                          <a:effectLst/>
                          <a:latin typeface="Times New Roman" panose="02020603050405020304" pitchFamily="18" charset="0"/>
                        </a:rPr>
                        <a:t>B787 rủi ro AOG do ENG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200" b="0" i="0" u="none" strike="noStrike" dirty="0">
                          <a:solidFill>
                            <a:srgbClr val="000000"/>
                          </a:solidFill>
                          <a:effectLst/>
                          <a:latin typeface="+mn-lt"/>
                        </a:rPr>
                        <a:t>'03/2025: tăng 04 tàu dừng do A864 AOG từ 14/03 chờ động cơ dự kiến bàn giao VAECO 22/03</a:t>
                      </a:r>
                    </a:p>
                    <a:p>
                      <a:pPr algn="l" fontAlgn="ctr"/>
                      <a:r>
                        <a:rPr lang="vi-VN" sz="1200" b="0" i="0" u="none" strike="noStrike" dirty="0">
                          <a:solidFill>
                            <a:srgbClr val="FF0000"/>
                          </a:solidFill>
                          <a:effectLst/>
                          <a:latin typeface="+mn-lt"/>
                        </a:rPr>
                        <a:t>04/2025: sẽ ảnh hưởng nguồn lực do ENG A868 chỉ bay hết 07/04.</a:t>
                      </a:r>
                    </a:p>
                    <a:p>
                      <a:pPr algn="l" fontAlgn="ctr"/>
                      <a:r>
                        <a:rPr lang="vi-VN" sz="1200" b="0" i="0" u="none" strike="noStrike" dirty="0">
                          <a:solidFill>
                            <a:srgbClr val="FF0000"/>
                          </a:solidFill>
                          <a:effectLst/>
                          <a:latin typeface="+mn-lt"/>
                        </a:rPr>
                        <a:t>- Rủi ro phát sinh tàu AOG do ENG (A863/A861 có giới hạn BSI 50CY).</a:t>
                      </a:r>
                      <a:endParaRPr lang="vi-VN" sz="1200" b="0" i="0" u="none" strike="noStrike" dirty="0">
                        <a:solidFill>
                          <a:srgbClr val="FF0000"/>
                        </a:solidFill>
                        <a:effectLst/>
                        <a:latin typeface="Times New Roman" panose="02020603050405020304"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44341745"/>
                  </a:ext>
                </a:extLst>
              </a:tr>
              <a:tr h="502791">
                <a:tc>
                  <a:txBody>
                    <a:bodyPr/>
                    <a:lstStyle/>
                    <a:p>
                      <a:pPr algn="ctr" fontAlgn="ctr"/>
                      <a:r>
                        <a:rPr lang="en-US" sz="1200" b="0" i="0" u="none" strike="noStrike">
                          <a:solidFill>
                            <a:srgbClr val="000000"/>
                          </a:solidFill>
                          <a:effectLst/>
                          <a:latin typeface="Times New Roman" panose="02020603050405020304" pitchFamily="18" charset="0"/>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B787 dừng BD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0.8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vi-VN" sz="1200" b="0" i="0" u="none" strike="noStrike">
                          <a:solidFill>
                            <a:srgbClr val="000000"/>
                          </a:solidFill>
                          <a:effectLst/>
                          <a:latin typeface="Times New Roman" panose="02020603050405020304" pitchFamily="18" charset="0"/>
                        </a:rPr>
                        <a:t>03/2025: tăng thêm 0.2 tàu dừng do bổ sung swap ENG A870 &amp; A863 để A870 bay nga (A870 bổ sung sơn cánh tận dụng thời gian AOG do hỏng ENG)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043655215"/>
                  </a:ext>
                </a:extLst>
              </a:tr>
              <a:tr h="322300">
                <a:tc>
                  <a:txBody>
                    <a:bodyPr/>
                    <a:lstStyle/>
                    <a:p>
                      <a:pPr algn="ctr" fontAlgn="ctr"/>
                      <a:r>
                        <a:rPr lang="en-US" sz="1200" b="0" i="0" u="none" strike="noStrike">
                          <a:solidFill>
                            <a:srgbClr val="000000"/>
                          </a:solidFill>
                          <a:effectLst/>
                          <a:latin typeface="Times New Roman" panose="02020603050405020304" pitchFamily="18" charset="0"/>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nb-NO" sz="1200" b="1" i="0" u="none" strike="noStrike">
                          <a:solidFill>
                            <a:srgbClr val="000000"/>
                          </a:solidFill>
                          <a:effectLst/>
                          <a:latin typeface="Times New Roman" panose="02020603050405020304" pitchFamily="18" charset="0"/>
                        </a:rPr>
                        <a:t>B787 Dừng (ENG + BD)</a:t>
                      </a:r>
                      <a:br>
                        <a:rPr lang="nb-NO" sz="1200" b="1" i="0" u="none" strike="noStrike">
                          <a:solidFill>
                            <a:srgbClr val="000000"/>
                          </a:solidFill>
                          <a:effectLst/>
                          <a:latin typeface="Times New Roman" panose="02020603050405020304" pitchFamily="18" charset="0"/>
                        </a:rPr>
                      </a:br>
                      <a:r>
                        <a:rPr lang="nb-NO" sz="1200" b="1" i="0" u="none" strike="noStrike">
                          <a:solidFill>
                            <a:srgbClr val="000000"/>
                          </a:solidFill>
                          <a:effectLst/>
                          <a:latin typeface="Times New Roman" panose="02020603050405020304" pitchFamily="18" charset="0"/>
                        </a:rPr>
                        <a:t>(7) = (5) + (6)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24647858"/>
                  </a:ext>
                </a:extLst>
              </a:tr>
              <a:tr h="322300">
                <a:tc>
                  <a:txBody>
                    <a:bodyPr/>
                    <a:lstStyle/>
                    <a:p>
                      <a:pPr algn="ctr" fontAlgn="ctr"/>
                      <a:r>
                        <a:rPr lang="en-US" sz="1200" b="0" i="0" u="none" strike="noStrike">
                          <a:solidFill>
                            <a:srgbClr val="000000"/>
                          </a:solidFill>
                          <a:effectLst/>
                          <a:latin typeface="Times New Roman" panose="02020603050405020304" pitchFamily="18" charset="0"/>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B787 thực tế có thể khai thác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15.1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15.9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dirty="0">
                          <a:solidFill>
                            <a:srgbClr val="000000"/>
                          </a:solidFill>
                          <a:effectLst/>
                          <a:latin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2677277007"/>
                  </a:ext>
                </a:extLst>
              </a:tr>
              <a:tr h="322300">
                <a:tc>
                  <a:txBody>
                    <a:bodyPr/>
                    <a:lstStyle/>
                    <a:p>
                      <a:pPr algn="ctr" fontAlgn="ctr"/>
                      <a:r>
                        <a:rPr lang="en-US" sz="1200" b="0" i="0" u="none" strike="noStrike">
                          <a:solidFill>
                            <a:srgbClr val="000000"/>
                          </a:solidFill>
                          <a:effectLst/>
                          <a:latin typeface="Times New Roman" panose="02020603050405020304" pitchFamily="18" charset="0"/>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0000"/>
                          </a:solidFill>
                          <a:effectLst/>
                          <a:latin typeface="Times New Roman" panose="02020603050405020304" pitchFamily="18" charset="0"/>
                        </a:rPr>
                        <a:t>A350/B787 dừng ( ENG + BD)</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(9) = (3) + (7)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5.6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058408"/>
                  </a:ext>
                </a:extLst>
              </a:tr>
              <a:tr h="322300">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A350/B787 thực tế có thể khai thác</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(10) = (8) + (4)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24.8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24.4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dirty="0">
                          <a:solidFill>
                            <a:srgbClr val="000000"/>
                          </a:solidFill>
                          <a:effectLst/>
                          <a:latin typeface="Times New Roman" panose="02020603050405020304" pitchFamily="18" charset="0"/>
                        </a:rPr>
                        <a:t>28.0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29.7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28.7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dirty="0">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2235413733"/>
                  </a:ext>
                </a:extLst>
              </a:tr>
            </a:tbl>
          </a:graphicData>
        </a:graphic>
      </p:graphicFrame>
    </p:spTree>
    <p:extLst>
      <p:ext uri="{BB962C8B-B14F-4D97-AF65-F5344CB8AC3E}">
        <p14:creationId xmlns:p14="http://schemas.microsoft.com/office/powerpoint/2010/main" val="23873085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3"/>
          <p:cNvSpPr>
            <a:spLocks noGrp="1"/>
          </p:cNvSpPr>
          <p:nvPr>
            <p:ph type="sldNum" sz="quarter" idx="12"/>
          </p:nvPr>
        </p:nvSpPr>
        <p:spPr>
          <a:xfrm>
            <a:off x="8581061" y="5662098"/>
            <a:ext cx="2743200" cy="365125"/>
          </a:xfrm>
        </p:spPr>
        <p:txBody>
          <a:bodyPr>
            <a:normAutofit/>
          </a:bodyPr>
          <a:lstStyle/>
          <a:p>
            <a:fld id="{6C6B6B8D-D74E-47CD-B5EE-156060B7CD17}" type="slidenum">
              <a:rPr lang="en-US" sz="1100" smtClean="0"/>
              <a:pPr/>
              <a:t>38</a:t>
            </a:fld>
            <a:endParaRPr lang="en-US" sz="1100" dirty="0"/>
          </a:p>
        </p:txBody>
      </p:sp>
      <p:sp>
        <p:nvSpPr>
          <p:cNvPr id="21" name="TextBox 20"/>
          <p:cNvSpPr txBox="1"/>
          <p:nvPr/>
        </p:nvSpPr>
        <p:spPr>
          <a:xfrm>
            <a:off x="7070" y="39402"/>
            <a:ext cx="12184930" cy="507831"/>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lvl1pPr algn="ctr" eaLnBrk="0" fontAlgn="auto" hangingPunct="0">
              <a:spcBef>
                <a:spcPts val="0"/>
              </a:spcBef>
              <a:spcAft>
                <a:spcPts val="0"/>
              </a:spcAft>
              <a:defRPr sz="3600" b="1" i="0">
                <a:ln w="0"/>
                <a:solidFill>
                  <a:srgbClr val="FFC000"/>
                </a:solidFill>
                <a:latin typeface="Times New Roman" panose="02020603050405020304" pitchFamily="18" charset="0"/>
                <a:ea typeface="+mn-ea"/>
                <a:cs typeface="Times New Roman" panose="02020603050405020304" pitchFamily="18" charset="0"/>
              </a:defRPr>
            </a:lvl1pPr>
            <a:lvl2pPr algn="ctr" eaLnBrk="0" hangingPunct="0">
              <a:defRPr sz="4400">
                <a:solidFill>
                  <a:srgbClr val="404040"/>
                </a:solidFill>
                <a:latin typeface="Calibri" pitchFamily="34" charset="0"/>
                <a:cs typeface="ＭＳ Ｐゴシック" charset="0"/>
              </a:defRPr>
            </a:lvl2pPr>
            <a:lvl3pPr algn="ctr" eaLnBrk="0" hangingPunct="0">
              <a:defRPr sz="4400">
                <a:solidFill>
                  <a:srgbClr val="404040"/>
                </a:solidFill>
                <a:latin typeface="Calibri" pitchFamily="34" charset="0"/>
                <a:cs typeface="ＭＳ Ｐゴシック" charset="0"/>
              </a:defRPr>
            </a:lvl3pPr>
            <a:lvl4pPr algn="ctr" eaLnBrk="0" hangingPunct="0">
              <a:defRPr sz="4400">
                <a:solidFill>
                  <a:srgbClr val="404040"/>
                </a:solidFill>
                <a:latin typeface="Calibri" pitchFamily="34" charset="0"/>
                <a:cs typeface="ＭＳ Ｐゴシック" charset="0"/>
              </a:defRPr>
            </a:lvl4pPr>
            <a:lvl5pPr algn="ctr" eaLnBrk="0" hangingPunct="0">
              <a:defRPr sz="4400">
                <a:solidFill>
                  <a:srgbClr val="404040"/>
                </a:solidFill>
                <a:latin typeface="Calibri" pitchFamily="34" charset="0"/>
                <a:cs typeface="ＭＳ Ｐゴシック" charset="0"/>
              </a:defRPr>
            </a:lvl5pPr>
            <a:lvl6pPr marL="457200" algn="ctr" fontAlgn="base">
              <a:spcBef>
                <a:spcPct val="0"/>
              </a:spcBef>
              <a:spcAft>
                <a:spcPct val="0"/>
              </a:spcAft>
              <a:defRPr sz="4400">
                <a:solidFill>
                  <a:schemeClr val="bg1"/>
                </a:solidFill>
                <a:latin typeface="Calibri" pitchFamily="34" charset="0"/>
              </a:defRPr>
            </a:lvl6pPr>
            <a:lvl7pPr marL="914400" algn="ctr" fontAlgn="base">
              <a:spcBef>
                <a:spcPct val="0"/>
              </a:spcBef>
              <a:spcAft>
                <a:spcPct val="0"/>
              </a:spcAft>
              <a:defRPr sz="4400">
                <a:solidFill>
                  <a:schemeClr val="bg1"/>
                </a:solidFill>
                <a:latin typeface="Calibri" pitchFamily="34" charset="0"/>
              </a:defRPr>
            </a:lvl7pPr>
            <a:lvl8pPr marL="1371600" algn="ctr" fontAlgn="base">
              <a:spcBef>
                <a:spcPct val="0"/>
              </a:spcBef>
              <a:spcAft>
                <a:spcPct val="0"/>
              </a:spcAft>
              <a:defRPr sz="4400">
                <a:solidFill>
                  <a:schemeClr val="bg1"/>
                </a:solidFill>
                <a:latin typeface="Calibri" pitchFamily="34" charset="0"/>
              </a:defRPr>
            </a:lvl8pPr>
            <a:lvl9pPr marL="1828800" algn="ctr" fontAlgn="base">
              <a:spcBef>
                <a:spcPct val="0"/>
              </a:spcBef>
              <a:spcAft>
                <a:spcPct val="0"/>
              </a:spcAft>
              <a:defRPr sz="4400">
                <a:solidFill>
                  <a:schemeClr val="bg1"/>
                </a:solidFill>
                <a:latin typeface="Calibri" pitchFamily="34" charset="0"/>
              </a:defRPr>
            </a:lvl9pPr>
          </a:lstStyle>
          <a:p>
            <a:pPr algn="l"/>
            <a:r>
              <a:rPr lang="en-US" sz="2700" dirty="0"/>
              <a:t>HỎNG HÓC CABIN ẢNH HƯỞNG KHAI THÁC VÀ PTVT – TUẦN 12</a:t>
            </a:r>
            <a:endParaRPr lang="vi-VN" sz="2700" dirty="0"/>
          </a:p>
        </p:txBody>
      </p:sp>
      <p:sp>
        <p:nvSpPr>
          <p:cNvPr id="24" name="TextBox 23"/>
          <p:cNvSpPr txBox="1"/>
          <p:nvPr/>
        </p:nvSpPr>
        <p:spPr>
          <a:xfrm>
            <a:off x="365448" y="3761024"/>
            <a:ext cx="11688720" cy="3151247"/>
          </a:xfrm>
          <a:prstGeom prst="rect">
            <a:avLst/>
          </a:prstGeom>
          <a:noFill/>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30000"/>
              </a:lnSpc>
            </a:pPr>
            <a:r>
              <a:rPr lang="en-US" sz="1100" b="1" dirty="0" err="1">
                <a:latin typeface="Times New Roman" panose="02020603050405020304" pitchFamily="18" charset="0"/>
                <a:cs typeface="Times New Roman" panose="02020603050405020304" pitchFamily="18" charset="0"/>
              </a:rPr>
              <a:t>Nội</a:t>
            </a:r>
            <a:r>
              <a:rPr lang="en-US" sz="1100" b="1" dirty="0">
                <a:latin typeface="Times New Roman" panose="02020603050405020304" pitchFamily="18" charset="0"/>
                <a:cs typeface="Times New Roman" panose="02020603050405020304" pitchFamily="18" charset="0"/>
              </a:rPr>
              <a:t> dung </a:t>
            </a:r>
            <a:r>
              <a:rPr lang="en-US" sz="1100" b="1" dirty="0" err="1">
                <a:latin typeface="Times New Roman" panose="02020603050405020304" pitchFamily="18" charset="0"/>
                <a:cs typeface="Times New Roman" panose="02020603050405020304" pitchFamily="18" charset="0"/>
              </a:rPr>
              <a:t>khác</a:t>
            </a:r>
            <a:r>
              <a:rPr lang="en-US" sz="1100" b="1" dirty="0">
                <a:latin typeface="Times New Roman" panose="02020603050405020304" pitchFamily="18" charset="0"/>
                <a:cs typeface="Times New Roman" panose="02020603050405020304" pitchFamily="18" charset="0"/>
              </a:rPr>
              <a:t>:</a:t>
            </a:r>
          </a:p>
          <a:p>
            <a:pPr marL="285750" indent="-285750">
              <a:lnSpc>
                <a:spcPct val="130000"/>
              </a:lnSpc>
              <a:buFontTx/>
              <a:buChar char="-"/>
            </a:pPr>
            <a:r>
              <a:rPr lang="en-US" sz="1100" b="1" dirty="0">
                <a:solidFill>
                  <a:schemeClr val="tx1"/>
                </a:solidFill>
                <a:latin typeface="Times New Roman" panose="02020603050405020304" pitchFamily="18" charset="0"/>
                <a:cs typeface="Times New Roman" panose="02020603050405020304" pitchFamily="18" charset="0"/>
              </a:rPr>
              <a:t>Decal 30 </a:t>
            </a:r>
            <a:r>
              <a:rPr lang="en-US" sz="1100" b="1" dirty="0" err="1">
                <a:solidFill>
                  <a:schemeClr val="tx1"/>
                </a:solidFill>
                <a:latin typeface="Times New Roman" panose="02020603050405020304" pitchFamily="18" charset="0"/>
                <a:cs typeface="Times New Roman" panose="02020603050405020304" pitchFamily="18" charset="0"/>
              </a:rPr>
              <a:t>năm</a:t>
            </a:r>
            <a:r>
              <a:rPr lang="en-US" sz="1100" b="1" dirty="0">
                <a:solidFill>
                  <a:schemeClr val="tx1"/>
                </a:solidFill>
                <a:latin typeface="Times New Roman" panose="02020603050405020304" pitchFamily="18" charset="0"/>
                <a:cs typeface="Times New Roman" panose="02020603050405020304" pitchFamily="18" charset="0"/>
              </a:rPr>
              <a:t> 787-9</a:t>
            </a:r>
            <a:r>
              <a:rPr lang="en-US" sz="1100" dirty="0">
                <a:solidFill>
                  <a:schemeClr val="tx1"/>
                </a:solidFill>
                <a:latin typeface="Times New Roman" panose="02020603050405020304" pitchFamily="18" charset="0"/>
                <a:cs typeface="Times New Roman" panose="02020603050405020304" pitchFamily="18" charset="0"/>
              </a:rPr>
              <a:t>: Ban TT </a:t>
            </a:r>
            <a:r>
              <a:rPr lang="en-US" sz="1100" dirty="0" err="1">
                <a:solidFill>
                  <a:schemeClr val="tx1"/>
                </a:solidFill>
                <a:latin typeface="Times New Roman" panose="02020603050405020304" pitchFamily="18" charset="0"/>
                <a:cs typeface="Times New Roman" panose="02020603050405020304" pitchFamily="18" charset="0"/>
              </a:rPr>
              <a:t>yêu</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cầu</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thực</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hiện</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theo</a:t>
            </a:r>
            <a:r>
              <a:rPr lang="en-US" sz="1100" dirty="0">
                <a:solidFill>
                  <a:schemeClr val="tx1"/>
                </a:solidFill>
                <a:latin typeface="Times New Roman" panose="02020603050405020304" pitchFamily="18" charset="0"/>
                <a:cs typeface="Times New Roman" panose="02020603050405020304" pitchFamily="18" charset="0"/>
              </a:rPr>
              <a:t> decal </a:t>
            </a:r>
            <a:r>
              <a:rPr lang="en-US" sz="1100" dirty="0" err="1">
                <a:solidFill>
                  <a:schemeClr val="tx1"/>
                </a:solidFill>
                <a:latin typeface="Times New Roman" panose="02020603050405020304" pitchFamily="18" charset="0"/>
                <a:cs typeface="Times New Roman" panose="02020603050405020304" pitchFamily="18" charset="0"/>
              </a:rPr>
              <a:t>cũ</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không</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có</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chữ</a:t>
            </a:r>
            <a:r>
              <a:rPr lang="en-US" sz="1100" dirty="0">
                <a:solidFill>
                  <a:schemeClr val="tx1"/>
                </a:solidFill>
                <a:latin typeface="Times New Roman" panose="02020603050405020304" pitchFamily="18" charset="0"/>
                <a:cs typeface="Times New Roman" panose="02020603050405020304" pitchFamily="18" charset="0"/>
              </a:rPr>
              <a:t> ). Ban KT </a:t>
            </a:r>
            <a:r>
              <a:rPr lang="en-US" sz="1100" dirty="0" err="1">
                <a:solidFill>
                  <a:schemeClr val="tx1"/>
                </a:solidFill>
                <a:latin typeface="Times New Roman" panose="02020603050405020304" pitchFamily="18" charset="0"/>
                <a:cs typeface="Times New Roman" panose="02020603050405020304" pitchFamily="18" charset="0"/>
              </a:rPr>
              <a:t>đã</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thông</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báo</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lại</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đối</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tác</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và</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tiếp</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tục</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giục</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để</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sớm</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có</a:t>
            </a:r>
            <a:r>
              <a:rPr lang="en-US" sz="1100" dirty="0">
                <a:solidFill>
                  <a:schemeClr val="tx1"/>
                </a:solidFill>
                <a:latin typeface="Times New Roman" panose="02020603050405020304" pitchFamily="18" charset="0"/>
                <a:cs typeface="Times New Roman" panose="02020603050405020304" pitchFamily="18" charset="0"/>
              </a:rPr>
              <a:t> SB </a:t>
            </a:r>
            <a:r>
              <a:rPr lang="en-US" sz="1100" dirty="0" err="1">
                <a:solidFill>
                  <a:schemeClr val="tx1"/>
                </a:solidFill>
                <a:latin typeface="Times New Roman" panose="02020603050405020304" pitchFamily="18" charset="0"/>
                <a:cs typeface="Times New Roman" panose="02020603050405020304" pitchFamily="18" charset="0"/>
              </a:rPr>
              <a:t>trong</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đầu</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tháng</a:t>
            </a:r>
            <a:r>
              <a:rPr lang="en-US" sz="1100" dirty="0">
                <a:solidFill>
                  <a:schemeClr val="tx1"/>
                </a:solidFill>
                <a:latin typeface="Times New Roman" panose="02020603050405020304" pitchFamily="18" charset="0"/>
                <a:cs typeface="Times New Roman" panose="02020603050405020304" pitchFamily="18" charset="0"/>
              </a:rPr>
              <a:t> 4/2025. </a:t>
            </a:r>
            <a:r>
              <a:rPr lang="en-US" sz="1100" dirty="0" err="1">
                <a:solidFill>
                  <a:schemeClr val="tx1"/>
                </a:solidFill>
                <a:latin typeface="Times New Roman" panose="02020603050405020304" pitchFamily="18" charset="0"/>
                <a:cs typeface="Times New Roman" panose="02020603050405020304" pitchFamily="18" charset="0"/>
              </a:rPr>
              <a:t>Đã</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triển</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khai</a:t>
            </a:r>
            <a:r>
              <a:rPr lang="en-US" sz="1100" dirty="0">
                <a:solidFill>
                  <a:schemeClr val="tx1"/>
                </a:solidFill>
                <a:latin typeface="Times New Roman" panose="02020603050405020304" pitchFamily="18" charset="0"/>
                <a:cs typeface="Times New Roman" panose="02020603050405020304" pitchFamily="18" charset="0"/>
              </a:rPr>
              <a:t> SO VAECO </a:t>
            </a:r>
            <a:r>
              <a:rPr lang="en-US" sz="1100" dirty="0" err="1">
                <a:solidFill>
                  <a:schemeClr val="tx1"/>
                </a:solidFill>
                <a:latin typeface="Times New Roman" panose="02020603050405020304" pitchFamily="18" charset="0"/>
                <a:cs typeface="Times New Roman" panose="02020603050405020304" pitchFamily="18" charset="0"/>
              </a:rPr>
              <a:t>chuẩn</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bị</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vật</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tư</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dụng</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cụ</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để</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hỗ</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trợ</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đối</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tác</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vào</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thực</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hiện</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ngày</a:t>
            </a:r>
            <a:r>
              <a:rPr lang="en-US" sz="1100" dirty="0">
                <a:solidFill>
                  <a:schemeClr val="tx1"/>
                </a:solidFill>
                <a:latin typeface="Times New Roman" panose="02020603050405020304" pitchFamily="18" charset="0"/>
                <a:cs typeface="Times New Roman" panose="02020603050405020304" pitchFamily="18" charset="0"/>
              </a:rPr>
              <a:t> 8-13/4/2025</a:t>
            </a:r>
          </a:p>
          <a:p>
            <a:pPr marL="285750" indent="-285750">
              <a:lnSpc>
                <a:spcPct val="130000"/>
              </a:lnSpc>
              <a:buFontTx/>
              <a:buChar char="-"/>
            </a:pPr>
            <a:r>
              <a:rPr lang="en-US" sz="1100" b="1" dirty="0">
                <a:solidFill>
                  <a:schemeClr val="tx1"/>
                </a:solidFill>
                <a:latin typeface="Times New Roman" panose="02020603050405020304" pitchFamily="18" charset="0"/>
                <a:cs typeface="Times New Roman" panose="02020603050405020304" pitchFamily="18" charset="0"/>
              </a:rPr>
              <a:t>IFC 10 tàu A350: </a:t>
            </a:r>
          </a:p>
          <a:p>
            <a:pPr marL="742950" lvl="1" indent="-285750">
              <a:lnSpc>
                <a:spcPct val="130000"/>
              </a:lnSpc>
              <a:buFontTx/>
              <a:buChar char="-"/>
            </a:pPr>
            <a:r>
              <a:rPr lang="en-US" sz="1100" dirty="0" err="1">
                <a:solidFill>
                  <a:schemeClr val="tx1"/>
                </a:solidFill>
                <a:latin typeface="Times New Roman" panose="02020603050405020304" pitchFamily="18" charset="0"/>
                <a:cs typeface="Times New Roman" panose="02020603050405020304" pitchFamily="18" charset="0"/>
              </a:rPr>
              <a:t>Tài</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liệu</a:t>
            </a:r>
            <a:r>
              <a:rPr lang="en-US" sz="1100" dirty="0">
                <a:solidFill>
                  <a:schemeClr val="tx1"/>
                </a:solidFill>
                <a:latin typeface="Times New Roman" panose="02020603050405020304" pitchFamily="18" charset="0"/>
                <a:cs typeface="Times New Roman" panose="02020603050405020304" pitchFamily="18" charset="0"/>
              </a:rPr>
              <a:t> TSM </a:t>
            </a:r>
            <a:r>
              <a:rPr lang="en-US" sz="1100" dirty="0" err="1">
                <a:solidFill>
                  <a:schemeClr val="tx1"/>
                </a:solidFill>
                <a:latin typeface="Times New Roman" panose="02020603050405020304" pitchFamily="18" charset="0"/>
                <a:cs typeface="Times New Roman" panose="02020603050405020304" pitchFamily="18" charset="0"/>
              </a:rPr>
              <a:t>hệ</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thống</a:t>
            </a:r>
            <a:r>
              <a:rPr lang="en-US" sz="1100" dirty="0">
                <a:solidFill>
                  <a:schemeClr val="tx1"/>
                </a:solidFill>
                <a:latin typeface="Times New Roman" panose="02020603050405020304" pitchFamily="18" charset="0"/>
                <a:cs typeface="Times New Roman" panose="02020603050405020304" pitchFamily="18" charset="0"/>
              </a:rPr>
              <a:t> IFC: </a:t>
            </a:r>
            <a:r>
              <a:rPr lang="en-US" sz="1100" b="1" dirty="0" err="1">
                <a:solidFill>
                  <a:schemeClr val="tx1"/>
                </a:solidFill>
                <a:latin typeface="Times New Roman" panose="02020603050405020304" pitchFamily="18" charset="0"/>
                <a:cs typeface="Times New Roman" panose="02020603050405020304" pitchFamily="18" charset="0"/>
              </a:rPr>
              <a:t>Đã</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giao</a:t>
            </a:r>
            <a:r>
              <a:rPr lang="en-US" sz="1100" b="1" dirty="0">
                <a:solidFill>
                  <a:schemeClr val="tx1"/>
                </a:solidFill>
                <a:latin typeface="Times New Roman" panose="02020603050405020304" pitchFamily="18" charset="0"/>
                <a:cs typeface="Times New Roman" panose="02020603050405020304" pitchFamily="18" charset="0"/>
              </a:rPr>
              <a:t> 6/3/2025 </a:t>
            </a:r>
            <a:r>
              <a:rPr lang="en-US" sz="1100" b="1" dirty="0" err="1">
                <a:solidFill>
                  <a:schemeClr val="tx1"/>
                </a:solidFill>
                <a:latin typeface="Times New Roman" panose="02020603050405020304" pitchFamily="18" charset="0"/>
                <a:cs typeface="Times New Roman" panose="02020603050405020304" pitchFamily="18" charset="0"/>
              </a:rPr>
              <a:t>và</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triển</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khai</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cho</a:t>
            </a:r>
            <a:r>
              <a:rPr lang="en-US" sz="1100" b="1" dirty="0">
                <a:solidFill>
                  <a:schemeClr val="tx1"/>
                </a:solidFill>
                <a:latin typeface="Times New Roman" panose="02020603050405020304" pitchFamily="18" charset="0"/>
                <a:cs typeface="Times New Roman" panose="02020603050405020304" pitchFamily="18" charset="0"/>
              </a:rPr>
              <a:t> VAECO</a:t>
            </a: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Vật tư </a:t>
            </a:r>
            <a:r>
              <a:rPr lang="en-US" sz="1100" dirty="0" err="1">
                <a:solidFill>
                  <a:schemeClr val="tx1"/>
                </a:solidFill>
                <a:latin typeface="Times New Roman" panose="02020603050405020304" pitchFamily="18" charset="0"/>
                <a:cs typeface="Times New Roman" panose="02020603050405020304" pitchFamily="18" charset="0"/>
              </a:rPr>
              <a:t>dự</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phòng</a:t>
            </a:r>
            <a:r>
              <a:rPr lang="en-US" sz="1100"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đã</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giao</a:t>
            </a:r>
            <a:r>
              <a:rPr lang="en-US" sz="1100" b="1" dirty="0">
                <a:solidFill>
                  <a:schemeClr val="tx1"/>
                </a:solidFill>
                <a:latin typeface="Times New Roman" panose="02020603050405020304" pitchFamily="18" charset="0"/>
                <a:cs typeface="Times New Roman" panose="02020603050405020304" pitchFamily="18" charset="0"/>
              </a:rPr>
              <a:t> KFRU, MODMAN, KANDU;  FMA 01ea giao </a:t>
            </a:r>
            <a:r>
              <a:rPr lang="en-US" sz="1100" b="1" dirty="0" err="1">
                <a:solidFill>
                  <a:schemeClr val="tx1"/>
                </a:solidFill>
                <a:latin typeface="Times New Roman" panose="02020603050405020304" pitchFamily="18" charset="0"/>
                <a:cs typeface="Times New Roman" panose="02020603050405020304" pitchFamily="18" charset="0"/>
              </a:rPr>
              <a:t>tháng</a:t>
            </a:r>
            <a:r>
              <a:rPr lang="en-US" sz="1100" b="1" dirty="0">
                <a:solidFill>
                  <a:schemeClr val="tx1"/>
                </a:solidFill>
                <a:latin typeface="Times New Roman" panose="02020603050405020304" pitchFamily="18" charset="0"/>
                <a:cs typeface="Times New Roman" panose="02020603050405020304" pitchFamily="18" charset="0"/>
              </a:rPr>
              <a:t> 4/2025 (tiếp tục giục Thales)</a:t>
            </a: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 MPS </a:t>
            </a:r>
            <a:r>
              <a:rPr lang="en-US" sz="1100" dirty="0" err="1">
                <a:solidFill>
                  <a:schemeClr val="tx1"/>
                </a:solidFill>
                <a:latin typeface="Times New Roman" panose="02020603050405020304" pitchFamily="18" charset="0"/>
                <a:cs typeface="Times New Roman" panose="02020603050405020304" pitchFamily="18" charset="0"/>
              </a:rPr>
              <a:t>và</a:t>
            </a:r>
            <a:r>
              <a:rPr lang="en-US" sz="1100" dirty="0">
                <a:solidFill>
                  <a:schemeClr val="tx1"/>
                </a:solidFill>
                <a:latin typeface="Times New Roman" panose="02020603050405020304" pitchFamily="18" charset="0"/>
                <a:cs typeface="Times New Roman" panose="02020603050405020304" pitchFamily="18" charset="0"/>
              </a:rPr>
              <a:t> FSAT: </a:t>
            </a:r>
            <a:r>
              <a:rPr lang="en-US" sz="1100" b="1" dirty="0">
                <a:solidFill>
                  <a:schemeClr val="tx1"/>
                </a:solidFill>
                <a:latin typeface="Times New Roman" panose="02020603050405020304" pitchFamily="18" charset="0"/>
                <a:cs typeface="Times New Roman" panose="02020603050405020304" pitchFamily="18" charset="0"/>
              </a:rPr>
              <a:t>MPS </a:t>
            </a:r>
            <a:r>
              <a:rPr lang="en-US" sz="1100" b="1" dirty="0" err="1">
                <a:solidFill>
                  <a:schemeClr val="tx1"/>
                </a:solidFill>
                <a:latin typeface="Times New Roman" panose="02020603050405020304" pitchFamily="18" charset="0"/>
                <a:cs typeface="Times New Roman" panose="02020603050405020304" pitchFamily="18" charset="0"/>
              </a:rPr>
              <a:t>và</a:t>
            </a:r>
            <a:r>
              <a:rPr lang="en-US" sz="1100" b="1" dirty="0">
                <a:solidFill>
                  <a:schemeClr val="tx1"/>
                </a:solidFill>
                <a:latin typeface="Times New Roman" panose="02020603050405020304" pitchFamily="18" charset="0"/>
                <a:cs typeface="Times New Roman" panose="02020603050405020304" pitchFamily="18" charset="0"/>
              </a:rPr>
              <a:t> mod kit </a:t>
            </a:r>
            <a:r>
              <a:rPr lang="en-US" sz="1100" b="1" dirty="0" err="1">
                <a:solidFill>
                  <a:schemeClr val="tx1"/>
                </a:solidFill>
                <a:latin typeface="Times New Roman" panose="02020603050405020304" pitchFamily="18" charset="0"/>
                <a:cs typeface="Times New Roman" panose="02020603050405020304" pitchFamily="18" charset="0"/>
              </a:rPr>
              <a:t>đã</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giao</a:t>
            </a:r>
            <a:r>
              <a:rPr lang="en-US" sz="1100" b="1" dirty="0">
                <a:solidFill>
                  <a:schemeClr val="tx1"/>
                </a:solidFill>
                <a:latin typeface="Times New Roman" panose="02020603050405020304" pitchFamily="18" charset="0"/>
                <a:cs typeface="Times New Roman" panose="02020603050405020304" pitchFamily="18" charset="0"/>
              </a:rPr>
              <a:t>, SB release </a:t>
            </a:r>
            <a:r>
              <a:rPr lang="en-US" sz="1100" b="1" dirty="0" err="1">
                <a:solidFill>
                  <a:schemeClr val="tx1"/>
                </a:solidFill>
                <a:latin typeface="Times New Roman" panose="02020603050405020304" pitchFamily="18" charset="0"/>
                <a:cs typeface="Times New Roman" panose="02020603050405020304" pitchFamily="18" charset="0"/>
              </a:rPr>
              <a:t>cuối</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tháng</a:t>
            </a:r>
            <a:r>
              <a:rPr lang="en-US" sz="1100" b="1" dirty="0">
                <a:solidFill>
                  <a:schemeClr val="tx1"/>
                </a:solidFill>
                <a:latin typeface="Times New Roman" panose="02020603050405020304" pitchFamily="18" charset="0"/>
                <a:cs typeface="Times New Roman" panose="02020603050405020304" pitchFamily="18" charset="0"/>
              </a:rPr>
              <a:t> 3/2025. </a:t>
            </a:r>
          </a:p>
          <a:p>
            <a:pPr marL="742950" lvl="1" indent="-285750">
              <a:lnSpc>
                <a:spcPct val="130000"/>
              </a:lnSpc>
              <a:buFontTx/>
              <a:buChar char="-"/>
            </a:pPr>
            <a:r>
              <a:rPr lang="en-US" sz="1100" dirty="0" err="1">
                <a:solidFill>
                  <a:schemeClr val="tx1"/>
                </a:solidFill>
                <a:latin typeface="Times New Roman" panose="02020603050405020304" pitchFamily="18" charset="0"/>
                <a:cs typeface="Times New Roman" panose="02020603050405020304" pitchFamily="18" charset="0"/>
              </a:rPr>
              <a:t>Đã</a:t>
            </a:r>
            <a:r>
              <a:rPr lang="en-US" sz="1100" dirty="0">
                <a:solidFill>
                  <a:schemeClr val="tx1"/>
                </a:solidFill>
                <a:latin typeface="Times New Roman" panose="02020603050405020304" pitchFamily="18" charset="0"/>
                <a:cs typeface="Times New Roman" panose="02020603050405020304" pitchFamily="18" charset="0"/>
              </a:rPr>
              <a:t> gửi 02 shipset tàu bảo quản đi nâng cấp firmwarre, TAT 60-70 ngày =&gt; </a:t>
            </a:r>
            <a:r>
              <a:rPr lang="en-US" sz="1100" b="1" dirty="0" err="1">
                <a:solidFill>
                  <a:schemeClr val="tx1"/>
                </a:solidFill>
                <a:latin typeface="Times New Roman" panose="02020603050405020304" pitchFamily="18" charset="0"/>
                <a:cs typeface="Times New Roman" panose="02020603050405020304" pitchFamily="18" charset="0"/>
              </a:rPr>
              <a:t>đã</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về</a:t>
            </a:r>
            <a:r>
              <a:rPr lang="en-US" sz="1100" b="1" dirty="0">
                <a:solidFill>
                  <a:schemeClr val="tx1"/>
                </a:solidFill>
                <a:latin typeface="Times New Roman" panose="02020603050405020304" pitchFamily="18" charset="0"/>
                <a:cs typeface="Times New Roman" panose="02020603050405020304" pitchFamily="18" charset="0"/>
              </a:rPr>
              <a:t> 02 KANDU, 02 FMA, 01 MODMAN; </a:t>
            </a:r>
            <a:r>
              <a:rPr lang="en-US" sz="1100" b="1" dirty="0" err="1">
                <a:solidFill>
                  <a:schemeClr val="tx1"/>
                </a:solidFill>
                <a:latin typeface="Times New Roman" panose="02020603050405020304" pitchFamily="18" charset="0"/>
                <a:cs typeface="Times New Roman" panose="02020603050405020304" pitchFamily="18" charset="0"/>
              </a:rPr>
              <a:t>tiếp</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tục</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giục</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về</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sớm</a:t>
            </a:r>
            <a:r>
              <a:rPr lang="en-US" sz="1100" b="1" dirty="0">
                <a:solidFill>
                  <a:schemeClr val="tx1"/>
                </a:solidFill>
                <a:latin typeface="Times New Roman" panose="02020603050405020304" pitchFamily="18" charset="0"/>
                <a:cs typeface="Times New Roman" panose="02020603050405020304" pitchFamily="18" charset="0"/>
              </a:rPr>
              <a:t> 02 KRFU + 01 MODMAN</a:t>
            </a: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Đào tạo IFC VAECO 19-20/2/2025: </a:t>
            </a:r>
            <a:r>
              <a:rPr lang="en-US" sz="1100" b="1" dirty="0" err="1">
                <a:solidFill>
                  <a:schemeClr val="tx1"/>
                </a:solidFill>
                <a:latin typeface="Times New Roman" panose="02020603050405020304" pitchFamily="18" charset="0"/>
                <a:cs typeface="Times New Roman" panose="02020603050405020304" pitchFamily="18" charset="0"/>
              </a:rPr>
              <a:t>đã</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thực</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hiện</a:t>
            </a:r>
            <a:endParaRPr lang="en-US" sz="1100" b="1" dirty="0">
              <a:solidFill>
                <a:schemeClr val="tx1"/>
              </a:solidFill>
              <a:latin typeface="Times New Roman" panose="02020603050405020304" pitchFamily="18" charset="0"/>
              <a:cs typeface="Times New Roman" panose="02020603050405020304" pitchFamily="18" charset="0"/>
            </a:endParaRP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FSAT </a:t>
            </a:r>
            <a:r>
              <a:rPr lang="en-US" sz="1100" dirty="0" err="1">
                <a:solidFill>
                  <a:schemeClr val="tx1"/>
                </a:solidFill>
                <a:latin typeface="Times New Roman" panose="02020603050405020304" pitchFamily="18" charset="0"/>
                <a:cs typeface="Times New Roman" panose="02020603050405020304" pitchFamily="18" charset="0"/>
              </a:rPr>
              <a:t>từ</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ngày</a:t>
            </a:r>
            <a:r>
              <a:rPr lang="en-US" sz="1100" dirty="0">
                <a:solidFill>
                  <a:schemeClr val="tx1"/>
                </a:solidFill>
                <a:latin typeface="Times New Roman" panose="02020603050405020304" pitchFamily="18" charset="0"/>
                <a:cs typeface="Times New Roman" panose="02020603050405020304" pitchFamily="18" charset="0"/>
              </a:rPr>
              <a:t> 4-7/3/2025: </a:t>
            </a:r>
            <a:r>
              <a:rPr lang="en-US" sz="1100" b="1" dirty="0" err="1">
                <a:solidFill>
                  <a:schemeClr val="tx1"/>
                </a:solidFill>
                <a:latin typeface="Times New Roman" panose="02020603050405020304" pitchFamily="18" charset="0"/>
                <a:cs typeface="Times New Roman" panose="02020603050405020304" pitchFamily="18" charset="0"/>
              </a:rPr>
              <a:t>đã</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thực</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hiện</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kiểm</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tra</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tại</a:t>
            </a:r>
            <a:r>
              <a:rPr lang="en-US" sz="1100" b="1" dirty="0">
                <a:solidFill>
                  <a:schemeClr val="tx1"/>
                </a:solidFill>
                <a:latin typeface="Times New Roman" panose="02020603050405020304" pitchFamily="18" charset="0"/>
                <a:cs typeface="Times New Roman" panose="02020603050405020304" pitchFamily="18" charset="0"/>
              </a:rPr>
              <a:t> LAB =&gt; Thales </a:t>
            </a:r>
            <a:r>
              <a:rPr lang="en-US" sz="1100" b="1" dirty="0" err="1">
                <a:solidFill>
                  <a:schemeClr val="tx1"/>
                </a:solidFill>
                <a:latin typeface="Times New Roman" panose="02020603050405020304" pitchFamily="18" charset="0"/>
                <a:cs typeface="Times New Roman" panose="02020603050405020304" pitchFamily="18" charset="0"/>
              </a:rPr>
              <a:t>thông</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báo</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ngày</a:t>
            </a:r>
            <a:r>
              <a:rPr lang="en-US" sz="1100" b="1" dirty="0">
                <a:solidFill>
                  <a:schemeClr val="tx1"/>
                </a:solidFill>
                <a:latin typeface="Times New Roman" panose="02020603050405020304" pitchFamily="18" charset="0"/>
                <a:cs typeface="Times New Roman" panose="02020603050405020304" pitchFamily="18" charset="0"/>
              </a:rPr>
              <a:t> 14/3 SW delay </a:t>
            </a:r>
            <a:r>
              <a:rPr lang="en-US" sz="1100" b="1" dirty="0" err="1">
                <a:solidFill>
                  <a:schemeClr val="tx1"/>
                </a:solidFill>
                <a:latin typeface="Times New Roman" panose="02020603050405020304" pitchFamily="18" charset="0"/>
                <a:cs typeface="Times New Roman" panose="02020603050405020304" pitchFamily="18" charset="0"/>
              </a:rPr>
              <a:t>giữa</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tháng</a:t>
            </a:r>
            <a:r>
              <a:rPr lang="en-US" sz="1100" b="1" dirty="0">
                <a:solidFill>
                  <a:schemeClr val="tx1"/>
                </a:solidFill>
                <a:latin typeface="Times New Roman" panose="02020603050405020304" pitchFamily="18" charset="0"/>
                <a:cs typeface="Times New Roman" panose="02020603050405020304" pitchFamily="18" charset="0"/>
              </a:rPr>
              <a:t> 4/2025 (</a:t>
            </a:r>
            <a:r>
              <a:rPr lang="en-US" sz="1100" b="1" dirty="0" err="1">
                <a:solidFill>
                  <a:schemeClr val="tx1"/>
                </a:solidFill>
                <a:latin typeface="Times New Roman" panose="02020603050405020304" pitchFamily="18" charset="0"/>
                <a:cs typeface="Times New Roman" panose="02020603050405020304" pitchFamily="18" charset="0"/>
              </a:rPr>
              <a:t>phát</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sinh</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khắc</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phục</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lỗi</a:t>
            </a:r>
            <a:r>
              <a:rPr lang="en-US" sz="1100" b="1" dirty="0">
                <a:solidFill>
                  <a:schemeClr val="tx1"/>
                </a:solidFill>
                <a:latin typeface="Times New Roman" panose="02020603050405020304" pitchFamily="18" charset="0"/>
                <a:cs typeface="Times New Roman" panose="02020603050405020304" pitchFamily="18" charset="0"/>
              </a:rPr>
              <a:t> IFE)</a:t>
            </a:r>
          </a:p>
          <a:p>
            <a:pPr marL="742950" lvl="1" indent="-285750">
              <a:lnSpc>
                <a:spcPct val="130000"/>
              </a:lnSpc>
              <a:buFontTx/>
              <a:buChar char="-"/>
            </a:pPr>
            <a:r>
              <a:rPr lang="en-US" sz="1100" b="1" dirty="0" err="1">
                <a:solidFill>
                  <a:schemeClr val="tx1"/>
                </a:solidFill>
                <a:latin typeface="Times New Roman" panose="02020603050405020304" pitchFamily="18" charset="0"/>
                <a:cs typeface="Times New Roman" panose="02020603050405020304" pitchFamily="18" charset="0"/>
              </a:rPr>
              <a:t>Nâng</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cấp</a:t>
            </a:r>
            <a:r>
              <a:rPr lang="en-US" sz="1100" b="1" dirty="0">
                <a:solidFill>
                  <a:schemeClr val="tx1"/>
                </a:solidFill>
                <a:latin typeface="Times New Roman" panose="02020603050405020304" pitchFamily="18" charset="0"/>
                <a:cs typeface="Times New Roman" panose="02020603050405020304" pitchFamily="18" charset="0"/>
              </a:rPr>
              <a:t> SW on-wing 02 </a:t>
            </a:r>
            <a:r>
              <a:rPr lang="en-US" sz="1100" b="1" dirty="0" err="1">
                <a:solidFill>
                  <a:schemeClr val="tx1"/>
                </a:solidFill>
                <a:latin typeface="Times New Roman" panose="02020603050405020304" pitchFamily="18" charset="0"/>
                <a:cs typeface="Times New Roman" panose="02020603050405020304" pitchFamily="18" charset="0"/>
              </a:rPr>
              <a:t>tàu</a:t>
            </a:r>
            <a:r>
              <a:rPr lang="en-US" sz="1100" b="1" dirty="0">
                <a:solidFill>
                  <a:schemeClr val="tx1"/>
                </a:solidFill>
                <a:latin typeface="Times New Roman" panose="02020603050405020304" pitchFamily="18" charset="0"/>
                <a:cs typeface="Times New Roman" panose="02020603050405020304" pitchFamily="18" charset="0"/>
              </a:rPr>
              <a:t>: A892 &amp; A899 </a:t>
            </a:r>
            <a:r>
              <a:rPr lang="en-US" sz="1100" b="1" dirty="0" err="1">
                <a:solidFill>
                  <a:schemeClr val="tx1"/>
                </a:solidFill>
                <a:latin typeface="Times New Roman" panose="02020603050405020304" pitchFamily="18" charset="0"/>
                <a:cs typeface="Times New Roman" panose="02020603050405020304" pitchFamily="18" charset="0"/>
              </a:rPr>
              <a:t>ngày</a:t>
            </a:r>
            <a:r>
              <a:rPr lang="en-US" sz="1100" b="1" dirty="0">
                <a:solidFill>
                  <a:schemeClr val="tx1"/>
                </a:solidFill>
                <a:latin typeface="Times New Roman" panose="02020603050405020304" pitchFamily="18" charset="0"/>
                <a:cs typeface="Times New Roman" panose="02020603050405020304" pitchFamily="18" charset="0"/>
              </a:rPr>
              <a:t> 7-11/4/2025</a:t>
            </a:r>
          </a:p>
          <a:p>
            <a:pPr marL="285750" indent="-285750">
              <a:lnSpc>
                <a:spcPct val="130000"/>
              </a:lnSpc>
              <a:buFontTx/>
              <a:buChar char="-"/>
            </a:pPr>
            <a:r>
              <a:rPr lang="en-US" sz="1100" b="1" dirty="0">
                <a:solidFill>
                  <a:schemeClr val="tx1"/>
                </a:solidFill>
                <a:latin typeface="Times New Roman" panose="02020603050405020304" pitchFamily="18" charset="0"/>
                <a:cs typeface="Times New Roman" panose="02020603050405020304" pitchFamily="18" charset="0"/>
              </a:rPr>
              <a:t>CĐCH ghế 23 tàu A321CEO:</a:t>
            </a: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Đã phát HSYC lần 1, </a:t>
            </a:r>
            <a:r>
              <a:rPr lang="en-US" sz="1100" dirty="0" err="1">
                <a:solidFill>
                  <a:schemeClr val="tx1"/>
                </a:solidFill>
                <a:latin typeface="Times New Roman" panose="02020603050405020304" pitchFamily="18" charset="0"/>
                <a:cs typeface="Times New Roman" panose="02020603050405020304" pitchFamily="18" charset="0"/>
              </a:rPr>
              <a:t>và</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lần</a:t>
            </a:r>
            <a:r>
              <a:rPr lang="en-US" sz="1100" dirty="0">
                <a:solidFill>
                  <a:schemeClr val="tx1"/>
                </a:solidFill>
                <a:latin typeface="Times New Roman" panose="02020603050405020304" pitchFamily="18" charset="0"/>
                <a:cs typeface="Times New Roman" panose="02020603050405020304" pitchFamily="18" charset="0"/>
              </a:rPr>
              <a:t> 2 </a:t>
            </a:r>
            <a:r>
              <a:rPr lang="en-US" sz="1100" dirty="0" err="1">
                <a:solidFill>
                  <a:schemeClr val="tx1"/>
                </a:solidFill>
                <a:latin typeface="Times New Roman" panose="02020603050405020304" pitchFamily="18" charset="0"/>
                <a:cs typeface="Times New Roman" panose="02020603050405020304" pitchFamily="18" charset="0"/>
              </a:rPr>
              <a:t>và</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nhận</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bản</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chào</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lần</a:t>
            </a:r>
            <a:r>
              <a:rPr lang="en-US" sz="1100" dirty="0">
                <a:solidFill>
                  <a:schemeClr val="tx1"/>
                </a:solidFill>
                <a:latin typeface="Times New Roman" panose="02020603050405020304" pitchFamily="18" charset="0"/>
                <a:cs typeface="Times New Roman" panose="02020603050405020304" pitchFamily="18" charset="0"/>
              </a:rPr>
              <a:t> 2</a:t>
            </a:r>
          </a:p>
          <a:p>
            <a:pPr marL="742950" lvl="1" indent="-285750">
              <a:lnSpc>
                <a:spcPct val="130000"/>
              </a:lnSpc>
              <a:buFontTx/>
              <a:buChar char="-"/>
            </a:pPr>
            <a:r>
              <a:rPr lang="en-US" sz="1100" dirty="0" err="1">
                <a:solidFill>
                  <a:schemeClr val="tx1"/>
                </a:solidFill>
                <a:latin typeface="Times New Roman" panose="02020603050405020304" pitchFamily="18" charset="0"/>
                <a:cs typeface="Times New Roman" panose="02020603050405020304" pitchFamily="18" charset="0"/>
              </a:rPr>
              <a:t>Tổ</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đã</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hoàn</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thành</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đánh</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giá</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bản</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chào</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lần</a:t>
            </a:r>
            <a:r>
              <a:rPr lang="en-US" sz="1100" dirty="0">
                <a:solidFill>
                  <a:schemeClr val="tx1"/>
                </a:solidFill>
                <a:latin typeface="Times New Roman" panose="02020603050405020304" pitchFamily="18" charset="0"/>
                <a:cs typeface="Times New Roman" panose="02020603050405020304" pitchFamily="18" charset="0"/>
              </a:rPr>
              <a:t> 2 =&gt; </a:t>
            </a:r>
            <a:r>
              <a:rPr lang="en-US" sz="1100" dirty="0" err="1">
                <a:solidFill>
                  <a:schemeClr val="tx1"/>
                </a:solidFill>
                <a:latin typeface="Times New Roman" panose="02020603050405020304" pitchFamily="18" charset="0"/>
                <a:cs typeface="Times New Roman" panose="02020603050405020304" pitchFamily="18" charset="0"/>
              </a:rPr>
              <a:t>tổ</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đã</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trình</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kết</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quả</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lựa</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chọn</a:t>
            </a:r>
            <a:r>
              <a:rPr lang="en-US" sz="1100" dirty="0">
                <a:solidFill>
                  <a:schemeClr val="tx1"/>
                </a:solidFill>
                <a:latin typeface="Times New Roman" panose="02020603050405020304" pitchFamily="18" charset="0"/>
                <a:cs typeface="Times New Roman" panose="02020603050405020304" pitchFamily="18" charset="0"/>
              </a:rPr>
              <a:t> NCC </a:t>
            </a:r>
            <a:r>
              <a:rPr lang="en-US" sz="1100" dirty="0" err="1">
                <a:solidFill>
                  <a:schemeClr val="tx1"/>
                </a:solidFill>
                <a:latin typeface="Times New Roman" panose="02020603050405020304" pitchFamily="18" charset="0"/>
                <a:cs typeface="Times New Roman" panose="02020603050405020304" pitchFamily="18" charset="0"/>
              </a:rPr>
              <a:t>ghế</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và</a:t>
            </a:r>
            <a:r>
              <a:rPr lang="en-US" sz="1100" dirty="0">
                <a:solidFill>
                  <a:schemeClr val="tx1"/>
                </a:solidFill>
                <a:latin typeface="Times New Roman" panose="02020603050405020304" pitchFamily="18" charset="0"/>
                <a:cs typeface="Times New Roman" panose="02020603050405020304" pitchFamily="18" charset="0"/>
              </a:rPr>
              <a:t> SB, </a:t>
            </a:r>
            <a:r>
              <a:rPr lang="en-US" sz="1100" dirty="0" err="1">
                <a:solidFill>
                  <a:schemeClr val="tx1"/>
                </a:solidFill>
                <a:latin typeface="Times New Roman" panose="02020603050405020304" pitchFamily="18" charset="0"/>
                <a:cs typeface="Times New Roman" panose="02020603050405020304" pitchFamily="18" charset="0"/>
              </a:rPr>
              <a:t>dự</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kiến</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thông</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báo</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kết</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quả</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tuần</a:t>
            </a:r>
            <a:r>
              <a:rPr lang="en-US" sz="1100" dirty="0">
                <a:solidFill>
                  <a:schemeClr val="tx1"/>
                </a:solidFill>
                <a:latin typeface="Times New Roman" panose="02020603050405020304" pitchFamily="18" charset="0"/>
                <a:cs typeface="Times New Roman" panose="02020603050405020304" pitchFamily="18" charset="0"/>
              </a:rPr>
              <a:t> 13</a:t>
            </a:r>
          </a:p>
        </p:txBody>
      </p:sp>
      <p:sp>
        <p:nvSpPr>
          <p:cNvPr id="22" name="TextBox 21"/>
          <p:cNvSpPr txBox="1"/>
          <p:nvPr/>
        </p:nvSpPr>
        <p:spPr>
          <a:xfrm>
            <a:off x="365448" y="2667000"/>
            <a:ext cx="11674151" cy="1107996"/>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100" b="1" dirty="0">
                <a:latin typeface="Times New Roman" panose="02020603050405020304" pitchFamily="18" charset="0"/>
                <a:cs typeface="Times New Roman" panose="02020603050405020304" pitchFamily="18" charset="0"/>
              </a:rPr>
              <a:t>Galley:</a:t>
            </a:r>
          </a:p>
          <a:p>
            <a:pPr marL="285750" indent="-285750">
              <a:buFontTx/>
              <a:buChar char="-"/>
            </a:pPr>
            <a:r>
              <a:rPr lang="en-US" sz="1100" b="1" dirty="0">
                <a:latin typeface="Times New Roman" panose="02020603050405020304" pitchFamily="18" charset="0"/>
                <a:cs typeface="Times New Roman" panose="02020603050405020304" pitchFamily="18" charset="0"/>
              </a:rPr>
              <a:t>Hỏng hóc wine chiller</a:t>
            </a:r>
            <a:r>
              <a:rPr lang="en-US" sz="1100" dirty="0">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hỏng</a:t>
            </a:r>
            <a:r>
              <a:rPr lang="en-US" sz="1100" dirty="0">
                <a:solidFill>
                  <a:schemeClr val="tx1"/>
                </a:solidFill>
                <a:latin typeface="Times New Roman" panose="02020603050405020304" pitchFamily="18" charset="0"/>
                <a:cs typeface="Times New Roman" panose="02020603050405020304" pitchFamily="18" charset="0"/>
              </a:rPr>
              <a:t> 09ea, </a:t>
            </a:r>
            <a:r>
              <a:rPr lang="en-US" sz="1100" dirty="0" err="1">
                <a:solidFill>
                  <a:schemeClr val="tx1"/>
                </a:solidFill>
                <a:latin typeface="Times New Roman" panose="02020603050405020304" pitchFamily="18" charset="0"/>
                <a:cs typeface="Times New Roman" panose="02020603050405020304" pitchFamily="18" charset="0"/>
              </a:rPr>
              <a:t>khắc</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phục</a:t>
            </a:r>
            <a:r>
              <a:rPr lang="en-US" sz="1100" dirty="0">
                <a:solidFill>
                  <a:schemeClr val="tx1"/>
                </a:solidFill>
                <a:latin typeface="Times New Roman" panose="02020603050405020304" pitchFamily="18" charset="0"/>
                <a:cs typeface="Times New Roman" panose="02020603050405020304" pitchFamily="18" charset="0"/>
              </a:rPr>
              <a:t> 00ea, </a:t>
            </a:r>
            <a:r>
              <a:rPr lang="en-US" sz="1100" dirty="0" err="1">
                <a:solidFill>
                  <a:schemeClr val="tx1"/>
                </a:solidFill>
                <a:latin typeface="Times New Roman" panose="02020603050405020304" pitchFamily="18" charset="0"/>
                <a:cs typeface="Times New Roman" panose="02020603050405020304" pitchFamily="18" charset="0"/>
              </a:rPr>
              <a:t>tồn</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hỏng</a:t>
            </a:r>
            <a:r>
              <a:rPr lang="en-US" sz="1100" dirty="0">
                <a:solidFill>
                  <a:schemeClr val="tx1"/>
                </a:solidFill>
                <a:latin typeface="Times New Roman" panose="02020603050405020304" pitchFamily="18" charset="0"/>
                <a:cs typeface="Times New Roman" panose="02020603050405020304" pitchFamily="18" charset="0"/>
              </a:rPr>
              <a:t> 09 ea. </a:t>
            </a:r>
            <a:r>
              <a:rPr lang="en-US" sz="1100" dirty="0" err="1">
                <a:solidFill>
                  <a:schemeClr val="tx1"/>
                </a:solidFill>
                <a:latin typeface="Times New Roman" panose="02020603050405020304" pitchFamily="18" charset="0"/>
                <a:cs typeface="Times New Roman" panose="02020603050405020304" pitchFamily="18" charset="0"/>
              </a:rPr>
              <a:t>Tiến</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độ</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sửa</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chữa</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tại</a:t>
            </a:r>
            <a:r>
              <a:rPr lang="en-US" sz="1100" dirty="0">
                <a:solidFill>
                  <a:schemeClr val="tx1"/>
                </a:solidFill>
                <a:latin typeface="Times New Roman" panose="02020603050405020304" pitchFamily="18" charset="0"/>
                <a:cs typeface="Times New Roman" panose="02020603050405020304" pitchFamily="18" charset="0"/>
              </a:rPr>
              <a:t> shop</a:t>
            </a:r>
          </a:p>
          <a:p>
            <a:pPr marL="742950" lvl="1" indent="-285750">
              <a:buClr>
                <a:srgbClr val="000000"/>
              </a:buClr>
              <a:buSzPts val="1300"/>
              <a:buFont typeface="Arial" panose="020B0604020202020204" pitchFamily="34" charset="0"/>
              <a:buChar char="•"/>
            </a:pPr>
            <a:r>
              <a:rPr lang="vi-VN" sz="1100" dirty="0">
                <a:latin typeface="Times New Roman" panose="02020603050405020304" pitchFamily="18" charset="0"/>
                <a:cs typeface="Times New Roman" panose="02020603050405020304" pitchFamily="18" charset="0"/>
              </a:rPr>
              <a:t>Chiller B787: </a:t>
            </a:r>
            <a:r>
              <a:rPr lang="en-US" sz="1100" dirty="0">
                <a:latin typeface="Times New Roman" panose="02020603050405020304" pitchFamily="18" charset="0"/>
                <a:cs typeface="Times New Roman" panose="02020603050405020304" pitchFamily="18" charset="0"/>
              </a:rPr>
              <a:t>05</a:t>
            </a:r>
            <a:r>
              <a:rPr lang="vi-VN" sz="1100" dirty="0">
                <a:latin typeface="Times New Roman" panose="02020603050405020304" pitchFamily="18" charset="0"/>
                <a:cs typeface="Times New Roman" panose="02020603050405020304" pitchFamily="18" charset="0"/>
              </a:rPr>
              <a:t> ADD; </a:t>
            </a:r>
            <a:r>
              <a:rPr lang="en-US" sz="1100" dirty="0">
                <a:latin typeface="Times New Roman"/>
                <a:ea typeface="Times New Roman"/>
                <a:cs typeface="Times New Roman"/>
                <a:sym typeface="Times New Roman"/>
              </a:rPr>
              <a:t>04RO </a:t>
            </a:r>
            <a:r>
              <a:rPr lang="vi-VN" sz="1100" dirty="0">
                <a:latin typeface="Times New Roman" panose="02020603050405020304" pitchFamily="18" charset="0"/>
                <a:cs typeface="Times New Roman" panose="02020603050405020304" pitchFamily="18" charset="0"/>
              </a:rPr>
              <a:t>chưa có EDD</a:t>
            </a:r>
            <a:r>
              <a:rPr lang="en-US" sz="1100" dirty="0">
                <a:latin typeface="Times New Roman" panose="02020603050405020304" pitchFamily="18" charset="0"/>
                <a:cs typeface="Times New Roman" panose="02020603050405020304" pitchFamily="18" charset="0"/>
              </a:rPr>
              <a:t>, </a:t>
            </a:r>
            <a:endParaRPr lang="en-US" sz="1100" dirty="0">
              <a:solidFill>
                <a:schemeClr val="tx1"/>
              </a:solidFill>
              <a:latin typeface="Times New Roman" panose="02020603050405020304" pitchFamily="18" charset="0"/>
              <a:cs typeface="Times New Roman" panose="02020603050405020304" pitchFamily="18" charset="0"/>
            </a:endParaRPr>
          </a:p>
          <a:p>
            <a:pPr marL="742950" lvl="1" indent="-285750">
              <a:buClr>
                <a:srgbClr val="000000"/>
              </a:buClr>
              <a:buSzPts val="1300"/>
              <a:buFont typeface="Arial" panose="020B0604020202020204" pitchFamily="34" charset="0"/>
              <a:buChar char="•"/>
            </a:pPr>
            <a:r>
              <a:rPr lang="vi-VN" sz="1100" dirty="0">
                <a:latin typeface="Times New Roman" panose="02020603050405020304" pitchFamily="18" charset="0"/>
                <a:cs typeface="Times New Roman" panose="02020603050405020304" pitchFamily="18" charset="0"/>
              </a:rPr>
              <a:t>Chiller A350: </a:t>
            </a:r>
            <a:r>
              <a:rPr lang="en-US" sz="1100" dirty="0">
                <a:latin typeface="Times New Roman" panose="02020603050405020304" pitchFamily="18" charset="0"/>
                <a:cs typeface="Times New Roman" panose="02020603050405020304" pitchFamily="18" charset="0"/>
              </a:rPr>
              <a:t>04  ADD; </a:t>
            </a:r>
            <a:r>
              <a:rPr lang="en-US" sz="1100" dirty="0">
                <a:latin typeface="Times New Roman"/>
                <a:cs typeface="Times New Roman"/>
                <a:sym typeface="Times New Roman"/>
              </a:rPr>
              <a:t>05</a:t>
            </a:r>
            <a:r>
              <a:rPr lang="en-US" sz="1100" dirty="0">
                <a:latin typeface="Times New Roman"/>
                <a:ea typeface="Times New Roman"/>
                <a:cs typeface="Times New Roman"/>
                <a:sym typeface="Times New Roman"/>
              </a:rPr>
              <a:t> RO, </a:t>
            </a:r>
            <a:r>
              <a:rPr lang="vi-VN" sz="1100" dirty="0">
                <a:latin typeface="Times New Roman" panose="02020603050405020304" pitchFamily="18" charset="0"/>
                <a:cs typeface="Times New Roman" panose="02020603050405020304" pitchFamily="18" charset="0"/>
              </a:rPr>
              <a:t>chưa có EDD</a:t>
            </a:r>
            <a:endParaRPr lang="en-US" sz="1100" dirty="0">
              <a:latin typeface="Times New Roman"/>
              <a:cs typeface="Times New Roman"/>
              <a:sym typeface="Times New Roman"/>
            </a:endParaRPr>
          </a:p>
          <a:p>
            <a:pPr marL="285750" indent="-285750">
              <a:buClr>
                <a:srgbClr val="000000"/>
              </a:buClr>
              <a:buSzPts val="1300"/>
              <a:buFont typeface="Times New Roman" panose="02020603050405020304" pitchFamily="18" charset="0"/>
              <a:buChar char="⁃"/>
            </a:pPr>
            <a:r>
              <a:rPr lang="en-US" sz="1100" b="1" dirty="0">
                <a:latin typeface="Times New Roman" panose="02020603050405020304" pitchFamily="18" charset="0"/>
                <a:cs typeface="Times New Roman" panose="02020603050405020304" pitchFamily="18" charset="0"/>
              </a:rPr>
              <a:t>Hỏng hóc oven: </a:t>
            </a:r>
            <a:r>
              <a:rPr lang="en-US" sz="1100" dirty="0">
                <a:solidFill>
                  <a:schemeClr val="tx1"/>
                </a:solidFill>
                <a:latin typeface="Times New Roman" panose="02020603050405020304" pitchFamily="18" charset="0"/>
                <a:cs typeface="Times New Roman" panose="02020603050405020304" pitchFamily="18" charset="0"/>
              </a:rPr>
              <a:t>hỏng </a:t>
            </a:r>
            <a:r>
              <a:rPr lang="en-US" sz="1100" dirty="0" err="1">
                <a:solidFill>
                  <a:schemeClr val="tx1"/>
                </a:solidFill>
                <a:latin typeface="Times New Roman" panose="02020603050405020304" pitchFamily="18" charset="0"/>
                <a:cs typeface="Times New Roman" panose="02020603050405020304" pitchFamily="18" charset="0"/>
              </a:rPr>
              <a:t>hóc</a:t>
            </a:r>
            <a:r>
              <a:rPr lang="en-US" sz="1100" dirty="0">
                <a:solidFill>
                  <a:schemeClr val="tx1"/>
                </a:solidFill>
                <a:latin typeface="Times New Roman" panose="02020603050405020304" pitchFamily="18" charset="0"/>
                <a:cs typeface="Times New Roman" panose="02020603050405020304" pitchFamily="18" charset="0"/>
              </a:rPr>
              <a:t> 14ea, khắc </a:t>
            </a:r>
            <a:r>
              <a:rPr lang="en-US" sz="1100" dirty="0" err="1">
                <a:solidFill>
                  <a:schemeClr val="tx1"/>
                </a:solidFill>
                <a:latin typeface="Times New Roman" panose="02020603050405020304" pitchFamily="18" charset="0"/>
                <a:cs typeface="Times New Roman" panose="02020603050405020304" pitchFamily="18" charset="0"/>
              </a:rPr>
              <a:t>phục</a:t>
            </a:r>
            <a:r>
              <a:rPr lang="en-US" sz="1100" dirty="0">
                <a:solidFill>
                  <a:schemeClr val="tx1"/>
                </a:solidFill>
                <a:latin typeface="Times New Roman" panose="02020603050405020304" pitchFamily="18" charset="0"/>
                <a:cs typeface="Times New Roman" panose="02020603050405020304" pitchFamily="18" charset="0"/>
              </a:rPr>
              <a:t> 07ea, </a:t>
            </a:r>
            <a:r>
              <a:rPr lang="en-US" sz="1100" dirty="0" err="1">
                <a:solidFill>
                  <a:schemeClr val="tx1"/>
                </a:solidFill>
                <a:latin typeface="Times New Roman" panose="02020603050405020304" pitchFamily="18" charset="0"/>
                <a:cs typeface="Times New Roman" panose="02020603050405020304" pitchFamily="18" charset="0"/>
              </a:rPr>
              <a:t>tồn</a:t>
            </a:r>
            <a:r>
              <a:rPr lang="en-US" sz="1100" dirty="0">
                <a:solidFill>
                  <a:schemeClr val="tx1"/>
                </a:solidFill>
                <a:latin typeface="Times New Roman" panose="02020603050405020304" pitchFamily="18" charset="0"/>
                <a:cs typeface="Times New Roman" panose="02020603050405020304" pitchFamily="18" charset="0"/>
              </a:rPr>
              <a:t> 07ea</a:t>
            </a:r>
          </a:p>
          <a:p>
            <a:pPr marL="285750" indent="-285750">
              <a:buClr>
                <a:srgbClr val="000000"/>
              </a:buClr>
              <a:buSzPts val="1300"/>
              <a:buFont typeface="Times New Roman" panose="02020603050405020304" pitchFamily="18" charset="0"/>
              <a:buChar char="⁃"/>
            </a:pPr>
            <a:r>
              <a:rPr lang="en-US" sz="1100" b="1" dirty="0">
                <a:solidFill>
                  <a:schemeClr val="tx1"/>
                </a:solidFill>
                <a:latin typeface="Times New Roman" panose="02020603050405020304" pitchFamily="18" charset="0"/>
                <a:cs typeface="Times New Roman" panose="02020603050405020304" pitchFamily="18" charset="0"/>
              </a:rPr>
              <a:t>Boiler: </a:t>
            </a:r>
            <a:r>
              <a:rPr lang="en-US" sz="1100" dirty="0" err="1">
                <a:solidFill>
                  <a:schemeClr val="tx1"/>
                </a:solidFill>
                <a:latin typeface="Times New Roman" panose="02020603050405020304" pitchFamily="18" charset="0"/>
                <a:cs typeface="Times New Roman" panose="02020603050405020304" pitchFamily="18" charset="0"/>
              </a:rPr>
              <a:t>hỏng</a:t>
            </a:r>
            <a:r>
              <a:rPr lang="en-US" sz="1100" dirty="0">
                <a:solidFill>
                  <a:schemeClr val="tx1"/>
                </a:solidFill>
                <a:latin typeface="Times New Roman" panose="02020603050405020304" pitchFamily="18" charset="0"/>
                <a:cs typeface="Times New Roman" panose="02020603050405020304" pitchFamily="18" charset="0"/>
              </a:rPr>
              <a:t> 03ea, </a:t>
            </a:r>
            <a:r>
              <a:rPr lang="en-US" sz="1100" dirty="0" err="1">
                <a:solidFill>
                  <a:schemeClr val="tx1"/>
                </a:solidFill>
                <a:latin typeface="Times New Roman" panose="02020603050405020304" pitchFamily="18" charset="0"/>
                <a:cs typeface="Times New Roman" panose="02020603050405020304" pitchFamily="18" charset="0"/>
              </a:rPr>
              <a:t>khắc</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phục</a:t>
            </a:r>
            <a:r>
              <a:rPr lang="en-US" sz="1100" dirty="0">
                <a:solidFill>
                  <a:schemeClr val="tx1"/>
                </a:solidFill>
                <a:latin typeface="Times New Roman" panose="02020603050405020304" pitchFamily="18" charset="0"/>
                <a:cs typeface="Times New Roman" panose="02020603050405020304" pitchFamily="18" charset="0"/>
              </a:rPr>
              <a:t> 01ea, </a:t>
            </a:r>
            <a:r>
              <a:rPr lang="en-US" sz="1100" dirty="0" err="1">
                <a:solidFill>
                  <a:schemeClr val="tx1"/>
                </a:solidFill>
                <a:latin typeface="Times New Roman" panose="02020603050405020304" pitchFamily="18" charset="0"/>
                <a:cs typeface="Times New Roman" panose="02020603050405020304" pitchFamily="18" charset="0"/>
              </a:rPr>
              <a:t>tồn</a:t>
            </a:r>
            <a:r>
              <a:rPr lang="en-US" sz="1100" dirty="0">
                <a:solidFill>
                  <a:schemeClr val="tx1"/>
                </a:solidFill>
                <a:latin typeface="Times New Roman" panose="02020603050405020304" pitchFamily="18" charset="0"/>
                <a:cs typeface="Times New Roman" panose="02020603050405020304" pitchFamily="18" charset="0"/>
              </a:rPr>
              <a:t> 02ea</a:t>
            </a:r>
          </a:p>
        </p:txBody>
      </p:sp>
      <p:sp>
        <p:nvSpPr>
          <p:cNvPr id="23" name="TextBox 22"/>
          <p:cNvSpPr txBox="1"/>
          <p:nvPr/>
        </p:nvSpPr>
        <p:spPr>
          <a:xfrm>
            <a:off x="365449" y="1295400"/>
            <a:ext cx="11674150" cy="615553"/>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100" b="1" dirty="0">
                <a:latin typeface="Times New Roman" panose="02020603050405020304" pitchFamily="18" charset="0"/>
                <a:cs typeface="Times New Roman" panose="02020603050405020304" pitchFamily="18" charset="0"/>
              </a:rPr>
              <a:t>IFE: Thales SVDU (A350/B787): </a:t>
            </a:r>
            <a:r>
              <a:rPr lang="en-US" sz="1100" dirty="0">
                <a:latin typeface="Times New Roman" panose="02020603050405020304" pitchFamily="18" charset="0"/>
                <a:cs typeface="Times New Roman" panose="02020603050405020304" pitchFamily="18" charset="0"/>
              </a:rPr>
              <a:t>replaced </a:t>
            </a:r>
            <a:r>
              <a:rPr lang="en-GB" sz="1100" b="1" dirty="0">
                <a:solidFill>
                  <a:schemeClr val="tx1"/>
                </a:solidFill>
                <a:latin typeface="Times New Roman" panose="02020603050405020304" pitchFamily="18" charset="0"/>
                <a:cs typeface="Times New Roman" panose="02020603050405020304" pitchFamily="18" charset="0"/>
              </a:rPr>
              <a:t>2</a:t>
            </a:r>
            <a:r>
              <a:rPr lang="en-US" sz="1100" b="1" dirty="0">
                <a:solidFill>
                  <a:schemeClr val="tx1"/>
                </a:solidFill>
                <a:latin typeface="Times New Roman" panose="02020603050405020304" pitchFamily="18" charset="0"/>
                <a:cs typeface="Times New Roman" panose="02020603050405020304" pitchFamily="18" charset="0"/>
              </a:rPr>
              <a:t>877</a:t>
            </a:r>
            <a:r>
              <a:rPr lang="en-GB" sz="1100" b="1" dirty="0">
                <a:solidFill>
                  <a:schemeClr val="tx1"/>
                </a:solidFill>
                <a:latin typeface="Times New Roman" panose="02020603050405020304" pitchFamily="18" charset="0"/>
                <a:cs typeface="Times New Roman" panose="02020603050405020304" pitchFamily="18" charset="0"/>
              </a:rPr>
              <a:t>/3</a:t>
            </a:r>
            <a:r>
              <a:rPr lang="en-US" sz="1100" b="1" dirty="0">
                <a:solidFill>
                  <a:schemeClr val="tx1"/>
                </a:solidFill>
                <a:latin typeface="Times New Roman" panose="02020603050405020304" pitchFamily="18" charset="0"/>
                <a:cs typeface="Times New Roman" panose="02020603050405020304" pitchFamily="18" charset="0"/>
              </a:rPr>
              <a:t>122 </a:t>
            </a:r>
            <a:r>
              <a:rPr lang="en-US" sz="1100" b="1" dirty="0">
                <a:latin typeface="Times New Roman" panose="02020603050405020304" pitchFamily="18" charset="0"/>
                <a:cs typeface="Times New Roman" panose="02020603050405020304" pitchFamily="18" charset="0"/>
              </a:rPr>
              <a:t>SVDU (</a:t>
            </a:r>
            <a:r>
              <a:rPr lang="en-US" sz="1100" b="1" dirty="0" err="1">
                <a:latin typeface="Times New Roman" panose="02020603050405020304" pitchFamily="18" charset="0"/>
                <a:cs typeface="Times New Roman" panose="02020603050405020304" pitchFamily="18" charset="0"/>
              </a:rPr>
              <a:t>còn</a:t>
            </a:r>
            <a:r>
              <a:rPr lang="en-US" sz="1100" b="1" dirty="0">
                <a:latin typeface="Times New Roman" panose="02020603050405020304" pitchFamily="18" charset="0"/>
                <a:cs typeface="Times New Roman" panose="02020603050405020304" pitchFamily="18" charset="0"/>
              </a:rPr>
              <a:t> 220 INOP SVDU). </a:t>
            </a:r>
            <a:r>
              <a:rPr lang="en-US" sz="1100" dirty="0">
                <a:solidFill>
                  <a:srgbClr val="FF0000"/>
                </a:solidFill>
                <a:latin typeface="Times New Roman" panose="02020603050405020304" pitchFamily="18" charset="0"/>
                <a:cs typeface="Times New Roman" panose="02020603050405020304" pitchFamily="18" charset="0"/>
              </a:rPr>
              <a:t>Trong </a:t>
            </a:r>
            <a:r>
              <a:rPr lang="en-US" sz="1100" dirty="0" err="1">
                <a:solidFill>
                  <a:srgbClr val="FF0000"/>
                </a:solidFill>
                <a:latin typeface="Times New Roman" panose="02020603050405020304" pitchFamily="18" charset="0"/>
                <a:cs typeface="Times New Roman" panose="02020603050405020304" pitchFamily="18" charset="0"/>
              </a:rPr>
              <a:t>tuần</a:t>
            </a:r>
            <a:r>
              <a:rPr lang="en-US" sz="1100" dirty="0">
                <a:solidFill>
                  <a:srgbClr val="FF0000"/>
                </a:solidFill>
                <a:latin typeface="Times New Roman" panose="02020603050405020304" pitchFamily="18" charset="0"/>
                <a:cs typeface="Times New Roman" panose="02020603050405020304" pitchFamily="18" charset="0"/>
              </a:rPr>
              <a:t> 12:  hỏng </a:t>
            </a:r>
            <a:r>
              <a:rPr lang="en-US" sz="1100" dirty="0" err="1">
                <a:solidFill>
                  <a:srgbClr val="FF0000"/>
                </a:solidFill>
                <a:latin typeface="Times New Roman" panose="02020603050405020304" pitchFamily="18" charset="0"/>
                <a:cs typeface="Times New Roman" panose="02020603050405020304" pitchFamily="18" charset="0"/>
              </a:rPr>
              <a:t>mới</a:t>
            </a:r>
            <a:r>
              <a:rPr lang="en-US" sz="1100" dirty="0">
                <a:solidFill>
                  <a:srgbClr val="FF0000"/>
                </a:solidFill>
                <a:latin typeface="Times New Roman" panose="02020603050405020304" pitchFamily="18" charset="0"/>
                <a:cs typeface="Times New Roman" panose="02020603050405020304" pitchFamily="18" charset="0"/>
              </a:rPr>
              <a:t> 05 ea, </a:t>
            </a:r>
            <a:r>
              <a:rPr lang="en-US" sz="1100" dirty="0" err="1">
                <a:solidFill>
                  <a:srgbClr val="FF0000"/>
                </a:solidFill>
                <a:latin typeface="Times New Roman" panose="02020603050405020304" pitchFamily="18" charset="0"/>
                <a:cs typeface="Times New Roman" panose="02020603050405020304" pitchFamily="18" charset="0"/>
              </a:rPr>
              <a:t>khắc</a:t>
            </a:r>
            <a:r>
              <a:rPr lang="en-US" sz="1100" dirty="0">
                <a:solidFill>
                  <a:srgbClr val="FF0000"/>
                </a:solidFill>
                <a:latin typeface="Times New Roman" panose="02020603050405020304" pitchFamily="18" charset="0"/>
                <a:cs typeface="Times New Roman" panose="02020603050405020304" pitchFamily="18" charset="0"/>
              </a:rPr>
              <a:t> </a:t>
            </a:r>
            <a:r>
              <a:rPr lang="en-US" sz="1100" dirty="0" err="1">
                <a:solidFill>
                  <a:srgbClr val="FF0000"/>
                </a:solidFill>
                <a:latin typeface="Times New Roman" panose="02020603050405020304" pitchFamily="18" charset="0"/>
                <a:cs typeface="Times New Roman" panose="02020603050405020304" pitchFamily="18" charset="0"/>
              </a:rPr>
              <a:t>phục</a:t>
            </a:r>
            <a:r>
              <a:rPr lang="en-US" sz="1100" dirty="0">
                <a:solidFill>
                  <a:srgbClr val="FF0000"/>
                </a:solidFill>
                <a:latin typeface="Times New Roman" panose="02020603050405020304" pitchFamily="18" charset="0"/>
                <a:cs typeface="Times New Roman" panose="02020603050405020304" pitchFamily="18" charset="0"/>
              </a:rPr>
              <a:t> 80ea</a:t>
            </a:r>
            <a:r>
              <a:rPr lang="en-US" sz="1100" dirty="0">
                <a:solidFill>
                  <a:schemeClr val="tx1"/>
                </a:solidFill>
                <a:latin typeface="Times New Roman" panose="02020603050405020304" pitchFamily="18" charset="0"/>
                <a:cs typeface="Times New Roman" panose="02020603050405020304" pitchFamily="18" charset="0"/>
              </a:rPr>
              <a:t>. </a:t>
            </a:r>
            <a:endParaRPr lang="en-GB" sz="1100" dirty="0">
              <a:solidFill>
                <a:schemeClr val="tx1"/>
              </a:solidFill>
              <a:latin typeface="Times New Roman" panose="02020603050405020304" pitchFamily="18" charset="0"/>
              <a:cs typeface="Times New Roman" panose="02020603050405020304" pitchFamily="18" charset="0"/>
            </a:endParaRPr>
          </a:p>
          <a:p>
            <a:r>
              <a:rPr lang="en-US" sz="1100" dirty="0">
                <a:latin typeface="Times New Roman" panose="02020603050405020304" pitchFamily="18" charset="0"/>
                <a:cs typeface="Times New Roman" panose="02020603050405020304" pitchFamily="18" charset="0"/>
              </a:rPr>
              <a:t> -       Hỏng hóc đội bay A350: đã được khắc phục và kiểm soát</a:t>
            </a:r>
          </a:p>
          <a:p>
            <a:r>
              <a:rPr lang="en-US" sz="1100" dirty="0">
                <a:solidFill>
                  <a:schemeClr val="tx1"/>
                </a:solidFill>
                <a:latin typeface="Times New Roman" panose="02020603050405020304" pitchFamily="18" charset="0"/>
                <a:cs typeface="Times New Roman" panose="02020603050405020304" pitchFamily="18" charset="0"/>
              </a:rPr>
              <a:t>-        Hỏng hóc tồn đọng: tập trung đội bay B787, số lượng quay vòng ít (80ea). =&gt; Thales dự kiến bổ sung 30 SVDU </a:t>
            </a:r>
            <a:r>
              <a:rPr lang="en-US" sz="1100">
                <a:solidFill>
                  <a:schemeClr val="tx1"/>
                </a:solidFill>
                <a:latin typeface="Times New Roman" panose="02020603050405020304" pitchFamily="18" charset="0"/>
                <a:cs typeface="Times New Roman" panose="02020603050405020304" pitchFamily="18" charset="0"/>
              </a:rPr>
              <a:t>đầu </a:t>
            </a:r>
            <a:r>
              <a:rPr lang="en-US" sz="1100" dirty="0" err="1">
                <a:solidFill>
                  <a:schemeClr val="tx1"/>
                </a:solidFill>
                <a:latin typeface="Times New Roman" panose="02020603050405020304" pitchFamily="18" charset="0"/>
                <a:cs typeface="Times New Roman" panose="02020603050405020304" pitchFamily="18" charset="0"/>
              </a:rPr>
              <a:t>tháng</a:t>
            </a:r>
            <a:r>
              <a:rPr lang="en-US" sz="1100" dirty="0">
                <a:solidFill>
                  <a:schemeClr val="tx1"/>
                </a:solidFill>
                <a:latin typeface="Times New Roman" panose="02020603050405020304" pitchFamily="18" charset="0"/>
                <a:cs typeface="Times New Roman" panose="02020603050405020304" pitchFamily="18" charset="0"/>
              </a:rPr>
              <a:t> 4/2025</a:t>
            </a:r>
          </a:p>
        </p:txBody>
      </p:sp>
      <p:sp>
        <p:nvSpPr>
          <p:cNvPr id="25" name="TextBox 24"/>
          <p:cNvSpPr txBox="1"/>
          <p:nvPr/>
        </p:nvSpPr>
        <p:spPr>
          <a:xfrm>
            <a:off x="366569" y="1887698"/>
            <a:ext cx="11673030" cy="76944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100" b="1" dirty="0">
                <a:latin typeface="Times New Roman" panose="02020603050405020304" pitchFamily="18" charset="0"/>
                <a:cs typeface="Times New Roman" panose="02020603050405020304" pitchFamily="18" charset="0"/>
              </a:rPr>
              <a:t>LAV:</a:t>
            </a:r>
          </a:p>
          <a:p>
            <a:pPr marL="285750" indent="-285750">
              <a:buFontTx/>
              <a:buChar char="-"/>
            </a:pPr>
            <a:r>
              <a:rPr lang="en-US" sz="1100" b="1" dirty="0">
                <a:solidFill>
                  <a:schemeClr val="tx1"/>
                </a:solidFill>
                <a:latin typeface="Times New Roman" panose="02020603050405020304" pitchFamily="18" charset="0"/>
                <a:cs typeface="Times New Roman" panose="02020603050405020304" pitchFamily="18" charset="0"/>
              </a:rPr>
              <a:t>Toilet Assy: </a:t>
            </a:r>
            <a:r>
              <a:rPr lang="en-US" sz="1100" dirty="0" err="1">
                <a:solidFill>
                  <a:schemeClr val="tx1"/>
                </a:solidFill>
                <a:latin typeface="Times New Roman" panose="02020603050405020304" pitchFamily="18" charset="0"/>
                <a:cs typeface="Times New Roman" panose="02020603050405020304" pitchFamily="18" charset="0"/>
              </a:rPr>
              <a:t>hỏng</a:t>
            </a:r>
            <a:r>
              <a:rPr lang="en-US" sz="1100" dirty="0">
                <a:solidFill>
                  <a:schemeClr val="tx1"/>
                </a:solidFill>
                <a:latin typeface="Times New Roman" panose="02020603050405020304" pitchFamily="18" charset="0"/>
                <a:cs typeface="Times New Roman" panose="02020603050405020304" pitchFamily="18" charset="0"/>
              </a:rPr>
              <a:t> 04 </a:t>
            </a:r>
            <a:r>
              <a:rPr lang="en-US" sz="1100" dirty="0" err="1">
                <a:solidFill>
                  <a:schemeClr val="tx1"/>
                </a:solidFill>
                <a:latin typeface="Times New Roman" panose="02020603050405020304" pitchFamily="18" charset="0"/>
                <a:cs typeface="Times New Roman" panose="02020603050405020304" pitchFamily="18" charset="0"/>
              </a:rPr>
              <a:t>ea</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khắc</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phục</a:t>
            </a:r>
            <a:r>
              <a:rPr lang="en-US" sz="1100" dirty="0">
                <a:solidFill>
                  <a:schemeClr val="tx1"/>
                </a:solidFill>
                <a:latin typeface="Times New Roman" panose="02020603050405020304" pitchFamily="18" charset="0"/>
                <a:cs typeface="Times New Roman" panose="02020603050405020304" pitchFamily="18" charset="0"/>
              </a:rPr>
              <a:t> 03ea, </a:t>
            </a:r>
            <a:r>
              <a:rPr lang="en-US" sz="1100" dirty="0" err="1">
                <a:solidFill>
                  <a:schemeClr val="tx1"/>
                </a:solidFill>
                <a:latin typeface="Times New Roman" panose="02020603050405020304" pitchFamily="18" charset="0"/>
                <a:cs typeface="Times New Roman" panose="02020603050405020304" pitchFamily="18" charset="0"/>
              </a:rPr>
              <a:t>tồn</a:t>
            </a:r>
            <a:r>
              <a:rPr lang="en-US" sz="1100" dirty="0">
                <a:solidFill>
                  <a:schemeClr val="tx1"/>
                </a:solidFill>
                <a:latin typeface="Times New Roman" panose="02020603050405020304" pitchFamily="18" charset="0"/>
                <a:cs typeface="Times New Roman" panose="02020603050405020304" pitchFamily="18" charset="0"/>
              </a:rPr>
              <a:t> 01ea</a:t>
            </a:r>
          </a:p>
          <a:p>
            <a:pPr marL="285750" indent="-285750">
              <a:buFontTx/>
              <a:buChar char="-"/>
            </a:pPr>
            <a:r>
              <a:rPr lang="en-US" sz="1100" b="1" dirty="0">
                <a:solidFill>
                  <a:schemeClr val="tx1"/>
                </a:solidFill>
                <a:latin typeface="Times New Roman" panose="02020603050405020304" pitchFamily="18" charset="0"/>
                <a:cs typeface="Times New Roman" panose="02020603050405020304" pitchFamily="18" charset="0"/>
              </a:rPr>
              <a:t>Faucet Assy: </a:t>
            </a:r>
            <a:r>
              <a:rPr lang="en-US" sz="1100" dirty="0" err="1">
                <a:solidFill>
                  <a:schemeClr val="tx1"/>
                </a:solidFill>
                <a:latin typeface="Times New Roman" panose="02020603050405020304" pitchFamily="18" charset="0"/>
                <a:cs typeface="Times New Roman" panose="02020603050405020304" pitchFamily="18" charset="0"/>
              </a:rPr>
              <a:t>hỏng</a:t>
            </a:r>
            <a:r>
              <a:rPr lang="en-US" sz="1100" dirty="0">
                <a:solidFill>
                  <a:schemeClr val="tx1"/>
                </a:solidFill>
                <a:latin typeface="Times New Roman" panose="02020603050405020304" pitchFamily="18" charset="0"/>
                <a:cs typeface="Times New Roman" panose="02020603050405020304" pitchFamily="18" charset="0"/>
              </a:rPr>
              <a:t> 04ea, </a:t>
            </a:r>
            <a:r>
              <a:rPr lang="en-US" sz="1100" dirty="0" err="1">
                <a:solidFill>
                  <a:schemeClr val="tx1"/>
                </a:solidFill>
                <a:latin typeface="Times New Roman" panose="02020603050405020304" pitchFamily="18" charset="0"/>
                <a:cs typeface="Times New Roman" panose="02020603050405020304" pitchFamily="18" charset="0"/>
              </a:rPr>
              <a:t>khắc</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phục</a:t>
            </a:r>
            <a:r>
              <a:rPr lang="en-US" sz="1100" dirty="0">
                <a:solidFill>
                  <a:schemeClr val="tx1"/>
                </a:solidFill>
                <a:latin typeface="Times New Roman" panose="02020603050405020304" pitchFamily="18" charset="0"/>
                <a:cs typeface="Times New Roman" panose="02020603050405020304" pitchFamily="18" charset="0"/>
              </a:rPr>
              <a:t> 02ea, </a:t>
            </a:r>
            <a:r>
              <a:rPr lang="en-US" sz="1100" dirty="0" err="1">
                <a:solidFill>
                  <a:schemeClr val="tx1"/>
                </a:solidFill>
                <a:latin typeface="Times New Roman" panose="02020603050405020304" pitchFamily="18" charset="0"/>
                <a:cs typeface="Times New Roman" panose="02020603050405020304" pitchFamily="18" charset="0"/>
              </a:rPr>
              <a:t>tồn</a:t>
            </a:r>
            <a:r>
              <a:rPr lang="en-US" sz="1100" dirty="0">
                <a:solidFill>
                  <a:schemeClr val="tx1"/>
                </a:solidFill>
                <a:latin typeface="Times New Roman" panose="02020603050405020304" pitchFamily="18" charset="0"/>
                <a:cs typeface="Times New Roman" panose="02020603050405020304" pitchFamily="18" charset="0"/>
              </a:rPr>
              <a:t> 02ea</a:t>
            </a:r>
          </a:p>
          <a:p>
            <a:pPr marL="285750" indent="-285750">
              <a:buFontTx/>
              <a:buChar char="-"/>
            </a:pPr>
            <a:r>
              <a:rPr lang="en-US" sz="1100" b="1" dirty="0">
                <a:solidFill>
                  <a:schemeClr val="tx1"/>
                </a:solidFill>
                <a:latin typeface="Times New Roman" panose="02020603050405020304" pitchFamily="18" charset="0"/>
                <a:cs typeface="Times New Roman" panose="02020603050405020304" pitchFamily="18" charset="0"/>
              </a:rPr>
              <a:t>Basin: </a:t>
            </a:r>
            <a:r>
              <a:rPr lang="en-US" sz="1100" dirty="0" err="1">
                <a:solidFill>
                  <a:schemeClr val="tx1"/>
                </a:solidFill>
                <a:latin typeface="Times New Roman" panose="02020603050405020304" pitchFamily="18" charset="0"/>
                <a:cs typeface="Times New Roman" panose="02020603050405020304" pitchFamily="18" charset="0"/>
              </a:rPr>
              <a:t>hỏng</a:t>
            </a:r>
            <a:r>
              <a:rPr lang="en-US" sz="1100" dirty="0">
                <a:solidFill>
                  <a:schemeClr val="tx1"/>
                </a:solidFill>
                <a:latin typeface="Times New Roman" panose="02020603050405020304" pitchFamily="18" charset="0"/>
                <a:cs typeface="Times New Roman" panose="02020603050405020304" pitchFamily="18" charset="0"/>
              </a:rPr>
              <a:t> 01ea, </a:t>
            </a:r>
            <a:r>
              <a:rPr lang="en-US" sz="1100" dirty="0" err="1">
                <a:solidFill>
                  <a:schemeClr val="tx1"/>
                </a:solidFill>
                <a:latin typeface="Times New Roman" panose="02020603050405020304" pitchFamily="18" charset="0"/>
                <a:cs typeface="Times New Roman" panose="02020603050405020304" pitchFamily="18" charset="0"/>
              </a:rPr>
              <a:t>khắc</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phục</a:t>
            </a:r>
            <a:r>
              <a:rPr lang="en-US" sz="1100" dirty="0">
                <a:solidFill>
                  <a:schemeClr val="tx1"/>
                </a:solidFill>
                <a:latin typeface="Times New Roman" panose="02020603050405020304" pitchFamily="18" charset="0"/>
                <a:cs typeface="Times New Roman" panose="02020603050405020304" pitchFamily="18" charset="0"/>
              </a:rPr>
              <a:t> 01ea, </a:t>
            </a:r>
            <a:r>
              <a:rPr lang="en-US" sz="1100" dirty="0" err="1">
                <a:solidFill>
                  <a:schemeClr val="tx1"/>
                </a:solidFill>
                <a:latin typeface="Times New Roman" panose="02020603050405020304" pitchFamily="18" charset="0"/>
                <a:cs typeface="Times New Roman" panose="02020603050405020304" pitchFamily="18" charset="0"/>
              </a:rPr>
              <a:t>tồn</a:t>
            </a:r>
            <a:r>
              <a:rPr lang="en-US" sz="1100" dirty="0">
                <a:solidFill>
                  <a:schemeClr val="tx1"/>
                </a:solidFill>
                <a:latin typeface="Times New Roman" panose="02020603050405020304" pitchFamily="18" charset="0"/>
                <a:cs typeface="Times New Roman" panose="02020603050405020304" pitchFamily="18" charset="0"/>
              </a:rPr>
              <a:t> 00ea</a:t>
            </a:r>
          </a:p>
        </p:txBody>
      </p:sp>
      <p:sp>
        <p:nvSpPr>
          <p:cNvPr id="26" name="TextBox 25"/>
          <p:cNvSpPr txBox="1"/>
          <p:nvPr/>
        </p:nvSpPr>
        <p:spPr>
          <a:xfrm>
            <a:off x="365449" y="451497"/>
            <a:ext cx="11674150" cy="261610"/>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100" b="1" dirty="0">
                <a:latin typeface="Times New Roman" panose="02020603050405020304" pitchFamily="18" charset="0"/>
                <a:cs typeface="Times New Roman" panose="02020603050405020304" pitchFamily="18" charset="0"/>
              </a:rPr>
              <a:t>ADD ảnh hưởng dịch vụ </a:t>
            </a:r>
            <a:r>
              <a:rPr lang="en-US" sz="1100" b="1" dirty="0" err="1">
                <a:latin typeface="Times New Roman" panose="02020603050405020304" pitchFamily="18" charset="0"/>
                <a:cs typeface="Times New Roman" panose="02020603050405020304" pitchFamily="18" charset="0"/>
              </a:rPr>
              <a:t>tuần</a:t>
            </a:r>
            <a:r>
              <a:rPr lang="en-US" sz="1100" b="1" dirty="0">
                <a:latin typeface="Times New Roman" panose="02020603050405020304" pitchFamily="18" charset="0"/>
                <a:cs typeface="Times New Roman" panose="02020603050405020304" pitchFamily="18" charset="0"/>
              </a:rPr>
              <a:t> 12: </a:t>
            </a:r>
            <a:r>
              <a:rPr lang="en-US" sz="1100" dirty="0" err="1">
                <a:latin typeface="Times New Roman" panose="02020603050405020304" pitchFamily="18" charset="0"/>
                <a:cs typeface="Times New Roman" panose="02020603050405020304" pitchFamily="18" charset="0"/>
              </a:rPr>
              <a:t>Tổng</a:t>
            </a:r>
            <a:r>
              <a:rPr lang="en-US" sz="1100" dirty="0">
                <a:latin typeface="Times New Roman" panose="02020603050405020304" pitchFamily="18" charset="0"/>
                <a:cs typeface="Times New Roman" panose="02020603050405020304" pitchFamily="18" charset="0"/>
              </a:rPr>
              <a:t> 218 (</a:t>
            </a:r>
            <a:r>
              <a:rPr lang="en-US" sz="1100" dirty="0" err="1">
                <a:latin typeface="Times New Roman" panose="02020603050405020304" pitchFamily="18" charset="0"/>
                <a:cs typeface="Times New Roman" panose="02020603050405020304" pitchFamily="18" charset="0"/>
              </a:rPr>
              <a:t>giảm</a:t>
            </a:r>
            <a:r>
              <a:rPr lang="en-US" sz="1100" dirty="0">
                <a:latin typeface="Times New Roman" panose="02020603050405020304" pitchFamily="18" charset="0"/>
                <a:cs typeface="Times New Roman" panose="02020603050405020304" pitchFamily="18" charset="0"/>
              </a:rPr>
              <a:t> 6%), khắc </a:t>
            </a:r>
            <a:r>
              <a:rPr lang="en-US" sz="1100" dirty="0" err="1">
                <a:latin typeface="Times New Roman" panose="02020603050405020304" pitchFamily="18" charset="0"/>
                <a:cs typeface="Times New Roman" panose="02020603050405020304" pitchFamily="18" charset="0"/>
              </a:rPr>
              <a:t>phục</a:t>
            </a:r>
            <a:r>
              <a:rPr lang="en-US" sz="1100" dirty="0">
                <a:latin typeface="Times New Roman" panose="02020603050405020304" pitchFamily="18" charset="0"/>
                <a:cs typeface="Times New Roman" panose="02020603050405020304" pitchFamily="18" charset="0"/>
              </a:rPr>
              <a:t> 82ADD =&gt; tồn </a:t>
            </a:r>
            <a:r>
              <a:rPr lang="en-US" sz="1100" dirty="0" err="1">
                <a:latin typeface="Times New Roman" panose="02020603050405020304" pitchFamily="18" charset="0"/>
                <a:cs typeface="Times New Roman" panose="02020603050405020304" pitchFamily="18" charset="0"/>
              </a:rPr>
              <a:t>đọng</a:t>
            </a:r>
            <a:r>
              <a:rPr lang="en-US" sz="1100" dirty="0">
                <a:latin typeface="Times New Roman" panose="02020603050405020304" pitchFamily="18" charset="0"/>
                <a:cs typeface="Times New Roman" panose="02020603050405020304" pitchFamily="18" charset="0"/>
              </a:rPr>
              <a:t> </a:t>
            </a:r>
            <a:r>
              <a:rPr lang="en-US" sz="1100" b="1" dirty="0">
                <a:latin typeface="Times New Roman" panose="02020603050405020304" pitchFamily="18" charset="0"/>
                <a:cs typeface="Times New Roman" panose="02020603050405020304" pitchFamily="18" charset="0"/>
              </a:rPr>
              <a:t>136ADD</a:t>
            </a:r>
            <a:r>
              <a:rPr lang="en-US" sz="1100" dirty="0">
                <a:latin typeface="Times New Roman" panose="02020603050405020304" pitchFamily="18" charset="0"/>
                <a:cs typeface="Times New Roman" panose="02020603050405020304" pitchFamily="18" charset="0"/>
              </a:rPr>
              <a:t> </a:t>
            </a:r>
            <a:r>
              <a:rPr lang="en-US" sz="1100" dirty="0">
                <a:solidFill>
                  <a:schemeClr val="tx1">
                    <a:lumMod val="65000"/>
                    <a:lumOff val="35000"/>
                  </a:schemeClr>
                </a:solidFill>
                <a:latin typeface="Times New Roman" panose="02020603050405020304" pitchFamily="18" charset="0"/>
                <a:cs typeface="Times New Roman" panose="02020603050405020304" pitchFamily="18" charset="0"/>
              </a:rPr>
              <a:t>(</a:t>
            </a:r>
            <a:r>
              <a:rPr lang="en-US" sz="1100" dirty="0" err="1">
                <a:solidFill>
                  <a:schemeClr val="tx1">
                    <a:lumMod val="65000"/>
                    <a:lumOff val="35000"/>
                  </a:schemeClr>
                </a:solidFill>
                <a:latin typeface="Times New Roman" panose="02020603050405020304" pitchFamily="18" charset="0"/>
                <a:cs typeface="Times New Roman" panose="02020603050405020304" pitchFamily="18" charset="0"/>
              </a:rPr>
              <a:t>giảm</a:t>
            </a:r>
            <a:r>
              <a:rPr lang="en-US" sz="1100" dirty="0">
                <a:solidFill>
                  <a:schemeClr val="tx1">
                    <a:lumMod val="65000"/>
                    <a:lumOff val="35000"/>
                  </a:schemeClr>
                </a:solidFill>
                <a:latin typeface="Times New Roman" panose="02020603050405020304" pitchFamily="18" charset="0"/>
                <a:cs typeface="Times New Roman" panose="02020603050405020304" pitchFamily="18" charset="0"/>
              </a:rPr>
              <a:t> 5% </a:t>
            </a:r>
            <a:r>
              <a:rPr lang="en-US" sz="1100" dirty="0" err="1">
                <a:solidFill>
                  <a:schemeClr val="tx1">
                    <a:lumMod val="65000"/>
                    <a:lumOff val="35000"/>
                  </a:schemeClr>
                </a:solidFill>
                <a:latin typeface="Times New Roman" panose="02020603050405020304" pitchFamily="18" charset="0"/>
                <a:cs typeface="Times New Roman" panose="02020603050405020304" pitchFamily="18" charset="0"/>
              </a:rPr>
              <a:t>tuần</a:t>
            </a:r>
            <a:r>
              <a:rPr lang="en-US" sz="1100" dirty="0">
                <a:solidFill>
                  <a:schemeClr val="tx1">
                    <a:lumMod val="65000"/>
                    <a:lumOff val="35000"/>
                  </a:schemeClr>
                </a:solidFill>
                <a:latin typeface="Times New Roman" panose="02020603050405020304" pitchFamily="18" charset="0"/>
                <a:cs typeface="Times New Roman" panose="02020603050405020304" pitchFamily="18" charset="0"/>
              </a:rPr>
              <a:t> 11).</a:t>
            </a:r>
            <a:endParaRPr lang="en-US" sz="1100" dirty="0">
              <a:solidFill>
                <a:schemeClr val="tx1"/>
              </a:solidFill>
              <a:latin typeface="Times New Roman" panose="02020603050405020304" pitchFamily="18" charset="0"/>
              <a:cs typeface="Times New Roman" panose="02020603050405020304" pitchFamily="18" charset="0"/>
            </a:endParaRPr>
          </a:p>
        </p:txBody>
      </p:sp>
      <p:sp>
        <p:nvSpPr>
          <p:cNvPr id="27" name="TextBox 26"/>
          <p:cNvSpPr txBox="1"/>
          <p:nvPr/>
        </p:nvSpPr>
        <p:spPr>
          <a:xfrm>
            <a:off x="365449" y="685800"/>
            <a:ext cx="11674150" cy="600164"/>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100" b="1" dirty="0">
                <a:latin typeface="Times New Roman" panose="02020603050405020304" pitchFamily="18" charset="0"/>
                <a:cs typeface="Times New Roman" panose="02020603050405020304" pitchFamily="18" charset="0"/>
              </a:rPr>
              <a:t>Hỏng hóc Ghế thuộc diện cắt khách </a:t>
            </a:r>
            <a:r>
              <a:rPr lang="en-US" sz="1100" b="1" dirty="0" err="1">
                <a:latin typeface="Times New Roman" panose="02020603050405020304" pitchFamily="18" charset="0"/>
                <a:cs typeface="Times New Roman" panose="02020603050405020304" pitchFamily="18" charset="0"/>
              </a:rPr>
              <a:t>tuần</a:t>
            </a:r>
            <a:r>
              <a:rPr lang="en-US" sz="1100" b="1" dirty="0">
                <a:latin typeface="Times New Roman" panose="02020603050405020304" pitchFamily="18" charset="0"/>
                <a:cs typeface="Times New Roman" panose="02020603050405020304" pitchFamily="18" charset="0"/>
              </a:rPr>
              <a:t> 12</a:t>
            </a:r>
          </a:p>
          <a:p>
            <a:pPr marL="285750" indent="-285750">
              <a:buFontTx/>
              <a:buChar char="-"/>
            </a:pPr>
            <a:r>
              <a:rPr lang="en-US" sz="1100" b="1" dirty="0">
                <a:latin typeface="Times New Roman" panose="02020603050405020304" pitchFamily="18" charset="0"/>
                <a:cs typeface="Times New Roman" panose="02020603050405020304" pitchFamily="18" charset="0"/>
              </a:rPr>
              <a:t>Ghế C</a:t>
            </a:r>
            <a:r>
              <a:rPr lang="en-US" sz="1100" dirty="0">
                <a:solidFill>
                  <a:srgbClr val="FF0000"/>
                </a:solidFill>
                <a:latin typeface="Times New Roman" panose="02020603050405020304" pitchFamily="18" charset="0"/>
                <a:cs typeface="Times New Roman" panose="02020603050405020304" pitchFamily="18" charset="0"/>
              </a:rPr>
              <a:t>: </a:t>
            </a:r>
            <a:r>
              <a:rPr lang="en-US" sz="1100" dirty="0" err="1">
                <a:solidFill>
                  <a:srgbClr val="FF0000"/>
                </a:solidFill>
                <a:latin typeface="Times New Roman" panose="02020603050405020304" pitchFamily="18" charset="0"/>
                <a:cs typeface="Times New Roman" panose="02020603050405020304" pitchFamily="18" charset="0"/>
              </a:rPr>
              <a:t>hỏng</a:t>
            </a:r>
            <a:r>
              <a:rPr lang="en-US" sz="1100" dirty="0">
                <a:solidFill>
                  <a:srgbClr val="FF0000"/>
                </a:solidFill>
                <a:latin typeface="Times New Roman" panose="02020603050405020304" pitchFamily="18" charset="0"/>
                <a:cs typeface="Times New Roman" panose="02020603050405020304" pitchFamily="18" charset="0"/>
              </a:rPr>
              <a:t> 03, </a:t>
            </a:r>
            <a:r>
              <a:rPr lang="en-US" sz="1100" dirty="0" err="1">
                <a:solidFill>
                  <a:srgbClr val="FF0000"/>
                </a:solidFill>
                <a:latin typeface="Times New Roman" panose="02020603050405020304" pitchFamily="18" charset="0"/>
                <a:cs typeface="Times New Roman" panose="02020603050405020304" pitchFamily="18" charset="0"/>
              </a:rPr>
              <a:t>khắc</a:t>
            </a:r>
            <a:r>
              <a:rPr lang="en-US" sz="1100" dirty="0">
                <a:solidFill>
                  <a:srgbClr val="FF0000"/>
                </a:solidFill>
                <a:latin typeface="Times New Roman" panose="02020603050405020304" pitchFamily="18" charset="0"/>
                <a:cs typeface="Times New Roman" panose="02020603050405020304" pitchFamily="18" charset="0"/>
              </a:rPr>
              <a:t> </a:t>
            </a:r>
            <a:r>
              <a:rPr lang="en-US" sz="1100" dirty="0" err="1">
                <a:solidFill>
                  <a:srgbClr val="FF0000"/>
                </a:solidFill>
                <a:latin typeface="Times New Roman" panose="02020603050405020304" pitchFamily="18" charset="0"/>
                <a:cs typeface="Times New Roman" panose="02020603050405020304" pitchFamily="18" charset="0"/>
              </a:rPr>
              <a:t>phục</a:t>
            </a:r>
            <a:r>
              <a:rPr lang="en-US" sz="1100" dirty="0">
                <a:solidFill>
                  <a:srgbClr val="FF0000"/>
                </a:solidFill>
                <a:latin typeface="Times New Roman" panose="02020603050405020304" pitchFamily="18" charset="0"/>
                <a:cs typeface="Times New Roman" panose="02020603050405020304" pitchFamily="18" charset="0"/>
              </a:rPr>
              <a:t> 03, </a:t>
            </a:r>
            <a:r>
              <a:rPr lang="en-US" sz="1100" dirty="0" err="1">
                <a:solidFill>
                  <a:srgbClr val="FF0000"/>
                </a:solidFill>
                <a:latin typeface="Times New Roman" panose="02020603050405020304" pitchFamily="18" charset="0"/>
                <a:cs typeface="Times New Roman" panose="02020603050405020304" pitchFamily="18" charset="0"/>
              </a:rPr>
              <a:t>tồn</a:t>
            </a:r>
            <a:r>
              <a:rPr lang="en-US" sz="1100" dirty="0">
                <a:solidFill>
                  <a:srgbClr val="FF0000"/>
                </a:solidFill>
                <a:latin typeface="Times New Roman" panose="02020603050405020304" pitchFamily="18" charset="0"/>
                <a:cs typeface="Times New Roman" panose="02020603050405020304" pitchFamily="18" charset="0"/>
              </a:rPr>
              <a:t> 00.</a:t>
            </a:r>
          </a:p>
          <a:p>
            <a:pPr marL="285750" indent="-285750">
              <a:buFontTx/>
              <a:buChar char="-"/>
            </a:pPr>
            <a:r>
              <a:rPr lang="en-US" sz="1100" b="1" dirty="0" err="1">
                <a:latin typeface="Times New Roman" panose="02020603050405020304" pitchFamily="18" charset="0"/>
                <a:cs typeface="Times New Roman" panose="02020603050405020304" pitchFamily="18" charset="0"/>
              </a:rPr>
              <a:t>Ghế</a:t>
            </a:r>
            <a:r>
              <a:rPr lang="en-US" sz="1100" b="1" dirty="0">
                <a:latin typeface="Times New Roman" panose="02020603050405020304" pitchFamily="18" charset="0"/>
                <a:cs typeface="Times New Roman" panose="02020603050405020304" pitchFamily="18" charset="0"/>
              </a:rPr>
              <a:t> Y</a:t>
            </a:r>
            <a:r>
              <a:rPr lang="en-US" sz="1100" b="1" dirty="0">
                <a:solidFill>
                  <a:srgbClr val="FF0000"/>
                </a:solidFill>
                <a:latin typeface="Times New Roman" panose="02020603050405020304" pitchFamily="18" charset="0"/>
                <a:cs typeface="Times New Roman" panose="02020603050405020304" pitchFamily="18" charset="0"/>
              </a:rPr>
              <a:t>: </a:t>
            </a:r>
            <a:r>
              <a:rPr lang="en-US" sz="1100" dirty="0" err="1">
                <a:solidFill>
                  <a:srgbClr val="FF0000"/>
                </a:solidFill>
                <a:latin typeface="Times New Roman" panose="02020603050405020304" pitchFamily="18" charset="0"/>
                <a:cs typeface="Times New Roman" panose="02020603050405020304" pitchFamily="18" charset="0"/>
              </a:rPr>
              <a:t>hỏng</a:t>
            </a:r>
            <a:r>
              <a:rPr lang="en-US" sz="1100" dirty="0">
                <a:solidFill>
                  <a:srgbClr val="FF0000"/>
                </a:solidFill>
                <a:latin typeface="Times New Roman" panose="02020603050405020304" pitchFamily="18" charset="0"/>
                <a:cs typeface="Times New Roman" panose="02020603050405020304" pitchFamily="18" charset="0"/>
              </a:rPr>
              <a:t> 07, đã khắc </a:t>
            </a:r>
            <a:r>
              <a:rPr lang="en-US" sz="1100" dirty="0" err="1">
                <a:solidFill>
                  <a:srgbClr val="FF0000"/>
                </a:solidFill>
                <a:latin typeface="Times New Roman" panose="02020603050405020304" pitchFamily="18" charset="0"/>
                <a:cs typeface="Times New Roman" panose="02020603050405020304" pitchFamily="18" charset="0"/>
              </a:rPr>
              <a:t>phục</a:t>
            </a:r>
            <a:r>
              <a:rPr lang="en-US" sz="1100" dirty="0">
                <a:solidFill>
                  <a:srgbClr val="FF0000"/>
                </a:solidFill>
                <a:latin typeface="Times New Roman" panose="02020603050405020304" pitchFamily="18" charset="0"/>
                <a:cs typeface="Times New Roman" panose="02020603050405020304" pitchFamily="18" charset="0"/>
              </a:rPr>
              <a:t> 02, </a:t>
            </a:r>
            <a:r>
              <a:rPr lang="en-US" sz="1100" dirty="0" err="1">
                <a:solidFill>
                  <a:srgbClr val="FF0000"/>
                </a:solidFill>
                <a:latin typeface="Times New Roman" panose="02020603050405020304" pitchFamily="18" charset="0"/>
                <a:cs typeface="Times New Roman" panose="02020603050405020304" pitchFamily="18" charset="0"/>
              </a:rPr>
              <a:t>tồn</a:t>
            </a:r>
            <a:r>
              <a:rPr lang="en-US" sz="1100" dirty="0">
                <a:solidFill>
                  <a:srgbClr val="FF0000"/>
                </a:solidFill>
                <a:latin typeface="Times New Roman" panose="02020603050405020304" pitchFamily="18" charset="0"/>
                <a:cs typeface="Times New Roman" panose="02020603050405020304" pitchFamily="18" charset="0"/>
              </a:rPr>
              <a:t> 05</a:t>
            </a:r>
            <a:r>
              <a:rPr lang="en-US" sz="1100" dirty="0">
                <a:solidFill>
                  <a:schemeClr val="tx1"/>
                </a:solidFill>
                <a:latin typeface="Times New Roman" panose="02020603050405020304" pitchFamily="18" charset="0"/>
                <a:cs typeface="Times New Roman" panose="02020603050405020304" pitchFamily="18" charset="0"/>
              </a:rPr>
              <a:t>.</a:t>
            </a:r>
            <a:r>
              <a:rPr lang="en-US" sz="1100" dirty="0">
                <a:solidFill>
                  <a:srgbClr val="FF0000"/>
                </a:solidFill>
                <a:latin typeface="Times New Roman" panose="02020603050405020304" pitchFamily="18" charset="0"/>
                <a:cs typeface="Times New Roman" panose="02020603050405020304" pitchFamily="18" charset="0"/>
              </a:rPr>
              <a:t> </a:t>
            </a:r>
            <a:endParaRPr lang="en-US" sz="11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93218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6"/>
          <p:cNvSpPr txBox="1"/>
          <p:nvPr/>
        </p:nvSpPr>
        <p:spPr>
          <a:xfrm>
            <a:off x="761998" y="344424"/>
            <a:ext cx="10820401" cy="461624"/>
          </a:xfrm>
          <a:prstGeom prst="rect">
            <a:avLst/>
          </a:prstGeom>
          <a:noFill/>
          <a:ln>
            <a:noFill/>
          </a:ln>
        </p:spPr>
        <p:txBody>
          <a:bodyPr spcFirstLastPara="1" wrap="square" lIns="91433" tIns="45700" rIns="91433" bIns="45700" anchor="t" anchorCtr="0">
            <a:spAutoFit/>
          </a:bodyPr>
          <a:lstStyle/>
          <a:p>
            <a:pPr lvl="0" algn="ctr"/>
            <a:r>
              <a:rPr lang="en-US" sz="2400" b="1" dirty="0">
                <a:ln w="0"/>
                <a:solidFill>
                  <a:srgbClr val="FBAC00"/>
                </a:solidFill>
                <a:latin typeface="Times New Roman" panose="02020603050405020304" pitchFamily="18" charset="0"/>
                <a:cs typeface="Times New Roman" panose="02020603050405020304" pitchFamily="18" charset="0"/>
              </a:rPr>
              <a:t>CÔNG TÁC BÁN TRẢ/TIẾP NHẬN/BÀN GIAO TÀU BAY</a:t>
            </a:r>
            <a:endParaRPr sz="2400" dirty="0"/>
          </a:p>
        </p:txBody>
      </p:sp>
      <p:sp>
        <p:nvSpPr>
          <p:cNvPr id="66" name="Google Shape;66;p6"/>
          <p:cNvSpPr txBox="1"/>
          <p:nvPr/>
        </p:nvSpPr>
        <p:spPr>
          <a:xfrm>
            <a:off x="1143001" y="958100"/>
            <a:ext cx="10439398" cy="5632271"/>
          </a:xfrm>
          <a:prstGeom prst="rect">
            <a:avLst/>
          </a:prstGeom>
          <a:noFill/>
          <a:ln>
            <a:noFill/>
          </a:ln>
        </p:spPr>
        <p:txBody>
          <a:bodyPr spcFirstLastPara="1" wrap="square" lIns="91433" tIns="45700" rIns="91433" bIns="45700" anchor="t" anchorCtr="0">
            <a:spAutoFit/>
          </a:bodyPr>
          <a:lstStyle/>
          <a:p>
            <a:pPr lvl="0" algn="just">
              <a:lnSpc>
                <a:spcPct val="150000"/>
              </a:lnSpc>
            </a:pPr>
            <a:r>
              <a:rPr lang="en-US" sz="1600" b="1" dirty="0" smtClean="0">
                <a:latin typeface="Times New Roman" panose="02020603050405020304" pitchFamily="18" charset="0"/>
                <a:cs typeface="Times New Roman" panose="02020603050405020304" pitchFamily="18" charset="0"/>
              </a:rPr>
              <a:t>GIA </a:t>
            </a:r>
            <a:r>
              <a:rPr lang="en-US" sz="1600" b="1" dirty="0">
                <a:latin typeface="Times New Roman" panose="02020603050405020304" pitchFamily="18" charset="0"/>
                <a:cs typeface="Times New Roman" panose="02020603050405020304" pitchFamily="18" charset="0"/>
              </a:rPr>
              <a:t>HẠN THUÊ 10 TÀU VALC </a:t>
            </a:r>
          </a:p>
          <a:p>
            <a:pPr algn="just">
              <a:lnSpc>
                <a:spcPct val="150000"/>
              </a:lnSpc>
            </a:pPr>
            <a:r>
              <a:rPr lang="en-US" sz="1600" dirty="0">
                <a:latin typeface="Times New Roman" panose="02020603050405020304" pitchFamily="18" charset="0"/>
                <a:cs typeface="Times New Roman" panose="02020603050405020304" pitchFamily="18" charset="0"/>
              </a:rPr>
              <a:t>VNA </a:t>
            </a:r>
            <a:r>
              <a:rPr lang="en-US" sz="1600" dirty="0" err="1">
                <a:latin typeface="Times New Roman" panose="02020603050405020304" pitchFamily="18" charset="0"/>
                <a:cs typeface="Times New Roman" panose="02020603050405020304" pitchFamily="18" charset="0"/>
              </a:rPr>
              <a:t>và</a:t>
            </a:r>
            <a:r>
              <a:rPr lang="en-US" sz="1600" dirty="0">
                <a:latin typeface="Times New Roman" panose="02020603050405020304" pitchFamily="18" charset="0"/>
                <a:cs typeface="Times New Roman" panose="02020603050405020304" pitchFamily="18" charset="0"/>
              </a:rPr>
              <a:t> VALC </a:t>
            </a:r>
            <a:r>
              <a:rPr lang="en-US" sz="1600" dirty="0" err="1">
                <a:latin typeface="Times New Roman" panose="02020603050405020304" pitchFamily="18" charset="0"/>
                <a:cs typeface="Times New Roman" panose="02020603050405020304" pitchFamily="18" charset="0"/>
              </a:rPr>
              <a:t>đã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đồng</a:t>
            </a:r>
            <a:r>
              <a:rPr lang="en-US" sz="1600" dirty="0">
                <a:latin typeface="Times New Roman" panose="02020603050405020304" pitchFamily="18" charset="0"/>
                <a:cs typeface="Times New Roman" panose="02020603050405020304" pitchFamily="18" charset="0"/>
              </a:rPr>
              <a:t> ý </a:t>
            </a:r>
            <a:r>
              <a:rPr lang="en-US" sz="1600" dirty="0" err="1">
                <a:latin typeface="Times New Roman" panose="02020603050405020304" pitchFamily="18" charset="0"/>
                <a:cs typeface="Times New Roman" panose="02020603050405020304" pitchFamily="18" charset="0"/>
              </a:rPr>
              <a:t>gia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tạm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thời</a:t>
            </a:r>
            <a:r>
              <a:rPr lang="en-US" sz="1600" dirty="0">
                <a:latin typeface="Times New Roman" panose="02020603050405020304" pitchFamily="18" charset="0"/>
                <a:cs typeface="Times New Roman" panose="02020603050405020304" pitchFamily="18" charset="0"/>
              </a:rPr>
              <a:t> 10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thuê</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đến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hết</a:t>
            </a:r>
            <a:r>
              <a:rPr lang="en-US" sz="1600" dirty="0">
                <a:latin typeface="Times New Roman" panose="02020603050405020304" pitchFamily="18" charset="0"/>
                <a:cs typeface="Times New Roman" panose="02020603050405020304" pitchFamily="18" charset="0"/>
              </a:rPr>
              <a:t> 31/03/2025. </a:t>
            </a:r>
            <a:r>
              <a:rPr lang="en-US" sz="1600" dirty="0" err="1">
                <a:latin typeface="Times New Roman" panose="02020603050405020304" pitchFamily="18" charset="0"/>
                <a:cs typeface="Times New Roman" panose="02020603050405020304" pitchFamily="18" charset="0"/>
              </a:rPr>
              <a:t>Hiện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có</a:t>
            </a:r>
            <a:r>
              <a:rPr lang="en-US" sz="1600" dirty="0">
                <a:latin typeface="Times New Roman" panose="02020603050405020304" pitchFamily="18" charset="0"/>
                <a:cs typeface="Times New Roman" panose="02020603050405020304" pitchFamily="18" charset="0"/>
              </a:rPr>
              <a:t> 02 </a:t>
            </a:r>
            <a:r>
              <a:rPr lang="en-US" sz="1600" dirty="0" err="1">
                <a:latin typeface="Times New Roman" panose="02020603050405020304" pitchFamily="18" charset="0"/>
                <a:cs typeface="Times New Roman" panose="02020603050405020304" pitchFamily="18" charset="0"/>
              </a:rPr>
              <a:t>đối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tác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quan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tâm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tới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mua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và</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thuê</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lại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bay </a:t>
            </a:r>
            <a:r>
              <a:rPr lang="en-US" sz="1600" dirty="0" err="1">
                <a:latin typeface="Times New Roman" panose="02020603050405020304" pitchFamily="18" charset="0"/>
                <a:cs typeface="Times New Roman" panose="02020603050405020304" pitchFamily="18" charset="0"/>
              </a:rPr>
              <a:t>là</a:t>
            </a:r>
            <a:r>
              <a:rPr lang="en-US" sz="1600" dirty="0">
                <a:latin typeface="Times New Roman" panose="02020603050405020304" pitchFamily="18" charset="0"/>
                <a:cs typeface="Times New Roman" panose="02020603050405020304" pitchFamily="18" charset="0"/>
              </a:rPr>
              <a:t> Arena </a:t>
            </a:r>
            <a:r>
              <a:rPr lang="en-US" sz="1600" dirty="0" err="1">
                <a:latin typeface="Times New Roman" panose="02020603050405020304" pitchFamily="18" charset="0"/>
                <a:cs typeface="Times New Roman" panose="02020603050405020304" pitchFamily="18" charset="0"/>
              </a:rPr>
              <a:t>và</a:t>
            </a:r>
            <a:r>
              <a:rPr lang="en-US" sz="1600" dirty="0">
                <a:latin typeface="Times New Roman" panose="02020603050405020304" pitchFamily="18" charset="0"/>
                <a:cs typeface="Times New Roman" panose="02020603050405020304" pitchFamily="18" charset="0"/>
              </a:rPr>
              <a:t> FTAI. </a:t>
            </a:r>
            <a:r>
              <a:rPr lang="en-US" sz="1600" dirty="0" err="1">
                <a:latin typeface="Times New Roman" panose="02020603050405020304" pitchFamily="18" charset="0"/>
                <a:cs typeface="Times New Roman" panose="02020603050405020304" pitchFamily="18" charset="0"/>
              </a:rPr>
              <a:t>Thủ</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tục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của</a:t>
            </a:r>
            <a:r>
              <a:rPr lang="en-US" sz="1600" dirty="0">
                <a:latin typeface="Times New Roman" panose="02020603050405020304" pitchFamily="18" charset="0"/>
                <a:cs typeface="Times New Roman" panose="02020603050405020304" pitchFamily="18" charset="0"/>
              </a:rPr>
              <a:t> VALC </a:t>
            </a:r>
            <a:r>
              <a:rPr lang="en-US" sz="1600" dirty="0" err="1">
                <a:latin typeface="Times New Roman" panose="02020603050405020304" pitchFamily="18" charset="0"/>
                <a:cs typeface="Times New Roman" panose="02020603050405020304" pitchFamily="18" charset="0"/>
              </a:rPr>
              <a:t>chậm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nên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năng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cần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gia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hợp</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đồng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thuê</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tiếp</a:t>
            </a:r>
            <a:r>
              <a:rPr lang="en-US" sz="1600" dirty="0">
                <a:latin typeface="Times New Roman" panose="02020603050405020304" pitchFamily="18" charset="0"/>
                <a:cs typeface="Times New Roman" panose="02020603050405020304" pitchFamily="18" charset="0"/>
              </a:rPr>
              <a:t> 3 </a:t>
            </a:r>
            <a:r>
              <a:rPr lang="en-US" sz="1600" dirty="0" err="1">
                <a:latin typeface="Times New Roman" panose="02020603050405020304" pitchFamily="18" charset="0"/>
                <a:cs typeface="Times New Roman" panose="02020603050405020304" pitchFamily="18" charset="0"/>
              </a:rPr>
              <a:t>tháng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đến</a:t>
            </a:r>
            <a:r>
              <a:rPr lang="en-US" sz="1600" dirty="0">
                <a:latin typeface="Times New Roman" panose="02020603050405020304" pitchFamily="18" charset="0"/>
                <a:cs typeface="Times New Roman" panose="02020603050405020304" pitchFamily="18" charset="0"/>
              </a:rPr>
              <a:t> 30/06/2025.</a:t>
            </a:r>
          </a:p>
          <a:p>
            <a:pPr lvl="0" algn="just">
              <a:lnSpc>
                <a:spcPct val="150000"/>
              </a:lnSpc>
            </a:pPr>
            <a:r>
              <a:rPr lang="en-US" sz="1600" dirty="0">
                <a:latin typeface="Times New Roman" panose="02020603050405020304" pitchFamily="18" charset="0"/>
                <a:cs typeface="Times New Roman" panose="02020603050405020304" pitchFamily="18" charset="0"/>
              </a:rPr>
              <a:t>1,  Arena: </a:t>
            </a:r>
            <a:r>
              <a:rPr lang="en-US" sz="1600" dirty="0" err="1">
                <a:latin typeface="Times New Roman" panose="02020603050405020304" pitchFamily="18" charset="0"/>
                <a:cs typeface="Times New Roman" panose="02020603050405020304" pitchFamily="18" charset="0"/>
              </a:rPr>
              <a:t>Bản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chào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gia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thuê</a:t>
            </a:r>
            <a:r>
              <a:rPr lang="en-US" sz="1600" dirty="0">
                <a:latin typeface="Times New Roman" panose="02020603050405020304" pitchFamily="18" charset="0"/>
                <a:cs typeface="Times New Roman" panose="02020603050405020304" pitchFamily="18" charset="0"/>
              </a:rPr>
              <a:t> 10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A321 </a:t>
            </a:r>
            <a:r>
              <a:rPr lang="en-US" sz="1600" dirty="0" err="1">
                <a:latin typeface="Times New Roman" panose="02020603050405020304" pitchFamily="18" charset="0"/>
                <a:cs typeface="Times New Roman" panose="02020603050405020304" pitchFamily="18" charset="0"/>
              </a:rPr>
              <a:t>với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thời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gian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trung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bình</a:t>
            </a:r>
            <a:r>
              <a:rPr lang="en-US" sz="1600" dirty="0">
                <a:latin typeface="Times New Roman" panose="02020603050405020304" pitchFamily="18" charset="0"/>
                <a:cs typeface="Times New Roman" panose="02020603050405020304" pitchFamily="18" charset="0"/>
              </a:rPr>
              <a:t> 5 </a:t>
            </a:r>
            <a:r>
              <a:rPr lang="en-US" sz="1600" dirty="0" err="1">
                <a:latin typeface="Times New Roman" panose="02020603050405020304" pitchFamily="18" charset="0"/>
                <a:cs typeface="Times New Roman" panose="02020603050405020304" pitchFamily="18" charset="0"/>
              </a:rPr>
              <a:t>năm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hiện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đang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trong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quá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trình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đàm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phán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gia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bản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đàm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phán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thống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nhất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các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nội</a:t>
            </a:r>
            <a:r>
              <a:rPr lang="en-US" sz="1600" dirty="0">
                <a:latin typeface="Times New Roman" panose="02020603050405020304" pitchFamily="18" charset="0"/>
                <a:cs typeface="Times New Roman" panose="02020603050405020304" pitchFamily="18" charset="0"/>
              </a:rPr>
              <a:t> dung </a:t>
            </a:r>
            <a:r>
              <a:rPr lang="en-US" sz="1600" dirty="0" err="1">
                <a:latin typeface="Times New Roman" panose="02020603050405020304" pitchFamily="18" charset="0"/>
                <a:cs typeface="Times New Roman" panose="02020603050405020304" pitchFamily="18" charset="0"/>
              </a:rPr>
              <a:t>liên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quan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tới</a:t>
            </a:r>
            <a:r>
              <a:rPr lang="en-US" sz="1600" dirty="0">
                <a:latin typeface="Times New Roman" panose="02020603050405020304" pitchFamily="18" charset="0"/>
                <a:cs typeface="Times New Roman" panose="02020603050405020304" pitchFamily="18" charset="0"/>
              </a:rPr>
              <a:t> KT</a:t>
            </a:r>
          </a:p>
          <a:p>
            <a:pPr lvl="0" algn="just">
              <a:lnSpc>
                <a:spcPct val="150000"/>
              </a:lnSpc>
            </a:pPr>
            <a:r>
              <a:rPr lang="en-US" sz="1600" dirty="0" err="1">
                <a:latin typeface="Times New Roman" panose="02020603050405020304" pitchFamily="18" charset="0"/>
                <a:cs typeface="Times New Roman" panose="02020603050405020304" pitchFamily="18" charset="0"/>
              </a:rPr>
              <a:t>Các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vấn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đề</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lớn</a:t>
            </a:r>
            <a:r>
              <a:rPr lang="en-US" sz="1600" dirty="0">
                <a:latin typeface="Times New Roman" panose="02020603050405020304" pitchFamily="18" charset="0"/>
                <a:cs typeface="Times New Roman" panose="02020603050405020304" pitchFamily="18" charset="0"/>
              </a:rPr>
              <a:t> / </a:t>
            </a:r>
            <a:r>
              <a:rPr lang="en-US" sz="1600" dirty="0" err="1">
                <a:latin typeface="Times New Roman" panose="02020603050405020304" pitchFamily="18" charset="0"/>
                <a:cs typeface="Times New Roman" panose="02020603050405020304" pitchFamily="18" charset="0"/>
              </a:rPr>
              <a:t>cơ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bản</a:t>
            </a:r>
            <a:r>
              <a:rPr lang="en-US" sz="1600" dirty="0">
                <a:latin typeface="Times New Roman" panose="02020603050405020304" pitchFamily="18" charset="0"/>
                <a:cs typeface="Times New Roman" panose="02020603050405020304" pitchFamily="18" charset="0"/>
              </a:rPr>
              <a:t> Arena </a:t>
            </a:r>
            <a:r>
              <a:rPr lang="en-US" sz="1600" dirty="0" err="1">
                <a:latin typeface="Times New Roman" panose="02020603050405020304" pitchFamily="18" charset="0"/>
                <a:cs typeface="Times New Roman" panose="02020603050405020304" pitchFamily="18" charset="0"/>
              </a:rPr>
              <a:t>đang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đề</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xuất</a:t>
            </a:r>
            <a:r>
              <a:rPr lang="en-US" sz="1600" dirty="0">
                <a:latin typeface="Times New Roman" panose="02020603050405020304" pitchFamily="18" charset="0"/>
                <a:cs typeface="Times New Roman" panose="02020603050405020304" pitchFamily="18" charset="0"/>
              </a:rPr>
              <a:t>:</a:t>
            </a:r>
          </a:p>
          <a:p>
            <a:pPr lvl="1" algn="just">
              <a:lnSpc>
                <a:spcPct val="150000"/>
              </a:lnSpc>
            </a:pPr>
            <a:r>
              <a:rPr lang="en-US" sz="1600" dirty="0">
                <a:latin typeface="Times New Roman" panose="02020603050405020304" pitchFamily="18" charset="0"/>
                <a:cs typeface="Times New Roman" panose="02020603050405020304" pitchFamily="18" charset="0"/>
              </a:rPr>
              <a:t>a.  </a:t>
            </a:r>
            <a:r>
              <a:rPr lang="vi-VN" sz="1600" dirty="0">
                <a:latin typeface="Times New Roman" panose="02020603050405020304" pitchFamily="18" charset="0"/>
                <a:cs typeface="Times New Roman" panose="02020603050405020304" pitchFamily="18" charset="0"/>
              </a:rPr>
              <a:t>10 tàu bay cần được duy trì khả năng khai thác sau khi hết hợp đồng gia hạn với Arena.</a:t>
            </a:r>
          </a:p>
          <a:p>
            <a:pPr lvl="1" algn="just">
              <a:lnSpc>
                <a:spcPct val="150000"/>
              </a:lnSpc>
            </a:pPr>
            <a:r>
              <a:rPr lang="en-US" sz="1600" dirty="0">
                <a:latin typeface="Times New Roman" panose="02020603050405020304" pitchFamily="18" charset="0"/>
                <a:cs typeface="Times New Roman" panose="02020603050405020304" pitchFamily="18" charset="0"/>
              </a:rPr>
              <a:t>b.  </a:t>
            </a:r>
            <a:r>
              <a:rPr lang="vi-VN" sz="1600" dirty="0">
                <a:latin typeface="Times New Roman" panose="02020603050405020304" pitchFamily="18" charset="0"/>
                <a:cs typeface="Times New Roman" panose="02020603050405020304" pitchFamily="18" charset="0"/>
              </a:rPr>
              <a:t>Thực hiện balancing quỹ bảo dưỡng sau khi kết thúc gia hạn thuê.</a:t>
            </a:r>
          </a:p>
          <a:p>
            <a:pPr lvl="1" algn="just">
              <a:lnSpc>
                <a:spcPct val="150000"/>
              </a:lnSpc>
            </a:pPr>
            <a:r>
              <a:rPr lang="en-US" sz="1600" dirty="0">
                <a:latin typeface="Times New Roman" panose="02020603050405020304" pitchFamily="18" charset="0"/>
                <a:cs typeface="Times New Roman" panose="02020603050405020304" pitchFamily="18" charset="0"/>
              </a:rPr>
              <a:t>c.  </a:t>
            </a:r>
            <a:r>
              <a:rPr lang="vi-VN" sz="1600" dirty="0">
                <a:latin typeface="Times New Roman" panose="02020603050405020304" pitchFamily="18" charset="0"/>
                <a:cs typeface="Times New Roman" panose="02020603050405020304" pitchFamily="18" charset="0"/>
              </a:rPr>
              <a:t>Đồng ý giảm MR và đề xuất phương án buy-out</a:t>
            </a:r>
            <a:r>
              <a:rPr lang="en-US" sz="1600" dirty="0">
                <a:latin typeface="Times New Roman" panose="02020603050405020304" pitchFamily="18" charset="0"/>
                <a:cs typeface="Times New Roman" panose="02020603050405020304" pitchFamily="18" charset="0"/>
              </a:rPr>
              <a:t> </a:t>
            </a:r>
            <a:r>
              <a:rPr lang="vi-VN" sz="1600" dirty="0">
                <a:latin typeface="Times New Roman" panose="02020603050405020304" pitchFamily="18" charset="0"/>
                <a:cs typeface="Times New Roman" panose="02020603050405020304" pitchFamily="18" charset="0"/>
              </a:rPr>
              <a:t>cho </a:t>
            </a:r>
            <a:r>
              <a:rPr lang="en-US" sz="1600" dirty="0" err="1">
                <a:latin typeface="Times New Roman" panose="02020603050405020304" pitchFamily="18" charset="0"/>
                <a:cs typeface="Times New Roman" panose="02020603050405020304" pitchFamily="18" charset="0"/>
              </a:rPr>
              <a:t>một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số</a:t>
            </a:r>
            <a:r>
              <a:rPr lang="en-US" sz="1600" dirty="0">
                <a:latin typeface="Times New Roman" panose="02020603050405020304" pitchFamily="18" charset="0"/>
                <a:cs typeface="Times New Roman" panose="02020603050405020304" pitchFamily="18" charset="0"/>
              </a:rPr>
              <a:t> </a:t>
            </a:r>
            <a:r>
              <a:rPr lang="vi-VN" sz="1600" dirty="0">
                <a:latin typeface="Times New Roman" panose="02020603050405020304" pitchFamily="18" charset="0"/>
                <a:cs typeface="Times New Roman" panose="02020603050405020304" pitchFamily="18" charset="0"/>
              </a:rPr>
              <a:t>điều kiện trả</a:t>
            </a:r>
            <a:r>
              <a:rPr lang="en-US" sz="1600" dirty="0">
                <a:latin typeface="Times New Roman" panose="02020603050405020304" pitchFamily="18" charset="0"/>
                <a:cs typeface="Times New Roman" panose="02020603050405020304" pitchFamily="18" charset="0"/>
              </a:rPr>
              <a:t>.</a:t>
            </a:r>
          </a:p>
          <a:p>
            <a:pPr algn="just">
              <a:lnSpc>
                <a:spcPct val="150000"/>
              </a:lnSpc>
            </a:pPr>
            <a:r>
              <a:rPr lang="en-US" sz="1600" dirty="0">
                <a:latin typeface="Times New Roman" panose="02020603050405020304" pitchFamily="18" charset="0"/>
                <a:cs typeface="Times New Roman" panose="02020603050405020304" pitchFamily="18" charset="0"/>
              </a:rPr>
              <a:t>2,  FTAI: </a:t>
            </a:r>
            <a:r>
              <a:rPr lang="en-US" sz="1600" dirty="0" err="1">
                <a:latin typeface="Times New Roman" panose="02020603050405020304" pitchFamily="18" charset="0"/>
                <a:cs typeface="Times New Roman" panose="02020603050405020304" pitchFamily="18" charset="0"/>
              </a:rPr>
              <a:t>Bản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chào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thuê</a:t>
            </a:r>
            <a:r>
              <a:rPr lang="en-US" sz="1600" dirty="0">
                <a:latin typeface="Times New Roman" panose="02020603050405020304" pitchFamily="18" charset="0"/>
                <a:cs typeface="Times New Roman" panose="02020603050405020304" pitchFamily="18" charset="0"/>
              </a:rPr>
              <a:t> 10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A321 </a:t>
            </a:r>
            <a:r>
              <a:rPr lang="en-US" sz="1600" dirty="0" err="1">
                <a:latin typeface="Times New Roman" panose="02020603050405020304" pitchFamily="18" charset="0"/>
                <a:cs typeface="Times New Roman" panose="02020603050405020304" pitchFamily="18" charset="0"/>
              </a:rPr>
              <a:t>với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điều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kiện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là</a:t>
            </a:r>
            <a:r>
              <a:rPr lang="en-US" sz="1600" dirty="0">
                <a:latin typeface="Times New Roman" panose="02020603050405020304" pitchFamily="18" charset="0"/>
                <a:cs typeface="Times New Roman" panose="02020603050405020304" pitchFamily="18" charset="0"/>
              </a:rPr>
              <a:t> As-is, </a:t>
            </a:r>
            <a:r>
              <a:rPr lang="en-US" sz="1600" dirty="0" err="1">
                <a:latin typeface="Times New Roman" panose="02020603050405020304" pitchFamily="18" charset="0"/>
                <a:cs typeface="Times New Roman" panose="02020603050405020304" pitchFamily="18" charset="0"/>
              </a:rPr>
              <a:t>có</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đảm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bảo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hỗ</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động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khai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thác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đến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hết</a:t>
            </a:r>
            <a:r>
              <a:rPr lang="en-US" sz="1600" dirty="0">
                <a:latin typeface="Times New Roman" panose="02020603050405020304" pitchFamily="18" charset="0"/>
                <a:cs typeface="Times New Roman" panose="02020603050405020304" pitchFamily="18" charset="0"/>
              </a:rPr>
              <a:t> run-out. </a:t>
            </a:r>
            <a:r>
              <a:rPr lang="en-US" sz="1600" dirty="0" err="1">
                <a:latin typeface="Times New Roman" panose="02020603050405020304" pitchFamily="18" charset="0"/>
                <a:cs typeface="Times New Roman" panose="02020603050405020304" pitchFamily="18" charset="0"/>
              </a:rPr>
              <a:t>Không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phải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thực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hiện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đóng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quỹ</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ngoại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trừ</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động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Bản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chào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có</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nhiều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thuận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lợi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cho</a:t>
            </a:r>
            <a:r>
              <a:rPr lang="en-US" sz="1600" dirty="0">
                <a:latin typeface="Times New Roman" panose="02020603050405020304" pitchFamily="18" charset="0"/>
                <a:cs typeface="Times New Roman" panose="02020603050405020304" pitchFamily="18" charset="0"/>
              </a:rPr>
              <a:t> VNA </a:t>
            </a:r>
            <a:r>
              <a:rPr lang="en-US" sz="1600" dirty="0" err="1">
                <a:latin typeface="Times New Roman" panose="02020603050405020304" pitchFamily="18" charset="0"/>
                <a:cs typeface="Times New Roman" panose="02020603050405020304" pitchFamily="18" charset="0"/>
              </a:rPr>
              <a:t>trong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quá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trình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khai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thác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và</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bay. </a:t>
            </a:r>
          </a:p>
          <a:p>
            <a:pPr algn="just">
              <a:lnSpc>
                <a:spcPct val="150000"/>
              </a:lnSpc>
            </a:pPr>
            <a:r>
              <a:rPr lang="en-US" sz="1600" b="1" dirty="0" err="1">
                <a:latin typeface="Times New Roman" panose="02020603050405020304" pitchFamily="18" charset="0"/>
                <a:cs typeface="Times New Roman" panose="02020603050405020304" pitchFamily="18" charset="0"/>
              </a:rPr>
              <a:t>Đã</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có</a:t>
            </a:r>
            <a:r>
              <a:rPr lang="en-US" sz="1600" b="1" dirty="0">
                <a:latin typeface="Times New Roman" panose="02020603050405020304" pitchFamily="18" charset="0"/>
                <a:cs typeface="Times New Roman" panose="02020603050405020304" pitchFamily="18" charset="0"/>
              </a:rPr>
              <a:t> 2 </a:t>
            </a:r>
            <a:r>
              <a:rPr lang="en-US" sz="1600" b="1" dirty="0" err="1">
                <a:latin typeface="Times New Roman" panose="02020603050405020304" pitchFamily="18" charset="0"/>
                <a:cs typeface="Times New Roman" panose="02020603050405020304" pitchFamily="18" charset="0"/>
              </a:rPr>
              <a:t>đối</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tác</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thực</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hiện</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kiểm</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tra</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tàu</a:t>
            </a:r>
            <a:r>
              <a:rPr lang="en-US" sz="1600" b="1" dirty="0">
                <a:latin typeface="Times New Roman" panose="02020603050405020304" pitchFamily="18" charset="0"/>
                <a:cs typeface="Times New Roman" panose="02020603050405020304" pitchFamily="18" charset="0"/>
              </a:rPr>
              <a:t> bay </a:t>
            </a:r>
            <a:r>
              <a:rPr lang="en-US" sz="1600" b="1" dirty="0" err="1">
                <a:latin typeface="Times New Roman" panose="02020603050405020304" pitchFamily="18" charset="0"/>
                <a:cs typeface="Times New Roman" panose="02020603050405020304" pitchFamily="18" charset="0"/>
              </a:rPr>
              <a:t>và</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tài</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liệu</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phục</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vụ</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công</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tác</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bán</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tàu</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của</a:t>
            </a:r>
            <a:r>
              <a:rPr lang="en-US" sz="1600" b="1" dirty="0">
                <a:latin typeface="Times New Roman" panose="02020603050405020304" pitchFamily="18" charset="0"/>
                <a:cs typeface="Times New Roman" panose="02020603050405020304" pitchFamily="18" charset="0"/>
              </a:rPr>
              <a:t> VALC </a:t>
            </a:r>
            <a:r>
              <a:rPr lang="en-US" sz="1600" b="1" dirty="0" err="1">
                <a:latin typeface="Times New Roman" panose="02020603050405020304" pitchFamily="18" charset="0"/>
                <a:cs typeface="Times New Roman" panose="02020603050405020304" pitchFamily="18" charset="0"/>
              </a:rPr>
              <a:t>là</a:t>
            </a:r>
            <a:r>
              <a:rPr lang="en-US" sz="1600" b="1" dirty="0">
                <a:latin typeface="Times New Roman" panose="02020603050405020304" pitchFamily="18" charset="0"/>
                <a:cs typeface="Times New Roman" panose="02020603050405020304" pitchFamily="18" charset="0"/>
              </a:rPr>
              <a:t> Arena </a:t>
            </a:r>
            <a:r>
              <a:rPr lang="en-US" sz="1600" b="1" dirty="0" err="1">
                <a:latin typeface="Times New Roman" panose="02020603050405020304" pitchFamily="18" charset="0"/>
                <a:cs typeface="Times New Roman" panose="02020603050405020304" pitchFamily="18" charset="0"/>
              </a:rPr>
              <a:t>và</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XAero</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Các</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đối</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tác</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này</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đã</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kiểm</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tra</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xong</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tàu</a:t>
            </a:r>
            <a:r>
              <a:rPr lang="en-US" sz="1600" b="1" dirty="0">
                <a:latin typeface="Times New Roman" panose="02020603050405020304" pitchFamily="18" charset="0"/>
                <a:cs typeface="Times New Roman" panose="02020603050405020304" pitchFamily="18" charset="0"/>
              </a:rPr>
              <a:t> bay </a:t>
            </a:r>
            <a:r>
              <a:rPr lang="en-US" sz="1600" b="1" dirty="0" err="1">
                <a:latin typeface="Times New Roman" panose="02020603050405020304" pitchFamily="18" charset="0"/>
                <a:cs typeface="Times New Roman" panose="02020603050405020304" pitchFamily="18" charset="0"/>
              </a:rPr>
              <a:t>và</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tài</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liệu</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kiểm</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tra</a:t>
            </a:r>
            <a:r>
              <a:rPr lang="en-US" sz="1600" b="1" dirty="0">
                <a:latin typeface="Times New Roman" panose="02020603050405020304" pitchFamily="18" charset="0"/>
                <a:cs typeface="Times New Roman" panose="02020603050405020304" pitchFamily="18" charset="0"/>
              </a:rPr>
              <a:t> 05 </a:t>
            </a:r>
            <a:r>
              <a:rPr lang="en-US" sz="1600" b="1" dirty="0" err="1">
                <a:latin typeface="Times New Roman" panose="02020603050405020304" pitchFamily="18" charset="0"/>
                <a:cs typeface="Times New Roman" panose="02020603050405020304" pitchFamily="18" charset="0"/>
              </a:rPr>
              <a:t>tàu</a:t>
            </a:r>
            <a:r>
              <a:rPr lang="en-US" sz="1600" b="1" dirty="0">
                <a:latin typeface="Times New Roman" panose="02020603050405020304" pitchFamily="18" charset="0"/>
                <a:cs typeface="Times New Roman" panose="02020603050405020304" pitchFamily="18" charset="0"/>
              </a:rPr>
              <a:t> bay VN-A397(VAECO-HCM) </a:t>
            </a:r>
            <a:r>
              <a:rPr lang="en-US" sz="1600" b="1" dirty="0" err="1">
                <a:latin typeface="Times New Roman" panose="02020603050405020304" pitchFamily="18" charset="0"/>
                <a:cs typeface="Times New Roman" panose="02020603050405020304" pitchFamily="18" charset="0"/>
              </a:rPr>
              <a:t>và</a:t>
            </a:r>
            <a:r>
              <a:rPr lang="en-US" sz="1600" b="1" dirty="0">
                <a:latin typeface="Times New Roman" panose="02020603050405020304" pitchFamily="18" charset="0"/>
                <a:cs typeface="Times New Roman" panose="02020603050405020304" pitchFamily="18" charset="0"/>
              </a:rPr>
              <a:t> VN-A338/A392/A395/A604(VAECO-HAN)). </a:t>
            </a:r>
            <a:endParaRPr sz="1600" b="1" dirty="0">
              <a:solidFill>
                <a:srgbClr val="006880"/>
              </a:solidFill>
              <a:latin typeface="Times New Roman" panose="02020603050405020304" pitchFamily="18" charset="0"/>
              <a:cs typeface="Times New Roman" panose="02020603050405020304" pitchFamily="18" charset="0"/>
            </a:endParaRPr>
          </a:p>
        </p:txBody>
      </p:sp>
      <p:sp>
        <p:nvSpPr>
          <p:cNvPr id="76" name="Google Shape;76;p6"/>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vi"/>
              <a:pPr/>
              <a:t>39</a:t>
            </a:fld>
            <a:endParaRPr/>
          </a:p>
        </p:txBody>
      </p:sp>
    </p:spTree>
    <p:extLst>
      <p:ext uri="{BB962C8B-B14F-4D97-AF65-F5344CB8AC3E}">
        <p14:creationId xmlns:p14="http://schemas.microsoft.com/office/powerpoint/2010/main" val="38050711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40</a:t>
            </a:fld>
            <a:endParaRPr lang="en-US"/>
          </a:p>
        </p:txBody>
      </p:sp>
      <p:sp>
        <p:nvSpPr>
          <p:cNvPr id="5" name="Title 4"/>
          <p:cNvSpPr>
            <a:spLocks noGrp="1"/>
          </p:cNvSpPr>
          <p:nvPr>
            <p:ph type="title"/>
          </p:nvPr>
        </p:nvSpPr>
        <p:spPr>
          <a:xfrm>
            <a:off x="228600" y="228600"/>
            <a:ext cx="5663033" cy="482045"/>
          </a:xfrm>
        </p:spPr>
        <p:txBody>
          <a:bodyPr>
            <a:noAutofit/>
          </a:bodyPr>
          <a:lstStyle/>
          <a:p>
            <a:r>
              <a:rPr lang="en-US" sz="2400" dirty="0">
                <a:ln w="0"/>
                <a:solidFill>
                  <a:srgbClr val="FFC000"/>
                </a:solidFill>
                <a:latin typeface="Times New Roman" panose="02020603050405020304" pitchFamily="18" charset="0"/>
                <a:ea typeface="+mn-ea"/>
                <a:cs typeface="Times New Roman" panose="02020603050405020304" pitchFamily="18" charset="0"/>
              </a:rPr>
              <a:t>NHÂN NHƯỢNG TRONG TUẦN</a:t>
            </a:r>
            <a:endParaRPr lang="vi-VN" sz="2400" dirty="0">
              <a:ln w="0"/>
              <a:solidFill>
                <a:srgbClr val="FFC000"/>
              </a:solidFill>
              <a:latin typeface="Times New Roman" panose="02020603050405020304" pitchFamily="18" charset="0"/>
              <a:ea typeface="+mn-ea"/>
              <a:cs typeface="Times New Roman" panose="02020603050405020304" pitchFamily="18" charset="0"/>
            </a:endParaRPr>
          </a:p>
        </p:txBody>
      </p:sp>
      <p:graphicFrame>
        <p:nvGraphicFramePr>
          <p:cNvPr id="6" name="Chart 5">
            <a:extLst>
              <a:ext uri="{FF2B5EF4-FFF2-40B4-BE49-F238E27FC236}">
                <a16:creationId xmlns:a16="http://schemas.microsoft.com/office/drawing/2014/main" id="{00000000-0008-0000-0900-000007000000}"/>
              </a:ext>
            </a:extLst>
          </p:cNvPr>
          <p:cNvGraphicFramePr>
            <a:graphicFrameLocks/>
          </p:cNvGraphicFramePr>
          <p:nvPr>
            <p:extLst>
              <p:ext uri="{D42A27DB-BD31-4B8C-83A1-F6EECF244321}">
                <p14:modId xmlns:p14="http://schemas.microsoft.com/office/powerpoint/2010/main" val="2406899011"/>
              </p:ext>
            </p:extLst>
          </p:nvPr>
        </p:nvGraphicFramePr>
        <p:xfrm>
          <a:off x="3962400" y="710645"/>
          <a:ext cx="4116876" cy="235937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Table 6"/>
          <p:cNvGraphicFramePr>
            <a:graphicFrameLocks noGrp="1"/>
          </p:cNvGraphicFramePr>
          <p:nvPr>
            <p:extLst>
              <p:ext uri="{D42A27DB-BD31-4B8C-83A1-F6EECF244321}">
                <p14:modId xmlns:p14="http://schemas.microsoft.com/office/powerpoint/2010/main" val="1835619174"/>
              </p:ext>
            </p:extLst>
          </p:nvPr>
        </p:nvGraphicFramePr>
        <p:xfrm>
          <a:off x="533398" y="3276598"/>
          <a:ext cx="10896602" cy="1905001"/>
        </p:xfrm>
        <a:graphic>
          <a:graphicData uri="http://schemas.openxmlformats.org/drawingml/2006/table">
            <a:tbl>
              <a:tblPr/>
              <a:tblGrid>
                <a:gridCol w="214125">
                  <a:extLst>
                    <a:ext uri="{9D8B030D-6E8A-4147-A177-3AD203B41FA5}">
                      <a16:colId xmlns:a16="http://schemas.microsoft.com/office/drawing/2014/main" val="20000"/>
                    </a:ext>
                  </a:extLst>
                </a:gridCol>
                <a:gridCol w="1369105">
                  <a:extLst>
                    <a:ext uri="{9D8B030D-6E8A-4147-A177-3AD203B41FA5}">
                      <a16:colId xmlns:a16="http://schemas.microsoft.com/office/drawing/2014/main" val="20001"/>
                    </a:ext>
                  </a:extLst>
                </a:gridCol>
                <a:gridCol w="441228">
                  <a:extLst>
                    <a:ext uri="{9D8B030D-6E8A-4147-A177-3AD203B41FA5}">
                      <a16:colId xmlns:a16="http://schemas.microsoft.com/office/drawing/2014/main" val="20002"/>
                    </a:ext>
                  </a:extLst>
                </a:gridCol>
                <a:gridCol w="376342">
                  <a:extLst>
                    <a:ext uri="{9D8B030D-6E8A-4147-A177-3AD203B41FA5}">
                      <a16:colId xmlns:a16="http://schemas.microsoft.com/office/drawing/2014/main" val="20003"/>
                    </a:ext>
                  </a:extLst>
                </a:gridCol>
                <a:gridCol w="3238002">
                  <a:extLst>
                    <a:ext uri="{9D8B030D-6E8A-4147-A177-3AD203B41FA5}">
                      <a16:colId xmlns:a16="http://schemas.microsoft.com/office/drawing/2014/main" val="20004"/>
                    </a:ext>
                  </a:extLst>
                </a:gridCol>
                <a:gridCol w="1981200">
                  <a:extLst>
                    <a:ext uri="{9D8B030D-6E8A-4147-A177-3AD203B41FA5}">
                      <a16:colId xmlns:a16="http://schemas.microsoft.com/office/drawing/2014/main" val="20005"/>
                    </a:ext>
                  </a:extLst>
                </a:gridCol>
                <a:gridCol w="1522502">
                  <a:extLst>
                    <a:ext uri="{9D8B030D-6E8A-4147-A177-3AD203B41FA5}">
                      <a16:colId xmlns:a16="http://schemas.microsoft.com/office/drawing/2014/main" val="20006"/>
                    </a:ext>
                  </a:extLst>
                </a:gridCol>
                <a:gridCol w="1220698">
                  <a:extLst>
                    <a:ext uri="{9D8B030D-6E8A-4147-A177-3AD203B41FA5}">
                      <a16:colId xmlns:a16="http://schemas.microsoft.com/office/drawing/2014/main" val="20007"/>
                    </a:ext>
                  </a:extLst>
                </a:gridCol>
                <a:gridCol w="533400">
                  <a:extLst>
                    <a:ext uri="{9D8B030D-6E8A-4147-A177-3AD203B41FA5}">
                      <a16:colId xmlns:a16="http://schemas.microsoft.com/office/drawing/2014/main" val="20008"/>
                    </a:ext>
                  </a:extLst>
                </a:gridCol>
              </a:tblGrid>
              <a:tr h="272143">
                <a:tc gridSpan="9">
                  <a:txBody>
                    <a:bodyPr/>
                    <a:lstStyle/>
                    <a:p>
                      <a:pPr algn="ctr" fontAlgn="ctr"/>
                      <a:r>
                        <a:rPr lang="vi-VN" sz="1100" b="1" i="0" u="none" strike="noStrike">
                          <a:solidFill>
                            <a:srgbClr val="000000"/>
                          </a:solidFill>
                          <a:effectLst/>
                          <a:latin typeface="Times New Roman" panose="02020603050405020304" pitchFamily="18" charset="0"/>
                        </a:rPr>
                        <a:t>BẢNG TỔNG HỢP VÀ THEO DÕI NHÂN NHƯỢNG - VIETNAM AIRLINES</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72143">
                <a:tc>
                  <a:txBody>
                    <a:bodyPr/>
                    <a:lstStyle/>
                    <a:p>
                      <a:pPr algn="ctr" fontAlgn="ctr"/>
                      <a:r>
                        <a:rPr lang="en-US" sz="1100" b="1" i="0" u="none" strike="noStrike">
                          <a:solidFill>
                            <a:srgbClr val="000000"/>
                          </a:solidFill>
                          <a:effectLst/>
                          <a:latin typeface="Times New Roman" panose="02020603050405020304" pitchFamily="18" charset="0"/>
                        </a:rPr>
                        <a:t>No</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Concession No.</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Type</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Reg</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Description</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Issued By</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Issued Date</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ADD/CHK/Task No</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Status</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72143">
                <a:tc>
                  <a:txBody>
                    <a:bodyPr/>
                    <a:lstStyle/>
                    <a:p>
                      <a:pPr algn="ctr" fontAlgn="ctr"/>
                      <a:r>
                        <a:rPr lang="en-US" sz="1100" b="0" i="0" u="none" strike="noStrike">
                          <a:solidFill>
                            <a:srgbClr val="000000"/>
                          </a:solidFill>
                          <a:effectLst/>
                          <a:latin typeface="Times New Roman" panose="02020603050405020304" pitchFamily="18" charset="0"/>
                        </a:rPr>
                        <a:t>1</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899-02/25</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task</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A899</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CMP group tasks</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SQD</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21-Mar-2025</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smtClean="0">
                          <a:solidFill>
                            <a:srgbClr val="000000"/>
                          </a:solidFill>
                          <a:effectLst/>
                          <a:latin typeface="Times New Roman" panose="02020603050405020304" pitchFamily="18" charset="0"/>
                        </a:rPr>
                        <a:t>task</a:t>
                      </a:r>
                      <a:r>
                        <a:rPr lang="en-US" sz="1100" b="0" i="0" u="none" strike="noStrike" dirty="0">
                          <a:solidFill>
                            <a:srgbClr val="000000"/>
                          </a:solidFill>
                          <a:effectLst/>
                          <a:latin typeface="Times New Roman" panose="02020603050405020304" pitchFamily="18" charset="0"/>
                        </a:rPr>
                        <a:t> </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 </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72143">
                <a:tc>
                  <a:txBody>
                    <a:bodyPr/>
                    <a:lstStyle/>
                    <a:p>
                      <a:pPr algn="ctr" fontAlgn="ctr"/>
                      <a:r>
                        <a:rPr lang="en-US" sz="1100" b="0" i="0" u="none" strike="noStrike">
                          <a:solidFill>
                            <a:srgbClr val="000000"/>
                          </a:solidFill>
                          <a:effectLst/>
                          <a:latin typeface="Times New Roman" panose="02020603050405020304" pitchFamily="18" charset="0"/>
                        </a:rPr>
                        <a:t>2</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869-03/25</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task</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A869</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INTEGRATED CLG RECIRC AIR</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SQD</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26-Mar-2025</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Times New Roman" panose="02020603050405020304" pitchFamily="18" charset="0"/>
                        </a:rPr>
                        <a:t> </a:t>
                      </a:r>
                      <a:r>
                        <a:rPr lang="en-US" sz="1100" b="0" i="0" u="none" strike="noStrike" dirty="0" smtClean="0">
                          <a:solidFill>
                            <a:srgbClr val="000000"/>
                          </a:solidFill>
                          <a:effectLst/>
                          <a:latin typeface="Times New Roman" panose="02020603050405020304" pitchFamily="18" charset="0"/>
                        </a:rPr>
                        <a:t>task</a:t>
                      </a:r>
                      <a:endParaRPr lang="en-US" sz="1100" b="0" i="0" u="none" strike="noStrike" dirty="0">
                        <a:solidFill>
                          <a:srgbClr val="000000"/>
                        </a:solidFill>
                        <a:effectLst/>
                        <a:latin typeface="Times New Roman" panose="02020603050405020304" pitchFamily="18" charset="0"/>
                      </a:endParaRP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 </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72143">
                <a:tc>
                  <a:txBody>
                    <a:bodyPr/>
                    <a:lstStyle/>
                    <a:p>
                      <a:pPr algn="ctr" fontAlgn="ctr"/>
                      <a:r>
                        <a:rPr lang="en-US" sz="1100" b="0" i="0" u="none" strike="noStrike">
                          <a:solidFill>
                            <a:srgbClr val="000000"/>
                          </a:solidFill>
                          <a:effectLst/>
                          <a:latin typeface="Times New Roman" panose="02020603050405020304" pitchFamily="18" charset="0"/>
                        </a:rPr>
                        <a:t>3</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621-01/25</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task</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A621</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dirty="0">
                          <a:solidFill>
                            <a:srgbClr val="000000"/>
                          </a:solidFill>
                          <a:effectLst/>
                          <a:latin typeface="Times New Roman" panose="02020603050405020304" pitchFamily="18" charset="0"/>
                        </a:rPr>
                        <a:t>AIRPLANE WET WASHING (Interval 600FH)</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SQD</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18-Mar-2025</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Times New Roman" panose="02020603050405020304" pitchFamily="18" charset="0"/>
                        </a:rPr>
                        <a:t> </a:t>
                      </a:r>
                      <a:r>
                        <a:rPr lang="en-US" sz="1100" b="0" i="0" u="none" strike="noStrike" dirty="0" smtClean="0">
                          <a:solidFill>
                            <a:srgbClr val="000000"/>
                          </a:solidFill>
                          <a:effectLst/>
                          <a:latin typeface="Times New Roman" panose="02020603050405020304" pitchFamily="18" charset="0"/>
                        </a:rPr>
                        <a:t>task</a:t>
                      </a:r>
                      <a:endParaRPr lang="en-US" sz="1100" b="0" i="0" u="none" strike="noStrike" dirty="0">
                        <a:solidFill>
                          <a:srgbClr val="000000"/>
                        </a:solidFill>
                        <a:effectLst/>
                        <a:latin typeface="Times New Roman" panose="02020603050405020304" pitchFamily="18" charset="0"/>
                      </a:endParaRP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 </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72143">
                <a:tc>
                  <a:txBody>
                    <a:bodyPr/>
                    <a:lstStyle/>
                    <a:p>
                      <a:pPr algn="ctr" fontAlgn="ctr"/>
                      <a:r>
                        <a:rPr lang="en-US" sz="1100" b="0" i="0" u="none" strike="noStrike">
                          <a:solidFill>
                            <a:srgbClr val="000000"/>
                          </a:solidFill>
                          <a:effectLst/>
                          <a:latin typeface="Times New Roman" panose="02020603050405020304" pitchFamily="18" charset="0"/>
                        </a:rPr>
                        <a:t>4</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870-04/25</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task</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A870</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AMP group tasks for check A08</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SQD</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18-Mar-2025</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Times New Roman" panose="02020603050405020304" pitchFamily="18" charset="0"/>
                        </a:rPr>
                        <a:t> </a:t>
                      </a:r>
                      <a:r>
                        <a:rPr lang="en-US" sz="1100" b="0" i="0" u="none" strike="noStrike" dirty="0" smtClean="0">
                          <a:solidFill>
                            <a:srgbClr val="000000"/>
                          </a:solidFill>
                          <a:effectLst/>
                          <a:latin typeface="Times New Roman" panose="02020603050405020304" pitchFamily="18" charset="0"/>
                        </a:rPr>
                        <a:t>task</a:t>
                      </a:r>
                      <a:endParaRPr lang="en-US" sz="1100" b="0" i="0" u="none" strike="noStrike" dirty="0">
                        <a:solidFill>
                          <a:srgbClr val="000000"/>
                        </a:solidFill>
                        <a:effectLst/>
                        <a:latin typeface="Times New Roman" panose="02020603050405020304" pitchFamily="18" charset="0"/>
                      </a:endParaRP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 </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72143">
                <a:tc>
                  <a:txBody>
                    <a:bodyPr/>
                    <a:lstStyle/>
                    <a:p>
                      <a:pPr algn="ctr" fontAlgn="ctr"/>
                      <a:r>
                        <a:rPr lang="en-US" sz="1100" b="0" i="0" u="none" strike="noStrike">
                          <a:solidFill>
                            <a:srgbClr val="000000"/>
                          </a:solidFill>
                          <a:effectLst/>
                          <a:latin typeface="Times New Roman" panose="02020603050405020304" pitchFamily="18" charset="0"/>
                        </a:rPr>
                        <a:t>5</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870-03/25</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task</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A870</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CMP group tasks for check A08</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SQD</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17-Mar-2025</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Times New Roman" panose="02020603050405020304" pitchFamily="18" charset="0"/>
                        </a:rPr>
                        <a:t> </a:t>
                      </a:r>
                      <a:r>
                        <a:rPr lang="en-US" sz="1100" b="0" i="0" u="none" strike="noStrike" dirty="0" smtClean="0">
                          <a:solidFill>
                            <a:srgbClr val="000000"/>
                          </a:solidFill>
                          <a:effectLst/>
                          <a:latin typeface="Times New Roman" panose="02020603050405020304" pitchFamily="18" charset="0"/>
                        </a:rPr>
                        <a:t>task</a:t>
                      </a:r>
                      <a:endParaRPr lang="en-US" sz="1100" b="0" i="0" u="none" strike="noStrike" dirty="0">
                        <a:solidFill>
                          <a:srgbClr val="000000"/>
                        </a:solidFill>
                        <a:effectLst/>
                        <a:latin typeface="Times New Roman" panose="02020603050405020304" pitchFamily="18" charset="0"/>
                      </a:endParaRP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Times New Roman" panose="02020603050405020304" pitchFamily="18" charset="0"/>
                        </a:rPr>
                        <a:t> </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1779567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7" name="Title 4"/>
          <p:cNvSpPr>
            <a:spLocks noGrp="1"/>
          </p:cNvSpPr>
          <p:nvPr>
            <p:ph type="title"/>
          </p:nvPr>
        </p:nvSpPr>
        <p:spPr>
          <a:xfrm>
            <a:off x="1127264" y="262610"/>
            <a:ext cx="10370492" cy="560972"/>
          </a:xfrm>
        </p:spPr>
        <p:txBody>
          <a:bodyPr>
            <a:noAutofit/>
          </a:bodyPr>
          <a:lstStyle/>
          <a:p>
            <a:pPr algn="ctr"/>
            <a:r>
              <a:rPr lang="en-US" sz="2400" smtClean="0">
                <a:ln w="0"/>
                <a:solidFill>
                  <a:schemeClr val="accent4"/>
                </a:solidFill>
                <a:latin typeface="Times New Roman" panose="02020603050405020304" pitchFamily="18" charset="0"/>
                <a:cs typeface="Times New Roman" panose="02020603050405020304" pitchFamily="18" charset="0"/>
              </a:rPr>
              <a:t>Giờ bay trung bình trong tuần các đội tàu</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8" name="Table 7"/>
          <p:cNvGraphicFramePr>
            <a:graphicFrameLocks noGrp="1"/>
          </p:cNvGraphicFramePr>
          <p:nvPr>
            <p:extLst/>
          </p:nvPr>
        </p:nvGraphicFramePr>
        <p:xfrm>
          <a:off x="1059507" y="3904055"/>
          <a:ext cx="4954432" cy="2793501"/>
        </p:xfrm>
        <a:graphic>
          <a:graphicData uri="http://schemas.openxmlformats.org/drawingml/2006/table">
            <a:tbl>
              <a:tblPr/>
              <a:tblGrid>
                <a:gridCol w="792709">
                  <a:extLst>
                    <a:ext uri="{9D8B030D-6E8A-4147-A177-3AD203B41FA5}">
                      <a16:colId xmlns:a16="http://schemas.microsoft.com/office/drawing/2014/main" val="4293334556"/>
                    </a:ext>
                  </a:extLst>
                </a:gridCol>
                <a:gridCol w="1118287">
                  <a:extLst>
                    <a:ext uri="{9D8B030D-6E8A-4147-A177-3AD203B41FA5}">
                      <a16:colId xmlns:a16="http://schemas.microsoft.com/office/drawing/2014/main" val="3593396119"/>
                    </a:ext>
                  </a:extLst>
                </a:gridCol>
                <a:gridCol w="948420">
                  <a:extLst>
                    <a:ext uri="{9D8B030D-6E8A-4147-A177-3AD203B41FA5}">
                      <a16:colId xmlns:a16="http://schemas.microsoft.com/office/drawing/2014/main" val="1444269426"/>
                    </a:ext>
                  </a:extLst>
                </a:gridCol>
                <a:gridCol w="990886">
                  <a:extLst>
                    <a:ext uri="{9D8B030D-6E8A-4147-A177-3AD203B41FA5}">
                      <a16:colId xmlns:a16="http://schemas.microsoft.com/office/drawing/2014/main" val="2696731085"/>
                    </a:ext>
                  </a:extLst>
                </a:gridCol>
                <a:gridCol w="1104130">
                  <a:extLst>
                    <a:ext uri="{9D8B030D-6E8A-4147-A177-3AD203B41FA5}">
                      <a16:colId xmlns:a16="http://schemas.microsoft.com/office/drawing/2014/main" val="2360079028"/>
                    </a:ext>
                  </a:extLst>
                </a:gridCol>
              </a:tblGrid>
              <a:tr h="249598">
                <a:tc gridSpan="5">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1" i="0" u="none" strike="noStrike" smtClean="0">
                          <a:solidFill>
                            <a:srgbClr val="000000"/>
                          </a:solidFill>
                          <a:effectLst/>
                          <a:latin typeface="Times New Roman" panose="02020603050405020304" pitchFamily="18" charset="0"/>
                        </a:rPr>
                        <a:t>This Week</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5929344"/>
                  </a:ext>
                </a:extLst>
              </a:tr>
              <a:tr h="297521">
                <a:tc>
                  <a:txBody>
                    <a:bodyPr/>
                    <a:lstStyle/>
                    <a:p>
                      <a:pPr algn="ctr" fontAlgn="ctr"/>
                      <a:r>
                        <a:rPr lang="en-US" sz="1400" b="1" i="0" u="none" strike="noStrike">
                          <a:solidFill>
                            <a:srgbClr val="000000"/>
                          </a:solidFill>
                          <a:effectLst/>
                          <a:latin typeface="Times New Roman" panose="02020603050405020304" pitchFamily="18" charset="0"/>
                        </a:rPr>
                        <a:t>Fleet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FH/FC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2964238"/>
                  </a:ext>
                </a:extLst>
              </a:tr>
              <a:tr h="249598">
                <a:tc>
                  <a:txBody>
                    <a:bodyPr/>
                    <a:lstStyle/>
                    <a:p>
                      <a:pPr algn="ctr" fontAlgn="ctr"/>
                      <a:r>
                        <a:rPr lang="en-US" sz="1400" b="1" i="0" u="none" strike="noStrike" smtClean="0">
                          <a:solidFill>
                            <a:srgbClr val="000000"/>
                          </a:solidFill>
                          <a:effectLst/>
                          <a:latin typeface="Times New Roman" panose="02020603050405020304" pitchFamily="18" charset="0"/>
                        </a:rPr>
                        <a:t>A320</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i="0" u="none" strike="noStrike" kern="1200" smtClean="0">
                          <a:solidFill>
                            <a:srgbClr val="000000"/>
                          </a:solidFill>
                          <a:effectLst/>
                          <a:latin typeface="Times New Roman" panose="02020603050405020304" pitchFamily="18" charset="0"/>
                          <a:ea typeface="+mn-ea"/>
                          <a:cs typeface="+mn-cs"/>
                        </a:rPr>
                        <a:t>A320NEO</a:t>
                      </a:r>
                      <a:endParaRPr lang="en-US" sz="1400" b="0" i="0" u="none" strike="noStrike" kern="1200">
                        <a:solidFill>
                          <a:srgbClr val="000000"/>
                        </a:solidFill>
                        <a:effectLst/>
                        <a:latin typeface="Times New Roman" panose="02020603050405020304" pitchFamily="18"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222:40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789633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CEO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129.98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1644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775603"/>
                  </a:ext>
                </a:extLst>
              </a:tr>
              <a:tr h="249598">
                <a:tc v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NEO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417:45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4455108"/>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150:20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4274135"/>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35B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830:35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5172352"/>
                  </a:ext>
                </a:extLst>
              </a:tr>
              <a:tr h="249598">
                <a:tc rowSpan="3">
                  <a:txBody>
                    <a:bodyPr/>
                    <a:lstStyle/>
                    <a:p>
                      <a:pPr algn="ctr" fontAlgn="ctr"/>
                      <a:r>
                        <a:rPr lang="en-US" sz="1400" b="1" i="0" u="none" strike="noStrike">
                          <a:solidFill>
                            <a:srgbClr val="000000"/>
                          </a:solidFill>
                          <a:effectLst/>
                          <a:latin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741:40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114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4341854"/>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307:55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3:42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993120"/>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559:05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78052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283:55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3284901"/>
                  </a:ext>
                </a:extLst>
              </a:tr>
            </a:tbl>
          </a:graphicData>
        </a:graphic>
      </p:graphicFrame>
      <p:graphicFrame>
        <p:nvGraphicFramePr>
          <p:cNvPr id="9" name="Table 8"/>
          <p:cNvGraphicFramePr>
            <a:graphicFrameLocks noGrp="1"/>
          </p:cNvGraphicFramePr>
          <p:nvPr>
            <p:extLst/>
          </p:nvPr>
        </p:nvGraphicFramePr>
        <p:xfrm>
          <a:off x="6312510" y="3904053"/>
          <a:ext cx="5117489" cy="2793501"/>
        </p:xfrm>
        <a:graphic>
          <a:graphicData uri="http://schemas.openxmlformats.org/drawingml/2006/table">
            <a:tbl>
              <a:tblPr/>
              <a:tblGrid>
                <a:gridCol w="818798">
                  <a:extLst>
                    <a:ext uri="{9D8B030D-6E8A-4147-A177-3AD203B41FA5}">
                      <a16:colId xmlns:a16="http://schemas.microsoft.com/office/drawing/2014/main" val="4293334556"/>
                    </a:ext>
                  </a:extLst>
                </a:gridCol>
                <a:gridCol w="1155092">
                  <a:extLst>
                    <a:ext uri="{9D8B030D-6E8A-4147-A177-3AD203B41FA5}">
                      <a16:colId xmlns:a16="http://schemas.microsoft.com/office/drawing/2014/main" val="3593396119"/>
                    </a:ext>
                  </a:extLst>
                </a:gridCol>
                <a:gridCol w="979634">
                  <a:extLst>
                    <a:ext uri="{9D8B030D-6E8A-4147-A177-3AD203B41FA5}">
                      <a16:colId xmlns:a16="http://schemas.microsoft.com/office/drawing/2014/main" val="1444269426"/>
                    </a:ext>
                  </a:extLst>
                </a:gridCol>
                <a:gridCol w="1023497">
                  <a:extLst>
                    <a:ext uri="{9D8B030D-6E8A-4147-A177-3AD203B41FA5}">
                      <a16:colId xmlns:a16="http://schemas.microsoft.com/office/drawing/2014/main" val="2696731085"/>
                    </a:ext>
                  </a:extLst>
                </a:gridCol>
                <a:gridCol w="1140468">
                  <a:extLst>
                    <a:ext uri="{9D8B030D-6E8A-4147-A177-3AD203B41FA5}">
                      <a16:colId xmlns:a16="http://schemas.microsoft.com/office/drawing/2014/main" val="2360079028"/>
                    </a:ext>
                  </a:extLst>
                </a:gridCol>
              </a:tblGrid>
              <a:tr h="249598">
                <a:tc gridSpan="5">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1" i="0" u="none" strike="noStrike" smtClean="0">
                          <a:solidFill>
                            <a:srgbClr val="000000"/>
                          </a:solidFill>
                          <a:effectLst/>
                          <a:latin typeface="Times New Roman" panose="02020603050405020304" pitchFamily="18" charset="0"/>
                        </a:rPr>
                        <a:t>Next Week</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8078206"/>
                  </a:ext>
                </a:extLst>
              </a:tr>
              <a:tr h="297521">
                <a:tc>
                  <a:txBody>
                    <a:bodyPr/>
                    <a:lstStyle/>
                    <a:p>
                      <a:pPr algn="ctr" fontAlgn="ctr"/>
                      <a:r>
                        <a:rPr lang="en-US" sz="1400" b="1" i="0" u="none" strike="noStrike">
                          <a:solidFill>
                            <a:srgbClr val="000000"/>
                          </a:solidFill>
                          <a:effectLst/>
                          <a:latin typeface="Times New Roman" panose="02020603050405020304" pitchFamily="18" charset="0"/>
                        </a:rPr>
                        <a:t>Fleet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FH/FC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82051267"/>
                  </a:ext>
                </a:extLst>
              </a:tr>
              <a:tr h="249598">
                <a:tc>
                  <a:txBody>
                    <a:bodyPr/>
                    <a:lstStyle/>
                    <a:p>
                      <a:pPr algn="ctr" fontAlgn="ctr"/>
                      <a:r>
                        <a:rPr lang="en-US" sz="1400" b="1" i="0" u="none" strike="noStrike" smtClean="0">
                          <a:solidFill>
                            <a:srgbClr val="000000"/>
                          </a:solidFill>
                          <a:effectLst/>
                          <a:latin typeface="Times New Roman" panose="02020603050405020304" pitchFamily="18" charset="0"/>
                        </a:rPr>
                        <a:t>A320</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i="0" u="none" strike="noStrike" kern="1200" smtClean="0">
                          <a:solidFill>
                            <a:srgbClr val="000000"/>
                          </a:solidFill>
                          <a:effectLst/>
                          <a:latin typeface="Times New Roman" panose="02020603050405020304" pitchFamily="18" charset="0"/>
                          <a:ea typeface="+mn-ea"/>
                          <a:cs typeface="+mn-cs"/>
                        </a:rPr>
                        <a:t>A320NEO</a:t>
                      </a:r>
                      <a:endParaRPr lang="en-US" sz="1400" b="0" i="0" u="none" strike="noStrike" kern="1200">
                        <a:solidFill>
                          <a:srgbClr val="000000"/>
                        </a:solidFill>
                        <a:effectLst/>
                        <a:latin typeface="Times New Roman" panose="02020603050405020304" pitchFamily="18"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225:10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789633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CEO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130.41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1654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775603"/>
                  </a:ext>
                </a:extLst>
              </a:tr>
              <a:tr h="249598">
                <a:tc v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NEO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462:05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2:17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884690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218:30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4274135"/>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35B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774:40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5172352"/>
                  </a:ext>
                </a:extLst>
              </a:tr>
              <a:tr h="249598">
                <a:tc rowSpan="3">
                  <a:txBody>
                    <a:bodyPr/>
                    <a:lstStyle/>
                    <a:p>
                      <a:pPr algn="ctr" fontAlgn="ctr"/>
                      <a:r>
                        <a:rPr lang="en-US" sz="1400" b="1" i="0" u="none" strike="noStrike">
                          <a:solidFill>
                            <a:srgbClr val="000000"/>
                          </a:solidFill>
                          <a:effectLst/>
                          <a:latin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719:00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4341854"/>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300:25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3:37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993120"/>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597:55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178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78052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284:45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3284901"/>
                  </a:ext>
                </a:extLst>
              </a:tr>
            </a:tbl>
          </a:graphicData>
        </a:graphic>
      </p:graphicFrame>
      <p:graphicFrame>
        <p:nvGraphicFramePr>
          <p:cNvPr id="11" name="Chart 10"/>
          <p:cNvGraphicFramePr>
            <a:graphicFrameLocks/>
          </p:cNvGraphicFramePr>
          <p:nvPr>
            <p:extLst/>
          </p:nvPr>
        </p:nvGraphicFramePr>
        <p:xfrm>
          <a:off x="1059507" y="967066"/>
          <a:ext cx="10370492" cy="277653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7124868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4" name="Title 4"/>
          <p:cNvSpPr>
            <a:spLocks noGrp="1"/>
          </p:cNvSpPr>
          <p:nvPr>
            <p:ph type="title"/>
          </p:nvPr>
        </p:nvSpPr>
        <p:spPr>
          <a:xfrm>
            <a:off x="1068301" y="441128"/>
            <a:ext cx="10515600" cy="558906"/>
          </a:xfrm>
        </p:spPr>
        <p:txBody>
          <a:bodyPr>
            <a:noAutofit/>
          </a:bodyPr>
          <a:lstStyle/>
          <a:p>
            <a:pPr algn="ctr"/>
            <a:r>
              <a:rPr lang="en-US" sz="2400" smtClean="0">
                <a:ln w="0"/>
                <a:solidFill>
                  <a:schemeClr val="accent4"/>
                </a:solidFill>
                <a:latin typeface="Times New Roman" panose="02020603050405020304" pitchFamily="18" charset="0"/>
                <a:cs typeface="Times New Roman" panose="02020603050405020304" pitchFamily="18" charset="0"/>
              </a:rPr>
              <a:t>Số chuyến bay theo ngày trong </a:t>
            </a:r>
            <a:r>
              <a:rPr lang="en-US" sz="2400">
                <a:ln w="0"/>
                <a:solidFill>
                  <a:schemeClr val="accent4"/>
                </a:solidFill>
                <a:latin typeface="Times New Roman" panose="02020603050405020304" pitchFamily="18" charset="0"/>
                <a:cs typeface="Times New Roman" panose="02020603050405020304" pitchFamily="18" charset="0"/>
              </a:rPr>
              <a:t>tuần các đội tàu</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nvPr>
        </p:nvGraphicFramePr>
        <p:xfrm>
          <a:off x="925417" y="3601492"/>
          <a:ext cx="5166913" cy="3074728"/>
        </p:xfrm>
        <a:graphic>
          <a:graphicData uri="http://schemas.openxmlformats.org/drawingml/2006/table">
            <a:tbl>
              <a:tblPr/>
              <a:tblGrid>
                <a:gridCol w="508916">
                  <a:extLst>
                    <a:ext uri="{9D8B030D-6E8A-4147-A177-3AD203B41FA5}">
                      <a16:colId xmlns:a16="http://schemas.microsoft.com/office/drawing/2014/main" val="4007203340"/>
                    </a:ext>
                  </a:extLst>
                </a:gridCol>
                <a:gridCol w="664419">
                  <a:extLst>
                    <a:ext uri="{9D8B030D-6E8A-4147-A177-3AD203B41FA5}">
                      <a16:colId xmlns:a16="http://schemas.microsoft.com/office/drawing/2014/main" val="426832351"/>
                    </a:ext>
                  </a:extLst>
                </a:gridCol>
                <a:gridCol w="558394">
                  <a:extLst>
                    <a:ext uri="{9D8B030D-6E8A-4147-A177-3AD203B41FA5}">
                      <a16:colId xmlns:a16="http://schemas.microsoft.com/office/drawing/2014/main" val="1721542108"/>
                    </a:ext>
                  </a:extLst>
                </a:gridCol>
                <a:gridCol w="558394">
                  <a:extLst>
                    <a:ext uri="{9D8B030D-6E8A-4147-A177-3AD203B41FA5}">
                      <a16:colId xmlns:a16="http://schemas.microsoft.com/office/drawing/2014/main" val="1471932876"/>
                    </a:ext>
                  </a:extLst>
                </a:gridCol>
                <a:gridCol w="558394">
                  <a:extLst>
                    <a:ext uri="{9D8B030D-6E8A-4147-A177-3AD203B41FA5}">
                      <a16:colId xmlns:a16="http://schemas.microsoft.com/office/drawing/2014/main" val="4014421323"/>
                    </a:ext>
                  </a:extLst>
                </a:gridCol>
                <a:gridCol w="558394">
                  <a:extLst>
                    <a:ext uri="{9D8B030D-6E8A-4147-A177-3AD203B41FA5}">
                      <a16:colId xmlns:a16="http://schemas.microsoft.com/office/drawing/2014/main" val="3056975398"/>
                    </a:ext>
                  </a:extLst>
                </a:gridCol>
                <a:gridCol w="558394">
                  <a:extLst>
                    <a:ext uri="{9D8B030D-6E8A-4147-A177-3AD203B41FA5}">
                      <a16:colId xmlns:a16="http://schemas.microsoft.com/office/drawing/2014/main" val="3963358169"/>
                    </a:ext>
                  </a:extLst>
                </a:gridCol>
                <a:gridCol w="643214">
                  <a:extLst>
                    <a:ext uri="{9D8B030D-6E8A-4147-A177-3AD203B41FA5}">
                      <a16:colId xmlns:a16="http://schemas.microsoft.com/office/drawing/2014/main" val="2287965264"/>
                    </a:ext>
                  </a:extLst>
                </a:gridCol>
                <a:gridCol w="558394">
                  <a:extLst>
                    <a:ext uri="{9D8B030D-6E8A-4147-A177-3AD203B41FA5}">
                      <a16:colId xmlns:a16="http://schemas.microsoft.com/office/drawing/2014/main" val="280549794"/>
                    </a:ext>
                  </a:extLst>
                </a:gridCol>
              </a:tblGrid>
              <a:tr h="316070">
                <a:tc gridSpan="9">
                  <a:txBody>
                    <a:bodyPr/>
                    <a:lstStyle/>
                    <a:p>
                      <a:pPr algn="ctr" fontAlgn="ctr"/>
                      <a:r>
                        <a:rPr lang="en-US" sz="1400" b="0" i="0" u="none" strike="noStrike">
                          <a:solidFill>
                            <a:srgbClr val="000000"/>
                          </a:solidFill>
                          <a:effectLst/>
                          <a:latin typeface="Times New Roman" panose="02020603050405020304" pitchFamily="18" charset="0"/>
                        </a:rPr>
                        <a:t>This 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51903382"/>
                  </a:ext>
                </a:extLst>
              </a:tr>
              <a:tr h="316070">
                <a:tc>
                  <a:txBody>
                    <a:bodyPr/>
                    <a:lstStyle/>
                    <a:p>
                      <a:pPr algn="ctr" fontAlgn="ctr"/>
                      <a:r>
                        <a:rPr lang="en-US" sz="12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17-Mar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18-Mar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19-Mar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20-Mar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21-Mar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22-Mar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23-Mar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160127"/>
                  </a:ext>
                </a:extLst>
              </a:tr>
              <a:tr h="498126">
                <a:tc>
                  <a:txBody>
                    <a:bodyPr/>
                    <a:lstStyle/>
                    <a:p>
                      <a:pPr algn="ctr" fontAlgn="ctr"/>
                      <a:r>
                        <a:rPr lang="en-US" sz="1200" b="0" i="0" u="none" strike="noStrike" smtClean="0">
                          <a:solidFill>
                            <a:srgbClr val="000000"/>
                          </a:solidFill>
                          <a:effectLst/>
                          <a:latin typeface="Times New Roman" panose="02020603050405020304" pitchFamily="18" charset="0"/>
                        </a:rPr>
                        <a:t>A320</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6.76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1804899"/>
                  </a:ext>
                </a:extLst>
              </a:tr>
              <a:tr h="498126">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CEO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5.85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5.92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6.28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6.28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85196478"/>
                  </a:ext>
                </a:extLst>
              </a:tr>
              <a:tr h="498126">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5.74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55283256"/>
                  </a:ext>
                </a:extLst>
              </a:tr>
              <a:tr h="316070">
                <a:tc>
                  <a:txBody>
                    <a:bodyPr/>
                    <a:lstStyle/>
                    <a:p>
                      <a:pPr algn="ctr" fontAlgn="ctr"/>
                      <a:r>
                        <a:rPr lang="en-US" sz="12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2.44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92940620"/>
                  </a:ext>
                </a:extLst>
              </a:tr>
              <a:tr h="316070">
                <a:tc>
                  <a:txBody>
                    <a:bodyPr/>
                    <a:lstStyle/>
                    <a:p>
                      <a:pPr algn="ctr" fontAlgn="ctr"/>
                      <a:r>
                        <a:rPr lang="en-US" sz="12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3001083"/>
                  </a:ext>
                </a:extLst>
              </a:tr>
              <a:tr h="316070">
                <a:tc>
                  <a:txBody>
                    <a:bodyPr/>
                    <a:lstStyle/>
                    <a:p>
                      <a:pPr algn="ctr" fontAlgn="ctr"/>
                      <a:r>
                        <a:rPr lang="en-US" sz="1200" b="0" i="0" u="none" strike="noStrike">
                          <a:solidFill>
                            <a:srgbClr val="00000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78332843"/>
                  </a:ext>
                </a:extLst>
              </a:tr>
            </a:tbl>
          </a:graphicData>
        </a:graphic>
      </p:graphicFrame>
      <p:graphicFrame>
        <p:nvGraphicFramePr>
          <p:cNvPr id="6" name="Table 5"/>
          <p:cNvGraphicFramePr>
            <a:graphicFrameLocks noGrp="1"/>
          </p:cNvGraphicFramePr>
          <p:nvPr>
            <p:extLst/>
          </p:nvPr>
        </p:nvGraphicFramePr>
        <p:xfrm>
          <a:off x="6323684" y="3601491"/>
          <a:ext cx="5122840" cy="3074728"/>
        </p:xfrm>
        <a:graphic>
          <a:graphicData uri="http://schemas.openxmlformats.org/drawingml/2006/table">
            <a:tbl>
              <a:tblPr/>
              <a:tblGrid>
                <a:gridCol w="594680">
                  <a:extLst>
                    <a:ext uri="{9D8B030D-6E8A-4147-A177-3AD203B41FA5}">
                      <a16:colId xmlns:a16="http://schemas.microsoft.com/office/drawing/2014/main" val="3551115474"/>
                    </a:ext>
                  </a:extLst>
                </a:gridCol>
                <a:gridCol w="566020">
                  <a:extLst>
                    <a:ext uri="{9D8B030D-6E8A-4147-A177-3AD203B41FA5}">
                      <a16:colId xmlns:a16="http://schemas.microsoft.com/office/drawing/2014/main" val="1314180557"/>
                    </a:ext>
                  </a:extLst>
                </a:gridCol>
                <a:gridCol w="566020">
                  <a:extLst>
                    <a:ext uri="{9D8B030D-6E8A-4147-A177-3AD203B41FA5}">
                      <a16:colId xmlns:a16="http://schemas.microsoft.com/office/drawing/2014/main" val="2680264810"/>
                    </a:ext>
                  </a:extLst>
                </a:gridCol>
                <a:gridCol w="566020">
                  <a:extLst>
                    <a:ext uri="{9D8B030D-6E8A-4147-A177-3AD203B41FA5}">
                      <a16:colId xmlns:a16="http://schemas.microsoft.com/office/drawing/2014/main" val="184617242"/>
                    </a:ext>
                  </a:extLst>
                </a:gridCol>
                <a:gridCol w="566020">
                  <a:extLst>
                    <a:ext uri="{9D8B030D-6E8A-4147-A177-3AD203B41FA5}">
                      <a16:colId xmlns:a16="http://schemas.microsoft.com/office/drawing/2014/main" val="3552461699"/>
                    </a:ext>
                  </a:extLst>
                </a:gridCol>
                <a:gridCol w="566020">
                  <a:extLst>
                    <a:ext uri="{9D8B030D-6E8A-4147-A177-3AD203B41FA5}">
                      <a16:colId xmlns:a16="http://schemas.microsoft.com/office/drawing/2014/main" val="3621213656"/>
                    </a:ext>
                  </a:extLst>
                </a:gridCol>
                <a:gridCol w="566020">
                  <a:extLst>
                    <a:ext uri="{9D8B030D-6E8A-4147-A177-3AD203B41FA5}">
                      <a16:colId xmlns:a16="http://schemas.microsoft.com/office/drawing/2014/main" val="4002416887"/>
                    </a:ext>
                  </a:extLst>
                </a:gridCol>
                <a:gridCol w="566020">
                  <a:extLst>
                    <a:ext uri="{9D8B030D-6E8A-4147-A177-3AD203B41FA5}">
                      <a16:colId xmlns:a16="http://schemas.microsoft.com/office/drawing/2014/main" val="2192548362"/>
                    </a:ext>
                  </a:extLst>
                </a:gridCol>
                <a:gridCol w="566020">
                  <a:extLst>
                    <a:ext uri="{9D8B030D-6E8A-4147-A177-3AD203B41FA5}">
                      <a16:colId xmlns:a16="http://schemas.microsoft.com/office/drawing/2014/main" val="604295541"/>
                    </a:ext>
                  </a:extLst>
                </a:gridCol>
              </a:tblGrid>
              <a:tr h="273744">
                <a:tc gridSpan="9">
                  <a:txBody>
                    <a:bodyPr/>
                    <a:lstStyle/>
                    <a:p>
                      <a:pPr algn="ctr" fontAlgn="ctr"/>
                      <a:r>
                        <a:rPr lang="en-US" sz="1400" b="0" i="0" u="none" strike="noStrike" smtClean="0">
                          <a:solidFill>
                            <a:srgbClr val="000000"/>
                          </a:solidFill>
                          <a:effectLst/>
                          <a:latin typeface="Times New Roman" panose="02020603050405020304" pitchFamily="18" charset="0"/>
                        </a:rPr>
                        <a:t>Next </a:t>
                      </a:r>
                      <a:r>
                        <a:rPr lang="en-US" sz="1400" b="0" i="0" u="none" strike="noStrike">
                          <a:solidFill>
                            <a:srgbClr val="000000"/>
                          </a:solidFill>
                          <a:effectLst/>
                          <a:latin typeface="Times New Roman" panose="02020603050405020304" pitchFamily="18" charset="0"/>
                        </a:rPr>
                        <a:t>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73633610"/>
                  </a:ext>
                </a:extLst>
              </a:tr>
              <a:tr h="338389">
                <a:tc>
                  <a:txBody>
                    <a:bodyPr/>
                    <a:lstStyle/>
                    <a:p>
                      <a:pPr algn="ctr" fontAlgn="ctr"/>
                      <a:r>
                        <a:rPr lang="en-US" sz="12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24-Mar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25-Mar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26-Mar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27-Mar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28-Mar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29-Mar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14169036"/>
                  </a:ext>
                </a:extLst>
              </a:tr>
              <a:tr h="501500">
                <a:tc>
                  <a:txBody>
                    <a:bodyPr/>
                    <a:lstStyle/>
                    <a:p>
                      <a:pPr algn="ctr" fontAlgn="ctr"/>
                      <a:r>
                        <a:rPr lang="en-US" sz="1200" b="0" i="0" u="none" strike="noStrike" smtClean="0">
                          <a:solidFill>
                            <a:srgbClr val="000000"/>
                          </a:solidFill>
                          <a:effectLst/>
                          <a:latin typeface="Times New Roman" panose="02020603050405020304" pitchFamily="18" charset="0"/>
                        </a:rPr>
                        <a:t>A320</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3065108"/>
                  </a:ext>
                </a:extLst>
              </a:tr>
              <a:tr h="501500">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CEO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5.62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5.95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5.92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6.64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7632801"/>
                  </a:ext>
                </a:extLst>
              </a:tr>
              <a:tr h="501500">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5.77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38142930"/>
                  </a:ext>
                </a:extLst>
              </a:tr>
              <a:tr h="339912">
                <a:tc>
                  <a:txBody>
                    <a:bodyPr/>
                    <a:lstStyle/>
                    <a:p>
                      <a:pPr algn="ctr" fontAlgn="ctr"/>
                      <a:r>
                        <a:rPr lang="en-US" sz="12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29221019"/>
                  </a:ext>
                </a:extLst>
              </a:tr>
              <a:tr h="344439">
                <a:tc>
                  <a:txBody>
                    <a:bodyPr/>
                    <a:lstStyle/>
                    <a:p>
                      <a:pPr algn="ctr" fontAlgn="ctr"/>
                      <a:r>
                        <a:rPr lang="en-US" sz="12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3.44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3.38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52154933"/>
                  </a:ext>
                </a:extLst>
              </a:tr>
              <a:tr h="273744">
                <a:tc>
                  <a:txBody>
                    <a:bodyPr/>
                    <a:lstStyle/>
                    <a:p>
                      <a:pPr algn="ctr" fontAlgn="ctr"/>
                      <a:r>
                        <a:rPr lang="en-US" sz="1200" b="0" i="0" u="none" strike="noStrike">
                          <a:solidFill>
                            <a:srgbClr val="00000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7.83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55859539"/>
                  </a:ext>
                </a:extLst>
              </a:tr>
            </a:tbl>
          </a:graphicData>
        </a:graphic>
      </p:graphicFrame>
      <p:graphicFrame>
        <p:nvGraphicFramePr>
          <p:cNvPr id="9" name="Chart 8"/>
          <p:cNvGraphicFramePr>
            <a:graphicFrameLocks/>
          </p:cNvGraphicFramePr>
          <p:nvPr>
            <p:extLst/>
          </p:nvPr>
        </p:nvGraphicFramePr>
        <p:xfrm>
          <a:off x="925417" y="1143001"/>
          <a:ext cx="10521107" cy="22098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6387734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4" name="Title 4"/>
          <p:cNvSpPr>
            <a:spLocks noGrp="1"/>
          </p:cNvSpPr>
          <p:nvPr>
            <p:ph type="title"/>
          </p:nvPr>
        </p:nvSpPr>
        <p:spPr>
          <a:xfrm>
            <a:off x="983673" y="508342"/>
            <a:ext cx="10549845" cy="552707"/>
          </a:xfrm>
        </p:spPr>
        <p:txBody>
          <a:bodyPr>
            <a:noAutofit/>
          </a:bodyPr>
          <a:lstStyle/>
          <a:p>
            <a:pPr algn="ctr"/>
            <a:r>
              <a:rPr lang="en-GB" sz="2400">
                <a:ln w="0"/>
                <a:solidFill>
                  <a:schemeClr val="accent4"/>
                </a:solidFill>
                <a:latin typeface="Times New Roman" panose="02020603050405020304" pitchFamily="18" charset="0"/>
                <a:cs typeface="Times New Roman" panose="02020603050405020304" pitchFamily="18" charset="0"/>
              </a:rPr>
              <a:t>S</a:t>
            </a:r>
            <a:r>
              <a:rPr lang="en-GB" sz="2400" smtClean="0">
                <a:ln w="0"/>
                <a:solidFill>
                  <a:schemeClr val="accent4"/>
                </a:solidFill>
                <a:latin typeface="Times New Roman" panose="02020603050405020304" pitchFamily="18" charset="0"/>
                <a:cs typeface="Times New Roman" panose="02020603050405020304" pitchFamily="18" charset="0"/>
              </a:rPr>
              <a:t>ố chuyến bay khai thác theo ngày</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6" name="Chart 5"/>
          <p:cNvGraphicFramePr>
            <a:graphicFrameLocks/>
          </p:cNvGraphicFramePr>
          <p:nvPr>
            <p:extLst/>
          </p:nvPr>
        </p:nvGraphicFramePr>
        <p:xfrm>
          <a:off x="983673" y="1219200"/>
          <a:ext cx="10549846" cy="53340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2389517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g31ccdae391d_0_248"/>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57" name="Google Shape;157;g31ccdae391d_0_24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44</a:t>
            </a:fld>
            <a:endParaRPr/>
          </a:p>
        </p:txBody>
      </p:sp>
      <p:sp>
        <p:nvSpPr>
          <p:cNvPr id="158" name="Google Shape;158;g31ccdae391d_0_248"/>
          <p:cNvSpPr/>
          <p:nvPr/>
        </p:nvSpPr>
        <p:spPr>
          <a:xfrm>
            <a:off x="475582" y="569557"/>
            <a:ext cx="11164800" cy="5718900"/>
          </a:xfrm>
          <a:prstGeom prst="rect">
            <a:avLst/>
          </a:prstGeom>
          <a:noFill/>
          <a:ln>
            <a:noFill/>
          </a:ln>
        </p:spPr>
        <p:txBody>
          <a:bodyPr spcFirstLastPara="1" wrap="square" lIns="91425" tIns="45700" rIns="91425" bIns="45700" anchor="t" anchorCtr="0">
            <a:noAutofit/>
          </a:bodyPr>
          <a:lstStyle/>
          <a:p>
            <a:pPr algn="just">
              <a:buClr>
                <a:srgbClr val="000000"/>
              </a:buClr>
              <a:buSzPts val="2000"/>
              <a:buFont typeface="Arial"/>
              <a:buNone/>
            </a:pPr>
            <a:r>
              <a:rPr lang="en-US" sz="2000" b="1" kern="0">
                <a:solidFill>
                  <a:srgbClr val="FF0000"/>
                </a:solidFill>
                <a:latin typeface="Times New Roman"/>
                <a:ea typeface="Times New Roman"/>
                <a:cs typeface="Times New Roman"/>
                <a:sym typeface="Times New Roman"/>
              </a:rPr>
              <a:t>Tình trạng vật tư cho hỏng hóc trên đội bay</a:t>
            </a:r>
            <a:endParaRPr sz="2000" b="1" kern="0">
              <a:solidFill>
                <a:srgbClr val="FF0000"/>
              </a:solidFill>
              <a:latin typeface="Times New Roman"/>
              <a:ea typeface="Times New Roman"/>
              <a:cs typeface="Times New Roman"/>
              <a:sym typeface="Times New Roman"/>
            </a:endParaRPr>
          </a:p>
          <a:p>
            <a:pPr marL="457200" indent="-323850" algn="just">
              <a:buClr>
                <a:srgbClr val="000000"/>
              </a:buClr>
              <a:buSzPts val="1500"/>
              <a:buFont typeface="Times New Roman"/>
              <a:buChar char="●"/>
            </a:pPr>
            <a:r>
              <a:rPr lang="en-US" sz="1500" b="1" kern="0">
                <a:solidFill>
                  <a:srgbClr val="000000"/>
                </a:solidFill>
                <a:latin typeface="Times New Roman"/>
                <a:ea typeface="Times New Roman"/>
                <a:cs typeface="Times New Roman"/>
                <a:sym typeface="Times New Roman"/>
              </a:rPr>
              <a:t>Tàu AOG: A331 chờ phương án sửa, chưa đặt vật tư</a:t>
            </a:r>
            <a:endParaRPr sz="1500" kern="0">
              <a:solidFill>
                <a:srgbClr val="000000"/>
              </a:solidFill>
              <a:latin typeface="Times New Roman"/>
              <a:ea typeface="Times New Roman"/>
              <a:cs typeface="Times New Roman"/>
              <a:sym typeface="Times New Roman"/>
            </a:endParaRPr>
          </a:p>
          <a:p>
            <a:pPr marL="457200" indent="-323850" algn="just">
              <a:buClr>
                <a:srgbClr val="000000"/>
              </a:buClr>
              <a:buSzPts val="1500"/>
              <a:buFont typeface="Times New Roman"/>
              <a:buChar char="●"/>
            </a:pPr>
            <a:r>
              <a:rPr lang="en-US" sz="1500" b="1" kern="0">
                <a:solidFill>
                  <a:srgbClr val="000000"/>
                </a:solidFill>
                <a:latin typeface="Times New Roman"/>
                <a:ea typeface="Times New Roman"/>
                <a:cs typeface="Times New Roman"/>
                <a:sym typeface="Times New Roman"/>
              </a:rPr>
              <a:t>Tình hình tàu check: </a:t>
            </a:r>
            <a:endParaRPr sz="1500" kern="0">
              <a:solidFill>
                <a:srgbClr val="000000"/>
              </a:solidFill>
              <a:latin typeface="Times New Roman"/>
              <a:ea typeface="Times New Roman"/>
              <a:cs typeface="Times New Roman"/>
              <a:sym typeface="Times New Roman"/>
            </a:endParaRPr>
          </a:p>
          <a:p>
            <a:pPr marL="914400" lvl="1" indent="-323850" algn="just">
              <a:buClr>
                <a:srgbClr val="000000"/>
              </a:buClr>
              <a:buSzPts val="1500"/>
              <a:buFont typeface="Times New Roman"/>
              <a:buChar char="○"/>
            </a:pPr>
            <a:r>
              <a:rPr lang="en-US" sz="1500" kern="0">
                <a:solidFill>
                  <a:srgbClr val="000000"/>
                </a:solidFill>
                <a:latin typeface="Times New Roman"/>
                <a:ea typeface="Times New Roman"/>
                <a:cs typeface="Times New Roman"/>
                <a:sym typeface="Times New Roman"/>
              </a:rPr>
              <a:t>A353: Y01 (18/03-23/03) tại HAN: không có phát sinh vật tư</a:t>
            </a:r>
            <a:endParaRPr sz="1500" kern="0">
              <a:solidFill>
                <a:srgbClr val="000000"/>
              </a:solidFill>
              <a:latin typeface="Times New Roman"/>
              <a:ea typeface="Times New Roman"/>
              <a:cs typeface="Times New Roman"/>
              <a:sym typeface="Times New Roman"/>
            </a:endParaRPr>
          </a:p>
          <a:p>
            <a:pPr marL="457200" indent="-323850" algn="just">
              <a:lnSpc>
                <a:spcPct val="110000"/>
              </a:lnSpc>
              <a:spcBef>
                <a:spcPts val="600"/>
              </a:spcBef>
              <a:buClr>
                <a:srgbClr val="000000"/>
              </a:buClr>
              <a:buSzPts val="1500"/>
              <a:buFont typeface="Times New Roman"/>
              <a:buChar char="●"/>
            </a:pPr>
            <a:r>
              <a:rPr lang="en-US" sz="1500" b="1" kern="0">
                <a:solidFill>
                  <a:srgbClr val="000000"/>
                </a:solidFill>
                <a:latin typeface="Times New Roman"/>
                <a:ea typeface="Times New Roman"/>
                <a:cs typeface="Times New Roman"/>
                <a:sym typeface="Times New Roman"/>
              </a:rPr>
              <a:t>Hỏng hóc ảnh hưởng khai thác: Không có vướng mắc vật tư</a:t>
            </a:r>
            <a:endParaRPr sz="1500" b="1" kern="0">
              <a:solidFill>
                <a:srgbClr val="000000"/>
              </a:solidFill>
              <a:latin typeface="Times New Roman"/>
              <a:ea typeface="Times New Roman"/>
              <a:cs typeface="Times New Roman"/>
              <a:sym typeface="Times New Roman"/>
            </a:endParaRPr>
          </a:p>
          <a:p>
            <a:pPr marL="457200" indent="-323850" algn="just">
              <a:lnSpc>
                <a:spcPct val="110000"/>
              </a:lnSpc>
              <a:spcBef>
                <a:spcPts val="600"/>
              </a:spcBef>
              <a:buClr>
                <a:srgbClr val="000000"/>
              </a:buClr>
              <a:buSzPts val="1500"/>
              <a:buFont typeface="Times New Roman"/>
              <a:buChar char="●"/>
            </a:pPr>
            <a:r>
              <a:rPr lang="en-US" sz="1500" b="1" kern="0">
                <a:solidFill>
                  <a:srgbClr val="000000"/>
                </a:solidFill>
                <a:latin typeface="Times New Roman"/>
                <a:ea typeface="Times New Roman"/>
                <a:cs typeface="Times New Roman"/>
                <a:sym typeface="Times New Roman"/>
              </a:rPr>
              <a:t>Hỏng hóc B defect hết hạn trong 10 ngày: </a:t>
            </a:r>
            <a:endParaRPr sz="1500" b="1" kern="0">
              <a:solidFill>
                <a:srgbClr val="000000"/>
              </a:solidFill>
              <a:latin typeface="Times New Roman"/>
              <a:ea typeface="Times New Roman"/>
              <a:cs typeface="Times New Roman"/>
              <a:sym typeface="Times New Roman"/>
            </a:endParaRPr>
          </a:p>
          <a:p>
            <a:pPr algn="just">
              <a:lnSpc>
                <a:spcPct val="110000"/>
              </a:lnSpc>
              <a:spcBef>
                <a:spcPts val="600"/>
              </a:spcBef>
              <a:buClr>
                <a:srgbClr val="000000"/>
              </a:buClr>
              <a:buFont typeface="Arial"/>
              <a:buNone/>
            </a:pPr>
            <a:endParaRPr sz="1500" b="1" kern="0">
              <a:solidFill>
                <a:srgbClr val="000000"/>
              </a:solidFill>
              <a:latin typeface="Times New Roman"/>
              <a:ea typeface="Times New Roman"/>
              <a:cs typeface="Times New Roman"/>
              <a:sym typeface="Times New Roman"/>
            </a:endParaRPr>
          </a:p>
          <a:p>
            <a:pPr algn="just">
              <a:lnSpc>
                <a:spcPct val="110000"/>
              </a:lnSpc>
              <a:spcBef>
                <a:spcPts val="600"/>
              </a:spcBef>
              <a:buClr>
                <a:srgbClr val="000000"/>
              </a:buClr>
              <a:buFont typeface="Arial"/>
              <a:buNone/>
            </a:pPr>
            <a:endParaRPr sz="1500" b="1" kern="0">
              <a:solidFill>
                <a:srgbClr val="000000"/>
              </a:solidFill>
              <a:latin typeface="Times New Roman"/>
              <a:ea typeface="Times New Roman"/>
              <a:cs typeface="Times New Roman"/>
              <a:sym typeface="Times New Roman"/>
            </a:endParaRPr>
          </a:p>
          <a:p>
            <a:pPr algn="just">
              <a:lnSpc>
                <a:spcPct val="110000"/>
              </a:lnSpc>
              <a:spcBef>
                <a:spcPts val="600"/>
              </a:spcBef>
              <a:buClr>
                <a:srgbClr val="000000"/>
              </a:buClr>
              <a:buFont typeface="Arial"/>
              <a:buNone/>
            </a:pPr>
            <a:endParaRPr sz="1500" b="1" kern="0">
              <a:solidFill>
                <a:srgbClr val="000000"/>
              </a:solidFill>
              <a:latin typeface="Times New Roman"/>
              <a:ea typeface="Times New Roman"/>
              <a:cs typeface="Times New Roman"/>
              <a:sym typeface="Times New Roman"/>
            </a:endParaRPr>
          </a:p>
          <a:p>
            <a:pPr algn="just">
              <a:lnSpc>
                <a:spcPct val="110000"/>
              </a:lnSpc>
              <a:spcBef>
                <a:spcPts val="600"/>
              </a:spcBef>
              <a:buClr>
                <a:srgbClr val="000000"/>
              </a:buClr>
              <a:buFont typeface="Arial"/>
              <a:buNone/>
            </a:pPr>
            <a:endParaRPr sz="1500" b="1" kern="0">
              <a:solidFill>
                <a:srgbClr val="000000"/>
              </a:solidFill>
              <a:latin typeface="Times New Roman"/>
              <a:ea typeface="Times New Roman"/>
              <a:cs typeface="Times New Roman"/>
              <a:sym typeface="Times New Roman"/>
            </a:endParaRPr>
          </a:p>
          <a:p>
            <a:pPr algn="just">
              <a:lnSpc>
                <a:spcPct val="110000"/>
              </a:lnSpc>
              <a:spcBef>
                <a:spcPts val="600"/>
              </a:spcBef>
              <a:buClr>
                <a:srgbClr val="000000"/>
              </a:buClr>
              <a:buFont typeface="Arial"/>
              <a:buNone/>
            </a:pPr>
            <a:endParaRPr sz="1500" b="1" kern="0">
              <a:solidFill>
                <a:srgbClr val="000000"/>
              </a:solidFill>
              <a:latin typeface="Times New Roman"/>
              <a:ea typeface="Times New Roman"/>
              <a:cs typeface="Times New Roman"/>
              <a:sym typeface="Times New Roman"/>
            </a:endParaRPr>
          </a:p>
          <a:p>
            <a:pPr algn="just">
              <a:lnSpc>
                <a:spcPct val="110000"/>
              </a:lnSpc>
              <a:spcBef>
                <a:spcPts val="600"/>
              </a:spcBef>
              <a:buClr>
                <a:srgbClr val="000000"/>
              </a:buClr>
              <a:buFont typeface="Arial"/>
              <a:buNone/>
            </a:pPr>
            <a:endParaRPr sz="1500" b="1" kern="0">
              <a:solidFill>
                <a:srgbClr val="000000"/>
              </a:solidFill>
              <a:latin typeface="Times New Roman"/>
              <a:ea typeface="Times New Roman"/>
              <a:cs typeface="Times New Roman"/>
              <a:sym typeface="Times New Roman"/>
            </a:endParaRPr>
          </a:p>
          <a:p>
            <a:pPr algn="just">
              <a:lnSpc>
                <a:spcPct val="110000"/>
              </a:lnSpc>
              <a:spcBef>
                <a:spcPts val="600"/>
              </a:spcBef>
              <a:buClr>
                <a:srgbClr val="000000"/>
              </a:buClr>
              <a:buFont typeface="Arial"/>
              <a:buNone/>
            </a:pPr>
            <a:endParaRPr sz="1500" b="1" kern="0">
              <a:solidFill>
                <a:srgbClr val="000000"/>
              </a:solidFill>
              <a:latin typeface="Times New Roman"/>
              <a:ea typeface="Times New Roman"/>
              <a:cs typeface="Times New Roman"/>
              <a:sym typeface="Times New Roman"/>
            </a:endParaRPr>
          </a:p>
          <a:p>
            <a:pPr algn="just">
              <a:lnSpc>
                <a:spcPct val="110000"/>
              </a:lnSpc>
              <a:spcBef>
                <a:spcPts val="600"/>
              </a:spcBef>
              <a:buClr>
                <a:srgbClr val="000000"/>
              </a:buClr>
              <a:buFont typeface="Arial"/>
              <a:buNone/>
            </a:pPr>
            <a:endParaRPr sz="1500" b="1" kern="0">
              <a:solidFill>
                <a:srgbClr val="000000"/>
              </a:solidFill>
              <a:latin typeface="Times New Roman"/>
              <a:ea typeface="Times New Roman"/>
              <a:cs typeface="Times New Roman"/>
              <a:sym typeface="Times New Roman"/>
            </a:endParaRPr>
          </a:p>
          <a:p>
            <a:pPr marL="457200" algn="just">
              <a:lnSpc>
                <a:spcPct val="110000"/>
              </a:lnSpc>
              <a:spcBef>
                <a:spcPts val="600"/>
              </a:spcBef>
              <a:buClr>
                <a:srgbClr val="000000"/>
              </a:buClr>
              <a:buFont typeface="Arial"/>
              <a:buNone/>
            </a:pPr>
            <a:endParaRPr sz="1500" kern="0">
              <a:solidFill>
                <a:srgbClr val="000000"/>
              </a:solidFill>
              <a:latin typeface="Times New Roman"/>
              <a:ea typeface="Times New Roman"/>
              <a:cs typeface="Times New Roman"/>
              <a:sym typeface="Times New Roman"/>
            </a:endParaRPr>
          </a:p>
          <a:p>
            <a:pPr marL="457200" algn="just">
              <a:buClr>
                <a:srgbClr val="000000"/>
              </a:buClr>
              <a:buSzPts val="1500"/>
              <a:buFont typeface="Arial"/>
              <a:buNone/>
            </a:pPr>
            <a:endParaRPr sz="1500" b="1" kern="0">
              <a:solidFill>
                <a:srgbClr val="000000"/>
              </a:solidFill>
              <a:latin typeface="Times New Roman"/>
              <a:ea typeface="Times New Roman"/>
              <a:cs typeface="Times New Roman"/>
              <a:sym typeface="Times New Roman"/>
            </a:endParaRPr>
          </a:p>
          <a:p>
            <a:pPr marL="914400" algn="just">
              <a:lnSpc>
                <a:spcPct val="110000"/>
              </a:lnSpc>
              <a:buClr>
                <a:srgbClr val="000000"/>
              </a:buClr>
              <a:buSzPts val="1500"/>
              <a:buFont typeface="Arial"/>
              <a:buNone/>
            </a:pPr>
            <a:endParaRPr sz="1500" kern="0">
              <a:solidFill>
                <a:srgbClr val="000000"/>
              </a:solidFill>
              <a:latin typeface="Times New Roman"/>
              <a:ea typeface="Times New Roman"/>
              <a:cs typeface="Times New Roman"/>
              <a:sym typeface="Times New Roman"/>
            </a:endParaRPr>
          </a:p>
          <a:p>
            <a:pPr algn="just">
              <a:lnSpc>
                <a:spcPct val="110000"/>
              </a:lnSpc>
              <a:buClr>
                <a:srgbClr val="000000"/>
              </a:buClr>
              <a:buSzPts val="1500"/>
              <a:buFont typeface="Arial"/>
              <a:buNone/>
            </a:pPr>
            <a:endParaRPr sz="1500" kern="0">
              <a:solidFill>
                <a:srgbClr val="000000"/>
              </a:solidFill>
              <a:latin typeface="Times New Roman"/>
              <a:ea typeface="Times New Roman"/>
              <a:cs typeface="Times New Roman"/>
              <a:sym typeface="Times New Roman"/>
            </a:endParaRPr>
          </a:p>
          <a:p>
            <a:pPr algn="just">
              <a:buClr>
                <a:srgbClr val="000000"/>
              </a:buClr>
              <a:buSzPts val="2000"/>
              <a:buFont typeface="Arial"/>
              <a:buNone/>
            </a:pPr>
            <a:endParaRPr sz="1500" kern="0">
              <a:solidFill>
                <a:srgbClr val="000000"/>
              </a:solidFill>
              <a:latin typeface="Times New Roman"/>
              <a:ea typeface="Times New Roman"/>
              <a:cs typeface="Times New Roman"/>
              <a:sym typeface="Times New Roman"/>
            </a:endParaRPr>
          </a:p>
          <a:p>
            <a:pPr algn="just">
              <a:lnSpc>
                <a:spcPct val="110000"/>
              </a:lnSpc>
              <a:buClr>
                <a:srgbClr val="000000"/>
              </a:buClr>
              <a:buSzPts val="1500"/>
              <a:buFont typeface="Arial"/>
              <a:buNone/>
            </a:pPr>
            <a:endParaRPr sz="1500" kern="0">
              <a:solidFill>
                <a:srgbClr val="000000"/>
              </a:solidFill>
              <a:latin typeface="Times New Roman"/>
              <a:ea typeface="Times New Roman"/>
              <a:cs typeface="Times New Roman"/>
              <a:sym typeface="Times New Roman"/>
            </a:endParaRPr>
          </a:p>
        </p:txBody>
      </p:sp>
      <p:pic>
        <p:nvPicPr>
          <p:cNvPr id="159" name="Google Shape;159;g31ccdae391d_0_248"/>
          <p:cNvPicPr preferRelativeResize="0"/>
          <p:nvPr/>
        </p:nvPicPr>
        <p:blipFill>
          <a:blip r:embed="rId3">
            <a:alphaModFix/>
          </a:blip>
          <a:stretch>
            <a:fillRect/>
          </a:stretch>
        </p:blipFill>
        <p:spPr>
          <a:xfrm>
            <a:off x="713125" y="2487076"/>
            <a:ext cx="10333526" cy="3227925"/>
          </a:xfrm>
          <a:prstGeom prst="rect">
            <a:avLst/>
          </a:prstGeom>
          <a:noFill/>
          <a:ln>
            <a:noFill/>
          </a:ln>
        </p:spPr>
      </p:pic>
    </p:spTree>
    <p:extLst>
      <p:ext uri="{BB962C8B-B14F-4D97-AF65-F5344CB8AC3E}">
        <p14:creationId xmlns:p14="http://schemas.microsoft.com/office/powerpoint/2010/main" val="375483046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g31ccdae391d_0_271"/>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66" name="Google Shape;166;g31ccdae391d_0_271"/>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45</a:t>
            </a:fld>
            <a:endParaRPr/>
          </a:p>
        </p:txBody>
      </p:sp>
      <p:graphicFrame>
        <p:nvGraphicFramePr>
          <p:cNvPr id="167" name="Google Shape;167;g31ccdae391d_0_271"/>
          <p:cNvGraphicFramePr/>
          <p:nvPr/>
        </p:nvGraphicFramePr>
        <p:xfrm>
          <a:off x="489114" y="611396"/>
          <a:ext cx="11570675" cy="4203202"/>
        </p:xfrm>
        <a:graphic>
          <a:graphicData uri="http://schemas.openxmlformats.org/drawingml/2006/table">
            <a:tbl>
              <a:tblPr>
                <a:noFill/>
              </a:tblPr>
              <a:tblGrid>
                <a:gridCol w="741275">
                  <a:extLst>
                    <a:ext uri="{9D8B030D-6E8A-4147-A177-3AD203B41FA5}">
                      <a16:colId xmlns:a16="http://schemas.microsoft.com/office/drawing/2014/main" val="20000"/>
                    </a:ext>
                  </a:extLst>
                </a:gridCol>
                <a:gridCol w="1946125">
                  <a:extLst>
                    <a:ext uri="{9D8B030D-6E8A-4147-A177-3AD203B41FA5}">
                      <a16:colId xmlns:a16="http://schemas.microsoft.com/office/drawing/2014/main" val="20001"/>
                    </a:ext>
                  </a:extLst>
                </a:gridCol>
                <a:gridCol w="1285550">
                  <a:extLst>
                    <a:ext uri="{9D8B030D-6E8A-4147-A177-3AD203B41FA5}">
                      <a16:colId xmlns:a16="http://schemas.microsoft.com/office/drawing/2014/main" val="20002"/>
                    </a:ext>
                  </a:extLst>
                </a:gridCol>
                <a:gridCol w="5174925">
                  <a:extLst>
                    <a:ext uri="{9D8B030D-6E8A-4147-A177-3AD203B41FA5}">
                      <a16:colId xmlns:a16="http://schemas.microsoft.com/office/drawing/2014/main" val="20003"/>
                    </a:ext>
                  </a:extLst>
                </a:gridCol>
                <a:gridCol w="2422800">
                  <a:extLst>
                    <a:ext uri="{9D8B030D-6E8A-4147-A177-3AD203B41FA5}">
                      <a16:colId xmlns:a16="http://schemas.microsoft.com/office/drawing/2014/main" val="20004"/>
                    </a:ext>
                  </a:extLst>
                </a:gridCol>
              </a:tblGrid>
              <a:tr h="170150">
                <a:tc gridSpan="5">
                  <a:txBody>
                    <a:bodyPr/>
                    <a:lstStyle/>
                    <a:p>
                      <a:pPr marL="0" marR="0" lvl="0" indent="0" algn="ctr" rtl="0">
                        <a:lnSpc>
                          <a:spcPct val="100000"/>
                        </a:lnSpc>
                        <a:spcBef>
                          <a:spcPts val="0"/>
                        </a:spcBef>
                        <a:spcAft>
                          <a:spcPts val="0"/>
                        </a:spcAft>
                        <a:buClr>
                          <a:srgbClr val="000000"/>
                        </a:buClr>
                        <a:buSzPts val="1500"/>
                        <a:buFont typeface="Arial"/>
                        <a:buNone/>
                      </a:pPr>
                      <a:r>
                        <a:rPr lang="en-US" sz="2000" b="1" u="none" strike="noStrike" cap="none">
                          <a:solidFill>
                            <a:srgbClr val="FF0000"/>
                          </a:solidFill>
                          <a:latin typeface="Times New Roman"/>
                          <a:ea typeface="Times New Roman"/>
                          <a:cs typeface="Times New Roman"/>
                          <a:sym typeface="Times New Roman"/>
                        </a:rPr>
                        <a:t>DANH MỤC VẬT TƯ CRITICAL</a:t>
                      </a:r>
                      <a:endParaRPr sz="2000" u="none" strike="noStrike" cap="none"/>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70150">
                <a:tc>
                  <a:txBody>
                    <a:bodyPr/>
                    <a:lstStyle/>
                    <a:p>
                      <a:pPr marL="0" marR="0" lvl="0" indent="0" algn="ctr" rtl="0">
                        <a:lnSpc>
                          <a:spcPct val="100000"/>
                        </a:lnSpc>
                        <a:spcBef>
                          <a:spcPts val="0"/>
                        </a:spcBef>
                        <a:spcAft>
                          <a:spcPts val="0"/>
                        </a:spcAft>
                        <a:buClr>
                          <a:srgbClr val="000000"/>
                        </a:buClr>
                        <a:buSzPts val="1150"/>
                        <a:buFont typeface="Arial"/>
                        <a:buNone/>
                      </a:pPr>
                      <a:r>
                        <a:rPr lang="en-US" sz="1800" b="1" i="0" u="none" strike="noStrike" cap="none">
                          <a:solidFill>
                            <a:srgbClr val="000000"/>
                          </a:solidFill>
                          <a:latin typeface="Times New Roman"/>
                          <a:ea typeface="Times New Roman"/>
                          <a:cs typeface="Times New Roman"/>
                          <a:sym typeface="Times New Roman"/>
                        </a:rPr>
                        <a:t>STT</a:t>
                      </a:r>
                      <a:endParaRPr sz="18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i="0" u="none" strike="noStrike" cap="none">
                          <a:solidFill>
                            <a:srgbClr val="000000"/>
                          </a:solidFill>
                          <a:latin typeface="Times New Roman"/>
                          <a:ea typeface="Times New Roman"/>
                          <a:cs typeface="Times New Roman"/>
                          <a:sym typeface="Times New Roman"/>
                        </a:rPr>
                        <a:t>Tên thiết bị</a:t>
                      </a:r>
                      <a:endParaRPr sz="18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i="0" u="none" strike="noStrike" cap="none">
                          <a:solidFill>
                            <a:srgbClr val="000000"/>
                          </a:solidFill>
                          <a:latin typeface="Times New Roman"/>
                          <a:ea typeface="Times New Roman"/>
                          <a:cs typeface="Times New Roman"/>
                          <a:sym typeface="Times New Roman"/>
                        </a:rPr>
                        <a:t>P/N</a:t>
                      </a:r>
                      <a:endParaRPr sz="18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u="none" strike="noStrike" cap="none">
                          <a:latin typeface="Times New Roman"/>
                          <a:ea typeface="Times New Roman"/>
                          <a:cs typeface="Times New Roman"/>
                          <a:sym typeface="Times New Roman"/>
                        </a:rPr>
                        <a:t>Tình trạng vật tư</a:t>
                      </a:r>
                      <a:endParaRPr sz="18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u="none" strike="noStrike" cap="none">
                          <a:latin typeface="Times New Roman"/>
                          <a:ea typeface="Times New Roman"/>
                          <a:cs typeface="Times New Roman"/>
                          <a:sym typeface="Times New Roman"/>
                        </a:rPr>
                        <a:t>Note</a:t>
                      </a:r>
                      <a:endParaRPr sz="18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442025">
                <a:tc>
                  <a:txBody>
                    <a:bodyPr/>
                    <a:lstStyle/>
                    <a:p>
                      <a:pPr marL="0" marR="0" lvl="0" indent="0" algn="ctr" rtl="0">
                        <a:lnSpc>
                          <a:spcPct val="100000"/>
                        </a:lnSpc>
                        <a:spcBef>
                          <a:spcPts val="0"/>
                        </a:spcBef>
                        <a:spcAft>
                          <a:spcPts val="0"/>
                        </a:spcAft>
                        <a:buClr>
                          <a:srgbClr val="000000"/>
                        </a:buClr>
                        <a:buSzPts val="1150"/>
                        <a:buFont typeface="Arial"/>
                        <a:buNone/>
                      </a:pPr>
                      <a:r>
                        <a:rPr lang="en-US" sz="1600" i="0" u="none" strike="noStrike" cap="none">
                          <a:solidFill>
                            <a:srgbClr val="000000"/>
                          </a:solidFill>
                          <a:latin typeface="Times New Roman"/>
                          <a:ea typeface="Times New Roman"/>
                          <a:cs typeface="Times New Roman"/>
                          <a:sym typeface="Times New Roman"/>
                        </a:rPr>
                        <a:t>1</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FDRV</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17300G11</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2ea alt PN </a:t>
                      </a:r>
                      <a:r>
                        <a:rPr lang="en-US" sz="1600" u="none" strike="noStrike" cap="none">
                          <a:solidFill>
                            <a:schemeClr val="dk1"/>
                          </a:solidFill>
                          <a:latin typeface="Times New Roman"/>
                          <a:ea typeface="Times New Roman"/>
                          <a:cs typeface="Times New Roman"/>
                          <a:sym typeface="Times New Roman"/>
                        </a:rPr>
                        <a:t>17300G12</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441775">
                <a:tc>
                  <a:txBody>
                    <a:bodyPr/>
                    <a:lstStyle/>
                    <a:p>
                      <a:pPr marL="0" marR="0" lvl="0" indent="0" algn="ctr" rtl="0">
                        <a:lnSpc>
                          <a:spcPct val="100000"/>
                        </a:lnSpc>
                        <a:spcBef>
                          <a:spcPts val="0"/>
                        </a:spcBef>
                        <a:spcAft>
                          <a:spcPts val="0"/>
                        </a:spcAft>
                        <a:buClr>
                          <a:srgbClr val="000000"/>
                        </a:buClr>
                        <a:buSzPts val="1150"/>
                        <a:buFont typeface="Arial"/>
                        <a:buNone/>
                      </a:pPr>
                      <a:r>
                        <a:rPr lang="en-US" sz="1600" i="0" u="none" strike="noStrike" cap="none">
                          <a:solidFill>
                            <a:srgbClr val="000000"/>
                          </a:solidFill>
                          <a:latin typeface="Times New Roman"/>
                          <a:ea typeface="Times New Roman"/>
                          <a:cs typeface="Times New Roman"/>
                          <a:sym typeface="Times New Roman"/>
                        </a:rPr>
                        <a:t>2</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SSTU</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321000M03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a:t>
                      </a:r>
                      <a:r>
                        <a:rPr lang="en-US" sz="1600">
                          <a:latin typeface="Times New Roman"/>
                          <a:ea typeface="Times New Roman"/>
                          <a:cs typeface="Times New Roman"/>
                          <a:sym typeface="Times New Roman"/>
                        </a:rPr>
                        <a:t>1ea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504400">
                <a:tc>
                  <a:txBody>
                    <a:bodyPr/>
                    <a:lstStyle/>
                    <a:p>
                      <a:pPr marL="0" marR="0" lvl="0" indent="0" algn="ctr" rtl="0">
                        <a:lnSpc>
                          <a:spcPct val="100000"/>
                        </a:lnSpc>
                        <a:spcBef>
                          <a:spcPts val="0"/>
                        </a:spcBef>
                        <a:spcAft>
                          <a:spcPts val="0"/>
                        </a:spcAft>
                        <a:buClr>
                          <a:srgbClr val="000000"/>
                        </a:buClr>
                        <a:buSzPts val="1150"/>
                        <a:buFont typeface="Arial"/>
                        <a:buNone/>
                      </a:pPr>
                      <a:r>
                        <a:rPr lang="en-US" sz="1600" i="0" u="none" strike="noStrike" cap="none">
                          <a:solidFill>
                            <a:srgbClr val="000000"/>
                          </a:solidFill>
                          <a:latin typeface="Times New Roman"/>
                          <a:ea typeface="Times New Roman"/>
                          <a:cs typeface="Times New Roman"/>
                          <a:sym typeface="Times New Roman"/>
                        </a:rPr>
                        <a:t>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CNA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745-1101-507</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a:t>
                      </a:r>
                      <a:r>
                        <a:rPr lang="en-US" sz="1600">
                          <a:latin typeface="Times New Roman"/>
                          <a:ea typeface="Times New Roman"/>
                          <a:cs typeface="Times New Roman"/>
                          <a:sym typeface="Times New Roman"/>
                        </a:rPr>
                        <a:t>NIL</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416325">
                <a:tc>
                  <a:txBody>
                    <a:bodyPr/>
                    <a:lstStyle/>
                    <a:p>
                      <a:pPr marL="0" marR="0" lvl="0" indent="0" algn="ctr"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4</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SLEEVE LH</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745-0006-501</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Arial"/>
                        <a:buNone/>
                      </a:pPr>
                      <a:r>
                        <a:rPr lang="en-US" sz="1600" u="none" strike="noStrike" cap="none">
                          <a:solidFill>
                            <a:schemeClr val="dk1"/>
                          </a:solidFill>
                          <a:latin typeface="Times New Roman"/>
                          <a:ea typeface="Times New Roman"/>
                          <a:cs typeface="Times New Roman"/>
                          <a:sym typeface="Times New Roman"/>
                        </a:rPr>
                        <a:t>stock </a:t>
                      </a:r>
                      <a:r>
                        <a:rPr lang="en-US" sz="1600">
                          <a:solidFill>
                            <a:schemeClr val="dk1"/>
                          </a:solidFill>
                          <a:latin typeface="Times New Roman"/>
                          <a:ea typeface="Times New Roman"/>
                          <a:cs typeface="Times New Roman"/>
                          <a:sym typeface="Times New Roman"/>
                        </a:rPr>
                        <a:t>NIL, đang giục RO (gửi VAECO)</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366500">
                <a:tc>
                  <a:txBody>
                    <a:bodyPr/>
                    <a:lstStyle/>
                    <a:p>
                      <a:pPr marL="0" marR="0" lvl="0" indent="0" algn="ctr"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5</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SLEEVE RH</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745-0006-503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stock NIL, đang giục RO (gửi VAECO)</a:t>
                      </a:r>
                      <a:endParaRPr sz="1600">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437300">
                <a:tc>
                  <a:txBody>
                    <a:bodyPr/>
                    <a:lstStyle/>
                    <a:p>
                      <a:pPr marL="0" marR="0" lvl="0" indent="0" algn="ctr"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6</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AIR INLET COWL</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745-3400-507</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stock </a:t>
                      </a:r>
                      <a:r>
                        <a:rPr lang="en-US" sz="1600">
                          <a:solidFill>
                            <a:schemeClr val="dk1"/>
                          </a:solidFill>
                          <a:latin typeface="Times New Roman"/>
                          <a:ea typeface="Times New Roman"/>
                          <a:cs typeface="Times New Roman"/>
                          <a:sym typeface="Times New Roman"/>
                        </a:rPr>
                        <a:t>1ea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43730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7</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IPCV NEO</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5325192 (1020925-3)</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2ea </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Rob từ NEO bảo quản</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43730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8</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EIU NEO</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777461-1-1</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a:latin typeface="Times New Roman"/>
                          <a:ea typeface="Times New Roman"/>
                          <a:cs typeface="Times New Roman"/>
                          <a:sym typeface="Times New Roman"/>
                        </a:rPr>
                        <a:t>stock 4ea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Rob từ NEO bảo quản</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29223804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g31ccdae391d_0_278"/>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TÌNH TRẠNG APU LRU </a:t>
            </a:r>
            <a:r>
              <a:rPr lang="en-US" sz="2800">
                <a:solidFill>
                  <a:schemeClr val="accent4"/>
                </a:solidFill>
                <a:latin typeface="Times New Roman"/>
                <a:ea typeface="Times New Roman"/>
                <a:cs typeface="Times New Roman"/>
                <a:sym typeface="Times New Roman"/>
              </a:rPr>
              <a:t>A321 </a:t>
            </a:r>
            <a:endParaRPr sz="2800">
              <a:solidFill>
                <a:srgbClr val="FFC000"/>
              </a:solidFill>
              <a:latin typeface="Times New Roman"/>
              <a:ea typeface="Times New Roman"/>
              <a:cs typeface="Times New Roman"/>
              <a:sym typeface="Times New Roman"/>
            </a:endParaRPr>
          </a:p>
        </p:txBody>
      </p:sp>
      <p:sp>
        <p:nvSpPr>
          <p:cNvPr id="174" name="Google Shape;174;g31ccdae391d_0_27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46</a:t>
            </a:fld>
            <a:endParaRPr/>
          </a:p>
        </p:txBody>
      </p:sp>
      <p:graphicFrame>
        <p:nvGraphicFramePr>
          <p:cNvPr id="175" name="Google Shape;175;g31ccdae391d_0_278"/>
          <p:cNvGraphicFramePr/>
          <p:nvPr>
            <p:extLst/>
          </p:nvPr>
        </p:nvGraphicFramePr>
        <p:xfrm>
          <a:off x="558675" y="462325"/>
          <a:ext cx="10287000" cy="6467406"/>
        </p:xfrm>
        <a:graphic>
          <a:graphicData uri="http://schemas.openxmlformats.org/drawingml/2006/table">
            <a:tbl>
              <a:tblPr>
                <a:noFill/>
              </a:tblPr>
              <a:tblGrid>
                <a:gridCol w="382850">
                  <a:extLst>
                    <a:ext uri="{9D8B030D-6E8A-4147-A177-3AD203B41FA5}">
                      <a16:colId xmlns:a16="http://schemas.microsoft.com/office/drawing/2014/main" val="20000"/>
                    </a:ext>
                  </a:extLst>
                </a:gridCol>
                <a:gridCol w="2130900">
                  <a:extLst>
                    <a:ext uri="{9D8B030D-6E8A-4147-A177-3AD203B41FA5}">
                      <a16:colId xmlns:a16="http://schemas.microsoft.com/office/drawing/2014/main" val="20001"/>
                    </a:ext>
                  </a:extLst>
                </a:gridCol>
                <a:gridCol w="2382725">
                  <a:extLst>
                    <a:ext uri="{9D8B030D-6E8A-4147-A177-3AD203B41FA5}">
                      <a16:colId xmlns:a16="http://schemas.microsoft.com/office/drawing/2014/main" val="20002"/>
                    </a:ext>
                  </a:extLst>
                </a:gridCol>
                <a:gridCol w="1051825">
                  <a:extLst>
                    <a:ext uri="{9D8B030D-6E8A-4147-A177-3AD203B41FA5}">
                      <a16:colId xmlns:a16="http://schemas.microsoft.com/office/drawing/2014/main" val="20003"/>
                    </a:ext>
                  </a:extLst>
                </a:gridCol>
                <a:gridCol w="4338700">
                  <a:extLst>
                    <a:ext uri="{9D8B030D-6E8A-4147-A177-3AD203B41FA5}">
                      <a16:colId xmlns:a16="http://schemas.microsoft.com/office/drawing/2014/main" val="20004"/>
                    </a:ext>
                  </a:extLst>
                </a:gridCol>
              </a:tblGrid>
              <a:tr h="374092">
                <a:tc>
                  <a:txBody>
                    <a:bodyPr/>
                    <a:lstStyle/>
                    <a:p>
                      <a:pPr marL="0" marR="0" lvl="0" indent="0" algn="l" rtl="0">
                        <a:spcBef>
                          <a:spcPts val="0"/>
                        </a:spcBef>
                        <a:spcAft>
                          <a:spcPts val="0"/>
                        </a:spcAft>
                        <a:buClr>
                          <a:schemeClr val="dk1"/>
                        </a:buClr>
                        <a:buSzPts val="1100"/>
                        <a:buFont typeface="Arial"/>
                        <a:buNone/>
                      </a:pPr>
                      <a:r>
                        <a:rPr lang="en-US" sz="1300" u="none" strike="noStrike" cap="none" dirty="0">
                          <a:solidFill>
                            <a:schemeClr val="dk1"/>
                          </a:solidFill>
                          <a:latin typeface="Times New Roman"/>
                          <a:ea typeface="Times New Roman"/>
                          <a:cs typeface="Times New Roman"/>
                          <a:sym typeface="Times New Roman"/>
                        </a:rPr>
                        <a:t>it</a:t>
                      </a:r>
                      <a:endParaRPr sz="1800" u="none" strike="noStrike" cap="none" dirty="0"/>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Part number</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Description</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MBK level</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status</a:t>
                      </a:r>
                      <a:endParaRPr sz="1800" u="none" strike="noStrike" cap="none"/>
                    </a:p>
                  </a:txBody>
                  <a:tcPr marL="91425" marR="91425" marT="91425" marB="91425"/>
                </a:tc>
                <a:extLst>
                  <a:ext uri="{0D108BD9-81ED-4DB2-BD59-A6C34878D82A}">
                    <a16:rowId xmlns:a16="http://schemas.microsoft.com/office/drawing/2014/main" val="10000"/>
                  </a:ext>
                </a:extLst>
              </a:tr>
              <a:tr h="568634">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dirty="0">
                          <a:latin typeface="Times New Roman"/>
                          <a:ea typeface="Times New Roman"/>
                          <a:cs typeface="Times New Roman"/>
                          <a:sym typeface="Times New Roman"/>
                        </a:rPr>
                        <a:t>1</a:t>
                      </a:r>
                      <a:endParaRPr sz="1300" u="none" strike="noStrike" cap="none" dirty="0">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dirty="0">
                          <a:latin typeface="Times New Roman"/>
                          <a:ea typeface="Times New Roman"/>
                          <a:cs typeface="Times New Roman"/>
                          <a:sym typeface="Times New Roman"/>
                        </a:rPr>
                        <a:t>106-1-1100-02</a:t>
                      </a:r>
                      <a:endParaRPr sz="1300" u="none" strike="noStrike" cap="none" dirty="0">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ACTUATOR-APU</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NIL,</a:t>
                      </a:r>
                      <a:r>
                        <a:rPr lang="en-US" sz="1300">
                          <a:solidFill>
                            <a:schemeClr val="dk1"/>
                          </a:solidFill>
                          <a:latin typeface="Times New Roman"/>
                          <a:ea typeface="Times New Roman"/>
                          <a:cs typeface="Times New Roman"/>
                          <a:sym typeface="Times New Roman"/>
                        </a:rPr>
                        <a:t> đang đặt mua nhưng Airbus không có stock, đã upgrade AOG nhưng chưa có dự kiến</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1"/>
                  </a:ext>
                </a:extLst>
              </a:tr>
              <a:tr h="392213">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160494-1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OIL COOLER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NIL, 1ea 30/3 nhập kho</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2"/>
                  </a:ext>
                </a:extLst>
              </a:tr>
              <a:tr h="568634">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dirty="0">
                          <a:latin typeface="Times New Roman"/>
                          <a:ea typeface="Times New Roman"/>
                          <a:cs typeface="Times New Roman"/>
                          <a:sym typeface="Times New Roman"/>
                        </a:rPr>
                        <a:t>2704506-2</a:t>
                      </a:r>
                      <a:endParaRPr sz="1300" u="none" strike="noStrike" cap="none" dirty="0">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MOTOR STARTER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NIL, 1ea 25/3 nhập kho, ngoài ra kho pool của ST có 2ea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3"/>
                  </a:ext>
                </a:extLst>
              </a:tr>
              <a:tr h="392213">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3291238-2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VALVE-SURGE CONTROL</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NIL</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4"/>
                  </a:ext>
                </a:extLst>
              </a:tr>
              <a:tr h="392213">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3291432-1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LOAD CONTROL VALVE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a:t>
                      </a:r>
                      <a:r>
                        <a:rPr lang="en-US" sz="1300" u="none" strike="noStrike" cap="none">
                          <a:latin typeface="Times New Roman"/>
                          <a:ea typeface="Times New Roman"/>
                          <a:cs typeface="Times New Roman"/>
                          <a:sym typeface="Times New Roman"/>
                        </a:rPr>
                        <a:t>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5"/>
                  </a:ext>
                </a:extLst>
              </a:tr>
              <a:tr h="392213">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6</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3616140-10</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FAN ASSY-OIL COOLING</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6"/>
                  </a:ext>
                </a:extLst>
              </a:tr>
              <a:tr h="392213">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7</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3876287-1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dirty="0">
                          <a:latin typeface="Times New Roman"/>
                          <a:ea typeface="Times New Roman"/>
                          <a:cs typeface="Times New Roman"/>
                          <a:sym typeface="Times New Roman"/>
                        </a:rPr>
                        <a:t>DATA MEMORY MODULE</a:t>
                      </a:r>
                      <a:endParaRPr sz="1300" u="none" strike="noStrike" cap="none" dirty="0">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7"/>
                  </a:ext>
                </a:extLst>
              </a:tr>
              <a:tr h="392213">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8</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3886188-3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IGV ACTUATOR APU131-9A</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NIL</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8"/>
                  </a:ext>
                </a:extLst>
              </a:tr>
              <a:tr h="392213">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9</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3888058-5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EXCITER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dirty="0">
                          <a:latin typeface="Times New Roman"/>
                          <a:ea typeface="Times New Roman"/>
                          <a:cs typeface="Times New Roman"/>
                          <a:sym typeface="Times New Roman"/>
                        </a:rPr>
                        <a:t>2</a:t>
                      </a:r>
                      <a:endParaRPr sz="1300" u="none" strike="noStrike" cap="none" dirty="0">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9"/>
                  </a:ext>
                </a:extLst>
              </a:tr>
              <a:tr h="392213">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10</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3888394-221205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ECB</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dirty="0">
                          <a:latin typeface="Times New Roman"/>
                          <a:ea typeface="Times New Roman"/>
                          <a:cs typeface="Times New Roman"/>
                          <a:sym typeface="Times New Roman"/>
                        </a:rPr>
                        <a:t>1</a:t>
                      </a:r>
                      <a:endParaRPr sz="1300" u="none" strike="noStrike" cap="none" dirty="0">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dirty="0">
                          <a:solidFill>
                            <a:schemeClr val="dk1"/>
                          </a:solidFill>
                          <a:latin typeface="Times New Roman"/>
                          <a:ea typeface="Times New Roman"/>
                          <a:cs typeface="Times New Roman"/>
                          <a:sym typeface="Times New Roman"/>
                        </a:rPr>
                        <a:t>stock </a:t>
                      </a:r>
                      <a:r>
                        <a:rPr lang="en-US" sz="1300" dirty="0">
                          <a:solidFill>
                            <a:schemeClr val="dk1"/>
                          </a:solidFill>
                          <a:latin typeface="Times New Roman"/>
                          <a:ea typeface="Times New Roman"/>
                          <a:cs typeface="Times New Roman"/>
                          <a:sym typeface="Times New Roman"/>
                        </a:rPr>
                        <a:t>1</a:t>
                      </a:r>
                      <a:r>
                        <a:rPr lang="en-US" sz="1300" u="none" strike="noStrike" cap="none" dirty="0">
                          <a:solidFill>
                            <a:schemeClr val="dk1"/>
                          </a:solidFill>
                          <a:latin typeface="Times New Roman"/>
                          <a:ea typeface="Times New Roman"/>
                          <a:cs typeface="Times New Roman"/>
                          <a:sym typeface="Times New Roman"/>
                        </a:rPr>
                        <a:t>ea</a:t>
                      </a:r>
                      <a:endParaRPr sz="1300" u="none" strike="noStrike" cap="none" dirty="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0"/>
                  </a:ext>
                </a:extLst>
              </a:tr>
              <a:tr h="392213">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4131020-4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LUBE MODULE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dirty="0">
                          <a:latin typeface="Times New Roman"/>
                          <a:ea typeface="Times New Roman"/>
                          <a:cs typeface="Times New Roman"/>
                          <a:sym typeface="Times New Roman"/>
                        </a:rPr>
                        <a:t>stock </a:t>
                      </a:r>
                      <a:r>
                        <a:rPr lang="en-US" sz="1300" dirty="0">
                          <a:latin typeface="Times New Roman"/>
                          <a:ea typeface="Times New Roman"/>
                          <a:cs typeface="Times New Roman"/>
                          <a:sym typeface="Times New Roman"/>
                        </a:rPr>
                        <a:t>2ea, 2RO </a:t>
                      </a:r>
                      <a:r>
                        <a:rPr lang="en-US" sz="1300" dirty="0" err="1">
                          <a:latin typeface="Times New Roman"/>
                          <a:ea typeface="Times New Roman"/>
                          <a:cs typeface="Times New Roman"/>
                          <a:sym typeface="Times New Roman"/>
                        </a:rPr>
                        <a:t>có</a:t>
                      </a:r>
                      <a:r>
                        <a:rPr lang="en-US" sz="1300" dirty="0">
                          <a:latin typeface="Times New Roman"/>
                          <a:ea typeface="Times New Roman"/>
                          <a:cs typeface="Times New Roman"/>
                          <a:sym typeface="Times New Roman"/>
                        </a:rPr>
                        <a:t> TAT </a:t>
                      </a:r>
                      <a:r>
                        <a:rPr lang="en-US" sz="1300" dirty="0" err="1">
                          <a:latin typeface="Times New Roman"/>
                          <a:ea typeface="Times New Roman"/>
                          <a:cs typeface="Times New Roman"/>
                          <a:sym typeface="Times New Roman"/>
                        </a:rPr>
                        <a:t>tại</a:t>
                      </a:r>
                      <a:r>
                        <a:rPr lang="en-US" sz="1300" dirty="0">
                          <a:latin typeface="Times New Roman"/>
                          <a:ea typeface="Times New Roman"/>
                          <a:cs typeface="Times New Roman"/>
                          <a:sym typeface="Times New Roman"/>
                        </a:rPr>
                        <a:t> Honeywell </a:t>
                      </a:r>
                      <a:r>
                        <a:rPr lang="en-US" sz="1300" dirty="0" err="1">
                          <a:latin typeface="Times New Roman"/>
                          <a:ea typeface="Times New Roman"/>
                          <a:cs typeface="Times New Roman"/>
                          <a:sym typeface="Times New Roman"/>
                        </a:rPr>
                        <a:t>dài</a:t>
                      </a:r>
                      <a:endParaRPr sz="1300" u="none" strike="noStrike" cap="none" dirty="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1"/>
                  </a:ext>
                </a:extLst>
              </a:tr>
              <a:tr h="392213">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441921-5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CONTROL FUEL UNIT</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dirty="0">
                          <a:latin typeface="Times New Roman"/>
                          <a:ea typeface="Times New Roman"/>
                          <a:cs typeface="Times New Roman"/>
                          <a:sym typeface="Times New Roman"/>
                        </a:rPr>
                        <a:t>stock </a:t>
                      </a:r>
                      <a:r>
                        <a:rPr lang="en-US" sz="1300" dirty="0">
                          <a:latin typeface="Times New Roman"/>
                          <a:ea typeface="Times New Roman"/>
                          <a:cs typeface="Times New Roman"/>
                          <a:sym typeface="Times New Roman"/>
                        </a:rPr>
                        <a:t>1</a:t>
                      </a:r>
                      <a:r>
                        <a:rPr lang="en-US" sz="1300" u="none" strike="noStrike" cap="none" dirty="0">
                          <a:latin typeface="Times New Roman"/>
                          <a:ea typeface="Times New Roman"/>
                          <a:cs typeface="Times New Roman"/>
                          <a:sym typeface="Times New Roman"/>
                        </a:rPr>
                        <a:t>ea</a:t>
                      </a:r>
                      <a:endParaRPr sz="1300" u="none" strike="noStrike" cap="none" dirty="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2"/>
                  </a:ext>
                </a:extLst>
              </a:tr>
              <a:tr h="392213">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BA03604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GENERATOR-APU</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dirty="0">
                          <a:latin typeface="Times New Roman"/>
                          <a:ea typeface="Times New Roman"/>
                          <a:cs typeface="Times New Roman"/>
                          <a:sym typeface="Times New Roman"/>
                        </a:rPr>
                        <a:t>stock </a:t>
                      </a:r>
                      <a:r>
                        <a:rPr lang="en-US" sz="1300" dirty="0">
                          <a:latin typeface="Times New Roman"/>
                          <a:ea typeface="Times New Roman"/>
                          <a:cs typeface="Times New Roman"/>
                          <a:sym typeface="Times New Roman"/>
                        </a:rPr>
                        <a:t>2ea</a:t>
                      </a:r>
                      <a:endParaRPr sz="1300" u="none" strike="noStrike" cap="none" dirty="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3"/>
                  </a:ext>
                </a:extLst>
              </a:tr>
              <a:tr h="392213">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3860864-1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CLUTCH ASSY</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dirty="0">
                          <a:latin typeface="Times New Roman"/>
                          <a:ea typeface="Times New Roman"/>
                          <a:cs typeface="Times New Roman"/>
                          <a:sym typeface="Times New Roman"/>
                        </a:rPr>
                        <a:t>stock NIL, </a:t>
                      </a:r>
                      <a:r>
                        <a:rPr lang="en-US" sz="1300" dirty="0" err="1">
                          <a:solidFill>
                            <a:schemeClr val="dk1"/>
                          </a:solidFill>
                          <a:latin typeface="Times New Roman"/>
                          <a:ea typeface="Times New Roman"/>
                          <a:cs typeface="Times New Roman"/>
                          <a:sym typeface="Times New Roman"/>
                        </a:rPr>
                        <a:t>đang</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đặt</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mua</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nhưng</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honeywell</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không</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có</a:t>
                      </a:r>
                      <a:r>
                        <a:rPr lang="en-US" sz="1300" dirty="0">
                          <a:solidFill>
                            <a:schemeClr val="dk1"/>
                          </a:solidFill>
                          <a:latin typeface="Times New Roman"/>
                          <a:ea typeface="Times New Roman"/>
                          <a:cs typeface="Times New Roman"/>
                          <a:sym typeface="Times New Roman"/>
                        </a:rPr>
                        <a:t> stock</a:t>
                      </a:r>
                      <a:endParaRPr sz="1300" u="none" strike="noStrike" cap="none" dirty="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374822115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g31ccdae391d_0_285"/>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 CÁC VẬT TƯ VƯỚNG MẮC KHÁC</a:t>
            </a:r>
            <a:endParaRPr sz="2800">
              <a:solidFill>
                <a:srgbClr val="FFC000"/>
              </a:solidFill>
              <a:latin typeface="Times New Roman"/>
              <a:ea typeface="Times New Roman"/>
              <a:cs typeface="Times New Roman"/>
              <a:sym typeface="Times New Roman"/>
            </a:endParaRPr>
          </a:p>
        </p:txBody>
      </p:sp>
      <p:sp>
        <p:nvSpPr>
          <p:cNvPr id="182" name="Google Shape;182;g31ccdae391d_0_28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47</a:t>
            </a:fld>
            <a:endParaRPr/>
          </a:p>
        </p:txBody>
      </p:sp>
      <p:graphicFrame>
        <p:nvGraphicFramePr>
          <p:cNvPr id="183" name="Google Shape;183;g31ccdae391d_0_285"/>
          <p:cNvGraphicFramePr/>
          <p:nvPr/>
        </p:nvGraphicFramePr>
        <p:xfrm>
          <a:off x="438751" y="690871"/>
          <a:ext cx="11570675" cy="3855160"/>
        </p:xfrm>
        <a:graphic>
          <a:graphicData uri="http://schemas.openxmlformats.org/drawingml/2006/table">
            <a:tbl>
              <a:tblPr>
                <a:noFill/>
              </a:tblPr>
              <a:tblGrid>
                <a:gridCol w="741275">
                  <a:extLst>
                    <a:ext uri="{9D8B030D-6E8A-4147-A177-3AD203B41FA5}">
                      <a16:colId xmlns:a16="http://schemas.microsoft.com/office/drawing/2014/main" val="20000"/>
                    </a:ext>
                  </a:extLst>
                </a:gridCol>
                <a:gridCol w="1442775">
                  <a:extLst>
                    <a:ext uri="{9D8B030D-6E8A-4147-A177-3AD203B41FA5}">
                      <a16:colId xmlns:a16="http://schemas.microsoft.com/office/drawing/2014/main" val="20001"/>
                    </a:ext>
                  </a:extLst>
                </a:gridCol>
                <a:gridCol w="1263625">
                  <a:extLst>
                    <a:ext uri="{9D8B030D-6E8A-4147-A177-3AD203B41FA5}">
                      <a16:colId xmlns:a16="http://schemas.microsoft.com/office/drawing/2014/main" val="20002"/>
                    </a:ext>
                  </a:extLst>
                </a:gridCol>
                <a:gridCol w="4061500">
                  <a:extLst>
                    <a:ext uri="{9D8B030D-6E8A-4147-A177-3AD203B41FA5}">
                      <a16:colId xmlns:a16="http://schemas.microsoft.com/office/drawing/2014/main" val="20003"/>
                    </a:ext>
                  </a:extLst>
                </a:gridCol>
                <a:gridCol w="4061500">
                  <a:extLst>
                    <a:ext uri="{9D8B030D-6E8A-4147-A177-3AD203B41FA5}">
                      <a16:colId xmlns:a16="http://schemas.microsoft.com/office/drawing/2014/main" val="20004"/>
                    </a:ext>
                  </a:extLst>
                </a:gridCol>
              </a:tblGrid>
              <a:tr h="170150">
                <a:tc gridSpan="5">
                  <a:txBody>
                    <a:bodyPr/>
                    <a:lstStyle/>
                    <a:p>
                      <a:pPr marL="0" marR="0" lvl="0" indent="0" algn="ctr" rtl="0">
                        <a:lnSpc>
                          <a:spcPct val="100000"/>
                        </a:lnSpc>
                        <a:spcBef>
                          <a:spcPts val="0"/>
                        </a:spcBef>
                        <a:spcAft>
                          <a:spcPts val="0"/>
                        </a:spcAft>
                        <a:buClr>
                          <a:srgbClr val="000000"/>
                        </a:buClr>
                        <a:buSzPts val="1500"/>
                        <a:buFont typeface="Arial"/>
                        <a:buNone/>
                      </a:pPr>
                      <a:endParaRPr sz="1400" u="none" strike="noStrike" cap="none"/>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70150">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STT</a:t>
                      </a:r>
                      <a:endParaRPr sz="1400" u="none" strike="noStrike" cap="none"/>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Tên thiết bị</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P/N</a:t>
                      </a:r>
                      <a:endParaRPr sz="1400" u="none" strike="noStrike" cap="none"/>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Hỏng hóc</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u="none" strike="noStrike" cap="none">
                          <a:latin typeface="Times New Roman"/>
                          <a:ea typeface="Times New Roman"/>
                          <a:cs typeface="Times New Roman"/>
                          <a:sym typeface="Times New Roman"/>
                        </a:rPr>
                        <a:t>Tình trạng</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020850">
                <a:tc>
                  <a:txBody>
                    <a:bodyPr/>
                    <a:lstStyle/>
                    <a:p>
                      <a:pPr marL="0" marR="0" lvl="0" indent="0" algn="ctr" rtl="0">
                        <a:lnSpc>
                          <a:spcPct val="100000"/>
                        </a:lnSpc>
                        <a:spcBef>
                          <a:spcPts val="0"/>
                        </a:spcBef>
                        <a:spcAft>
                          <a:spcPts val="0"/>
                        </a:spcAft>
                        <a:buClr>
                          <a:srgbClr val="000000"/>
                        </a:buClr>
                        <a:buSzPts val="1150"/>
                        <a:buFont typeface="Arial"/>
                        <a:buNone/>
                      </a:pPr>
                      <a:r>
                        <a:rPr lang="en-US" sz="1150" b="0" i="0" u="none" strike="noStrike" cap="none">
                          <a:solidFill>
                            <a:srgbClr val="000000"/>
                          </a:solidFill>
                          <a:latin typeface="Times New Roman"/>
                          <a:ea typeface="Times New Roman"/>
                          <a:cs typeface="Times New Roman"/>
                          <a:sym typeface="Times New Roman"/>
                        </a:rPr>
                        <a:t>1</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Rotating mech MLG</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4133801011</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Hỏng hóc nhiều tuy nhiên ST cấp hàng chậm với lý do các thiết bị gửi đi sửa chữa có TAT dài, PO mua mới tới OEM Safran có leadtime dài. Hiện đã phải dừng chương trình kiểm tra theo khuyến cáo của OEM để có đủ vật tư cho các tàu tháo bảo quản. </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Stock </a:t>
                      </a:r>
                      <a:r>
                        <a:rPr lang="en-US" sz="1150">
                          <a:latin typeface="Times New Roman"/>
                          <a:ea typeface="Times New Roman"/>
                          <a:cs typeface="Times New Roman"/>
                          <a:sym typeface="Times New Roman"/>
                        </a:rPr>
                        <a:t>NIL</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a:latin typeface="Times New Roman"/>
                          <a:ea typeface="Times New Roman"/>
                          <a:cs typeface="Times New Roman"/>
                          <a:sym typeface="Times New Roman"/>
                        </a:rPr>
                        <a:t>Hiện đang giục sửa chữa và PO mua 3ea từ OEM Safran, Safran thông báo vật tư này bị global shortage nên đang thúc đẩy và release hàng cho VNA, 1ea 25/3 nhập kho và 2ea 31/3 nhập kho</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850725">
                <a:tc>
                  <a:txBody>
                    <a:bodyPr/>
                    <a:lstStyle/>
                    <a:p>
                      <a:pPr marL="0" marR="0" lvl="0" indent="0" algn="ctr" rtl="0">
                        <a:lnSpc>
                          <a:spcPct val="100000"/>
                        </a:lnSpc>
                        <a:spcBef>
                          <a:spcPts val="0"/>
                        </a:spcBef>
                        <a:spcAft>
                          <a:spcPts val="0"/>
                        </a:spcAft>
                        <a:buClr>
                          <a:srgbClr val="000000"/>
                        </a:buClr>
                        <a:buSzPts val="1150"/>
                        <a:buFont typeface="Arial"/>
                        <a:buNone/>
                      </a:pPr>
                      <a:r>
                        <a:rPr lang="en-US" sz="1150" b="0" i="0" u="none" strike="noStrike" cap="none">
                          <a:solidFill>
                            <a:srgbClr val="000000"/>
                          </a:solidFill>
                          <a:latin typeface="Times New Roman"/>
                          <a:ea typeface="Times New Roman"/>
                          <a:cs typeface="Times New Roman"/>
                          <a:sym typeface="Times New Roman"/>
                        </a:rPr>
                        <a:t>2</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Các thiết bị IFE của Panasonic:</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LCD</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VSEB</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RD-AV9844-01</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RD-KA3303-05</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Hỏng hóc phát sinh nhiều trong khai thác trong khi Panasonic sửa chữa có TAT dài, chủ yếu với lý do thiếu PTVT sửa chữa, thay thế. Các PTVT này hiện đều là đời cũ, VSEB đã dừng sản xuất. </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Phối hợp với Panasonic để đổi PTVT, rút ngắn TAT</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Đề nghị Ban KT xem xét phương án tìm PN thay thế</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680575">
                <a:tc>
                  <a:txBody>
                    <a:bodyPr/>
                    <a:lstStyle/>
                    <a:p>
                      <a:pPr marL="0" marR="0" lvl="0" indent="0" algn="ctr"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3</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Jetpipe</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745-1107-503</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Thiết bị nằm trên CNA, hỏng hóc nặng crack, không sửa được tại Vaeco. Gửi đi sửa chữa có TAT dài. Có 3 cấp độ hỏng: </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Disbond: TAT nhanh (&lt;30 ngày), chi phí sửa thấp (8k - 10k USD)</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Crack 1 vị trí: TAT khoảng 40-50 ngày, chi phí sửa khoảng 20k USD</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Crack 2 vị trí trở lên: TAT dài 60-80 ngày, chi phí sửa &gt;40kUSD </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50"/>
                        <a:buFont typeface="Times New Roman"/>
                        <a:buNone/>
                      </a:pPr>
                      <a:r>
                        <a:rPr lang="en-US" sz="1150" u="none" strike="noStrike" cap="none">
                          <a:latin typeface="Times New Roman"/>
                          <a:ea typeface="Times New Roman"/>
                          <a:cs typeface="Times New Roman"/>
                          <a:sym typeface="Times New Roman"/>
                        </a:rPr>
                        <a:t>Tình trạng kho: stock </a:t>
                      </a:r>
                      <a:r>
                        <a:rPr lang="en-US" sz="1150">
                          <a:latin typeface="Times New Roman"/>
                          <a:ea typeface="Times New Roman"/>
                          <a:cs typeface="Times New Roman"/>
                          <a:sym typeface="Times New Roman"/>
                        </a:rPr>
                        <a:t>1ea</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b="0" i="0" u="none" strike="noStrike" cap="none">
                          <a:solidFill>
                            <a:srgbClr val="000000"/>
                          </a:solidFill>
                          <a:latin typeface="Times New Roman"/>
                          <a:ea typeface="Times New Roman"/>
                          <a:cs typeface="Times New Roman"/>
                          <a:sym typeface="Times New Roman"/>
                        </a:rPr>
                        <a:t>- </a:t>
                      </a:r>
                      <a:r>
                        <a:rPr lang="en-US" sz="1150" u="none" strike="noStrike" cap="none">
                          <a:latin typeface="Times New Roman"/>
                          <a:ea typeface="Times New Roman"/>
                          <a:cs typeface="Times New Roman"/>
                          <a:sym typeface="Times New Roman"/>
                        </a:rPr>
                        <a:t>Đề nghị VAECO có đánh giá hỏng hóc (SDR) sớm và gửi Ban QLVT để hỏi repair cap và chọn cơ sở sửa chữa phù hợp.</a:t>
                      </a:r>
                      <a:endParaRPr sz="115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a:t>
                      </a:r>
                      <a:r>
                        <a:rPr lang="en-US" sz="1150" b="0" i="0" u="none" strike="noStrike" cap="none">
                          <a:solidFill>
                            <a:srgbClr val="000000"/>
                          </a:solidFill>
                          <a:latin typeface="Times New Roman"/>
                          <a:ea typeface="Times New Roman"/>
                          <a:cs typeface="Times New Roman"/>
                          <a:sym typeface="Times New Roman"/>
                        </a:rPr>
                        <a:t>Ban QLVT tiếp tục làm việc với</a:t>
                      </a:r>
                      <a:r>
                        <a:rPr lang="en-US" sz="1150" u="none" strike="noStrike" cap="none">
                          <a:latin typeface="Times New Roman"/>
                          <a:ea typeface="Times New Roman"/>
                          <a:cs typeface="Times New Roman"/>
                          <a:sym typeface="Times New Roman"/>
                        </a:rPr>
                        <a:t> cơ sở sửa chữa để rút ngắn TAT</a:t>
                      </a:r>
                      <a:r>
                        <a:rPr lang="en-US" sz="1150" b="0" i="0" u="none" strike="noStrike" cap="none">
                          <a:solidFill>
                            <a:srgbClr val="000000"/>
                          </a:solidFill>
                          <a:latin typeface="Times New Roman"/>
                          <a:ea typeface="Times New Roman"/>
                          <a:cs typeface="Times New Roman"/>
                          <a:sym typeface="Times New Roman"/>
                        </a:rPr>
                        <a:t/>
                      </a:r>
                      <a:br>
                        <a:rPr lang="en-US" sz="1150" b="0" i="0" u="none" strike="noStrike" cap="none">
                          <a:solidFill>
                            <a:srgbClr val="000000"/>
                          </a:solidFill>
                          <a:latin typeface="Times New Roman"/>
                          <a:ea typeface="Times New Roman"/>
                          <a:cs typeface="Times New Roman"/>
                          <a:sym typeface="Times New Roman"/>
                        </a:rPr>
                      </a:br>
                      <a:r>
                        <a:rPr lang="en-US" sz="1150" b="0" i="0" u="none" strike="noStrike" cap="none">
                          <a:solidFill>
                            <a:srgbClr val="000000"/>
                          </a:solidFill>
                          <a:latin typeface="Times New Roman"/>
                          <a:ea typeface="Times New Roman"/>
                          <a:cs typeface="Times New Roman"/>
                          <a:sym typeface="Times New Roman"/>
                        </a:rPr>
                        <a:t>- Đề nghị Ban KT/Vaeco có giải pháp hạn chế hỏng hóc</a:t>
                      </a:r>
                      <a:r>
                        <a:rPr lang="en-US" sz="1150" u="none" strike="noStrike" cap="none">
                          <a:latin typeface="Times New Roman"/>
                          <a:ea typeface="Times New Roman"/>
                          <a:cs typeface="Times New Roman"/>
                          <a:sym typeface="Times New Roman"/>
                        </a:rPr>
                        <a:t> bằng các phương án kiểm tra chủ động, thay thế khi bị disbond sẽ tiết kiệm chi phí sửa và TAT ngắn.</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Với các hỏng hóc phát sinh, đề nghị xem xét phương án mở defect để Ban QLVT chủ động phương án cung ứng</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14391391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g31ccdae391d_0_299"/>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190" name="Google Shape;190;g31ccdae391d_0_29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48</a:t>
            </a:fld>
            <a:endParaRPr/>
          </a:p>
        </p:txBody>
      </p:sp>
      <p:sp>
        <p:nvSpPr>
          <p:cNvPr id="191" name="Google Shape;191;g31ccdae391d_0_299"/>
          <p:cNvSpPr/>
          <p:nvPr/>
        </p:nvSpPr>
        <p:spPr>
          <a:xfrm>
            <a:off x="533407" y="742682"/>
            <a:ext cx="11164800" cy="5718900"/>
          </a:xfrm>
          <a:prstGeom prst="rect">
            <a:avLst/>
          </a:prstGeom>
          <a:noFill/>
          <a:ln>
            <a:noFill/>
          </a:ln>
        </p:spPr>
        <p:txBody>
          <a:bodyPr spcFirstLastPara="1" wrap="square" lIns="91425" tIns="45700" rIns="91425" bIns="45700" anchor="t" anchorCtr="0">
            <a:noAutofit/>
          </a:bodyPr>
          <a:lstStyle/>
          <a:p>
            <a:pPr algn="just">
              <a:buClr>
                <a:srgbClr val="000000"/>
              </a:buClr>
              <a:buSzPts val="2000"/>
              <a:buFont typeface="Arial"/>
              <a:buNone/>
            </a:pPr>
            <a:r>
              <a:rPr lang="en-US" sz="2000" b="1" kern="0">
                <a:solidFill>
                  <a:srgbClr val="FF0000"/>
                </a:solidFill>
                <a:latin typeface="Times New Roman"/>
                <a:ea typeface="Times New Roman"/>
                <a:cs typeface="Times New Roman"/>
                <a:sym typeface="Times New Roman"/>
              </a:rPr>
              <a:t>Tình trạng đơn hàng Pooling: 24 đơn hàng quá hạn trong tổng số 37 đơn hàng đang open</a:t>
            </a:r>
            <a:endParaRPr sz="2000" b="1" kern="0">
              <a:solidFill>
                <a:srgbClr val="FF0000"/>
              </a:solidFill>
              <a:ea typeface="Arial"/>
              <a:cs typeface="Arial"/>
              <a:sym typeface="Arial"/>
            </a:endParaRPr>
          </a:p>
          <a:p>
            <a:pPr marL="457200" indent="-323850" algn="just">
              <a:buClr>
                <a:srgbClr val="000000"/>
              </a:buClr>
              <a:buSzPts val="1500"/>
              <a:buFont typeface="Times New Roman"/>
              <a:buChar char="●"/>
            </a:pPr>
            <a:r>
              <a:rPr lang="en-US" sz="1500" b="1" kern="0">
                <a:solidFill>
                  <a:srgbClr val="000000"/>
                </a:solidFill>
                <a:latin typeface="Times New Roman"/>
                <a:ea typeface="Times New Roman"/>
                <a:cs typeface="Times New Roman"/>
                <a:sym typeface="Times New Roman"/>
              </a:rPr>
              <a:t>Đơn hàng lấp đầy kho MBK: </a:t>
            </a:r>
            <a:r>
              <a:rPr lang="en-US" sz="1500" kern="0">
                <a:solidFill>
                  <a:srgbClr val="000000"/>
                </a:solidFill>
                <a:latin typeface="Times New Roman"/>
                <a:ea typeface="Times New Roman"/>
                <a:cs typeface="Times New Roman"/>
                <a:sym typeface="Times New Roman"/>
              </a:rPr>
              <a:t> overdue 14 LO / total  17 LO</a:t>
            </a:r>
            <a:endParaRPr sz="1500" kern="0">
              <a:solidFill>
                <a:srgbClr val="000000"/>
              </a:solidFill>
              <a:latin typeface="Times New Roman"/>
              <a:ea typeface="Times New Roman"/>
              <a:cs typeface="Times New Roman"/>
              <a:sym typeface="Times New Roman"/>
            </a:endParaRPr>
          </a:p>
          <a:p>
            <a:pPr marL="457200" indent="-323850" algn="just">
              <a:buClr>
                <a:srgbClr val="000000"/>
              </a:buClr>
              <a:buSzPts val="1500"/>
              <a:buFont typeface="Times New Roman"/>
              <a:buChar char="●"/>
            </a:pPr>
            <a:r>
              <a:rPr lang="en-US" sz="1500" b="1" kern="0">
                <a:solidFill>
                  <a:srgbClr val="000000"/>
                </a:solidFill>
                <a:latin typeface="Times New Roman"/>
                <a:ea typeface="Times New Roman"/>
                <a:cs typeface="Times New Roman"/>
                <a:sym typeface="Times New Roman"/>
              </a:rPr>
              <a:t>Đơn hàng khác (Defect, Hardtime): </a:t>
            </a:r>
            <a:r>
              <a:rPr lang="en-US" sz="1500" kern="0">
                <a:solidFill>
                  <a:srgbClr val="000000"/>
                </a:solidFill>
                <a:latin typeface="Times New Roman"/>
                <a:ea typeface="Times New Roman"/>
                <a:cs typeface="Times New Roman"/>
                <a:sym typeface="Times New Roman"/>
              </a:rPr>
              <a:t>overdue 10 EO / total 20 EO </a:t>
            </a:r>
            <a:endParaRPr sz="1500" kern="0">
              <a:solidFill>
                <a:srgbClr val="1F497D"/>
              </a:solidFill>
              <a:latin typeface="Times New Roman"/>
              <a:ea typeface="Times New Roman"/>
              <a:cs typeface="Times New Roman"/>
              <a:sym typeface="Times New Roman"/>
            </a:endParaRPr>
          </a:p>
          <a:p>
            <a:pPr algn="just">
              <a:lnSpc>
                <a:spcPct val="110000"/>
              </a:lnSpc>
              <a:spcBef>
                <a:spcPts val="600"/>
              </a:spcBef>
              <a:buClr>
                <a:srgbClr val="000000"/>
              </a:buClr>
              <a:buSzPts val="1500"/>
              <a:buFont typeface="Arial"/>
              <a:buNone/>
            </a:pPr>
            <a:endParaRPr sz="1500" b="1" kern="0">
              <a:solidFill>
                <a:srgbClr val="FF0000"/>
              </a:solidFill>
              <a:latin typeface="Times New Roman"/>
              <a:ea typeface="Times New Roman"/>
              <a:cs typeface="Times New Roman"/>
              <a:sym typeface="Times New Roman"/>
            </a:endParaRPr>
          </a:p>
          <a:p>
            <a:pPr algn="just">
              <a:lnSpc>
                <a:spcPct val="110000"/>
              </a:lnSpc>
              <a:buClr>
                <a:srgbClr val="000000"/>
              </a:buClr>
              <a:buSzPts val="1500"/>
              <a:buFont typeface="Arial"/>
              <a:buNone/>
            </a:pPr>
            <a:endParaRPr sz="1500" kern="0">
              <a:solidFill>
                <a:srgbClr val="000000"/>
              </a:solidFill>
              <a:latin typeface="Times New Roman"/>
              <a:ea typeface="Times New Roman"/>
              <a:cs typeface="Times New Roman"/>
              <a:sym typeface="Times New Roman"/>
            </a:endParaRPr>
          </a:p>
        </p:txBody>
      </p:sp>
      <p:sp>
        <p:nvSpPr>
          <p:cNvPr id="192" name="Google Shape;192;g31ccdae391d_0_299"/>
          <p:cNvSpPr txBox="1"/>
          <p:nvPr/>
        </p:nvSpPr>
        <p:spPr>
          <a:xfrm>
            <a:off x="3529775" y="5809425"/>
            <a:ext cx="14100" cy="88500"/>
          </a:xfrm>
          <a:prstGeom prst="rect">
            <a:avLst/>
          </a:prstGeom>
          <a:noFill/>
          <a:ln>
            <a:noFill/>
          </a:ln>
        </p:spPr>
        <p:txBody>
          <a:bodyPr spcFirstLastPara="1" wrap="square" lIns="91425" tIns="91425" rIns="91425" bIns="91425" anchor="t" anchorCtr="0">
            <a:noAutofit/>
          </a:bodyPr>
          <a:lstStyle/>
          <a:p>
            <a:pPr>
              <a:buClr>
                <a:srgbClr val="000000"/>
              </a:buClr>
              <a:buSzPts val="2800"/>
              <a:buFont typeface="Arial"/>
              <a:buNone/>
            </a:pPr>
            <a:endParaRPr sz="2800" kern="0">
              <a:solidFill>
                <a:srgbClr val="000000"/>
              </a:solidFill>
              <a:latin typeface="Calibri"/>
              <a:ea typeface="Calibri"/>
              <a:cs typeface="Calibri"/>
              <a:sym typeface="Calibri"/>
            </a:endParaRPr>
          </a:p>
        </p:txBody>
      </p:sp>
      <p:pic>
        <p:nvPicPr>
          <p:cNvPr id="193" name="Google Shape;193;g31ccdae391d_0_299"/>
          <p:cNvPicPr preferRelativeResize="0"/>
          <p:nvPr/>
        </p:nvPicPr>
        <p:blipFill>
          <a:blip r:embed="rId3">
            <a:alphaModFix/>
          </a:blip>
          <a:stretch>
            <a:fillRect/>
          </a:stretch>
        </p:blipFill>
        <p:spPr>
          <a:xfrm>
            <a:off x="2028825" y="1887149"/>
            <a:ext cx="7481926" cy="4547001"/>
          </a:xfrm>
          <a:prstGeom prst="rect">
            <a:avLst/>
          </a:prstGeom>
          <a:noFill/>
          <a:ln>
            <a:noFill/>
          </a:ln>
        </p:spPr>
      </p:pic>
    </p:spTree>
    <p:extLst>
      <p:ext uri="{BB962C8B-B14F-4D97-AF65-F5344CB8AC3E}">
        <p14:creationId xmlns:p14="http://schemas.microsoft.com/office/powerpoint/2010/main" val="378050345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g31ccdae391d_0_308"/>
          <p:cNvSpPr txBox="1">
            <a:spLocks noGrp="1"/>
          </p:cNvSpPr>
          <p:nvPr>
            <p:ph type="title"/>
          </p:nvPr>
        </p:nvSpPr>
        <p:spPr>
          <a:xfrm>
            <a:off x="941350" y="165475"/>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00" name="Google Shape;200;g31ccdae391d_0_30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49</a:t>
            </a:fld>
            <a:endParaRPr/>
          </a:p>
        </p:txBody>
      </p:sp>
      <p:graphicFrame>
        <p:nvGraphicFramePr>
          <p:cNvPr id="201" name="Google Shape;201;g31ccdae391d_0_308"/>
          <p:cNvGraphicFramePr/>
          <p:nvPr/>
        </p:nvGraphicFramePr>
        <p:xfrm>
          <a:off x="607288" y="787650"/>
          <a:ext cx="11227800" cy="4578145"/>
        </p:xfrm>
        <a:graphic>
          <a:graphicData uri="http://schemas.openxmlformats.org/drawingml/2006/table">
            <a:tbl>
              <a:tblPr>
                <a:noFill/>
              </a:tblPr>
              <a:tblGrid>
                <a:gridCol w="756400">
                  <a:extLst>
                    <a:ext uri="{9D8B030D-6E8A-4147-A177-3AD203B41FA5}">
                      <a16:colId xmlns:a16="http://schemas.microsoft.com/office/drawing/2014/main" val="20000"/>
                    </a:ext>
                  </a:extLst>
                </a:gridCol>
                <a:gridCol w="1531850">
                  <a:extLst>
                    <a:ext uri="{9D8B030D-6E8A-4147-A177-3AD203B41FA5}">
                      <a16:colId xmlns:a16="http://schemas.microsoft.com/office/drawing/2014/main" val="20001"/>
                    </a:ext>
                  </a:extLst>
                </a:gridCol>
                <a:gridCol w="1753750">
                  <a:extLst>
                    <a:ext uri="{9D8B030D-6E8A-4147-A177-3AD203B41FA5}">
                      <a16:colId xmlns:a16="http://schemas.microsoft.com/office/drawing/2014/main" val="20002"/>
                    </a:ext>
                  </a:extLst>
                </a:gridCol>
                <a:gridCol w="3592900">
                  <a:extLst>
                    <a:ext uri="{9D8B030D-6E8A-4147-A177-3AD203B41FA5}">
                      <a16:colId xmlns:a16="http://schemas.microsoft.com/office/drawing/2014/main" val="20003"/>
                    </a:ext>
                  </a:extLst>
                </a:gridCol>
                <a:gridCol w="3592900">
                  <a:extLst>
                    <a:ext uri="{9D8B030D-6E8A-4147-A177-3AD203B41FA5}">
                      <a16:colId xmlns:a16="http://schemas.microsoft.com/office/drawing/2014/main" val="20004"/>
                    </a:ext>
                  </a:extLst>
                </a:gridCol>
              </a:tblGrid>
              <a:tr h="273700">
                <a:tc gridSpan="5">
                  <a:txBody>
                    <a:bodyPr/>
                    <a:lstStyle/>
                    <a:p>
                      <a:pPr marL="0" marR="0" lvl="0" indent="0" algn="ctr" rtl="0">
                        <a:lnSpc>
                          <a:spcPct val="100000"/>
                        </a:lnSpc>
                        <a:spcBef>
                          <a:spcPts val="0"/>
                        </a:spcBef>
                        <a:spcAft>
                          <a:spcPts val="0"/>
                        </a:spcAft>
                        <a:buClr>
                          <a:srgbClr val="000000"/>
                        </a:buClr>
                        <a:buSzPts val="1600"/>
                        <a:buFont typeface="Arial"/>
                        <a:buNone/>
                      </a:pPr>
                      <a:r>
                        <a:rPr lang="en-US" sz="1600" b="1" u="none" strike="noStrike" cap="none">
                          <a:solidFill>
                            <a:srgbClr val="FF0000"/>
                          </a:solidFill>
                          <a:latin typeface="Times New Roman"/>
                          <a:ea typeface="Times New Roman"/>
                          <a:cs typeface="Times New Roman"/>
                          <a:sym typeface="Times New Roman"/>
                        </a:rPr>
                        <a:t> </a:t>
                      </a:r>
                      <a:endParaRPr sz="1600" b="1" i="0" u="none" strike="noStrike" cap="none">
                        <a:solidFill>
                          <a:srgbClr val="FF0000"/>
                        </a:solidFill>
                        <a:latin typeface="Times New Roman"/>
                        <a:ea typeface="Times New Roman"/>
                        <a:cs typeface="Times New Roman"/>
                        <a:sym typeface="Times New Roman"/>
                      </a:endParaRPr>
                    </a:p>
                  </a:txBody>
                  <a:tcPr marL="7800" marR="7800" marT="78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0525">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STT</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Tên thiết bị</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P/N</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Lưu ý</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9789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1</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FMU</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 7000546H14</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Hỏng hóc gây APU INOP.</a:t>
                      </a:r>
                      <a:endParaRPr sz="130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Không có hỏng hóc.</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02ea in stock.</a:t>
                      </a:r>
                      <a:endParaRPr sz="1300" u="none" strike="noStrike" cap="none">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9789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2</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Chiller</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600-2</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Hiện cả fleet B787 có 0</a:t>
                      </a:r>
                      <a:r>
                        <a:rPr lang="en-US" sz="1300">
                          <a:latin typeface="Times New Roman"/>
                          <a:ea typeface="Times New Roman"/>
                          <a:cs typeface="Times New Roman"/>
                          <a:sym typeface="Times New Roman"/>
                        </a:rPr>
                        <a:t>5</a:t>
                      </a:r>
                      <a:r>
                        <a:rPr lang="en-US" sz="1300" u="none" strike="noStrike" cap="none">
                          <a:latin typeface="Times New Roman"/>
                          <a:ea typeface="Times New Roman"/>
                          <a:cs typeface="Times New Roman"/>
                          <a:sym typeface="Times New Roman"/>
                        </a:rPr>
                        <a:t> hỏng hóc. </a:t>
                      </a:r>
                      <a:endParaRPr sz="1300" u="none" strike="noStrike" cap="none">
                        <a:latin typeface="Times New Roman"/>
                        <a:ea typeface="Times New Roman"/>
                        <a:cs typeface="Times New Roman"/>
                        <a:sym typeface="Times New Roman"/>
                      </a:endParaRPr>
                    </a:p>
                  </a:txBody>
                  <a:tcPr marL="7800" marR="7800" marT="7800" marB="0" anchor="ctr">
                    <a:lnR w="9525" cap="flat" cmpd="sng">
                      <a:solidFill>
                        <a:schemeClr val="dk1"/>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NIL stock</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a:t>
                      </a:r>
                      <a:r>
                        <a:rPr lang="en-US" sz="1300" u="none" strike="noStrike" cap="none">
                          <a:latin typeface="Times New Roman"/>
                          <a:ea typeface="Times New Roman"/>
                          <a:cs typeface="Times New Roman"/>
                          <a:sym typeface="Times New Roman"/>
                        </a:rPr>
                        <a:t>0</a:t>
                      </a:r>
                      <a:r>
                        <a:rPr lang="en-US" sz="1300">
                          <a:latin typeface="Times New Roman"/>
                          <a:ea typeface="Times New Roman"/>
                          <a:cs typeface="Times New Roman"/>
                          <a:sym typeface="Times New Roman"/>
                        </a:rPr>
                        <a:t>5</a:t>
                      </a:r>
                      <a:r>
                        <a:rPr lang="en-US" sz="1300" u="none" strike="noStrike" cap="none">
                          <a:latin typeface="Times New Roman"/>
                          <a:ea typeface="Times New Roman"/>
                          <a:cs typeface="Times New Roman"/>
                          <a:sym typeface="Times New Roman"/>
                        </a:rPr>
                        <a:t>RO:</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+ 01ea giao HAN 24Mar.</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+ 02ea EDD 05/2025.</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+ 02ea chưa có EDD.</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Times New Roman"/>
                        <a:ea typeface="Times New Roman"/>
                        <a:cs typeface="Times New Roman"/>
                        <a:sym typeface="Times New Roman"/>
                      </a:endParaRPr>
                    </a:p>
                  </a:txBody>
                  <a:tcPr marL="7800" marR="7800" marT="780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631600">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VFSG</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200">
                          <a:solidFill>
                            <a:schemeClr val="dk1"/>
                          </a:solidFill>
                          <a:latin typeface="Times New Roman"/>
                          <a:ea typeface="Times New Roman"/>
                          <a:cs typeface="Times New Roman"/>
                          <a:sym typeface="Times New Roman"/>
                        </a:rPr>
                        <a:t>7001330H04</a:t>
                      </a:r>
                      <a:endParaRPr sz="1200" u="none" strike="noStrike" cap="none">
                        <a:solidFill>
                          <a:schemeClr val="dk1"/>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Nếu phát sinh hỏng hóc sẽ chỉ mở được 03 ngày.</a:t>
                      </a:r>
                      <a:endParaRPr sz="1300">
                        <a:latin typeface="Times New Roman"/>
                        <a:ea typeface="Times New Roman"/>
                        <a:cs typeface="Times New Roman"/>
                        <a:sym typeface="Times New Roman"/>
                      </a:endParaRPr>
                    </a:p>
                  </a:txBody>
                  <a:tcPr marL="7800" marR="7800" marT="7800" marB="0" anchor="ctr"/>
                </a:tc>
                <a:tc>
                  <a:txBody>
                    <a:bodyPr/>
                    <a:lstStyle/>
                    <a:p>
                      <a:pPr marL="0" marR="0" lvl="0" indent="0" algn="l" rtl="0">
                        <a:spcBef>
                          <a:spcPts val="0"/>
                        </a:spcBef>
                        <a:spcAft>
                          <a:spcPts val="0"/>
                        </a:spcAft>
                        <a:buClr>
                          <a:schemeClr val="dk1"/>
                        </a:buClr>
                        <a:buSzPts val="1300"/>
                        <a:buFont typeface="Arial"/>
                        <a:buNone/>
                      </a:pPr>
                      <a:r>
                        <a:rPr lang="en-US" sz="1200">
                          <a:solidFill>
                            <a:schemeClr val="dk1"/>
                          </a:solidFill>
                          <a:latin typeface="Times New Roman"/>
                          <a:ea typeface="Times New Roman"/>
                          <a:cs typeface="Times New Roman"/>
                          <a:sym typeface="Times New Roman"/>
                        </a:rPr>
                        <a:t>- NILstock, 01ea dự phòng giao SGN 24/03.</a:t>
                      </a:r>
                      <a:endParaRPr sz="1200">
                        <a:solidFill>
                          <a:schemeClr val="dk1"/>
                        </a:solidFill>
                        <a:latin typeface="Times New Roman"/>
                        <a:ea typeface="Times New Roman"/>
                        <a:cs typeface="Times New Roman"/>
                        <a:sym typeface="Times New Roman"/>
                      </a:endParaRPr>
                    </a:p>
                  </a:txBody>
                  <a:tcPr marL="7800" marR="7800" marT="7800" marB="0" anchor="ct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1286825">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 </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Tailcone light</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Card Led</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30-2968-3</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32-4188-3</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Nguồn cung hàng chậm, delay shop Honeywell.</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Hiện không có hỏng hóc.</a:t>
                      </a:r>
                      <a:endParaRPr sz="1300">
                        <a:latin typeface="Times New Roman"/>
                        <a:ea typeface="Times New Roman"/>
                        <a:cs typeface="Times New Roman"/>
                        <a:sym typeface="Times New Roman"/>
                      </a:endParaRPr>
                    </a:p>
                    <a:p>
                      <a:pPr marL="0" marR="0" lvl="0" indent="0" algn="l" rtl="0">
                        <a:spcBef>
                          <a:spcPts val="0"/>
                        </a:spcBef>
                        <a:spcAft>
                          <a:spcPts val="0"/>
                        </a:spcAft>
                        <a:buNone/>
                      </a:pPr>
                      <a:r>
                        <a:rPr lang="en-US" sz="1300">
                          <a:latin typeface="Times New Roman"/>
                          <a:ea typeface="Times New Roman"/>
                          <a:cs typeface="Times New Roman"/>
                          <a:sym typeface="Times New Roman"/>
                        </a:rPr>
                        <a:t>-Card led: </a:t>
                      </a:r>
                      <a:endParaRPr sz="1300" u="none" strike="noStrike" cap="none">
                        <a:latin typeface="Times New Roman"/>
                        <a:ea typeface="Times New Roman"/>
                        <a:cs typeface="Times New Roman"/>
                        <a:sym typeface="Times New Roman"/>
                      </a:endParaRPr>
                    </a:p>
                    <a:p>
                      <a:pPr marL="0" marR="0" lvl="0" indent="0" algn="l" rtl="0">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 </a:t>
                      </a:r>
                      <a:r>
                        <a:rPr lang="en-US" sz="1300">
                          <a:solidFill>
                            <a:schemeClr val="dk1"/>
                          </a:solidFill>
                          <a:latin typeface="Times New Roman"/>
                          <a:ea typeface="Times New Roman"/>
                          <a:cs typeface="Times New Roman"/>
                          <a:sym typeface="Times New Roman"/>
                        </a:rPr>
                        <a:t>01ea in stock.</a:t>
                      </a:r>
                      <a:endParaRPr sz="1300">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+ 02ea PO  EDD 10/2025.</a:t>
                      </a:r>
                      <a:endParaRPr sz="1300">
                        <a:latin typeface="Times New Roman"/>
                        <a:ea typeface="Times New Roman"/>
                        <a:cs typeface="Times New Roman"/>
                        <a:sym typeface="Times New Roman"/>
                      </a:endParaRPr>
                    </a:p>
                  </a:txBody>
                  <a:tcPr marL="7800" marR="7800" marT="7800" marB="0" anchor="ct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950711862"/>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g31ccdae391d_0_315"/>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08" name="Google Shape;208;g31ccdae391d_0_31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50</a:t>
            </a:fld>
            <a:endParaRPr/>
          </a:p>
        </p:txBody>
      </p:sp>
      <p:sp>
        <p:nvSpPr>
          <p:cNvPr id="209" name="Google Shape;209;g31ccdae391d_0_315"/>
          <p:cNvSpPr/>
          <p:nvPr/>
        </p:nvSpPr>
        <p:spPr>
          <a:xfrm>
            <a:off x="500990" y="569557"/>
            <a:ext cx="11164800" cy="5718900"/>
          </a:xfrm>
          <a:prstGeom prst="rect">
            <a:avLst/>
          </a:prstGeom>
          <a:noFill/>
          <a:ln>
            <a:noFill/>
          </a:ln>
        </p:spPr>
        <p:txBody>
          <a:bodyPr spcFirstLastPara="1" wrap="square" lIns="91425" tIns="45700" rIns="91425" bIns="45700" anchor="t" anchorCtr="0">
            <a:noAutofit/>
          </a:bodyPr>
          <a:lstStyle/>
          <a:p>
            <a:pPr algn="just">
              <a:buClr>
                <a:srgbClr val="000000"/>
              </a:buClr>
              <a:buSzPts val="2000"/>
              <a:buFont typeface="Arial"/>
              <a:buNone/>
            </a:pPr>
            <a:endParaRPr sz="2000" b="1" kern="0" dirty="0">
              <a:solidFill>
                <a:srgbClr val="FF0000"/>
              </a:solidFill>
              <a:latin typeface="Times New Roman"/>
              <a:ea typeface="Times New Roman"/>
              <a:cs typeface="Times New Roman"/>
              <a:sym typeface="Times New Roman"/>
            </a:endParaRPr>
          </a:p>
          <a:p>
            <a:pPr marL="457200" indent="-355600" algn="just">
              <a:buClr>
                <a:srgbClr val="FF0000"/>
              </a:buClr>
              <a:buSzPts val="2000"/>
              <a:buFont typeface="Times New Roman"/>
              <a:buChar char="-"/>
            </a:pPr>
            <a:r>
              <a:rPr lang="en-US" sz="2000" b="1" kern="0" dirty="0" err="1">
                <a:solidFill>
                  <a:srgbClr val="FF0000"/>
                </a:solidFill>
                <a:latin typeface="Times New Roman"/>
                <a:ea typeface="Times New Roman"/>
                <a:cs typeface="Times New Roman"/>
                <a:sym typeface="Times New Roman"/>
              </a:rPr>
              <a:t>Một</a:t>
            </a:r>
            <a:r>
              <a:rPr lang="en-US" sz="2000" b="1" kern="0" dirty="0">
                <a:solidFill>
                  <a:srgbClr val="FF0000"/>
                </a:solidFill>
                <a:latin typeface="Times New Roman"/>
                <a:ea typeface="Times New Roman"/>
                <a:cs typeface="Times New Roman"/>
                <a:sym typeface="Times New Roman"/>
              </a:rPr>
              <a:t> </a:t>
            </a:r>
            <a:r>
              <a:rPr lang="en-US" sz="2000" b="1" kern="0" dirty="0" err="1">
                <a:solidFill>
                  <a:srgbClr val="FF0000"/>
                </a:solidFill>
                <a:latin typeface="Times New Roman"/>
                <a:ea typeface="Times New Roman"/>
                <a:cs typeface="Times New Roman"/>
                <a:sym typeface="Times New Roman"/>
              </a:rPr>
              <a:t>số</a:t>
            </a:r>
            <a:r>
              <a:rPr lang="en-US" sz="2000" b="1" kern="0" dirty="0">
                <a:solidFill>
                  <a:srgbClr val="FF0000"/>
                </a:solidFill>
                <a:latin typeface="Times New Roman"/>
                <a:ea typeface="Times New Roman"/>
                <a:cs typeface="Times New Roman"/>
                <a:sym typeface="Times New Roman"/>
              </a:rPr>
              <a:t> PTVT </a:t>
            </a:r>
            <a:r>
              <a:rPr lang="en-US" sz="2000" b="1" kern="0" dirty="0" err="1">
                <a:solidFill>
                  <a:srgbClr val="FF0000"/>
                </a:solidFill>
                <a:latin typeface="Times New Roman"/>
                <a:ea typeface="Times New Roman"/>
                <a:cs typeface="Times New Roman"/>
                <a:sym typeface="Times New Roman"/>
              </a:rPr>
              <a:t>cần</a:t>
            </a:r>
            <a:r>
              <a:rPr lang="en-US" sz="2000" b="1" kern="0" dirty="0">
                <a:solidFill>
                  <a:srgbClr val="FF0000"/>
                </a:solidFill>
                <a:latin typeface="Times New Roman"/>
                <a:ea typeface="Times New Roman"/>
                <a:cs typeface="Times New Roman"/>
                <a:sym typeface="Times New Roman"/>
              </a:rPr>
              <a:t> </a:t>
            </a:r>
            <a:r>
              <a:rPr lang="en-US" sz="2000" b="1" kern="0" dirty="0" err="1">
                <a:solidFill>
                  <a:srgbClr val="FF0000"/>
                </a:solidFill>
                <a:latin typeface="Times New Roman"/>
                <a:ea typeface="Times New Roman"/>
                <a:cs typeface="Times New Roman"/>
                <a:sym typeface="Times New Roman"/>
              </a:rPr>
              <a:t>lưu</a:t>
            </a:r>
            <a:r>
              <a:rPr lang="en-US" sz="2000" b="1" kern="0" dirty="0">
                <a:solidFill>
                  <a:srgbClr val="FF0000"/>
                </a:solidFill>
                <a:latin typeface="Times New Roman"/>
                <a:ea typeface="Times New Roman"/>
                <a:cs typeface="Times New Roman"/>
                <a:sym typeface="Times New Roman"/>
              </a:rPr>
              <a:t> ý</a:t>
            </a:r>
            <a:r>
              <a:rPr lang="en-US" sz="1600" kern="0" dirty="0">
                <a:solidFill>
                  <a:srgbClr val="000000"/>
                </a:solidFill>
                <a:latin typeface="Times New Roman"/>
                <a:ea typeface="Times New Roman"/>
                <a:cs typeface="Times New Roman"/>
                <a:sym typeface="Times New Roman"/>
              </a:rPr>
              <a:t>:</a:t>
            </a:r>
            <a:endParaRPr sz="1600" kern="0" dirty="0">
              <a:solidFill>
                <a:srgbClr val="000000"/>
              </a:solidFill>
              <a:latin typeface="Times New Roman"/>
              <a:ea typeface="Times New Roman"/>
              <a:cs typeface="Times New Roman"/>
              <a:sym typeface="Times New Roman"/>
            </a:endParaRPr>
          </a:p>
          <a:p>
            <a:pPr marL="457200" indent="-330200" algn="just">
              <a:buClr>
                <a:srgbClr val="000000"/>
              </a:buClr>
              <a:buSzPts val="1600"/>
              <a:buFont typeface="Times New Roman"/>
              <a:buChar char="+"/>
            </a:pPr>
            <a:r>
              <a:rPr lang="en-US" sz="1600" kern="0" dirty="0">
                <a:solidFill>
                  <a:srgbClr val="000000"/>
                </a:solidFill>
                <a:latin typeface="Times New Roman"/>
                <a:ea typeface="Times New Roman"/>
                <a:cs typeface="Times New Roman"/>
                <a:sym typeface="Times New Roman"/>
              </a:rPr>
              <a:t>PTVT </a:t>
            </a:r>
            <a:r>
              <a:rPr lang="en-US" sz="1600" kern="0" dirty="0" err="1">
                <a:solidFill>
                  <a:srgbClr val="000000"/>
                </a:solidFill>
                <a:latin typeface="Times New Roman"/>
                <a:ea typeface="Times New Roman"/>
                <a:cs typeface="Times New Roman"/>
                <a:sym typeface="Times New Roman"/>
              </a:rPr>
              <a:t>thay</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nhiều</a:t>
            </a:r>
            <a:r>
              <a:rPr lang="en-US" sz="1600" kern="0" dirty="0">
                <a:solidFill>
                  <a:srgbClr val="000000"/>
                </a:solidFill>
                <a:latin typeface="Times New Roman"/>
                <a:ea typeface="Times New Roman"/>
                <a:cs typeface="Times New Roman"/>
                <a:sym typeface="Times New Roman"/>
              </a:rPr>
              <a:t>: VFSG, GPM, NSG, CAC, Pump Pack, FMU, GWIV, </a:t>
            </a:r>
            <a:r>
              <a:rPr lang="en-US" sz="1600" kern="0" dirty="0" err="1">
                <a:solidFill>
                  <a:srgbClr val="000000"/>
                </a:solidFill>
                <a:latin typeface="Times New Roman"/>
                <a:ea typeface="Times New Roman"/>
                <a:cs typeface="Times New Roman"/>
                <a:sym typeface="Times New Roman"/>
              </a:rPr>
              <a:t>Tailcone</a:t>
            </a:r>
            <a:r>
              <a:rPr lang="en-US" sz="1600" kern="0" dirty="0">
                <a:solidFill>
                  <a:srgbClr val="000000"/>
                </a:solidFill>
                <a:latin typeface="Times New Roman"/>
                <a:ea typeface="Times New Roman"/>
                <a:cs typeface="Times New Roman"/>
                <a:sym typeface="Times New Roman"/>
              </a:rPr>
              <a:t> light (</a:t>
            </a:r>
            <a:r>
              <a:rPr lang="en-US" sz="1600" kern="0" dirty="0" err="1">
                <a:solidFill>
                  <a:srgbClr val="000000"/>
                </a:solidFill>
                <a:latin typeface="Times New Roman"/>
                <a:ea typeface="Times New Roman"/>
                <a:cs typeface="Times New Roman"/>
                <a:sym typeface="Times New Roman"/>
              </a:rPr>
              <a:t>hỏng</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hóc</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rất</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nhiều</a:t>
            </a:r>
            <a:r>
              <a:rPr lang="en-US" sz="1600" kern="0" dirty="0">
                <a:solidFill>
                  <a:srgbClr val="000000"/>
                </a:solidFill>
                <a:latin typeface="Times New Roman"/>
                <a:ea typeface="Times New Roman"/>
                <a:cs typeface="Times New Roman"/>
                <a:sym typeface="Times New Roman"/>
              </a:rPr>
              <a:t> sub card led). </a:t>
            </a:r>
            <a:endParaRPr sz="1600" kern="0" dirty="0">
              <a:solidFill>
                <a:srgbClr val="000000"/>
              </a:solidFill>
              <a:latin typeface="Times New Roman"/>
              <a:ea typeface="Times New Roman"/>
              <a:cs typeface="Times New Roman"/>
              <a:sym typeface="Times New Roman"/>
            </a:endParaRPr>
          </a:p>
          <a:p>
            <a:pPr algn="just">
              <a:buClr>
                <a:srgbClr val="000000"/>
              </a:buClr>
              <a:buSzPts val="2000"/>
              <a:buFont typeface="Arial"/>
              <a:buNone/>
            </a:pPr>
            <a:endParaRPr sz="1600" kern="0" dirty="0">
              <a:solidFill>
                <a:srgbClr val="000000"/>
              </a:solidFill>
              <a:latin typeface="Times New Roman"/>
              <a:ea typeface="Times New Roman"/>
              <a:cs typeface="Times New Roman"/>
              <a:sym typeface="Times New Roman"/>
            </a:endParaRPr>
          </a:p>
          <a:p>
            <a:pPr marL="457200" indent="-355600" algn="just">
              <a:buClr>
                <a:srgbClr val="FF0000"/>
              </a:buClr>
              <a:buSzPts val="2000"/>
              <a:buFont typeface="Times New Roman"/>
              <a:buChar char="-"/>
            </a:pPr>
            <a:r>
              <a:rPr lang="en-US" sz="2000" b="1" kern="0" dirty="0" err="1">
                <a:solidFill>
                  <a:srgbClr val="FF0000"/>
                </a:solidFill>
                <a:latin typeface="Times New Roman"/>
                <a:ea typeface="Times New Roman"/>
                <a:cs typeface="Times New Roman"/>
                <a:sym typeface="Times New Roman"/>
              </a:rPr>
              <a:t>Hỏng</a:t>
            </a:r>
            <a:r>
              <a:rPr lang="en-US" sz="2000" b="1" kern="0" dirty="0">
                <a:solidFill>
                  <a:srgbClr val="FF0000"/>
                </a:solidFill>
                <a:latin typeface="Times New Roman"/>
                <a:ea typeface="Times New Roman"/>
                <a:cs typeface="Times New Roman"/>
                <a:sym typeface="Times New Roman"/>
              </a:rPr>
              <a:t> </a:t>
            </a:r>
            <a:r>
              <a:rPr lang="en-US" sz="2000" b="1" kern="0" dirty="0" err="1">
                <a:solidFill>
                  <a:srgbClr val="FF0000"/>
                </a:solidFill>
                <a:latin typeface="Times New Roman"/>
                <a:ea typeface="Times New Roman"/>
                <a:cs typeface="Times New Roman"/>
                <a:sym typeface="Times New Roman"/>
              </a:rPr>
              <a:t>hóc</a:t>
            </a:r>
            <a:r>
              <a:rPr lang="en-US" sz="2000" b="1" kern="0" dirty="0">
                <a:solidFill>
                  <a:srgbClr val="FF0000"/>
                </a:solidFill>
                <a:latin typeface="Times New Roman"/>
                <a:ea typeface="Times New Roman"/>
                <a:cs typeface="Times New Roman"/>
                <a:sym typeface="Times New Roman"/>
              </a:rPr>
              <a:t> </a:t>
            </a:r>
            <a:r>
              <a:rPr lang="en-US" sz="2000" b="1" kern="0" dirty="0" err="1">
                <a:solidFill>
                  <a:srgbClr val="FF0000"/>
                </a:solidFill>
                <a:latin typeface="Times New Roman"/>
                <a:ea typeface="Times New Roman"/>
                <a:cs typeface="Times New Roman"/>
                <a:sym typeface="Times New Roman"/>
              </a:rPr>
              <a:t>ảnh</a:t>
            </a:r>
            <a:r>
              <a:rPr lang="en-US" sz="2000" b="1" kern="0" dirty="0">
                <a:solidFill>
                  <a:srgbClr val="FF0000"/>
                </a:solidFill>
                <a:latin typeface="Times New Roman"/>
                <a:ea typeface="Times New Roman"/>
                <a:cs typeface="Times New Roman"/>
                <a:sym typeface="Times New Roman"/>
              </a:rPr>
              <a:t> </a:t>
            </a:r>
            <a:r>
              <a:rPr lang="en-US" sz="2000" b="1" kern="0" dirty="0" err="1">
                <a:solidFill>
                  <a:srgbClr val="FF0000"/>
                </a:solidFill>
                <a:latin typeface="Times New Roman"/>
                <a:ea typeface="Times New Roman"/>
                <a:cs typeface="Times New Roman"/>
                <a:sym typeface="Times New Roman"/>
              </a:rPr>
              <a:t>hưởng</a:t>
            </a:r>
            <a:r>
              <a:rPr lang="en-US" sz="2000" b="1" kern="0" dirty="0">
                <a:solidFill>
                  <a:srgbClr val="FF0000"/>
                </a:solidFill>
                <a:latin typeface="Times New Roman"/>
                <a:ea typeface="Times New Roman"/>
                <a:cs typeface="Times New Roman"/>
                <a:sym typeface="Times New Roman"/>
              </a:rPr>
              <a:t> </a:t>
            </a:r>
            <a:r>
              <a:rPr lang="en-US" sz="2000" b="1" kern="0" dirty="0" err="1">
                <a:solidFill>
                  <a:srgbClr val="FF0000"/>
                </a:solidFill>
                <a:latin typeface="Times New Roman"/>
                <a:ea typeface="Times New Roman"/>
                <a:cs typeface="Times New Roman"/>
                <a:sym typeface="Times New Roman"/>
              </a:rPr>
              <a:t>cần</a:t>
            </a:r>
            <a:r>
              <a:rPr lang="en-US" sz="2000" b="1" kern="0" dirty="0">
                <a:solidFill>
                  <a:srgbClr val="FF0000"/>
                </a:solidFill>
                <a:latin typeface="Times New Roman"/>
                <a:ea typeface="Times New Roman"/>
                <a:cs typeface="Times New Roman"/>
                <a:sym typeface="Times New Roman"/>
              </a:rPr>
              <a:t> </a:t>
            </a:r>
            <a:r>
              <a:rPr lang="en-US" sz="2000" b="1" kern="0" dirty="0" err="1">
                <a:solidFill>
                  <a:srgbClr val="FF0000"/>
                </a:solidFill>
                <a:latin typeface="Times New Roman"/>
                <a:ea typeface="Times New Roman"/>
                <a:cs typeface="Times New Roman"/>
                <a:sym typeface="Times New Roman"/>
              </a:rPr>
              <a:t>lưu</a:t>
            </a:r>
            <a:r>
              <a:rPr lang="en-US" sz="2000" b="1" kern="0" dirty="0">
                <a:solidFill>
                  <a:srgbClr val="FF0000"/>
                </a:solidFill>
                <a:latin typeface="Times New Roman"/>
                <a:ea typeface="Times New Roman"/>
                <a:cs typeface="Times New Roman"/>
                <a:sym typeface="Times New Roman"/>
              </a:rPr>
              <a:t> ý:</a:t>
            </a:r>
            <a:r>
              <a:rPr lang="en-US" sz="1600" kern="0" dirty="0">
                <a:solidFill>
                  <a:srgbClr val="000000"/>
                </a:solidFill>
                <a:latin typeface="Times New Roman"/>
                <a:ea typeface="Times New Roman"/>
                <a:cs typeface="Times New Roman"/>
                <a:sym typeface="Times New Roman"/>
              </a:rPr>
              <a:t>.</a:t>
            </a:r>
            <a:endParaRPr sz="1600" kern="0" dirty="0">
              <a:solidFill>
                <a:srgbClr val="000000"/>
              </a:solidFill>
              <a:latin typeface="Times New Roman"/>
              <a:ea typeface="Times New Roman"/>
              <a:cs typeface="Times New Roman"/>
              <a:sym typeface="Times New Roman"/>
            </a:endParaRPr>
          </a:p>
          <a:p>
            <a:pPr marL="457200" algn="just">
              <a:buClr>
                <a:srgbClr val="000000"/>
              </a:buClr>
              <a:buFont typeface="Arial"/>
              <a:buNone/>
            </a:pPr>
            <a:r>
              <a:rPr lang="en-US" sz="1600" kern="0" dirty="0">
                <a:solidFill>
                  <a:srgbClr val="000000"/>
                </a:solidFill>
                <a:latin typeface="Times New Roman"/>
                <a:ea typeface="Times New Roman"/>
                <a:cs typeface="Times New Roman"/>
                <a:sym typeface="Times New Roman"/>
              </a:rPr>
              <a:t>• A861 - Brake#6 worn to limit: </a:t>
            </a:r>
            <a:r>
              <a:rPr lang="en-US" sz="1600" kern="0" dirty="0" smtClean="0">
                <a:solidFill>
                  <a:srgbClr val="000000"/>
                </a:solidFill>
                <a:latin typeface="Times New Roman"/>
                <a:ea typeface="Times New Roman"/>
                <a:cs typeface="Times New Roman"/>
                <a:sym typeface="Times New Roman"/>
              </a:rPr>
              <a:t>Brake in </a:t>
            </a:r>
            <a:r>
              <a:rPr lang="en-US" sz="1600" kern="0" dirty="0">
                <a:solidFill>
                  <a:srgbClr val="000000"/>
                </a:solidFill>
                <a:latin typeface="Times New Roman"/>
                <a:ea typeface="Times New Roman"/>
                <a:cs typeface="Times New Roman"/>
                <a:sym typeface="Times New Roman"/>
              </a:rPr>
              <a:t>stock.</a:t>
            </a:r>
            <a:endParaRPr sz="1600" kern="0" dirty="0">
              <a:solidFill>
                <a:srgbClr val="000000"/>
              </a:solidFill>
              <a:latin typeface="Times New Roman"/>
              <a:ea typeface="Times New Roman"/>
              <a:cs typeface="Times New Roman"/>
              <a:sym typeface="Times New Roman"/>
            </a:endParaRPr>
          </a:p>
          <a:p>
            <a:pPr marL="457200" algn="just">
              <a:buClr>
                <a:srgbClr val="000000"/>
              </a:buClr>
              <a:buFont typeface="Arial"/>
              <a:buNone/>
            </a:pPr>
            <a:r>
              <a:rPr lang="en-US" sz="1600" kern="0" dirty="0">
                <a:solidFill>
                  <a:srgbClr val="000000"/>
                </a:solidFill>
                <a:latin typeface="Times New Roman"/>
                <a:ea typeface="Times New Roman"/>
                <a:cs typeface="Times New Roman"/>
                <a:sym typeface="Times New Roman"/>
              </a:rPr>
              <a:t>• A872 - SIGN OF OIL LEAKAGE AT HORIZONTAL STABILIZER COMPARTMENT: </a:t>
            </a:r>
            <a:r>
              <a:rPr lang="en-US" sz="1600" kern="0" dirty="0" err="1">
                <a:solidFill>
                  <a:srgbClr val="000000"/>
                </a:solidFill>
                <a:latin typeface="Times New Roman"/>
                <a:ea typeface="Times New Roman"/>
                <a:cs typeface="Times New Roman"/>
                <a:sym typeface="Times New Roman"/>
              </a:rPr>
              <a:t>đặt</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hàng</a:t>
            </a:r>
            <a:r>
              <a:rPr lang="en-US" sz="1600" kern="0" dirty="0">
                <a:solidFill>
                  <a:srgbClr val="000000"/>
                </a:solidFill>
                <a:latin typeface="Times New Roman"/>
                <a:ea typeface="Times New Roman"/>
                <a:cs typeface="Times New Roman"/>
                <a:sym typeface="Times New Roman"/>
              </a:rPr>
              <a:t> THS, </a:t>
            </a:r>
            <a:r>
              <a:rPr lang="en-US" sz="1600" kern="0" dirty="0" err="1">
                <a:solidFill>
                  <a:srgbClr val="000000"/>
                </a:solidFill>
                <a:latin typeface="Times New Roman"/>
                <a:ea typeface="Times New Roman"/>
                <a:cs typeface="Times New Roman"/>
                <a:sym typeface="Times New Roman"/>
              </a:rPr>
              <a:t>chờ</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thông</a:t>
            </a:r>
            <a:r>
              <a:rPr lang="en-US" sz="1600" kern="0" dirty="0">
                <a:solidFill>
                  <a:srgbClr val="000000"/>
                </a:solidFill>
                <a:latin typeface="Times New Roman"/>
                <a:ea typeface="Times New Roman"/>
                <a:cs typeface="Times New Roman"/>
                <a:sym typeface="Times New Roman"/>
              </a:rPr>
              <a:t> tin </a:t>
            </a:r>
            <a:r>
              <a:rPr lang="en-US" sz="1600" kern="0" dirty="0" err="1">
                <a:solidFill>
                  <a:srgbClr val="000000"/>
                </a:solidFill>
                <a:latin typeface="Times New Roman"/>
                <a:ea typeface="Times New Roman"/>
                <a:cs typeface="Times New Roman"/>
                <a:sym typeface="Times New Roman"/>
              </a:rPr>
              <a:t>cập</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nhật</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từ</a:t>
            </a:r>
            <a:r>
              <a:rPr lang="en-US" sz="1600" kern="0" dirty="0">
                <a:solidFill>
                  <a:srgbClr val="000000"/>
                </a:solidFill>
                <a:latin typeface="Times New Roman"/>
                <a:ea typeface="Times New Roman"/>
                <a:cs typeface="Times New Roman"/>
                <a:sym typeface="Times New Roman"/>
              </a:rPr>
              <a:t> KLM. </a:t>
            </a:r>
            <a:endParaRPr sz="1600" kern="0" dirty="0">
              <a:solidFill>
                <a:srgbClr val="000000"/>
              </a:solidFill>
              <a:latin typeface="Times New Roman"/>
              <a:ea typeface="Times New Roman"/>
              <a:cs typeface="Times New Roman"/>
              <a:sym typeface="Times New Roman"/>
            </a:endParaRPr>
          </a:p>
          <a:p>
            <a:pPr algn="just">
              <a:buClr>
                <a:srgbClr val="000000"/>
              </a:buClr>
              <a:buSzPts val="1600"/>
              <a:buFont typeface="Arial"/>
              <a:buNone/>
            </a:pPr>
            <a:endParaRPr sz="1600" kern="0" dirty="0">
              <a:solidFill>
                <a:srgbClr val="000000"/>
              </a:solidFill>
              <a:latin typeface="Times New Roman"/>
              <a:ea typeface="Times New Roman"/>
              <a:cs typeface="Times New Roman"/>
              <a:sym typeface="Times New Roman"/>
            </a:endParaRPr>
          </a:p>
          <a:p>
            <a:pPr marL="457200" algn="just">
              <a:buClr>
                <a:srgbClr val="000000"/>
              </a:buClr>
              <a:buSzPts val="1100"/>
              <a:buFont typeface="Arial"/>
              <a:buNone/>
            </a:pPr>
            <a:endParaRPr sz="1600" kern="0" dirty="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endParaRPr sz="1600" kern="0" dirty="0">
              <a:solidFill>
                <a:srgbClr val="000000"/>
              </a:solidFill>
              <a:latin typeface="Times New Roman"/>
              <a:ea typeface="Times New Roman"/>
              <a:cs typeface="Times New Roman"/>
              <a:sym typeface="Times New Roman"/>
            </a:endParaRPr>
          </a:p>
          <a:p>
            <a:pPr algn="just">
              <a:buClr>
                <a:srgbClr val="000000"/>
              </a:buClr>
              <a:buSzPts val="1100"/>
              <a:buFont typeface="Arial"/>
              <a:buNone/>
            </a:pPr>
            <a:endParaRPr sz="1600" kern="0" dirty="0">
              <a:solidFill>
                <a:srgbClr val="FF0000"/>
              </a:solidFill>
              <a:latin typeface="Times New Roman"/>
              <a:ea typeface="Times New Roman"/>
              <a:cs typeface="Times New Roman"/>
              <a:sym typeface="Times New Roman"/>
            </a:endParaRPr>
          </a:p>
          <a:p>
            <a:pPr algn="just">
              <a:buClr>
                <a:srgbClr val="000000"/>
              </a:buClr>
              <a:buSzPts val="1100"/>
              <a:buFont typeface="Arial"/>
              <a:buNone/>
            </a:pPr>
            <a:endParaRPr sz="1600" kern="0" dirty="0">
              <a:solidFill>
                <a:srgbClr val="000000"/>
              </a:solidFill>
              <a:latin typeface="Times New Roman"/>
              <a:ea typeface="Times New Roman"/>
              <a:cs typeface="Times New Roman"/>
              <a:sym typeface="Times New Roman"/>
            </a:endParaRPr>
          </a:p>
          <a:p>
            <a:pPr algn="just">
              <a:buClr>
                <a:srgbClr val="000000"/>
              </a:buClr>
              <a:buSzPts val="1600"/>
              <a:buFont typeface="Arial"/>
              <a:buNone/>
            </a:pPr>
            <a:endParaRPr sz="1600" kern="0" dirty="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endParaRPr sz="1600" kern="0" dirty="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endParaRPr sz="1600" kern="0" dirty="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endParaRPr sz="1600" kern="0" dirty="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endParaRPr sz="1600" kern="0" dirty="0">
              <a:solidFill>
                <a:srgbClr val="000000"/>
              </a:solidFill>
              <a:latin typeface="Times New Roman"/>
              <a:ea typeface="Times New Roman"/>
              <a:cs typeface="Times New Roman"/>
              <a:sym typeface="Times New Roman"/>
            </a:endParaRPr>
          </a:p>
          <a:p>
            <a:pPr algn="just">
              <a:buClr>
                <a:srgbClr val="000000"/>
              </a:buClr>
              <a:buSzPts val="1600"/>
              <a:buFont typeface="Arial"/>
              <a:buNone/>
            </a:pPr>
            <a:endParaRPr sz="1600" kern="0" dirty="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endParaRPr sz="1600" kern="0" dirty="0">
              <a:solidFill>
                <a:srgbClr val="000000"/>
              </a:solidFill>
              <a:latin typeface="Times New Roman"/>
              <a:ea typeface="Times New Roman"/>
              <a:cs typeface="Times New Roman"/>
              <a:sym typeface="Times New Roman"/>
            </a:endParaRPr>
          </a:p>
          <a:p>
            <a:pPr algn="just">
              <a:buClr>
                <a:srgbClr val="000000"/>
              </a:buClr>
              <a:buSzPts val="1600"/>
              <a:buFont typeface="Arial"/>
              <a:buNone/>
            </a:pPr>
            <a:endParaRPr sz="1600" b="1" kern="0" dirty="0">
              <a:solidFill>
                <a:srgbClr val="FF0000"/>
              </a:solidFill>
              <a:latin typeface="Times New Roman"/>
              <a:ea typeface="Times New Roman"/>
              <a:cs typeface="Times New Roman"/>
              <a:sym typeface="Times New Roman"/>
            </a:endParaRPr>
          </a:p>
        </p:txBody>
      </p:sp>
      <p:pic>
        <p:nvPicPr>
          <p:cNvPr id="210" name="Google Shape;210;g31ccdae391d_0_315"/>
          <p:cNvPicPr preferRelativeResize="0"/>
          <p:nvPr/>
        </p:nvPicPr>
        <p:blipFill>
          <a:blip r:embed="rId3">
            <a:alphaModFix/>
          </a:blip>
          <a:stretch>
            <a:fillRect/>
          </a:stretch>
        </p:blipFill>
        <p:spPr>
          <a:xfrm>
            <a:off x="795338" y="3081338"/>
            <a:ext cx="10601325" cy="2371725"/>
          </a:xfrm>
          <a:prstGeom prst="rect">
            <a:avLst/>
          </a:prstGeom>
          <a:noFill/>
          <a:ln>
            <a:noFill/>
          </a:ln>
        </p:spPr>
      </p:pic>
    </p:spTree>
    <p:extLst>
      <p:ext uri="{BB962C8B-B14F-4D97-AF65-F5344CB8AC3E}">
        <p14:creationId xmlns:p14="http://schemas.microsoft.com/office/powerpoint/2010/main" val="60289987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g31ccdae391d_0_323"/>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17" name="Google Shape;217;g31ccdae391d_0_32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51</a:t>
            </a:fld>
            <a:endParaRPr/>
          </a:p>
        </p:txBody>
      </p:sp>
      <p:sp>
        <p:nvSpPr>
          <p:cNvPr id="218" name="Google Shape;218;g31ccdae391d_0_323"/>
          <p:cNvSpPr/>
          <p:nvPr/>
        </p:nvSpPr>
        <p:spPr>
          <a:xfrm>
            <a:off x="770707" y="858119"/>
            <a:ext cx="11164800" cy="5718900"/>
          </a:xfrm>
          <a:prstGeom prst="rect">
            <a:avLst/>
          </a:prstGeom>
          <a:noFill/>
          <a:ln>
            <a:noFill/>
          </a:ln>
        </p:spPr>
        <p:txBody>
          <a:bodyPr spcFirstLastPara="1" wrap="square" lIns="91425" tIns="45700" rIns="91425" bIns="45700" anchor="t" anchorCtr="0">
            <a:noAutofit/>
          </a:bodyPr>
          <a:lstStyle/>
          <a:p>
            <a:pPr algn="just">
              <a:buClr>
                <a:srgbClr val="000000"/>
              </a:buClr>
              <a:buSzPts val="2000"/>
              <a:buFont typeface="Arial"/>
              <a:buNone/>
            </a:pPr>
            <a:r>
              <a:rPr lang="en-US" sz="2000" b="1" kern="0">
                <a:solidFill>
                  <a:srgbClr val="FF0000"/>
                </a:solidFill>
                <a:latin typeface="Times New Roman"/>
                <a:ea typeface="Times New Roman"/>
                <a:cs typeface="Times New Roman"/>
                <a:sym typeface="Times New Roman"/>
              </a:rPr>
              <a:t>Tình trạng đơn hàng Pooling: 35 đơn hàng quá hạn trong tổng số 50 đơn hàng đang open</a:t>
            </a:r>
            <a:endParaRPr sz="2000" b="1" kern="0">
              <a:solidFill>
                <a:srgbClr val="FF0000"/>
              </a:solidFill>
              <a:ea typeface="Arial"/>
              <a:cs typeface="Arial"/>
              <a:sym typeface="Arial"/>
            </a:endParaRPr>
          </a:p>
          <a:p>
            <a:pPr marL="457200" indent="-323850" algn="just">
              <a:buClr>
                <a:srgbClr val="000000"/>
              </a:buClr>
              <a:buSzPts val="1500"/>
              <a:buFont typeface="Times New Roman"/>
              <a:buChar char="●"/>
            </a:pPr>
            <a:r>
              <a:rPr lang="en-US" sz="1500" b="1" kern="0">
                <a:solidFill>
                  <a:srgbClr val="000000"/>
                </a:solidFill>
                <a:latin typeface="Times New Roman"/>
                <a:ea typeface="Times New Roman"/>
                <a:cs typeface="Times New Roman"/>
                <a:sym typeface="Times New Roman"/>
              </a:rPr>
              <a:t>Đơn hàng lấp đầy kho OSS: </a:t>
            </a:r>
            <a:r>
              <a:rPr lang="en-US" sz="1500" kern="0">
                <a:solidFill>
                  <a:srgbClr val="000000"/>
                </a:solidFill>
                <a:latin typeface="Times New Roman"/>
                <a:ea typeface="Times New Roman"/>
                <a:cs typeface="Times New Roman"/>
                <a:sym typeface="Times New Roman"/>
              </a:rPr>
              <a:t>09 overdue LO / total 12 LO</a:t>
            </a:r>
            <a:endParaRPr sz="1500" kern="0">
              <a:solidFill>
                <a:srgbClr val="000000"/>
              </a:solidFill>
              <a:latin typeface="Times New Roman"/>
              <a:ea typeface="Times New Roman"/>
              <a:cs typeface="Times New Roman"/>
              <a:sym typeface="Times New Roman"/>
            </a:endParaRPr>
          </a:p>
          <a:p>
            <a:pPr marL="457200" indent="-323850" algn="just">
              <a:buClr>
                <a:srgbClr val="000000"/>
              </a:buClr>
              <a:buSzPts val="1500"/>
              <a:buFont typeface="Times New Roman"/>
              <a:buChar char="●"/>
            </a:pPr>
            <a:r>
              <a:rPr lang="en-US" sz="1500" b="1" kern="0">
                <a:solidFill>
                  <a:srgbClr val="000000"/>
                </a:solidFill>
                <a:latin typeface="Times New Roman"/>
                <a:ea typeface="Times New Roman"/>
                <a:cs typeface="Times New Roman"/>
                <a:sym typeface="Times New Roman"/>
              </a:rPr>
              <a:t>Đơn hàng khác (Defect, Hardtime): </a:t>
            </a:r>
            <a:r>
              <a:rPr lang="en-US" sz="1500" kern="0">
                <a:solidFill>
                  <a:srgbClr val="000000"/>
                </a:solidFill>
                <a:latin typeface="Times New Roman"/>
                <a:ea typeface="Times New Roman"/>
                <a:cs typeface="Times New Roman"/>
                <a:sym typeface="Times New Roman"/>
              </a:rPr>
              <a:t>26 overdue EO / total  38 EO </a:t>
            </a:r>
            <a:endParaRPr sz="1500" kern="0">
              <a:solidFill>
                <a:srgbClr val="1F497D"/>
              </a:solidFill>
              <a:latin typeface="Times New Roman"/>
              <a:ea typeface="Times New Roman"/>
              <a:cs typeface="Times New Roman"/>
              <a:sym typeface="Times New Roman"/>
            </a:endParaRPr>
          </a:p>
          <a:p>
            <a:pPr marL="457200" indent="-323850" algn="just">
              <a:lnSpc>
                <a:spcPct val="110000"/>
              </a:lnSpc>
              <a:spcBef>
                <a:spcPts val="600"/>
              </a:spcBef>
              <a:buClr>
                <a:srgbClr val="000000"/>
              </a:buClr>
              <a:buSzPts val="1500"/>
              <a:buFont typeface="Times New Roman"/>
              <a:buChar char="●"/>
            </a:pPr>
            <a:r>
              <a:rPr lang="en-US" sz="1500" b="1" kern="0">
                <a:solidFill>
                  <a:srgbClr val="000000"/>
                </a:solidFill>
                <a:latin typeface="Times New Roman"/>
                <a:ea typeface="Times New Roman"/>
                <a:cs typeface="Times New Roman"/>
                <a:sym typeface="Times New Roman"/>
              </a:rPr>
              <a:t>Tình trạng đơn hàng pool trong 4 tuần gần nhất:</a:t>
            </a:r>
            <a:endParaRPr sz="1500" b="1" kern="0">
              <a:solidFill>
                <a:srgbClr val="000000"/>
              </a:solidFill>
              <a:latin typeface="Times New Roman"/>
              <a:ea typeface="Times New Roman"/>
              <a:cs typeface="Times New Roman"/>
              <a:sym typeface="Times New Roman"/>
            </a:endParaRPr>
          </a:p>
          <a:p>
            <a:pPr algn="just">
              <a:lnSpc>
                <a:spcPct val="110000"/>
              </a:lnSpc>
              <a:buClr>
                <a:srgbClr val="000000"/>
              </a:buClr>
              <a:buSzPts val="1500"/>
              <a:buFont typeface="Arial"/>
              <a:buNone/>
            </a:pPr>
            <a:endParaRPr sz="1500" kern="0">
              <a:solidFill>
                <a:srgbClr val="000000"/>
              </a:solidFill>
              <a:latin typeface="Times New Roman"/>
              <a:ea typeface="Times New Roman"/>
              <a:cs typeface="Times New Roman"/>
              <a:sym typeface="Times New Roman"/>
            </a:endParaRPr>
          </a:p>
        </p:txBody>
      </p:sp>
      <p:sp>
        <p:nvSpPr>
          <p:cNvPr id="219" name="Google Shape;219;g31ccdae391d_0_323"/>
          <p:cNvSpPr txBox="1"/>
          <p:nvPr/>
        </p:nvSpPr>
        <p:spPr>
          <a:xfrm>
            <a:off x="1840625" y="5495675"/>
            <a:ext cx="1183500" cy="527700"/>
          </a:xfrm>
          <a:prstGeom prst="rect">
            <a:avLst/>
          </a:prstGeom>
          <a:noFill/>
          <a:ln>
            <a:noFill/>
          </a:ln>
        </p:spPr>
        <p:txBody>
          <a:bodyPr spcFirstLastPara="1" wrap="square" lIns="91425" tIns="91425" rIns="91425" bIns="91425" anchor="t" anchorCtr="0">
            <a:noAutofit/>
          </a:bodyPr>
          <a:lstStyle/>
          <a:p>
            <a:pPr>
              <a:buClr>
                <a:srgbClr val="000000"/>
              </a:buClr>
              <a:buSzPts val="2800"/>
              <a:buFont typeface="Arial"/>
              <a:buNone/>
            </a:pPr>
            <a:endParaRPr sz="2800" kern="0">
              <a:solidFill>
                <a:srgbClr val="000000"/>
              </a:solidFill>
              <a:latin typeface="Calibri"/>
              <a:ea typeface="Calibri"/>
              <a:cs typeface="Calibri"/>
              <a:sym typeface="Calibri"/>
            </a:endParaRPr>
          </a:p>
        </p:txBody>
      </p:sp>
      <p:pic>
        <p:nvPicPr>
          <p:cNvPr id="220" name="Google Shape;220;g31ccdae391d_0_323"/>
          <p:cNvPicPr preferRelativeResize="0"/>
          <p:nvPr/>
        </p:nvPicPr>
        <p:blipFill>
          <a:blip r:embed="rId3">
            <a:alphaModFix/>
          </a:blip>
          <a:stretch>
            <a:fillRect/>
          </a:stretch>
        </p:blipFill>
        <p:spPr>
          <a:xfrm>
            <a:off x="2357448" y="2086529"/>
            <a:ext cx="6329350" cy="4338094"/>
          </a:xfrm>
          <a:prstGeom prst="rect">
            <a:avLst/>
          </a:prstGeom>
          <a:noFill/>
          <a:ln>
            <a:noFill/>
          </a:ln>
        </p:spPr>
      </p:pic>
    </p:spTree>
    <p:extLst>
      <p:ext uri="{BB962C8B-B14F-4D97-AF65-F5344CB8AC3E}">
        <p14:creationId xmlns:p14="http://schemas.microsoft.com/office/powerpoint/2010/main" val="363888841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g31ccdae391d_0_332"/>
          <p:cNvSpPr txBox="1">
            <a:spLocks noGrp="1"/>
          </p:cNvSpPr>
          <p:nvPr>
            <p:ph type="title"/>
          </p:nvPr>
        </p:nvSpPr>
        <p:spPr>
          <a:xfrm>
            <a:off x="941350" y="-63125"/>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27" name="Google Shape;227;g31ccdae391d_0_332"/>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52</a:t>
            </a:fld>
            <a:endParaRPr/>
          </a:p>
        </p:txBody>
      </p:sp>
      <p:graphicFrame>
        <p:nvGraphicFramePr>
          <p:cNvPr id="228" name="Google Shape;228;g31ccdae391d_0_332"/>
          <p:cNvGraphicFramePr/>
          <p:nvPr/>
        </p:nvGraphicFramePr>
        <p:xfrm>
          <a:off x="474783" y="301869"/>
          <a:ext cx="11561850" cy="5404125"/>
        </p:xfrm>
        <a:graphic>
          <a:graphicData uri="http://schemas.openxmlformats.org/drawingml/2006/table">
            <a:tbl>
              <a:tblPr>
                <a:noFill/>
              </a:tblPr>
              <a:tblGrid>
                <a:gridCol w="778900">
                  <a:extLst>
                    <a:ext uri="{9D8B030D-6E8A-4147-A177-3AD203B41FA5}">
                      <a16:colId xmlns:a16="http://schemas.microsoft.com/office/drawing/2014/main" val="20000"/>
                    </a:ext>
                  </a:extLst>
                </a:gridCol>
                <a:gridCol w="1783525">
                  <a:extLst>
                    <a:ext uri="{9D8B030D-6E8A-4147-A177-3AD203B41FA5}">
                      <a16:colId xmlns:a16="http://schemas.microsoft.com/office/drawing/2014/main" val="20001"/>
                    </a:ext>
                  </a:extLst>
                </a:gridCol>
                <a:gridCol w="1599825">
                  <a:extLst>
                    <a:ext uri="{9D8B030D-6E8A-4147-A177-3AD203B41FA5}">
                      <a16:colId xmlns:a16="http://schemas.microsoft.com/office/drawing/2014/main" val="20002"/>
                    </a:ext>
                  </a:extLst>
                </a:gridCol>
                <a:gridCol w="3699800">
                  <a:extLst>
                    <a:ext uri="{9D8B030D-6E8A-4147-A177-3AD203B41FA5}">
                      <a16:colId xmlns:a16="http://schemas.microsoft.com/office/drawing/2014/main" val="20003"/>
                    </a:ext>
                  </a:extLst>
                </a:gridCol>
                <a:gridCol w="3699800">
                  <a:extLst>
                    <a:ext uri="{9D8B030D-6E8A-4147-A177-3AD203B41FA5}">
                      <a16:colId xmlns:a16="http://schemas.microsoft.com/office/drawing/2014/main" val="20004"/>
                    </a:ext>
                  </a:extLst>
                </a:gridCol>
              </a:tblGrid>
              <a:tr h="338375">
                <a:tc gridSpan="5">
                  <a:txBody>
                    <a:bodyPr/>
                    <a:lstStyle/>
                    <a:p>
                      <a:pPr marL="0" marR="0" lvl="0" indent="0" algn="ctr" rtl="0">
                        <a:lnSpc>
                          <a:spcPct val="100000"/>
                        </a:lnSpc>
                        <a:spcBef>
                          <a:spcPts val="0"/>
                        </a:spcBef>
                        <a:spcAft>
                          <a:spcPts val="0"/>
                        </a:spcAft>
                        <a:buClr>
                          <a:srgbClr val="000000"/>
                        </a:buClr>
                        <a:buSzPts val="1600"/>
                        <a:buFont typeface="Arial"/>
                        <a:buNone/>
                      </a:pPr>
                      <a:endParaRPr sz="1600" b="1" i="0" u="none" strike="noStrike" cap="none" dirty="0">
                        <a:solidFill>
                          <a:srgbClr val="FF0000"/>
                        </a:solidFill>
                        <a:latin typeface="Times New Roman"/>
                        <a:ea typeface="Times New Roman"/>
                        <a:cs typeface="Times New Roman"/>
                        <a:sym typeface="Times New Roman"/>
                      </a:endParaRPr>
                    </a:p>
                  </a:txBody>
                  <a:tcPr marL="9525" marR="9525" marT="95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38375">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STT</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Tên thiết bị</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P/N</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Hỏng hóc</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138500">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1</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Spoiler Servo control</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FCRM</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CA67003-018/020/025</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CA71323-016 / -015</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Hỏng hóc nhiều trên fleet A350. </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Spoiler Servo:</a:t>
                      </a:r>
                      <a:r>
                        <a:rPr lang="en-US" sz="1300">
                          <a:latin typeface="Times New Roman"/>
                          <a:ea typeface="Times New Roman"/>
                          <a:cs typeface="Times New Roman"/>
                          <a:sym typeface="Times New Roman"/>
                        </a:rPr>
                        <a:t> 01ea in stock</a:t>
                      </a: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FCRM: </a:t>
                      </a:r>
                      <a:r>
                        <a:rPr lang="en-US" sz="1300" u="none" strike="noStrike" cap="none">
                          <a:solidFill>
                            <a:schemeClr val="dk1"/>
                          </a:solidFill>
                          <a:latin typeface="Times New Roman"/>
                          <a:ea typeface="Times New Roman"/>
                          <a:cs typeface="Times New Roman"/>
                          <a:sym typeface="Times New Roman"/>
                        </a:rPr>
                        <a:t>0</a:t>
                      </a:r>
                      <a:r>
                        <a:rPr lang="en-US" sz="1300">
                          <a:solidFill>
                            <a:schemeClr val="dk1"/>
                          </a:solidFill>
                          <a:latin typeface="Times New Roman"/>
                          <a:ea typeface="Times New Roman"/>
                          <a:cs typeface="Times New Roman"/>
                          <a:sym typeface="Times New Roman"/>
                        </a:rPr>
                        <a:t>2e</a:t>
                      </a:r>
                      <a:r>
                        <a:rPr lang="en-US" sz="1300" u="none" strike="noStrike" cap="none">
                          <a:solidFill>
                            <a:schemeClr val="dk1"/>
                          </a:solidFill>
                          <a:latin typeface="Times New Roman"/>
                          <a:ea typeface="Times New Roman"/>
                          <a:cs typeface="Times New Roman"/>
                          <a:sym typeface="Times New Roman"/>
                        </a:rPr>
                        <a:t>a in stock</a:t>
                      </a:r>
                      <a:r>
                        <a:rPr lang="en-US" sz="1300">
                          <a:solidFill>
                            <a:schemeClr val="dk1"/>
                          </a:solidFill>
                          <a:latin typeface="Times New Roman"/>
                          <a:ea typeface="Times New Roman"/>
                          <a:cs typeface="Times New Roman"/>
                          <a:sym typeface="Times New Roman"/>
                        </a:rPr>
                        <a:t>.</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extLst>
                  <a:ext uri="{0D108BD9-81ED-4DB2-BD59-A6C34878D82A}">
                    <a16:rowId xmlns:a16="http://schemas.microsoft.com/office/drawing/2014/main" val="10002"/>
                  </a:ext>
                </a:extLst>
              </a:tr>
              <a:tr h="13118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2</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Chiller</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688-6/688-6-00-100</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Hiện cần 1</a:t>
                      </a:r>
                      <a:r>
                        <a:rPr lang="en-US" sz="1300">
                          <a:latin typeface="Times New Roman"/>
                          <a:ea typeface="Times New Roman"/>
                          <a:cs typeface="Times New Roman"/>
                          <a:sym typeface="Times New Roman"/>
                        </a:rPr>
                        <a:t>6</a:t>
                      </a:r>
                      <a:r>
                        <a:rPr lang="en-US" sz="1300" u="none" strike="noStrike" cap="none">
                          <a:latin typeface="Times New Roman"/>
                          <a:ea typeface="Times New Roman"/>
                          <a:cs typeface="Times New Roman"/>
                          <a:sym typeface="Times New Roman"/>
                        </a:rPr>
                        <a:t>ea (</a:t>
                      </a:r>
                      <a:r>
                        <a:rPr lang="en-US" sz="1300">
                          <a:latin typeface="Times New Roman"/>
                          <a:ea typeface="Times New Roman"/>
                          <a:cs typeface="Times New Roman"/>
                          <a:sym typeface="Times New Roman"/>
                        </a:rPr>
                        <a:t>08</a:t>
                      </a:r>
                      <a:r>
                        <a:rPr lang="en-US" sz="1300" u="none" strike="noStrike" cap="none">
                          <a:latin typeface="Times New Roman"/>
                          <a:ea typeface="Times New Roman"/>
                          <a:cs typeface="Times New Roman"/>
                          <a:sym typeface="Times New Roman"/>
                        </a:rPr>
                        <a:t> hỏng hóc + 08 cho tàu bảo quản).</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 </a:t>
                      </a:r>
                      <a:r>
                        <a:rPr lang="en-US" sz="1300">
                          <a:solidFill>
                            <a:schemeClr val="dk1"/>
                          </a:solidFill>
                          <a:latin typeface="Times New Roman"/>
                          <a:ea typeface="Times New Roman"/>
                          <a:cs typeface="Times New Roman"/>
                          <a:sym typeface="Times New Roman"/>
                        </a:rPr>
                        <a:t>02ea in</a:t>
                      </a:r>
                      <a:r>
                        <a:rPr lang="en-US" sz="1300" u="none" strike="noStrike" cap="none">
                          <a:solidFill>
                            <a:schemeClr val="dk1"/>
                          </a:solidFill>
                          <a:latin typeface="Times New Roman"/>
                          <a:ea typeface="Times New Roman"/>
                          <a:cs typeface="Times New Roman"/>
                          <a:sym typeface="Times New Roman"/>
                        </a:rPr>
                        <a:t> stock</a:t>
                      </a:r>
                      <a:endParaRPr sz="130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a:t>
                      </a:r>
                      <a:r>
                        <a:rPr lang="en-US" sz="1300" u="none" strike="noStrike" cap="none">
                          <a:solidFill>
                            <a:schemeClr val="dk1"/>
                          </a:solidFill>
                          <a:latin typeface="Times New Roman"/>
                          <a:ea typeface="Times New Roman"/>
                          <a:cs typeface="Times New Roman"/>
                          <a:sym typeface="Times New Roman"/>
                        </a:rPr>
                        <a:t>1</a:t>
                      </a:r>
                      <a:r>
                        <a:rPr lang="en-US" sz="1300">
                          <a:solidFill>
                            <a:schemeClr val="dk1"/>
                          </a:solidFill>
                          <a:latin typeface="Times New Roman"/>
                          <a:ea typeface="Times New Roman"/>
                          <a:cs typeface="Times New Roman"/>
                          <a:sym typeface="Times New Roman"/>
                        </a:rPr>
                        <a:t>3</a:t>
                      </a:r>
                      <a:r>
                        <a:rPr lang="en-US" sz="1300" u="none" strike="noStrike" cap="none">
                          <a:solidFill>
                            <a:schemeClr val="dk1"/>
                          </a:solidFill>
                          <a:latin typeface="Times New Roman"/>
                          <a:ea typeface="Times New Roman"/>
                          <a:cs typeface="Times New Roman"/>
                          <a:sym typeface="Times New Roman"/>
                        </a:rPr>
                        <a:t>RO, trong đó: </a:t>
                      </a:r>
                      <a:endParaRPr sz="130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a:solidFill>
                            <a:schemeClr val="dk1"/>
                          </a:solidFill>
                          <a:latin typeface="Times New Roman"/>
                          <a:ea typeface="Times New Roman"/>
                          <a:cs typeface="Times New Roman"/>
                          <a:sym typeface="Times New Roman"/>
                        </a:rPr>
                        <a:t>+ </a:t>
                      </a:r>
                      <a:r>
                        <a:rPr lang="en-US" sz="1300">
                          <a:solidFill>
                            <a:schemeClr val="dk1"/>
                          </a:solidFill>
                          <a:latin typeface="Times New Roman"/>
                          <a:ea typeface="Times New Roman"/>
                          <a:cs typeface="Times New Roman"/>
                          <a:sym typeface="Times New Roman"/>
                        </a:rPr>
                        <a:t>03ea EDD 10/04.</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solidFill>
                            <a:schemeClr val="dk1"/>
                          </a:solidFill>
                          <a:latin typeface="Times New Roman"/>
                          <a:ea typeface="Times New Roman"/>
                          <a:cs typeface="Times New Roman"/>
                          <a:sym typeface="Times New Roman"/>
                        </a:rPr>
                        <a:t>+ 06ea EDD 10/04</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solidFill>
                            <a:schemeClr val="dk1"/>
                          </a:solidFill>
                          <a:latin typeface="Times New Roman"/>
                          <a:ea typeface="Times New Roman"/>
                          <a:cs typeface="Times New Roman"/>
                          <a:sym typeface="Times New Roman"/>
                        </a:rPr>
                        <a:t>+ 03ea EDD NIL.</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solidFill>
                            <a:schemeClr val="dk1"/>
                          </a:solidFill>
                          <a:latin typeface="Times New Roman"/>
                          <a:ea typeface="Times New Roman"/>
                          <a:cs typeface="Times New Roman"/>
                          <a:sym typeface="Times New Roman"/>
                        </a:rPr>
                        <a:t>+ 01ea vào shop tuần 13.</a:t>
                      </a:r>
                      <a:endParaRPr sz="130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3"/>
                  </a:ext>
                </a:extLst>
              </a:tr>
              <a:tr h="1138500">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EDP</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53098-06</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Hỏng hóc phát sinh sẽ phải cắt tải, tiềm ẩn AOG.</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Vẫn hỏng hóc nhiều trên fleet A350. </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 </a:t>
                      </a:r>
                      <a:r>
                        <a:rPr lang="en-US" sz="1300">
                          <a:solidFill>
                            <a:schemeClr val="dk1"/>
                          </a:solidFill>
                          <a:latin typeface="Times New Roman"/>
                          <a:ea typeface="Times New Roman"/>
                          <a:cs typeface="Times New Roman"/>
                          <a:sym typeface="Times New Roman"/>
                        </a:rPr>
                        <a:t>10</a:t>
                      </a:r>
                      <a:r>
                        <a:rPr lang="en-US" sz="1300" u="none" strike="noStrike" cap="none">
                          <a:solidFill>
                            <a:schemeClr val="dk1"/>
                          </a:solidFill>
                          <a:latin typeface="Times New Roman"/>
                          <a:ea typeface="Times New Roman"/>
                          <a:cs typeface="Times New Roman"/>
                          <a:sym typeface="Times New Roman"/>
                        </a:rPr>
                        <a:t>ea in stock (10ea của tàu BQ).</a:t>
                      </a:r>
                      <a:endParaRPr sz="1300" u="none" strike="noStrike" cap="none">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4"/>
                  </a:ext>
                </a:extLst>
              </a:tr>
              <a:tr h="1138500">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VCRU, Motor Controller</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Calibri"/>
                        <a:buNone/>
                      </a:pP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Hỏng hóc ảnh hưởng đến hệ thống chiller của tàu bay.</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TAT sửa chữa tại shop Honeywell rất dài (vẫn chưa được cải thiện) dẫn đến việc cung ứng hàng của Airbus rất chậm.</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err="1">
                          <a:solidFill>
                            <a:schemeClr val="dk1"/>
                          </a:solidFill>
                          <a:latin typeface="Times New Roman"/>
                          <a:ea typeface="Times New Roman"/>
                          <a:cs typeface="Times New Roman"/>
                          <a:sym typeface="Times New Roman"/>
                        </a:rPr>
                        <a:t>Nhiều</a:t>
                      </a:r>
                      <a:r>
                        <a:rPr lang="en-US" sz="1300" u="none" strike="noStrike" cap="none" dirty="0">
                          <a:solidFill>
                            <a:schemeClr val="dk1"/>
                          </a:solidFill>
                          <a:latin typeface="Times New Roman"/>
                          <a:ea typeface="Times New Roman"/>
                          <a:cs typeface="Times New Roman"/>
                          <a:sym typeface="Times New Roman"/>
                        </a:rPr>
                        <a:t> </a:t>
                      </a:r>
                      <a:r>
                        <a:rPr lang="en-US" sz="1300" u="none" strike="noStrike" cap="none" dirty="0" err="1">
                          <a:solidFill>
                            <a:schemeClr val="dk1"/>
                          </a:solidFill>
                          <a:latin typeface="Times New Roman"/>
                          <a:ea typeface="Times New Roman"/>
                          <a:cs typeface="Times New Roman"/>
                          <a:sym typeface="Times New Roman"/>
                        </a:rPr>
                        <a:t>tàu</a:t>
                      </a:r>
                      <a:r>
                        <a:rPr lang="en-US" sz="1300" u="none" strike="noStrike" cap="none" dirty="0">
                          <a:solidFill>
                            <a:schemeClr val="dk1"/>
                          </a:solidFill>
                          <a:latin typeface="Times New Roman"/>
                          <a:ea typeface="Times New Roman"/>
                          <a:cs typeface="Times New Roman"/>
                          <a:sym typeface="Times New Roman"/>
                        </a:rPr>
                        <a:t> A350 </a:t>
                      </a:r>
                      <a:r>
                        <a:rPr lang="en-US" sz="1300" u="none" strike="noStrike" cap="none" dirty="0" err="1">
                          <a:solidFill>
                            <a:schemeClr val="dk1"/>
                          </a:solidFill>
                          <a:latin typeface="Times New Roman"/>
                          <a:ea typeface="Times New Roman"/>
                          <a:cs typeface="Times New Roman"/>
                          <a:sym typeface="Times New Roman"/>
                        </a:rPr>
                        <a:t>có</a:t>
                      </a:r>
                      <a:r>
                        <a:rPr lang="en-US" sz="1300" u="none" strike="noStrike" cap="none" dirty="0">
                          <a:solidFill>
                            <a:schemeClr val="dk1"/>
                          </a:solidFill>
                          <a:latin typeface="Times New Roman"/>
                          <a:ea typeface="Times New Roman"/>
                          <a:cs typeface="Times New Roman"/>
                          <a:sym typeface="Times New Roman"/>
                        </a:rPr>
                        <a:t> </a:t>
                      </a:r>
                      <a:r>
                        <a:rPr lang="en-US" sz="1300" u="none" strike="noStrike" cap="none" dirty="0" err="1">
                          <a:solidFill>
                            <a:schemeClr val="dk1"/>
                          </a:solidFill>
                          <a:latin typeface="Times New Roman"/>
                          <a:ea typeface="Times New Roman"/>
                          <a:cs typeface="Times New Roman"/>
                          <a:sym typeface="Times New Roman"/>
                        </a:rPr>
                        <a:t>mssg</a:t>
                      </a:r>
                      <a:r>
                        <a:rPr lang="en-US" sz="1300" u="none" strike="noStrike" cap="none" dirty="0">
                          <a:solidFill>
                            <a:schemeClr val="dk1"/>
                          </a:solidFill>
                          <a:latin typeface="Times New Roman"/>
                          <a:ea typeface="Times New Roman"/>
                          <a:cs typeface="Times New Roman"/>
                          <a:sym typeface="Times New Roman"/>
                        </a:rPr>
                        <a:t> VCRU </a:t>
                      </a:r>
                      <a:r>
                        <a:rPr lang="en-US" sz="1300" u="none" strike="noStrike" cap="none" dirty="0" err="1">
                          <a:solidFill>
                            <a:schemeClr val="dk1"/>
                          </a:solidFill>
                          <a:latin typeface="Times New Roman"/>
                          <a:ea typeface="Times New Roman"/>
                          <a:cs typeface="Times New Roman"/>
                          <a:sym typeface="Times New Roman"/>
                        </a:rPr>
                        <a:t>và</a:t>
                      </a:r>
                      <a:r>
                        <a:rPr lang="en-US" sz="1300" u="none" strike="noStrike" cap="none" dirty="0">
                          <a:solidFill>
                            <a:schemeClr val="dk1"/>
                          </a:solidFill>
                          <a:latin typeface="Times New Roman"/>
                          <a:ea typeface="Times New Roman"/>
                          <a:cs typeface="Times New Roman"/>
                          <a:sym typeface="Times New Roman"/>
                        </a:rPr>
                        <a:t> controller.</a:t>
                      </a:r>
                      <a:endParaRPr sz="1300"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dirty="0">
                          <a:solidFill>
                            <a:schemeClr val="dk1"/>
                          </a:solidFill>
                          <a:latin typeface="Times New Roman"/>
                          <a:ea typeface="Times New Roman"/>
                          <a:cs typeface="Times New Roman"/>
                          <a:sym typeface="Times New Roman"/>
                        </a:rPr>
                        <a:t>01ea Controller in stock (01ea </a:t>
                      </a:r>
                      <a:r>
                        <a:rPr lang="en-US" sz="1300" dirty="0" err="1">
                          <a:solidFill>
                            <a:schemeClr val="dk1"/>
                          </a:solidFill>
                          <a:latin typeface="Times New Roman"/>
                          <a:ea typeface="Times New Roman"/>
                          <a:cs typeface="Times New Roman"/>
                          <a:sym typeface="Times New Roman"/>
                        </a:rPr>
                        <a:t>của</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tàu</a:t>
                      </a:r>
                      <a:r>
                        <a:rPr lang="en-US" sz="1300" dirty="0">
                          <a:solidFill>
                            <a:schemeClr val="dk1"/>
                          </a:solidFill>
                          <a:latin typeface="Times New Roman"/>
                          <a:ea typeface="Times New Roman"/>
                          <a:cs typeface="Times New Roman"/>
                          <a:sym typeface="Times New Roman"/>
                        </a:rPr>
                        <a:t> BQ)</a:t>
                      </a:r>
                      <a:endParaRPr sz="1300" dirty="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45880036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g31ccdae391d_0_339"/>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35" name="Google Shape;235;g31ccdae391d_0_33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53</a:t>
            </a:fld>
            <a:endParaRPr/>
          </a:p>
        </p:txBody>
      </p:sp>
      <p:sp>
        <p:nvSpPr>
          <p:cNvPr id="236" name="Google Shape;236;g31ccdae391d_0_339"/>
          <p:cNvSpPr/>
          <p:nvPr/>
        </p:nvSpPr>
        <p:spPr>
          <a:xfrm>
            <a:off x="500990" y="742682"/>
            <a:ext cx="11164800" cy="5718900"/>
          </a:xfrm>
          <a:prstGeom prst="rect">
            <a:avLst/>
          </a:prstGeom>
          <a:noFill/>
          <a:ln>
            <a:noFill/>
          </a:ln>
        </p:spPr>
        <p:txBody>
          <a:bodyPr spcFirstLastPara="1" wrap="square" lIns="91425" tIns="45700" rIns="91425" bIns="45700" anchor="t" anchorCtr="0">
            <a:noAutofit/>
          </a:bodyPr>
          <a:lstStyle/>
          <a:p>
            <a:pPr marL="457200" indent="-355600" algn="just">
              <a:buClr>
                <a:srgbClr val="FF0000"/>
              </a:buClr>
              <a:buSzPts val="2000"/>
              <a:buFont typeface="Times New Roman"/>
              <a:buChar char="-"/>
            </a:pPr>
            <a:r>
              <a:rPr lang="en-US" sz="2000" b="1" kern="0">
                <a:solidFill>
                  <a:srgbClr val="FF0000"/>
                </a:solidFill>
                <a:latin typeface="Times New Roman"/>
                <a:ea typeface="Times New Roman"/>
                <a:cs typeface="Times New Roman"/>
                <a:sym typeface="Times New Roman"/>
              </a:rPr>
              <a:t>Một số PTVT cần lưu ý:</a:t>
            </a:r>
            <a:endParaRPr sz="1600" kern="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r>
              <a:rPr lang="en-US" sz="1600" kern="0">
                <a:solidFill>
                  <a:srgbClr val="000000"/>
                </a:solidFill>
                <a:latin typeface="Times New Roman"/>
                <a:ea typeface="Times New Roman"/>
                <a:cs typeface="Times New Roman"/>
                <a:sym typeface="Times New Roman"/>
              </a:rPr>
              <a:t>  +    Một số thiết bị pooling của OEM Honeywell liên quan hệ thống Chiller (VCRU, Motor Controler) TAT vẫn rất dài.</a:t>
            </a:r>
            <a:endParaRPr sz="1600" kern="0">
              <a:solidFill>
                <a:srgbClr val="000000"/>
              </a:solidFill>
              <a:latin typeface="Times New Roman"/>
              <a:ea typeface="Times New Roman"/>
              <a:cs typeface="Times New Roman"/>
              <a:sym typeface="Times New Roman"/>
            </a:endParaRPr>
          </a:p>
          <a:p>
            <a:pPr marL="914400" indent="-330200" algn="just">
              <a:buClr>
                <a:srgbClr val="000000"/>
              </a:buClr>
              <a:buSzPts val="1600"/>
              <a:buFont typeface="Times New Roman"/>
              <a:buChar char="+"/>
            </a:pPr>
            <a:r>
              <a:rPr lang="en-US" sz="1600" kern="0">
                <a:solidFill>
                  <a:srgbClr val="000000"/>
                </a:solidFill>
                <a:latin typeface="Times New Roman"/>
                <a:ea typeface="Times New Roman"/>
                <a:cs typeface="Times New Roman"/>
                <a:sym typeface="Times New Roman"/>
              </a:rPr>
              <a:t>Hỏng hóc hệ thống flight control vẫn nhiều, vẫn chưa giảm.</a:t>
            </a:r>
            <a:endParaRPr sz="1600" kern="0">
              <a:solidFill>
                <a:srgbClr val="000000"/>
              </a:solidFill>
              <a:latin typeface="Times New Roman"/>
              <a:ea typeface="Times New Roman"/>
              <a:cs typeface="Times New Roman"/>
              <a:sym typeface="Times New Roman"/>
            </a:endParaRPr>
          </a:p>
          <a:p>
            <a:pPr algn="just">
              <a:buClr>
                <a:srgbClr val="000000"/>
              </a:buClr>
              <a:buSzPts val="1600"/>
              <a:buFont typeface="Arial"/>
              <a:buNone/>
            </a:pPr>
            <a:endParaRPr sz="1600" kern="0">
              <a:solidFill>
                <a:srgbClr val="FF0000"/>
              </a:solidFill>
              <a:latin typeface="Times New Roman"/>
              <a:ea typeface="Times New Roman"/>
              <a:cs typeface="Times New Roman"/>
              <a:sym typeface="Times New Roman"/>
            </a:endParaRPr>
          </a:p>
          <a:p>
            <a:pPr marL="457200" indent="-355600" algn="just">
              <a:buClr>
                <a:srgbClr val="FF0000"/>
              </a:buClr>
              <a:buSzPts val="2000"/>
              <a:buFont typeface="Times New Roman"/>
              <a:buChar char="-"/>
            </a:pPr>
            <a:r>
              <a:rPr lang="en-US" sz="2000" b="1" kern="0">
                <a:solidFill>
                  <a:srgbClr val="FF0000"/>
                </a:solidFill>
                <a:latin typeface="Times New Roman"/>
                <a:ea typeface="Times New Roman"/>
                <a:cs typeface="Times New Roman"/>
                <a:sym typeface="Times New Roman"/>
              </a:rPr>
              <a:t>Hỏng hóc ảnh hưởng cần lưu ý:</a:t>
            </a:r>
            <a:endParaRPr sz="1600" kern="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r>
              <a:rPr lang="en-US" sz="1600" kern="0">
                <a:solidFill>
                  <a:srgbClr val="000000"/>
                </a:solidFill>
                <a:latin typeface="Times New Roman"/>
                <a:ea typeface="Times New Roman"/>
                <a:cs typeface="Times New Roman"/>
                <a:sym typeface="Times New Roman"/>
              </a:rPr>
              <a:t>• A891 - OUTBOARD SEAL OF RH MOVEA-BLE FAIRING # 3 DAMAGED: đã có Seal RH (Vaeco cung ứng).</a:t>
            </a:r>
            <a:endParaRPr sz="1600" kern="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r>
              <a:rPr lang="en-US" sz="1600" kern="0">
                <a:solidFill>
                  <a:srgbClr val="000000"/>
                </a:solidFill>
                <a:latin typeface="Times New Roman"/>
                <a:ea typeface="Times New Roman"/>
                <a:cs typeface="Times New Roman"/>
                <a:sym typeface="Times New Roman"/>
              </a:rPr>
              <a:t>• A896 - UPPER LATCH ASSY OF COCKPIT DOOR BOLTING SYSTEM IS NOT FULLY LOCKED: đặt hàng Latch (Vaeco cung ứng), chờ Supplier cập nhật lại kế hoạch.</a:t>
            </a:r>
            <a:endParaRPr sz="1600" kern="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r>
              <a:rPr lang="en-US" sz="1600" kern="0">
                <a:solidFill>
                  <a:srgbClr val="000000"/>
                </a:solidFill>
                <a:latin typeface="Times New Roman"/>
                <a:ea typeface="Times New Roman"/>
                <a:cs typeface="Times New Roman"/>
                <a:sym typeface="Times New Roman"/>
              </a:rPr>
              <a:t>• A897 - SEAL OF RH INBOARD AI-LERON DAMAGED:  đặt hàng Seal (Vaeco cung ứng), chờ Airbus cập nhật kế hoạch.</a:t>
            </a:r>
            <a:endParaRPr sz="1600" kern="0">
              <a:solidFill>
                <a:srgbClr val="000000"/>
              </a:solidFill>
              <a:latin typeface="Times New Roman"/>
              <a:ea typeface="Times New Roman"/>
              <a:cs typeface="Times New Roman"/>
              <a:sym typeface="Times New Roman"/>
            </a:endParaRPr>
          </a:p>
          <a:p>
            <a:pPr algn="just">
              <a:buClr>
                <a:srgbClr val="000000"/>
              </a:buClr>
              <a:buSzPts val="1600"/>
              <a:buFont typeface="Arial"/>
              <a:buNone/>
            </a:pPr>
            <a:endParaRPr sz="1600" kern="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endParaRPr sz="1600" kern="0">
              <a:solidFill>
                <a:srgbClr val="000000"/>
              </a:solidFill>
              <a:latin typeface="Times New Roman"/>
              <a:ea typeface="Times New Roman"/>
              <a:cs typeface="Times New Roman"/>
              <a:sym typeface="Times New Roman"/>
            </a:endParaRPr>
          </a:p>
          <a:p>
            <a:pPr algn="just">
              <a:buClr>
                <a:srgbClr val="000000"/>
              </a:buClr>
              <a:buSzPts val="1600"/>
              <a:buFont typeface="Arial"/>
              <a:buNone/>
            </a:pPr>
            <a:endParaRPr sz="1600" kern="0">
              <a:solidFill>
                <a:srgbClr val="000000"/>
              </a:solidFill>
              <a:latin typeface="Times New Roman"/>
              <a:ea typeface="Times New Roman"/>
              <a:cs typeface="Times New Roman"/>
              <a:sym typeface="Times New Roman"/>
            </a:endParaRPr>
          </a:p>
          <a:p>
            <a:pPr algn="just">
              <a:buClr>
                <a:srgbClr val="000000"/>
              </a:buClr>
              <a:buSzPts val="1600"/>
              <a:buFont typeface="Arial"/>
              <a:buNone/>
            </a:pPr>
            <a:r>
              <a:rPr lang="en-US" sz="1600" kern="0">
                <a:solidFill>
                  <a:srgbClr val="000000"/>
                </a:solidFill>
                <a:latin typeface="Times New Roman"/>
                <a:ea typeface="Times New Roman"/>
                <a:cs typeface="Times New Roman"/>
                <a:sym typeface="Times New Roman"/>
              </a:rPr>
              <a:t> </a:t>
            </a:r>
            <a:endParaRPr sz="2000" kern="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endParaRPr sz="1600" kern="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endParaRPr sz="1600" kern="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endParaRPr sz="1600" kern="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endParaRPr sz="1600" kern="0">
              <a:solidFill>
                <a:srgbClr val="000000"/>
              </a:solidFill>
              <a:latin typeface="Times New Roman"/>
              <a:ea typeface="Times New Roman"/>
              <a:cs typeface="Times New Roman"/>
              <a:sym typeface="Times New Roman"/>
            </a:endParaRPr>
          </a:p>
          <a:p>
            <a:pPr marL="457200" algn="just">
              <a:lnSpc>
                <a:spcPct val="110000"/>
              </a:lnSpc>
              <a:buClr>
                <a:srgbClr val="000000"/>
              </a:buClr>
              <a:buSzPts val="1500"/>
              <a:buFont typeface="Arial"/>
              <a:buNone/>
            </a:pPr>
            <a:endParaRPr sz="1500" kern="0">
              <a:solidFill>
                <a:srgbClr val="000000"/>
              </a:solidFill>
              <a:latin typeface="Times New Roman"/>
              <a:ea typeface="Times New Roman"/>
              <a:cs typeface="Times New Roman"/>
              <a:sym typeface="Times New Roman"/>
            </a:endParaRPr>
          </a:p>
        </p:txBody>
      </p:sp>
      <p:pic>
        <p:nvPicPr>
          <p:cNvPr id="237" name="Google Shape;237;g31ccdae391d_0_339"/>
          <p:cNvPicPr preferRelativeResize="0"/>
          <p:nvPr/>
        </p:nvPicPr>
        <p:blipFill>
          <a:blip r:embed="rId3">
            <a:alphaModFix/>
          </a:blip>
          <a:stretch>
            <a:fillRect/>
          </a:stretch>
        </p:blipFill>
        <p:spPr>
          <a:xfrm>
            <a:off x="800100" y="3452813"/>
            <a:ext cx="10591800" cy="714375"/>
          </a:xfrm>
          <a:prstGeom prst="rect">
            <a:avLst/>
          </a:prstGeom>
          <a:noFill/>
          <a:ln>
            <a:noFill/>
          </a:ln>
        </p:spPr>
      </p:pic>
    </p:spTree>
    <p:extLst>
      <p:ext uri="{BB962C8B-B14F-4D97-AF65-F5344CB8AC3E}">
        <p14:creationId xmlns:p14="http://schemas.microsoft.com/office/powerpoint/2010/main" val="3390312334"/>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g31ccdae391d_0_347"/>
          <p:cNvSpPr txBox="1">
            <a:spLocks noGrp="1"/>
          </p:cNvSpPr>
          <p:nvPr>
            <p:ph type="title"/>
          </p:nvPr>
        </p:nvSpPr>
        <p:spPr>
          <a:xfrm>
            <a:off x="276335" y="-180890"/>
            <a:ext cx="10666200" cy="716100"/>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0"/>
              </a:spcBef>
              <a:spcAft>
                <a:spcPts val="0"/>
              </a:spcAft>
              <a:buClr>
                <a:srgbClr val="FFC000"/>
              </a:buClr>
              <a:buSzPts val="2800"/>
              <a:buNone/>
            </a:pPr>
            <a:r>
              <a:rPr lang="en-US" sz="2800">
                <a:solidFill>
                  <a:srgbClr val="FFC000"/>
                </a:solidFill>
                <a:latin typeface="Times New Roman"/>
                <a:ea typeface="Times New Roman"/>
                <a:cs typeface="Times New Roman"/>
                <a:sym typeface="Times New Roman"/>
              </a:rPr>
              <a:t>ATR</a:t>
            </a:r>
            <a:endParaRPr sz="2800">
              <a:solidFill>
                <a:srgbClr val="FFC000"/>
              </a:solidFill>
              <a:latin typeface="Times New Roman"/>
              <a:ea typeface="Times New Roman"/>
              <a:cs typeface="Times New Roman"/>
              <a:sym typeface="Times New Roman"/>
            </a:endParaRPr>
          </a:p>
        </p:txBody>
      </p:sp>
      <p:sp>
        <p:nvSpPr>
          <p:cNvPr id="244" name="Google Shape;244;g31ccdae391d_0_347"/>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54</a:t>
            </a:fld>
            <a:endParaRPr/>
          </a:p>
        </p:txBody>
      </p:sp>
      <p:graphicFrame>
        <p:nvGraphicFramePr>
          <p:cNvPr id="245" name="Google Shape;245;g31ccdae391d_0_347"/>
          <p:cNvGraphicFramePr/>
          <p:nvPr/>
        </p:nvGraphicFramePr>
        <p:xfrm>
          <a:off x="439614" y="221847"/>
          <a:ext cx="11611325" cy="6311045"/>
        </p:xfrm>
        <a:graphic>
          <a:graphicData uri="http://schemas.openxmlformats.org/drawingml/2006/table">
            <a:tbl>
              <a:tblPr>
                <a:noFill/>
              </a:tblPr>
              <a:tblGrid>
                <a:gridCol w="548675">
                  <a:extLst>
                    <a:ext uri="{9D8B030D-6E8A-4147-A177-3AD203B41FA5}">
                      <a16:colId xmlns:a16="http://schemas.microsoft.com/office/drawing/2014/main" val="20000"/>
                    </a:ext>
                  </a:extLst>
                </a:gridCol>
                <a:gridCol w="1774900">
                  <a:extLst>
                    <a:ext uri="{9D8B030D-6E8A-4147-A177-3AD203B41FA5}">
                      <a16:colId xmlns:a16="http://schemas.microsoft.com/office/drawing/2014/main" val="20001"/>
                    </a:ext>
                  </a:extLst>
                </a:gridCol>
                <a:gridCol w="1550950">
                  <a:extLst>
                    <a:ext uri="{9D8B030D-6E8A-4147-A177-3AD203B41FA5}">
                      <a16:colId xmlns:a16="http://schemas.microsoft.com/office/drawing/2014/main" val="20002"/>
                    </a:ext>
                  </a:extLst>
                </a:gridCol>
                <a:gridCol w="2501400">
                  <a:extLst>
                    <a:ext uri="{9D8B030D-6E8A-4147-A177-3AD203B41FA5}">
                      <a16:colId xmlns:a16="http://schemas.microsoft.com/office/drawing/2014/main" val="20003"/>
                    </a:ext>
                  </a:extLst>
                </a:gridCol>
                <a:gridCol w="5235400">
                  <a:extLst>
                    <a:ext uri="{9D8B030D-6E8A-4147-A177-3AD203B41FA5}">
                      <a16:colId xmlns:a16="http://schemas.microsoft.com/office/drawing/2014/main" val="20004"/>
                    </a:ext>
                  </a:extLst>
                </a:gridCol>
              </a:tblGrid>
              <a:tr h="218400">
                <a:tc gridSpan="5">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8400">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a:latin typeface="Times New Roman"/>
                          <a:ea typeface="Times New Roman"/>
                          <a:cs typeface="Times New Roman"/>
                          <a:sym typeface="Times New Roman"/>
                        </a:rPr>
                        <a:t>Tình trạng</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8923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1</a:t>
                      </a:r>
                      <a:endParaRPr sz="140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Blade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R815505-6/-9</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a:solidFill>
                            <a:schemeClr val="dk1"/>
                          </a:solidFill>
                          <a:latin typeface="Times New Roman"/>
                          <a:ea typeface="Times New Roman"/>
                          <a:cs typeface="Times New Roman"/>
                          <a:sym typeface="Times New Roman"/>
                        </a:rPr>
                        <a:t>07</a:t>
                      </a:r>
                      <a:r>
                        <a:rPr lang="en-US" sz="1400" u="none" strike="noStrike" cap="none">
                          <a:solidFill>
                            <a:schemeClr val="dk1"/>
                          </a:solidFill>
                          <a:latin typeface="Times New Roman"/>
                          <a:ea typeface="Times New Roman"/>
                          <a:cs typeface="Times New Roman"/>
                          <a:sym typeface="Times New Roman"/>
                        </a:rPr>
                        <a:t>EA: STK SGN (</a:t>
                      </a:r>
                      <a:r>
                        <a:rPr lang="en-US">
                          <a:solidFill>
                            <a:schemeClr val="dk1"/>
                          </a:solidFill>
                          <a:latin typeface="Times New Roman"/>
                          <a:ea typeface="Times New Roman"/>
                          <a:cs typeface="Times New Roman"/>
                          <a:sym typeface="Times New Roman"/>
                        </a:rPr>
                        <a:t>p/n</a:t>
                      </a:r>
                      <a:r>
                        <a:rPr lang="en-US" sz="1400" u="none" strike="noStrike" cap="none">
                          <a:solidFill>
                            <a:schemeClr val="dk1"/>
                          </a:solidFill>
                          <a:latin typeface="Times New Roman"/>
                          <a:ea typeface="Times New Roman"/>
                          <a:cs typeface="Times New Roman"/>
                          <a:sym typeface="Times New Roman"/>
                        </a:rPr>
                        <a:t> R815505-9)</a:t>
                      </a:r>
                      <a:endParaRPr sz="140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400"/>
                        <a:buFont typeface="Times New Roman"/>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8923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Hub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815470-2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02EA: STK SGN</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01PO: Chưa có EDD </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8256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Actuator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815585-7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02EA: STK SGN</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8256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End Wing-Left </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S5741212100810</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S5741212100910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sz="1400" u="none" strike="noStrike" cap="none">
                          <a:solidFill>
                            <a:schemeClr val="dk1"/>
                          </a:solidFill>
                          <a:latin typeface="Times New Roman"/>
                          <a:ea typeface="Times New Roman"/>
                          <a:cs typeface="Times New Roman"/>
                          <a:sym typeface="Times New Roman"/>
                        </a:rPr>
                        <a:t>01EA: STK SGN P/N S5741212100810</a:t>
                      </a:r>
                      <a:endParaRPr sz="1400" u="none" strike="noStrike" cap="none">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r>
                        <a:rPr lang="en-US" sz="1400" u="none" strike="noStrike" cap="none">
                          <a:solidFill>
                            <a:schemeClr val="dk1"/>
                          </a:solidFill>
                          <a:latin typeface="Times New Roman"/>
                          <a:ea typeface="Times New Roman"/>
                          <a:cs typeface="Times New Roman"/>
                          <a:sym typeface="Times New Roman"/>
                        </a:rPr>
                        <a:t>0</a:t>
                      </a:r>
                      <a:r>
                        <a:rPr lang="en-US">
                          <a:solidFill>
                            <a:schemeClr val="dk1"/>
                          </a:solidFill>
                          <a:latin typeface="Times New Roman"/>
                          <a:ea typeface="Times New Roman"/>
                          <a:cs typeface="Times New Roman"/>
                          <a:sym typeface="Times New Roman"/>
                        </a:rPr>
                        <a:t>1</a:t>
                      </a:r>
                      <a:r>
                        <a:rPr lang="en-US" sz="1400" u="none" strike="noStrike" cap="none">
                          <a:solidFill>
                            <a:schemeClr val="dk1"/>
                          </a:solidFill>
                          <a:latin typeface="Times New Roman"/>
                          <a:ea typeface="Times New Roman"/>
                          <a:cs typeface="Times New Roman"/>
                          <a:sym typeface="Times New Roman"/>
                        </a:rPr>
                        <a:t>EA: STK SGN P/N S5741212100910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10989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5</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P.E.C</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816332-5-401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US">
                          <a:solidFill>
                            <a:schemeClr val="dk1"/>
                          </a:solidFill>
                          <a:latin typeface="Times New Roman"/>
                          <a:ea typeface="Times New Roman"/>
                          <a:cs typeface="Times New Roman"/>
                          <a:sym typeface="Times New Roman"/>
                        </a:rPr>
                        <a:t>02EA: STK SGN</a:t>
                      </a:r>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5949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6</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MLG Shock Absorber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D23188000-5</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Hyd Leak</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STK = 0</a:t>
                      </a:r>
                      <a:br>
                        <a:rPr lang="en-US">
                          <a:solidFill>
                            <a:schemeClr val="dk1"/>
                          </a:solidFill>
                          <a:latin typeface="Times New Roman"/>
                          <a:ea typeface="Times New Roman"/>
                          <a:cs typeface="Times New Roman"/>
                          <a:sym typeface="Times New Roman"/>
                        </a:rPr>
                      </a:br>
                      <a:r>
                        <a:rPr lang="en-US">
                          <a:solidFill>
                            <a:schemeClr val="dk1"/>
                          </a:solidFill>
                          <a:latin typeface="Times New Roman"/>
                          <a:ea typeface="Times New Roman"/>
                          <a:cs typeface="Times New Roman"/>
                          <a:sym typeface="Times New Roman"/>
                        </a:rPr>
                        <a:t>NO ORDER OUTSIDE</a:t>
                      </a:r>
                      <a:endParaRPr>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7428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AFCS Computer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7003974-606</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DASH ON ADU; CONNECTOR FOUND LOOSEN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01EA: STK SGN</a:t>
                      </a:r>
                      <a:endParaRPr>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01RO: chưa có thông tin</a:t>
                      </a:r>
                      <a:endParaRPr>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endParaRPr>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594853995"/>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g31ccdae391d_0_354"/>
          <p:cNvSpPr txBox="1">
            <a:spLocks noGrp="1"/>
          </p:cNvSpPr>
          <p:nvPr>
            <p:ph type="title"/>
          </p:nvPr>
        </p:nvSpPr>
        <p:spPr>
          <a:xfrm>
            <a:off x="276335" y="123910"/>
            <a:ext cx="10666200" cy="716100"/>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0"/>
              </a:spcBef>
              <a:spcAft>
                <a:spcPts val="0"/>
              </a:spcAft>
              <a:buClr>
                <a:srgbClr val="FFC000"/>
              </a:buClr>
              <a:buSzPts val="2800"/>
              <a:buNone/>
            </a:pPr>
            <a:r>
              <a:rPr lang="en-US" sz="2800">
                <a:solidFill>
                  <a:srgbClr val="FFC000"/>
                </a:solidFill>
                <a:latin typeface="Times New Roman"/>
                <a:ea typeface="Times New Roman"/>
                <a:cs typeface="Times New Roman"/>
                <a:sym typeface="Times New Roman"/>
              </a:rPr>
              <a:t>Phanh, bánh lốp cho các đội bay</a:t>
            </a:r>
            <a:endParaRPr sz="2800">
              <a:solidFill>
                <a:srgbClr val="FFC000"/>
              </a:solidFill>
              <a:latin typeface="Times New Roman"/>
              <a:ea typeface="Times New Roman"/>
              <a:cs typeface="Times New Roman"/>
              <a:sym typeface="Times New Roman"/>
            </a:endParaRPr>
          </a:p>
        </p:txBody>
      </p:sp>
      <p:sp>
        <p:nvSpPr>
          <p:cNvPr id="252" name="Google Shape;252;g31ccdae391d_0_354"/>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55</a:t>
            </a:fld>
            <a:endParaRPr/>
          </a:p>
        </p:txBody>
      </p:sp>
      <p:graphicFrame>
        <p:nvGraphicFramePr>
          <p:cNvPr id="253" name="Google Shape;253;g31ccdae391d_0_354"/>
          <p:cNvGraphicFramePr/>
          <p:nvPr/>
        </p:nvGraphicFramePr>
        <p:xfrm>
          <a:off x="392714" y="718223"/>
          <a:ext cx="11570675" cy="5310995"/>
        </p:xfrm>
        <a:graphic>
          <a:graphicData uri="http://schemas.openxmlformats.org/drawingml/2006/table">
            <a:tbl>
              <a:tblPr>
                <a:noFill/>
              </a:tblPr>
              <a:tblGrid>
                <a:gridCol w="741275">
                  <a:extLst>
                    <a:ext uri="{9D8B030D-6E8A-4147-A177-3AD203B41FA5}">
                      <a16:colId xmlns:a16="http://schemas.microsoft.com/office/drawing/2014/main" val="20000"/>
                    </a:ext>
                  </a:extLst>
                </a:gridCol>
                <a:gridCol w="1235450">
                  <a:extLst>
                    <a:ext uri="{9D8B030D-6E8A-4147-A177-3AD203B41FA5}">
                      <a16:colId xmlns:a16="http://schemas.microsoft.com/office/drawing/2014/main" val="20001"/>
                    </a:ext>
                  </a:extLst>
                </a:gridCol>
                <a:gridCol w="1470950">
                  <a:extLst>
                    <a:ext uri="{9D8B030D-6E8A-4147-A177-3AD203B41FA5}">
                      <a16:colId xmlns:a16="http://schemas.microsoft.com/office/drawing/2014/main" val="20002"/>
                    </a:ext>
                  </a:extLst>
                </a:gridCol>
                <a:gridCol w="4061500">
                  <a:extLst>
                    <a:ext uri="{9D8B030D-6E8A-4147-A177-3AD203B41FA5}">
                      <a16:colId xmlns:a16="http://schemas.microsoft.com/office/drawing/2014/main" val="20003"/>
                    </a:ext>
                  </a:extLst>
                </a:gridCol>
                <a:gridCol w="4061500">
                  <a:extLst>
                    <a:ext uri="{9D8B030D-6E8A-4147-A177-3AD203B41FA5}">
                      <a16:colId xmlns:a16="http://schemas.microsoft.com/office/drawing/2014/main" val="20004"/>
                    </a:ext>
                  </a:extLst>
                </a:gridCol>
              </a:tblGrid>
              <a:tr h="215500">
                <a:tc gridSpan="5">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5500">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Giải pháp và kiến nghị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7286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1.</a:t>
                      </a:r>
                      <a:endParaRPr sz="1400" b="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Lốp cho các đội bay</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sz="1400" u="none" strike="noStrike" cap="none">
                          <a:latin typeface="Times New Roman"/>
                          <a:ea typeface="Times New Roman"/>
                          <a:cs typeface="Times New Roman"/>
                          <a:sym typeface="Times New Roman"/>
                        </a:rPr>
                        <a:t>Lốp các loại đủ dự phòng</a:t>
                      </a:r>
                      <a:r>
                        <a:rPr lang="en-US">
                          <a:latin typeface="Times New Roman"/>
                          <a:ea typeface="Times New Roman"/>
                          <a:cs typeface="Times New Roman"/>
                          <a:sym typeface="Times New Roman"/>
                        </a:rPr>
                        <a: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-Ban QLVT </a:t>
                      </a:r>
                      <a:r>
                        <a:rPr lang="en-US">
                          <a:latin typeface="Times New Roman"/>
                          <a:ea typeface="Times New Roman"/>
                          <a:cs typeface="Times New Roman"/>
                          <a:sym typeface="Times New Roman"/>
                        </a:rPr>
                        <a:t>tiếp tục </a:t>
                      </a:r>
                      <a:r>
                        <a:rPr lang="en-US" sz="1400" u="none" strike="noStrike" cap="none">
                          <a:latin typeface="Times New Roman"/>
                          <a:ea typeface="Times New Roman"/>
                          <a:cs typeface="Times New Roman"/>
                          <a:sym typeface="Times New Roman"/>
                        </a:rPr>
                        <a:t>thúc đẩy lốp về </a:t>
                      </a:r>
                      <a:r>
                        <a:rPr lang="en-US">
                          <a:latin typeface="Times New Roman"/>
                          <a:ea typeface="Times New Roman"/>
                          <a:cs typeface="Times New Roman"/>
                          <a:sym typeface="Times New Roman"/>
                        </a:rPr>
                        <a:t>dự phòng</a:t>
                      </a:r>
                      <a:r>
                        <a:rPr lang="en-US" sz="1400" u="none" strike="noStrike" cap="none">
                          <a:latin typeface="Times New Roman"/>
                          <a:ea typeface="Times New Roman"/>
                          <a:cs typeface="Times New Roman"/>
                          <a:sym typeface="Times New Roman"/>
                        </a:rPr>
                        <a:t> </a:t>
                      </a:r>
                      <a:endParaRPr sz="1400" b="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148297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cho Đội bay B787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C20648000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a:latin typeface="Times New Roman"/>
                          <a:ea typeface="Times New Roman"/>
                          <a:cs typeface="Times New Roman"/>
                          <a:sym typeface="Times New Roman"/>
                        </a:rPr>
                        <a:t>03ea in stock  (02 HAN  + 01 SGN), trong đó cần 01ea cho A861, 01ea cho A864. </a:t>
                      </a:r>
                      <a:endParaRPr>
                        <a:latin typeface="Times New Roman"/>
                        <a:ea typeface="Times New Roman"/>
                        <a:cs typeface="Times New Roman"/>
                        <a:sym typeface="Times New Roman"/>
                      </a:endParaRPr>
                    </a:p>
                    <a:p>
                      <a:pPr marL="457200" marR="0" lvl="0" indent="-317500" algn="l" rtl="0">
                        <a:lnSpc>
                          <a:spcPct val="100000"/>
                        </a:lnSpc>
                        <a:spcBef>
                          <a:spcPts val="0"/>
                        </a:spcBef>
                        <a:spcAft>
                          <a:spcPts val="0"/>
                        </a:spcAft>
                        <a:buSzPts val="1400"/>
                        <a:buFont typeface="Times New Roman"/>
                        <a:buChar char="-"/>
                      </a:pPr>
                      <a:r>
                        <a:rPr lang="en-US">
                          <a:latin typeface="Times New Roman"/>
                          <a:ea typeface="Times New Roman"/>
                          <a:cs typeface="Times New Roman"/>
                          <a:sym typeface="Times New Roman"/>
                        </a:rPr>
                        <a:t>01ea dự kiến giao HAN 25/03, 01ea giao SGN 25/03. Dự kiến cuối tuần 13 sẽ về thêm 02ea.</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Ban QLVT đang làm việc với Safran thúc đẩy</a:t>
                      </a:r>
                      <a:r>
                        <a:rPr lang="en-US" sz="1400" u="none" strike="noStrike" cap="none">
                          <a:latin typeface="Times New Roman"/>
                          <a:ea typeface="Times New Roman"/>
                          <a:cs typeface="Times New Roman"/>
                          <a:sym typeface="Times New Roman"/>
                        </a:rPr>
                        <a:t> các </a:t>
                      </a:r>
                      <a:r>
                        <a:rPr lang="en-US" sz="1400" b="0" i="0" u="none" strike="noStrike" cap="none">
                          <a:solidFill>
                            <a:srgbClr val="000000"/>
                          </a:solidFill>
                          <a:latin typeface="Times New Roman"/>
                          <a:ea typeface="Times New Roman"/>
                          <a:cs typeface="Times New Roman"/>
                          <a:sym typeface="Times New Roman"/>
                        </a:rPr>
                        <a:t>cụm phanh đang sửa chữa về</a:t>
                      </a:r>
                      <a:r>
                        <a:rPr lang="en-US" sz="1400" u="none" strike="noStrike" cap="none">
                          <a:latin typeface="Times New Roman"/>
                          <a:ea typeface="Times New Roman"/>
                          <a:cs typeface="Times New Roman"/>
                          <a:sym typeface="Times New Roman"/>
                        </a:rPr>
                        <a:t>.</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 Tần suất thay phanh B787 đang gia tăng, Ban QLVT đã đề nghị Ban KT và VAECO cập nhật kế hoạch thay phanh cho 3 tháng tới  và rà soát làm stagger </a:t>
                      </a:r>
                      <a:r>
                        <a:rPr lang="en-US" sz="1400" u="none" strike="noStrike" cap="none">
                          <a:solidFill>
                            <a:schemeClr val="dk1"/>
                          </a:solidFill>
                          <a:latin typeface="Times New Roman"/>
                          <a:ea typeface="Times New Roman"/>
                          <a:cs typeface="Times New Roman"/>
                          <a:sym typeface="Times New Roman"/>
                        </a:rPr>
                        <a:t>để tránh tình trạng thay phanh hàng loạt</a:t>
                      </a:r>
                      <a:r>
                        <a:rPr lang="en-US">
                          <a:solidFill>
                            <a:schemeClr val="dk1"/>
                          </a:solidFill>
                          <a:latin typeface="Times New Roman"/>
                          <a:ea typeface="Times New Roman"/>
                          <a:cs typeface="Times New Roman"/>
                          <a:sym typeface="Times New Roman"/>
                        </a:rPr>
                        <a:t> những</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12248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Đội bay A350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2-1756-1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06ea in stock.</a:t>
                      </a:r>
                      <a:endParaRPr sz="1400" u="none" strike="noStrike" cap="none">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Times New Roman"/>
                          <a:ea typeface="Times New Roman"/>
                          <a:cs typeface="Times New Roman"/>
                          <a:sym typeface="Times New Roman"/>
                        </a:rPr>
                        <a:t> - Tần suất thay phanh A350 đang gia tăng rất nhanh, Ban QLVT đã đề nghị Ban KT và VAECO cập nhật kế hoạch thay phanh cho 3 tháng tới và rà soát làm stagger để tránh tình trạng thay phanh hàng loạt.</a:t>
                      </a:r>
                      <a:r>
                        <a:rPr lang="en-US" sz="1400" u="none" strike="noStrike" cap="none">
                          <a:latin typeface="Times New Roman"/>
                          <a:ea typeface="Times New Roman"/>
                          <a:cs typeface="Times New Roman"/>
                          <a:sym typeface="Times New Roman"/>
                        </a:rPr>
                        <a:t/>
                      </a:r>
                      <a:br>
                        <a:rPr lang="en-US" sz="1400" u="none" strike="noStrike" cap="none">
                          <a:latin typeface="Times New Roman"/>
                          <a:ea typeface="Times New Roman"/>
                          <a:cs typeface="Times New Roman"/>
                          <a:sym typeface="Times New Roman"/>
                        </a:rPr>
                      </a:b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14360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đội Bay A321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C20534100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sz="1400" u="none" strike="noStrike" cap="none">
                          <a:latin typeface="Times New Roman"/>
                          <a:ea typeface="Times New Roman"/>
                          <a:cs typeface="Times New Roman"/>
                          <a:sym typeface="Times New Roman"/>
                        </a:rPr>
                        <a:t>Kho có </a:t>
                      </a:r>
                      <a:r>
                        <a:rPr lang="en-US">
                          <a:latin typeface="Times New Roman"/>
                          <a:ea typeface="Times New Roman"/>
                          <a:cs typeface="Times New Roman"/>
                          <a:sym typeface="Times New Roman"/>
                        </a:rPr>
                        <a:t>04 e</a:t>
                      </a:r>
                      <a:r>
                        <a:rPr lang="en-US" sz="1400" u="none" strike="noStrike" cap="none">
                          <a:latin typeface="Times New Roman"/>
                          <a:ea typeface="Times New Roman"/>
                          <a:cs typeface="Times New Roman"/>
                          <a:sym typeface="Times New Roman"/>
                        </a:rPr>
                        <a:t>a</a:t>
                      </a:r>
                      <a:r>
                        <a:rPr lang="en-US" sz="1400" u="none" strike="noStrike" cap="none">
                          <a:solidFill>
                            <a:schemeClr val="dk1"/>
                          </a:solidFill>
                          <a:latin typeface="Times New Roman"/>
                          <a:ea typeface="Times New Roman"/>
                          <a:cs typeface="Times New Roman"/>
                          <a:sym typeface="Times New Roman"/>
                        </a:rPr>
                        <a:t> dự phòng</a:t>
                      </a:r>
                      <a:r>
                        <a:rPr lang="en-US">
                          <a:solidFill>
                            <a:schemeClr val="dk1"/>
                          </a:solidFill>
                          <a:latin typeface="Times New Roman"/>
                          <a:ea typeface="Times New Roman"/>
                          <a:cs typeface="Times New Roman"/>
                          <a:sym typeface="Times New Roman"/>
                        </a:rPr>
                        <a: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a:t>
                      </a:r>
                      <a:r>
                        <a:rPr lang="en-US" sz="1400" u="none" strike="noStrike" cap="none">
                          <a:latin typeface="Times New Roman"/>
                          <a:ea typeface="Times New Roman"/>
                          <a:cs typeface="Times New Roman"/>
                          <a:sym typeface="Times New Roman"/>
                        </a:rPr>
                        <a:t>Ban QLVT đang tiếp tục  thúc đẩy các heat sink A321 về để phục vụ bảo dưỡng phanh A321.</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 </a:t>
                      </a:r>
                      <a:r>
                        <a:rPr lang="en-US" sz="1400" u="none" strike="noStrike" cap="none">
                          <a:solidFill>
                            <a:schemeClr val="dk1"/>
                          </a:solidFill>
                          <a:latin typeface="Times New Roman"/>
                          <a:ea typeface="Times New Roman"/>
                          <a:cs typeface="Times New Roman"/>
                          <a:sym typeface="Times New Roman"/>
                        </a:rPr>
                        <a:t>Ban QLVT đã đề nghị Ban KT và VAECO cập nhật kế hoạch làm stagger phanh A321 tránh việc thay phanh hàng loạt.</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662178799"/>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g31ccdae391d_0_361"/>
          <p:cNvSpPr txBox="1">
            <a:spLocks noGrp="1"/>
          </p:cNvSpPr>
          <p:nvPr>
            <p:ph type="title"/>
          </p:nvPr>
        </p:nvSpPr>
        <p:spPr>
          <a:xfrm>
            <a:off x="913579" y="37903"/>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60" name="Google Shape;260;g31ccdae391d_0_361"/>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56</a:t>
            </a:fld>
            <a:endParaRPr/>
          </a:p>
        </p:txBody>
      </p:sp>
      <p:sp>
        <p:nvSpPr>
          <p:cNvPr id="261" name="Google Shape;261;g31ccdae391d_0_361"/>
          <p:cNvSpPr/>
          <p:nvPr/>
        </p:nvSpPr>
        <p:spPr>
          <a:xfrm>
            <a:off x="609900" y="801438"/>
            <a:ext cx="10972200" cy="6626700"/>
          </a:xfrm>
          <a:prstGeom prst="rect">
            <a:avLst/>
          </a:prstGeom>
          <a:noFill/>
          <a:ln>
            <a:noFill/>
          </a:ln>
        </p:spPr>
        <p:txBody>
          <a:bodyPr spcFirstLastPara="1" wrap="square" lIns="91425" tIns="45700" rIns="91425" bIns="45700" anchor="t" anchorCtr="0">
            <a:noAutofit/>
          </a:bodyPr>
          <a:lstStyle/>
          <a:p>
            <a:pPr algn="just">
              <a:buClr>
                <a:srgbClr val="000000"/>
              </a:buClr>
              <a:buSzPts val="1500"/>
              <a:buFont typeface="Arial"/>
              <a:buNone/>
            </a:pPr>
            <a:r>
              <a:rPr lang="en-US" sz="1500" kern="0" dirty="0">
                <a:solidFill>
                  <a:srgbClr val="000000"/>
                </a:solidFill>
                <a:highlight>
                  <a:srgbClr val="FFFFFF"/>
                </a:highlight>
                <a:latin typeface="Times New Roman"/>
                <a:ea typeface="Times New Roman"/>
                <a:cs typeface="Times New Roman"/>
                <a:sym typeface="Times New Roman"/>
              </a:rPr>
              <a:t>- </a:t>
            </a:r>
            <a:r>
              <a:rPr lang="en-US" sz="1500" b="1" kern="0" dirty="0">
                <a:solidFill>
                  <a:srgbClr val="FF0000"/>
                </a:solidFill>
                <a:highlight>
                  <a:srgbClr val="FFFFFF"/>
                </a:highlight>
                <a:latin typeface="Times New Roman"/>
                <a:ea typeface="Times New Roman"/>
                <a:cs typeface="Times New Roman"/>
                <a:sym typeface="Times New Roman"/>
              </a:rPr>
              <a:t>Đội bay A350:</a:t>
            </a:r>
            <a:endParaRPr sz="1500" b="1" kern="0" dirty="0">
              <a:solidFill>
                <a:srgbClr val="FF0000"/>
              </a:solidFill>
              <a:highlight>
                <a:srgbClr val="FFFFFF"/>
              </a:highlight>
              <a:latin typeface="Times New Roman"/>
              <a:ea typeface="Times New Roman"/>
              <a:cs typeface="Times New Roman"/>
              <a:sym typeface="Times New Roman"/>
            </a:endParaRPr>
          </a:p>
          <a:p>
            <a:pPr algn="just">
              <a:buClr>
                <a:srgbClr val="000000"/>
              </a:buClr>
              <a:buSzPts val="1500"/>
              <a:buFont typeface="Arial"/>
              <a:buNone/>
            </a:pP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Số</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lượng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dự</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phòng</a:t>
            </a:r>
            <a:r>
              <a:rPr lang="en-US" sz="1500" kern="0" dirty="0">
                <a:solidFill>
                  <a:srgbClr val="000000"/>
                </a:solidFill>
                <a:highlight>
                  <a:srgbClr val="FFFFFF"/>
                </a:highlight>
                <a:latin typeface="Times New Roman"/>
                <a:ea typeface="Times New Roman"/>
                <a:cs typeface="Times New Roman"/>
                <a:sym typeface="Times New Roman"/>
              </a:rPr>
              <a:t>: 03ea (</a:t>
            </a:r>
            <a:r>
              <a:rPr lang="en-US" sz="1500" kern="0" dirty="0" err="1">
                <a:solidFill>
                  <a:srgbClr val="000000"/>
                </a:solidFill>
                <a:highlight>
                  <a:srgbClr val="FFFFFF"/>
                </a:highlight>
                <a:latin typeface="Times New Roman"/>
                <a:ea typeface="Times New Roman"/>
                <a:cs typeface="Times New Roman"/>
                <a:sym typeface="Times New Roman"/>
              </a:rPr>
              <a:t>thuê</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dài</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hạn</a:t>
            </a:r>
            <a:r>
              <a:rPr lang="en-US" sz="1500" kern="0" dirty="0">
                <a:solidFill>
                  <a:srgbClr val="000000"/>
                </a:solidFill>
                <a:highlight>
                  <a:srgbClr val="FFFFFF"/>
                </a:highlight>
                <a:latin typeface="Times New Roman"/>
                <a:ea typeface="Times New Roman"/>
                <a:cs typeface="Times New Roman"/>
                <a:sym typeface="Times New Roman"/>
              </a:rPr>
              <a:t>) &amp; 03 </a:t>
            </a:r>
            <a:r>
              <a:rPr lang="en-US" sz="1500" kern="0" dirty="0" err="1">
                <a:solidFill>
                  <a:srgbClr val="000000"/>
                </a:solidFill>
                <a:highlight>
                  <a:srgbClr val="FFFFFF"/>
                </a:highlight>
                <a:latin typeface="Times New Roman"/>
                <a:ea typeface="Times New Roman"/>
                <a:cs typeface="Times New Roman"/>
                <a:sym typeface="Times New Roman"/>
              </a:rPr>
              <a:t>động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cơ</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thuê</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ngắn</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hạn</a:t>
            </a:r>
            <a:r>
              <a:rPr lang="en-US" sz="1500" kern="0" dirty="0">
                <a:solidFill>
                  <a:srgbClr val="000000"/>
                </a:solidFill>
                <a:highlight>
                  <a:srgbClr val="FFFFFF"/>
                </a:highlight>
                <a:latin typeface="Times New Roman"/>
                <a:ea typeface="Times New Roman"/>
                <a:cs typeface="Times New Roman"/>
                <a:sym typeface="Times New Roman"/>
              </a:rPr>
              <a:t> + 01 </a:t>
            </a:r>
            <a:r>
              <a:rPr lang="en-US" sz="1500" kern="0" dirty="0" err="1">
                <a:solidFill>
                  <a:srgbClr val="000000"/>
                </a:solidFill>
                <a:highlight>
                  <a:srgbClr val="FFFFFF"/>
                </a:highlight>
                <a:latin typeface="Times New Roman"/>
                <a:ea typeface="Times New Roman"/>
                <a:cs typeface="Times New Roman"/>
                <a:sym typeface="Times New Roman"/>
              </a:rPr>
              <a:t>động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cơ</a:t>
            </a:r>
            <a:r>
              <a:rPr lang="en-US" sz="1500" kern="0" dirty="0">
                <a:solidFill>
                  <a:srgbClr val="000000"/>
                </a:solidFill>
                <a:highlight>
                  <a:srgbClr val="FFFFFF"/>
                </a:highlight>
                <a:latin typeface="Times New Roman"/>
                <a:ea typeface="Times New Roman"/>
                <a:cs typeface="Times New Roman"/>
                <a:sym typeface="Times New Roman"/>
              </a:rPr>
              <a:t> new (</a:t>
            </a:r>
            <a:r>
              <a:rPr lang="en-US" sz="1500" kern="0" dirty="0" err="1">
                <a:solidFill>
                  <a:srgbClr val="000000"/>
                </a:solidFill>
                <a:highlight>
                  <a:srgbClr val="FFFFFF"/>
                </a:highlight>
                <a:latin typeface="Times New Roman"/>
                <a:ea typeface="Times New Roman"/>
                <a:cs typeface="Times New Roman"/>
                <a:sym typeface="Times New Roman"/>
              </a:rPr>
              <a:t>giao</a:t>
            </a:r>
            <a:r>
              <a:rPr lang="en-US" sz="1500" kern="0" dirty="0">
                <a:solidFill>
                  <a:srgbClr val="000000"/>
                </a:solidFill>
                <a:highlight>
                  <a:srgbClr val="FFFFFF"/>
                </a:highlight>
                <a:latin typeface="Times New Roman"/>
                <a:ea typeface="Times New Roman"/>
                <a:cs typeface="Times New Roman"/>
                <a:sym typeface="Times New Roman"/>
              </a:rPr>
              <a:t> HAN 22/01).</a:t>
            </a:r>
            <a:endParaRPr sz="1500" kern="0" dirty="0">
              <a:solidFill>
                <a:srgbClr val="000000"/>
              </a:solidFill>
              <a:highlight>
                <a:srgbClr val="FFFFFF"/>
              </a:highlight>
              <a:latin typeface="Times New Roman"/>
              <a:ea typeface="Times New Roman"/>
              <a:cs typeface="Times New Roman"/>
              <a:sym typeface="Times New Roman"/>
            </a:endParaRPr>
          </a:p>
          <a:p>
            <a:pPr algn="just">
              <a:buClr>
                <a:srgbClr val="000000"/>
              </a:buClr>
              <a:buSzPts val="1500"/>
              <a:buFont typeface="Arial"/>
              <a:buNone/>
            </a:pP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Số</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lượng</a:t>
            </a:r>
            <a:r>
              <a:rPr lang="en-US" sz="1500" kern="0" dirty="0">
                <a:solidFill>
                  <a:srgbClr val="000000"/>
                </a:solidFill>
                <a:highlight>
                  <a:srgbClr val="FFFFFF"/>
                </a:highlight>
                <a:latin typeface="Times New Roman"/>
                <a:ea typeface="Times New Roman"/>
                <a:cs typeface="Times New Roman"/>
                <a:sym typeface="Times New Roman"/>
              </a:rPr>
              <a:t> trong </a:t>
            </a:r>
            <a:r>
              <a:rPr lang="en-US" sz="1500" kern="0" dirty="0" err="1">
                <a:solidFill>
                  <a:srgbClr val="000000"/>
                </a:solidFill>
                <a:highlight>
                  <a:srgbClr val="FFFFFF"/>
                </a:highlight>
                <a:latin typeface="Times New Roman"/>
                <a:ea typeface="Times New Roman"/>
                <a:cs typeface="Times New Roman"/>
                <a:sym typeface="Times New Roman"/>
              </a:rPr>
              <a:t>kho</a:t>
            </a:r>
            <a:r>
              <a:rPr lang="en-US" sz="1500" kern="0" dirty="0">
                <a:solidFill>
                  <a:srgbClr val="000000"/>
                </a:solidFill>
                <a:highlight>
                  <a:srgbClr val="FFFFFF"/>
                </a:highlight>
                <a:latin typeface="Times New Roman"/>
                <a:ea typeface="Times New Roman"/>
                <a:cs typeface="Times New Roman"/>
                <a:sym typeface="Times New Roman"/>
              </a:rPr>
              <a:t>: 0</a:t>
            </a:r>
            <a:endParaRPr sz="1500" kern="0" dirty="0">
              <a:solidFill>
                <a:srgbClr val="000000"/>
              </a:solidFill>
              <a:highlight>
                <a:srgbClr val="FFFFFF"/>
              </a:highlight>
              <a:latin typeface="Times New Roman"/>
              <a:ea typeface="Times New Roman"/>
              <a:cs typeface="Times New Roman"/>
              <a:sym typeface="Times New Roman"/>
            </a:endParaRPr>
          </a:p>
          <a:p>
            <a:pPr algn="just">
              <a:buClr>
                <a:srgbClr val="000000"/>
              </a:buClr>
              <a:buSzPts val="1500"/>
              <a:buFont typeface="Arial"/>
              <a:buNone/>
            </a:pP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Số</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lượng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động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cơ</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đang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tại</a:t>
            </a:r>
            <a:r>
              <a:rPr lang="en-US" sz="1500" kern="0" dirty="0">
                <a:solidFill>
                  <a:srgbClr val="000000"/>
                </a:solidFill>
                <a:highlight>
                  <a:srgbClr val="FFFFFF"/>
                </a:highlight>
                <a:latin typeface="Times New Roman"/>
                <a:ea typeface="Times New Roman"/>
                <a:cs typeface="Times New Roman"/>
                <a:sym typeface="Times New Roman"/>
              </a:rPr>
              <a:t> shop </a:t>
            </a:r>
            <a:r>
              <a:rPr lang="en-US" sz="1500" kern="0" dirty="0" err="1">
                <a:solidFill>
                  <a:srgbClr val="000000"/>
                </a:solidFill>
                <a:highlight>
                  <a:srgbClr val="FFFFFF"/>
                </a:highlight>
                <a:latin typeface="Times New Roman"/>
                <a:ea typeface="Times New Roman"/>
                <a:cs typeface="Times New Roman"/>
                <a:sym typeface="Times New Roman"/>
              </a:rPr>
              <a:t>sửa</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chữa</a:t>
            </a:r>
            <a:r>
              <a:rPr lang="en-US" sz="1500" kern="0" dirty="0">
                <a:solidFill>
                  <a:srgbClr val="000000"/>
                </a:solidFill>
                <a:highlight>
                  <a:srgbClr val="FFFFFF"/>
                </a:highlight>
                <a:latin typeface="Times New Roman"/>
                <a:ea typeface="Times New Roman"/>
                <a:cs typeface="Times New Roman"/>
                <a:sym typeface="Times New Roman"/>
              </a:rPr>
              <a:t>: 09ea (03 </a:t>
            </a:r>
            <a:r>
              <a:rPr lang="en-US" sz="1500" kern="0" dirty="0" err="1">
                <a:solidFill>
                  <a:srgbClr val="000000"/>
                </a:solidFill>
                <a:highlight>
                  <a:srgbClr val="FFFFFF"/>
                </a:highlight>
                <a:latin typeface="Times New Roman"/>
                <a:ea typeface="Times New Roman"/>
                <a:cs typeface="Times New Roman"/>
                <a:sym typeface="Times New Roman"/>
              </a:rPr>
              <a:t>động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cơ</a:t>
            </a:r>
            <a:r>
              <a:rPr lang="en-US" sz="1500" kern="0" dirty="0">
                <a:solidFill>
                  <a:srgbClr val="000000"/>
                </a:solidFill>
                <a:highlight>
                  <a:srgbClr val="FFFFFF"/>
                </a:highlight>
                <a:latin typeface="Times New Roman"/>
                <a:ea typeface="Times New Roman"/>
                <a:cs typeface="Times New Roman"/>
                <a:sym typeface="Times New Roman"/>
              </a:rPr>
              <a:t> 21047 </a:t>
            </a:r>
            <a:r>
              <a:rPr lang="en-US" sz="1500" kern="0" dirty="0" err="1">
                <a:solidFill>
                  <a:srgbClr val="000000"/>
                </a:solidFill>
                <a:highlight>
                  <a:srgbClr val="FFFFFF"/>
                </a:highlight>
                <a:latin typeface="Times New Roman"/>
                <a:ea typeface="Times New Roman"/>
                <a:cs typeface="Times New Roman"/>
                <a:sym typeface="Times New Roman"/>
              </a:rPr>
              <a:t>và</a:t>
            </a:r>
            <a:r>
              <a:rPr lang="en-US" sz="1500" kern="0" dirty="0">
                <a:solidFill>
                  <a:srgbClr val="000000"/>
                </a:solidFill>
                <a:highlight>
                  <a:srgbClr val="FFFFFF"/>
                </a:highlight>
                <a:latin typeface="Times New Roman"/>
                <a:ea typeface="Times New Roman"/>
                <a:cs typeface="Times New Roman"/>
                <a:sym typeface="Times New Roman"/>
              </a:rPr>
              <a:t> 21043 </a:t>
            </a:r>
            <a:r>
              <a:rPr lang="en-US" sz="1500" kern="0" dirty="0" err="1">
                <a:solidFill>
                  <a:srgbClr val="000000"/>
                </a:solidFill>
                <a:highlight>
                  <a:srgbClr val="FFFFFF"/>
                </a:highlight>
                <a:latin typeface="Times New Roman"/>
                <a:ea typeface="Times New Roman"/>
                <a:cs typeface="Times New Roman"/>
                <a:sym typeface="Times New Roman"/>
              </a:rPr>
              <a:t>và</a:t>
            </a:r>
            <a:r>
              <a:rPr lang="en-US" sz="1500" kern="0" dirty="0">
                <a:solidFill>
                  <a:srgbClr val="000000"/>
                </a:solidFill>
                <a:highlight>
                  <a:srgbClr val="FFFFFF"/>
                </a:highlight>
                <a:latin typeface="Times New Roman"/>
                <a:ea typeface="Times New Roman"/>
                <a:cs typeface="Times New Roman"/>
                <a:sym typeface="Times New Roman"/>
              </a:rPr>
              <a:t> 21317 </a:t>
            </a:r>
            <a:r>
              <a:rPr lang="en-US" sz="1500" kern="0" dirty="0" err="1">
                <a:solidFill>
                  <a:srgbClr val="000000"/>
                </a:solidFill>
                <a:highlight>
                  <a:srgbClr val="FFFFFF"/>
                </a:highlight>
                <a:latin typeface="Times New Roman"/>
                <a:ea typeface="Times New Roman"/>
                <a:cs typeface="Times New Roman"/>
                <a:sym typeface="Times New Roman"/>
              </a:rPr>
              <a:t>sửa</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tại</a:t>
            </a:r>
            <a:r>
              <a:rPr lang="en-US" sz="1500" kern="0" dirty="0">
                <a:solidFill>
                  <a:srgbClr val="000000"/>
                </a:solidFill>
                <a:highlight>
                  <a:srgbClr val="FFFFFF"/>
                </a:highlight>
                <a:latin typeface="Times New Roman"/>
                <a:ea typeface="Times New Roman"/>
                <a:cs typeface="Times New Roman"/>
                <a:sym typeface="Times New Roman"/>
              </a:rPr>
              <a:t> N3 </a:t>
            </a:r>
            <a:r>
              <a:rPr lang="en-US" sz="1500" kern="0" dirty="0" err="1">
                <a:solidFill>
                  <a:srgbClr val="000000"/>
                </a:solidFill>
                <a:highlight>
                  <a:srgbClr val="FFFFFF"/>
                </a:highlight>
                <a:latin typeface="Times New Roman"/>
                <a:ea typeface="Times New Roman"/>
                <a:cs typeface="Times New Roman"/>
                <a:sym typeface="Times New Roman"/>
              </a:rPr>
              <a:t>và</a:t>
            </a:r>
            <a:r>
              <a:rPr lang="en-US" sz="1500" kern="0" dirty="0">
                <a:solidFill>
                  <a:srgbClr val="000000"/>
                </a:solidFill>
                <a:highlight>
                  <a:srgbClr val="FFFFFF"/>
                </a:highlight>
                <a:latin typeface="Times New Roman"/>
                <a:ea typeface="Times New Roman"/>
                <a:cs typeface="Times New Roman"/>
                <a:sym typeface="Times New Roman"/>
              </a:rPr>
              <a:t> 03 </a:t>
            </a:r>
            <a:r>
              <a:rPr lang="en-US" sz="1500" kern="0" dirty="0" err="1">
                <a:solidFill>
                  <a:srgbClr val="000000"/>
                </a:solidFill>
                <a:highlight>
                  <a:srgbClr val="FFFFFF"/>
                </a:highlight>
                <a:latin typeface="Times New Roman"/>
                <a:ea typeface="Times New Roman"/>
                <a:cs typeface="Times New Roman"/>
                <a:sym typeface="Times New Roman"/>
              </a:rPr>
              <a:t>động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cơ</a:t>
            </a:r>
            <a:r>
              <a:rPr lang="en-US" sz="1500" kern="0" dirty="0">
                <a:solidFill>
                  <a:srgbClr val="000000"/>
                </a:solidFill>
                <a:highlight>
                  <a:srgbClr val="FFFFFF"/>
                </a:highlight>
                <a:latin typeface="Times New Roman"/>
                <a:ea typeface="Times New Roman"/>
                <a:cs typeface="Times New Roman"/>
                <a:sym typeface="Times New Roman"/>
              </a:rPr>
              <a:t> 21422 &amp; 21269 &amp; 21201 </a:t>
            </a:r>
            <a:r>
              <a:rPr lang="en-US" sz="1500" kern="0" dirty="0" err="1">
                <a:solidFill>
                  <a:srgbClr val="000000"/>
                </a:solidFill>
                <a:highlight>
                  <a:srgbClr val="FFFFFF"/>
                </a:highlight>
                <a:latin typeface="Times New Roman"/>
                <a:ea typeface="Times New Roman"/>
                <a:cs typeface="Times New Roman"/>
                <a:sym typeface="Times New Roman"/>
              </a:rPr>
              <a:t>sửa</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tại</a:t>
            </a:r>
            <a:r>
              <a:rPr lang="en-US" sz="1500" kern="0" dirty="0">
                <a:solidFill>
                  <a:srgbClr val="000000"/>
                </a:solidFill>
                <a:highlight>
                  <a:srgbClr val="FFFFFF"/>
                </a:highlight>
                <a:latin typeface="Times New Roman"/>
                <a:ea typeface="Times New Roman"/>
                <a:cs typeface="Times New Roman"/>
                <a:sym typeface="Times New Roman"/>
              </a:rPr>
              <a:t> HAESL </a:t>
            </a:r>
            <a:r>
              <a:rPr lang="en-US" sz="1500" kern="0" dirty="0" err="1">
                <a:solidFill>
                  <a:srgbClr val="000000"/>
                </a:solidFill>
                <a:highlight>
                  <a:srgbClr val="FFFFFF"/>
                </a:highlight>
                <a:latin typeface="Times New Roman"/>
                <a:ea typeface="Times New Roman"/>
                <a:cs typeface="Times New Roman"/>
                <a:sym typeface="Times New Roman"/>
              </a:rPr>
              <a:t>và</a:t>
            </a:r>
            <a:r>
              <a:rPr lang="en-US" sz="1500" kern="0" dirty="0">
                <a:solidFill>
                  <a:srgbClr val="000000"/>
                </a:solidFill>
                <a:highlight>
                  <a:srgbClr val="FFFFFF"/>
                </a:highlight>
                <a:latin typeface="Times New Roman"/>
                <a:ea typeface="Times New Roman"/>
                <a:cs typeface="Times New Roman"/>
                <a:sym typeface="Times New Roman"/>
              </a:rPr>
              <a:t> 03 </a:t>
            </a:r>
            <a:r>
              <a:rPr lang="en-US" sz="1500" kern="0" dirty="0" err="1">
                <a:solidFill>
                  <a:srgbClr val="000000"/>
                </a:solidFill>
                <a:highlight>
                  <a:srgbClr val="FFFFFF"/>
                </a:highlight>
                <a:latin typeface="Times New Roman"/>
                <a:ea typeface="Times New Roman"/>
                <a:cs typeface="Times New Roman"/>
                <a:sym typeface="Times New Roman"/>
              </a:rPr>
              <a:t>tại</a:t>
            </a:r>
            <a:r>
              <a:rPr lang="en-US" sz="1500" kern="0" dirty="0">
                <a:solidFill>
                  <a:srgbClr val="000000"/>
                </a:solidFill>
                <a:highlight>
                  <a:srgbClr val="FFFFFF"/>
                </a:highlight>
                <a:latin typeface="Times New Roman"/>
                <a:ea typeface="Times New Roman"/>
                <a:cs typeface="Times New Roman"/>
                <a:sym typeface="Times New Roman"/>
              </a:rPr>
              <a:t> SEASL 21584, 21414 </a:t>
            </a:r>
            <a:r>
              <a:rPr lang="en-US" sz="1500" kern="0" dirty="0" err="1">
                <a:solidFill>
                  <a:srgbClr val="000000"/>
                </a:solidFill>
                <a:highlight>
                  <a:srgbClr val="FFFFFF"/>
                </a:highlight>
                <a:latin typeface="Times New Roman"/>
                <a:ea typeface="Times New Roman"/>
                <a:cs typeface="Times New Roman"/>
                <a:sym typeface="Times New Roman"/>
              </a:rPr>
              <a:t>và</a:t>
            </a:r>
            <a:r>
              <a:rPr lang="en-US" sz="1500" kern="0" dirty="0">
                <a:solidFill>
                  <a:srgbClr val="000000"/>
                </a:solidFill>
                <a:highlight>
                  <a:srgbClr val="FFFFFF"/>
                </a:highlight>
                <a:latin typeface="Times New Roman"/>
                <a:ea typeface="Times New Roman"/>
                <a:cs typeface="Times New Roman"/>
                <a:sym typeface="Times New Roman"/>
              </a:rPr>
              <a:t> 21604). Trong </a:t>
            </a:r>
            <a:r>
              <a:rPr lang="en-US" sz="1500" kern="0" dirty="0" err="1">
                <a:solidFill>
                  <a:srgbClr val="000000"/>
                </a:solidFill>
                <a:highlight>
                  <a:srgbClr val="FFFFFF"/>
                </a:highlight>
                <a:latin typeface="Times New Roman"/>
                <a:ea typeface="Times New Roman"/>
                <a:cs typeface="Times New Roman"/>
                <a:sym typeface="Times New Roman"/>
              </a:rPr>
              <a:t>đó</a:t>
            </a:r>
            <a:r>
              <a:rPr lang="en-US" sz="1500" kern="0" dirty="0">
                <a:solidFill>
                  <a:srgbClr val="000000"/>
                </a:solidFill>
                <a:highlight>
                  <a:srgbClr val="FFFFFF"/>
                </a:highlight>
                <a:latin typeface="Times New Roman"/>
                <a:ea typeface="Times New Roman"/>
                <a:cs typeface="Times New Roman"/>
                <a:sym typeface="Times New Roman"/>
              </a:rPr>
              <a:t> 21269 </a:t>
            </a:r>
            <a:r>
              <a:rPr lang="en-US" sz="1500" kern="0" dirty="0" err="1">
                <a:solidFill>
                  <a:srgbClr val="000000"/>
                </a:solidFill>
                <a:highlight>
                  <a:srgbClr val="FFFFFF"/>
                </a:highlight>
                <a:latin typeface="Times New Roman"/>
                <a:ea typeface="Times New Roman"/>
                <a:cs typeface="Times New Roman"/>
                <a:sym typeface="Times New Roman"/>
              </a:rPr>
              <a:t>dự</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kiến</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về</a:t>
            </a:r>
            <a:r>
              <a:rPr lang="en-US" sz="1500" kern="0" dirty="0">
                <a:solidFill>
                  <a:srgbClr val="000000"/>
                </a:solidFill>
                <a:highlight>
                  <a:srgbClr val="FFFFFF"/>
                </a:highlight>
                <a:latin typeface="Times New Roman"/>
                <a:ea typeface="Times New Roman"/>
                <a:cs typeface="Times New Roman"/>
                <a:sym typeface="Times New Roman"/>
              </a:rPr>
              <a:t> HAN 27/03.</a:t>
            </a:r>
            <a:endParaRPr sz="1500" kern="0" dirty="0">
              <a:solidFill>
                <a:srgbClr val="000000"/>
              </a:solidFill>
              <a:highlight>
                <a:srgbClr val="FFFFFF"/>
              </a:highlight>
              <a:latin typeface="Times New Roman"/>
              <a:ea typeface="Times New Roman"/>
              <a:cs typeface="Times New Roman"/>
              <a:sym typeface="Times New Roman"/>
            </a:endParaRPr>
          </a:p>
          <a:p>
            <a:pPr algn="just">
              <a:buClr>
                <a:srgbClr val="000000"/>
              </a:buClr>
              <a:buSzPts val="1500"/>
              <a:buFont typeface="Arial"/>
              <a:buNone/>
            </a:pPr>
            <a:endParaRPr sz="1500" kern="0" dirty="0">
              <a:solidFill>
                <a:srgbClr val="000000"/>
              </a:solidFill>
              <a:highlight>
                <a:srgbClr val="FFFFFF"/>
              </a:highlight>
              <a:latin typeface="Times New Roman"/>
              <a:ea typeface="Times New Roman"/>
              <a:cs typeface="Times New Roman"/>
              <a:sym typeface="Times New Roman"/>
            </a:endParaRPr>
          </a:p>
          <a:p>
            <a:pPr algn="just">
              <a:buClr>
                <a:srgbClr val="000000"/>
              </a:buClr>
              <a:buSzPts val="1500"/>
              <a:buFont typeface="Arial"/>
              <a:buNone/>
            </a:pPr>
            <a:r>
              <a:rPr lang="en-US" sz="1500" kern="0" dirty="0">
                <a:solidFill>
                  <a:srgbClr val="000000"/>
                </a:solidFill>
                <a:highlight>
                  <a:srgbClr val="FFFFFF"/>
                </a:highlight>
                <a:latin typeface="Times New Roman"/>
                <a:ea typeface="Times New Roman"/>
                <a:cs typeface="Times New Roman"/>
                <a:sym typeface="Times New Roman"/>
              </a:rPr>
              <a:t>•</a:t>
            </a:r>
            <a:r>
              <a:rPr lang="en-US" sz="1500" kern="0" dirty="0" err="1">
                <a:solidFill>
                  <a:srgbClr val="000000"/>
                </a:solidFill>
                <a:highlight>
                  <a:srgbClr val="FFFFFF"/>
                </a:highlight>
                <a:latin typeface="Times New Roman"/>
                <a:ea typeface="Times New Roman"/>
                <a:cs typeface="Times New Roman"/>
                <a:sym typeface="Times New Roman"/>
              </a:rPr>
              <a:t>Đã</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thu</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xếp</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chuyển</a:t>
            </a:r>
            <a:r>
              <a:rPr lang="en-US" sz="1500" kern="0" dirty="0">
                <a:solidFill>
                  <a:srgbClr val="000000"/>
                </a:solidFill>
                <a:highlight>
                  <a:srgbClr val="FFFFFF"/>
                </a:highlight>
                <a:latin typeface="Times New Roman"/>
                <a:ea typeface="Times New Roman"/>
                <a:cs typeface="Times New Roman"/>
                <a:sym typeface="Times New Roman"/>
              </a:rPr>
              <a:t> 01 core engine stand </a:t>
            </a:r>
            <a:r>
              <a:rPr lang="en-US" sz="1500" kern="0" dirty="0" err="1">
                <a:solidFill>
                  <a:srgbClr val="000000"/>
                </a:solidFill>
                <a:highlight>
                  <a:srgbClr val="FFFFFF"/>
                </a:highlight>
                <a:latin typeface="Times New Roman"/>
                <a:ea typeface="Times New Roman"/>
                <a:cs typeface="Times New Roman"/>
                <a:sym typeface="Times New Roman"/>
              </a:rPr>
              <a:t>từ</a:t>
            </a:r>
            <a:r>
              <a:rPr lang="en-US" sz="1500" kern="0" dirty="0">
                <a:solidFill>
                  <a:srgbClr val="000000"/>
                </a:solidFill>
                <a:highlight>
                  <a:srgbClr val="FFFFFF"/>
                </a:highlight>
                <a:latin typeface="Times New Roman"/>
                <a:ea typeface="Times New Roman"/>
                <a:cs typeface="Times New Roman"/>
                <a:sym typeface="Times New Roman"/>
              </a:rPr>
              <a:t> N3 </a:t>
            </a:r>
            <a:r>
              <a:rPr lang="en-US" sz="1500" kern="0" dirty="0" err="1">
                <a:solidFill>
                  <a:srgbClr val="000000"/>
                </a:solidFill>
                <a:highlight>
                  <a:srgbClr val="FFFFFF"/>
                </a:highlight>
                <a:latin typeface="Times New Roman"/>
                <a:ea typeface="Times New Roman"/>
                <a:cs typeface="Times New Roman"/>
                <a:sym typeface="Times New Roman"/>
              </a:rPr>
              <a:t>về</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để</a:t>
            </a:r>
            <a:r>
              <a:rPr lang="en-US" sz="1500" kern="0" dirty="0">
                <a:solidFill>
                  <a:srgbClr val="000000"/>
                </a:solidFill>
                <a:highlight>
                  <a:srgbClr val="FFFFFF"/>
                </a:highlight>
                <a:latin typeface="Times New Roman"/>
                <a:ea typeface="Times New Roman"/>
                <a:cs typeface="Times New Roman"/>
                <a:sym typeface="Times New Roman"/>
              </a:rPr>
              <a:t> swap </a:t>
            </a:r>
            <a:r>
              <a:rPr lang="en-US" sz="1500" kern="0" dirty="0" err="1">
                <a:solidFill>
                  <a:srgbClr val="000000"/>
                </a:solidFill>
                <a:highlight>
                  <a:srgbClr val="FFFFFF"/>
                </a:highlight>
                <a:latin typeface="Times New Roman"/>
                <a:ea typeface="Times New Roman"/>
                <a:cs typeface="Times New Roman"/>
                <a:sym typeface="Times New Roman"/>
              </a:rPr>
              <a:t>động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cơ</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vào</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tháo</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tiếp</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động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cơ</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gửi</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đi</a:t>
            </a:r>
            <a:r>
              <a:rPr lang="en-US" sz="1500" kern="0" dirty="0">
                <a:solidFill>
                  <a:srgbClr val="000000"/>
                </a:solidFill>
                <a:highlight>
                  <a:srgbClr val="FFFFFF"/>
                </a:highlight>
                <a:latin typeface="Times New Roman"/>
                <a:ea typeface="Times New Roman"/>
                <a:cs typeface="Times New Roman"/>
                <a:sym typeface="Times New Roman"/>
              </a:rPr>
              <a:t> shop.</a:t>
            </a:r>
            <a:endParaRPr sz="1500" kern="0" dirty="0">
              <a:solidFill>
                <a:srgbClr val="000000"/>
              </a:solidFill>
              <a:highlight>
                <a:srgbClr val="FFFFFF"/>
              </a:highlight>
              <a:latin typeface="Times New Roman"/>
              <a:ea typeface="Times New Roman"/>
              <a:cs typeface="Times New Roman"/>
              <a:sym typeface="Times New Roman"/>
            </a:endParaRPr>
          </a:p>
          <a:p>
            <a:pPr marL="457200" indent="-323850" algn="just">
              <a:buClr>
                <a:srgbClr val="000000"/>
              </a:buClr>
              <a:buSzPts val="1500"/>
              <a:buFont typeface="Times New Roman"/>
              <a:buChar char="+"/>
            </a:pPr>
            <a:r>
              <a:rPr lang="en-US" sz="1500" kern="0" dirty="0" err="1">
                <a:solidFill>
                  <a:srgbClr val="000000"/>
                </a:solidFill>
                <a:highlight>
                  <a:srgbClr val="FFFFFF"/>
                </a:highlight>
                <a:latin typeface="Times New Roman"/>
                <a:ea typeface="Times New Roman"/>
                <a:cs typeface="Times New Roman"/>
                <a:sym typeface="Times New Roman"/>
              </a:rPr>
              <a:t>đã</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thuê</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xếp</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chuyển</a:t>
            </a:r>
            <a:r>
              <a:rPr lang="en-US" sz="1500" kern="0" dirty="0">
                <a:solidFill>
                  <a:srgbClr val="000000"/>
                </a:solidFill>
                <a:highlight>
                  <a:srgbClr val="FFFFFF"/>
                </a:highlight>
                <a:latin typeface="Times New Roman"/>
                <a:ea typeface="Times New Roman"/>
                <a:cs typeface="Times New Roman"/>
                <a:sym typeface="Times New Roman"/>
              </a:rPr>
              <a:t> 01 stand </a:t>
            </a:r>
            <a:r>
              <a:rPr lang="en-US" sz="1500" kern="0" dirty="0" err="1">
                <a:solidFill>
                  <a:srgbClr val="000000"/>
                </a:solidFill>
                <a:highlight>
                  <a:srgbClr val="FFFFFF"/>
                </a:highlight>
                <a:latin typeface="Times New Roman"/>
                <a:ea typeface="Times New Roman"/>
                <a:cs typeface="Times New Roman"/>
                <a:sym typeface="Times New Roman"/>
              </a:rPr>
              <a:t>từ</a:t>
            </a:r>
            <a:r>
              <a:rPr lang="en-US" sz="1500" kern="0" dirty="0">
                <a:solidFill>
                  <a:srgbClr val="000000"/>
                </a:solidFill>
                <a:highlight>
                  <a:srgbClr val="FFFFFF"/>
                </a:highlight>
                <a:latin typeface="Times New Roman"/>
                <a:ea typeface="Times New Roman"/>
                <a:cs typeface="Times New Roman"/>
                <a:sym typeface="Times New Roman"/>
              </a:rPr>
              <a:t> SIN </a:t>
            </a:r>
            <a:r>
              <a:rPr lang="en-US" sz="1500" kern="0" dirty="0" err="1">
                <a:solidFill>
                  <a:srgbClr val="000000"/>
                </a:solidFill>
                <a:highlight>
                  <a:srgbClr val="FFFFFF"/>
                </a:highlight>
                <a:latin typeface="Times New Roman"/>
                <a:ea typeface="Times New Roman"/>
                <a:cs typeface="Times New Roman"/>
                <a:sym typeface="Times New Roman"/>
              </a:rPr>
              <a:t>về</a:t>
            </a:r>
            <a:r>
              <a:rPr lang="en-US" sz="1500" kern="0" dirty="0">
                <a:solidFill>
                  <a:srgbClr val="000000"/>
                </a:solidFill>
                <a:highlight>
                  <a:srgbClr val="FFFFFF"/>
                </a:highlight>
                <a:latin typeface="Times New Roman"/>
                <a:ea typeface="Times New Roman"/>
                <a:cs typeface="Times New Roman"/>
                <a:sym typeface="Times New Roman"/>
              </a:rPr>
              <a:t> HKG </a:t>
            </a:r>
            <a:r>
              <a:rPr lang="en-US" sz="1500" kern="0" dirty="0" err="1">
                <a:solidFill>
                  <a:srgbClr val="000000"/>
                </a:solidFill>
                <a:highlight>
                  <a:srgbClr val="FFFFFF"/>
                </a:highlight>
                <a:latin typeface="Times New Roman"/>
                <a:ea typeface="Times New Roman"/>
                <a:cs typeface="Times New Roman"/>
                <a:sym typeface="Times New Roman"/>
              </a:rPr>
              <a:t>cho</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động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cơ</a:t>
            </a:r>
            <a:r>
              <a:rPr lang="en-US" sz="1500" kern="0" dirty="0">
                <a:solidFill>
                  <a:srgbClr val="000000"/>
                </a:solidFill>
                <a:highlight>
                  <a:srgbClr val="FFFFFF"/>
                </a:highlight>
                <a:latin typeface="Times New Roman"/>
                <a:ea typeface="Times New Roman"/>
                <a:cs typeface="Times New Roman"/>
                <a:sym typeface="Times New Roman"/>
              </a:rPr>
              <a:t> 21422 </a:t>
            </a:r>
            <a:r>
              <a:rPr lang="en-US" sz="1500" kern="0" dirty="0" err="1">
                <a:solidFill>
                  <a:srgbClr val="000000"/>
                </a:solidFill>
                <a:highlight>
                  <a:srgbClr val="FFFFFF"/>
                </a:highlight>
                <a:latin typeface="Times New Roman"/>
                <a:ea typeface="Times New Roman"/>
                <a:cs typeface="Times New Roman"/>
                <a:sym typeface="Times New Roman"/>
              </a:rPr>
              <a:t>sửa</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dự</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kiến</a:t>
            </a:r>
            <a:r>
              <a:rPr lang="en-US" sz="1500" kern="0" dirty="0">
                <a:solidFill>
                  <a:srgbClr val="000000"/>
                </a:solidFill>
                <a:highlight>
                  <a:srgbClr val="FFFFFF"/>
                </a:highlight>
                <a:latin typeface="Times New Roman"/>
                <a:ea typeface="Times New Roman"/>
                <a:cs typeface="Times New Roman"/>
                <a:sym typeface="Times New Roman"/>
              </a:rPr>
              <a:t> test 26Mar.</a:t>
            </a:r>
            <a:endParaRPr sz="1500" kern="0" dirty="0">
              <a:solidFill>
                <a:srgbClr val="000000"/>
              </a:solidFill>
              <a:highlight>
                <a:srgbClr val="FFFFFF"/>
              </a:highlight>
              <a:latin typeface="Times New Roman"/>
              <a:ea typeface="Times New Roman"/>
              <a:cs typeface="Times New Roman"/>
              <a:sym typeface="Times New Roman"/>
            </a:endParaRPr>
          </a:p>
          <a:p>
            <a:pPr algn="just">
              <a:buClr>
                <a:srgbClr val="000000"/>
              </a:buClr>
              <a:buSzPts val="1500"/>
              <a:buFont typeface="Arial"/>
              <a:buNone/>
            </a:pPr>
            <a:endParaRPr sz="1500" kern="0" dirty="0">
              <a:solidFill>
                <a:srgbClr val="000000"/>
              </a:solidFill>
              <a:highlight>
                <a:srgbClr val="FFFFFF"/>
              </a:highlight>
              <a:latin typeface="Times New Roman"/>
              <a:ea typeface="Times New Roman"/>
              <a:cs typeface="Times New Roman"/>
              <a:sym typeface="Times New Roman"/>
            </a:endParaRPr>
          </a:p>
          <a:p>
            <a:pPr algn="just">
              <a:buClr>
                <a:srgbClr val="000000"/>
              </a:buClr>
              <a:buSzPts val="1500"/>
              <a:buFont typeface="Arial"/>
              <a:buNone/>
            </a:pPr>
            <a:endParaRPr sz="1500" kern="0" dirty="0">
              <a:solidFill>
                <a:srgbClr val="000000"/>
              </a:solidFill>
              <a:highlight>
                <a:srgbClr val="FFFFFF"/>
              </a:highlight>
              <a:latin typeface="Times New Roman"/>
              <a:ea typeface="Times New Roman"/>
              <a:cs typeface="Times New Roman"/>
              <a:sym typeface="Times New Roman"/>
            </a:endParaRPr>
          </a:p>
          <a:p>
            <a:pPr algn="just">
              <a:buClr>
                <a:srgbClr val="000000"/>
              </a:buClr>
              <a:buSzPts val="1500"/>
              <a:buFont typeface="Arial"/>
              <a:buNone/>
            </a:pPr>
            <a:r>
              <a:rPr lang="en-US" sz="1500" b="1" kern="0" dirty="0">
                <a:solidFill>
                  <a:srgbClr val="FF0000"/>
                </a:solidFill>
                <a:highlight>
                  <a:srgbClr val="FFFFFF"/>
                </a:highlight>
                <a:latin typeface="Times New Roman"/>
                <a:ea typeface="Times New Roman"/>
                <a:cs typeface="Times New Roman"/>
                <a:sym typeface="Times New Roman"/>
              </a:rPr>
              <a:t>- Đội bay B787:</a:t>
            </a:r>
            <a:endParaRPr sz="1500" b="1" kern="0" dirty="0">
              <a:solidFill>
                <a:srgbClr val="FF0000"/>
              </a:solidFill>
              <a:highlight>
                <a:srgbClr val="FFFFFF"/>
              </a:highlight>
              <a:latin typeface="Times New Roman"/>
              <a:ea typeface="Times New Roman"/>
              <a:cs typeface="Times New Roman"/>
              <a:sym typeface="Times New Roman"/>
            </a:endParaRPr>
          </a:p>
          <a:p>
            <a:pPr algn="just">
              <a:buClr>
                <a:srgbClr val="000000"/>
              </a:buClr>
              <a:buSzPts val="1500"/>
              <a:buFont typeface="Arial"/>
              <a:buNone/>
            </a:pP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Số</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lượng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dự</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phòng</a:t>
            </a:r>
            <a:r>
              <a:rPr lang="en-US" sz="1500" kern="0" dirty="0">
                <a:solidFill>
                  <a:srgbClr val="000000"/>
                </a:solidFill>
                <a:highlight>
                  <a:srgbClr val="FFFFFF"/>
                </a:highlight>
                <a:latin typeface="Times New Roman"/>
                <a:ea typeface="Times New Roman"/>
                <a:cs typeface="Times New Roman"/>
                <a:sym typeface="Times New Roman"/>
              </a:rPr>
              <a:t>: 09ea (2 </a:t>
            </a:r>
            <a:r>
              <a:rPr lang="en-US" sz="1500" kern="0" dirty="0" err="1">
                <a:solidFill>
                  <a:srgbClr val="000000"/>
                </a:solidFill>
                <a:highlight>
                  <a:srgbClr val="FFFFFF"/>
                </a:highlight>
                <a:latin typeface="Times New Roman"/>
                <a:ea typeface="Times New Roman"/>
                <a:cs typeface="Times New Roman"/>
                <a:sym typeface="Times New Roman"/>
              </a:rPr>
              <a:t>sở</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hữu</a:t>
            </a:r>
            <a:r>
              <a:rPr lang="en-US" sz="1500" kern="0" dirty="0">
                <a:solidFill>
                  <a:srgbClr val="000000"/>
                </a:solidFill>
                <a:highlight>
                  <a:srgbClr val="FFFFFF"/>
                </a:highlight>
                <a:latin typeface="Times New Roman"/>
                <a:ea typeface="Times New Roman"/>
                <a:cs typeface="Times New Roman"/>
                <a:sym typeface="Times New Roman"/>
              </a:rPr>
              <a:t>, 2 </a:t>
            </a:r>
            <a:r>
              <a:rPr lang="en-US" sz="1500" kern="0" dirty="0" err="1">
                <a:solidFill>
                  <a:srgbClr val="000000"/>
                </a:solidFill>
                <a:highlight>
                  <a:srgbClr val="FFFFFF"/>
                </a:highlight>
                <a:latin typeface="Times New Roman"/>
                <a:ea typeface="Times New Roman"/>
                <a:cs typeface="Times New Roman"/>
                <a:sym typeface="Times New Roman"/>
              </a:rPr>
              <a:t>dài</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hạn</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và</a:t>
            </a:r>
            <a:r>
              <a:rPr lang="en-US" sz="1500" kern="0" dirty="0">
                <a:solidFill>
                  <a:srgbClr val="000000"/>
                </a:solidFill>
                <a:highlight>
                  <a:srgbClr val="FFFFFF"/>
                </a:highlight>
                <a:latin typeface="Times New Roman"/>
                <a:ea typeface="Times New Roman"/>
                <a:cs typeface="Times New Roman"/>
                <a:sym typeface="Times New Roman"/>
              </a:rPr>
              <a:t> 5 </a:t>
            </a:r>
            <a:r>
              <a:rPr lang="en-US" sz="1500" kern="0" dirty="0" err="1">
                <a:solidFill>
                  <a:srgbClr val="000000"/>
                </a:solidFill>
                <a:highlight>
                  <a:srgbClr val="FFFFFF"/>
                </a:highlight>
                <a:latin typeface="Times New Roman"/>
                <a:ea typeface="Times New Roman"/>
                <a:cs typeface="Times New Roman"/>
                <a:sym typeface="Times New Roman"/>
              </a:rPr>
              <a:t>ngắn</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hạn</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đã</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ký</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thêm</a:t>
            </a:r>
            <a:r>
              <a:rPr lang="en-US" sz="1500" kern="0" dirty="0">
                <a:solidFill>
                  <a:srgbClr val="000000"/>
                </a:solidFill>
                <a:highlight>
                  <a:srgbClr val="FFFFFF"/>
                </a:highlight>
                <a:latin typeface="Times New Roman"/>
                <a:ea typeface="Times New Roman"/>
                <a:cs typeface="Times New Roman"/>
                <a:sym typeface="Times New Roman"/>
              </a:rPr>
              <a:t> 02 </a:t>
            </a:r>
            <a:r>
              <a:rPr lang="en-US" sz="1500" kern="0" dirty="0" err="1">
                <a:solidFill>
                  <a:srgbClr val="000000"/>
                </a:solidFill>
                <a:highlight>
                  <a:srgbClr val="FFFFFF"/>
                </a:highlight>
                <a:latin typeface="Times New Roman"/>
                <a:ea typeface="Times New Roman"/>
                <a:cs typeface="Times New Roman"/>
                <a:sym typeface="Times New Roman"/>
              </a:rPr>
              <a:t>hđ</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thuê</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đc</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với</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Aercap</a:t>
            </a:r>
            <a:r>
              <a:rPr lang="en-US" sz="1500" kern="0" dirty="0">
                <a:solidFill>
                  <a:srgbClr val="000000"/>
                </a:solidFill>
                <a:highlight>
                  <a:srgbClr val="FFFFFF"/>
                </a:highlight>
                <a:latin typeface="Times New Roman"/>
                <a:ea typeface="Times New Roman"/>
                <a:cs typeface="Times New Roman"/>
                <a:sym typeface="Times New Roman"/>
              </a:rPr>
              <a:t>.</a:t>
            </a:r>
            <a:endParaRPr sz="1500" kern="0" dirty="0">
              <a:solidFill>
                <a:srgbClr val="000000"/>
              </a:solidFill>
              <a:highlight>
                <a:srgbClr val="FFFFFF"/>
              </a:highlight>
              <a:latin typeface="Times New Roman"/>
              <a:ea typeface="Times New Roman"/>
              <a:cs typeface="Times New Roman"/>
              <a:sym typeface="Times New Roman"/>
            </a:endParaRPr>
          </a:p>
          <a:p>
            <a:pPr algn="just">
              <a:buClr>
                <a:srgbClr val="000000"/>
              </a:buClr>
              <a:buSzPts val="1500"/>
              <a:buFont typeface="Arial"/>
              <a:buNone/>
            </a:pP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Số</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lượng</a:t>
            </a:r>
            <a:r>
              <a:rPr lang="en-US" sz="1500" kern="0" dirty="0">
                <a:solidFill>
                  <a:srgbClr val="000000"/>
                </a:solidFill>
                <a:highlight>
                  <a:srgbClr val="FFFFFF"/>
                </a:highlight>
                <a:latin typeface="Times New Roman"/>
                <a:ea typeface="Times New Roman"/>
                <a:cs typeface="Times New Roman"/>
                <a:sym typeface="Times New Roman"/>
              </a:rPr>
              <a:t> trong </a:t>
            </a:r>
            <a:r>
              <a:rPr lang="en-US" sz="1500" kern="0" dirty="0" err="1">
                <a:solidFill>
                  <a:srgbClr val="000000"/>
                </a:solidFill>
                <a:highlight>
                  <a:srgbClr val="FFFFFF"/>
                </a:highlight>
                <a:latin typeface="Times New Roman"/>
                <a:ea typeface="Times New Roman"/>
                <a:cs typeface="Times New Roman"/>
                <a:sym typeface="Times New Roman"/>
              </a:rPr>
              <a:t>kho</a:t>
            </a:r>
            <a:r>
              <a:rPr lang="en-US" sz="1500" kern="0" dirty="0">
                <a:solidFill>
                  <a:srgbClr val="000000"/>
                </a:solidFill>
                <a:highlight>
                  <a:srgbClr val="FFFFFF"/>
                </a:highlight>
                <a:latin typeface="Times New Roman"/>
                <a:ea typeface="Times New Roman"/>
                <a:cs typeface="Times New Roman"/>
                <a:sym typeface="Times New Roman"/>
              </a:rPr>
              <a:t>: 0.</a:t>
            </a:r>
            <a:endParaRPr sz="1500" kern="0" dirty="0">
              <a:solidFill>
                <a:srgbClr val="000000"/>
              </a:solidFill>
              <a:highlight>
                <a:srgbClr val="FFFFFF"/>
              </a:highlight>
              <a:latin typeface="Times New Roman"/>
              <a:ea typeface="Times New Roman"/>
              <a:cs typeface="Times New Roman"/>
              <a:sym typeface="Times New Roman"/>
            </a:endParaRPr>
          </a:p>
          <a:p>
            <a:pPr marL="457200" indent="-323850" algn="just">
              <a:lnSpc>
                <a:spcPct val="115000"/>
              </a:lnSpc>
              <a:buClr>
                <a:srgbClr val="000000"/>
              </a:buClr>
              <a:buSzPts val="1500"/>
              <a:buFont typeface="Times New Roman"/>
              <a:buChar char="+"/>
            </a:pPr>
            <a:r>
              <a:rPr lang="en-US" sz="1500" kern="0" dirty="0" err="1">
                <a:solidFill>
                  <a:srgbClr val="000000"/>
                </a:solidFill>
                <a:latin typeface="Times New Roman"/>
                <a:ea typeface="Times New Roman"/>
                <a:cs typeface="Times New Roman"/>
                <a:sym typeface="Times New Roman"/>
              </a:rPr>
              <a:t>Động</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cơ</a:t>
            </a:r>
            <a:r>
              <a:rPr lang="en-US" sz="1500" kern="0" dirty="0">
                <a:solidFill>
                  <a:srgbClr val="000000"/>
                </a:solidFill>
                <a:latin typeface="Times New Roman"/>
                <a:ea typeface="Times New Roman"/>
                <a:cs typeface="Times New Roman"/>
                <a:sym typeface="Times New Roman"/>
              </a:rPr>
              <a:t> 956556 </a:t>
            </a:r>
            <a:r>
              <a:rPr lang="en-US" sz="1500" kern="0" dirty="0" err="1">
                <a:solidFill>
                  <a:srgbClr val="000000"/>
                </a:solidFill>
                <a:latin typeface="Times New Roman"/>
                <a:ea typeface="Times New Roman"/>
                <a:cs typeface="Times New Roman"/>
                <a:sym typeface="Times New Roman"/>
              </a:rPr>
              <a:t>sửa</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tại</a:t>
            </a:r>
            <a:r>
              <a:rPr lang="en-US" sz="1500" kern="0" dirty="0">
                <a:solidFill>
                  <a:srgbClr val="000000"/>
                </a:solidFill>
                <a:latin typeface="Times New Roman"/>
                <a:ea typeface="Times New Roman"/>
                <a:cs typeface="Times New Roman"/>
                <a:sym typeface="Times New Roman"/>
              </a:rPr>
              <a:t> </a:t>
            </a:r>
            <a:r>
              <a:rPr lang="en-US" sz="1500" kern="0" dirty="0" smtClean="0">
                <a:solidFill>
                  <a:srgbClr val="000000"/>
                </a:solidFill>
                <a:latin typeface="Times New Roman"/>
                <a:ea typeface="Times New Roman"/>
                <a:cs typeface="Times New Roman"/>
                <a:sym typeface="Times New Roman"/>
              </a:rPr>
              <a:t>KLM </a:t>
            </a:r>
            <a:r>
              <a:rPr lang="en-US" sz="1500" kern="0" dirty="0" err="1" smtClean="0">
                <a:solidFill>
                  <a:srgbClr val="000000"/>
                </a:solidFill>
                <a:latin typeface="Times New Roman"/>
                <a:ea typeface="Times New Roman"/>
                <a:cs typeface="Times New Roman"/>
                <a:sym typeface="Times New Roman"/>
              </a:rPr>
              <a:t>về</a:t>
            </a:r>
            <a:r>
              <a:rPr lang="en-US" sz="1500" kern="0" dirty="0" smtClean="0">
                <a:solidFill>
                  <a:srgbClr val="000000"/>
                </a:solidFill>
                <a:latin typeface="Times New Roman"/>
                <a:ea typeface="Times New Roman"/>
                <a:cs typeface="Times New Roman"/>
                <a:sym typeface="Times New Roman"/>
              </a:rPr>
              <a:t> </a:t>
            </a:r>
            <a:r>
              <a:rPr lang="en-US" sz="1500" kern="0" dirty="0">
                <a:solidFill>
                  <a:srgbClr val="000000"/>
                </a:solidFill>
                <a:latin typeface="Times New Roman"/>
                <a:ea typeface="Times New Roman"/>
                <a:cs typeface="Times New Roman"/>
                <a:sym typeface="Times New Roman"/>
              </a:rPr>
              <a:t>SGN 23/03.</a:t>
            </a:r>
            <a:endParaRPr sz="1500" kern="0" dirty="0">
              <a:solidFill>
                <a:srgbClr val="000000"/>
              </a:solidFill>
              <a:highlight>
                <a:srgbClr val="FFFFFF"/>
              </a:highlight>
              <a:latin typeface="Times New Roman"/>
              <a:ea typeface="Times New Roman"/>
              <a:cs typeface="Times New Roman"/>
              <a:sym typeface="Times New Roman"/>
            </a:endParaRPr>
          </a:p>
          <a:p>
            <a:pPr algn="just">
              <a:buClr>
                <a:srgbClr val="000000"/>
              </a:buClr>
              <a:buSzPts val="1500"/>
              <a:buFont typeface="Arial"/>
              <a:buNone/>
            </a:pP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Số</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lượng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động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cơ</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đang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tại</a:t>
            </a:r>
            <a:r>
              <a:rPr lang="en-US" sz="1500" kern="0" dirty="0">
                <a:solidFill>
                  <a:srgbClr val="000000"/>
                </a:solidFill>
                <a:highlight>
                  <a:srgbClr val="FFFFFF"/>
                </a:highlight>
                <a:latin typeface="Times New Roman"/>
                <a:ea typeface="Times New Roman"/>
                <a:cs typeface="Times New Roman"/>
                <a:sym typeface="Times New Roman"/>
              </a:rPr>
              <a:t> shop </a:t>
            </a:r>
            <a:r>
              <a:rPr lang="en-US" sz="1500" kern="0" dirty="0" err="1">
                <a:solidFill>
                  <a:srgbClr val="000000"/>
                </a:solidFill>
                <a:highlight>
                  <a:srgbClr val="FFFFFF"/>
                </a:highlight>
                <a:latin typeface="Times New Roman"/>
                <a:ea typeface="Times New Roman"/>
                <a:cs typeface="Times New Roman"/>
                <a:sym typeface="Times New Roman"/>
              </a:rPr>
              <a:t>sửa</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chữa</a:t>
            </a:r>
            <a:r>
              <a:rPr lang="en-US" sz="1500" kern="0" dirty="0">
                <a:solidFill>
                  <a:srgbClr val="000000"/>
                </a:solidFill>
                <a:highlight>
                  <a:srgbClr val="FFFFFF"/>
                </a:highlight>
                <a:latin typeface="Times New Roman"/>
                <a:ea typeface="Times New Roman"/>
                <a:cs typeface="Times New Roman"/>
                <a:sym typeface="Times New Roman"/>
              </a:rPr>
              <a:t>:</a:t>
            </a:r>
            <a:endParaRPr sz="1500" kern="0" dirty="0">
              <a:solidFill>
                <a:srgbClr val="000000"/>
              </a:solidFill>
              <a:highlight>
                <a:srgbClr val="FFFFFF"/>
              </a:highlight>
              <a:latin typeface="Times New Roman"/>
              <a:ea typeface="Times New Roman"/>
              <a:cs typeface="Times New Roman"/>
              <a:sym typeface="Times New Roman"/>
            </a:endParaRPr>
          </a:p>
          <a:p>
            <a:pPr marL="457200" indent="-323850" algn="just">
              <a:buClr>
                <a:srgbClr val="000000"/>
              </a:buClr>
              <a:buSzPts val="1500"/>
              <a:buFont typeface="Times New Roman"/>
              <a:buChar char="+"/>
            </a:pPr>
            <a:r>
              <a:rPr lang="en-US" sz="1500" kern="0" dirty="0">
                <a:solidFill>
                  <a:srgbClr val="000000"/>
                </a:solidFill>
                <a:highlight>
                  <a:srgbClr val="FFFFFF"/>
                </a:highlight>
                <a:latin typeface="Times New Roman"/>
                <a:ea typeface="Times New Roman"/>
                <a:cs typeface="Times New Roman"/>
                <a:sym typeface="Times New Roman"/>
              </a:rPr>
              <a:t>04 </a:t>
            </a:r>
            <a:r>
              <a:rPr lang="en-US" sz="1500" kern="0" dirty="0" err="1">
                <a:solidFill>
                  <a:srgbClr val="000000"/>
                </a:solidFill>
                <a:highlight>
                  <a:srgbClr val="FFFFFF"/>
                </a:highlight>
                <a:latin typeface="Times New Roman"/>
                <a:ea typeface="Times New Roman"/>
                <a:cs typeface="Times New Roman"/>
                <a:sym typeface="Times New Roman"/>
              </a:rPr>
              <a:t>động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cơ</a:t>
            </a:r>
            <a:r>
              <a:rPr lang="en-US" sz="1500" kern="0" dirty="0">
                <a:solidFill>
                  <a:srgbClr val="000000"/>
                </a:solidFill>
                <a:highlight>
                  <a:srgbClr val="FFFFFF"/>
                </a:highlight>
                <a:latin typeface="Times New Roman"/>
                <a:ea typeface="Times New Roman"/>
                <a:cs typeface="Times New Roman"/>
                <a:sym typeface="Times New Roman"/>
              </a:rPr>
              <a:t> ở KLM shop: 956569, 956533, 956599 </a:t>
            </a:r>
            <a:r>
              <a:rPr lang="en-US" sz="1500" kern="0" dirty="0" err="1">
                <a:solidFill>
                  <a:srgbClr val="000000"/>
                </a:solidFill>
                <a:highlight>
                  <a:srgbClr val="FFFFFF"/>
                </a:highlight>
                <a:latin typeface="Times New Roman"/>
                <a:ea typeface="Times New Roman"/>
                <a:cs typeface="Times New Roman"/>
                <a:sym typeface="Times New Roman"/>
              </a:rPr>
              <a:t>và</a:t>
            </a:r>
            <a:r>
              <a:rPr lang="en-US" sz="1500" kern="0" dirty="0">
                <a:solidFill>
                  <a:srgbClr val="000000"/>
                </a:solidFill>
                <a:highlight>
                  <a:srgbClr val="FFFFFF"/>
                </a:highlight>
                <a:latin typeface="Times New Roman"/>
                <a:ea typeface="Times New Roman"/>
                <a:cs typeface="Times New Roman"/>
                <a:sym typeface="Times New Roman"/>
              </a:rPr>
              <a:t> 956947. trong </a:t>
            </a:r>
            <a:r>
              <a:rPr lang="en-US" sz="1500" kern="0" dirty="0" err="1">
                <a:solidFill>
                  <a:srgbClr val="000000"/>
                </a:solidFill>
                <a:highlight>
                  <a:srgbClr val="FFFFFF"/>
                </a:highlight>
                <a:latin typeface="Times New Roman"/>
                <a:ea typeface="Times New Roman"/>
                <a:cs typeface="Times New Roman"/>
                <a:sym typeface="Times New Roman"/>
              </a:rPr>
              <a:t>đó</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động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cơ</a:t>
            </a:r>
            <a:r>
              <a:rPr lang="en-US" sz="1500" kern="0" dirty="0">
                <a:solidFill>
                  <a:srgbClr val="000000"/>
                </a:solidFill>
                <a:highlight>
                  <a:srgbClr val="FFFFFF"/>
                </a:highlight>
                <a:latin typeface="Times New Roman"/>
                <a:ea typeface="Times New Roman"/>
                <a:cs typeface="Times New Roman"/>
                <a:sym typeface="Times New Roman"/>
              </a:rPr>
              <a:t> 956533 </a:t>
            </a:r>
            <a:r>
              <a:rPr lang="en-US" sz="1500" kern="0" dirty="0" err="1">
                <a:solidFill>
                  <a:srgbClr val="000000"/>
                </a:solidFill>
                <a:highlight>
                  <a:srgbClr val="FFFFFF"/>
                </a:highlight>
                <a:latin typeface="Times New Roman"/>
                <a:ea typeface="Times New Roman"/>
                <a:cs typeface="Times New Roman"/>
                <a:sym typeface="Times New Roman"/>
              </a:rPr>
              <a:t>dự</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kiến</a:t>
            </a:r>
            <a:r>
              <a:rPr lang="en-US" sz="1500" kern="0" dirty="0">
                <a:solidFill>
                  <a:srgbClr val="000000"/>
                </a:solidFill>
                <a:highlight>
                  <a:srgbClr val="FFFFFF"/>
                </a:highlight>
                <a:latin typeface="Times New Roman"/>
                <a:ea typeface="Times New Roman"/>
                <a:cs typeface="Times New Roman"/>
                <a:sym typeface="Times New Roman"/>
              </a:rPr>
              <a:t> test 06Apr </a:t>
            </a:r>
            <a:r>
              <a:rPr lang="en-US" sz="1500" kern="0" dirty="0" err="1">
                <a:solidFill>
                  <a:srgbClr val="000000"/>
                </a:solidFill>
                <a:highlight>
                  <a:srgbClr val="FFFFFF"/>
                </a:highlight>
                <a:latin typeface="Times New Roman"/>
                <a:ea typeface="Times New Roman"/>
                <a:cs typeface="Times New Roman"/>
                <a:sym typeface="Times New Roman"/>
              </a:rPr>
              <a:t>giao</a:t>
            </a:r>
            <a:r>
              <a:rPr lang="en-US" sz="1500" kern="0" dirty="0">
                <a:solidFill>
                  <a:srgbClr val="000000"/>
                </a:solidFill>
                <a:highlight>
                  <a:srgbClr val="FFFFFF"/>
                </a:highlight>
                <a:latin typeface="Times New Roman"/>
                <a:ea typeface="Times New Roman"/>
                <a:cs typeface="Times New Roman"/>
                <a:sym typeface="Times New Roman"/>
              </a:rPr>
              <a:t> 16Apr </a:t>
            </a:r>
            <a:r>
              <a:rPr lang="en-US" sz="1500" kern="0" dirty="0" err="1">
                <a:solidFill>
                  <a:srgbClr val="000000"/>
                </a:solidFill>
                <a:highlight>
                  <a:srgbClr val="FFFFFF"/>
                </a:highlight>
                <a:latin typeface="Times New Roman"/>
                <a:ea typeface="Times New Roman"/>
                <a:cs typeface="Times New Roman"/>
                <a:sym typeface="Times New Roman"/>
              </a:rPr>
              <a:t>về</a:t>
            </a:r>
            <a:r>
              <a:rPr lang="en-US" sz="1500" kern="0" dirty="0">
                <a:solidFill>
                  <a:srgbClr val="000000"/>
                </a:solidFill>
                <a:highlight>
                  <a:srgbClr val="FFFFFF"/>
                </a:highlight>
                <a:latin typeface="Times New Roman"/>
                <a:ea typeface="Times New Roman"/>
                <a:cs typeface="Times New Roman"/>
                <a:sym typeface="Times New Roman"/>
              </a:rPr>
              <a:t> SGN 23Apr. </a:t>
            </a:r>
            <a:r>
              <a:rPr lang="en-US" sz="1500" kern="0" dirty="0" err="1">
                <a:solidFill>
                  <a:srgbClr val="000000"/>
                </a:solidFill>
                <a:highlight>
                  <a:srgbClr val="FFFFFF"/>
                </a:highlight>
                <a:latin typeface="Times New Roman"/>
                <a:ea typeface="Times New Roman"/>
                <a:cs typeface="Times New Roman"/>
                <a:sym typeface="Times New Roman"/>
              </a:rPr>
              <a:t>nếu</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lấy</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cho</a:t>
            </a:r>
            <a:r>
              <a:rPr lang="en-US" sz="1500" kern="0" dirty="0">
                <a:solidFill>
                  <a:srgbClr val="000000"/>
                </a:solidFill>
                <a:highlight>
                  <a:srgbClr val="FFFFFF"/>
                </a:highlight>
                <a:latin typeface="Times New Roman"/>
                <a:ea typeface="Times New Roman"/>
                <a:cs typeface="Times New Roman"/>
                <a:sym typeface="Times New Roman"/>
              </a:rPr>
              <a:t> A868 </a:t>
            </a:r>
            <a:r>
              <a:rPr lang="en-US" sz="1500" kern="0" dirty="0" err="1">
                <a:solidFill>
                  <a:srgbClr val="000000"/>
                </a:solidFill>
                <a:highlight>
                  <a:srgbClr val="FFFFFF"/>
                </a:highlight>
                <a:latin typeface="Times New Roman"/>
                <a:ea typeface="Times New Roman"/>
                <a:cs typeface="Times New Roman"/>
                <a:sym typeface="Times New Roman"/>
              </a:rPr>
              <a:t>sẽ</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phải</a:t>
            </a:r>
            <a:r>
              <a:rPr lang="en-US" sz="1500" kern="0" dirty="0">
                <a:solidFill>
                  <a:srgbClr val="000000"/>
                </a:solidFill>
                <a:highlight>
                  <a:srgbClr val="FFFFFF"/>
                </a:highlight>
                <a:latin typeface="Times New Roman"/>
                <a:ea typeface="Times New Roman"/>
                <a:cs typeface="Times New Roman"/>
                <a:sym typeface="Times New Roman"/>
              </a:rPr>
              <a:t> AOG 01 </a:t>
            </a:r>
            <a:r>
              <a:rPr lang="en-US" sz="1500" kern="0" dirty="0" err="1">
                <a:solidFill>
                  <a:srgbClr val="000000"/>
                </a:solidFill>
                <a:highlight>
                  <a:srgbClr val="FFFFFF"/>
                </a:highlight>
                <a:latin typeface="Times New Roman"/>
                <a:ea typeface="Times New Roman"/>
                <a:cs typeface="Times New Roman"/>
                <a:sym typeface="Times New Roman"/>
              </a:rPr>
              <a:t>tháng</a:t>
            </a:r>
            <a:r>
              <a:rPr lang="en-US" sz="1500" kern="0" dirty="0">
                <a:solidFill>
                  <a:srgbClr val="000000"/>
                </a:solidFill>
                <a:highlight>
                  <a:srgbClr val="FFFFFF"/>
                </a:highlight>
                <a:latin typeface="Times New Roman"/>
                <a:ea typeface="Times New Roman"/>
                <a:cs typeface="Times New Roman"/>
                <a:sym typeface="Times New Roman"/>
              </a:rPr>
              <a:t> do </a:t>
            </a:r>
            <a:r>
              <a:rPr lang="en-US" sz="1500" kern="0" dirty="0" err="1">
                <a:solidFill>
                  <a:srgbClr val="000000"/>
                </a:solidFill>
                <a:highlight>
                  <a:srgbClr val="FFFFFF"/>
                </a:highlight>
                <a:latin typeface="Times New Roman"/>
                <a:ea typeface="Times New Roman"/>
                <a:cs typeface="Times New Roman"/>
                <a:sym typeface="Times New Roman"/>
              </a:rPr>
              <a:t>vậy</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đang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xem</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xét</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phương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án</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thuê</a:t>
            </a:r>
            <a:endParaRPr sz="1500" kern="0" dirty="0">
              <a:solidFill>
                <a:srgbClr val="000000"/>
              </a:solidFill>
              <a:highlight>
                <a:srgbClr val="FFFFFF"/>
              </a:highlight>
              <a:latin typeface="Times New Roman"/>
              <a:ea typeface="Times New Roman"/>
              <a:cs typeface="Times New Roman"/>
              <a:sym typeface="Times New Roman"/>
            </a:endParaRPr>
          </a:p>
          <a:p>
            <a:pPr marL="457200" indent="-323850" algn="just">
              <a:buClr>
                <a:srgbClr val="000000"/>
              </a:buClr>
              <a:buSzPts val="1500"/>
              <a:buFont typeface="Times New Roman"/>
              <a:buChar char="+"/>
            </a:pPr>
            <a:r>
              <a:rPr lang="en-US" sz="1500" kern="0" dirty="0">
                <a:solidFill>
                  <a:srgbClr val="000000"/>
                </a:solidFill>
                <a:highlight>
                  <a:srgbClr val="FFFFFF"/>
                </a:highlight>
                <a:latin typeface="Times New Roman"/>
                <a:ea typeface="Times New Roman"/>
                <a:cs typeface="Times New Roman"/>
                <a:sym typeface="Times New Roman"/>
              </a:rPr>
              <a:t>01 </a:t>
            </a:r>
            <a:r>
              <a:rPr lang="en-US" sz="1500" kern="0" dirty="0" err="1">
                <a:solidFill>
                  <a:srgbClr val="000000"/>
                </a:solidFill>
                <a:highlight>
                  <a:srgbClr val="FFFFFF"/>
                </a:highlight>
                <a:latin typeface="Times New Roman"/>
                <a:ea typeface="Times New Roman"/>
                <a:cs typeface="Times New Roman"/>
                <a:sym typeface="Times New Roman"/>
              </a:rPr>
              <a:t>động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cơ</a:t>
            </a:r>
            <a:r>
              <a:rPr lang="en-US" sz="1500" kern="0" dirty="0">
                <a:solidFill>
                  <a:srgbClr val="000000"/>
                </a:solidFill>
                <a:highlight>
                  <a:srgbClr val="FFFFFF"/>
                </a:highlight>
                <a:latin typeface="Times New Roman"/>
                <a:ea typeface="Times New Roman"/>
                <a:cs typeface="Times New Roman"/>
                <a:sym typeface="Times New Roman"/>
              </a:rPr>
              <a:t> ở GE shop: 958398 (delay in GEEVES).</a:t>
            </a:r>
            <a:endParaRPr sz="1500" kern="0" dirty="0">
              <a:solidFill>
                <a:srgbClr val="000000"/>
              </a:solidFill>
              <a:highlight>
                <a:srgbClr val="FFFF00"/>
              </a:highlight>
              <a:latin typeface="Times New Roman"/>
              <a:ea typeface="Times New Roman"/>
              <a:cs typeface="Times New Roman"/>
              <a:sym typeface="Times New Roman"/>
            </a:endParaRPr>
          </a:p>
          <a:p>
            <a:pPr algn="just">
              <a:buClr>
                <a:srgbClr val="000000"/>
              </a:buClr>
              <a:buSzPts val="1500"/>
              <a:buFont typeface="Arial"/>
              <a:buNone/>
            </a:pPr>
            <a:endParaRPr sz="1500" kern="0" dirty="0">
              <a:solidFill>
                <a:srgbClr val="000000"/>
              </a:solidFill>
              <a:highlight>
                <a:srgbClr val="FFFFFF"/>
              </a:highlight>
              <a:latin typeface="Times New Roman"/>
              <a:ea typeface="Times New Roman"/>
              <a:cs typeface="Times New Roman"/>
              <a:sym typeface="Times New Roman"/>
            </a:endParaRPr>
          </a:p>
          <a:p>
            <a:pPr algn="just">
              <a:buClr>
                <a:srgbClr val="000000"/>
              </a:buClr>
              <a:buSzPts val="1500"/>
              <a:buFont typeface="Arial"/>
              <a:buNone/>
            </a:pP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Thuê</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động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cơ</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đáp</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ứng</a:t>
            </a:r>
            <a:r>
              <a:rPr lang="en-US" sz="1500" kern="0" dirty="0">
                <a:solidFill>
                  <a:srgbClr val="000000"/>
                </a:solidFill>
                <a:highlight>
                  <a:srgbClr val="FFFFFF"/>
                </a:highlight>
                <a:latin typeface="Times New Roman"/>
                <a:ea typeface="Times New Roman"/>
                <a:cs typeface="Times New Roman"/>
                <a:sym typeface="Times New Roman"/>
              </a:rPr>
              <a:t> KH </a:t>
            </a:r>
            <a:r>
              <a:rPr lang="en-US" sz="1500" kern="0" dirty="0" err="1">
                <a:solidFill>
                  <a:srgbClr val="000000"/>
                </a:solidFill>
                <a:highlight>
                  <a:srgbClr val="FFFFFF"/>
                </a:highlight>
                <a:latin typeface="Times New Roman"/>
                <a:ea typeface="Times New Roman"/>
                <a:cs typeface="Times New Roman"/>
                <a:sym typeface="Times New Roman"/>
              </a:rPr>
              <a:t>sửa</a:t>
            </a:r>
            <a:r>
              <a:rPr lang="en-US" sz="1500" kern="0" dirty="0">
                <a:solidFill>
                  <a:srgbClr val="000000"/>
                </a:solidFill>
                <a:highlight>
                  <a:srgbClr val="FFFFFF"/>
                </a:highlight>
                <a:latin typeface="Times New Roman"/>
                <a:ea typeface="Times New Roman"/>
                <a:cs typeface="Times New Roman"/>
                <a:sym typeface="Times New Roman"/>
              </a:rPr>
              <a:t> 2024-2025: B787 </a:t>
            </a:r>
            <a:r>
              <a:rPr lang="en-US" sz="1500" kern="0" dirty="0" err="1">
                <a:solidFill>
                  <a:srgbClr val="000000"/>
                </a:solidFill>
                <a:highlight>
                  <a:srgbClr val="FFFFFF"/>
                </a:highlight>
                <a:latin typeface="Times New Roman"/>
                <a:ea typeface="Times New Roman"/>
                <a:cs typeface="Times New Roman"/>
                <a:sym typeface="Times New Roman"/>
              </a:rPr>
              <a:t>có</a:t>
            </a:r>
            <a:r>
              <a:rPr lang="en-US" sz="1500" kern="0" dirty="0">
                <a:solidFill>
                  <a:srgbClr val="000000"/>
                </a:solidFill>
                <a:highlight>
                  <a:srgbClr val="FFFFFF"/>
                </a:highlight>
                <a:latin typeface="Times New Roman"/>
                <a:ea typeface="Times New Roman"/>
                <a:cs typeface="Times New Roman"/>
                <a:sym typeface="Times New Roman"/>
              </a:rPr>
              <a:t> 04 </a:t>
            </a:r>
            <a:r>
              <a:rPr lang="en-US" sz="1500" kern="0" dirty="0" err="1">
                <a:solidFill>
                  <a:srgbClr val="000000"/>
                </a:solidFill>
                <a:highlight>
                  <a:srgbClr val="FFFFFF"/>
                </a:highlight>
                <a:latin typeface="Times New Roman"/>
                <a:ea typeface="Times New Roman"/>
                <a:cs typeface="Times New Roman"/>
                <a:sym typeface="Times New Roman"/>
              </a:rPr>
              <a:t>dự</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phòng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và</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đang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thuê</a:t>
            </a:r>
            <a:r>
              <a:rPr lang="en-US" sz="1500" kern="0" dirty="0">
                <a:solidFill>
                  <a:srgbClr val="000000"/>
                </a:solidFill>
                <a:highlight>
                  <a:srgbClr val="FFFFFF"/>
                </a:highlight>
                <a:latin typeface="Times New Roman"/>
                <a:ea typeface="Times New Roman"/>
                <a:cs typeface="Times New Roman"/>
                <a:sym typeface="Times New Roman"/>
              </a:rPr>
              <a:t> 05 </a:t>
            </a:r>
            <a:r>
              <a:rPr lang="en-US" sz="1500" kern="0" dirty="0" err="1">
                <a:solidFill>
                  <a:srgbClr val="000000"/>
                </a:solidFill>
                <a:highlight>
                  <a:srgbClr val="FFFFFF"/>
                </a:highlight>
                <a:latin typeface="Times New Roman"/>
                <a:ea typeface="Times New Roman"/>
                <a:cs typeface="Times New Roman"/>
                <a:sym typeface="Times New Roman"/>
              </a:rPr>
              <a:t>của</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Aercap</a:t>
            </a:r>
            <a:r>
              <a:rPr lang="en-US" sz="1500" kern="0" dirty="0">
                <a:solidFill>
                  <a:srgbClr val="000000"/>
                </a:solidFill>
                <a:highlight>
                  <a:srgbClr val="FFFFFF"/>
                </a:highlight>
                <a:latin typeface="Times New Roman"/>
                <a:ea typeface="Times New Roman"/>
                <a:cs typeface="Times New Roman"/>
                <a:sym typeface="Times New Roman"/>
              </a:rPr>
              <a:t> (956933; 958266 </a:t>
            </a:r>
            <a:r>
              <a:rPr lang="en-US" sz="1500" kern="0" dirty="0" err="1">
                <a:solidFill>
                  <a:srgbClr val="000000"/>
                </a:solidFill>
                <a:highlight>
                  <a:srgbClr val="FFFFFF"/>
                </a:highlight>
                <a:latin typeface="Times New Roman"/>
                <a:ea typeface="Times New Roman"/>
                <a:cs typeface="Times New Roman"/>
                <a:sym typeface="Times New Roman"/>
              </a:rPr>
              <a:t>và</a:t>
            </a:r>
            <a:r>
              <a:rPr lang="en-US" sz="1500" kern="0" dirty="0">
                <a:solidFill>
                  <a:srgbClr val="000000"/>
                </a:solidFill>
                <a:highlight>
                  <a:srgbClr val="FFFFFF"/>
                </a:highlight>
                <a:latin typeface="Times New Roman"/>
                <a:ea typeface="Times New Roman"/>
                <a:cs typeface="Times New Roman"/>
                <a:sym typeface="Times New Roman"/>
              </a:rPr>
              <a:t> 958934 958966 </a:t>
            </a:r>
            <a:r>
              <a:rPr lang="en-US" sz="1500" kern="0" dirty="0" err="1">
                <a:solidFill>
                  <a:srgbClr val="000000"/>
                </a:solidFill>
                <a:highlight>
                  <a:srgbClr val="FFFFFF"/>
                </a:highlight>
                <a:latin typeface="Times New Roman"/>
                <a:ea typeface="Times New Roman"/>
                <a:cs typeface="Times New Roman"/>
                <a:sym typeface="Times New Roman"/>
              </a:rPr>
              <a:t>và</a:t>
            </a:r>
            <a:r>
              <a:rPr lang="en-US" sz="1500" kern="0" dirty="0">
                <a:solidFill>
                  <a:srgbClr val="000000"/>
                </a:solidFill>
                <a:highlight>
                  <a:srgbClr val="FFFFFF"/>
                </a:highlight>
                <a:latin typeface="Times New Roman"/>
                <a:ea typeface="Times New Roman"/>
                <a:cs typeface="Times New Roman"/>
                <a:sym typeface="Times New Roman"/>
              </a:rPr>
              <a:t> 956626) </a:t>
            </a:r>
            <a:r>
              <a:rPr lang="en-US" sz="1500" kern="0" dirty="0" err="1">
                <a:solidFill>
                  <a:srgbClr val="000000"/>
                </a:solidFill>
                <a:highlight>
                  <a:srgbClr val="FFFFFF"/>
                </a:highlight>
                <a:latin typeface="Times New Roman"/>
                <a:ea typeface="Times New Roman"/>
                <a:cs typeface="Times New Roman"/>
                <a:sym typeface="Times New Roman"/>
              </a:rPr>
              <a:t>dự</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kiến</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cần</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thuê</a:t>
            </a:r>
            <a:r>
              <a:rPr lang="en-US" sz="1500" kern="0" dirty="0">
                <a:solidFill>
                  <a:srgbClr val="000000"/>
                </a:solidFill>
                <a:highlight>
                  <a:srgbClr val="FFFFFF"/>
                </a:highlight>
                <a:latin typeface="Times New Roman"/>
                <a:ea typeface="Times New Roman"/>
                <a:cs typeface="Times New Roman"/>
                <a:sym typeface="Times New Roman"/>
              </a:rPr>
              <a:t> 01 </a:t>
            </a:r>
            <a:r>
              <a:rPr lang="en-US" sz="1500" kern="0" dirty="0" err="1">
                <a:solidFill>
                  <a:srgbClr val="000000"/>
                </a:solidFill>
                <a:highlight>
                  <a:srgbClr val="FFFFFF"/>
                </a:highlight>
                <a:latin typeface="Times New Roman"/>
                <a:ea typeface="Times New Roman"/>
                <a:cs typeface="Times New Roman"/>
                <a:sym typeface="Times New Roman"/>
              </a:rPr>
              <a:t>động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cơ</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nữa</a:t>
            </a:r>
            <a:r>
              <a:rPr lang="en-US" sz="1500" kern="0" dirty="0">
                <a:solidFill>
                  <a:srgbClr val="000000"/>
                </a:solidFill>
                <a:highlight>
                  <a:srgbClr val="FFFFFF"/>
                </a:highlight>
                <a:latin typeface="Times New Roman"/>
                <a:ea typeface="Times New Roman"/>
                <a:cs typeface="Times New Roman"/>
                <a:sym typeface="Times New Roman"/>
              </a:rPr>
              <a:t> Q1 trong </a:t>
            </a:r>
            <a:r>
              <a:rPr lang="en-US" sz="1500" kern="0" dirty="0" err="1">
                <a:solidFill>
                  <a:srgbClr val="000000"/>
                </a:solidFill>
                <a:highlight>
                  <a:srgbClr val="FFFFFF"/>
                </a:highlight>
                <a:latin typeface="Times New Roman"/>
                <a:ea typeface="Times New Roman"/>
                <a:cs typeface="Times New Roman"/>
                <a:sym typeface="Times New Roman"/>
              </a:rPr>
              <a:t>năm</a:t>
            </a:r>
            <a:r>
              <a:rPr lang="en-US" sz="1500" kern="0" dirty="0">
                <a:solidFill>
                  <a:srgbClr val="000000"/>
                </a:solidFill>
                <a:highlight>
                  <a:srgbClr val="FFFFFF"/>
                </a:highlight>
                <a:latin typeface="Times New Roman"/>
                <a:ea typeface="Times New Roman"/>
                <a:cs typeface="Times New Roman"/>
                <a:sym typeface="Times New Roman"/>
              </a:rPr>
              <a:t> 2025 do A868 </a:t>
            </a:r>
            <a:r>
              <a:rPr lang="en-US" sz="1500" kern="0" dirty="0" err="1">
                <a:solidFill>
                  <a:srgbClr val="000000"/>
                </a:solidFill>
                <a:highlight>
                  <a:srgbClr val="FFFFFF"/>
                </a:highlight>
                <a:latin typeface="Times New Roman"/>
                <a:ea typeface="Times New Roman"/>
                <a:cs typeface="Times New Roman"/>
                <a:sym typeface="Times New Roman"/>
              </a:rPr>
              <a:t>phải</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tháo</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cuối</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tháng</a:t>
            </a:r>
            <a:r>
              <a:rPr lang="en-US" sz="1500" kern="0" dirty="0">
                <a:solidFill>
                  <a:srgbClr val="000000"/>
                </a:solidFill>
                <a:highlight>
                  <a:srgbClr val="FFFFFF"/>
                </a:highlight>
                <a:latin typeface="Times New Roman"/>
                <a:ea typeface="Times New Roman"/>
                <a:cs typeface="Times New Roman"/>
                <a:sym typeface="Times New Roman"/>
              </a:rPr>
              <a:t> 3/2025  </a:t>
            </a:r>
            <a:endParaRPr sz="1500" kern="0"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864204221"/>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g31ccdae391d_0_368"/>
          <p:cNvSpPr txBox="1">
            <a:spLocks noGrp="1"/>
          </p:cNvSpPr>
          <p:nvPr>
            <p:ph type="title"/>
          </p:nvPr>
        </p:nvSpPr>
        <p:spPr>
          <a:xfrm>
            <a:off x="913579" y="-564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68" name="Google Shape;268;g31ccdae391d_0_36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57</a:t>
            </a:fld>
            <a:endParaRPr/>
          </a:p>
        </p:txBody>
      </p:sp>
      <p:sp>
        <p:nvSpPr>
          <p:cNvPr id="269" name="Google Shape;269;g31ccdae391d_0_368"/>
          <p:cNvSpPr/>
          <p:nvPr/>
        </p:nvSpPr>
        <p:spPr>
          <a:xfrm>
            <a:off x="760584" y="268052"/>
            <a:ext cx="10972200" cy="6626700"/>
          </a:xfrm>
          <a:prstGeom prst="rect">
            <a:avLst/>
          </a:prstGeom>
          <a:noFill/>
          <a:ln>
            <a:noFill/>
          </a:ln>
        </p:spPr>
        <p:txBody>
          <a:bodyPr spcFirstLastPara="1" wrap="square" lIns="91425" tIns="45700" rIns="91425" bIns="45700" anchor="t" anchorCtr="0">
            <a:noAutofit/>
          </a:bodyPr>
          <a:lstStyle/>
          <a:p>
            <a:pPr algn="just">
              <a:buClr>
                <a:srgbClr val="000000"/>
              </a:buClr>
              <a:buSzPts val="1500"/>
              <a:buFont typeface="Arial"/>
              <a:buNone/>
            </a:pPr>
            <a:endParaRPr sz="15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600" b="1" kern="0">
                <a:solidFill>
                  <a:srgbClr val="FF0000"/>
                </a:solidFill>
                <a:latin typeface="Times New Roman"/>
                <a:ea typeface="Times New Roman"/>
                <a:cs typeface="Times New Roman"/>
                <a:sym typeface="Times New Roman"/>
              </a:rPr>
              <a:t>- Đội bay A321 Ceo:</a:t>
            </a:r>
            <a:endParaRPr sz="1600" b="1" kern="0">
              <a:solidFill>
                <a:srgbClr val="FF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600" kern="0">
                <a:solidFill>
                  <a:srgbClr val="000000"/>
                </a:solidFill>
                <a:latin typeface="Times New Roman"/>
                <a:ea typeface="Times New Roman"/>
                <a:cs typeface="Times New Roman"/>
                <a:sym typeface="Times New Roman"/>
              </a:rPr>
              <a:t>• Số lượng dự phòng: 13 (3 sở hữu, 10 thuê ngắn hạn)</a:t>
            </a: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600" kern="0">
                <a:solidFill>
                  <a:srgbClr val="000000"/>
                </a:solidFill>
                <a:latin typeface="Times New Roman"/>
                <a:ea typeface="Times New Roman"/>
                <a:cs typeface="Times New Roman"/>
                <a:sym typeface="Times New Roman"/>
              </a:rPr>
              <a:t>• Số lượng trong kho: 03ea V17951 (HAN), V15851 (HAN), V16037 (SGN)</a:t>
            </a: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600" kern="0">
                <a:solidFill>
                  <a:srgbClr val="000000"/>
                </a:solidFill>
                <a:latin typeface="Times New Roman"/>
                <a:ea typeface="Times New Roman"/>
                <a:cs typeface="Times New Roman"/>
                <a:sym typeface="Times New Roman"/>
              </a:rPr>
              <a:t>• Số lượng US chờ chuyển đi: NIL</a:t>
            </a: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600" kern="0">
                <a:solidFill>
                  <a:srgbClr val="000000"/>
                </a:solidFill>
                <a:latin typeface="Times New Roman"/>
                <a:ea typeface="Times New Roman"/>
                <a:cs typeface="Times New Roman"/>
                <a:sym typeface="Times New Roman"/>
              </a:rPr>
              <a:t>• Số lượng động cơ đang sửa tại shop: 10ea </a:t>
            </a: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600" b="1" kern="0">
                <a:solidFill>
                  <a:srgbClr val="FF0000"/>
                </a:solidFill>
                <a:latin typeface="Times New Roman"/>
                <a:ea typeface="Times New Roman"/>
                <a:cs typeface="Times New Roman"/>
                <a:sym typeface="Times New Roman"/>
              </a:rPr>
              <a:t>-</a:t>
            </a:r>
            <a:r>
              <a:rPr lang="en-US" sz="1600" b="1" kern="0">
                <a:solidFill>
                  <a:srgbClr val="000000"/>
                </a:solidFill>
                <a:latin typeface="Times New Roman"/>
                <a:ea typeface="Times New Roman"/>
                <a:cs typeface="Times New Roman"/>
                <a:sym typeface="Times New Roman"/>
              </a:rPr>
              <a:t> </a:t>
            </a:r>
            <a:r>
              <a:rPr lang="en-US" sz="1600" b="1" kern="0">
                <a:solidFill>
                  <a:srgbClr val="FF0000"/>
                </a:solidFill>
                <a:latin typeface="Times New Roman"/>
                <a:ea typeface="Times New Roman"/>
                <a:cs typeface="Times New Roman"/>
                <a:sym typeface="Times New Roman"/>
              </a:rPr>
              <a:t>Vướng mắc:</a:t>
            </a:r>
            <a:endParaRPr sz="1600" b="1" kern="0">
              <a:solidFill>
                <a:srgbClr val="FF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600" kern="0">
                <a:solidFill>
                  <a:srgbClr val="000000"/>
                </a:solidFill>
                <a:latin typeface="Times New Roman"/>
                <a:ea typeface="Times New Roman"/>
                <a:cs typeface="Times New Roman"/>
                <a:sym typeface="Times New Roman"/>
              </a:rPr>
              <a:t>+ Danh mục missing part list của động cơ sửa chữa về</a:t>
            </a: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600" b="1" kern="0">
                <a:solidFill>
                  <a:srgbClr val="FF0000"/>
                </a:solidFill>
                <a:latin typeface="Times New Roman"/>
                <a:ea typeface="Times New Roman"/>
                <a:cs typeface="Times New Roman"/>
                <a:sym typeface="Times New Roman"/>
              </a:rPr>
              <a:t>-</a:t>
            </a:r>
            <a:r>
              <a:rPr lang="en-US" sz="1600" b="1" kern="0">
                <a:solidFill>
                  <a:srgbClr val="000000"/>
                </a:solidFill>
                <a:latin typeface="Times New Roman"/>
                <a:ea typeface="Times New Roman"/>
                <a:cs typeface="Times New Roman"/>
                <a:sym typeface="Times New Roman"/>
              </a:rPr>
              <a:t> </a:t>
            </a:r>
            <a:r>
              <a:rPr lang="en-US" sz="1600" b="1" kern="0">
                <a:solidFill>
                  <a:srgbClr val="FF0000"/>
                </a:solidFill>
                <a:latin typeface="Times New Roman"/>
                <a:ea typeface="Times New Roman"/>
                <a:cs typeface="Times New Roman"/>
                <a:sym typeface="Times New Roman"/>
              </a:rPr>
              <a:t>Giải pháp:</a:t>
            </a:r>
            <a:endParaRPr sz="1600" b="1" kern="0">
              <a:solidFill>
                <a:srgbClr val="FF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600" kern="0">
                <a:solidFill>
                  <a:srgbClr val="000000"/>
                </a:solidFill>
                <a:latin typeface="Times New Roman"/>
                <a:ea typeface="Times New Roman"/>
                <a:cs typeface="Times New Roman"/>
                <a:sym typeface="Times New Roman"/>
              </a:rPr>
              <a:t>+ Thúc đẩy việc sửa chữa động cơ tại shop</a:t>
            </a: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600" kern="0">
                <a:solidFill>
                  <a:srgbClr val="000000"/>
                </a:solidFill>
                <a:latin typeface="Times New Roman"/>
                <a:ea typeface="Times New Roman"/>
                <a:cs typeface="Times New Roman"/>
                <a:sym typeface="Times New Roman"/>
              </a:rPr>
              <a:t>+ Làm việc với Ban KT về KH động cơ về, tháo trả.</a:t>
            </a: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buClr>
                <a:srgbClr val="000000"/>
              </a:buClr>
              <a:buSzPts val="1600"/>
              <a:buFont typeface="Arial"/>
              <a:buNone/>
            </a:pPr>
            <a:endParaRPr sz="1600" b="1" kern="0">
              <a:solidFill>
                <a:srgbClr val="FF0000"/>
              </a:solidFill>
              <a:latin typeface="Times New Roman"/>
              <a:ea typeface="Times New Roman"/>
              <a:cs typeface="Times New Roman"/>
              <a:sym typeface="Times New Roman"/>
            </a:endParaRPr>
          </a:p>
          <a:p>
            <a:pPr algn="just">
              <a:buClr>
                <a:srgbClr val="000000"/>
              </a:buClr>
              <a:buSzPts val="1800"/>
              <a:buFont typeface="Arial"/>
              <a:buNone/>
            </a:pPr>
            <a:endParaRPr kern="0">
              <a:solidFill>
                <a:srgbClr val="000000"/>
              </a:solidFill>
              <a:latin typeface="Times New Roman"/>
              <a:ea typeface="Times New Roman"/>
              <a:cs typeface="Times New Roman"/>
              <a:sym typeface="Times New Roman"/>
            </a:endParaRPr>
          </a:p>
          <a:p>
            <a:pPr algn="just">
              <a:buClr>
                <a:srgbClr val="000000"/>
              </a:buClr>
              <a:buSzPts val="1800"/>
              <a:buFont typeface="Arial"/>
              <a:buNone/>
            </a:pPr>
            <a:endParaRPr kern="0">
              <a:solidFill>
                <a:srgbClr val="000000"/>
              </a:solidFill>
              <a:latin typeface="Times New Roman"/>
              <a:ea typeface="Times New Roman"/>
              <a:cs typeface="Times New Roman"/>
              <a:sym typeface="Times New Roman"/>
            </a:endParaRPr>
          </a:p>
          <a:p>
            <a:pPr algn="just">
              <a:buClr>
                <a:srgbClr val="000000"/>
              </a:buClr>
              <a:buSzPts val="1800"/>
              <a:buFont typeface="Arial"/>
              <a:buNone/>
            </a:pPr>
            <a:endParaRPr kern="0">
              <a:solidFill>
                <a:srgbClr val="000000"/>
              </a:solidFill>
              <a:latin typeface="Times New Roman"/>
              <a:ea typeface="Times New Roman"/>
              <a:cs typeface="Times New Roman"/>
              <a:sym typeface="Times New Roman"/>
            </a:endParaRPr>
          </a:p>
          <a:p>
            <a:pPr algn="just">
              <a:buClr>
                <a:srgbClr val="000000"/>
              </a:buClr>
              <a:buSzPts val="1800"/>
              <a:buFont typeface="Arial"/>
              <a:buNone/>
            </a:pPr>
            <a:r>
              <a:rPr lang="en-US" kern="0">
                <a:solidFill>
                  <a:srgbClr val="000000"/>
                </a:solidFill>
                <a:latin typeface="Times New Roman"/>
                <a:ea typeface="Times New Roman"/>
                <a:cs typeface="Times New Roman"/>
                <a:sym typeface="Times New Roman"/>
              </a:rPr>
              <a:t>  </a:t>
            </a:r>
            <a:endParaRPr kern="0">
              <a:solidFill>
                <a:srgbClr val="000000"/>
              </a:solidFill>
              <a:latin typeface="Times New Roman"/>
              <a:ea typeface="Times New Roman"/>
              <a:cs typeface="Times New Roman"/>
              <a:sym typeface="Times New Roman"/>
            </a:endParaRPr>
          </a:p>
          <a:p>
            <a:pPr algn="just">
              <a:buClr>
                <a:srgbClr val="000000"/>
              </a:buClr>
              <a:buSzPts val="1800"/>
              <a:buFont typeface="Arial"/>
              <a:buNone/>
            </a:pPr>
            <a:endParaRPr kern="0">
              <a:solidFill>
                <a:srgbClr val="000000"/>
              </a:solidFill>
              <a:latin typeface="Times New Roman"/>
              <a:ea typeface="Times New Roman"/>
              <a:cs typeface="Times New Roman"/>
              <a:sym typeface="Times New Roman"/>
            </a:endParaRPr>
          </a:p>
          <a:p>
            <a:pPr algn="just">
              <a:buClr>
                <a:srgbClr val="000000"/>
              </a:buClr>
              <a:buSzPts val="1800"/>
              <a:buFont typeface="Arial"/>
              <a:buNone/>
            </a:pPr>
            <a:endParaRPr kern="0">
              <a:solidFill>
                <a:srgbClr val="000000"/>
              </a:solidFill>
              <a:latin typeface="Times New Roman"/>
              <a:ea typeface="Times New Roman"/>
              <a:cs typeface="Times New Roman"/>
              <a:sym typeface="Times New Roman"/>
            </a:endParaRPr>
          </a:p>
          <a:p>
            <a:pPr algn="just">
              <a:buClr>
                <a:srgbClr val="000000"/>
              </a:buClr>
              <a:buSzPts val="1500"/>
              <a:buFont typeface="Arial"/>
              <a:buNone/>
            </a:pPr>
            <a:endParaRPr sz="1500" kern="0">
              <a:solidFill>
                <a:srgbClr val="000000"/>
              </a:solidFill>
              <a:latin typeface="Times New Roman"/>
              <a:ea typeface="Times New Roman"/>
              <a:cs typeface="Times New Roman"/>
              <a:sym typeface="Times New Roman"/>
            </a:endParaRPr>
          </a:p>
          <a:p>
            <a:pPr algn="just">
              <a:buClr>
                <a:srgbClr val="000000"/>
              </a:buClr>
              <a:buSzPts val="1500"/>
              <a:buFont typeface="Arial"/>
              <a:buNone/>
            </a:pPr>
            <a:endParaRPr sz="1500" kern="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565816959"/>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g31ccdae391d_0_375"/>
          <p:cNvSpPr txBox="1">
            <a:spLocks noGrp="1"/>
          </p:cNvSpPr>
          <p:nvPr>
            <p:ph type="title"/>
          </p:nvPr>
        </p:nvSpPr>
        <p:spPr>
          <a:xfrm>
            <a:off x="913579" y="-564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76" name="Google Shape;276;g31ccdae391d_0_37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58</a:t>
            </a:fld>
            <a:endParaRPr/>
          </a:p>
        </p:txBody>
      </p:sp>
      <p:sp>
        <p:nvSpPr>
          <p:cNvPr id="277" name="Google Shape;277;g31ccdae391d_0_375"/>
          <p:cNvSpPr/>
          <p:nvPr/>
        </p:nvSpPr>
        <p:spPr>
          <a:xfrm>
            <a:off x="760584" y="268052"/>
            <a:ext cx="10972200" cy="6626700"/>
          </a:xfrm>
          <a:prstGeom prst="rect">
            <a:avLst/>
          </a:prstGeom>
          <a:noFill/>
          <a:ln>
            <a:noFill/>
          </a:ln>
        </p:spPr>
        <p:txBody>
          <a:bodyPr spcFirstLastPara="1" wrap="square" lIns="91425" tIns="45700" rIns="91425" bIns="45700" anchor="t" anchorCtr="0">
            <a:noAutofit/>
          </a:bodyPr>
          <a:lstStyle/>
          <a:p>
            <a:pPr algn="just">
              <a:buClr>
                <a:srgbClr val="000000"/>
              </a:buClr>
              <a:buSzPts val="1500"/>
              <a:buFont typeface="Arial"/>
              <a:buNone/>
            </a:pPr>
            <a:endParaRPr sz="15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600" b="1" kern="0">
                <a:solidFill>
                  <a:srgbClr val="FF0000"/>
                </a:solidFill>
                <a:latin typeface="Times New Roman"/>
                <a:ea typeface="Times New Roman"/>
                <a:cs typeface="Times New Roman"/>
                <a:sym typeface="Times New Roman"/>
              </a:rPr>
              <a:t>- Tình trạng trả động cơ thuê </a:t>
            </a:r>
            <a:endParaRPr sz="1600" b="1" kern="0">
              <a:solidFill>
                <a:srgbClr val="FF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buClr>
                <a:srgbClr val="000000"/>
              </a:buClr>
              <a:buSzPts val="1600"/>
              <a:buFont typeface="Arial"/>
              <a:buNone/>
            </a:pPr>
            <a:endParaRPr sz="1600" b="1" kern="0">
              <a:solidFill>
                <a:srgbClr val="FF0000"/>
              </a:solidFill>
              <a:latin typeface="Times New Roman"/>
              <a:ea typeface="Times New Roman"/>
              <a:cs typeface="Times New Roman"/>
              <a:sym typeface="Times New Roman"/>
            </a:endParaRPr>
          </a:p>
          <a:p>
            <a:pPr algn="just">
              <a:buClr>
                <a:srgbClr val="000000"/>
              </a:buClr>
              <a:buSzPts val="1800"/>
              <a:buFont typeface="Arial"/>
              <a:buNone/>
            </a:pPr>
            <a:endParaRPr kern="0">
              <a:solidFill>
                <a:srgbClr val="000000"/>
              </a:solidFill>
              <a:latin typeface="Times New Roman"/>
              <a:ea typeface="Times New Roman"/>
              <a:cs typeface="Times New Roman"/>
              <a:sym typeface="Times New Roman"/>
            </a:endParaRPr>
          </a:p>
          <a:p>
            <a:pPr algn="just">
              <a:buClr>
                <a:srgbClr val="000000"/>
              </a:buClr>
              <a:buSzPts val="1800"/>
              <a:buFont typeface="Arial"/>
              <a:buNone/>
            </a:pPr>
            <a:endParaRPr kern="0">
              <a:solidFill>
                <a:srgbClr val="000000"/>
              </a:solidFill>
              <a:latin typeface="Times New Roman"/>
              <a:ea typeface="Times New Roman"/>
              <a:cs typeface="Times New Roman"/>
              <a:sym typeface="Times New Roman"/>
            </a:endParaRPr>
          </a:p>
          <a:p>
            <a:pPr algn="just">
              <a:buClr>
                <a:srgbClr val="000000"/>
              </a:buClr>
              <a:buSzPts val="1800"/>
              <a:buFont typeface="Arial"/>
              <a:buNone/>
            </a:pPr>
            <a:endParaRPr kern="0">
              <a:solidFill>
                <a:srgbClr val="000000"/>
              </a:solidFill>
              <a:latin typeface="Times New Roman"/>
              <a:ea typeface="Times New Roman"/>
              <a:cs typeface="Times New Roman"/>
              <a:sym typeface="Times New Roman"/>
            </a:endParaRPr>
          </a:p>
          <a:p>
            <a:pPr algn="just">
              <a:buClr>
                <a:srgbClr val="000000"/>
              </a:buClr>
              <a:buSzPts val="1800"/>
              <a:buFont typeface="Arial"/>
              <a:buNone/>
            </a:pPr>
            <a:r>
              <a:rPr lang="en-US" kern="0">
                <a:solidFill>
                  <a:srgbClr val="000000"/>
                </a:solidFill>
                <a:latin typeface="Times New Roman"/>
                <a:ea typeface="Times New Roman"/>
                <a:cs typeface="Times New Roman"/>
                <a:sym typeface="Times New Roman"/>
              </a:rPr>
              <a:t>  </a:t>
            </a:r>
            <a:endParaRPr kern="0">
              <a:solidFill>
                <a:srgbClr val="000000"/>
              </a:solidFill>
              <a:latin typeface="Times New Roman"/>
              <a:ea typeface="Times New Roman"/>
              <a:cs typeface="Times New Roman"/>
              <a:sym typeface="Times New Roman"/>
            </a:endParaRPr>
          </a:p>
          <a:p>
            <a:pPr algn="just">
              <a:buClr>
                <a:srgbClr val="000000"/>
              </a:buClr>
              <a:buSzPts val="1800"/>
              <a:buFont typeface="Arial"/>
              <a:buNone/>
            </a:pPr>
            <a:endParaRPr kern="0">
              <a:solidFill>
                <a:srgbClr val="000000"/>
              </a:solidFill>
              <a:latin typeface="Times New Roman"/>
              <a:ea typeface="Times New Roman"/>
              <a:cs typeface="Times New Roman"/>
              <a:sym typeface="Times New Roman"/>
            </a:endParaRPr>
          </a:p>
          <a:p>
            <a:pPr algn="just">
              <a:buClr>
                <a:srgbClr val="000000"/>
              </a:buClr>
              <a:buSzPts val="1800"/>
              <a:buFont typeface="Arial"/>
              <a:buNone/>
            </a:pPr>
            <a:endParaRPr kern="0">
              <a:solidFill>
                <a:srgbClr val="000000"/>
              </a:solidFill>
              <a:latin typeface="Times New Roman"/>
              <a:ea typeface="Times New Roman"/>
              <a:cs typeface="Times New Roman"/>
              <a:sym typeface="Times New Roman"/>
            </a:endParaRPr>
          </a:p>
          <a:p>
            <a:pPr algn="just">
              <a:buClr>
                <a:srgbClr val="000000"/>
              </a:buClr>
              <a:buSzPts val="1500"/>
              <a:buFont typeface="Arial"/>
              <a:buNone/>
            </a:pPr>
            <a:endParaRPr sz="1500" kern="0">
              <a:solidFill>
                <a:srgbClr val="000000"/>
              </a:solidFill>
              <a:latin typeface="Times New Roman"/>
              <a:ea typeface="Times New Roman"/>
              <a:cs typeface="Times New Roman"/>
              <a:sym typeface="Times New Roman"/>
            </a:endParaRPr>
          </a:p>
          <a:p>
            <a:pPr algn="just">
              <a:buClr>
                <a:srgbClr val="000000"/>
              </a:buClr>
              <a:buSzPts val="1500"/>
              <a:buFont typeface="Arial"/>
              <a:buNone/>
            </a:pPr>
            <a:endParaRPr sz="1500" kern="0">
              <a:solidFill>
                <a:srgbClr val="000000"/>
              </a:solidFill>
              <a:latin typeface="Times New Roman"/>
              <a:ea typeface="Times New Roman"/>
              <a:cs typeface="Times New Roman"/>
              <a:sym typeface="Times New Roman"/>
            </a:endParaRPr>
          </a:p>
        </p:txBody>
      </p:sp>
      <p:pic>
        <p:nvPicPr>
          <p:cNvPr id="278" name="Google Shape;278;g31ccdae391d_0_375"/>
          <p:cNvPicPr preferRelativeResize="0"/>
          <p:nvPr/>
        </p:nvPicPr>
        <p:blipFill>
          <a:blip r:embed="rId3">
            <a:alphaModFix/>
          </a:blip>
          <a:stretch>
            <a:fillRect/>
          </a:stretch>
        </p:blipFill>
        <p:spPr>
          <a:xfrm>
            <a:off x="166700" y="2095500"/>
            <a:ext cx="11488001" cy="2795275"/>
          </a:xfrm>
          <a:prstGeom prst="rect">
            <a:avLst/>
          </a:prstGeom>
          <a:noFill/>
          <a:ln>
            <a:noFill/>
          </a:ln>
        </p:spPr>
      </p:pic>
    </p:spTree>
    <p:extLst>
      <p:ext uri="{BB962C8B-B14F-4D97-AF65-F5344CB8AC3E}">
        <p14:creationId xmlns:p14="http://schemas.microsoft.com/office/powerpoint/2010/main" val="3545770869"/>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g31ccdae391d_0_38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59</a:t>
            </a:fld>
            <a:endParaRPr/>
          </a:p>
        </p:txBody>
      </p:sp>
      <p:sp>
        <p:nvSpPr>
          <p:cNvPr id="285" name="Google Shape;285;g31ccdae391d_0_383"/>
          <p:cNvSpPr/>
          <p:nvPr/>
        </p:nvSpPr>
        <p:spPr>
          <a:xfrm>
            <a:off x="576275" y="228600"/>
            <a:ext cx="11051100" cy="6059400"/>
          </a:xfrm>
          <a:prstGeom prst="rect">
            <a:avLst/>
          </a:prstGeom>
          <a:noFill/>
          <a:ln>
            <a:noFill/>
          </a:ln>
        </p:spPr>
        <p:txBody>
          <a:bodyPr spcFirstLastPara="1" wrap="square" lIns="91425" tIns="0" rIns="91425" bIns="45700" anchor="t" anchorCtr="0">
            <a:noAutofit/>
          </a:bodyPr>
          <a:lstStyle/>
          <a:p>
            <a:pPr algn="just">
              <a:buClr>
                <a:srgbClr val="000000"/>
              </a:buClr>
              <a:buSzPts val="1800"/>
              <a:buFont typeface="Arial"/>
              <a:buNone/>
            </a:pPr>
            <a:endParaRPr sz="15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b="1" kern="0">
                <a:solidFill>
                  <a:srgbClr val="FF0000"/>
                </a:solidFill>
                <a:latin typeface="Times New Roman"/>
                <a:ea typeface="Times New Roman"/>
                <a:cs typeface="Times New Roman"/>
                <a:sym typeface="Times New Roman"/>
              </a:rPr>
              <a:t>- Đội bay A321 Neo:</a:t>
            </a:r>
            <a:endParaRPr sz="1500" b="1" kern="0">
              <a:solidFill>
                <a:srgbClr val="FF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a:solidFill>
                  <a:srgbClr val="000000"/>
                </a:solidFill>
                <a:latin typeface="Times New Roman"/>
                <a:ea typeface="Times New Roman"/>
                <a:cs typeface="Times New Roman"/>
                <a:sym typeface="Times New Roman"/>
              </a:rPr>
              <a:t>• Số lượng dự phòng: 05ea (2 sở hữu (đang SLB), 2 dài hạn và 01 thuê ngắn hạn thuê của PW).</a:t>
            </a:r>
            <a:endParaRPr sz="15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a:solidFill>
                  <a:srgbClr val="000000"/>
                </a:solidFill>
                <a:latin typeface="Times New Roman"/>
                <a:ea typeface="Times New Roman"/>
                <a:cs typeface="Times New Roman"/>
                <a:sym typeface="Times New Roman"/>
              </a:rPr>
              <a:t>• Số lượng trong kho: NIL.</a:t>
            </a:r>
            <a:endParaRPr sz="15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a:solidFill>
                  <a:srgbClr val="000000"/>
                </a:solidFill>
                <a:latin typeface="Times New Roman"/>
                <a:ea typeface="Times New Roman"/>
                <a:cs typeface="Times New Roman"/>
                <a:sym typeface="Times New Roman"/>
              </a:rPr>
              <a:t>• Số lượng động cơ sửa chữa: có 8 động cơ đang sửa (05ại ESA và 02 tại IHI, 01 tại MTU-H)</a:t>
            </a:r>
            <a:endParaRPr sz="15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a:solidFill>
                  <a:srgbClr val="000000"/>
                </a:solidFill>
                <a:latin typeface="Times New Roman"/>
                <a:ea typeface="Times New Roman"/>
                <a:cs typeface="Times New Roman"/>
                <a:sym typeface="Times New Roman"/>
              </a:rPr>
              <a:t>• Đang đàm phán với đối tác sửa đổi hợp đồng thuê sau khi trình kí LOI (Willis và ELFC)</a:t>
            </a:r>
            <a:endParaRPr sz="1500" kern="0">
              <a:solidFill>
                <a:srgbClr val="000000"/>
              </a:solidFill>
              <a:latin typeface="Times New Roman"/>
              <a:ea typeface="Times New Roman"/>
              <a:cs typeface="Times New Roman"/>
              <a:sym typeface="Times New Roman"/>
            </a:endParaRPr>
          </a:p>
          <a:p>
            <a:pPr>
              <a:lnSpc>
                <a:spcPct val="115000"/>
              </a:lnSpc>
              <a:buClr>
                <a:srgbClr val="000000"/>
              </a:buClr>
              <a:buSzPts val="1500"/>
              <a:buFont typeface="Arial"/>
              <a:buNone/>
            </a:pPr>
            <a:r>
              <a:rPr lang="en-US" sz="1500" kern="0">
                <a:solidFill>
                  <a:srgbClr val="000000"/>
                </a:solidFill>
                <a:latin typeface="Times New Roman"/>
                <a:ea typeface="Times New Roman"/>
                <a:cs typeface="Times New Roman"/>
                <a:sym typeface="Times New Roman"/>
              </a:rPr>
              <a:t>Trong đó: </a:t>
            </a:r>
            <a:endParaRPr sz="1500" kern="0">
              <a:solidFill>
                <a:srgbClr val="000000"/>
              </a:solidFill>
              <a:latin typeface="Times New Roman"/>
              <a:ea typeface="Times New Roman"/>
              <a:cs typeface="Times New Roman"/>
              <a:sym typeface="Times New Roman"/>
            </a:endParaRPr>
          </a:p>
          <a:p>
            <a:pPr>
              <a:lnSpc>
                <a:spcPct val="115000"/>
              </a:lnSpc>
              <a:buClr>
                <a:srgbClr val="000000"/>
              </a:buClr>
              <a:buSzPts val="1500"/>
              <a:buFont typeface="Arial"/>
              <a:buNone/>
            </a:pPr>
            <a:r>
              <a:rPr lang="en-US" sz="1500" kern="0">
                <a:solidFill>
                  <a:srgbClr val="000000"/>
                </a:solidFill>
                <a:latin typeface="Times New Roman"/>
                <a:ea typeface="Times New Roman"/>
                <a:cs typeface="Times New Roman"/>
                <a:sym typeface="Times New Roman"/>
              </a:rPr>
              <a:t>+ P771423: Dự kiến 28/03 có ở ESA để Induct</a:t>
            </a:r>
            <a:endParaRPr sz="1500" kern="0">
              <a:solidFill>
                <a:srgbClr val="000000"/>
              </a:solidFill>
              <a:latin typeface="Times New Roman"/>
              <a:ea typeface="Times New Roman"/>
              <a:cs typeface="Times New Roman"/>
              <a:sym typeface="Times New Roman"/>
            </a:endParaRPr>
          </a:p>
          <a:p>
            <a:pPr>
              <a:lnSpc>
                <a:spcPct val="115000"/>
              </a:lnSpc>
              <a:buClr>
                <a:srgbClr val="000000"/>
              </a:buClr>
              <a:buSzPts val="1500"/>
              <a:buFont typeface="Arial"/>
              <a:buNone/>
            </a:pPr>
            <a:r>
              <a:rPr lang="en-US" sz="1500" kern="0">
                <a:solidFill>
                  <a:srgbClr val="000000"/>
                </a:solidFill>
                <a:latin typeface="Times New Roman"/>
                <a:ea typeface="Times New Roman"/>
                <a:cs typeface="Times New Roman"/>
                <a:sym typeface="Times New Roman"/>
              </a:rPr>
              <a:t>+ P771130: Chuyển Collins lắp QEC (Lịch ready + 2 tuần)</a:t>
            </a:r>
            <a:endParaRPr sz="1500" kern="0">
              <a:solidFill>
                <a:srgbClr val="000000"/>
              </a:solidFill>
              <a:latin typeface="Times New Roman"/>
              <a:ea typeface="Times New Roman"/>
              <a:cs typeface="Times New Roman"/>
              <a:sym typeface="Times New Roman"/>
            </a:endParaRPr>
          </a:p>
          <a:p>
            <a:pPr>
              <a:lnSpc>
                <a:spcPct val="115000"/>
              </a:lnSpc>
              <a:buClr>
                <a:srgbClr val="000000"/>
              </a:buClr>
              <a:buSzPts val="1500"/>
              <a:buFont typeface="Arial"/>
              <a:buNone/>
            </a:pPr>
            <a:endParaRPr sz="1500" kern="0">
              <a:solidFill>
                <a:srgbClr val="000000"/>
              </a:solidFill>
              <a:latin typeface="Times New Roman"/>
              <a:ea typeface="Times New Roman"/>
              <a:cs typeface="Times New Roman"/>
              <a:sym typeface="Times New Roman"/>
            </a:endParaRPr>
          </a:p>
          <a:p>
            <a:pPr algn="just">
              <a:lnSpc>
                <a:spcPct val="115000"/>
              </a:lnSpc>
              <a:buClr>
                <a:srgbClr val="000000"/>
              </a:buClr>
              <a:buSzPts val="1500"/>
              <a:buFont typeface="Arial"/>
              <a:buNone/>
            </a:pPr>
            <a:r>
              <a:rPr lang="en-US" sz="1500" kern="0">
                <a:solidFill>
                  <a:srgbClr val="FF0000"/>
                </a:solidFill>
                <a:latin typeface="Times New Roman"/>
                <a:ea typeface="Times New Roman"/>
                <a:cs typeface="Times New Roman"/>
                <a:sym typeface="Times New Roman"/>
              </a:rPr>
              <a:t>Vướng mắc:</a:t>
            </a:r>
            <a:endParaRPr sz="1500" kern="0">
              <a:solidFill>
                <a:srgbClr val="FF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a:solidFill>
                  <a:srgbClr val="000000"/>
                </a:solidFill>
                <a:latin typeface="Times New Roman"/>
                <a:ea typeface="Times New Roman"/>
                <a:cs typeface="Times New Roman"/>
                <a:sym typeface="Times New Roman"/>
              </a:rPr>
              <a:t>+ TAT tại shop kéo dài, hiện do shop quá tải các động cơ tháo cung phải đợi slot lên đến 200 ngày.</a:t>
            </a:r>
            <a:endParaRPr sz="15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a:solidFill>
                  <a:srgbClr val="000000"/>
                </a:solidFill>
                <a:latin typeface="Times New Roman"/>
                <a:ea typeface="Times New Roman"/>
                <a:cs typeface="Times New Roman"/>
                <a:sym typeface="Times New Roman"/>
              </a:rPr>
              <a:t>+ Các động cơ A321 NEO tháo đi sửa trước đây không có đc lắp lên, khi tháo trả đc thuê thiếu nhiều LRUs đang đi cùng đc sửa.</a:t>
            </a:r>
            <a:br>
              <a:rPr lang="en-US" sz="1500" kern="0">
                <a:solidFill>
                  <a:srgbClr val="000000"/>
                </a:solidFill>
                <a:latin typeface="Times New Roman"/>
                <a:ea typeface="Times New Roman"/>
                <a:cs typeface="Times New Roman"/>
                <a:sym typeface="Times New Roman"/>
              </a:rPr>
            </a:br>
            <a:r>
              <a:rPr lang="en-US" sz="1500" kern="0">
                <a:solidFill>
                  <a:srgbClr val="000000"/>
                </a:solidFill>
                <a:latin typeface="Times New Roman"/>
                <a:ea typeface="Times New Roman"/>
                <a:cs typeface="Times New Roman"/>
                <a:sym typeface="Times New Roman"/>
              </a:rPr>
              <a:t>+ Khoảng thời gian cao điểm nghỉ lễ, thiếu hụt phụ tùng vật liệu, sự gia tăng các lỗi Rejection trong kiểm tra sau thử nghiệm.</a:t>
            </a:r>
            <a:endParaRPr sz="15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5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a:solidFill>
                  <a:srgbClr val="FF0000"/>
                </a:solidFill>
                <a:latin typeface="Times New Roman"/>
                <a:ea typeface="Times New Roman"/>
                <a:cs typeface="Times New Roman"/>
                <a:sym typeface="Times New Roman"/>
              </a:rPr>
              <a:t>Giải pháp:</a:t>
            </a:r>
            <a:endParaRPr sz="1500" kern="0">
              <a:solidFill>
                <a:srgbClr val="FF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a:solidFill>
                  <a:srgbClr val="000000"/>
                </a:solidFill>
                <a:latin typeface="Times New Roman"/>
                <a:ea typeface="Times New Roman"/>
                <a:cs typeface="Times New Roman"/>
                <a:sym typeface="Times New Roman"/>
              </a:rPr>
              <a:t>+ Thúc đẩy động cơ sửa chữa tại shop. 	</a:t>
            </a:r>
            <a:endParaRPr sz="15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a:solidFill>
                  <a:srgbClr val="000000"/>
                </a:solidFill>
                <a:latin typeface="Times New Roman"/>
                <a:ea typeface="Times New Roman"/>
                <a:cs typeface="Times New Roman"/>
                <a:sym typeface="Times New Roman"/>
              </a:rPr>
              <a:t>+ Tổ chức họp và tìm giải pháp với Ban KT, VAECO với danh mục MPL đc tháo khi gửi đi sửa.</a:t>
            </a:r>
            <a:endParaRPr sz="15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5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500" kern="0">
              <a:solidFill>
                <a:srgbClr val="000000"/>
              </a:solidFill>
              <a:latin typeface="Times New Roman"/>
              <a:ea typeface="Times New Roman"/>
              <a:cs typeface="Times New Roman"/>
              <a:sym typeface="Times New Roman"/>
            </a:endParaRPr>
          </a:p>
          <a:p>
            <a:pPr algn="just">
              <a:buClr>
                <a:srgbClr val="000000"/>
              </a:buClr>
              <a:buSzPts val="1500"/>
              <a:buFont typeface="Arial"/>
              <a:buNone/>
            </a:pPr>
            <a:endParaRPr sz="1500" b="1" kern="0">
              <a:solidFill>
                <a:srgbClr val="FF0000"/>
              </a:solidFill>
              <a:latin typeface="Times New Roman"/>
              <a:ea typeface="Times New Roman"/>
              <a:cs typeface="Times New Roman"/>
              <a:sym typeface="Times New Roman"/>
            </a:endParaRPr>
          </a:p>
          <a:p>
            <a:pPr algn="just">
              <a:buClr>
                <a:srgbClr val="000000"/>
              </a:buClr>
              <a:buSzPts val="1500"/>
              <a:buFont typeface="Arial"/>
              <a:buNone/>
            </a:pPr>
            <a:endParaRPr sz="1500" kern="0">
              <a:solidFill>
                <a:srgbClr val="000000"/>
              </a:solidFill>
              <a:latin typeface="Times New Roman"/>
              <a:ea typeface="Times New Roman"/>
              <a:cs typeface="Times New Roman"/>
              <a:sym typeface="Times New Roman"/>
            </a:endParaRPr>
          </a:p>
          <a:p>
            <a:pPr algn="just">
              <a:buClr>
                <a:srgbClr val="000000"/>
              </a:buClr>
              <a:buSzPts val="1500"/>
              <a:buFont typeface="Arial"/>
              <a:buNone/>
            </a:pPr>
            <a:endParaRPr sz="1500" kern="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724626548"/>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g31ccdae391d_0_38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60</a:t>
            </a:fld>
            <a:endParaRPr/>
          </a:p>
        </p:txBody>
      </p:sp>
      <p:sp>
        <p:nvSpPr>
          <p:cNvPr id="292" name="Google Shape;292;g31ccdae391d_0_389"/>
          <p:cNvSpPr/>
          <p:nvPr/>
        </p:nvSpPr>
        <p:spPr>
          <a:xfrm>
            <a:off x="652475" y="-304800"/>
            <a:ext cx="11051100" cy="7363800"/>
          </a:xfrm>
          <a:prstGeom prst="rect">
            <a:avLst/>
          </a:prstGeom>
          <a:noFill/>
          <a:ln>
            <a:noFill/>
          </a:ln>
        </p:spPr>
        <p:txBody>
          <a:bodyPr spcFirstLastPara="1" wrap="square" lIns="91425" tIns="45700" rIns="91425" bIns="45700" anchor="t" anchorCtr="0">
            <a:noAutofit/>
          </a:bodyPr>
          <a:lstStyle/>
          <a:p>
            <a:pPr algn="just">
              <a:buClr>
                <a:srgbClr val="000000"/>
              </a:buClr>
              <a:buSzPts val="1800"/>
              <a:buFont typeface="Arial"/>
              <a:buNone/>
            </a:pPr>
            <a:endParaRPr sz="1500" b="1" u="sng"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500" b="1" u="sng"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a:solidFill>
                  <a:srgbClr val="FF0000"/>
                </a:solidFill>
                <a:latin typeface="Times New Roman"/>
                <a:ea typeface="Times New Roman"/>
                <a:cs typeface="Times New Roman"/>
                <a:sym typeface="Times New Roman"/>
              </a:rPr>
              <a:t>-</a:t>
            </a:r>
            <a:r>
              <a:rPr lang="en-US" sz="1500" kern="0">
                <a:solidFill>
                  <a:srgbClr val="000000"/>
                </a:solidFill>
                <a:latin typeface="Times New Roman"/>
                <a:ea typeface="Times New Roman"/>
                <a:cs typeface="Times New Roman"/>
                <a:sym typeface="Times New Roman"/>
              </a:rPr>
              <a:t> </a:t>
            </a:r>
            <a:r>
              <a:rPr lang="en-US" sz="1500" kern="0">
                <a:solidFill>
                  <a:srgbClr val="FF0000"/>
                </a:solidFill>
                <a:latin typeface="Times New Roman"/>
                <a:ea typeface="Times New Roman"/>
                <a:cs typeface="Times New Roman"/>
                <a:sym typeface="Times New Roman"/>
              </a:rPr>
              <a:t>Đội bay ATR:</a:t>
            </a:r>
            <a:endParaRPr sz="1500" kern="0">
              <a:solidFill>
                <a:srgbClr val="FF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a:solidFill>
                  <a:srgbClr val="000000"/>
                </a:solidFill>
                <a:latin typeface="Times New Roman"/>
                <a:ea typeface="Times New Roman"/>
                <a:cs typeface="Times New Roman"/>
                <a:sym typeface="Times New Roman"/>
              </a:rPr>
              <a:t>• Số lượng dự phòng: 06:  03 ENG sở hữu, 03 ENG thuê ngắn hạn: (ED0321) (ED0036) (ED0715). </a:t>
            </a:r>
            <a:endParaRPr sz="15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a:solidFill>
                  <a:srgbClr val="000000"/>
                </a:solidFill>
                <a:latin typeface="Times New Roman"/>
                <a:ea typeface="Times New Roman"/>
                <a:cs typeface="Times New Roman"/>
                <a:sym typeface="Times New Roman"/>
              </a:rPr>
              <a:t>•  ED0238 đang sửa tại shop PWC tại SING.</a:t>
            </a:r>
            <a:endParaRPr sz="15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a:solidFill>
                  <a:srgbClr val="000000"/>
                </a:solidFill>
                <a:latin typeface="Times New Roman"/>
                <a:ea typeface="Times New Roman"/>
                <a:cs typeface="Times New Roman"/>
                <a:sym typeface="Times New Roman"/>
              </a:rPr>
              <a:t>•  ED0239, ED0217,ED0233 đang sửa tại SA.</a:t>
            </a:r>
            <a:endParaRPr sz="15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a:solidFill>
                  <a:srgbClr val="000000"/>
                </a:solidFill>
                <a:latin typeface="Times New Roman"/>
                <a:ea typeface="Times New Roman"/>
                <a:cs typeface="Times New Roman"/>
                <a:sym typeface="Times New Roman"/>
              </a:rPr>
              <a:t>• </a:t>
            </a:r>
            <a:r>
              <a:rPr lang="en-US" sz="1500" kern="0">
                <a:solidFill>
                  <a:srgbClr val="FF0000"/>
                </a:solidFill>
                <a:latin typeface="Times New Roman"/>
                <a:ea typeface="Times New Roman"/>
                <a:cs typeface="Times New Roman"/>
                <a:sym typeface="Times New Roman"/>
              </a:rPr>
              <a:t>Vướng mắc/ Khó khăn:</a:t>
            </a:r>
            <a:endParaRPr sz="1500" kern="0">
              <a:solidFill>
                <a:srgbClr val="FF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a:solidFill>
                  <a:srgbClr val="000000"/>
                </a:solidFill>
                <a:latin typeface="Times New Roman"/>
                <a:ea typeface="Times New Roman"/>
                <a:cs typeface="Times New Roman"/>
                <a:sym typeface="Times New Roman"/>
              </a:rPr>
              <a:t>+  Các shop vẫn đang gặp trình trạng thiếu part, dẫn đến TAT bị kéo dài tại cả 02 shop</a:t>
            </a:r>
            <a:endParaRPr sz="15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a:solidFill>
                  <a:srgbClr val="000000"/>
                </a:solidFill>
                <a:latin typeface="Times New Roman"/>
                <a:ea typeface="Times New Roman"/>
                <a:cs typeface="Times New Roman"/>
                <a:sym typeface="Times New Roman"/>
              </a:rPr>
              <a:t>• </a:t>
            </a:r>
            <a:r>
              <a:rPr lang="en-US" sz="1500" kern="0">
                <a:solidFill>
                  <a:srgbClr val="FF0000"/>
                </a:solidFill>
                <a:latin typeface="Times New Roman"/>
                <a:ea typeface="Times New Roman"/>
                <a:cs typeface="Times New Roman"/>
                <a:sym typeface="Times New Roman"/>
              </a:rPr>
              <a:t>Giải pháp:</a:t>
            </a:r>
            <a:endParaRPr sz="15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a:solidFill>
                  <a:srgbClr val="000000"/>
                </a:solidFill>
                <a:latin typeface="Times New Roman"/>
                <a:ea typeface="Times New Roman"/>
                <a:cs typeface="Times New Roman"/>
                <a:sym typeface="Times New Roman"/>
              </a:rPr>
              <a:t>+ Tiếp tục theo sát các động cơ đang sửa chữa tại PWC và StandardAero.</a:t>
            </a:r>
            <a:endParaRPr sz="15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500" b="1" u="sng" kern="0">
              <a:solidFill>
                <a:srgbClr val="000000"/>
              </a:solidFill>
              <a:latin typeface="Times New Roman"/>
              <a:ea typeface="Times New Roman"/>
              <a:cs typeface="Times New Roman"/>
              <a:sym typeface="Times New Roman"/>
            </a:endParaRPr>
          </a:p>
          <a:p>
            <a:pPr algn="just">
              <a:buClr>
                <a:srgbClr val="000000"/>
              </a:buClr>
              <a:buSzPts val="1500"/>
              <a:buFont typeface="Arial"/>
              <a:buNone/>
            </a:pPr>
            <a:endParaRPr sz="1500" b="1" u="sng" kern="0">
              <a:solidFill>
                <a:srgbClr val="000000"/>
              </a:solidFill>
              <a:latin typeface="Times New Roman"/>
              <a:ea typeface="Times New Roman"/>
              <a:cs typeface="Times New Roman"/>
              <a:sym typeface="Times New Roman"/>
            </a:endParaRPr>
          </a:p>
        </p:txBody>
      </p:sp>
      <p:pic>
        <p:nvPicPr>
          <p:cNvPr id="293" name="Google Shape;293;g31ccdae391d_0_389"/>
          <p:cNvPicPr preferRelativeResize="0"/>
          <p:nvPr/>
        </p:nvPicPr>
        <p:blipFill>
          <a:blip r:embed="rId3">
            <a:alphaModFix/>
          </a:blip>
          <a:stretch>
            <a:fillRect/>
          </a:stretch>
        </p:blipFill>
        <p:spPr>
          <a:xfrm>
            <a:off x="302700" y="2595838"/>
            <a:ext cx="11051099" cy="2595314"/>
          </a:xfrm>
          <a:prstGeom prst="rect">
            <a:avLst/>
          </a:prstGeom>
          <a:noFill/>
          <a:ln>
            <a:noFill/>
          </a:ln>
        </p:spPr>
      </p:pic>
    </p:spTree>
    <p:extLst>
      <p:ext uri="{BB962C8B-B14F-4D97-AF65-F5344CB8AC3E}">
        <p14:creationId xmlns:p14="http://schemas.microsoft.com/office/powerpoint/2010/main" val="333307847"/>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g31ccdae391d_0_396"/>
          <p:cNvSpPr txBox="1">
            <a:spLocks noGrp="1"/>
          </p:cNvSpPr>
          <p:nvPr>
            <p:ph type="title"/>
          </p:nvPr>
        </p:nvSpPr>
        <p:spPr>
          <a:xfrm>
            <a:off x="913579" y="-564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Kế hoạch động cơ </a:t>
            </a:r>
            <a:endParaRPr sz="2800">
              <a:solidFill>
                <a:srgbClr val="FFC000"/>
              </a:solidFill>
              <a:latin typeface="Times New Roman"/>
              <a:ea typeface="Times New Roman"/>
              <a:cs typeface="Times New Roman"/>
              <a:sym typeface="Times New Roman"/>
            </a:endParaRPr>
          </a:p>
        </p:txBody>
      </p:sp>
      <p:sp>
        <p:nvSpPr>
          <p:cNvPr id="300" name="Google Shape;300;g31ccdae391d_0_396"/>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61</a:t>
            </a:fld>
            <a:endParaRPr/>
          </a:p>
        </p:txBody>
      </p:sp>
      <p:sp>
        <p:nvSpPr>
          <p:cNvPr id="301" name="Google Shape;301;g31ccdae391d_0_396"/>
          <p:cNvSpPr/>
          <p:nvPr/>
        </p:nvSpPr>
        <p:spPr>
          <a:xfrm>
            <a:off x="609900" y="268038"/>
            <a:ext cx="10972200" cy="6626700"/>
          </a:xfrm>
          <a:prstGeom prst="rect">
            <a:avLst/>
          </a:prstGeom>
          <a:noFill/>
          <a:ln>
            <a:noFill/>
          </a:ln>
        </p:spPr>
        <p:txBody>
          <a:bodyPr spcFirstLastPara="1" wrap="square" lIns="91425" tIns="45700" rIns="91425" bIns="45700" anchor="t" anchorCtr="0">
            <a:noAutofit/>
          </a:bodyPr>
          <a:lstStyle/>
          <a:p>
            <a:pPr algn="just">
              <a:lnSpc>
                <a:spcPct val="115000"/>
              </a:lnSpc>
              <a:buClr>
                <a:srgbClr val="000000"/>
              </a:buClr>
              <a:buSzPts val="1600"/>
              <a:buFont typeface="Arial"/>
              <a:buNone/>
            </a:pPr>
            <a:endParaRPr sz="1600" kern="0" dirty="0">
              <a:solidFill>
                <a:srgbClr val="000000"/>
              </a:solidFill>
              <a:latin typeface="Times New Roman"/>
              <a:ea typeface="Times New Roman"/>
              <a:cs typeface="Times New Roman"/>
              <a:sym typeface="Times New Roman"/>
            </a:endParaRPr>
          </a:p>
          <a:p>
            <a:pPr marL="457200" indent="-330200" algn="just">
              <a:lnSpc>
                <a:spcPct val="115000"/>
              </a:lnSpc>
              <a:buClr>
                <a:srgbClr val="000000"/>
              </a:buClr>
              <a:buSzPts val="1600"/>
              <a:buFont typeface="Times New Roman"/>
              <a:buChar char="-"/>
            </a:pPr>
            <a:r>
              <a:rPr lang="en-US" sz="1600" b="1" kern="0" dirty="0">
                <a:solidFill>
                  <a:srgbClr val="000000"/>
                </a:solidFill>
                <a:latin typeface="Times New Roman"/>
                <a:ea typeface="Times New Roman"/>
                <a:cs typeface="Times New Roman"/>
                <a:sym typeface="Times New Roman"/>
              </a:rPr>
              <a:t>A350: </a:t>
            </a:r>
            <a:r>
              <a:rPr lang="en-US" sz="1600" kern="0" dirty="0">
                <a:solidFill>
                  <a:srgbClr val="000000"/>
                </a:solidFill>
                <a:latin typeface="Times New Roman"/>
                <a:ea typeface="Times New Roman"/>
                <a:cs typeface="Times New Roman"/>
                <a:sym typeface="Times New Roman"/>
              </a:rPr>
              <a:t>NIL stock.</a:t>
            </a:r>
            <a:endParaRPr sz="1600" kern="0" dirty="0">
              <a:solidFill>
                <a:srgbClr val="000000"/>
              </a:solidFill>
              <a:latin typeface="Times New Roman"/>
              <a:ea typeface="Times New Roman"/>
              <a:cs typeface="Times New Roman"/>
              <a:sym typeface="Times New Roman"/>
            </a:endParaRPr>
          </a:p>
          <a:p>
            <a:pPr marL="457200" algn="just">
              <a:lnSpc>
                <a:spcPct val="115000"/>
              </a:lnSpc>
              <a:buClr>
                <a:srgbClr val="000000"/>
              </a:buClr>
              <a:buFont typeface="Arial"/>
              <a:buNone/>
            </a:pP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Động</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cơ</a:t>
            </a:r>
            <a:r>
              <a:rPr lang="en-US" sz="1600" kern="0" dirty="0">
                <a:solidFill>
                  <a:srgbClr val="000000"/>
                </a:solidFill>
                <a:latin typeface="Times New Roman"/>
                <a:ea typeface="Times New Roman"/>
                <a:cs typeface="Times New Roman"/>
                <a:sym typeface="Times New Roman"/>
              </a:rPr>
              <a:t> 21269 </a:t>
            </a:r>
            <a:r>
              <a:rPr lang="en-US" sz="1600" kern="0" dirty="0" err="1">
                <a:solidFill>
                  <a:srgbClr val="000000"/>
                </a:solidFill>
                <a:latin typeface="Times New Roman"/>
                <a:ea typeface="Times New Roman"/>
                <a:cs typeface="Times New Roman"/>
                <a:sym typeface="Times New Roman"/>
              </a:rPr>
              <a:t>dự</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kiến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về</a:t>
            </a:r>
            <a:r>
              <a:rPr lang="en-US" sz="1600" kern="0" dirty="0">
                <a:solidFill>
                  <a:srgbClr val="000000"/>
                </a:solidFill>
                <a:latin typeface="Times New Roman"/>
                <a:ea typeface="Times New Roman"/>
                <a:cs typeface="Times New Roman"/>
                <a:sym typeface="Times New Roman"/>
              </a:rPr>
              <a:t> HAN 27/03.</a:t>
            </a:r>
            <a:endParaRPr sz="1600" kern="0" dirty="0">
              <a:solidFill>
                <a:srgbClr val="000000"/>
              </a:solidFill>
              <a:latin typeface="Times New Roman"/>
              <a:ea typeface="Times New Roman"/>
              <a:cs typeface="Times New Roman"/>
              <a:sym typeface="Times New Roman"/>
            </a:endParaRPr>
          </a:p>
          <a:p>
            <a:pPr marL="914400" algn="just">
              <a:lnSpc>
                <a:spcPct val="115000"/>
              </a:lnSpc>
              <a:buClr>
                <a:srgbClr val="000000"/>
              </a:buClr>
              <a:buFont typeface="Arial"/>
              <a:buNone/>
            </a:pPr>
            <a:endParaRPr sz="1600" kern="0" dirty="0">
              <a:solidFill>
                <a:srgbClr val="000000"/>
              </a:solidFill>
              <a:latin typeface="Times New Roman"/>
              <a:ea typeface="Times New Roman"/>
              <a:cs typeface="Times New Roman"/>
              <a:sym typeface="Times New Roman"/>
            </a:endParaRPr>
          </a:p>
          <a:p>
            <a:pPr marL="457200" indent="-330200" algn="just">
              <a:lnSpc>
                <a:spcPct val="115000"/>
              </a:lnSpc>
              <a:buClr>
                <a:srgbClr val="000000"/>
              </a:buClr>
              <a:buSzPts val="1600"/>
              <a:buFont typeface="Times New Roman"/>
              <a:buChar char="-"/>
            </a:pPr>
            <a:r>
              <a:rPr lang="en-US" sz="1600" b="1" kern="0" dirty="0">
                <a:solidFill>
                  <a:srgbClr val="000000"/>
                </a:solidFill>
                <a:latin typeface="Times New Roman"/>
                <a:ea typeface="Times New Roman"/>
                <a:cs typeface="Times New Roman"/>
                <a:sym typeface="Times New Roman"/>
              </a:rPr>
              <a:t>B787: </a:t>
            </a:r>
            <a:r>
              <a:rPr lang="en-US" sz="1600" kern="0" dirty="0">
                <a:solidFill>
                  <a:srgbClr val="000000"/>
                </a:solidFill>
                <a:latin typeface="Times New Roman"/>
                <a:ea typeface="Times New Roman"/>
                <a:cs typeface="Times New Roman"/>
                <a:sym typeface="Times New Roman"/>
              </a:rPr>
              <a:t>NIL stock.</a:t>
            </a:r>
            <a:endParaRPr sz="1600" kern="0" dirty="0">
              <a:solidFill>
                <a:srgbClr val="000000"/>
              </a:solidFill>
              <a:latin typeface="Times New Roman"/>
              <a:ea typeface="Times New Roman"/>
              <a:cs typeface="Times New Roman"/>
              <a:sym typeface="Times New Roman"/>
            </a:endParaRPr>
          </a:p>
          <a:p>
            <a:pPr indent="457200" algn="just">
              <a:lnSpc>
                <a:spcPct val="115000"/>
              </a:lnSpc>
              <a:buClr>
                <a:srgbClr val="000000"/>
              </a:buClr>
              <a:buSzPts val="1600"/>
              <a:buFont typeface="Arial"/>
              <a:buNone/>
            </a:pP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Động</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cơ</a:t>
            </a:r>
            <a:r>
              <a:rPr lang="en-US" sz="1600" kern="0" dirty="0">
                <a:solidFill>
                  <a:srgbClr val="000000"/>
                </a:solidFill>
                <a:latin typeface="Times New Roman"/>
                <a:ea typeface="Times New Roman"/>
                <a:cs typeface="Times New Roman"/>
                <a:sym typeface="Times New Roman"/>
              </a:rPr>
              <a:t> 956556 </a:t>
            </a:r>
            <a:r>
              <a:rPr lang="en-US" sz="1600" kern="0" dirty="0" err="1">
                <a:solidFill>
                  <a:srgbClr val="000000"/>
                </a:solidFill>
                <a:latin typeface="Times New Roman"/>
                <a:ea typeface="Times New Roman"/>
                <a:cs typeface="Times New Roman"/>
                <a:sym typeface="Times New Roman"/>
              </a:rPr>
              <a:t>sửa</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tại</a:t>
            </a:r>
            <a:r>
              <a:rPr lang="en-US" sz="1600" kern="0" dirty="0">
                <a:solidFill>
                  <a:srgbClr val="000000"/>
                </a:solidFill>
                <a:latin typeface="Times New Roman"/>
                <a:ea typeface="Times New Roman"/>
                <a:cs typeface="Times New Roman"/>
                <a:sym typeface="Times New Roman"/>
              </a:rPr>
              <a:t> KLM </a:t>
            </a:r>
            <a:r>
              <a:rPr lang="en-US" sz="1600" kern="0" dirty="0" err="1" smtClean="0">
                <a:solidFill>
                  <a:srgbClr val="000000"/>
                </a:solidFill>
                <a:latin typeface="Times New Roman"/>
                <a:ea typeface="Times New Roman"/>
                <a:cs typeface="Times New Roman"/>
                <a:sym typeface="Times New Roman"/>
              </a:rPr>
              <a:t>về</a:t>
            </a:r>
            <a:r>
              <a:rPr lang="en-US" sz="1600" kern="0" dirty="0" smtClean="0">
                <a:solidFill>
                  <a:srgbClr val="000000"/>
                </a:solidFill>
                <a:latin typeface="Times New Roman"/>
                <a:ea typeface="Times New Roman"/>
                <a:cs typeface="Times New Roman"/>
                <a:sym typeface="Times New Roman"/>
              </a:rPr>
              <a:t> </a:t>
            </a:r>
            <a:r>
              <a:rPr lang="en-US" sz="1600" kern="0" dirty="0">
                <a:solidFill>
                  <a:srgbClr val="000000"/>
                </a:solidFill>
                <a:latin typeface="Times New Roman"/>
                <a:ea typeface="Times New Roman"/>
                <a:cs typeface="Times New Roman"/>
                <a:sym typeface="Times New Roman"/>
              </a:rPr>
              <a:t>SGN 23/03 </a:t>
            </a:r>
            <a:r>
              <a:rPr lang="en-US" sz="1600" kern="0" dirty="0" err="1">
                <a:solidFill>
                  <a:srgbClr val="000000"/>
                </a:solidFill>
                <a:latin typeface="Times New Roman"/>
                <a:ea typeface="Times New Roman"/>
                <a:cs typeface="Times New Roman"/>
                <a:sym typeface="Times New Roman"/>
              </a:rPr>
              <a:t>nhận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về</a:t>
            </a:r>
            <a:r>
              <a:rPr lang="en-US" sz="1600" kern="0" dirty="0">
                <a:solidFill>
                  <a:srgbClr val="000000"/>
                </a:solidFill>
                <a:latin typeface="Times New Roman"/>
                <a:ea typeface="Times New Roman"/>
                <a:cs typeface="Times New Roman"/>
                <a:sym typeface="Times New Roman"/>
              </a:rPr>
              <a:t> VAECO </a:t>
            </a:r>
            <a:r>
              <a:rPr lang="en-US" sz="1600" kern="0" dirty="0" err="1">
                <a:solidFill>
                  <a:srgbClr val="000000"/>
                </a:solidFill>
                <a:latin typeface="Times New Roman"/>
                <a:ea typeface="Times New Roman"/>
                <a:cs typeface="Times New Roman"/>
                <a:sym typeface="Times New Roman"/>
              </a:rPr>
              <a:t>ngày</a:t>
            </a:r>
            <a:r>
              <a:rPr lang="en-US" sz="1600" kern="0" dirty="0">
                <a:solidFill>
                  <a:srgbClr val="000000"/>
                </a:solidFill>
                <a:latin typeface="Times New Roman"/>
                <a:ea typeface="Times New Roman"/>
                <a:cs typeface="Times New Roman"/>
                <a:sym typeface="Times New Roman"/>
              </a:rPr>
              <a:t> 24/03.</a:t>
            </a:r>
            <a:endParaRPr sz="1600" kern="0" dirty="0">
              <a:solidFill>
                <a:srgbClr val="000000"/>
              </a:solidFill>
              <a:latin typeface="Times New Roman"/>
              <a:ea typeface="Times New Roman"/>
              <a:cs typeface="Times New Roman"/>
              <a:sym typeface="Times New Roman"/>
            </a:endParaRPr>
          </a:p>
          <a:p>
            <a:pPr indent="457200" algn="just">
              <a:lnSpc>
                <a:spcPct val="115000"/>
              </a:lnSpc>
              <a:buClr>
                <a:srgbClr val="000000"/>
              </a:buClr>
              <a:buSzPts val="1600"/>
              <a:buFont typeface="Arial"/>
              <a:buNone/>
            </a:pP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Động</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cơ</a:t>
            </a:r>
            <a:r>
              <a:rPr lang="en-US" sz="1600" kern="0" dirty="0">
                <a:solidFill>
                  <a:srgbClr val="000000"/>
                </a:solidFill>
                <a:latin typeface="Times New Roman"/>
                <a:ea typeface="Times New Roman"/>
                <a:cs typeface="Times New Roman"/>
                <a:sym typeface="Times New Roman"/>
              </a:rPr>
              <a:t> 956533 </a:t>
            </a:r>
            <a:r>
              <a:rPr lang="en-US" sz="1600" kern="0" dirty="0" err="1">
                <a:solidFill>
                  <a:srgbClr val="000000"/>
                </a:solidFill>
                <a:latin typeface="Times New Roman"/>
                <a:ea typeface="Times New Roman"/>
                <a:cs typeface="Times New Roman"/>
                <a:sym typeface="Times New Roman"/>
              </a:rPr>
              <a:t>sửa</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tại</a:t>
            </a:r>
            <a:r>
              <a:rPr lang="en-US" sz="1600" kern="0" dirty="0">
                <a:solidFill>
                  <a:srgbClr val="000000"/>
                </a:solidFill>
                <a:latin typeface="Times New Roman"/>
                <a:ea typeface="Times New Roman"/>
                <a:cs typeface="Times New Roman"/>
                <a:sym typeface="Times New Roman"/>
              </a:rPr>
              <a:t> KLM </a:t>
            </a:r>
            <a:r>
              <a:rPr lang="en-US" sz="1600" kern="0" dirty="0" err="1">
                <a:solidFill>
                  <a:srgbClr val="000000"/>
                </a:solidFill>
                <a:latin typeface="Times New Roman"/>
                <a:ea typeface="Times New Roman"/>
                <a:cs typeface="Times New Roman"/>
                <a:sym typeface="Times New Roman"/>
              </a:rPr>
              <a:t>dự</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kiến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về</a:t>
            </a:r>
            <a:r>
              <a:rPr lang="en-US" sz="1600" kern="0" dirty="0">
                <a:solidFill>
                  <a:srgbClr val="000000"/>
                </a:solidFill>
                <a:latin typeface="Times New Roman"/>
                <a:ea typeface="Times New Roman"/>
                <a:cs typeface="Times New Roman"/>
                <a:sym typeface="Times New Roman"/>
              </a:rPr>
              <a:t> SGN 23/04. (</a:t>
            </a:r>
            <a:r>
              <a:rPr lang="en-US" sz="1600" kern="0" dirty="0" err="1">
                <a:solidFill>
                  <a:srgbClr val="000000"/>
                </a:solidFill>
                <a:latin typeface="Times New Roman"/>
                <a:ea typeface="Times New Roman"/>
                <a:cs typeface="Times New Roman"/>
                <a:sym typeface="Times New Roman"/>
              </a:rPr>
              <a:t>Nếu</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lấy</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cho</a:t>
            </a:r>
            <a:r>
              <a:rPr lang="en-US" sz="1600" kern="0" dirty="0">
                <a:solidFill>
                  <a:srgbClr val="000000"/>
                </a:solidFill>
                <a:latin typeface="Times New Roman"/>
                <a:ea typeface="Times New Roman"/>
                <a:cs typeface="Times New Roman"/>
                <a:sym typeface="Times New Roman"/>
              </a:rPr>
              <a:t> A868 </a:t>
            </a:r>
            <a:r>
              <a:rPr lang="en-US" sz="1600" kern="0" dirty="0" err="1">
                <a:solidFill>
                  <a:srgbClr val="000000"/>
                </a:solidFill>
                <a:latin typeface="Times New Roman"/>
                <a:ea typeface="Times New Roman"/>
                <a:cs typeface="Times New Roman"/>
                <a:sym typeface="Times New Roman"/>
              </a:rPr>
              <a:t>đang</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có</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hạn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chế</a:t>
            </a:r>
            <a:r>
              <a:rPr lang="en-US" sz="1600" kern="0" dirty="0">
                <a:solidFill>
                  <a:srgbClr val="000000"/>
                </a:solidFill>
                <a:latin typeface="Times New Roman"/>
                <a:ea typeface="Times New Roman"/>
                <a:cs typeface="Times New Roman"/>
                <a:sym typeface="Times New Roman"/>
              </a:rPr>
              <a:t> bay 25FC </a:t>
            </a:r>
            <a:r>
              <a:rPr lang="en-US" sz="1600" kern="0" dirty="0" err="1">
                <a:solidFill>
                  <a:srgbClr val="000000"/>
                </a:solidFill>
                <a:latin typeface="Times New Roman"/>
                <a:ea typeface="Times New Roman"/>
                <a:cs typeface="Times New Roman"/>
                <a:sym typeface="Times New Roman"/>
              </a:rPr>
              <a:t>phải</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thay</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sẽ</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phải</a:t>
            </a:r>
            <a:r>
              <a:rPr lang="en-US" sz="1600" kern="0" dirty="0">
                <a:solidFill>
                  <a:srgbClr val="000000"/>
                </a:solidFill>
                <a:latin typeface="Times New Roman"/>
                <a:ea typeface="Times New Roman"/>
                <a:cs typeface="Times New Roman"/>
                <a:sym typeface="Times New Roman"/>
              </a:rPr>
              <a:t> AOG 01 </a:t>
            </a:r>
            <a:r>
              <a:rPr lang="en-US" sz="1600" kern="0" dirty="0" err="1">
                <a:solidFill>
                  <a:srgbClr val="000000"/>
                </a:solidFill>
                <a:latin typeface="Times New Roman"/>
                <a:ea typeface="Times New Roman"/>
                <a:cs typeface="Times New Roman"/>
                <a:sym typeface="Times New Roman"/>
              </a:rPr>
              <a:t>tháng</a:t>
            </a:r>
            <a:r>
              <a:rPr lang="en-US" sz="1600" kern="0" dirty="0">
                <a:solidFill>
                  <a:srgbClr val="000000"/>
                </a:solidFill>
                <a:latin typeface="Times New Roman"/>
                <a:ea typeface="Times New Roman"/>
                <a:cs typeface="Times New Roman"/>
                <a:sym typeface="Times New Roman"/>
              </a:rPr>
              <a:t> do </a:t>
            </a:r>
            <a:r>
              <a:rPr lang="en-US" sz="1600" kern="0" dirty="0" err="1">
                <a:solidFill>
                  <a:srgbClr val="000000"/>
                </a:solidFill>
                <a:latin typeface="Times New Roman"/>
                <a:ea typeface="Times New Roman"/>
                <a:cs typeface="Times New Roman"/>
                <a:sym typeface="Times New Roman"/>
              </a:rPr>
              <a:t>vậy</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đang</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xem</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xét</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phương</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án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thuê</a:t>
            </a:r>
            <a:r>
              <a:rPr lang="en-US" sz="1600" kern="0" dirty="0" smtClean="0">
                <a:solidFill>
                  <a:srgbClr val="000000"/>
                </a:solidFill>
                <a:latin typeface="Times New Roman"/>
                <a:ea typeface="Times New Roman"/>
                <a:cs typeface="Times New Roman"/>
                <a:sym typeface="Times New Roman"/>
              </a:rPr>
              <a:t>).</a:t>
            </a:r>
            <a:endParaRPr sz="1600" kern="0" dirty="0">
              <a:solidFill>
                <a:srgbClr val="000000"/>
              </a:solidFill>
              <a:latin typeface="Times New Roman"/>
              <a:ea typeface="Times New Roman"/>
              <a:cs typeface="Times New Roman"/>
              <a:sym typeface="Times New Roman"/>
            </a:endParaRPr>
          </a:p>
          <a:p>
            <a:pPr algn="just">
              <a:lnSpc>
                <a:spcPct val="115000"/>
              </a:lnSpc>
              <a:buClr>
                <a:srgbClr val="000000"/>
              </a:buClr>
              <a:buSzPts val="1600"/>
              <a:buFont typeface="Arial"/>
              <a:buNone/>
            </a:pPr>
            <a:endParaRPr sz="1600" kern="0" dirty="0">
              <a:solidFill>
                <a:srgbClr val="000000"/>
              </a:solidFill>
              <a:latin typeface="Times New Roman"/>
              <a:ea typeface="Times New Roman"/>
              <a:cs typeface="Times New Roman"/>
              <a:sym typeface="Times New Roman"/>
            </a:endParaRPr>
          </a:p>
          <a:p>
            <a:pPr marL="457200" indent="-330200" algn="just">
              <a:lnSpc>
                <a:spcPct val="115000"/>
              </a:lnSpc>
              <a:buClr>
                <a:srgbClr val="000000"/>
              </a:buClr>
              <a:buSzPts val="1600"/>
              <a:buFont typeface="Times New Roman"/>
              <a:buChar char="-"/>
            </a:pPr>
            <a:r>
              <a:rPr lang="en-US" sz="1600" b="1" kern="0" dirty="0">
                <a:solidFill>
                  <a:srgbClr val="000000"/>
                </a:solidFill>
                <a:latin typeface="Times New Roman"/>
                <a:ea typeface="Times New Roman"/>
                <a:cs typeface="Times New Roman"/>
                <a:sym typeface="Times New Roman"/>
              </a:rPr>
              <a:t>A321 CEO </a:t>
            </a:r>
            <a:r>
              <a:rPr lang="en-US" sz="1600" kern="0" dirty="0">
                <a:solidFill>
                  <a:srgbClr val="000000"/>
                </a:solidFill>
                <a:latin typeface="Times New Roman"/>
                <a:ea typeface="Times New Roman"/>
                <a:cs typeface="Times New Roman"/>
                <a:sym typeface="Times New Roman"/>
              </a:rPr>
              <a:t>: </a:t>
            </a:r>
            <a:endParaRPr sz="1600" kern="0" dirty="0">
              <a:solidFill>
                <a:srgbClr val="000000"/>
              </a:solidFill>
              <a:latin typeface="Times New Roman"/>
              <a:ea typeface="Times New Roman"/>
              <a:cs typeface="Times New Roman"/>
              <a:sym typeface="Times New Roman"/>
            </a:endParaRPr>
          </a:p>
          <a:p>
            <a:pPr marL="457200" algn="just">
              <a:lnSpc>
                <a:spcPct val="115000"/>
              </a:lnSpc>
              <a:buClr>
                <a:srgbClr val="000000"/>
              </a:buClr>
              <a:buSzPts val="1600"/>
              <a:buFont typeface="Arial"/>
              <a:buNone/>
            </a:pP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Động</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cơ</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về</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sắp</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tới</a:t>
            </a:r>
            <a:r>
              <a:rPr lang="en-US" sz="1600" kern="0" dirty="0">
                <a:solidFill>
                  <a:srgbClr val="000000"/>
                </a:solidFill>
                <a:latin typeface="Times New Roman"/>
                <a:ea typeface="Times New Roman"/>
                <a:cs typeface="Times New Roman"/>
                <a:sym typeface="Times New Roman"/>
              </a:rPr>
              <a:t>: V12505 (01/04), V16456 (09/04</a:t>
            </a:r>
            <a:r>
              <a:rPr lang="en-US" sz="1600" kern="0" dirty="0" smtClean="0">
                <a:solidFill>
                  <a:srgbClr val="000000"/>
                </a:solidFill>
                <a:latin typeface="Times New Roman"/>
                <a:ea typeface="Times New Roman"/>
                <a:cs typeface="Times New Roman"/>
                <a:sym typeface="Times New Roman"/>
              </a:rPr>
              <a:t>).</a:t>
            </a:r>
            <a:endParaRPr sz="1600" kern="0" dirty="0">
              <a:solidFill>
                <a:srgbClr val="000000"/>
              </a:solidFill>
              <a:latin typeface="Times New Roman"/>
              <a:ea typeface="Times New Roman"/>
              <a:cs typeface="Times New Roman"/>
              <a:sym typeface="Times New Roman"/>
            </a:endParaRPr>
          </a:p>
          <a:p>
            <a:pPr marL="457200" algn="just">
              <a:lnSpc>
                <a:spcPct val="115000"/>
              </a:lnSpc>
              <a:buClr>
                <a:srgbClr val="000000"/>
              </a:buClr>
              <a:buSzPts val="1600"/>
              <a:buFont typeface="Arial"/>
              <a:buNone/>
            </a:pPr>
            <a:endParaRPr sz="1600" kern="0" dirty="0">
              <a:solidFill>
                <a:srgbClr val="000000"/>
              </a:solidFill>
              <a:latin typeface="Times New Roman"/>
              <a:ea typeface="Times New Roman"/>
              <a:cs typeface="Times New Roman"/>
              <a:sym typeface="Times New Roman"/>
            </a:endParaRPr>
          </a:p>
          <a:p>
            <a:pPr marL="457200" indent="-330200">
              <a:lnSpc>
                <a:spcPct val="115000"/>
              </a:lnSpc>
              <a:buClr>
                <a:srgbClr val="000000"/>
              </a:buClr>
              <a:buSzPts val="1600"/>
              <a:buFont typeface="Times New Roman"/>
              <a:buChar char="-"/>
            </a:pPr>
            <a:r>
              <a:rPr lang="en-US" sz="1600" b="1" kern="0" dirty="0">
                <a:solidFill>
                  <a:srgbClr val="000000"/>
                </a:solidFill>
                <a:latin typeface="Times New Roman"/>
                <a:ea typeface="Times New Roman"/>
                <a:cs typeface="Times New Roman"/>
                <a:sym typeface="Times New Roman"/>
              </a:rPr>
              <a:t>A321 NEO</a:t>
            </a:r>
            <a:r>
              <a:rPr lang="en-US" sz="1600" kern="0" dirty="0">
                <a:solidFill>
                  <a:srgbClr val="000000"/>
                </a:solidFill>
                <a:latin typeface="Times New Roman"/>
                <a:ea typeface="Times New Roman"/>
                <a:cs typeface="Times New Roman"/>
                <a:sym typeface="Times New Roman"/>
              </a:rPr>
              <a:t>:</a:t>
            </a:r>
            <a:endParaRPr sz="1600" kern="0" dirty="0">
              <a:solidFill>
                <a:srgbClr val="000000"/>
              </a:solidFill>
              <a:latin typeface="Times New Roman"/>
              <a:ea typeface="Times New Roman"/>
              <a:cs typeface="Times New Roman"/>
              <a:sym typeface="Times New Roman"/>
            </a:endParaRPr>
          </a:p>
          <a:p>
            <a:pPr marL="457200">
              <a:lnSpc>
                <a:spcPct val="115000"/>
              </a:lnSpc>
              <a:buClr>
                <a:srgbClr val="000000"/>
              </a:buClr>
              <a:buFont typeface="Arial"/>
              <a:buNone/>
            </a:pP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Động</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cơ</a:t>
            </a:r>
            <a:r>
              <a:rPr lang="en-US" sz="1600" kern="0" dirty="0">
                <a:solidFill>
                  <a:srgbClr val="000000"/>
                </a:solidFill>
                <a:latin typeface="Times New Roman"/>
                <a:ea typeface="Times New Roman"/>
                <a:cs typeface="Times New Roman"/>
                <a:sym typeface="Times New Roman"/>
              </a:rPr>
              <a:t> P770904 </a:t>
            </a:r>
            <a:r>
              <a:rPr lang="en-US" sz="1600" kern="0" dirty="0" err="1">
                <a:solidFill>
                  <a:srgbClr val="000000"/>
                </a:solidFill>
                <a:latin typeface="Times New Roman"/>
                <a:ea typeface="Times New Roman"/>
                <a:cs typeface="Times New Roman"/>
                <a:sym typeface="Times New Roman"/>
              </a:rPr>
              <a:t>dự</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kiến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về</a:t>
            </a:r>
            <a:r>
              <a:rPr lang="en-US" sz="1600" kern="0" dirty="0">
                <a:solidFill>
                  <a:srgbClr val="000000"/>
                </a:solidFill>
                <a:latin typeface="Times New Roman"/>
                <a:ea typeface="Times New Roman"/>
                <a:cs typeface="Times New Roman"/>
                <a:sym typeface="Times New Roman"/>
              </a:rPr>
              <a:t> HAN 22/04.</a:t>
            </a:r>
            <a:endParaRPr sz="1600" kern="0" dirty="0">
              <a:solidFill>
                <a:srgbClr val="000000"/>
              </a:solidFill>
              <a:latin typeface="Times New Roman"/>
              <a:ea typeface="Times New Roman"/>
              <a:cs typeface="Times New Roman"/>
              <a:sym typeface="Times New Roman"/>
            </a:endParaRPr>
          </a:p>
          <a:p>
            <a:pPr marL="457200" algn="just">
              <a:lnSpc>
                <a:spcPct val="115000"/>
              </a:lnSpc>
              <a:buClr>
                <a:srgbClr val="000000"/>
              </a:buClr>
              <a:buFont typeface="Arial"/>
              <a:buNone/>
            </a:pP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Động</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cơ</a:t>
            </a:r>
            <a:r>
              <a:rPr lang="en-US" sz="1600" kern="0" dirty="0">
                <a:solidFill>
                  <a:srgbClr val="000000"/>
                </a:solidFill>
                <a:latin typeface="Times New Roman"/>
                <a:ea typeface="Times New Roman"/>
                <a:cs typeface="Times New Roman"/>
                <a:sym typeface="Times New Roman"/>
              </a:rPr>
              <a:t> P771130 </a:t>
            </a:r>
            <a:r>
              <a:rPr lang="en-US" sz="1600" kern="0" dirty="0" err="1">
                <a:solidFill>
                  <a:srgbClr val="000000"/>
                </a:solidFill>
                <a:latin typeface="Times New Roman"/>
                <a:ea typeface="Times New Roman"/>
                <a:cs typeface="Times New Roman"/>
                <a:sym typeface="Times New Roman"/>
              </a:rPr>
              <a:t>dự</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kiến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về</a:t>
            </a:r>
            <a:r>
              <a:rPr lang="en-US" sz="1600" kern="0" dirty="0">
                <a:solidFill>
                  <a:srgbClr val="000000"/>
                </a:solidFill>
                <a:latin typeface="Times New Roman"/>
                <a:ea typeface="Times New Roman"/>
                <a:cs typeface="Times New Roman"/>
                <a:sym typeface="Times New Roman"/>
              </a:rPr>
              <a:t> HAN 17/04</a:t>
            </a:r>
            <a:r>
              <a:rPr lang="en-US" sz="1600" kern="0" dirty="0" smtClean="0">
                <a:solidFill>
                  <a:srgbClr val="000000"/>
                </a:solidFill>
                <a:latin typeface="Times New Roman"/>
                <a:ea typeface="Times New Roman"/>
                <a:cs typeface="Times New Roman"/>
                <a:sym typeface="Times New Roman"/>
              </a:rPr>
              <a:t>.</a:t>
            </a:r>
            <a:endParaRPr sz="1600" kern="0" dirty="0">
              <a:solidFill>
                <a:srgbClr val="000000"/>
              </a:solidFill>
              <a:latin typeface="Times New Roman"/>
              <a:ea typeface="Times New Roman"/>
              <a:cs typeface="Times New Roman"/>
              <a:sym typeface="Times New Roman"/>
            </a:endParaRPr>
          </a:p>
          <a:p>
            <a:pPr marL="457200">
              <a:lnSpc>
                <a:spcPct val="115000"/>
              </a:lnSpc>
              <a:buClr>
                <a:srgbClr val="000000"/>
              </a:buClr>
              <a:buFont typeface="Arial"/>
              <a:buNone/>
            </a:pPr>
            <a:endParaRPr sz="1600" kern="0" dirty="0">
              <a:solidFill>
                <a:srgbClr val="000000"/>
              </a:solidFill>
              <a:latin typeface="Times New Roman"/>
              <a:ea typeface="Times New Roman"/>
              <a:cs typeface="Times New Roman"/>
              <a:sym typeface="Times New Roman"/>
            </a:endParaRPr>
          </a:p>
          <a:p>
            <a:pPr marL="457200" indent="-330200" algn="just">
              <a:lnSpc>
                <a:spcPct val="115000"/>
              </a:lnSpc>
              <a:buClr>
                <a:srgbClr val="000000"/>
              </a:buClr>
              <a:buSzPts val="1600"/>
              <a:buFont typeface="Times New Roman"/>
              <a:buChar char="-"/>
            </a:pPr>
            <a:r>
              <a:rPr lang="en-US" sz="1600" b="1" kern="0" dirty="0">
                <a:solidFill>
                  <a:srgbClr val="000000"/>
                </a:solidFill>
                <a:latin typeface="Times New Roman"/>
                <a:ea typeface="Times New Roman"/>
                <a:cs typeface="Times New Roman"/>
                <a:sym typeface="Times New Roman"/>
              </a:rPr>
              <a:t>ATR:</a:t>
            </a:r>
            <a:r>
              <a:rPr lang="en-US" sz="1600" kern="0" dirty="0">
                <a:solidFill>
                  <a:srgbClr val="000000"/>
                </a:solidFill>
                <a:latin typeface="Times New Roman"/>
                <a:ea typeface="Times New Roman"/>
                <a:cs typeface="Times New Roman"/>
                <a:sym typeface="Times New Roman"/>
              </a:rPr>
              <a:t> 01 stock (ED0235).</a:t>
            </a:r>
            <a:endParaRPr sz="1600" kern="0" dirty="0">
              <a:solidFill>
                <a:srgbClr val="000000"/>
              </a:solidFill>
              <a:latin typeface="Times New Roman"/>
              <a:ea typeface="Times New Roman"/>
              <a:cs typeface="Times New Roman"/>
              <a:sym typeface="Times New Roman"/>
            </a:endParaRPr>
          </a:p>
          <a:p>
            <a:pPr indent="457200" algn="just">
              <a:lnSpc>
                <a:spcPct val="115000"/>
              </a:lnSpc>
              <a:buClr>
                <a:srgbClr val="000000"/>
              </a:buClr>
              <a:buSzPts val="1600"/>
              <a:buFont typeface="Arial"/>
              <a:buNone/>
            </a:pPr>
            <a:r>
              <a:rPr lang="en-US" sz="1600" kern="0" dirty="0">
                <a:solidFill>
                  <a:srgbClr val="000000"/>
                </a:solidFill>
                <a:latin typeface="Times New Roman"/>
                <a:ea typeface="Times New Roman"/>
                <a:cs typeface="Times New Roman"/>
                <a:sym typeface="Times New Roman"/>
              </a:rPr>
              <a:t>+ED0239 </a:t>
            </a:r>
            <a:r>
              <a:rPr lang="en-US" sz="1600" kern="0" dirty="0" err="1">
                <a:solidFill>
                  <a:srgbClr val="000000"/>
                </a:solidFill>
                <a:latin typeface="Times New Roman"/>
                <a:ea typeface="Times New Roman"/>
                <a:cs typeface="Times New Roman"/>
                <a:sym typeface="Times New Roman"/>
              </a:rPr>
              <a:t>sửa</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chữa</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tại</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StandardAero</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dự</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kiến</a:t>
            </a:r>
            <a:r>
              <a:rPr lang="en-US" sz="1600" kern="0" dirty="0">
                <a:solidFill>
                  <a:srgbClr val="000000"/>
                </a:solidFill>
                <a:latin typeface="Times New Roman"/>
                <a:ea typeface="Times New Roman"/>
                <a:cs typeface="Times New Roman"/>
                <a:sym typeface="Times New Roman"/>
              </a:rPr>
              <a:t> release </a:t>
            </a:r>
            <a:r>
              <a:rPr lang="en-US" sz="1600" kern="0" dirty="0" err="1">
                <a:solidFill>
                  <a:srgbClr val="000000"/>
                </a:solidFill>
                <a:latin typeface="Times New Roman"/>
                <a:ea typeface="Times New Roman"/>
                <a:cs typeface="Times New Roman"/>
                <a:sym typeface="Times New Roman"/>
              </a:rPr>
              <a:t>ngày</a:t>
            </a:r>
            <a:r>
              <a:rPr lang="en-US" sz="1600" kern="0" dirty="0">
                <a:solidFill>
                  <a:srgbClr val="000000"/>
                </a:solidFill>
                <a:latin typeface="Times New Roman"/>
                <a:ea typeface="Times New Roman"/>
                <a:cs typeface="Times New Roman"/>
                <a:sym typeface="Times New Roman"/>
              </a:rPr>
              <a:t> </a:t>
            </a:r>
            <a:r>
              <a:rPr lang="en-US" sz="1600" kern="0" dirty="0" smtClean="0">
                <a:solidFill>
                  <a:srgbClr val="000000"/>
                </a:solidFill>
                <a:latin typeface="Times New Roman"/>
                <a:ea typeface="Times New Roman"/>
                <a:cs typeface="Times New Roman"/>
                <a:sym typeface="Times New Roman"/>
              </a:rPr>
              <a:t>14/04/2025.</a:t>
            </a:r>
            <a:endParaRPr sz="1600" kern="0" dirty="0">
              <a:solidFill>
                <a:srgbClr val="000000"/>
              </a:solidFill>
              <a:latin typeface="Times New Roman"/>
              <a:ea typeface="Times New Roman"/>
              <a:cs typeface="Times New Roman"/>
              <a:sym typeface="Times New Roman"/>
            </a:endParaRPr>
          </a:p>
          <a:p>
            <a:pPr indent="457200" algn="just">
              <a:lnSpc>
                <a:spcPct val="115000"/>
              </a:lnSpc>
              <a:buClr>
                <a:srgbClr val="000000"/>
              </a:buClr>
              <a:buSzPts val="1600"/>
              <a:buFont typeface="Arial"/>
              <a:buNone/>
            </a:pPr>
            <a:endParaRPr sz="1600" kern="0" dirty="0">
              <a:solidFill>
                <a:srgbClr val="000000"/>
              </a:solidFill>
              <a:latin typeface="Times New Roman"/>
              <a:ea typeface="Times New Roman"/>
              <a:cs typeface="Times New Roman"/>
              <a:sym typeface="Times New Roman"/>
            </a:endParaRPr>
          </a:p>
          <a:p>
            <a:pPr marL="457200" algn="just">
              <a:lnSpc>
                <a:spcPct val="115000"/>
              </a:lnSpc>
              <a:buClr>
                <a:srgbClr val="000000"/>
              </a:buClr>
              <a:buSzPts val="1600"/>
              <a:buFont typeface="Arial"/>
              <a:buNone/>
            </a:pPr>
            <a:endParaRPr sz="1600" kern="0" dirty="0">
              <a:solidFill>
                <a:srgbClr val="000000"/>
              </a:solidFill>
              <a:latin typeface="Times New Roman"/>
              <a:ea typeface="Times New Roman"/>
              <a:cs typeface="Times New Roman"/>
              <a:sym typeface="Times New Roman"/>
            </a:endParaRPr>
          </a:p>
          <a:p>
            <a:pPr algn="just">
              <a:lnSpc>
                <a:spcPct val="115000"/>
              </a:lnSpc>
              <a:buClr>
                <a:srgbClr val="000000"/>
              </a:buClr>
              <a:buSzPts val="1600"/>
              <a:buFont typeface="Arial"/>
              <a:buNone/>
            </a:pPr>
            <a:endParaRPr sz="1600" b="1" kern="0" dirty="0">
              <a:solidFill>
                <a:srgbClr val="FF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b="1" kern="0" dirty="0">
              <a:solidFill>
                <a:srgbClr val="FF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b="1" kern="0" dirty="0">
              <a:solidFill>
                <a:srgbClr val="FF0000"/>
              </a:solidFill>
              <a:latin typeface="Times New Roman"/>
              <a:ea typeface="Times New Roman"/>
              <a:cs typeface="Times New Roman"/>
              <a:sym typeface="Times New Roman"/>
            </a:endParaRPr>
          </a:p>
          <a:p>
            <a:pPr algn="just">
              <a:buClr>
                <a:srgbClr val="000000"/>
              </a:buClr>
              <a:buSzPts val="1800"/>
              <a:buFont typeface="Arial"/>
              <a:buNone/>
            </a:pPr>
            <a:endParaRPr kern="0" dirty="0">
              <a:solidFill>
                <a:srgbClr val="000000"/>
              </a:solidFill>
              <a:latin typeface="Times New Roman"/>
              <a:ea typeface="Times New Roman"/>
              <a:cs typeface="Times New Roman"/>
              <a:sym typeface="Times New Roman"/>
            </a:endParaRPr>
          </a:p>
          <a:p>
            <a:pPr algn="just">
              <a:buClr>
                <a:srgbClr val="000000"/>
              </a:buClr>
              <a:buSzPts val="1800"/>
              <a:buFont typeface="Arial"/>
              <a:buNone/>
            </a:pPr>
            <a:endParaRPr kern="0" dirty="0">
              <a:solidFill>
                <a:srgbClr val="000000"/>
              </a:solidFill>
              <a:latin typeface="Times New Roman"/>
              <a:ea typeface="Times New Roman"/>
              <a:cs typeface="Times New Roman"/>
              <a:sym typeface="Times New Roman"/>
            </a:endParaRPr>
          </a:p>
          <a:p>
            <a:pPr algn="just">
              <a:buClr>
                <a:srgbClr val="000000"/>
              </a:buClr>
              <a:buSzPts val="1800"/>
              <a:buFont typeface="Arial"/>
              <a:buNone/>
            </a:pPr>
            <a:r>
              <a:rPr lang="en-US" kern="0" dirty="0">
                <a:solidFill>
                  <a:srgbClr val="000000"/>
                </a:solidFill>
                <a:latin typeface="Times New Roman"/>
                <a:ea typeface="Times New Roman"/>
                <a:cs typeface="Times New Roman"/>
                <a:sym typeface="Times New Roman"/>
              </a:rPr>
              <a:t>  </a:t>
            </a:r>
            <a:endParaRPr kern="0" dirty="0">
              <a:solidFill>
                <a:srgbClr val="000000"/>
              </a:solidFill>
              <a:latin typeface="Times New Roman"/>
              <a:ea typeface="Times New Roman"/>
              <a:cs typeface="Times New Roman"/>
              <a:sym typeface="Times New Roman"/>
            </a:endParaRPr>
          </a:p>
          <a:p>
            <a:pPr algn="just">
              <a:buClr>
                <a:srgbClr val="000000"/>
              </a:buClr>
              <a:buSzPts val="1800"/>
              <a:buFont typeface="Arial"/>
              <a:buNone/>
            </a:pPr>
            <a:endParaRPr kern="0" dirty="0">
              <a:solidFill>
                <a:srgbClr val="000000"/>
              </a:solidFill>
              <a:latin typeface="Times New Roman"/>
              <a:ea typeface="Times New Roman"/>
              <a:cs typeface="Times New Roman"/>
              <a:sym typeface="Times New Roman"/>
            </a:endParaRPr>
          </a:p>
          <a:p>
            <a:pPr algn="just">
              <a:buClr>
                <a:srgbClr val="000000"/>
              </a:buClr>
              <a:buSzPts val="1800"/>
              <a:buFont typeface="Arial"/>
              <a:buNone/>
            </a:pPr>
            <a:endParaRPr kern="0" dirty="0">
              <a:solidFill>
                <a:srgbClr val="000000"/>
              </a:solidFill>
              <a:latin typeface="Times New Roman"/>
              <a:ea typeface="Times New Roman"/>
              <a:cs typeface="Times New Roman"/>
              <a:sym typeface="Times New Roman"/>
            </a:endParaRPr>
          </a:p>
          <a:p>
            <a:pPr algn="just">
              <a:buClr>
                <a:srgbClr val="000000"/>
              </a:buClr>
              <a:buSzPts val="1500"/>
              <a:buFont typeface="Arial"/>
              <a:buNone/>
            </a:pPr>
            <a:endParaRPr sz="1500" kern="0"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114076341"/>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g31ccdae391d_0_403"/>
          <p:cNvSpPr txBox="1">
            <a:spLocks noGrp="1"/>
          </p:cNvSpPr>
          <p:nvPr>
            <p:ph type="title"/>
          </p:nvPr>
        </p:nvSpPr>
        <p:spPr>
          <a:xfrm>
            <a:off x="372775" y="0"/>
            <a:ext cx="975900" cy="49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APU</a:t>
            </a:r>
            <a:endParaRPr sz="2800">
              <a:solidFill>
                <a:srgbClr val="FFC000"/>
              </a:solidFill>
              <a:latin typeface="Times New Roman"/>
              <a:ea typeface="Times New Roman"/>
              <a:cs typeface="Times New Roman"/>
              <a:sym typeface="Times New Roman"/>
            </a:endParaRPr>
          </a:p>
        </p:txBody>
      </p:sp>
      <p:sp>
        <p:nvSpPr>
          <p:cNvPr id="308" name="Google Shape;308;g31ccdae391d_0_403"/>
          <p:cNvSpPr txBox="1">
            <a:spLocks noGrp="1"/>
          </p:cNvSpPr>
          <p:nvPr>
            <p:ph type="sldNum" idx="12"/>
          </p:nvPr>
        </p:nvSpPr>
        <p:spPr>
          <a:xfrm>
            <a:off x="10994575" y="5809425"/>
            <a:ext cx="3591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62</a:t>
            </a:fld>
            <a:endParaRPr/>
          </a:p>
        </p:txBody>
      </p:sp>
      <p:sp>
        <p:nvSpPr>
          <p:cNvPr id="309" name="Google Shape;309;g31ccdae391d_0_403"/>
          <p:cNvSpPr txBox="1"/>
          <p:nvPr/>
        </p:nvSpPr>
        <p:spPr>
          <a:xfrm>
            <a:off x="7066700" y="571500"/>
            <a:ext cx="4085700" cy="4219586"/>
          </a:xfrm>
          <a:prstGeom prst="rect">
            <a:avLst/>
          </a:prstGeom>
          <a:noFill/>
          <a:ln>
            <a:noFill/>
          </a:ln>
        </p:spPr>
        <p:txBody>
          <a:bodyPr spcFirstLastPara="1" wrap="square" lIns="91425" tIns="91425" rIns="91425" bIns="91425" anchor="t" anchorCtr="0">
            <a:spAutoFit/>
          </a:bodyPr>
          <a:lstStyle/>
          <a:p>
            <a:pPr>
              <a:lnSpc>
                <a:spcPct val="115000"/>
              </a:lnSpc>
              <a:buClr>
                <a:srgbClr val="000000"/>
              </a:buClr>
              <a:buSzPts val="1100"/>
              <a:buFont typeface="Arial"/>
              <a:buNone/>
            </a:pPr>
            <a:r>
              <a:rPr lang="en-US" sz="1600" b="1" kern="0" dirty="0">
                <a:solidFill>
                  <a:srgbClr val="000000"/>
                </a:solidFill>
                <a:latin typeface="Times New Roman"/>
                <a:ea typeface="Times New Roman"/>
                <a:cs typeface="Times New Roman"/>
                <a:sym typeface="Times New Roman"/>
              </a:rPr>
              <a:t>APU A321 </a:t>
            </a:r>
            <a:endParaRPr sz="1600" b="1" kern="0" dirty="0">
              <a:solidFill>
                <a:srgbClr val="000000"/>
              </a:solidFill>
              <a:latin typeface="Times New Roman"/>
              <a:ea typeface="Times New Roman"/>
              <a:cs typeface="Times New Roman"/>
              <a:sym typeface="Times New Roman"/>
            </a:endParaRPr>
          </a:p>
          <a:p>
            <a:pPr>
              <a:lnSpc>
                <a:spcPct val="115000"/>
              </a:lnSpc>
              <a:buClr>
                <a:srgbClr val="000000"/>
              </a:buClr>
              <a:buSzPts val="1700"/>
              <a:buFont typeface="Arial"/>
              <a:buNone/>
            </a:pPr>
            <a:r>
              <a:rPr lang="en-US" sz="1700" kern="0" dirty="0">
                <a:solidFill>
                  <a:srgbClr val="000000"/>
                </a:solidFill>
                <a:latin typeface="Times New Roman"/>
                <a:ea typeface="Times New Roman"/>
                <a:cs typeface="Times New Roman"/>
                <a:sym typeface="Times New Roman"/>
              </a:rPr>
              <a:t>+ </a:t>
            </a:r>
            <a:r>
              <a:rPr lang="en-US" sz="1400" kern="0" dirty="0">
                <a:solidFill>
                  <a:srgbClr val="000000"/>
                </a:solidFill>
                <a:latin typeface="Times New Roman"/>
                <a:ea typeface="Times New Roman"/>
                <a:cs typeface="Times New Roman"/>
                <a:sym typeface="Times New Roman"/>
              </a:rPr>
              <a:t>STK: 02 APU SN: P-5222, P-7845</a:t>
            </a:r>
            <a:endParaRPr sz="1400" kern="0" dirty="0">
              <a:solidFill>
                <a:srgbClr val="000000"/>
              </a:solidFill>
              <a:latin typeface="Times New Roman"/>
              <a:ea typeface="Times New Roman"/>
              <a:cs typeface="Times New Roman"/>
              <a:sym typeface="Times New Roman"/>
            </a:endParaRPr>
          </a:p>
          <a:p>
            <a:pPr>
              <a:lnSpc>
                <a:spcPct val="115000"/>
              </a:lnSpc>
              <a:buClr>
                <a:srgbClr val="000000"/>
              </a:buClr>
              <a:buSzPts val="1700"/>
              <a:buFont typeface="Arial"/>
              <a:buNone/>
            </a:pP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Tháng</a:t>
            </a:r>
            <a:r>
              <a:rPr lang="en-US" sz="1400" kern="0" dirty="0">
                <a:solidFill>
                  <a:srgbClr val="000000"/>
                </a:solidFill>
                <a:latin typeface="Times New Roman"/>
                <a:ea typeface="Times New Roman"/>
                <a:cs typeface="Times New Roman"/>
                <a:sym typeface="Times New Roman"/>
              </a:rPr>
              <a:t> 3: </a:t>
            </a:r>
            <a:r>
              <a:rPr lang="en-US" sz="1400" kern="0" dirty="0" err="1">
                <a:solidFill>
                  <a:srgbClr val="000000"/>
                </a:solidFill>
                <a:latin typeface="Times New Roman"/>
                <a:ea typeface="Times New Roman"/>
                <a:cs typeface="Times New Roman"/>
                <a:sym typeface="Times New Roman"/>
              </a:rPr>
              <a:t>dk</a:t>
            </a:r>
            <a:r>
              <a:rPr lang="en-US" sz="1400" kern="0" dirty="0">
                <a:solidFill>
                  <a:srgbClr val="000000"/>
                </a:solidFill>
                <a:latin typeface="Times New Roman"/>
                <a:ea typeface="Times New Roman"/>
                <a:cs typeface="Times New Roman"/>
                <a:sym typeface="Times New Roman"/>
              </a:rPr>
              <a:t> 00 </a:t>
            </a:r>
            <a:r>
              <a:rPr lang="en-US" sz="1400" kern="0" dirty="0" err="1">
                <a:solidFill>
                  <a:srgbClr val="000000"/>
                </a:solidFill>
                <a:latin typeface="Times New Roman"/>
                <a:ea typeface="Times New Roman"/>
                <a:cs typeface="Times New Roman"/>
                <a:sym typeface="Times New Roman"/>
              </a:rPr>
              <a:t>ea</a:t>
            </a: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về</a:t>
            </a:r>
            <a:r>
              <a:rPr lang="en-US" sz="1400" kern="0" dirty="0">
                <a:solidFill>
                  <a:srgbClr val="000000"/>
                </a:solidFill>
                <a:latin typeface="Times New Roman"/>
                <a:ea typeface="Times New Roman"/>
                <a:cs typeface="Times New Roman"/>
                <a:sym typeface="Times New Roman"/>
              </a:rPr>
              <a:t>.</a:t>
            </a:r>
            <a:endParaRPr sz="1400" kern="0" dirty="0">
              <a:solidFill>
                <a:srgbClr val="000000"/>
              </a:solidFill>
              <a:latin typeface="Times New Roman"/>
              <a:ea typeface="Times New Roman"/>
              <a:cs typeface="Times New Roman"/>
              <a:sym typeface="Times New Roman"/>
            </a:endParaRPr>
          </a:p>
          <a:p>
            <a:pPr>
              <a:lnSpc>
                <a:spcPct val="115000"/>
              </a:lnSpc>
              <a:buClr>
                <a:srgbClr val="000000"/>
              </a:buClr>
              <a:buSzPts val="1100"/>
              <a:buFont typeface="Arial"/>
              <a:buNone/>
            </a:pPr>
            <a:r>
              <a:rPr lang="en-US" sz="1500" b="1" kern="0" dirty="0">
                <a:solidFill>
                  <a:srgbClr val="000000"/>
                </a:solidFill>
                <a:latin typeface="Times New Roman"/>
                <a:ea typeface="Times New Roman"/>
                <a:cs typeface="Times New Roman"/>
                <a:sym typeface="Times New Roman"/>
              </a:rPr>
              <a:t>APU A350</a:t>
            </a:r>
            <a:endParaRPr sz="1500" b="1" kern="0" dirty="0">
              <a:solidFill>
                <a:srgbClr val="000000"/>
              </a:solidFill>
              <a:latin typeface="Times New Roman"/>
              <a:ea typeface="Times New Roman"/>
              <a:cs typeface="Times New Roman"/>
              <a:sym typeface="Times New Roman"/>
            </a:endParaRPr>
          </a:p>
          <a:p>
            <a:pPr>
              <a:lnSpc>
                <a:spcPct val="115000"/>
              </a:lnSpc>
              <a:buClr>
                <a:srgbClr val="000000"/>
              </a:buClr>
              <a:buSzPts val="1100"/>
              <a:buFont typeface="Arial"/>
              <a:buNone/>
            </a:pPr>
            <a:r>
              <a:rPr lang="en-US" sz="1400" kern="0" dirty="0">
                <a:solidFill>
                  <a:srgbClr val="000000"/>
                </a:solidFill>
                <a:latin typeface="Times New Roman"/>
                <a:ea typeface="Times New Roman"/>
                <a:cs typeface="Times New Roman"/>
                <a:sym typeface="Times New Roman"/>
              </a:rPr>
              <a:t>+ STK: 1 </a:t>
            </a:r>
            <a:endParaRPr sz="1400" kern="0" dirty="0">
              <a:solidFill>
                <a:srgbClr val="000000"/>
              </a:solidFill>
              <a:latin typeface="Times New Roman"/>
              <a:ea typeface="Times New Roman"/>
              <a:cs typeface="Times New Roman"/>
              <a:sym typeface="Times New Roman"/>
            </a:endParaRPr>
          </a:p>
          <a:p>
            <a:pPr>
              <a:lnSpc>
                <a:spcPct val="115000"/>
              </a:lnSpc>
              <a:buClr>
                <a:srgbClr val="000000"/>
              </a:buClr>
              <a:buSzPts val="1100"/>
              <a:buFont typeface="Arial"/>
              <a:buNone/>
            </a:pPr>
            <a:r>
              <a:rPr lang="en-US" sz="1400" kern="0" dirty="0">
                <a:solidFill>
                  <a:srgbClr val="000000"/>
                </a:solidFill>
                <a:latin typeface="Times New Roman"/>
                <a:ea typeface="Times New Roman"/>
                <a:cs typeface="Times New Roman"/>
                <a:sym typeface="Times New Roman"/>
              </a:rPr>
              <a:t>+ 01 APU </a:t>
            </a:r>
            <a:r>
              <a:rPr lang="en-US" sz="1400" kern="0" dirty="0" err="1">
                <a:solidFill>
                  <a:srgbClr val="000000"/>
                </a:solidFill>
                <a:latin typeface="Times New Roman"/>
                <a:ea typeface="Times New Roman"/>
                <a:cs typeface="Times New Roman"/>
                <a:sym typeface="Times New Roman"/>
              </a:rPr>
              <a:t>đang</a:t>
            </a: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vận</a:t>
            </a: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chuyển</a:t>
            </a: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đi</a:t>
            </a:r>
            <a:r>
              <a:rPr lang="en-US" sz="1400" kern="0" dirty="0">
                <a:solidFill>
                  <a:srgbClr val="000000"/>
                </a:solidFill>
                <a:latin typeface="Times New Roman"/>
                <a:ea typeface="Times New Roman"/>
                <a:cs typeface="Times New Roman"/>
                <a:sym typeface="Times New Roman"/>
              </a:rPr>
              <a:t> shop </a:t>
            </a:r>
            <a:r>
              <a:rPr lang="en-US" sz="1400" kern="0" dirty="0" err="1">
                <a:solidFill>
                  <a:srgbClr val="000000"/>
                </a:solidFill>
                <a:latin typeface="Times New Roman"/>
                <a:ea typeface="Times New Roman"/>
                <a:cs typeface="Times New Roman"/>
                <a:sym typeface="Times New Roman"/>
              </a:rPr>
              <a:t>Lufth</a:t>
            </a: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sửa</a:t>
            </a: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chữa</a:t>
            </a:r>
            <a:r>
              <a:rPr lang="en-US" sz="1400" kern="0" dirty="0">
                <a:solidFill>
                  <a:srgbClr val="000000"/>
                </a:solidFill>
                <a:latin typeface="Times New Roman"/>
                <a:ea typeface="Times New Roman"/>
                <a:cs typeface="Times New Roman"/>
                <a:sym typeface="Times New Roman"/>
              </a:rPr>
              <a:t>.</a:t>
            </a:r>
            <a:endParaRPr sz="1400" kern="0" dirty="0">
              <a:solidFill>
                <a:srgbClr val="000000"/>
              </a:solidFill>
              <a:latin typeface="Times New Roman"/>
              <a:ea typeface="Times New Roman"/>
              <a:cs typeface="Times New Roman"/>
              <a:sym typeface="Times New Roman"/>
            </a:endParaRPr>
          </a:p>
          <a:p>
            <a:pPr>
              <a:lnSpc>
                <a:spcPct val="115000"/>
              </a:lnSpc>
              <a:buClr>
                <a:srgbClr val="000000"/>
              </a:buClr>
              <a:buSzPts val="1100"/>
              <a:buFont typeface="Arial"/>
              <a:buNone/>
            </a:pPr>
            <a:r>
              <a:rPr lang="en-US" sz="1400" kern="0" dirty="0">
                <a:solidFill>
                  <a:srgbClr val="000000"/>
                </a:solidFill>
                <a:latin typeface="Times New Roman"/>
                <a:ea typeface="Times New Roman"/>
                <a:cs typeface="Times New Roman"/>
                <a:sym typeface="Times New Roman"/>
              </a:rPr>
              <a:t>+01 APU </a:t>
            </a:r>
            <a:r>
              <a:rPr lang="en-US" sz="1400" kern="0" dirty="0" err="1">
                <a:solidFill>
                  <a:srgbClr val="000000"/>
                </a:solidFill>
                <a:latin typeface="Times New Roman"/>
                <a:ea typeface="Times New Roman"/>
                <a:cs typeface="Times New Roman"/>
                <a:sym typeface="Times New Roman"/>
              </a:rPr>
              <a:t>đang</a:t>
            </a: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sửa</a:t>
            </a:r>
            <a:r>
              <a:rPr lang="en-US" sz="1400" kern="0" dirty="0">
                <a:solidFill>
                  <a:srgbClr val="000000"/>
                </a:solidFill>
                <a:latin typeface="Times New Roman"/>
                <a:ea typeface="Times New Roman"/>
                <a:cs typeface="Times New Roman"/>
                <a:sym typeface="Times New Roman"/>
              </a:rPr>
              <a:t> </a:t>
            </a:r>
            <a:r>
              <a:rPr lang="en-US" sz="1400" kern="0" dirty="0" err="1" smtClean="0">
                <a:solidFill>
                  <a:srgbClr val="000000"/>
                </a:solidFill>
                <a:latin typeface="Times New Roman"/>
                <a:ea typeface="Times New Roman"/>
                <a:cs typeface="Times New Roman"/>
                <a:sym typeface="Times New Roman"/>
              </a:rPr>
              <a:t>chữa</a:t>
            </a:r>
            <a:r>
              <a:rPr lang="en-US" sz="1400" kern="0" dirty="0" smtClean="0">
                <a:solidFill>
                  <a:srgbClr val="000000"/>
                </a:solidFill>
                <a:latin typeface="Times New Roman"/>
                <a:ea typeface="Times New Roman"/>
                <a:cs typeface="Times New Roman"/>
                <a:sym typeface="Times New Roman"/>
              </a:rPr>
              <a:t> </a:t>
            </a:r>
            <a:r>
              <a:rPr lang="en-US" sz="1400" kern="0" dirty="0">
                <a:solidFill>
                  <a:srgbClr val="000000"/>
                </a:solidFill>
                <a:latin typeface="Times New Roman"/>
                <a:ea typeface="Times New Roman"/>
                <a:cs typeface="Times New Roman"/>
                <a:sym typeface="Times New Roman"/>
              </a:rPr>
              <a:t>DK 25/04/2025 </a:t>
            </a:r>
            <a:r>
              <a:rPr lang="en-US" sz="1400" kern="0" dirty="0" err="1">
                <a:solidFill>
                  <a:srgbClr val="000000"/>
                </a:solidFill>
                <a:latin typeface="Times New Roman"/>
                <a:ea typeface="Times New Roman"/>
                <a:cs typeface="Times New Roman"/>
                <a:sym typeface="Times New Roman"/>
              </a:rPr>
              <a:t>xong</a:t>
            </a:r>
            <a:r>
              <a:rPr lang="en-US" sz="1400" kern="0" dirty="0">
                <a:solidFill>
                  <a:srgbClr val="000000"/>
                </a:solidFill>
                <a:latin typeface="Times New Roman"/>
                <a:ea typeface="Times New Roman"/>
                <a:cs typeface="Times New Roman"/>
                <a:sym typeface="Times New Roman"/>
              </a:rPr>
              <a:t>.</a:t>
            </a:r>
            <a:endParaRPr sz="1400" kern="0" dirty="0">
              <a:solidFill>
                <a:srgbClr val="000000"/>
              </a:solidFill>
              <a:latin typeface="Times New Roman"/>
              <a:ea typeface="Times New Roman"/>
              <a:cs typeface="Times New Roman"/>
              <a:sym typeface="Times New Roman"/>
            </a:endParaRPr>
          </a:p>
          <a:p>
            <a:pPr>
              <a:lnSpc>
                <a:spcPct val="115000"/>
              </a:lnSpc>
              <a:buClr>
                <a:srgbClr val="000000"/>
              </a:buClr>
              <a:buSzPts val="1100"/>
              <a:buFont typeface="Arial"/>
              <a:buNone/>
            </a:pPr>
            <a:r>
              <a:rPr lang="en-US" sz="1100" kern="0" dirty="0">
                <a:solidFill>
                  <a:srgbClr val="000000"/>
                </a:solidFill>
                <a:latin typeface="Times New Roman"/>
                <a:ea typeface="Times New Roman"/>
                <a:cs typeface="Times New Roman"/>
                <a:sym typeface="Times New Roman"/>
              </a:rPr>
              <a:t> </a:t>
            </a:r>
            <a:endParaRPr sz="1100" kern="0" dirty="0">
              <a:solidFill>
                <a:srgbClr val="000000"/>
              </a:solidFill>
              <a:latin typeface="Times New Roman"/>
              <a:ea typeface="Times New Roman"/>
              <a:cs typeface="Times New Roman"/>
              <a:sym typeface="Times New Roman"/>
            </a:endParaRPr>
          </a:p>
          <a:p>
            <a:pPr>
              <a:lnSpc>
                <a:spcPct val="115000"/>
              </a:lnSpc>
              <a:buClr>
                <a:srgbClr val="000000"/>
              </a:buClr>
              <a:buSzPts val="1100"/>
              <a:buFont typeface="Arial"/>
              <a:buNone/>
            </a:pPr>
            <a:r>
              <a:rPr lang="en-US" sz="1500" b="1" kern="0" dirty="0">
                <a:solidFill>
                  <a:srgbClr val="000000"/>
                </a:solidFill>
                <a:latin typeface="Times New Roman"/>
                <a:ea typeface="Times New Roman"/>
                <a:cs typeface="Times New Roman"/>
                <a:sym typeface="Times New Roman"/>
              </a:rPr>
              <a:t>APU B787 </a:t>
            </a:r>
            <a:endParaRPr sz="1500" b="1" kern="0" dirty="0">
              <a:solidFill>
                <a:srgbClr val="000000"/>
              </a:solidFill>
              <a:latin typeface="Times New Roman"/>
              <a:ea typeface="Times New Roman"/>
              <a:cs typeface="Times New Roman"/>
              <a:sym typeface="Times New Roman"/>
            </a:endParaRPr>
          </a:p>
          <a:p>
            <a:pPr>
              <a:lnSpc>
                <a:spcPct val="115000"/>
              </a:lnSpc>
              <a:buClr>
                <a:srgbClr val="000000"/>
              </a:buClr>
              <a:buSzPts val="1100"/>
              <a:buFont typeface="Arial"/>
              <a:buNone/>
            </a:pPr>
            <a:r>
              <a:rPr lang="en-US" sz="1400" kern="0" dirty="0">
                <a:solidFill>
                  <a:srgbClr val="000000"/>
                </a:solidFill>
                <a:latin typeface="Times New Roman"/>
                <a:ea typeface="Times New Roman"/>
                <a:cs typeface="Times New Roman"/>
                <a:sym typeface="Times New Roman"/>
              </a:rPr>
              <a:t>+ STK: 0 APU</a:t>
            </a:r>
            <a:endParaRPr sz="1400" kern="0" dirty="0">
              <a:solidFill>
                <a:srgbClr val="000000"/>
              </a:solidFill>
              <a:latin typeface="Times New Roman"/>
              <a:ea typeface="Times New Roman"/>
              <a:cs typeface="Times New Roman"/>
              <a:sym typeface="Times New Roman"/>
            </a:endParaRPr>
          </a:p>
          <a:p>
            <a:pPr>
              <a:lnSpc>
                <a:spcPct val="115000"/>
              </a:lnSpc>
              <a:buClr>
                <a:srgbClr val="000000"/>
              </a:buClr>
              <a:buSzPts val="1100"/>
              <a:buFont typeface="Arial"/>
              <a:buNone/>
            </a:pPr>
            <a:r>
              <a:rPr lang="en-US" sz="1400" kern="0" dirty="0">
                <a:solidFill>
                  <a:srgbClr val="000000"/>
                </a:solidFill>
                <a:latin typeface="Times New Roman"/>
                <a:ea typeface="Times New Roman"/>
                <a:cs typeface="Times New Roman"/>
                <a:sym typeface="Times New Roman"/>
              </a:rPr>
              <a:t>+ 01 APU (PWC-Z926122) </a:t>
            </a:r>
            <a:r>
              <a:rPr lang="en-US" sz="1400" kern="0" dirty="0" err="1">
                <a:solidFill>
                  <a:srgbClr val="000000"/>
                </a:solidFill>
                <a:latin typeface="Times New Roman"/>
                <a:ea typeface="Times New Roman"/>
                <a:cs typeface="Times New Roman"/>
                <a:sym typeface="Times New Roman"/>
              </a:rPr>
              <a:t>đang</a:t>
            </a:r>
            <a:r>
              <a:rPr lang="en-US" sz="1400" kern="0" dirty="0">
                <a:solidFill>
                  <a:srgbClr val="000000"/>
                </a:solidFill>
                <a:latin typeface="Times New Roman"/>
                <a:ea typeface="Times New Roman"/>
                <a:cs typeface="Times New Roman"/>
                <a:sym typeface="Times New Roman"/>
              </a:rPr>
              <a:t> test DK </a:t>
            </a:r>
            <a:r>
              <a:rPr lang="en-US" sz="1400" kern="0" dirty="0" err="1">
                <a:solidFill>
                  <a:srgbClr val="000000"/>
                </a:solidFill>
                <a:latin typeface="Times New Roman"/>
                <a:ea typeface="Times New Roman"/>
                <a:cs typeface="Times New Roman"/>
                <a:sym typeface="Times New Roman"/>
              </a:rPr>
              <a:t>xong</a:t>
            </a:r>
            <a:r>
              <a:rPr lang="en-US" sz="1400" kern="0" dirty="0">
                <a:solidFill>
                  <a:srgbClr val="000000"/>
                </a:solidFill>
                <a:latin typeface="Times New Roman"/>
                <a:ea typeface="Times New Roman"/>
                <a:cs typeface="Times New Roman"/>
                <a:sym typeface="Times New Roman"/>
              </a:rPr>
              <a:t> 24/03/2025.</a:t>
            </a:r>
            <a:endParaRPr sz="1400" kern="0" dirty="0">
              <a:solidFill>
                <a:srgbClr val="000000"/>
              </a:solidFill>
              <a:latin typeface="Times New Roman"/>
              <a:ea typeface="Times New Roman"/>
              <a:cs typeface="Times New Roman"/>
              <a:sym typeface="Times New Roman"/>
            </a:endParaRPr>
          </a:p>
          <a:p>
            <a:pPr>
              <a:lnSpc>
                <a:spcPct val="115000"/>
              </a:lnSpc>
              <a:buClr>
                <a:srgbClr val="000000"/>
              </a:buClr>
              <a:buSzPts val="1100"/>
              <a:buFont typeface="Arial"/>
              <a:buNone/>
            </a:pPr>
            <a:r>
              <a:rPr lang="en-US" sz="1400" kern="0" dirty="0">
                <a:solidFill>
                  <a:srgbClr val="000000"/>
                </a:solidFill>
                <a:latin typeface="Times New Roman"/>
                <a:ea typeface="Times New Roman"/>
                <a:cs typeface="Times New Roman"/>
                <a:sym typeface="Times New Roman"/>
              </a:rPr>
              <a:t>+01 APU ( PWC-Z925500) </a:t>
            </a:r>
            <a:r>
              <a:rPr lang="en-US" sz="1400" kern="0" dirty="0" err="1">
                <a:solidFill>
                  <a:srgbClr val="000000"/>
                </a:solidFill>
                <a:latin typeface="Times New Roman"/>
                <a:ea typeface="Times New Roman"/>
                <a:cs typeface="Times New Roman"/>
                <a:sym typeface="Times New Roman"/>
              </a:rPr>
              <a:t>đang</a:t>
            </a: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sửa</a:t>
            </a: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tại</a:t>
            </a:r>
            <a:r>
              <a:rPr lang="en-US" sz="1400" kern="0" dirty="0">
                <a:solidFill>
                  <a:srgbClr val="000000"/>
                </a:solidFill>
                <a:latin typeface="Times New Roman"/>
                <a:ea typeface="Times New Roman"/>
                <a:cs typeface="Times New Roman"/>
                <a:sym typeface="Times New Roman"/>
              </a:rPr>
              <a:t> shop PW Poland </a:t>
            </a:r>
            <a:r>
              <a:rPr lang="en-US" sz="1400" kern="0" dirty="0" err="1">
                <a:solidFill>
                  <a:srgbClr val="000000"/>
                </a:solidFill>
                <a:latin typeface="Times New Roman"/>
                <a:ea typeface="Times New Roman"/>
                <a:cs typeface="Times New Roman"/>
                <a:sym typeface="Times New Roman"/>
              </a:rPr>
              <a:t>gặp</a:t>
            </a: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tình</a:t>
            </a: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trạng</a:t>
            </a: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kho</a:t>
            </a: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khăn</a:t>
            </a:r>
            <a:r>
              <a:rPr lang="en-US" sz="1400" kern="0" dirty="0">
                <a:solidFill>
                  <a:srgbClr val="000000"/>
                </a:solidFill>
                <a:latin typeface="Times New Roman"/>
                <a:ea typeface="Times New Roman"/>
                <a:cs typeface="Times New Roman"/>
                <a:sym typeface="Times New Roman"/>
              </a:rPr>
              <a:t> trong </a:t>
            </a:r>
            <a:r>
              <a:rPr lang="en-US" sz="1400" kern="0" dirty="0" err="1">
                <a:solidFill>
                  <a:srgbClr val="000000"/>
                </a:solidFill>
                <a:latin typeface="Times New Roman"/>
                <a:ea typeface="Times New Roman"/>
                <a:cs typeface="Times New Roman"/>
                <a:sym typeface="Times New Roman"/>
              </a:rPr>
              <a:t>chuỗi</a:t>
            </a: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cung</a:t>
            </a: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ứng</a:t>
            </a: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nên</a:t>
            </a: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dk</a:t>
            </a:r>
            <a:r>
              <a:rPr lang="en-US" sz="1400" kern="0" dirty="0">
                <a:solidFill>
                  <a:srgbClr val="000000"/>
                </a:solidFill>
                <a:latin typeface="Times New Roman"/>
                <a:ea typeface="Times New Roman"/>
                <a:cs typeface="Times New Roman"/>
                <a:sym typeface="Times New Roman"/>
              </a:rPr>
              <a:t> 14/04/2025 </a:t>
            </a:r>
            <a:r>
              <a:rPr lang="en-US" sz="1400" kern="0" dirty="0" err="1">
                <a:solidFill>
                  <a:srgbClr val="000000"/>
                </a:solidFill>
                <a:latin typeface="Times New Roman"/>
                <a:ea typeface="Times New Roman"/>
                <a:cs typeface="Times New Roman"/>
                <a:sym typeface="Times New Roman"/>
              </a:rPr>
              <a:t>về</a:t>
            </a:r>
            <a:r>
              <a:rPr lang="en-US" sz="1400" kern="0" dirty="0">
                <a:solidFill>
                  <a:srgbClr val="000000"/>
                </a:solidFill>
                <a:latin typeface="Times New Roman"/>
                <a:ea typeface="Times New Roman"/>
                <a:cs typeface="Times New Roman"/>
                <a:sym typeface="Times New Roman"/>
              </a:rPr>
              <a:t>.</a:t>
            </a:r>
            <a:endParaRPr sz="1400" kern="0" dirty="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400" kern="0" dirty="0">
              <a:solidFill>
                <a:srgbClr val="000000"/>
              </a:solidFill>
              <a:latin typeface="Times New Roman"/>
              <a:ea typeface="Times New Roman"/>
              <a:cs typeface="Times New Roman"/>
              <a:sym typeface="Times New Roman"/>
            </a:endParaRPr>
          </a:p>
        </p:txBody>
      </p:sp>
      <p:pic>
        <p:nvPicPr>
          <p:cNvPr id="310" name="Google Shape;310;g31ccdae391d_0_403"/>
          <p:cNvPicPr preferRelativeResize="0"/>
          <p:nvPr/>
        </p:nvPicPr>
        <p:blipFill>
          <a:blip r:embed="rId3">
            <a:alphaModFix/>
          </a:blip>
          <a:stretch>
            <a:fillRect/>
          </a:stretch>
        </p:blipFill>
        <p:spPr>
          <a:xfrm>
            <a:off x="442700" y="537100"/>
            <a:ext cx="6514950" cy="5510850"/>
          </a:xfrm>
          <a:prstGeom prst="rect">
            <a:avLst/>
          </a:prstGeom>
          <a:noFill/>
          <a:ln>
            <a:noFill/>
          </a:ln>
        </p:spPr>
      </p:pic>
    </p:spTree>
    <p:extLst>
      <p:ext uri="{BB962C8B-B14F-4D97-AF65-F5344CB8AC3E}">
        <p14:creationId xmlns:p14="http://schemas.microsoft.com/office/powerpoint/2010/main" val="1177584306"/>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g338eea6c084_0_0"/>
          <p:cNvSpPr txBox="1">
            <a:spLocks noGrp="1"/>
          </p:cNvSpPr>
          <p:nvPr>
            <p:ph type="title"/>
          </p:nvPr>
        </p:nvSpPr>
        <p:spPr>
          <a:xfrm>
            <a:off x="372775" y="152400"/>
            <a:ext cx="11232000" cy="49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CÔNG TÁC CHUẨN BỊ BAY NGA</a:t>
            </a:r>
            <a:endParaRPr sz="2800">
              <a:solidFill>
                <a:srgbClr val="FFC000"/>
              </a:solidFill>
              <a:latin typeface="Times New Roman"/>
              <a:ea typeface="Times New Roman"/>
              <a:cs typeface="Times New Roman"/>
              <a:sym typeface="Times New Roman"/>
            </a:endParaRPr>
          </a:p>
        </p:txBody>
      </p:sp>
      <p:sp>
        <p:nvSpPr>
          <p:cNvPr id="317" name="Google Shape;317;g338eea6c084_0_0"/>
          <p:cNvSpPr txBox="1">
            <a:spLocks noGrp="1"/>
          </p:cNvSpPr>
          <p:nvPr>
            <p:ph type="sldNum" idx="12"/>
          </p:nvPr>
        </p:nvSpPr>
        <p:spPr>
          <a:xfrm>
            <a:off x="10994575" y="5809425"/>
            <a:ext cx="3591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63</a:t>
            </a:fld>
            <a:endParaRPr/>
          </a:p>
        </p:txBody>
      </p:sp>
      <p:sp>
        <p:nvSpPr>
          <p:cNvPr id="318" name="Google Shape;318;g338eea6c084_0_0"/>
          <p:cNvSpPr/>
          <p:nvPr/>
        </p:nvSpPr>
        <p:spPr>
          <a:xfrm>
            <a:off x="609900" y="420438"/>
            <a:ext cx="10972200" cy="6626700"/>
          </a:xfrm>
          <a:prstGeom prst="rect">
            <a:avLst/>
          </a:prstGeom>
          <a:noFill/>
          <a:ln>
            <a:noFill/>
          </a:ln>
        </p:spPr>
        <p:txBody>
          <a:bodyPr spcFirstLastPara="1" wrap="square" lIns="91425" tIns="45700" rIns="91425" bIns="45700" anchor="t" anchorCtr="0">
            <a:noAutofit/>
          </a:bodyPr>
          <a:lstStyle/>
          <a:p>
            <a:pPr algn="just">
              <a:lnSpc>
                <a:spcPct val="115000"/>
              </a:lnSpc>
              <a:buClr>
                <a:srgbClr val="000000"/>
              </a:buClr>
              <a:buSzPts val="1600"/>
              <a:buFont typeface="Arial"/>
              <a:buNone/>
            </a:pPr>
            <a:endParaRPr sz="1600" kern="0" dirty="0">
              <a:solidFill>
                <a:srgbClr val="000000"/>
              </a:solidFill>
              <a:latin typeface="Times New Roman"/>
              <a:ea typeface="Times New Roman"/>
              <a:cs typeface="Times New Roman"/>
              <a:sym typeface="Times New Roman"/>
            </a:endParaRPr>
          </a:p>
          <a:p>
            <a:pPr marL="457200" indent="-355600" algn="just">
              <a:lnSpc>
                <a:spcPct val="115000"/>
              </a:lnSpc>
              <a:buClr>
                <a:srgbClr val="000000"/>
              </a:buClr>
              <a:buSzPts val="2000"/>
              <a:buFont typeface="Times New Roman"/>
              <a:buAutoNum type="arabicPeriod"/>
            </a:pPr>
            <a:r>
              <a:rPr lang="en-US" sz="2000" b="1" kern="0" dirty="0">
                <a:solidFill>
                  <a:srgbClr val="000000"/>
                </a:solidFill>
                <a:latin typeface="Times New Roman"/>
                <a:ea typeface="Times New Roman"/>
                <a:cs typeface="Times New Roman"/>
                <a:sym typeface="Times New Roman"/>
              </a:rPr>
              <a:t>NHIÊN LIỆU:</a:t>
            </a:r>
            <a:endParaRPr sz="2000" b="1" kern="0" dirty="0">
              <a:solidFill>
                <a:srgbClr val="000000"/>
              </a:solidFill>
              <a:latin typeface="Times New Roman"/>
              <a:ea typeface="Times New Roman"/>
              <a:cs typeface="Times New Roman"/>
              <a:sym typeface="Times New Roman"/>
            </a:endParaRPr>
          </a:p>
          <a:p>
            <a:pPr algn="just">
              <a:lnSpc>
                <a:spcPct val="115000"/>
              </a:lnSpc>
              <a:buClr>
                <a:srgbClr val="000000"/>
              </a:buClr>
              <a:buFont typeface="Arial"/>
              <a:buNone/>
            </a:pPr>
            <a:r>
              <a:rPr lang="en-US" sz="2000" kern="0" dirty="0" err="1">
                <a:solidFill>
                  <a:srgbClr val="000000"/>
                </a:solidFill>
                <a:latin typeface="Times New Roman"/>
                <a:ea typeface="Times New Roman"/>
                <a:cs typeface="Times New Roman"/>
                <a:sym typeface="Times New Roman"/>
              </a:rPr>
              <a:t>Đang</a:t>
            </a:r>
            <a:r>
              <a:rPr lang="en-US" sz="2000" kern="0" dirty="0">
                <a:solidFill>
                  <a:srgbClr val="000000"/>
                </a:solidFill>
                <a:latin typeface="Times New Roman"/>
                <a:ea typeface="Times New Roman"/>
                <a:cs typeface="Times New Roman"/>
                <a:sym typeface="Times New Roman"/>
              </a:rPr>
              <a:t> </a:t>
            </a:r>
            <a:r>
              <a:rPr lang="en-US" sz="2000" kern="0" dirty="0" err="1">
                <a:solidFill>
                  <a:srgbClr val="000000"/>
                </a:solidFill>
                <a:latin typeface="Times New Roman"/>
                <a:ea typeface="Times New Roman"/>
                <a:cs typeface="Times New Roman"/>
                <a:sym typeface="Times New Roman"/>
              </a:rPr>
              <a:t>tổ</a:t>
            </a:r>
            <a:r>
              <a:rPr lang="en-US" sz="2000" kern="0" dirty="0">
                <a:solidFill>
                  <a:srgbClr val="000000"/>
                </a:solidFill>
                <a:latin typeface="Times New Roman"/>
                <a:ea typeface="Times New Roman"/>
                <a:cs typeface="Times New Roman"/>
                <a:sym typeface="Times New Roman"/>
              </a:rPr>
              <a:t> </a:t>
            </a:r>
            <a:r>
              <a:rPr lang="en-US" sz="2000" kern="0" dirty="0" err="1">
                <a:solidFill>
                  <a:srgbClr val="000000"/>
                </a:solidFill>
                <a:latin typeface="Times New Roman"/>
                <a:ea typeface="Times New Roman"/>
                <a:cs typeface="Times New Roman"/>
                <a:sym typeface="Times New Roman"/>
              </a:rPr>
              <a:t>chức</a:t>
            </a:r>
            <a:r>
              <a:rPr lang="en-US" sz="2000" kern="0" dirty="0">
                <a:solidFill>
                  <a:srgbClr val="000000"/>
                </a:solidFill>
                <a:latin typeface="Times New Roman"/>
                <a:ea typeface="Times New Roman"/>
                <a:cs typeface="Times New Roman"/>
                <a:sym typeface="Times New Roman"/>
              </a:rPr>
              <a:t> </a:t>
            </a:r>
            <a:r>
              <a:rPr lang="en-US" sz="2000" kern="0" dirty="0" err="1">
                <a:solidFill>
                  <a:srgbClr val="000000"/>
                </a:solidFill>
                <a:latin typeface="Times New Roman"/>
                <a:ea typeface="Times New Roman"/>
                <a:cs typeface="Times New Roman"/>
                <a:sym typeface="Times New Roman"/>
              </a:rPr>
              <a:t>lựa</a:t>
            </a:r>
            <a:r>
              <a:rPr lang="en-US" sz="2000" kern="0" dirty="0">
                <a:solidFill>
                  <a:srgbClr val="000000"/>
                </a:solidFill>
                <a:latin typeface="Times New Roman"/>
                <a:ea typeface="Times New Roman"/>
                <a:cs typeface="Times New Roman"/>
                <a:sym typeface="Times New Roman"/>
              </a:rPr>
              <a:t> </a:t>
            </a:r>
            <a:r>
              <a:rPr lang="en-US" sz="2000" kern="0" dirty="0" err="1">
                <a:solidFill>
                  <a:srgbClr val="000000"/>
                </a:solidFill>
                <a:latin typeface="Times New Roman"/>
                <a:ea typeface="Times New Roman"/>
                <a:cs typeface="Times New Roman"/>
                <a:sym typeface="Times New Roman"/>
              </a:rPr>
              <a:t>chọn</a:t>
            </a:r>
            <a:r>
              <a:rPr lang="en-US" sz="2000" kern="0" dirty="0">
                <a:solidFill>
                  <a:srgbClr val="000000"/>
                </a:solidFill>
                <a:latin typeface="Times New Roman"/>
                <a:ea typeface="Times New Roman"/>
                <a:cs typeface="Times New Roman"/>
                <a:sym typeface="Times New Roman"/>
              </a:rPr>
              <a:t> </a:t>
            </a:r>
            <a:r>
              <a:rPr lang="en-US" sz="2000" kern="0" dirty="0" err="1">
                <a:solidFill>
                  <a:srgbClr val="000000"/>
                </a:solidFill>
                <a:latin typeface="Times New Roman"/>
                <a:ea typeface="Times New Roman"/>
                <a:cs typeface="Times New Roman"/>
                <a:sym typeface="Times New Roman"/>
              </a:rPr>
              <a:t>nhà</a:t>
            </a:r>
            <a:r>
              <a:rPr lang="en-US" sz="2000" kern="0" dirty="0">
                <a:solidFill>
                  <a:srgbClr val="000000"/>
                </a:solidFill>
                <a:latin typeface="Times New Roman"/>
                <a:ea typeface="Times New Roman"/>
                <a:cs typeface="Times New Roman"/>
                <a:sym typeface="Times New Roman"/>
              </a:rPr>
              <a:t> </a:t>
            </a:r>
            <a:r>
              <a:rPr lang="en-US" sz="2000" kern="0" dirty="0" err="1">
                <a:solidFill>
                  <a:srgbClr val="000000"/>
                </a:solidFill>
                <a:latin typeface="Times New Roman"/>
                <a:ea typeface="Times New Roman"/>
                <a:cs typeface="Times New Roman"/>
                <a:sym typeface="Times New Roman"/>
              </a:rPr>
              <a:t>cung</a:t>
            </a:r>
            <a:r>
              <a:rPr lang="en-US" sz="2000" kern="0" dirty="0">
                <a:solidFill>
                  <a:srgbClr val="000000"/>
                </a:solidFill>
                <a:latin typeface="Times New Roman"/>
                <a:ea typeface="Times New Roman"/>
                <a:cs typeface="Times New Roman"/>
                <a:sym typeface="Times New Roman"/>
              </a:rPr>
              <a:t> </a:t>
            </a:r>
            <a:r>
              <a:rPr lang="en-US" sz="2000" kern="0" dirty="0" err="1">
                <a:solidFill>
                  <a:srgbClr val="000000"/>
                </a:solidFill>
                <a:latin typeface="Times New Roman"/>
                <a:ea typeface="Times New Roman"/>
                <a:cs typeface="Times New Roman"/>
                <a:sym typeface="Times New Roman"/>
              </a:rPr>
              <a:t>cấp</a:t>
            </a:r>
            <a:r>
              <a:rPr lang="en-US" sz="2000" kern="0" dirty="0">
                <a:solidFill>
                  <a:srgbClr val="000000"/>
                </a:solidFill>
                <a:latin typeface="Times New Roman"/>
                <a:ea typeface="Times New Roman"/>
                <a:cs typeface="Times New Roman"/>
                <a:sym typeface="Times New Roman"/>
              </a:rPr>
              <a:t> </a:t>
            </a:r>
            <a:r>
              <a:rPr lang="en-US" sz="2000" kern="0" dirty="0" err="1">
                <a:solidFill>
                  <a:srgbClr val="000000"/>
                </a:solidFill>
                <a:latin typeface="Times New Roman"/>
                <a:ea typeface="Times New Roman"/>
                <a:cs typeface="Times New Roman"/>
                <a:sym typeface="Times New Roman"/>
              </a:rPr>
              <a:t>nhiên</a:t>
            </a:r>
            <a:r>
              <a:rPr lang="en-US" sz="2000" kern="0" dirty="0">
                <a:solidFill>
                  <a:srgbClr val="000000"/>
                </a:solidFill>
                <a:latin typeface="Times New Roman"/>
                <a:ea typeface="Times New Roman"/>
                <a:cs typeface="Times New Roman"/>
                <a:sym typeface="Times New Roman"/>
              </a:rPr>
              <a:t> </a:t>
            </a:r>
            <a:r>
              <a:rPr lang="en-US" sz="2000" kern="0" dirty="0" err="1">
                <a:solidFill>
                  <a:srgbClr val="000000"/>
                </a:solidFill>
                <a:latin typeface="Times New Roman"/>
                <a:ea typeface="Times New Roman"/>
                <a:cs typeface="Times New Roman"/>
                <a:sym typeface="Times New Roman"/>
              </a:rPr>
              <a:t>liệu</a:t>
            </a:r>
            <a:r>
              <a:rPr lang="en-US" sz="2000" kern="0" dirty="0">
                <a:solidFill>
                  <a:srgbClr val="000000"/>
                </a:solidFill>
                <a:latin typeface="Times New Roman"/>
                <a:ea typeface="Times New Roman"/>
                <a:cs typeface="Times New Roman"/>
                <a:sym typeface="Times New Roman"/>
              </a:rPr>
              <a:t>, </a:t>
            </a:r>
            <a:r>
              <a:rPr lang="en-US" sz="2000" kern="0" dirty="0" err="1">
                <a:solidFill>
                  <a:srgbClr val="000000"/>
                </a:solidFill>
                <a:latin typeface="Times New Roman"/>
                <a:ea typeface="Times New Roman"/>
                <a:cs typeface="Times New Roman"/>
                <a:sym typeface="Times New Roman"/>
              </a:rPr>
              <a:t>dự</a:t>
            </a:r>
            <a:r>
              <a:rPr lang="en-US" sz="2000" kern="0" dirty="0">
                <a:solidFill>
                  <a:srgbClr val="000000"/>
                </a:solidFill>
                <a:latin typeface="Times New Roman"/>
                <a:ea typeface="Times New Roman"/>
                <a:cs typeface="Times New Roman"/>
                <a:sym typeface="Times New Roman"/>
              </a:rPr>
              <a:t> </a:t>
            </a:r>
            <a:r>
              <a:rPr lang="en-US" sz="2000" kern="0" dirty="0" err="1">
                <a:solidFill>
                  <a:srgbClr val="000000"/>
                </a:solidFill>
                <a:latin typeface="Times New Roman"/>
                <a:ea typeface="Times New Roman"/>
                <a:cs typeface="Times New Roman"/>
                <a:sym typeface="Times New Roman"/>
              </a:rPr>
              <a:t>kiến</a:t>
            </a:r>
            <a:r>
              <a:rPr lang="en-US" sz="2000" kern="0" dirty="0">
                <a:solidFill>
                  <a:srgbClr val="000000"/>
                </a:solidFill>
                <a:latin typeface="Times New Roman"/>
                <a:ea typeface="Times New Roman"/>
                <a:cs typeface="Times New Roman"/>
                <a:sym typeface="Times New Roman"/>
              </a:rPr>
              <a:t> </a:t>
            </a:r>
            <a:r>
              <a:rPr lang="en-US" sz="2000" kern="0" dirty="0" err="1">
                <a:solidFill>
                  <a:srgbClr val="000000"/>
                </a:solidFill>
                <a:latin typeface="Times New Roman"/>
                <a:ea typeface="Times New Roman"/>
                <a:cs typeface="Times New Roman"/>
                <a:sym typeface="Times New Roman"/>
              </a:rPr>
              <a:t>hoàn</a:t>
            </a:r>
            <a:r>
              <a:rPr lang="en-US" sz="2000" kern="0" dirty="0">
                <a:solidFill>
                  <a:srgbClr val="000000"/>
                </a:solidFill>
                <a:latin typeface="Times New Roman"/>
                <a:ea typeface="Times New Roman"/>
                <a:cs typeface="Times New Roman"/>
                <a:sym typeface="Times New Roman"/>
              </a:rPr>
              <a:t> </a:t>
            </a:r>
            <a:r>
              <a:rPr lang="en-US" sz="2000" kern="0" dirty="0" err="1">
                <a:solidFill>
                  <a:srgbClr val="000000"/>
                </a:solidFill>
                <a:latin typeface="Times New Roman"/>
                <a:ea typeface="Times New Roman"/>
                <a:cs typeface="Times New Roman"/>
                <a:sym typeface="Times New Roman"/>
              </a:rPr>
              <a:t>thành</a:t>
            </a:r>
            <a:r>
              <a:rPr lang="en-US" sz="2000" kern="0" dirty="0">
                <a:solidFill>
                  <a:srgbClr val="000000"/>
                </a:solidFill>
                <a:latin typeface="Times New Roman"/>
                <a:ea typeface="Times New Roman"/>
                <a:cs typeface="Times New Roman"/>
                <a:sym typeface="Times New Roman"/>
              </a:rPr>
              <a:t> </a:t>
            </a:r>
            <a:r>
              <a:rPr lang="en-US" sz="2000" kern="0" dirty="0" err="1">
                <a:solidFill>
                  <a:srgbClr val="000000"/>
                </a:solidFill>
                <a:latin typeface="Times New Roman"/>
                <a:ea typeface="Times New Roman"/>
                <a:cs typeface="Times New Roman"/>
                <a:sym typeface="Times New Roman"/>
              </a:rPr>
              <a:t>trước</a:t>
            </a:r>
            <a:r>
              <a:rPr lang="en-US" sz="2000" kern="0" dirty="0">
                <a:solidFill>
                  <a:srgbClr val="000000"/>
                </a:solidFill>
                <a:latin typeface="Times New Roman"/>
                <a:ea typeface="Times New Roman"/>
                <a:cs typeface="Times New Roman"/>
                <a:sym typeface="Times New Roman"/>
              </a:rPr>
              <a:t> 21/04.</a:t>
            </a:r>
            <a:endParaRPr sz="2000" kern="0" dirty="0">
              <a:solidFill>
                <a:srgbClr val="000000"/>
              </a:solidFill>
              <a:latin typeface="Times New Roman"/>
              <a:ea typeface="Times New Roman"/>
              <a:cs typeface="Times New Roman"/>
              <a:sym typeface="Times New Roman"/>
            </a:endParaRPr>
          </a:p>
          <a:p>
            <a:pPr algn="just">
              <a:lnSpc>
                <a:spcPct val="115000"/>
              </a:lnSpc>
              <a:buClr>
                <a:srgbClr val="000000"/>
              </a:buClr>
              <a:buFont typeface="Arial"/>
              <a:buNone/>
            </a:pPr>
            <a:endParaRPr sz="2000" kern="0" dirty="0">
              <a:solidFill>
                <a:srgbClr val="000000"/>
              </a:solidFill>
              <a:latin typeface="Times New Roman"/>
              <a:ea typeface="Times New Roman"/>
              <a:cs typeface="Times New Roman"/>
              <a:sym typeface="Times New Roman"/>
            </a:endParaRPr>
          </a:p>
          <a:p>
            <a:pPr marL="457200" indent="-355600" algn="just">
              <a:lnSpc>
                <a:spcPct val="115000"/>
              </a:lnSpc>
              <a:buClr>
                <a:srgbClr val="000000"/>
              </a:buClr>
              <a:buSzPts val="2000"/>
              <a:buFont typeface="Times New Roman"/>
              <a:buAutoNum type="arabicPeriod"/>
            </a:pPr>
            <a:r>
              <a:rPr lang="en-US" sz="2000" b="1" kern="0" dirty="0">
                <a:solidFill>
                  <a:srgbClr val="000000"/>
                </a:solidFill>
                <a:latin typeface="Times New Roman"/>
                <a:ea typeface="Times New Roman"/>
                <a:cs typeface="Times New Roman"/>
                <a:sym typeface="Times New Roman"/>
              </a:rPr>
              <a:t>PTVT DỰ PHÒNG FAK</a:t>
            </a:r>
            <a:endParaRPr sz="1600" kern="0" dirty="0">
              <a:solidFill>
                <a:srgbClr val="000000"/>
              </a:solidFill>
              <a:latin typeface="Times New Roman"/>
              <a:ea typeface="Times New Roman"/>
              <a:cs typeface="Times New Roman"/>
              <a:sym typeface="Times New Roman"/>
            </a:endParaRPr>
          </a:p>
          <a:p>
            <a:pPr algn="just">
              <a:lnSpc>
                <a:spcPct val="115000"/>
              </a:lnSpc>
              <a:buClr>
                <a:srgbClr val="000000"/>
              </a:buClr>
              <a:buFont typeface="Arial"/>
              <a:buNone/>
            </a:pPr>
            <a:r>
              <a:rPr lang="en-US" sz="2000" kern="0" dirty="0">
                <a:solidFill>
                  <a:srgbClr val="000000"/>
                </a:solidFill>
                <a:latin typeface="Times New Roman"/>
                <a:ea typeface="Times New Roman"/>
                <a:cs typeface="Times New Roman"/>
                <a:sym typeface="Times New Roman"/>
              </a:rPr>
              <a:t>TGĐ </a:t>
            </a:r>
            <a:r>
              <a:rPr lang="en-US" sz="2000" kern="0" dirty="0" err="1">
                <a:solidFill>
                  <a:srgbClr val="000000"/>
                </a:solidFill>
                <a:latin typeface="Times New Roman"/>
                <a:ea typeface="Times New Roman"/>
                <a:cs typeface="Times New Roman"/>
                <a:sym typeface="Times New Roman"/>
              </a:rPr>
              <a:t>đã</a:t>
            </a:r>
            <a:r>
              <a:rPr lang="en-US" sz="2000" kern="0" dirty="0">
                <a:solidFill>
                  <a:srgbClr val="000000"/>
                </a:solidFill>
                <a:latin typeface="Times New Roman"/>
                <a:ea typeface="Times New Roman"/>
                <a:cs typeface="Times New Roman"/>
                <a:sym typeface="Times New Roman"/>
              </a:rPr>
              <a:t> </a:t>
            </a:r>
            <a:r>
              <a:rPr lang="en-US" sz="2000" kern="0" dirty="0" err="1">
                <a:solidFill>
                  <a:srgbClr val="000000"/>
                </a:solidFill>
                <a:latin typeface="Times New Roman"/>
                <a:ea typeface="Times New Roman"/>
                <a:cs typeface="Times New Roman"/>
                <a:sym typeface="Times New Roman"/>
              </a:rPr>
              <a:t>phê</a:t>
            </a:r>
            <a:r>
              <a:rPr lang="en-US" sz="2000" kern="0" dirty="0">
                <a:solidFill>
                  <a:srgbClr val="000000"/>
                </a:solidFill>
                <a:latin typeface="Times New Roman"/>
                <a:ea typeface="Times New Roman"/>
                <a:cs typeface="Times New Roman"/>
                <a:sym typeface="Times New Roman"/>
              </a:rPr>
              <a:t> </a:t>
            </a:r>
            <a:r>
              <a:rPr lang="en-US" sz="2000" kern="0" dirty="0" err="1">
                <a:solidFill>
                  <a:srgbClr val="000000"/>
                </a:solidFill>
                <a:latin typeface="Times New Roman"/>
                <a:ea typeface="Times New Roman"/>
                <a:cs typeface="Times New Roman"/>
                <a:sym typeface="Times New Roman"/>
              </a:rPr>
              <a:t>duyệt</a:t>
            </a:r>
            <a:r>
              <a:rPr lang="en-US" sz="2000" kern="0" dirty="0">
                <a:solidFill>
                  <a:srgbClr val="000000"/>
                </a:solidFill>
                <a:latin typeface="Times New Roman"/>
                <a:ea typeface="Times New Roman"/>
                <a:cs typeface="Times New Roman"/>
                <a:sym typeface="Times New Roman"/>
              </a:rPr>
              <a:t> </a:t>
            </a:r>
            <a:r>
              <a:rPr lang="en-US" sz="2000" kern="0" dirty="0" err="1">
                <a:solidFill>
                  <a:srgbClr val="000000"/>
                </a:solidFill>
                <a:latin typeface="Times New Roman"/>
                <a:ea typeface="Times New Roman"/>
                <a:cs typeface="Times New Roman"/>
                <a:sym typeface="Times New Roman"/>
              </a:rPr>
              <a:t>mua</a:t>
            </a:r>
            <a:r>
              <a:rPr lang="en-US" sz="2000" kern="0" dirty="0">
                <a:solidFill>
                  <a:srgbClr val="000000"/>
                </a:solidFill>
                <a:latin typeface="Times New Roman"/>
                <a:ea typeface="Times New Roman"/>
                <a:cs typeface="Times New Roman"/>
                <a:sym typeface="Times New Roman"/>
              </a:rPr>
              <a:t> 63 item (5.18 </a:t>
            </a:r>
            <a:r>
              <a:rPr lang="en-US" sz="2000" kern="0" dirty="0" err="1" smtClean="0">
                <a:solidFill>
                  <a:srgbClr val="000000"/>
                </a:solidFill>
                <a:latin typeface="Times New Roman"/>
                <a:ea typeface="Times New Roman"/>
                <a:cs typeface="Times New Roman"/>
                <a:sym typeface="Times New Roman"/>
              </a:rPr>
              <a:t>triệu</a:t>
            </a:r>
            <a:r>
              <a:rPr lang="en-US" sz="2000" kern="0" dirty="0" smtClean="0">
                <a:solidFill>
                  <a:srgbClr val="000000"/>
                </a:solidFill>
                <a:latin typeface="Times New Roman"/>
                <a:ea typeface="Times New Roman"/>
                <a:cs typeface="Times New Roman"/>
                <a:sym typeface="Times New Roman"/>
              </a:rPr>
              <a:t> USD</a:t>
            </a:r>
            <a:r>
              <a:rPr lang="en-US" sz="2000" kern="0" dirty="0">
                <a:solidFill>
                  <a:srgbClr val="000000"/>
                </a:solidFill>
                <a:latin typeface="Times New Roman"/>
                <a:ea typeface="Times New Roman"/>
                <a:cs typeface="Times New Roman"/>
                <a:sym typeface="Times New Roman"/>
              </a:rPr>
              <a:t>) trong </a:t>
            </a:r>
            <a:r>
              <a:rPr lang="en-US" sz="2000" kern="0" dirty="0" err="1">
                <a:solidFill>
                  <a:srgbClr val="000000"/>
                </a:solidFill>
                <a:latin typeface="Times New Roman"/>
                <a:ea typeface="Times New Roman"/>
                <a:cs typeface="Times New Roman"/>
                <a:sym typeface="Times New Roman"/>
              </a:rPr>
              <a:t>đó</a:t>
            </a:r>
            <a:r>
              <a:rPr lang="en-US" sz="2000" kern="0" dirty="0">
                <a:solidFill>
                  <a:srgbClr val="000000"/>
                </a:solidFill>
                <a:latin typeface="Times New Roman"/>
                <a:ea typeface="Times New Roman"/>
                <a:cs typeface="Times New Roman"/>
                <a:sym typeface="Times New Roman"/>
              </a:rPr>
              <a:t>:</a:t>
            </a:r>
            <a:endParaRPr sz="2000" kern="0" dirty="0">
              <a:solidFill>
                <a:srgbClr val="000000"/>
              </a:solidFill>
              <a:latin typeface="Times New Roman"/>
              <a:ea typeface="Times New Roman"/>
              <a:cs typeface="Times New Roman"/>
              <a:sym typeface="Times New Roman"/>
            </a:endParaRPr>
          </a:p>
          <a:p>
            <a:pPr algn="just">
              <a:lnSpc>
                <a:spcPct val="115000"/>
              </a:lnSpc>
              <a:buClr>
                <a:srgbClr val="000000"/>
              </a:buClr>
              <a:buFont typeface="Arial"/>
              <a:buNone/>
            </a:pPr>
            <a:endParaRPr sz="2000" kern="0" dirty="0">
              <a:solidFill>
                <a:srgbClr val="000000"/>
              </a:solidFill>
              <a:latin typeface="Times New Roman"/>
              <a:ea typeface="Times New Roman"/>
              <a:cs typeface="Times New Roman"/>
              <a:sym typeface="Times New Roman"/>
            </a:endParaRPr>
          </a:p>
          <a:p>
            <a:pPr marL="457200" indent="-355600" algn="just">
              <a:lnSpc>
                <a:spcPct val="115000"/>
              </a:lnSpc>
              <a:buClr>
                <a:srgbClr val="000000"/>
              </a:buClr>
              <a:buSzPts val="2000"/>
              <a:buFont typeface="Times New Roman"/>
              <a:buChar char="-"/>
            </a:pPr>
            <a:r>
              <a:rPr lang="en-US" sz="2000" kern="0" dirty="0" err="1">
                <a:solidFill>
                  <a:srgbClr val="000000"/>
                </a:solidFill>
                <a:latin typeface="Times New Roman"/>
                <a:ea typeface="Times New Roman"/>
                <a:cs typeface="Times New Roman"/>
                <a:sym typeface="Times New Roman"/>
              </a:rPr>
              <a:t>Đã</a:t>
            </a:r>
            <a:r>
              <a:rPr lang="en-US" sz="2000" kern="0" dirty="0">
                <a:solidFill>
                  <a:srgbClr val="000000"/>
                </a:solidFill>
                <a:latin typeface="Times New Roman"/>
                <a:ea typeface="Times New Roman"/>
                <a:cs typeface="Times New Roman"/>
                <a:sym typeface="Times New Roman"/>
              </a:rPr>
              <a:t> issue </a:t>
            </a:r>
            <a:r>
              <a:rPr lang="en-US" sz="2000" kern="0" dirty="0" err="1">
                <a:solidFill>
                  <a:srgbClr val="000000"/>
                </a:solidFill>
                <a:latin typeface="Times New Roman"/>
                <a:ea typeface="Times New Roman"/>
                <a:cs typeface="Times New Roman"/>
                <a:sym typeface="Times New Roman"/>
              </a:rPr>
              <a:t>mua</a:t>
            </a:r>
            <a:r>
              <a:rPr lang="en-US" sz="2000" kern="0" dirty="0">
                <a:solidFill>
                  <a:srgbClr val="000000"/>
                </a:solidFill>
                <a:latin typeface="Times New Roman"/>
                <a:ea typeface="Times New Roman"/>
                <a:cs typeface="Times New Roman"/>
                <a:sym typeface="Times New Roman"/>
              </a:rPr>
              <a:t> 43 item</a:t>
            </a:r>
            <a:endParaRPr sz="2000" kern="0" dirty="0">
              <a:solidFill>
                <a:srgbClr val="000000"/>
              </a:solidFill>
              <a:latin typeface="Times New Roman"/>
              <a:ea typeface="Times New Roman"/>
              <a:cs typeface="Times New Roman"/>
              <a:sym typeface="Times New Roman"/>
            </a:endParaRPr>
          </a:p>
          <a:p>
            <a:pPr marL="457200" algn="just">
              <a:lnSpc>
                <a:spcPct val="115000"/>
              </a:lnSpc>
              <a:buClr>
                <a:srgbClr val="000000"/>
              </a:buClr>
              <a:buFont typeface="Arial"/>
              <a:buNone/>
            </a:pPr>
            <a:r>
              <a:rPr lang="en-US" sz="2000" kern="0" dirty="0">
                <a:solidFill>
                  <a:srgbClr val="000000"/>
                </a:solidFill>
                <a:latin typeface="Times New Roman"/>
                <a:ea typeface="Times New Roman"/>
                <a:cs typeface="Times New Roman"/>
                <a:sym typeface="Times New Roman"/>
              </a:rPr>
              <a:t>+ 23 item </a:t>
            </a:r>
            <a:r>
              <a:rPr lang="en-US" sz="2000" kern="0" dirty="0" err="1">
                <a:solidFill>
                  <a:srgbClr val="000000"/>
                </a:solidFill>
                <a:latin typeface="Times New Roman"/>
                <a:ea typeface="Times New Roman"/>
                <a:cs typeface="Times New Roman"/>
                <a:sym typeface="Times New Roman"/>
              </a:rPr>
              <a:t>đã</a:t>
            </a:r>
            <a:r>
              <a:rPr lang="en-US" sz="2000" kern="0" dirty="0">
                <a:solidFill>
                  <a:srgbClr val="000000"/>
                </a:solidFill>
                <a:latin typeface="Times New Roman"/>
                <a:ea typeface="Times New Roman"/>
                <a:cs typeface="Times New Roman"/>
                <a:sym typeface="Times New Roman"/>
              </a:rPr>
              <a:t> </a:t>
            </a:r>
            <a:r>
              <a:rPr lang="en-US" sz="2000" kern="0" dirty="0" err="1">
                <a:solidFill>
                  <a:srgbClr val="000000"/>
                </a:solidFill>
                <a:latin typeface="Times New Roman"/>
                <a:ea typeface="Times New Roman"/>
                <a:cs typeface="Times New Roman"/>
                <a:sym typeface="Times New Roman"/>
              </a:rPr>
              <a:t>có</a:t>
            </a:r>
            <a:r>
              <a:rPr lang="en-US" sz="2000" kern="0" dirty="0">
                <a:solidFill>
                  <a:srgbClr val="000000"/>
                </a:solidFill>
                <a:latin typeface="Times New Roman"/>
                <a:ea typeface="Times New Roman"/>
                <a:cs typeface="Times New Roman"/>
                <a:sym typeface="Times New Roman"/>
              </a:rPr>
              <a:t> </a:t>
            </a:r>
            <a:r>
              <a:rPr lang="en-US" sz="2000" kern="0" dirty="0" err="1">
                <a:solidFill>
                  <a:srgbClr val="000000"/>
                </a:solidFill>
                <a:latin typeface="Times New Roman"/>
                <a:ea typeface="Times New Roman"/>
                <a:cs typeface="Times New Roman"/>
                <a:sym typeface="Times New Roman"/>
              </a:rPr>
              <a:t>lịch</a:t>
            </a:r>
            <a:r>
              <a:rPr lang="en-US" sz="2000" kern="0" dirty="0">
                <a:solidFill>
                  <a:srgbClr val="000000"/>
                </a:solidFill>
                <a:latin typeface="Times New Roman"/>
                <a:ea typeface="Times New Roman"/>
                <a:cs typeface="Times New Roman"/>
                <a:sym typeface="Times New Roman"/>
              </a:rPr>
              <a:t> </a:t>
            </a:r>
            <a:r>
              <a:rPr lang="en-US" sz="2000" kern="0" dirty="0" err="1">
                <a:solidFill>
                  <a:srgbClr val="000000"/>
                </a:solidFill>
                <a:latin typeface="Times New Roman"/>
                <a:ea typeface="Times New Roman"/>
                <a:cs typeface="Times New Roman"/>
                <a:sym typeface="Times New Roman"/>
              </a:rPr>
              <a:t>về</a:t>
            </a:r>
            <a:r>
              <a:rPr lang="en-US" sz="2000" kern="0" dirty="0">
                <a:solidFill>
                  <a:srgbClr val="000000"/>
                </a:solidFill>
                <a:latin typeface="Times New Roman"/>
                <a:ea typeface="Times New Roman"/>
                <a:cs typeface="Times New Roman"/>
                <a:sym typeface="Times New Roman"/>
              </a:rPr>
              <a:t> trong </a:t>
            </a:r>
            <a:r>
              <a:rPr lang="en-US" sz="2000" kern="0" dirty="0" err="1">
                <a:solidFill>
                  <a:srgbClr val="000000"/>
                </a:solidFill>
                <a:latin typeface="Times New Roman"/>
                <a:ea typeface="Times New Roman"/>
                <a:cs typeface="Times New Roman"/>
                <a:sym typeface="Times New Roman"/>
              </a:rPr>
              <a:t>tháng</a:t>
            </a:r>
            <a:r>
              <a:rPr lang="en-US" sz="2000" kern="0" dirty="0">
                <a:solidFill>
                  <a:srgbClr val="000000"/>
                </a:solidFill>
                <a:latin typeface="Times New Roman"/>
                <a:ea typeface="Times New Roman"/>
                <a:cs typeface="Times New Roman"/>
                <a:sym typeface="Times New Roman"/>
              </a:rPr>
              <a:t> 3, 4</a:t>
            </a:r>
            <a:endParaRPr sz="2000" kern="0" dirty="0">
              <a:solidFill>
                <a:srgbClr val="000000"/>
              </a:solidFill>
              <a:latin typeface="Times New Roman"/>
              <a:ea typeface="Times New Roman"/>
              <a:cs typeface="Times New Roman"/>
              <a:sym typeface="Times New Roman"/>
            </a:endParaRPr>
          </a:p>
          <a:p>
            <a:pPr marL="457200" algn="just">
              <a:lnSpc>
                <a:spcPct val="115000"/>
              </a:lnSpc>
              <a:buClr>
                <a:srgbClr val="000000"/>
              </a:buClr>
              <a:buFont typeface="Arial"/>
              <a:buNone/>
            </a:pPr>
            <a:r>
              <a:rPr lang="en-US" sz="2000" kern="0" dirty="0">
                <a:solidFill>
                  <a:srgbClr val="000000"/>
                </a:solidFill>
                <a:latin typeface="Times New Roman"/>
                <a:ea typeface="Times New Roman"/>
                <a:cs typeface="Times New Roman"/>
                <a:sym typeface="Times New Roman"/>
              </a:rPr>
              <a:t>+ 20 item </a:t>
            </a:r>
            <a:r>
              <a:rPr lang="en-US" sz="2000" kern="0" dirty="0" err="1">
                <a:solidFill>
                  <a:srgbClr val="000000"/>
                </a:solidFill>
                <a:latin typeface="Times New Roman"/>
                <a:ea typeface="Times New Roman"/>
                <a:cs typeface="Times New Roman"/>
                <a:sym typeface="Times New Roman"/>
              </a:rPr>
              <a:t>chưa</a:t>
            </a:r>
            <a:r>
              <a:rPr lang="en-US" sz="2000" kern="0" dirty="0">
                <a:solidFill>
                  <a:srgbClr val="000000"/>
                </a:solidFill>
                <a:latin typeface="Times New Roman"/>
                <a:ea typeface="Times New Roman"/>
                <a:cs typeface="Times New Roman"/>
                <a:sym typeface="Times New Roman"/>
              </a:rPr>
              <a:t> </a:t>
            </a:r>
            <a:r>
              <a:rPr lang="en-US" sz="2000" kern="0" dirty="0" err="1">
                <a:solidFill>
                  <a:srgbClr val="000000"/>
                </a:solidFill>
                <a:latin typeface="Times New Roman"/>
                <a:ea typeface="Times New Roman"/>
                <a:cs typeface="Times New Roman"/>
                <a:sym typeface="Times New Roman"/>
              </a:rPr>
              <a:t>có</a:t>
            </a:r>
            <a:r>
              <a:rPr lang="en-US" sz="2000" kern="0" dirty="0">
                <a:solidFill>
                  <a:srgbClr val="000000"/>
                </a:solidFill>
                <a:latin typeface="Times New Roman"/>
                <a:ea typeface="Times New Roman"/>
                <a:cs typeface="Times New Roman"/>
                <a:sym typeface="Times New Roman"/>
              </a:rPr>
              <a:t> </a:t>
            </a:r>
            <a:r>
              <a:rPr lang="en-US" sz="2000" kern="0" dirty="0" err="1">
                <a:solidFill>
                  <a:srgbClr val="000000"/>
                </a:solidFill>
                <a:latin typeface="Times New Roman"/>
                <a:ea typeface="Times New Roman"/>
                <a:cs typeface="Times New Roman"/>
                <a:sym typeface="Times New Roman"/>
              </a:rPr>
              <a:t>xác</a:t>
            </a:r>
            <a:r>
              <a:rPr lang="en-US" sz="2000" kern="0" dirty="0">
                <a:solidFill>
                  <a:srgbClr val="000000"/>
                </a:solidFill>
                <a:latin typeface="Times New Roman"/>
                <a:ea typeface="Times New Roman"/>
                <a:cs typeface="Times New Roman"/>
                <a:sym typeface="Times New Roman"/>
              </a:rPr>
              <a:t> </a:t>
            </a:r>
            <a:r>
              <a:rPr lang="en-US" sz="2000" kern="0" dirty="0" err="1">
                <a:solidFill>
                  <a:srgbClr val="000000"/>
                </a:solidFill>
                <a:latin typeface="Times New Roman"/>
                <a:ea typeface="Times New Roman"/>
                <a:cs typeface="Times New Roman"/>
                <a:sym typeface="Times New Roman"/>
              </a:rPr>
              <a:t>nhận</a:t>
            </a:r>
            <a:r>
              <a:rPr lang="en-US" sz="2000" kern="0" dirty="0">
                <a:solidFill>
                  <a:srgbClr val="000000"/>
                </a:solidFill>
                <a:latin typeface="Times New Roman"/>
                <a:ea typeface="Times New Roman"/>
                <a:cs typeface="Times New Roman"/>
                <a:sym typeface="Times New Roman"/>
              </a:rPr>
              <a:t> </a:t>
            </a:r>
            <a:r>
              <a:rPr lang="en-US" sz="2000" kern="0" dirty="0" err="1">
                <a:solidFill>
                  <a:srgbClr val="000000"/>
                </a:solidFill>
                <a:latin typeface="Times New Roman"/>
                <a:ea typeface="Times New Roman"/>
                <a:cs typeface="Times New Roman"/>
                <a:sym typeface="Times New Roman"/>
              </a:rPr>
              <a:t>lịch</a:t>
            </a:r>
            <a:r>
              <a:rPr lang="en-US" sz="2000" kern="0" dirty="0">
                <a:solidFill>
                  <a:srgbClr val="000000"/>
                </a:solidFill>
                <a:latin typeface="Times New Roman"/>
                <a:ea typeface="Times New Roman"/>
                <a:cs typeface="Times New Roman"/>
                <a:sym typeface="Times New Roman"/>
              </a:rPr>
              <a:t>, </a:t>
            </a:r>
            <a:r>
              <a:rPr lang="en-US" sz="2000" kern="0" dirty="0" err="1">
                <a:solidFill>
                  <a:srgbClr val="000000"/>
                </a:solidFill>
                <a:latin typeface="Times New Roman"/>
                <a:ea typeface="Times New Roman"/>
                <a:cs typeface="Times New Roman"/>
                <a:sym typeface="Times New Roman"/>
              </a:rPr>
              <a:t>tiếp</a:t>
            </a:r>
            <a:r>
              <a:rPr lang="en-US" sz="2000" kern="0" dirty="0">
                <a:solidFill>
                  <a:srgbClr val="000000"/>
                </a:solidFill>
                <a:latin typeface="Times New Roman"/>
                <a:ea typeface="Times New Roman"/>
                <a:cs typeface="Times New Roman"/>
                <a:sym typeface="Times New Roman"/>
              </a:rPr>
              <a:t> </a:t>
            </a:r>
            <a:r>
              <a:rPr lang="en-US" sz="2000" kern="0" dirty="0" err="1">
                <a:solidFill>
                  <a:srgbClr val="000000"/>
                </a:solidFill>
                <a:latin typeface="Times New Roman"/>
                <a:ea typeface="Times New Roman"/>
                <a:cs typeface="Times New Roman"/>
                <a:sym typeface="Times New Roman"/>
              </a:rPr>
              <a:t>tục</a:t>
            </a:r>
            <a:r>
              <a:rPr lang="en-US" sz="2000" kern="0" dirty="0">
                <a:solidFill>
                  <a:srgbClr val="000000"/>
                </a:solidFill>
                <a:latin typeface="Times New Roman"/>
                <a:ea typeface="Times New Roman"/>
                <a:cs typeface="Times New Roman"/>
                <a:sym typeface="Times New Roman"/>
              </a:rPr>
              <a:t> </a:t>
            </a:r>
            <a:r>
              <a:rPr lang="en-US" sz="2000" kern="0" dirty="0" err="1">
                <a:solidFill>
                  <a:srgbClr val="000000"/>
                </a:solidFill>
                <a:latin typeface="Times New Roman"/>
                <a:ea typeface="Times New Roman"/>
                <a:cs typeface="Times New Roman"/>
                <a:sym typeface="Times New Roman"/>
              </a:rPr>
              <a:t>giục</a:t>
            </a:r>
            <a:r>
              <a:rPr lang="en-US" sz="2000" kern="0" dirty="0">
                <a:solidFill>
                  <a:srgbClr val="000000"/>
                </a:solidFill>
                <a:latin typeface="Times New Roman"/>
                <a:ea typeface="Times New Roman"/>
                <a:cs typeface="Times New Roman"/>
                <a:sym typeface="Times New Roman"/>
              </a:rPr>
              <a:t> trong </a:t>
            </a:r>
            <a:r>
              <a:rPr lang="en-US" sz="2000" kern="0" dirty="0" err="1">
                <a:solidFill>
                  <a:srgbClr val="000000"/>
                </a:solidFill>
                <a:latin typeface="Times New Roman"/>
                <a:ea typeface="Times New Roman"/>
                <a:cs typeface="Times New Roman"/>
                <a:sym typeface="Times New Roman"/>
              </a:rPr>
              <a:t>tuần</a:t>
            </a:r>
            <a:r>
              <a:rPr lang="en-US" sz="2000" kern="0" dirty="0">
                <a:solidFill>
                  <a:srgbClr val="000000"/>
                </a:solidFill>
                <a:latin typeface="Times New Roman"/>
                <a:ea typeface="Times New Roman"/>
                <a:cs typeface="Times New Roman"/>
                <a:sym typeface="Times New Roman"/>
              </a:rPr>
              <a:t> 13.</a:t>
            </a:r>
            <a:endParaRPr sz="2000" kern="0" dirty="0">
              <a:solidFill>
                <a:srgbClr val="000000"/>
              </a:solidFill>
              <a:latin typeface="Times New Roman"/>
              <a:ea typeface="Times New Roman"/>
              <a:cs typeface="Times New Roman"/>
              <a:sym typeface="Times New Roman"/>
            </a:endParaRPr>
          </a:p>
          <a:p>
            <a:pPr marL="457200" indent="-355600" algn="just">
              <a:lnSpc>
                <a:spcPct val="115000"/>
              </a:lnSpc>
              <a:buClr>
                <a:srgbClr val="000000"/>
              </a:buClr>
              <a:buSzPts val="2000"/>
              <a:buFont typeface="Times New Roman"/>
              <a:buChar char="-"/>
            </a:pPr>
            <a:r>
              <a:rPr lang="en-US" sz="2000" kern="0" dirty="0">
                <a:solidFill>
                  <a:srgbClr val="000000"/>
                </a:solidFill>
                <a:latin typeface="Times New Roman"/>
                <a:ea typeface="Times New Roman"/>
                <a:cs typeface="Times New Roman"/>
                <a:sym typeface="Times New Roman"/>
              </a:rPr>
              <a:t>20 item </a:t>
            </a:r>
            <a:r>
              <a:rPr lang="en-US" sz="2000" kern="0" dirty="0" err="1">
                <a:solidFill>
                  <a:srgbClr val="000000"/>
                </a:solidFill>
                <a:latin typeface="Times New Roman"/>
                <a:ea typeface="Times New Roman"/>
                <a:cs typeface="Times New Roman"/>
                <a:sym typeface="Times New Roman"/>
              </a:rPr>
              <a:t>đang</a:t>
            </a:r>
            <a:r>
              <a:rPr lang="en-US" sz="2000" kern="0" dirty="0">
                <a:solidFill>
                  <a:srgbClr val="000000"/>
                </a:solidFill>
                <a:latin typeface="Times New Roman"/>
                <a:ea typeface="Times New Roman"/>
                <a:cs typeface="Times New Roman"/>
                <a:sym typeface="Times New Roman"/>
              </a:rPr>
              <a:t> </a:t>
            </a:r>
            <a:r>
              <a:rPr lang="en-US" sz="2000" kern="0" dirty="0" err="1">
                <a:solidFill>
                  <a:srgbClr val="000000"/>
                </a:solidFill>
                <a:latin typeface="Times New Roman"/>
                <a:ea typeface="Times New Roman"/>
                <a:cs typeface="Times New Roman"/>
                <a:sym typeface="Times New Roman"/>
              </a:rPr>
              <a:t>đánh</a:t>
            </a:r>
            <a:r>
              <a:rPr lang="en-US" sz="2000" kern="0" dirty="0">
                <a:solidFill>
                  <a:srgbClr val="000000"/>
                </a:solidFill>
                <a:latin typeface="Times New Roman"/>
                <a:ea typeface="Times New Roman"/>
                <a:cs typeface="Times New Roman"/>
                <a:sym typeface="Times New Roman"/>
              </a:rPr>
              <a:t> </a:t>
            </a:r>
            <a:r>
              <a:rPr lang="en-US" sz="2000" kern="0" dirty="0" err="1">
                <a:solidFill>
                  <a:srgbClr val="000000"/>
                </a:solidFill>
                <a:latin typeface="Times New Roman"/>
                <a:ea typeface="Times New Roman"/>
                <a:cs typeface="Times New Roman"/>
                <a:sym typeface="Times New Roman"/>
              </a:rPr>
              <a:t>giá</a:t>
            </a:r>
            <a:r>
              <a:rPr lang="en-US" sz="2000" kern="0" dirty="0">
                <a:solidFill>
                  <a:srgbClr val="000000"/>
                </a:solidFill>
                <a:latin typeface="Times New Roman"/>
                <a:ea typeface="Times New Roman"/>
                <a:cs typeface="Times New Roman"/>
                <a:sym typeface="Times New Roman"/>
              </a:rPr>
              <a:t> </a:t>
            </a:r>
            <a:r>
              <a:rPr lang="en-US" sz="2000" kern="0" dirty="0" err="1">
                <a:solidFill>
                  <a:srgbClr val="000000"/>
                </a:solidFill>
                <a:latin typeface="Times New Roman"/>
                <a:ea typeface="Times New Roman"/>
                <a:cs typeface="Times New Roman"/>
                <a:sym typeface="Times New Roman"/>
              </a:rPr>
              <a:t>khối</a:t>
            </a:r>
            <a:r>
              <a:rPr lang="en-US" sz="2000" kern="0" dirty="0">
                <a:solidFill>
                  <a:srgbClr val="000000"/>
                </a:solidFill>
                <a:latin typeface="Times New Roman"/>
                <a:ea typeface="Times New Roman"/>
                <a:cs typeface="Times New Roman"/>
                <a:sym typeface="Times New Roman"/>
              </a:rPr>
              <a:t> SV </a:t>
            </a:r>
            <a:r>
              <a:rPr lang="en-US" sz="2000" kern="0" dirty="0" err="1">
                <a:solidFill>
                  <a:srgbClr val="000000"/>
                </a:solidFill>
                <a:latin typeface="Times New Roman"/>
                <a:ea typeface="Times New Roman"/>
                <a:cs typeface="Times New Roman"/>
                <a:sym typeface="Times New Roman"/>
              </a:rPr>
              <a:t>và</a:t>
            </a:r>
            <a:r>
              <a:rPr lang="en-US" sz="2000" kern="0" dirty="0">
                <a:solidFill>
                  <a:srgbClr val="000000"/>
                </a:solidFill>
                <a:latin typeface="Times New Roman"/>
                <a:ea typeface="Times New Roman"/>
                <a:cs typeface="Times New Roman"/>
                <a:sym typeface="Times New Roman"/>
              </a:rPr>
              <a:t> </a:t>
            </a:r>
            <a:r>
              <a:rPr lang="en-US" sz="2000" kern="0" dirty="0" err="1">
                <a:solidFill>
                  <a:srgbClr val="000000"/>
                </a:solidFill>
                <a:latin typeface="Times New Roman"/>
                <a:ea typeface="Times New Roman"/>
                <a:cs typeface="Times New Roman"/>
                <a:sym typeface="Times New Roman"/>
              </a:rPr>
              <a:t>dự</a:t>
            </a:r>
            <a:r>
              <a:rPr lang="en-US" sz="2000" kern="0" dirty="0">
                <a:solidFill>
                  <a:srgbClr val="000000"/>
                </a:solidFill>
                <a:latin typeface="Times New Roman"/>
                <a:ea typeface="Times New Roman"/>
                <a:cs typeface="Times New Roman"/>
                <a:sym typeface="Times New Roman"/>
              </a:rPr>
              <a:t> </a:t>
            </a:r>
            <a:r>
              <a:rPr lang="en-US" sz="2000" kern="0" dirty="0" err="1">
                <a:solidFill>
                  <a:srgbClr val="000000"/>
                </a:solidFill>
                <a:latin typeface="Times New Roman"/>
                <a:ea typeface="Times New Roman"/>
                <a:cs typeface="Times New Roman"/>
                <a:sym typeface="Times New Roman"/>
              </a:rPr>
              <a:t>kiến</a:t>
            </a:r>
            <a:r>
              <a:rPr lang="en-US" sz="2000" kern="0" dirty="0">
                <a:solidFill>
                  <a:srgbClr val="000000"/>
                </a:solidFill>
                <a:latin typeface="Times New Roman"/>
                <a:ea typeface="Times New Roman"/>
                <a:cs typeface="Times New Roman"/>
                <a:sym typeface="Times New Roman"/>
              </a:rPr>
              <a:t> </a:t>
            </a:r>
            <a:r>
              <a:rPr lang="en-US" sz="2000" kern="0" dirty="0" err="1">
                <a:solidFill>
                  <a:srgbClr val="000000"/>
                </a:solidFill>
                <a:latin typeface="Times New Roman"/>
                <a:ea typeface="Times New Roman"/>
                <a:cs typeface="Times New Roman"/>
                <a:sym typeface="Times New Roman"/>
              </a:rPr>
              <a:t>hoàn</a:t>
            </a:r>
            <a:r>
              <a:rPr lang="en-US" sz="2000" kern="0" dirty="0">
                <a:solidFill>
                  <a:srgbClr val="000000"/>
                </a:solidFill>
                <a:latin typeface="Times New Roman"/>
                <a:ea typeface="Times New Roman"/>
                <a:cs typeface="Times New Roman"/>
                <a:sym typeface="Times New Roman"/>
              </a:rPr>
              <a:t> </a:t>
            </a:r>
            <a:r>
              <a:rPr lang="en-US" sz="2000" kern="0" dirty="0" err="1">
                <a:solidFill>
                  <a:srgbClr val="000000"/>
                </a:solidFill>
                <a:latin typeface="Times New Roman"/>
                <a:ea typeface="Times New Roman"/>
                <a:cs typeface="Times New Roman"/>
                <a:sym typeface="Times New Roman"/>
              </a:rPr>
              <a:t>thành</a:t>
            </a:r>
            <a:r>
              <a:rPr lang="en-US" sz="2000" kern="0" dirty="0">
                <a:solidFill>
                  <a:srgbClr val="000000"/>
                </a:solidFill>
                <a:latin typeface="Times New Roman"/>
                <a:ea typeface="Times New Roman"/>
                <a:cs typeface="Times New Roman"/>
                <a:sym typeface="Times New Roman"/>
              </a:rPr>
              <a:t> </a:t>
            </a:r>
            <a:r>
              <a:rPr lang="en-US" sz="2000" kern="0" dirty="0" err="1">
                <a:solidFill>
                  <a:srgbClr val="000000"/>
                </a:solidFill>
                <a:latin typeface="Times New Roman"/>
                <a:ea typeface="Times New Roman"/>
                <a:cs typeface="Times New Roman"/>
                <a:sym typeface="Times New Roman"/>
              </a:rPr>
              <a:t>phát</a:t>
            </a:r>
            <a:r>
              <a:rPr lang="en-US" sz="2000" kern="0" dirty="0">
                <a:solidFill>
                  <a:srgbClr val="000000"/>
                </a:solidFill>
                <a:latin typeface="Times New Roman"/>
                <a:ea typeface="Times New Roman"/>
                <a:cs typeface="Times New Roman"/>
                <a:sym typeface="Times New Roman"/>
              </a:rPr>
              <a:t> PO trong </a:t>
            </a:r>
            <a:r>
              <a:rPr lang="en-US" sz="2000" kern="0" dirty="0" err="1">
                <a:solidFill>
                  <a:srgbClr val="000000"/>
                </a:solidFill>
                <a:latin typeface="Times New Roman"/>
                <a:ea typeface="Times New Roman"/>
                <a:cs typeface="Times New Roman"/>
                <a:sym typeface="Times New Roman"/>
              </a:rPr>
              <a:t>tuần</a:t>
            </a:r>
            <a:r>
              <a:rPr lang="en-US" sz="2000" kern="0" dirty="0">
                <a:solidFill>
                  <a:srgbClr val="000000"/>
                </a:solidFill>
                <a:latin typeface="Times New Roman"/>
                <a:ea typeface="Times New Roman"/>
                <a:cs typeface="Times New Roman"/>
                <a:sym typeface="Times New Roman"/>
              </a:rPr>
              <a:t> 13.</a:t>
            </a:r>
            <a:endParaRPr sz="2000" kern="0" dirty="0">
              <a:solidFill>
                <a:srgbClr val="000000"/>
              </a:solidFill>
              <a:latin typeface="Times New Roman"/>
              <a:ea typeface="Times New Roman"/>
              <a:cs typeface="Times New Roman"/>
              <a:sym typeface="Times New Roman"/>
            </a:endParaRPr>
          </a:p>
          <a:p>
            <a:pPr marL="457200" algn="just">
              <a:lnSpc>
                <a:spcPct val="115000"/>
              </a:lnSpc>
              <a:buClr>
                <a:srgbClr val="000000"/>
              </a:buClr>
              <a:buSzPts val="1600"/>
              <a:buFont typeface="Arial"/>
              <a:buNone/>
            </a:pPr>
            <a:endParaRPr sz="1600" kern="0" dirty="0">
              <a:solidFill>
                <a:srgbClr val="000000"/>
              </a:solidFill>
              <a:latin typeface="Times New Roman"/>
              <a:ea typeface="Times New Roman"/>
              <a:cs typeface="Times New Roman"/>
              <a:sym typeface="Times New Roman"/>
            </a:endParaRPr>
          </a:p>
          <a:p>
            <a:pPr algn="just">
              <a:lnSpc>
                <a:spcPct val="115000"/>
              </a:lnSpc>
              <a:buClr>
                <a:srgbClr val="000000"/>
              </a:buClr>
              <a:buSzPts val="1600"/>
              <a:buFont typeface="Arial"/>
              <a:buNone/>
            </a:pPr>
            <a:endParaRPr sz="1600" b="1" kern="0" dirty="0">
              <a:solidFill>
                <a:srgbClr val="FF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b="1" kern="0" dirty="0">
              <a:solidFill>
                <a:srgbClr val="FF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b="1" kern="0" dirty="0">
              <a:solidFill>
                <a:srgbClr val="FF0000"/>
              </a:solidFill>
              <a:latin typeface="Times New Roman"/>
              <a:ea typeface="Times New Roman"/>
              <a:cs typeface="Times New Roman"/>
              <a:sym typeface="Times New Roman"/>
            </a:endParaRPr>
          </a:p>
          <a:p>
            <a:pPr algn="just">
              <a:buClr>
                <a:srgbClr val="000000"/>
              </a:buClr>
              <a:buSzPts val="1800"/>
              <a:buFont typeface="Arial"/>
              <a:buNone/>
            </a:pPr>
            <a:endParaRPr kern="0" dirty="0">
              <a:solidFill>
                <a:srgbClr val="000000"/>
              </a:solidFill>
              <a:latin typeface="Times New Roman"/>
              <a:ea typeface="Times New Roman"/>
              <a:cs typeface="Times New Roman"/>
              <a:sym typeface="Times New Roman"/>
            </a:endParaRPr>
          </a:p>
          <a:p>
            <a:pPr algn="just">
              <a:buClr>
                <a:srgbClr val="000000"/>
              </a:buClr>
              <a:buSzPts val="1800"/>
              <a:buFont typeface="Arial"/>
              <a:buNone/>
            </a:pPr>
            <a:endParaRPr kern="0" dirty="0">
              <a:solidFill>
                <a:srgbClr val="000000"/>
              </a:solidFill>
              <a:latin typeface="Times New Roman"/>
              <a:ea typeface="Times New Roman"/>
              <a:cs typeface="Times New Roman"/>
              <a:sym typeface="Times New Roman"/>
            </a:endParaRPr>
          </a:p>
          <a:p>
            <a:pPr algn="just">
              <a:buClr>
                <a:srgbClr val="000000"/>
              </a:buClr>
              <a:buSzPts val="1800"/>
              <a:buFont typeface="Arial"/>
              <a:buNone/>
            </a:pPr>
            <a:r>
              <a:rPr lang="en-US" kern="0" dirty="0">
                <a:solidFill>
                  <a:srgbClr val="000000"/>
                </a:solidFill>
                <a:latin typeface="Times New Roman"/>
                <a:ea typeface="Times New Roman"/>
                <a:cs typeface="Times New Roman"/>
                <a:sym typeface="Times New Roman"/>
              </a:rPr>
              <a:t>  </a:t>
            </a:r>
            <a:endParaRPr kern="0" dirty="0">
              <a:solidFill>
                <a:srgbClr val="000000"/>
              </a:solidFill>
              <a:latin typeface="Times New Roman"/>
              <a:ea typeface="Times New Roman"/>
              <a:cs typeface="Times New Roman"/>
              <a:sym typeface="Times New Roman"/>
            </a:endParaRPr>
          </a:p>
          <a:p>
            <a:pPr algn="just">
              <a:buClr>
                <a:srgbClr val="000000"/>
              </a:buClr>
              <a:buSzPts val="1800"/>
              <a:buFont typeface="Arial"/>
              <a:buNone/>
            </a:pPr>
            <a:endParaRPr kern="0" dirty="0">
              <a:solidFill>
                <a:srgbClr val="000000"/>
              </a:solidFill>
              <a:latin typeface="Times New Roman"/>
              <a:ea typeface="Times New Roman"/>
              <a:cs typeface="Times New Roman"/>
              <a:sym typeface="Times New Roman"/>
            </a:endParaRPr>
          </a:p>
          <a:p>
            <a:pPr algn="just">
              <a:buClr>
                <a:srgbClr val="000000"/>
              </a:buClr>
              <a:buSzPts val="1800"/>
              <a:buFont typeface="Arial"/>
              <a:buNone/>
            </a:pPr>
            <a:endParaRPr kern="0" dirty="0">
              <a:solidFill>
                <a:srgbClr val="000000"/>
              </a:solidFill>
              <a:latin typeface="Times New Roman"/>
              <a:ea typeface="Times New Roman"/>
              <a:cs typeface="Times New Roman"/>
              <a:sym typeface="Times New Roman"/>
            </a:endParaRPr>
          </a:p>
          <a:p>
            <a:pPr algn="just">
              <a:buClr>
                <a:srgbClr val="000000"/>
              </a:buClr>
              <a:buSzPts val="1500"/>
              <a:buFont typeface="Arial"/>
              <a:buNone/>
            </a:pPr>
            <a:endParaRPr sz="1500" kern="0"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245026704"/>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pic>
        <p:nvPicPr>
          <p:cNvPr id="106" name="Google Shape;106;p8" descr="A blue background with yellow lines&#10;&#10;Description automatically generated"/>
          <p:cNvPicPr preferRelativeResize="0"/>
          <p:nvPr/>
        </p:nvPicPr>
        <p:blipFill rotWithShape="1">
          <a:blip r:embed="rId3">
            <a:alphaModFix/>
          </a:blip>
          <a:srcRect/>
          <a:stretch/>
        </p:blipFill>
        <p:spPr>
          <a:xfrm>
            <a:off x="0" y="1"/>
            <a:ext cx="12192000" cy="6972300"/>
          </a:xfrm>
          <a:prstGeom prst="rect">
            <a:avLst/>
          </a:prstGeom>
          <a:noFill/>
          <a:ln>
            <a:noFill/>
          </a:ln>
        </p:spPr>
      </p:pic>
      <p:sp>
        <p:nvSpPr>
          <p:cNvPr id="107" name="Google Shape;107;p8"/>
          <p:cNvSpPr txBox="1"/>
          <p:nvPr/>
        </p:nvSpPr>
        <p:spPr>
          <a:xfrm>
            <a:off x="1051901" y="2781528"/>
            <a:ext cx="6795451" cy="2800726"/>
          </a:xfrm>
          <a:prstGeom prst="rect">
            <a:avLst/>
          </a:prstGeom>
          <a:noFill/>
          <a:ln>
            <a:noFill/>
          </a:ln>
        </p:spPr>
        <p:txBody>
          <a:bodyPr spcFirstLastPara="1" wrap="square" lIns="91433" tIns="45700" rIns="91433" bIns="4570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 sz="8800" b="1" i="1" u="none" strike="noStrike" kern="1200" cap="none" spc="0" normalizeH="0" baseline="0" noProof="0">
                <a:ln>
                  <a:noFill/>
                </a:ln>
                <a:solidFill>
                  <a:prstClr val="white"/>
                </a:solidFill>
                <a:effectLst/>
                <a:uLnTx/>
                <a:uFillTx/>
                <a:latin typeface="Montserrat SemiBold"/>
                <a:ea typeface="Montserrat SemiBold"/>
                <a:cs typeface="Montserrat SemiBold"/>
                <a:sym typeface="Montserrat SemiBold"/>
              </a:rPr>
              <a:t>THANK YOU</a:t>
            </a:r>
            <a:endParaRPr kumimoji="0" sz="8800" b="1" i="1" u="none" strike="noStrike" kern="1200" cap="none" spc="0" normalizeH="0" baseline="0" noProof="0">
              <a:ln>
                <a:noFill/>
              </a:ln>
              <a:solidFill>
                <a:prstClr val="white"/>
              </a:solidFill>
              <a:effectLst/>
              <a:uLnTx/>
              <a:uFillTx/>
              <a:latin typeface="Montserrat SemiBold"/>
              <a:ea typeface="Montserrat SemiBold"/>
              <a:cs typeface="Montserrat SemiBold"/>
              <a:sym typeface="Montserrat SemiBold"/>
            </a:endParaRPr>
          </a:p>
        </p:txBody>
      </p:sp>
      <p:sp>
        <p:nvSpPr>
          <p:cNvPr id="108" name="Google Shape;108;p8"/>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419285422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6-9 MASTER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4000" b="1" dirty="0">
            <a:solidFill>
              <a:srgbClr val="D2A43B"/>
            </a:solidFill>
            <a:latin typeface="Montserrat" pitchFamily="2" charset="77"/>
          </a:defRPr>
        </a:defPPr>
      </a:lstStyle>
    </a:txDef>
  </a:objectDefaults>
  <a:extraClrSchemeLst/>
  <a:extLst>
    <a:ext uri="{05A4C25C-085E-4340-85A3-A5531E510DB2}">
      <thm15:themeFamily xmlns:thm15="http://schemas.microsoft.com/office/thememl/2012/main" name="16-9 MASTER TEMPLATE" id="{27E62AC7-19DD-4957-A955-899410374D03}" vid="{6FCB9AC2-3513-4E9D-8834-5C5B1FFFA15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EF5E1C733973145B1493C5B4700F6CB" ma:contentTypeVersion="5" ma:contentTypeDescription="Create a new document." ma:contentTypeScope="" ma:versionID="312a50383655f8b07477a4ad72a81636">
  <xsd:schema xmlns:xsd="http://www.w3.org/2001/XMLSchema" xmlns:xs="http://www.w3.org/2001/XMLSchema" xmlns:p="http://schemas.microsoft.com/office/2006/metadata/properties" xmlns:ns2="e189f61e-1295-4779-a752-040c7fad5177" xmlns:ns3="b6015720-aa74-4be3-ba0d-eab08776cb9b" targetNamespace="http://schemas.microsoft.com/office/2006/metadata/properties" ma:root="true" ma:fieldsID="5bce5304ba9987326d96874970ac3c5b" ns2:_="" ns3:_="">
    <xsd:import namespace="e189f61e-1295-4779-a752-040c7fad5177"/>
    <xsd:import namespace="b6015720-aa74-4be3-ba0d-eab08776cb9b"/>
    <xsd:element name="properties">
      <xsd:complexType>
        <xsd:sequence>
          <xsd:element name="documentManagement">
            <xsd:complexType>
              <xsd:all>
                <xsd:element ref="ns2:ListName" minOccurs="0"/>
                <xsd:element ref="ns2:ItemId" minOccurs="0"/>
                <xsd:element ref="ns2:FileName" minOccurs="0"/>
                <xsd:element ref="ns2:OLD_ID" minOccurs="0"/>
                <xsd:element ref="ns3:SubLibNa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89f61e-1295-4779-a752-040c7fad5177" elementFormDefault="qualified">
    <xsd:import namespace="http://schemas.microsoft.com/office/2006/documentManagement/types"/>
    <xsd:import namespace="http://schemas.microsoft.com/office/infopath/2007/PartnerControls"/>
    <xsd:element name="ListName" ma:index="8" nillable="true" ma:displayName="ListName" ma:internalName="ListName">
      <xsd:simpleType>
        <xsd:restriction base="dms:Text">
          <xsd:maxLength value="255"/>
        </xsd:restriction>
      </xsd:simpleType>
    </xsd:element>
    <xsd:element name="ItemId" ma:index="9" nillable="true" ma:displayName="ItemId" ma:internalName="ItemId">
      <xsd:simpleType>
        <xsd:restriction base="dms:Text">
          <xsd:maxLength value="255"/>
        </xsd:restriction>
      </xsd:simpleType>
    </xsd:element>
    <xsd:element name="FileName" ma:index="10" nillable="true" ma:displayName="FileName" ma:internalName="FileName">
      <xsd:simpleType>
        <xsd:restriction base="dms:Text">
          <xsd:maxLength value="255"/>
        </xsd:restriction>
      </xsd:simpleType>
    </xsd:element>
    <xsd:element name="OLD_ID" ma:index="11" nillable="true" ma:displayName="OLD_ID" ma:internalName="OLD_ID">
      <xsd:simpleType>
        <xsd:restriction base="dms:Number"/>
      </xsd:simpleType>
    </xsd:element>
  </xsd:schema>
  <xsd:schema xmlns:xsd="http://www.w3.org/2001/XMLSchema" xmlns:xs="http://www.w3.org/2001/XMLSchema" xmlns:dms="http://schemas.microsoft.com/office/2006/documentManagement/types" xmlns:pc="http://schemas.microsoft.com/office/infopath/2007/PartnerControls" targetNamespace="b6015720-aa74-4be3-ba0d-eab08776cb9b" elementFormDefault="qualified">
    <xsd:import namespace="http://schemas.microsoft.com/office/2006/documentManagement/types"/>
    <xsd:import namespace="http://schemas.microsoft.com/office/infopath/2007/PartnerControls"/>
    <xsd:element name="SubLibName" ma:index="12" nillable="true" ma:displayName="SubLibName" ma:internalName="SubLibNam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OLD_ID xmlns="e189f61e-1295-4779-a752-040c7fad5177" xsi:nil="true"/>
    <ItemId xmlns="e189f61e-1295-4779-a752-040c7fad5177">0</ItemId>
    <FileName xmlns="e189f61e-1295-4779-a752-040c7fad5177">VNA _ Master template _ 16_9 _ ENG.pptx</FileName>
    <SubLibName xmlns="b6015720-aa74-4be3-ba0d-eab08776cb9b" xsi:nil="true"/>
    <ListName xmlns="e189f61e-1295-4779-a752-040c7fad5177">Com_Notice</ListName>
  </documentManagement>
</p:properties>
</file>

<file path=customXml/itemProps1.xml><?xml version="1.0" encoding="utf-8"?>
<ds:datastoreItem xmlns:ds="http://schemas.openxmlformats.org/officeDocument/2006/customXml" ds:itemID="{EA328AF4-E0C3-4533-80B7-C0A1C2FFEAA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89f61e-1295-4779-a752-040c7fad5177"/>
    <ds:schemaRef ds:uri="b6015720-aa74-4be3-ba0d-eab08776cb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B911D9C-B9DB-42A8-B756-3CC928D5245C}">
  <ds:schemaRefs>
    <ds:schemaRef ds:uri="http://schemas.microsoft.com/sharepoint/v3/contenttype/forms"/>
  </ds:schemaRefs>
</ds:datastoreItem>
</file>

<file path=customXml/itemProps3.xml><?xml version="1.0" encoding="utf-8"?>
<ds:datastoreItem xmlns:ds="http://schemas.openxmlformats.org/officeDocument/2006/customXml" ds:itemID="{7CE18D4A-261A-4850-B6EF-E8D1177C057C}">
  <ds:schemaRefs>
    <ds:schemaRef ds:uri="http://schemas.microsoft.com/office/infopath/2007/PartnerControls"/>
    <ds:schemaRef ds:uri="http://schemas.microsoft.com/office/2006/documentManagement/types"/>
    <ds:schemaRef ds:uri="http://schemas.openxmlformats.org/package/2006/metadata/core-properties"/>
    <ds:schemaRef ds:uri="b6015720-aa74-4be3-ba0d-eab08776cb9b"/>
    <ds:schemaRef ds:uri="http://www.w3.org/XML/1998/namespace"/>
    <ds:schemaRef ds:uri="http://purl.org/dc/dcmitype/"/>
    <ds:schemaRef ds:uri="http://purl.org/dc/elements/1.1/"/>
    <ds:schemaRef ds:uri="e189f61e-1295-4779-a752-040c7fad5177"/>
    <ds:schemaRef ds:uri="http://schemas.microsoft.com/office/2006/metadata/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73359</TotalTime>
  <Words>11523</Words>
  <Application>Microsoft Office PowerPoint</Application>
  <PresentationFormat>Widescreen</PresentationFormat>
  <Paragraphs>2432</Paragraphs>
  <Slides>65</Slides>
  <Notes>55</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65</vt:i4>
      </vt:variant>
    </vt:vector>
  </HeadingPairs>
  <TitlesOfParts>
    <vt:vector size="76" baseType="lpstr">
      <vt:lpstr>MS PGothic</vt:lpstr>
      <vt:lpstr>Arial</vt:lpstr>
      <vt:lpstr>Calibri</vt:lpstr>
      <vt:lpstr>Cambria</vt:lpstr>
      <vt:lpstr>Montserrat</vt:lpstr>
      <vt:lpstr>Montserrat SemiBold</vt:lpstr>
      <vt:lpstr>Tahoma</vt:lpstr>
      <vt:lpstr>Times New Roman</vt:lpstr>
      <vt:lpstr>Wingdings</vt:lpstr>
      <vt:lpstr>16-9 MASTER TEMPLATE</vt:lpstr>
      <vt:lpstr>Office Theme</vt:lpstr>
      <vt:lpstr>BÁO CÁO KỸ THUẬT (Tuần 12: 17/03/2025 – 23/03/2025)</vt:lpstr>
      <vt:lpstr>TỔNG HỢP AOG, DELAY VÀ GTB/ATB/DIV</vt:lpstr>
      <vt:lpstr>ATB/GTB COMPARISON</vt:lpstr>
      <vt:lpstr>CÁC SỰ KIỆN ATB/GTB/DIV</vt:lpstr>
      <vt:lpstr>PowerPoint Presentation</vt:lpstr>
      <vt:lpstr>TÌNH TRẠNG KỸ THUẬT ĐỘI BAY – A320/A321</vt:lpstr>
      <vt:lpstr>TÌNH TRẠNG KỸ THUẬT ĐỘI BAY – A320/A321</vt:lpstr>
      <vt:lpstr>TÌNH TRẠNG KỸ THUẬT ĐỘI BAY A320/ A321 </vt:lpstr>
      <vt:lpstr>TÌNH TRẠNG KỸ THUẬT ĐỘI BAY – A350</vt:lpstr>
      <vt:lpstr>PowerPoint Presentation</vt:lpstr>
      <vt:lpstr>PowerPoint Presentation</vt:lpstr>
      <vt:lpstr>TÌNH TRẠNG KỸ THUẬT ĐỘI BAY – B787</vt:lpstr>
      <vt:lpstr>PowerPoint Presentation</vt:lpstr>
      <vt:lpstr>PowerPoint Presentation</vt:lpstr>
      <vt:lpstr>TÌNH TRẠNG KỸ THUẬT ĐỘI BAY – ATR72</vt:lpstr>
      <vt:lpstr>PowerPoint Presentation</vt:lpstr>
      <vt:lpstr>DISPATCH RELIABILITY W12 (17/03/2025-23/03/2025)</vt:lpstr>
      <vt:lpstr>CÁC CÔNG VIỆC TRỌNG ĐIỂM TRONG TUẦN</vt:lpstr>
      <vt:lpstr>CÁC CÔNG VIỆC TRỌNG ĐIỂM TRONG TUẦN</vt:lpstr>
      <vt:lpstr>CÁC CÔNG VIỆC TRỌNG ĐIỂM TRONG TUẦN</vt:lpstr>
      <vt:lpstr>KHẢ NĂNG CUNG ỨNG ĐỘNG CƠ/APU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CÁC TÀU BQDB VÀ ĐANG TRONG BẢO DƯỠNG ĐỊNH KỲ (BDĐK)</vt:lpstr>
      <vt:lpstr>CÁC TÀU BQDB VÀ ĐANG TRONG BẢO DƯỠNG ĐỊNH KỲ (BDĐK)</vt:lpstr>
      <vt:lpstr>PowerPoint Presentation</vt:lpstr>
      <vt:lpstr>PowerPoint Presentation</vt:lpstr>
      <vt:lpstr>PowerPoint Presentation</vt:lpstr>
      <vt:lpstr>PowerPoint Presentation</vt:lpstr>
      <vt:lpstr>NHÂN NHƯỢNG TRONG TUẦN</vt:lpstr>
      <vt:lpstr>Giờ bay trung bình trong tuần các đội tàu</vt:lpstr>
      <vt:lpstr>Số chuyến bay theo ngày trong tuần các đội tàu</vt:lpstr>
      <vt:lpstr>Số chuyến bay khai thác theo ngày</vt:lpstr>
      <vt:lpstr>A321</vt:lpstr>
      <vt:lpstr>A321</vt:lpstr>
      <vt:lpstr>TÌNH TRẠNG APU LRU A321 </vt:lpstr>
      <vt:lpstr>A321 CÁC VẬT TƯ VƯỚNG MẮC KHÁC</vt:lpstr>
      <vt:lpstr>B787</vt:lpstr>
      <vt:lpstr>B787</vt:lpstr>
      <vt:lpstr>B787</vt:lpstr>
      <vt:lpstr>A350</vt:lpstr>
      <vt:lpstr>A350</vt:lpstr>
      <vt:lpstr>A350</vt:lpstr>
      <vt:lpstr>ATR</vt:lpstr>
      <vt:lpstr>Phanh, bánh lốp cho các đội bay</vt:lpstr>
      <vt:lpstr>Động cơ</vt:lpstr>
      <vt:lpstr>Động cơ</vt:lpstr>
      <vt:lpstr>Động cơ</vt:lpstr>
      <vt:lpstr>PowerPoint Presentation</vt:lpstr>
      <vt:lpstr>PowerPoint Presentation</vt:lpstr>
      <vt:lpstr>Kế hoạch động cơ </vt:lpstr>
      <vt:lpstr>APU</vt:lpstr>
      <vt:lpstr>CÔNG TÁC CHUẨN BỊ BAY NGA</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VNA _ Master template _ 16_9 _ ENG.pptx</dc:title>
  <dc:creator>Vu Chi Thanh-Tech</dc:creator>
  <cp:lastModifiedBy>Tran Khac Long-Tech</cp:lastModifiedBy>
  <cp:revision>11674</cp:revision>
  <cp:lastPrinted>2019-03-27T09:25:07Z</cp:lastPrinted>
  <dcterms:created xsi:type="dcterms:W3CDTF">2018-12-27T04:50:36Z</dcterms:created>
  <dcterms:modified xsi:type="dcterms:W3CDTF">2025-03-24T01:04:12Z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0x0101002EF5E1C733973145B1493C5B4700F6CB</vt:lpwstr>
  </property>
</Properties>
</file>