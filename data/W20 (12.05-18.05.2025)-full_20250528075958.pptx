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3.xml" ContentType="application/vnd.openxmlformats-officedocument.presentationml.tags+xml"/>
  <Override PartName="/ppt/notesSlides/notesSlide18.xml" ContentType="application/vnd.openxmlformats-officedocument.presentationml.notesSlide+xml"/>
  <Override PartName="/ppt/charts/chart7.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3.xml" ContentType="application/vnd.openxmlformats-officedocument.drawingml.chart+xml"/>
  <Override PartName="/ppt/theme/themeOverride7.xml" ContentType="application/vnd.openxmlformats-officedocument.themeOverride+xml"/>
  <Override PartName="/ppt/notesSlides/notesSlide31.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8.xml" ContentType="application/vnd.openxmlformats-officedocument.themeOverride+xml"/>
  <Override PartName="/ppt/notesSlides/notesSlide32.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9.xml" ContentType="application/vnd.openxmlformats-officedocument.themeOverride+xml"/>
  <Override PartName="/ppt/notesSlides/notesSlide33.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10.xml" ContentType="application/vnd.openxmlformats-officedocument.themeOverr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01" r:id="rId5"/>
    <p:sldMasterId id="2147483711" r:id="rId6"/>
  </p:sldMasterIdLst>
  <p:notesMasterIdLst>
    <p:notesMasterId r:id="rId69"/>
  </p:notesMasterIdLst>
  <p:sldIdLst>
    <p:sldId id="11486" r:id="rId7"/>
    <p:sldId id="11487" r:id="rId8"/>
    <p:sldId id="11488" r:id="rId9"/>
    <p:sldId id="12364" r:id="rId10"/>
    <p:sldId id="12365" r:id="rId11"/>
    <p:sldId id="11493" r:id="rId12"/>
    <p:sldId id="12366" r:id="rId13"/>
    <p:sldId id="12367" r:id="rId14"/>
    <p:sldId id="12360" r:id="rId15"/>
    <p:sldId id="12368" r:id="rId16"/>
    <p:sldId id="12328" r:id="rId17"/>
    <p:sldId id="12369" r:id="rId18"/>
    <p:sldId id="12370" r:id="rId19"/>
    <p:sldId id="12329" r:id="rId20"/>
    <p:sldId id="12330" r:id="rId21"/>
    <p:sldId id="12363" r:id="rId22"/>
    <p:sldId id="12327" r:id="rId23"/>
    <p:sldId id="12371" r:id="rId24"/>
    <p:sldId id="12372" r:id="rId25"/>
    <p:sldId id="12284" r:id="rId26"/>
    <p:sldId id="12285" r:id="rId27"/>
    <p:sldId id="12092" r:id="rId28"/>
    <p:sldId id="12373" r:id="rId29"/>
    <p:sldId id="12374" r:id="rId30"/>
    <p:sldId id="12375" r:id="rId31"/>
    <p:sldId id="12376" r:id="rId32"/>
    <p:sldId id="12377" r:id="rId33"/>
    <p:sldId id="12378" r:id="rId34"/>
    <p:sldId id="12379" r:id="rId35"/>
    <p:sldId id="12380" r:id="rId36"/>
    <p:sldId id="12381" r:id="rId37"/>
    <p:sldId id="12361" r:id="rId38"/>
    <p:sldId id="12362" r:id="rId39"/>
    <p:sldId id="12357" r:id="rId40"/>
    <p:sldId id="12358" r:id="rId41"/>
    <p:sldId id="12359" r:id="rId42"/>
    <p:sldId id="11545" r:id="rId43"/>
    <p:sldId id="12333" r:id="rId44"/>
    <p:sldId id="12334" r:id="rId45"/>
    <p:sldId id="12335" r:id="rId46"/>
    <p:sldId id="12336" r:id="rId47"/>
    <p:sldId id="12337" r:id="rId48"/>
    <p:sldId id="12338" r:id="rId49"/>
    <p:sldId id="12339" r:id="rId50"/>
    <p:sldId id="12340" r:id="rId51"/>
    <p:sldId id="12341" r:id="rId52"/>
    <p:sldId id="12342" r:id="rId53"/>
    <p:sldId id="12343" r:id="rId54"/>
    <p:sldId id="12344" r:id="rId55"/>
    <p:sldId id="12345" r:id="rId56"/>
    <p:sldId id="12346" r:id="rId57"/>
    <p:sldId id="12347" r:id="rId58"/>
    <p:sldId id="12348" r:id="rId59"/>
    <p:sldId id="12349" r:id="rId60"/>
    <p:sldId id="12350" r:id="rId61"/>
    <p:sldId id="12351" r:id="rId62"/>
    <p:sldId id="12352" r:id="rId63"/>
    <p:sldId id="12353" r:id="rId64"/>
    <p:sldId id="12354" r:id="rId65"/>
    <p:sldId id="12355" r:id="rId66"/>
    <p:sldId id="12356" r:id="rId67"/>
    <p:sldId id="11888" r:id="rId6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74" d="100"/>
          <a:sy n="74" d="100"/>
        </p:scale>
        <p:origin x="492" y="5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presProps" Target="presProps.xml"/></Relationships>
</file>

<file path=ppt/charts/_rels/chart1.xml.rels><?xml version="1.0" encoding="UTF-8" standalone="yes"?>
<Relationships xmlns="http://schemas.openxmlformats.org/package/2006/relationships"><Relationship Id="rId2" Type="http://schemas.openxmlformats.org/officeDocument/2006/relationships/oleObject" Target="file:///D:\P.MOC\B&#225;o%20c&#225;o%20tu&#7847;n\2025\W20\W20%20(12.05-18.05.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P.MOC\B&#225;o%20c&#225;o%20tu&#7847;n\2025\W20\W20%20(12.05-18.05.2025).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P.MOC\B&#225;o%20c&#225;o%20tu&#7847;n\2025\W20\W20%20(12.05-18.05.2025).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D:\P.MOC\B&#225;o%20c&#225;o%20tu&#7847;n\2025\W20\W20%20(12.05-18.05.2025).xlsx" TargetMode="External"/><Relationship Id="rId1" Type="http://schemas.openxmlformats.org/officeDocument/2006/relationships/themeOverride" Target="../theme/themeOverride4.xml"/></Relationships>
</file>

<file path=ppt/charts/_rels/chart5.xml.rels><?xml version="1.0" encoding="UTF-8" standalone="yes"?>
<Relationships xmlns="http://schemas.openxmlformats.org/package/2006/relationships"><Relationship Id="rId2" Type="http://schemas.openxmlformats.org/officeDocument/2006/relationships/oleObject" Target="file:///D:\P.MOC\B&#225;o%20c&#225;o%20tu&#7847;n\2025\W20\W20%20(12.05-18.05.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P.MOC\B&#225;o%20c&#225;o%20tu&#7847;n\2025\W20\W20%20(12.05-18.05.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0\DR-W20.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2" Type="http://schemas.openxmlformats.org/officeDocument/2006/relationships/oleObject" Target="file:///D:\P.MOC\B&#225;o%20c&#225;o%20tu&#7847;n\2025\W20\W20%20(12.05-18.05.2025).xlsx" TargetMode="External"/><Relationship Id="rId1" Type="http://schemas.openxmlformats.org/officeDocument/2006/relationships/themeOverride" Target="../theme/themeOverride7.xm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0</c:v>
                </c:pt>
                <c:pt idx="2">
                  <c:v>1</c:v>
                </c:pt>
                <c:pt idx="3">
                  <c:v>0</c:v>
                </c:pt>
                <c:pt idx="4">
                  <c:v>1</c:v>
                </c:pt>
                <c:pt idx="5">
                  <c:v>2</c:v>
                </c:pt>
              </c:numCache>
            </c:numRef>
          </c:val>
          <c:extLst xmlns:c15="http://schemas.microsoft.com/office/drawing/2012/chart">
            <c:ext xmlns:c16="http://schemas.microsoft.com/office/drawing/2014/chart" uri="{C3380CC4-5D6E-409C-BE32-E72D297353CC}">
              <c16:uniqueId val="{00000000-657C-4DDE-B043-B5FCABA2E1C0}"/>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2</c:v>
                </c:pt>
                <c:pt idx="4">
                  <c:v>0</c:v>
                </c:pt>
                <c:pt idx="5">
                  <c:v>2</c:v>
                </c:pt>
              </c:numCache>
            </c:numRef>
          </c:val>
          <c:extLst>
            <c:ext xmlns:c16="http://schemas.microsoft.com/office/drawing/2014/chart" uri="{C3380CC4-5D6E-409C-BE32-E72D297353CC}">
              <c16:uniqueId val="{00000001-657C-4DDE-B043-B5FCABA2E1C0}"/>
            </c:ext>
          </c:extLst>
        </c:ser>
        <c:dLbls>
          <c:showLegendKey val="0"/>
          <c:showVal val="0"/>
          <c:showCatName val="0"/>
          <c:showSerName val="0"/>
          <c:showPercent val="0"/>
          <c:showBubbleSize val="0"/>
        </c:dLbls>
        <c:gapWidth val="219"/>
        <c:overlap val="-27"/>
        <c:axId val="326996144"/>
        <c:axId val="326996536"/>
        <c:extLst/>
      </c:barChart>
      <c:catAx>
        <c:axId val="3269961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536"/>
        <c:crosses val="autoZero"/>
        <c:auto val="1"/>
        <c:lblAlgn val="ctr"/>
        <c:lblOffset val="100"/>
        <c:noMultiLvlLbl val="0"/>
      </c:catAx>
      <c:valAx>
        <c:axId val="32699653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6996144"/>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2</c:v>
                </c:pt>
                <c:pt idx="3">
                  <c:v>0</c:v>
                </c:pt>
                <c:pt idx="4">
                  <c:v>0</c:v>
                </c:pt>
                <c:pt idx="5">
                  <c:v>2</c:v>
                </c:pt>
              </c:numCache>
            </c:numRef>
          </c:val>
          <c:extLst xmlns:c15="http://schemas.microsoft.com/office/drawing/2012/chart">
            <c:ext xmlns:c16="http://schemas.microsoft.com/office/drawing/2014/chart" uri="{C3380CC4-5D6E-409C-BE32-E72D297353CC}">
              <c16:uniqueId val="{00000000-AABD-4B88-97F6-93832AC9C504}"/>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1</c:v>
                </c:pt>
                <c:pt idx="2">
                  <c:v>0</c:v>
                </c:pt>
                <c:pt idx="3">
                  <c:v>0</c:v>
                </c:pt>
                <c:pt idx="4">
                  <c:v>0</c:v>
                </c:pt>
                <c:pt idx="5">
                  <c:v>1</c:v>
                </c:pt>
              </c:numCache>
            </c:numRef>
          </c:val>
          <c:extLst>
            <c:ext xmlns:c16="http://schemas.microsoft.com/office/drawing/2014/chart" uri="{C3380CC4-5D6E-409C-BE32-E72D297353CC}">
              <c16:uniqueId val="{00000001-AABD-4B88-97F6-93832AC9C504}"/>
            </c:ext>
          </c:extLst>
        </c:ser>
        <c:dLbls>
          <c:showLegendKey val="0"/>
          <c:showVal val="0"/>
          <c:showCatName val="0"/>
          <c:showSerName val="0"/>
          <c:showPercent val="0"/>
          <c:showBubbleSize val="0"/>
        </c:dLbls>
        <c:gapWidth val="219"/>
        <c:overlap val="-27"/>
        <c:axId val="329774624"/>
        <c:axId val="330488232"/>
        <c:extLst/>
      </c:barChart>
      <c:catAx>
        <c:axId val="3297746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0488232"/>
        <c:crosses val="autoZero"/>
        <c:auto val="1"/>
        <c:lblAlgn val="ctr"/>
        <c:lblOffset val="100"/>
        <c:noMultiLvlLbl val="0"/>
      </c:catAx>
      <c:valAx>
        <c:axId val="330488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62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2</c:v>
                </c:pt>
                <c:pt idx="2">
                  <c:v>2</c:v>
                </c:pt>
                <c:pt idx="3">
                  <c:v>0</c:v>
                </c:pt>
                <c:pt idx="4">
                  <c:v>0</c:v>
                </c:pt>
                <c:pt idx="5">
                  <c:v>4</c:v>
                </c:pt>
              </c:numCache>
            </c:numRef>
          </c:val>
          <c:extLst xmlns:c15="http://schemas.microsoft.com/office/drawing/2012/chart">
            <c:ext xmlns:c16="http://schemas.microsoft.com/office/drawing/2014/chart" uri="{C3380CC4-5D6E-409C-BE32-E72D297353CC}">
              <c16:uniqueId val="{00000000-DB99-4C63-9C4F-2E9EB57CAC9E}"/>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3</c:v>
                </c:pt>
                <c:pt idx="2">
                  <c:v>0</c:v>
                </c:pt>
                <c:pt idx="3">
                  <c:v>2</c:v>
                </c:pt>
                <c:pt idx="4">
                  <c:v>0</c:v>
                </c:pt>
                <c:pt idx="5">
                  <c:v>5</c:v>
                </c:pt>
              </c:numCache>
            </c:numRef>
          </c:val>
          <c:extLst>
            <c:ext xmlns:c16="http://schemas.microsoft.com/office/drawing/2014/chart" uri="{C3380CC4-5D6E-409C-BE32-E72D297353CC}">
              <c16:uniqueId val="{00000001-DB99-4C63-9C4F-2E9EB57CAC9E}"/>
            </c:ext>
          </c:extLst>
        </c:ser>
        <c:dLbls>
          <c:dLblPos val="outEnd"/>
          <c:showLegendKey val="0"/>
          <c:showVal val="1"/>
          <c:showCatName val="0"/>
          <c:showSerName val="0"/>
          <c:showPercent val="0"/>
          <c:showBubbleSize val="0"/>
        </c:dLbls>
        <c:gapWidth val="219"/>
        <c:overlap val="-27"/>
        <c:axId val="329779328"/>
        <c:axId val="329774232"/>
        <c:extLst/>
      </c:barChart>
      <c:catAx>
        <c:axId val="329779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4232"/>
        <c:crosses val="autoZero"/>
        <c:auto val="1"/>
        <c:lblAlgn val="ctr"/>
        <c:lblOffset val="100"/>
        <c:noMultiLvlLbl val="0"/>
      </c:catAx>
      <c:valAx>
        <c:axId val="3297742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977932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1</c:v>
                </c:pt>
                <c:pt idx="2">
                  <c:v>2</c:v>
                </c:pt>
                <c:pt idx="3">
                  <c:v>3</c:v>
                </c:pt>
                <c:pt idx="4">
                  <c:v>1</c:v>
                </c:pt>
                <c:pt idx="5">
                  <c:v>7</c:v>
                </c:pt>
              </c:numCache>
            </c:numRef>
          </c:val>
          <c:extLst xmlns:c15="http://schemas.microsoft.com/office/drawing/2012/chart">
            <c:ext xmlns:c16="http://schemas.microsoft.com/office/drawing/2014/chart" uri="{C3380CC4-5D6E-409C-BE32-E72D297353CC}">
              <c16:uniqueId val="{00000000-655F-465F-93DE-4D4AA740C902}"/>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9</c:v>
                </c:pt>
                <c:pt idx="2">
                  <c:v>0</c:v>
                </c:pt>
                <c:pt idx="3">
                  <c:v>3</c:v>
                </c:pt>
                <c:pt idx="4">
                  <c:v>0</c:v>
                </c:pt>
                <c:pt idx="5">
                  <c:v>12</c:v>
                </c:pt>
              </c:numCache>
            </c:numRef>
          </c:val>
          <c:extLst>
            <c:ext xmlns:c16="http://schemas.microsoft.com/office/drawing/2014/chart" uri="{C3380CC4-5D6E-409C-BE32-E72D297353CC}">
              <c16:uniqueId val="{00000001-655F-465F-93DE-4D4AA740C902}"/>
            </c:ext>
          </c:extLst>
        </c:ser>
        <c:dLbls>
          <c:dLblPos val="outEnd"/>
          <c:showLegendKey val="0"/>
          <c:showVal val="1"/>
          <c:showCatName val="0"/>
          <c:showSerName val="0"/>
          <c:showPercent val="0"/>
          <c:showBubbleSize val="0"/>
        </c:dLbls>
        <c:gapWidth val="219"/>
        <c:overlap val="-27"/>
        <c:axId val="326994968"/>
        <c:axId val="326995752"/>
        <c:extLst/>
      </c:barChart>
      <c:catAx>
        <c:axId val="326994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5752"/>
        <c:crosses val="autoZero"/>
        <c:auto val="1"/>
        <c:lblAlgn val="ctr"/>
        <c:lblOffset val="100"/>
        <c:noMultiLvlLbl val="0"/>
      </c:catAx>
      <c:valAx>
        <c:axId val="326995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26994968"/>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5889-4C11-B727-15A991926380}"/>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numCache>
            </c:numRef>
          </c:val>
          <c:smooth val="0"/>
          <c:extLst>
            <c:ext xmlns:c16="http://schemas.microsoft.com/office/drawing/2014/chart" uri="{C3380CC4-5D6E-409C-BE32-E72D297353CC}">
              <c16:uniqueId val="{00000001-5889-4C11-B727-15A991926380}"/>
            </c:ext>
          </c:extLst>
        </c:ser>
        <c:dLbls>
          <c:showLegendKey val="0"/>
          <c:showVal val="0"/>
          <c:showCatName val="0"/>
          <c:showSerName val="0"/>
          <c:showPercent val="0"/>
          <c:showBubbleSize val="0"/>
        </c:dLbls>
        <c:marker val="1"/>
        <c:smooth val="0"/>
        <c:axId val="325631808"/>
        <c:axId val="325638864"/>
      </c:lineChart>
      <c:catAx>
        <c:axId val="32563180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8864"/>
        <c:crosses val="autoZero"/>
        <c:auto val="1"/>
        <c:lblAlgn val="ctr"/>
        <c:lblOffset val="100"/>
        <c:noMultiLvlLbl val="0"/>
      </c:catAx>
      <c:valAx>
        <c:axId val="3256388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1808"/>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581A-449D-9F68-4E7CE481E283}"/>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numCache>
            </c:numRef>
          </c:val>
          <c:smooth val="0"/>
          <c:extLst>
            <c:ext xmlns:c16="http://schemas.microsoft.com/office/drawing/2014/chart" uri="{C3380CC4-5D6E-409C-BE32-E72D297353CC}">
              <c16:uniqueId val="{00000001-581A-449D-9F68-4E7CE481E283}"/>
            </c:ext>
          </c:extLst>
        </c:ser>
        <c:dLbls>
          <c:showLegendKey val="0"/>
          <c:showVal val="0"/>
          <c:showCatName val="0"/>
          <c:showSerName val="0"/>
          <c:showPercent val="0"/>
          <c:showBubbleSize val="0"/>
        </c:dLbls>
        <c:marker val="1"/>
        <c:smooth val="0"/>
        <c:axId val="325636512"/>
        <c:axId val="325632984"/>
      </c:lineChart>
      <c:catAx>
        <c:axId val="32563651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2984"/>
        <c:crosses val="autoZero"/>
        <c:auto val="1"/>
        <c:lblAlgn val="ctr"/>
        <c:lblOffset val="100"/>
        <c:noMultiLvlLbl val="0"/>
      </c:catAx>
      <c:valAx>
        <c:axId val="3256329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25636512"/>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W19</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EB1B-428B-AF6C-5A5E756CD685}"/>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99.850968703427725</c:v>
                </c:pt>
                <c:pt idx="1">
                  <c:v>98.378378378378372</c:v>
                </c:pt>
                <c:pt idx="2">
                  <c:v>99.147727272727266</c:v>
                </c:pt>
                <c:pt idx="3">
                  <c:v>99.029126213592235</c:v>
                </c:pt>
              </c:numCache>
            </c:numRef>
          </c:val>
          <c:extLst>
            <c:ext xmlns:c16="http://schemas.microsoft.com/office/drawing/2014/chart" uri="{C3380CC4-5D6E-409C-BE32-E72D297353CC}">
              <c16:uniqueId val="{00000001-EB1B-428B-AF6C-5A5E756CD685}"/>
            </c:ext>
          </c:extLst>
        </c:ser>
        <c:ser>
          <c:idx val="1"/>
          <c:order val="1"/>
          <c:tx>
            <c:strRef>
              <c:f>DR!$D$3</c:f>
              <c:strCache>
                <c:ptCount val="1"/>
                <c:pt idx="0">
                  <c:v>W20</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99.600599101347981</c:v>
                </c:pt>
                <c:pt idx="1">
                  <c:v>100</c:v>
                </c:pt>
                <c:pt idx="2">
                  <c:v>98.583569405099155</c:v>
                </c:pt>
                <c:pt idx="3">
                  <c:v>100</c:v>
                </c:pt>
              </c:numCache>
            </c:numRef>
          </c:val>
          <c:extLst>
            <c:ext xmlns:c16="http://schemas.microsoft.com/office/drawing/2014/chart" uri="{C3380CC4-5D6E-409C-BE32-E72D297353CC}">
              <c16:uniqueId val="{00000002-EB1B-428B-AF6C-5A5E756CD685}"/>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B1B-428B-AF6C-5A5E756CD685}"/>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EB1B-428B-AF6C-5A5E756CD685}"/>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EB1B-428B-AF6C-5A5E756CD685}"/>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Sheet1!$D$8:$BC$8</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Sheet1!$D$9:$BC$9</c:f>
              <c:numCache>
                <c:formatCode>General</c:formatCode>
                <c:ptCount val="16"/>
                <c:pt idx="0">
                  <c:v>31</c:v>
                </c:pt>
                <c:pt idx="1">
                  <c:v>30</c:v>
                </c:pt>
                <c:pt idx="2">
                  <c:v>29</c:v>
                </c:pt>
                <c:pt idx="3">
                  <c:v>27</c:v>
                </c:pt>
                <c:pt idx="4">
                  <c:v>25</c:v>
                </c:pt>
                <c:pt idx="5">
                  <c:v>24</c:v>
                </c:pt>
                <c:pt idx="6">
                  <c:v>24</c:v>
                </c:pt>
                <c:pt idx="7">
                  <c:v>23</c:v>
                </c:pt>
                <c:pt idx="8">
                  <c:v>23</c:v>
                </c:pt>
                <c:pt idx="9">
                  <c:v>23</c:v>
                </c:pt>
                <c:pt idx="10">
                  <c:v>22</c:v>
                </c:pt>
                <c:pt idx="11">
                  <c:v>22</c:v>
                </c:pt>
                <c:pt idx="12">
                  <c:v>22</c:v>
                </c:pt>
                <c:pt idx="13">
                  <c:v>22</c:v>
                </c:pt>
                <c:pt idx="14">
                  <c:v>24</c:v>
                </c:pt>
                <c:pt idx="15">
                  <c:v>24</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Sheet1!$D$10:$BC$10</c:f>
              <c:numCache>
                <c:formatCode>General</c:formatCode>
                <c:ptCount val="16"/>
                <c:pt idx="0">
                  <c:v>6</c:v>
                </c:pt>
                <c:pt idx="1">
                  <c:v>6</c:v>
                </c:pt>
                <c:pt idx="2">
                  <c:v>6</c:v>
                </c:pt>
                <c:pt idx="3">
                  <c:v>4</c:v>
                </c:pt>
                <c:pt idx="4">
                  <c:v>4</c:v>
                </c:pt>
                <c:pt idx="5">
                  <c:v>4</c:v>
                </c:pt>
                <c:pt idx="6">
                  <c:v>2</c:v>
                </c:pt>
                <c:pt idx="7">
                  <c:v>2</c:v>
                </c:pt>
                <c:pt idx="8">
                  <c:v>2</c:v>
                </c:pt>
                <c:pt idx="9">
                  <c:v>1</c:v>
                </c:pt>
                <c:pt idx="10">
                  <c:v>1</c:v>
                </c:pt>
                <c:pt idx="11">
                  <c:v>0</c:v>
                </c:pt>
                <c:pt idx="12">
                  <c:v>0</c:v>
                </c:pt>
                <c:pt idx="13">
                  <c:v>1</c:v>
                </c:pt>
                <c:pt idx="14">
                  <c:v>2</c:v>
                </c:pt>
                <c:pt idx="15">
                  <c:v>2</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Sheet1!$D$11:$BC$11</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6"/>
                <c:pt idx="0">
                  <c:v>May-W1</c:v>
                </c:pt>
                <c:pt idx="1">
                  <c:v>May-W2</c:v>
                </c:pt>
                <c:pt idx="2">
                  <c:v>May-W3</c:v>
                </c:pt>
                <c:pt idx="3">
                  <c:v>May-W4</c:v>
                </c:pt>
                <c:pt idx="4">
                  <c:v>June-W1</c:v>
                </c:pt>
                <c:pt idx="5">
                  <c:v>June-W2</c:v>
                </c:pt>
                <c:pt idx="6">
                  <c:v>June-W3</c:v>
                </c:pt>
                <c:pt idx="7">
                  <c:v>June-W4</c:v>
                </c:pt>
                <c:pt idx="8">
                  <c:v>July-W1</c:v>
                </c:pt>
                <c:pt idx="9">
                  <c:v>July-W2</c:v>
                </c:pt>
                <c:pt idx="10">
                  <c:v>July-W3</c:v>
                </c:pt>
                <c:pt idx="11">
                  <c:v>July-W4</c:v>
                </c:pt>
                <c:pt idx="12">
                  <c:v>Aug-W1</c:v>
                </c:pt>
                <c:pt idx="13">
                  <c:v>Aug-W2</c:v>
                </c:pt>
                <c:pt idx="14">
                  <c:v>Aug-W3</c:v>
                </c:pt>
                <c:pt idx="15">
                  <c:v>Aug-W4</c:v>
                </c:pt>
              </c:strCache>
            </c:strRef>
          </c:cat>
          <c:val>
            <c:numRef>
              <c:f>Sheet1!$D$12:$BC$12</c:f>
              <c:numCache>
                <c:formatCode>General</c:formatCode>
                <c:ptCount val="1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Sheet1!$A$10:$A$25</c:f>
              <c:strCache>
                <c:ptCount val="16"/>
                <c:pt idx="0">
                  <c:v>May-W1</c:v>
                </c:pt>
                <c:pt idx="1">
                  <c:v>May-W2</c:v>
                </c:pt>
                <c:pt idx="2">
                  <c:v>May-W3</c:v>
                </c:pt>
                <c:pt idx="3">
                  <c:v>May-W4</c:v>
                </c:pt>
                <c:pt idx="4">
                  <c:v>Jun-W1</c:v>
                </c:pt>
                <c:pt idx="5">
                  <c:v>Jun-W2</c:v>
                </c:pt>
                <c:pt idx="6">
                  <c:v>Jun-W3</c:v>
                </c:pt>
                <c:pt idx="7">
                  <c:v>Jun-W4</c:v>
                </c:pt>
                <c:pt idx="8">
                  <c:v>Jul-W1</c:v>
                </c:pt>
                <c:pt idx="9">
                  <c:v>Jul-W2</c:v>
                </c:pt>
                <c:pt idx="10">
                  <c:v>Jul-W3</c:v>
                </c:pt>
                <c:pt idx="11">
                  <c:v>Jul-W4</c:v>
                </c:pt>
                <c:pt idx="12">
                  <c:v>Aug-W1</c:v>
                </c:pt>
                <c:pt idx="13">
                  <c:v>Aug-W2</c:v>
                </c:pt>
                <c:pt idx="14">
                  <c:v>Aug-W3</c:v>
                </c:pt>
                <c:pt idx="15">
                  <c:v>Aug-W4</c:v>
                </c:pt>
              </c:strCache>
            </c:strRef>
          </c:cat>
          <c:val>
            <c:numRef>
              <c:f>Sheet1!$B$10:$B$25</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14.25</c:v>
                </c:pt>
                <c:pt idx="1">
                  <c:v>13.75</c:v>
                </c:pt>
                <c:pt idx="2">
                  <c:v>15.25</c:v>
                </c:pt>
                <c:pt idx="3">
                  <c:v>15</c:v>
                </c:pt>
                <c:pt idx="4">
                  <c:v>14.5</c:v>
                </c:pt>
                <c:pt idx="5">
                  <c:v>12</c:v>
                </c:pt>
                <c:pt idx="6">
                  <c:v>11.25</c:v>
                </c:pt>
                <c:pt idx="7">
                  <c:v>11.5</c:v>
                </c:pt>
                <c:pt idx="8">
                  <c:v>11.5</c:v>
                </c:pt>
                <c:pt idx="9">
                  <c:v>11.5</c:v>
                </c:pt>
                <c:pt idx="10">
                  <c:v>12</c:v>
                </c:pt>
                <c:pt idx="11">
                  <c:v>12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16"/>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c:v>
                </c:pt>
                <c:pt idx="7">
                  <c:v>0.75</c:v>
                </c:pt>
                <c:pt idx="8">
                  <c:v>1.5</c:v>
                </c:pt>
                <c:pt idx="9">
                  <c:v>2</c:v>
                </c:pt>
                <c:pt idx="10">
                  <c:v>2</c:v>
                </c:pt>
                <c:pt idx="11">
                  <c:v>2</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2</c:v>
                </c:pt>
                <c:pt idx="2">
                  <c:v>1</c:v>
                </c:pt>
                <c:pt idx="3">
                  <c:v>5</c:v>
                </c:pt>
                <c:pt idx="4">
                  <c:v>0</c:v>
                </c:pt>
                <c:pt idx="5" formatCode="0">
                  <c:v>8</c:v>
                </c:pt>
              </c:numCache>
            </c:numRef>
          </c:val>
          <c:extLst>
            <c:ext xmlns:c16="http://schemas.microsoft.com/office/drawing/2014/chart" uri="{C3380CC4-5D6E-409C-BE32-E72D297353CC}">
              <c16:uniqueId val="{00000000-22FF-47C5-84C1-D07107C574DC}"/>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7</c:v>
                </c:pt>
                <c:pt idx="2">
                  <c:v>0</c:v>
                </c:pt>
                <c:pt idx="3">
                  <c:v>3</c:v>
                </c:pt>
                <c:pt idx="4">
                  <c:v>0</c:v>
                </c:pt>
                <c:pt idx="5" formatCode="0">
                  <c:v>10</c:v>
                </c:pt>
              </c:numCache>
            </c:numRef>
          </c:val>
          <c:extLst>
            <c:ext xmlns:c16="http://schemas.microsoft.com/office/drawing/2014/chart" uri="{C3380CC4-5D6E-409C-BE32-E72D297353CC}">
              <c16:uniqueId val="{00000001-22FF-47C5-84C1-D07107C574DC}"/>
            </c:ext>
          </c:extLst>
        </c:ser>
        <c:dLbls>
          <c:showLegendKey val="0"/>
          <c:showVal val="0"/>
          <c:showCatName val="0"/>
          <c:showSerName val="0"/>
          <c:showPercent val="0"/>
          <c:showBubbleSize val="0"/>
        </c:dLbls>
        <c:gapWidth val="150"/>
        <c:axId val="325637296"/>
        <c:axId val="325636120"/>
      </c:barChart>
      <c:catAx>
        <c:axId val="325637296"/>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25636120"/>
        <c:crosses val="autoZero"/>
        <c:auto val="1"/>
        <c:lblAlgn val="ctr"/>
        <c:lblOffset val="100"/>
        <c:noMultiLvlLbl val="0"/>
      </c:catAx>
      <c:valAx>
        <c:axId val="325636120"/>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25637296"/>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6.5145502645502618E-2</c:v>
                </c:pt>
                <c:pt idx="1">
                  <c:v>8.1939047207829602E-2</c:v>
                </c:pt>
                <c:pt idx="2">
                  <c:v>8.5054855275443611E-2</c:v>
                </c:pt>
                <c:pt idx="3">
                  <c:v>0.15457818930041148</c:v>
                </c:pt>
                <c:pt idx="4">
                  <c:v>0.2741926377597112</c:v>
                </c:pt>
                <c:pt idx="5">
                  <c:v>0.25048076923076967</c:v>
                </c:pt>
                <c:pt idx="6">
                  <c:v>0.13073320413436687</c:v>
                </c:pt>
                <c:pt idx="7">
                  <c:v>0.14223530595813222</c:v>
                </c:pt>
                <c:pt idx="8">
                  <c:v>4.2245370370370371E-2</c:v>
                </c:pt>
              </c:numCache>
            </c:numRef>
          </c:val>
          <c:extLst>
            <c:ext xmlns:c16="http://schemas.microsoft.com/office/drawing/2014/chart" uri="{C3380CC4-5D6E-409C-BE32-E72D297353CC}">
              <c16:uniqueId val="{00000000-0BDD-410A-B815-E823DAB2AB6E}"/>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6.3335905349794247E-2</c:v>
                </c:pt>
                <c:pt idx="1">
                  <c:v>8.0178642121931959E-2</c:v>
                </c:pt>
                <c:pt idx="2">
                  <c:v>8.3744855967078313E-2</c:v>
                </c:pt>
                <c:pt idx="3">
                  <c:v>0.14041902071563084</c:v>
                </c:pt>
                <c:pt idx="4">
                  <c:v>0.26433270676691761</c:v>
                </c:pt>
                <c:pt idx="5">
                  <c:v>0.22706018518518542</c:v>
                </c:pt>
                <c:pt idx="6">
                  <c:v>0.13883196721311472</c:v>
                </c:pt>
                <c:pt idx="7">
                  <c:v>0.13317129629629651</c:v>
                </c:pt>
                <c:pt idx="8">
                  <c:v>4.2302207341269882E-2</c:v>
                </c:pt>
              </c:numCache>
            </c:numRef>
          </c:val>
          <c:extLst>
            <c:ext xmlns:c16="http://schemas.microsoft.com/office/drawing/2014/chart" uri="{C3380CC4-5D6E-409C-BE32-E72D297353CC}">
              <c16:uniqueId val="{00000001-0BDD-410A-B815-E823DAB2AB6E}"/>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c:v>
                </c:pt>
                <c:pt idx="1">
                  <c:v>5.655677655677656</c:v>
                </c:pt>
                <c:pt idx="2">
                  <c:v>5.6666666666666661</c:v>
                </c:pt>
                <c:pt idx="3">
                  <c:v>2.5285714285714285</c:v>
                </c:pt>
                <c:pt idx="4">
                  <c:v>2.9747899159663866</c:v>
                </c:pt>
                <c:pt idx="5">
                  <c:v>7.2857142857142856</c:v>
                </c:pt>
              </c:numCache>
            </c:numRef>
          </c:val>
          <c:extLst>
            <c:ext xmlns:c16="http://schemas.microsoft.com/office/drawing/2014/chart" uri="{C3380CC4-5D6E-409C-BE32-E72D297353CC}">
              <c16:uniqueId val="{00000000-BF16-48CA-A828-F554CCF183E3}"/>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7.7142857142857144</c:v>
                </c:pt>
                <c:pt idx="1">
                  <c:v>6.1684981684981679</c:v>
                </c:pt>
                <c:pt idx="2">
                  <c:v>6.4285714285714297</c:v>
                </c:pt>
                <c:pt idx="3">
                  <c:v>2.7428571428571429</c:v>
                </c:pt>
                <c:pt idx="4">
                  <c:v>3.0336134453781511</c:v>
                </c:pt>
                <c:pt idx="5">
                  <c:v>8</c:v>
                </c:pt>
              </c:numCache>
            </c:numRef>
          </c:val>
          <c:extLst>
            <c:ext xmlns:c16="http://schemas.microsoft.com/office/drawing/2014/chart" uri="{C3380CC4-5D6E-409C-BE32-E72D297353CC}">
              <c16:uniqueId val="{00000001-BF16-48CA-A828-F554CCF183E3}"/>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4153-4F3F-BDB1-5046951D3969}"/>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4153-4F3F-BDB1-5046951D3969}"/>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4153-4F3F-BDB1-5046951D3969}"/>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4153-4F3F-BDB1-5046951D3969}"/>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4153-4F3F-BDB1-5046951D3969}"/>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4153-4F3F-BDB1-5046951D3969}"/>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4153-4F3F-BDB1-5046951D3969}"/>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4153-4F3F-BDB1-5046951D3969}"/>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Week!$B$35:$BD$35</c:f>
              <c:numCache>
                <c:formatCode>d\-mmm</c:formatCode>
                <c:ptCount val="55"/>
                <c:pt idx="0">
                  <c:v>45789</c:v>
                </c:pt>
                <c:pt idx="1">
                  <c:v>45790</c:v>
                </c:pt>
                <c:pt idx="2">
                  <c:v>45791</c:v>
                </c:pt>
                <c:pt idx="3">
                  <c:v>45792</c:v>
                </c:pt>
                <c:pt idx="4">
                  <c:v>45793</c:v>
                </c:pt>
                <c:pt idx="5">
                  <c:v>45794</c:v>
                </c:pt>
                <c:pt idx="6">
                  <c:v>45795</c:v>
                </c:pt>
                <c:pt idx="7">
                  <c:v>45796</c:v>
                </c:pt>
                <c:pt idx="8">
                  <c:v>45797</c:v>
                </c:pt>
                <c:pt idx="9">
                  <c:v>45798</c:v>
                </c:pt>
                <c:pt idx="10">
                  <c:v>45799</c:v>
                </c:pt>
                <c:pt idx="11">
                  <c:v>45800</c:v>
                </c:pt>
                <c:pt idx="12">
                  <c:v>45801</c:v>
                </c:pt>
                <c:pt idx="13">
                  <c:v>45802</c:v>
                </c:pt>
                <c:pt idx="14">
                  <c:v>45803</c:v>
                </c:pt>
                <c:pt idx="15">
                  <c:v>45804</c:v>
                </c:pt>
                <c:pt idx="16">
                  <c:v>45805</c:v>
                </c:pt>
                <c:pt idx="17">
                  <c:v>45806</c:v>
                </c:pt>
                <c:pt idx="18">
                  <c:v>45807</c:v>
                </c:pt>
                <c:pt idx="19">
                  <c:v>45808</c:v>
                </c:pt>
                <c:pt idx="20">
                  <c:v>45809</c:v>
                </c:pt>
                <c:pt idx="21">
                  <c:v>45810</c:v>
                </c:pt>
                <c:pt idx="22">
                  <c:v>45811</c:v>
                </c:pt>
                <c:pt idx="23">
                  <c:v>45812</c:v>
                </c:pt>
                <c:pt idx="24">
                  <c:v>45813</c:v>
                </c:pt>
                <c:pt idx="25">
                  <c:v>45814</c:v>
                </c:pt>
                <c:pt idx="26">
                  <c:v>45815</c:v>
                </c:pt>
                <c:pt idx="27">
                  <c:v>45816</c:v>
                </c:pt>
                <c:pt idx="28">
                  <c:v>45817</c:v>
                </c:pt>
                <c:pt idx="29">
                  <c:v>45818</c:v>
                </c:pt>
                <c:pt idx="30">
                  <c:v>45819</c:v>
                </c:pt>
                <c:pt idx="31">
                  <c:v>45820</c:v>
                </c:pt>
                <c:pt idx="32">
                  <c:v>45821</c:v>
                </c:pt>
                <c:pt idx="33">
                  <c:v>45822</c:v>
                </c:pt>
                <c:pt idx="34">
                  <c:v>45823</c:v>
                </c:pt>
                <c:pt idx="35">
                  <c:v>45824</c:v>
                </c:pt>
                <c:pt idx="36">
                  <c:v>45825</c:v>
                </c:pt>
                <c:pt idx="37">
                  <c:v>45826</c:v>
                </c:pt>
                <c:pt idx="38">
                  <c:v>45827</c:v>
                </c:pt>
                <c:pt idx="39">
                  <c:v>45828</c:v>
                </c:pt>
                <c:pt idx="40">
                  <c:v>45829</c:v>
                </c:pt>
                <c:pt idx="41">
                  <c:v>45830</c:v>
                </c:pt>
                <c:pt idx="42">
                  <c:v>45831</c:v>
                </c:pt>
                <c:pt idx="43">
                  <c:v>45832</c:v>
                </c:pt>
                <c:pt idx="44">
                  <c:v>45833</c:v>
                </c:pt>
                <c:pt idx="45">
                  <c:v>45834</c:v>
                </c:pt>
                <c:pt idx="46">
                  <c:v>45835</c:v>
                </c:pt>
                <c:pt idx="47">
                  <c:v>45836</c:v>
                </c:pt>
                <c:pt idx="48">
                  <c:v>45837</c:v>
                </c:pt>
                <c:pt idx="49">
                  <c:v>45838</c:v>
                </c:pt>
              </c:numCache>
            </c:numRef>
          </c:cat>
          <c:val>
            <c:numRef>
              <c:f>Week!$B$36:$BD$36</c:f>
              <c:numCache>
                <c:formatCode>General</c:formatCode>
                <c:ptCount val="55"/>
                <c:pt idx="0">
                  <c:v>386</c:v>
                </c:pt>
                <c:pt idx="1">
                  <c:v>358</c:v>
                </c:pt>
                <c:pt idx="2">
                  <c:v>384</c:v>
                </c:pt>
                <c:pt idx="3">
                  <c:v>390</c:v>
                </c:pt>
                <c:pt idx="4">
                  <c:v>408</c:v>
                </c:pt>
                <c:pt idx="5">
                  <c:v>398</c:v>
                </c:pt>
                <c:pt idx="6">
                  <c:v>414</c:v>
                </c:pt>
                <c:pt idx="7">
                  <c:v>410</c:v>
                </c:pt>
                <c:pt idx="8">
                  <c:v>398</c:v>
                </c:pt>
                <c:pt idx="9">
                  <c:v>402</c:v>
                </c:pt>
                <c:pt idx="10">
                  <c:v>442</c:v>
                </c:pt>
                <c:pt idx="11">
                  <c:v>448</c:v>
                </c:pt>
                <c:pt idx="12">
                  <c:v>449</c:v>
                </c:pt>
                <c:pt idx="13">
                  <c:v>465</c:v>
                </c:pt>
                <c:pt idx="14">
                  <c:v>447</c:v>
                </c:pt>
                <c:pt idx="15">
                  <c:v>443</c:v>
                </c:pt>
                <c:pt idx="16">
                  <c:v>438</c:v>
                </c:pt>
                <c:pt idx="17">
                  <c:v>455</c:v>
                </c:pt>
                <c:pt idx="18">
                  <c:v>458</c:v>
                </c:pt>
                <c:pt idx="19">
                  <c:v>465</c:v>
                </c:pt>
                <c:pt idx="20">
                  <c:v>500</c:v>
                </c:pt>
                <c:pt idx="21">
                  <c:v>491</c:v>
                </c:pt>
                <c:pt idx="22">
                  <c:v>466</c:v>
                </c:pt>
                <c:pt idx="23">
                  <c:v>483</c:v>
                </c:pt>
                <c:pt idx="24">
                  <c:v>485</c:v>
                </c:pt>
                <c:pt idx="25">
                  <c:v>498</c:v>
                </c:pt>
                <c:pt idx="26">
                  <c:v>491</c:v>
                </c:pt>
                <c:pt idx="27">
                  <c:v>502</c:v>
                </c:pt>
                <c:pt idx="28">
                  <c:v>492</c:v>
                </c:pt>
                <c:pt idx="29">
                  <c:v>481</c:v>
                </c:pt>
                <c:pt idx="30">
                  <c:v>494</c:v>
                </c:pt>
                <c:pt idx="31">
                  <c:v>488</c:v>
                </c:pt>
                <c:pt idx="32">
                  <c:v>499</c:v>
                </c:pt>
                <c:pt idx="33">
                  <c:v>497</c:v>
                </c:pt>
                <c:pt idx="34">
                  <c:v>502</c:v>
                </c:pt>
                <c:pt idx="35">
                  <c:v>488</c:v>
                </c:pt>
                <c:pt idx="36">
                  <c:v>478</c:v>
                </c:pt>
                <c:pt idx="37">
                  <c:v>496</c:v>
                </c:pt>
                <c:pt idx="38">
                  <c:v>486</c:v>
                </c:pt>
                <c:pt idx="39">
                  <c:v>505</c:v>
                </c:pt>
                <c:pt idx="40">
                  <c:v>506</c:v>
                </c:pt>
                <c:pt idx="41">
                  <c:v>517</c:v>
                </c:pt>
                <c:pt idx="42">
                  <c:v>503</c:v>
                </c:pt>
                <c:pt idx="43">
                  <c:v>485</c:v>
                </c:pt>
                <c:pt idx="44">
                  <c:v>506</c:v>
                </c:pt>
                <c:pt idx="45">
                  <c:v>506</c:v>
                </c:pt>
                <c:pt idx="46">
                  <c:v>515</c:v>
                </c:pt>
                <c:pt idx="47">
                  <c:v>509</c:v>
                </c:pt>
                <c:pt idx="48">
                  <c:v>521</c:v>
                </c:pt>
                <c:pt idx="49">
                  <c:v>511</c:v>
                </c:pt>
              </c:numCache>
            </c:numRef>
          </c:val>
          <c:extLst>
            <c:ext xmlns:c16="http://schemas.microsoft.com/office/drawing/2014/chart" uri="{C3380CC4-5D6E-409C-BE32-E72D297353CC}">
              <c16:uniqueId val="{00000010-4153-4F3F-BDB1-5046951D3969}"/>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5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5/18/2025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18415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B6DB0-CDF5-BB1D-18AF-8A4DEAA6DDEB}"/>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82C8262D-3D2B-283E-21F3-AD425D8FF9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1489727C-3B56-57D5-ADEB-9068E3CCD2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666C1466-04DF-30E3-B8FD-7006633760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086114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5</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312419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F469EFE-4A71-A0DB-8D32-A34ADC1FB33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9BD84FD-6CE9-E845-4B65-A3BF2B050E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4E1766E-64E3-20D1-862D-033CD49ECCA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1C8507B0-397F-F4A3-E7DD-BAB58782714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98418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8</a:t>
            </a:fld>
            <a:endParaRPr/>
          </a:p>
        </p:txBody>
      </p:sp>
    </p:spTree>
    <p:extLst>
      <p:ext uri="{BB962C8B-B14F-4D97-AF65-F5344CB8AC3E}">
        <p14:creationId xmlns:p14="http://schemas.microsoft.com/office/powerpoint/2010/main" val="2763928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4246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10</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66183D5-D8B6-DD0E-93E5-66F79F5464A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20614A4-E722-82C3-444B-EC931490740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1389763-8D73-A762-4C40-D79841CBFE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F08C4FB-5720-0B40-FC9D-804809B5F6A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3245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C2F11658-675D-7B0A-0D08-FBE5EC3BE7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FD39A10-5EDB-83E9-6DC7-68C11302EC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A26AF1F3-5EA5-11E2-44E8-F1B6AFDFA3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6109A34-5B39-2191-00E5-F39A8725019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04202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13</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17154161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15C6D1E-D6FD-8D2D-4235-62366D1BDBD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80B6BCB-853F-3F9D-344A-23B2F7E239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EB8F982-A31C-7CB1-9B7A-29C8E5E9C0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AC0315F-EF69-0125-D01A-6B05E25B2A1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68357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03403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18</a:t>
            </a:fld>
            <a:endParaRPr/>
          </a:p>
        </p:txBody>
      </p:sp>
    </p:spTree>
    <p:extLst>
      <p:ext uri="{BB962C8B-B14F-4D97-AF65-F5344CB8AC3E}">
        <p14:creationId xmlns:p14="http://schemas.microsoft.com/office/powerpoint/2010/main" val="996063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199015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2802553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48281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22</a:t>
            </a:fld>
            <a:endParaRPr/>
          </a:p>
        </p:txBody>
      </p:sp>
    </p:spTree>
    <p:extLst>
      <p:ext uri="{BB962C8B-B14F-4D97-AF65-F5344CB8AC3E}">
        <p14:creationId xmlns:p14="http://schemas.microsoft.com/office/powerpoint/2010/main" val="3587240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3043843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29</a:t>
            </a:fld>
            <a:endParaRPr lang="en-US"/>
          </a:p>
        </p:txBody>
      </p:sp>
    </p:spTree>
    <p:extLst>
      <p:ext uri="{BB962C8B-B14F-4D97-AF65-F5344CB8AC3E}">
        <p14:creationId xmlns:p14="http://schemas.microsoft.com/office/powerpoint/2010/main" val="3585090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659214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32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564662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auto" latinLnBrk="0" hangingPunct="1">
                <a:lnSpc>
                  <a:spcPct val="100000"/>
                </a:lnSpc>
                <a:spcBef>
                  <a:spcPts val="0"/>
                </a:spcBef>
                <a:spcAft>
                  <a:spcPts val="0"/>
                </a:spcAft>
                <a:buClr>
                  <a:srgbClr val="000000"/>
                </a:buClr>
                <a:buSzPts val="1300"/>
                <a:buFont typeface="Times New Roman"/>
                <a:buNone/>
                <a:tabLst/>
                <a:defRPr/>
              </a:pPr>
              <a:t>33</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9868554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34</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3232462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36</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85471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031741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3983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7823484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41</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2885461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3235672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7002272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962992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45</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2395108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850925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47</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503935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48</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180002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49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824644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0" name="Google Shape;240;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50</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2218555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1668194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7" name="Google Shape;257;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33047594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5" name="Google Shape;265;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7808600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4" name="Google Shape;274;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6423476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194794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6061286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8882508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3635122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59</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533048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60</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92286055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541644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ahoma" pitchFamily="34" charset="0"/>
                <a:ea typeface="Tahoma" pitchFamily="34" charset="0"/>
                <a:cs typeface="Tahoma" pitchFamily="34" charset="0"/>
              </a:defRPr>
            </a:lvl1pPr>
            <a:lvl2pPr>
              <a:lnSpc>
                <a:spcPct val="150000"/>
              </a:lnSpc>
              <a:buFont typeface="Wingdings" pitchFamily="2" charset="2"/>
              <a:buChar char="ü"/>
              <a:defRPr sz="2000">
                <a:latin typeface="Tahoma" pitchFamily="34" charset="0"/>
                <a:ea typeface="Tahoma" pitchFamily="34" charset="0"/>
                <a:cs typeface="Tahoma" pitchFamily="34" charset="0"/>
              </a:defRPr>
            </a:lvl2pPr>
            <a:lvl3pPr>
              <a:lnSpc>
                <a:spcPct val="150000"/>
              </a:lnSpc>
              <a:buFont typeface="Wingdings" pitchFamily="2" charset="2"/>
              <a:buChar char="ü"/>
              <a:defRPr sz="2000">
                <a:latin typeface="Tahoma" pitchFamily="34" charset="0"/>
                <a:ea typeface="Tahoma" pitchFamily="34" charset="0"/>
                <a:cs typeface="Tahoma" pitchFamily="34" charset="0"/>
              </a:defRPr>
            </a:lvl3pPr>
            <a:lvl4pPr>
              <a:lnSpc>
                <a:spcPct val="150000"/>
              </a:lnSpc>
              <a:buFont typeface="Wingdings" pitchFamily="2" charset="2"/>
              <a:buChar char="ü"/>
              <a:defRPr sz="2000">
                <a:latin typeface="Tahoma" pitchFamily="34" charset="0"/>
                <a:ea typeface="Tahoma" pitchFamily="34" charset="0"/>
                <a:cs typeface="Tahoma" pitchFamily="34" charset="0"/>
              </a:defRPr>
            </a:lvl4pPr>
            <a:lvl5pPr>
              <a:lnSpc>
                <a:spcPct val="150000"/>
              </a:lnSpc>
              <a:buFont typeface="Wingdings" pitchFamily="2" charset="2"/>
              <a:buChar char="ü"/>
              <a:defRPr sz="2000">
                <a:latin typeface="Tahoma" pitchFamily="34" charset="0"/>
                <a:ea typeface="Tahoma" pitchFamily="34" charset="0"/>
                <a:cs typeface="Tahoma"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ahoma" pitchFamily="34" charset="0"/>
                <a:ea typeface="Tahoma" pitchFamily="34" charset="0"/>
                <a:cs typeface="Tahoma" pitchFamily="34"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40191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387442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6"/>
            <a:ext cx="5181600" cy="3874420"/>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600798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Montserrat SemiBold"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Montserrat" pitchFamily="2" charset="77"/>
              </a:defRPr>
            </a:lvl1pPr>
            <a:lvl2pPr>
              <a:defRPr>
                <a:latin typeface="Montserrat" pitchFamily="2" charset="77"/>
              </a:defRPr>
            </a:lvl2pPr>
            <a:lvl3pPr>
              <a:defRPr>
                <a:latin typeface="Montserrat" pitchFamily="2" charset="77"/>
              </a:defRPr>
            </a:lvl3pPr>
            <a:lvl4pPr>
              <a:defRPr>
                <a:latin typeface="Montserrat" pitchFamily="2" charset="77"/>
              </a:defRPr>
            </a:lvl4pPr>
            <a:lvl5pPr>
              <a:defRPr>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2073619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Montserrat" pitchFamily="2" charset="77"/>
              </a:defRPr>
            </a:lvl1pPr>
          </a:lstStyle>
          <a:p>
            <a:r>
              <a:rPr lang="en-US"/>
              <a:t>Click to edit Master title style</a:t>
            </a:r>
            <a:endParaRPr lang="en-US" dirty="0"/>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68591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137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Montserrat" pitchFamily="2" charset="77"/>
              </a:defRPr>
            </a:lvl1pPr>
            <a:lvl2pPr>
              <a:defRPr sz="2800">
                <a:latin typeface="Montserrat" pitchFamily="2" charset="77"/>
              </a:defRPr>
            </a:lvl2pPr>
            <a:lvl3pPr>
              <a:defRPr sz="2400">
                <a:latin typeface="Montserrat" pitchFamily="2" charset="77"/>
              </a:defRPr>
            </a:lvl3pPr>
            <a:lvl4pPr>
              <a:defRPr sz="2000">
                <a:latin typeface="Montserrat" pitchFamily="2" charset="77"/>
              </a:defRPr>
            </a:lvl4pPr>
            <a:lvl5pPr>
              <a:defRPr sz="2000">
                <a:latin typeface="Montserrat" pitchFamily="2" charset="77"/>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spTree>
    <p:extLst>
      <p:ext uri="{BB962C8B-B14F-4D97-AF65-F5344CB8AC3E}">
        <p14:creationId xmlns:p14="http://schemas.microsoft.com/office/powerpoint/2010/main" val="1347910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Montserrat" pitchFamily="2" charset="77"/>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Montserrat" pitchFamily="2"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2A43B"/>
              </a:solidFill>
              <a:effectLst/>
              <a:uLnTx/>
              <a:uFillTx/>
              <a:latin typeface="Montserrat" pitchFamily="2" charset="77"/>
              <a:ea typeface="+mn-ea"/>
              <a:cs typeface="+mn-cs"/>
            </a:endParaRPr>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Montserrat" pitchFamily="2" charset="77"/>
              </a:defRPr>
            </a:lvl1pPr>
          </a:lstStyle>
          <a:p>
            <a:r>
              <a:rPr lang="en-US"/>
              <a:t>Click to edit Master title style</a:t>
            </a:r>
            <a:endParaRPr lang="en-US" dirty="0"/>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690236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vi"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1774200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24867448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5664308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2482072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8555370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2422398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719394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8954298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015440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6162079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2784589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0394661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4253191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theme" Target="../theme/theme2.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theme" Target="../theme/theme3.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5.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5/18/2025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876FE3-6897-AC45-A781-6CFE41690726}" type="datetime1">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5/18/2025</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200" b="0" i="0" u="none" strike="noStrike" kern="1200" cap="none" spc="0" normalizeH="0" baseline="0" noProof="0" smtClean="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a:ea typeface="+mn-ea"/>
              <a:cs typeface="+mn-cs"/>
            </a:endParaRPr>
          </a:p>
        </p:txBody>
      </p:sp>
    </p:spTree>
    <p:extLst>
      <p:ext uri="{BB962C8B-B14F-4D97-AF65-F5344CB8AC3E}">
        <p14:creationId xmlns:p14="http://schemas.microsoft.com/office/powerpoint/2010/main" val="4277845884"/>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764077886"/>
      </p:ext>
    </p:extLst>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0.xml"/><Relationship Id="rId1" Type="http://schemas.openxmlformats.org/officeDocument/2006/relationships/tags" Target="../tags/tag3.xml"/><Relationship Id="rId4" Type="http://schemas.openxmlformats.org/officeDocument/2006/relationships/chart" Target="../charts/char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9.xml"/><Relationship Id="rId4" Type="http://schemas.openxmlformats.org/officeDocument/2006/relationships/chart" Target="../charts/chart14.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19.xml"/><Relationship Id="rId4" Type="http://schemas.openxmlformats.org/officeDocument/2006/relationships/chart" Target="../charts/chart15.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9.xml"/><Relationship Id="rId4" Type="http://schemas.openxmlformats.org/officeDocument/2006/relationships/chart" Target="../charts/char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12/05/2025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18</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10" name="Chart 9">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3282185931"/>
              </p:ext>
            </p:extLst>
          </p:nvPr>
        </p:nvGraphicFramePr>
        <p:xfrm>
          <a:off x="1219200" y="3713056"/>
          <a:ext cx="5029200" cy="26115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4189901916"/>
              </p:ext>
            </p:extLst>
          </p:nvPr>
        </p:nvGraphicFramePr>
        <p:xfrm>
          <a:off x="6629400" y="3713055"/>
          <a:ext cx="4667210" cy="261154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897158307"/>
              </p:ext>
            </p:extLst>
          </p:nvPr>
        </p:nvGraphicFramePr>
        <p:xfrm>
          <a:off x="1219200" y="856460"/>
          <a:ext cx="5029200" cy="264873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4" name="Chart 13">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808517276"/>
              </p:ext>
            </p:extLst>
          </p:nvPr>
        </p:nvGraphicFramePr>
        <p:xfrm>
          <a:off x="6629400" y="856459"/>
          <a:ext cx="4667210" cy="264873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7" name="Chart 6">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368216858"/>
              </p:ext>
            </p:extLst>
          </p:nvPr>
        </p:nvGraphicFramePr>
        <p:xfrm>
          <a:off x="1294349" y="3905803"/>
          <a:ext cx="10002261" cy="257119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3849380164"/>
              </p:ext>
            </p:extLst>
          </p:nvPr>
        </p:nvGraphicFramePr>
        <p:xfrm>
          <a:off x="1291130" y="990600"/>
          <a:ext cx="10005480" cy="272897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01</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2		    DIV: 00</a:t>
            </a:r>
          </a:p>
        </p:txBody>
      </p:sp>
      <p:graphicFrame>
        <p:nvGraphicFramePr>
          <p:cNvPr id="3" name="Table 2">
            <a:extLst>
              <a:ext uri="{FF2B5EF4-FFF2-40B4-BE49-F238E27FC236}">
                <a16:creationId xmlns:a16="http://schemas.microsoft.com/office/drawing/2014/main" id="{B2C9F51D-11B1-05AF-482E-4EB7458CBE88}"/>
              </a:ext>
            </a:extLst>
          </p:cNvPr>
          <p:cNvGraphicFramePr>
            <a:graphicFrameLocks noGrp="1"/>
          </p:cNvGraphicFramePr>
          <p:nvPr>
            <p:extLst/>
          </p:nvPr>
        </p:nvGraphicFramePr>
        <p:xfrm>
          <a:off x="333918" y="1317213"/>
          <a:ext cx="11496959" cy="4223574"/>
        </p:xfrm>
        <a:graphic>
          <a:graphicData uri="http://schemas.openxmlformats.org/drawingml/2006/table">
            <a:tbl>
              <a:tblPr/>
              <a:tblGrid>
                <a:gridCol w="447960">
                  <a:extLst>
                    <a:ext uri="{9D8B030D-6E8A-4147-A177-3AD203B41FA5}">
                      <a16:colId xmlns:a16="http://schemas.microsoft.com/office/drawing/2014/main" val="3177334110"/>
                    </a:ext>
                  </a:extLst>
                </a:gridCol>
                <a:gridCol w="381000">
                  <a:extLst>
                    <a:ext uri="{9D8B030D-6E8A-4147-A177-3AD203B41FA5}">
                      <a16:colId xmlns:a16="http://schemas.microsoft.com/office/drawing/2014/main" val="4176402646"/>
                    </a:ext>
                  </a:extLst>
                </a:gridCol>
                <a:gridCol w="609600">
                  <a:extLst>
                    <a:ext uri="{9D8B030D-6E8A-4147-A177-3AD203B41FA5}">
                      <a16:colId xmlns:a16="http://schemas.microsoft.com/office/drawing/2014/main" val="1997874898"/>
                    </a:ext>
                  </a:extLst>
                </a:gridCol>
                <a:gridCol w="609600">
                  <a:extLst>
                    <a:ext uri="{9D8B030D-6E8A-4147-A177-3AD203B41FA5}">
                      <a16:colId xmlns:a16="http://schemas.microsoft.com/office/drawing/2014/main" val="824987781"/>
                    </a:ext>
                  </a:extLst>
                </a:gridCol>
                <a:gridCol w="838200">
                  <a:extLst>
                    <a:ext uri="{9D8B030D-6E8A-4147-A177-3AD203B41FA5}">
                      <a16:colId xmlns:a16="http://schemas.microsoft.com/office/drawing/2014/main" val="1804810850"/>
                    </a:ext>
                  </a:extLst>
                </a:gridCol>
                <a:gridCol w="762000">
                  <a:extLst>
                    <a:ext uri="{9D8B030D-6E8A-4147-A177-3AD203B41FA5}">
                      <a16:colId xmlns:a16="http://schemas.microsoft.com/office/drawing/2014/main" val="4192528318"/>
                    </a:ext>
                  </a:extLst>
                </a:gridCol>
                <a:gridCol w="1524000">
                  <a:extLst>
                    <a:ext uri="{9D8B030D-6E8A-4147-A177-3AD203B41FA5}">
                      <a16:colId xmlns:a16="http://schemas.microsoft.com/office/drawing/2014/main" val="803048295"/>
                    </a:ext>
                  </a:extLst>
                </a:gridCol>
                <a:gridCol w="2590800">
                  <a:extLst>
                    <a:ext uri="{9D8B030D-6E8A-4147-A177-3AD203B41FA5}">
                      <a16:colId xmlns:a16="http://schemas.microsoft.com/office/drawing/2014/main" val="1895407870"/>
                    </a:ext>
                  </a:extLst>
                </a:gridCol>
                <a:gridCol w="609600">
                  <a:extLst>
                    <a:ext uri="{9D8B030D-6E8A-4147-A177-3AD203B41FA5}">
                      <a16:colId xmlns:a16="http://schemas.microsoft.com/office/drawing/2014/main" val="3943976445"/>
                    </a:ext>
                  </a:extLst>
                </a:gridCol>
                <a:gridCol w="3124199">
                  <a:extLst>
                    <a:ext uri="{9D8B030D-6E8A-4147-A177-3AD203B41FA5}">
                      <a16:colId xmlns:a16="http://schemas.microsoft.com/office/drawing/2014/main" val="3026404304"/>
                    </a:ext>
                  </a:extLst>
                </a:gridCol>
              </a:tblGrid>
              <a:tr h="115556">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32619750"/>
                  </a:ext>
                </a:extLst>
              </a:tr>
              <a:tr h="1155560">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A863</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FRA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VN36</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FRA-HAN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19:30 15/05/2025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OGTB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FWD EE ACCESS DOOR OPEN DURING TAXI, A/C RETURN TO GATE </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ON GROUND CHECK FWD EE ACCESS DOOR CLOSED AND LOCKED, ADD B1715 RAISE FOR FWD EE ACCESS DOOR INDICATOR INTERMITTENT FAULT ACTION EVENT CLOSED  FWD EE ACCESS DOOR OPEN DURING TAXI, A/C RETURN TO GATE</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(DELAY 125 MINS, TECH 70 MINS)FWD EE ACCESS DOOR OPEN DURING TAXI, A/C RETURN TO GATE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52-00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Tàu hiện đang mở MEL để khai thác. Hỏng hóc có thể đo Sensor của cửa. Cần thực hiện Adjust, clean hoặc phải thay Sensor để khắc phục.</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Thống kê ĐTC với cửa E/E:</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A864 tháng 7/2024 thay sensor cho AFT E/E</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A864 Tháng 9/2016 thay sensor cho FWD E/E.</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A869 Tháng 12/2016 thay sensor cho AFT E/E:</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Sensor này được lắp trên nhiều vị trí để theo dõi đóng mở cửa (pax, cargo; gear; fuel ...), cả Fleet đã từng thay 11 khối. Boe hiện không có issue liên quan đến sensor này.</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01404490"/>
                  </a:ext>
                </a:extLst>
              </a:tr>
              <a:tr h="693336">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A604</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DAD</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VN1955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DAD-DLI</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08:09 15/05/2025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IFTB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A604 ATB DUE TO FLAP SYS 1 FAULT </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REF TSM 27-51-00-810-809A REV 01MAY25. BITE TEST SFCC1. MSG GONE BITE TEST SFCC1. MSG GONE EVENT CLOSED  VN1955 DAD-DLI TOTAL DELAY 03H45 MINSVN1955 CHANGED TO A331</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27-00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Theo tài liệu FCOM thì với cảnh báo này hoàn toàn có thể tiếp tục khai thác tuy nhiên do phi công refer sai tài liệu và không nắm được việc ở DAD không gọi được VHF dẫn tới thời gian bay vòng trên không lâu, không đủ lượng dầu bay tới sân bay tiếp theo nên phải quay lại. Ban KT sẽ làm việc với các đơn vị liên quan để rút kinh nghiệm trường hợp này</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60107233"/>
                  </a:ext>
                </a:extLst>
              </a:tr>
            </a:tbl>
          </a:graphicData>
        </a:graphic>
      </p:graphicFrame>
    </p:spTree>
    <p:custDataLst>
      <p:tags r:id="rId1"/>
    </p:custDataLst>
    <p:extLst>
      <p:ext uri="{BB962C8B-B14F-4D97-AF65-F5344CB8AC3E}">
        <p14:creationId xmlns:p14="http://schemas.microsoft.com/office/powerpoint/2010/main" val="2149847093"/>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DF718-2E85-33ED-9BC1-E28EEEC24A39}"/>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3E212518-3BE7-732B-83FE-4EB9655F9618}"/>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06788736-17ED-DC57-32A8-3BB61960CE7E}"/>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0005D529-15BD-A31F-14B4-F6CCC330EAC8}"/>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01</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2		    DIV: 00</a:t>
            </a:r>
          </a:p>
        </p:txBody>
      </p:sp>
      <p:graphicFrame>
        <p:nvGraphicFramePr>
          <p:cNvPr id="3" name="Table 2">
            <a:extLst>
              <a:ext uri="{FF2B5EF4-FFF2-40B4-BE49-F238E27FC236}">
                <a16:creationId xmlns:a16="http://schemas.microsoft.com/office/drawing/2014/main" id="{E3C2A55C-999E-1ACF-8DC8-38FC9ADF0F17}"/>
              </a:ext>
            </a:extLst>
          </p:cNvPr>
          <p:cNvGraphicFramePr>
            <a:graphicFrameLocks noGrp="1"/>
          </p:cNvGraphicFramePr>
          <p:nvPr>
            <p:extLst/>
          </p:nvPr>
        </p:nvGraphicFramePr>
        <p:xfrm>
          <a:off x="314040" y="1226820"/>
          <a:ext cx="11496959" cy="4583556"/>
        </p:xfrm>
        <a:graphic>
          <a:graphicData uri="http://schemas.openxmlformats.org/drawingml/2006/table">
            <a:tbl>
              <a:tblPr/>
              <a:tblGrid>
                <a:gridCol w="371760">
                  <a:extLst>
                    <a:ext uri="{9D8B030D-6E8A-4147-A177-3AD203B41FA5}">
                      <a16:colId xmlns:a16="http://schemas.microsoft.com/office/drawing/2014/main" val="3177334110"/>
                    </a:ext>
                  </a:extLst>
                </a:gridCol>
                <a:gridCol w="457200">
                  <a:extLst>
                    <a:ext uri="{9D8B030D-6E8A-4147-A177-3AD203B41FA5}">
                      <a16:colId xmlns:a16="http://schemas.microsoft.com/office/drawing/2014/main" val="4176402646"/>
                    </a:ext>
                  </a:extLst>
                </a:gridCol>
                <a:gridCol w="609600">
                  <a:extLst>
                    <a:ext uri="{9D8B030D-6E8A-4147-A177-3AD203B41FA5}">
                      <a16:colId xmlns:a16="http://schemas.microsoft.com/office/drawing/2014/main" val="1997874898"/>
                    </a:ext>
                  </a:extLst>
                </a:gridCol>
                <a:gridCol w="533400">
                  <a:extLst>
                    <a:ext uri="{9D8B030D-6E8A-4147-A177-3AD203B41FA5}">
                      <a16:colId xmlns:a16="http://schemas.microsoft.com/office/drawing/2014/main" val="824987781"/>
                    </a:ext>
                  </a:extLst>
                </a:gridCol>
                <a:gridCol w="609600">
                  <a:extLst>
                    <a:ext uri="{9D8B030D-6E8A-4147-A177-3AD203B41FA5}">
                      <a16:colId xmlns:a16="http://schemas.microsoft.com/office/drawing/2014/main" val="1804810850"/>
                    </a:ext>
                  </a:extLst>
                </a:gridCol>
                <a:gridCol w="685800">
                  <a:extLst>
                    <a:ext uri="{9D8B030D-6E8A-4147-A177-3AD203B41FA5}">
                      <a16:colId xmlns:a16="http://schemas.microsoft.com/office/drawing/2014/main" val="4192528318"/>
                    </a:ext>
                  </a:extLst>
                </a:gridCol>
                <a:gridCol w="1066800">
                  <a:extLst>
                    <a:ext uri="{9D8B030D-6E8A-4147-A177-3AD203B41FA5}">
                      <a16:colId xmlns:a16="http://schemas.microsoft.com/office/drawing/2014/main" val="803048295"/>
                    </a:ext>
                  </a:extLst>
                </a:gridCol>
                <a:gridCol w="3352800">
                  <a:extLst>
                    <a:ext uri="{9D8B030D-6E8A-4147-A177-3AD203B41FA5}">
                      <a16:colId xmlns:a16="http://schemas.microsoft.com/office/drawing/2014/main" val="1895407870"/>
                    </a:ext>
                  </a:extLst>
                </a:gridCol>
                <a:gridCol w="304800">
                  <a:extLst>
                    <a:ext uri="{9D8B030D-6E8A-4147-A177-3AD203B41FA5}">
                      <a16:colId xmlns:a16="http://schemas.microsoft.com/office/drawing/2014/main" val="3943976445"/>
                    </a:ext>
                  </a:extLst>
                </a:gridCol>
                <a:gridCol w="3505199">
                  <a:extLst>
                    <a:ext uri="{9D8B030D-6E8A-4147-A177-3AD203B41FA5}">
                      <a16:colId xmlns:a16="http://schemas.microsoft.com/office/drawing/2014/main" val="3026404304"/>
                    </a:ext>
                  </a:extLst>
                </a:gridCol>
              </a:tblGrid>
              <a:tr h="115556">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32619750"/>
                  </a:ext>
                </a:extLst>
              </a:tr>
              <a:tr h="2195565">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A863</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HAN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VN249</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16:20 13/05/2025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OGTB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A863 {GTB} DUE TO BRAKE CONTROL STS VN249/HAN-SGN (ETD 15:30) Tàu sau khi nổ máy tại vị trí 51 lăn ra đến đường cất hạ cánh thì xuất hiện &amp;#160;MSG “brake control sts”</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Tàu quay lại vị trí 50, Thực hiện T/s theo FIM 32-40-F1 AVA 421 A-A&amp;#61;&amp;gt; TEST SATIS và thực hiện raised MEL 32-45-01-01</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Check satis</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A/C ready to flight MSG “BRAKE CONTROL STS” EVENT CLOSED  15:45 tàu đóng cửa ở vị trí 51, nổ máy và tự lăn ra đường cất hạ cành.</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Tàu lăn ra đến đường cất hạ cánh xuất hiện MSG ‘brake control sts’-&amp;gt;tổ bay xin lăn tàu vào vị trí 50</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16:20 tàu vào bị trí 50, CRS B1 tiến hành T/S &amp;#160;theo fim 32-40-f1 ava 421 A-A &amp;#61;&amp;gt; satis</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Tổ bay yêu cầu nạp them 1T dầu, sau đó tổ bay lại uêu cầu nạp thêm 2,5 tấn dầu nữa do thời tiết ở SGN xấu.</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Nạp fuel xong lại xuất hiện thêm MSG brake # 7 actuator intermitent-&amp;gt; Thực hiện raised MEL 32-45-01-01.</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17:09 tổ bay đồng ý bay tiêó sau khi raised MEL.</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17:14 tàu đóng cửa.</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(VN249 delay 99 phút so với kế hoạch ban đầu, tech delay 30 phút)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32-40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Tàu có FDE Brake/autobrake liên quan đến 8 EBA trên các Brake khác nhau. Sau đó VAE đã thực hiện thay 6 EBA khi thực hiện Opt test và clear MMSG.</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7 EBA #2 PN OFF C20604001 ngày 13may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2 EBA #1 PN OFF C20604000 ngày 14may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3 EBA #1 PN OFF C20604001 ngày 14may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3 EBA #4 PN OFF C20604001 ngày 14may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1 EBA #4 PN OFF C20604001 ngày 16may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Thay Wheel 2 EBA #4 PN OFF C20604100 ngày 16may</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Sau 3 ngày thì các MMSG này không còn xuất hiện. Thông tin hỏng hóc và dữ liệu DFDR đã được gửi tới BOE để đánh giá thêm.</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EBA hiện đang có số lượng tháo lắp nhiều nhất của Fleet.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OEM đã có PN nâng cấp mới nhất là P/N C20604100 ban hành để khai thác Q1 2024 và đang được thực hiện on attrition theo hợp đồng pool. Các cải tiến ở PN mới:</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Nâng cấp các chi tiết làm kín  (sealing)</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Tăng khả năng sửa chữa thiết bị</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Tăng tính thay thế và lắp lẫn giữa các phiên bản</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Cập nhật thêm yêu cầu benches test cho Brake và Motor.</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3208094"/>
                  </a:ext>
                </a:extLst>
              </a:tr>
            </a:tbl>
          </a:graphicData>
        </a:graphic>
      </p:graphicFrame>
    </p:spTree>
    <p:custDataLst>
      <p:tags r:id="rId1"/>
    </p:custDataLst>
    <p:extLst>
      <p:ext uri="{BB962C8B-B14F-4D97-AF65-F5344CB8AC3E}">
        <p14:creationId xmlns:p14="http://schemas.microsoft.com/office/powerpoint/2010/main" val="3490023202"/>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1147128921"/>
              </p:ext>
            </p:extLst>
          </p:nvPr>
        </p:nvGraphicFramePr>
        <p:xfrm>
          <a:off x="375271" y="1079799"/>
          <a:ext cx="11463227" cy="977812"/>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1">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319580">
                <a:tc>
                  <a:txBody>
                    <a:bodyPr/>
                    <a:lstStyle/>
                    <a:p>
                      <a:pPr algn="ctr" fontAlgn="ctr"/>
                      <a:r>
                        <a:rPr lang="en-US" sz="11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636172">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15/05/2025 08:09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DAD</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smtClean="0">
                          <a:solidFill>
                            <a:srgbClr val="000000"/>
                          </a:solidFill>
                          <a:effectLst/>
                          <a:latin typeface="Times New Roman" panose="02020603050405020304" pitchFamily="18" charset="0"/>
                          <a:cs typeface="Times New Roman" panose="02020603050405020304" pitchFamily="18" charset="0"/>
                        </a:rPr>
                        <a:t>200</a:t>
                      </a:r>
                      <a:endParaRPr lang="en-US" sz="1100" b="0" i="0" u="none" strike="noStrike">
                        <a:solidFill>
                          <a:srgbClr val="000000"/>
                        </a:solidFill>
                        <a:effectLst/>
                        <a:latin typeface="Times New Roman" panose="02020603050405020304" pitchFamily="18" charset="0"/>
                        <a:cs typeface="Times New Roman" panose="02020603050405020304" pitchFamily="18"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VN1955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DAD-DLI</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A604 ATB DUE TO FLAP SYS 1 FAULT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REF TSM 27-51-00-810-809A REV 01MAY25. BITE TEST SFCC1. MSG GONE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223004" y="2308435"/>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7" name="Table 6"/>
          <p:cNvGraphicFramePr>
            <a:graphicFrameLocks noGrp="1"/>
          </p:cNvGraphicFramePr>
          <p:nvPr>
            <p:extLst>
              <p:ext uri="{D42A27DB-BD31-4B8C-83A1-F6EECF244321}">
                <p14:modId xmlns:p14="http://schemas.microsoft.com/office/powerpoint/2010/main" val="2890772844"/>
              </p:ext>
            </p:extLst>
          </p:nvPr>
        </p:nvGraphicFramePr>
        <p:xfrm>
          <a:off x="302664" y="2819400"/>
          <a:ext cx="11430000" cy="3959763"/>
        </p:xfrm>
        <a:graphic>
          <a:graphicData uri="http://schemas.openxmlformats.org/drawingml/2006/table">
            <a:tbl>
              <a:tblPr/>
              <a:tblGrid>
                <a:gridCol w="270853">
                  <a:extLst>
                    <a:ext uri="{9D8B030D-6E8A-4147-A177-3AD203B41FA5}">
                      <a16:colId xmlns:a16="http://schemas.microsoft.com/office/drawing/2014/main" val="20000"/>
                    </a:ext>
                  </a:extLst>
                </a:gridCol>
                <a:gridCol w="514621">
                  <a:extLst>
                    <a:ext uri="{9D8B030D-6E8A-4147-A177-3AD203B41FA5}">
                      <a16:colId xmlns:a16="http://schemas.microsoft.com/office/drawing/2014/main" val="20001"/>
                    </a:ext>
                  </a:extLst>
                </a:gridCol>
                <a:gridCol w="487536">
                  <a:extLst>
                    <a:ext uri="{9D8B030D-6E8A-4147-A177-3AD203B41FA5}">
                      <a16:colId xmlns:a16="http://schemas.microsoft.com/office/drawing/2014/main" val="20002"/>
                    </a:ext>
                  </a:extLst>
                </a:gridCol>
                <a:gridCol w="1164668">
                  <a:extLst>
                    <a:ext uri="{9D8B030D-6E8A-4147-A177-3AD203B41FA5}">
                      <a16:colId xmlns:a16="http://schemas.microsoft.com/office/drawing/2014/main" val="20003"/>
                    </a:ext>
                  </a:extLst>
                </a:gridCol>
                <a:gridCol w="487536">
                  <a:extLst>
                    <a:ext uri="{9D8B030D-6E8A-4147-A177-3AD203B41FA5}">
                      <a16:colId xmlns:a16="http://schemas.microsoft.com/office/drawing/2014/main" val="20004"/>
                    </a:ext>
                  </a:extLst>
                </a:gridCol>
                <a:gridCol w="799016">
                  <a:extLst>
                    <a:ext uri="{9D8B030D-6E8A-4147-A177-3AD203B41FA5}">
                      <a16:colId xmlns:a16="http://schemas.microsoft.com/office/drawing/2014/main" val="20005"/>
                    </a:ext>
                  </a:extLst>
                </a:gridCol>
                <a:gridCol w="880273">
                  <a:extLst>
                    <a:ext uri="{9D8B030D-6E8A-4147-A177-3AD203B41FA5}">
                      <a16:colId xmlns:a16="http://schemas.microsoft.com/office/drawing/2014/main" val="20006"/>
                    </a:ext>
                  </a:extLst>
                </a:gridCol>
                <a:gridCol w="884033">
                  <a:extLst>
                    <a:ext uri="{9D8B030D-6E8A-4147-A177-3AD203B41FA5}">
                      <a16:colId xmlns:a16="http://schemas.microsoft.com/office/drawing/2014/main" val="20007"/>
                    </a:ext>
                  </a:extLst>
                </a:gridCol>
                <a:gridCol w="2772483">
                  <a:extLst>
                    <a:ext uri="{9D8B030D-6E8A-4147-A177-3AD203B41FA5}">
                      <a16:colId xmlns:a16="http://schemas.microsoft.com/office/drawing/2014/main" val="20008"/>
                    </a:ext>
                  </a:extLst>
                </a:gridCol>
                <a:gridCol w="3168981">
                  <a:extLst>
                    <a:ext uri="{9D8B030D-6E8A-4147-A177-3AD203B41FA5}">
                      <a16:colId xmlns:a16="http://schemas.microsoft.com/office/drawing/2014/main" val="20009"/>
                    </a:ext>
                  </a:extLst>
                </a:gridCol>
              </a:tblGrid>
              <a:tr h="330444">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NO</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A/C</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STA</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7476" marR="7476" marT="7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404184">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14/05/2025 15:00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VN1829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SGN-PQC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MW#4 INNER SHOULDER WORN TO  CORD EXPOSED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MW#4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5655">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13/05/2025 15:55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VN607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SGN-BKK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T/X CHECK FOUND MW #2 OUTER SHOULDER WORN TO CORD EXPOSED, REMAINING SHOULDER ~1MM, CENTER ~1.5MM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 #2.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8350117"/>
                  </a:ext>
                </a:extLst>
              </a:tr>
              <a:tr h="655655">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12/05/2025 23:10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SGN-NRT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TERM CHECK FOUND MW#8 TREAD WORN TO CORD EXPOSED, REMAINING CENTER GROOVE DEPTH IS 0 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MW#8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94653366"/>
                  </a:ext>
                </a:extLst>
              </a:tr>
              <a:tr h="655655">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12/05/2025 18:50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VN7145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DAD-SGN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TRANSIT CHECK FOUND MW#2 INNER SHOULDER CORD EXPOSED, REMAINING SHOULDER GROOVE DEPTH IS 0,5MM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 REPLACED NEW MW AND CHECKED SATIS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1616617"/>
                  </a:ext>
                </a:extLst>
              </a:tr>
              <a:tr h="655655">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12/05/2025 14:22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VN431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ICN-DAD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AFTER VN430 FOUND MW#4 INNER SHOULDER CORD EXPOSED, REMAINING SHOULDER GROOVE DEPTH IS 0,5MM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NEW ONE I.A.W AMM 32-41-11-000-006A/ 32-41-11-400-006-A (REV 01MAY25).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5857779"/>
                  </a:ext>
                </a:extLst>
              </a:tr>
              <a:tr h="565773">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A334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12/05/2025 01:47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HAN-NGO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FOUND RH NOSE WHEEL + MAIN WHEEL #3 WORN TO LIMIT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C/O REPLACED RH NOSE WHEEL AND MAIN WHEEL #3 -&gt; SATIS.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9439955"/>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3</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nvPr>
        </p:nvGraphicFramePr>
        <p:xfrm>
          <a:off x="134289" y="1676401"/>
          <a:ext cx="11688715" cy="4584276"/>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523627">
                  <a:extLst>
                    <a:ext uri="{9D8B030D-6E8A-4147-A177-3AD203B41FA5}">
                      <a16:colId xmlns:a16="http://schemas.microsoft.com/office/drawing/2014/main" val="3375762913"/>
                    </a:ext>
                  </a:extLst>
                </a:gridCol>
                <a:gridCol w="15240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457200">
                  <a:extLst>
                    <a:ext uri="{9D8B030D-6E8A-4147-A177-3AD203B41FA5}">
                      <a16:colId xmlns:a16="http://schemas.microsoft.com/office/drawing/2014/main" val="3935706781"/>
                    </a:ext>
                  </a:extLst>
                </a:gridCol>
                <a:gridCol w="4203004">
                  <a:extLst>
                    <a:ext uri="{9D8B030D-6E8A-4147-A177-3AD203B41FA5}">
                      <a16:colId xmlns:a16="http://schemas.microsoft.com/office/drawing/2014/main" val="63803871"/>
                    </a:ext>
                  </a:extLst>
                </a:gridCol>
              </a:tblGrid>
              <a:tr h="122382">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2937164">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A613</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20:30 16/05/2025</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02:00 17/05/2025</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VCA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A613 L/G LGCIU 1+2 FAULT. L/G GRAVITY PROCEDURE APPLIED </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- 02:00 FINAL ACTION: C/O REPLACED LGCIU 1&amp;#43;2 AND LANDING GEAR LEVER 6GA. C/O&amp;#160;OPS TEST SATIS. ADD B1817 &amp;#34;LGCIU #2 INOP&amp;#34; CLEARED. A/C SERVICEABLE. TIMELINE (LOCAL TIME) EVENT CLOSED  TOTAL DELAY 295 MINS. TECH DELAY 120 MINS.</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32-30</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Hiện Tượng:</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Ngày 16/05, Msg về LGCIU2 Fault đã xuất hiện trên VN7196 DAD-HAN và đã được mở ADD (Không có Msg liên quan 6GA)..</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Chuyến bay tiếp theo VN1207 HAN-VCA, khi tiếp cận hạ cánh xuất hiện Msg LGCIU 1&amp;2 Fault, tổ bay không thả được càng bằng Control Laver 6GA, phải thả càng </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Đánh giá hỏng hóc:</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AIrbus đã ban hành TFU 32.31.00.029 cập nhật 30/04/2025 nhận diện các trường hợp báo Fault cả 2 LGCIU 1&amp;2 dẫn đến hệ thống thu thả càng không được điều khiển bằng máy tính, phải thực hiện thả bằng trọng lượng. Nguyên nhân được Airbus cho rằng có sự không đồng nhất giữa các tiếp điểm bên trong cần LGCL kéo dài hơn một giây. Điều này có thể xảy ra khi thao tác với cần LGCL bị gián đoạn hoặc thực hiện chậm. TFU cũng chỉ ra kiểm tra 1 số 6GA tháo xuống không có lỗi phần cứng, có thể làm cho lỗi xuất hiện lại trong shop khi thao tác trên 6GA không dứt khoát hoặc bị dừng giữa chừng, làm các tín hiệu UP và DOWN từ các công tắc bên trong không đồng nhất. Với 6GA tháo từ A613, BKT sẽ gửi thông tin event cho B.QLVT để yêu cầu shop kiểm tra, xác định nguyên nhân.</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 Airbus và Safran đang nghiên cứu nâng cấp switch bên trong 6GA để tránh báo lỗi liên quan BSCU và LGCIU fault, dự kiến hoàn thành cuối năm 2025 và đưa vào sử dụng dưới dạng SB trong năm 2026.</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298701"/>
                  </a:ext>
                </a:extLst>
              </a:tr>
            </a:tbl>
          </a:graphicData>
        </a:graphic>
      </p:graphicFrame>
    </p:spTree>
    <p:extLst>
      <p:ext uri="{BB962C8B-B14F-4D97-AF65-F5344CB8AC3E}">
        <p14:creationId xmlns:p14="http://schemas.microsoft.com/office/powerpoint/2010/main" val="251028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1AF06B3-DD40-E6BD-B46E-8945C41EEC4F}"/>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37E5254-6808-8BF9-3B16-413610AB9EB6}"/>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1DE75D7-2468-0BF4-05B8-2D313AF6A320}"/>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1E2343AE-2561-99FC-71C1-2DFCAA83C7AB}"/>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ATB: </a:t>
            </a:r>
            <a:r>
              <a:rPr lang="vi-VN" sz="1600" b="1" dirty="0">
                <a:solidFill>
                  <a:srgbClr val="FF0000"/>
                </a:solidFill>
                <a:ea typeface="MS PGothic" panose="020B0600070205080204" pitchFamily="34" charset="-128"/>
                <a:cs typeface="Times New Roman" panose="02020603050405020304" pitchFamily="18" charset="0"/>
              </a:rPr>
              <a:t>0</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67E9EDE9-3BAA-2469-B645-D3AF8A612F64}"/>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3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09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p>
        </p:txBody>
      </p:sp>
      <p:graphicFrame>
        <p:nvGraphicFramePr>
          <p:cNvPr id="3" name="Table 2">
            <a:extLst>
              <a:ext uri="{FF2B5EF4-FFF2-40B4-BE49-F238E27FC236}">
                <a16:creationId xmlns:a16="http://schemas.microsoft.com/office/drawing/2014/main" id="{5D9883F1-9149-4C6D-CFDE-EFE38729DC25}"/>
              </a:ext>
            </a:extLst>
          </p:cNvPr>
          <p:cNvGraphicFramePr>
            <a:graphicFrameLocks noGrp="1"/>
          </p:cNvGraphicFramePr>
          <p:nvPr>
            <p:extLst/>
          </p:nvPr>
        </p:nvGraphicFramePr>
        <p:xfrm>
          <a:off x="172389" y="1875818"/>
          <a:ext cx="11650617" cy="2571876"/>
        </p:xfrm>
        <a:graphic>
          <a:graphicData uri="http://schemas.openxmlformats.org/drawingml/2006/table">
            <a:tbl>
              <a:tblPr/>
              <a:tblGrid>
                <a:gridCol w="513411">
                  <a:extLst>
                    <a:ext uri="{9D8B030D-6E8A-4147-A177-3AD203B41FA5}">
                      <a16:colId xmlns:a16="http://schemas.microsoft.com/office/drawing/2014/main" val="2251100886"/>
                    </a:ext>
                  </a:extLst>
                </a:gridCol>
                <a:gridCol w="457200">
                  <a:extLst>
                    <a:ext uri="{9D8B030D-6E8A-4147-A177-3AD203B41FA5}">
                      <a16:colId xmlns:a16="http://schemas.microsoft.com/office/drawing/2014/main" val="1883857885"/>
                    </a:ext>
                  </a:extLst>
                </a:gridCol>
                <a:gridCol w="762000">
                  <a:extLst>
                    <a:ext uri="{9D8B030D-6E8A-4147-A177-3AD203B41FA5}">
                      <a16:colId xmlns:a16="http://schemas.microsoft.com/office/drawing/2014/main" val="1848190858"/>
                    </a:ext>
                  </a:extLst>
                </a:gridCol>
                <a:gridCol w="762000">
                  <a:extLst>
                    <a:ext uri="{9D8B030D-6E8A-4147-A177-3AD203B41FA5}">
                      <a16:colId xmlns:a16="http://schemas.microsoft.com/office/drawing/2014/main" val="282346041"/>
                    </a:ext>
                  </a:extLst>
                </a:gridCol>
                <a:gridCol w="838200">
                  <a:extLst>
                    <a:ext uri="{9D8B030D-6E8A-4147-A177-3AD203B41FA5}">
                      <a16:colId xmlns:a16="http://schemas.microsoft.com/office/drawing/2014/main" val="346166724"/>
                    </a:ext>
                  </a:extLst>
                </a:gridCol>
                <a:gridCol w="685800">
                  <a:extLst>
                    <a:ext uri="{9D8B030D-6E8A-4147-A177-3AD203B41FA5}">
                      <a16:colId xmlns:a16="http://schemas.microsoft.com/office/drawing/2014/main" val="2863993377"/>
                    </a:ext>
                  </a:extLst>
                </a:gridCol>
                <a:gridCol w="1681893">
                  <a:extLst>
                    <a:ext uri="{9D8B030D-6E8A-4147-A177-3AD203B41FA5}">
                      <a16:colId xmlns:a16="http://schemas.microsoft.com/office/drawing/2014/main" val="3521644882"/>
                    </a:ext>
                  </a:extLst>
                </a:gridCol>
                <a:gridCol w="2722246">
                  <a:extLst>
                    <a:ext uri="{9D8B030D-6E8A-4147-A177-3AD203B41FA5}">
                      <a16:colId xmlns:a16="http://schemas.microsoft.com/office/drawing/2014/main" val="4192758081"/>
                    </a:ext>
                  </a:extLst>
                </a:gridCol>
                <a:gridCol w="505621">
                  <a:extLst>
                    <a:ext uri="{9D8B030D-6E8A-4147-A177-3AD203B41FA5}">
                      <a16:colId xmlns:a16="http://schemas.microsoft.com/office/drawing/2014/main" val="2937308369"/>
                    </a:ext>
                  </a:extLst>
                </a:gridCol>
                <a:gridCol w="2722246">
                  <a:extLst>
                    <a:ext uri="{9D8B030D-6E8A-4147-A177-3AD203B41FA5}">
                      <a16:colId xmlns:a16="http://schemas.microsoft.com/office/drawing/2014/main" val="109296435"/>
                    </a:ext>
                  </a:extLst>
                </a:gridCol>
              </a:tblGrid>
              <a:tr h="330740">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254644570"/>
                  </a:ext>
                </a:extLst>
              </a:tr>
              <a:tr h="1984442">
                <a:tc>
                  <a:txBody>
                    <a:bodyPr/>
                    <a:lstStyle/>
                    <a:p>
                      <a:pPr algn="ctr"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A604</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DAD</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VN1955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DAD-DLI</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08:09 15/05/2025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IFTB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Times New Roman" panose="02020603050405020304" pitchFamily="18" charset="0"/>
                          <a:cs typeface="Times New Roman" panose="02020603050405020304" pitchFamily="18" charset="0"/>
                        </a:rPr>
                        <a:t>A604 ATB DUE TO FLAP SYS 1 FAULT </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REF TSM 27-51-00-810-809A REV 01MAY25. BITE TEST SFCC1. MSG GONE BITE TEST SFCC1. MSG GONE EVENT CLOSED  VN1955 DAD-DLI TOTAL DELAY 03H45 MINSVN1955 CHANGED TO A331</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400" b="0" i="0" u="none" strike="noStrike">
                          <a:solidFill>
                            <a:srgbClr val="000000"/>
                          </a:solidFill>
                          <a:effectLst/>
                          <a:latin typeface="Times New Roman" panose="02020603050405020304" pitchFamily="18" charset="0"/>
                          <a:cs typeface="Times New Roman" panose="02020603050405020304" pitchFamily="18" charset="0"/>
                        </a:rPr>
                        <a:t>27-00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400" b="0" i="0" u="none" strike="noStrike" dirty="0">
                          <a:solidFill>
                            <a:srgbClr val="000000"/>
                          </a:solidFill>
                          <a:effectLst/>
                          <a:latin typeface="Times New Roman" panose="02020603050405020304" pitchFamily="18" charset="0"/>
                          <a:cs typeface="Times New Roman" panose="02020603050405020304" pitchFamily="18" charset="0"/>
                        </a:rPr>
                        <a:t>Theo tài liệu FCOM thì với cảnh báo này hoàn toàn có thể tiếp tục khai thác tuy nhiên do phi công refer sai tài liệu và không nắm được việc ở DAD không gọi được VHF dẫn tới thời gian bay vòng trên không lâu, không đủ lượng dầu bay tới sân bay tiếp theo nên phải quay lại. Ban KT sẽ làm việc với các đơn vị liên quan để rút kinh nghiệm trường hợp này</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5604157"/>
                  </a:ext>
                </a:extLst>
              </a:tr>
            </a:tbl>
          </a:graphicData>
        </a:graphic>
      </p:graphicFrame>
    </p:spTree>
    <p:extLst>
      <p:ext uri="{BB962C8B-B14F-4D97-AF65-F5344CB8AC3E}">
        <p14:creationId xmlns:p14="http://schemas.microsoft.com/office/powerpoint/2010/main" val="1422899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914400" y="625206"/>
            <a:ext cx="10134600"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t>
            </a:r>
            <a:r>
              <a:rPr lang="en-US" sz="2933" b="1" smtClean="0">
                <a:ln w="0"/>
                <a:solidFill>
                  <a:schemeClr val="accent4"/>
                </a:solidFill>
                <a:latin typeface="Times New Roman" panose="02020603050405020304" pitchFamily="18" charset="0"/>
                <a:cs typeface="Times New Roman" panose="02020603050405020304" pitchFamily="18" charset="0"/>
                <a:sym typeface="Montserrat SemiBold"/>
              </a:rPr>
              <a:t>A320/A321</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990601" y="1295400"/>
            <a:ext cx="10515600" cy="2554545"/>
          </a:xfrm>
          <a:prstGeom prst="rect">
            <a:avLst/>
          </a:prstGeom>
        </p:spPr>
        <p:txBody>
          <a:bodyPr wrap="square">
            <a:spAutoFit/>
          </a:bodyPr>
          <a:lstStyle/>
          <a:p>
            <a:pPr marL="342900" indent="-342900" algn="just">
              <a:buClrTx/>
              <a:buFont typeface="+mj-lt"/>
              <a:buAutoNum type="arabicPeriod"/>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smtClean="0">
                <a:solidFill>
                  <a:prstClr val="black"/>
                </a:solidFill>
                <a:latin typeface="Times New Roman" panose="02020603050405020304" pitchFamily="18" charset="0"/>
                <a:cs typeface="Times New Roman" panose="02020603050405020304" pitchFamily="18" charset="0"/>
              </a:rPr>
              <a:t>:</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Trong tuần đội bay phát sinh 03 trường hợp AOG (1 trường hợp phải hạ cánh thả càng trọng lực) và 1 trường hợp ATB. Trong đó trường hợp A604 ATB được đánh giá là do công tác phối hợp giữa NVKT và phi công cũng như các quyết định của phi công là chưa hợp lý và sẽ tổ chức họp với các đơn vị để rút kinh nghiệm. Các trường hợp AOG khác:</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A512 report 15 trigger hard landing, sau khi phân tích QAR xác nhận là báo giả</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A606 bị tràn dầu khi đang nạp dầu, kiểm tra và thay nút bấm nạp dầu (phat hiên bị hỏng) </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A613 L/G LGCIU 1+2 FAULT (tàu có defect về LGCIU 2) phải thả càng trọng lực khi hạ cánh tại  VCA và phải điều PTVT từ SGN đến để thay</a:t>
            </a:r>
          </a:p>
          <a:p>
            <a:pPr marL="342900" indent="-342900">
              <a:buFont typeface="+mj-lt"/>
              <a:buAutoNum type="arabicPeriod"/>
            </a:pPr>
            <a:r>
              <a:rPr lang="en-US" sz="1600">
                <a:latin typeface="Times New Roman" panose="02020603050405020304" pitchFamily="18" charset="0"/>
                <a:cs typeface="Times New Roman" panose="02020603050405020304" pitchFamily="18" charset="0"/>
              </a:rPr>
              <a:t>A604 ATB DUE TO FLAP SYS 1 FAULT, tàu sau đó đã thay khối APPU (hỏng hóc ít gặp). Tuy nhiên do vụ việc quay lại liên đến nhiều đơn vị nên sẽ tổ chức họp để đánh giá rút </a:t>
            </a:r>
            <a:r>
              <a:rPr lang="en-US" sz="1600">
                <a:latin typeface="Times New Roman" panose="02020603050405020304" pitchFamily="18" charset="0"/>
                <a:cs typeface="Times New Roman" panose="02020603050405020304" pitchFamily="18" charset="0"/>
              </a:rPr>
              <a:t>kinh </a:t>
            </a:r>
            <a:r>
              <a:rPr lang="en-US" sz="1600" smtClean="0">
                <a:latin typeface="Times New Roman" panose="02020603050405020304" pitchFamily="18" charset="0"/>
                <a:cs typeface="Times New Roman" panose="02020603050405020304" pitchFamily="18" charset="0"/>
              </a:rPr>
              <a:t>nghiệm.</a:t>
            </a:r>
            <a:r>
              <a:rPr lang="en-US" sz="1600" b="1" smtClean="0">
                <a:solidFill>
                  <a:prstClr val="black"/>
                </a:solidFill>
                <a:latin typeface="Times New Roman" panose="02020603050405020304" pitchFamily="18" charset="0"/>
                <a:cs typeface="Times New Roman" panose="02020603050405020304" pitchFamily="18" charset="0"/>
              </a:rPr>
              <a:t> </a:t>
            </a:r>
            <a:endParaRPr lang="en-US" sz="1600" b="1">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3673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624625" y="358185"/>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5FE3B712-9690-42A3-A50E-24E99475755A}"/>
              </a:ext>
            </a:extLst>
          </p:cNvPr>
          <p:cNvSpPr txBox="1"/>
          <p:nvPr/>
        </p:nvSpPr>
        <p:spPr>
          <a:xfrm>
            <a:off x="761999" y="1295400"/>
            <a:ext cx="10591801"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Rectangle 5">
            <a:extLst>
              <a:ext uri="{FF2B5EF4-FFF2-40B4-BE49-F238E27FC236}">
                <a16:creationId xmlns:a16="http://schemas.microsoft.com/office/drawing/2014/main" id="{5914447B-A879-4C97-AD62-7AFABAF9410A}"/>
              </a:ext>
            </a:extLst>
          </p:cNvPr>
          <p:cNvSpPr/>
          <p:nvPr/>
        </p:nvSpPr>
        <p:spPr>
          <a:xfrm>
            <a:off x="761999" y="1906490"/>
            <a:ext cx="10786650" cy="954107"/>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A3</a:t>
            </a:r>
            <a:r>
              <a:rPr lang="en-US" sz="1400">
                <a:solidFill>
                  <a:prstClr val="black"/>
                </a:solidFill>
                <a:latin typeface="Times New Roman" panose="02020603050405020304" pitchFamily="18" charset="0"/>
                <a:cs typeface="Times New Roman" panose="02020603050405020304" pitchFamily="18" charset="0"/>
              </a:rPr>
              <a:t>50 trong tuần tốt.</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400">
                <a:latin typeface="Times New Roman" panose="02020603050405020304" pitchFamily="18" charset="0"/>
                <a:cs typeface="Times New Roman" panose="02020603050405020304" pitchFamily="18" charset="0"/>
              </a:rPr>
              <a:t>+ </a:t>
            </a:r>
            <a:r>
              <a:rPr lang="en-US" sz="1400">
                <a:latin typeface="Times New Roman" panose="02020603050405020304" pitchFamily="18" charset="0"/>
                <a:cs typeface="Times New Roman" panose="02020603050405020304" pitchFamily="18" charset="0"/>
              </a:rPr>
              <a:t>NIL</a:t>
            </a:r>
            <a:endParaRPr lang="en-US"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613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381000" y="152400"/>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5" name="Table 4">
            <a:extLst>
              <a:ext uri="{FF2B5EF4-FFF2-40B4-BE49-F238E27FC236}">
                <a16:creationId xmlns:a16="http://schemas.microsoft.com/office/drawing/2014/main" id="{9F970473-9CC9-C899-3064-70FE5FEE0565}"/>
              </a:ext>
            </a:extLst>
          </p:cNvPr>
          <p:cNvGraphicFramePr>
            <a:graphicFrameLocks noGrp="1"/>
          </p:cNvGraphicFramePr>
          <p:nvPr>
            <p:extLst>
              <p:ext uri="{D42A27DB-BD31-4B8C-83A1-F6EECF244321}">
                <p14:modId xmlns:p14="http://schemas.microsoft.com/office/powerpoint/2010/main" val="2927640673"/>
              </p:ext>
            </p:extLst>
          </p:nvPr>
        </p:nvGraphicFramePr>
        <p:xfrm>
          <a:off x="533400" y="762002"/>
          <a:ext cx="11125198" cy="5980420"/>
        </p:xfrm>
        <a:graphic>
          <a:graphicData uri="http://schemas.openxmlformats.org/drawingml/2006/table">
            <a:tbl>
              <a:tblPr/>
              <a:tblGrid>
                <a:gridCol w="361467">
                  <a:extLst>
                    <a:ext uri="{9D8B030D-6E8A-4147-A177-3AD203B41FA5}">
                      <a16:colId xmlns:a16="http://schemas.microsoft.com/office/drawing/2014/main" val="4060593778"/>
                    </a:ext>
                  </a:extLst>
                </a:gridCol>
                <a:gridCol w="560118">
                  <a:extLst>
                    <a:ext uri="{9D8B030D-6E8A-4147-A177-3AD203B41FA5}">
                      <a16:colId xmlns:a16="http://schemas.microsoft.com/office/drawing/2014/main" val="1894051505"/>
                    </a:ext>
                  </a:extLst>
                </a:gridCol>
                <a:gridCol w="541447">
                  <a:extLst>
                    <a:ext uri="{9D8B030D-6E8A-4147-A177-3AD203B41FA5}">
                      <a16:colId xmlns:a16="http://schemas.microsoft.com/office/drawing/2014/main" val="3393909175"/>
                    </a:ext>
                  </a:extLst>
                </a:gridCol>
                <a:gridCol w="1185582">
                  <a:extLst>
                    <a:ext uri="{9D8B030D-6E8A-4147-A177-3AD203B41FA5}">
                      <a16:colId xmlns:a16="http://schemas.microsoft.com/office/drawing/2014/main" val="3616495714"/>
                    </a:ext>
                  </a:extLst>
                </a:gridCol>
                <a:gridCol w="1213588">
                  <a:extLst>
                    <a:ext uri="{9D8B030D-6E8A-4147-A177-3AD203B41FA5}">
                      <a16:colId xmlns:a16="http://schemas.microsoft.com/office/drawing/2014/main" val="1645045106"/>
                    </a:ext>
                  </a:extLst>
                </a:gridCol>
                <a:gridCol w="1493648">
                  <a:extLst>
                    <a:ext uri="{9D8B030D-6E8A-4147-A177-3AD203B41FA5}">
                      <a16:colId xmlns:a16="http://schemas.microsoft.com/office/drawing/2014/main" val="1729513623"/>
                    </a:ext>
                  </a:extLst>
                </a:gridCol>
                <a:gridCol w="5769348">
                  <a:extLst>
                    <a:ext uri="{9D8B030D-6E8A-4147-A177-3AD203B41FA5}">
                      <a16:colId xmlns:a16="http://schemas.microsoft.com/office/drawing/2014/main" val="4047166833"/>
                    </a:ext>
                  </a:extLst>
                </a:gridCol>
              </a:tblGrid>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071995"/>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A886</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endParaRPr lang="en-US"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1992475"/>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A887</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endParaRPr lang="en-SG"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1849603"/>
                  </a:ext>
                </a:extLst>
              </a:tr>
              <a:tr h="101381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A888</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2 21682  giảm tần suất soi heatshield 2400FH/400FC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FM: ENG1 LOW OIL LEVEL. FC: 7321F7FB/7321F3WV intm appeare during take off phasse -&gt; Ref Afi A350-A-79-31-XX-09001-421A-A Low Oil Quantity Alert: no maint action require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C1236 RAISED CHILLER SYS INOP DURING CRUISE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4. ADD B1408 RAISED FUEL INERTING SYSTEM INOP</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3511315"/>
                  </a:ext>
                </a:extLst>
              </a:tr>
              <a:tr h="81159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A889</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1 21088 giảm tần suất soi HPT blade 800FH/100FC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FM: ENG2 LOW OIL LEVEL. FC: 7321FAZT/7321FEJ9 intm appeare during take off phasse -&gt; Ref Afi A350-A-79-31-XX-09001-421A-A Low Oil Quantity Alert: no maint action require</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B1262 RAISED ENG 2 Y PUMP FAULT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6935974"/>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TR 81489576: PREVENTIVE RECOMMENDATION PACK 2 INTERNAL LEAKAGE</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8585"/>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6</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A891</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TR 81570626 PREVENTIVE RECOMMENDATION PACK 2 INTERNAL LEAKAGE</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054142"/>
                  </a:ext>
                </a:extLst>
              </a:tr>
              <a:tr h="609364">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A892</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ENGINE: #2/21368 ON AIRCRAFT VN-A892: P25 MEASUREMENT ERROR</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C1203 RAISED GALLEY CHILLER SYS INOP </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ADD B1566 RAISED AIR PACK 2 REGUL REDUNANCY</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9840485"/>
                  </a:ext>
                </a:extLst>
              </a:tr>
              <a:tr h="28050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8</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A893</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Đang định kỳ</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1. Không chọn chuyên cơ do động cơ số 2 S/N 21369 tiêu hao dầu nhờn cao</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768946"/>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9</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A894</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420487"/>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A895</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BQDB</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endParaRPr lang="en-SG" sz="1000" b="0" i="0" u="none" strike="noStrike">
                        <a:solidFill>
                          <a:srgbClr val="000000"/>
                        </a:solidFill>
                        <a:effectLst/>
                        <a:latin typeface="Times New Roman" panose="02020603050405020304" pitchFamily="18" charset="0"/>
                        <a:cs typeface="Times New Roman" panose="02020603050405020304" pitchFamily="18" charset="0"/>
                      </a:endParaRP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1201847"/>
                  </a:ext>
                </a:extLst>
              </a:tr>
              <a:tr h="4071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A896</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1. TR 81416394: PREVENTIVE RECOMMENDATION PACK 1 INTERNAL LEAKAGE</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2. ADD B1049 RAISED ENG 2 SINGLE FIRELOOP</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3211022"/>
                  </a:ext>
                </a:extLst>
              </a:tr>
              <a:tr h="81159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A897</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2 21214 giảm tần suất soi heatshield 2400FH/400FC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A897 có logo Skyteam</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3. FM: PROBE 3-N1 TURBINE SPEED,ENG2(4088KS32)</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4. AFT CARGO DOOR ACTUATOR LEAKAGES</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0160650"/>
                  </a:ext>
                </a:extLst>
              </a:tr>
              <a:tr h="40713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A898</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 Eng 2 21268 giảm tần suất soi HPT blade 800FH/100FC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2. ADD C552 RAISED AIR CHILLER SYS AT ALL GALLEY INOP</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7205176"/>
                  </a:ext>
                </a:extLst>
              </a:tr>
              <a:tr h="204909">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A350</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A899</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Đang định kỳ</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2021" marR="2021" marT="202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531287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456236E-09BF-F2CA-AF2F-D64B9561FD6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202631E2-F4FD-9A7C-BB12-3E1BA17F11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675E10E-B03D-FFAF-67D6-C4C30F0DA33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AF933FCC-B4E7-00AB-DE51-AB0E83B719F9}"/>
              </a:ext>
            </a:extLst>
          </p:cNvPr>
          <p:cNvSpPr txBox="1"/>
          <p:nvPr/>
        </p:nvSpPr>
        <p:spPr>
          <a:xfrm>
            <a:off x="134290" y="1026126"/>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E2AA4031-390E-26A7-D6A9-420BC217113B}"/>
              </a:ext>
            </a:extLst>
          </p:cNvPr>
          <p:cNvSpPr txBox="1"/>
          <p:nvPr/>
        </p:nvSpPr>
        <p:spPr>
          <a:xfrm>
            <a:off x="134290" y="685800"/>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2</a:t>
            </a:r>
          </a:p>
        </p:txBody>
      </p:sp>
      <p:graphicFrame>
        <p:nvGraphicFramePr>
          <p:cNvPr id="5" name="Table 4">
            <a:extLst>
              <a:ext uri="{FF2B5EF4-FFF2-40B4-BE49-F238E27FC236}">
                <a16:creationId xmlns:a16="http://schemas.microsoft.com/office/drawing/2014/main" id="{658B2D07-F42F-8877-28F6-8BF1D5E3ED14}"/>
              </a:ext>
            </a:extLst>
          </p:cNvPr>
          <p:cNvGraphicFramePr>
            <a:graphicFrameLocks noGrp="1"/>
          </p:cNvGraphicFramePr>
          <p:nvPr>
            <p:extLst/>
          </p:nvPr>
        </p:nvGraphicFramePr>
        <p:xfrm>
          <a:off x="134289" y="1587747"/>
          <a:ext cx="11688715" cy="3486996"/>
        </p:xfrm>
        <a:graphic>
          <a:graphicData uri="http://schemas.openxmlformats.org/drawingml/2006/table">
            <a:tbl>
              <a:tblPr/>
              <a:tblGrid>
                <a:gridCol w="627711">
                  <a:extLst>
                    <a:ext uri="{9D8B030D-6E8A-4147-A177-3AD203B41FA5}">
                      <a16:colId xmlns:a16="http://schemas.microsoft.com/office/drawing/2014/main" val="1008892762"/>
                    </a:ext>
                  </a:extLst>
                </a:gridCol>
                <a:gridCol w="1219200">
                  <a:extLst>
                    <a:ext uri="{9D8B030D-6E8A-4147-A177-3AD203B41FA5}">
                      <a16:colId xmlns:a16="http://schemas.microsoft.com/office/drawing/2014/main" val="784622091"/>
                    </a:ext>
                  </a:extLst>
                </a:gridCol>
                <a:gridCol w="1219200">
                  <a:extLst>
                    <a:ext uri="{9D8B030D-6E8A-4147-A177-3AD203B41FA5}">
                      <a16:colId xmlns:a16="http://schemas.microsoft.com/office/drawing/2014/main" val="846126855"/>
                    </a:ext>
                  </a:extLst>
                </a:gridCol>
                <a:gridCol w="533400">
                  <a:extLst>
                    <a:ext uri="{9D8B030D-6E8A-4147-A177-3AD203B41FA5}">
                      <a16:colId xmlns:a16="http://schemas.microsoft.com/office/drawing/2014/main" val="193428311"/>
                    </a:ext>
                  </a:extLst>
                </a:gridCol>
                <a:gridCol w="2590800">
                  <a:extLst>
                    <a:ext uri="{9D8B030D-6E8A-4147-A177-3AD203B41FA5}">
                      <a16:colId xmlns:a16="http://schemas.microsoft.com/office/drawing/2014/main" val="1010060754"/>
                    </a:ext>
                  </a:extLst>
                </a:gridCol>
                <a:gridCol w="2178263">
                  <a:extLst>
                    <a:ext uri="{9D8B030D-6E8A-4147-A177-3AD203B41FA5}">
                      <a16:colId xmlns:a16="http://schemas.microsoft.com/office/drawing/2014/main" val="2696543970"/>
                    </a:ext>
                  </a:extLst>
                </a:gridCol>
                <a:gridCol w="418429">
                  <a:extLst>
                    <a:ext uri="{9D8B030D-6E8A-4147-A177-3AD203B41FA5}">
                      <a16:colId xmlns:a16="http://schemas.microsoft.com/office/drawing/2014/main" val="1142531251"/>
                    </a:ext>
                  </a:extLst>
                </a:gridCol>
                <a:gridCol w="2901712">
                  <a:extLst>
                    <a:ext uri="{9D8B030D-6E8A-4147-A177-3AD203B41FA5}">
                      <a16:colId xmlns:a16="http://schemas.microsoft.com/office/drawing/2014/main" val="3651602954"/>
                    </a:ext>
                  </a:extLst>
                </a:gridCol>
              </a:tblGrid>
              <a:tr h="140758">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97910213"/>
                  </a:ext>
                </a:extLst>
              </a:tr>
              <a:tr h="1548335">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A868</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01:30 17/05/2025</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02:00 18/05/2025</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DEL</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MSG NO GO ANTISKID MSG no go ANTISKID with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MMsg</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- 32-32322 Main Gear Axle RDC 3 has an internal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- 32-32342 Main Gear Axle RDC 7 has an internal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- 32-32302 Right Brake System Control Unit has an internal fault</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TSV support </a:t>
                      </a:r>
                      <a:r>
                        <a:rPr lang="en-US" sz="1200" b="0" i="0" u="none" strike="noStrike" dirty="0" err="1">
                          <a:solidFill>
                            <a:srgbClr val="000000"/>
                          </a:solidFill>
                          <a:effectLst/>
                          <a:latin typeface="Times New Roman" panose="02020603050405020304" pitchFamily="18" charset="0"/>
                          <a:cs typeface="Times New Roman" panose="02020603050405020304" pitchFamily="18" charset="0"/>
                        </a:rPr>
                        <a:t>LOcal</a:t>
                      </a:r>
                      <a:r>
                        <a:rPr lang="en-US" sz="1200" b="0" i="0" u="none" strike="noStrike" dirty="0">
                          <a:solidFill>
                            <a:srgbClr val="000000"/>
                          </a:solidFill>
                          <a:effectLst/>
                          <a:latin typeface="Times New Roman" panose="02020603050405020304" pitchFamily="18" charset="0"/>
                          <a:cs typeface="Times New Roman" panose="02020603050405020304" pitchFamily="18" charset="0"/>
                        </a:rPr>
                        <a:t> Tech try to reset many time NIL Help:</a:t>
                      </a:r>
                      <a:br>
                        <a:rPr lang="en-US" sz="1200" b="0" i="0" u="none" strike="noStrike" dirty="0">
                          <a:solidFill>
                            <a:srgbClr val="000000"/>
                          </a:solidFill>
                          <a:effectLst/>
                          <a:latin typeface="Times New Roman" panose="02020603050405020304" pitchFamily="18" charset="0"/>
                          <a:cs typeface="Times New Roman" panose="02020603050405020304" pitchFamily="18" charset="0"/>
                        </a:rPr>
                      </a:br>
                      <a:r>
                        <a:rPr lang="en-US" sz="1200" b="0" i="0" u="none" strike="noStrike" dirty="0">
                          <a:solidFill>
                            <a:srgbClr val="000000"/>
                          </a:solidFill>
                          <a:effectLst/>
                          <a:latin typeface="Times New Roman" panose="02020603050405020304" pitchFamily="18" charset="0"/>
                          <a:cs typeface="Times New Roman" panose="02020603050405020304" pitchFamily="18" charset="0"/>
                        </a:rPr>
                        <a:t>- C/O ground test: 32 Brake Control System, SYSTEM TEST, Right Brake System Control Unit Inboard Channel- FAIL.</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*Manpower from SGN in VN977 ETD 18:40 17/05/25</a:t>
                      </a:r>
                      <a:br>
                        <a:rPr lang="en-US" sz="1200" b="0" i="0" u="none" strike="noStrike">
                          <a:solidFill>
                            <a:srgbClr val="000000"/>
                          </a:solidFill>
                          <a:effectLst/>
                          <a:latin typeface="Times New Roman" panose="02020603050405020304" pitchFamily="18" charset="0"/>
                          <a:cs typeface="Times New Roman" panose="02020603050405020304" pitchFamily="18" charset="0"/>
                        </a:rPr>
                      </a:br>
                      <a:r>
                        <a:rPr lang="en-US" sz="1200" b="0" i="0" u="none" strike="noStrike">
                          <a:solidFill>
                            <a:srgbClr val="000000"/>
                          </a:solidFill>
                          <a:effectLst/>
                          <a:latin typeface="Times New Roman" panose="02020603050405020304" pitchFamily="18" charset="0"/>
                          <a:cs typeface="Times New Roman" panose="02020603050405020304" pitchFamily="18" charset="0"/>
                        </a:rPr>
                        <a:t>- FINAL ACTION: WIRE HARNESS RPLD SATIS, SYS TEST PASSED. MSG GONE WIRE HARNESS RPLD EVENT CLOSED  </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32-00</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dirty="0">
                          <a:solidFill>
                            <a:srgbClr val="000000"/>
                          </a:solidFill>
                          <a:effectLst/>
                          <a:latin typeface="Times New Roman" panose="02020603050405020304" pitchFamily="18" charset="0"/>
                          <a:cs typeface="Times New Roman" panose="02020603050405020304" pitchFamily="18" charset="0"/>
                        </a:rPr>
                        <a:t>Tàu có các lỗi liên quan đến BSCU RH; ARDC#3 và ARDC#7. Thực hiện swap BSCU; swap RDC#3 và RDC#1 không hết được MMSG. Kiểm tra phát hiện harness PN 668Z701158-16 (W701158) có dấu hiệu bị chaffing. Sau khi thực hiện thay dây này thì hết MMSG.</a:t>
                      </a:r>
                      <a:br>
                        <a:rPr lang="vi-VN" sz="1200" b="0" i="0" u="none" strike="noStrike" dirty="0">
                          <a:solidFill>
                            <a:srgbClr val="000000"/>
                          </a:solidFill>
                          <a:effectLst/>
                          <a:latin typeface="Times New Roman" panose="02020603050405020304" pitchFamily="18" charset="0"/>
                          <a:cs typeface="Times New Roman" panose="02020603050405020304" pitchFamily="18" charset="0"/>
                        </a:rPr>
                      </a:br>
                      <a:r>
                        <a:rPr lang="vi-VN" sz="1200" b="0" i="0" u="none" strike="noStrike" dirty="0">
                          <a:solidFill>
                            <a:srgbClr val="000000"/>
                          </a:solidFill>
                          <a:effectLst/>
                          <a:latin typeface="Times New Roman" panose="02020603050405020304" pitchFamily="18" charset="0"/>
                          <a:cs typeface="Times New Roman" panose="02020603050405020304" pitchFamily="18" charset="0"/>
                        </a:rPr>
                        <a:t>Hỏng hóc bó dây này đã được nhận diện và đề xuất kiểm tra chủ động, nếu trong Limit có thể thực hiện sửa theo  SWPM 20-10-13. Ban KT đã ban hành SO S0109125 (10/4/2025) thực hiện kiểm tra chủ động 04 bó dây (W701152, W701153, W701158 and W701159) và sửa chữa nếu cần cho cả fleet nhằm ngăn ngừa hỏng hóc xuất hiện. EOD-787-32-11-0003-R00 hạn hoành thành trước ngày 30/6/2025. Tiến độ: 4/17 tàu bay: A861, A867, A870, A879</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5849766"/>
                  </a:ext>
                </a:extLst>
              </a:tr>
            </a:tbl>
          </a:graphicData>
        </a:graphic>
      </p:graphicFrame>
    </p:spTree>
    <p:extLst>
      <p:ext uri="{BB962C8B-B14F-4D97-AF65-F5344CB8AC3E}">
        <p14:creationId xmlns:p14="http://schemas.microsoft.com/office/powerpoint/2010/main" val="2400766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98F3E0E-C584-65C0-855A-6204D6FEAF3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460B112-BCAF-396E-A3C7-37AAEB55EF7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E4F659F-5F0B-706C-F124-21F86A833E0D}"/>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4D29EEBA-3253-C0CB-6846-C5CF4D3934FE}"/>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GTB:  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636A4534-23BC-02AF-26E4-43E3420D36F7}"/>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03</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2</a:t>
            </a:r>
          </a:p>
        </p:txBody>
      </p:sp>
      <p:graphicFrame>
        <p:nvGraphicFramePr>
          <p:cNvPr id="6" name="Table 5">
            <a:extLst>
              <a:ext uri="{FF2B5EF4-FFF2-40B4-BE49-F238E27FC236}">
                <a16:creationId xmlns:a16="http://schemas.microsoft.com/office/drawing/2014/main" id="{012CB081-4C40-D0D8-5F7A-559483ADCDF3}"/>
              </a:ext>
            </a:extLst>
          </p:cNvPr>
          <p:cNvGraphicFramePr>
            <a:graphicFrameLocks noGrp="1"/>
          </p:cNvGraphicFramePr>
          <p:nvPr>
            <p:extLst/>
          </p:nvPr>
        </p:nvGraphicFramePr>
        <p:xfrm>
          <a:off x="134289" y="1601363"/>
          <a:ext cx="11706826" cy="5104237"/>
        </p:xfrm>
        <a:graphic>
          <a:graphicData uri="http://schemas.openxmlformats.org/drawingml/2006/table">
            <a:tbl>
              <a:tblPr/>
              <a:tblGrid>
                <a:gridCol w="399111">
                  <a:extLst>
                    <a:ext uri="{9D8B030D-6E8A-4147-A177-3AD203B41FA5}">
                      <a16:colId xmlns:a16="http://schemas.microsoft.com/office/drawing/2014/main" val="440959224"/>
                    </a:ext>
                  </a:extLst>
                </a:gridCol>
                <a:gridCol w="457200">
                  <a:extLst>
                    <a:ext uri="{9D8B030D-6E8A-4147-A177-3AD203B41FA5}">
                      <a16:colId xmlns:a16="http://schemas.microsoft.com/office/drawing/2014/main" val="2208675105"/>
                    </a:ext>
                  </a:extLst>
                </a:gridCol>
                <a:gridCol w="533400">
                  <a:extLst>
                    <a:ext uri="{9D8B030D-6E8A-4147-A177-3AD203B41FA5}">
                      <a16:colId xmlns:a16="http://schemas.microsoft.com/office/drawing/2014/main" val="1277219826"/>
                    </a:ext>
                  </a:extLst>
                </a:gridCol>
                <a:gridCol w="457200">
                  <a:extLst>
                    <a:ext uri="{9D8B030D-6E8A-4147-A177-3AD203B41FA5}">
                      <a16:colId xmlns:a16="http://schemas.microsoft.com/office/drawing/2014/main" val="4070776327"/>
                    </a:ext>
                  </a:extLst>
                </a:gridCol>
                <a:gridCol w="725546">
                  <a:extLst>
                    <a:ext uri="{9D8B030D-6E8A-4147-A177-3AD203B41FA5}">
                      <a16:colId xmlns:a16="http://schemas.microsoft.com/office/drawing/2014/main" val="3901648535"/>
                    </a:ext>
                  </a:extLst>
                </a:gridCol>
                <a:gridCol w="420168">
                  <a:extLst>
                    <a:ext uri="{9D8B030D-6E8A-4147-A177-3AD203B41FA5}">
                      <a16:colId xmlns:a16="http://schemas.microsoft.com/office/drawing/2014/main" val="487109427"/>
                    </a:ext>
                  </a:extLst>
                </a:gridCol>
                <a:gridCol w="1445086">
                  <a:extLst>
                    <a:ext uri="{9D8B030D-6E8A-4147-A177-3AD203B41FA5}">
                      <a16:colId xmlns:a16="http://schemas.microsoft.com/office/drawing/2014/main" val="1621741157"/>
                    </a:ext>
                  </a:extLst>
                </a:gridCol>
                <a:gridCol w="2819400">
                  <a:extLst>
                    <a:ext uri="{9D8B030D-6E8A-4147-A177-3AD203B41FA5}">
                      <a16:colId xmlns:a16="http://schemas.microsoft.com/office/drawing/2014/main" val="3142800953"/>
                    </a:ext>
                  </a:extLst>
                </a:gridCol>
                <a:gridCol w="381000">
                  <a:extLst>
                    <a:ext uri="{9D8B030D-6E8A-4147-A177-3AD203B41FA5}">
                      <a16:colId xmlns:a16="http://schemas.microsoft.com/office/drawing/2014/main" val="3712331507"/>
                    </a:ext>
                  </a:extLst>
                </a:gridCol>
                <a:gridCol w="4068715">
                  <a:extLst>
                    <a:ext uri="{9D8B030D-6E8A-4147-A177-3AD203B41FA5}">
                      <a16:colId xmlns:a16="http://schemas.microsoft.com/office/drawing/2014/main" val="3836007260"/>
                    </a:ext>
                  </a:extLst>
                </a:gridCol>
              </a:tblGrid>
              <a:tr h="157224">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017825961"/>
                  </a:ext>
                </a:extLst>
              </a:tr>
              <a:tr h="1572241">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A863</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FRA</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VN36</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FRA-HAN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19:30 15/05/2025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FWD EE ACCESS DOOR OPEN DURING TAXI, A/C RETURN TO GATE </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dirty="0">
                          <a:solidFill>
                            <a:srgbClr val="000000"/>
                          </a:solidFill>
                          <a:effectLst/>
                          <a:latin typeface="Times New Roman" panose="02020603050405020304" pitchFamily="18" charset="0"/>
                          <a:cs typeface="Times New Roman" panose="02020603050405020304" pitchFamily="18" charset="0"/>
                        </a:rPr>
                        <a:t>ON GROUND CHECK FWD EE ACCESS DOOR CLOSED AND LOCKED, ADD B1715 RAISE FOR FWD EE ACCESS DOOR INDICATOR INTERMITTENT FAULT ACTION EVENT CLOSED</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52-00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Tàu hiện đang mở MEL để khai thác. Hỏng hóc có thể đo Sensor của cửa. Cần thực hiện Adjust, clean hoặc phải thay Sensor để khắc phục.</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Thống kê ĐTC với cửa E/E: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A864 tháng 7/2024 thay sensor cho AFT E/E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A864 Tháng 9/2016 thay sensor cho FWD E/E.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A869 Tháng 12/2016 thay sensor cho AFT E/E:</a:t>
                      </a:r>
                      <a:br>
                        <a:rPr lang="vi-VN" sz="1100" b="0" i="0" u="none" strike="noStrike">
                          <a:solidFill>
                            <a:srgbClr val="000000"/>
                          </a:solidFill>
                          <a:effectLst/>
                          <a:latin typeface="Times New Roman" panose="02020603050405020304" pitchFamily="18" charset="0"/>
                          <a:cs typeface="Times New Roman" panose="02020603050405020304" pitchFamily="18" charset="0"/>
                        </a:rPr>
                      </a:br>
                      <a:r>
                        <a:rPr lang="vi-VN" sz="1100" b="0" i="0" u="none" strike="noStrike">
                          <a:solidFill>
                            <a:srgbClr val="000000"/>
                          </a:solidFill>
                          <a:effectLst/>
                          <a:latin typeface="Times New Roman" panose="02020603050405020304" pitchFamily="18" charset="0"/>
                          <a:cs typeface="Times New Roman" panose="02020603050405020304" pitchFamily="18" charset="0"/>
                        </a:rPr>
                        <a:t>Sensor này được lắp trên nhiều vị trí để theo dõi đóng mở cửa (pax, cargo; gear; fuel ...), cả Fleet đã từng thay 11 khối. Boe hiện không có issue liên quan đến sensor này.</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7172726"/>
                  </a:ext>
                </a:extLst>
              </a:tr>
              <a:tr h="2987259">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A863</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HAN</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VN249</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16:20 13/05/2025</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OGTB</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a:solidFill>
                            <a:srgbClr val="000000"/>
                          </a:solidFill>
                          <a:effectLst/>
                          <a:latin typeface="Times New Roman" panose="02020603050405020304" pitchFamily="18" charset="0"/>
                          <a:cs typeface="Times New Roman" panose="02020603050405020304" pitchFamily="18" charset="0"/>
                        </a:rPr>
                        <a:t>A863 {GTB} DUE TO BRAKE CONTROL STS VN249/HAN-SGN (ETD 15:30) Tàu sau khi nổ máy tại vị trí 51 lăn ra đến đường cất hạ cánh thì xuất hiện &amp;#160;MSG “brake control sts”</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15:45 tàu đóng cửa ở vị trí 51, nổ máy và tự lăn ra đường cất hạ cành.</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lăn ra đến đường cất hạ cánh xuất hiện MSG ‘brake control sts’-&amp;gt;tổ bay xin lăn tàu vào vị trí 50</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16:20 tàu vào bị trí 50, CRS B1 tiến hành T/S &amp;#160;theo fim 32-40-f1 ava 421 A-A &amp;#61;&amp;gt; satis</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Tổ bay yêu cầu nạp them 1T dầu, sau đó tổ bay lại uêu cầu nạp thêm 2,5 tấn dầu nữa do thời tiết ở SGN xấu.</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Nạp fuel xong lại xuất hiện thêm MSG brake # 7 actuator intermitent-&amp;gt; Thực hiện raised MEL 32-45-01-01.</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17:09 tổ bay đồng ý bay tiêó sau khi raised MEL.</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17:14 tàu đóng cửa.</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(VN249 delay 99 phút so với kế hoạch ban đầu, tech delay 30 phút)</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100" b="0" i="0" u="none" strike="noStrike">
                          <a:solidFill>
                            <a:srgbClr val="000000"/>
                          </a:solidFill>
                          <a:effectLst/>
                          <a:latin typeface="Times New Roman" panose="02020603050405020304" pitchFamily="18" charset="0"/>
                          <a:cs typeface="Times New Roman" panose="02020603050405020304" pitchFamily="18" charset="0"/>
                        </a:rPr>
                        <a:t>32-40</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100" b="0" i="0" u="none" strike="noStrike" dirty="0">
                          <a:solidFill>
                            <a:srgbClr val="000000"/>
                          </a:solidFill>
                          <a:effectLst/>
                          <a:latin typeface="Times New Roman" panose="02020603050405020304" pitchFamily="18" charset="0"/>
                          <a:cs typeface="Times New Roman" panose="02020603050405020304" pitchFamily="18" charset="0"/>
                        </a:rPr>
                        <a:t>Tàu có FDE Brake/autobrake liên quan đến 8 EBA trên các Brake khác nhau. Sau đó VAE đã thực hiện thay 6 EBA khi thực hiện Opt test và clear MMSG.</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7 EBA #2 PN OFF C20604001 ngày 13may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2 EBA #1 PN OFF C20604000 ngày 14may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3 EBA #1 PN OFF C20604001 ngày 14may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3 EBA #4 PN OFF C20604001 ngày 14may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1 EBA #4 PN OFF C20604001 ngày 16may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Thay Wheel 2 EBA #4 PN OFF C20604100 ngày 16may</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Sau 3 ngày thì các MMSG này không còn xuất hiện. Thông tin hỏng hóc và dữ liệu DFDR đã được gửi tới BOE để đánh giá thêm.</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EBA hiện đang có số lượng tháo lắp nhiều nhất của Fleet. </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OEM đã có PN nâng cấp mới nhất là P/N C20604100 ban hành để khai thác Q1 2024 và đang được thực hiện on attrition theo hợp đồng pool. Các cải tiến ở PN mới:</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Nâng cấp các chi tiết làm kín  (sealing)</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Tăng khả năng sửa chữa thiết bị</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Tăng tính thay thế và lắp lẫn giữa các phiên bản</a:t>
                      </a:r>
                      <a:br>
                        <a:rPr lang="vi-VN" sz="1100" b="0" i="0" u="none" strike="noStrike" dirty="0">
                          <a:solidFill>
                            <a:srgbClr val="000000"/>
                          </a:solidFill>
                          <a:effectLst/>
                          <a:latin typeface="Times New Roman" panose="02020603050405020304" pitchFamily="18" charset="0"/>
                          <a:cs typeface="Times New Roman" panose="02020603050405020304" pitchFamily="18" charset="0"/>
                        </a:rPr>
                      </a:br>
                      <a:r>
                        <a:rPr lang="vi-VN" sz="1100" b="0" i="0" u="none" strike="noStrike" dirty="0">
                          <a:solidFill>
                            <a:srgbClr val="000000"/>
                          </a:solidFill>
                          <a:effectLst/>
                          <a:latin typeface="Times New Roman" panose="02020603050405020304" pitchFamily="18" charset="0"/>
                          <a:cs typeface="Times New Roman" panose="02020603050405020304" pitchFamily="18" charset="0"/>
                        </a:rPr>
                        <a:t>Cập nhật thêm yêu cầu benches test cho Brake và Motor.</a:t>
                      </a:r>
                    </a:p>
                  </a:txBody>
                  <a:tcPr marL="5778" marR="5778" marT="577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5693381"/>
                  </a:ext>
                </a:extLst>
              </a:tr>
            </a:tbl>
          </a:graphicData>
        </a:graphic>
      </p:graphicFrame>
    </p:spTree>
    <p:extLst>
      <p:ext uri="{BB962C8B-B14F-4D97-AF65-F5344CB8AC3E}">
        <p14:creationId xmlns:p14="http://schemas.microsoft.com/office/powerpoint/2010/main" val="1859608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609600" y="24733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5" name="Table 4">
            <a:extLst>
              <a:ext uri="{FF2B5EF4-FFF2-40B4-BE49-F238E27FC236}">
                <a16:creationId xmlns:a16="http://schemas.microsoft.com/office/drawing/2014/main" id="{16C27E2B-CB7D-E866-E424-91591CA97F02}"/>
              </a:ext>
            </a:extLst>
          </p:cNvPr>
          <p:cNvGraphicFramePr>
            <a:graphicFrameLocks noGrp="1"/>
          </p:cNvGraphicFramePr>
          <p:nvPr>
            <p:extLst>
              <p:ext uri="{D42A27DB-BD31-4B8C-83A1-F6EECF244321}">
                <p14:modId xmlns:p14="http://schemas.microsoft.com/office/powerpoint/2010/main" val="1685667073"/>
              </p:ext>
            </p:extLst>
          </p:nvPr>
        </p:nvGraphicFramePr>
        <p:xfrm>
          <a:off x="762000" y="838200"/>
          <a:ext cx="10668000" cy="5562606"/>
        </p:xfrm>
        <a:graphic>
          <a:graphicData uri="http://schemas.openxmlformats.org/drawingml/2006/table">
            <a:tbl>
              <a:tblPr/>
              <a:tblGrid>
                <a:gridCol w="493641">
                  <a:extLst>
                    <a:ext uri="{9D8B030D-6E8A-4147-A177-3AD203B41FA5}">
                      <a16:colId xmlns:a16="http://schemas.microsoft.com/office/drawing/2014/main" val="3242591431"/>
                    </a:ext>
                  </a:extLst>
                </a:gridCol>
                <a:gridCol w="598346">
                  <a:extLst>
                    <a:ext uri="{9D8B030D-6E8A-4147-A177-3AD203B41FA5}">
                      <a16:colId xmlns:a16="http://schemas.microsoft.com/office/drawing/2014/main" val="3521403387"/>
                    </a:ext>
                  </a:extLst>
                </a:gridCol>
                <a:gridCol w="509042">
                  <a:extLst>
                    <a:ext uri="{9D8B030D-6E8A-4147-A177-3AD203B41FA5}">
                      <a16:colId xmlns:a16="http://schemas.microsoft.com/office/drawing/2014/main" val="3130085829"/>
                    </a:ext>
                  </a:extLst>
                </a:gridCol>
                <a:gridCol w="1268139">
                  <a:extLst>
                    <a:ext uri="{9D8B030D-6E8A-4147-A177-3AD203B41FA5}">
                      <a16:colId xmlns:a16="http://schemas.microsoft.com/office/drawing/2014/main" val="1922093392"/>
                    </a:ext>
                  </a:extLst>
                </a:gridCol>
                <a:gridCol w="1053805">
                  <a:extLst>
                    <a:ext uri="{9D8B030D-6E8A-4147-A177-3AD203B41FA5}">
                      <a16:colId xmlns:a16="http://schemas.microsoft.com/office/drawing/2014/main" val="4026546844"/>
                    </a:ext>
                  </a:extLst>
                </a:gridCol>
                <a:gridCol w="1553916">
                  <a:extLst>
                    <a:ext uri="{9D8B030D-6E8A-4147-A177-3AD203B41FA5}">
                      <a16:colId xmlns:a16="http://schemas.microsoft.com/office/drawing/2014/main" val="2779600475"/>
                    </a:ext>
                  </a:extLst>
                </a:gridCol>
                <a:gridCol w="5191111">
                  <a:extLst>
                    <a:ext uri="{9D8B030D-6E8A-4147-A177-3AD203B41FA5}">
                      <a16:colId xmlns:a16="http://schemas.microsoft.com/office/drawing/2014/main" val="1028142451"/>
                    </a:ext>
                  </a:extLst>
                </a:gridCol>
              </a:tblGrid>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No</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Fleet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tàu bay</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Tình trạng KT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Điều kiện chuyên cơ</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Ghi chú</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3941650"/>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A861</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B1575 INTEGRATED CLG RECIR AIR</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B1577 RAISED: BRAKE#01 WORN TO LIMIT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728556"/>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2</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A862</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B1352 RAISED LIQUID COOLING L PUMP 2 ON STATUS</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B1354 RAISED:IRU L INOP.</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3350882"/>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3</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A863</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Đang định kỳ</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Engine 1 (958170) HPT 1B có hỏng hóc (giảm tần suất 50FC)</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B1668 RAISED: STS MSG: TAIL AIRFLOW SYS</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8530924"/>
                  </a:ext>
                </a:extLst>
              </a:tr>
              <a:tr h="54346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4</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A864</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B1264 AFT CARGO HANDLING SYSTEM IN/OUT IN CENTER LOADING PDU INOP</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B1274 LAVATORY/GALLEY FAN 1 INOP</a:t>
                      </a:r>
                      <a:br>
                        <a:rPr lang="en-US" sz="1000" b="0" i="0" u="none" strike="noStrike">
                          <a:solidFill>
                            <a:srgbClr val="000000"/>
                          </a:solidFill>
                          <a:effectLst/>
                          <a:latin typeface="Times New Roman" panose="02020603050405020304" pitchFamily="18" charset="0"/>
                          <a:cs typeface="Times New Roman" panose="02020603050405020304" pitchFamily="18" charset="0"/>
                        </a:rPr>
                      </a:br>
                      <a:r>
                        <a:rPr lang="en-US" sz="1000" b="0" i="0" u="none" strike="noStrike">
                          <a:solidFill>
                            <a:srgbClr val="000000"/>
                          </a:solidFill>
                          <a:effectLst/>
                          <a:latin typeface="Times New Roman" panose="02020603050405020304" pitchFamily="18" charset="0"/>
                          <a:cs typeface="Times New Roman" panose="02020603050405020304" pitchFamily="18" charset="0"/>
                        </a:rPr>
                        <a:t>B1279 BRAKE#4 WORN TO LIMIT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097853"/>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5</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A865</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B1304 NGS INOP</a:t>
                      </a:r>
                      <a:br>
                        <a:rPr lang="en-SG" sz="1000" b="0" i="0" u="none" strike="noStrike">
                          <a:solidFill>
                            <a:srgbClr val="000000"/>
                          </a:solidFill>
                          <a:effectLst/>
                          <a:latin typeface="Times New Roman" panose="02020603050405020304" pitchFamily="18" charset="0"/>
                          <a:cs typeface="Times New Roman" panose="02020603050405020304" pitchFamily="18" charset="0"/>
                        </a:rPr>
                      </a:br>
                      <a:r>
                        <a:rPr lang="en-SG" sz="1000" b="0" i="0" u="none" strike="noStrike">
                          <a:solidFill>
                            <a:srgbClr val="000000"/>
                          </a:solidFill>
                          <a:effectLst/>
                          <a:latin typeface="Times New Roman" panose="02020603050405020304" pitchFamily="18" charset="0"/>
                          <a:cs typeface="Times New Roman" panose="02020603050405020304" pitchFamily="18" charset="0"/>
                        </a:rPr>
                        <a:t>B1307 IS RAISED :" ELEC ENG STARTER R1;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9056295"/>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6</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A866</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100 FC HPTS1B missing material theo Departure Recommendation 01643368 Revision 0.0</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5354063"/>
                  </a:ext>
                </a:extLst>
              </a:tr>
              <a:tr h="251651">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Động cơ số 1 HPT STG 2 CRACK, giảm tần suất soi 250 FC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964050"/>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8</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A868</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AOG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891402"/>
                  </a:ext>
                </a:extLst>
              </a:tr>
              <a:tr h="54346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9</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A869</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Động cơ số 1 giảm tần suất soi 250 FC (HPT S2 blade cracks) và soi giảm tần suất 250 FC (fuel nozzle cup missing materials)</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B1054: STS MSG ELEC GEN SYS L2</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7983407"/>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10</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A870</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6249309"/>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11</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A871</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7649876"/>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12</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A872</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2436346"/>
                  </a:ext>
                </a:extLst>
              </a:tr>
              <a:tr h="213387">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13</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A873</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SG" sz="1000" b="0" i="0" u="none" strike="noStrike">
                          <a:solidFill>
                            <a:srgbClr val="000000"/>
                          </a:solidFill>
                          <a:effectLst/>
                          <a:latin typeface="Times New Roman" panose="02020603050405020304" pitchFamily="18" charset="0"/>
                          <a:cs typeface="Times New Roman" panose="02020603050405020304" pitchFamily="18" charset="0"/>
                        </a:rPr>
                        <a:t>B540 : 50 CYCS REPEATED INSPECTION INTERVAL ON ENG#1 S/N 958435</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9751287"/>
                  </a:ext>
                </a:extLst>
              </a:tr>
              <a:tr h="363572">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14</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A874</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động cơ số 2 giảm tần suất soi HPT 1nd stage 100 FC</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B413 ELEC GEN SYS L1 ( đã clear, cần bay nội địa monitor)</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397681"/>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15</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B055 SATCOM DATALINK</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577088"/>
                  </a:ext>
                </a:extLst>
              </a:tr>
              <a:tr h="183676">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16</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A878</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Đạt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 </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2701773"/>
                  </a:ext>
                </a:extLst>
              </a:tr>
              <a:tr h="543468">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17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B787</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A879</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Khai thác</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Tốt</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ctr" fontAlgn="ctr"/>
                      <a:r>
                        <a:rPr lang="en-US" sz="1000" b="0" i="0" u="none" strike="noStrike">
                          <a:solidFill>
                            <a:srgbClr val="000000"/>
                          </a:solidFill>
                          <a:effectLst/>
                          <a:latin typeface="Times New Roman" panose="02020603050405020304" pitchFamily="18" charset="0"/>
                          <a:cs typeface="Times New Roman" panose="02020603050405020304" pitchFamily="18" charset="0"/>
                        </a:rPr>
                        <a:t>Không</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algn="l" fontAlgn="ctr"/>
                      <a:r>
                        <a:rPr lang="vi-VN" sz="1000" b="0" i="0" u="none" strike="noStrike">
                          <a:solidFill>
                            <a:srgbClr val="000000"/>
                          </a:solidFill>
                          <a:effectLst/>
                          <a:latin typeface="Times New Roman" panose="02020603050405020304" pitchFamily="18" charset="0"/>
                          <a:cs typeface="Times New Roman" panose="02020603050405020304" pitchFamily="18" charset="0"/>
                        </a:rPr>
                        <a:t>+ Động cơ số 1 HPT blage stg 1 cracked giảm tần suất soi 250 FC; Động cơ số 2 HPT blage stg 1 cracked giảm tần suất soi 100 FCGE DR 01664320 Revision 0.0</a:t>
                      </a:r>
                      <a:br>
                        <a:rPr lang="vi-VN" sz="1000" b="0" i="0" u="none" strike="noStrike">
                          <a:solidFill>
                            <a:srgbClr val="000000"/>
                          </a:solidFill>
                          <a:effectLst/>
                          <a:latin typeface="Times New Roman" panose="02020603050405020304" pitchFamily="18" charset="0"/>
                          <a:cs typeface="Times New Roman" panose="02020603050405020304" pitchFamily="18" charset="0"/>
                        </a:rPr>
                      </a:br>
                      <a:r>
                        <a:rPr lang="vi-VN" sz="1000" b="0" i="0" u="none" strike="noStrike">
                          <a:solidFill>
                            <a:srgbClr val="000000"/>
                          </a:solidFill>
                          <a:effectLst/>
                          <a:latin typeface="Times New Roman" panose="02020603050405020304" pitchFamily="18" charset="0"/>
                          <a:cs typeface="Times New Roman" panose="02020603050405020304" pitchFamily="18" charset="0"/>
                        </a:rPr>
                        <a:t>B580 WING ANTI ICE ZONE</a:t>
                      </a:r>
                    </a:p>
                  </a:txBody>
                  <a:tcPr marL="3202" marR="3202" marT="32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7892983"/>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836053" y="40754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836053" y="1057031"/>
            <a:ext cx="10458412" cy="4401205"/>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t>
            </a:r>
            <a:r>
              <a:rPr lang="en-US" sz="1400">
                <a:solidFill>
                  <a:prstClr val="black"/>
                </a:solidFill>
                <a:latin typeface="Times New Roman" panose="02020603050405020304" pitchFamily="18" charset="0"/>
                <a:cs typeface="Times New Roman" panose="02020603050405020304" pitchFamily="18" charset="0"/>
              </a:rPr>
              <a:t>B787 trong tuần tương không tốt với 02 TH GTB và 02 TH AOG. </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400">
                <a:solidFill>
                  <a:prstClr val="black"/>
                </a:solidFill>
                <a:latin typeface="Times New Roman" panose="02020603050405020304" pitchFamily="18" charset="0"/>
                <a:cs typeface="Times New Roman" panose="02020603050405020304" pitchFamily="18" charset="0"/>
              </a:rPr>
              <a:t>+ A870 AOG HAN ngày 13/05 do MESS “RUDDER SYS” -&gt; </a:t>
            </a:r>
            <a:r>
              <a:rPr lang="en-US" sz="1400">
                <a:solidFill>
                  <a:prstClr val="black"/>
                </a:solidFill>
                <a:latin typeface="Times New Roman" panose="02020603050405020304" pitchFamily="18" charset="0"/>
                <a:cs typeface="Times New Roman" panose="02020603050405020304" pitchFamily="18" charset="0"/>
              </a:rPr>
              <a:t>REPLACED PCU MIDDLE</a:t>
            </a:r>
          </a:p>
          <a:p>
            <a:pPr lvl="1" algn="just"/>
            <a:r>
              <a:rPr lang="vi-VN" sz="1400">
                <a:solidFill>
                  <a:srgbClr val="FF0000"/>
                </a:solidFill>
                <a:latin typeface="Times New Roman" panose="02020603050405020304" pitchFamily="18" charset="0"/>
                <a:cs typeface="Times New Roman" panose="02020603050405020304" pitchFamily="18" charset="0"/>
              </a:rPr>
              <a:t>Thực hiện thay Middle Rudder PCU để khắc phục hỏng hóc. Khi đo điện trở khối hỏng thì giá trị Damped solenoid Coil có giá trị 9.2OHMS, nằm ngoài dải 66.5-73.5ohms. Tàu hiện không có Mess trên AHM. Trong vòng 1 năm không có các cảnh báo liên quan đến Rudder PCU. ĐTC: lịch sử đã từng thay 06 khối PCU. MTBUR 172k lớn hơn GTBUR là 50k. Boe hiện không có chương trình liên quan đến ĐTC của thiết bị. Theo SFR của 4 khối có được thì hỏng hóc đều do Damped solenoid coil hoặc Bypass solenoid coil (thay EHSV including Bypass Sol Coil). Ban KT đã làm việc với BOE và VAECO về chương trình chủ động do Coils resistance giống Spoiler PCU để dự báo trước hỏng hóc. Tuy nhiên BOE không có đủ dữ liệu để đánh giá hiệu quả của việc đo. Và cho rằng, việc đo chỉ khẳng định PCU có hỏng thật hay không. Tháng 6/2024, tàu A870 đã được đo điện trở theo EOD-787-27-21-0001-R00 và kết quả đo cả ba PCU đều nằm trong dải hoạt động bình thường.</a:t>
            </a:r>
            <a:endParaRPr lang="en-US" sz="1400">
              <a:solidFill>
                <a:srgbClr val="FF0000"/>
              </a:solidFill>
              <a:latin typeface="Times New Roman" panose="02020603050405020304" pitchFamily="18" charset="0"/>
              <a:cs typeface="Times New Roman" panose="02020603050405020304" pitchFamily="18" charset="0"/>
            </a:endParaRPr>
          </a:p>
          <a:p>
            <a:pPr lvl="1" algn="just"/>
            <a:endParaRPr lang="en-US" sz="1400">
              <a:solidFill>
                <a:srgbClr val="FF0000"/>
              </a:solidFill>
              <a:latin typeface="Times New Roman" panose="02020603050405020304" pitchFamily="18" charset="0"/>
              <a:cs typeface="Times New Roman" panose="02020603050405020304" pitchFamily="18" charset="0"/>
            </a:endParaRPr>
          </a:p>
          <a:p>
            <a:pPr lvl="1" algn="just"/>
            <a:r>
              <a:rPr lang="en-US" sz="1400">
                <a:latin typeface="Times New Roman" panose="02020603050405020304" pitchFamily="18" charset="0"/>
                <a:cs typeface="Times New Roman" panose="02020603050405020304" pitchFamily="18" charset="0"/>
              </a:rPr>
              <a:t>+ A868 AOG DEL ngày 17-18/05 do MSG NO GO ANTISKID -&gt; Cử NVKT và PTVT sang khắc phục, WIRE HARNESS RPLD</a:t>
            </a:r>
          </a:p>
          <a:p>
            <a:pPr lvl="1" algn="just"/>
            <a:r>
              <a:rPr lang="vi-VN" sz="1400">
                <a:solidFill>
                  <a:srgbClr val="FF0000"/>
                </a:solidFill>
                <a:latin typeface="Times New Roman" panose="02020603050405020304" pitchFamily="18" charset="0"/>
                <a:cs typeface="Times New Roman" panose="02020603050405020304" pitchFamily="18" charset="0"/>
              </a:rPr>
              <a:t>Tàu có các lỗi liên quan đến BSCU RH; ARDC#3 và ARDC#7. Thực hiện swap BSCU; swap RDC#3 và RDC#1 không hết được MMSG. Kiểm tra phát hiện harness PN 668Z701158-16 (W701158) bị trà sát. Thực hiện thay dây này thì hết MMSG. Hỏng hóc bó dây này đã được nhận diện và đề xuất kiểm tra chủ động, nếu trong Limit có thể thực hiện sửa theo SWPM 20-10-13. Ban KT đã ban hành SO S0109125 (10/4/2025) thực hiện kiểm tra chủ động 04 bó dây (W701152, W701153, W701158 and W701159) và sửa chữa nếu cần cho cả fleet nhằm ngăn ngừa hỏng hóc xuất hiện. EOD-787-32-11-0003-R00 hạn hoành thành trước ngày 30/6/2025. Tiến độ: 4/17: A861, A867, A870, A879</a:t>
            </a:r>
            <a:endParaRPr lang="en-SG"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15</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836053" y="407540"/>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836053" y="1057031"/>
            <a:ext cx="10458412" cy="5262979"/>
          </a:xfrm>
          <a:prstGeom prst="rect">
            <a:avLst/>
          </a:prstGeom>
        </p:spPr>
        <p:txBody>
          <a:bodyPr wrap="square">
            <a:spAutoFit/>
          </a:bodyPr>
          <a:lstStyle/>
          <a:p>
            <a:pPr algn="just">
              <a:buClrTx/>
              <a:buFontTx/>
              <a:buNone/>
            </a:pPr>
            <a:r>
              <a:rPr lang="en-US" sz="1400" b="1" err="1">
                <a:solidFill>
                  <a:prstClr val="black"/>
                </a:solidFill>
                <a:latin typeface="Times New Roman" panose="02020603050405020304" pitchFamily="18" charset="0"/>
                <a:cs typeface="Times New Roman" panose="02020603050405020304" pitchFamily="18" charset="0"/>
              </a:rPr>
              <a:t>Nhận</a:t>
            </a:r>
            <a:r>
              <a:rPr lang="en-US" sz="1400" b="1">
                <a:solidFill>
                  <a:prstClr val="black"/>
                </a:solidFill>
                <a:latin typeface="Times New Roman" panose="02020603050405020304" pitchFamily="18" charset="0"/>
                <a:cs typeface="Times New Roman" panose="02020603050405020304" pitchFamily="18" charset="0"/>
              </a:rPr>
              <a:t> </a:t>
            </a:r>
            <a:r>
              <a:rPr lang="en-US" sz="1400" b="1" err="1">
                <a:solidFill>
                  <a:prstClr val="black"/>
                </a:solidFill>
                <a:latin typeface="Times New Roman" panose="02020603050405020304" pitchFamily="18" charset="0"/>
                <a:cs typeface="Times New Roman" panose="02020603050405020304" pitchFamily="18" charset="0"/>
              </a:rPr>
              <a:t>xét</a:t>
            </a:r>
            <a:r>
              <a:rPr lang="en-US" sz="1400" b="1">
                <a:solidFill>
                  <a:prstClr val="black"/>
                </a:solidFill>
                <a:latin typeface="Times New Roman" panose="02020603050405020304" pitchFamily="18" charset="0"/>
                <a:cs typeface="Times New Roman" panose="02020603050405020304" pitchFamily="18" charset="0"/>
              </a:rPr>
              <a:t>: </a:t>
            </a:r>
          </a:p>
          <a:p>
            <a:pPr marL="285750" indent="-285750" algn="just">
              <a:buClrTx/>
              <a:buFontTx/>
              <a:buChar char="-"/>
            </a:pPr>
            <a:r>
              <a:rPr lang="vi-VN" sz="1400">
                <a:solidFill>
                  <a:prstClr val="black"/>
                </a:solidFill>
                <a:latin typeface="Times New Roman" panose="02020603050405020304" pitchFamily="18" charset="0"/>
                <a:cs typeface="Times New Roman" panose="02020603050405020304" pitchFamily="18" charset="0"/>
              </a:rPr>
              <a:t>Tình hình kỹ thuật đội bay </a:t>
            </a:r>
            <a:r>
              <a:rPr lang="en-US" sz="1400">
                <a:solidFill>
                  <a:prstClr val="black"/>
                </a:solidFill>
                <a:latin typeface="Times New Roman" panose="02020603050405020304" pitchFamily="18" charset="0"/>
                <a:cs typeface="Times New Roman" panose="02020603050405020304" pitchFamily="18" charset="0"/>
              </a:rPr>
              <a:t>B787 trong tuần tương không tốt với 02 TH GTB và 02 TH AOG. </a:t>
            </a:r>
          </a:p>
          <a:p>
            <a:pPr marL="285750" indent="-285750" algn="just">
              <a:buClrTx/>
              <a:buFontTx/>
              <a:buChar char="-"/>
            </a:pPr>
            <a:r>
              <a:rPr lang="en-US" sz="1400">
                <a:solidFill>
                  <a:prstClr val="black"/>
                </a:solidFill>
                <a:latin typeface="Times New Roman" panose="02020603050405020304" pitchFamily="18" charset="0"/>
                <a:cs typeface="Times New Roman" panose="02020603050405020304" pitchFamily="18" charset="0"/>
              </a:rPr>
              <a:t>Hỏng hóc nổi cộm: </a:t>
            </a:r>
          </a:p>
          <a:p>
            <a:pPr lvl="1" algn="just"/>
            <a:r>
              <a:rPr lang="en-SG" sz="1400">
                <a:solidFill>
                  <a:prstClr val="black"/>
                </a:solidFill>
                <a:latin typeface="Times New Roman" panose="02020603050405020304" pitchFamily="18" charset="0"/>
                <a:cs typeface="Times New Roman" panose="02020603050405020304" pitchFamily="18" charset="0"/>
              </a:rPr>
              <a:t>+ </a:t>
            </a:r>
            <a:r>
              <a:rPr lang="en-SG" sz="1400" smtClean="0">
                <a:solidFill>
                  <a:prstClr val="black"/>
                </a:solidFill>
                <a:latin typeface="Times New Roman" panose="02020603050405020304" pitchFamily="18" charset="0"/>
                <a:cs typeface="Times New Roman" panose="02020603050405020304" pitchFamily="18" charset="0"/>
              </a:rPr>
              <a:t> </a:t>
            </a:r>
            <a:r>
              <a:rPr lang="en-SG" sz="1400">
                <a:solidFill>
                  <a:prstClr val="black"/>
                </a:solidFill>
                <a:latin typeface="Times New Roman" panose="02020603050405020304" pitchFamily="18" charset="0"/>
                <a:cs typeface="Times New Roman" panose="02020603050405020304" pitchFamily="18" charset="0"/>
              </a:rPr>
              <a:t>A863 GTB VN429 HAN-SGN ngày 13/05 do BRAKE CONTROL STS -&gt; </a:t>
            </a:r>
            <a:r>
              <a:rPr lang="en-US" sz="1400">
                <a:solidFill>
                  <a:prstClr val="black"/>
                </a:solidFill>
                <a:latin typeface="Times New Roman" panose="02020603050405020304" pitchFamily="18" charset="0"/>
                <a:cs typeface="Times New Roman" panose="02020603050405020304" pitchFamily="18" charset="0"/>
              </a:rPr>
              <a:t>Raise MEL</a:t>
            </a:r>
          </a:p>
          <a:p>
            <a:pPr lvl="1" algn="just"/>
            <a:r>
              <a:rPr lang="vi-VN" sz="1400">
                <a:solidFill>
                  <a:srgbClr val="FF0000"/>
                </a:solidFill>
                <a:cs typeface="Times New Roman" panose="02020603050405020304" pitchFamily="18" charset="0"/>
              </a:rPr>
              <a:t>Tàu có FDE Brake/autobrake liên quan đến 8 EBA trên các Brake khác nhau. Sau đó VAE đã thực hiện thay 6 EBA khi thực hiện Opt test và clear MMSG.</a:t>
            </a:r>
          </a:p>
          <a:p>
            <a:pPr lvl="1" algn="just"/>
            <a:r>
              <a:rPr lang="vi-VN" sz="1400">
                <a:solidFill>
                  <a:srgbClr val="FF0000"/>
                </a:solidFill>
                <a:cs typeface="Times New Roman" panose="02020603050405020304" pitchFamily="18" charset="0"/>
              </a:rPr>
              <a:t>Thay Wheel 7 EBA #2 PN OFF C20604001 ngày 13may</a:t>
            </a:r>
          </a:p>
          <a:p>
            <a:pPr lvl="1" algn="just"/>
            <a:r>
              <a:rPr lang="vi-VN" sz="1400">
                <a:solidFill>
                  <a:srgbClr val="FF0000"/>
                </a:solidFill>
                <a:cs typeface="Times New Roman" panose="02020603050405020304" pitchFamily="18" charset="0"/>
              </a:rPr>
              <a:t>Thay Wheel 2 EBA #1 PN OFF C20604000 ngày 14may</a:t>
            </a:r>
          </a:p>
          <a:p>
            <a:pPr lvl="1" algn="just"/>
            <a:r>
              <a:rPr lang="vi-VN" sz="1400">
                <a:solidFill>
                  <a:srgbClr val="FF0000"/>
                </a:solidFill>
                <a:cs typeface="Times New Roman" panose="02020603050405020304" pitchFamily="18" charset="0"/>
              </a:rPr>
              <a:t>Thay Wheel 3 EBA #1 PN OFF C20604001 ngày 14may</a:t>
            </a:r>
          </a:p>
          <a:p>
            <a:pPr lvl="1" algn="just"/>
            <a:r>
              <a:rPr lang="vi-VN" sz="1400">
                <a:solidFill>
                  <a:srgbClr val="FF0000"/>
                </a:solidFill>
                <a:cs typeface="Times New Roman" panose="02020603050405020304" pitchFamily="18" charset="0"/>
              </a:rPr>
              <a:t>Thay Wheel 3 EBA #4 PN OFF C20604001 ngày 14may</a:t>
            </a:r>
          </a:p>
          <a:p>
            <a:pPr lvl="1" algn="just"/>
            <a:r>
              <a:rPr lang="vi-VN" sz="1400">
                <a:solidFill>
                  <a:srgbClr val="FF0000"/>
                </a:solidFill>
                <a:cs typeface="Times New Roman" panose="02020603050405020304" pitchFamily="18" charset="0"/>
              </a:rPr>
              <a:t>Thay Wheel 1 EBA #4 PN OFF C20604001 ngày 16may</a:t>
            </a:r>
          </a:p>
          <a:p>
            <a:pPr lvl="1" algn="just"/>
            <a:r>
              <a:rPr lang="vi-VN" sz="1400">
                <a:solidFill>
                  <a:srgbClr val="FF0000"/>
                </a:solidFill>
                <a:cs typeface="Times New Roman" panose="02020603050405020304" pitchFamily="18" charset="0"/>
              </a:rPr>
              <a:t>Thay Wheel 2 EBA #4 PN OFF C20604100 ngày 16may</a:t>
            </a:r>
          </a:p>
          <a:p>
            <a:pPr lvl="1" algn="just"/>
            <a:r>
              <a:rPr lang="vi-VN" sz="1400">
                <a:solidFill>
                  <a:srgbClr val="FF0000"/>
                </a:solidFill>
                <a:cs typeface="Times New Roman" panose="02020603050405020304" pitchFamily="18" charset="0"/>
              </a:rPr>
              <a:t>Sau 3 ngày thì các MMSG này không còn xuất hiện. Thông tin hỏng hóc và dữ liệu DFDR đã được gửi tới BOE để đánh giá thêm.</a:t>
            </a:r>
          </a:p>
          <a:p>
            <a:pPr lvl="1" algn="just"/>
            <a:r>
              <a:rPr lang="vi-VN" sz="1400">
                <a:solidFill>
                  <a:srgbClr val="FF0000"/>
                </a:solidFill>
                <a:cs typeface="Times New Roman" panose="02020603050405020304" pitchFamily="18" charset="0"/>
              </a:rPr>
              <a:t>EBA hiện đang có số lượng tháo lắp nhiều nhất của Fleet. </a:t>
            </a:r>
          </a:p>
          <a:p>
            <a:pPr lvl="1" algn="just"/>
            <a:r>
              <a:rPr lang="vi-VN" sz="1400">
                <a:solidFill>
                  <a:srgbClr val="FF0000"/>
                </a:solidFill>
                <a:cs typeface="Times New Roman" panose="02020603050405020304" pitchFamily="18" charset="0"/>
              </a:rPr>
              <a:t>OEM đã có PN nâng cấp mới nhất là P/N C20604100 ban hành để khai thác Q1 2024 và đang được thực hiện on attrition theo hợp đồng pool. Các cải tiến ở PN mới:</a:t>
            </a:r>
            <a:r>
              <a:rPr lang="en-US" sz="1400">
                <a:solidFill>
                  <a:srgbClr val="FF0000"/>
                </a:solidFill>
                <a:latin typeface="Times New Roman" panose="02020603050405020304" pitchFamily="18" charset="0"/>
                <a:cs typeface="Times New Roman" panose="02020603050405020304" pitchFamily="18" charset="0"/>
              </a:rPr>
              <a:t> + </a:t>
            </a:r>
            <a:r>
              <a:rPr lang="vi-VN" sz="1400">
                <a:solidFill>
                  <a:srgbClr val="FF0000"/>
                </a:solidFill>
                <a:cs typeface="Times New Roman" panose="02020603050405020304" pitchFamily="18" charset="0"/>
              </a:rPr>
              <a:t>Nâng cấp các chi tiết làm kín  (sealing)</a:t>
            </a:r>
            <a:r>
              <a:rPr lang="en-US" sz="1400">
                <a:solidFill>
                  <a:srgbClr val="FF0000"/>
                </a:solidFill>
                <a:latin typeface="Times New Roman" panose="02020603050405020304" pitchFamily="18" charset="0"/>
                <a:cs typeface="Times New Roman" panose="02020603050405020304" pitchFamily="18" charset="0"/>
              </a:rPr>
              <a:t>; + </a:t>
            </a:r>
            <a:r>
              <a:rPr lang="vi-VN" sz="1400">
                <a:solidFill>
                  <a:srgbClr val="FF0000"/>
                </a:solidFill>
                <a:cs typeface="Times New Roman" panose="02020603050405020304" pitchFamily="18" charset="0"/>
              </a:rPr>
              <a:t>Tăng khả năng sửa chữa thiết bị</a:t>
            </a:r>
            <a:r>
              <a:rPr lang="en-US" sz="1400">
                <a:solidFill>
                  <a:srgbClr val="FF0000"/>
                </a:solidFill>
                <a:latin typeface="Times New Roman" panose="02020603050405020304" pitchFamily="18" charset="0"/>
                <a:cs typeface="Times New Roman" panose="02020603050405020304" pitchFamily="18" charset="0"/>
              </a:rPr>
              <a:t>; + </a:t>
            </a:r>
            <a:r>
              <a:rPr lang="vi-VN" sz="1400">
                <a:solidFill>
                  <a:srgbClr val="FF0000"/>
                </a:solidFill>
                <a:cs typeface="Times New Roman" panose="02020603050405020304" pitchFamily="18" charset="0"/>
              </a:rPr>
              <a:t>Tăng tính thay thế và lắp lẫn giữa các phiên bản</a:t>
            </a:r>
            <a:r>
              <a:rPr lang="en-US" sz="1400">
                <a:solidFill>
                  <a:srgbClr val="FF0000"/>
                </a:solidFill>
                <a:latin typeface="Times New Roman" panose="02020603050405020304" pitchFamily="18" charset="0"/>
                <a:cs typeface="Times New Roman" panose="02020603050405020304" pitchFamily="18" charset="0"/>
              </a:rPr>
              <a:t>; + </a:t>
            </a:r>
            <a:r>
              <a:rPr lang="vi-VN" sz="1400">
                <a:solidFill>
                  <a:srgbClr val="FF0000"/>
                </a:solidFill>
                <a:cs typeface="Times New Roman" panose="02020603050405020304" pitchFamily="18" charset="0"/>
              </a:rPr>
              <a:t>Cập nhật thêm yêu cầu benches test cho Brake và Motor.</a:t>
            </a:r>
            <a:endParaRPr lang="en-US" sz="1400">
              <a:solidFill>
                <a:srgbClr val="FF0000"/>
              </a:solidFill>
              <a:latin typeface="Times New Roman" panose="02020603050405020304" pitchFamily="18" charset="0"/>
              <a:cs typeface="Times New Roman" panose="02020603050405020304" pitchFamily="18" charset="0"/>
            </a:endParaRPr>
          </a:p>
          <a:p>
            <a:pPr lvl="1" algn="just"/>
            <a:endParaRPr lang="en-US" sz="1400">
              <a:solidFill>
                <a:srgbClr val="FF0000"/>
              </a:solidFill>
              <a:latin typeface="Times New Roman" panose="02020603050405020304" pitchFamily="18" charset="0"/>
              <a:cs typeface="Times New Roman" panose="02020603050405020304" pitchFamily="18" charset="0"/>
            </a:endParaRPr>
          </a:p>
          <a:p>
            <a:pPr lvl="1" algn="just"/>
            <a:r>
              <a:rPr lang="en-US" sz="1400">
                <a:latin typeface="Times New Roman" panose="02020603050405020304" pitchFamily="18" charset="0"/>
                <a:cs typeface="Times New Roman" panose="02020603050405020304" pitchFamily="18" charset="0"/>
              </a:rPr>
              <a:t>+ A863 GTB VN36 FRA-HAN ngày 15/05 do FWD EE ACCESS DOOR OPEN DURING TAXI -&gt; ON GROUND CHECK FWD EE ACCESS DOOR CLOSED AND LOCKED, ADD B1715 RAISE, sẽ kiểm tra khắc phục trong check đến 20/05.</a:t>
            </a:r>
          </a:p>
          <a:p>
            <a:pPr lvl="1" algn="just"/>
            <a:r>
              <a:rPr lang="vi-VN" sz="1400">
                <a:solidFill>
                  <a:srgbClr val="FF0000"/>
                </a:solidFill>
                <a:cs typeface="Times New Roman" panose="02020603050405020304" pitchFamily="18" charset="0"/>
              </a:rPr>
              <a:t>Tàu hiện đang mở MEL để khai thác. Hỏng hóc có thể đo Sensor của cửa. Cần thực hiện Adjust, clean hoặc phải thay Sensor để khắc phục. Thống kê ĐTC với cửa E/E: A864 tháng 7/2024 thay sensor cho AFT E/E A864 Tháng 9/2016 thay sensor cho FWD E/E. A869 Tháng 12/2016 thay sensor cho AFT E/E: Sensor này được lắp trên nhiều vị trí để theo dõi đóng mở cửa (pax, cargo; gear; fuel ...), cả Fleet đã từng thay 11 khối. Boe hiện không có issue liên quan đến sensor này.</a:t>
            </a:r>
            <a:endParaRPr lang="en-SG" sz="1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5165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8F17B81-745E-43F9-95AF-359EADAF9C2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E3D9386E-CB27-0FA5-A8B4-5F8374B3F159}"/>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010B559A-ABEC-3C1C-8B0F-78AC157317CA}"/>
              </a:ext>
            </a:extLst>
          </p:cNvPr>
          <p:cNvSpPr>
            <a:spLocks noGrp="1"/>
          </p:cNvSpPr>
          <p:nvPr>
            <p:ph type="title"/>
          </p:nvPr>
        </p:nvSpPr>
        <p:spPr>
          <a:xfrm>
            <a:off x="833908" y="335404"/>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TextBox 2">
            <a:extLst>
              <a:ext uri="{FF2B5EF4-FFF2-40B4-BE49-F238E27FC236}">
                <a16:creationId xmlns:a16="http://schemas.microsoft.com/office/drawing/2014/main" id="{6146DA51-23CC-D6EE-A05C-E4B1B633BE75}"/>
              </a:ext>
            </a:extLst>
          </p:cNvPr>
          <p:cNvSpPr txBox="1"/>
          <p:nvPr/>
        </p:nvSpPr>
        <p:spPr>
          <a:xfrm>
            <a:off x="833908" y="1131609"/>
            <a:ext cx="10591799"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Rectangle 6">
            <a:extLst>
              <a:ext uri="{FF2B5EF4-FFF2-40B4-BE49-F238E27FC236}">
                <a16:creationId xmlns:a16="http://schemas.microsoft.com/office/drawing/2014/main" id="{795CC2F9-72E9-47BD-A040-3231760CEEDB}"/>
              </a:ext>
            </a:extLst>
          </p:cNvPr>
          <p:cNvSpPr/>
          <p:nvPr/>
        </p:nvSpPr>
        <p:spPr>
          <a:xfrm>
            <a:off x="880649" y="1759476"/>
            <a:ext cx="10668000" cy="584775"/>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smtClean="0">
                <a:solidFill>
                  <a:prstClr val="black"/>
                </a:solidFill>
                <a:latin typeface="Times New Roman" panose="02020603050405020304" pitchFamily="18" charset="0"/>
                <a:cs typeface="Times New Roman" panose="02020603050405020304" pitchFamily="18" charset="0"/>
              </a:rPr>
              <a:t>ATR72 </a:t>
            </a:r>
            <a:r>
              <a:rPr lang="en-US" sz="1600">
                <a:solidFill>
                  <a:prstClr val="black"/>
                </a:solidFill>
                <a:latin typeface="Times New Roman" panose="02020603050405020304" pitchFamily="18" charset="0"/>
                <a:cs typeface="Times New Roman" panose="02020603050405020304" pitchFamily="18" charset="0"/>
              </a:rPr>
              <a:t>trong tuần </a:t>
            </a:r>
            <a:r>
              <a:rPr lang="en-US" sz="1600" smtClean="0">
                <a:solidFill>
                  <a:prstClr val="black"/>
                </a:solidFill>
                <a:latin typeface="Times New Roman" panose="02020603050405020304" pitchFamily="18" charset="0"/>
                <a:cs typeface="Times New Roman" panose="02020603050405020304" pitchFamily="18" charset="0"/>
              </a:rPr>
              <a:t>tốt.</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373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W20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12/05/2025-18/05/20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20/2025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đội </a:t>
            </a:r>
            <a:r>
              <a:rPr lang="en-US" sz="1400" noProof="0">
                <a:solidFill>
                  <a:prstClr val="black"/>
                </a:solidFill>
                <a:latin typeface="Times New Roman" panose="02020603050405020304" pitchFamily="18" charset="0"/>
                <a:cs typeface="Times New Roman" panose="02020603050405020304" pitchFamily="18" charset="0"/>
              </a:rPr>
              <a:t>A350 và ATR72</a:t>
            </a:r>
            <a:r>
              <a:rPr lang="en-US" sz="1400">
                <a:solidFill>
                  <a:prstClr val="black"/>
                </a:solidFill>
                <a:latin typeface="Times New Roman" panose="02020603050405020304" pitchFamily="18" charset="0"/>
                <a:cs typeface="Times New Roman" panose="02020603050405020304" pitchFamily="18" charset="0"/>
              </a:rPr>
              <a:t> đạt mục tiêu, các đội A321 và B787 không đạt mục tiêu</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99,60% thấp hơn 0,03%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8 sự kiện delay KT liên quan tới các hệ thống BMC, LGCIU, Pack Overheat, Cargo Door Stuck, MODE SEL PB, Cabin Assignment Module.</a:t>
            </a:r>
            <a:endParaRPr lang="vi-VN" sz="14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100% cao hơn 0,56%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98,58% </a:t>
            </a:r>
            <a:r>
              <a:rPr lang="en-US" sz="1400">
                <a:latin typeface="Times New Roman" panose="02020603050405020304" pitchFamily="18" charset="0"/>
                <a:cs typeface="Times New Roman" panose="02020603050405020304" pitchFamily="18" charset="0"/>
              </a:rPr>
              <a:t>thấp hơn 0,78% so với mục tiêu do có 5 sự kiện liên quan tới các hệ thống Sensor FE Access Door, Brake Control SYS, Harness W701158 damage, Rudder PCU.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100% cao hơn 0,35%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0" name="Chart 9">
            <a:extLst>
              <a:ext uri="{FF2B5EF4-FFF2-40B4-BE49-F238E27FC236}">
                <a16:creationId xmlns:a16="http://schemas.microsoft.com/office/drawing/2014/main" id="{00000000-0008-0000-0000-000006000000}"/>
              </a:ext>
            </a:extLst>
          </p:cNvPr>
          <p:cNvGraphicFramePr>
            <a:graphicFrameLocks/>
          </p:cNvGraphicFramePr>
          <p:nvPr/>
        </p:nvGraphicFramePr>
        <p:xfrm>
          <a:off x="552665" y="1107762"/>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2984004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18</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606959"/>
          <a:ext cx="11878434" cy="6034761"/>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34166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SSA 2024 đã ký với mức hỗ trợ SSA 2024 13.5k cho 2024/10k cho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rPr>
                        <a:t>PW đã cung cấp tổng cộng 17 slot.</a:t>
                      </a:r>
                      <a:endPar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họp telecon với PW ngày 03/05 về nội dung liên quan đến slot Induct, SSA 2024 CAP, Lease engine  PW cung cấp cho VNA thuê 01 ĐC từ tháng 6, đồng thời xem xét gia hạn CAP SSA khi vượt ng</a:t>
                      </a:r>
                      <a:r>
                        <a:rPr lang="vi-VN" sz="1300" u="none" strike="noStrike" kern="1200" baseline="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 cung cấp 14-16 slot induct.</a:t>
                      </a:r>
                      <a:endPar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 chức họp định kỳ hàng tháng với PW</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 07/05 họp cấp cao với PW về các vấn đề pending. Tiếp tục follow tại cuộc họp hàng tháng.</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GE đã gửi thư hỗ trợ và KT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sẽ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trình ký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tuần 12 - 16/05</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1417932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19</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1691752748"/>
              </p:ext>
            </p:extLst>
          </p:nvPr>
        </p:nvGraphicFramePr>
        <p:xfrm>
          <a:off x="156782" y="536017"/>
          <a:ext cx="11878434" cy="5888835"/>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30744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7582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eTechlog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 lựa chọn AMOSeTL của Swiss-AS</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vướng mắc khâu đàm phán/ký kết hợp đồng: Để tối </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 hiệu suất, cần tích hợp eTL vào cùng c</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sở hạ tầng với AMOS. Do vậy cần chờ Swiss-AS và VAECO thống nhất Change Request tr</a:t>
                      </a:r>
                      <a:r>
                        <a:rPr lang="vi-VN"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ớc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3400">
                <a:tc>
                  <a:txBody>
                    <a:bodyPr/>
                    <a:lstStyle/>
                    <a:p>
                      <a:pPr algn="ctr" fontAlgn="b"/>
                      <a:r>
                        <a:rPr lang="en-US" sz="1300" b="0" i="0" u="none" strike="noStrike">
                          <a:solidFill>
                            <a:schemeClr val="tx1"/>
                          </a:solidFill>
                          <a:effectLst/>
                          <a:latin typeface="Times New Roman" panose="02020603050405020304" pitchFamily="18" charset="0"/>
                          <a:cs typeface="Times New Roman" panose="02020603050405020304" pitchFamily="18" charset="0"/>
                        </a:rPr>
                        <a:t>5</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300" b="0" i="0" u="none" strike="noStrike" kern="1200" baseline="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làm việc với 1 số nhà sản xuất (Teledyne, Collins...) về STC lắp WQAR. TAT dự kiến 3 tháng, chi phí dự kiến 40k</a:t>
                      </a: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Symbol" panose="05050102010706020507" pitchFamily="18" charset="2"/>
                        </a:rPr>
                        <a:t></a:t>
                      </a:r>
                      <a:r>
                        <a:rPr lang="en-US" sz="1300" u="none" strike="noStrike" kern="1200" baseline="0" smtClean="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60k USD/tàu. </a:t>
                      </a:r>
                      <a:r>
                        <a:rPr lang="en-US" sz="1300" u="none" strike="noStrike" kern="1200" baseline="0" smtClean="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 làm tờ trình Phó TGĐKT </a:t>
                      </a:r>
                      <a:r>
                        <a:rPr lang="vi-VN" sz="1300" u="none" strike="noStrike" kern="1200" baseline="0" smtClean="0">
                          <a:solidFill>
                            <a:srgbClr val="FF0000"/>
                          </a:solidFill>
                          <a:effectLst/>
                          <a:latin typeface="+mn-lt"/>
                          <a:ea typeface="+mn-ea"/>
                          <a:cs typeface="Times New Roman" panose="02020603050405020304" pitchFamily="18" charset="0"/>
                          <a:sym typeface="Wingdings" panose="05000000000000000000" pitchFamily="2" charset="2"/>
                        </a:rPr>
                        <a:t>phê duyệt phương án LCNCC</a:t>
                      </a:r>
                      <a:r>
                        <a:rPr lang="en-US" sz="1300" u="none" strike="noStrike" kern="1200" baseline="0" smtClean="0">
                          <a:solidFill>
                            <a:srgbClr val="FF0000"/>
                          </a:solidFill>
                          <a:effectLst/>
                          <a:latin typeface="+mn-lt"/>
                          <a:ea typeface="+mn-ea"/>
                          <a:cs typeface="Times New Roman" panose="02020603050405020304" pitchFamily="18" charset="0"/>
                          <a:sym typeface="Wingdings" panose="05000000000000000000" pitchFamily="2" charset="2"/>
                        </a:rPr>
                        <a:t>.</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185706">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6</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solidFill>
                            <a:schemeClr val="tx1"/>
                          </a:solidFill>
                          <a:latin typeface="Times New Roman" panose="02020603050405020304" pitchFamily="18" charset="0"/>
                          <a:cs typeface="Times New Roman" panose="02020603050405020304" pitchFamily="18" charset="0"/>
                        </a:rPr>
                        <a:t>IFC 10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A350</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b="0" dirty="0">
                          <a:solidFill>
                            <a:schemeClr val="tx1"/>
                          </a:solidFill>
                          <a:latin typeface="Times New Roman" panose="02020603050405020304" pitchFamily="18" charset="0"/>
                          <a:cs typeface="Times New Roman" panose="02020603050405020304" pitchFamily="18" charset="0"/>
                        </a:rPr>
                        <a:t>04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nâng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cấp</a:t>
                      </a:r>
                      <a:r>
                        <a:rPr lang="en-US" sz="1300" b="0" dirty="0">
                          <a:solidFill>
                            <a:schemeClr val="tx1"/>
                          </a:solidFill>
                          <a:latin typeface="Times New Roman" panose="02020603050405020304" pitchFamily="18" charset="0"/>
                          <a:cs typeface="Times New Roman" panose="02020603050405020304" pitchFamily="18" charset="0"/>
                        </a:rPr>
                        <a:t> HW (on-wing/off-wing): A892, A899, A893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300" b="0" dirty="0">
                          <a:solidFill>
                            <a:schemeClr val="tx1"/>
                          </a:solidFill>
                          <a:latin typeface="Times New Roman" panose="02020603050405020304" pitchFamily="18" charset="0"/>
                          <a:cs typeface="Times New Roman" panose="02020603050405020304" pitchFamily="18" charset="0"/>
                        </a:rPr>
                        <a:t>KH </a:t>
                      </a:r>
                      <a:r>
                        <a:rPr lang="en-US" sz="1300" b="0" dirty="0" err="1">
                          <a:solidFill>
                            <a:schemeClr val="tx1"/>
                          </a:solidFill>
                          <a:latin typeface="Times New Roman" panose="02020603050405020304" pitchFamily="18" charset="0"/>
                          <a:cs typeface="Times New Roman" panose="02020603050405020304" pitchFamily="18" charset="0"/>
                        </a:rPr>
                        <a:t>nâng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cấp</a:t>
                      </a:r>
                      <a:r>
                        <a:rPr lang="en-US" sz="1300" b="0" dirty="0">
                          <a:solidFill>
                            <a:schemeClr val="tx1"/>
                          </a:solidFill>
                          <a:latin typeface="Times New Roman" panose="02020603050405020304" pitchFamily="18" charset="0"/>
                          <a:cs typeface="Times New Roman" panose="02020603050405020304" pitchFamily="18" charset="0"/>
                        </a:rPr>
                        <a:t> SW activation 04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A893 (18-19/5), A899 (22-23/5), A8932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A896 (</a:t>
                      </a:r>
                      <a:r>
                        <a:rPr lang="en-US" sz="1300" b="0" dirty="0" err="1">
                          <a:solidFill>
                            <a:schemeClr val="tx1"/>
                          </a:solidFill>
                          <a:latin typeface="Times New Roman" panose="02020603050405020304" pitchFamily="18" charset="0"/>
                          <a:cs typeface="Times New Roman" panose="02020603050405020304" pitchFamily="18" charset="0"/>
                        </a:rPr>
                        <a:t>chờ</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xếp</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lịch</a:t>
                      </a:r>
                      <a:r>
                        <a:rPr lang="en-US" sz="1300" b="0"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300" b="0" dirty="0">
                          <a:solidFill>
                            <a:schemeClr val="tx1"/>
                          </a:solidFill>
                          <a:latin typeface="Times New Roman" panose="02020603050405020304" pitchFamily="18" charset="0"/>
                          <a:cs typeface="Times New Roman" panose="02020603050405020304" pitchFamily="18" charset="0"/>
                        </a:rPr>
                        <a:t>Các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lại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cần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gửi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khối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nâng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cấp</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tại</a:t>
                      </a:r>
                      <a:r>
                        <a:rPr lang="en-US" sz="1300" b="0" dirty="0">
                          <a:solidFill>
                            <a:schemeClr val="tx1"/>
                          </a:solidFill>
                          <a:latin typeface="Times New Roman" panose="02020603050405020304" pitchFamily="18" charset="0"/>
                          <a:cs typeface="Times New Roman" panose="02020603050405020304" pitchFamily="18" charset="0"/>
                        </a:rPr>
                        <a:t> shop (TAT </a:t>
                      </a:r>
                      <a:r>
                        <a:rPr lang="en-US" sz="1300" b="0" dirty="0" err="1">
                          <a:solidFill>
                            <a:schemeClr val="tx1"/>
                          </a:solidFill>
                          <a:latin typeface="Times New Roman" panose="02020603050405020304" pitchFamily="18" charset="0"/>
                          <a:cs typeface="Times New Roman" panose="02020603050405020304" pitchFamily="18" charset="0"/>
                        </a:rPr>
                        <a:t>tại</a:t>
                      </a:r>
                      <a:r>
                        <a:rPr lang="en-US" sz="1300" b="0" dirty="0">
                          <a:solidFill>
                            <a:schemeClr val="tx1"/>
                          </a:solidFill>
                          <a:latin typeface="Times New Roman" panose="02020603050405020304" pitchFamily="18" charset="0"/>
                          <a:cs typeface="Times New Roman" panose="02020603050405020304" pitchFamily="18" charset="0"/>
                        </a:rPr>
                        <a:t> HON shop </a:t>
                      </a:r>
                      <a:r>
                        <a:rPr lang="en-US" sz="1300" b="0" dirty="0" err="1">
                          <a:solidFill>
                            <a:schemeClr val="tx1"/>
                          </a:solidFill>
                          <a:latin typeface="Times New Roman" panose="02020603050405020304" pitchFamily="18" charset="0"/>
                          <a:cs typeface="Times New Roman" panose="02020603050405020304" pitchFamily="18" charset="0"/>
                        </a:rPr>
                        <a:t>đang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bị</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kéo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dài</a:t>
                      </a:r>
                      <a:r>
                        <a:rPr lang="en-US" sz="1300" b="0" dirty="0">
                          <a:solidFill>
                            <a:schemeClr val="tx1"/>
                          </a:solidFill>
                          <a:latin typeface="Times New Roman" panose="02020603050405020304" pitchFamily="18" charset="0"/>
                          <a:cs typeface="Times New Roman" panose="02020603050405020304" pitchFamily="18" charset="0"/>
                        </a:rPr>
                        <a:t> 120 </a:t>
                      </a:r>
                      <a:r>
                        <a:rPr lang="en-US" sz="1300" b="0" dirty="0" err="1">
                          <a:solidFill>
                            <a:schemeClr val="tx1"/>
                          </a:solidFill>
                          <a:latin typeface="Times New Roman" panose="02020603050405020304" pitchFamily="18" charset="0"/>
                          <a:cs typeface="Times New Roman" panose="02020603050405020304" pitchFamily="18" charset="0"/>
                        </a:rPr>
                        <a:t>ngày</a:t>
                      </a:r>
                      <a:r>
                        <a:rPr lang="en-US" sz="1300" b="0" dirty="0">
                          <a:solidFill>
                            <a:schemeClr val="tx1"/>
                          </a:solidFill>
                          <a:latin typeface="Times New Roman" panose="02020603050405020304" pitchFamily="18" charset="0"/>
                          <a:cs typeface="Times New Roman" panose="02020603050405020304" pitchFamily="18" charset="0"/>
                        </a:rPr>
                        <a:t>)</a:t>
                      </a:r>
                    </a:p>
                    <a:p>
                      <a:pPr marL="176213" lvl="1" indent="-176213">
                        <a:lnSpc>
                          <a:spcPct val="130000"/>
                        </a:lnSpc>
                        <a:buFontTx/>
                        <a:buChar char="-"/>
                      </a:pPr>
                      <a:r>
                        <a:rPr lang="en-US" sz="1300" b="0" dirty="0">
                          <a:solidFill>
                            <a:schemeClr val="tx1"/>
                          </a:solidFill>
                          <a:latin typeface="Times New Roman" panose="02020603050405020304" pitchFamily="18" charset="0"/>
                          <a:cs typeface="Times New Roman" panose="02020603050405020304" pitchFamily="18" charset="0"/>
                        </a:rPr>
                        <a:t>Đào </a:t>
                      </a:r>
                      <a:r>
                        <a:rPr lang="en-US" sz="1300" b="0" dirty="0" err="1">
                          <a:solidFill>
                            <a:schemeClr val="tx1"/>
                          </a:solidFill>
                          <a:latin typeface="Times New Roman" panose="02020603050405020304" pitchFamily="18" charset="0"/>
                          <a:cs typeface="Times New Roman" panose="02020603050405020304" pitchFamily="18" charset="0"/>
                        </a:rPr>
                        <a:t>tạo</a:t>
                      </a:r>
                      <a:r>
                        <a:rPr lang="en-US" sz="1300" b="0" dirty="0">
                          <a:solidFill>
                            <a:schemeClr val="tx1"/>
                          </a:solidFill>
                          <a:latin typeface="Times New Roman" panose="02020603050405020304" pitchFamily="18" charset="0"/>
                          <a:cs typeface="Times New Roman" panose="02020603050405020304" pitchFamily="18" charset="0"/>
                        </a:rPr>
                        <a:t> IFC VAECO 19-20/2/2025: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thực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hiện</a:t>
                      </a:r>
                      <a:endParaRPr lang="en-US" sz="1300" b="0" dirty="0">
                        <a:solidFill>
                          <a:schemeClr val="tx1"/>
                        </a:solidFill>
                        <a:latin typeface="Times New Roman" panose="02020603050405020304" pitchFamily="18" charset="0"/>
                        <a:cs typeface="Times New Roman" panose="02020603050405020304" pitchFamily="18" charset="0"/>
                      </a:endParaRP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dirty="0">
                          <a:solidFill>
                            <a:schemeClr val="tx1"/>
                          </a:solidFill>
                          <a:latin typeface="Times New Roman" panose="02020603050405020304" pitchFamily="18" charset="0"/>
                          <a:cs typeface="Times New Roman" panose="02020603050405020304" pitchFamily="18" charset="0"/>
                        </a:rPr>
                        <a:t>Tài </a:t>
                      </a:r>
                      <a:r>
                        <a:rPr lang="en-US" sz="1300" b="0" dirty="0" err="1">
                          <a:solidFill>
                            <a:schemeClr val="tx1"/>
                          </a:solidFill>
                          <a:latin typeface="Times New Roman" panose="02020603050405020304" pitchFamily="18" charset="0"/>
                          <a:cs typeface="Times New Roman" panose="02020603050405020304" pitchFamily="18" charset="0"/>
                        </a:rPr>
                        <a:t>liệu</a:t>
                      </a:r>
                      <a:r>
                        <a:rPr lang="en-US" sz="1300" b="0" dirty="0">
                          <a:solidFill>
                            <a:schemeClr val="tx1"/>
                          </a:solidFill>
                          <a:latin typeface="Times New Roman" panose="02020603050405020304" pitchFamily="18" charset="0"/>
                          <a:cs typeface="Times New Roman" panose="02020603050405020304" pitchFamily="18" charset="0"/>
                        </a:rPr>
                        <a:t> TSM </a:t>
                      </a:r>
                      <a:r>
                        <a:rPr lang="en-US" sz="1300" b="0" dirty="0" err="1">
                          <a:solidFill>
                            <a:schemeClr val="tx1"/>
                          </a:solidFill>
                          <a:latin typeface="Times New Roman" panose="02020603050405020304" pitchFamily="18" charset="0"/>
                          <a:cs typeface="Times New Roman" panose="02020603050405020304" pitchFamily="18" charset="0"/>
                        </a:rPr>
                        <a:t>hệ</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thống</a:t>
                      </a:r>
                      <a:r>
                        <a:rPr lang="en-US" sz="1300" b="0" dirty="0">
                          <a:solidFill>
                            <a:schemeClr val="tx1"/>
                          </a:solidFill>
                          <a:latin typeface="Times New Roman" panose="02020603050405020304" pitchFamily="18" charset="0"/>
                          <a:cs typeface="Times New Roman" panose="02020603050405020304" pitchFamily="18" charset="0"/>
                        </a:rPr>
                        <a:t> IFC: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giao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triển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khai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cho</a:t>
                      </a:r>
                      <a:r>
                        <a:rPr lang="en-US" sz="1300" b="0" dirty="0">
                          <a:solidFill>
                            <a:schemeClr val="tx1"/>
                          </a:solidFill>
                          <a:latin typeface="Times New Roman" panose="02020603050405020304" pitchFamily="18" charset="0"/>
                          <a:cs typeface="Times New Roman" panose="02020603050405020304" pitchFamily="18" charset="0"/>
                        </a:rPr>
                        <a:t> VAECO</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dirty="0">
                          <a:solidFill>
                            <a:schemeClr val="tx1"/>
                          </a:solidFill>
                          <a:latin typeface="Times New Roman" panose="02020603050405020304" pitchFamily="18" charset="0"/>
                          <a:cs typeface="Times New Roman" panose="02020603050405020304" pitchFamily="18" charset="0"/>
                        </a:rPr>
                        <a:t>Tài </a:t>
                      </a:r>
                      <a:r>
                        <a:rPr lang="en-US" sz="1300" b="0" dirty="0" err="1">
                          <a:solidFill>
                            <a:schemeClr val="tx1"/>
                          </a:solidFill>
                          <a:latin typeface="Times New Roman" panose="02020603050405020304" pitchFamily="18" charset="0"/>
                          <a:cs typeface="Times New Roman" panose="02020603050405020304" pitchFamily="18" charset="0"/>
                        </a:rPr>
                        <a:t>liệu</a:t>
                      </a:r>
                      <a:r>
                        <a:rPr lang="en-US" sz="1300" b="0" dirty="0">
                          <a:solidFill>
                            <a:schemeClr val="tx1"/>
                          </a:solidFill>
                          <a:latin typeface="Times New Roman" panose="02020603050405020304" pitchFamily="18" charset="0"/>
                          <a:cs typeface="Times New Roman" panose="02020603050405020304" pitchFamily="18" charset="0"/>
                        </a:rPr>
                        <a:t> AMM: update </a:t>
                      </a:r>
                      <a:r>
                        <a:rPr lang="en-US" sz="1300" b="0" dirty="0" err="1">
                          <a:solidFill>
                            <a:schemeClr val="tx1"/>
                          </a:solidFill>
                          <a:latin typeface="Times New Roman" panose="02020603050405020304" pitchFamily="18" charset="0"/>
                          <a:cs typeface="Times New Roman" panose="02020603050405020304" pitchFamily="18" charset="0"/>
                        </a:rPr>
                        <a:t>trong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tháng</a:t>
                      </a:r>
                      <a:r>
                        <a:rPr lang="en-US" sz="1300" b="0" dirty="0">
                          <a:solidFill>
                            <a:schemeClr val="tx1"/>
                          </a:solidFill>
                          <a:latin typeface="Times New Roman" panose="02020603050405020304" pitchFamily="18" charset="0"/>
                          <a:cs typeface="Times New Roman" panose="02020603050405020304" pitchFamily="18" charset="0"/>
                        </a:rPr>
                        <a:t> 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dirty="0" err="1">
                          <a:solidFill>
                            <a:schemeClr val="tx1"/>
                          </a:solidFill>
                          <a:latin typeface="Times New Roman" panose="02020603050405020304" pitchFamily="18" charset="0"/>
                          <a:cs typeface="Times New Roman" panose="02020603050405020304" pitchFamily="18" charset="0"/>
                        </a:rPr>
                        <a:t>Vật</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tư</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dự</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phòng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giao</a:t>
                      </a:r>
                      <a:endParaRPr lang="en-US" sz="1300" b="0"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118570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3876969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20</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228600" y="209484"/>
            <a:ext cx="11612516"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976893058"/>
              </p:ext>
            </p:extLst>
          </p:nvPr>
        </p:nvGraphicFramePr>
        <p:xfrm>
          <a:off x="228600" y="863485"/>
          <a:ext cx="11612515" cy="5642418"/>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solidFill>
                            <a:schemeClr val="tx1"/>
                          </a:solidFill>
                          <a:latin typeface="Times New Roman" panose="02020603050405020304" pitchFamily="18" charset="0"/>
                          <a:cs typeface="Times New Roman" panose="02020603050405020304" pitchFamily="18" charset="0"/>
                        </a:rPr>
                        <a:t>CĐCH </a:t>
                      </a:r>
                      <a:r>
                        <a:rPr lang="en-US" sz="1300" b="0" dirty="0" err="1">
                          <a:solidFill>
                            <a:schemeClr val="tx1"/>
                          </a:solidFill>
                          <a:latin typeface="Times New Roman" panose="02020603050405020304" pitchFamily="18" charset="0"/>
                          <a:cs typeface="Times New Roman" panose="02020603050405020304" pitchFamily="18" charset="0"/>
                        </a:rPr>
                        <a:t>ghế</a:t>
                      </a:r>
                      <a:r>
                        <a:rPr lang="en-US" sz="1300" b="0" dirty="0">
                          <a:solidFill>
                            <a:schemeClr val="tx1"/>
                          </a:solidFill>
                          <a:latin typeface="Times New Roman" panose="02020603050405020304" pitchFamily="18" charset="0"/>
                          <a:cs typeface="Times New Roman" panose="02020603050405020304" pitchFamily="18" charset="0"/>
                        </a:rPr>
                        <a:t> 23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A321CEO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phát</a:t>
                      </a:r>
                      <a:r>
                        <a:rPr lang="en-US" sz="1300" b="0" dirty="0">
                          <a:solidFill>
                            <a:schemeClr val="tx1"/>
                          </a:solidFill>
                          <a:latin typeface="Times New Roman" panose="02020603050405020304" pitchFamily="18" charset="0"/>
                          <a:cs typeface="Times New Roman" panose="02020603050405020304" pitchFamily="18" charset="0"/>
                        </a:rPr>
                        <a:t> HSYC </a:t>
                      </a:r>
                      <a:r>
                        <a:rPr lang="en-US" sz="1300" b="0" dirty="0" err="1">
                          <a:solidFill>
                            <a:schemeClr val="tx1"/>
                          </a:solidFill>
                          <a:latin typeface="Times New Roman" panose="02020603050405020304" pitchFamily="18" charset="0"/>
                          <a:cs typeface="Times New Roman" panose="02020603050405020304" pitchFamily="18" charset="0"/>
                        </a:rPr>
                        <a:t>lần</a:t>
                      </a:r>
                      <a:r>
                        <a:rPr lang="en-US" sz="1300" b="0" dirty="0">
                          <a:solidFill>
                            <a:schemeClr val="tx1"/>
                          </a:solidFill>
                          <a:latin typeface="Times New Roman" panose="02020603050405020304" pitchFamily="18" charset="0"/>
                          <a:cs typeface="Times New Roman" panose="02020603050405020304" pitchFamily="18" charset="0"/>
                        </a:rPr>
                        <a:t> 1,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lần</a:t>
                      </a:r>
                      <a:r>
                        <a:rPr lang="en-US" sz="1300" b="0" dirty="0">
                          <a:solidFill>
                            <a:schemeClr val="tx1"/>
                          </a:solidFill>
                          <a:latin typeface="Times New Roman" panose="02020603050405020304" pitchFamily="18" charset="0"/>
                          <a:cs typeface="Times New Roman" panose="02020603050405020304" pitchFamily="18" charset="0"/>
                        </a:rPr>
                        <a:t> 2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nhận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bản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chào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lần</a:t>
                      </a:r>
                      <a:r>
                        <a:rPr lang="en-US" sz="1300" b="0" dirty="0">
                          <a:solidFill>
                            <a:schemeClr val="tx1"/>
                          </a:solidFill>
                          <a:latin typeface="Times New Roman" panose="02020603050405020304" pitchFamily="18" charset="0"/>
                          <a:cs typeface="Times New Roman" panose="02020603050405020304" pitchFamily="18" charset="0"/>
                        </a:rPr>
                        <a:t> 2</a:t>
                      </a:r>
                    </a:p>
                    <a:p>
                      <a:pPr marL="176213" lvl="1" indent="-176213">
                        <a:lnSpc>
                          <a:spcPct val="130000"/>
                        </a:lnSpc>
                        <a:buFontTx/>
                        <a:buChar char="-"/>
                      </a:pPr>
                      <a:r>
                        <a:rPr lang="en-US" sz="1300" b="0" dirty="0" err="1">
                          <a:solidFill>
                            <a:schemeClr val="tx1"/>
                          </a:solidFill>
                          <a:latin typeface="Times New Roman" panose="02020603050405020304" pitchFamily="18" charset="0"/>
                          <a:cs typeface="Times New Roman" panose="02020603050405020304" pitchFamily="18" charset="0"/>
                        </a:rPr>
                        <a:t>Tổ</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hoàn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thành</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đánh</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giá</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bản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chào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lần</a:t>
                      </a:r>
                      <a:r>
                        <a:rPr lang="en-US" sz="1300" b="0" dirty="0">
                          <a:solidFill>
                            <a:schemeClr val="tx1"/>
                          </a:solidFill>
                          <a:latin typeface="Times New Roman" panose="02020603050405020304" pitchFamily="18" charset="0"/>
                          <a:cs typeface="Times New Roman" panose="02020603050405020304" pitchFamily="18" charset="0"/>
                        </a:rPr>
                        <a:t> 2 =&gt; </a:t>
                      </a:r>
                      <a:r>
                        <a:rPr lang="en-US" sz="1300" b="0" dirty="0" err="1">
                          <a:solidFill>
                            <a:schemeClr val="tx1"/>
                          </a:solidFill>
                          <a:latin typeface="Times New Roman" panose="02020603050405020304" pitchFamily="18" charset="0"/>
                          <a:cs typeface="Times New Roman" panose="02020603050405020304" pitchFamily="18" charset="0"/>
                        </a:rPr>
                        <a:t>tổ</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giải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trình</a:t>
                      </a:r>
                      <a:r>
                        <a:rPr lang="en-US" sz="1300" b="0" dirty="0">
                          <a:solidFill>
                            <a:schemeClr val="tx1"/>
                          </a:solidFill>
                          <a:latin typeface="Times New Roman" panose="02020603050405020304" pitchFamily="18" charset="0"/>
                          <a:cs typeface="Times New Roman" panose="02020603050405020304" pitchFamily="18" charset="0"/>
                        </a:rPr>
                        <a:t> ban </a:t>
                      </a:r>
                      <a:r>
                        <a:rPr lang="en-US" sz="1300" b="0" dirty="0" err="1">
                          <a:solidFill>
                            <a:schemeClr val="tx1"/>
                          </a:solidFill>
                          <a:latin typeface="Times New Roman" panose="02020603050405020304" pitchFamily="18" charset="0"/>
                          <a:cs typeface="Times New Roman" panose="02020603050405020304" pitchFamily="18" charset="0"/>
                        </a:rPr>
                        <a:t>kiểm</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toàn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nội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bộ</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trình</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kết</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quả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lựa</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chọn</a:t>
                      </a:r>
                      <a:r>
                        <a:rPr lang="en-US" sz="1300" b="0" dirty="0">
                          <a:solidFill>
                            <a:schemeClr val="tx1"/>
                          </a:solidFill>
                          <a:latin typeface="Times New Roman" panose="02020603050405020304" pitchFamily="18" charset="0"/>
                          <a:cs typeface="Times New Roman" panose="02020603050405020304" pitchFamily="18" charset="0"/>
                        </a:rPr>
                        <a:t> NCC </a:t>
                      </a:r>
                      <a:r>
                        <a:rPr lang="en-US" sz="1300" b="0" dirty="0" err="1">
                          <a:solidFill>
                            <a:schemeClr val="tx1"/>
                          </a:solidFill>
                          <a:latin typeface="Times New Roman" panose="02020603050405020304" pitchFamily="18" charset="0"/>
                          <a:cs typeface="Times New Roman" panose="02020603050405020304" pitchFamily="18" charset="0"/>
                        </a:rPr>
                        <a:t>ghế</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STC =&gt; </a:t>
                      </a:r>
                      <a:r>
                        <a:rPr lang="en-US" sz="1300" b="0" dirty="0" err="1">
                          <a:solidFill>
                            <a:schemeClr val="tx1"/>
                          </a:solidFill>
                          <a:latin typeface="Times New Roman" panose="02020603050405020304" pitchFamily="18" charset="0"/>
                          <a:cs typeface="Times New Roman" panose="02020603050405020304" pitchFamily="18" charset="0"/>
                        </a:rPr>
                        <a:t>tiếp</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trình</a:t>
                      </a:r>
                      <a:r>
                        <a:rPr lang="en-US" sz="1300" b="0" dirty="0">
                          <a:solidFill>
                            <a:schemeClr val="tx1"/>
                          </a:solidFill>
                          <a:latin typeface="Times New Roman" panose="02020603050405020304" pitchFamily="18" charset="0"/>
                          <a:cs typeface="Times New Roman" panose="02020603050405020304" pitchFamily="18" charset="0"/>
                        </a:rPr>
                        <a:t> TGĐ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HĐQT </a:t>
                      </a:r>
                      <a:r>
                        <a:rPr lang="en-US" sz="1300" b="0" dirty="0" err="1">
                          <a:solidFill>
                            <a:schemeClr val="tx1"/>
                          </a:solidFill>
                          <a:latin typeface="Times New Roman" panose="02020603050405020304" pitchFamily="18" charset="0"/>
                          <a:cs typeface="Times New Roman" panose="02020603050405020304" pitchFamily="18" charset="0"/>
                        </a:rPr>
                        <a:t>vê</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duyệt</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kết</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quả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lựa</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chọn</a:t>
                      </a:r>
                      <a:r>
                        <a:rPr lang="en-US" sz="1300" b="0" dirty="0">
                          <a:solidFill>
                            <a:schemeClr val="tx1"/>
                          </a:solidFill>
                          <a:latin typeface="Times New Roman" panose="02020603050405020304" pitchFamily="18" charset="0"/>
                          <a:cs typeface="Times New Roman" panose="02020603050405020304" pitchFamily="18" charset="0"/>
                        </a:rPr>
                        <a:t>; </a:t>
                      </a:r>
                    </a:p>
                    <a:p>
                      <a:pPr marL="176213" lvl="1" indent="-176213">
                        <a:lnSpc>
                          <a:spcPct val="130000"/>
                        </a:lnSpc>
                        <a:buFontTx/>
                        <a:buChar char="-"/>
                      </a:pPr>
                      <a:r>
                        <a:rPr lang="en-US" sz="1300" b="0" dirty="0">
                          <a:solidFill>
                            <a:schemeClr val="tx1"/>
                          </a:solidFill>
                          <a:latin typeface="Times New Roman" panose="02020603050405020304" pitchFamily="18" charset="0"/>
                          <a:cs typeface="Times New Roman" panose="02020603050405020304" pitchFamily="18" charset="0"/>
                        </a:rPr>
                        <a:t>Ban KT </a:t>
                      </a:r>
                      <a:r>
                        <a:rPr lang="en-US" sz="1300" b="0" dirty="0" err="1">
                          <a:solidFill>
                            <a:schemeClr val="tx1"/>
                          </a:solidFill>
                          <a:latin typeface="Times New Roman" panose="02020603050405020304" pitchFamily="18" charset="0"/>
                          <a:cs typeface="Times New Roman" panose="02020603050405020304" pitchFamily="18" charset="0"/>
                        </a:rPr>
                        <a:t>đã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làm</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việc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với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đối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tác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họp</a:t>
                      </a:r>
                      <a:r>
                        <a:rPr lang="en-US" sz="1300" b="0" dirty="0">
                          <a:solidFill>
                            <a:schemeClr val="tx1"/>
                          </a:solidFill>
                          <a:latin typeface="Times New Roman" panose="02020603050405020304" pitchFamily="18" charset="0"/>
                          <a:cs typeface="Times New Roman" panose="02020603050405020304" pitchFamily="18" charset="0"/>
                        </a:rPr>
                        <a:t> pre-ICTM,  </a:t>
                      </a:r>
                      <a:r>
                        <a:rPr lang="en-US" sz="1300" b="0" dirty="0" err="1">
                          <a:solidFill>
                            <a:schemeClr val="tx1"/>
                          </a:solidFill>
                          <a:latin typeface="Times New Roman" panose="02020603050405020304" pitchFamily="18" charset="0"/>
                          <a:cs typeface="Times New Roman" panose="02020603050405020304" pitchFamily="18" charset="0"/>
                        </a:rPr>
                        <a:t>dự</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kiến</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thông</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báo</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kết</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quả</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chính</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thức</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và</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phát</a:t>
                      </a:r>
                      <a:r>
                        <a:rPr lang="en-US" sz="1300" b="0" dirty="0">
                          <a:solidFill>
                            <a:schemeClr val="tx1"/>
                          </a:solidFill>
                          <a:latin typeface="Times New Roman" panose="02020603050405020304" pitchFamily="18" charset="0"/>
                          <a:cs typeface="Times New Roman" panose="02020603050405020304" pitchFamily="18" charset="0"/>
                        </a:rPr>
                        <a:t> PO </a:t>
                      </a:r>
                      <a:r>
                        <a:rPr lang="en-US" sz="1300" b="0" dirty="0" err="1">
                          <a:solidFill>
                            <a:schemeClr val="tx1"/>
                          </a:solidFill>
                          <a:latin typeface="Times New Roman" panose="02020603050405020304" pitchFamily="18" charset="0"/>
                          <a:cs typeface="Times New Roman" panose="02020603050405020304" pitchFamily="18" charset="0"/>
                        </a:rPr>
                        <a:t>cuối</a:t>
                      </a:r>
                      <a:r>
                        <a:rPr lang="en-US" sz="1300" b="0" dirty="0">
                          <a:solidFill>
                            <a:schemeClr val="tx1"/>
                          </a:solidFill>
                          <a:latin typeface="Times New Roman" panose="02020603050405020304" pitchFamily="18" charset="0"/>
                          <a:cs typeface="Times New Roman" panose="02020603050405020304" pitchFamily="18" charset="0"/>
                        </a:rPr>
                        <a:t> </a:t>
                      </a:r>
                      <a:r>
                        <a:rPr lang="en-US" sz="1300" b="0" dirty="0" err="1">
                          <a:solidFill>
                            <a:schemeClr val="tx1"/>
                          </a:solidFill>
                          <a:latin typeface="Times New Roman" panose="02020603050405020304" pitchFamily="18" charset="0"/>
                          <a:cs typeface="Times New Roman" panose="02020603050405020304" pitchFamily="18" charset="0"/>
                        </a:rPr>
                        <a:t>tháng</a:t>
                      </a:r>
                      <a:r>
                        <a:rPr lang="en-US" sz="1300" b="0" dirty="0">
                          <a:solidFill>
                            <a:schemeClr val="tx1"/>
                          </a:solidFill>
                          <a:latin typeface="Times New Roman" panose="02020603050405020304" pitchFamily="18" charset="0"/>
                          <a:cs typeface="Times New Roman" panose="02020603050405020304" pitchFamily="18" charset="0"/>
                        </a:rPr>
                        <a:t> 5/2025</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9</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solidFill>
                            <a:schemeClr val="tx1"/>
                          </a:solidFill>
                          <a:latin typeface="Times New Roman" panose="02020603050405020304" pitchFamily="18" charset="0"/>
                          <a:cs typeface="Times New Roman" panose="02020603050405020304" pitchFamily="18" charset="0"/>
                        </a:rPr>
                        <a:t>Decal </a:t>
                      </a:r>
                      <a:r>
                        <a:rPr lang="en-US" sz="1300" b="0" dirty="0" err="1">
                          <a:solidFill>
                            <a:schemeClr val="tx1"/>
                          </a:solidFill>
                          <a:latin typeface="Times New Roman" panose="02020603050405020304" pitchFamily="18" charset="0"/>
                          <a:cs typeface="Times New Roman" panose="02020603050405020304" pitchFamily="18" charset="0"/>
                        </a:rPr>
                        <a:t>báo</a:t>
                      </a:r>
                      <a:r>
                        <a:rPr lang="en-US" sz="1300" b="0" dirty="0">
                          <a:solidFill>
                            <a:schemeClr val="tx1"/>
                          </a:solidFill>
                          <a:latin typeface="Times New Roman" panose="02020603050405020304" pitchFamily="18" charset="0"/>
                          <a:cs typeface="Times New Roman" panose="02020603050405020304" pitchFamily="18" charset="0"/>
                        </a:rPr>
                        <a:t> ND</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err="1">
                          <a:solidFill>
                            <a:schemeClr val="tx1"/>
                          </a:solidFill>
                          <a:latin typeface="Times New Roman" panose="02020603050405020304" pitchFamily="18" charset="0"/>
                          <a:ea typeface="+mn-ea"/>
                          <a:cs typeface="Times New Roman" panose="02020603050405020304" pitchFamily="18" charset="0"/>
                        </a:rPr>
                        <a:t>Đã</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có</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bản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chào</a:t>
                      </a:r>
                      <a:r>
                        <a:rPr lang="en-US" sz="1300" b="0" kern="1200" dirty="0">
                          <a:solidFill>
                            <a:schemeClr val="tx1"/>
                          </a:solidFill>
                          <a:latin typeface="Times New Roman" panose="02020603050405020304" pitchFamily="18" charset="0"/>
                          <a:ea typeface="+mn-ea"/>
                          <a:cs typeface="Times New Roman" panose="02020603050405020304" pitchFamily="18" charset="0"/>
                        </a:rPr>
                        <a:t> chi </a:t>
                      </a:r>
                      <a:r>
                        <a:rPr lang="en-US" sz="1300" b="0" kern="1200" dirty="0" err="1">
                          <a:solidFill>
                            <a:schemeClr val="tx1"/>
                          </a:solidFill>
                          <a:latin typeface="Times New Roman" panose="02020603050405020304" pitchFamily="18" charset="0"/>
                          <a:ea typeface="+mn-ea"/>
                          <a:cs typeface="Times New Roman" panose="02020603050405020304" pitchFamily="18" charset="0"/>
                        </a:rPr>
                        <a:t>phí</a:t>
                      </a:r>
                      <a:r>
                        <a:rPr lang="en-US" sz="1300" b="0" kern="1200" dirty="0">
                          <a:solidFill>
                            <a:schemeClr val="tx1"/>
                          </a:solidFill>
                          <a:latin typeface="Times New Roman" panose="02020603050405020304" pitchFamily="18" charset="0"/>
                          <a:ea typeface="+mn-ea"/>
                          <a:cs typeface="Times New Roman" panose="02020603050405020304" pitchFamily="18" charset="0"/>
                        </a:rPr>
                        <a:t> SB &amp; </a:t>
                      </a:r>
                      <a:r>
                        <a:rPr lang="en-US" sz="1300" b="0" kern="1200" dirty="0" err="1">
                          <a:solidFill>
                            <a:schemeClr val="tx1"/>
                          </a:solidFill>
                          <a:latin typeface="Times New Roman" panose="02020603050405020304" pitchFamily="18" charset="0"/>
                          <a:ea typeface="+mn-ea"/>
                          <a:cs typeface="Times New Roman" panose="02020603050405020304" pitchFamily="18" charset="0"/>
                        </a:rPr>
                        <a:t>modkit</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cho</a:t>
                      </a:r>
                      <a:r>
                        <a:rPr lang="en-US" sz="1300" b="0" kern="1200" dirty="0">
                          <a:solidFill>
                            <a:schemeClr val="tx1"/>
                          </a:solidFill>
                          <a:latin typeface="Times New Roman" panose="02020603050405020304" pitchFamily="18" charset="0"/>
                          <a:ea typeface="+mn-ea"/>
                          <a:cs typeface="Times New Roman" panose="02020603050405020304" pitchFamily="18" charset="0"/>
                        </a:rPr>
                        <a:t> B787 =&gt; ban KT </a:t>
                      </a:r>
                      <a:r>
                        <a:rPr lang="en-US" sz="1300" b="0" kern="1200" dirty="0" err="1">
                          <a:solidFill>
                            <a:schemeClr val="tx1"/>
                          </a:solidFill>
                          <a:latin typeface="Times New Roman" panose="02020603050405020304" pitchFamily="18" charset="0"/>
                          <a:ea typeface="+mn-ea"/>
                          <a:cs typeface="Times New Roman" panose="02020603050405020304" pitchFamily="18" charset="0"/>
                        </a:rPr>
                        <a:t>đã</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phát</a:t>
                      </a:r>
                      <a:r>
                        <a:rPr lang="en-US" sz="1300" b="0" kern="1200" dirty="0">
                          <a:solidFill>
                            <a:schemeClr val="tx1"/>
                          </a:solidFill>
                          <a:latin typeface="Times New Roman" panose="02020603050405020304" pitchFamily="18" charset="0"/>
                          <a:ea typeface="+mn-ea"/>
                          <a:cs typeface="Times New Roman" panose="02020603050405020304" pitchFamily="18" charset="0"/>
                        </a:rPr>
                        <a:t> PO </a:t>
                      </a:r>
                      <a:r>
                        <a:rPr lang="en-US" sz="1300" b="0" kern="1200" dirty="0" err="1">
                          <a:solidFill>
                            <a:schemeClr val="tx1"/>
                          </a:solidFill>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khai</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dự</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kiến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b="0" kern="1200" dirty="0">
                          <a:solidFill>
                            <a:schemeClr val="tx1"/>
                          </a:solidFill>
                          <a:latin typeface="Times New Roman" panose="02020603050405020304" pitchFamily="18" charset="0"/>
                          <a:ea typeface="+mn-ea"/>
                          <a:cs typeface="Times New Roman" panose="02020603050405020304" pitchFamily="18" charset="0"/>
                        </a:rPr>
                        <a:t> 17-21/5/2025</a:t>
                      </a:r>
                    </a:p>
                    <a:p>
                      <a:pPr marL="176213" marR="0" lvl="1" indent="-176213" algn="l" defTabSz="914400" rtl="0" eaLnBrk="1" fontAlgn="auto" latinLnBrk="0" hangingPunct="1">
                        <a:lnSpc>
                          <a:spcPct val="130000"/>
                        </a:lnSpc>
                        <a:spcBef>
                          <a:spcPts val="0"/>
                        </a:spcBef>
                        <a:spcAft>
                          <a:spcPts val="0"/>
                        </a:spcAft>
                        <a:buClrTx/>
                        <a:buSzTx/>
                        <a:buFontTx/>
                        <a:buChar char="-"/>
                        <a:tabLst/>
                        <a:defRPr/>
                      </a:pPr>
                      <a:r>
                        <a:rPr lang="en-US" sz="1300" b="0" kern="1200" dirty="0">
                          <a:solidFill>
                            <a:schemeClr val="tx1"/>
                          </a:solidFill>
                          <a:latin typeface="Times New Roman" panose="02020603050405020304" pitchFamily="18" charset="0"/>
                          <a:ea typeface="+mn-ea"/>
                          <a:cs typeface="Times New Roman" panose="02020603050405020304" pitchFamily="18" charset="0"/>
                        </a:rPr>
                        <a:t>VAECO </a:t>
                      </a:r>
                      <a:r>
                        <a:rPr lang="en-US" sz="1300" b="0" kern="1200" dirty="0" err="1">
                          <a:solidFill>
                            <a:schemeClr val="tx1"/>
                          </a:solidFill>
                          <a:latin typeface="Times New Roman" panose="02020603050405020304" pitchFamily="18" charset="0"/>
                          <a:ea typeface="+mn-ea"/>
                          <a:cs typeface="Times New Roman" panose="02020603050405020304" pitchFamily="18" charset="0"/>
                        </a:rPr>
                        <a:t>sẽ</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thực</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hiện</a:t>
                      </a:r>
                      <a:r>
                        <a:rPr lang="en-US" sz="1300" b="0" kern="1200" dirty="0">
                          <a:solidFill>
                            <a:schemeClr val="tx1"/>
                          </a:solidFill>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latin typeface="Times New Roman" panose="02020603050405020304" pitchFamily="18" charset="0"/>
                          <a:ea typeface="+mn-ea"/>
                          <a:cs typeface="Times New Roman" panose="02020603050405020304" pitchFamily="18" charset="0"/>
                        </a:rPr>
                        <a:t>dán</a:t>
                      </a:r>
                      <a:r>
                        <a:rPr lang="en-US" sz="1300" b="0" kern="1200" dirty="0">
                          <a:solidFill>
                            <a:schemeClr val="tx1"/>
                          </a:solidFill>
                          <a:latin typeface="Times New Roman" panose="02020603050405020304" pitchFamily="18" charset="0"/>
                          <a:ea typeface="+mn-ea"/>
                          <a:cs typeface="Times New Roman" panose="02020603050405020304" pitchFamily="18" charset="0"/>
                        </a:rPr>
                        <a:t> decal</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914617"/>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Local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endPar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VAECO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sát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năng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Tiến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thành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nghiệm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di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5-6/2025.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sở</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xây</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hồ</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sơ</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a:t>
                      </a:r>
                    </a:p>
                    <a:p>
                      <a:pPr marL="342900" lvl="1" indent="-342900">
                        <a:lnSpc>
                          <a:spcPct val="130000"/>
                        </a:lnSpc>
                        <a:buFontTx/>
                        <a:buAutoNum type="alphaLcPeriod"/>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Mua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EASA</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một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số</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đôi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tác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trong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OEM Safran.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DOA regent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đồng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ý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nghiên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cứu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để</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vách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ngăn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p>
                    <a:p>
                      <a:pPr marL="0" lvl="1" indent="0">
                        <a:lnSpc>
                          <a:spcPct val="130000"/>
                        </a:lnSpc>
                        <a:buFontTx/>
                        <a:buNone/>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liệu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ảnh</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video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thông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trúc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=&gt;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kiến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Regent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cung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cấp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VNA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local mode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mua</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vật</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tư</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đủ</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triển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khai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lắp</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trên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bay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theo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dụng</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OCC. Tiến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4/20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thực</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mod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3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check</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Tree>
    <p:extLst>
      <p:ext uri="{BB962C8B-B14F-4D97-AF65-F5344CB8AC3E}">
        <p14:creationId xmlns:p14="http://schemas.microsoft.com/office/powerpoint/2010/main" val="1470032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62DBD6D-0E55-49C5-944E-0A919014F196}"/>
              </a:ext>
            </a:extLst>
          </p:cNvPr>
          <p:cNvGraphicFramePr>
            <a:graphicFrameLocks noGrp="1"/>
          </p:cNvGraphicFramePr>
          <p:nvPr>
            <p:extLst>
              <p:ext uri="{D42A27DB-BD31-4B8C-83A1-F6EECF244321}">
                <p14:modId xmlns:p14="http://schemas.microsoft.com/office/powerpoint/2010/main" val="1732479505"/>
              </p:ext>
            </p:extLst>
          </p:nvPr>
        </p:nvGraphicFramePr>
        <p:xfrm>
          <a:off x="2362200" y="3142104"/>
          <a:ext cx="8610600" cy="3276601"/>
        </p:xfrm>
        <a:graphic>
          <a:graphicData uri="http://schemas.openxmlformats.org/drawingml/2006/table">
            <a:tbl>
              <a:tblPr firstRow="1" firstCol="1" bandRow="1"/>
              <a:tblGrid>
                <a:gridCol w="608030">
                  <a:extLst>
                    <a:ext uri="{9D8B030D-6E8A-4147-A177-3AD203B41FA5}">
                      <a16:colId xmlns:a16="http://schemas.microsoft.com/office/drawing/2014/main" val="1531600724"/>
                    </a:ext>
                  </a:extLst>
                </a:gridCol>
                <a:gridCol w="1630726">
                  <a:extLst>
                    <a:ext uri="{9D8B030D-6E8A-4147-A177-3AD203B41FA5}">
                      <a16:colId xmlns:a16="http://schemas.microsoft.com/office/drawing/2014/main" val="2778344331"/>
                    </a:ext>
                  </a:extLst>
                </a:gridCol>
                <a:gridCol w="1377696">
                  <a:extLst>
                    <a:ext uri="{9D8B030D-6E8A-4147-A177-3AD203B41FA5}">
                      <a16:colId xmlns:a16="http://schemas.microsoft.com/office/drawing/2014/main" val="51065387"/>
                    </a:ext>
                  </a:extLst>
                </a:gridCol>
                <a:gridCol w="1205484">
                  <a:extLst>
                    <a:ext uri="{9D8B030D-6E8A-4147-A177-3AD203B41FA5}">
                      <a16:colId xmlns:a16="http://schemas.microsoft.com/office/drawing/2014/main" val="783667054"/>
                    </a:ext>
                  </a:extLst>
                </a:gridCol>
                <a:gridCol w="1291590">
                  <a:extLst>
                    <a:ext uri="{9D8B030D-6E8A-4147-A177-3AD203B41FA5}">
                      <a16:colId xmlns:a16="http://schemas.microsoft.com/office/drawing/2014/main" val="2213163783"/>
                    </a:ext>
                  </a:extLst>
                </a:gridCol>
                <a:gridCol w="2497074">
                  <a:extLst>
                    <a:ext uri="{9D8B030D-6E8A-4147-A177-3AD203B41FA5}">
                      <a16:colId xmlns:a16="http://schemas.microsoft.com/office/drawing/2014/main" val="3043656086"/>
                    </a:ext>
                  </a:extLst>
                </a:gridCol>
              </a:tblGrid>
              <a:tr h="857967">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STT</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Tàu bay</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dirty="0" err="1">
                          <a:solidFill>
                            <a:schemeClr val="tx1"/>
                          </a:solidFill>
                          <a:effectLst/>
                          <a:latin typeface="Times New Roman" panose="02020603050405020304" pitchFamily="18" charset="0"/>
                          <a:cs typeface="Times New Roman" panose="02020603050405020304" pitchFamily="18" charset="0"/>
                        </a:rPr>
                        <a:t>Ngày</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bàn</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giao</a:t>
                      </a:r>
                      <a:r>
                        <a:rPr lang="en-US" sz="1300" b="0" kern="100" dirty="0">
                          <a:solidFill>
                            <a:schemeClr val="tx1"/>
                          </a:solidFill>
                          <a:effectLst/>
                          <a:latin typeface="Times New Roman" panose="02020603050405020304" pitchFamily="18" charset="0"/>
                          <a:cs typeface="Times New Roman" panose="02020603050405020304" pitchFamily="18" charset="0"/>
                        </a:rPr>
                        <a:t> </a:t>
                      </a:r>
                      <a:r>
                        <a:rPr lang="en-US" sz="1300" b="0" kern="100" dirty="0" err="1">
                          <a:solidFill>
                            <a:schemeClr val="tx1"/>
                          </a:solidFill>
                          <a:effectLst/>
                          <a:latin typeface="Times New Roman" panose="02020603050405020304" pitchFamily="18" charset="0"/>
                          <a:cs typeface="Times New Roman" panose="02020603050405020304" pitchFamily="18" charset="0"/>
                        </a:rPr>
                        <a:t>cho</a:t>
                      </a:r>
                      <a:r>
                        <a:rPr lang="en-US" sz="1300" b="0" kern="100" dirty="0">
                          <a:solidFill>
                            <a:schemeClr val="tx1"/>
                          </a:solidFill>
                          <a:effectLst/>
                          <a:latin typeface="Times New Roman" panose="02020603050405020304" pitchFamily="18" charset="0"/>
                          <a:cs typeface="Times New Roman" panose="02020603050405020304" pitchFamily="18" charset="0"/>
                        </a:rPr>
                        <a:t> PA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Ngày</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trả</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tàu</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US" sz="1300" b="0" kern="100">
                          <a:solidFill>
                            <a:schemeClr val="tx1"/>
                          </a:solidFill>
                          <a:effectLst/>
                          <a:latin typeface="Times New Roman" panose="02020603050405020304" pitchFamily="18" charset="0"/>
                          <a:cs typeface="Times New Roman" panose="02020603050405020304" pitchFamily="18" charset="0"/>
                        </a:rPr>
                        <a:t>Lịch SC Thân</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err="1">
                          <a:solidFill>
                            <a:schemeClr val="tx1"/>
                          </a:solidFill>
                          <a:effectLst/>
                          <a:latin typeface="Times New Roman" panose="02020603050405020304" pitchFamily="18" charset="0"/>
                          <a:cs typeface="Times New Roman" panose="02020603050405020304" pitchFamily="18" charset="0"/>
                        </a:rPr>
                        <a:t>Dự</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kiến</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err="1">
                          <a:solidFill>
                            <a:schemeClr val="tx1"/>
                          </a:solidFill>
                          <a:effectLst/>
                          <a:latin typeface="Times New Roman" panose="02020603050405020304" pitchFamily="18" charset="0"/>
                          <a:cs typeface="Times New Roman" panose="02020603050405020304" pitchFamily="18" charset="0"/>
                        </a:rPr>
                        <a:t>thời</a:t>
                      </a:r>
                      <a:r>
                        <a:rPr lang="en-GB" sz="1300" b="0" kern="100">
                          <a:solidFill>
                            <a:schemeClr val="tx1"/>
                          </a:solidFill>
                          <a:effectLst/>
                          <a:latin typeface="Times New Roman" panose="02020603050405020304" pitchFamily="18" charset="0"/>
                          <a:cs typeface="Times New Roman" panose="02020603050405020304" pitchFamily="18" charset="0"/>
                        </a:rPr>
                        <a:t> </a:t>
                      </a:r>
                    </a:p>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gian </a:t>
                      </a:r>
                      <a:r>
                        <a:rPr lang="en-GB" sz="1300" b="0" kern="100" dirty="0" err="1">
                          <a:solidFill>
                            <a:schemeClr val="tx1"/>
                          </a:solidFill>
                          <a:effectLst/>
                          <a:latin typeface="Times New Roman" panose="02020603050405020304" pitchFamily="18" charset="0"/>
                          <a:cs typeface="Times New Roman" panose="02020603050405020304" pitchFamily="18" charset="0"/>
                        </a:rPr>
                        <a:t>sửa</a:t>
                      </a:r>
                      <a:r>
                        <a:rPr lang="en-GB" sz="1300" b="0" kern="100" dirty="0">
                          <a:solidFill>
                            <a:schemeClr val="tx1"/>
                          </a:solidFill>
                          <a:effectLst/>
                          <a:latin typeface="Times New Roman" panose="02020603050405020304" pitchFamily="18" charset="0"/>
                          <a:cs typeface="Times New Roman" panose="02020603050405020304" pitchFamily="18" charset="0"/>
                        </a:rPr>
                        <a:t> </a:t>
                      </a:r>
                      <a:r>
                        <a:rPr lang="en-GB" sz="1300" b="0" kern="100" dirty="0" err="1">
                          <a:solidFill>
                            <a:schemeClr val="tx1"/>
                          </a:solidFill>
                          <a:effectLst/>
                          <a:latin typeface="Times New Roman" panose="02020603050405020304" pitchFamily="18" charset="0"/>
                          <a:cs typeface="Times New Roman" panose="02020603050405020304" pitchFamily="18" charset="0"/>
                        </a:rPr>
                        <a:t>chữa</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2539848"/>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1</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VN-A354</a:t>
                      </a:r>
                      <a:endParaRPr lang="en-US" sz="1300" b="0" kern="100" dirty="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MSN 3198</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15/7/2024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14/7/2025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l">
                        <a:lnSpc>
                          <a:spcPct val="107000"/>
                        </a:lnSpc>
                        <a:spcAft>
                          <a:spcPts val="800"/>
                        </a:spcAft>
                      </a:pPr>
                      <a:r>
                        <a:rPr lang="en-GB" sz="1400" kern="100" smtClean="0">
                          <a:effectLst/>
                          <a:latin typeface="Times New Roman" panose="02020603050405020304" pitchFamily="18" charset="0"/>
                          <a:cs typeface="Times New Roman" panose="02020603050405020304" pitchFamily="18" charset="0"/>
                        </a:rPr>
                        <a:t>Đã hoàn thành 6Y Check + Engine change 29/04/2025</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2024124"/>
                  </a:ext>
                </a:extLst>
              </a:tr>
              <a:tr h="722644">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a:solidFill>
                            <a:schemeClr val="tx1"/>
                          </a:solidFill>
                          <a:effectLst/>
                          <a:latin typeface="Times New Roman" panose="02020603050405020304" pitchFamily="18" charset="0"/>
                          <a:cs typeface="Times New Roman" panose="02020603050405020304" pitchFamily="18" charset="0"/>
                        </a:rPr>
                        <a:t>2</a:t>
                      </a:r>
                      <a:endParaRPr lang="en-US" sz="1300" b="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VN-A359</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3737</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30/10/2024</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29/10/2025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dirty="0">
                          <a:effectLst/>
                          <a:latin typeface="Times New Roman" panose="02020603050405020304" pitchFamily="18" charset="0"/>
                          <a:cs typeface="Times New Roman" panose="02020603050405020304" pitchFamily="18" charset="0"/>
                        </a:rPr>
                        <a:t>Y6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02/2026</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5771852"/>
                  </a:ext>
                </a:extLst>
              </a:tr>
              <a:tr h="973346">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lnSpc>
                          <a:spcPct val="107000"/>
                        </a:lnSpc>
                        <a:spcAft>
                          <a:spcPts val="800"/>
                        </a:spcAft>
                      </a:pPr>
                      <a:r>
                        <a:rPr lang="en-GB" sz="1300" b="0" kern="100" dirty="0">
                          <a:solidFill>
                            <a:schemeClr val="tx1"/>
                          </a:solidFill>
                          <a:effectLst/>
                          <a:latin typeface="Times New Roman" panose="02020603050405020304" pitchFamily="18" charset="0"/>
                          <a:cs typeface="Times New Roman" panose="02020603050405020304" pitchFamily="18" charset="0"/>
                        </a:rPr>
                        <a:t>3</a:t>
                      </a:r>
                      <a:endParaRPr lang="en-US" sz="1300" b="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VN-A363</a:t>
                      </a:r>
                      <a:endParaRPr lang="en-US" sz="1300" b="0" kern="100">
                        <a:effectLst/>
                        <a:latin typeface="Times New Roman" panose="02020603050405020304" pitchFamily="18" charset="0"/>
                        <a:cs typeface="Times New Roman" panose="02020603050405020304" pitchFamily="18" charset="0"/>
                      </a:endParaRPr>
                    </a:p>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MSN 4136</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25/6/2024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a:effectLst/>
                          <a:latin typeface="Times New Roman" panose="02020603050405020304" pitchFamily="18" charset="0"/>
                          <a:cs typeface="Times New Roman" panose="02020603050405020304" pitchFamily="18" charset="0"/>
                        </a:rPr>
                        <a:t>24/6/2025</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US" sz="1300" b="0" kern="100">
                          <a:effectLst/>
                          <a:latin typeface="Times New Roman" panose="02020603050405020304" pitchFamily="18" charset="0"/>
                          <a:cs typeface="Times New Roman" panose="02020603050405020304" pitchFamily="18" charset="0"/>
                        </a:rPr>
                        <a:t>C4</a:t>
                      </a:r>
                      <a:endParaRPr lang="en-US" sz="1300" b="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lnSpc>
                          <a:spcPct val="107000"/>
                        </a:lnSpc>
                        <a:spcAft>
                          <a:spcPts val="800"/>
                        </a:spcAft>
                      </a:pPr>
                      <a:r>
                        <a:rPr lang="en-GB" sz="1300" b="0" kern="100" dirty="0">
                          <a:effectLst/>
                          <a:latin typeface="Times New Roman" panose="02020603050405020304" pitchFamily="18" charset="0"/>
                          <a:cs typeface="Times New Roman" panose="02020603050405020304" pitchFamily="18" charset="0"/>
                        </a:rPr>
                        <a:t>05-16/05/2025</a:t>
                      </a:r>
                      <a:endParaRPr lang="en-US" sz="1300" b="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1708291"/>
                  </a:ext>
                </a:extLst>
              </a:tr>
            </a:tbl>
          </a:graphicData>
        </a:graphic>
      </p:graphicFrame>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196019" y="140130"/>
            <a:ext cx="1182685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106523736"/>
              </p:ext>
            </p:extLst>
          </p:nvPr>
        </p:nvGraphicFramePr>
        <p:xfrm>
          <a:off x="169125" y="985152"/>
          <a:ext cx="11853749" cy="5634636"/>
        </p:xfrm>
        <a:graphic>
          <a:graphicData uri="http://schemas.openxmlformats.org/drawingml/2006/table">
            <a:tbl>
              <a:tblPr>
                <a:tableStyleId>{5C22544A-7EE6-4342-B048-85BDC9FD1C3A}</a:tableStyleId>
              </a:tblPr>
              <a:tblGrid>
                <a:gridCol w="421849">
                  <a:extLst>
                    <a:ext uri="{9D8B030D-6E8A-4147-A177-3AD203B41FA5}">
                      <a16:colId xmlns:a16="http://schemas.microsoft.com/office/drawing/2014/main" val="3304650821"/>
                    </a:ext>
                  </a:extLst>
                </a:gridCol>
                <a:gridCol w="1756074">
                  <a:extLst>
                    <a:ext uri="{9D8B030D-6E8A-4147-A177-3AD203B41FA5}">
                      <a16:colId xmlns:a16="http://schemas.microsoft.com/office/drawing/2014/main" val="1220325190"/>
                    </a:ext>
                  </a:extLst>
                </a:gridCol>
                <a:gridCol w="8633907">
                  <a:extLst>
                    <a:ext uri="{9D8B030D-6E8A-4147-A177-3AD203B41FA5}">
                      <a16:colId xmlns:a16="http://schemas.microsoft.com/office/drawing/2014/main" val="3909604654"/>
                    </a:ext>
                  </a:extLst>
                </a:gridCol>
                <a:gridCol w="1041919">
                  <a:extLst>
                    <a:ext uri="{9D8B030D-6E8A-4147-A177-3AD203B41FA5}">
                      <a16:colId xmlns:a16="http://schemas.microsoft.com/office/drawing/2014/main" val="1269662541"/>
                    </a:ext>
                  </a:extLst>
                </a:gridCol>
              </a:tblGrid>
              <a:tr h="1413279">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01 TÀU ATR72 CHO K6 THUÊ KHÔ VN-B220 MSN 890</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300">
                          <a:latin typeface="Times New Roman" panose="02020603050405020304" pitchFamily="18" charset="0"/>
                          <a:cs typeface="Times New Roman" panose="02020603050405020304" pitchFamily="18" charset="0"/>
                        </a:rPr>
                        <a:t>VNA đang cho K6 thuê khô 01 tàu ATR72 MSN 890 VN-B220, hết hạn thuê vào ngày </a:t>
                      </a:r>
                      <a:r>
                        <a:rPr lang="en-US" sz="1300" b="1">
                          <a:latin typeface="Times New Roman" panose="02020603050405020304" pitchFamily="18" charset="0"/>
                          <a:cs typeface="Times New Roman" panose="02020603050405020304" pitchFamily="18" charset="0"/>
                        </a:rPr>
                        <a:t>25/06/2025</a:t>
                      </a:r>
                      <a:r>
                        <a:rPr lang="en-US" sz="1300">
                          <a:latin typeface="Times New Roman" panose="02020603050405020304" pitchFamily="18" charset="0"/>
                          <a:cs typeface="Times New Roman" panose="02020603050405020304" pitchFamily="18" charset="0"/>
                        </a:rPr>
                        <a:t>. K6 đang đề nghị VNA gia hạn thuê với t</a:t>
                      </a:r>
                      <a:r>
                        <a:rPr lang="vi-VN" sz="1300">
                          <a:latin typeface="Times New Roman" panose="02020603050405020304" pitchFamily="18" charset="0"/>
                          <a:cs typeface="Times New Roman" panose="02020603050405020304" pitchFamily="18" charset="0"/>
                        </a:rPr>
                        <a:t>hời hạn gian hạn (hoặc thuê mới) từ 26/06/2025 – 30/11/2025</a:t>
                      </a:r>
                      <a:r>
                        <a:rPr lang="en-US" sz="1300" smtClean="0">
                          <a:latin typeface="Times New Roman" panose="02020603050405020304" pitchFamily="18" charset="0"/>
                          <a:cs typeface="Times New Roman" panose="02020603050405020304" pitchFamily="18" charset="0"/>
                        </a:rPr>
                        <a:t>. VNA đang cho K6 thuê khô 01 tàu ATR72 MSN 890 VN-B220, hết hạn thuê vào ngày </a:t>
                      </a:r>
                      <a:r>
                        <a:rPr lang="en-US" sz="1300" b="1" smtClean="0">
                          <a:latin typeface="Times New Roman" panose="02020603050405020304" pitchFamily="18" charset="0"/>
                          <a:cs typeface="Times New Roman" panose="02020603050405020304" pitchFamily="18" charset="0"/>
                        </a:rPr>
                        <a:t>25/06/2025</a:t>
                      </a:r>
                      <a:r>
                        <a:rPr lang="en-US" sz="1300" smtClean="0">
                          <a:latin typeface="Times New Roman" panose="02020603050405020304" pitchFamily="18" charset="0"/>
                          <a:cs typeface="Times New Roman" panose="02020603050405020304" pitchFamily="18" charset="0"/>
                        </a:rPr>
                        <a:t>. K6 đang đề nghị VNA gia hạn thuê với t</a:t>
                      </a:r>
                      <a:r>
                        <a:rPr lang="vi-VN" sz="1300" smtClean="0">
                          <a:latin typeface="Times New Roman" panose="02020603050405020304" pitchFamily="18" charset="0"/>
                          <a:cs typeface="Times New Roman" panose="02020603050405020304" pitchFamily="18" charset="0"/>
                        </a:rPr>
                        <a:t>hời hạn gian hạn (hoặc thuê mới) từ 26/06/2025 – 30/11/2025</a:t>
                      </a:r>
                      <a:r>
                        <a:rPr lang="en-US" sz="1300" smtClean="0">
                          <a:latin typeface="Times New Roman" panose="02020603050405020304" pitchFamily="18" charset="0"/>
                          <a:cs typeface="Times New Roman" panose="02020603050405020304" pitchFamily="18" charset="0"/>
                        </a:rPr>
                        <a:t>. BĐT/TMTB đang hoàn thiện tờ trình gia hạn.</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968683"/>
                  </a:ext>
                </a:extLst>
              </a:tr>
              <a:tr h="422135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 </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05 động cơ có hạn SV trong 2025 cần thay động cơ khác của VNA nếu tiếp tục khai thác</a:t>
                      </a:r>
                      <a:endParaRPr lang="en-US" sz="1200" dirty="0">
                        <a:latin typeface="Times New Roman" panose="02020603050405020304" pitchFamily="18" charset="0"/>
                        <a:cs typeface="Times New Roman" panose="02020603050405020304" pitchFamily="18" charset="0"/>
                      </a:endParaRPr>
                    </a:p>
                  </a:txBody>
                  <a:tcPr marL="6352" marR="6352" marT="6349"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87746"/>
                  </a:ext>
                </a:extLst>
              </a:tr>
            </a:tbl>
          </a:graphicData>
        </a:graphic>
      </p:graphicFrame>
    </p:spTree>
    <p:extLst>
      <p:ext uri="{BB962C8B-B14F-4D97-AF65-F5344CB8AC3E}">
        <p14:creationId xmlns:p14="http://schemas.microsoft.com/office/powerpoint/2010/main" val="2840121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2092035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23</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2514600" y="592815"/>
          <a:ext cx="9677400" cy="626518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52400" y="592815"/>
            <a:ext cx="2133600" cy="5693866"/>
          </a:xfrm>
          <a:prstGeom prst="rect">
            <a:avLst/>
          </a:prstGeom>
          <a:noFill/>
          <a:ln>
            <a:solidFill>
              <a:schemeClr val="accent1"/>
            </a:solidFill>
          </a:ln>
        </p:spPr>
        <p:txBody>
          <a:bodyPr wrap="square" rtlCol="0">
            <a:spAutoFit/>
          </a:bodyPr>
          <a:lstStyle/>
          <a:p>
            <a:r>
              <a:rPr lang="en-US" sz="1300" b="1">
                <a:latin typeface="Times New Roman" panose="02020603050405020304" pitchFamily="18" charset="0"/>
                <a:cs typeface="Times New Roman" panose="02020603050405020304" pitchFamily="18" charset="0"/>
              </a:rPr>
              <a:t>Rủi </a:t>
            </a:r>
            <a:r>
              <a:rPr lang="en-US" sz="1300" b="1" dirty="0" err="1">
                <a:latin typeface="Times New Roman" panose="02020603050405020304" pitchFamily="18" charset="0"/>
                <a:cs typeface="Times New Roman" panose="02020603050405020304" pitchFamily="18" charset="0"/>
              </a:rPr>
              <a:t>ro</a:t>
            </a:r>
            <a:r>
              <a:rPr lang="en-US" sz="1300" b="1" dirty="0">
                <a:latin typeface="Times New Roman" panose="02020603050405020304" pitchFamily="18" charset="0"/>
                <a:cs typeface="Times New Roman" panose="02020603050405020304" pitchFamily="18" charset="0"/>
              </a:rPr>
              <a:t> </a:t>
            </a:r>
            <a:r>
              <a:rPr lang="en-US" sz="1300" b="1" dirty="0" err="1">
                <a:latin typeface="Times New Roman" panose="02020603050405020304" pitchFamily="18" charset="0"/>
                <a:cs typeface="Times New Roman" panose="02020603050405020304" pitchFamily="18" charset="0"/>
              </a:rPr>
              <a:t>nhận</a:t>
            </a:r>
            <a:r>
              <a:rPr lang="en-US" sz="1300" b="1" dirty="0">
                <a:latin typeface="Times New Roman" panose="02020603050405020304" pitchFamily="18" charset="0"/>
                <a:cs typeface="Times New Roman" panose="02020603050405020304" pitchFamily="18" charset="0"/>
              </a:rPr>
              <a:t> </a:t>
            </a:r>
            <a:r>
              <a:rPr lang="en-US" sz="1300" b="1" err="1">
                <a:latin typeface="Times New Roman" panose="02020603050405020304" pitchFamily="18" charset="0"/>
                <a:cs typeface="Times New Roman" panose="02020603050405020304" pitchFamily="18" charset="0"/>
              </a:rPr>
              <a:t>diện</a:t>
            </a:r>
            <a:r>
              <a:rPr lang="en-US" sz="1300">
                <a:latin typeface="Times New Roman" panose="02020603050405020304" pitchFamily="18" charset="0"/>
                <a:cs typeface="Times New Roman" panose="02020603050405020304" pitchFamily="18" charset="0"/>
              </a:rPr>
              <a:t>:</a:t>
            </a:r>
          </a:p>
          <a:p>
            <a:endParaRPr lang="en-US" sz="1300" dirty="0">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A321CEO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kiến</a:t>
            </a:r>
            <a:r>
              <a:rPr lang="en-US" sz="1300" dirty="0">
                <a:solidFill>
                  <a:prstClr val="black"/>
                </a:solidFill>
                <a:latin typeface="Times New Roman" panose="02020603050405020304" pitchFamily="18" charset="0"/>
                <a:cs typeface="Times New Roman" panose="02020603050405020304" pitchFamily="18" charset="0"/>
              </a:rPr>
              <a:t> Q3-Q4/2025 </a:t>
            </a:r>
            <a:r>
              <a:rPr lang="en-US" sz="1300" dirty="0" err="1">
                <a:solidFill>
                  <a:prstClr val="black"/>
                </a:solidFill>
                <a:latin typeface="Times New Roman" panose="02020603050405020304" pitchFamily="18" charset="0"/>
                <a:cs typeface="Times New Roman" panose="02020603050405020304" pitchFamily="18" charset="0"/>
              </a:rPr>
              <a:t>trả</a:t>
            </a:r>
            <a:r>
              <a:rPr lang="en-US" sz="1300" dirty="0">
                <a:solidFill>
                  <a:prstClr val="black"/>
                </a:solidFill>
                <a:latin typeface="Times New Roman" panose="02020603050405020304" pitchFamily="18" charset="0"/>
                <a:cs typeface="Times New Roman" panose="02020603050405020304" pitchFamily="18" charset="0"/>
              </a:rPr>
              <a:t>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thuê</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duy</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trì</a:t>
            </a:r>
            <a:r>
              <a:rPr lang="en-US" sz="1300" dirty="0">
                <a:solidFill>
                  <a:prstClr val="black"/>
                </a:solidFill>
                <a:latin typeface="Times New Roman" panose="02020603050405020304" pitchFamily="18" charset="0"/>
                <a:cs typeface="Times New Roman" panose="02020603050405020304" pitchFamily="18" charset="0"/>
              </a:rPr>
              <a:t> 9-10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dự</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phòng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trong</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2026.</a:t>
            </a:r>
          </a:p>
          <a:p>
            <a:pPr defTabSz="914377">
              <a:defRPr/>
            </a:pPr>
            <a:endParaRPr lang="en-US" sz="1300" dirty="0">
              <a:solidFill>
                <a:prstClr val="black"/>
              </a:solidFill>
              <a:latin typeface="Times New Roman" panose="02020603050405020304" pitchFamily="18" charset="0"/>
              <a:cs typeface="Times New Roman" panose="02020603050405020304" pitchFamily="18" charset="0"/>
            </a:endParaRPr>
          </a:p>
          <a:p>
            <a:pPr defTabSz="914377">
              <a:defRPr/>
            </a:pPr>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A321NEO </a:t>
            </a:r>
            <a:r>
              <a:rPr lang="en-US" sz="1300" dirty="0">
                <a:latin typeface="Times New Roman" panose="02020603050405020304" pitchFamily="18" charset="0"/>
                <a:cs typeface="Times New Roman" panose="02020603050405020304" pitchFamily="18" charset="0"/>
              </a:rPr>
              <a:t>: </a:t>
            </a:r>
            <a:r>
              <a:rPr lang="vi-VN" sz="1300" dirty="0">
                <a:solidFill>
                  <a:prstClr val="black"/>
                </a:solidFill>
                <a:cs typeface="Times New Roman" panose="02020603050405020304" pitchFamily="18" charset="0"/>
              </a:rPr>
              <a:t>Rủi ro động cơ đi shop về muộn (thực tế đã bị shop delay nhiều lần) và rủi ro tháo động cơ </a:t>
            </a:r>
            <a:r>
              <a:rPr lang="vi-VN" sz="1300" dirty="0">
                <a:cs typeface="Times New Roman" panose="02020603050405020304" pitchFamily="18" charset="0"/>
              </a:rPr>
              <a:t>ngoài KH do Vibration, Oil </a:t>
            </a:r>
            <a:r>
              <a:rPr lang="vi-VN" sz="1300">
                <a:cs typeface="Times New Roman" panose="02020603050405020304" pitchFamily="18" charset="0"/>
              </a:rPr>
              <a:t>Leak…</a:t>
            </a:r>
            <a:endParaRPr lang="en-US" sz="1300">
              <a:cs typeface="Times New Roman" panose="02020603050405020304" pitchFamily="18" charset="0"/>
            </a:endParaRPr>
          </a:p>
          <a:p>
            <a:pPr defTabSz="914377">
              <a:defRPr/>
            </a:pPr>
            <a:endParaRPr lang="en-US" sz="1300" dirty="0">
              <a:latin typeface="Times New Roman" panose="02020603050405020304" pitchFamily="18" charset="0"/>
              <a:cs typeface="Times New Roman" panose="02020603050405020304" pitchFamily="18" charset="0"/>
            </a:endParaRPr>
          </a:p>
          <a:p>
            <a:r>
              <a:rPr lang="en-US" sz="1300">
                <a:latin typeface="Times New Roman" panose="02020603050405020304" pitchFamily="18" charset="0"/>
                <a:cs typeface="Times New Roman" panose="02020603050405020304" pitchFamily="18" charset="0"/>
              </a:rPr>
              <a:t>* </a:t>
            </a:r>
            <a:r>
              <a:rPr lang="en-US" sz="1300" b="1">
                <a:latin typeface="Times New Roman" panose="02020603050405020304" pitchFamily="18" charset="0"/>
                <a:cs typeface="Times New Roman" panose="02020603050405020304" pitchFamily="18" charset="0"/>
              </a:rPr>
              <a:t>B787 </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Thực</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tế</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đã</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phải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bổ</a:t>
            </a:r>
            <a:r>
              <a:rPr lang="en-US" sz="1300" dirty="0">
                <a:latin typeface="Times New Roman" panose="02020603050405020304" pitchFamily="18" charset="0"/>
                <a:cs typeface="Times New Roman" panose="02020603050405020304" pitchFamily="18" charset="0"/>
              </a:rPr>
              <a:t> sung 01 ĐC </a:t>
            </a:r>
            <a:r>
              <a:rPr lang="en-US" sz="1300" dirty="0" err="1">
                <a:latin typeface="Times New Roman" panose="02020603050405020304" pitchFamily="18" charset="0"/>
                <a:cs typeface="Times New Roman" panose="02020603050405020304" pitchFamily="18" charset="0"/>
              </a:rPr>
              <a:t>vào</a:t>
            </a:r>
            <a:r>
              <a:rPr lang="en-US" sz="1300" dirty="0">
                <a:latin typeface="Times New Roman" panose="02020603050405020304" pitchFamily="18" charset="0"/>
                <a:cs typeface="Times New Roman" panose="02020603050405020304" pitchFamily="18" charset="0"/>
              </a:rPr>
              <a:t> T4/2025 </a:t>
            </a:r>
            <a:r>
              <a:rPr lang="en-US" sz="1300" dirty="0" err="1">
                <a:latin typeface="Times New Roman" panose="02020603050405020304" pitchFamily="18" charset="0"/>
                <a:cs typeface="Times New Roman" panose="02020603050405020304" pitchFamily="18" charset="0"/>
              </a:rPr>
              <a:t>để</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khai</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thác</a:t>
            </a:r>
            <a:r>
              <a:rPr lang="en-US" sz="1300" dirty="0">
                <a:latin typeface="Times New Roman" panose="02020603050405020304" pitchFamily="18" charset="0"/>
                <a:cs typeface="Times New Roman" panose="02020603050405020304" pitchFamily="18" charset="0"/>
              </a:rPr>
              <a:t> A868. </a:t>
            </a:r>
            <a:r>
              <a:rPr lang="en-US" sz="1300" dirty="0" err="1">
                <a:latin typeface="Times New Roman" panose="02020603050405020304" pitchFamily="18" charset="0"/>
                <a:cs typeface="Times New Roman" panose="02020603050405020304" pitchFamily="18" charset="0"/>
              </a:rPr>
              <a:t>Số</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lượng</a:t>
            </a:r>
            <a:r>
              <a:rPr lang="en-US" sz="1300" dirty="0">
                <a:latin typeface="Times New Roman" panose="02020603050405020304" pitchFamily="18" charset="0"/>
                <a:cs typeface="Times New Roman" panose="02020603050405020304" pitchFamily="18" charset="0"/>
              </a:rPr>
              <a:t> ĐCDP </a:t>
            </a:r>
            <a:r>
              <a:rPr lang="en-US" sz="1300" dirty="0" err="1">
                <a:latin typeface="Times New Roman" panose="02020603050405020304" pitchFamily="18" charset="0"/>
                <a:cs typeface="Times New Roman" panose="02020603050405020304" pitchFamily="18" charset="0"/>
              </a:rPr>
              <a:t>hiện</a:t>
            </a:r>
            <a:r>
              <a:rPr lang="en-US" sz="1300" dirty="0">
                <a:latin typeface="Times New Roman" panose="02020603050405020304" pitchFamily="18" charset="0"/>
                <a:cs typeface="Times New Roman" panose="02020603050405020304" pitchFamily="18" charset="0"/>
              </a:rPr>
              <a:t> </a:t>
            </a:r>
            <a:r>
              <a:rPr lang="en-US" sz="1300" dirty="0" err="1">
                <a:latin typeface="Times New Roman" panose="02020603050405020304" pitchFamily="18" charset="0"/>
                <a:cs typeface="Times New Roman" panose="02020603050405020304" pitchFamily="18" charset="0"/>
              </a:rPr>
              <a:t>tại</a:t>
            </a:r>
            <a:r>
              <a:rPr lang="en-US" sz="1300" dirty="0">
                <a:latin typeface="Times New Roman" panose="02020603050405020304" pitchFamily="18" charset="0"/>
                <a:cs typeface="Times New Roman" panose="02020603050405020304" pitchFamily="18" charset="0"/>
              </a:rPr>
              <a:t> 10 (ĐC </a:t>
            </a:r>
            <a:r>
              <a:rPr lang="en-US" sz="1300" dirty="0" err="1">
                <a:latin typeface="Times New Roman" panose="02020603050405020304" pitchFamily="18" charset="0"/>
                <a:cs typeface="Times New Roman" panose="02020603050405020304" pitchFamily="18" charset="0"/>
              </a:rPr>
              <a:t>thuê</a:t>
            </a:r>
            <a:r>
              <a:rPr lang="en-US" sz="1300" dirty="0">
                <a:latin typeface="Times New Roman" panose="02020603050405020304" pitchFamily="18" charset="0"/>
                <a:cs typeface="Times New Roman" panose="02020603050405020304" pitchFamily="18" charset="0"/>
              </a:rPr>
              <a:t> </a:t>
            </a:r>
            <a:r>
              <a:rPr lang="en-US" sz="1300">
                <a:latin typeface="Times New Roman" panose="02020603050405020304" pitchFamily="18" charset="0"/>
                <a:cs typeface="Times New Roman" panose="02020603050405020304" pitchFamily="18" charset="0"/>
              </a:rPr>
              <a:t>06)</a:t>
            </a:r>
          </a:p>
          <a:p>
            <a:endParaRPr lang="en-US" sz="1300" dirty="0">
              <a:latin typeface="Times New Roman" panose="02020603050405020304" pitchFamily="18" charset="0"/>
              <a:cs typeface="Times New Roman" panose="02020603050405020304" pitchFamily="18" charset="0"/>
            </a:endParaRPr>
          </a:p>
          <a:p>
            <a:pPr marL="0" lvl="1"/>
            <a:r>
              <a:rPr lang="en-US" sz="1300" dirty="0">
                <a:latin typeface="Times New Roman" panose="02020603050405020304" pitchFamily="18" charset="0"/>
                <a:cs typeface="Times New Roman" panose="02020603050405020304" pitchFamily="18" charset="0"/>
              </a:rPr>
              <a:t>*</a:t>
            </a:r>
            <a:r>
              <a:rPr lang="en-US" sz="1300" b="1" dirty="0">
                <a:latin typeface="Times New Roman" panose="02020603050405020304" pitchFamily="18" charset="0"/>
                <a:cs typeface="Times New Roman" panose="02020603050405020304" pitchFamily="18" charset="0"/>
              </a:rPr>
              <a:t>A350: </a:t>
            </a:r>
            <a:r>
              <a:rPr lang="en-US" sz="1300" dirty="0">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đi</a:t>
            </a:r>
            <a:r>
              <a:rPr lang="en-US" sz="1300" dirty="0">
                <a:solidFill>
                  <a:prstClr val="black"/>
                </a:solidFill>
                <a:latin typeface="Times New Roman" panose="02020603050405020304" pitchFamily="18" charset="0"/>
                <a:cs typeface="Times New Roman" panose="02020603050405020304" pitchFamily="18" charset="0"/>
              </a:rPr>
              <a:t> shop </a:t>
            </a:r>
            <a:r>
              <a:rPr lang="en-US" sz="1300" dirty="0" err="1">
                <a:solidFill>
                  <a:prstClr val="black"/>
                </a:solidFill>
                <a:latin typeface="Times New Roman" panose="02020603050405020304" pitchFamily="18" charset="0"/>
                <a:cs typeface="Times New Roman" panose="02020603050405020304" pitchFamily="18" charset="0"/>
              </a:rPr>
              <a:t>về</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muộn</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rủi</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ro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cao</a:t>
            </a:r>
            <a:r>
              <a:rPr lang="en-US" sz="1300" dirty="0">
                <a:solidFill>
                  <a:prstClr val="black"/>
                </a:solidFill>
                <a:latin typeface="Times New Roman" panose="02020603050405020304" pitchFamily="18" charset="0"/>
                <a:cs typeface="Times New Roman" panose="02020603050405020304" pitchFamily="18" charset="0"/>
              </a:rPr>
              <a:t> do RR </a:t>
            </a:r>
            <a:r>
              <a:rPr lang="en-US" sz="1300" dirty="0" err="1">
                <a:solidFill>
                  <a:prstClr val="black"/>
                </a:solidFill>
                <a:latin typeface="Times New Roman" panose="02020603050405020304" pitchFamily="18" charset="0"/>
                <a:cs typeface="Times New Roman" panose="02020603050405020304" pitchFamily="18" charset="0"/>
              </a:rPr>
              <a:t>th</a:t>
            </a:r>
            <a:r>
              <a:rPr lang="vi-VN" sz="1300" dirty="0">
                <a:solidFill>
                  <a:prstClr val="black"/>
                </a:solidFill>
                <a:cs typeface="Times New Roman" panose="02020603050405020304" pitchFamily="18" charset="0"/>
              </a:rPr>
              <a:t>ư</a:t>
            </a:r>
            <a:r>
              <a:rPr lang="en-US" sz="1300" dirty="0" err="1">
                <a:solidFill>
                  <a:prstClr val="black"/>
                </a:solidFill>
                <a:latin typeface="Times New Roman" panose="02020603050405020304" pitchFamily="18" charset="0"/>
                <a:cs typeface="Times New Roman" panose="02020603050405020304" pitchFamily="18" charset="0"/>
              </a:rPr>
              <a:t>ờng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xuyên</a:t>
            </a:r>
            <a:r>
              <a:rPr lang="en-US" sz="1300" dirty="0">
                <a:solidFill>
                  <a:prstClr val="black"/>
                </a:solidFill>
                <a:latin typeface="Times New Roman" panose="02020603050405020304" pitchFamily="18" charset="0"/>
                <a:cs typeface="Times New Roman" panose="02020603050405020304" pitchFamily="18" charset="0"/>
              </a:rPr>
              <a:t> extend TAT) </a:t>
            </a:r>
            <a:r>
              <a:rPr lang="en-US" sz="1300" dirty="0" err="1">
                <a:solidFill>
                  <a:prstClr val="black"/>
                </a:solidFill>
                <a:latin typeface="Times New Roman" panose="02020603050405020304" pitchFamily="18" charset="0"/>
                <a:cs typeface="Times New Roman" panose="02020603050405020304" pitchFamily="18" charset="0"/>
              </a:rPr>
              <a:t>tháo</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c</a:t>
            </a:r>
            <a:r>
              <a:rPr lang="vi-VN" sz="1300" dirty="0">
                <a:solidFill>
                  <a:prstClr val="black"/>
                </a:solidFill>
                <a:cs typeface="Times New Roman" panose="02020603050405020304" pitchFamily="18" charset="0"/>
              </a:rPr>
              <a:t>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ngoài</a:t>
            </a:r>
            <a:r>
              <a:rPr lang="en-US" sz="1300" dirty="0">
                <a:solidFill>
                  <a:prstClr val="black"/>
                </a:solidFill>
                <a:latin typeface="Times New Roman" panose="02020603050405020304" pitchFamily="18" charset="0"/>
                <a:cs typeface="Times New Roman" panose="02020603050405020304" pitchFamily="18" charset="0"/>
              </a:rPr>
              <a:t> KH do High oil consumption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A893), HPT Blade (2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100FC), IPC Blade (3 </a:t>
            </a:r>
            <a:r>
              <a:rPr lang="en-US" sz="1300" dirty="0" err="1">
                <a:solidFill>
                  <a:prstClr val="black"/>
                </a:solidFill>
                <a:latin typeface="Times New Roman" panose="02020603050405020304" pitchFamily="18" charset="0"/>
                <a:cs typeface="Times New Roman" panose="02020603050405020304" pitchFamily="18" charset="0"/>
              </a:rPr>
              <a:t>động</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cơ</a:t>
            </a:r>
            <a:r>
              <a:rPr lang="en-US" sz="1300" dirty="0">
                <a:solidFill>
                  <a:prstClr val="black"/>
                </a:solidFill>
                <a:latin typeface="Times New Roman" panose="02020603050405020304" pitchFamily="18" charset="0"/>
                <a:cs typeface="Times New Roman" panose="02020603050405020304" pitchFamily="18" charset="0"/>
              </a:rPr>
              <a:t> </a:t>
            </a:r>
            <a:r>
              <a:rPr lang="en-US" sz="1300" dirty="0" err="1">
                <a:solidFill>
                  <a:prstClr val="black"/>
                </a:solidFill>
                <a:latin typeface="Times New Roman" panose="02020603050405020304" pitchFamily="18" charset="0"/>
                <a:cs typeface="Times New Roman" panose="02020603050405020304" pitchFamily="18" charset="0"/>
              </a:rPr>
              <a:t>cần</a:t>
            </a:r>
            <a:r>
              <a:rPr lang="en-US" sz="1300" dirty="0">
                <a:solidFill>
                  <a:prstClr val="black"/>
                </a:solidFill>
                <a:latin typeface="Times New Roman" panose="02020603050405020304" pitchFamily="18" charset="0"/>
                <a:cs typeface="Times New Roman" panose="02020603050405020304" pitchFamily="18" charset="0"/>
              </a:rPr>
              <a:t> soi </a:t>
            </a:r>
            <a:r>
              <a:rPr lang="en-US" sz="1300" dirty="0" err="1">
                <a:solidFill>
                  <a:prstClr val="black"/>
                </a:solidFill>
                <a:latin typeface="Times New Roman" panose="02020603050405020304" pitchFamily="18" charset="0"/>
                <a:cs typeface="Times New Roman" panose="02020603050405020304" pitchFamily="18" charset="0"/>
              </a:rPr>
              <a:t>năm</a:t>
            </a:r>
            <a:r>
              <a:rPr lang="en-US" sz="1300" dirty="0">
                <a:solidFill>
                  <a:prstClr val="black"/>
                </a:solidFill>
                <a:latin typeface="Times New Roman" panose="02020603050405020304" pitchFamily="18" charset="0"/>
                <a:cs typeface="Times New Roman" panose="02020603050405020304" pitchFamily="18" charset="0"/>
              </a:rPr>
              <a:t> </a:t>
            </a:r>
            <a:r>
              <a:rPr lang="en-US" sz="1300">
                <a:solidFill>
                  <a:prstClr val="black"/>
                </a:solidFill>
                <a:latin typeface="Times New Roman" panose="02020603050405020304" pitchFamily="18" charset="0"/>
                <a:cs typeface="Times New Roman" panose="02020603050405020304" pitchFamily="18" charset="0"/>
              </a:rPr>
              <a:t>2025)/ </a:t>
            </a:r>
            <a:endParaRPr lang="en-US" sz="13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5328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24</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19/05/2025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28/05/2025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11/06/2025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3</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22/06/2025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06/08/2025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induct 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induct 23/05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Dự</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kiến</a:t>
                      </a:r>
                      <a:r>
                        <a:rPr lang="en-GB" sz="1100" dirty="0">
                          <a:solidFill>
                            <a:schemeClr val="tx1"/>
                          </a:solidFill>
                          <a:latin typeface="Times New Roman" panose="02020603050405020304" pitchFamily="18" charset="0"/>
                          <a:cs typeface="Times New Roman" panose="02020603050405020304" pitchFamily="18" charset="0"/>
                        </a:rPr>
                        <a:t> T6 induct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SGN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 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1847856"/>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27-31/05/2025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17-19/06/2025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01-03/07/2025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08-10/08/2025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269873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467654"/>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27-29/08/2025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3521537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56816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95684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giữa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32685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25</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25</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7"/>
          <a:ext cx="5855025" cy="346741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70184"/>
            <a:ext cx="12014853" cy="2575770"/>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Hiện</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không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có</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động</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cơ</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dự</a:t>
            </a:r>
            <a:r>
              <a:rPr lang="en-US" sz="1467" dirty="0">
                <a:solidFill>
                  <a:srgbClr val="ED0000"/>
                </a:solidFill>
                <a:latin typeface="Times New Roman" panose="02020603050405020304" pitchFamily="18" charset="0"/>
                <a:cs typeface="Times New Roman" panose="02020603050405020304" pitchFamily="18" charset="0"/>
              </a:rPr>
              <a:t> </a:t>
            </a:r>
            <a:r>
              <a:rPr lang="en-US" sz="1467" dirty="0" err="1">
                <a:solidFill>
                  <a:srgbClr val="ED0000"/>
                </a:solidFill>
                <a:latin typeface="Times New Roman" panose="02020603050405020304" pitchFamily="18" charset="0"/>
                <a:cs typeface="Times New Roman" panose="02020603050405020304" pitchFamily="18" charset="0"/>
              </a:rPr>
              <a:t>phòng</a:t>
            </a:r>
            <a:r>
              <a:rPr lang="en-US" sz="1467" dirty="0">
                <a:solidFill>
                  <a:srgbClr val="ED0000"/>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Repetitive inspection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958435: soi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03/05 </a:t>
            </a:r>
            <a:r>
              <a:rPr lang="en-US" sz="1467" dirty="0" err="1">
                <a:solidFill>
                  <a:schemeClr val="tx1"/>
                </a:solidFill>
                <a:latin typeface="Times New Roman" panose="02020603050405020304" pitchFamily="18" charset="0"/>
                <a:cs typeface="Times New Roman" panose="02020603050405020304" pitchFamily="18" charset="0"/>
              </a:rPr>
              <a:t>giảm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100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xuống</a:t>
            </a:r>
            <a:r>
              <a:rPr lang="en-US" sz="1467" dirty="0">
                <a:solidFill>
                  <a:schemeClr val="tx1"/>
                </a:solidFill>
                <a:latin typeface="Times New Roman" panose="02020603050405020304" pitchFamily="18" charset="0"/>
                <a:cs typeface="Times New Roman" panose="02020603050405020304" pitchFamily="18" charset="0"/>
              </a:rPr>
              <a:t> 50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DR, </a:t>
            </a:r>
            <a:r>
              <a:rPr lang="en-US" sz="1467" dirty="0" err="1">
                <a:solidFill>
                  <a:srgbClr val="FF0000"/>
                </a:solidFill>
                <a:latin typeface="Times New Roman" panose="02020603050405020304" pitchFamily="18" charset="0"/>
                <a:cs typeface="Times New Roman" panose="02020603050405020304" pitchFamily="18" charset="0"/>
              </a:rPr>
              <a:t>đã</a:t>
            </a:r>
            <a:r>
              <a:rPr lang="en-US" sz="1467" dirty="0">
                <a:solidFill>
                  <a:srgbClr val="FF0000"/>
                </a:solidFill>
                <a:latin typeface="Times New Roman" panose="02020603050405020304" pitchFamily="18" charset="0"/>
                <a:cs typeface="Times New Roman" panose="02020603050405020304" pitchFamily="18" charset="0"/>
              </a:rPr>
              <a:t> soi </a:t>
            </a:r>
            <a:r>
              <a:rPr lang="en-US" sz="1467" dirty="0" err="1">
                <a:solidFill>
                  <a:srgbClr val="FF0000"/>
                </a:solidFill>
                <a:latin typeface="Times New Roman" panose="02020603050405020304" pitchFamily="18" charset="0"/>
                <a:cs typeface="Times New Roman" panose="02020603050405020304" pitchFamily="18" charset="0"/>
              </a:rPr>
              <a:t>lại</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ngày</a:t>
            </a:r>
            <a:r>
              <a:rPr lang="en-US" sz="1467" dirty="0">
                <a:solidFill>
                  <a:srgbClr val="FF0000"/>
                </a:solidFill>
                <a:latin typeface="Times New Roman" panose="02020603050405020304" pitchFamily="18" charset="0"/>
                <a:cs typeface="Times New Roman" panose="02020603050405020304" pitchFamily="18" charset="0"/>
              </a:rPr>
              <a:t> 13/05 </a:t>
            </a:r>
            <a:r>
              <a:rPr lang="en-US" sz="1467" dirty="0" err="1">
                <a:solidFill>
                  <a:srgbClr val="FF0000"/>
                </a:solidFill>
                <a:latin typeface="Times New Roman" panose="02020603050405020304" pitchFamily="18" charset="0"/>
                <a:cs typeface="Times New Roman" panose="02020603050405020304" pitchFamily="18" charset="0"/>
              </a:rPr>
              <a:t>vẫn</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giữ</a:t>
            </a:r>
            <a:r>
              <a:rPr lang="en-US" sz="1467" dirty="0">
                <a:solidFill>
                  <a:srgbClr val="FF0000"/>
                </a:solidFill>
                <a:latin typeface="Times New Roman" panose="02020603050405020304" pitchFamily="18" charset="0"/>
                <a:cs typeface="Times New Roman" panose="02020603050405020304" pitchFamily="18" charset="0"/>
              </a:rPr>
              <a:t> 50 </a:t>
            </a:r>
            <a:r>
              <a:rPr lang="en-US" sz="1467" dirty="0" err="1">
                <a:solidFill>
                  <a:srgbClr val="FF0000"/>
                </a:solidFill>
                <a:latin typeface="Times New Roman" panose="02020603050405020304" pitchFamily="18" charset="0"/>
                <a:cs typeface="Times New Roman" panose="02020603050405020304" pitchFamily="18" charset="0"/>
              </a:rPr>
              <a:t>cyc</a:t>
            </a:r>
            <a:r>
              <a:rPr lang="en-US" sz="1467" dirty="0">
                <a:solidFill>
                  <a:srgbClr val="FF0000"/>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rgbClr val="ED0000"/>
                </a:solidFill>
                <a:latin typeface="Times New Roman" panose="02020603050405020304" pitchFamily="18" charset="0"/>
                <a:cs typeface="Times New Roman" panose="02020603050405020304" pitchFamily="18" charset="0"/>
              </a:rPr>
              <a:t>Remove in 50 </a:t>
            </a:r>
            <a:r>
              <a:rPr lang="en-US" sz="1467" dirty="0" err="1">
                <a:solidFill>
                  <a:srgbClr val="ED0000"/>
                </a:solidFill>
                <a:latin typeface="Times New Roman" panose="02020603050405020304" pitchFamily="18" charset="0"/>
                <a:cs typeface="Times New Roman" panose="02020603050405020304" pitchFamily="18" charset="0"/>
              </a:rPr>
              <a:t>cyc</a:t>
            </a:r>
            <a:r>
              <a:rPr lang="en-US" sz="1467" dirty="0">
                <a:solidFill>
                  <a:srgbClr val="ED0000"/>
                </a:solidFill>
                <a:latin typeface="Times New Roman" panose="02020603050405020304" pitchFamily="18" charset="0"/>
                <a:cs typeface="Times New Roman" panose="02020603050405020304" pitchFamily="18" charset="0"/>
              </a:rPr>
              <a:t> or </a:t>
            </a:r>
            <a:r>
              <a:rPr lang="en-US" sz="1467" dirty="0" err="1">
                <a:solidFill>
                  <a:srgbClr val="ED0000"/>
                </a:solidFill>
                <a:latin typeface="Times New Roman" panose="02020603050405020304" pitchFamily="18" charset="0"/>
                <a:cs typeface="Times New Roman" panose="02020603050405020304" pitchFamily="18" charset="0"/>
              </a:rPr>
              <a:t>reinspect</a:t>
            </a:r>
            <a:r>
              <a:rPr lang="en-US" sz="1467" dirty="0">
                <a:solidFill>
                  <a:srgbClr val="ED0000"/>
                </a:solidFill>
                <a:latin typeface="Times New Roman" panose="02020603050405020304" pitchFamily="18" charset="0"/>
                <a:cs typeface="Times New Roman" panose="02020603050405020304" pitchFamily="18" charset="0"/>
              </a:rPr>
              <a:t>: </a:t>
            </a:r>
            <a:r>
              <a:rPr lang="vi-VN" sz="1467" dirty="0">
                <a:solidFill>
                  <a:schemeClr val="tx1"/>
                </a:solidFill>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vừa</a:t>
            </a:r>
            <a:r>
              <a:rPr lang="en-US" sz="1467" dirty="0">
                <a:solidFill>
                  <a:schemeClr val="tx1"/>
                </a:solidFill>
                <a:latin typeface="Times New Roman" panose="02020603050405020304" pitchFamily="18" charset="0"/>
                <a:cs typeface="Times New Roman" panose="02020603050405020304" pitchFamily="18" charset="0"/>
              </a:rPr>
              <a:t> soi </a:t>
            </a:r>
            <a:r>
              <a:rPr lang="en-US" sz="1467" dirty="0" err="1">
                <a:solidFill>
                  <a:schemeClr val="tx1"/>
                </a:solidFill>
                <a:latin typeface="Times New Roman" panose="02020603050405020304" pitchFamily="18" charset="0"/>
                <a:cs typeface="Times New Roman" panose="02020603050405020304" pitchFamily="18" charset="0"/>
              </a:rPr>
              <a:t>lại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18/05 </a:t>
            </a:r>
            <a:r>
              <a:rPr lang="en-US" sz="1467" dirty="0" err="1">
                <a:solidFill>
                  <a:schemeClr val="tx1"/>
                </a:solidFill>
                <a:latin typeface="Times New Roman" panose="02020603050405020304" pitchFamily="18" charset="0"/>
                <a:cs typeface="Times New Roman" panose="02020603050405020304" pitchFamily="18" charset="0"/>
              </a:rPr>
              <a:t>vẫn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nguyên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a:t>
            </a:r>
            <a:endParaRPr lang="en-US" sz="1467"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dirty="0">
                <a:solidFill>
                  <a:schemeClr val="tx1"/>
                </a:solidFill>
                <a:cs typeface="Times New Roman" panose="02020603050405020304" pitchFamily="18" charset="0"/>
              </a:rPr>
              <a:t>100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gồm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958266)</a:t>
            </a:r>
            <a:r>
              <a:rPr lang="vi-VN" sz="1467" dirty="0">
                <a:solidFill>
                  <a:schemeClr val="tx1"/>
                </a:solidFill>
                <a:cs typeface="Times New Roman" panose="02020603050405020304" pitchFamily="18" charset="0"/>
              </a:rPr>
              <a:t>;  150 cycle – 01 ĐC; 250 cycle – 0</a:t>
            </a:r>
            <a:r>
              <a:rPr lang="en-US" sz="1467" dirty="0">
                <a:solidFill>
                  <a:schemeClr val="tx1"/>
                </a:solidFill>
                <a:latin typeface="Times New Roman" panose="02020603050405020304" pitchFamily="18" charset="0"/>
                <a:cs typeface="Times New Roman" panose="02020603050405020304" pitchFamily="18" charset="0"/>
              </a:rPr>
              <a:t>2</a:t>
            </a:r>
            <a:r>
              <a:rPr lang="vi-VN" sz="1467" dirty="0">
                <a:solidFill>
                  <a:schemeClr val="tx1"/>
                </a:solidFill>
                <a:cs typeface="Times New Roman" panose="02020603050405020304" pitchFamily="18" charset="0"/>
              </a:rPr>
              <a:t> ĐC</a:t>
            </a:r>
            <a:r>
              <a:rPr lang="en-US" sz="1467"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cả</a:t>
            </a:r>
            <a:r>
              <a:rPr lang="en-US" sz="1467" dirty="0">
                <a:solidFill>
                  <a:schemeClr val="tx1"/>
                </a:solidFill>
                <a:latin typeface="Times New Roman" panose="02020603050405020304" pitchFamily="18" charset="0"/>
                <a:cs typeface="Times New Roman" panose="02020603050405020304" pitchFamily="18" charset="0"/>
              </a:rPr>
              <a:t> 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chỉ</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CSN 5500 </a:t>
            </a:r>
            <a:r>
              <a:rPr lang="en-US" sz="1467" dirty="0" err="1">
                <a:solidFill>
                  <a:schemeClr val="tx1"/>
                </a:solidFill>
                <a:latin typeface="Times New Roman" panose="02020603050405020304" pitchFamily="18" charset="0"/>
                <a:cs typeface="Times New Roman" panose="02020603050405020304" pitchFamily="18" charset="0"/>
              </a:rPr>
              <a:t>cyc</a:t>
            </a:r>
            <a:r>
              <a:rPr lang="en-US" sz="1467" dirty="0">
                <a:solidFill>
                  <a:schemeClr val="tx1"/>
                </a:solidFill>
                <a:latin typeface="Times New Roman" panose="02020603050405020304" pitchFamily="18" charset="0"/>
                <a:cs typeface="Times New Roman" panose="02020603050405020304" pitchFamily="18" charset="0"/>
              </a:rPr>
              <a:t>).</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và</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việc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 2H 2025:</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02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50 cycle A873 (958435)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A863 (958170); 01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soi</a:t>
            </a:r>
            <a:r>
              <a:rPr lang="en-US" sz="1467" dirty="0">
                <a:solidFill>
                  <a:schemeClr val="tx1"/>
                </a:solidFill>
                <a:latin typeface="Times New Roman" panose="02020603050405020304" pitchFamily="18" charset="0"/>
                <a:cs typeface="Times New Roman" panose="02020603050405020304" pitchFamily="18" charset="0"/>
              </a:rPr>
              <a:t> 100 cycle A862 (956600) </a:t>
            </a:r>
            <a:r>
              <a:rPr lang="en-US" sz="1467" dirty="0" err="1">
                <a:solidFill>
                  <a:schemeClr val="tx1"/>
                </a:solidFill>
                <a:latin typeface="Times New Roman" panose="02020603050405020304" pitchFamily="18" charset="0"/>
                <a:cs typeface="Times New Roman" panose="02020603050405020304" pitchFamily="18" charset="0"/>
              </a:rPr>
              <a:t>đều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6, 7.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958266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trả</a:t>
            </a:r>
            <a:r>
              <a:rPr lang="en-US" sz="1467" dirty="0">
                <a:solidFill>
                  <a:schemeClr val="tx1"/>
                </a:solidFill>
                <a:latin typeface="Times New Roman" panose="02020603050405020304" pitchFamily="18" charset="0"/>
                <a:cs typeface="Times New Roman" panose="02020603050405020304" pitchFamily="18" charset="0"/>
              </a:rPr>
              <a:t> T9/2025 –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theo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dõi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tình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trạng</a:t>
            </a:r>
            <a:r>
              <a:rPr lang="en-US" sz="1467" dirty="0">
                <a:solidFill>
                  <a:schemeClr val="tx1"/>
                </a:solidFill>
                <a:latin typeface="Times New Roman" panose="02020603050405020304" pitchFamily="18" charset="0"/>
                <a:cs typeface="Times New Roman" panose="02020603050405020304" pitchFamily="18" charset="0"/>
              </a:rPr>
              <a:t> spare. </a:t>
            </a:r>
          </a:p>
          <a:p>
            <a:pPr marL="838190" lvl="1" indent="-380990" defTabSz="1219170">
              <a:buFont typeface="Wingdings" panose="05000000000000000000" pitchFamily="2" charset="2"/>
              <a:buChar char="§"/>
              <a:defRPr/>
            </a:pPr>
            <a:endParaRPr lang="en-US" sz="1467" b="1" dirty="0">
              <a:solidFill>
                <a:schemeClr val="tx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159828" cy="3467418"/>
        </p:xfrm>
        <a:graphic>
          <a:graphicData uri="http://schemas.openxmlformats.org/drawingml/2006/table">
            <a:tbl>
              <a:tblPr firstRow="1" bandRow="1">
                <a:tableStyleId>{7DF18680-E054-41AD-8BC1-D1AEF772440D}</a:tableStyleId>
              </a:tblPr>
              <a:tblGrid>
                <a:gridCol w="691693">
                  <a:extLst>
                    <a:ext uri="{9D8B030D-6E8A-4147-A177-3AD203B41FA5}">
                      <a16:colId xmlns:a16="http://schemas.microsoft.com/office/drawing/2014/main" val="1598605427"/>
                    </a:ext>
                  </a:extLst>
                </a:gridCol>
                <a:gridCol w="680554">
                  <a:extLst>
                    <a:ext uri="{9D8B030D-6E8A-4147-A177-3AD203B41FA5}">
                      <a16:colId xmlns:a16="http://schemas.microsoft.com/office/drawing/2014/main" val="3845954792"/>
                    </a:ext>
                  </a:extLst>
                </a:gridCol>
                <a:gridCol w="939777">
                  <a:extLst>
                    <a:ext uri="{9D8B030D-6E8A-4147-A177-3AD203B41FA5}">
                      <a16:colId xmlns:a16="http://schemas.microsoft.com/office/drawing/2014/main" val="3803391337"/>
                    </a:ext>
                  </a:extLst>
                </a:gridCol>
                <a:gridCol w="1665007">
                  <a:extLst>
                    <a:ext uri="{9D8B030D-6E8A-4147-A177-3AD203B41FA5}">
                      <a16:colId xmlns:a16="http://schemas.microsoft.com/office/drawing/2014/main" val="2148822928"/>
                    </a:ext>
                  </a:extLst>
                </a:gridCol>
                <a:gridCol w="978496">
                  <a:extLst>
                    <a:ext uri="{9D8B030D-6E8A-4147-A177-3AD203B41FA5}">
                      <a16:colId xmlns:a16="http://schemas.microsoft.com/office/drawing/2014/main" val="1106888684"/>
                    </a:ext>
                  </a:extLst>
                </a:gridCol>
                <a:gridCol w="1204301">
                  <a:extLst>
                    <a:ext uri="{9D8B030D-6E8A-4147-A177-3AD203B41FA5}">
                      <a16:colId xmlns:a16="http://schemas.microsoft.com/office/drawing/2014/main" val="558551088"/>
                    </a:ext>
                  </a:extLst>
                </a:gridCol>
              </a:tblGrid>
              <a:tr h="443035">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11977">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Induction 24/06/2025</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25139">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17283">
                <a:tc>
                  <a:txBody>
                    <a:bodyPr/>
                    <a:lstStyle/>
                    <a:p>
                      <a:pPr algn="ctr" fontAlgn="ctr"/>
                      <a:r>
                        <a:rPr lang="en-US" sz="1200" b="1" u="none" strike="noStrike" dirty="0">
                          <a:solidFill>
                            <a:schemeClr val="tx1"/>
                          </a:solidFill>
                          <a:effectLst/>
                          <a:latin typeface="+mn-lt"/>
                        </a:rPr>
                        <a:t>956913</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1" u="none" strike="noStrike" dirty="0">
                          <a:solidFill>
                            <a:schemeClr val="tx1"/>
                          </a:solidFill>
                          <a:effectLst/>
                          <a:latin typeface="+mn-lt"/>
                        </a:rPr>
                        <a:t>KLM</a:t>
                      </a: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Inducted 25/08/2024</a:t>
                      </a:r>
                    </a:p>
                  </a:txBody>
                  <a:tcPr marL="12700" marR="12700" marT="12700" marB="0" anchor="ctr"/>
                </a:tc>
                <a:tc>
                  <a:txBody>
                    <a:bodyPr/>
                    <a:lstStyle/>
                    <a:p>
                      <a:pPr marL="0" algn="ctr" defTabSz="914400" rtl="0" eaLnBrk="1" fontAlgn="ctr" latinLnBrk="0" hangingPunct="1"/>
                      <a:r>
                        <a:rPr lang="en-US" sz="1200" b="1"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410189">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rgbClr val="BA0000"/>
                          </a:solidFill>
                          <a:effectLst/>
                          <a:latin typeface="+mn-lt"/>
                          <a:cs typeface="Times New Roman" panose="02020603050405020304" pitchFamily="18" charset="0"/>
                        </a:rPr>
                        <a:t>12/06/2025</a:t>
                      </a: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BA0000"/>
                          </a:solidFill>
                          <a:effectLst/>
                          <a:latin typeface="+mn-lt"/>
                          <a:ea typeface="+mn-ea"/>
                          <a:cs typeface="Times New Roman" panose="02020603050405020304" pitchFamily="18" charset="0"/>
                        </a:rPr>
                        <a:t>19/06/2025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A863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FF0000"/>
                          </a:solidFill>
                          <a:effectLst/>
                          <a:latin typeface="+mn-lt"/>
                          <a:cs typeface="Times New Roman" panose="02020603050405020304" pitchFamily="18" charset="0"/>
                        </a:rPr>
                        <a:t>958170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30/05/2025</a:t>
                      </a:r>
                    </a:p>
                    <a:p>
                      <a:pPr algn="ctr" fontAlgn="ctr"/>
                      <a:r>
                        <a:rPr lang="en-US" sz="1200" b="0" u="none" strike="noStrike" dirty="0">
                          <a:solidFill>
                            <a:schemeClr val="tx1"/>
                          </a:solidFill>
                          <a:effectLst/>
                          <a:latin typeface="+mn-lt"/>
                          <a:cs typeface="Times New Roman" panose="02020603050405020304" pitchFamily="18" charset="0"/>
                        </a:rPr>
                        <a:t>Inducted 17/07/2024</a:t>
                      </a:r>
                    </a:p>
                  </a:txBody>
                  <a:tcPr marL="12700" marR="12700" marT="12700" marB="0" anchor="ctr"/>
                </a:tc>
                <a:tc>
                  <a:txBody>
                    <a:bodyPr/>
                    <a:lstStyle/>
                    <a:p>
                      <a:pPr algn="ctr" fontAlgn="ctr"/>
                      <a:r>
                        <a:rPr lang="en-US" sz="1200" b="1" i="0" u="none" strike="noStrike" dirty="0">
                          <a:solidFill>
                            <a:srgbClr val="C00000"/>
                          </a:solidFill>
                          <a:effectLst/>
                          <a:latin typeface="+mn-lt"/>
                          <a:cs typeface="Times New Roman" panose="02020603050405020304" pitchFamily="18" charset="0"/>
                        </a:rPr>
                        <a:t>06/06/2025</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A873 (</a:t>
                      </a:r>
                      <a:r>
                        <a:rPr lang="en-US" sz="1200" b="1" i="0" u="none" strike="noStrike" dirty="0" err="1">
                          <a:solidFill>
                            <a:srgbClr val="FF0000"/>
                          </a:solidFill>
                          <a:effectLst/>
                          <a:latin typeface="+mn-lt"/>
                          <a:cs typeface="Times New Roman" panose="02020603050405020304" pitchFamily="18" charset="0"/>
                        </a:rPr>
                        <a:t>Dự</a:t>
                      </a:r>
                      <a:r>
                        <a:rPr lang="en-US" sz="1200" b="1" i="0" u="none" strike="noStrike" dirty="0">
                          <a:solidFill>
                            <a:srgbClr val="FF0000"/>
                          </a:solidFill>
                          <a:effectLst/>
                          <a:latin typeface="+mn-lt"/>
                          <a:cs typeface="Times New Roman" panose="02020603050405020304" pitchFamily="18" charset="0"/>
                        </a:rPr>
                        <a:t> </a:t>
                      </a:r>
                      <a:r>
                        <a:rPr lang="en-US" sz="1200" b="1" i="0" u="none" strike="noStrike" dirty="0" err="1">
                          <a:solidFill>
                            <a:srgbClr val="FF0000"/>
                          </a:solidFill>
                          <a:effectLst/>
                          <a:latin typeface="+mn-lt"/>
                          <a:cs typeface="Times New Roman" panose="02020603050405020304" pitchFamily="18" charset="0"/>
                        </a:rPr>
                        <a:t>kiến</a:t>
                      </a:r>
                      <a:r>
                        <a:rPr lang="en-US" sz="1200" b="1" i="0" u="none" strike="noStrike" dirty="0">
                          <a:solidFill>
                            <a:srgbClr val="FF0000"/>
                          </a:solidFill>
                          <a:effectLst/>
                          <a:latin typeface="+mn-lt"/>
                          <a:cs typeface="Times New Roman" panose="02020603050405020304" pitchFamily="18" charset="0"/>
                        </a:rPr>
                        <a:t>) 958435</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443035">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rgbClr val="C00000"/>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rgbClr val="D80000"/>
                          </a:solidFill>
                          <a:effectLst/>
                          <a:latin typeface="+mn-lt"/>
                          <a:cs typeface="Times New Roman" panose="02020603050405020304" pitchFamily="18" charset="0"/>
                        </a:rPr>
                        <a:t>20/07/2025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47915">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20394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30/08/2025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1839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228952">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930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26</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26</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A321NEO</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95702" y="5296383"/>
          <a:ext cx="5765457" cy="1219200"/>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0">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a:latin typeface="Times New Roman" panose="02020603050405020304" pitchFamily="18" charset="0"/>
                          <a:cs typeface="Times New Roman" panose="02020603050405020304" pitchFamily="18" charset="0"/>
                        </a:rPr>
                        <a:t>A625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28/05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(P771077 &amp; P772905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A619 </a:t>
                      </a:r>
                      <a:r>
                        <a:rPr lang="en-US" sz="1200" dirty="0" err="1">
                          <a:latin typeface="Times New Roman" panose="02020603050405020304" pitchFamily="18" charset="0"/>
                          <a:cs typeface="Times New Roman" panose="02020603050405020304" pitchFamily="18" charset="0"/>
                        </a:rPr>
                        <a:t>giữ</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giờ</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13 AOG</a:t>
                      </a:r>
                    </a:p>
                  </a:txBody>
                  <a:tcPr marL="121920" marR="121920" marT="60960" marB="60960" anchor="ctr"/>
                </a:tc>
                <a:extLst>
                  <a:ext uri="{0D108BD9-81ED-4DB2-BD59-A6C34878D82A}">
                    <a16:rowId xmlns:a16="http://schemas.microsoft.com/office/drawing/2014/main" val="83465224"/>
                  </a:ext>
                </a:extLst>
              </a:tr>
              <a:tr h="0">
                <a:tc>
                  <a:txBody>
                    <a:bodyPr/>
                    <a:lstStyle/>
                    <a:p>
                      <a:r>
                        <a:rPr lang="en-US" sz="1200" b="1">
                          <a:latin typeface="Times New Roman" panose="02020603050405020304" pitchFamily="18" charset="0"/>
                          <a:cs typeface="Times New Roman" panose="02020603050405020304" pitchFamily="18" charset="0"/>
                        </a:rPr>
                        <a:t>A501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05/06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(P771391 &amp;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đầu</a:t>
                      </a:r>
                      <a:r>
                        <a:rPr lang="en-US" sz="1200" dirty="0">
                          <a:latin typeface="Times New Roman" panose="02020603050405020304" pitchFamily="18" charset="0"/>
                          <a:cs typeface="Times New Roman" panose="02020603050405020304" pitchFamily="18" charset="0"/>
                        </a:rPr>
                        <a:t> T6),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12 AOG</a:t>
                      </a:r>
                    </a:p>
                  </a:txBody>
                  <a:tcPr marL="121920" marR="121920" marT="60960" marB="60960" anchor="ctr"/>
                </a:tc>
                <a:extLst>
                  <a:ext uri="{0D108BD9-81ED-4DB2-BD59-A6C34878D82A}">
                    <a16:rowId xmlns:a16="http://schemas.microsoft.com/office/drawing/2014/main" val="3218884716"/>
                  </a:ext>
                </a:extLst>
              </a:tr>
              <a:tr h="0">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07/07 </a:t>
                      </a:r>
                      <a:r>
                        <a:rPr lang="en-US" sz="1200" dirty="0" err="1">
                          <a:latin typeface="Times New Roman" panose="02020603050405020304" pitchFamily="18" charset="0"/>
                          <a:cs typeface="Times New Roman" panose="02020603050405020304" pitchFamily="18" charset="0"/>
                        </a:rPr>
                        <a:t>đủ</a:t>
                      </a:r>
                      <a:r>
                        <a:rPr lang="en-US" sz="1200" dirty="0">
                          <a:latin typeface="Times New Roman" panose="02020603050405020304" pitchFamily="18" charset="0"/>
                          <a:cs typeface="Times New Roman" panose="02020603050405020304" pitchFamily="18" charset="0"/>
                        </a:rPr>
                        <a:t> 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(P771387 &amp; P771041),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14175" y="4835863"/>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RTS</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3027304"/>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1.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RTS trong </a:t>
            </a:r>
            <a:r>
              <a:rPr lang="en-US" sz="1467" dirty="0" err="1">
                <a:solidFill>
                  <a:schemeClr val="tx1"/>
                </a:solidFill>
                <a:latin typeface="Times New Roman" panose="02020603050405020304" pitchFamily="18" charset="0"/>
                <a:cs typeface="Times New Roman" panose="02020603050405020304" pitchFamily="18" charset="0"/>
              </a:rPr>
              <a:t>giai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đoạn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điểm</a:t>
            </a:r>
            <a:r>
              <a:rPr lang="en-US" sz="1467">
                <a:solidFill>
                  <a:schemeClr val="tx1"/>
                </a:solidFill>
                <a:latin typeface="Times New Roman" panose="02020603050405020304" pitchFamily="18" charset="0"/>
                <a:cs typeface="Times New Roman" panose="02020603050405020304" pitchFamily="18" charset="0"/>
              </a:rPr>
              <a:t> (A625, A501, A508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thuộc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vào</a:t>
            </a:r>
            <a:r>
              <a:rPr lang="en-US" sz="1467" dirty="0">
                <a:solidFill>
                  <a:schemeClr val="tx1"/>
                </a:solidFill>
                <a:latin typeface="Times New Roman" panose="02020603050405020304" pitchFamily="18" charset="0"/>
                <a:cs typeface="Times New Roman" panose="02020603050405020304" pitchFamily="18" charset="0"/>
              </a:rPr>
              <a:t> 4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a:t>
            </a:r>
            <a:r>
              <a:rPr lang="en-US" sz="1467" dirty="0">
                <a:solidFill>
                  <a:schemeClr val="tx1"/>
                </a:solidFill>
                <a:latin typeface="Times New Roman" panose="02020603050405020304" pitchFamily="18" charset="0"/>
                <a:cs typeface="Times New Roman" panose="02020603050405020304" pitchFamily="18" charset="0"/>
              </a:rPr>
              <a:t> shop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(P771077, P771391, P771387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P771041),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err="1">
                <a:solidFill>
                  <a:schemeClr val="tx1"/>
                </a:solidFill>
                <a:latin typeface="Times New Roman" panose="02020603050405020304" pitchFamily="18" charset="0"/>
                <a:cs typeface="Times New Roman" panose="02020603050405020304" pitchFamily="18" charset="0"/>
              </a:rPr>
              <a:t>ro</a:t>
            </a:r>
            <a:r>
              <a:rPr lang="en-US" sz="1467">
                <a:solidFill>
                  <a:schemeClr val="tx1"/>
                </a:solidFill>
                <a:latin typeface="Times New Roman" panose="02020603050405020304" pitchFamily="18" charset="0"/>
                <a:cs typeface="Times New Roman" panose="02020603050405020304" pitchFamily="18" charset="0"/>
              </a:rPr>
              <a:t> delay. </a:t>
            </a: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thuê</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của</a:t>
            </a:r>
            <a:r>
              <a:rPr lang="en-US" sz="1467" dirty="0">
                <a:solidFill>
                  <a:schemeClr val="tx1"/>
                </a:solidFill>
                <a:latin typeface="Times New Roman" panose="02020603050405020304" pitchFamily="18" charset="0"/>
                <a:cs typeface="Times New Roman" panose="02020603050405020304" pitchFamily="18" charset="0"/>
              </a:rPr>
              <a:t> PW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muộn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cũng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ảnh</a:t>
            </a:r>
            <a:r>
              <a:rPr lang="en-US" sz="1467" dirty="0">
                <a:solidFill>
                  <a:schemeClr val="tx1"/>
                </a:solidFill>
                <a:latin typeface="Times New Roman" panose="02020603050405020304" pitchFamily="18" charset="0"/>
                <a:cs typeface="Times New Roman" panose="02020603050405020304" pitchFamily="18" charset="0"/>
              </a:rPr>
              <a:t> h</a:t>
            </a:r>
            <a:r>
              <a:rPr lang="vi-VN" sz="1467" dirty="0">
                <a:solidFill>
                  <a:schemeClr val="tx1"/>
                </a:solidFill>
                <a:latin typeface="Times New Roman" panose="02020603050405020304" pitchFamily="18" charset="0"/>
                <a:cs typeface="Times New Roman" panose="02020603050405020304" pitchFamily="18" charset="0"/>
              </a:rPr>
              <a:t>ư</a:t>
            </a:r>
            <a:r>
              <a:rPr lang="en-US" sz="1467" dirty="0" err="1">
                <a:solidFill>
                  <a:schemeClr val="tx1"/>
                </a:solidFill>
                <a:latin typeface="Times New Roman" panose="02020603050405020304" pitchFamily="18" charset="0"/>
                <a:cs typeface="Times New Roman" panose="02020603050405020304" pitchFamily="18" charset="0"/>
              </a:rPr>
              <a:t>ởng</a:t>
            </a:r>
            <a:r>
              <a:rPr lang="en-US" sz="1467" dirty="0">
                <a:solidFill>
                  <a:schemeClr val="tx1"/>
                </a:solidFill>
                <a:latin typeface="Times New Roman" panose="02020603050405020304" pitchFamily="18" charset="0"/>
                <a:cs typeface="Times New Roman" panose="02020603050405020304" pitchFamily="18" charset="0"/>
              </a:rPr>
              <a:t> RTS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A625</a:t>
            </a:r>
          </a:p>
          <a:p>
            <a:pPr algn="just" defTabSz="357188">
              <a:defRPr/>
            </a:pPr>
            <a:endParaRPr lang="en-US" sz="1467" dirty="0">
              <a:solidFill>
                <a:schemeClr val="tx1"/>
              </a:solidFill>
              <a:latin typeface="Times New Roman" panose="02020603050405020304" pitchFamily="18" charset="0"/>
              <a:cs typeface="Times New Roman" panose="02020603050405020304" pitchFamily="18" charset="0"/>
            </a:endParaRPr>
          </a:p>
          <a:p>
            <a:pPr algn="just" defTabSz="357188">
              <a:defRPr/>
            </a:pPr>
            <a:r>
              <a:rPr lang="en-US" sz="1467" b="1" dirty="0">
                <a:solidFill>
                  <a:srgbClr val="FF0000"/>
                </a:solidFill>
                <a:latin typeface="Times New Roman" panose="02020603050405020304" pitchFamily="18" charset="0"/>
                <a:cs typeface="Times New Roman" panose="02020603050405020304" pitchFamily="18" charset="0"/>
              </a:rPr>
              <a:t>2.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a:t>
            </a: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(A619#2 P772905 675FH/337FC);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do Oil leak #3DFS (all fleet);</a:t>
            </a:r>
          </a:p>
          <a:p>
            <a:pPr marL="342900" indent="-342900" algn="just" defTabSz="1219170">
              <a:buFont typeface="+mj-lt"/>
              <a:buAutoNum type="arabicPeriod"/>
              <a:defRPr/>
            </a:pPr>
            <a:endParaRPr lang="en-US" sz="1467" b="1" dirty="0">
              <a:solidFill>
                <a:schemeClr val="tx1"/>
              </a:solidFill>
              <a:latin typeface="Times New Roman" panose="02020603050405020304" pitchFamily="18" charset="0"/>
              <a:cs typeface="Times New Roman" panose="02020603050405020304" pitchFamily="18" charset="0"/>
            </a:endParaRPr>
          </a:p>
          <a:p>
            <a:pPr algn="just" defTabSz="1219170">
              <a:defRPr/>
            </a:pPr>
            <a:r>
              <a:rPr lang="en-US" sz="1467" b="1" dirty="0">
                <a:solidFill>
                  <a:srgbClr val="FF0000"/>
                </a:solidFill>
                <a:latin typeface="Times New Roman" panose="02020603050405020304" pitchFamily="18" charset="0"/>
                <a:cs typeface="Times New Roman" panose="02020603050405020304" pitchFamily="18" charset="0"/>
              </a:rPr>
              <a:t>3.  </a:t>
            </a: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P771710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lắp</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lên</a:t>
            </a:r>
            <a:r>
              <a:rPr lang="en-US" sz="1467" dirty="0">
                <a:solidFill>
                  <a:schemeClr val="tx1"/>
                </a:solidFill>
                <a:latin typeface="Times New Roman" panose="02020603050405020304" pitchFamily="18" charset="0"/>
                <a:cs typeface="Times New Roman" panose="02020603050405020304" pitchFamily="18" charset="0"/>
              </a:rPr>
              <a:t> A621 </a:t>
            </a:r>
            <a:r>
              <a:rPr lang="en-US" sz="1467" dirty="0" err="1">
                <a:solidFill>
                  <a:schemeClr val="tx1"/>
                </a:solidFill>
                <a:latin typeface="Times New Roman" panose="02020603050405020304" pitchFamily="18" charset="0"/>
                <a:cs typeface="Times New Roman" panose="02020603050405020304" pitchFamily="18" charset="0"/>
              </a:rPr>
              <a:t>sớm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ngoài</a:t>
            </a:r>
            <a:r>
              <a:rPr lang="en-US" sz="1467" dirty="0">
                <a:solidFill>
                  <a:schemeClr val="tx1"/>
                </a:solidFill>
                <a:latin typeface="Times New Roman" panose="02020603050405020304" pitchFamily="18" charset="0"/>
                <a:cs typeface="Times New Roman" panose="02020603050405020304" pitchFamily="18" charset="0"/>
              </a:rPr>
              <a:t> KH) do </a:t>
            </a:r>
            <a:r>
              <a:rPr lang="en-US" sz="1467" dirty="0" err="1">
                <a:solidFill>
                  <a:schemeClr val="tx1"/>
                </a:solidFill>
                <a:latin typeface="Times New Roman" panose="02020603050405020304" pitchFamily="18" charset="0"/>
                <a:cs typeface="Times New Roman" panose="02020603050405020304" pitchFamily="18" charset="0"/>
              </a:rPr>
              <a:t>vậy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P772905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giờ</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đủ</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thời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gian</a:t>
            </a:r>
            <a:r>
              <a:rPr lang="en-US" sz="1467" dirty="0">
                <a:solidFill>
                  <a:schemeClr val="tx1"/>
                </a:solidFill>
                <a:latin typeface="Times New Roman" panose="02020603050405020304" pitchFamily="18" charset="0"/>
                <a:cs typeface="Times New Roman" panose="02020603050405020304" pitchFamily="18" charset="0"/>
              </a:rPr>
              <a:t> 20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bay qua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73504" y="698802"/>
          <a:ext cx="5787655" cy="4188174"/>
        </p:xfrm>
        <a:graphic>
          <a:graphicData uri="http://schemas.openxmlformats.org/drawingml/2006/table">
            <a:tbl>
              <a:tblPr firstRow="1" bandRow="1">
                <a:tableStyleId>{5C22544A-7EE6-4342-B048-85BDC9FD1C3A}</a:tableStyleId>
              </a:tblPr>
              <a:tblGrid>
                <a:gridCol w="777205">
                  <a:extLst>
                    <a:ext uri="{9D8B030D-6E8A-4147-A177-3AD203B41FA5}">
                      <a16:colId xmlns:a16="http://schemas.microsoft.com/office/drawing/2014/main" val="3123040184"/>
                    </a:ext>
                  </a:extLst>
                </a:gridCol>
                <a:gridCol w="872790">
                  <a:extLst>
                    <a:ext uri="{9D8B030D-6E8A-4147-A177-3AD203B41FA5}">
                      <a16:colId xmlns:a16="http://schemas.microsoft.com/office/drawing/2014/main" val="2204338324"/>
                    </a:ext>
                  </a:extLst>
                </a:gridCol>
                <a:gridCol w="941900">
                  <a:extLst>
                    <a:ext uri="{9D8B030D-6E8A-4147-A177-3AD203B41FA5}">
                      <a16:colId xmlns:a16="http://schemas.microsoft.com/office/drawing/2014/main" val="1128924154"/>
                    </a:ext>
                  </a:extLst>
                </a:gridCol>
                <a:gridCol w="914400">
                  <a:extLst>
                    <a:ext uri="{9D8B030D-6E8A-4147-A177-3AD203B41FA5}">
                      <a16:colId xmlns:a16="http://schemas.microsoft.com/office/drawing/2014/main" val="2627377997"/>
                    </a:ext>
                  </a:extLst>
                </a:gridCol>
                <a:gridCol w="2281360">
                  <a:extLst>
                    <a:ext uri="{9D8B030D-6E8A-4147-A177-3AD203B41FA5}">
                      <a16:colId xmlns:a16="http://schemas.microsoft.com/office/drawing/2014/main" val="1687818387"/>
                    </a:ext>
                  </a:extLst>
                </a:gridCol>
              </a:tblGrid>
              <a:tr h="276104">
                <a:tc>
                  <a:txBody>
                    <a:bodyPr/>
                    <a:lstStyle/>
                    <a:p>
                      <a:pPr algn="l" rtl="0" fontAlgn="ctr"/>
                      <a:r>
                        <a:rPr lang="vi-VN" sz="1100" b="1" u="none" strike="noStrike">
                          <a:solidFill>
                            <a:srgbClr val="FFFFFF"/>
                          </a:solidFill>
                          <a:effectLst/>
                        </a:rPr>
                        <a:t>Động cơ</a:t>
                      </a:r>
                      <a:endParaRPr lang="vi-VN" sz="1100" b="1" i="0" u="none" strike="noStrike">
                        <a:solidFill>
                          <a:srgbClr val="FFFFFF"/>
                        </a:solidFill>
                        <a:effectLst/>
                        <a:latin typeface="Times New Roman" panose="02020603050405020304" pitchFamily="18" charset="0"/>
                      </a:endParaRPr>
                    </a:p>
                  </a:txBody>
                  <a:tcPr marL="47527" marR="5281" marT="5281" marB="0" anchor="ctr"/>
                </a:tc>
                <a:tc>
                  <a:txBody>
                    <a:bodyPr/>
                    <a:lstStyle/>
                    <a:p>
                      <a:pPr algn="ctr" rtl="0" fontAlgn="ctr"/>
                      <a:r>
                        <a:rPr lang="en-GB" sz="1100" b="1" u="none" strike="noStrike">
                          <a:solidFill>
                            <a:srgbClr val="FFFFFF"/>
                          </a:solidFill>
                          <a:effectLst/>
                        </a:rPr>
                        <a:t>Induction</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Dự kiến về</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KH Sử dụng</a:t>
                      </a:r>
                      <a:endParaRPr lang="en-GB" sz="1100" b="1" i="0" u="none" strike="noStrike">
                        <a:solidFill>
                          <a:srgbClr val="FFFFFF"/>
                        </a:solidFill>
                        <a:effectLst/>
                        <a:latin typeface="Times New Roman" panose="02020603050405020304" pitchFamily="18" charset="0"/>
                      </a:endParaRPr>
                    </a:p>
                  </a:txBody>
                  <a:tcPr marL="5281" marR="5281" marT="5281" marB="0" anchor="ctr"/>
                </a:tc>
                <a:tc>
                  <a:txBody>
                    <a:bodyPr/>
                    <a:lstStyle/>
                    <a:p>
                      <a:pPr algn="ctr" rtl="0" fontAlgn="ctr"/>
                      <a:r>
                        <a:rPr lang="en-GB" sz="1100" b="1" u="none" strike="noStrike">
                          <a:solidFill>
                            <a:srgbClr val="FFFFFF"/>
                          </a:solidFill>
                          <a:effectLst/>
                        </a:rPr>
                        <a:t>Remark</a:t>
                      </a:r>
                      <a:endParaRPr lang="en-GB" sz="1100" b="1" i="0" u="none" strike="noStrike">
                        <a:solidFill>
                          <a:srgbClr val="FFFFFF"/>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673130687"/>
                  </a:ext>
                </a:extLst>
              </a:tr>
              <a:tr h="279634">
                <a:tc>
                  <a:txBody>
                    <a:bodyPr/>
                    <a:lstStyle/>
                    <a:p>
                      <a:pPr algn="ctr" rtl="0" fontAlgn="ctr"/>
                      <a:r>
                        <a:rPr lang="en-GB" sz="1100" b="0" u="none" strike="noStrike" dirty="0">
                          <a:solidFill>
                            <a:srgbClr val="000000"/>
                          </a:solidFill>
                          <a:effectLst/>
                        </a:rPr>
                        <a:t>P770903</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18/07/2024</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12/05/2025</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A619#2 </a:t>
                      </a:r>
                      <a:r>
                        <a:rPr lang="en-GB" sz="1100" b="0" u="none" strike="noStrike" dirty="0" err="1">
                          <a:solidFill>
                            <a:srgbClr val="000000"/>
                          </a:solidFill>
                          <a:effectLst/>
                        </a:rPr>
                        <a:t>gi</a:t>
                      </a:r>
                      <a:r>
                        <a:rPr lang="en-US" sz="1100" b="0" u="none" strike="noStrike" dirty="0">
                          <a:solidFill>
                            <a:srgbClr val="000000"/>
                          </a:solidFill>
                          <a:effectLst/>
                        </a:rPr>
                        <a:t>ữ </a:t>
                      </a:r>
                      <a:r>
                        <a:rPr lang="en-US" sz="1100" b="0" u="none" strike="noStrike" dirty="0" err="1">
                          <a:solidFill>
                            <a:srgbClr val="000000"/>
                          </a:solidFill>
                          <a:effectLst/>
                        </a:rPr>
                        <a:t>giờ</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err="1">
                          <a:solidFill>
                            <a:srgbClr val="000000"/>
                          </a:solidFill>
                          <a:effectLst/>
                        </a:rPr>
                        <a:t>Giữ</a:t>
                      </a:r>
                      <a:r>
                        <a:rPr lang="en-GB" sz="1100" b="0" u="none" strike="noStrike" dirty="0">
                          <a:solidFill>
                            <a:srgbClr val="000000"/>
                          </a:solidFill>
                          <a:effectLst/>
                        </a:rPr>
                        <a:t> </a:t>
                      </a:r>
                      <a:r>
                        <a:rPr lang="en-GB" sz="1100" b="0" u="none" strike="noStrike" dirty="0" err="1">
                          <a:solidFill>
                            <a:srgbClr val="000000"/>
                          </a:solidFill>
                          <a:effectLst/>
                        </a:rPr>
                        <a:t>giờ</a:t>
                      </a:r>
                      <a:r>
                        <a:rPr lang="en-GB" sz="1100" b="0" u="none" strike="noStrike" dirty="0">
                          <a:solidFill>
                            <a:srgbClr val="000000"/>
                          </a:solidFill>
                          <a:effectLst/>
                        </a:rPr>
                        <a:t> bay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r>
                        <a:rPr lang="en-GB" sz="1100" b="0" u="none" strike="noStrike" dirty="0" err="1">
                          <a:solidFill>
                            <a:srgbClr val="000000"/>
                          </a:solidFill>
                          <a:effectLst/>
                        </a:rPr>
                        <a:t>hè</a:t>
                      </a:r>
                      <a:endParaRPr lang="en-GB" sz="1100" b="0" i="0" u="none" strike="noStrike" dirty="0">
                        <a:solidFill>
                          <a:srgbClr val="00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054869524"/>
                  </a:ext>
                </a:extLst>
              </a:tr>
              <a:tr h="279634">
                <a:tc>
                  <a:txBody>
                    <a:bodyPr/>
                    <a:lstStyle/>
                    <a:p>
                      <a:pPr algn="ctr" rtl="0" fontAlgn="ctr"/>
                      <a:r>
                        <a:rPr lang="en-GB" sz="1100" b="0" u="none" strike="noStrike" dirty="0">
                          <a:solidFill>
                            <a:srgbClr val="000000"/>
                          </a:solidFill>
                          <a:effectLst/>
                        </a:rPr>
                        <a:t>P771077</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24/10/2024</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FF0000"/>
                          </a:solidFill>
                          <a:effectLst/>
                        </a:rPr>
                        <a:t>28/05/2025</a:t>
                      </a:r>
                      <a:endParaRPr lang="en-GB" sz="1100" b="0" i="0" u="none" strike="noStrike" dirty="0">
                        <a:solidFill>
                          <a:srgbClr val="FF0000"/>
                        </a:solidFill>
                        <a:effectLst/>
                        <a:latin typeface="Times New Roman" panose="02020603050405020304" pitchFamily="18" charset="0"/>
                      </a:endParaRPr>
                    </a:p>
                  </a:txBody>
                  <a:tcPr marL="5281" marR="5281" marT="528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a:solidFill>
                            <a:srgbClr val="000000"/>
                          </a:solidFill>
                          <a:effectLst/>
                        </a:rPr>
                        <a:t>RTS A625</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err="1">
                          <a:solidFill>
                            <a:srgbClr val="000000"/>
                          </a:solidFill>
                          <a:effectLst/>
                        </a:rPr>
                        <a:t>Kết</a:t>
                      </a:r>
                      <a:r>
                        <a:rPr lang="en-US" sz="1100" b="0" u="none" strike="noStrike" dirty="0">
                          <a:solidFill>
                            <a:srgbClr val="000000"/>
                          </a:solidFill>
                          <a:effectLst/>
                        </a:rPr>
                        <a:t> </a:t>
                      </a:r>
                      <a:r>
                        <a:rPr lang="en-US" sz="1100" b="0" u="none" strike="noStrike" dirty="0" err="1">
                          <a:solidFill>
                            <a:srgbClr val="000000"/>
                          </a:solidFill>
                          <a:effectLst/>
                        </a:rPr>
                        <a:t>hợp</a:t>
                      </a:r>
                      <a:r>
                        <a:rPr lang="en-US" sz="1100" b="0" u="none" strike="noStrike" dirty="0">
                          <a:solidFill>
                            <a:srgbClr val="000000"/>
                          </a:solidFill>
                          <a:effectLst/>
                        </a:rPr>
                        <a:t> </a:t>
                      </a:r>
                      <a:r>
                        <a:rPr lang="en-US" sz="1100" b="0" u="none" strike="noStrike" dirty="0" err="1">
                          <a:solidFill>
                            <a:srgbClr val="000000"/>
                          </a:solidFill>
                          <a:effectLst/>
                        </a:rPr>
                        <a:t>với</a:t>
                      </a:r>
                      <a:r>
                        <a:rPr lang="en-US" sz="1100" b="0" u="none" strike="noStrike" dirty="0">
                          <a:solidFill>
                            <a:srgbClr val="000000"/>
                          </a:solidFill>
                          <a:effectLst/>
                        </a:rPr>
                        <a:t> </a:t>
                      </a:r>
                      <a:r>
                        <a:rPr lang="en-US" sz="1100" b="0" u="none" strike="noStrike" dirty="0" err="1">
                          <a:solidFill>
                            <a:srgbClr val="000000"/>
                          </a:solidFill>
                          <a:effectLst/>
                        </a:rPr>
                        <a:t>động</a:t>
                      </a:r>
                      <a:r>
                        <a:rPr lang="en-US" sz="1100" b="0" u="none" strike="noStrike" dirty="0">
                          <a:solidFill>
                            <a:srgbClr val="000000"/>
                          </a:solidFill>
                          <a:effectLst/>
                        </a:rPr>
                        <a:t> c</a:t>
                      </a:r>
                      <a:r>
                        <a:rPr lang="vi-VN" sz="1100" b="0" u="none" strike="noStrike" dirty="0">
                          <a:solidFill>
                            <a:srgbClr val="000000"/>
                          </a:solidFill>
                          <a:effectLst/>
                        </a:rPr>
                        <a:t>ơ</a:t>
                      </a:r>
                      <a:r>
                        <a:rPr lang="en-US" sz="1100" b="0" u="none" strike="noStrike" dirty="0">
                          <a:solidFill>
                            <a:srgbClr val="000000"/>
                          </a:solidFill>
                          <a:effectLst/>
                        </a:rPr>
                        <a:t> </a:t>
                      </a:r>
                      <a:r>
                        <a:rPr lang="en-US" sz="1100" b="0" u="none" strike="noStrike" dirty="0" err="1">
                          <a:solidFill>
                            <a:srgbClr val="000000"/>
                          </a:solidFill>
                          <a:effectLst/>
                        </a:rPr>
                        <a:t>tháo</a:t>
                      </a:r>
                      <a:r>
                        <a:rPr lang="en-US" sz="1100" b="0" u="none" strike="noStrike" dirty="0">
                          <a:solidFill>
                            <a:srgbClr val="000000"/>
                          </a:solidFill>
                          <a:effectLst/>
                        </a:rPr>
                        <a:t> </a:t>
                      </a:r>
                      <a:r>
                        <a:rPr lang="en-US" sz="1100" b="0" u="none" strike="noStrike" err="1">
                          <a:solidFill>
                            <a:srgbClr val="000000"/>
                          </a:solidFill>
                          <a:effectLst/>
                        </a:rPr>
                        <a:t>từ</a:t>
                      </a:r>
                      <a:r>
                        <a:rPr lang="en-US" sz="1100" b="0" u="none" strike="noStrike">
                          <a:solidFill>
                            <a:srgbClr val="000000"/>
                          </a:solidFill>
                          <a:effectLst/>
                        </a:rPr>
                        <a:t> A619.</a:t>
                      </a:r>
                    </a:p>
                    <a:p>
                      <a:pPr algn="ctr" rtl="0" fontAlgn="ctr"/>
                      <a:r>
                        <a:rPr lang="en-US" sz="1100" b="0" i="0" u="none" strike="noStrike">
                          <a:solidFill>
                            <a:srgbClr val="FF0000"/>
                          </a:solidFill>
                          <a:effectLst/>
                          <a:latin typeface="Times New Roman" panose="02020603050405020304" pitchFamily="18" charset="0"/>
                        </a:rPr>
                        <a:t>Delay 5 ngày so với W19 do lắp QEC tại Collins</a:t>
                      </a:r>
                      <a:endParaRPr lang="en-GB" sz="1100" b="0" i="0" u="none" strike="noStrike" dirty="0">
                        <a:solidFill>
                          <a:srgbClr val="FF0000"/>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943020117"/>
                  </a:ext>
                </a:extLst>
              </a:tr>
              <a:tr h="279634">
                <a:tc>
                  <a:txBody>
                    <a:bodyPr/>
                    <a:lstStyle/>
                    <a:p>
                      <a:pPr algn="ctr" rtl="0" fontAlgn="ctr"/>
                      <a:r>
                        <a:rPr lang="en-GB" sz="1100" b="0" u="none" strike="noStrike">
                          <a:solidFill>
                            <a:schemeClr val="tx1"/>
                          </a:solidFill>
                          <a:effectLst/>
                        </a:rPr>
                        <a:t>P771391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11/10/2024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30/05/2025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RTS A501</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err="1">
                          <a:solidFill>
                            <a:schemeClr val="tx1"/>
                          </a:solidFill>
                          <a:effectLst/>
                        </a:rPr>
                        <a:t>Kết</a:t>
                      </a:r>
                      <a:r>
                        <a:rPr lang="en-US" sz="1100" b="0" u="none" strike="noStrike" dirty="0">
                          <a:solidFill>
                            <a:schemeClr val="tx1"/>
                          </a:solidFill>
                          <a:effectLst/>
                        </a:rPr>
                        <a:t> </a:t>
                      </a:r>
                      <a:r>
                        <a:rPr lang="en-US" sz="1100" b="0" u="none" strike="noStrike" dirty="0" err="1">
                          <a:solidFill>
                            <a:schemeClr val="tx1"/>
                          </a:solidFill>
                          <a:effectLst/>
                        </a:rPr>
                        <a:t>hợp</a:t>
                      </a:r>
                      <a:r>
                        <a:rPr lang="en-US" sz="1100" b="0" u="none" strike="noStrike" dirty="0">
                          <a:solidFill>
                            <a:schemeClr val="tx1"/>
                          </a:solidFill>
                          <a:effectLst/>
                        </a:rPr>
                        <a:t> </a:t>
                      </a:r>
                      <a:r>
                        <a:rPr lang="en-US" sz="1100" b="0" u="none" strike="noStrike" dirty="0" err="1">
                          <a:solidFill>
                            <a:schemeClr val="tx1"/>
                          </a:solidFill>
                          <a:effectLst/>
                        </a:rPr>
                        <a:t>với</a:t>
                      </a:r>
                      <a:r>
                        <a:rPr lang="en-US" sz="1100" b="0" u="none" strike="noStrike" dirty="0">
                          <a:solidFill>
                            <a:schemeClr val="tx1"/>
                          </a:solidFill>
                          <a:effectLst/>
                        </a:rPr>
                        <a:t> </a:t>
                      </a:r>
                      <a:r>
                        <a:rPr lang="en-US" sz="1100" b="0" u="none" strike="noStrike" dirty="0" err="1">
                          <a:solidFill>
                            <a:schemeClr val="tx1"/>
                          </a:solidFill>
                          <a:effectLst/>
                        </a:rPr>
                        <a:t>động</a:t>
                      </a:r>
                      <a:r>
                        <a:rPr lang="en-US"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a:t>
                      </a:r>
                      <a:r>
                        <a:rPr lang="en-US" sz="1100" b="0" u="none" strike="noStrike" dirty="0" err="1">
                          <a:solidFill>
                            <a:schemeClr val="tx1"/>
                          </a:solidFill>
                          <a:effectLst/>
                        </a:rPr>
                        <a:t>thuê</a:t>
                      </a:r>
                      <a:r>
                        <a:rPr lang="en-US" sz="1100" b="0" u="none" strike="noStrike" dirty="0">
                          <a:solidFill>
                            <a:schemeClr val="tx1"/>
                          </a:solidFill>
                          <a:effectLst/>
                        </a:rPr>
                        <a:t> </a:t>
                      </a:r>
                      <a:r>
                        <a:rPr lang="en-US" sz="1100" b="0" u="none" strike="noStrike" dirty="0" err="1">
                          <a:solidFill>
                            <a:schemeClr val="tx1"/>
                          </a:solidFill>
                          <a:effectLst/>
                        </a:rPr>
                        <a:t>mới</a:t>
                      </a:r>
                      <a:r>
                        <a:rPr lang="en-US" sz="1100" b="0" u="none" strike="noStrike" dirty="0">
                          <a:solidFill>
                            <a:schemeClr val="tx1"/>
                          </a:solidFill>
                          <a:effectLst/>
                        </a:rPr>
                        <a:t> PWEL</a:t>
                      </a:r>
                      <a:endParaRPr lang="vi-VN"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417907554"/>
                  </a:ext>
                </a:extLst>
              </a:tr>
              <a:tr h="397760">
                <a:tc>
                  <a:txBody>
                    <a:bodyPr/>
                    <a:lstStyle/>
                    <a:p>
                      <a:pPr algn="ctr" rtl="0" fontAlgn="ctr"/>
                      <a:r>
                        <a:rPr lang="en-GB" sz="1100" b="0" u="none" strike="noStrike">
                          <a:solidFill>
                            <a:schemeClr val="tx1"/>
                          </a:solidFill>
                          <a:effectLst/>
                        </a:rPr>
                        <a:t>P771387</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05/11/2024</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23/06/2025</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Delay 25 </a:t>
                      </a:r>
                      <a:r>
                        <a:rPr lang="en-GB" sz="1100" b="0" u="none" strike="noStrike" dirty="0" err="1">
                          <a:solidFill>
                            <a:schemeClr val="tx1"/>
                          </a:solidFill>
                          <a:effectLst/>
                        </a:rPr>
                        <a:t>ngày</a:t>
                      </a:r>
                      <a:r>
                        <a:rPr lang="en-GB" sz="1100" b="0" u="none" strike="noStrike" dirty="0">
                          <a:solidFill>
                            <a:schemeClr val="tx1"/>
                          </a:solidFill>
                          <a:effectLst/>
                        </a:rPr>
                        <a:t>, KH </a:t>
                      </a:r>
                      <a:r>
                        <a:rPr lang="en-GB" sz="1100" b="0" u="none" strike="noStrike" err="1">
                          <a:solidFill>
                            <a:schemeClr val="tx1"/>
                          </a:solidFill>
                          <a:effectLst/>
                        </a:rPr>
                        <a:t>Cũ</a:t>
                      </a:r>
                      <a:r>
                        <a:rPr lang="en-GB" sz="1100" b="0" u="none" strike="noStrike">
                          <a:solidFill>
                            <a:schemeClr val="tx1"/>
                          </a:solidFill>
                          <a:effectLst/>
                        </a:rPr>
                        <a:t> 26/5 do thiếu PTVT: </a:t>
                      </a:r>
                      <a:r>
                        <a:rPr lang="en-US" sz="1100" b="0" u="none" strike="noStrike">
                          <a:solidFill>
                            <a:schemeClr val="tx1"/>
                          </a:solidFill>
                          <a:effectLst/>
                        </a:rPr>
                        <a:t>IBR6, Manifold Assy...</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135326823"/>
                  </a:ext>
                </a:extLst>
              </a:tr>
              <a:tr h="1135751">
                <a:tc>
                  <a:txBody>
                    <a:bodyPr/>
                    <a:lstStyle/>
                    <a:p>
                      <a:pPr algn="ctr" rtl="0" fontAlgn="ctr"/>
                      <a:r>
                        <a:rPr lang="en-GB" sz="1100" b="0" u="none" strike="noStrike">
                          <a:solidFill>
                            <a:schemeClr val="tx1"/>
                          </a:solidFill>
                          <a:effectLst/>
                        </a:rPr>
                        <a:t>P771041</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19/03/2025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07/07/2025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RTS A508</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chemeClr val="tx1"/>
                          </a:solidFill>
                          <a:effectLst/>
                        </a:rPr>
                        <a:t>+25 </a:t>
                      </a:r>
                      <a:r>
                        <a:rPr lang="en-GB" sz="1100" b="0" u="none" strike="noStrike" dirty="0" err="1">
                          <a:solidFill>
                            <a:schemeClr val="tx1"/>
                          </a:solidFill>
                          <a:effectLst/>
                        </a:rPr>
                        <a:t>ngày</a:t>
                      </a:r>
                      <a:r>
                        <a:rPr lang="en-GB" sz="1100" b="0" u="none" strike="noStrike" dirty="0">
                          <a:solidFill>
                            <a:schemeClr val="tx1"/>
                          </a:solidFill>
                          <a:effectLst/>
                        </a:rPr>
                        <a:t>, KH </a:t>
                      </a:r>
                      <a:r>
                        <a:rPr lang="en-GB" sz="1100" b="0" u="none" strike="noStrike" dirty="0" err="1">
                          <a:solidFill>
                            <a:schemeClr val="tx1"/>
                          </a:solidFill>
                          <a:effectLst/>
                        </a:rPr>
                        <a:t>Cũ</a:t>
                      </a:r>
                      <a:r>
                        <a:rPr lang="en-GB" sz="1100" b="0" u="none" strike="noStrike" dirty="0">
                          <a:solidFill>
                            <a:schemeClr val="tx1"/>
                          </a:solidFill>
                          <a:effectLst/>
                        </a:rPr>
                        <a:t> 12/6 =&gt; </a:t>
                      </a:r>
                      <a:r>
                        <a:rPr lang="en-GB" sz="1100" b="0" u="none" strike="noStrike" dirty="0" err="1">
                          <a:solidFill>
                            <a:schemeClr val="tx1"/>
                          </a:solidFill>
                          <a:effectLst/>
                        </a:rPr>
                        <a:t>tăng</a:t>
                      </a:r>
                      <a:r>
                        <a:rPr lang="en-GB" sz="1100" b="0" u="none" strike="noStrike" dirty="0">
                          <a:solidFill>
                            <a:schemeClr val="tx1"/>
                          </a:solidFill>
                          <a:effectLst/>
                        </a:rPr>
                        <a:t> AOG do A508 </a:t>
                      </a:r>
                      <a:r>
                        <a:rPr lang="en-GB" sz="1100" b="0" u="none" strike="noStrike" dirty="0" err="1">
                          <a:solidFill>
                            <a:schemeClr val="tx1"/>
                          </a:solidFill>
                          <a:effectLst/>
                        </a:rPr>
                        <a:t>có</a:t>
                      </a:r>
                      <a:r>
                        <a:rPr lang="en-GB" sz="1100" b="0" u="none" strike="noStrike" dirty="0">
                          <a:solidFill>
                            <a:schemeClr val="tx1"/>
                          </a:solidFill>
                          <a:effectLst/>
                        </a:rPr>
                        <a:t> </a:t>
                      </a:r>
                      <a:r>
                        <a:rPr lang="en-GB" sz="1100" b="0" u="none" strike="noStrike" dirty="0" err="1">
                          <a:solidFill>
                            <a:schemeClr val="tx1"/>
                          </a:solidFill>
                          <a:effectLst/>
                        </a:rPr>
                        <a:t>động</a:t>
                      </a:r>
                      <a:r>
                        <a:rPr lang="en-GB"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a:t>
                      </a:r>
                      <a:r>
                        <a:rPr lang="en-US" sz="1100" b="0" u="none" strike="noStrike" dirty="0" err="1">
                          <a:solidFill>
                            <a:schemeClr val="tx1"/>
                          </a:solidFill>
                          <a:effectLst/>
                        </a:rPr>
                        <a:t>muộn</a:t>
                      </a:r>
                      <a:r>
                        <a:rPr lang="en-US" sz="1100" b="0" u="none" strike="noStrike" dirty="0">
                          <a:solidFill>
                            <a:schemeClr val="tx1"/>
                          </a:solidFill>
                          <a:effectLst/>
                        </a:rPr>
                        <a:t>  </a:t>
                      </a:r>
                      <a:r>
                        <a:rPr lang="en-US" sz="1100" b="0" u="none" strike="noStrike">
                          <a:solidFill>
                            <a:schemeClr val="tx1"/>
                          </a:solidFill>
                          <a:effectLst/>
                        </a:rPr>
                        <a:t>25 ngày do trong quá trình kiểm tra phát sinh hỏng hóc module HPT </a:t>
                      </a:r>
                      <a:r>
                        <a:rPr lang="en-US" sz="1100" b="0" u="none" strike="noStrike">
                          <a:solidFill>
                            <a:schemeClr val="tx1"/>
                          </a:solidFill>
                          <a:effectLst/>
                          <a:sym typeface="Wingdings" panose="05000000000000000000" pitchFamily="2" charset="2"/>
                        </a:rPr>
                        <a:t> </a:t>
                      </a:r>
                      <a:r>
                        <a:rPr lang="en-US" sz="1100" b="0" u="none" strike="noStrike">
                          <a:solidFill>
                            <a:schemeClr val="tx1"/>
                          </a:solidFill>
                          <a:effectLst/>
                        </a:rPr>
                        <a:t>Tăng mức WSC, phát sinh thay 02 LLP thuộc HPT module so với ban đầu</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236595682"/>
                  </a:ext>
                </a:extLst>
              </a:tr>
              <a:tr h="1048198">
                <a:tc>
                  <a:txBody>
                    <a:bodyPr/>
                    <a:lstStyle/>
                    <a:p>
                      <a:pPr algn="ctr" rtl="0" fontAlgn="ctr"/>
                      <a:r>
                        <a:rPr lang="en-GB" sz="1100" b="0" u="none" strike="noStrike">
                          <a:solidFill>
                            <a:schemeClr val="tx1"/>
                          </a:solidFill>
                          <a:effectLst/>
                        </a:rPr>
                        <a:t>P771423</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15/04/2025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chemeClr val="tx1"/>
                          </a:solidFill>
                          <a:effectLst/>
                        </a:rPr>
                        <a:t>23/07/2025</a:t>
                      </a:r>
                      <a:endParaRPr lang="en-GB" sz="1100" b="0" i="0" u="none" strike="noStrike">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en-US" sz="1100" b="0" u="none" strike="noStrike" dirty="0">
                          <a:solidFill>
                            <a:schemeClr val="tx1"/>
                          </a:solidFill>
                          <a:effectLst/>
                        </a:rPr>
                        <a:t>S</a:t>
                      </a:r>
                      <a:r>
                        <a:rPr lang="en-GB" sz="1100" b="0" u="none" strike="noStrike" dirty="0">
                          <a:solidFill>
                            <a:schemeClr val="tx1"/>
                          </a:solidFill>
                          <a:effectLst/>
                        </a:rPr>
                        <a:t>pare</a:t>
                      </a:r>
                      <a:endParaRPr lang="en-GB" sz="1100" b="0" i="0" u="none" strike="noStrike" dirty="0">
                        <a:solidFill>
                          <a:schemeClr val="tx1"/>
                        </a:solidFill>
                        <a:effectLst/>
                        <a:latin typeface="Times New Roman" panose="02020603050405020304" pitchFamily="18" charset="0"/>
                      </a:endParaRPr>
                    </a:p>
                  </a:txBody>
                  <a:tcPr marL="5281" marR="5281" marT="5281" marB="0" anchor="ctr"/>
                </a:tc>
                <a:tc>
                  <a:txBody>
                    <a:bodyPr/>
                    <a:lstStyle/>
                    <a:p>
                      <a:pPr algn="ctr" rtl="0" fontAlgn="ctr"/>
                      <a:r>
                        <a:rPr lang="vi-VN" sz="1100" b="0" u="none" strike="noStrike" dirty="0">
                          <a:solidFill>
                            <a:schemeClr val="tx1"/>
                          </a:solidFill>
                          <a:effectLst/>
                        </a:rPr>
                        <a:t>+19 ngày so với KH, </a:t>
                      </a:r>
                      <a:r>
                        <a:rPr lang="en-US" sz="1100" b="0" u="none" strike="noStrike" dirty="0" err="1">
                          <a:solidFill>
                            <a:schemeClr val="tx1"/>
                          </a:solidFill>
                          <a:effectLst/>
                        </a:rPr>
                        <a:t>không</a:t>
                      </a:r>
                      <a:r>
                        <a:rPr lang="en-US" sz="1100" b="0" u="none" strike="noStrike" dirty="0">
                          <a:solidFill>
                            <a:schemeClr val="tx1"/>
                          </a:solidFill>
                          <a:effectLst/>
                        </a:rPr>
                        <a:t> </a:t>
                      </a:r>
                      <a:r>
                        <a:rPr lang="en-US" sz="1100" b="0" u="none" strike="noStrike" dirty="0" err="1">
                          <a:solidFill>
                            <a:schemeClr val="tx1"/>
                          </a:solidFill>
                          <a:effectLst/>
                        </a:rPr>
                        <a:t>ảnh</a:t>
                      </a:r>
                      <a:r>
                        <a:rPr lang="en-US" sz="1100" b="0" u="none" strike="noStrike" dirty="0">
                          <a:solidFill>
                            <a:schemeClr val="tx1"/>
                          </a:solidFill>
                          <a:effectLst/>
                        </a:rPr>
                        <a:t> h</a:t>
                      </a:r>
                      <a:r>
                        <a:rPr lang="vi-VN" sz="1100" b="0" u="none" strike="noStrike" dirty="0">
                          <a:solidFill>
                            <a:schemeClr val="tx1"/>
                          </a:solidFill>
                          <a:effectLst/>
                        </a:rPr>
                        <a:t>ư</a:t>
                      </a:r>
                      <a:r>
                        <a:rPr lang="en-US" sz="1100" b="0" u="none" strike="noStrike" dirty="0" err="1">
                          <a:solidFill>
                            <a:schemeClr val="tx1"/>
                          </a:solidFill>
                          <a:effectLst/>
                        </a:rPr>
                        <a:t>ởng</a:t>
                      </a:r>
                      <a:r>
                        <a:rPr lang="en-US" sz="1100" b="0" u="none" strike="noStrike" dirty="0">
                          <a:solidFill>
                            <a:schemeClr val="tx1"/>
                          </a:solidFill>
                          <a:effectLst/>
                        </a:rPr>
                        <a:t> do </a:t>
                      </a:r>
                      <a:r>
                        <a:rPr lang="en-US" sz="1100" b="0" u="none" strike="noStrike" dirty="0" err="1">
                          <a:solidFill>
                            <a:schemeClr val="tx1"/>
                          </a:solidFill>
                          <a:effectLst/>
                        </a:rPr>
                        <a:t>thiếu</a:t>
                      </a:r>
                      <a:r>
                        <a:rPr lang="en-US" sz="1100" b="0" u="none" strike="noStrike" dirty="0">
                          <a:solidFill>
                            <a:schemeClr val="tx1"/>
                          </a:solidFill>
                          <a:effectLst/>
                        </a:rPr>
                        <a:t> 1 </a:t>
                      </a:r>
                      <a:r>
                        <a:rPr lang="en-US" sz="1100" b="0" u="none" strike="noStrike" dirty="0" err="1">
                          <a:solidFill>
                            <a:schemeClr val="tx1"/>
                          </a:solidFill>
                          <a:effectLst/>
                        </a:rPr>
                        <a:t>động</a:t>
                      </a:r>
                      <a:r>
                        <a:rPr lang="en-US" sz="1100" b="0" u="none" strike="noStrike" dirty="0">
                          <a:solidFill>
                            <a:schemeClr val="tx1"/>
                          </a:solidFill>
                          <a:effectLst/>
                        </a:rPr>
                        <a:t> c</a:t>
                      </a:r>
                      <a:r>
                        <a:rPr lang="vi-VN" sz="1100" b="0" u="none" strike="noStrike" dirty="0">
                          <a:solidFill>
                            <a:schemeClr val="tx1"/>
                          </a:solidFill>
                          <a:effectLst/>
                        </a:rPr>
                        <a:t>ơ</a:t>
                      </a:r>
                      <a:r>
                        <a:rPr lang="en-US" sz="1100" b="0" u="none" strike="noStrike" dirty="0">
                          <a:solidFill>
                            <a:schemeClr val="tx1"/>
                          </a:solidFill>
                          <a:effectLst/>
                        </a:rPr>
                        <a:t> do </a:t>
                      </a:r>
                      <a:r>
                        <a:rPr lang="en-US" sz="1100" b="0" u="none" strike="noStrike" dirty="0" err="1">
                          <a:solidFill>
                            <a:schemeClr val="tx1"/>
                          </a:solidFill>
                          <a:effectLst/>
                        </a:rPr>
                        <a:t>trong</a:t>
                      </a:r>
                      <a:r>
                        <a:rPr lang="en-US" sz="1100" b="0" u="none" strike="noStrike" dirty="0">
                          <a:solidFill>
                            <a:schemeClr val="tx1"/>
                          </a:solidFill>
                          <a:effectLst/>
                        </a:rPr>
                        <a:t> </a:t>
                      </a:r>
                      <a:r>
                        <a:rPr lang="en-US" sz="1100" b="0" u="none" strike="noStrike" dirty="0" err="1">
                          <a:solidFill>
                            <a:schemeClr val="tx1"/>
                          </a:solidFill>
                          <a:effectLst/>
                        </a:rPr>
                        <a:t>quá</a:t>
                      </a:r>
                      <a:r>
                        <a:rPr lang="en-US" sz="1100" b="0" u="none" strike="noStrike" dirty="0">
                          <a:solidFill>
                            <a:schemeClr val="tx1"/>
                          </a:solidFill>
                          <a:effectLst/>
                        </a:rPr>
                        <a:t> </a:t>
                      </a:r>
                      <a:r>
                        <a:rPr lang="en-US" sz="1100" b="0" u="none" strike="noStrike" dirty="0" err="1">
                          <a:solidFill>
                            <a:schemeClr val="tx1"/>
                          </a:solidFill>
                          <a:effectLst/>
                        </a:rPr>
                        <a:t>trình</a:t>
                      </a:r>
                      <a:r>
                        <a:rPr lang="en-US" sz="1100" b="0" u="none" strike="noStrike" dirty="0">
                          <a:solidFill>
                            <a:schemeClr val="tx1"/>
                          </a:solidFill>
                          <a:effectLst/>
                        </a:rPr>
                        <a:t> </a:t>
                      </a:r>
                      <a:r>
                        <a:rPr lang="en-US" sz="1100" b="0" u="none" strike="noStrike" dirty="0" err="1">
                          <a:solidFill>
                            <a:schemeClr val="tx1"/>
                          </a:solidFill>
                          <a:effectLst/>
                        </a:rPr>
                        <a:t>kiểm</a:t>
                      </a:r>
                      <a:r>
                        <a:rPr lang="en-US" sz="1100" b="0" u="none" strike="noStrike" dirty="0">
                          <a:solidFill>
                            <a:schemeClr val="tx1"/>
                          </a:solidFill>
                          <a:effectLst/>
                        </a:rPr>
                        <a:t> </a:t>
                      </a:r>
                      <a:r>
                        <a:rPr lang="en-US" sz="1100" b="0" u="none" strike="noStrike" dirty="0" err="1">
                          <a:solidFill>
                            <a:schemeClr val="tx1"/>
                          </a:solidFill>
                          <a:effectLst/>
                        </a:rPr>
                        <a:t>tra</a:t>
                      </a:r>
                      <a:r>
                        <a:rPr lang="en-US" sz="1100" b="0" u="none" strike="noStrike" dirty="0">
                          <a:solidFill>
                            <a:schemeClr val="tx1"/>
                          </a:solidFill>
                          <a:effectLst/>
                        </a:rPr>
                        <a:t> </a:t>
                      </a:r>
                      <a:r>
                        <a:rPr lang="en-US" sz="1100" b="0" u="none" strike="noStrike" dirty="0" err="1">
                          <a:solidFill>
                            <a:schemeClr val="tx1"/>
                          </a:solidFill>
                          <a:effectLst/>
                        </a:rPr>
                        <a:t>phát</a:t>
                      </a:r>
                      <a:r>
                        <a:rPr lang="en-US" sz="1100" b="0" u="none" strike="noStrike" dirty="0">
                          <a:solidFill>
                            <a:schemeClr val="tx1"/>
                          </a:solidFill>
                          <a:effectLst/>
                        </a:rPr>
                        <a:t> </a:t>
                      </a:r>
                      <a:r>
                        <a:rPr lang="en-US" sz="1100" b="0" u="none" strike="noStrike" dirty="0" err="1">
                          <a:solidFill>
                            <a:schemeClr val="tx1"/>
                          </a:solidFill>
                          <a:effectLst/>
                        </a:rPr>
                        <a:t>sinh</a:t>
                      </a:r>
                      <a:r>
                        <a:rPr lang="en-US" sz="1100" b="0" u="none" strike="noStrike" dirty="0">
                          <a:solidFill>
                            <a:schemeClr val="tx1"/>
                          </a:solidFill>
                          <a:effectLst/>
                        </a:rPr>
                        <a:t> </a:t>
                      </a:r>
                      <a:r>
                        <a:rPr lang="en-US" sz="1100" b="0" u="none" strike="noStrike" dirty="0" err="1">
                          <a:solidFill>
                            <a:schemeClr val="tx1"/>
                          </a:solidFill>
                          <a:effectLst/>
                        </a:rPr>
                        <a:t>hỏng</a:t>
                      </a:r>
                      <a:r>
                        <a:rPr lang="en-US" sz="1100" b="0" u="none" strike="noStrike" dirty="0">
                          <a:solidFill>
                            <a:schemeClr val="tx1"/>
                          </a:solidFill>
                          <a:effectLst/>
                        </a:rPr>
                        <a:t> </a:t>
                      </a:r>
                      <a:r>
                        <a:rPr lang="en-US" sz="1100" b="0" u="none" strike="noStrike" dirty="0" err="1">
                          <a:solidFill>
                            <a:schemeClr val="tx1"/>
                          </a:solidFill>
                          <a:effectLst/>
                        </a:rPr>
                        <a:t>hóc</a:t>
                      </a:r>
                      <a:r>
                        <a:rPr lang="en-US" sz="1100" b="0" u="none" strike="noStrike" dirty="0">
                          <a:solidFill>
                            <a:schemeClr val="tx1"/>
                          </a:solidFill>
                          <a:effectLst/>
                        </a:rPr>
                        <a:t>  HPT module </a:t>
                      </a:r>
                      <a:r>
                        <a:rPr lang="en-US" sz="1100" b="0" u="none" strike="noStrike" dirty="0">
                          <a:solidFill>
                            <a:schemeClr val="tx1"/>
                          </a:solidFill>
                          <a:effectLst/>
                          <a:sym typeface="Wingdings" panose="05000000000000000000" pitchFamily="2" charset="2"/>
                        </a:rPr>
                        <a:t> </a:t>
                      </a:r>
                      <a:r>
                        <a:rPr lang="en-US" sz="1100" b="0" u="none" strike="noStrike" dirty="0" err="1">
                          <a:solidFill>
                            <a:schemeClr val="tx1"/>
                          </a:solidFill>
                          <a:effectLst/>
                        </a:rPr>
                        <a:t>Tăng</a:t>
                      </a:r>
                      <a:r>
                        <a:rPr lang="en-US" sz="1100" b="0" u="none" strike="noStrike" dirty="0">
                          <a:solidFill>
                            <a:schemeClr val="tx1"/>
                          </a:solidFill>
                          <a:effectLst/>
                        </a:rPr>
                        <a:t> </a:t>
                      </a:r>
                      <a:r>
                        <a:rPr lang="en-US" sz="1100" b="0" u="none" strike="noStrike" dirty="0" err="1">
                          <a:solidFill>
                            <a:schemeClr val="tx1"/>
                          </a:solidFill>
                          <a:effectLst/>
                        </a:rPr>
                        <a:t>mức</a:t>
                      </a:r>
                      <a:r>
                        <a:rPr lang="en-US" sz="1100" b="0" u="none" strike="noStrike" dirty="0">
                          <a:solidFill>
                            <a:schemeClr val="tx1"/>
                          </a:solidFill>
                          <a:effectLst/>
                        </a:rPr>
                        <a:t> </a:t>
                      </a:r>
                      <a:r>
                        <a:rPr lang="en-US" sz="1100" b="0" u="none" strike="noStrike" dirty="0" err="1">
                          <a:solidFill>
                            <a:schemeClr val="tx1"/>
                          </a:solidFill>
                          <a:effectLst/>
                        </a:rPr>
                        <a:t>wsc</a:t>
                      </a:r>
                      <a:r>
                        <a:rPr lang="en-US" sz="1100" b="0" u="none" strike="noStrike" dirty="0">
                          <a:solidFill>
                            <a:schemeClr val="tx1"/>
                          </a:solidFill>
                          <a:effectLst/>
                        </a:rPr>
                        <a:t> </a:t>
                      </a:r>
                      <a:r>
                        <a:rPr lang="en-US" sz="1100" b="0" u="none" strike="noStrike" dirty="0" err="1">
                          <a:solidFill>
                            <a:schemeClr val="tx1"/>
                          </a:solidFill>
                          <a:effectLst/>
                        </a:rPr>
                        <a:t>cho</a:t>
                      </a:r>
                      <a:r>
                        <a:rPr lang="en-US" sz="1100" b="0" u="none" strike="noStrike" dirty="0">
                          <a:solidFill>
                            <a:schemeClr val="tx1"/>
                          </a:solidFill>
                          <a:effectLst/>
                        </a:rPr>
                        <a:t> 1 </a:t>
                      </a:r>
                      <a:r>
                        <a:rPr lang="en-US" sz="1100" b="0" u="none" strike="noStrike" dirty="0" err="1">
                          <a:solidFill>
                            <a:schemeClr val="tx1"/>
                          </a:solidFill>
                          <a:effectLst/>
                        </a:rPr>
                        <a:t>số</a:t>
                      </a:r>
                      <a:r>
                        <a:rPr lang="en-US" sz="1100" b="0" u="none" strike="noStrike" dirty="0">
                          <a:solidFill>
                            <a:schemeClr val="tx1"/>
                          </a:solidFill>
                          <a:effectLst/>
                        </a:rPr>
                        <a:t> module so </a:t>
                      </a:r>
                      <a:r>
                        <a:rPr lang="en-US" sz="1100" b="0" u="none" strike="noStrike" dirty="0" err="1">
                          <a:solidFill>
                            <a:schemeClr val="tx1"/>
                          </a:solidFill>
                          <a:effectLst/>
                        </a:rPr>
                        <a:t>với</a:t>
                      </a:r>
                      <a:r>
                        <a:rPr lang="en-US" sz="1100" b="0" u="none" strike="noStrike" dirty="0">
                          <a:solidFill>
                            <a:schemeClr val="tx1"/>
                          </a:solidFill>
                          <a:effectLst/>
                        </a:rPr>
                        <a:t> ban </a:t>
                      </a:r>
                      <a:r>
                        <a:rPr lang="en-US" sz="1100" b="0" u="none" strike="noStrike" dirty="0" err="1">
                          <a:solidFill>
                            <a:schemeClr val="tx1"/>
                          </a:solidFill>
                          <a:effectLst/>
                        </a:rPr>
                        <a:t>đầu</a:t>
                      </a:r>
                      <a:endParaRPr lang="en-GB" sz="1100" b="0" i="0" u="none" strike="noStrike" dirty="0">
                        <a:solidFill>
                          <a:schemeClr val="tx1"/>
                        </a:solidFill>
                        <a:effectLst/>
                        <a:latin typeface="Times New Roman" panose="02020603050405020304" pitchFamily="18" charset="0"/>
                      </a:endParaRPr>
                    </a:p>
                  </a:txBody>
                  <a:tcPr marL="5281" marR="5281" marT="5281" marB="0" anchor="ctr"/>
                </a:tc>
                <a:extLst>
                  <a:ext uri="{0D108BD9-81ED-4DB2-BD59-A6C34878D82A}">
                    <a16:rowId xmlns:a16="http://schemas.microsoft.com/office/drawing/2014/main" val="871960572"/>
                  </a:ext>
                </a:extLst>
              </a:tr>
              <a:tr h="201965">
                <a:tc>
                  <a:txBody>
                    <a:bodyPr/>
                    <a:lstStyle/>
                    <a:p>
                      <a:pPr algn="ctr" rtl="0" fontAlgn="ctr"/>
                      <a:r>
                        <a:rPr lang="en-GB" sz="1100" b="0" u="none" strike="noStrike">
                          <a:solidFill>
                            <a:srgbClr val="000000"/>
                          </a:solidFill>
                          <a:effectLst/>
                        </a:rPr>
                        <a:t>P771373</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20/02/2025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a:solidFill>
                            <a:srgbClr val="000000"/>
                          </a:solidFill>
                          <a:effectLst/>
                        </a:rPr>
                        <a:t>08/09/2025</a:t>
                      </a:r>
                      <a:endParaRPr lang="en-GB" sz="1100" b="0" i="0" u="none" strike="noStrike">
                        <a:solidFill>
                          <a:srgbClr val="000000"/>
                        </a:solidFill>
                        <a:effectLst/>
                        <a:latin typeface="Times New Roman" panose="02020603050405020304" pitchFamily="18" charset="0"/>
                      </a:endParaRPr>
                    </a:p>
                  </a:txBody>
                  <a:tcPr marL="5281" marR="5281" marT="5281" marB="0" anchor="ctr"/>
                </a:tc>
                <a:tc>
                  <a:txBody>
                    <a:bodyPr/>
                    <a:lstStyle/>
                    <a:p>
                      <a:pPr algn="ctr" rtl="0" fontAlgn="ctr"/>
                      <a:r>
                        <a:rPr lang="en-GB" sz="1100" b="0" u="none" strike="noStrike" dirty="0">
                          <a:solidFill>
                            <a:srgbClr val="000000"/>
                          </a:solidFill>
                          <a:effectLst/>
                        </a:rPr>
                        <a:t>RTS</a:t>
                      </a:r>
                      <a:endParaRPr lang="en-GB" sz="1100" b="0" i="0" u="none" strike="noStrike" dirty="0">
                        <a:solidFill>
                          <a:srgbClr val="000000"/>
                        </a:solidFill>
                        <a:effectLst/>
                        <a:latin typeface="Times New Roman" panose="02020603050405020304" pitchFamily="18" charset="0"/>
                      </a:endParaRPr>
                    </a:p>
                  </a:txBody>
                  <a:tcPr marL="5281" marR="5281" marT="5281" marB="0" anchor="ctr"/>
                </a:tc>
                <a:tc>
                  <a:txBody>
                    <a:bodyPr/>
                    <a:lstStyle/>
                    <a:p>
                      <a:pPr algn="ctr" fontAlgn="ctr"/>
                      <a:r>
                        <a:rPr lang="en-GB" sz="1100" b="0" u="none" strike="noStrike" dirty="0">
                          <a:solidFill>
                            <a:srgbClr val="000000"/>
                          </a:solidFill>
                          <a:effectLst/>
                        </a:rPr>
                        <a:t>Sau </a:t>
                      </a:r>
                      <a:r>
                        <a:rPr lang="en-GB" sz="1100" b="0" u="none" strike="noStrike" dirty="0" err="1">
                          <a:solidFill>
                            <a:srgbClr val="000000"/>
                          </a:solidFill>
                          <a:effectLst/>
                        </a:rPr>
                        <a:t>cao</a:t>
                      </a:r>
                      <a:r>
                        <a:rPr lang="en-GB" sz="1100" b="0" u="none" strike="noStrike" dirty="0">
                          <a:solidFill>
                            <a:srgbClr val="000000"/>
                          </a:solidFill>
                          <a:effectLst/>
                        </a:rPr>
                        <a:t> </a:t>
                      </a:r>
                      <a:r>
                        <a:rPr lang="en-GB" sz="1100" b="0" u="none" strike="noStrike" dirty="0" err="1">
                          <a:solidFill>
                            <a:srgbClr val="000000"/>
                          </a:solidFill>
                          <a:effectLst/>
                        </a:rPr>
                        <a:t>điểm</a:t>
                      </a:r>
                      <a:r>
                        <a:rPr lang="en-GB" sz="1100" b="0" u="none" strike="noStrike" dirty="0">
                          <a:solidFill>
                            <a:srgbClr val="000000"/>
                          </a:solidFill>
                          <a:effectLst/>
                        </a:rPr>
                        <a:t> </a:t>
                      </a:r>
                      <a:endParaRPr lang="en-GB" sz="1100" b="0" i="0" u="none" strike="noStrike" dirty="0">
                        <a:solidFill>
                          <a:srgbClr val="000000"/>
                        </a:solidFill>
                        <a:effectLst/>
                        <a:latin typeface="Arial" panose="020B0604020202020204" pitchFamily="34" charset="0"/>
                      </a:endParaRPr>
                    </a:p>
                  </a:txBody>
                  <a:tcPr marL="5281" marR="5281" marT="5281" marB="0" anchor="ctr"/>
                </a:tc>
                <a:extLst>
                  <a:ext uri="{0D108BD9-81ED-4DB2-BD59-A6C34878D82A}">
                    <a16:rowId xmlns:a16="http://schemas.microsoft.com/office/drawing/2014/main" val="3042752024"/>
                  </a:ext>
                </a:extLst>
              </a:tr>
            </a:tbl>
          </a:graphicData>
        </a:graphic>
      </p:graphicFrame>
    </p:spTree>
    <p:extLst>
      <p:ext uri="{BB962C8B-B14F-4D97-AF65-F5344CB8AC3E}">
        <p14:creationId xmlns:p14="http://schemas.microsoft.com/office/powerpoint/2010/main" val="7372389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27</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27</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3"/>
          <a:ext cx="5787655" cy="4439194"/>
        </p:xfrm>
        <a:graphic>
          <a:graphicData uri="http://schemas.openxmlformats.org/drawingml/2006/table">
            <a:tbl>
              <a:tblPr firstRow="1" bandRow="1">
                <a:tableStyleId>{5C22544A-7EE6-4342-B048-85BDC9FD1C3A}</a:tableStyleId>
              </a:tblPr>
              <a:tblGrid>
                <a:gridCol w="914143">
                  <a:extLst>
                    <a:ext uri="{9D8B030D-6E8A-4147-A177-3AD203B41FA5}">
                      <a16:colId xmlns:a16="http://schemas.microsoft.com/office/drawing/2014/main" val="1930757539"/>
                    </a:ext>
                  </a:extLst>
                </a:gridCol>
                <a:gridCol w="806458">
                  <a:extLst>
                    <a:ext uri="{9D8B030D-6E8A-4147-A177-3AD203B41FA5}">
                      <a16:colId xmlns:a16="http://schemas.microsoft.com/office/drawing/2014/main" val="1674463010"/>
                    </a:ext>
                  </a:extLst>
                </a:gridCol>
                <a:gridCol w="680821">
                  <a:extLst>
                    <a:ext uri="{9D8B030D-6E8A-4147-A177-3AD203B41FA5}">
                      <a16:colId xmlns:a16="http://schemas.microsoft.com/office/drawing/2014/main" val="1549944897"/>
                    </a:ext>
                  </a:extLst>
                </a:gridCol>
                <a:gridCol w="1333472">
                  <a:extLst>
                    <a:ext uri="{9D8B030D-6E8A-4147-A177-3AD203B41FA5}">
                      <a16:colId xmlns:a16="http://schemas.microsoft.com/office/drawing/2014/main" val="3687717734"/>
                    </a:ext>
                  </a:extLst>
                </a:gridCol>
                <a:gridCol w="2052761">
                  <a:extLst>
                    <a:ext uri="{9D8B030D-6E8A-4147-A177-3AD203B41FA5}">
                      <a16:colId xmlns:a16="http://schemas.microsoft.com/office/drawing/2014/main" val="4100307886"/>
                    </a:ext>
                  </a:extLst>
                </a:gridCol>
              </a:tblGrid>
              <a:tr h="308955">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536606">
                <a:tc>
                  <a:txBody>
                    <a:bodyPr/>
                    <a:lstStyle/>
                    <a:p>
                      <a:pPr algn="ctr" fontAlgn="ctr"/>
                      <a:r>
                        <a:rPr lang="en-GB" sz="1100" b="0" u="none" strike="noStrike" dirty="0">
                          <a:solidFill>
                            <a:schemeClr val="tx1"/>
                          </a:solidFill>
                          <a:effectLst/>
                        </a:rPr>
                        <a:t>21201</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110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rPr>
                        <a:t>25/05/2025</a:t>
                      </a:r>
                    </a:p>
                    <a:p>
                      <a:pPr algn="ctr" fontAlgn="ctr"/>
                      <a:r>
                        <a:rPr lang="en-GB" sz="1100" b="0" u="none" strike="noStrike" dirty="0">
                          <a:solidFill>
                            <a:srgbClr val="FF0000"/>
                          </a:solidFill>
                          <a:effectLst/>
                        </a:rPr>
                        <a:t>+5 </a:t>
                      </a:r>
                      <a:r>
                        <a:rPr lang="en-GB" sz="1100" b="0" u="none" strike="noStrike" dirty="0" err="1">
                          <a:solidFill>
                            <a:srgbClr val="FF0000"/>
                          </a:solidFill>
                          <a:effectLst/>
                        </a:rPr>
                        <a:t>ngày</a:t>
                      </a:r>
                      <a:r>
                        <a:rPr lang="en-GB" sz="1100" b="0" u="none" strike="noStrike" dirty="0">
                          <a:solidFill>
                            <a:srgbClr val="FF0000"/>
                          </a:solidFill>
                          <a:effectLst/>
                        </a:rPr>
                        <a:t> do </a:t>
                      </a:r>
                      <a:r>
                        <a:rPr lang="en-GB" sz="1100" b="0" u="none" strike="noStrike" dirty="0" err="1">
                          <a:solidFill>
                            <a:srgbClr val="FF0000"/>
                          </a:solidFill>
                          <a:effectLst/>
                        </a:rPr>
                        <a:t>vận</a:t>
                      </a:r>
                      <a:r>
                        <a:rPr lang="en-GB" sz="1100" b="0" u="none" strike="noStrike" dirty="0">
                          <a:solidFill>
                            <a:srgbClr val="FF0000"/>
                          </a:solidFill>
                          <a:effectLst/>
                        </a:rPr>
                        <a:t> </a:t>
                      </a:r>
                      <a:r>
                        <a:rPr lang="en-GB" sz="1100" b="0" u="none" strike="noStrike" dirty="0" err="1">
                          <a:solidFill>
                            <a:srgbClr val="FF0000"/>
                          </a:solidFill>
                          <a:effectLst/>
                        </a:rPr>
                        <a:t>chuyển</a:t>
                      </a:r>
                      <a:endParaRPr lang="en-GB" sz="1100" b="0" i="0" u="none" strike="noStrike" dirty="0">
                        <a:solidFill>
                          <a:srgbClr val="FF0000"/>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A887#2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357737">
                <a:tc>
                  <a:txBody>
                    <a:bodyPr/>
                    <a:lstStyle/>
                    <a:p>
                      <a:pPr algn="ctr" fontAlgn="ctr"/>
                      <a:r>
                        <a:rPr lang="en-US" sz="1100" b="0" u="none" strike="noStrike" dirty="0">
                          <a:solidFill>
                            <a:schemeClr val="tx1"/>
                          </a:solidFill>
                          <a:effectLst/>
                        </a:rPr>
                        <a:t>21316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Transport SGN-HAN</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N/A</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20/05/2025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A887#1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852539845"/>
                  </a:ext>
                </a:extLst>
              </a:tr>
              <a:tr h="357737">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16/06/2025</a:t>
                      </a:r>
                    </a:p>
                    <a:p>
                      <a:pPr algn="ctr" fontAlgn="ctr"/>
                      <a:r>
                        <a:rPr lang="en-GB" sz="1100" b="0" u="none" strike="noStrike" dirty="0">
                          <a:solidFill>
                            <a:schemeClr val="tx1"/>
                          </a:solidFill>
                          <a:effectLst/>
                        </a:rPr>
                        <a:t>(+15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A886#1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308955">
                <a:tc>
                  <a:txBody>
                    <a:bodyPr/>
                    <a:lstStyle/>
                    <a:p>
                      <a:pPr algn="ctr" fontAlgn="ctr"/>
                      <a:r>
                        <a:rPr lang="en-GB" sz="1100" b="0" u="none" strike="noStrike">
                          <a:solidFill>
                            <a:schemeClr val="tx1"/>
                          </a:solidFill>
                          <a:effectLst/>
                        </a:rPr>
                        <a:t>21040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HAESL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17/06/2025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A886#2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08955">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A895#1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357737">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228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23/07/2025</a:t>
                      </a:r>
                    </a:p>
                    <a:p>
                      <a:pPr algn="ctr" fontAlgn="ctr"/>
                      <a:r>
                        <a:rPr lang="en-GB" sz="1100" b="0" u="none" strike="noStrike" dirty="0">
                          <a:solidFill>
                            <a:schemeClr val="tx1"/>
                          </a:solidFill>
                          <a:effectLst/>
                        </a:rPr>
                        <a:t>+42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A895#2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308955">
                <a:tc>
                  <a:txBody>
                    <a:bodyPr/>
                    <a:lstStyle/>
                    <a:p>
                      <a:pPr algn="ctr" fontAlgn="ctr"/>
                      <a:r>
                        <a:rPr lang="en-GB" sz="1100" b="0" u="none" strike="noStrike">
                          <a:solidFill>
                            <a:schemeClr val="tx1"/>
                          </a:solidFill>
                          <a:effectLst/>
                        </a:rPr>
                        <a:t>21414</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27/07/2025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A898#2 21268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357737">
                <a:tc>
                  <a:txBody>
                    <a:bodyPr/>
                    <a:lstStyle/>
                    <a:p>
                      <a:pPr algn="ctr" fontAlgn="ctr"/>
                      <a:r>
                        <a:rPr lang="en-GB" sz="1100" b="0" u="none" strike="noStrike">
                          <a:solidFill>
                            <a:schemeClr val="tx1"/>
                          </a:solidFill>
                          <a:effectLst/>
                        </a:rPr>
                        <a:t>21137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N3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207</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chemeClr val="tx1"/>
                          </a:solidFill>
                          <a:effectLst/>
                        </a:rPr>
                        <a:t>29/07/2025</a:t>
                      </a:r>
                    </a:p>
                    <a:p>
                      <a:pPr algn="ctr" fontAlgn="ctr"/>
                      <a:r>
                        <a:rPr lang="en-GB" sz="1100" b="0" u="none" strike="noStrike" dirty="0">
                          <a:solidFill>
                            <a:schemeClr val="tx1"/>
                          </a:solidFill>
                          <a:effectLst/>
                        </a:rPr>
                        <a:t>+28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dirty="0">
                          <a:solidFill>
                            <a:schemeClr val="tx1"/>
                          </a:solidFill>
                          <a:effectLst/>
                        </a:rPr>
                        <a:t> KH</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A890#2 21418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r h="308955">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08/08/2025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dirty="0">
                          <a:solidFill>
                            <a:schemeClr val="tx1"/>
                          </a:solidFill>
                        </a:rPr>
                        <a:t>A894#2 21346 LPT Expire</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45775366"/>
                  </a:ext>
                </a:extLst>
              </a:tr>
              <a:tr h="308955">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430177177"/>
                  </a:ext>
                </a:extLst>
              </a:tr>
              <a:tr h="308955">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Transport</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308955">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A887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10/04/2026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343947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391124" y="3613759"/>
            <a:ext cx="5167083"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269613" y="5562355"/>
          <a:ext cx="5765457" cy="115824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Trống</a:t>
                      </a:r>
                      <a:r>
                        <a:rPr lang="en-GB" sz="1100" dirty="0">
                          <a:latin typeface="Times New Roman" panose="02020603050405020304" pitchFamily="18" charset="0"/>
                          <a:cs typeface="Times New Roman" panose="02020603050405020304" pitchFamily="18" charset="0"/>
                        </a:rPr>
                        <a:t> 2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100">
                          <a:latin typeface="Times New Roman" panose="02020603050405020304" pitchFamily="18" charset="0"/>
                          <a:cs typeface="Times New Roman" panose="02020603050405020304" pitchFamily="18" charset="0"/>
                        </a:rPr>
                        <a:t>A887</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1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1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hạn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kiểm</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tra</a:t>
                      </a:r>
                      <a:r>
                        <a:rPr lang="en-US" sz="1100" dirty="0">
                          <a:latin typeface="Times New Roman" panose="02020603050405020304" pitchFamily="18" charset="0"/>
                          <a:cs typeface="Times New Roman" panose="02020603050405020304" pitchFamily="18" charset="0"/>
                        </a:rPr>
                        <a:t> LPT</a:t>
                      </a: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286909" y="5146857"/>
            <a:ext cx="6705299"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(04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4075424"/>
          <a:ext cx="5909514" cy="2666999"/>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3027304"/>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về</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muộn</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3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đang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thêm</a:t>
            </a:r>
            <a:r>
              <a:rPr lang="en-US" sz="1467" dirty="0">
                <a:solidFill>
                  <a:schemeClr val="tx1"/>
                </a:solidFill>
                <a:latin typeface="Times New Roman" panose="02020603050405020304" pitchFamily="18" charset="0"/>
                <a:cs typeface="Times New Roman" panose="02020603050405020304" pitchFamily="18" charset="0"/>
              </a:rPr>
              <a:t> 5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trong T5 – T7 (21201, 21584, 21040, 21136, 21137),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extend TAT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T4-T5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5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delay. </a:t>
            </a:r>
          </a:p>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tháo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ngoài</a:t>
            </a:r>
            <a:r>
              <a:rPr lang="en-US" sz="1467"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467" dirty="0" err="1">
                <a:solidFill>
                  <a:schemeClr val="tx1"/>
                </a:solidFill>
                <a:latin typeface="Times New Roman" panose="02020603050405020304" pitchFamily="18" charset="0"/>
                <a:cs typeface="Times New Roman" panose="02020603050405020304" pitchFamily="18" charset="0"/>
              </a:rPr>
              <a:t>Hỏng</a:t>
            </a:r>
            <a:r>
              <a:rPr lang="en-US" sz="1467" dirty="0">
                <a:solidFill>
                  <a:schemeClr val="tx1"/>
                </a:solidFill>
                <a:latin typeface="Times New Roman" panose="02020603050405020304" pitchFamily="18" charset="0"/>
                <a:cs typeface="Times New Roman" panose="02020603050405020304" pitchFamily="18" charset="0"/>
              </a:rPr>
              <a:t> HPT Blade (A889#1 21088 100FC);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Crack IPC (A898#2 21268 100FC, A889#1 21088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2300FC trong </a:t>
            </a:r>
            <a:r>
              <a:rPr lang="en-US" sz="1467" dirty="0" err="1">
                <a:solidFill>
                  <a:schemeClr val="tx1"/>
                </a:solidFill>
                <a:latin typeface="Times New Roman" panose="02020603050405020304" pitchFamily="18" charset="0"/>
                <a:cs typeface="Times New Roman" panose="02020603050405020304" pitchFamily="18" charset="0"/>
              </a:rPr>
              <a:t>cao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điểm</a:t>
            </a:r>
            <a:r>
              <a:rPr lang="en-US" sz="1467" dirty="0">
                <a:solidFill>
                  <a:schemeClr val="tx1"/>
                </a:solidFill>
                <a:latin typeface="Times New Roman" panose="02020603050405020304" pitchFamily="18" charset="0"/>
                <a:cs typeface="Times New Roman" panose="02020603050405020304" pitchFamily="18" charset="0"/>
              </a:rPr>
              <a:t>); </a:t>
            </a:r>
          </a:p>
          <a:p>
            <a:pPr marL="742950" lvl="1" indent="-285750" defTabSz="1219170">
              <a:buFont typeface="Arial" panose="020B0604020202020204" pitchFamily="34" charset="0"/>
              <a:buChar char="•"/>
              <a:defRPr/>
            </a:pPr>
            <a:r>
              <a:rPr lang="en-US" sz="1467" dirty="0">
                <a:solidFill>
                  <a:schemeClr val="tx1"/>
                </a:solidFill>
                <a:latin typeface="Times New Roman" panose="02020603050405020304" pitchFamily="18" charset="0"/>
                <a:cs typeface="Times New Roman" panose="02020603050405020304" pitchFamily="18" charset="0"/>
              </a:rPr>
              <a:t>Oil leak (A893#2 21369); Oil Hiding (A889#2 21034, A888#1 21052)</a:t>
            </a:r>
          </a:p>
          <a:p>
            <a:pPr marL="342900" indent="-342900" defTabSz="1219170">
              <a:buAutoNum type="arabicPeriod"/>
              <a:defRPr/>
            </a:pPr>
            <a:r>
              <a:rPr lang="en-US" sz="1467" b="1" dirty="0" err="1">
                <a:solidFill>
                  <a:srgbClr val="FF0000"/>
                </a:solidFill>
                <a:latin typeface="Times New Roman" panose="02020603050405020304" pitchFamily="18" charset="0"/>
                <a:cs typeface="Times New Roman" panose="02020603050405020304" pitchFamily="18" charset="0"/>
              </a:rPr>
              <a:t>Rủi</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ro</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liên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quan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đến</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giữ</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giờ</a:t>
            </a:r>
            <a:r>
              <a:rPr lang="en-US" sz="1467" b="1" dirty="0">
                <a:solidFill>
                  <a:srgbClr val="FF0000"/>
                </a:solidFill>
                <a:latin typeface="Times New Roman" panose="02020603050405020304" pitchFamily="18" charset="0"/>
                <a:cs typeface="Times New Roman" panose="02020603050405020304" pitchFamily="18" charset="0"/>
              </a:rPr>
              <a:t> </a:t>
            </a:r>
            <a:r>
              <a:rPr lang="en-US" sz="1467" b="1" dirty="0" err="1">
                <a:solidFill>
                  <a:srgbClr val="FF0000"/>
                </a:solidFill>
                <a:latin typeface="Times New Roman" panose="02020603050405020304" pitchFamily="18" charset="0"/>
                <a:cs typeface="Times New Roman" panose="02020603050405020304" pitchFamily="18" charset="0"/>
              </a:rPr>
              <a:t>động</a:t>
            </a:r>
            <a:r>
              <a:rPr lang="en-US" sz="1467" b="1" dirty="0">
                <a:solidFill>
                  <a:srgbClr val="FF0000"/>
                </a:solidFill>
                <a:latin typeface="Times New Roman" panose="02020603050405020304" pitchFamily="18" charset="0"/>
                <a:cs typeface="Times New Roman" panose="02020603050405020304" pitchFamily="18" charset="0"/>
              </a:rPr>
              <a:t> c</a:t>
            </a:r>
            <a:r>
              <a:rPr lang="vi-VN" sz="1467" b="1" dirty="0">
                <a:solidFill>
                  <a:srgbClr val="FF0000"/>
                </a:solidFill>
                <a:latin typeface="Times New Roman" panose="02020603050405020304" pitchFamily="18" charset="0"/>
                <a:cs typeface="Times New Roman" panose="02020603050405020304" pitchFamily="18" charset="0"/>
              </a:rPr>
              <a:t>ơ</a:t>
            </a:r>
            <a:r>
              <a:rPr lang="en-US" sz="1467" b="1" dirty="0">
                <a:solidFill>
                  <a:srgbClr val="FF0000"/>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A894#2 21346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10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chế</a:t>
            </a:r>
            <a:r>
              <a:rPr lang="en-US" sz="1467" dirty="0">
                <a:solidFill>
                  <a:schemeClr val="tx1"/>
                </a:solidFill>
                <a:latin typeface="Times New Roman" panose="02020603050405020304" pitchFamily="18" charset="0"/>
                <a:cs typeface="Times New Roman" panose="02020603050405020304" pitchFamily="18" charset="0"/>
              </a:rPr>
              <a:t>, A890#2 </a:t>
            </a:r>
            <a:r>
              <a:rPr lang="en-US" sz="1467" dirty="0" err="1">
                <a:solidFill>
                  <a:schemeClr val="tx1"/>
                </a:solidFill>
                <a:latin typeface="Times New Roman" panose="02020603050405020304" pitchFamily="18" charset="0"/>
                <a:cs typeface="Times New Roman" panose="02020603050405020304" pitchFamily="18" charset="0"/>
              </a:rPr>
              <a:t>thiếu</a:t>
            </a:r>
            <a:r>
              <a:rPr lang="en-US" sz="1467" dirty="0">
                <a:solidFill>
                  <a:schemeClr val="tx1"/>
                </a:solidFill>
                <a:latin typeface="Times New Roman" panose="02020603050405020304" pitchFamily="18" charset="0"/>
                <a:cs typeface="Times New Roman" panose="02020603050405020304" pitchFamily="18" charset="0"/>
              </a:rPr>
              <a:t> 30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không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giữ</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phải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đổi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phương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án</a:t>
            </a:r>
            <a:r>
              <a:rPr lang="en-US" sz="1467" dirty="0">
                <a:solidFill>
                  <a:schemeClr val="tx1"/>
                </a:solidFill>
                <a:latin typeface="Times New Roman" panose="02020603050405020304" pitchFamily="18" charset="0"/>
                <a:cs typeface="Times New Roman" panose="02020603050405020304" pitchFamily="18" charset="0"/>
              </a:rPr>
              <a:t>.</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0510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28</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85569"/>
          <a:ext cx="6207275" cy="2267231"/>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455001">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15-16/06/2025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10-11/07/2025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B218#2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137730"/>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362446">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1" y="349952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5" y="3956340"/>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5799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01/06/2025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800" y="3935919"/>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9" y="3499526"/>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04451" y="5783712"/>
            <a:ext cx="11557960" cy="986809"/>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a:t>
            </a:r>
            <a:r>
              <a:rPr lang="en-US" sz="1600">
                <a:solidFill>
                  <a:schemeClr val="tx1"/>
                </a:solidFill>
                <a:latin typeface="Times New Roman" panose="02020603050405020304" pitchFamily="18" charset="0"/>
                <a:cs typeface="Times New Roman" panose="02020603050405020304" pitchFamily="18" charset="0"/>
              </a:rPr>
              <a:t>. </a:t>
            </a:r>
          </a:p>
          <a:p>
            <a:pPr marL="380990" indent="-380990" defTabSz="1219170">
              <a:lnSpc>
                <a:spcPct val="125000"/>
              </a:lnSpc>
              <a:buFont typeface="Arial" panose="020B0604020202020204" pitchFamily="34" charset="0"/>
              <a:buChar char="•"/>
              <a:defRPr/>
            </a:pPr>
            <a:r>
              <a:rPr kumimoji="0" lang="en-US"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Động cơ dự phòng: ED0235 còn 916 FC giữ giờ trong kho.</a:t>
            </a:r>
            <a:endParaRPr lang="en-US" sz="1600">
              <a:solidFill>
                <a:schemeClr val="tx1"/>
              </a:solidFill>
              <a:latin typeface="Times New Roman" panose="02020603050405020304" pitchFamily="18" charset="0"/>
              <a:cs typeface="Times New Roman" panose="02020603050405020304" pitchFamily="18" charset="0"/>
            </a:endParaRPr>
          </a:p>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Ban ĐTMS đang triển khai thủ tục gia hạn cho K6 thuê tàu B220 từ T7/2025 đến T11/2025.</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227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1"/>
          <a:ext cx="11169547" cy="3784811"/>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06563">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A359</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30-May-25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P-2973</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P-5295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21-Jun-25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2815812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19-Jul-25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28-Jul-25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14-Mar-24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P-00194</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26-Mar-25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16-Jun-25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BER</a:t>
                      </a:r>
                      <a:r>
                        <a:rPr lang="en-US" sz="1500" b="0" i="0" u="none" strike="noStrike" baseline="0"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baseline="0" dirty="0" err="1">
                          <a:solidFill>
                            <a:srgbClr val="FF0000"/>
                          </a:solidFill>
                          <a:effectLst/>
                          <a:latin typeface="Times New Roman" panose="02020603050405020304" pitchFamily="18" charset="0"/>
                          <a:cs typeface="Times New Roman" panose="02020603050405020304" pitchFamily="18" charset="0"/>
                        </a:rPr>
                        <a:t>chờ</a:t>
                      </a:r>
                      <a:r>
                        <a:rPr lang="en-US" sz="1500" b="0" i="0" u="none" strike="noStrike" baseline="0" dirty="0">
                          <a:solidFill>
                            <a:srgbClr val="FF0000"/>
                          </a:solidFill>
                          <a:effectLst/>
                          <a:latin typeface="Times New Roman" panose="02020603050405020304" pitchFamily="18" charset="0"/>
                          <a:cs typeface="Times New Roman" panose="02020603050405020304" pitchFamily="18" charset="0"/>
                        </a:rPr>
                        <a:t> PTVT </a:t>
                      </a:r>
                      <a:r>
                        <a:rPr lang="en-US" sz="1500" b="0" i="0" u="none" strike="noStrike" baseline="0" dirty="0" err="1">
                          <a:solidFill>
                            <a:srgbClr val="FF0000"/>
                          </a:solidFill>
                          <a:effectLst/>
                          <a:latin typeface="Times New Roman" panose="02020603050405020304" pitchFamily="18" charset="0"/>
                          <a:cs typeface="Times New Roman" panose="02020603050405020304" pitchFamily="18" charset="0"/>
                        </a:rPr>
                        <a:t>sửa</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extLst>
                  <a:ext uri="{0D108BD9-81ED-4DB2-BD59-A6C34878D82A}">
                    <a16:rowId xmlns:a16="http://schemas.microsoft.com/office/drawing/2014/main" val="2828264085"/>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A892</a:t>
                      </a:r>
                      <a:endParaRPr lang="en-US" sz="1500" b="0" i="0" u="none" strike="noStrike" dirty="0">
                        <a:solidFill>
                          <a:srgbClr val="FF0000"/>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r h="289854">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Spare</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567481" cy="2308324"/>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đánh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giá</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phương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giữ</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cho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endPar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endParaRP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p>
          <a:p>
            <a:pPr marL="990575" lvl="1" indent="-380990" defTabSz="1219170">
              <a:buFont typeface="Wingdings" panose="05000000000000000000" pitchFamily="2" charset="2"/>
              <a:buChar char="ü"/>
              <a:defRPr/>
            </a:pP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KH RTS do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A350 BQDB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đều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a:t>
            </a:r>
            <a:r>
              <a:rPr lang="vi-VN" dirty="0">
                <a:solidFill>
                  <a:prstClr val="black"/>
                </a:solidFill>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ơng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án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ứng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1066785" lvl="2">
              <a:defRPr/>
            </a:pP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(Trong 03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tàu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RTS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cuối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sử</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dụng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thuê</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 KH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ký</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HĐ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thuê</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trong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T5,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dự</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kiến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đầu</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T6</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nhận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p>
          <a:p>
            <a:pPr marL="990575" lvl="1" indent="-380990">
              <a:buFont typeface="Wingdings" panose="05000000000000000000" pitchFamily="2" charset="2"/>
              <a:buChar char="ü"/>
              <a:defRPr/>
            </a:pP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Tuy</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nhiên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phát</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sinh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02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tr</a:t>
            </a:r>
            <a:r>
              <a:rPr lang="vi-VN" dirty="0">
                <a:solidFill>
                  <a:prstClr val="black"/>
                </a:solidFill>
                <a:cs typeface="Times New Roman" panose="02020603050405020304" pitchFamily="18" charset="0"/>
                <a:sym typeface="Wingdings" panose="05000000000000000000" pitchFamily="2" charset="2"/>
              </a:rPr>
              <a:t>ư</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ờng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hợp</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ngoài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kế</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hoạch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dẫn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tới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đủ</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để</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clear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sớm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hỏng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hóc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cần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APU.</a:t>
            </a:r>
            <a:endPar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33411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12/05/2025 – 18/05/2025: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NIL.</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A610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Lube Module), A334 – A616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Exciter), A392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IGV actuator), A513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Load Control Valve).</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không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4841854"/>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320938">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130229">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5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HĐ</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r h="1130229">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endParaRPr lang="vi-VN"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427382"/>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62933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31</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1115364" y="609600"/>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115364" y="1295400"/>
            <a:ext cx="9521983" cy="19050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BQDB: </a:t>
            </a:r>
            <a:r>
              <a:rPr kumimoji="0" lang="pt-BR"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HAN (A501/03/05/06/08/10/11/16, </a:t>
            </a:r>
            <a:r>
              <a:rPr kumimoji="0" lang="pt-BR"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A617/20/22/23/24/25</a:t>
            </a:r>
            <a:r>
              <a:rPr kumimoji="0" lang="pt-BR"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pt-BR"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A886/887/895) </a:t>
            </a:r>
            <a:r>
              <a:rPr kumimoji="0" lang="pt-BR"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pt-BR" sz="1600" b="1" i="0" u="none" strike="noStrike" kern="1200" cap="none" spc="0" normalizeH="0" baseline="0" noProof="0" dirty="0">
                <a:ln>
                  <a:noFill/>
                </a:ln>
                <a:solidFill>
                  <a:srgbClr val="5B9BD5">
                    <a:lumMod val="75000"/>
                  </a:srgbClr>
                </a:solidFill>
                <a:effectLst/>
                <a:uLnTx/>
                <a:uFillTx/>
                <a:latin typeface="Times New Roman" panose="02020603050405020304" pitchFamily="18" charset="0"/>
                <a:ea typeface="+mn-ea"/>
                <a:cs typeface="Times New Roman" panose="02020603050405020304" pitchFamily="18" charset="0"/>
              </a:rPr>
              <a:t> SGN </a:t>
            </a:r>
            <a:r>
              <a:rPr kumimoji="0" lang="pt-BR" sz="1600" b="1" i="0" u="none" strike="noStrike" kern="1200" cap="none" spc="0" normalizeH="0" baseline="0" noProof="0" dirty="0" smtClean="0">
                <a:ln>
                  <a:noFill/>
                </a:ln>
                <a:solidFill>
                  <a:srgbClr val="5B9BD5">
                    <a:lumMod val="75000"/>
                  </a:srgbClr>
                </a:solidFill>
                <a:effectLst/>
                <a:uLnTx/>
                <a:uFillTx/>
                <a:latin typeface="Times New Roman" panose="02020603050405020304" pitchFamily="18" charset="0"/>
                <a:ea typeface="+mn-ea"/>
                <a:cs typeface="Times New Roman" panose="02020603050405020304" pitchFamily="18" charset="0"/>
              </a:rPr>
              <a:t>(A509</a:t>
            </a:r>
            <a:r>
              <a:rPr kumimoji="0" lang="pt-BR" sz="1600" b="1" i="0" u="none" strike="noStrike" kern="1200" cap="none" spc="0" normalizeH="0" baseline="0" noProof="0" dirty="0">
                <a:ln>
                  <a:noFill/>
                </a:ln>
                <a:solidFill>
                  <a:srgbClr val="5B9BD5">
                    <a:lumMod val="75000"/>
                  </a:srgbClr>
                </a:solidFill>
                <a:effectLst/>
                <a:uLnTx/>
                <a:uFillTx/>
                <a:latin typeface="Times New Roman" panose="02020603050405020304" pitchFamily="18" charset="0"/>
                <a:ea typeface="+mn-ea"/>
                <a:cs typeface="Times New Roman" panose="02020603050405020304" pitchFamily="18" charset="0"/>
              </a:rPr>
              <a:t>).</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BDĐK: A321: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A326, A606;</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srgbClr val="5B9BD5"/>
                </a:solidFill>
                <a:effectLst/>
                <a:uLnTx/>
                <a:uFillTx/>
                <a:latin typeface="Times New Roman" panose="02020603050405020304" pitchFamily="18" charset="0"/>
                <a:ea typeface="+mn-ea"/>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A350</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 A899, A893;</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ATR72: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B219;</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r>
              <a:rPr kumimoji="0" lang="en-US" sz="16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rPr>
              <a:t>A863;</a:t>
            </a: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endPar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1119657" y="3124200"/>
            <a:ext cx="10172661" cy="3505200"/>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just" defTabSz="914400" rtl="0" eaLnBrk="1" fontAlgn="auto" latinLnBrk="0" hangingPunct="1">
              <a:lnSpc>
                <a:spcPct val="90000"/>
              </a:lnSpc>
              <a:spcBef>
                <a:spcPts val="1000"/>
              </a:spcBef>
              <a:spcAft>
                <a:spcPts val="0"/>
              </a:spcAft>
              <a:buClr>
                <a:prstClr val="black"/>
              </a:buClr>
              <a:buSzPts val="1100"/>
              <a:buFont typeface="Arial" panose="020B0604020202020204" pitchFamily="34" charset="0"/>
              <a:buNone/>
              <a:tabLst/>
              <a:defRPr/>
            </a:pPr>
            <a:r>
              <a:rPr kumimoji="0" lang="en-US" sz="15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 A321: </a:t>
            </a:r>
          </a:p>
          <a:p>
            <a:pPr marL="12700" marR="0" lvl="0" indent="0" algn="just" defTabSz="914400" rtl="0" eaLnBrk="1" fontAlgn="auto" latinLnBrk="0" hangingPunct="1">
              <a:lnSpc>
                <a:spcPct val="100000"/>
              </a:lnSpc>
              <a:spcBef>
                <a:spcPts val="1000"/>
              </a:spcBef>
              <a:spcAft>
                <a:spcPts val="0"/>
              </a:spcAft>
              <a:buClrTx/>
              <a:buSzPts val="1100"/>
              <a:buFont typeface="Arial" panose="020B0604020202020204" pitchFamily="34" charset="0"/>
              <a:buNone/>
              <a:tabLst/>
              <a:defRPr/>
            </a:pPr>
            <a:r>
              <a:rPr kumimoji="0" lang="es-ES" sz="15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t>
            </a:r>
            <a:r>
              <a:rPr kumimoji="0" lang="en-US" sz="15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A326_HAN_C01, Y01, EA11_14/05-21/05: </a:t>
            </a:r>
            <a:r>
              <a:rPr kumimoji="0" lang="en-US" sz="15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On sked</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s-E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- 15/5, </a:t>
            </a:r>
            <a:r>
              <a:rPr kumimoji="0" lang="es-E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Task</a:t>
            </a:r>
            <a:r>
              <a:rPr kumimoji="0" lang="es-E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ZL-100-02-1-1 =&gt;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Found</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Corrosion</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Inner</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Skin At Crack Stop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Plate</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And STR 42RH, FR60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Near</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Lap</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Joint</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Stringer</a:t>
            </a:r>
            <a:r>
              <a:rPr kumimoji="0" lang="es-E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41RH</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&gt;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17/5,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Aibus</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phướng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sửa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VAECO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 ca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sửa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chữa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- 15/5, </a:t>
            </a: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Taskcard</a:t>
            </a: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783200-I5-1-1/2 = &gt;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Hỏng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4 Heat shield LH, RH ở cả 2 ENG:</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2 Heatshield ở VAECO.</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+ 2 Heatshield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còn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lại</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vê</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tối</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19/5, VAECO sẽ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khai</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 ca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đảm</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bảo</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&gt; Đ/n QLVT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cung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ứng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kịp</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ra</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Check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s-ES" sz="15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2. </a:t>
            </a:r>
            <a:r>
              <a:rPr kumimoji="0" lang="en-US" sz="15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A606_HAN_EC06_18/5-12h00, 22/5: Est 21h00, 21/05.</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Bellows PN: D2157121020200,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Hyd</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Motor PN: 2000A1391K01, Est 21/5 </a:t>
            </a:r>
          </a:p>
          <a:p>
            <a:pPr marL="12700" marR="0" lvl="0" indent="0" algn="just" defTabSz="914400" rtl="0" eaLnBrk="1" fontAlgn="auto" latinLnBrk="0" hangingPunct="1">
              <a:lnSpc>
                <a:spcPct val="100000"/>
              </a:lnSpc>
              <a:spcBef>
                <a:spcPts val="600"/>
              </a:spcBef>
              <a:spcAft>
                <a:spcPts val="0"/>
              </a:spcAft>
              <a:buClrTx/>
              <a:buSzPts val="1100"/>
              <a:buFont typeface="Arial" panose="020B0604020202020204" pitchFamily="34" charset="0"/>
              <a:buNone/>
              <a:tabLst/>
              <a:defRPr/>
            </a:pP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&gt;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release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vào</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21h00, 21/05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nếu</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các</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trên</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vê</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&gt;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Xem</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xét</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Rob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A511 </a:t>
            </a:r>
            <a:r>
              <a:rPr kumimoji="0" lang="en-US" sz="15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đang</a:t>
            </a:r>
            <a:r>
              <a:rPr kumimoji="0" lang="en-US" sz="15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BQDB..</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endParaRPr kumimoji="0" lang="es-ES" sz="16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565410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fld id="{00000000-1234-1234-1234-123412341234}" type="slidenum">
              <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
                  <a:srgbClr val="D2A43B"/>
                </a:buClr>
                <a:buSzPts val="1200"/>
                <a:buFont typeface="Montserrat"/>
                <a:buNone/>
                <a:tabLst/>
                <a:defRPr/>
              </a:pPr>
              <a:t>32</a:t>
            </a:fld>
            <a:endParaRPr kumimoji="0" sz="12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762000"/>
            <a:ext cx="10591800" cy="6096000"/>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120000"/>
              </a:lnSpc>
              <a:spcBef>
                <a:spcPts val="1000"/>
              </a:spcBef>
              <a:spcAft>
                <a:spcPts val="0"/>
              </a:spcAft>
              <a:buClrTx/>
              <a:buSzPts val="1100"/>
              <a:buFont typeface="Arial" panose="020B0604020202020204" pitchFamily="34" charset="0"/>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II. A350:</a:t>
            </a:r>
            <a:r>
              <a:rPr kumimoji="0" lang="es-ES" sz="14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t>
            </a: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A893_HAN_A08, EO_16/4-20/5</a:t>
            </a:r>
            <a:r>
              <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On sked</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Heatshield ở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Main Heat Exchanger, Pack #1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Damaged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Main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HX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thay</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Heatshield. </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 </a:t>
            </a:r>
            <a:r>
              <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A899_HAN_ </a:t>
            </a: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Y06, Y03, C01, A01,  A12_06-28/05: On sked.</a:t>
            </a:r>
            <a:endPar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4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09/5</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Rudder Green Servo act fitting Worn.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&gt; 14/5, Đã gửi kết quả kiểm tra cho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Airbus</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20/5 Airbus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phản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hồi</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- 09/5,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Detached Between 2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Halves Of The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THS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Center Pivot Fitting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Assy</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Left And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Right.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gửi</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kết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quả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kiểm</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tra</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Airbus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hẹn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20/5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phản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hồi</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es-E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4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III. B787:</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 A863_SGN_A06_17/5-20/5:</a:t>
            </a: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- 17/5,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bị Rob EBPSU PN: C3805-901 = &gt;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Ảnh</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hưởng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cấu</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hình</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lên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điện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thê</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ảnh</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hưởng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nếu</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có Task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phát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sinh</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Toilet</a:t>
            </a:r>
            <a:r>
              <a:rPr kumimoji="0" lang="fr-FR"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Assy, LH PN: 77000-021-203 bị Rob </a:t>
            </a:r>
            <a:r>
              <a:rPr kumimoji="0" lang="fr-FR"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cho</a:t>
            </a:r>
            <a:r>
              <a:rPr kumimoji="0" lang="fr-FR"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A872, Est </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20/5 =&gt; Đ/n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cung</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cấp</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đúng</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tiến</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fr-FR"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đô</a:t>
            </a:r>
            <a:r>
              <a:rPr kumimoji="0" lang="fr-FR"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s-ES" sz="1400" b="1"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IV. </a:t>
            </a:r>
            <a:r>
              <a:rPr kumimoji="0" lang="es-E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ATR72:</a:t>
            </a:r>
          </a:p>
          <a:p>
            <a:pPr marL="12700" marR="0" lvl="0" indent="0" algn="just" defTabSz="914400" rtl="0" eaLnBrk="1" fontAlgn="auto" latinLnBrk="0" hangingPunct="1">
              <a:lnSpc>
                <a:spcPct val="90000"/>
              </a:lnSpc>
              <a:spcBef>
                <a:spcPts val="1000"/>
              </a:spcBef>
              <a:spcAft>
                <a:spcPts val="0"/>
              </a:spcAft>
              <a:buClrTx/>
              <a:buSzPts val="1100"/>
              <a:buFont typeface="Arial" panose="020B0604020202020204" pitchFamily="34" charset="0"/>
              <a:buNone/>
              <a:tabLst/>
              <a:defRPr/>
            </a:pPr>
            <a:r>
              <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1. </a:t>
            </a:r>
            <a:r>
              <a:rPr kumimoji="0" lang="en-US" sz="1400" b="1" i="0" u="none" strike="noStrike" kern="1200" cap="none" spc="0" normalizeH="0" baseline="0" noProof="0" dirty="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B219_SGN_Y01, Y02, Y04, Y08, RPL LH LDG_12/05-09/06: On sked</a:t>
            </a: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Dự kiến LH MLG cho B219 Avail 7/6, đ/n QLVT push càng về đúng hạn.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endPar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endParaRP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Tàu bị Rob CONNECTOR PN: E0390DD01P2B15B, Est 30/5 = &gt; Ảnh hưởng tới việc lên điện kiểm tra các task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T-OFF</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ACM PN: 2205120-4SR1 chưa có dự </a:t>
            </a:r>
            <a:r>
              <a:rPr kumimoji="0" lang="vi-VN"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kiến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- 17/5, Node 5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Doubler</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Crack = &gt;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chơ</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phương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NSX.</a:t>
            </a:r>
          </a:p>
          <a:p>
            <a:pPr marL="12700" marR="0" lvl="0" indent="0" algn="just" defTabSz="914400" rtl="0" eaLnBrk="1" fontAlgn="auto" latinLnBrk="0" hangingPunct="1">
              <a:lnSpc>
                <a:spcPct val="150000"/>
              </a:lnSpc>
              <a:spcBef>
                <a:spcPts val="1000"/>
              </a:spcBef>
              <a:spcAft>
                <a:spcPts val="0"/>
              </a:spcAft>
              <a:buClrTx/>
              <a:buSzPts val="1100"/>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Crack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On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FR24, 28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Upr</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Segment, RH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Flight Control Cable </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Fitting = &gt; ATR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hẹn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20/5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phản</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hồi</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Đang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đê</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xuất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sửa</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theo</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p/a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tương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B218. = &gt;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Xem</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xét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đặt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hàng</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vật</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tư</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sớm</a:t>
            </a:r>
            <a:r>
              <a:rPr kumimoji="0" lang="en-US" sz="1400" b="0" i="0" u="none" strike="noStrike" kern="1200" cap="none" spc="0" normalizeH="0" baseline="0" noProof="0" dirty="0" smtClean="0">
                <a:ln>
                  <a:noFill/>
                </a:ln>
                <a:solidFill>
                  <a:prstClr val="black"/>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a:t>
            </a:r>
          </a:p>
          <a:p>
            <a:pPr marL="5080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x-none" sz="2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5043843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1822565" cy="458686"/>
          </a:xfrm>
          <a:prstGeom prst="rect">
            <a:avLst/>
          </a:prstGeom>
        </p:spPr>
        <p:txBody>
          <a:bodyPr spcFirstLastPara="1" vert="horz" wrap="square" lIns="91425" tIns="91425" rIns="91425" bIns="91425" rtlCol="0" anchor="t" anchorCtr="0">
            <a:normAutofit fontScale="75000" lnSpcReduction="20000"/>
          </a:bodyPr>
          <a:lstStyle>
            <a:lvl1pPr lvl="0" algn="ctr">
              <a:lnSpc>
                <a:spcPct val="90000"/>
              </a:lnSpc>
              <a:spcBef>
                <a:spcPts val="0"/>
              </a:spcBef>
              <a:spcAft>
                <a:spcPts val="0"/>
              </a:spcAft>
              <a:buClr>
                <a:srgbClr val="DEA610"/>
              </a:buClr>
              <a:buSzPts val="2100"/>
              <a:buFont typeface="Montserrat"/>
              <a:buNone/>
              <a:defRPr sz="3200" b="1">
                <a:solidFill>
                  <a:srgbClr val="FFC000"/>
                </a:solidFill>
                <a:latin typeface="Times New Roman" panose="02020603050405020304" pitchFamily="18" charset="0"/>
                <a:ea typeface="Montserrat"/>
                <a:cs typeface="Times New Roman" panose="02020603050405020304" pitchFamily="18" charset="0"/>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pPr marL="0" marR="0" lvl="0" indent="0" algn="ctr" defTabSz="914400" rtl="0" eaLnBrk="1" fontAlgn="auto" latinLnBrk="0" hangingPunct="1">
              <a:lnSpc>
                <a:spcPct val="90000"/>
              </a:lnSpc>
              <a:spcBef>
                <a:spcPts val="0"/>
              </a:spcBef>
              <a:spcAft>
                <a:spcPts val="0"/>
              </a:spcAft>
              <a:buClr>
                <a:srgbClr val="DEA610"/>
              </a:buClr>
              <a:buSzPts val="2100"/>
              <a:buFont typeface="Montserrat"/>
              <a:buNone/>
              <a:tabLst/>
              <a:defRPr/>
            </a:pPr>
            <a:r>
              <a:rPr kumimoji="0" lang="en-US" sz="3200" b="1" i="0" u="none" strike="noStrike" kern="1200" cap="none" spc="0" normalizeH="0" baseline="0" noProof="0" dirty="0">
                <a:ln>
                  <a:noFill/>
                </a:ln>
                <a:solidFill>
                  <a:srgbClr val="FFC000"/>
                </a:solidFill>
                <a:effectLst/>
                <a:uLnTx/>
                <a:uFillTx/>
                <a:latin typeface="Times New Roman" panose="02020603050405020304" pitchFamily="18" charset="0"/>
                <a:cs typeface="Times New Roman" panose="02020603050405020304" pitchFamily="18" charset="0"/>
                <a:sym typeface="Montserrat"/>
              </a:rPr>
              <a:t>NGUỒN LỰC TÀU BAY – A321</a:t>
            </a:r>
          </a:p>
        </p:txBody>
      </p:sp>
      <p:graphicFrame>
        <p:nvGraphicFramePr>
          <p:cNvPr id="3" name="Table 2">
            <a:extLst>
              <a:ext uri="{FF2B5EF4-FFF2-40B4-BE49-F238E27FC236}">
                <a16:creationId xmlns:a16="http://schemas.microsoft.com/office/drawing/2014/main" id="{74FAE588-38FE-7165-224E-EA7D3407B7DA}"/>
              </a:ext>
            </a:extLst>
          </p:cNvPr>
          <p:cNvGraphicFramePr>
            <a:graphicFrameLocks noGrp="1"/>
          </p:cNvGraphicFramePr>
          <p:nvPr>
            <p:extLst/>
          </p:nvPr>
        </p:nvGraphicFramePr>
        <p:xfrm>
          <a:off x="369436" y="1219200"/>
          <a:ext cx="11441565" cy="5333999"/>
        </p:xfrm>
        <a:graphic>
          <a:graphicData uri="http://schemas.openxmlformats.org/drawingml/2006/table">
            <a:tbl>
              <a:tblPr/>
              <a:tblGrid>
                <a:gridCol w="335379">
                  <a:extLst>
                    <a:ext uri="{9D8B030D-6E8A-4147-A177-3AD203B41FA5}">
                      <a16:colId xmlns:a16="http://schemas.microsoft.com/office/drawing/2014/main" val="2865319561"/>
                    </a:ext>
                  </a:extLst>
                </a:gridCol>
                <a:gridCol w="2270254">
                  <a:extLst>
                    <a:ext uri="{9D8B030D-6E8A-4147-A177-3AD203B41FA5}">
                      <a16:colId xmlns:a16="http://schemas.microsoft.com/office/drawing/2014/main" val="419602948"/>
                    </a:ext>
                  </a:extLst>
                </a:gridCol>
                <a:gridCol w="580463">
                  <a:extLst>
                    <a:ext uri="{9D8B030D-6E8A-4147-A177-3AD203B41FA5}">
                      <a16:colId xmlns:a16="http://schemas.microsoft.com/office/drawing/2014/main" val="1265145542"/>
                    </a:ext>
                  </a:extLst>
                </a:gridCol>
                <a:gridCol w="515967">
                  <a:extLst>
                    <a:ext uri="{9D8B030D-6E8A-4147-A177-3AD203B41FA5}">
                      <a16:colId xmlns:a16="http://schemas.microsoft.com/office/drawing/2014/main" val="2805113582"/>
                    </a:ext>
                  </a:extLst>
                </a:gridCol>
                <a:gridCol w="490168">
                  <a:extLst>
                    <a:ext uri="{9D8B030D-6E8A-4147-A177-3AD203B41FA5}">
                      <a16:colId xmlns:a16="http://schemas.microsoft.com/office/drawing/2014/main" val="1880576708"/>
                    </a:ext>
                  </a:extLst>
                </a:gridCol>
                <a:gridCol w="528866">
                  <a:extLst>
                    <a:ext uri="{9D8B030D-6E8A-4147-A177-3AD203B41FA5}">
                      <a16:colId xmlns:a16="http://schemas.microsoft.com/office/drawing/2014/main" val="1079472535"/>
                    </a:ext>
                  </a:extLst>
                </a:gridCol>
                <a:gridCol w="515967">
                  <a:extLst>
                    <a:ext uri="{9D8B030D-6E8A-4147-A177-3AD203B41FA5}">
                      <a16:colId xmlns:a16="http://schemas.microsoft.com/office/drawing/2014/main" val="2475861961"/>
                    </a:ext>
                  </a:extLst>
                </a:gridCol>
                <a:gridCol w="528866">
                  <a:extLst>
                    <a:ext uri="{9D8B030D-6E8A-4147-A177-3AD203B41FA5}">
                      <a16:colId xmlns:a16="http://schemas.microsoft.com/office/drawing/2014/main" val="1326027617"/>
                    </a:ext>
                  </a:extLst>
                </a:gridCol>
                <a:gridCol w="528866">
                  <a:extLst>
                    <a:ext uri="{9D8B030D-6E8A-4147-A177-3AD203B41FA5}">
                      <a16:colId xmlns:a16="http://schemas.microsoft.com/office/drawing/2014/main" val="3984735997"/>
                    </a:ext>
                  </a:extLst>
                </a:gridCol>
                <a:gridCol w="528866">
                  <a:extLst>
                    <a:ext uri="{9D8B030D-6E8A-4147-A177-3AD203B41FA5}">
                      <a16:colId xmlns:a16="http://schemas.microsoft.com/office/drawing/2014/main" val="4283114367"/>
                    </a:ext>
                  </a:extLst>
                </a:gridCol>
                <a:gridCol w="4617903">
                  <a:extLst>
                    <a:ext uri="{9D8B030D-6E8A-4147-A177-3AD203B41FA5}">
                      <a16:colId xmlns:a16="http://schemas.microsoft.com/office/drawing/2014/main" val="2759340901"/>
                    </a:ext>
                  </a:extLst>
                </a:gridCol>
              </a:tblGrid>
              <a:tr h="492231">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18/05)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16877368"/>
                  </a:ext>
                </a:extLst>
              </a:tr>
              <a:tr h="596643">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867486900"/>
                  </a:ext>
                </a:extLst>
              </a:tr>
              <a:tr h="1521443">
                <a:tc>
                  <a:txBody>
                    <a:bodyPr/>
                    <a:lstStyle/>
                    <a:p>
                      <a:pPr algn="ctr" fontAlgn="ctr"/>
                      <a:r>
                        <a:rPr lang="en-US" sz="1200" b="1" i="0" u="none" strike="noStrike">
                          <a:solidFill>
                            <a:srgbClr val="000000"/>
                          </a:solidFill>
                          <a:effectLst/>
                          <a:latin typeface="Times New Roman" panose="02020603050405020304" pitchFamily="18" charset="0"/>
                        </a:rPr>
                        <a:t>1</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11.25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11.50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a:solidFill>
                            <a:srgbClr val="000000"/>
                          </a:solidFill>
                          <a:effectLst/>
                          <a:latin typeface="Times New Roman" panose="02020603050405020304" pitchFamily="18" charset="0"/>
                        </a:rPr>
                        <a:t>- 07/2025: tăng 0.25 tàu do ENG P771041 dự kiến về 07/07 muộn 25 ngày so với KH cũ 12/06.</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- 06/2025: tăng 0.75 tàu do ENG P771387 dự kiến về 26/05 muộn 25 ngày so với KH cũ 26/05</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Thuê 1 ENG NEO trước 05/06)</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81903137"/>
                  </a:ext>
                </a:extLst>
              </a:tr>
              <a:tr h="387819">
                <a:tc>
                  <a:txBody>
                    <a:bodyPr/>
                    <a:lstStyle/>
                    <a:p>
                      <a:pPr algn="ctr" fontAlgn="ctr"/>
                      <a:r>
                        <a:rPr lang="en-US" sz="1200" b="1" i="0" u="none" strike="noStrike">
                          <a:solidFill>
                            <a:srgbClr val="000000"/>
                          </a:solidFill>
                          <a:effectLst/>
                          <a:latin typeface="Times New Roman" panose="02020603050405020304" pitchFamily="18" charset="0"/>
                        </a:rPr>
                        <a:t>2</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47520127"/>
                  </a:ext>
                </a:extLst>
              </a:tr>
              <a:tr h="1282785">
                <a:tc>
                  <a:txBody>
                    <a:bodyPr/>
                    <a:lstStyle/>
                    <a:p>
                      <a:pPr algn="ctr" fontAlgn="ctr"/>
                      <a:r>
                        <a:rPr lang="en-US" sz="1200" b="1" i="0" u="none" strike="noStrike">
                          <a:solidFill>
                            <a:srgbClr val="000000"/>
                          </a:solidFill>
                          <a:effectLst/>
                          <a:latin typeface="Times New Roman" panose="02020603050405020304" pitchFamily="18" charset="0"/>
                        </a:rPr>
                        <a:t>3</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0.90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3.50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3.20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- 08/2025: tăng 0.3 do dồn lịch tháng 7</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- 07/2025: tăng 0.3 do dồn lịch tháng 5 &amp; 6</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- 06/2025: tăng 0.1 tàu do A354 cần 3 ngày thực hiện ALI task</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- 05/2025: giảm 0.3 tàu (lùi check để bay bù do A501 RTS muộn)</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6299266"/>
                  </a:ext>
                </a:extLst>
              </a:tr>
              <a:tr h="620510">
                <a:tc>
                  <a:txBody>
                    <a:bodyPr/>
                    <a:lstStyle/>
                    <a:p>
                      <a:pPr algn="ctr" fontAlgn="ctr"/>
                      <a:r>
                        <a:rPr lang="en-US" sz="1200" b="1" i="0" u="none" strike="noStrike">
                          <a:solidFill>
                            <a:srgbClr val="000000"/>
                          </a:solidFill>
                          <a:effectLst/>
                          <a:latin typeface="Times New Roman" panose="02020603050405020304" pitchFamily="18" charset="0"/>
                        </a:rPr>
                        <a:t>4</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17.10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13.55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12.15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15.20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656757620"/>
                  </a:ext>
                </a:extLst>
              </a:tr>
              <a:tr h="432568">
                <a:tc>
                  <a:txBody>
                    <a:bodyPr/>
                    <a:lstStyle/>
                    <a:p>
                      <a:pPr algn="ctr" fontAlgn="ctr"/>
                      <a:r>
                        <a:rPr lang="en-US" sz="1200" b="1" i="0" u="none" strike="noStrike">
                          <a:solidFill>
                            <a:srgbClr val="00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Phát sinh dừng</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0.75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0.25</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FF0000"/>
                          </a:solidFill>
                          <a:effectLst/>
                          <a:latin typeface="Times New Roman" panose="02020603050405020304" pitchFamily="18" charset="0"/>
                        </a:rPr>
                        <a:t> </a:t>
                      </a:r>
                    </a:p>
                  </a:txBody>
                  <a:tcPr marL="7113" marR="7113" marT="71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1179418"/>
                  </a:ext>
                </a:extLst>
              </a:tr>
            </a:tbl>
          </a:graphicData>
        </a:graphic>
      </p:graphicFrame>
    </p:spTree>
    <p:extLst>
      <p:ext uri="{BB962C8B-B14F-4D97-AF65-F5344CB8AC3E}">
        <p14:creationId xmlns:p14="http://schemas.microsoft.com/office/powerpoint/2010/main" val="3931145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0" y="228600"/>
            <a:ext cx="12192000"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FFC000"/>
                </a:solidFill>
                <a:effectLst/>
                <a:uLnTx/>
                <a:uFillTx/>
                <a:latin typeface="Times New Roman" panose="02020603050405020304" pitchFamily="18" charset="0"/>
                <a:ea typeface="+mj-ea"/>
                <a:cs typeface="Times New Roman" panose="02020603050405020304" pitchFamily="18" charset="0"/>
              </a:rPr>
              <a:t>NGUỒN LỰC </a:t>
            </a:r>
            <a:r>
              <a:rPr kumimoji="0" lang="en-US" sz="2400" b="1" i="0" u="none" strike="noStrike" kern="1200" cap="none" spc="0" normalizeH="0" baseline="0" noProof="0" dirty="0">
                <a:ln>
                  <a:noFill/>
                </a:ln>
                <a:solidFill>
                  <a:srgbClr val="FFC000"/>
                </a:solidFill>
                <a:effectLst/>
                <a:uLnTx/>
                <a:uFillTx/>
                <a:latin typeface="Times New Roman" panose="02020603050405020304" pitchFamily="18" charset="0"/>
                <a:ea typeface="+mj-ea"/>
                <a:cs typeface="Times New Roman" panose="02020603050405020304" pitchFamily="18" charset="0"/>
                <a:sym typeface="Montserrat"/>
              </a:rPr>
              <a:t>TÀU</a:t>
            </a:r>
            <a:r>
              <a:rPr kumimoji="0" lang="en-US" sz="2400" b="1" i="0" u="none" strike="noStrike" kern="1200" cap="none" spc="0" normalizeH="0" baseline="0" noProof="0" dirty="0">
                <a:ln>
                  <a:noFill/>
                </a:ln>
                <a:solidFill>
                  <a:srgbClr val="FFC000"/>
                </a:solidFill>
                <a:effectLst/>
                <a:uLnTx/>
                <a:uFillTx/>
                <a:latin typeface="Times New Roman" panose="02020603050405020304" pitchFamily="18" charset="0"/>
                <a:ea typeface="+mj-ea"/>
                <a:cs typeface="Times New Roman" panose="02020603050405020304" pitchFamily="18" charset="0"/>
              </a:rPr>
              <a:t> BAY – A350/B787</a:t>
            </a:r>
          </a:p>
        </p:txBody>
      </p:sp>
      <p:graphicFrame>
        <p:nvGraphicFramePr>
          <p:cNvPr id="2" name="Table 1">
            <a:extLst>
              <a:ext uri="{FF2B5EF4-FFF2-40B4-BE49-F238E27FC236}">
                <a16:creationId xmlns:a16="http://schemas.microsoft.com/office/drawing/2014/main" id="{C09698BB-D49B-B3E3-2C60-E163A4E49500}"/>
              </a:ext>
            </a:extLst>
          </p:cNvPr>
          <p:cNvGraphicFramePr>
            <a:graphicFrameLocks noGrp="1"/>
          </p:cNvGraphicFramePr>
          <p:nvPr>
            <p:extLst/>
          </p:nvPr>
        </p:nvGraphicFramePr>
        <p:xfrm>
          <a:off x="381000" y="990601"/>
          <a:ext cx="11430002" cy="5638799"/>
        </p:xfrm>
        <a:graphic>
          <a:graphicData uri="http://schemas.openxmlformats.org/drawingml/2006/table">
            <a:tbl>
              <a:tblPr/>
              <a:tblGrid>
                <a:gridCol w="362672">
                  <a:extLst>
                    <a:ext uri="{9D8B030D-6E8A-4147-A177-3AD203B41FA5}">
                      <a16:colId xmlns:a16="http://schemas.microsoft.com/office/drawing/2014/main" val="2987260280"/>
                    </a:ext>
                  </a:extLst>
                </a:gridCol>
                <a:gridCol w="2480205">
                  <a:extLst>
                    <a:ext uri="{9D8B030D-6E8A-4147-A177-3AD203B41FA5}">
                      <a16:colId xmlns:a16="http://schemas.microsoft.com/office/drawing/2014/main" val="60425398"/>
                    </a:ext>
                  </a:extLst>
                </a:gridCol>
                <a:gridCol w="526458">
                  <a:extLst>
                    <a:ext uri="{9D8B030D-6E8A-4147-A177-3AD203B41FA5}">
                      <a16:colId xmlns:a16="http://schemas.microsoft.com/office/drawing/2014/main" val="689366178"/>
                    </a:ext>
                  </a:extLst>
                </a:gridCol>
                <a:gridCol w="479662">
                  <a:extLst>
                    <a:ext uri="{9D8B030D-6E8A-4147-A177-3AD203B41FA5}">
                      <a16:colId xmlns:a16="http://schemas.microsoft.com/office/drawing/2014/main" val="932952698"/>
                    </a:ext>
                  </a:extLst>
                </a:gridCol>
                <a:gridCol w="444566">
                  <a:extLst>
                    <a:ext uri="{9D8B030D-6E8A-4147-A177-3AD203B41FA5}">
                      <a16:colId xmlns:a16="http://schemas.microsoft.com/office/drawing/2014/main" val="1354030414"/>
                    </a:ext>
                  </a:extLst>
                </a:gridCol>
                <a:gridCol w="503061">
                  <a:extLst>
                    <a:ext uri="{9D8B030D-6E8A-4147-A177-3AD203B41FA5}">
                      <a16:colId xmlns:a16="http://schemas.microsoft.com/office/drawing/2014/main" val="2207298911"/>
                    </a:ext>
                  </a:extLst>
                </a:gridCol>
                <a:gridCol w="479662">
                  <a:extLst>
                    <a:ext uri="{9D8B030D-6E8A-4147-A177-3AD203B41FA5}">
                      <a16:colId xmlns:a16="http://schemas.microsoft.com/office/drawing/2014/main" val="3262349484"/>
                    </a:ext>
                  </a:extLst>
                </a:gridCol>
                <a:gridCol w="479662">
                  <a:extLst>
                    <a:ext uri="{9D8B030D-6E8A-4147-A177-3AD203B41FA5}">
                      <a16:colId xmlns:a16="http://schemas.microsoft.com/office/drawing/2014/main" val="2287089991"/>
                    </a:ext>
                  </a:extLst>
                </a:gridCol>
                <a:gridCol w="503061">
                  <a:extLst>
                    <a:ext uri="{9D8B030D-6E8A-4147-A177-3AD203B41FA5}">
                      <a16:colId xmlns:a16="http://schemas.microsoft.com/office/drawing/2014/main" val="3598286097"/>
                    </a:ext>
                  </a:extLst>
                </a:gridCol>
                <a:gridCol w="479662">
                  <a:extLst>
                    <a:ext uri="{9D8B030D-6E8A-4147-A177-3AD203B41FA5}">
                      <a16:colId xmlns:a16="http://schemas.microsoft.com/office/drawing/2014/main" val="3975778847"/>
                    </a:ext>
                  </a:extLst>
                </a:gridCol>
                <a:gridCol w="4691331">
                  <a:extLst>
                    <a:ext uri="{9D8B030D-6E8A-4147-A177-3AD203B41FA5}">
                      <a16:colId xmlns:a16="http://schemas.microsoft.com/office/drawing/2014/main" val="986264182"/>
                    </a:ext>
                  </a:extLst>
                </a:gridCol>
              </a:tblGrid>
              <a:tr h="413695">
                <a:tc gridSpan="11">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18/05)</a:t>
                      </a:r>
                    </a:p>
                  </a:txBody>
                  <a:tcPr marL="6458" marR="6458" marT="6458"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997654394"/>
                  </a:ext>
                </a:extLst>
              </a:tr>
              <a:tr h="391130">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3743588818"/>
                  </a:ext>
                </a:extLst>
              </a:tr>
              <a:tr h="491420">
                <a:tc>
                  <a:txBody>
                    <a:bodyPr/>
                    <a:lstStyle/>
                    <a:p>
                      <a:pPr algn="ctr" fontAlgn="ctr"/>
                      <a:r>
                        <a:rPr lang="en-US" sz="1200" b="0" i="0" u="none" strike="noStrike">
                          <a:solidFill>
                            <a:srgbClr val="000000"/>
                          </a:solidFill>
                          <a:effectLst/>
                          <a:latin typeface="Times New Roman" panose="02020603050405020304" pitchFamily="18" charset="0"/>
                        </a:rPr>
                        <a:t>1</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FF0000"/>
                          </a:solidFill>
                          <a:effectLst/>
                          <a:latin typeface="Times New Roman" panose="02020603050405020304" pitchFamily="18" charset="0"/>
                        </a:rPr>
                        <a:t>- 07/2025: tăng 0.5 tàu do ENG về muộn  =&gt; A895 RTS muộn</a:t>
                      </a:r>
                      <a:r>
                        <a:rPr lang="en-US" sz="1200" b="0" i="0" u="none" strike="noStrike">
                          <a:solidFill>
                            <a:srgbClr val="000000"/>
                          </a:solidFill>
                          <a:effectLst/>
                          <a:latin typeface="Times New Roman" panose="02020603050405020304" pitchFamily="18" charset="0"/>
                        </a:rPr>
                        <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- 06/2025: tăng 0.5 tàu do ENG về muộn</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8069241"/>
                  </a:ext>
                </a:extLst>
              </a:tr>
              <a:tr h="491420">
                <a:tc>
                  <a:txBody>
                    <a:bodyPr/>
                    <a:lstStyle/>
                    <a:p>
                      <a:pPr algn="ctr" fontAlgn="ctr"/>
                      <a:r>
                        <a:rPr lang="en-US" sz="1200" b="0" i="0" u="none" strike="noStrike">
                          <a:solidFill>
                            <a:srgbClr val="000000"/>
                          </a:solidFill>
                          <a:effectLst/>
                          <a:latin typeface="Times New Roman" panose="02020603050405020304" pitchFamily="18" charset="0"/>
                        </a:rPr>
                        <a:t>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07/2025: tăng 0.2 tàu do bổ sung thay ENG A890 (không giữ được giờ do ENG 21584 về 16/06 muộn 14 ngày so với KH cũ 02/06)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145711683"/>
                  </a:ext>
                </a:extLst>
              </a:tr>
              <a:tr h="501450">
                <a:tc>
                  <a:txBody>
                    <a:bodyPr/>
                    <a:lstStyle/>
                    <a:p>
                      <a:pPr algn="ctr" fontAlgn="ctr"/>
                      <a:r>
                        <a:rPr lang="en-US" sz="1200" b="0" i="0" u="none" strike="noStrike">
                          <a:solidFill>
                            <a:srgbClr val="000000"/>
                          </a:solidFill>
                          <a:effectLst/>
                          <a:latin typeface="Times New Roman" panose="02020603050405020304" pitchFamily="18" charset="0"/>
                        </a:rPr>
                        <a:t>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9536068"/>
                  </a:ext>
                </a:extLst>
              </a:tr>
              <a:tr h="501450">
                <a:tc>
                  <a:txBody>
                    <a:bodyPr/>
                    <a:lstStyle/>
                    <a:p>
                      <a:pPr algn="ctr" fontAlgn="ctr"/>
                      <a:r>
                        <a:rPr lang="en-US" sz="1200" b="0" i="0" u="none" strike="noStrike">
                          <a:solidFill>
                            <a:srgbClr val="000000"/>
                          </a:solidFill>
                          <a:effectLst/>
                          <a:latin typeface="Times New Roman" panose="02020603050405020304" pitchFamily="18" charset="0"/>
                        </a:rPr>
                        <a:t>4</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706620692"/>
                  </a:ext>
                </a:extLst>
              </a:tr>
              <a:tr h="501450">
                <a:tc>
                  <a:txBody>
                    <a:bodyPr/>
                    <a:lstStyle/>
                    <a:p>
                      <a:pPr algn="ctr" fontAlgn="ctr"/>
                      <a:r>
                        <a:rPr lang="en-US" sz="1200" b="0" i="0" u="none" strike="noStrike">
                          <a:solidFill>
                            <a:srgbClr val="000000"/>
                          </a:solidFill>
                          <a:effectLst/>
                          <a:latin typeface="Times New Roman" panose="02020603050405020304" pitchFamily="18" charset="0"/>
                        </a:rPr>
                        <a:t>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Rủi ro phát sinh tàu AOG do ENG A863 BSI 50CY.</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2736190"/>
                  </a:ext>
                </a:extLst>
              </a:tr>
              <a:tr h="842434">
                <a:tc>
                  <a:txBody>
                    <a:bodyPr/>
                    <a:lstStyle/>
                    <a:p>
                      <a:pPr algn="ctr" fontAlgn="ctr"/>
                      <a:r>
                        <a:rPr lang="en-US" sz="1200" b="0" i="0" u="none" strike="noStrike">
                          <a:solidFill>
                            <a:srgbClr val="000000"/>
                          </a:solidFill>
                          <a:effectLst/>
                          <a:latin typeface="Times New Roman" panose="02020603050405020304" pitchFamily="18" charset="0"/>
                        </a:rPr>
                        <a:t>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a:solidFill>
                            <a:srgbClr val="000000"/>
                          </a:solidFill>
                          <a:effectLst/>
                          <a:latin typeface="Times New Roman" panose="02020603050405020304" pitchFamily="18" charset="0"/>
                        </a:rPr>
                        <a:t>- 08/2025: tăng 0.2 tàu do A870 Y3 (due: 04/06) xin NN lùi sau cao điểm hè</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- 06/2025: tăng 0.2 tàu do ảnh hưởng thay ENG A871 AOG và bổ sung thay ENG A863 &amp; A873</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941866666"/>
                  </a:ext>
                </a:extLst>
              </a:tr>
              <a:tr h="501450">
                <a:tc>
                  <a:txBody>
                    <a:bodyPr/>
                    <a:lstStyle/>
                    <a:p>
                      <a:pPr algn="ctr" fontAlgn="ctr"/>
                      <a:r>
                        <a:rPr lang="en-US" sz="1200" b="0" i="0" u="none" strike="noStrike">
                          <a:solidFill>
                            <a:srgbClr val="000000"/>
                          </a:solidFill>
                          <a:effectLst/>
                          <a:latin typeface="Times New Roman" panose="02020603050405020304" pitchFamily="18" charset="0"/>
                        </a:rPr>
                        <a:t>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0.2</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837356"/>
                  </a:ext>
                </a:extLst>
              </a:tr>
              <a:tr h="501450">
                <a:tc>
                  <a:txBody>
                    <a:bodyPr/>
                    <a:lstStyle/>
                    <a:p>
                      <a:pPr algn="ctr" fontAlgn="ctr"/>
                      <a:r>
                        <a:rPr lang="en-US" sz="1200" b="0" i="0" u="none" strike="noStrike">
                          <a:solidFill>
                            <a:srgbClr val="000000"/>
                          </a:solidFill>
                          <a:effectLst/>
                          <a:latin typeface="Times New Roman" panose="02020603050405020304" pitchFamily="18" charset="0"/>
                        </a:rPr>
                        <a:t>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491944223"/>
                  </a:ext>
                </a:extLst>
              </a:tr>
              <a:tr h="501450">
                <a:tc>
                  <a:txBody>
                    <a:bodyPr/>
                    <a:lstStyle/>
                    <a:p>
                      <a:pPr algn="ctr" fontAlgn="ctr"/>
                      <a:r>
                        <a:rPr lang="en-US" sz="1200" b="0" i="0" u="none" strike="noStrike">
                          <a:solidFill>
                            <a:srgbClr val="000000"/>
                          </a:solidFill>
                          <a:effectLst/>
                          <a:latin typeface="Times New Roman" panose="02020603050405020304" pitchFamily="18" charset="0"/>
                        </a:rPr>
                        <a:t>9</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5.8</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1.7</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2.5</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6458" marR="6458" marT="645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9682903"/>
                  </a:ext>
                </a:extLst>
              </a:tr>
            </a:tbl>
          </a:graphicData>
        </a:graphic>
      </p:graphicFrame>
    </p:spTree>
    <p:extLst>
      <p:ext uri="{BB962C8B-B14F-4D97-AF65-F5344CB8AC3E}">
        <p14:creationId xmlns:p14="http://schemas.microsoft.com/office/powerpoint/2010/main" val="2682368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62098"/>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1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1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mn-cs"/>
            </a:endParaRPr>
          </a:p>
        </p:txBody>
      </p:sp>
      <p:sp>
        <p:nvSpPr>
          <p:cNvPr id="21" name="TextBox 20"/>
          <p:cNvSpPr txBox="1"/>
          <p:nvPr/>
        </p:nvSpPr>
        <p:spPr>
          <a:xfrm>
            <a:off x="533400" y="-64974"/>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sz="27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rPr>
              <a:t>HỎNG HÓC CABIN ẢNH HƯỞNG KHAI THÁC VÀ PTVT – TUẦN 20</a:t>
            </a:r>
            <a:endParaRPr kumimoji="0" lang="vi-VN" sz="2700" b="1" i="0" u="none" strike="noStrike" kern="1200" cap="none" spc="0" normalizeH="0" baseline="0" noProof="0" dirty="0">
              <a:ln w="0"/>
              <a:solidFill>
                <a:srgbClr val="FFC000"/>
              </a:solidFill>
              <a:effectLst/>
              <a:uLnTx/>
              <a:uFillTx/>
              <a:latin typeface="Times New Roman" panose="02020603050405020304" pitchFamily="18" charset="0"/>
              <a:ea typeface="+mn-ea"/>
              <a:cs typeface="Times New Roman" panose="02020603050405020304" pitchFamily="18" charset="0"/>
            </a:endParaRPr>
          </a:p>
        </p:txBody>
      </p:sp>
      <p:sp>
        <p:nvSpPr>
          <p:cNvPr id="22" name="TextBox 21"/>
          <p:cNvSpPr txBox="1"/>
          <p:nvPr/>
        </p:nvSpPr>
        <p:spPr>
          <a:xfrm>
            <a:off x="376712" y="4566269"/>
            <a:ext cx="11674151" cy="199266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Galley:</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wine chiller</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13a,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Tiến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tại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a:t>
            </a:r>
          </a:p>
          <a:p>
            <a:pPr marL="742950" marR="0" lvl="1" indent="-285750" algn="l" defTabSz="914400" rtl="0" eaLnBrk="1" fontAlgn="auto" latinLnBrk="0" hangingPunct="1">
              <a:lnSpc>
                <a:spcPct val="150000"/>
              </a:lnSpc>
              <a:spcBef>
                <a:spcPts val="0"/>
              </a:spcBef>
              <a:spcAft>
                <a:spcPts val="0"/>
              </a:spcAft>
              <a:buClr>
                <a:srgbClr val="000000"/>
              </a:buClr>
              <a:buSzPts val="1300"/>
              <a:buFont typeface="Arial" panose="020B0604020202020204" pitchFamily="34" charset="0"/>
              <a:buChar char="•"/>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B787: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06</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ADD; </a:t>
            </a:r>
            <a:r>
              <a:rPr kumimoji="0" lang="en-US" sz="14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04RO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742950" marR="0" lvl="1" indent="-285750" algn="l" defTabSz="914400" rtl="0" eaLnBrk="1" fontAlgn="auto" latinLnBrk="0" hangingPunct="1">
              <a:lnSpc>
                <a:spcPct val="150000"/>
              </a:lnSpc>
              <a:spcBef>
                <a:spcPts val="0"/>
              </a:spcBef>
              <a:spcAft>
                <a:spcPts val="0"/>
              </a:spcAft>
              <a:buClr>
                <a:srgbClr val="000000"/>
              </a:buClr>
              <a:buSzPts val="1300"/>
              <a:buFont typeface="Arial" panose="020B0604020202020204" pitchFamily="34" charset="0"/>
              <a:buChar char="•"/>
              <a:tabLst/>
              <a:defRPr/>
            </a:pP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Chiller A350: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06  ADD; </a:t>
            </a:r>
            <a:r>
              <a:rPr kumimoji="0" lang="en-US" sz="1400" b="0" i="0" u="none" strike="noStrike" kern="1200" cap="none" spc="0" normalizeH="0" baseline="0" noProof="0" dirty="0">
                <a:ln>
                  <a:noFill/>
                </a:ln>
                <a:solidFill>
                  <a:prstClr val="black"/>
                </a:solidFill>
                <a:effectLst/>
                <a:uLnTx/>
                <a:uFillTx/>
                <a:latin typeface="Times New Roman"/>
                <a:ea typeface="+mn-ea"/>
                <a:cs typeface="Times New Roman"/>
                <a:sym typeface="Times New Roman"/>
              </a:rPr>
              <a:t>05</a:t>
            </a:r>
            <a:r>
              <a:rPr kumimoji="0" lang="en-US" sz="1400" b="0" i="0" u="none" strike="noStrike" kern="1200" cap="none" spc="0" normalizeH="0" baseline="0" noProof="0" dirty="0">
                <a:ln>
                  <a:noFill/>
                </a:ln>
                <a:solidFill>
                  <a:prstClr val="black"/>
                </a:solidFill>
                <a:effectLst/>
                <a:uLnTx/>
                <a:uFillTx/>
                <a:latin typeface="Times New Roman"/>
                <a:ea typeface="Times New Roman"/>
                <a:cs typeface="Times New Roman"/>
                <a:sym typeface="Times New Roman"/>
              </a:rPr>
              <a:t> RO, </a:t>
            </a:r>
            <a:r>
              <a:rPr kumimoji="0" lang="vi-V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chưa có EDD</a:t>
            </a:r>
            <a:endParaRPr kumimoji="0" lang="en-US" sz="1400" b="0" i="0" u="none" strike="noStrike" kern="1200" cap="none" spc="0" normalizeH="0" baseline="0" noProof="0" dirty="0">
              <a:ln>
                <a:noFill/>
              </a:ln>
              <a:solidFill>
                <a:prstClr val="black"/>
              </a:solidFill>
              <a:effectLst/>
              <a:uLnTx/>
              <a:uFillTx/>
              <a:latin typeface="Times New Roman"/>
              <a:ea typeface="+mn-ea"/>
              <a:cs typeface="Times New Roman"/>
              <a:sym typeface="Times New Roman"/>
            </a:endParaRPr>
          </a:p>
          <a:p>
            <a:pPr marL="285750" marR="0" lvl="0" indent="-285750" algn="l" defTabSz="914400" rtl="0" eaLnBrk="1" fontAlgn="auto" latinLnBrk="0" hangingPunct="1">
              <a:lnSpc>
                <a:spcPct val="150000"/>
              </a:lnSpc>
              <a:spcBef>
                <a:spcPts val="0"/>
              </a:spcBef>
              <a:spcAft>
                <a:spcPts val="0"/>
              </a:spcAft>
              <a:buClr>
                <a:srgbClr val="000000"/>
              </a:buClr>
              <a:buSzPts val="1300"/>
              <a:buFont typeface="Times New Roman" panose="02020603050405020304" pitchFamily="18" charset="0"/>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hóc oven: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hỏng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hóc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17ea, khắc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07ea,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10ea </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(Oven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A350A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nhiều</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obsolete =&gt;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làm</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việc</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Safran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phương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retrofit – T10/2025)</a:t>
            </a:r>
          </a:p>
          <a:p>
            <a:pPr marL="285750" marR="0" lvl="0" indent="-285750" algn="l" defTabSz="914400" rtl="0" eaLnBrk="1" fontAlgn="auto" latinLnBrk="0" hangingPunct="1">
              <a:lnSpc>
                <a:spcPct val="150000"/>
              </a:lnSpc>
              <a:spcBef>
                <a:spcPts val="0"/>
              </a:spcBef>
              <a:spcAft>
                <a:spcPts val="0"/>
              </a:spcAft>
              <a:buClr>
                <a:srgbClr val="000000"/>
              </a:buClr>
              <a:buSzPts val="1300"/>
              <a:buFont typeface="Times New Roman" panose="02020603050405020304" pitchFamily="18" charset="0"/>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Boiler: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a:t>
            </a:r>
          </a:p>
        </p:txBody>
      </p:sp>
      <p:sp>
        <p:nvSpPr>
          <p:cNvPr id="23" name="TextBox 22"/>
          <p:cNvSpPr txBox="1"/>
          <p:nvPr/>
        </p:nvSpPr>
        <p:spPr>
          <a:xfrm>
            <a:off x="393941" y="203099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IFE: Thales SVDU (A350/B787):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replaced </a:t>
            </a:r>
            <a:r>
              <a:rPr kumimoji="0" lang="en-GB"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033</a:t>
            </a:r>
            <a:r>
              <a:rPr kumimoji="0" lang="en-GB"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/3</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111 SVDU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còn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78 INOP SVDU). </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Trong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tuần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20:  hỏng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mới</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10 ea,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19ea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GB"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Hỏng hóc đội bay A350: đã được khắc phục và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soát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tập</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màn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A895 RTS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Hỏng hóc tồn đọng: tập trung đội bay B787, số lượng quay vòng ít (80ea). =&gt; Thales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bổ</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sung 30 SVDU quay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vòng</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5" name="TextBox 24"/>
          <p:cNvSpPr txBox="1"/>
          <p:nvPr/>
        </p:nvSpPr>
        <p:spPr>
          <a:xfrm>
            <a:off x="377833" y="3106694"/>
            <a:ext cx="11673030" cy="134633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LAV:</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Toilet Assy: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04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ea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Faucet Assy: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03ea,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Basin: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00ea,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02ea</a:t>
            </a:r>
          </a:p>
        </p:txBody>
      </p:sp>
      <p:sp>
        <p:nvSpPr>
          <p:cNvPr id="26" name="TextBox 25"/>
          <p:cNvSpPr txBox="1"/>
          <p:nvPr/>
        </p:nvSpPr>
        <p:spPr>
          <a:xfrm>
            <a:off x="365449" y="451497"/>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ADD ảnh hưởng dịch vụ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Tổng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263 (tang 9% so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19), khắc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109 ADD =&gt; tồn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đọng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154ADD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giảm</a:t>
            </a:r>
            <a:r>
              <a:rPr kumimoji="0" lang="en-US" sz="14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 35% so </a:t>
            </a:r>
            <a:r>
              <a:rPr kumimoji="0" lang="en-US" sz="1400" b="0" i="0" u="none" strike="noStrike" kern="1200" cap="none" spc="0" normalizeH="0" baseline="0" noProof="0" dirty="0" err="1">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với</a:t>
            </a:r>
            <a:r>
              <a:rPr kumimoji="0" lang="en-US" sz="14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tuần</a:t>
            </a:r>
            <a:r>
              <a:rPr kumimoji="0" lang="en-US" sz="1400" b="0" i="0" u="none" strike="noStrike" kern="1200" cap="none" spc="0" normalizeH="0" baseline="0" noProof="0" dirty="0">
                <a:ln>
                  <a:noFill/>
                </a:ln>
                <a:solidFill>
                  <a:prstClr val="black">
                    <a:lumMod val="65000"/>
                    <a:lumOff val="35000"/>
                  </a:prstClr>
                </a:solidFill>
                <a:effectLst/>
                <a:uLnTx/>
                <a:uFillTx/>
                <a:latin typeface="Times New Roman" panose="02020603050405020304" pitchFamily="18" charset="0"/>
                <a:ea typeface="+mn-ea"/>
                <a:cs typeface="Times New Roman" panose="02020603050405020304" pitchFamily="18" charset="0"/>
              </a:rPr>
              <a:t> 19).</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7" name="TextBox 26"/>
          <p:cNvSpPr txBox="1"/>
          <p:nvPr/>
        </p:nvSpPr>
        <p:spPr>
          <a:xfrm>
            <a:off x="393941" y="886735"/>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hóc Ghế thuộc diện cắt khách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tuần</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20</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05,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khắc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03,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02.</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Ghế</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Y</a:t>
            </a:r>
            <a:r>
              <a:rPr kumimoji="0" lang="en-US" sz="1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hỏng</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06, đã khắc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phục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05,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tồn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01</a:t>
            </a:r>
            <a:r>
              <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1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34604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36</a:t>
            </a:fld>
            <a:endParaRPr lang="en-US"/>
          </a:p>
        </p:txBody>
      </p:sp>
      <p:sp>
        <p:nvSpPr>
          <p:cNvPr id="5" name="Title 4"/>
          <p:cNvSpPr>
            <a:spLocks noGrp="1"/>
          </p:cNvSpPr>
          <p:nvPr>
            <p:ph type="title"/>
          </p:nvPr>
        </p:nvSpPr>
        <p:spPr>
          <a:xfrm>
            <a:off x="201769" y="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Table 5">
            <a:extLst>
              <a:ext uri="{FF2B5EF4-FFF2-40B4-BE49-F238E27FC236}">
                <a16:creationId xmlns:a16="http://schemas.microsoft.com/office/drawing/2014/main" id="{96CDEB2C-23EB-4380-20D3-106F01CAE3BF}"/>
              </a:ext>
            </a:extLst>
          </p:cNvPr>
          <p:cNvGraphicFramePr>
            <a:graphicFrameLocks noGrp="1"/>
          </p:cNvGraphicFramePr>
          <p:nvPr>
            <p:extLst>
              <p:ext uri="{D42A27DB-BD31-4B8C-83A1-F6EECF244321}">
                <p14:modId xmlns:p14="http://schemas.microsoft.com/office/powerpoint/2010/main" val="4263591177"/>
              </p:ext>
            </p:extLst>
          </p:nvPr>
        </p:nvGraphicFramePr>
        <p:xfrm>
          <a:off x="201769" y="2328995"/>
          <a:ext cx="11693562" cy="4511833"/>
        </p:xfrm>
        <a:graphic>
          <a:graphicData uri="http://schemas.openxmlformats.org/drawingml/2006/table">
            <a:tbl>
              <a:tblPr/>
              <a:tblGrid>
                <a:gridCol w="247518">
                  <a:extLst>
                    <a:ext uri="{9D8B030D-6E8A-4147-A177-3AD203B41FA5}">
                      <a16:colId xmlns:a16="http://schemas.microsoft.com/office/drawing/2014/main" val="2212786016"/>
                    </a:ext>
                  </a:extLst>
                </a:gridCol>
                <a:gridCol w="1311444">
                  <a:extLst>
                    <a:ext uri="{9D8B030D-6E8A-4147-A177-3AD203B41FA5}">
                      <a16:colId xmlns:a16="http://schemas.microsoft.com/office/drawing/2014/main" val="3219614267"/>
                    </a:ext>
                  </a:extLst>
                </a:gridCol>
                <a:gridCol w="609600">
                  <a:extLst>
                    <a:ext uri="{9D8B030D-6E8A-4147-A177-3AD203B41FA5}">
                      <a16:colId xmlns:a16="http://schemas.microsoft.com/office/drawing/2014/main" val="673467625"/>
                    </a:ext>
                  </a:extLst>
                </a:gridCol>
                <a:gridCol w="609600">
                  <a:extLst>
                    <a:ext uri="{9D8B030D-6E8A-4147-A177-3AD203B41FA5}">
                      <a16:colId xmlns:a16="http://schemas.microsoft.com/office/drawing/2014/main" val="1117169986"/>
                    </a:ext>
                  </a:extLst>
                </a:gridCol>
                <a:gridCol w="5060951">
                  <a:extLst>
                    <a:ext uri="{9D8B030D-6E8A-4147-A177-3AD203B41FA5}">
                      <a16:colId xmlns:a16="http://schemas.microsoft.com/office/drawing/2014/main" val="2293059012"/>
                    </a:ext>
                  </a:extLst>
                </a:gridCol>
                <a:gridCol w="851521">
                  <a:extLst>
                    <a:ext uri="{9D8B030D-6E8A-4147-A177-3AD203B41FA5}">
                      <a16:colId xmlns:a16="http://schemas.microsoft.com/office/drawing/2014/main" val="1020001391"/>
                    </a:ext>
                  </a:extLst>
                </a:gridCol>
                <a:gridCol w="802559">
                  <a:extLst>
                    <a:ext uri="{9D8B030D-6E8A-4147-A177-3AD203B41FA5}">
                      <a16:colId xmlns:a16="http://schemas.microsoft.com/office/drawing/2014/main" val="398598892"/>
                    </a:ext>
                  </a:extLst>
                </a:gridCol>
                <a:gridCol w="1772838">
                  <a:extLst>
                    <a:ext uri="{9D8B030D-6E8A-4147-A177-3AD203B41FA5}">
                      <a16:colId xmlns:a16="http://schemas.microsoft.com/office/drawing/2014/main" val="3600556259"/>
                    </a:ext>
                  </a:extLst>
                </a:gridCol>
                <a:gridCol w="427531">
                  <a:extLst>
                    <a:ext uri="{9D8B030D-6E8A-4147-A177-3AD203B41FA5}">
                      <a16:colId xmlns:a16="http://schemas.microsoft.com/office/drawing/2014/main" val="483861839"/>
                    </a:ext>
                  </a:extLst>
                </a:gridCol>
              </a:tblGrid>
              <a:tr h="198050">
                <a:tc gridSpan="9">
                  <a:txBody>
                    <a:bodyPr/>
                    <a:lstStyle/>
                    <a:p>
                      <a:pPr algn="ctr" fontAlgn="ctr"/>
                      <a:r>
                        <a:rPr lang="vi-VN" sz="1200" b="1" i="0" u="none" strike="noStrike">
                          <a:solidFill>
                            <a:srgbClr val="000000"/>
                          </a:solidFill>
                          <a:effectLst/>
                          <a:latin typeface="Times New Roman" panose="02020603050405020304" pitchFamily="18" charset="0"/>
                        </a:rPr>
                        <a:t>BẢNG TỔNG HỢP VÀ THEO DÕI NHÂN NHƯỢNG - VIETNAM AIRLINES</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38134136"/>
                  </a:ext>
                </a:extLst>
              </a:tr>
              <a:tr h="198050">
                <a:tc>
                  <a:txBody>
                    <a:bodyPr/>
                    <a:lstStyle/>
                    <a:p>
                      <a:pPr algn="ctr" fontAlgn="ctr"/>
                      <a:r>
                        <a:rPr lang="en-US" sz="1200" b="1" i="0" u="none" strike="noStrike">
                          <a:solidFill>
                            <a:srgbClr val="000000"/>
                          </a:solidFill>
                          <a:effectLst/>
                          <a:latin typeface="Times New Roman" panose="02020603050405020304" pitchFamily="18" charset="0"/>
                        </a:rPr>
                        <a:t>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Concession 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Type</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Reg</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Description</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By</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Issued Date</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ADD/CHK/Task No</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Status</a:t>
                      </a:r>
                    </a:p>
                  </a:txBody>
                  <a:tcPr marL="6024" marR="6024" marT="60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6830652"/>
                  </a:ext>
                </a:extLst>
              </a:tr>
              <a:tr h="356902">
                <a:tc>
                  <a:txBody>
                    <a:bodyPr/>
                    <a:lstStyle/>
                    <a:p>
                      <a:pPr algn="ctr" fontAlgn="ctr"/>
                      <a:r>
                        <a:rPr lang="en-US" sz="1000" b="0"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613-02/25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CMP TASKS OF A613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GROUP CMP TASKS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6178339"/>
                  </a:ext>
                </a:extLst>
              </a:tr>
              <a:tr h="298293">
                <a:tc>
                  <a:txBody>
                    <a:bodyPr/>
                    <a:lstStyle/>
                    <a:p>
                      <a:pPr algn="ctr" fontAlgn="ctr"/>
                      <a:r>
                        <a:rPr lang="en-US" sz="1000" b="0"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606-05/25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HANGAR SLOTS, schedule of GROUP CMP TASKS OF group check EC01+C02+C03+Y06+Y12 (WP: A606-270325-CHK-Y12)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15/05/2025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GROUP CMP TASKS OF EC01+C02+C03+Y06+Y12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2166065"/>
                  </a:ext>
                </a:extLst>
              </a:tr>
              <a:tr h="581517">
                <a:tc>
                  <a:txBody>
                    <a:bodyPr/>
                    <a:lstStyle/>
                    <a:p>
                      <a:pPr algn="ctr" fontAlgn="ctr"/>
                      <a:r>
                        <a:rPr lang="en-US" sz="1000" b="0"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606-04/25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A606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HANGAR SLOTS, schedule of GROUP AMP TASKS OF group check EC01+C02+C03+Y06+Y12 (WP: A606-270325-CHK-Y12)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15/05/2025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GROUP AMP TASKS OF  EC01+C02+C03+Y06+Y12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7291128"/>
                  </a:ext>
                </a:extLst>
              </a:tr>
              <a:tr h="358709">
                <a:tc>
                  <a:txBody>
                    <a:bodyPr/>
                    <a:lstStyle/>
                    <a:p>
                      <a:pPr algn="ctr" fontAlgn="ctr"/>
                      <a:r>
                        <a:rPr lang="en-US" sz="1000" b="0"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862-06/25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A862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Due to LACK OF RESOURCES, schedule of group tasks check A08 for VN-A862 needs to be extended.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15/05/2025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GROUP TASK CHECK A08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2641159"/>
                  </a:ext>
                </a:extLst>
              </a:tr>
              <a:tr h="416761">
                <a:tc>
                  <a:txBody>
                    <a:bodyPr/>
                    <a:lstStyle/>
                    <a:p>
                      <a:pPr algn="ctr" fontAlgn="ctr"/>
                      <a:r>
                        <a:rPr lang="en-US" sz="1000" b="0"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392-01/25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A392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EXTEND SCHEDULE OF GROUP AMP TASKS DUE TO LACK OF ENGINE SPARE FOR OPERATION SCHEDULE.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000000"/>
                          </a:solidFill>
                          <a:effectLst/>
                          <a:latin typeface="Times New Roman" panose="02020603050405020304" pitchFamily="18" charset="0"/>
                        </a:rPr>
                        <a:t>13/05/2025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 AMP TASKS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0012805"/>
                  </a:ext>
                </a:extLst>
              </a:tr>
              <a:tr h="342273">
                <a:tc>
                  <a:txBody>
                    <a:bodyPr/>
                    <a:lstStyle/>
                    <a:p>
                      <a:pPr algn="ctr" fontAlgn="ctr"/>
                      <a:r>
                        <a:rPr lang="en-US" sz="1000" b="0" i="0" u="none" strike="noStrike">
                          <a:solidFill>
                            <a:srgbClr val="000000"/>
                          </a:solidFill>
                          <a:effectLst/>
                          <a:latin typeface="Times New Roman" panose="02020603050405020304" pitchFamily="18"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878-01/25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A878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Due to LACK OF RESOURCES, schedule of group tasks check A03 for VN-A878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12/05/2025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GROUP TASK CHECK A03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30023248"/>
                  </a:ext>
                </a:extLst>
              </a:tr>
              <a:tr h="342273">
                <a:tc>
                  <a:txBody>
                    <a:bodyPr/>
                    <a:lstStyle/>
                    <a:p>
                      <a:pPr algn="ctr" fontAlgn="ctr"/>
                      <a:r>
                        <a:rPr lang="en-US" sz="1000" b="0" i="0" u="none" strike="noStrike">
                          <a:solidFill>
                            <a:srgbClr val="000000"/>
                          </a:solidFill>
                          <a:effectLst/>
                          <a:latin typeface="Times New Roman" panose="02020603050405020304" pitchFamily="18"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869-05/25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CHECK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A869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Due to LACK OF RESOURCES, schedule of group tasks check A06 for VN-A869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13/05/2025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GROUP TASK CHECK A06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1557603"/>
                  </a:ext>
                </a:extLst>
              </a:tr>
              <a:tr h="410728">
                <a:tc>
                  <a:txBody>
                    <a:bodyPr/>
                    <a:lstStyle/>
                    <a:p>
                      <a:pPr algn="ctr" fontAlgn="ctr"/>
                      <a:r>
                        <a:rPr lang="en-US" sz="1000" b="0" i="0" u="none" strike="noStrike">
                          <a:solidFill>
                            <a:srgbClr val="000000"/>
                          </a:solidFill>
                          <a:effectLst/>
                          <a:latin typeface="Times New Roman" panose="02020603050405020304" pitchFamily="18"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605-02/25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Due to LACK OF HANGAR SLOTS, schedule of GROUPS AMP TASK OF group check EC01+C02+C03+Y06+Y12 (WP: A605-010525-CHK-Y12)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13/05/2025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GROUPS AMP TASK OF EC01+C02+C03+Y06+Y12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0752915"/>
                  </a:ext>
                </a:extLst>
              </a:tr>
              <a:tr h="410728">
                <a:tc>
                  <a:txBody>
                    <a:bodyPr/>
                    <a:lstStyle/>
                    <a:p>
                      <a:pPr algn="ctr" fontAlgn="ctr"/>
                      <a:r>
                        <a:rPr lang="en-US" sz="1000" b="0" i="0" u="none" strike="noStrike">
                          <a:solidFill>
                            <a:srgbClr val="000000"/>
                          </a:solidFill>
                          <a:effectLst/>
                          <a:latin typeface="Times New Roman" panose="02020603050405020304" pitchFamily="18"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605-01/25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A605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Due to LACK OF HANGAR SLOTS, schedule of 3 CMP TASKS OF group check EC01+C02+C03+Y06+Y12 (WP: A605-010525-CHK-Y12)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13/05/2025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GROUPS CMP TASKS OF EC01+C02+C03+Y06+Y12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2631048"/>
                  </a:ext>
                </a:extLst>
              </a:tr>
              <a:tr h="581517">
                <a:tc>
                  <a:txBody>
                    <a:bodyPr/>
                    <a:lstStyle/>
                    <a:p>
                      <a:pPr algn="ctr" fontAlgn="ctr"/>
                      <a:r>
                        <a:rPr lang="en-US" sz="1000" b="0" i="0" u="none" strike="noStrike">
                          <a:solidFill>
                            <a:srgbClr val="000000"/>
                          </a:solidFill>
                          <a:effectLst/>
                          <a:latin typeface="Times New Roman" panose="02020603050405020304" pitchFamily="18"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00" b="0" i="0" u="none" strike="noStrike">
                          <a:solidFill>
                            <a:srgbClr val="000000"/>
                          </a:solidFill>
                          <a:effectLst/>
                          <a:latin typeface="Times New Roman" panose="02020603050405020304" pitchFamily="18" charset="0"/>
                        </a:rPr>
                        <a:t>613-01/25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Other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A613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Due to LACK OF HANGAR SLOT,schedule of GROUPS AMP TASK OF Y01 and C01 CHECK needs to be EXTENDED.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SQD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000" b="0" i="0" u="none" strike="noStrike">
                          <a:solidFill>
                            <a:srgbClr val="000000"/>
                          </a:solidFill>
                          <a:effectLst/>
                          <a:latin typeface="Times New Roman" panose="02020603050405020304" pitchFamily="18" charset="0"/>
                        </a:rPr>
                        <a:t>11/05/2025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GROUPS AMP TASK OF Y01 and C01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000" b="0" i="0" u="none" strike="noStrike">
                          <a:solidFill>
                            <a:srgbClr val="000000"/>
                          </a:solidFill>
                          <a:effectLst/>
                          <a:latin typeface="Times New Roman" panose="02020603050405020304" pitchFamily="18" charset="0"/>
                        </a:rPr>
                        <a:t>OPEN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3685015"/>
                  </a:ext>
                </a:extLst>
              </a:tr>
            </a:tbl>
          </a:graphicData>
        </a:graphic>
      </p:graphicFrame>
      <p:graphicFrame>
        <p:nvGraphicFramePr>
          <p:cNvPr id="8" name="Chart 7">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861442358"/>
              </p:ext>
            </p:extLst>
          </p:nvPr>
        </p:nvGraphicFramePr>
        <p:xfrm>
          <a:off x="3657600" y="609600"/>
          <a:ext cx="5334000" cy="1600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779567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229:50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126.51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485:50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269:50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246:15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135.02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542:40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198:50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843:45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479:25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227:25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nvGraphicFramePr>
        <p:xfrm>
          <a:off x="1059507" y="963846"/>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766111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17-May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19-May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21-May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22-May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25-May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A320</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CEO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smtClean="0">
                          <a:solidFill>
                            <a:srgbClr val="000000"/>
                          </a:solidFill>
                          <a:effectLst/>
                          <a:latin typeface="Times New Roman" panose="02020603050405020304" pitchFamily="18" charset="0"/>
                        </a:rPr>
                        <a:t>A321</a:t>
                      </a:r>
                    </a:p>
                    <a:p>
                      <a:pPr algn="ctr" fontAlgn="ctr"/>
                      <a:r>
                        <a:rPr lang="en-US" sz="1200" b="0" i="0" u="none" strike="noStrike" smtClean="0">
                          <a:solidFill>
                            <a:srgbClr val="000000"/>
                          </a:solidFill>
                          <a:effectLst/>
                          <a:latin typeface="Times New Roman" panose="02020603050405020304" pitchFamily="18" charset="0"/>
                        </a:rPr>
                        <a:t>NEO</a:t>
                      </a:r>
                      <a:endParaRPr lang="en-US"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8" name="Chart 7"/>
          <p:cNvGraphicFramePr>
            <a:graphicFrameLocks/>
          </p:cNvGraphicFramePr>
          <p:nvPr/>
        </p:nvGraphicFramePr>
        <p:xfrm>
          <a:off x="925417" y="1143001"/>
          <a:ext cx="10521107" cy="225309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772804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nvGraphicFramePr>
        <p:xfrm>
          <a:off x="762000" y="1295400"/>
          <a:ext cx="10771518"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83523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745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58" name="Google Shape;158;g31ccdae391d_0_248"/>
          <p:cNvSpPr/>
          <p:nvPr/>
        </p:nvSpPr>
        <p:spPr>
          <a:xfrm>
            <a:off x="852976" y="990600"/>
            <a:ext cx="10726803"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vật tư cho hỏng hóc trên đội bay</a:t>
            </a: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Tàu AOG:  NIL</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hình tàu check: </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1"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A326: C01+ Y01+EA11 (14/05-21/05): ngày 16/5 phát sinh thay 4 heatshield trên TR, hiện đã có phương án cho 2ea, cần giục PO cho 2ea còn lại tuy nhiên, Collins dự kiến ship từ Mỹ ngày 19/5. hiện đang push AOG</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ảnh hưởng khai thác: Không có vướng mắc vật tư</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B defect hết hạn trong 10 ngày: không có vướng mắc vật tư</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10422934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4b80f439b0_0_3"/>
          <p:cNvSpPr txBox="1">
            <a:spLocks noGrp="1"/>
          </p:cNvSpPr>
          <p:nvPr>
            <p:ph type="title"/>
          </p:nvPr>
        </p:nvSpPr>
        <p:spPr>
          <a:xfrm>
            <a:off x="937313" y="28054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5" name="Google Shape;165;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41</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166" name="Google Shape;166;g34b80f439b0_0_3"/>
          <p:cNvSpPr/>
          <p:nvPr/>
        </p:nvSpPr>
        <p:spPr>
          <a:xfrm>
            <a:off x="908582" y="1042323"/>
            <a:ext cx="10694931"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55 đơn hàng quá hạn trong tổng số 98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30 overdue orders / total 34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Defect: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08 overdue orders / total 45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cho Hardtime/Softtime: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17 overdue orders / total 19 orders</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Tx/>
              <a:buFont typeface="Arial"/>
              <a:buNone/>
              <a:tabLst/>
              <a:defRPr/>
            </a:pP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167" name="Google Shape;167;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68" name="Google Shape;168;g34b80f439b0_0_3"/>
          <p:cNvPicPr preferRelativeResize="0"/>
          <p:nvPr/>
        </p:nvPicPr>
        <p:blipFill>
          <a:blip r:embed="rId3">
            <a:alphaModFix/>
          </a:blip>
          <a:stretch>
            <a:fillRect/>
          </a:stretch>
        </p:blipFill>
        <p:spPr>
          <a:xfrm>
            <a:off x="1143000" y="2362200"/>
            <a:ext cx="9601200" cy="4152024"/>
          </a:xfrm>
          <a:prstGeom prst="rect">
            <a:avLst/>
          </a:prstGeom>
          <a:noFill/>
          <a:ln>
            <a:noFill/>
          </a:ln>
        </p:spPr>
      </p:pic>
    </p:spTree>
    <p:extLst>
      <p:ext uri="{BB962C8B-B14F-4D97-AF65-F5344CB8AC3E}">
        <p14:creationId xmlns:p14="http://schemas.microsoft.com/office/powerpoint/2010/main" val="37331066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1ccdae391d_0_271"/>
          <p:cNvSpPr txBox="1">
            <a:spLocks noGrp="1"/>
          </p:cNvSpPr>
          <p:nvPr>
            <p:ph type="title"/>
          </p:nvPr>
        </p:nvSpPr>
        <p:spPr>
          <a:xfrm>
            <a:off x="457200" y="248117"/>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75" name="Google Shape;175;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42</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76" name="Google Shape;176;g31ccdae391d_0_271"/>
          <p:cNvGraphicFramePr/>
          <p:nvPr>
            <p:extLst>
              <p:ext uri="{D42A27DB-BD31-4B8C-83A1-F6EECF244321}">
                <p14:modId xmlns:p14="http://schemas.microsoft.com/office/powerpoint/2010/main" val="532809711"/>
              </p:ext>
            </p:extLst>
          </p:nvPr>
        </p:nvGraphicFramePr>
        <p:xfrm>
          <a:off x="457200" y="1007417"/>
          <a:ext cx="11321886" cy="5190312"/>
        </p:xfrm>
        <a:graphic>
          <a:graphicData uri="http://schemas.openxmlformats.org/drawingml/2006/table">
            <a:tbl>
              <a:tblPr>
                <a:noFill/>
              </a:tblPr>
              <a:tblGrid>
                <a:gridCol w="725336">
                  <a:extLst>
                    <a:ext uri="{9D8B030D-6E8A-4147-A177-3AD203B41FA5}">
                      <a16:colId xmlns:a16="http://schemas.microsoft.com/office/drawing/2014/main" val="20000"/>
                    </a:ext>
                  </a:extLst>
                </a:gridCol>
                <a:gridCol w="1904280">
                  <a:extLst>
                    <a:ext uri="{9D8B030D-6E8A-4147-A177-3AD203B41FA5}">
                      <a16:colId xmlns:a16="http://schemas.microsoft.com/office/drawing/2014/main" val="20001"/>
                    </a:ext>
                  </a:extLst>
                </a:gridCol>
                <a:gridCol w="1257909">
                  <a:extLst>
                    <a:ext uri="{9D8B030D-6E8A-4147-A177-3AD203B41FA5}">
                      <a16:colId xmlns:a16="http://schemas.microsoft.com/office/drawing/2014/main" val="20002"/>
                    </a:ext>
                  </a:extLst>
                </a:gridCol>
                <a:gridCol w="5063655">
                  <a:extLst>
                    <a:ext uri="{9D8B030D-6E8A-4147-A177-3AD203B41FA5}">
                      <a16:colId xmlns:a16="http://schemas.microsoft.com/office/drawing/2014/main" val="20003"/>
                    </a:ext>
                  </a:extLst>
                </a:gridCol>
                <a:gridCol w="2370706">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a:solidFill>
                            <a:schemeClr val="dk1"/>
                          </a:solidFill>
                          <a:latin typeface="Times New Roman"/>
                          <a:ea typeface="Times New Roman"/>
                          <a:cs typeface="Times New Roman"/>
                          <a:sym typeface="Times New Roman"/>
                        </a:rPr>
                        <a:t>Sửa tại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a:t>
                      </a:r>
                      <a:r>
                        <a:rPr lang="en-US" sz="1600" u="none" strike="noStrike" cap="none">
                          <a:latin typeface="Times New Roman"/>
                          <a:ea typeface="Times New Roman"/>
                          <a:cs typeface="Times New Roman"/>
                          <a:sym typeface="Times New Roman"/>
                        </a:rPr>
                        <a:t>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2ea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9</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LH</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745-4000-515</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 Ban QLVT đang tìm thuê 2ea</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37300">
                <a:tc>
                  <a:txBody>
                    <a:bodyPr/>
                    <a:lstStyle/>
                    <a:p>
                      <a:pPr marL="0" marR="0" lvl="0" indent="0" algn="ctr" rtl="0">
                        <a:lnSpc>
                          <a:spcPct val="100000"/>
                        </a:lnSpc>
                        <a:spcBef>
                          <a:spcPts val="0"/>
                        </a:spcBef>
                        <a:spcAft>
                          <a:spcPts val="0"/>
                        </a:spcAft>
                        <a:buNone/>
                      </a:pPr>
                      <a:r>
                        <a:rPr lang="en-US" sz="1600">
                          <a:latin typeface="Times New Roman"/>
                          <a:ea typeface="Times New Roman"/>
                          <a:cs typeface="Times New Roman"/>
                          <a:sym typeface="Times New Roman"/>
                        </a:rPr>
                        <a:t>10 </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solidFill>
                            <a:schemeClr val="dk1"/>
                          </a:solidFill>
                          <a:latin typeface="Times New Roman"/>
                          <a:ea typeface="Times New Roman"/>
                          <a:cs typeface="Times New Roman"/>
                          <a:sym typeface="Times New Roman"/>
                        </a:rPr>
                        <a:t>FANCOWL RH</a:t>
                      </a:r>
                      <a:endParaRPr sz="1600">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745-4000-516</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US" sz="1600">
                          <a:latin typeface="Times New Roman"/>
                          <a:ea typeface="Times New Roman"/>
                          <a:cs typeface="Times New Roman"/>
                          <a:sym typeface="Times New Roman"/>
                        </a:rPr>
                        <a:t>stock NIL</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phát sinh nhiều hỏng hóc trong thời gian ngắn</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0994334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83" name="Google Shape;183;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43</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84" name="Google Shape;184;g31ccdae391d_0_278"/>
          <p:cNvGraphicFramePr/>
          <p:nvPr>
            <p:extLst>
              <p:ext uri="{D42A27DB-BD31-4B8C-83A1-F6EECF244321}">
                <p14:modId xmlns:p14="http://schemas.microsoft.com/office/powerpoint/2010/main" val="2398111469"/>
              </p:ext>
            </p:extLst>
          </p:nvPr>
        </p:nvGraphicFramePr>
        <p:xfrm>
          <a:off x="941349" y="671965"/>
          <a:ext cx="10666200" cy="6130602"/>
        </p:xfrm>
        <a:graphic>
          <a:graphicData uri="http://schemas.openxmlformats.org/drawingml/2006/table">
            <a:tbl>
              <a:tblPr>
                <a:noFill/>
              </a:tblPr>
              <a:tblGrid>
                <a:gridCol w="396963">
                  <a:extLst>
                    <a:ext uri="{9D8B030D-6E8A-4147-A177-3AD203B41FA5}">
                      <a16:colId xmlns:a16="http://schemas.microsoft.com/office/drawing/2014/main" val="20000"/>
                    </a:ext>
                  </a:extLst>
                </a:gridCol>
                <a:gridCol w="1785888">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4825749">
                  <a:extLst>
                    <a:ext uri="{9D8B030D-6E8A-4147-A177-3AD203B41FA5}">
                      <a16:colId xmlns:a16="http://schemas.microsoft.com/office/drawing/2014/main" val="20004"/>
                    </a:ext>
                  </a:extLst>
                </a:gridCol>
              </a:tblGrid>
              <a:tr h="367136">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ctr"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ngày 20/5 nhập kho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đang push Honeywell cấp AOG nhưng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giục STEA khối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 2RO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3</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95744">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06187">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giục Honeywell sửa chữa bảo hành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246462887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g31ccdae391d_0_285"/>
          <p:cNvSpPr txBox="1">
            <a:spLocks noGrp="1"/>
          </p:cNvSpPr>
          <p:nvPr>
            <p:ph type="title"/>
          </p:nvPr>
        </p:nvSpPr>
        <p:spPr>
          <a:xfrm>
            <a:off x="684550" y="4572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91" name="Google Shape;191;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44</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192" name="Google Shape;192;g31ccdae391d_0_285"/>
          <p:cNvGraphicFramePr/>
          <p:nvPr>
            <p:extLst>
              <p:ext uri="{D42A27DB-BD31-4B8C-83A1-F6EECF244321}">
                <p14:modId xmlns:p14="http://schemas.microsoft.com/office/powerpoint/2010/main" val="2138186851"/>
              </p:ext>
            </p:extLst>
          </p:nvPr>
        </p:nvGraphicFramePr>
        <p:xfrm>
          <a:off x="685799" y="1320349"/>
          <a:ext cx="10921751" cy="4166050"/>
        </p:xfrm>
        <a:graphic>
          <a:graphicData uri="http://schemas.openxmlformats.org/drawingml/2006/table">
            <a:tbl>
              <a:tblPr>
                <a:noFill/>
              </a:tblPr>
              <a:tblGrid>
                <a:gridCol w="699702">
                  <a:extLst>
                    <a:ext uri="{9D8B030D-6E8A-4147-A177-3AD203B41FA5}">
                      <a16:colId xmlns:a16="http://schemas.microsoft.com/office/drawing/2014/main" val="20000"/>
                    </a:ext>
                  </a:extLst>
                </a:gridCol>
                <a:gridCol w="1361859">
                  <a:extLst>
                    <a:ext uri="{9D8B030D-6E8A-4147-A177-3AD203B41FA5}">
                      <a16:colId xmlns:a16="http://schemas.microsoft.com/office/drawing/2014/main" val="20001"/>
                    </a:ext>
                  </a:extLst>
                </a:gridCol>
                <a:gridCol w="1192756">
                  <a:extLst>
                    <a:ext uri="{9D8B030D-6E8A-4147-A177-3AD203B41FA5}">
                      <a16:colId xmlns:a16="http://schemas.microsoft.com/office/drawing/2014/main" val="20002"/>
                    </a:ext>
                  </a:extLst>
                </a:gridCol>
                <a:gridCol w="3833717">
                  <a:extLst>
                    <a:ext uri="{9D8B030D-6E8A-4147-A177-3AD203B41FA5}">
                      <a16:colId xmlns:a16="http://schemas.microsoft.com/office/drawing/2014/main" val="20003"/>
                    </a:ext>
                  </a:extLst>
                </a:gridCol>
                <a:gridCol w="3833717">
                  <a:extLst>
                    <a:ext uri="{9D8B030D-6E8A-4147-A177-3AD203B41FA5}">
                      <a16:colId xmlns:a16="http://schemas.microsoft.com/office/drawing/2014/main" val="20004"/>
                    </a:ext>
                  </a:extLst>
                </a:gridCol>
              </a:tblGrid>
              <a:tr h="41800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0750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và PO mua 3ea từ OEM Safran, Safran thông báo vật tư này bị global shortage nên đang thúc đẩy và release hàng cho VNA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22939">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717606">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NIL</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0907069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9" name="Google Shape;199;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00" name="Google Shape;200;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28 đơn hàng quá hạn trong tổng số 58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MBK: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overdue 14 LO / total 20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overdue 14 EO / total 38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600"/>
              </a:spcBef>
              <a:spcAft>
                <a:spcPts val="0"/>
              </a:spcAft>
              <a:buClr>
                <a:srgbClr val="000000"/>
              </a:buClr>
              <a:buSzPts val="1500"/>
              <a:buFont typeface="Arial"/>
              <a:buNone/>
              <a:tabLst/>
              <a:defRPr/>
            </a:pPr>
            <a:endParaRPr kumimoji="0" sz="15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01" name="Google Shape;201;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02" name="Google Shape;202;g31ccdae391d_0_299"/>
          <p:cNvPicPr preferRelativeResize="0"/>
          <p:nvPr/>
        </p:nvPicPr>
        <p:blipFill>
          <a:blip r:embed="rId3">
            <a:alphaModFix/>
          </a:blip>
          <a:stretch>
            <a:fillRect/>
          </a:stretch>
        </p:blipFill>
        <p:spPr>
          <a:xfrm>
            <a:off x="2307275" y="1846300"/>
            <a:ext cx="7110899" cy="4321500"/>
          </a:xfrm>
          <a:prstGeom prst="rect">
            <a:avLst/>
          </a:prstGeom>
          <a:noFill/>
          <a:ln>
            <a:noFill/>
          </a:ln>
        </p:spPr>
      </p:pic>
    </p:spTree>
    <p:extLst>
      <p:ext uri="{BB962C8B-B14F-4D97-AF65-F5344CB8AC3E}">
        <p14:creationId xmlns:p14="http://schemas.microsoft.com/office/powerpoint/2010/main" val="13917810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9" name="Google Shape;209;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46</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10" name="Google Shape;210;g31ccdae391d_0_308"/>
          <p:cNvGraphicFramePr/>
          <p:nvPr>
            <p:extLst>
              <p:ext uri="{D42A27DB-BD31-4B8C-83A1-F6EECF244321}">
                <p14:modId xmlns:p14="http://schemas.microsoft.com/office/powerpoint/2010/main" val="160469448"/>
              </p:ext>
            </p:extLst>
          </p:nvPr>
        </p:nvGraphicFramePr>
        <p:xfrm>
          <a:off x="1042175" y="881575"/>
          <a:ext cx="10464550" cy="4307925"/>
        </p:xfrm>
        <a:graphic>
          <a:graphicData uri="http://schemas.openxmlformats.org/drawingml/2006/table">
            <a:tbl>
              <a:tblPr>
                <a:noFill/>
              </a:tblPr>
              <a:tblGrid>
                <a:gridCol w="704981">
                  <a:extLst>
                    <a:ext uri="{9D8B030D-6E8A-4147-A177-3AD203B41FA5}">
                      <a16:colId xmlns:a16="http://schemas.microsoft.com/office/drawing/2014/main" val="20000"/>
                    </a:ext>
                  </a:extLst>
                </a:gridCol>
                <a:gridCol w="1427717">
                  <a:extLst>
                    <a:ext uri="{9D8B030D-6E8A-4147-A177-3AD203B41FA5}">
                      <a16:colId xmlns:a16="http://schemas.microsoft.com/office/drawing/2014/main" val="20001"/>
                    </a:ext>
                  </a:extLst>
                </a:gridCol>
                <a:gridCol w="1634532">
                  <a:extLst>
                    <a:ext uri="{9D8B030D-6E8A-4147-A177-3AD203B41FA5}">
                      <a16:colId xmlns:a16="http://schemas.microsoft.com/office/drawing/2014/main" val="20002"/>
                    </a:ext>
                  </a:extLst>
                </a:gridCol>
                <a:gridCol w="3348660">
                  <a:extLst>
                    <a:ext uri="{9D8B030D-6E8A-4147-A177-3AD203B41FA5}">
                      <a16:colId xmlns:a16="http://schemas.microsoft.com/office/drawing/2014/main" val="20003"/>
                    </a:ext>
                  </a:extLst>
                </a:gridCol>
                <a:gridCol w="3348660">
                  <a:extLst>
                    <a:ext uri="{9D8B030D-6E8A-4147-A177-3AD203B41FA5}">
                      <a16:colId xmlns:a16="http://schemas.microsoft.com/office/drawing/2014/main" val="20004"/>
                    </a:ext>
                  </a:extLst>
                </a:gridCol>
              </a:tblGrid>
              <a:tr h="431550">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 7000546H14</a:t>
                      </a:r>
                      <a:endParaRPr sz="1300" b="0" i="0" u="none" strike="noStrike" cap="none" dirty="0">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err="1">
                          <a:latin typeface="Times New Roman"/>
                          <a:ea typeface="Times New Roman"/>
                          <a:cs typeface="Times New Roman"/>
                          <a:sym typeface="Times New Roman"/>
                        </a:rPr>
                        <a:t>Không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hỏng</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hóc</a:t>
                      </a:r>
                      <a:r>
                        <a:rPr lang="en-US" sz="1300" dirty="0">
                          <a:latin typeface="Times New Roman"/>
                          <a:ea typeface="Times New Roman"/>
                          <a:cs typeface="Times New Roman"/>
                          <a:sym typeface="Times New Roman"/>
                        </a:rPr>
                        <a:t>.</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smtClean="0">
                          <a:latin typeface="Times New Roman"/>
                          <a:ea typeface="Times New Roman"/>
                          <a:cs typeface="Times New Roman"/>
                          <a:sym typeface="Times New Roman"/>
                        </a:rPr>
                        <a:t>02ea </a:t>
                      </a:r>
                      <a:r>
                        <a:rPr lang="en-US" sz="1300" dirty="0">
                          <a:latin typeface="Times New Roman"/>
                          <a:ea typeface="Times New Roman"/>
                          <a:cs typeface="Times New Roman"/>
                          <a:sym typeface="Times New Roman"/>
                        </a:rPr>
                        <a:t>in </a:t>
                      </a:r>
                      <a:r>
                        <a:rPr lang="en-US" sz="1300" dirty="0" smtClean="0">
                          <a:latin typeface="Times New Roman"/>
                          <a:ea typeface="Times New Roman"/>
                          <a:cs typeface="Times New Roman"/>
                          <a:sym typeface="Times New Roman"/>
                        </a:rPr>
                        <a:t>stock.</a:t>
                      </a:r>
                      <a:endParaRPr sz="1300" u="none" strike="noStrike" cap="none" dirty="0">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7</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giao EDD tháng 8/2025.</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dirty="0">
                          <a:solidFill>
                            <a:schemeClr val="dk1"/>
                          </a:solidFill>
                          <a:latin typeface="Times New Roman"/>
                          <a:ea typeface="Times New Roman"/>
                          <a:cs typeface="Times New Roman"/>
                          <a:sym typeface="Times New Roman"/>
                        </a:rPr>
                        <a:t>01ea </a:t>
                      </a:r>
                      <a:r>
                        <a:rPr lang="en-US" sz="1200" dirty="0" err="1">
                          <a:solidFill>
                            <a:schemeClr val="dk1"/>
                          </a:solidFill>
                          <a:latin typeface="Times New Roman"/>
                          <a:ea typeface="Times New Roman"/>
                          <a:cs typeface="Times New Roman"/>
                          <a:sym typeface="Times New Roman"/>
                        </a:rPr>
                        <a:t>giao</a:t>
                      </a:r>
                      <a:r>
                        <a:rPr lang="en-US" sz="1200" dirty="0">
                          <a:solidFill>
                            <a:schemeClr val="dk1"/>
                          </a:solidFill>
                          <a:latin typeface="Times New Roman"/>
                          <a:ea typeface="Times New Roman"/>
                          <a:cs typeface="Times New Roman"/>
                          <a:sym typeface="Times New Roman"/>
                        </a:rPr>
                        <a:t> </a:t>
                      </a:r>
                      <a:r>
                        <a:rPr lang="en-US" sz="1200" dirty="0" err="1">
                          <a:solidFill>
                            <a:schemeClr val="dk1"/>
                          </a:solidFill>
                          <a:latin typeface="Times New Roman"/>
                          <a:ea typeface="Times New Roman"/>
                          <a:cs typeface="Times New Roman"/>
                          <a:sym typeface="Times New Roman"/>
                        </a:rPr>
                        <a:t>tối</a:t>
                      </a:r>
                      <a:r>
                        <a:rPr lang="en-US" sz="1200" dirty="0">
                          <a:solidFill>
                            <a:schemeClr val="dk1"/>
                          </a:solidFill>
                          <a:latin typeface="Times New Roman"/>
                          <a:ea typeface="Times New Roman"/>
                          <a:cs typeface="Times New Roman"/>
                          <a:sym typeface="Times New Roman"/>
                        </a:rPr>
                        <a:t> 18/05 </a:t>
                      </a:r>
                      <a:r>
                        <a:rPr lang="en-US" sz="1200" dirty="0" err="1">
                          <a:solidFill>
                            <a:schemeClr val="dk1"/>
                          </a:solidFill>
                          <a:latin typeface="Times New Roman"/>
                          <a:ea typeface="Times New Roman"/>
                          <a:cs typeface="Times New Roman"/>
                          <a:sym typeface="Times New Roman"/>
                        </a:rPr>
                        <a:t>dùng</a:t>
                      </a:r>
                      <a:r>
                        <a:rPr lang="en-US" sz="1200" dirty="0">
                          <a:solidFill>
                            <a:schemeClr val="dk1"/>
                          </a:solidFill>
                          <a:latin typeface="Times New Roman"/>
                          <a:ea typeface="Times New Roman"/>
                          <a:cs typeface="Times New Roman"/>
                          <a:sym typeface="Times New Roman"/>
                        </a:rPr>
                        <a:t> </a:t>
                      </a:r>
                      <a:r>
                        <a:rPr lang="en-US" sz="1200" dirty="0" err="1">
                          <a:solidFill>
                            <a:schemeClr val="dk1"/>
                          </a:solidFill>
                          <a:latin typeface="Times New Roman"/>
                          <a:ea typeface="Times New Roman"/>
                          <a:cs typeface="Times New Roman"/>
                          <a:sym typeface="Times New Roman"/>
                        </a:rPr>
                        <a:t>cho</a:t>
                      </a:r>
                      <a:r>
                        <a:rPr lang="en-US" sz="1200" dirty="0">
                          <a:solidFill>
                            <a:schemeClr val="dk1"/>
                          </a:solidFill>
                          <a:latin typeface="Times New Roman"/>
                          <a:ea typeface="Times New Roman"/>
                          <a:cs typeface="Times New Roman"/>
                          <a:sym typeface="Times New Roman"/>
                        </a:rPr>
                        <a:t> A869, 01ea </a:t>
                      </a:r>
                      <a:r>
                        <a:rPr lang="en-US" sz="1200" dirty="0" err="1">
                          <a:solidFill>
                            <a:schemeClr val="dk1"/>
                          </a:solidFill>
                          <a:latin typeface="Times New Roman"/>
                          <a:ea typeface="Times New Roman"/>
                          <a:cs typeface="Times New Roman"/>
                          <a:sym typeface="Times New Roman"/>
                        </a:rPr>
                        <a:t>giao</a:t>
                      </a:r>
                      <a:r>
                        <a:rPr lang="en-US" sz="1200" dirty="0">
                          <a:solidFill>
                            <a:schemeClr val="dk1"/>
                          </a:solidFill>
                          <a:latin typeface="Times New Roman"/>
                          <a:ea typeface="Times New Roman"/>
                          <a:cs typeface="Times New Roman"/>
                          <a:sym typeface="Times New Roman"/>
                        </a:rPr>
                        <a:t> </a:t>
                      </a:r>
                      <a:r>
                        <a:rPr lang="en-US" sz="1200" dirty="0" smtClean="0">
                          <a:solidFill>
                            <a:schemeClr val="dk1"/>
                          </a:solidFill>
                          <a:latin typeface="Times New Roman"/>
                          <a:ea typeface="Times New Roman"/>
                          <a:cs typeface="Times New Roman"/>
                          <a:sym typeface="Times New Roman"/>
                        </a:rPr>
                        <a:t>19/05.</a:t>
                      </a:r>
                      <a:endParaRPr sz="1200" dirty="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03ea in stock.</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5708822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7" name="Google Shape;217;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18" name="Google Shape;218;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PTVT thay nhiều: VFSG, GPM, NSG, CAC, GWIV.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A861 - INTEGRATED CLG RECIR AIR: 01ea SCU controller in stock.</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A864 - AFT CARGO HANDLING SYSTEM IN/OUT IN CENTER LOADING PDU INOP: Joystick giao SGN 19/05.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A865 - ELEC ENG STARTER R1: yêu cầu CMSC, in stock.</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A869 - ELEC GEN SYS: yêu cầu VFSG, 01ea giao tối 18/05.</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p:txBody>
      </p:sp>
      <p:pic>
        <p:nvPicPr>
          <p:cNvPr id="219" name="Google Shape;219;g31ccdae391d_0_315"/>
          <p:cNvPicPr preferRelativeResize="0"/>
          <p:nvPr/>
        </p:nvPicPr>
        <p:blipFill>
          <a:blip r:embed="rId3">
            <a:alphaModFix/>
          </a:blip>
          <a:stretch>
            <a:fillRect/>
          </a:stretch>
        </p:blipFill>
        <p:spPr>
          <a:xfrm>
            <a:off x="790575" y="3205163"/>
            <a:ext cx="10610850" cy="3038475"/>
          </a:xfrm>
          <a:prstGeom prst="rect">
            <a:avLst/>
          </a:prstGeom>
          <a:noFill/>
          <a:ln>
            <a:noFill/>
          </a:ln>
        </p:spPr>
      </p:pic>
    </p:spTree>
    <p:extLst>
      <p:ext uri="{BB962C8B-B14F-4D97-AF65-F5344CB8AC3E}">
        <p14:creationId xmlns:p14="http://schemas.microsoft.com/office/powerpoint/2010/main" val="271453052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g31ccdae391d_0_323"/>
          <p:cNvSpPr txBox="1">
            <a:spLocks noGrp="1"/>
          </p:cNvSpPr>
          <p:nvPr>
            <p:ph type="title"/>
          </p:nvPr>
        </p:nvSpPr>
        <p:spPr>
          <a:xfrm>
            <a:off x="1066800" y="157044"/>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6" name="Google Shape;226;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27" name="Google Shape;227;g31ccdae391d_0_323"/>
          <p:cNvSpPr/>
          <p:nvPr/>
        </p:nvSpPr>
        <p:spPr>
          <a:xfrm>
            <a:off x="990599" y="858119"/>
            <a:ext cx="10589179" cy="57189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Tình trạng đơn hàng Pooling: 45 đơn hàng quá hạn trong tổng số 100 đơn hàng đang open</a:t>
            </a:r>
            <a:endParaRPr kumimoji="0" sz="2000" b="1" i="0" u="none" strike="noStrike" kern="0" cap="none" spc="0" normalizeH="0" baseline="0" noProof="0">
              <a:ln>
                <a:noFill/>
              </a:ln>
              <a:solidFill>
                <a:srgbClr val="FF0000"/>
              </a:solidFill>
              <a:effectLst/>
              <a:uLnTx/>
              <a:uFillTx/>
              <a:latin typeface="Arial"/>
              <a:ea typeface="Arial"/>
              <a:cs typeface="Arial"/>
              <a:sym typeface="Arial"/>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lấp đầy kho OSS: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09 overdue LO / total 12 LO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Đơn hàng khác (Defect, Hardtime): </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36 overdue EO / total  88 EO </a:t>
            </a:r>
            <a:endParaRPr kumimoji="0" sz="1500" b="0" i="0" u="none" strike="noStrike" kern="0" cap="none" spc="0" normalizeH="0" baseline="0" noProof="0">
              <a:ln>
                <a:noFill/>
              </a:ln>
              <a:solidFill>
                <a:srgbClr val="1F497D"/>
              </a:solidFill>
              <a:effectLs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10000"/>
              </a:lnSpc>
              <a:spcBef>
                <a:spcPts val="600"/>
              </a:spcBef>
              <a:spcAft>
                <a:spcPts val="0"/>
              </a:spcAft>
              <a:buClr>
                <a:srgbClr val="000000"/>
              </a:buClr>
              <a:buSzPts val="1500"/>
              <a:buFont typeface="Times New Roman"/>
              <a:buChar char="●"/>
              <a:tabLst/>
              <a:defRPr/>
            </a:pPr>
            <a:r>
              <a:rPr kumimoji="0" lang="en-US"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Tình trạng đơn hàng pool trong 4 tuần gần nhất:</a:t>
            </a:r>
            <a:endParaRPr kumimoji="0" sz="15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
        <p:nvSpPr>
          <p:cNvPr id="228" name="Google Shape;228;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800"/>
              <a:buFont typeface="Arial"/>
              <a:buNone/>
              <a:tabLst/>
              <a:defRPr/>
            </a:pPr>
            <a:endParaRPr kumimoji="0" sz="2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9" name="Google Shape;229;g31ccdae391d_0_323"/>
          <p:cNvPicPr preferRelativeResize="0"/>
          <p:nvPr/>
        </p:nvPicPr>
        <p:blipFill>
          <a:blip r:embed="rId3">
            <a:alphaModFix/>
          </a:blip>
          <a:stretch>
            <a:fillRect/>
          </a:stretch>
        </p:blipFill>
        <p:spPr>
          <a:xfrm>
            <a:off x="2433648" y="2093223"/>
            <a:ext cx="6512374" cy="4463550"/>
          </a:xfrm>
          <a:prstGeom prst="rect">
            <a:avLst/>
          </a:prstGeom>
          <a:noFill/>
          <a:ln>
            <a:noFill/>
          </a:ln>
        </p:spPr>
      </p:pic>
    </p:spTree>
    <p:extLst>
      <p:ext uri="{BB962C8B-B14F-4D97-AF65-F5344CB8AC3E}">
        <p14:creationId xmlns:p14="http://schemas.microsoft.com/office/powerpoint/2010/main" val="31432286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6" name="Google Shape;236;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49</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37" name="Google Shape;237;g31ccdae391d_0_332"/>
          <p:cNvGraphicFramePr/>
          <p:nvPr>
            <p:extLst>
              <p:ext uri="{D42A27DB-BD31-4B8C-83A1-F6EECF244321}">
                <p14:modId xmlns:p14="http://schemas.microsoft.com/office/powerpoint/2010/main" val="3488185364"/>
              </p:ext>
            </p:extLst>
          </p:nvPr>
        </p:nvGraphicFramePr>
        <p:xfrm>
          <a:off x="788049" y="762000"/>
          <a:ext cx="10972801" cy="5757668"/>
        </p:xfrm>
        <a:graphic>
          <a:graphicData uri="http://schemas.openxmlformats.org/drawingml/2006/table">
            <a:tbl>
              <a:tblPr>
                <a:noFill/>
              </a:tblPr>
              <a:tblGrid>
                <a:gridCol w="583551">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3296546">
                  <a:extLst>
                    <a:ext uri="{9D8B030D-6E8A-4147-A177-3AD203B41FA5}">
                      <a16:colId xmlns:a16="http://schemas.microsoft.com/office/drawing/2014/main" val="20003"/>
                    </a:ext>
                  </a:extLst>
                </a:gridCol>
                <a:gridCol w="3511304">
                  <a:extLst>
                    <a:ext uri="{9D8B030D-6E8A-4147-A177-3AD203B41FA5}">
                      <a16:colId xmlns:a16="http://schemas.microsoft.com/office/drawing/2014/main" val="20004"/>
                    </a:ext>
                  </a:extLst>
                </a:gridCol>
              </a:tblGrid>
              <a:tr h="272531">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16963">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a:t>
                      </a:r>
                      <a:r>
                        <a:rPr lang="en-US" sz="1300" u="none" strike="noStrike" cap="none" smtClean="0">
                          <a:latin typeface="Times New Roman"/>
                          <a:ea typeface="Times New Roman"/>
                          <a:cs typeface="Times New Roman"/>
                          <a:sym typeface="Times New Roman"/>
                        </a:rPr>
                        <a:t>control 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1e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056601">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Chiller</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688-6/688-6-00-100</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4</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06</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+ 08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- 01ea in stock của tàu BQ.</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a:t>
                      </a:r>
                      <a:r>
                        <a:rPr lang="en-US" sz="1300" u="none" strike="noStrike" cap="none">
                          <a:solidFill>
                            <a:schemeClr val="dk1"/>
                          </a:solidFill>
                          <a:latin typeface="Times New Roman"/>
                          <a:ea typeface="Times New Roman"/>
                          <a:cs typeface="Times New Roman"/>
                          <a:sym typeface="Times New Roman"/>
                        </a:rPr>
                        <a:t>1</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RO, trong đó: </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+ 03ea EDD 26/05.</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solidFill>
                            <a:schemeClr val="dk1"/>
                          </a:solidFill>
                          <a:latin typeface="Times New Roman"/>
                          <a:ea typeface="Times New Roman"/>
                          <a:cs typeface="Times New Roman"/>
                          <a:sym typeface="Times New Roman"/>
                        </a:rPr>
                        <a:t>+ 09ea EDD NIL.</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1696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06</a:t>
                      </a:r>
                      <a:r>
                        <a:rPr lang="en-US" sz="1300" u="none" strike="noStrike" cap="none">
                          <a:solidFill>
                            <a:schemeClr val="dk1"/>
                          </a:solidFill>
                          <a:latin typeface="Times New Roman"/>
                          <a:ea typeface="Times New Roman"/>
                          <a:cs typeface="Times New Roman"/>
                          <a:sym typeface="Times New Roman"/>
                        </a:rPr>
                        <a:t>ea in stock (của tàu BQ). 01 l</a:t>
                      </a:r>
                      <a:r>
                        <a:rPr lang="en-US" sz="1300">
                          <a:solidFill>
                            <a:schemeClr val="dk1"/>
                          </a:solidFill>
                          <a:latin typeface="Times New Roman"/>
                          <a:ea typeface="Times New Roman"/>
                          <a:cs typeface="Times New Roman"/>
                          <a:sym typeface="Times New Roman"/>
                        </a:rPr>
                        <a:t>ấp đầy chưa có EDD.</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16963">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ảnh</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hưởng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hệ</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thống</a:t>
                      </a:r>
                      <a:r>
                        <a:rPr lang="en-US" sz="1300" u="none" strike="noStrike" cap="none" dirty="0">
                          <a:latin typeface="Times New Roman"/>
                          <a:ea typeface="Times New Roman"/>
                          <a:cs typeface="Times New Roman"/>
                          <a:sym typeface="Times New Roman"/>
                        </a:rPr>
                        <a:t> chiller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bay.</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TAT </a:t>
                      </a:r>
                      <a:r>
                        <a:rPr lang="en-US" sz="1300" u="none" strike="noStrike" cap="none" dirty="0" err="1">
                          <a:latin typeface="Times New Roman"/>
                          <a:ea typeface="Times New Roman"/>
                          <a:cs typeface="Times New Roman"/>
                          <a:sym typeface="Times New Roman"/>
                        </a:rPr>
                        <a:t>sửa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chữa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tại</a:t>
                      </a:r>
                      <a:r>
                        <a:rPr lang="en-US" sz="1300" u="none" strike="noStrike" cap="none" dirty="0">
                          <a:latin typeface="Times New Roman"/>
                          <a:ea typeface="Times New Roman"/>
                          <a:cs typeface="Times New Roman"/>
                          <a:sym typeface="Times New Roman"/>
                        </a:rPr>
                        <a:t> shop Honeywell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dài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chưa</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được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dẫn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đến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việc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cung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ứng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hàng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của</a:t>
                      </a:r>
                      <a:r>
                        <a:rPr lang="en-US" sz="1300" u="none" strike="noStrike" cap="none" dirty="0">
                          <a:latin typeface="Times New Roman"/>
                          <a:ea typeface="Times New Roman"/>
                          <a:cs typeface="Times New Roman"/>
                          <a:sym typeface="Times New Roman"/>
                        </a:rPr>
                        <a:t> Airbus </a:t>
                      </a:r>
                      <a:r>
                        <a:rPr lang="en-US" sz="1300" u="none" strike="noStrike" cap="none" dirty="0" err="1">
                          <a:latin typeface="Times New Roman"/>
                          <a:ea typeface="Times New Roman"/>
                          <a:cs typeface="Times New Roman"/>
                          <a:sym typeface="Times New Roman"/>
                        </a:rPr>
                        <a:t>rất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chậm</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ship</a:t>
                      </a:r>
                      <a:r>
                        <a:rPr lang="en-US" sz="1300" dirty="0" smtClean="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588486">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Safran dự kiến cuối tháng 4 mới có PMSD cho sửa chữa. Mặc dù đã rob 20ea oven từ 02 tàu bảo quản A886 và A887 nhưng vẫn còn 03 hỏng hóc cho tàu A889.</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Từ đầu năm 2025 yêu cầu 30ea, trong đó đã thay 28ea và có 04 TH NFF.</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+ 0</a:t>
                      </a:r>
                      <a:r>
                        <a:rPr lang="en-US" sz="1300" dirty="0">
                          <a:solidFill>
                            <a:schemeClr val="dk1"/>
                          </a:solidFill>
                          <a:latin typeface="Times New Roman"/>
                          <a:ea typeface="Times New Roman"/>
                          <a:cs typeface="Times New Roman"/>
                          <a:sym typeface="Times New Roman"/>
                        </a:rPr>
                        <a:t>4</a:t>
                      </a:r>
                      <a:r>
                        <a:rPr lang="en-US" sz="1300" u="none" strike="noStrike" cap="none" dirty="0">
                          <a:solidFill>
                            <a:schemeClr val="dk1"/>
                          </a:solidFill>
                          <a:latin typeface="Times New Roman"/>
                          <a:ea typeface="Times New Roman"/>
                          <a:cs typeface="Times New Roman"/>
                          <a:sym typeface="Times New Roman"/>
                        </a:rPr>
                        <a:t>ea in stock</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giữ</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lại</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dùng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A887 </a:t>
                      </a:r>
                      <a:r>
                        <a:rPr lang="en-US" sz="1300" dirty="0" err="1">
                          <a:solidFill>
                            <a:schemeClr val="dk1"/>
                          </a:solidFill>
                          <a:latin typeface="Times New Roman"/>
                          <a:ea typeface="Times New Roman"/>
                          <a:cs typeface="Times New Roman"/>
                          <a:sym typeface="Times New Roman"/>
                        </a:rPr>
                        <a:t>phá</a:t>
                      </a:r>
                      <a:r>
                        <a:rPr lang="en-US" sz="1300" dirty="0">
                          <a:solidFill>
                            <a:schemeClr val="dk1"/>
                          </a:solidFill>
                          <a:latin typeface="Times New Roman"/>
                          <a:ea typeface="Times New Roman"/>
                          <a:cs typeface="Times New Roman"/>
                          <a:sym typeface="Times New Roman"/>
                        </a:rPr>
                        <a:t> BQ).</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Tiếp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giục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hàng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Safran</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tuần</a:t>
                      </a:r>
                      <a:r>
                        <a:rPr lang="en-US" sz="1300" dirty="0">
                          <a:solidFill>
                            <a:schemeClr val="dk1"/>
                          </a:solidFill>
                          <a:latin typeface="Times New Roman"/>
                          <a:ea typeface="Times New Roman"/>
                          <a:cs typeface="Times New Roman"/>
                          <a:sym typeface="Times New Roman"/>
                        </a:rPr>
                        <a:t> 20, do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kế</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hoạch</a:t>
                      </a:r>
                      <a:r>
                        <a:rPr lang="en-US" sz="1300" dirty="0">
                          <a:solidFill>
                            <a:schemeClr val="dk1"/>
                          </a:solidFill>
                          <a:latin typeface="Times New Roman"/>
                          <a:ea typeface="Times New Roman"/>
                          <a:cs typeface="Times New Roman"/>
                          <a:sym typeface="Times New Roman"/>
                        </a:rPr>
                        <a:t> release </a:t>
                      </a:r>
                      <a:r>
                        <a:rPr lang="en-US" sz="1300" dirty="0" err="1">
                          <a:solidFill>
                            <a:schemeClr val="dk1"/>
                          </a:solidFill>
                          <a:latin typeface="Times New Roman"/>
                          <a:ea typeface="Times New Roman"/>
                          <a:cs typeface="Times New Roman"/>
                          <a:sym typeface="Times New Roman"/>
                        </a:rPr>
                        <a:t>nên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sẽ</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ưu</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tiên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lắp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cho</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các</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tàu</a:t>
                      </a:r>
                      <a:r>
                        <a:rPr lang="en-US" sz="1300" dirty="0">
                          <a:solidFill>
                            <a:schemeClr val="dk1"/>
                          </a:solidFill>
                          <a:latin typeface="Times New Roman"/>
                          <a:ea typeface="Times New Roman"/>
                          <a:cs typeface="Times New Roman"/>
                          <a:sym typeface="Times New Roman"/>
                        </a:rPr>
                        <a:t> BQ.</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27754530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g31ccdae391d_0_339"/>
          <p:cNvSpPr txBox="1">
            <a:spLocks noGrp="1"/>
          </p:cNvSpPr>
          <p:nvPr>
            <p:ph type="title"/>
          </p:nvPr>
        </p:nvSpPr>
        <p:spPr>
          <a:xfrm>
            <a:off x="762900" y="4122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4" name="Google Shape;244;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45" name="Google Shape;245;g31ccdae391d_0_339"/>
          <p:cNvSpPr/>
          <p:nvPr/>
        </p:nvSpPr>
        <p:spPr>
          <a:xfrm>
            <a:off x="762900" y="1139100"/>
            <a:ext cx="10652813" cy="5718900"/>
          </a:xfrm>
          <a:prstGeom prst="rect">
            <a:avLst/>
          </a:prstGeom>
          <a:noFill/>
          <a:ln>
            <a:noFill/>
          </a:ln>
        </p:spPr>
        <p:txBody>
          <a:bodyPr spcFirstLastPara="1" wrap="square" lIns="91425" tIns="45700" rIns="91425" bIns="45700" anchor="t" anchorCtr="0">
            <a:noAutofit/>
          </a:bodyPr>
          <a:lstStyle/>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Một số PTVT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    Một số thiết bị pooling của OEM Honeywell liên quan hệ thống Chiller (VCRU, Motor Controler) TAT vẫn rất dài.</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914400" marR="0" lvl="0" indent="-330200" algn="just" defTabSz="914400" rtl="0" eaLnBrk="1" fontAlgn="auto" latinLnBrk="0" hangingPunct="1">
              <a:lnSpc>
                <a:spcPct val="100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Hỏng hóc hệ thống flight control vẫn nhiều, vẫn chưa giảm.</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00000"/>
              </a:lnSpc>
              <a:spcBef>
                <a:spcPts val="0"/>
              </a:spcBef>
              <a:spcAft>
                <a:spcPts val="0"/>
              </a:spcAft>
              <a:buClr>
                <a:srgbClr val="FF0000"/>
              </a:buClr>
              <a:buSzPts val="2000"/>
              <a:buFont typeface="Times New Roman"/>
              <a:buChar char="-"/>
              <a:tabLst/>
              <a:defRPr/>
            </a:pPr>
            <a:r>
              <a:rPr kumimoji="0" lang="en-US" sz="20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Hỏng hóc ảnh hưởng cần lưu ý:</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A888, A892, A898 - CHILLER SYS INOP: đặt hàng VCRU, chưa có EDD (nguồn cung từ Honeywell rất chậm).</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20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46" name="Google Shape;246;g31ccdae391d_0_339"/>
          <p:cNvPicPr preferRelativeResize="0"/>
          <p:nvPr/>
        </p:nvPicPr>
        <p:blipFill>
          <a:blip r:embed="rId3">
            <a:alphaModFix/>
          </a:blip>
          <a:stretch>
            <a:fillRect/>
          </a:stretch>
        </p:blipFill>
        <p:spPr>
          <a:xfrm>
            <a:off x="789675" y="3200400"/>
            <a:ext cx="10639425" cy="1123950"/>
          </a:xfrm>
          <a:prstGeom prst="rect">
            <a:avLst/>
          </a:prstGeom>
          <a:noFill/>
          <a:ln>
            <a:noFill/>
          </a:ln>
        </p:spPr>
      </p:pic>
    </p:spTree>
    <p:extLst>
      <p:ext uri="{BB962C8B-B14F-4D97-AF65-F5344CB8AC3E}">
        <p14:creationId xmlns:p14="http://schemas.microsoft.com/office/powerpoint/2010/main" val="155256065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g31ccdae391d_0_347"/>
          <p:cNvSpPr txBox="1">
            <a:spLocks noGrp="1"/>
          </p:cNvSpPr>
          <p:nvPr>
            <p:ph type="title"/>
          </p:nvPr>
        </p:nvSpPr>
        <p:spPr>
          <a:xfrm>
            <a:off x="953400" y="266753"/>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3" name="Google Shape;253;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51</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54" name="Google Shape;254;g31ccdae391d_0_347"/>
          <p:cNvGraphicFramePr/>
          <p:nvPr>
            <p:extLst>
              <p:ext uri="{D42A27DB-BD31-4B8C-83A1-F6EECF244321}">
                <p14:modId xmlns:p14="http://schemas.microsoft.com/office/powerpoint/2010/main" val="4087459367"/>
              </p:ext>
            </p:extLst>
          </p:nvPr>
        </p:nvGraphicFramePr>
        <p:xfrm>
          <a:off x="990600" y="1143000"/>
          <a:ext cx="10591801" cy="5549713"/>
        </p:xfrm>
        <a:graphic>
          <a:graphicData uri="http://schemas.openxmlformats.org/drawingml/2006/table">
            <a:tbl>
              <a:tblPr>
                <a:noFill/>
              </a:tblPr>
              <a:tblGrid>
                <a:gridCol w="500499">
                  <a:extLst>
                    <a:ext uri="{9D8B030D-6E8A-4147-A177-3AD203B41FA5}">
                      <a16:colId xmlns:a16="http://schemas.microsoft.com/office/drawing/2014/main" val="20000"/>
                    </a:ext>
                  </a:extLst>
                </a:gridCol>
                <a:gridCol w="1619057">
                  <a:extLst>
                    <a:ext uri="{9D8B030D-6E8A-4147-A177-3AD203B41FA5}">
                      <a16:colId xmlns:a16="http://schemas.microsoft.com/office/drawing/2014/main" val="20001"/>
                    </a:ext>
                  </a:extLst>
                </a:gridCol>
                <a:gridCol w="1414770">
                  <a:extLst>
                    <a:ext uri="{9D8B030D-6E8A-4147-A177-3AD203B41FA5}">
                      <a16:colId xmlns:a16="http://schemas.microsoft.com/office/drawing/2014/main" val="20002"/>
                    </a:ext>
                  </a:extLst>
                </a:gridCol>
                <a:gridCol w="2281766">
                  <a:extLst>
                    <a:ext uri="{9D8B030D-6E8A-4147-A177-3AD203B41FA5}">
                      <a16:colId xmlns:a16="http://schemas.microsoft.com/office/drawing/2014/main" val="20003"/>
                    </a:ext>
                  </a:extLst>
                </a:gridCol>
                <a:gridCol w="4775709">
                  <a:extLst>
                    <a:ext uri="{9D8B030D-6E8A-4147-A177-3AD203B41FA5}">
                      <a16:colId xmlns:a16="http://schemas.microsoft.com/office/drawing/2014/main" val="20004"/>
                    </a:ext>
                  </a:extLst>
                </a:gridCol>
              </a:tblGrid>
              <a:tr h="463953">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7886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5331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P/N S5741212100810: STK = 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64811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RO R4580325: chưa có EDD</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02EA: STK SGN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7263770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g31ccdae391d_0_354"/>
          <p:cNvSpPr txBox="1">
            <a:spLocks noGrp="1"/>
          </p:cNvSpPr>
          <p:nvPr>
            <p:ph type="title"/>
          </p:nvPr>
        </p:nvSpPr>
        <p:spPr>
          <a:xfrm>
            <a:off x="838200" y="22860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1" name="Google Shape;261;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52</a:t>
            </a:fld>
            <a:endParaRPr kumimoji="0" sz="1200" b="0" i="0" u="none" strike="noStrike" kern="0" cap="none" spc="0" normalizeH="0" baseline="0" noProof="0">
              <a:ln>
                <a:noFill/>
              </a:ln>
              <a:solidFill>
                <a:srgbClr val="D2A43B"/>
              </a:solidFill>
              <a:effectLst/>
              <a:uLnTx/>
              <a:uFillTx/>
              <a:latin typeface="Montserrat"/>
              <a:sym typeface="Montserrat"/>
            </a:endParaRPr>
          </a:p>
        </p:txBody>
      </p:sp>
      <p:graphicFrame>
        <p:nvGraphicFramePr>
          <p:cNvPr id="262" name="Google Shape;262;g31ccdae391d_0_354"/>
          <p:cNvGraphicFramePr/>
          <p:nvPr>
            <p:extLst>
              <p:ext uri="{D42A27DB-BD31-4B8C-83A1-F6EECF244321}">
                <p14:modId xmlns:p14="http://schemas.microsoft.com/office/powerpoint/2010/main" val="1430278094"/>
              </p:ext>
            </p:extLst>
          </p:nvPr>
        </p:nvGraphicFramePr>
        <p:xfrm>
          <a:off x="838200" y="1066799"/>
          <a:ext cx="10744202" cy="5770606"/>
        </p:xfrm>
        <a:graphic>
          <a:graphicData uri="http://schemas.openxmlformats.org/drawingml/2006/table">
            <a:tbl>
              <a:tblPr>
                <a:noFill/>
              </a:tblPr>
              <a:tblGrid>
                <a:gridCol w="688327">
                  <a:extLst>
                    <a:ext uri="{9D8B030D-6E8A-4147-A177-3AD203B41FA5}">
                      <a16:colId xmlns:a16="http://schemas.microsoft.com/office/drawing/2014/main" val="20000"/>
                    </a:ext>
                  </a:extLst>
                </a:gridCol>
                <a:gridCol w="1147204">
                  <a:extLst>
                    <a:ext uri="{9D8B030D-6E8A-4147-A177-3AD203B41FA5}">
                      <a16:colId xmlns:a16="http://schemas.microsoft.com/office/drawing/2014/main" val="20001"/>
                    </a:ext>
                  </a:extLst>
                </a:gridCol>
                <a:gridCol w="1365883">
                  <a:extLst>
                    <a:ext uri="{9D8B030D-6E8A-4147-A177-3AD203B41FA5}">
                      <a16:colId xmlns:a16="http://schemas.microsoft.com/office/drawing/2014/main" val="20002"/>
                    </a:ext>
                  </a:extLst>
                </a:gridCol>
                <a:gridCol w="3771394">
                  <a:extLst>
                    <a:ext uri="{9D8B030D-6E8A-4147-A177-3AD203B41FA5}">
                      <a16:colId xmlns:a16="http://schemas.microsoft.com/office/drawing/2014/main" val="20003"/>
                    </a:ext>
                  </a:extLst>
                </a:gridCol>
                <a:gridCol w="3771394">
                  <a:extLst>
                    <a:ext uri="{9D8B030D-6E8A-4147-A177-3AD203B41FA5}">
                      <a16:colId xmlns:a16="http://schemas.microsoft.com/office/drawing/2014/main" val="20004"/>
                    </a:ext>
                  </a:extLst>
                </a:gridCol>
              </a:tblGrid>
              <a:tr h="470086">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4918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752529">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05 stock, Dự kiến 01 ea về ngày 19/05.</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32228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03ea in stock. Dự kiến tuần 21 VSTEAS xuất xưởng thêm 03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76524">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05ea in stock. trong tuần 21 dự kiến sẽ có thêm 05ea.</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806162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1ccdae391d_0_361"/>
          <p:cNvSpPr txBox="1">
            <a:spLocks noGrp="1"/>
          </p:cNvSpPr>
          <p:nvPr>
            <p:ph type="title"/>
          </p:nvPr>
        </p:nvSpPr>
        <p:spPr>
          <a:xfrm>
            <a:off x="1058253" y="4572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9" name="Google Shape;269;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53</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0" name="Google Shape;270;g31ccdae391d_0_361"/>
          <p:cNvSpPr/>
          <p:nvPr/>
        </p:nvSpPr>
        <p:spPr>
          <a:xfrm>
            <a:off x="1027129" y="1356274"/>
            <a:ext cx="10439100" cy="4456362"/>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a:t>
            </a:r>
            <a:r>
              <a:rPr kumimoji="0" lang="en-US"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rPr>
              <a:t>Đội bay A350:</a:t>
            </a:r>
            <a:endParaRPr kumimoji="0"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dự phòng: 03ea (thuê dài hạn) &amp; 03 động cơ thuê ngắn hạn + 01 động cơ new (giao HAN 22/01).</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trong kho: NIL</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động cơ đang tại shop sửa chữa: 07ea (03 động cơ  21043 và 21317, 21048 sửa tại N3 và 01 động cơ 21201 sửa tại HAESL và 03 tại SEASL 21584, 21414 và 21604). </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02 ENG cho A887: 01ea sửa trong SGN sẽ có ở HAN ngày 20/05 + 01ea giao HAN ngày 27/05.</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•Đã thu xếp chuyển 01 core engine stand từ N3 về để swap động cơ vào tháo tiếp động cơ gửi đi shop.</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rPr>
              <a:t>- Đội bay B787:</a:t>
            </a:r>
            <a:endParaRPr kumimoji="0" sz="1500" b="1" i="0" u="none" strike="noStrike" kern="0" cap="none" spc="0" normalizeH="0" baseline="0" noProof="0">
              <a:ln>
                <a:noFill/>
              </a:ln>
              <a:solidFill>
                <a:srgbClr val="FF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dự phòng: 10ea (2 sở hữu, 2 dài hạn và 6 ngắn hạn) đã ký thêm 01 hđ thuê đc Mar/2025 với Aercap.</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trong kho: 0</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Số lượng động cơ đang tại shop sửa chữa:</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04 động cơ ở KLM shop:  956533, 956599 và 956947, 956534 (inducted tháng 4/2025). trong đó động cơ 956533 dự kiến về SGN 08May.</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457200" marR="0" lvl="0" indent="-323850" algn="just" defTabSz="914400" rtl="0" eaLnBrk="1" fontAlgn="auto" latinLnBrk="0" hangingPunct="1">
              <a:lnSpc>
                <a:spcPct val="100000"/>
              </a:lnSpc>
              <a:spcBef>
                <a:spcPts val="0"/>
              </a:spcBef>
              <a:spcAft>
                <a:spcPts val="0"/>
              </a:spcAft>
              <a:buClr>
                <a:srgbClr val="000000"/>
              </a:buClr>
              <a:buSzPts val="1500"/>
              <a:buFont typeface="Times New Roman"/>
              <a:buChar char="+"/>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01 động cơ ở GE shop: 958398 (delay in GEEVES) dự kiến giao cuối tháng 6/2025.</a:t>
            </a: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a:ln>
                  <a:noFill/>
                </a:ln>
                <a:solidFill>
                  <a:srgbClr val="000000"/>
                </a:solidFill>
                <a:effectLst/>
                <a:highlight>
                  <a:srgbClr val="FFFFFF"/>
                </a:highlight>
                <a:uLnTx/>
                <a:uFillTx/>
                <a:latin typeface="Times New Roman"/>
                <a:ea typeface="Times New Roman"/>
                <a:cs typeface="Times New Roman"/>
                <a:sym typeface="Times New Roman"/>
              </a:rPr>
              <a:t>• Thuê động cơ đáp ứng KH sửa 2024-2025: B787 có 04 dự phòng và đang thuê 06 của Aercap (956933; 958266 và 958934 958966 và 956626, 956980) trong đó 956980 mới thuê do 01 đc trên A868 phải tháo đầu tháng 4/2025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38156296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1ccdae391d_0_368"/>
          <p:cNvSpPr txBox="1">
            <a:spLocks noGrp="1"/>
          </p:cNvSpPr>
          <p:nvPr>
            <p:ph type="title"/>
          </p:nvPr>
        </p:nvSpPr>
        <p:spPr>
          <a:xfrm>
            <a:off x="1148366" y="3810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7" name="Google Shape;277;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54</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78" name="Google Shape;278;g31ccdae391d_0_368"/>
          <p:cNvSpPr/>
          <p:nvPr/>
        </p:nvSpPr>
        <p:spPr>
          <a:xfrm>
            <a:off x="1148366" y="914400"/>
            <a:ext cx="9982200" cy="38862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Đội bay A321 Ceo:</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13 (3 sở hữu, 10 thuê ngắn hạn)</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trong kho: NIL</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US chờ chuyển đi: 02ea V11752, V16582 (VNA), V16462 (K6) </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động cơ đang sửa tại shop: 09ea VNA</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Danh mục missing part list của động cơ sửa chữa về</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Thúc đẩy việc sửa chữa động cơ tại shop</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Làm việc với Ban KT về KH động cơ về, tháo trả.</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84423093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g31ccdae391d_0_375"/>
          <p:cNvSpPr txBox="1">
            <a:spLocks noGrp="1"/>
          </p:cNvSpPr>
          <p:nvPr>
            <p:ph type="title"/>
          </p:nvPr>
        </p:nvSpPr>
        <p:spPr>
          <a:xfrm>
            <a:off x="913584" y="15240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5" name="Google Shape;285;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55</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86" name="Google Shape;286;g31ccdae391d_0_375"/>
          <p:cNvSpPr/>
          <p:nvPr/>
        </p:nvSpPr>
        <p:spPr>
          <a:xfrm>
            <a:off x="760584" y="659682"/>
            <a:ext cx="10972200" cy="623507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 Tình trạng trả động cơ thuê </a:t>
            </a: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sz="1600" b="1"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287" name="Google Shape;287;g31ccdae391d_0_375"/>
          <p:cNvPicPr preferRelativeResize="0"/>
          <p:nvPr/>
        </p:nvPicPr>
        <p:blipFill>
          <a:blip r:embed="rId3">
            <a:alphaModFix/>
          </a:blip>
          <a:stretch>
            <a:fillRect/>
          </a:stretch>
        </p:blipFill>
        <p:spPr>
          <a:xfrm>
            <a:off x="913579" y="1378813"/>
            <a:ext cx="10819205" cy="3711475"/>
          </a:xfrm>
          <a:prstGeom prst="rect">
            <a:avLst/>
          </a:prstGeom>
          <a:noFill/>
          <a:ln>
            <a:noFill/>
          </a:ln>
        </p:spPr>
      </p:pic>
    </p:spTree>
    <p:extLst>
      <p:ext uri="{BB962C8B-B14F-4D97-AF65-F5344CB8AC3E}">
        <p14:creationId xmlns:p14="http://schemas.microsoft.com/office/powerpoint/2010/main" val="10050707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56</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294" name="Google Shape;294;g31ccdae391d_0_383"/>
          <p:cNvSpPr/>
          <p:nvPr/>
        </p:nvSpPr>
        <p:spPr>
          <a:xfrm>
            <a:off x="1066800" y="551616"/>
            <a:ext cx="10439400" cy="5257800"/>
          </a:xfrm>
          <a:prstGeom prst="rect">
            <a:avLst/>
          </a:prstGeom>
          <a:noFill/>
          <a:ln>
            <a:noFill/>
          </a:ln>
        </p:spPr>
        <p:txBody>
          <a:bodyPr spcFirstLastPara="1" wrap="square" lIns="91425" tIns="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Đội bay A321 Neo:</a:t>
            </a: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05ea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hữu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SLB),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ngắn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của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NIL.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7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(05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IHI, 01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MTU-H)</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yêu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cấp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được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6</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đàm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triển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khai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trình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LOI LHT-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7</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PWEL -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mở</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bảo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trình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hợp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đồng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500"/>
              <a:buFont typeface="Arial"/>
              <a:buNone/>
              <a:tabLst/>
              <a:defRPr/>
            </a:pPr>
            <a:r>
              <a:rPr kumimoji="0" lang="en-US" sz="1500" b="0" i="0" u="none" strike="noStrike" kern="0" cap="none" spc="0" normalizeH="0" baseline="0" noProof="0" smtClean="0">
                <a:ln>
                  <a:noFill/>
                </a:ln>
                <a:solidFill>
                  <a:srgbClr val="FF0000"/>
                </a:solidFill>
                <a:effectLst/>
                <a:uLnTx/>
                <a:uFillTx/>
                <a:latin typeface="Times New Roman"/>
                <a:ea typeface="Times New Roman"/>
                <a:cs typeface="Times New Roman"/>
                <a:sym typeface="Times New Roman"/>
              </a:rPr>
              <a:t>Vướng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mắc</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kéo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do shop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slot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A321 NEO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đây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lắp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nhiều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LRUs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b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b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thời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nghỉ</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lễ</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tùng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liệu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tăng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lỗi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Rejection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kiểm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sau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nghiệm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biệt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AP51</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FF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Thúc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đẩy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shop. 	</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Tổ</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chức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họp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Ban KT, VAECO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danh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MPL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gửi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12533049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01" name="Google Shape;301;g31ccdae391d_0_389"/>
          <p:cNvSpPr/>
          <p:nvPr/>
        </p:nvSpPr>
        <p:spPr>
          <a:xfrm>
            <a:off x="652475" y="0"/>
            <a:ext cx="11051100" cy="55626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a:t>
            </a: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Đội bay ATR:</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Số lượng dự phòng: 06:  03 ENG sở hữu, 03 ENG thuê ngắn hạn: (ED0321) (ED0036) (ED0715). </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ED0238 đang sửa tại shop PWC tại SING.</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ED0239, ED0217,ED0233, ED0214 đang sửa tại SA.</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Vướng mắc/ Khó khăn:</a:t>
            </a:r>
            <a:endParaRPr kumimoji="0"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Các shop vẫn đang gặp trình trạng thiếu part, dẫn đến TAT bị kéo dài tại cả 02 shop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a:ln>
                  <a:noFill/>
                </a:ln>
                <a:solidFill>
                  <a:srgbClr val="FF0000"/>
                </a:solidFill>
                <a:effectLst/>
                <a:uLnTx/>
                <a:uFillTx/>
                <a:latin typeface="Times New Roman"/>
                <a:ea typeface="Times New Roman"/>
                <a:cs typeface="Times New Roman"/>
                <a:sym typeface="Times New Roman"/>
              </a:rPr>
              <a:t>Giải pháp:</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Tiếp tục theo sát các động cơ đang sửa chữa tại PWC và StandardAero.</a:t>
            </a: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1" i="0" u="sng"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pic>
        <p:nvPicPr>
          <p:cNvPr id="302" name="Google Shape;302;g31ccdae391d_0_389"/>
          <p:cNvPicPr preferRelativeResize="0"/>
          <p:nvPr/>
        </p:nvPicPr>
        <p:blipFill>
          <a:blip r:embed="rId3">
            <a:alphaModFix/>
          </a:blip>
          <a:stretch>
            <a:fillRect/>
          </a:stretch>
        </p:blipFill>
        <p:spPr>
          <a:xfrm>
            <a:off x="701725" y="3000456"/>
            <a:ext cx="10952600" cy="2391550"/>
          </a:xfrm>
          <a:prstGeom prst="rect">
            <a:avLst/>
          </a:prstGeom>
          <a:noFill/>
          <a:ln>
            <a:noFill/>
          </a:ln>
        </p:spPr>
      </p:pic>
    </p:spTree>
    <p:extLst>
      <p:ext uri="{BB962C8B-B14F-4D97-AF65-F5344CB8AC3E}">
        <p14:creationId xmlns:p14="http://schemas.microsoft.com/office/powerpoint/2010/main" val="10024171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g31ccdae391d_0_396"/>
          <p:cNvSpPr txBox="1">
            <a:spLocks noGrp="1"/>
          </p:cNvSpPr>
          <p:nvPr>
            <p:ph type="title"/>
          </p:nvPr>
        </p:nvSpPr>
        <p:spPr>
          <a:xfrm>
            <a:off x="872197" y="501054"/>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9" name="Google Shape;309;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58</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0" name="Google Shape;310;g31ccdae391d_0_396"/>
          <p:cNvSpPr/>
          <p:nvPr/>
        </p:nvSpPr>
        <p:spPr>
          <a:xfrm>
            <a:off x="762000" y="1041654"/>
            <a:ext cx="10744200" cy="4950312"/>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A350: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ENG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A887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BQ: 01ea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SGN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ở HAN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20/05 + 01ea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27/05.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9144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B787: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NIL stock.</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ở GE shop: 958398 (delay in GEEVES)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giao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cuối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6/2025.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CEO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tiếp</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5: V16692 (28/05).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l"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A321 NEO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P771077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a:t>
            </a:r>
            <a:r>
              <a:rPr kumimoji="0" lang="en-US" sz="1600" b="0"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28/05.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P771391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30/05.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Động</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cơ</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P771387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kiến</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HAN 23/06.</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ATR:</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stock (ED0235).</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ED0239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6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StandardAero</a:t>
            </a:r>
            <a:r>
              <a:rPr kumimoji="0" lang="en-US"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EST SGN 20/06.</a:t>
            </a: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600" b="1" i="0" u="none" strike="noStrike" kern="0" cap="none" spc="0" normalizeH="0" baseline="0" noProof="0" dirty="0">
              <a:ln>
                <a:noFill/>
              </a:ln>
              <a:solidFill>
                <a:srgbClr val="FF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24517414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31ccdae391d_0_403"/>
          <p:cNvSpPr txBox="1">
            <a:spLocks noGrp="1"/>
          </p:cNvSpPr>
          <p:nvPr>
            <p:ph type="title"/>
          </p:nvPr>
        </p:nvSpPr>
        <p:spPr>
          <a:xfrm>
            <a:off x="856432" y="22860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7" name="Google Shape;317;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59</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18" name="Google Shape;318;g31ccdae391d_0_403"/>
          <p:cNvSpPr txBox="1"/>
          <p:nvPr/>
        </p:nvSpPr>
        <p:spPr>
          <a:xfrm>
            <a:off x="7239000" y="859975"/>
            <a:ext cx="4267200" cy="3971826"/>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A321 </a:t>
            </a:r>
            <a:endParaRPr kumimoji="0" sz="1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7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STK: 00 APU </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7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Tháng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5: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02 APU (P-2973 23/05); (P-5207 30/05)</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A350</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+03 APU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chữa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P-00113, P-00391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release, P-00194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16/06 release.</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1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APU B787 </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STK: 0 APU</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APU (PWC-Z926122) DK 10June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sửa</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xong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l" defTabSz="914400" rtl="0" eaLnBrk="1" fontAlgn="auto" latinLnBrk="0" hangingPunct="1">
              <a:lnSpc>
                <a:spcPct val="115000"/>
              </a:lnSpc>
              <a:spcBef>
                <a:spcPts val="0"/>
              </a:spcBef>
              <a:spcAft>
                <a:spcPts val="0"/>
              </a:spcAft>
              <a:buClr>
                <a:srgbClr val="000000"/>
              </a:buClr>
              <a:buSzPts val="1100"/>
              <a:buFont typeface="Arial"/>
              <a:buNone/>
              <a:tabLst/>
              <a:defRPr/>
            </a:pP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+01 APU ( PWC-Z925500)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ship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stk</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SGN 19MAY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giữ</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dự</a:t>
            </a:r>
            <a:r>
              <a:rPr kumimoji="0" lang="en-US"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4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Pts val="1100"/>
              <a:buFont typeface="Arial"/>
              <a:buNone/>
              <a:tabLst/>
              <a:defRPr/>
            </a:pPr>
            <a:endParaRPr kumimoji="0" sz="14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pic>
        <p:nvPicPr>
          <p:cNvPr id="319" name="Google Shape;319;g31ccdae391d_0_403"/>
          <p:cNvPicPr preferRelativeResize="0"/>
          <p:nvPr/>
        </p:nvPicPr>
        <p:blipFill>
          <a:blip r:embed="rId3">
            <a:alphaModFix/>
          </a:blip>
          <a:stretch>
            <a:fillRect/>
          </a:stretch>
        </p:blipFill>
        <p:spPr>
          <a:xfrm>
            <a:off x="860725" y="829562"/>
            <a:ext cx="6095999" cy="5990875"/>
          </a:xfrm>
          <a:prstGeom prst="rect">
            <a:avLst/>
          </a:prstGeom>
          <a:noFill/>
          <a:ln>
            <a:noFill/>
          </a:ln>
        </p:spPr>
      </p:pic>
    </p:spTree>
    <p:extLst>
      <p:ext uri="{BB962C8B-B14F-4D97-AF65-F5344CB8AC3E}">
        <p14:creationId xmlns:p14="http://schemas.microsoft.com/office/powerpoint/2010/main" val="390448887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g338eea6c084_0_0"/>
          <p:cNvSpPr txBox="1">
            <a:spLocks noGrp="1"/>
          </p:cNvSpPr>
          <p:nvPr>
            <p:ph type="title"/>
          </p:nvPr>
        </p:nvSpPr>
        <p:spPr>
          <a:xfrm>
            <a:off x="679798" y="22860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BAY NGA</a:t>
            </a:r>
            <a:endParaRPr sz="2800">
              <a:solidFill>
                <a:srgbClr val="FFC000"/>
              </a:solidFill>
              <a:latin typeface="Times New Roman"/>
              <a:ea typeface="Times New Roman"/>
              <a:cs typeface="Times New Roman"/>
              <a:sym typeface="Times New Roman"/>
            </a:endParaRPr>
          </a:p>
        </p:txBody>
      </p:sp>
      <p:sp>
        <p:nvSpPr>
          <p:cNvPr id="326" name="Google Shape;326;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60</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27" name="Google Shape;327;g338eea6c084_0_0"/>
          <p:cNvSpPr/>
          <p:nvPr/>
        </p:nvSpPr>
        <p:spPr>
          <a:xfrm>
            <a:off x="679798" y="609600"/>
            <a:ext cx="10972200" cy="6626700"/>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15000"/>
              </a:lnSpc>
              <a:spcBef>
                <a:spcPts val="0"/>
              </a:spcBef>
              <a:spcAft>
                <a:spcPts val="0"/>
              </a:spcAft>
              <a:buClr>
                <a:srgbClr val="000000"/>
              </a:buClr>
              <a:buSzPts val="2000"/>
              <a:buFont typeface="Times New Roman"/>
              <a:buAutoNum type="arabicPeriod"/>
              <a:tabLst/>
              <a:defRPr/>
            </a:pP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NHIÊN LIỆU:</a:t>
            </a:r>
            <a:endParaRPr kumimoji="0"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cấp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SVO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Skypec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101600" marR="0" lvl="0" indent="0" algn="just" defTabSz="914400" rtl="0" eaLnBrk="1" fontAlgn="auto" latinLnBrk="0" hangingPunct="1">
              <a:lnSpc>
                <a:spcPct val="115000"/>
              </a:lnSpc>
              <a:spcBef>
                <a:spcPts val="0"/>
              </a:spcBef>
              <a:spcAft>
                <a:spcPts val="0"/>
              </a:spcAft>
              <a:buClr>
                <a:srgbClr val="000000"/>
              </a:buClr>
              <a:buSzPts val="2000"/>
              <a:buFont typeface="Arial"/>
              <a:buNone/>
              <a:tabLst/>
              <a:defRPr/>
            </a:pPr>
            <a:r>
              <a:rPr kumimoji="0" lang="en-US" sz="1500" b="1"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2.   PTVT </a:t>
            </a:r>
            <a:r>
              <a:rPr kumimoji="0" lang="en-US" sz="15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DỰ PHÒNG FAK</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TGĐ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duyệt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mua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63 item (5.18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triệu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USD)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50 item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04 item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tuần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21.</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09 item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chưa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lịch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ship,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tiếp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giục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lượng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khí</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 mang</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theo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bay Nga: 62/63 item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lấy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itemdự</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phòng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theo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01 item brake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bổ</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20/05.</a:t>
            </a:r>
            <a:endParaRPr kumimoji="0"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endParaRPr>
          </a:p>
          <a:p>
            <a:pPr marL="101600" marR="0" lvl="0" indent="0" algn="just" defTabSz="914400" rtl="0" eaLnBrk="1" fontAlgn="auto" latinLnBrk="0" hangingPunct="1">
              <a:lnSpc>
                <a:spcPct val="115000"/>
              </a:lnSpc>
              <a:spcBef>
                <a:spcPts val="0"/>
              </a:spcBef>
              <a:spcAft>
                <a:spcPts val="0"/>
              </a:spcAft>
              <a:buClr>
                <a:srgbClr val="000000"/>
              </a:buClr>
              <a:buSzPts val="2000"/>
              <a:buFont typeface="Arial"/>
              <a:buNone/>
              <a:tabLst/>
              <a:defRPr/>
            </a:pPr>
            <a:r>
              <a:rPr kumimoji="0" lang="en-US" sz="1500" b="1"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3.   VẬN CHUYỂN, THUÊ KHO Ở NGA</a:t>
            </a:r>
            <a:endParaRPr kumimoji="0" sz="1500" b="1"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err="1" smtClean="0">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smtClean="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trước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phương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án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một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vướng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mắc</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hàng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case by case (HS Code, product description, commercial invoice and purpose of use information in order to take action).</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Submit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Airlines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xin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approval.</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Nếu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thì</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cũng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3-5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ngày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Còn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từ</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châu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Âu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Mỹ</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nay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được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Nga</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--&gt;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vẫn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chuyển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tìm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pá</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khác</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Đối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ở Nga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chấp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thuê</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phải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thủ</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tục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nhập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khẩu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Nga,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như</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vậy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vi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phạm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cam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kết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xuất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khẩu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ký</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với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các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OEM.</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Ngoài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ra</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diện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Nga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có</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tin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việc</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lập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ngoại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RAMP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đặt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dụng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cụ</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PTVT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tiêu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bánh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thể</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không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cho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phép</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do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đến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quy</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trình</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Hải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quan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rất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nghiêm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ngặt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tại</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SVO.</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Ban QLVT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đang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liên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hệ</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thêm</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1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số</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nhà</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cung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ứng</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ở SVO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về</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hỗ</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trợ</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tiêu</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hao</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trong TH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cần</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r>
              <a:rPr kumimoji="0" lang="en-US" sz="1500" b="0" i="0" u="none" strike="noStrike" kern="0" cap="none" spc="0" normalizeH="0" baseline="0" noProof="0" dirty="0" err="1">
                <a:ln>
                  <a:noFill/>
                </a:ln>
                <a:solidFill>
                  <a:srgbClr val="000000"/>
                </a:solidFill>
                <a:effectLst/>
                <a:uLnTx/>
                <a:uFillTx/>
                <a:latin typeface="Times New Roman"/>
                <a:ea typeface="Times New Roman"/>
                <a:cs typeface="Times New Roman"/>
                <a:sym typeface="Times New Roman"/>
              </a:rPr>
              <a:t>thiết</a:t>
            </a:r>
            <a:r>
              <a:rPr kumimoji="0" lang="en-US"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t>
            </a: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476700909"/>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2800726"/>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rPr>
              <a:t>THANK YOU</a:t>
            </a:r>
            <a:endParaRPr kumimoji="0" sz="8800" b="1" i="1" u="none" strike="noStrike" kern="1200" cap="none" spc="0" normalizeH="0" baseline="0" noProof="0">
              <a:ln>
                <a:noFill/>
              </a:ln>
              <a:solidFill>
                <a:prstClr val="white"/>
              </a:solidFill>
              <a:effectLst/>
              <a:uLnTx/>
              <a:uFillTx/>
              <a:latin typeface="Montserrat SemiBold"/>
              <a:ea typeface="Montserrat SemiBold"/>
              <a:cs typeface="Montserrat SemiBold"/>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1_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http://purl.org/dc/elements/1.1/"/>
    <ds:schemaRef ds:uri="http://schemas.microsoft.com/office/2006/metadata/properties"/>
    <ds:schemaRef ds:uri="http://purl.org/dc/terms/"/>
    <ds:schemaRef ds:uri="http://schemas.openxmlformats.org/package/2006/metadata/core-properties"/>
    <ds:schemaRef ds:uri="e189f61e-1295-4779-a752-040c7fad5177"/>
    <ds:schemaRef ds:uri="http://schemas.microsoft.com/office/2006/documentManagement/types"/>
    <ds:schemaRef ds:uri="b6015720-aa74-4be3-ba0d-eab08776cb9b"/>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75632</TotalTime>
  <Words>11738</Words>
  <Application>Microsoft Office PowerPoint</Application>
  <PresentationFormat>Widescreen</PresentationFormat>
  <Paragraphs>2483</Paragraphs>
  <Slides>62</Slides>
  <Notes>55</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62</vt:i4>
      </vt:variant>
    </vt:vector>
  </HeadingPairs>
  <TitlesOfParts>
    <vt:vector size="75" baseType="lpstr">
      <vt:lpstr>MS PGothic</vt:lpstr>
      <vt:lpstr>Arial</vt:lpstr>
      <vt:lpstr>Calibri</vt:lpstr>
      <vt:lpstr>Cambria</vt:lpstr>
      <vt:lpstr>Montserrat</vt:lpstr>
      <vt:lpstr>Montserrat SemiBold</vt:lpstr>
      <vt:lpstr>Symbol</vt:lpstr>
      <vt:lpstr>Tahoma</vt:lpstr>
      <vt:lpstr>Times New Roman</vt:lpstr>
      <vt:lpstr>Wingdings</vt:lpstr>
      <vt:lpstr>16-9 MASTER TEMPLATE</vt:lpstr>
      <vt:lpstr>1_16-9 MASTER TEMPLATE</vt:lpstr>
      <vt:lpstr>Office Theme</vt:lpstr>
      <vt:lpstr>BÁO CÁO KỸ THUẬT (Tuần 20: 12/05/2025 – 18/05/2025)</vt:lpstr>
      <vt:lpstr>TỔNG HỢP AOG, DELAY VÀ GTB/ATB/DIV</vt:lpstr>
      <vt:lpstr>ATB/GTB COMPARISON</vt:lpstr>
      <vt:lpstr>CÁC SỰ KIỆN ATB/GTB/DIV</vt:lpstr>
      <vt:lpstr>CÁC SỰ KIỆN ATB/GTB/DIV</vt:lpstr>
      <vt:lpstr>PowerPoint Presentation</vt:lpstr>
      <vt:lpstr>TÌNH TRẠNG KỸ THUẬT ĐỘI BAY – A320/A321</vt:lpstr>
      <vt:lpstr>TÌNH TRẠNG KỸ THUẬT ĐỘI BAY – A320/A321</vt:lpstr>
      <vt:lpstr>PowerPoint Presentation</vt:lpstr>
      <vt:lpstr>TÌNH TRẠNG KỸ THUẬT ĐỘI BAY – A350</vt:lpstr>
      <vt:lpstr>PowerPoint Presentation</vt:lpstr>
      <vt:lpstr>TÌNH TRẠNG KỸ THUẬT ĐỘI BAY – B787</vt:lpstr>
      <vt:lpstr>TÌNH TRẠNG KỸ THUẬT ĐỘI BAY – B787</vt:lpstr>
      <vt:lpstr>PowerPoint Presentation</vt:lpstr>
      <vt:lpstr>PowerPoint Presentation</vt:lpstr>
      <vt:lpstr>PowerPoint Presentation</vt:lpstr>
      <vt:lpstr>TÌNH TRẠNG KỸ THUẬT ĐỘI BAY – ATR72</vt:lpstr>
      <vt:lpstr>DISPATCH RELIABILITY W20 (12/05/2025-18/05/2025)</vt:lpstr>
      <vt:lpstr>CÁC CÔNG VIỆC TRỌNG ĐIỂM TRONG TUẦN</vt:lpstr>
      <vt:lpstr>CÁC CÔNG VIỆC TRỌNG ĐIỂM TRONG TUẦN</vt:lpstr>
      <vt:lpstr>CÁC CÔNG VIỆC TRỌNG ĐIỂM</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(BDĐK)</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vt:lpstr>
      <vt:lpstr>TÌNH TRẠNG APU LRU A321 </vt:lpstr>
      <vt:lpstr>A321 CÁC VẬT TƯ VƯỚNG MẮC KHÁC</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11891</cp:revision>
  <cp:lastPrinted>2019-03-27T09:25:07Z</cp:lastPrinted>
  <dcterms:created xsi:type="dcterms:W3CDTF">2018-12-27T04:50:36Z</dcterms:created>
  <dcterms:modified xsi:type="dcterms:W3CDTF">2025-05-18T12:55:37Z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