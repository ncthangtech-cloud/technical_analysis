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4.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7.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5.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6.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7.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5.xml" ContentType="application/vnd.openxmlformats-officedocument.drawingml.chart+xml"/>
  <Override PartName="/ppt/theme/themeOverride7.xml" ContentType="application/vnd.openxmlformats-officedocument.themeOverride+xml"/>
  <Override PartName="/ppt/notesSlides/notesSlide33.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8.xml" ContentType="application/vnd.openxmlformats-officedocument.themeOverride+xml"/>
  <Override PartName="/ppt/notesSlides/notesSlide34.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9.xml" ContentType="application/vnd.openxmlformats-officedocument.themeOverride+xml"/>
  <Override PartName="/ppt/notesSlides/notesSlide35.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10.xml" ContentType="application/vnd.openxmlformats-officedocument.themeOverr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717" r:id="rId5"/>
    <p:sldMasterId id="2147483727" r:id="rId6"/>
  </p:sldMasterIdLst>
  <p:notesMasterIdLst>
    <p:notesMasterId r:id="rId72"/>
  </p:notesMasterIdLst>
  <p:sldIdLst>
    <p:sldId id="11486" r:id="rId7"/>
    <p:sldId id="11487" r:id="rId8"/>
    <p:sldId id="11488" r:id="rId9"/>
    <p:sldId id="11838" r:id="rId10"/>
    <p:sldId id="11870" r:id="rId11"/>
    <p:sldId id="11492" r:id="rId12"/>
    <p:sldId id="11493" r:id="rId13"/>
    <p:sldId id="11840" r:id="rId14"/>
    <p:sldId id="11841" r:id="rId15"/>
    <p:sldId id="11842" r:id="rId16"/>
    <p:sldId id="11843" r:id="rId17"/>
    <p:sldId id="11844" r:id="rId18"/>
    <p:sldId id="11505" r:id="rId19"/>
    <p:sldId id="11804" r:id="rId20"/>
    <p:sldId id="11864" r:id="rId21"/>
    <p:sldId id="11848" r:id="rId22"/>
    <p:sldId id="11866" r:id="rId23"/>
    <p:sldId id="11868" r:id="rId24"/>
    <p:sldId id="11847" r:id="rId25"/>
    <p:sldId id="11869" r:id="rId26"/>
    <p:sldId id="11849" r:id="rId27"/>
    <p:sldId id="11850" r:id="rId28"/>
    <p:sldId id="11808" r:id="rId29"/>
    <p:sldId id="11851" r:id="rId30"/>
    <p:sldId id="11852" r:id="rId31"/>
    <p:sldId id="11853" r:id="rId32"/>
    <p:sldId id="11854" r:id="rId33"/>
    <p:sldId id="11855" r:id="rId34"/>
    <p:sldId id="11856" r:id="rId35"/>
    <p:sldId id="11857" r:id="rId36"/>
    <p:sldId id="11858" r:id="rId37"/>
    <p:sldId id="11859" r:id="rId38"/>
    <p:sldId id="11860" r:id="rId39"/>
    <p:sldId id="11861" r:id="rId40"/>
    <p:sldId id="11862" r:id="rId41"/>
    <p:sldId id="11863" r:id="rId42"/>
    <p:sldId id="11837" r:id="rId43"/>
    <p:sldId id="11833" r:id="rId44"/>
    <p:sldId id="11834" r:id="rId45"/>
    <p:sldId id="11835" r:id="rId46"/>
    <p:sldId id="11836" r:id="rId47"/>
    <p:sldId id="11545" r:id="rId48"/>
    <p:sldId id="11810" r:id="rId49"/>
    <p:sldId id="11811" r:id="rId50"/>
    <p:sldId id="11812" r:id="rId51"/>
    <p:sldId id="11813" r:id="rId52"/>
    <p:sldId id="11814" r:id="rId53"/>
    <p:sldId id="11815" r:id="rId54"/>
    <p:sldId id="11816" r:id="rId55"/>
    <p:sldId id="11817" r:id="rId56"/>
    <p:sldId id="11818" r:id="rId57"/>
    <p:sldId id="11819" r:id="rId58"/>
    <p:sldId id="11820" r:id="rId59"/>
    <p:sldId id="11821" r:id="rId60"/>
    <p:sldId id="11822" r:id="rId61"/>
    <p:sldId id="11823" r:id="rId62"/>
    <p:sldId id="11824" r:id="rId63"/>
    <p:sldId id="11825" r:id="rId64"/>
    <p:sldId id="11826" r:id="rId65"/>
    <p:sldId id="11827" r:id="rId66"/>
    <p:sldId id="11828" r:id="rId67"/>
    <p:sldId id="11829" r:id="rId68"/>
    <p:sldId id="11830" r:id="rId69"/>
    <p:sldId id="11831" r:id="rId70"/>
    <p:sldId id="11832" r:id="rId7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376" autoAdjust="0"/>
    <p:restoredTop sz="95337" autoAdjust="0"/>
  </p:normalViewPr>
  <p:slideViewPr>
    <p:cSldViewPr>
      <p:cViewPr varScale="1">
        <p:scale>
          <a:sx n="74" d="100"/>
          <a:sy n="74" d="100"/>
        </p:scale>
        <p:origin x="360" y="54"/>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theme" Target="theme/theme1.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P.MOC\B&#225;o%20c&#225;o%20tu&#7847;n\2025\W10\W10%20(03.03-09.03.2025).xlsx" TargetMode="External"/></Relationships>
</file>

<file path=ppt/charts/_rels/chart2.xml.rels><?xml version="1.0" encoding="UTF-8" standalone="yes"?>
<Relationships xmlns="http://schemas.openxmlformats.org/package/2006/relationships"><Relationship Id="rId2" Type="http://schemas.openxmlformats.org/officeDocument/2006/relationships/oleObject" Target="file:///D:\P.MOC\B&#225;o%20c&#225;o%20tu&#7847;n\2025\W10\W10%20(03.03-09.03.2025).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2" Type="http://schemas.openxmlformats.org/officeDocument/2006/relationships/oleObject" Target="file:///D:\P.MOC\B&#225;o%20c&#225;o%20tu&#7847;n\2025\W10\W10%20(03.03-09.03.2025).xlsx" TargetMode="External"/><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P.MOC\B&#225;o%20c&#225;o%20tu&#7847;n\2025\W10\W10%20(03.03-09.03.2025).xlsx" TargetMode="External"/></Relationships>
</file>

<file path=ppt/charts/_rels/chart5.xml.rels><?xml version="1.0" encoding="UTF-8" standalone="yes"?>
<Relationships xmlns="http://schemas.openxmlformats.org/package/2006/relationships"><Relationship Id="rId2" Type="http://schemas.openxmlformats.org/officeDocument/2006/relationships/oleObject" Target="file:///D:\P.MOC\B&#225;o%20c&#225;o%20tu&#7847;n\2025\W10\W10%20(03.03-09.03.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D:\P.MOC\B&#225;o%20c&#225;o%20tu&#7847;n\2025\W10\W10%20(03.03-09.03.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10\DR\DR-W10.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2" Type="http://schemas.openxmlformats.org/officeDocument/2006/relationships/oleObject" Target="file:///D:\P.MOC\B&#225;o%20c&#225;o%20tu&#7847;n\2025\W10\W10%20(03.03-09.03.2025).xlsx" TargetMode="External"/><Relationship Id="rId1" Type="http://schemas.openxmlformats.org/officeDocument/2006/relationships/themeOverride" Target="../theme/themeOverride7.xm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1</c:v>
                </c:pt>
                <c:pt idx="2">
                  <c:v>0</c:v>
                </c:pt>
                <c:pt idx="3">
                  <c:v>0</c:v>
                </c:pt>
                <c:pt idx="4">
                  <c:v>1</c:v>
                </c:pt>
                <c:pt idx="5">
                  <c:v>2</c:v>
                </c:pt>
              </c:numCache>
            </c:numRef>
          </c:val>
          <c:extLst xmlns:c15="http://schemas.microsoft.com/office/drawing/2012/chart">
            <c:ext xmlns:c16="http://schemas.microsoft.com/office/drawing/2014/chart" uri="{C3380CC4-5D6E-409C-BE32-E72D297353CC}">
              <c16:uniqueId val="{00000000-2121-4A9C-BC97-5ED82DF65BA1}"/>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2</c:v>
                </c:pt>
                <c:pt idx="2">
                  <c:v>0</c:v>
                </c:pt>
                <c:pt idx="3">
                  <c:v>0</c:v>
                </c:pt>
                <c:pt idx="4">
                  <c:v>0</c:v>
                </c:pt>
                <c:pt idx="5">
                  <c:v>2</c:v>
                </c:pt>
              </c:numCache>
            </c:numRef>
          </c:val>
          <c:extLst>
            <c:ext xmlns:c16="http://schemas.microsoft.com/office/drawing/2014/chart" uri="{C3380CC4-5D6E-409C-BE32-E72D297353CC}">
              <c16:uniqueId val="{00000001-2121-4A9C-BC97-5ED82DF65BA1}"/>
            </c:ext>
          </c:extLst>
        </c:ser>
        <c:dLbls>
          <c:dLblPos val="outEnd"/>
          <c:showLegendKey val="0"/>
          <c:showVal val="1"/>
          <c:showCatName val="0"/>
          <c:showSerName val="0"/>
          <c:showPercent val="0"/>
          <c:showBubbleSize val="0"/>
        </c:dLbls>
        <c:gapWidth val="219"/>
        <c:overlap val="-27"/>
        <c:axId val="318908544"/>
        <c:axId val="318912072"/>
        <c:extLst/>
      </c:barChart>
      <c:catAx>
        <c:axId val="318908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2072"/>
        <c:crosses val="autoZero"/>
        <c:auto val="1"/>
        <c:lblAlgn val="ctr"/>
        <c:lblOffset val="100"/>
        <c:noMultiLvlLbl val="0"/>
      </c:catAx>
      <c:valAx>
        <c:axId val="318912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08544"/>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12</c:v>
                </c:pt>
                <c:pt idx="2">
                  <c:v>0</c:v>
                </c:pt>
                <c:pt idx="3">
                  <c:v>0</c:v>
                </c:pt>
                <c:pt idx="4">
                  <c:v>0</c:v>
                </c:pt>
                <c:pt idx="5">
                  <c:v>12</c:v>
                </c:pt>
              </c:numCache>
            </c:numRef>
          </c:val>
          <c:extLst xmlns:c15="http://schemas.microsoft.com/office/drawing/2012/chart">
            <c:ext xmlns:c16="http://schemas.microsoft.com/office/drawing/2014/chart" uri="{C3380CC4-5D6E-409C-BE32-E72D297353CC}">
              <c16:uniqueId val="{00000000-AA22-4B94-8491-C77092B10AA1}"/>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4</c:v>
                </c:pt>
                <c:pt idx="2">
                  <c:v>0</c:v>
                </c:pt>
                <c:pt idx="3">
                  <c:v>2</c:v>
                </c:pt>
                <c:pt idx="4">
                  <c:v>1</c:v>
                </c:pt>
                <c:pt idx="5">
                  <c:v>7</c:v>
                </c:pt>
              </c:numCache>
            </c:numRef>
          </c:val>
          <c:extLst>
            <c:ext xmlns:c16="http://schemas.microsoft.com/office/drawing/2014/chart" uri="{C3380CC4-5D6E-409C-BE32-E72D297353CC}">
              <c16:uniqueId val="{00000001-AA22-4B94-8491-C77092B10AA1}"/>
            </c:ext>
          </c:extLst>
        </c:ser>
        <c:dLbls>
          <c:dLblPos val="outEnd"/>
          <c:showLegendKey val="0"/>
          <c:showVal val="1"/>
          <c:showCatName val="0"/>
          <c:showSerName val="0"/>
          <c:showPercent val="0"/>
          <c:showBubbleSize val="0"/>
        </c:dLbls>
        <c:gapWidth val="219"/>
        <c:overlap val="-27"/>
        <c:axId val="318750776"/>
        <c:axId val="318757832"/>
        <c:extLst/>
      </c:barChart>
      <c:catAx>
        <c:axId val="318750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8757832"/>
        <c:crosses val="autoZero"/>
        <c:auto val="1"/>
        <c:lblAlgn val="ctr"/>
        <c:lblOffset val="100"/>
        <c:noMultiLvlLbl val="0"/>
      </c:catAx>
      <c:valAx>
        <c:axId val="318757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8750776"/>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4</c:v>
                </c:pt>
                <c:pt idx="2">
                  <c:v>0</c:v>
                </c:pt>
                <c:pt idx="3">
                  <c:v>0</c:v>
                </c:pt>
                <c:pt idx="4">
                  <c:v>0</c:v>
                </c:pt>
                <c:pt idx="5">
                  <c:v>4</c:v>
                </c:pt>
              </c:numCache>
            </c:numRef>
          </c:val>
          <c:extLst xmlns:c15="http://schemas.microsoft.com/office/drawing/2012/chart">
            <c:ext xmlns:c16="http://schemas.microsoft.com/office/drawing/2014/chart" uri="{C3380CC4-5D6E-409C-BE32-E72D297353CC}">
              <c16:uniqueId val="{00000000-EB35-481A-9483-C23E45385B18}"/>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2</c:v>
                </c:pt>
                <c:pt idx="2">
                  <c:v>0</c:v>
                </c:pt>
                <c:pt idx="3">
                  <c:v>0</c:v>
                </c:pt>
                <c:pt idx="4">
                  <c:v>1</c:v>
                </c:pt>
                <c:pt idx="5">
                  <c:v>3</c:v>
                </c:pt>
              </c:numCache>
            </c:numRef>
          </c:val>
          <c:extLst>
            <c:ext xmlns:c16="http://schemas.microsoft.com/office/drawing/2014/chart" uri="{C3380CC4-5D6E-409C-BE32-E72D297353CC}">
              <c16:uniqueId val="{00000001-EB35-481A-9483-C23E45385B18}"/>
            </c:ext>
          </c:extLst>
        </c:ser>
        <c:dLbls>
          <c:showLegendKey val="0"/>
          <c:showVal val="0"/>
          <c:showCatName val="0"/>
          <c:showSerName val="0"/>
          <c:showPercent val="0"/>
          <c:showBubbleSize val="0"/>
        </c:dLbls>
        <c:gapWidth val="219"/>
        <c:overlap val="-27"/>
        <c:axId val="318757048"/>
        <c:axId val="318756656"/>
        <c:extLst/>
      </c:barChart>
      <c:catAx>
        <c:axId val="318757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756656"/>
        <c:crosses val="autoZero"/>
        <c:auto val="1"/>
        <c:lblAlgn val="ctr"/>
        <c:lblOffset val="100"/>
        <c:noMultiLvlLbl val="0"/>
      </c:catAx>
      <c:valAx>
        <c:axId val="318756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757048"/>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AC2A-41D3-9EE6-228ADE8EFC9E}"/>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1</c:v>
                </c:pt>
                <c:pt idx="2">
                  <c:v>0</c:v>
                </c:pt>
                <c:pt idx="3">
                  <c:v>0</c:v>
                </c:pt>
                <c:pt idx="4">
                  <c:v>0</c:v>
                </c:pt>
                <c:pt idx="5">
                  <c:v>1</c:v>
                </c:pt>
              </c:numCache>
            </c:numRef>
          </c:val>
          <c:extLst>
            <c:ext xmlns:c16="http://schemas.microsoft.com/office/drawing/2014/chart" uri="{C3380CC4-5D6E-409C-BE32-E72D297353CC}">
              <c16:uniqueId val="{00000001-AC2A-41D3-9EE6-228ADE8EFC9E}"/>
            </c:ext>
          </c:extLst>
        </c:ser>
        <c:dLbls>
          <c:showLegendKey val="0"/>
          <c:showVal val="0"/>
          <c:showCatName val="0"/>
          <c:showSerName val="0"/>
          <c:showPercent val="0"/>
          <c:showBubbleSize val="0"/>
        </c:dLbls>
        <c:gapWidth val="219"/>
        <c:overlap val="-27"/>
        <c:axId val="318911680"/>
        <c:axId val="318910504"/>
        <c:extLst/>
      </c:barChart>
      <c:catAx>
        <c:axId val="318911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0504"/>
        <c:crosses val="autoZero"/>
        <c:auto val="1"/>
        <c:lblAlgn val="ctr"/>
        <c:lblOffset val="100"/>
        <c:noMultiLvlLbl val="0"/>
      </c:catAx>
      <c:valAx>
        <c:axId val="318910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1680"/>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2B93-4712-AB93-32903D672261}"/>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numCache>
            </c:numRef>
          </c:val>
          <c:smooth val="0"/>
          <c:extLst>
            <c:ext xmlns:c16="http://schemas.microsoft.com/office/drawing/2014/chart" uri="{C3380CC4-5D6E-409C-BE32-E72D297353CC}">
              <c16:uniqueId val="{00000001-2B93-4712-AB93-32903D672261}"/>
            </c:ext>
          </c:extLst>
        </c:ser>
        <c:dLbls>
          <c:showLegendKey val="0"/>
          <c:showVal val="0"/>
          <c:showCatName val="0"/>
          <c:showSerName val="0"/>
          <c:showPercent val="0"/>
          <c:showBubbleSize val="0"/>
        </c:dLbls>
        <c:marker val="1"/>
        <c:smooth val="0"/>
        <c:axId val="265590648"/>
        <c:axId val="266798184"/>
      </c:lineChart>
      <c:catAx>
        <c:axId val="2655906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6798184"/>
        <c:crosses val="autoZero"/>
        <c:auto val="1"/>
        <c:lblAlgn val="ctr"/>
        <c:lblOffset val="100"/>
        <c:noMultiLvlLbl val="0"/>
      </c:catAx>
      <c:valAx>
        <c:axId val="2667981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5590648"/>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7494-4A6B-8AF6-604CEF0D7F6D}"/>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numCache>
            </c:numRef>
          </c:val>
          <c:smooth val="0"/>
          <c:extLst>
            <c:ext xmlns:c16="http://schemas.microsoft.com/office/drawing/2014/chart" uri="{C3380CC4-5D6E-409C-BE32-E72D297353CC}">
              <c16:uniqueId val="{00000001-7494-4A6B-8AF6-604CEF0D7F6D}"/>
            </c:ext>
          </c:extLst>
        </c:ser>
        <c:dLbls>
          <c:showLegendKey val="0"/>
          <c:showVal val="0"/>
          <c:showCatName val="0"/>
          <c:showSerName val="0"/>
          <c:showPercent val="0"/>
          <c:showBubbleSize val="0"/>
        </c:dLbls>
        <c:marker val="1"/>
        <c:smooth val="0"/>
        <c:axId val="317742616"/>
        <c:axId val="317745056"/>
      </c:lineChart>
      <c:catAx>
        <c:axId val="31774261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7745056"/>
        <c:crosses val="autoZero"/>
        <c:auto val="1"/>
        <c:lblAlgn val="ctr"/>
        <c:lblOffset val="100"/>
        <c:noMultiLvlLbl val="0"/>
      </c:catAx>
      <c:valAx>
        <c:axId val="31774505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77426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W09</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6195-4BCC-97DE-E4092665B52F}"/>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99.444724886421</c:v>
                </c:pt>
                <c:pt idx="1">
                  <c:v>100</c:v>
                </c:pt>
                <c:pt idx="2">
                  <c:v>100</c:v>
                </c:pt>
                <c:pt idx="3">
                  <c:v>100</c:v>
                </c:pt>
              </c:numCache>
            </c:numRef>
          </c:val>
          <c:extLst>
            <c:ext xmlns:c16="http://schemas.microsoft.com/office/drawing/2014/chart" uri="{C3380CC4-5D6E-409C-BE32-E72D297353CC}">
              <c16:uniqueId val="{00000001-6195-4BCC-97DE-E4092665B52F}"/>
            </c:ext>
          </c:extLst>
        </c:ser>
        <c:ser>
          <c:idx val="1"/>
          <c:order val="1"/>
          <c:tx>
            <c:strRef>
              <c:f>DR!$D$3</c:f>
              <c:strCache>
                <c:ptCount val="1"/>
                <c:pt idx="0">
                  <c:v>W10</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99.848637739656908</c:v>
                </c:pt>
                <c:pt idx="1">
                  <c:v>99.470899470899468</c:v>
                </c:pt>
                <c:pt idx="2">
                  <c:v>99.682539682539684</c:v>
                </c:pt>
                <c:pt idx="3">
                  <c:v>99.6</c:v>
                </c:pt>
              </c:numCache>
            </c:numRef>
          </c:val>
          <c:extLst>
            <c:ext xmlns:c16="http://schemas.microsoft.com/office/drawing/2014/chart" uri="{C3380CC4-5D6E-409C-BE32-E72D297353CC}">
              <c16:uniqueId val="{00000002-6195-4BCC-97DE-E4092665B52F}"/>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6195-4BCC-97DE-E4092665B52F}"/>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6195-4BCC-97DE-E4092665B52F}"/>
            </c:ext>
          </c:extLst>
        </c:ser>
        <c:dLbls>
          <c:showLegendKey val="0"/>
          <c:showVal val="0"/>
          <c:showCatName val="0"/>
          <c:showSerName val="0"/>
          <c:showPercent val="0"/>
          <c:showBubbleSize val="0"/>
        </c:dLbls>
        <c:gapWidth val="219"/>
        <c:overlap val="-27"/>
        <c:axId val="-592881696"/>
        <c:axId val="-592887680"/>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6195-4BCC-97DE-E4092665B52F}"/>
                  </c:ext>
                </c:extLst>
              </c15:ser>
            </c15:filteredBarSeries>
          </c:ext>
        </c:extLst>
      </c:barChart>
      <c:catAx>
        <c:axId val="-592881696"/>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592887680"/>
        <c:crosses val="autoZero"/>
        <c:auto val="1"/>
        <c:lblAlgn val="ctr"/>
        <c:lblOffset val="100"/>
        <c:noMultiLvlLbl val="0"/>
      </c:catAx>
      <c:valAx>
        <c:axId val="-592887680"/>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592881696"/>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8.5</c:v>
                </c:pt>
                <c:pt idx="2">
                  <c:v>8</c:v>
                </c:pt>
                <c:pt idx="3">
                  <c:v>7</c:v>
                </c:pt>
                <c:pt idx="4">
                  <c:v>6</c:v>
                </c:pt>
                <c:pt idx="5">
                  <c:v>4</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28.5</c:v>
                </c:pt>
                <c:pt idx="1">
                  <c:v>27.5</c:v>
                </c:pt>
                <c:pt idx="2">
                  <c:v>29.25</c:v>
                </c:pt>
                <c:pt idx="3">
                  <c:v>27.5</c:v>
                </c:pt>
                <c:pt idx="4">
                  <c:v>25.25</c:v>
                </c:pt>
                <c:pt idx="5">
                  <c:v>22</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Sheet1!$D$8:$AM$8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Sheet1!$D$9:$AM$9</c:f>
              <c:numCache>
                <c:formatCode>General</c:formatCode>
                <c:ptCount val="12"/>
                <c:pt idx="0">
                  <c:v>26</c:v>
                </c:pt>
                <c:pt idx="1">
                  <c:v>26</c:v>
                </c:pt>
                <c:pt idx="2">
                  <c:v>30</c:v>
                </c:pt>
                <c:pt idx="3">
                  <c:v>29</c:v>
                </c:pt>
                <c:pt idx="4">
                  <c:v>30</c:v>
                </c:pt>
                <c:pt idx="5">
                  <c:v>29</c:v>
                </c:pt>
                <c:pt idx="6">
                  <c:v>29</c:v>
                </c:pt>
                <c:pt idx="7">
                  <c:v>29</c:v>
                </c:pt>
                <c:pt idx="8">
                  <c:v>29</c:v>
                </c:pt>
                <c:pt idx="9">
                  <c:v>28</c:v>
                </c:pt>
                <c:pt idx="10">
                  <c:v>27</c:v>
                </c:pt>
                <c:pt idx="11">
                  <c:v>26</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Sheet1!$D$10:$AM$10</c:f>
              <c:numCache>
                <c:formatCode>General</c:formatCode>
                <c:ptCount val="12"/>
                <c:pt idx="0">
                  <c:v>8</c:v>
                </c:pt>
                <c:pt idx="1">
                  <c:v>8</c:v>
                </c:pt>
                <c:pt idx="2">
                  <c:v>9</c:v>
                </c:pt>
                <c:pt idx="3">
                  <c:v>8</c:v>
                </c:pt>
                <c:pt idx="4">
                  <c:v>8</c:v>
                </c:pt>
                <c:pt idx="5">
                  <c:v>8</c:v>
                </c:pt>
                <c:pt idx="6">
                  <c:v>8</c:v>
                </c:pt>
                <c:pt idx="7">
                  <c:v>7</c:v>
                </c:pt>
                <c:pt idx="8">
                  <c:v>8</c:v>
                </c:pt>
                <c:pt idx="9">
                  <c:v>8</c:v>
                </c:pt>
                <c:pt idx="10">
                  <c:v>7</c:v>
                </c:pt>
                <c:pt idx="11">
                  <c:v>7</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Sheet1!$D$11:$AM$11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Sheet1!$D$12:$AM$12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KB tốt + giữ giờ</c:v>
                </c:pt>
              </c:strCache>
            </c:strRef>
          </c:tx>
          <c:spPr>
            <a:ln w="31750" cap="rnd">
              <a:solidFill>
                <a:srgbClr val="FF0000"/>
              </a:solidFill>
              <a:round/>
            </a:ln>
            <a:effectLst/>
          </c:spPr>
          <c:marker>
            <c:symbol val="circle"/>
            <c:size val="27"/>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Sheet1!$D$8:$O$8</c:f>
              <c:numCache>
                <c:formatCode>General</c:formatCode>
                <c:ptCount val="12"/>
                <c:pt idx="0">
                  <c:v>14.25</c:v>
                </c:pt>
                <c:pt idx="1">
                  <c:v>13.75</c:v>
                </c:pt>
                <c:pt idx="2">
                  <c:v>15.25</c:v>
                </c:pt>
                <c:pt idx="3">
                  <c:v>14.5</c:v>
                </c:pt>
                <c:pt idx="4">
                  <c:v>14</c:v>
                </c:pt>
                <c:pt idx="5">
                  <c:v>12</c:v>
                </c:pt>
                <c:pt idx="6">
                  <c:v>11</c:v>
                </c:pt>
                <c:pt idx="7">
                  <c:v>11.5</c:v>
                </c:pt>
                <c:pt idx="8">
                  <c:v>12</c:v>
                </c:pt>
                <c:pt idx="9">
                  <c:v>12</c:v>
                </c:pt>
                <c:pt idx="10">
                  <c:v>12</c:v>
                </c:pt>
                <c:pt idx="11">
                  <c:v>11</c:v>
                </c:pt>
              </c:numCache>
            </c:numRef>
          </c:val>
          <c:smooth val="0"/>
          <c:extLst>
            <c:ext xmlns:c16="http://schemas.microsoft.com/office/drawing/2014/chart" uri="{C3380CC4-5D6E-409C-BE32-E72D297353CC}">
              <c16:uniqueId val="{00000000-004B-458A-8713-88F7F4F6F328}"/>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16"/>
          <c:min val="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majorUnit val="1"/>
      </c:valAx>
      <c:spPr>
        <a:noFill/>
        <a:ln>
          <a:noFill/>
        </a:ln>
        <a:effectLst/>
      </c:spPr>
    </c:plotArea>
    <c:legend>
      <c:legendPos val="b"/>
      <c:layout>
        <c:manualLayout>
          <c:xMode val="edge"/>
          <c:yMode val="edge"/>
          <c:x val="0.10266573533147068"/>
          <c:y val="0.71905697169733995"/>
          <c:w val="0.24463220726441454"/>
          <c:h val="7.8271204498086958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Sheet1!$G$1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Sheet1!$A$104:$A$115</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Sheet1!$G$104:$G$115</c:f>
              <c:numCache>
                <c:formatCode>General</c:formatCode>
                <c:ptCount val="12"/>
                <c:pt idx="0">
                  <c:v>17</c:v>
                </c:pt>
                <c:pt idx="1">
                  <c:v>17</c:v>
                </c:pt>
                <c:pt idx="2">
                  <c:v>17</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Sheet1!$B$9:$B$32</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Sheet1!$C$9:$C$32</c:f>
              <c:numCache>
                <c:formatCode>General</c:formatCode>
                <c:ptCount val="12"/>
                <c:pt idx="0">
                  <c:v>4</c:v>
                </c:pt>
                <c:pt idx="1">
                  <c:v>4</c:v>
                </c:pt>
                <c:pt idx="2">
                  <c:v>4</c:v>
                </c:pt>
                <c:pt idx="3">
                  <c:v>4</c:v>
                </c:pt>
                <c:pt idx="4">
                  <c:v>4</c:v>
                </c:pt>
                <c:pt idx="5">
                  <c:v>4</c:v>
                </c:pt>
                <c:pt idx="6">
                  <c:v>4</c:v>
                </c:pt>
                <c:pt idx="7">
                  <c:v>4</c:v>
                </c:pt>
                <c:pt idx="8">
                  <c:v>3</c:v>
                </c:pt>
                <c:pt idx="9">
                  <c:v>3</c:v>
                </c:pt>
                <c:pt idx="10">
                  <c:v>3</c:v>
                </c:pt>
                <c:pt idx="11">
                  <c:v>3</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6"/>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strRef>
              <c:f>'Nguồn lực'!$B$5</c:f>
              <c:strCache>
                <c:ptCount val="1"/>
                <c:pt idx="0">
                  <c:v>KB tốt + giữ giờ</c:v>
                </c:pt>
              </c:strCache>
            </c:strRef>
          </c:tx>
          <c:spPr>
            <a:ln w="25400" cap="rnd">
              <a:solidFill>
                <a:srgbClr val="00B0F0"/>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lực'!$C$5:$AD$5</c:f>
              <c:numCache>
                <c:formatCode>[=0]\ 0;0.##</c:formatCode>
                <c:ptCount val="12"/>
                <c:pt idx="0">
                  <c:v>4</c:v>
                </c:pt>
                <c:pt idx="1">
                  <c:v>4</c:v>
                </c:pt>
                <c:pt idx="2">
                  <c:v>4</c:v>
                </c:pt>
                <c:pt idx="3">
                  <c:v>4</c:v>
                </c:pt>
                <c:pt idx="4">
                  <c:v>3</c:v>
                </c:pt>
                <c:pt idx="5">
                  <c:v>1.5</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2-4D65-4133-A13A-D06D51E9FDF7}"/>
            </c:ext>
          </c:extLst>
        </c:ser>
        <c:dLbls>
          <c:showLegendKey val="0"/>
          <c:showVal val="1"/>
          <c:showCatName val="0"/>
          <c:showSerName val="0"/>
          <c:showPercent val="0"/>
          <c:showBubbleSize val="0"/>
        </c:dLbls>
        <c:marker val="1"/>
        <c:smooth val="0"/>
        <c:axId val="751032904"/>
        <c:axId val="751033624"/>
      </c:lineChart>
      <c:catAx>
        <c:axId val="75103290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751033624"/>
        <c:crosses val="autoZero"/>
        <c:auto val="1"/>
        <c:lblAlgn val="ctr"/>
        <c:lblOffset val="100"/>
        <c:noMultiLvlLbl val="0"/>
      </c:catAx>
      <c:valAx>
        <c:axId val="751033624"/>
        <c:scaling>
          <c:orientation val="minMax"/>
        </c:scaling>
        <c:delete val="0"/>
        <c:axPos val="l"/>
        <c:majorGridlines>
          <c:spPr>
            <a:ln w="9525" cap="flat" cmpd="sng" algn="ctr">
              <a:solidFill>
                <a:schemeClr val="tx1">
                  <a:lumMod val="15000"/>
                  <a:lumOff val="85000"/>
                </a:schemeClr>
              </a:solidFill>
              <a:round/>
            </a:ln>
            <a:effectLst/>
          </c:spPr>
        </c:majorGridlines>
        <c:numFmt formatCode="[=0]\ 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751032904"/>
        <c:crosses val="autoZero"/>
        <c:crossBetween val="between"/>
        <c:majorUnit val="1"/>
      </c:valAx>
      <c:spPr>
        <a:noFill/>
        <a:ln>
          <a:noFill/>
        </a:ln>
        <a:effectLst/>
      </c:spPr>
    </c:plotArea>
    <c:legend>
      <c:legendPos val="b"/>
      <c:layout>
        <c:manualLayout>
          <c:xMode val="edge"/>
          <c:yMode val="edge"/>
          <c:x val="0.15144093610372283"/>
          <c:y val="0.93521153495255305"/>
          <c:w val="0.75508914228530799"/>
          <c:h val="5.1455128914462765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3</c:v>
                </c:pt>
                <c:pt idx="2">
                  <c:v>3</c:v>
                </c:pt>
                <c:pt idx="3">
                  <c:v>2</c:v>
                </c:pt>
                <c:pt idx="4">
                  <c:v>0</c:v>
                </c:pt>
                <c:pt idx="5" formatCode="0">
                  <c:v>8</c:v>
                </c:pt>
              </c:numCache>
            </c:numRef>
          </c:val>
          <c:extLst>
            <c:ext xmlns:c16="http://schemas.microsoft.com/office/drawing/2014/chart" uri="{C3380CC4-5D6E-409C-BE32-E72D297353CC}">
              <c16:uniqueId val="{00000000-98F3-4393-A3C5-263D85CB4C44}"/>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6</c:v>
                </c:pt>
                <c:pt idx="2">
                  <c:v>1</c:v>
                </c:pt>
                <c:pt idx="3">
                  <c:v>4</c:v>
                </c:pt>
                <c:pt idx="4">
                  <c:v>0</c:v>
                </c:pt>
                <c:pt idx="5" formatCode="0">
                  <c:v>11</c:v>
                </c:pt>
              </c:numCache>
            </c:numRef>
          </c:val>
          <c:extLst>
            <c:ext xmlns:c16="http://schemas.microsoft.com/office/drawing/2014/chart" uri="{C3380CC4-5D6E-409C-BE32-E72D297353CC}">
              <c16:uniqueId val="{00000001-98F3-4393-A3C5-263D85CB4C44}"/>
            </c:ext>
          </c:extLst>
        </c:ser>
        <c:dLbls>
          <c:showLegendKey val="0"/>
          <c:showVal val="0"/>
          <c:showCatName val="0"/>
          <c:showSerName val="0"/>
          <c:showPercent val="0"/>
          <c:showBubbleSize val="0"/>
        </c:dLbls>
        <c:gapWidth val="150"/>
        <c:axId val="318754304"/>
        <c:axId val="318751168"/>
      </c:barChart>
      <c:catAx>
        <c:axId val="318754304"/>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18751168"/>
        <c:crosses val="autoZero"/>
        <c:auto val="1"/>
        <c:lblAlgn val="ctr"/>
        <c:lblOffset val="100"/>
        <c:noMultiLvlLbl val="0"/>
      </c:catAx>
      <c:valAx>
        <c:axId val="318751168"/>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18754304"/>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6.5198010510510551E-2</c:v>
                </c:pt>
                <c:pt idx="1">
                  <c:v>7.9647904483430967E-2</c:v>
                </c:pt>
                <c:pt idx="2">
                  <c:v>8.2583054159687377E-2</c:v>
                </c:pt>
                <c:pt idx="3">
                  <c:v>0.17590277777777774</c:v>
                </c:pt>
                <c:pt idx="4">
                  <c:v>0.27211654589371997</c:v>
                </c:pt>
                <c:pt idx="5">
                  <c:v>0.28009259259259267</c:v>
                </c:pt>
                <c:pt idx="6">
                  <c:v>0.17834595959595959</c:v>
                </c:pt>
                <c:pt idx="7">
                  <c:v>0.13953703703703715</c:v>
                </c:pt>
                <c:pt idx="8">
                  <c:v>4.3430335097001817E-2</c:v>
                </c:pt>
              </c:numCache>
            </c:numRef>
          </c:val>
          <c:extLst>
            <c:ext xmlns:c16="http://schemas.microsoft.com/office/drawing/2014/chart" uri="{C3380CC4-5D6E-409C-BE32-E72D297353CC}">
              <c16:uniqueId val="{00000000-CEA1-4A71-A4DA-8D10EF62C3F9}"/>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6.4822796934865909E-2</c:v>
                </c:pt>
                <c:pt idx="1">
                  <c:v>7.8529625025896124E-2</c:v>
                </c:pt>
                <c:pt idx="2">
                  <c:v>9.145447530864205E-2</c:v>
                </c:pt>
                <c:pt idx="3">
                  <c:v>0.18947285353535348</c:v>
                </c:pt>
                <c:pt idx="4">
                  <c:v>0.29287190082644643</c:v>
                </c:pt>
                <c:pt idx="5">
                  <c:v>0.25777986633249805</c:v>
                </c:pt>
                <c:pt idx="6">
                  <c:v>0.15884121061359865</c:v>
                </c:pt>
                <c:pt idx="7">
                  <c:v>0.14643922445935886</c:v>
                </c:pt>
                <c:pt idx="8">
                  <c:v>4.3402777777777811E-2</c:v>
                </c:pt>
              </c:numCache>
            </c:numRef>
          </c:val>
          <c:extLst>
            <c:ext xmlns:c16="http://schemas.microsoft.com/office/drawing/2014/chart" uri="{C3380CC4-5D6E-409C-BE32-E72D297353CC}">
              <c16:uniqueId val="{00000001-CEA1-4A71-A4DA-8D10EF62C3F9}"/>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7.0476190476190483</c:v>
                </c:pt>
                <c:pt idx="1">
                  <c:v>5.4285714285714288</c:v>
                </c:pt>
                <c:pt idx="2">
                  <c:v>5.6857142857142851</c:v>
                </c:pt>
                <c:pt idx="3">
                  <c:v>2.6857142857142859</c:v>
                </c:pt>
                <c:pt idx="4">
                  <c:v>2.8125</c:v>
                </c:pt>
                <c:pt idx="5">
                  <c:v>7.2000000000000011</c:v>
                </c:pt>
              </c:numCache>
            </c:numRef>
          </c:val>
          <c:extLst>
            <c:ext xmlns:c16="http://schemas.microsoft.com/office/drawing/2014/chart" uri="{C3380CC4-5D6E-409C-BE32-E72D297353CC}">
              <c16:uniqueId val="{00000000-AB53-4398-A2AF-8E7989540D52}"/>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6.9047619047619051</c:v>
                </c:pt>
                <c:pt idx="1">
                  <c:v>6.0488721804511281</c:v>
                </c:pt>
                <c:pt idx="2">
                  <c:v>5.1428571428571441</c:v>
                </c:pt>
                <c:pt idx="3">
                  <c:v>2.3571428571428572</c:v>
                </c:pt>
                <c:pt idx="4">
                  <c:v>2.9327731092436973</c:v>
                </c:pt>
                <c:pt idx="5">
                  <c:v>7.0857142857142863</c:v>
                </c:pt>
              </c:numCache>
            </c:numRef>
          </c:val>
          <c:extLst>
            <c:ext xmlns:c16="http://schemas.microsoft.com/office/drawing/2014/chart" uri="{C3380CC4-5D6E-409C-BE32-E72D297353CC}">
              <c16:uniqueId val="{00000001-AB53-4398-A2AF-8E7989540D52}"/>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1964-48A4-83D5-0B2619ADA5A2}"/>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1964-48A4-83D5-0B2619ADA5A2}"/>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1964-48A4-83D5-0B2619ADA5A2}"/>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1964-48A4-83D5-0B2619ADA5A2}"/>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1964-48A4-83D5-0B2619ADA5A2}"/>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1964-48A4-83D5-0B2619ADA5A2}"/>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1964-48A4-83D5-0B2619ADA5A2}"/>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1964-48A4-83D5-0B2619ADA5A2}"/>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Week!$B$35:$BQ$35</c:f>
              <c:numCache>
                <c:formatCode>d\-mmm</c:formatCode>
                <c:ptCount val="68"/>
                <c:pt idx="0">
                  <c:v>45719</c:v>
                </c:pt>
                <c:pt idx="1">
                  <c:v>45720</c:v>
                </c:pt>
                <c:pt idx="2">
                  <c:v>45721</c:v>
                </c:pt>
                <c:pt idx="3">
                  <c:v>45722</c:v>
                </c:pt>
                <c:pt idx="4">
                  <c:v>45723</c:v>
                </c:pt>
                <c:pt idx="5">
                  <c:v>45724</c:v>
                </c:pt>
                <c:pt idx="6">
                  <c:v>45725</c:v>
                </c:pt>
                <c:pt idx="7">
                  <c:v>45726</c:v>
                </c:pt>
                <c:pt idx="8">
                  <c:v>45727</c:v>
                </c:pt>
                <c:pt idx="9">
                  <c:v>45728</c:v>
                </c:pt>
                <c:pt idx="10">
                  <c:v>45729</c:v>
                </c:pt>
                <c:pt idx="11">
                  <c:v>45730</c:v>
                </c:pt>
                <c:pt idx="12">
                  <c:v>45731</c:v>
                </c:pt>
                <c:pt idx="13">
                  <c:v>45732</c:v>
                </c:pt>
                <c:pt idx="14">
                  <c:v>45733</c:v>
                </c:pt>
                <c:pt idx="15">
                  <c:v>45734</c:v>
                </c:pt>
                <c:pt idx="16">
                  <c:v>45735</c:v>
                </c:pt>
                <c:pt idx="17">
                  <c:v>45736</c:v>
                </c:pt>
                <c:pt idx="18">
                  <c:v>45737</c:v>
                </c:pt>
                <c:pt idx="19">
                  <c:v>45738</c:v>
                </c:pt>
                <c:pt idx="20">
                  <c:v>45739</c:v>
                </c:pt>
                <c:pt idx="21">
                  <c:v>45740</c:v>
                </c:pt>
                <c:pt idx="22">
                  <c:v>45741</c:v>
                </c:pt>
                <c:pt idx="23">
                  <c:v>45742</c:v>
                </c:pt>
                <c:pt idx="24">
                  <c:v>45743</c:v>
                </c:pt>
                <c:pt idx="25">
                  <c:v>45744</c:v>
                </c:pt>
                <c:pt idx="26">
                  <c:v>45745</c:v>
                </c:pt>
                <c:pt idx="27">
                  <c:v>45746</c:v>
                </c:pt>
                <c:pt idx="28">
                  <c:v>45747</c:v>
                </c:pt>
                <c:pt idx="29">
                  <c:v>45748</c:v>
                </c:pt>
                <c:pt idx="30">
                  <c:v>45749</c:v>
                </c:pt>
                <c:pt idx="31">
                  <c:v>45750</c:v>
                </c:pt>
                <c:pt idx="32">
                  <c:v>45751</c:v>
                </c:pt>
                <c:pt idx="33">
                  <c:v>45752</c:v>
                </c:pt>
                <c:pt idx="34">
                  <c:v>45753</c:v>
                </c:pt>
                <c:pt idx="35">
                  <c:v>45754</c:v>
                </c:pt>
                <c:pt idx="36">
                  <c:v>45755</c:v>
                </c:pt>
                <c:pt idx="37">
                  <c:v>45756</c:v>
                </c:pt>
                <c:pt idx="38">
                  <c:v>45757</c:v>
                </c:pt>
                <c:pt idx="39">
                  <c:v>45758</c:v>
                </c:pt>
                <c:pt idx="40">
                  <c:v>45759</c:v>
                </c:pt>
                <c:pt idx="41">
                  <c:v>45760</c:v>
                </c:pt>
                <c:pt idx="42">
                  <c:v>45761</c:v>
                </c:pt>
                <c:pt idx="43">
                  <c:v>45762</c:v>
                </c:pt>
                <c:pt idx="44">
                  <c:v>45763</c:v>
                </c:pt>
                <c:pt idx="45">
                  <c:v>45764</c:v>
                </c:pt>
                <c:pt idx="46">
                  <c:v>45765</c:v>
                </c:pt>
                <c:pt idx="47">
                  <c:v>45766</c:v>
                </c:pt>
                <c:pt idx="48">
                  <c:v>45767</c:v>
                </c:pt>
                <c:pt idx="49">
                  <c:v>45768</c:v>
                </c:pt>
                <c:pt idx="50">
                  <c:v>45769</c:v>
                </c:pt>
                <c:pt idx="51">
                  <c:v>45770</c:v>
                </c:pt>
                <c:pt idx="52">
                  <c:v>45771</c:v>
                </c:pt>
                <c:pt idx="53">
                  <c:v>45772</c:v>
                </c:pt>
                <c:pt idx="54">
                  <c:v>45773</c:v>
                </c:pt>
                <c:pt idx="55">
                  <c:v>45774</c:v>
                </c:pt>
                <c:pt idx="56">
                  <c:v>45775</c:v>
                </c:pt>
                <c:pt idx="57">
                  <c:v>45776</c:v>
                </c:pt>
                <c:pt idx="58">
                  <c:v>45777</c:v>
                </c:pt>
              </c:numCache>
            </c:numRef>
          </c:cat>
          <c:val>
            <c:numRef>
              <c:f>Week!$B$36:$BQ$36</c:f>
              <c:numCache>
                <c:formatCode>General</c:formatCode>
                <c:ptCount val="68"/>
                <c:pt idx="0">
                  <c:v>385</c:v>
                </c:pt>
                <c:pt idx="1">
                  <c:v>375</c:v>
                </c:pt>
                <c:pt idx="2">
                  <c:v>391</c:v>
                </c:pt>
                <c:pt idx="3">
                  <c:v>385</c:v>
                </c:pt>
                <c:pt idx="4">
                  <c:v>401</c:v>
                </c:pt>
                <c:pt idx="5">
                  <c:v>391</c:v>
                </c:pt>
                <c:pt idx="6">
                  <c:v>408</c:v>
                </c:pt>
                <c:pt idx="7">
                  <c:v>397</c:v>
                </c:pt>
                <c:pt idx="8">
                  <c:v>387</c:v>
                </c:pt>
                <c:pt idx="9">
                  <c:v>396</c:v>
                </c:pt>
                <c:pt idx="10">
                  <c:v>405</c:v>
                </c:pt>
                <c:pt idx="11">
                  <c:v>418</c:v>
                </c:pt>
                <c:pt idx="12">
                  <c:v>419</c:v>
                </c:pt>
                <c:pt idx="13">
                  <c:v>421</c:v>
                </c:pt>
                <c:pt idx="14">
                  <c:v>400</c:v>
                </c:pt>
                <c:pt idx="15">
                  <c:v>400</c:v>
                </c:pt>
                <c:pt idx="16">
                  <c:v>404</c:v>
                </c:pt>
                <c:pt idx="17">
                  <c:v>398</c:v>
                </c:pt>
                <c:pt idx="18">
                  <c:v>421</c:v>
                </c:pt>
                <c:pt idx="19">
                  <c:v>398</c:v>
                </c:pt>
                <c:pt idx="20">
                  <c:v>410</c:v>
                </c:pt>
                <c:pt idx="21">
                  <c:v>400</c:v>
                </c:pt>
                <c:pt idx="22">
                  <c:v>390</c:v>
                </c:pt>
                <c:pt idx="23">
                  <c:v>404</c:v>
                </c:pt>
                <c:pt idx="24">
                  <c:v>405</c:v>
                </c:pt>
                <c:pt idx="25">
                  <c:v>418</c:v>
                </c:pt>
                <c:pt idx="26">
                  <c:v>411</c:v>
                </c:pt>
                <c:pt idx="27">
                  <c:v>419</c:v>
                </c:pt>
                <c:pt idx="28">
                  <c:v>419</c:v>
                </c:pt>
                <c:pt idx="29">
                  <c:v>388</c:v>
                </c:pt>
                <c:pt idx="30">
                  <c:v>403</c:v>
                </c:pt>
                <c:pt idx="31">
                  <c:v>397</c:v>
                </c:pt>
                <c:pt idx="32">
                  <c:v>433</c:v>
                </c:pt>
                <c:pt idx="33">
                  <c:v>442</c:v>
                </c:pt>
                <c:pt idx="34">
                  <c:v>437</c:v>
                </c:pt>
                <c:pt idx="35">
                  <c:v>455</c:v>
                </c:pt>
                <c:pt idx="36">
                  <c:v>435</c:v>
                </c:pt>
                <c:pt idx="37">
                  <c:v>406</c:v>
                </c:pt>
                <c:pt idx="38">
                  <c:v>413</c:v>
                </c:pt>
                <c:pt idx="39">
                  <c:v>428</c:v>
                </c:pt>
                <c:pt idx="40">
                  <c:v>407</c:v>
                </c:pt>
                <c:pt idx="41">
                  <c:v>415</c:v>
                </c:pt>
                <c:pt idx="42">
                  <c:v>410</c:v>
                </c:pt>
                <c:pt idx="43">
                  <c:v>394</c:v>
                </c:pt>
                <c:pt idx="44">
                  <c:v>409</c:v>
                </c:pt>
                <c:pt idx="45">
                  <c:v>412</c:v>
                </c:pt>
                <c:pt idx="46">
                  <c:v>417</c:v>
                </c:pt>
                <c:pt idx="47">
                  <c:v>410</c:v>
                </c:pt>
                <c:pt idx="48">
                  <c:v>435</c:v>
                </c:pt>
                <c:pt idx="49">
                  <c:v>424</c:v>
                </c:pt>
                <c:pt idx="50">
                  <c:v>397</c:v>
                </c:pt>
                <c:pt idx="51">
                  <c:v>407</c:v>
                </c:pt>
                <c:pt idx="52">
                  <c:v>413</c:v>
                </c:pt>
                <c:pt idx="53">
                  <c:v>424</c:v>
                </c:pt>
                <c:pt idx="54">
                  <c:v>444</c:v>
                </c:pt>
                <c:pt idx="55">
                  <c:v>458</c:v>
                </c:pt>
                <c:pt idx="56">
                  <c:v>430</c:v>
                </c:pt>
                <c:pt idx="57">
                  <c:v>431</c:v>
                </c:pt>
                <c:pt idx="58">
                  <c:v>451</c:v>
                </c:pt>
              </c:numCache>
            </c:numRef>
          </c:val>
          <c:extLst>
            <c:ext xmlns:c16="http://schemas.microsoft.com/office/drawing/2014/chart" uri="{C3380CC4-5D6E-409C-BE32-E72D297353CC}">
              <c16:uniqueId val="{00000010-1964-48A4-83D5-0B2619ADA5A2}"/>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480"/>
          <c:min val="30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3/9/2025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367777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833713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sp>
      <p:sp>
        <p:nvSpPr>
          <p:cNvPr id="1048600" name="Notes Placeholder 2"/>
          <p:cNvSpPr>
            <a:spLocks noGrp="1"/>
          </p:cNvSpPr>
          <p:nvPr>
            <p:ph type="body" idx="1"/>
          </p:nvPr>
        </p:nvSpPr>
        <p:spPr/>
        <p:txBody>
          <a:bodyPr/>
          <a:lstStyle/>
          <a:p>
            <a:endParaRPr lang="en-US" dirty="0"/>
          </a:p>
        </p:txBody>
      </p:sp>
      <p:sp>
        <p:nvSpPr>
          <p:cNvPr id="1048601"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217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6</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80242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99253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E9B91E5-751B-B76A-D313-550ECA65DD4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3B2C99FF-465C-F7A0-E5D8-F36AC91D0A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AF1685F7-5BEB-1E18-E41D-8DF18D5C7CF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4038993-047E-B9CF-E9CB-8A97B5EE05F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03242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B27D9B9-3B34-001A-2F85-EB00DB45BC8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B116E18-334E-4C5C-04F3-88CF4950E1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0AC1F2D-F3D5-9FCF-562F-C1DD57FAE5A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56A3DC3-CB60-E040-735D-03413791BAF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70088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14-Dec </a:t>
            </a:r>
            <a:endParaRPr lang="en-US"/>
          </a:p>
        </p:txBody>
      </p:sp>
      <p:sp>
        <p:nvSpPr>
          <p:cNvPr id="4" name="Slide Number Placeholder 3"/>
          <p:cNvSpPr>
            <a:spLocks noGrp="1"/>
          </p:cNvSpPr>
          <p:nvPr>
            <p:ph type="sldNum" sz="quarter" idx="10"/>
          </p:nvPr>
        </p:nvSpPr>
        <p:spPr/>
        <p:txBody>
          <a:bodyPr/>
          <a:lstStyle/>
          <a:p>
            <a:fld id="{D27FAC9D-6C4D-45A1-835A-6091318B370B}" type="slidenum">
              <a:rPr lang="en-US" smtClean="0"/>
              <a:pPr/>
              <a:t>11</a:t>
            </a:fld>
            <a:endParaRPr lang="en-US" dirty="0"/>
          </a:p>
        </p:txBody>
      </p:sp>
    </p:spTree>
    <p:extLst>
      <p:ext uri="{BB962C8B-B14F-4D97-AF65-F5344CB8AC3E}">
        <p14:creationId xmlns:p14="http://schemas.microsoft.com/office/powerpoint/2010/main" val="2048282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12</a:t>
            </a:fld>
            <a:endParaRPr lang="en-US" altLang="en-US">
              <a:solidFill>
                <a:srgbClr val="000000"/>
              </a:solidFill>
            </a:endParaRPr>
          </a:p>
        </p:txBody>
      </p:sp>
    </p:spTree>
    <p:extLst>
      <p:ext uri="{BB962C8B-B14F-4D97-AF65-F5344CB8AC3E}">
        <p14:creationId xmlns:p14="http://schemas.microsoft.com/office/powerpoint/2010/main" val="4135933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13373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14</a:t>
            </a:fld>
            <a:endParaRPr/>
          </a:p>
        </p:txBody>
      </p:sp>
    </p:spTree>
    <p:extLst>
      <p:ext uri="{BB962C8B-B14F-4D97-AF65-F5344CB8AC3E}">
        <p14:creationId xmlns:p14="http://schemas.microsoft.com/office/powerpoint/2010/main" val="342390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44E0767-5B1A-F998-1262-A19303E0387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3FCCA5D-F40D-0166-85CE-8EF586347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66C5365F-D5DA-C3A3-2AF6-43BFF787E3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D288B71-E817-876E-4F9E-12C672E9B3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28291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2625621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17</a:t>
            </a:fld>
            <a:endParaRPr/>
          </a:p>
        </p:txBody>
      </p:sp>
    </p:spTree>
    <p:extLst>
      <p:ext uri="{BB962C8B-B14F-4D97-AF65-F5344CB8AC3E}">
        <p14:creationId xmlns:p14="http://schemas.microsoft.com/office/powerpoint/2010/main" val="763141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F3FC172-E107-6F29-B606-37A078D201EE}"/>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CBC73BE-1EC5-E8CA-C820-803FF977CC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8457FE6-46D4-94B6-A871-D5F57BBD42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E3F29-ED92-7DAB-D3E6-3FEA68116C4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038370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19</a:t>
            </a:fld>
            <a:endParaRPr/>
          </a:p>
        </p:txBody>
      </p:sp>
    </p:spTree>
    <p:extLst>
      <p:ext uri="{BB962C8B-B14F-4D97-AF65-F5344CB8AC3E}">
        <p14:creationId xmlns:p14="http://schemas.microsoft.com/office/powerpoint/2010/main" val="1834667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506148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25608772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5531697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821831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10073556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2073071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11246064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36</a:t>
            </a:fld>
            <a:endParaRPr/>
          </a:p>
        </p:txBody>
      </p:sp>
    </p:spTree>
    <p:extLst>
      <p:ext uri="{BB962C8B-B14F-4D97-AF65-F5344CB8AC3E}">
        <p14:creationId xmlns:p14="http://schemas.microsoft.com/office/powerpoint/2010/main" val="33470160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37</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36788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38</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7734882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12989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41</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14726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615338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134534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4003990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7194167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1951226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1201957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1ccdae391d_0_29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31ccdae391d_0_29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31ccdae391d_0_29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312382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8744145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9844082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5196793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1301080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0156753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7361227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3488841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9643773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2953689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9516245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3028661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9732954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867512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6877262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0726555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3A1DAE-E79D-4DA5-B482-81DDF4B01157}" type="slidenum">
              <a:rPr lang="en-VN" sz="1200" smtClean="0">
                <a:solidFill>
                  <a:schemeClr val="bg1"/>
                </a:solidFill>
                <a:latin typeface="Exo"/>
              </a:rPr>
              <a:t>‹#›</a:t>
            </a:fld>
            <a:endParaRPr lang="en-VN" sz="1200" dirty="0">
              <a:solidFill>
                <a:schemeClr val="bg1"/>
              </a:solidFill>
              <a:latin typeface="Exo"/>
            </a:endParaRPr>
          </a:p>
        </p:txBody>
      </p:sp>
      <p:pic>
        <p:nvPicPr>
          <p:cNvPr id="11" name="Picture 10">
            <a:extLst>
              <a:ext uri="{FF2B5EF4-FFF2-40B4-BE49-F238E27FC236}">
                <a16:creationId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290114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3888594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ahoma" pitchFamily="34" charset="0"/>
                <a:ea typeface="Tahoma" pitchFamily="34" charset="0"/>
                <a:cs typeface="Tahoma" pitchFamily="34" charset="0"/>
              </a:defRPr>
            </a:lvl1pPr>
            <a:lvl2pPr>
              <a:lnSpc>
                <a:spcPct val="150000"/>
              </a:lnSpc>
              <a:buFont typeface="Wingdings" pitchFamily="2" charset="2"/>
              <a:buChar char="ü"/>
              <a:defRPr sz="2000">
                <a:latin typeface="Tahoma" pitchFamily="34" charset="0"/>
                <a:ea typeface="Tahoma" pitchFamily="34" charset="0"/>
                <a:cs typeface="Tahoma" pitchFamily="34" charset="0"/>
              </a:defRPr>
            </a:lvl2pPr>
            <a:lvl3pPr>
              <a:lnSpc>
                <a:spcPct val="150000"/>
              </a:lnSpc>
              <a:buFont typeface="Wingdings" pitchFamily="2" charset="2"/>
              <a:buChar char="ü"/>
              <a:defRPr sz="2000">
                <a:latin typeface="Tahoma" pitchFamily="34" charset="0"/>
                <a:ea typeface="Tahoma" pitchFamily="34" charset="0"/>
                <a:cs typeface="Tahoma" pitchFamily="34" charset="0"/>
              </a:defRPr>
            </a:lvl3pPr>
            <a:lvl4pPr>
              <a:lnSpc>
                <a:spcPct val="150000"/>
              </a:lnSpc>
              <a:buFont typeface="Wingdings" pitchFamily="2" charset="2"/>
              <a:buChar char="ü"/>
              <a:defRPr sz="2000">
                <a:latin typeface="Tahoma" pitchFamily="34" charset="0"/>
                <a:ea typeface="Tahoma" pitchFamily="34" charset="0"/>
                <a:cs typeface="Tahoma" pitchFamily="34" charset="0"/>
              </a:defRPr>
            </a:lvl4pPr>
            <a:lvl5pPr>
              <a:lnSpc>
                <a:spcPct val="150000"/>
              </a:lnSpc>
              <a:buFont typeface="Wingdings" pitchFamily="2" charset="2"/>
              <a:buChar char="ü"/>
              <a:defRPr sz="2000">
                <a:latin typeface="Tahoma" pitchFamily="34" charset="0"/>
                <a:ea typeface="Tahoma" pitchFamily="34" charset="0"/>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ahoma" pitchFamily="34" charset="0"/>
                <a:ea typeface="Tahoma" pitchFamily="34" charset="0"/>
                <a:cs typeface="Tahoma" pitchFamily="34"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2959875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387442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6"/>
            <a:ext cx="5181600" cy="3874420"/>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732507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21344297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286944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6247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Montserrat" pitchFamily="2" charset="77"/>
              </a:defRPr>
            </a:lvl1pPr>
            <a:lvl2pPr>
              <a:defRPr sz="2800">
                <a:latin typeface="Montserrat" pitchFamily="2" charset="77"/>
              </a:defRPr>
            </a:lvl2pPr>
            <a:lvl3pPr>
              <a:defRPr sz="2400">
                <a:latin typeface="Montserrat" pitchFamily="2" charset="77"/>
              </a:defRPr>
            </a:lvl3pPr>
            <a:lvl4pPr>
              <a:defRPr sz="2000">
                <a:latin typeface="Montserrat" pitchFamily="2" charset="77"/>
              </a:defRPr>
            </a:lvl4pPr>
            <a:lvl5pPr>
              <a:defRPr sz="2000">
                <a:latin typeface="Montserrat"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5126202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Montserrat"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7306828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vi"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424498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D2A43B"/>
              </a:solidFill>
              <a:effectLst/>
              <a:uLnTx/>
              <a:uFillTx/>
              <a:latin typeface="Montserrat"/>
              <a:sym typeface="Montserrat"/>
            </a:endParaRPr>
          </a:p>
        </p:txBody>
      </p:sp>
    </p:spTree>
    <p:extLst>
      <p:ext uri="{BB962C8B-B14F-4D97-AF65-F5344CB8AC3E}">
        <p14:creationId xmlns:p14="http://schemas.microsoft.com/office/powerpoint/2010/main" val="532739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9317288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6078387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0544111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2263037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6851054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3925342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5587223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6653796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4251937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3182946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013940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image" Target="../media/image6.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3/9/2025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4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3/9/2025</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1044067151"/>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297671403"/>
      </p:ext>
    </p:extLst>
  </p:cSld>
  <p:clrMap bg1="lt1" tx1="dk1" bg2="dk2" tx2="lt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0.xml"/><Relationship Id="rId4" Type="http://schemas.openxmlformats.org/officeDocument/2006/relationships/chart" Target="../charts/chart16.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0.xml"/><Relationship Id="rId4" Type="http://schemas.openxmlformats.org/officeDocument/2006/relationships/chart" Target="../charts/chart17.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20.xml"/><Relationship Id="rId4" Type="http://schemas.openxmlformats.org/officeDocument/2006/relationships/chart" Target="../charts/chart18.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3.xml"/><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10</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03/03/2025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09</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03</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457258999"/>
              </p:ext>
            </p:extLst>
          </p:nvPr>
        </p:nvGraphicFramePr>
        <p:xfrm>
          <a:off x="1295400" y="980720"/>
          <a:ext cx="4953000" cy="2676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2868121447"/>
              </p:ext>
            </p:extLst>
          </p:nvPr>
        </p:nvGraphicFramePr>
        <p:xfrm>
          <a:off x="6629398" y="980720"/>
          <a:ext cx="4495799" cy="26768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2851430847"/>
              </p:ext>
            </p:extLst>
          </p:nvPr>
        </p:nvGraphicFramePr>
        <p:xfrm>
          <a:off x="1295400" y="3886200"/>
          <a:ext cx="4953000" cy="24750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2969089060"/>
              </p:ext>
            </p:extLst>
          </p:nvPr>
        </p:nvGraphicFramePr>
        <p:xfrm>
          <a:off x="6629397" y="3885126"/>
          <a:ext cx="4495799" cy="2476133"/>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9" name="Chart 8">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1818145392"/>
              </p:ext>
            </p:extLst>
          </p:nvPr>
        </p:nvGraphicFramePr>
        <p:xfrm>
          <a:off x="1307998" y="1066799"/>
          <a:ext cx="9817202" cy="26177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495479266"/>
              </p:ext>
            </p:extLst>
          </p:nvPr>
        </p:nvGraphicFramePr>
        <p:xfrm>
          <a:off x="1307998" y="3863567"/>
          <a:ext cx="9817202" cy="284987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01</a:t>
            </a:r>
            <a:r>
              <a:rPr kumimoji="0" lang="en-US" sz="18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a:extLst>
              <a:ext uri="{FF2B5EF4-FFF2-40B4-BE49-F238E27FC236}">
                <a16:creationId xmlns:a16="http://schemas.microsoft.com/office/drawing/2014/main" id="{B68EBB40-206F-6E15-0F5B-FB539FC75999}"/>
              </a:ext>
            </a:extLst>
          </p:cNvPr>
          <p:cNvGraphicFramePr>
            <a:graphicFrameLocks noGrp="1"/>
          </p:cNvGraphicFramePr>
          <p:nvPr>
            <p:extLst>
              <p:ext uri="{D42A27DB-BD31-4B8C-83A1-F6EECF244321}">
                <p14:modId xmlns:p14="http://schemas.microsoft.com/office/powerpoint/2010/main" val="2207010029"/>
              </p:ext>
            </p:extLst>
          </p:nvPr>
        </p:nvGraphicFramePr>
        <p:xfrm>
          <a:off x="228602" y="1089938"/>
          <a:ext cx="11553282" cy="5712938"/>
        </p:xfrm>
        <a:graphic>
          <a:graphicData uri="http://schemas.openxmlformats.org/drawingml/2006/table">
            <a:tbl>
              <a:tblPr/>
              <a:tblGrid>
                <a:gridCol w="304798">
                  <a:extLst>
                    <a:ext uri="{9D8B030D-6E8A-4147-A177-3AD203B41FA5}">
                      <a16:colId xmlns:a16="http://schemas.microsoft.com/office/drawing/2014/main" val="2069637928"/>
                    </a:ext>
                  </a:extLst>
                </a:gridCol>
                <a:gridCol w="533400">
                  <a:extLst>
                    <a:ext uri="{9D8B030D-6E8A-4147-A177-3AD203B41FA5}">
                      <a16:colId xmlns:a16="http://schemas.microsoft.com/office/drawing/2014/main" val="464945370"/>
                    </a:ext>
                  </a:extLst>
                </a:gridCol>
                <a:gridCol w="381000">
                  <a:extLst>
                    <a:ext uri="{9D8B030D-6E8A-4147-A177-3AD203B41FA5}">
                      <a16:colId xmlns:a16="http://schemas.microsoft.com/office/drawing/2014/main" val="983633470"/>
                    </a:ext>
                  </a:extLst>
                </a:gridCol>
                <a:gridCol w="457200">
                  <a:extLst>
                    <a:ext uri="{9D8B030D-6E8A-4147-A177-3AD203B41FA5}">
                      <a16:colId xmlns:a16="http://schemas.microsoft.com/office/drawing/2014/main" val="3546262789"/>
                    </a:ext>
                  </a:extLst>
                </a:gridCol>
                <a:gridCol w="533400">
                  <a:extLst>
                    <a:ext uri="{9D8B030D-6E8A-4147-A177-3AD203B41FA5}">
                      <a16:colId xmlns:a16="http://schemas.microsoft.com/office/drawing/2014/main" val="1884039996"/>
                    </a:ext>
                  </a:extLst>
                </a:gridCol>
                <a:gridCol w="533400">
                  <a:extLst>
                    <a:ext uri="{9D8B030D-6E8A-4147-A177-3AD203B41FA5}">
                      <a16:colId xmlns:a16="http://schemas.microsoft.com/office/drawing/2014/main" val="3708349863"/>
                    </a:ext>
                  </a:extLst>
                </a:gridCol>
                <a:gridCol w="685800">
                  <a:extLst>
                    <a:ext uri="{9D8B030D-6E8A-4147-A177-3AD203B41FA5}">
                      <a16:colId xmlns:a16="http://schemas.microsoft.com/office/drawing/2014/main" val="2348454438"/>
                    </a:ext>
                  </a:extLst>
                </a:gridCol>
                <a:gridCol w="533400">
                  <a:extLst>
                    <a:ext uri="{9D8B030D-6E8A-4147-A177-3AD203B41FA5}">
                      <a16:colId xmlns:a16="http://schemas.microsoft.com/office/drawing/2014/main" val="546762004"/>
                    </a:ext>
                  </a:extLst>
                </a:gridCol>
                <a:gridCol w="1600200">
                  <a:extLst>
                    <a:ext uri="{9D8B030D-6E8A-4147-A177-3AD203B41FA5}">
                      <a16:colId xmlns:a16="http://schemas.microsoft.com/office/drawing/2014/main" val="995365909"/>
                    </a:ext>
                  </a:extLst>
                </a:gridCol>
                <a:gridCol w="2362200">
                  <a:extLst>
                    <a:ext uri="{9D8B030D-6E8A-4147-A177-3AD203B41FA5}">
                      <a16:colId xmlns:a16="http://schemas.microsoft.com/office/drawing/2014/main" val="2373089142"/>
                    </a:ext>
                  </a:extLst>
                </a:gridCol>
                <a:gridCol w="457200">
                  <a:extLst>
                    <a:ext uri="{9D8B030D-6E8A-4147-A177-3AD203B41FA5}">
                      <a16:colId xmlns:a16="http://schemas.microsoft.com/office/drawing/2014/main" val="403226314"/>
                    </a:ext>
                  </a:extLst>
                </a:gridCol>
                <a:gridCol w="3171284">
                  <a:extLst>
                    <a:ext uri="{9D8B030D-6E8A-4147-A177-3AD203B41FA5}">
                      <a16:colId xmlns:a16="http://schemas.microsoft.com/office/drawing/2014/main" val="1024986741"/>
                    </a:ext>
                  </a:extLst>
                </a:gridCol>
              </a:tblGrid>
              <a:tr h="16387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960306995"/>
                  </a:ext>
                </a:extLst>
              </a:tr>
              <a:tr h="1311036">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ATR72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B223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SGN</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VN1885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SGN-VCS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15:30</a:t>
                      </a:r>
                    </a:p>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08/03/2025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RTO</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B223/SGN/RTO: VN1885/SGN-VCS/STD 15:10 CAPT INFORM VIA VHF REJECT TAKE OFF DUE TO ATPCS (Automatic Takeoff Power Control System) NOT ARM</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TSV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ADVISED TEST ATPCS FOUND ARM NORMAL. CAPT DECIDED TO </a:t>
                      </a:r>
                      <a:r>
                        <a:rPr lang="vi-VN" sz="1100" b="0" i="0" u="none" strike="noStrike">
                          <a:solidFill>
                            <a:srgbClr val="000000"/>
                          </a:solidFill>
                          <a:effectLst/>
                          <a:latin typeface="Times New Roman" panose="02020603050405020304" pitchFamily="18" charset="0"/>
                          <a:cs typeface="Times New Roman" panose="02020603050405020304" pitchFamily="18" charset="0"/>
                        </a:rPr>
                        <a:t>CONTINUE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THE FLIGHT. </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61-00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phát sinh khi  tổ bay thực hiện Static ATPCS test trước khi cất cánh; lần đầu không thấy đèn ATPCS not ARM, sau khi test lại theo yêu cầu của CRS lại bình thường. VAECO đã thực hiện kiểm tra lại tại nightstop theo khuyến cáo của ATR liên quan đến hỏng hóc này (Sensor, Connector, Relays, Switch) tuy nhiên không phát hiện gì bất thường và đã cho thay chủ động AFU #1 có giờ cao hơn để tiếp tục theo dõi. Sẽ cho dowload QAR để phân tích kỹ hơn.</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Hệ thống ATPCS có chức năng: </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1. Tự động tăng công suất của động cơ còn lại lên mức tối đa để bù đắp lực đẩy bị mất, giúp máy bay duy trì tốc độ và độ cao cần thiết để tiếp tục hành trình cất cánh an toàn trong trường hợp 1 động cơ bị lỗi. (Uptrim mode).</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2. Điều khiển cánh quạt về vị trí Feather để giảm lực cản trong trường hợp động cơ xảy ra sự cố (Feathering).</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3. Hỗ trợ phi công trong quá trình cất cánh để giảm workload.</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Trước mỗi chuyến bay tổ bay cần thực hiện static ATPCS test để check function của hệ thống, cuối mỗi ngày tổ bay cần thực hiện Dynamic ATPCS test. </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Theo thống kê ĐTC thì từ 2015-nay có 13 hỏng hóc (2018: 01, 2019: 05, 2020: 04, 2021: 01, 2024: 01) liên quan đến hệ thống ATPCS trong đó có 06 lần khắc do hỏng hóc khối Auto Feather Unit (AFU), 01 lần do khối APTCS test switch, còn lại khắc phục do opt test.</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Tàu B223 lắp 2 khối AFU#1 S/N= RT4225 có  TSN/TSO = 7970FH,  AFU#2 S/N: MM1760 (thuộc động cơ thuê Willis) có TSR= 2880 FH. Khối này có ngưỡng OVH soft-time 12000 FH, hiện tại vẫn thực hiện khi được gửi đi shop cùng động cơ.</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0185624"/>
                  </a:ext>
                </a:extLst>
              </a:tr>
            </a:tbl>
          </a:graphicData>
        </a:graphic>
      </p:graphicFrame>
    </p:spTree>
    <p:custDataLst>
      <p:tags r:id="rId1"/>
    </p:custDataLst>
    <p:extLst>
      <p:ext uri="{BB962C8B-B14F-4D97-AF65-F5344CB8AC3E}">
        <p14:creationId xmlns:p14="http://schemas.microsoft.com/office/powerpoint/2010/main" val="1646968164"/>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01</a:t>
            </a:r>
            <a:r>
              <a:rPr kumimoji="0" lang="en-US" sz="18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02</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p:cNvGraphicFramePr>
            <a:graphicFrameLocks noGrp="1"/>
          </p:cNvGraphicFramePr>
          <p:nvPr>
            <p:extLst>
              <p:ext uri="{D42A27DB-BD31-4B8C-83A1-F6EECF244321}">
                <p14:modId xmlns:p14="http://schemas.microsoft.com/office/powerpoint/2010/main" val="305013662"/>
              </p:ext>
            </p:extLst>
          </p:nvPr>
        </p:nvGraphicFramePr>
        <p:xfrm>
          <a:off x="228602" y="1089938"/>
          <a:ext cx="11553282" cy="5055078"/>
        </p:xfrm>
        <a:graphic>
          <a:graphicData uri="http://schemas.openxmlformats.org/drawingml/2006/table">
            <a:tbl>
              <a:tblPr/>
              <a:tblGrid>
                <a:gridCol w="304798">
                  <a:extLst>
                    <a:ext uri="{9D8B030D-6E8A-4147-A177-3AD203B41FA5}">
                      <a16:colId xmlns:a16="http://schemas.microsoft.com/office/drawing/2014/main" val="2069637928"/>
                    </a:ext>
                  </a:extLst>
                </a:gridCol>
                <a:gridCol w="533400">
                  <a:extLst>
                    <a:ext uri="{9D8B030D-6E8A-4147-A177-3AD203B41FA5}">
                      <a16:colId xmlns:a16="http://schemas.microsoft.com/office/drawing/2014/main" val="464945370"/>
                    </a:ext>
                  </a:extLst>
                </a:gridCol>
                <a:gridCol w="381000">
                  <a:extLst>
                    <a:ext uri="{9D8B030D-6E8A-4147-A177-3AD203B41FA5}">
                      <a16:colId xmlns:a16="http://schemas.microsoft.com/office/drawing/2014/main" val="983633470"/>
                    </a:ext>
                  </a:extLst>
                </a:gridCol>
                <a:gridCol w="457200">
                  <a:extLst>
                    <a:ext uri="{9D8B030D-6E8A-4147-A177-3AD203B41FA5}">
                      <a16:colId xmlns:a16="http://schemas.microsoft.com/office/drawing/2014/main" val="3546262789"/>
                    </a:ext>
                  </a:extLst>
                </a:gridCol>
                <a:gridCol w="533400">
                  <a:extLst>
                    <a:ext uri="{9D8B030D-6E8A-4147-A177-3AD203B41FA5}">
                      <a16:colId xmlns:a16="http://schemas.microsoft.com/office/drawing/2014/main" val="1884039996"/>
                    </a:ext>
                  </a:extLst>
                </a:gridCol>
                <a:gridCol w="533400">
                  <a:extLst>
                    <a:ext uri="{9D8B030D-6E8A-4147-A177-3AD203B41FA5}">
                      <a16:colId xmlns:a16="http://schemas.microsoft.com/office/drawing/2014/main" val="3708349863"/>
                    </a:ext>
                  </a:extLst>
                </a:gridCol>
                <a:gridCol w="685800">
                  <a:extLst>
                    <a:ext uri="{9D8B030D-6E8A-4147-A177-3AD203B41FA5}">
                      <a16:colId xmlns:a16="http://schemas.microsoft.com/office/drawing/2014/main" val="2348454438"/>
                    </a:ext>
                  </a:extLst>
                </a:gridCol>
                <a:gridCol w="533400">
                  <a:extLst>
                    <a:ext uri="{9D8B030D-6E8A-4147-A177-3AD203B41FA5}">
                      <a16:colId xmlns:a16="http://schemas.microsoft.com/office/drawing/2014/main" val="546762004"/>
                    </a:ext>
                  </a:extLst>
                </a:gridCol>
                <a:gridCol w="1600200">
                  <a:extLst>
                    <a:ext uri="{9D8B030D-6E8A-4147-A177-3AD203B41FA5}">
                      <a16:colId xmlns:a16="http://schemas.microsoft.com/office/drawing/2014/main" val="995365909"/>
                    </a:ext>
                  </a:extLst>
                </a:gridCol>
                <a:gridCol w="2362200">
                  <a:extLst>
                    <a:ext uri="{9D8B030D-6E8A-4147-A177-3AD203B41FA5}">
                      <a16:colId xmlns:a16="http://schemas.microsoft.com/office/drawing/2014/main" val="2373089142"/>
                    </a:ext>
                  </a:extLst>
                </a:gridCol>
                <a:gridCol w="457200">
                  <a:extLst>
                    <a:ext uri="{9D8B030D-6E8A-4147-A177-3AD203B41FA5}">
                      <a16:colId xmlns:a16="http://schemas.microsoft.com/office/drawing/2014/main" val="403226314"/>
                    </a:ext>
                  </a:extLst>
                </a:gridCol>
                <a:gridCol w="3171284">
                  <a:extLst>
                    <a:ext uri="{9D8B030D-6E8A-4147-A177-3AD203B41FA5}">
                      <a16:colId xmlns:a16="http://schemas.microsoft.com/office/drawing/2014/main" val="1024986741"/>
                    </a:ext>
                  </a:extLst>
                </a:gridCol>
              </a:tblGrid>
              <a:tr h="16387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960306995"/>
                  </a:ext>
                </a:extLst>
              </a:tr>
              <a:tr h="1311036">
                <a:tc>
                  <a:txBody>
                    <a:bodyPr/>
                    <a:lstStyle/>
                    <a:p>
                      <a:pPr algn="ctr" fontAlgn="b"/>
                      <a:r>
                        <a:rPr lang="en-US" sz="1100" b="0" i="0" u="none" strike="noStrike" dirty="0">
                          <a:solidFill>
                            <a:srgbClr val="000000"/>
                          </a:solidFill>
                          <a:effectLst/>
                          <a:latin typeface="Calibri" panose="020F0502020204030204" pitchFamily="34" charset="0"/>
                        </a:rPr>
                        <a:t>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A321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Calibri" panose="020F0502020204030204" pitchFamily="34" charset="0"/>
                        </a:rPr>
                        <a:t>A358</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Calibri" panose="020F0502020204030204" pitchFamily="34" charset="0"/>
                        </a:rPr>
                        <a:t>SGN</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Calibri" panose="020F0502020204030204" pitchFamily="34" charset="0"/>
                        </a:rPr>
                        <a:t>VN1829</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Calibri" panose="020F0502020204030204" pitchFamily="34" charset="0"/>
                        </a:rPr>
                        <a:t>SGN-PQC</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15:30 06/03/2025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OGTB</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Calibri" panose="020F0502020204030204" pitchFamily="34" charset="0"/>
                        </a:rPr>
                        <a:t>DURING </a:t>
                      </a:r>
                      <a:r>
                        <a:rPr lang="en-US" sz="1100" b="0" i="0" u="none" strike="noStrike" dirty="0">
                          <a:solidFill>
                            <a:srgbClr val="000000"/>
                          </a:solidFill>
                          <a:effectLst/>
                          <a:latin typeface="Calibri" panose="020F0502020204030204" pitchFamily="34" charset="0"/>
                        </a:rPr>
                        <a:t>PUSHBACK CAPT INFORM VIA VHF MSG VENT EXTRACT FAN FAULT. A/C ALREADY HAVE ADD B1760 AVIONICS BLOWER FAN FAULT. CAPT DECIED A/C GTB.</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Calibri" panose="020F0502020204030204" pitchFamily="34" charset="0"/>
                        </a:rPr>
                        <a:t>C/O </a:t>
                      </a:r>
                      <a:r>
                        <a:rPr lang="en-US" sz="1100" b="0" i="0" u="none" strike="noStrike" dirty="0">
                          <a:solidFill>
                            <a:srgbClr val="000000"/>
                          </a:solidFill>
                          <a:effectLst/>
                          <a:latin typeface="Calibri" panose="020F0502020204030204" pitchFamily="34" charset="0"/>
                        </a:rPr>
                        <a:t>SWAPPED BLOWER FAN WITH EXTRACT FAN. SATIS. ADD B1760 CLRD AND ADD B1761 RAISED FOR EXTRACT FAN FAULT.</a:t>
                      </a:r>
                    </a:p>
                    <a:p>
                      <a:pPr algn="l" fontAlgn="b"/>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Calibri" panose="020F0502020204030204" pitchFamily="34" charset="0"/>
                        </a:rPr>
                        <a:t>21</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Nguyên nhân chính là do hỏng blower fan (msg xuất hiện sau khi tàu vào gate và không có cảnh báo trên PFR nên Vaeco đã raise ADD) tuy nhiên do cánh quạt bị kẹt cứng nên lưu lương khí không đủ dẫn tới cảnh báo extract fan fault làm cho tàu quay lại. Khối blower fan mới OVH được hơn 900 giờ, do đó QLVT sẽ claim bảo hành. Hiện còn tổng số 38 khối trên 10k FH cần thực hiện OVH theo chương trình soft-time tuy nhiên hiện không có khối quay vòng để thực hiện chương trình. Ban KT đã gửi yêu cầu cho STA tháo 04 khối/ 1 tháng. Đề nghị QLVT làm việc với STA để đảm bảo cung ứng vật tư quay vòng</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0185624"/>
                  </a:ext>
                </a:extLst>
              </a:tr>
              <a:tr h="1311036">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A321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A334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HAN</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VN195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HAN-DAD</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1</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8</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:00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09/03/2025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GTB</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CAPT REPORTED VIA VHF:</a:t>
                      </a:r>
                    </a:p>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VENT AVIONIC SYS FAULT &amp; VENT SKIN VLV FAULT =&gt; CAPT DECIDE ON GROUND TURN BACK FOR TECHNICAL SUPPORT </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fontAlgn="b">
                        <a:buFontTx/>
                        <a:buNone/>
                      </a:pP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TSV hướng dẫn reset: hết Mgs =&gt; Tàu tiếp tục khởi hành</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21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blower fan. Khối trên A334 có TSO hơn 14700 FH, đã quá ngưỡng OVH theo hợp đồng soft-time. Trong thời gian vừa qua chương trình chưa thể tiếp tục triển khai do STA ngưng hợp đồng và cao điểm tết. Ngoài ra hiện trong kho không có khối quay vòng để thực hiện. Ban KT đã gửi yc cho STA để tháo 04 khối/ 1 tháng. Đề nghị QLVT làm việc với STA để có đủ vật tư quay vòng thực hiện chương trình</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4291894"/>
                  </a:ext>
                </a:extLst>
              </a:tr>
              <a:tr h="1311036">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A321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A334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HAN</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VN195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HAN-DAD</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19:00 09/03/2025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TB</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A334/HAN/VN195 HAN-DAD ATB DUE TO APPEARED MSG: </a:t>
                      </a:r>
                    </a:p>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VENT AVIONIC SYS FAULT</a:t>
                      </a:r>
                    </a:p>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VENT SKIN VLV FAULT</a:t>
                      </a:r>
                    </a:p>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VENT BLOWER FAULT </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fontAlgn="b">
                        <a:buFontTx/>
                        <a:buNone/>
                      </a:pP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Found SKIN AIR OUTLET VLV jamp</a:t>
                      </a:r>
                    </a:p>
                    <a:p>
                      <a:pPr marL="0" indent="0" algn="l" fontAlgn="b">
                        <a:buFontTx/>
                        <a:buNone/>
                      </a:pP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C/O REPLACED SKIN AIR OUTLET VLV, OPS TEST SATIS. </a:t>
                      </a:r>
                    </a:p>
                    <a:p>
                      <a:pPr marL="0" indent="0" algn="l" fontAlgn="b">
                        <a:buFontTx/>
                        <a:buNone/>
                      </a:pP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VENT BLOWER FAULT =&gt; DUE TO CAPT’ PUSH OVRD -&gt; NOW, MSG DISAPPEAR</a:t>
                      </a:r>
                    </a:p>
                    <a:p>
                      <a:pPr marL="0" indent="0" algn="l" fontAlgn="b">
                        <a:buFontTx/>
                        <a:buNone/>
                      </a:pP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A/C SERVICEABLE, </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21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blower fan. Khối trên A334 có TSO hơn 14700 FH, đã quá ngưỡng OVH theo hợp đồng soft-time. Trong thời gian vừa qua chương trình chưa thể tiếp tục triển khai do STA ngưng hợp đồng và cao điểm tết. Ngoài ra hiện trong kho không có khối quay vòng để thực hiện. Ban KT đã gửi yc cho STA để tháo 04 khối/ 1 tháng. Đề nghị QLVT làm việc với STA để có đủ vật tư quay vòng thực hiện chương trình</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3950006"/>
                  </a:ext>
                </a:extLst>
              </a:tr>
            </a:tbl>
          </a:graphicData>
        </a:graphic>
      </p:graphicFrame>
    </p:spTree>
    <p:custDataLst>
      <p:tags r:id="rId1"/>
    </p:custDataLst>
    <p:extLst>
      <p:ext uri="{BB962C8B-B14F-4D97-AF65-F5344CB8AC3E}">
        <p14:creationId xmlns:p14="http://schemas.microsoft.com/office/powerpoint/2010/main" val="1749342052"/>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t>5</a:t>
            </a:fld>
            <a:endParaRPr kumimoji="0" lang="en-US" sz="1200" b="0" i="0" u="none" strike="noStrike" kern="1200" cap="none" spc="0" normalizeH="0" baseline="0" noProof="0">
              <a:ln>
                <a:noFill/>
              </a:ln>
              <a:solidFill>
                <a:srgbClr val="D2A43B"/>
              </a:solidFill>
              <a:effectLst/>
              <a:uLnTx/>
              <a:uFillTx/>
              <a:latin typeface="Montserrat" pitchFamily="2" charset="77"/>
              <a:ea typeface="+mn-ea"/>
              <a:cs typeface="+mn-cs"/>
            </a:endParaRPr>
          </a:p>
        </p:txBody>
      </p:sp>
      <p:sp>
        <p:nvSpPr>
          <p:cNvPr id="1048595" name="Title 4"/>
          <p:cNvSpPr>
            <a:spLocks noGrp="1"/>
          </p:cNvSpPr>
          <p:nvPr>
            <p:ph type="title"/>
          </p:nvPr>
        </p:nvSpPr>
        <p:spPr>
          <a:xfrm>
            <a:off x="381000" y="290517"/>
            <a:ext cx="11277597" cy="428634"/>
          </a:xfrm>
        </p:spPr>
        <p:txBody>
          <a:bodyPr>
            <a:normAutofit fontScale="90000"/>
          </a:bodyPr>
          <a:lstStyle/>
          <a:p>
            <a:pPr algn="ctr"/>
            <a:r>
              <a:rPr kumimoji="0" lang="en-US" sz="2800" b="1" i="0" u="none" strike="noStrike" kern="1200" cap="none" spc="0" normalizeH="0" baseline="0" noProof="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CÁC SỰ KIỆN </a:t>
            </a:r>
            <a:r>
              <a:rPr 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MOR</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7190AA65-ACD8-DB65-2862-8FE1EA5FD7D4}"/>
              </a:ext>
            </a:extLst>
          </p:cNvPr>
          <p:cNvGraphicFramePr>
            <a:graphicFrameLocks noGrp="1"/>
          </p:cNvGraphicFramePr>
          <p:nvPr>
            <p:extLst>
              <p:ext uri="{D42A27DB-BD31-4B8C-83A1-F6EECF244321}">
                <p14:modId xmlns:p14="http://schemas.microsoft.com/office/powerpoint/2010/main" val="3381233832"/>
              </p:ext>
            </p:extLst>
          </p:nvPr>
        </p:nvGraphicFramePr>
        <p:xfrm>
          <a:off x="381000" y="1066800"/>
          <a:ext cx="11582401" cy="4035368"/>
        </p:xfrm>
        <a:graphic>
          <a:graphicData uri="http://schemas.openxmlformats.org/drawingml/2006/table">
            <a:tbl>
              <a:tblPr/>
              <a:tblGrid>
                <a:gridCol w="639205">
                  <a:extLst>
                    <a:ext uri="{9D8B030D-6E8A-4147-A177-3AD203B41FA5}">
                      <a16:colId xmlns:a16="http://schemas.microsoft.com/office/drawing/2014/main" val="1159410311"/>
                    </a:ext>
                  </a:extLst>
                </a:gridCol>
                <a:gridCol w="524148">
                  <a:extLst>
                    <a:ext uri="{9D8B030D-6E8A-4147-A177-3AD203B41FA5}">
                      <a16:colId xmlns:a16="http://schemas.microsoft.com/office/drawing/2014/main" val="806861015"/>
                    </a:ext>
                  </a:extLst>
                </a:gridCol>
                <a:gridCol w="575285">
                  <a:extLst>
                    <a:ext uri="{9D8B030D-6E8A-4147-A177-3AD203B41FA5}">
                      <a16:colId xmlns:a16="http://schemas.microsoft.com/office/drawing/2014/main" val="2527962719"/>
                    </a:ext>
                  </a:extLst>
                </a:gridCol>
                <a:gridCol w="600853">
                  <a:extLst>
                    <a:ext uri="{9D8B030D-6E8A-4147-A177-3AD203B41FA5}">
                      <a16:colId xmlns:a16="http://schemas.microsoft.com/office/drawing/2014/main" val="2541031"/>
                    </a:ext>
                  </a:extLst>
                </a:gridCol>
                <a:gridCol w="549717">
                  <a:extLst>
                    <a:ext uri="{9D8B030D-6E8A-4147-A177-3AD203B41FA5}">
                      <a16:colId xmlns:a16="http://schemas.microsoft.com/office/drawing/2014/main" val="4072588774"/>
                    </a:ext>
                  </a:extLst>
                </a:gridCol>
                <a:gridCol w="473012">
                  <a:extLst>
                    <a:ext uri="{9D8B030D-6E8A-4147-A177-3AD203B41FA5}">
                      <a16:colId xmlns:a16="http://schemas.microsoft.com/office/drawing/2014/main" val="3575509229"/>
                    </a:ext>
                  </a:extLst>
                </a:gridCol>
                <a:gridCol w="639205">
                  <a:extLst>
                    <a:ext uri="{9D8B030D-6E8A-4147-A177-3AD203B41FA5}">
                      <a16:colId xmlns:a16="http://schemas.microsoft.com/office/drawing/2014/main" val="3821834433"/>
                    </a:ext>
                  </a:extLst>
                </a:gridCol>
                <a:gridCol w="754263">
                  <a:extLst>
                    <a:ext uri="{9D8B030D-6E8A-4147-A177-3AD203B41FA5}">
                      <a16:colId xmlns:a16="http://schemas.microsoft.com/office/drawing/2014/main" val="484707431"/>
                    </a:ext>
                  </a:extLst>
                </a:gridCol>
                <a:gridCol w="3004265">
                  <a:extLst>
                    <a:ext uri="{9D8B030D-6E8A-4147-A177-3AD203B41FA5}">
                      <a16:colId xmlns:a16="http://schemas.microsoft.com/office/drawing/2014/main" val="1534104731"/>
                    </a:ext>
                  </a:extLst>
                </a:gridCol>
                <a:gridCol w="3822448">
                  <a:extLst>
                    <a:ext uri="{9D8B030D-6E8A-4147-A177-3AD203B41FA5}">
                      <a16:colId xmlns:a16="http://schemas.microsoft.com/office/drawing/2014/main" val="736056807"/>
                    </a:ext>
                  </a:extLst>
                </a:gridCol>
              </a:tblGrid>
              <a:tr h="533399">
                <a:tc>
                  <a:txBody>
                    <a:bodyPr/>
                    <a:lstStyle/>
                    <a:p>
                      <a:pPr algn="ctr" fontAlgn="ctr"/>
                      <a:r>
                        <a:rPr lang="en-US" sz="1200" b="1" i="0" u="none" strike="noStrike">
                          <a:solidFill>
                            <a:srgbClr val="000000"/>
                          </a:solidFill>
                          <a:effectLst/>
                          <a:latin typeface="Times New Roman" panose="02020603050405020304" pitchFamily="18" charset="0"/>
                        </a:rPr>
                        <a:t>REG.</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rPr>
                        <a:t>FLEET</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rPr>
                        <a:t>YEAR</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rPr>
                        <a:t>MONTH</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rPr>
                        <a:t>DATE</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rPr>
                        <a:t>STA.</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rPr>
                        <a:t>FLIGHT</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rPr>
                        <a:t>DEP-ARV</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rPr>
                        <a:t>DEFECT</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rPr>
                        <a:t>CORRECTIVE ACTION</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533462523"/>
                  </a:ext>
                </a:extLst>
              </a:tr>
              <a:tr h="128875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VN1829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SGN-PQC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DURING PUSHBACK CAPT INFORM VIA VHF MSG VENT EXTRACT FAN FAULT. A/C ALREADY HAVE ADD B1760 AVIONICS BLOWER FAN FAULT. CAPT DECIED A/C 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C/O SWAPPED BLOWER FAN WITH EXTRACT FAN. SATIS. ADD B1760 CLRD AND ADD B1761 RAISED FOR EXTRACT FAN FAULT.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6853266"/>
                  </a:ext>
                </a:extLst>
              </a:tr>
              <a:tr h="103170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VN930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LPQ-HAN </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VN930 LPQ-HAN CAPT REPORT SUSPECTED ANTI SKID DURING TAXI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C/O RPL MW#4 AND BRAKE #4; CHECK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29089"/>
                  </a:ext>
                </a:extLst>
              </a:tr>
              <a:tr h="118151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VN1885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CAPT INFORM VIA VHF REJECT TAKE OFF DUE TO ATPCS NOT ARM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TSV ADVISED TEST ATPCS FOUND ARM NORMAL. CAPT DECIDED TO CONTINUE THE FLIGHT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9520215"/>
                  </a:ext>
                </a:extLst>
              </a:tr>
            </a:tbl>
          </a:graphicData>
        </a:graphic>
      </p:graphicFrame>
    </p:spTree>
    <p:extLst>
      <p:ext uri="{BB962C8B-B14F-4D97-AF65-F5344CB8AC3E}">
        <p14:creationId xmlns:p14="http://schemas.microsoft.com/office/powerpoint/2010/main" val="216713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3295577304"/>
              </p:ext>
            </p:extLst>
          </p:nvPr>
        </p:nvGraphicFramePr>
        <p:xfrm>
          <a:off x="301591" y="1079799"/>
          <a:ext cx="11463226" cy="868299"/>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0">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Nil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400672" y="220751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7" name="Table 6">
            <a:extLst>
              <a:ext uri="{FF2B5EF4-FFF2-40B4-BE49-F238E27FC236}">
                <a16:creationId xmlns:a16="http://schemas.microsoft.com/office/drawing/2014/main" id="{D5A904B8-5BDE-D191-8F0D-EC1117FE9923}"/>
              </a:ext>
            </a:extLst>
          </p:cNvPr>
          <p:cNvGraphicFramePr>
            <a:graphicFrameLocks noGrp="1"/>
          </p:cNvGraphicFramePr>
          <p:nvPr>
            <p:extLst>
              <p:ext uri="{D42A27DB-BD31-4B8C-83A1-F6EECF244321}">
                <p14:modId xmlns:p14="http://schemas.microsoft.com/office/powerpoint/2010/main" val="952681995"/>
              </p:ext>
            </p:extLst>
          </p:nvPr>
        </p:nvGraphicFramePr>
        <p:xfrm>
          <a:off x="301590" y="2627146"/>
          <a:ext cx="11463224" cy="3306645"/>
        </p:xfrm>
        <a:graphic>
          <a:graphicData uri="http://schemas.openxmlformats.org/drawingml/2006/table">
            <a:tbl>
              <a:tblPr/>
              <a:tblGrid>
                <a:gridCol w="350405">
                  <a:extLst>
                    <a:ext uri="{9D8B030D-6E8A-4147-A177-3AD203B41FA5}">
                      <a16:colId xmlns:a16="http://schemas.microsoft.com/office/drawing/2014/main" val="2808791243"/>
                    </a:ext>
                  </a:extLst>
                </a:gridCol>
                <a:gridCol w="570658">
                  <a:extLst>
                    <a:ext uri="{9D8B030D-6E8A-4147-A177-3AD203B41FA5}">
                      <a16:colId xmlns:a16="http://schemas.microsoft.com/office/drawing/2014/main" val="3287676015"/>
                    </a:ext>
                  </a:extLst>
                </a:gridCol>
                <a:gridCol w="570658">
                  <a:extLst>
                    <a:ext uri="{9D8B030D-6E8A-4147-A177-3AD203B41FA5}">
                      <a16:colId xmlns:a16="http://schemas.microsoft.com/office/drawing/2014/main" val="1184273817"/>
                    </a:ext>
                  </a:extLst>
                </a:gridCol>
                <a:gridCol w="1031190">
                  <a:extLst>
                    <a:ext uri="{9D8B030D-6E8A-4147-A177-3AD203B41FA5}">
                      <a16:colId xmlns:a16="http://schemas.microsoft.com/office/drawing/2014/main" val="1349917120"/>
                    </a:ext>
                  </a:extLst>
                </a:gridCol>
                <a:gridCol w="570658">
                  <a:extLst>
                    <a:ext uri="{9D8B030D-6E8A-4147-A177-3AD203B41FA5}">
                      <a16:colId xmlns:a16="http://schemas.microsoft.com/office/drawing/2014/main" val="4172897229"/>
                    </a:ext>
                  </a:extLst>
                </a:gridCol>
                <a:gridCol w="410473">
                  <a:extLst>
                    <a:ext uri="{9D8B030D-6E8A-4147-A177-3AD203B41FA5}">
                      <a16:colId xmlns:a16="http://schemas.microsoft.com/office/drawing/2014/main" val="3351808577"/>
                    </a:ext>
                  </a:extLst>
                </a:gridCol>
                <a:gridCol w="650750">
                  <a:extLst>
                    <a:ext uri="{9D8B030D-6E8A-4147-A177-3AD203B41FA5}">
                      <a16:colId xmlns:a16="http://schemas.microsoft.com/office/drawing/2014/main" val="685332106"/>
                    </a:ext>
                  </a:extLst>
                </a:gridCol>
                <a:gridCol w="760878">
                  <a:extLst>
                    <a:ext uri="{9D8B030D-6E8A-4147-A177-3AD203B41FA5}">
                      <a16:colId xmlns:a16="http://schemas.microsoft.com/office/drawing/2014/main" val="2899165020"/>
                    </a:ext>
                  </a:extLst>
                </a:gridCol>
                <a:gridCol w="3013477">
                  <a:extLst>
                    <a:ext uri="{9D8B030D-6E8A-4147-A177-3AD203B41FA5}">
                      <a16:colId xmlns:a16="http://schemas.microsoft.com/office/drawing/2014/main" val="3304681419"/>
                    </a:ext>
                  </a:extLst>
                </a:gridCol>
                <a:gridCol w="3534077">
                  <a:extLst>
                    <a:ext uri="{9D8B030D-6E8A-4147-A177-3AD203B41FA5}">
                      <a16:colId xmlns:a16="http://schemas.microsoft.com/office/drawing/2014/main" val="449720868"/>
                    </a:ext>
                  </a:extLst>
                </a:gridCol>
              </a:tblGrid>
              <a:tr h="554683">
                <a:tc>
                  <a:txBody>
                    <a:bodyPr/>
                    <a:lstStyle/>
                    <a:p>
                      <a:pPr algn="ctr" fontAlgn="t"/>
                      <a:r>
                        <a:rPr lang="en-US" sz="1200" b="1" i="0" u="none" strike="noStrike">
                          <a:solidFill>
                            <a:srgbClr val="000000"/>
                          </a:solidFill>
                          <a:effectLst/>
                          <a:latin typeface="Cambria" panose="02040503050406030204" pitchFamily="18" charset="0"/>
                        </a:rPr>
                        <a:t>NO</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FLEET</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A/C</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DELAY DATE</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STA</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DELAY MINUTES</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FLIGHT NO</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ROUTE</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DELAY DESC</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DELAY ACTION</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70474732"/>
                  </a:ext>
                </a:extLst>
              </a:tr>
              <a:tr h="576486">
                <a:tc>
                  <a:txBody>
                    <a:bodyPr/>
                    <a:lstStyle/>
                    <a:p>
                      <a:pPr algn="ctr" fontAlgn="b"/>
                      <a:r>
                        <a:rPr lang="en-US" sz="1200" b="0" i="0" u="none" strike="noStrike">
                          <a:solidFill>
                            <a:srgbClr val="000000"/>
                          </a:solidFill>
                          <a:effectLst/>
                          <a:latin typeface="Calibri" panose="020F0502020204030204" pitchFamily="34" charset="0"/>
                        </a:rPr>
                        <a:t>1</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A321</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A612</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24/02/2025 10:00</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SGN</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30</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VN631</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SGN-CGK</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200" b="0" i="0" u="none" strike="noStrike">
                          <a:solidFill>
                            <a:srgbClr val="000000"/>
                          </a:solidFill>
                          <a:effectLst/>
                          <a:latin typeface="Calibri" panose="020F0502020204030204" pitchFamily="34" charset="0"/>
                        </a:rPr>
                        <a:t>TRANSIT CHECK FOUND MW #4 SHOULDER WORN TO LIMIT (ABNORMAL) </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Calibri" panose="020F0502020204030204" pitchFamily="34" charset="0"/>
                        </a:rPr>
                        <a:t>&lt;p&gt;C/O RPLD MW#4 SATIS, A/C SERVICEABLE&lt;/p&gt; TRANSIT CHECK FOUND MW #4 SHOULDER WORN TO LIMIT (ABNORMAL) EVENT CLOSED &lt;p&gt;&lt;/p&gt; &lt;p&gt;TOTAL DELAY: 30 MINS, TECH: 0 MIN&lt;/p&gt;</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195438"/>
                  </a:ext>
                </a:extLst>
              </a:tr>
              <a:tr h="1728084">
                <a:tc>
                  <a:txBody>
                    <a:bodyPr/>
                    <a:lstStyle/>
                    <a:p>
                      <a:pPr algn="ctr" fontAlgn="b"/>
                      <a:r>
                        <a:rPr lang="en-US" sz="1200" b="0" i="0" u="none" strike="noStrike">
                          <a:solidFill>
                            <a:srgbClr val="000000"/>
                          </a:solidFill>
                          <a:effectLst/>
                          <a:latin typeface="Calibri" panose="020F0502020204030204" pitchFamily="34" charset="0"/>
                        </a:rPr>
                        <a:t>2</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A321</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A613</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27/02/2025 13:13</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SGN</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9</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VN7148</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SGN-DAD</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200" b="0" i="0" u="none" strike="noStrike">
                          <a:solidFill>
                            <a:srgbClr val="000000"/>
                          </a:solidFill>
                          <a:effectLst/>
                          <a:latin typeface="Calibri" panose="020F0502020204030204" pitchFamily="34" charset="0"/>
                        </a:rPr>
                        <a:t>T/X FOUND MW #4 WORN TO LIMIT ABNORMAL </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200" b="0" i="0" u="none" strike="noStrike">
                          <a:solidFill>
                            <a:srgbClr val="000000"/>
                          </a:solidFill>
                          <a:effectLst/>
                          <a:latin typeface="Calibri" panose="020F0502020204030204" pitchFamily="34" charset="0"/>
                        </a:rPr>
                        <a:t>&lt;p&gt;- 13:13 TÀU VÀO BÃI&lt;br /&gt;</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- 13:17 CRS BÁO THAY LỐP&lt;br /&gt;</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- 13:35 XE LỐP TỚI NƠI&lt;br /&gt;</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- 14:02 HẠ KÍCH , BÁO BOARDING&lt;br /&gt;</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- 14:12 TÀU ĐÓNG CỬA&lt;/p&gt; ACTION: C/O RPLD MW#4 SATIS , A/C SERVICEABLE EVENT CLOSED &lt;p&gt;&lt;/p&gt; &lt;p&gt;ACTION: C/O RPLD MW#4 SATIS , A/C SERVICEABLE&lt;/p&gt;</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&lt;p&gt;TOTAL DELAY 9MINS, TECH DELAY 0MIN&lt;/p&gt;</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3662966"/>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05</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A8AA4BD9-FDEC-2CC2-1A85-C72F397A4621}"/>
              </a:ext>
            </a:extLst>
          </p:cNvPr>
          <p:cNvGraphicFramePr>
            <a:graphicFrameLocks noGrp="1"/>
          </p:cNvGraphicFramePr>
          <p:nvPr>
            <p:extLst>
              <p:ext uri="{D42A27DB-BD31-4B8C-83A1-F6EECF244321}">
                <p14:modId xmlns:p14="http://schemas.microsoft.com/office/powerpoint/2010/main" val="2352480986"/>
              </p:ext>
            </p:extLst>
          </p:nvPr>
        </p:nvGraphicFramePr>
        <p:xfrm>
          <a:off x="170509" y="1553215"/>
          <a:ext cx="11670608" cy="5336630"/>
        </p:xfrm>
        <a:graphic>
          <a:graphicData uri="http://schemas.openxmlformats.org/drawingml/2006/table">
            <a:tbl>
              <a:tblPr/>
              <a:tblGrid>
                <a:gridCol w="364108">
                  <a:extLst>
                    <a:ext uri="{9D8B030D-6E8A-4147-A177-3AD203B41FA5}">
                      <a16:colId xmlns:a16="http://schemas.microsoft.com/office/drawing/2014/main" val="1705838175"/>
                    </a:ext>
                  </a:extLst>
                </a:gridCol>
                <a:gridCol w="364108">
                  <a:extLst>
                    <a:ext uri="{9D8B030D-6E8A-4147-A177-3AD203B41FA5}">
                      <a16:colId xmlns:a16="http://schemas.microsoft.com/office/drawing/2014/main" val="435942644"/>
                    </a:ext>
                  </a:extLst>
                </a:gridCol>
                <a:gridCol w="873334">
                  <a:extLst>
                    <a:ext uri="{9D8B030D-6E8A-4147-A177-3AD203B41FA5}">
                      <a16:colId xmlns:a16="http://schemas.microsoft.com/office/drawing/2014/main" val="276862112"/>
                    </a:ext>
                  </a:extLst>
                </a:gridCol>
                <a:gridCol w="812049">
                  <a:extLst>
                    <a:ext uri="{9D8B030D-6E8A-4147-A177-3AD203B41FA5}">
                      <a16:colId xmlns:a16="http://schemas.microsoft.com/office/drawing/2014/main" val="2191467762"/>
                    </a:ext>
                  </a:extLst>
                </a:gridCol>
                <a:gridCol w="442936">
                  <a:extLst>
                    <a:ext uri="{9D8B030D-6E8A-4147-A177-3AD203B41FA5}">
                      <a16:colId xmlns:a16="http://schemas.microsoft.com/office/drawing/2014/main" val="2342651692"/>
                    </a:ext>
                  </a:extLst>
                </a:gridCol>
                <a:gridCol w="1925956">
                  <a:extLst>
                    <a:ext uri="{9D8B030D-6E8A-4147-A177-3AD203B41FA5}">
                      <a16:colId xmlns:a16="http://schemas.microsoft.com/office/drawing/2014/main" val="3654957790"/>
                    </a:ext>
                  </a:extLst>
                </a:gridCol>
                <a:gridCol w="3200400">
                  <a:extLst>
                    <a:ext uri="{9D8B030D-6E8A-4147-A177-3AD203B41FA5}">
                      <a16:colId xmlns:a16="http://schemas.microsoft.com/office/drawing/2014/main" val="3278939196"/>
                    </a:ext>
                  </a:extLst>
                </a:gridCol>
                <a:gridCol w="381000">
                  <a:extLst>
                    <a:ext uri="{9D8B030D-6E8A-4147-A177-3AD203B41FA5}">
                      <a16:colId xmlns:a16="http://schemas.microsoft.com/office/drawing/2014/main" val="1840898623"/>
                    </a:ext>
                  </a:extLst>
                </a:gridCol>
                <a:gridCol w="3306717">
                  <a:extLst>
                    <a:ext uri="{9D8B030D-6E8A-4147-A177-3AD203B41FA5}">
                      <a16:colId xmlns:a16="http://schemas.microsoft.com/office/drawing/2014/main" val="1400684824"/>
                    </a:ext>
                  </a:extLst>
                </a:gridCol>
              </a:tblGrid>
              <a:tr h="129110">
                <a:tc>
                  <a:txBody>
                    <a:bodyPr/>
                    <a:lstStyle/>
                    <a:p>
                      <a:pPr algn="ctr" fontAlgn="ctr"/>
                      <a:r>
                        <a:rPr lang="en-US" sz="1100" b="0" i="0" u="none" strike="noStrike" dirty="0">
                          <a:solidFill>
                            <a:srgbClr val="000000"/>
                          </a:solidFill>
                          <a:effectLst/>
                          <a:latin typeface="Times New Roman" panose="02020603050405020304" pitchFamily="18" charset="0"/>
                        </a:rPr>
                        <a:t>NO</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r>
                        <a:rPr lang="en-US" sz="1100" b="0" i="0" u="none" strike="noStrike" dirty="0">
                          <a:solidFill>
                            <a:srgbClr val="000000"/>
                          </a:solidFill>
                          <a:effectLst/>
                          <a:latin typeface="Times New Roman" panose="02020603050405020304" pitchFamily="18" charset="0"/>
                        </a:rPr>
                        <a:t>ATA</a:t>
                      </a:r>
                      <a:endParaRPr lang="en-CA" dirty="0"/>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94249764"/>
                  </a:ext>
                </a:extLst>
              </a:tr>
              <a:tr h="1764649">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A614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04/03/2025</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04:30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ANTI ICE INPACT PANEL FOUND DISBOND OUT OF LIMIT</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C/O W/O 7055303: SUPPORT STR BASE REPAIR THE PANEL FOR CLR ADD B 2409 RAISED :ANTI ICE IMPACT PANEL AT ENG 1 DAMAGED, POS 4H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CLOCK. LESS THAN 20%. STRUCTURE BASE C/O TAP TEST ANTI ICE INPACT PANEL FOUND DISBOND OUT OF LIMIT . SPARE NOT AVAIL AT 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Bàn giao tàu vào TTBD Nội trường Hà Nội thực hiện A614-300325-CHK-MO18; </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RPL PANEL TTBD NT HAN THỰC HIỆN A614-300325-CHK-MO18 + RPL PANEL EVENT CLOSED</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- 03:55&amp;#43; ngày 03/03 CRS báo tàu AOG và đặt hàng khí </a:t>
                      </a:r>
                      <a:r>
                        <a:rPr lang="vi-VN" sz="1100" b="0" i="0" u="none" strike="noStrike">
                          <a:solidFill>
                            <a:srgbClr val="000000"/>
                          </a:solidFill>
                          <a:effectLst/>
                          <a:latin typeface="Times New Roman" panose="02020603050405020304" pitchFamily="18" charset="0"/>
                          <a:cs typeface="Times New Roman" panose="02020603050405020304" pitchFamily="18" charset="0"/>
                        </a:rPr>
                        <a:t>tài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AOG</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30-00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dirty="0">
                          <a:latin typeface="Times New Roman" panose="02020603050405020304" pitchFamily="18" charset="0"/>
                          <a:cs typeface="Times New Roman" panose="02020603050405020304" pitchFamily="18" charset="0"/>
                        </a:rPr>
                        <a:t>Động cơ V17016 có TSN/CSN=25371 FH/ 16045 FC, TSR/CSR = 3914 FH/ 2809 FC, mới đại tu về và lắp lên A614 ngày 04/03/2024. Tại shop, các Anti-Ice Impact Panel được sửa chữa. Tuy nhiên, trong quá trình động cơ hoạt động, các Panel này có thể bị bong tróc bề mặt do bị Fan Blade mài vào. Khuyến cáo cần dự phòng sẵn PTVT để thay thế khi phát hiện hỏng hóc.</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7600614"/>
                  </a:ext>
                </a:extLst>
              </a:tr>
              <a:tr h="2643584">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A323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08/03/2025</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10:40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08/03/2025</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18:40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SGN</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PFR SHOW MSG ENG#1 FUEL VALVE FAULT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REPLACED FMU OF ENG#1 SATIS. C/O E.R.U CHECKED SATIS. A/C SERVICEABLE MSG ENG#1 FUEL VALVE FAULT </a:t>
                      </a:r>
                      <a:r>
                        <a:rPr lang="en-US" sz="1100" b="0" i="0" u="none" strike="noStrike">
                          <a:solidFill>
                            <a:srgbClr val="000000"/>
                          </a:solidFill>
                          <a:effectLst/>
                          <a:latin typeface="Times New Roman" panose="02020603050405020304" pitchFamily="18" charset="0"/>
                          <a:cs typeface="Times New Roman" panose="02020603050405020304" pitchFamily="18" charset="0"/>
                        </a:rPr>
                        <a:t>EVENT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CLOSED</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73-00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Động cơ V13187 là động cơ thuê, có TSN/CSN = 23794/14134. Khối FMU bị hỏng phải tháo là gốc của động cơ, có TSR = 12374 FH. Cần chờ SFR từ shop để xác định nguyên nhân hỏng hóc. Theo thống kê, trong năm 2024 có 11 lần tháo FMU ngoài kế hoạch, trong đó có 3 khối cao giờ (TSO trên 25000 FH). Hiện fleet của VNA có 31 khối cao giờ. Do chi phí đại tu FMU lớn (trên 110k USD) nên không có chương trình tháo chủ động mà các khối FMU cao giờ chỉ đại tu khi đi shop cùng động cơ.</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7139912"/>
                  </a:ext>
                </a:extLst>
              </a:tr>
            </a:tbl>
          </a:graphicData>
        </a:graphic>
      </p:graphicFrame>
    </p:spTree>
    <p:extLst>
      <p:ext uri="{BB962C8B-B14F-4D97-AF65-F5344CB8AC3E}">
        <p14:creationId xmlns:p14="http://schemas.microsoft.com/office/powerpoint/2010/main" val="1872612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05</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05</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extLst>
              <p:ext uri="{D42A27DB-BD31-4B8C-83A1-F6EECF244321}">
                <p14:modId xmlns:p14="http://schemas.microsoft.com/office/powerpoint/2010/main" val="2474687829"/>
              </p:ext>
            </p:extLst>
          </p:nvPr>
        </p:nvGraphicFramePr>
        <p:xfrm>
          <a:off x="152399" y="1570679"/>
          <a:ext cx="11688719" cy="2024223"/>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09600">
                  <a:extLst>
                    <a:ext uri="{9D8B030D-6E8A-4147-A177-3AD203B41FA5}">
                      <a16:colId xmlns:a16="http://schemas.microsoft.com/office/drawing/2014/main" val="905265164"/>
                    </a:ext>
                  </a:extLst>
                </a:gridCol>
                <a:gridCol w="1515240">
                  <a:extLst>
                    <a:ext uri="{9D8B030D-6E8A-4147-A177-3AD203B41FA5}">
                      <a16:colId xmlns:a16="http://schemas.microsoft.com/office/drawing/2014/main" val="1766184023"/>
                    </a:ext>
                  </a:extLst>
                </a:gridCol>
                <a:gridCol w="3132960">
                  <a:extLst>
                    <a:ext uri="{9D8B030D-6E8A-4147-A177-3AD203B41FA5}">
                      <a16:colId xmlns:a16="http://schemas.microsoft.com/office/drawing/2014/main" val="3411328682"/>
                    </a:ext>
                  </a:extLst>
                </a:gridCol>
                <a:gridCol w="381000">
                  <a:extLst>
                    <a:ext uri="{9D8B030D-6E8A-4147-A177-3AD203B41FA5}">
                      <a16:colId xmlns:a16="http://schemas.microsoft.com/office/drawing/2014/main" val="2556803980"/>
                    </a:ext>
                  </a:extLst>
                </a:gridCol>
                <a:gridCol w="3230518">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r>
                        <a:rPr lang="en-US" sz="1100" b="0" i="0" u="none" strike="noStrike" dirty="0">
                          <a:solidFill>
                            <a:srgbClr val="000000"/>
                          </a:solidFill>
                          <a:effectLst/>
                          <a:latin typeface="Times New Roman" panose="02020603050405020304" pitchFamily="18" charset="0"/>
                        </a:rPr>
                        <a:t>ATA</a:t>
                      </a:r>
                      <a:endParaRPr lang="en-CA" dirty="0"/>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0">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A323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08/03/2025</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10:40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SGN</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VN605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SGN-BKK</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PFR SHOW MSG ENG#1 FUEL VALVE FAULT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l" fontAlgn="b">
                        <a:buFontTx/>
                        <a:buNone/>
                      </a:pP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REPLACED FMU OF ENG#1 SATIS. C/O E.R.U CHECKED SATIS. A/C SERVICEABLE MSG ENG#1 FUEL </a:t>
                      </a:r>
                      <a:r>
                        <a:rPr lang="en-US" sz="1100" b="0" i="0" u="none" strike="noStrike">
                          <a:solidFill>
                            <a:srgbClr val="000000"/>
                          </a:solidFill>
                          <a:effectLst/>
                          <a:latin typeface="Times New Roman" panose="02020603050405020304" pitchFamily="18" charset="0"/>
                          <a:cs typeface="Times New Roman" panose="02020603050405020304" pitchFamily="18" charset="0"/>
                        </a:rPr>
                        <a:t>VALVE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FAULT</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73-00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Động cơ V13187 là động cơ thuê, có TSN/CSN = 23794/14134. Khối FMU bị hỏng phải tháo là gốc của động cơ, có TSR = 12374 FH. Cần chờ SFR từ shop để xác định nguyên nhân hỏng hóc. Theo thống kê, trong năm 2024 có 11 lần tháo FMU ngoài kế hoạch, trong đó có 3 khối cao giờ (TSO trên 25000 FH). Hiện fleet của VNA có 31 khối cao giờ. Do chi phí đại tu FMU lớn (trên 110k USD) nên không có chương trình tháo chủ động mà các khối FMU cao giờ chỉ đại tu khi đi shop cùng động cơ.</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bl>
          </a:graphicData>
        </a:graphic>
      </p:graphicFrame>
    </p:spTree>
    <p:extLst>
      <p:ext uri="{BB962C8B-B14F-4D97-AF65-F5344CB8AC3E}">
        <p14:creationId xmlns:p14="http://schemas.microsoft.com/office/powerpoint/2010/main" val="2491030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E0FE855-4E13-BBF3-73CE-E23664EBB41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E106A671-8330-8552-253A-6E3D14A8C56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75DAD212-576B-F797-0604-747B58251EF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7994CAE6-4FA0-52E9-80AD-F0F9682C2CA0}"/>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05</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8CCEA16D-C34E-D9D2-17CF-1BA109289273}"/>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05</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C1C76629-20CE-A176-EAD9-D05828073BA8}"/>
              </a:ext>
            </a:extLst>
          </p:cNvPr>
          <p:cNvGraphicFramePr>
            <a:graphicFrameLocks noGrp="1"/>
          </p:cNvGraphicFramePr>
          <p:nvPr>
            <p:extLst>
              <p:ext uri="{D42A27DB-BD31-4B8C-83A1-F6EECF244321}">
                <p14:modId xmlns:p14="http://schemas.microsoft.com/office/powerpoint/2010/main" val="2027883305"/>
              </p:ext>
            </p:extLst>
          </p:nvPr>
        </p:nvGraphicFramePr>
        <p:xfrm>
          <a:off x="152399" y="1570679"/>
          <a:ext cx="11688719" cy="2536668"/>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09600">
                  <a:extLst>
                    <a:ext uri="{9D8B030D-6E8A-4147-A177-3AD203B41FA5}">
                      <a16:colId xmlns:a16="http://schemas.microsoft.com/office/drawing/2014/main" val="905265164"/>
                    </a:ext>
                  </a:extLst>
                </a:gridCol>
                <a:gridCol w="1515240">
                  <a:extLst>
                    <a:ext uri="{9D8B030D-6E8A-4147-A177-3AD203B41FA5}">
                      <a16:colId xmlns:a16="http://schemas.microsoft.com/office/drawing/2014/main" val="1766184023"/>
                    </a:ext>
                  </a:extLst>
                </a:gridCol>
                <a:gridCol w="3132960">
                  <a:extLst>
                    <a:ext uri="{9D8B030D-6E8A-4147-A177-3AD203B41FA5}">
                      <a16:colId xmlns:a16="http://schemas.microsoft.com/office/drawing/2014/main" val="3411328682"/>
                    </a:ext>
                  </a:extLst>
                </a:gridCol>
                <a:gridCol w="381000">
                  <a:extLst>
                    <a:ext uri="{9D8B030D-6E8A-4147-A177-3AD203B41FA5}">
                      <a16:colId xmlns:a16="http://schemas.microsoft.com/office/drawing/2014/main" val="2556803980"/>
                    </a:ext>
                  </a:extLst>
                </a:gridCol>
                <a:gridCol w="3230518">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r>
                        <a:rPr lang="en-US" sz="1100" b="0" i="0" u="none" strike="noStrike" dirty="0">
                          <a:solidFill>
                            <a:srgbClr val="000000"/>
                          </a:solidFill>
                          <a:effectLst/>
                          <a:latin typeface="Times New Roman" panose="02020603050405020304" pitchFamily="18" charset="0"/>
                        </a:rPr>
                        <a:t>ATA</a:t>
                      </a:r>
                      <a:endParaRPr lang="en-CA" dirty="0"/>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ctr" fontAlgn="t"/>
                      <a:r>
                        <a:rPr lang="vi-VN" sz="1100" b="0" i="0" u="none" strike="noStrike" dirty="0">
                          <a:solidFill>
                            <a:srgbClr val="000000"/>
                          </a:solidFill>
                          <a:effectLst/>
                          <a:latin typeface="+mn-lt"/>
                        </a:rPr>
                        <a:t>2</a:t>
                      </a:r>
                      <a:endParaRPr lang="en-US" sz="1100" b="0" i="0" u="none" strike="noStrike" dirty="0">
                        <a:solidFill>
                          <a:srgbClr val="000000"/>
                        </a:solidFill>
                        <a:effectLst/>
                        <a:latin typeface="+mn-lt"/>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A397</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08/03/2025 21:15</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SGN</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10</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VN148</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SGN-DAD</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Body)"/>
                        </a:rPr>
                        <a:t>CHECK FOUND GUST LOCK JAM BY FOD DURINGPRE-FLIGHT CHECK AND PREPARE TO CLOSE THE DOOR CHECK FOUND GUST LOCK JAM BY FOD</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mn-lt"/>
                        </a:rPr>
                        <a:t>C/OUT </a:t>
                      </a:r>
                      <a:r>
                        <a:rPr lang="vi-VN" sz="1100" b="0" i="0" u="none" strike="noStrike" dirty="0">
                          <a:solidFill>
                            <a:srgbClr val="000000"/>
                          </a:solidFill>
                          <a:effectLst/>
                          <a:latin typeface="+mn-lt"/>
                        </a:rPr>
                        <a:t>REMOVED FOD CHECK SATIS, </a:t>
                      </a:r>
                      <a:r>
                        <a:rPr lang="vi-VN" sz="1100" b="0" i="0" u="none" strike="noStrike">
                          <a:solidFill>
                            <a:srgbClr val="000000"/>
                          </a:solidFill>
                          <a:effectLst/>
                          <a:latin typeface="+mn-lt"/>
                        </a:rPr>
                        <a:t>A/C </a:t>
                      </a:r>
                      <a:r>
                        <a:rPr lang="vi-VN" sz="1100" b="0" i="0" u="none" strike="noStrike" smtClean="0">
                          <a:solidFill>
                            <a:srgbClr val="000000"/>
                          </a:solidFill>
                          <a:effectLst/>
                          <a:latin typeface="+mn-lt"/>
                        </a:rPr>
                        <a:t>SERVICEABLE</a:t>
                      </a:r>
                      <a:endParaRPr lang="vi-VN"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52-00</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dirty="0">
                          <a:latin typeface="+mn-lt"/>
                        </a:rPr>
                        <a:t>Cửa 1L không arm được là do gust lock bị kẹt vì FOD. Hiện tượng này có thể khắc phục bằng cleaing Gust-Lock Control-Mechanism. Đánh giá hỏng hóc đơn lẻ.</a:t>
                      </a:r>
                      <a:endParaRPr lang="vi-VN" sz="1100" b="0" i="0" u="none" strike="noStrike" dirty="0">
                        <a:solidFill>
                          <a:srgbClr val="000000"/>
                        </a:solidFill>
                        <a:effectLst/>
                        <a:latin typeface="+mn-lt"/>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5691000"/>
                  </a:ext>
                </a:extLst>
              </a:tr>
              <a:tr h="666583">
                <a:tc>
                  <a:txBody>
                    <a:bodyPr/>
                    <a:lstStyle/>
                    <a:p>
                      <a:pPr algn="ctr" fontAlgn="t"/>
                      <a:r>
                        <a:rPr lang="vi-VN" sz="1100" b="0" i="0" u="none" strike="noStrike" dirty="0">
                          <a:solidFill>
                            <a:srgbClr val="000000"/>
                          </a:solidFill>
                          <a:effectLst/>
                          <a:latin typeface="+mn-lt"/>
                        </a:rPr>
                        <a:t>3</a:t>
                      </a:r>
                      <a:endParaRPr lang="en-US" sz="1100" b="0" i="0" u="none" strike="noStrike" dirty="0">
                        <a:solidFill>
                          <a:srgbClr val="000000"/>
                        </a:solidFill>
                        <a:effectLst/>
                        <a:latin typeface="+mn-lt"/>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A398</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07/03/2025 12:20</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BKK</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20</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VN610</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BKK-HAN</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F</a:t>
                      </a:r>
                      <a:r>
                        <a:rPr lang="en-US" sz="1100" b="0" i="0" u="none" strike="noStrike" dirty="0">
                          <a:solidFill>
                            <a:srgbClr val="000000"/>
                          </a:solidFill>
                          <a:effectLst/>
                          <a:latin typeface="+mn-lt"/>
                        </a:rPr>
                        <a:t>WD CARGO DOOR CAN NOT CLOSED</a:t>
                      </a:r>
                      <a:endParaRPr lang="vi-VN" sz="1100" b="0" i="0" u="none" strike="noStrike" dirty="0">
                        <a:solidFill>
                          <a:srgbClr val="000000"/>
                        </a:solidFill>
                        <a:effectLst/>
                        <a:latin typeface="+mn-lt"/>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TVJ ENGINEER TRY TO CLOSE, FWD CARGO DOOR CLOSED</a:t>
                      </a:r>
                      <a:endParaRPr lang="vi-VN" sz="1100" b="0" i="0" u="none" strike="noStrike" dirty="0">
                        <a:solidFill>
                          <a:srgbClr val="000000"/>
                        </a:solidFill>
                        <a:effectLst/>
                        <a:latin typeface="+mn-lt"/>
                      </a:endParaRPr>
                    </a:p>
                    <a:p>
                      <a:pPr algn="l" fontAlgn="b"/>
                      <a:r>
                        <a:rPr lang="en-US" sz="1100" b="0" i="0" u="none" strike="noStrike" dirty="0">
                          <a:solidFill>
                            <a:srgbClr val="000000"/>
                          </a:solidFill>
                          <a:effectLst/>
                          <a:latin typeface="+mn-lt"/>
                        </a:rPr>
                        <a:t>ACTION EVENT CLOSED</a:t>
                      </a:r>
                      <a:r>
                        <a:rPr lang="vi-VN" sz="1100" b="0" i="0" u="none" strike="noStrike" dirty="0">
                          <a:solidFill>
                            <a:srgbClr val="000000"/>
                          </a:solidFill>
                          <a:effectLst/>
                          <a:latin typeface="+mn-lt"/>
                        </a:rPr>
                        <a:t> “</a:t>
                      </a:r>
                      <a:r>
                        <a:rPr lang="en-US" sz="1100" b="0" i="0" u="none" strike="noStrike" dirty="0">
                          <a:solidFill>
                            <a:srgbClr val="000000"/>
                          </a:solidFill>
                          <a:effectLst/>
                          <a:latin typeface="+mn-lt"/>
                        </a:rPr>
                        <a:t>FWD CARGO DOOR CAN NOT </a:t>
                      </a:r>
                      <a:r>
                        <a:rPr lang="vi-VN" sz="1100" b="0" i="0" u="none" strike="noStrike" dirty="0">
                          <a:solidFill>
                            <a:srgbClr val="000000"/>
                          </a:solidFill>
                          <a:effectLst/>
                          <a:latin typeface="+mn-lt"/>
                        </a:rPr>
                        <a:t>CLOSED”</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52-30</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dirty="0">
                          <a:latin typeface="+mn-lt"/>
                        </a:rPr>
                        <a:t>Tàu sau đó thực hiện kiểm tra OPS test satis, do đó có khả nâng bị intermittent hệ thống điện. A398 đã được bôi trơn căn chỉnh cửa fwd cargo từ 10/2024 và kiểm tra dây từ 1/2025. Ban KT sẽ theo dõi tàu này trong thời gian ngắn sắp tới và tham khảo thêm ý kiến của Airbus.</a:t>
                      </a:r>
                      <a:endParaRPr lang="vi-VN" sz="1100" b="0" i="0" u="none" strike="noStrike" dirty="0">
                        <a:solidFill>
                          <a:srgbClr val="000000"/>
                        </a:solidFill>
                        <a:effectLst/>
                        <a:latin typeface="+mn-lt"/>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1043828"/>
                  </a:ext>
                </a:extLst>
              </a:tr>
            </a:tbl>
          </a:graphicData>
        </a:graphic>
      </p:graphicFrame>
    </p:spTree>
    <p:extLst>
      <p:ext uri="{BB962C8B-B14F-4D97-AF65-F5344CB8AC3E}">
        <p14:creationId xmlns:p14="http://schemas.microsoft.com/office/powerpoint/2010/main" val="3822470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D1746CB-C398-2A6C-52C6-318697149C5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CB09A3F-4DDC-8926-43A1-932B560AB7A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7EA2DA9-8C9B-8D09-417A-945F22C235B1}"/>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418B24D2-348E-393E-8484-0326BEC42719}"/>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05</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1E1B01E3-40D5-8E7E-40DD-FAA0A7AC9979}"/>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05</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28CD3DB-7CA9-DF0A-7A3E-442B57A13FF4}"/>
              </a:ext>
            </a:extLst>
          </p:cNvPr>
          <p:cNvGraphicFramePr>
            <a:graphicFrameLocks noGrp="1"/>
          </p:cNvGraphicFramePr>
          <p:nvPr>
            <p:extLst>
              <p:ext uri="{D42A27DB-BD31-4B8C-83A1-F6EECF244321}">
                <p14:modId xmlns:p14="http://schemas.microsoft.com/office/powerpoint/2010/main" val="2029092516"/>
              </p:ext>
            </p:extLst>
          </p:nvPr>
        </p:nvGraphicFramePr>
        <p:xfrm>
          <a:off x="152399" y="1570679"/>
          <a:ext cx="11688719" cy="3803326"/>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09600">
                  <a:extLst>
                    <a:ext uri="{9D8B030D-6E8A-4147-A177-3AD203B41FA5}">
                      <a16:colId xmlns:a16="http://schemas.microsoft.com/office/drawing/2014/main" val="905265164"/>
                    </a:ext>
                  </a:extLst>
                </a:gridCol>
                <a:gridCol w="1515240">
                  <a:extLst>
                    <a:ext uri="{9D8B030D-6E8A-4147-A177-3AD203B41FA5}">
                      <a16:colId xmlns:a16="http://schemas.microsoft.com/office/drawing/2014/main" val="1766184023"/>
                    </a:ext>
                  </a:extLst>
                </a:gridCol>
                <a:gridCol w="3132960">
                  <a:extLst>
                    <a:ext uri="{9D8B030D-6E8A-4147-A177-3AD203B41FA5}">
                      <a16:colId xmlns:a16="http://schemas.microsoft.com/office/drawing/2014/main" val="3411328682"/>
                    </a:ext>
                  </a:extLst>
                </a:gridCol>
                <a:gridCol w="381000">
                  <a:extLst>
                    <a:ext uri="{9D8B030D-6E8A-4147-A177-3AD203B41FA5}">
                      <a16:colId xmlns:a16="http://schemas.microsoft.com/office/drawing/2014/main" val="2556803980"/>
                    </a:ext>
                  </a:extLst>
                </a:gridCol>
                <a:gridCol w="3230518">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r>
                        <a:rPr lang="en-US" sz="1100" b="0" i="0" u="none" strike="noStrike" dirty="0">
                          <a:solidFill>
                            <a:srgbClr val="000000"/>
                          </a:solidFill>
                          <a:effectLst/>
                          <a:latin typeface="Times New Roman" panose="02020603050405020304" pitchFamily="18" charset="0"/>
                        </a:rPr>
                        <a:t>ATA</a:t>
                      </a:r>
                      <a:endParaRPr lang="en-CA" dirty="0"/>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1443823">
                <a:tc>
                  <a:txBody>
                    <a:bodyPr/>
                    <a:lstStyle/>
                    <a:p>
                      <a:pPr algn="ctr" fontAlgn="t"/>
                      <a:r>
                        <a:rPr lang="vi-VN" sz="1100" b="0" i="0" u="none" strike="noStrike" dirty="0">
                          <a:solidFill>
                            <a:srgbClr val="000000"/>
                          </a:solidFill>
                          <a:effectLst/>
                          <a:latin typeface="+mn-lt"/>
                        </a:rPr>
                        <a:t>4</a:t>
                      </a:r>
                      <a:endParaRPr lang="en-US" sz="1100" b="0" i="0" u="none" strike="noStrike" dirty="0">
                        <a:solidFill>
                          <a:srgbClr val="000000"/>
                        </a:solidFill>
                        <a:effectLst/>
                        <a:latin typeface="+mn-lt"/>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A392</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07/03/2025 08:29</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SGN</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30</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VN1272</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SGN-THD</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B</a:t>
                      </a:r>
                      <a:r>
                        <a:rPr lang="en-US" sz="1100" b="0" i="0" u="none" strike="noStrike" dirty="0">
                          <a:solidFill>
                            <a:srgbClr val="000000"/>
                          </a:solidFill>
                          <a:effectLst/>
                          <a:latin typeface="+mn-lt"/>
                        </a:rPr>
                        <a:t>EFORE PUSH BACK, CAPT REPORTS</a:t>
                      </a:r>
                    </a:p>
                    <a:p>
                      <a:pPr algn="l" fontAlgn="b"/>
                      <a:r>
                        <a:rPr lang="en-US" sz="1100" b="0" i="0" u="none" strike="noStrike" dirty="0">
                          <a:solidFill>
                            <a:srgbClr val="000000"/>
                          </a:solidFill>
                          <a:effectLst/>
                          <a:latin typeface="+mn-lt"/>
                        </a:rPr>
                        <a:t>THERE IS STILL PRESSURE ON PARKING BRAKE INDICATOR ALTHOUGH PARKING BRAKE HANDLE SET TO OFF</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ACTION: TSV C/O APPLY MEL AND NEED CARRY OUT MAINTENANCE BEFORE PUSH BACK, CAPT REPORTS </a:t>
                      </a:r>
                      <a:r>
                        <a:rPr lang="en-US" sz="1100" b="0" i="0" u="none" strike="noStrike">
                          <a:solidFill>
                            <a:srgbClr val="000000"/>
                          </a:solidFill>
                          <a:effectLst/>
                          <a:latin typeface="+mn-lt"/>
                        </a:rPr>
                        <a:t>EVENT </a:t>
                      </a:r>
                      <a:r>
                        <a:rPr lang="en-US" sz="1100" b="0" i="0" u="none" strike="noStrike" smtClean="0">
                          <a:solidFill>
                            <a:srgbClr val="000000"/>
                          </a:solidFill>
                          <a:effectLst/>
                          <a:latin typeface="+mn-lt"/>
                        </a:rPr>
                        <a:t>CLOSED</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32-00</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Hỏng hóc vẫn đang mở. Đợi kết quả TS của VAECO</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5691000"/>
                  </a:ext>
                </a:extLst>
              </a:tr>
              <a:tr h="666583">
                <a:tc>
                  <a:txBody>
                    <a:bodyPr/>
                    <a:lstStyle/>
                    <a:p>
                      <a:pPr algn="ctr" fontAlgn="t"/>
                      <a:r>
                        <a:rPr lang="vi-VN" sz="1100" b="0" i="0" u="none" strike="noStrike" dirty="0">
                          <a:solidFill>
                            <a:srgbClr val="000000"/>
                          </a:solidFill>
                          <a:effectLst/>
                          <a:latin typeface="+mn-lt"/>
                        </a:rPr>
                        <a:t>5</a:t>
                      </a:r>
                      <a:endParaRPr lang="en-US" sz="1100" b="0" i="0" u="none" strike="noStrike" dirty="0">
                        <a:solidFill>
                          <a:srgbClr val="000000"/>
                        </a:solidFill>
                        <a:effectLst/>
                        <a:latin typeface="+mn-lt"/>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A358</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06/03/2025 15:30</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SGN</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35</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VN1829</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SGN-PQC</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VENT EXTRACT FAN FAULT </a:t>
                      </a:r>
                    </a:p>
                    <a:p>
                      <a:pPr algn="l" fontAlgn="b"/>
                      <a:r>
                        <a:rPr lang="vi-VN" sz="1100" b="0" i="0" u="none" strike="noStrike" dirty="0">
                          <a:solidFill>
                            <a:srgbClr val="000000"/>
                          </a:solidFill>
                          <a:effectLst/>
                          <a:latin typeface="+mn-lt"/>
                        </a:rPr>
                        <a:t>DURING PUSHBACK CAPT INFORM VIA VHF MSG VENT EXTRACT FAN FAULT. A/C ALREADY HAVE ADD B1760 AVIONICS BLOWER FAN FAULT. CAPT DECIED A/C GTB.</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mn-lt"/>
                        </a:rPr>
                        <a:t> </a:t>
                      </a:r>
                      <a:r>
                        <a:rPr lang="en-US" sz="1100" b="0" i="0" u="none" strike="noStrike" dirty="0">
                          <a:solidFill>
                            <a:srgbClr val="000000"/>
                          </a:solidFill>
                          <a:effectLst/>
                          <a:latin typeface="+mn-lt"/>
                        </a:rPr>
                        <a:t>C/O SWAPPED BLOWER FAN WITH EXTRACT FAN. SATIS. ADD B1760 CLRD AND ADD B1761 RAISED FOR EXTRACT FAN </a:t>
                      </a:r>
                      <a:r>
                        <a:rPr lang="en-US" sz="1100" b="0" i="0" u="none" strike="noStrike">
                          <a:solidFill>
                            <a:srgbClr val="000000"/>
                          </a:solidFill>
                          <a:effectLst/>
                          <a:latin typeface="+mn-lt"/>
                        </a:rPr>
                        <a:t>FAULT</a:t>
                      </a:r>
                      <a:r>
                        <a:rPr lang="en-US" sz="1100" b="0" i="0" u="none" strike="noStrike" smtClean="0">
                          <a:solidFill>
                            <a:srgbClr val="000000"/>
                          </a:solidFill>
                          <a:effectLst/>
                          <a:latin typeface="+mn-lt"/>
                        </a:rPr>
                        <a:t>.</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21</a:t>
                      </a:r>
                      <a:endParaRPr lang="en-US" sz="1100" b="0" i="0" u="none" strike="noStrike" dirty="0">
                        <a:solidFill>
                          <a:srgbClr val="000000"/>
                        </a:solidFill>
                        <a:effectLst/>
                        <a:latin typeface="+mn-lt"/>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Nguyên nhân chính là do hỏng blower fan (msg xuất hiện sau khi tàu vào gate và không có cảnh báo trên PFR nên Vaeco đã raise ADD) tuy nhiên do cánh quạt bị kẹt cứng nên lưu lương khí không đủ dẫn tới cảnh báo extract fan fault làm cho tàu quay lại. Khối blower fan mới OVH được hơn 900 giờ, do đó QLVT sẽ claim bảo hành. Hiện còn tổng số 38 khối trên 10k FH cần thực hiện OVH theo chương trình soft-time tuy nhiên hiện không có khối quay vòng để thực hiện chương trình. Ban KT đã gửi yêu cầu cho STA tháo 04 khối/ 1 tháng. Đề nghị QLVT làm việc với STA để đảm bảo cung ứng vật tư quay vòng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1043828"/>
                  </a:ext>
                </a:extLst>
              </a:tr>
            </a:tbl>
          </a:graphicData>
        </a:graphic>
      </p:graphicFrame>
    </p:spTree>
    <p:extLst>
      <p:ext uri="{BB962C8B-B14F-4D97-AF65-F5344CB8AC3E}">
        <p14:creationId xmlns:p14="http://schemas.microsoft.com/office/powerpoint/2010/main" val="591933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31A5E89-8330-4CC5-8E86-DC6C55D3DE22}"/>
              </a:ext>
            </a:extLst>
          </p:cNvPr>
          <p:cNvSpPr txBox="1"/>
          <p:nvPr/>
        </p:nvSpPr>
        <p:spPr>
          <a:xfrm>
            <a:off x="737417" y="168860"/>
            <a:ext cx="10293572" cy="523220"/>
          </a:xfrm>
          <a:prstGeom prst="rect">
            <a:avLst/>
          </a:prstGeom>
          <a:noFill/>
        </p:spPr>
        <p:txBody>
          <a:bodyPr wrap="square" rtlCol="0">
            <a:spAutoFit/>
          </a:bodyPr>
          <a:lstStyle/>
          <a:p>
            <a:pPr algn="just"/>
            <a:r>
              <a:rPr lang="en-US" sz="2800" b="1" dirty="0">
                <a:solidFill>
                  <a:srgbClr val="DEA610"/>
                </a:solidFill>
                <a:latin typeface="Times New Roman" panose="02020603050405020304" pitchFamily="18" charset="0"/>
                <a:cs typeface="Times New Roman" panose="02020603050405020304" pitchFamily="18" charset="0"/>
              </a:rPr>
              <a:t>A321 – ATA 21 – AVIONIC FAN FAULT</a:t>
            </a:r>
          </a:p>
        </p:txBody>
      </p:sp>
      <p:sp>
        <p:nvSpPr>
          <p:cNvPr id="25" name="Rectangle: Single Corner Rounded 24">
            <a:extLst>
              <a:ext uri="{FF2B5EF4-FFF2-40B4-BE49-F238E27FC236}">
                <a16:creationId xmlns:a16="http://schemas.microsoft.com/office/drawing/2014/main" id="{D5DADBD9-6852-441A-BF72-7DAFAE15B1FD}"/>
              </a:ext>
            </a:extLst>
          </p:cNvPr>
          <p:cNvSpPr/>
          <p:nvPr/>
        </p:nvSpPr>
        <p:spPr>
          <a:xfrm flipH="1" flipV="1">
            <a:off x="302018" y="790661"/>
            <a:ext cx="11496864" cy="1298365"/>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B07695F-044B-46D6-B43C-B700EFBA7248}"/>
              </a:ext>
            </a:extLst>
          </p:cNvPr>
          <p:cNvSpPr/>
          <p:nvPr/>
        </p:nvSpPr>
        <p:spPr>
          <a:xfrm>
            <a:off x="782968" y="785145"/>
            <a:ext cx="10069062" cy="461665"/>
          </a:xfrm>
          <a:prstGeom prst="rect">
            <a:avLst/>
          </a:prstGeom>
        </p:spPr>
        <p:txBody>
          <a:bodyPr wrap="square">
            <a:spAutoFit/>
          </a:bodyPr>
          <a:lstStyle/>
          <a:p>
            <a:pPr lvl="0">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A358 </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G</a:t>
            </a: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TB</a:t>
            </a:r>
            <a:r>
              <a:rPr kumimoji="0" lang="en-US" sz="2400" b="1" i="0" u="none" strike="noStrike" kern="1200" cap="none" spc="0" normalizeH="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 DUE TO AVIONIC FAN FAULT </a:t>
            </a:r>
            <a:endPar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367F70C2-5165-479E-AFB9-34EDD474B128}"/>
              </a:ext>
            </a:extLst>
          </p:cNvPr>
          <p:cNvSpPr/>
          <p:nvPr/>
        </p:nvSpPr>
        <p:spPr>
          <a:xfrm>
            <a:off x="778157" y="1195347"/>
            <a:ext cx="10882536" cy="815608"/>
          </a:xfrm>
          <a:prstGeom prst="rect">
            <a:avLst/>
          </a:prstGeom>
        </p:spPr>
        <p:txBody>
          <a:bodyPr wrap="square">
            <a:spAutoFit/>
          </a:bodyPr>
          <a:lstStyle/>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A358/SGN/VHF/VN1829/SGN-PQC/STD 14:50 DURING PUSHBACK CAPT INFORM VIA VHF MSG VENT EXTRACT FAN FAULT</a:t>
            </a:r>
          </a:p>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ACTION: C/O SWAPPED BLOWER FAN WITH EXTRACT FAN. SATIS. ADD B1760 CLRD AND ADD B1761 RAISED FOR EXTRACT FAN FAULT.</a:t>
            </a:r>
            <a:endParaRPr lang="en-US" sz="1400" dirty="0">
              <a:solidFill>
                <a:srgbClr val="203864"/>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4210CCF0-33AF-4035-BD27-3303A8633E6C}"/>
              </a:ext>
            </a:extLst>
          </p:cNvPr>
          <p:cNvSpPr txBox="1"/>
          <p:nvPr/>
        </p:nvSpPr>
        <p:spPr>
          <a:xfrm>
            <a:off x="795408" y="2477974"/>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Phân</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tích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Đánh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giá</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id="{E05FED27-E33B-4C7E-85F6-BC470EC52ECB}"/>
              </a:ext>
            </a:extLst>
          </p:cNvPr>
          <p:cNvSpPr txBox="1"/>
          <p:nvPr/>
        </p:nvSpPr>
        <p:spPr>
          <a:xfrm>
            <a:off x="795407" y="2990319"/>
            <a:ext cx="5759951" cy="1538883"/>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chính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a:t>
            </a:r>
            <a:r>
              <a:rPr lang="en-US" sz="1400" dirty="0">
                <a:solidFill>
                  <a:srgbClr val="203864"/>
                </a:solidFill>
                <a:latin typeface="Times New Roman" panose="02020603050405020304" pitchFamily="18" charset="0"/>
                <a:cs typeface="Times New Roman" panose="02020603050405020304" pitchFamily="18" charset="0"/>
              </a:rPr>
              <a:t> do blower fan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ngay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liền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trước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chuyến</a:t>
            </a:r>
            <a:r>
              <a:rPr lang="en-US" sz="1400" dirty="0">
                <a:solidFill>
                  <a:srgbClr val="203864"/>
                </a:solidFill>
                <a:latin typeface="Times New Roman" panose="02020603050405020304" pitchFamily="18" charset="0"/>
                <a:cs typeface="Times New Roman" panose="02020603050405020304" pitchFamily="18" charset="0"/>
              </a:rPr>
              <a:t> bay </a:t>
            </a:r>
            <a:r>
              <a:rPr lang="en-US" sz="1400" dirty="0" err="1">
                <a:solidFill>
                  <a:srgbClr val="203864"/>
                </a:solidFill>
                <a:latin typeface="Times New Roman" panose="02020603050405020304" pitchFamily="18" charset="0"/>
                <a:cs typeface="Times New Roman" panose="02020603050405020304" pitchFamily="18" charset="0"/>
              </a:rPr>
              <a:t>này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raise ADD) </a:t>
            </a:r>
            <a:r>
              <a:rPr lang="en-US" sz="1400" dirty="0" err="1">
                <a:solidFill>
                  <a:srgbClr val="203864"/>
                </a:solidFill>
                <a:latin typeface="Times New Roman" panose="02020603050405020304" pitchFamily="18" charset="0"/>
                <a:cs typeface="Times New Roman" panose="02020603050405020304" pitchFamily="18" charset="0"/>
              </a:rPr>
              <a:t>tuy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nhiên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quạt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cũng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kẹt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cứng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dẫn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đến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lưu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lượng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khí</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giảm</a:t>
            </a:r>
            <a:r>
              <a:rPr lang="en-US" sz="1400" dirty="0">
                <a:solidFill>
                  <a:srgbClr val="203864"/>
                </a:solidFill>
                <a:latin typeface="Times New Roman" panose="02020603050405020304" pitchFamily="18" charset="0"/>
                <a:cs typeface="Times New Roman" panose="02020603050405020304" pitchFamily="18" charset="0"/>
              </a:rPr>
              <a:t> =&gt; </a:t>
            </a:r>
            <a:r>
              <a:rPr lang="en-US" sz="1400" dirty="0" err="1">
                <a:solidFill>
                  <a:srgbClr val="203864"/>
                </a:solidFill>
                <a:latin typeface="Times New Roman" panose="02020603050405020304" pitchFamily="18" charset="0"/>
                <a:cs typeface="Times New Roman" panose="02020603050405020304" pitchFamily="18" charset="0"/>
              </a:rPr>
              <a:t>xuất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thêm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cảnh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báo</a:t>
            </a:r>
            <a:r>
              <a:rPr lang="en-US" sz="1400" dirty="0">
                <a:solidFill>
                  <a:srgbClr val="203864"/>
                </a:solidFill>
                <a:latin typeface="Times New Roman" panose="02020603050405020304" pitchFamily="18" charset="0"/>
                <a:cs typeface="Times New Roman" panose="02020603050405020304" pitchFamily="18" charset="0"/>
              </a:rPr>
              <a:t> extract fan fault =&gt;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phải</a:t>
            </a:r>
            <a:r>
              <a:rPr lang="en-US" sz="1400" dirty="0">
                <a:solidFill>
                  <a:srgbClr val="203864"/>
                </a:solidFill>
                <a:latin typeface="Times New Roman" panose="02020603050405020304" pitchFamily="18" charset="0"/>
                <a:cs typeface="Times New Roman" panose="02020603050405020304" pitchFamily="18" charset="0"/>
              </a:rPr>
              <a:t> quay </a:t>
            </a:r>
            <a:r>
              <a:rPr lang="en-US" sz="1400" dirty="0" err="1">
                <a:solidFill>
                  <a:srgbClr val="203864"/>
                </a:solidFill>
                <a:latin typeface="Times New Roman" panose="02020603050405020304" pitchFamily="18" charset="0"/>
                <a:cs typeface="Times New Roman" panose="02020603050405020304" pitchFamily="18" charset="0"/>
              </a:rPr>
              <a:t>lại</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Blower fan </a:t>
            </a:r>
            <a:r>
              <a:rPr lang="en-US" sz="1400" dirty="0" err="1">
                <a:solidFill>
                  <a:srgbClr val="203864"/>
                </a:solidFill>
                <a:latin typeface="Times New Roman" panose="02020603050405020304" pitchFamily="18" charset="0"/>
                <a:cs typeface="Times New Roman" panose="02020603050405020304" pitchFamily="18" charset="0"/>
              </a:rPr>
              <a:t>mới</a:t>
            </a:r>
            <a:r>
              <a:rPr lang="en-US" sz="1400" dirty="0">
                <a:solidFill>
                  <a:srgbClr val="203864"/>
                </a:solidFill>
                <a:latin typeface="Times New Roman" panose="02020603050405020304" pitchFamily="18" charset="0"/>
                <a:cs typeface="Times New Roman" panose="02020603050405020304" pitchFamily="18" charset="0"/>
              </a:rPr>
              <a:t> OVH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lắp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trên</a:t>
            </a:r>
            <a:r>
              <a:rPr lang="en-US" sz="1400" dirty="0">
                <a:solidFill>
                  <a:srgbClr val="203864"/>
                </a:solidFill>
                <a:latin typeface="Times New Roman" panose="02020603050405020304" pitchFamily="18" charset="0"/>
                <a:cs typeface="Times New Roman" panose="02020603050405020304" pitchFamily="18" charset="0"/>
              </a:rPr>
              <a:t> A358 </a:t>
            </a:r>
            <a:r>
              <a:rPr lang="en-US" sz="1400" dirty="0" err="1">
                <a:solidFill>
                  <a:srgbClr val="203864"/>
                </a:solidFill>
                <a:latin typeface="Times New Roman" panose="02020603050405020304" pitchFamily="18" charset="0"/>
                <a:cs typeface="Times New Roman" panose="02020603050405020304" pitchFamily="18" charset="0"/>
              </a:rPr>
              <a:t>chưa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được</a:t>
            </a:r>
            <a:r>
              <a:rPr lang="en-US" sz="1400" dirty="0">
                <a:solidFill>
                  <a:srgbClr val="203864"/>
                </a:solidFill>
                <a:latin typeface="Times New Roman" panose="02020603050405020304" pitchFamily="18" charset="0"/>
                <a:cs typeface="Times New Roman" panose="02020603050405020304" pitchFamily="18" charset="0"/>
              </a:rPr>
              <a:t> 1000 FH, extract fan </a:t>
            </a:r>
            <a:r>
              <a:rPr lang="en-US" sz="1400" dirty="0" err="1">
                <a:solidFill>
                  <a:srgbClr val="203864"/>
                </a:solidFill>
                <a:latin typeface="Times New Roman" panose="02020603050405020304" pitchFamily="18" charset="0"/>
                <a:cs typeface="Times New Roman" panose="02020603050405020304" pitchFamily="18" charset="0"/>
              </a:rPr>
              <a:t>không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105" name="Picture 104">
            <a:extLst>
              <a:ext uri="{FF2B5EF4-FFF2-40B4-BE49-F238E27FC236}">
                <a16:creationId xmlns:a16="http://schemas.microsoft.com/office/drawing/2014/main" id="{6C0963AF-2C0C-426C-8070-5E29C3C95D73}"/>
              </a:ext>
            </a:extLst>
          </p:cNvPr>
          <p:cNvPicPr>
            <a:picLocks noChangeAspect="1"/>
          </p:cNvPicPr>
          <p:nvPr/>
        </p:nvPicPr>
        <p:blipFill>
          <a:blip r:embed="rId3"/>
          <a:stretch>
            <a:fillRect/>
          </a:stretch>
        </p:blipFill>
        <p:spPr>
          <a:xfrm>
            <a:off x="365624" y="2419483"/>
            <a:ext cx="510877" cy="512345"/>
          </a:xfrm>
          <a:prstGeom prst="rect">
            <a:avLst/>
          </a:prstGeom>
        </p:spPr>
      </p:pic>
      <p:grpSp>
        <p:nvGrpSpPr>
          <p:cNvPr id="43" name="Group 42">
            <a:extLst>
              <a:ext uri="{FF2B5EF4-FFF2-40B4-BE49-F238E27FC236}">
                <a16:creationId xmlns:a16="http://schemas.microsoft.com/office/drawing/2014/main" id="{96848787-7A9F-4F52-ABC0-1107EA34F5F0}"/>
              </a:ext>
            </a:extLst>
          </p:cNvPr>
          <p:cNvGrpSpPr/>
          <p:nvPr/>
        </p:nvGrpSpPr>
        <p:grpSpPr>
          <a:xfrm>
            <a:off x="795408" y="288234"/>
            <a:ext cx="11396592" cy="678753"/>
            <a:chOff x="976560" y="323070"/>
            <a:chExt cx="10755065" cy="678753"/>
          </a:xfrm>
        </p:grpSpPr>
        <p:cxnSp>
          <p:nvCxnSpPr>
            <p:cNvPr id="44" name="Straight Connector 43">
              <a:extLst>
                <a:ext uri="{FF2B5EF4-FFF2-40B4-BE49-F238E27FC236}">
                  <a16:creationId xmlns:a16="http://schemas.microsoft.com/office/drawing/2014/main" id="{EF38EC88-2153-4950-B37C-5AA23CFFE443}"/>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E261425C-3820-49B8-A55E-025BA5C93B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 name="Rectangle 2">
            <a:extLst>
              <a:ext uri="{FF2B5EF4-FFF2-40B4-BE49-F238E27FC236}">
                <a16:creationId xmlns:a16="http://schemas.microsoft.com/office/drawing/2014/main" id="{44661636-EB8A-415F-84D1-76873A64495B}"/>
              </a:ext>
            </a:extLst>
          </p:cNvPr>
          <p:cNvSpPr/>
          <p:nvPr/>
        </p:nvSpPr>
        <p:spPr>
          <a:xfrm>
            <a:off x="347568" y="753635"/>
            <a:ext cx="389850" cy="369332"/>
          </a:xfrm>
          <a:prstGeom prst="rect">
            <a:avLst/>
          </a:prstGeom>
        </p:spPr>
        <p:txBody>
          <a:bodyPr wrap="none">
            <a:spAutoFit/>
          </a:bodyPr>
          <a:lstStyle/>
          <a:p>
            <a:r>
              <a:rPr lang="en-US" b="1">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sym typeface="Wingdings" panose="05000000000000000000" pitchFamily="2" charset="2"/>
              </a:rPr>
              <a:t></a:t>
            </a:r>
            <a:endParaRPr lang="en-US"/>
          </a:p>
        </p:txBody>
      </p:sp>
      <p:sp>
        <p:nvSpPr>
          <p:cNvPr id="18" name="TextBox 17">
            <a:extLst>
              <a:ext uri="{FF2B5EF4-FFF2-40B4-BE49-F238E27FC236}">
                <a16:creationId xmlns:a16="http://schemas.microsoft.com/office/drawing/2014/main" id="{B299EA22-CE66-4152-AA3B-0EE67E068BED}"/>
              </a:ext>
            </a:extLst>
          </p:cNvPr>
          <p:cNvSpPr txBox="1"/>
          <p:nvPr/>
        </p:nvSpPr>
        <p:spPr>
          <a:xfrm>
            <a:off x="1037674" y="4672215"/>
            <a:ext cx="1969253" cy="369332"/>
          </a:xfrm>
          <a:prstGeom prst="rect">
            <a:avLst/>
          </a:prstGeom>
          <a:noFill/>
        </p:spPr>
        <p:txBody>
          <a:bodyPr wrap="square" rtlCol="0">
            <a:spAutoFit/>
          </a:bodyPr>
          <a:lstStyle/>
          <a:p>
            <a:pPr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Giải</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pháp</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4EBB0B7-3B29-442D-AB18-AC8C4C118B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1972" y="4509726"/>
            <a:ext cx="550890" cy="464480"/>
          </a:xfrm>
          <a:prstGeom prst="rect">
            <a:avLst/>
          </a:prstGeom>
        </p:spPr>
      </p:pic>
      <p:sp>
        <p:nvSpPr>
          <p:cNvPr id="6" name="Rectangle 5">
            <a:extLst>
              <a:ext uri="{FF2B5EF4-FFF2-40B4-BE49-F238E27FC236}">
                <a16:creationId xmlns:a16="http://schemas.microsoft.com/office/drawing/2014/main" id="{8577CEAE-802D-4767-9717-645CEE87B488}"/>
              </a:ext>
            </a:extLst>
          </p:cNvPr>
          <p:cNvSpPr/>
          <p:nvPr/>
        </p:nvSpPr>
        <p:spPr>
          <a:xfrm>
            <a:off x="795407" y="4989106"/>
            <a:ext cx="5759950" cy="1908215"/>
          </a:xfrm>
          <a:prstGeom prst="rect">
            <a:avLst/>
          </a:prstGeom>
        </p:spPr>
        <p:txBody>
          <a:bodyPr wrap="square">
            <a:spAutoFit/>
          </a:bodyPr>
          <a:lstStyle/>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QLVT claim </a:t>
            </a:r>
            <a:r>
              <a:rPr lang="en-US" sz="1400" dirty="0" err="1">
                <a:solidFill>
                  <a:srgbClr val="203864"/>
                </a:solidFill>
                <a:latin typeface="Times New Roman" panose="02020603050405020304" pitchFamily="18" charset="0"/>
                <a:cs typeface="Times New Roman" panose="02020603050405020304" pitchFamily="18" charset="0"/>
              </a:rPr>
              <a:t>bảo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hành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đối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với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khối</a:t>
            </a:r>
            <a:r>
              <a:rPr lang="en-US" sz="1400" dirty="0">
                <a:solidFill>
                  <a:srgbClr val="203864"/>
                </a:solidFill>
                <a:latin typeface="Times New Roman" panose="02020603050405020304" pitchFamily="18" charset="0"/>
                <a:cs typeface="Times New Roman" panose="02020603050405020304" pitchFamily="18" charset="0"/>
              </a:rPr>
              <a:t> blower fan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Hiện </a:t>
            </a:r>
            <a:r>
              <a:rPr lang="en-US" sz="1400" dirty="0" err="1">
                <a:solidFill>
                  <a:srgbClr val="203864"/>
                </a:solidFill>
                <a:latin typeface="Times New Roman" panose="02020603050405020304" pitchFamily="18" charset="0"/>
                <a:cs typeface="Times New Roman" panose="02020603050405020304" pitchFamily="18" charset="0"/>
              </a:rPr>
              <a:t>còn</a:t>
            </a:r>
            <a:r>
              <a:rPr lang="en-US" sz="1400" dirty="0">
                <a:solidFill>
                  <a:srgbClr val="203864"/>
                </a:solidFill>
                <a:latin typeface="Times New Roman" panose="02020603050405020304" pitchFamily="18" charset="0"/>
                <a:cs typeface="Times New Roman" panose="02020603050405020304" pitchFamily="18" charset="0"/>
              </a:rPr>
              <a:t> 38 </a:t>
            </a:r>
            <a:r>
              <a:rPr lang="en-US" sz="1400" dirty="0" err="1">
                <a:solidFill>
                  <a:srgbClr val="203864"/>
                </a:solidFill>
                <a:latin typeface="Times New Roman" panose="02020603050405020304" pitchFamily="18" charset="0"/>
                <a:cs typeface="Times New Roman" panose="02020603050405020304" pitchFamily="18" charset="0"/>
              </a:rPr>
              <a:t>khối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trên</a:t>
            </a:r>
            <a:r>
              <a:rPr lang="en-US" sz="1400" dirty="0">
                <a:solidFill>
                  <a:srgbClr val="203864"/>
                </a:solidFill>
                <a:latin typeface="Times New Roman" panose="02020603050405020304" pitchFamily="18" charset="0"/>
                <a:cs typeface="Times New Roman" panose="02020603050405020304" pitchFamily="18" charset="0"/>
              </a:rPr>
              <a:t> 10000 FH </a:t>
            </a:r>
            <a:r>
              <a:rPr lang="en-US" sz="1400" dirty="0" err="1">
                <a:solidFill>
                  <a:srgbClr val="203864"/>
                </a:solidFill>
                <a:latin typeface="Times New Roman" panose="02020603050405020304" pitchFamily="18" charset="0"/>
                <a:cs typeface="Times New Roman" panose="02020603050405020304" pitchFamily="18" charset="0"/>
              </a:rPr>
              <a:t>chưa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được</a:t>
            </a:r>
            <a:r>
              <a:rPr lang="en-US" sz="1400" dirty="0">
                <a:solidFill>
                  <a:srgbClr val="203864"/>
                </a:solidFill>
                <a:latin typeface="Times New Roman" panose="02020603050405020304" pitchFamily="18" charset="0"/>
                <a:cs typeface="Times New Roman" panose="02020603050405020304" pitchFamily="18" charset="0"/>
              </a:rPr>
              <a:t> OVH </a:t>
            </a:r>
            <a:r>
              <a:rPr lang="en-US" sz="1400" dirty="0" err="1">
                <a:solidFill>
                  <a:srgbClr val="203864"/>
                </a:solidFill>
                <a:latin typeface="Times New Roman" panose="02020603050405020304" pitchFamily="18" charset="0"/>
                <a:cs typeface="Times New Roman" panose="02020603050405020304" pitchFamily="18" charset="0"/>
              </a:rPr>
              <a:t>theo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chương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trình</a:t>
            </a:r>
            <a:r>
              <a:rPr lang="en-US" sz="1400" dirty="0">
                <a:solidFill>
                  <a:srgbClr val="203864"/>
                </a:solidFill>
                <a:latin typeface="Times New Roman" panose="02020603050405020304" pitchFamily="18" charset="0"/>
                <a:cs typeface="Times New Roman" panose="02020603050405020304" pitchFamily="18" charset="0"/>
              </a:rPr>
              <a:t> soft-time </a:t>
            </a:r>
            <a:r>
              <a:rPr lang="en-US" sz="1400" dirty="0" err="1">
                <a:solidFill>
                  <a:srgbClr val="203864"/>
                </a:solidFill>
                <a:latin typeface="Times New Roman" panose="02020603050405020304" pitchFamily="18" charset="0"/>
                <a:cs typeface="Times New Roman" panose="02020603050405020304" pitchFamily="18" charset="0"/>
              </a:rPr>
              <a:t>tuy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nhiên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trong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không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vật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tư</a:t>
            </a:r>
            <a:r>
              <a:rPr lang="en-US" sz="1400" dirty="0">
                <a:solidFill>
                  <a:srgbClr val="203864"/>
                </a:solidFill>
                <a:latin typeface="Times New Roman" panose="02020603050405020304" pitchFamily="18" charset="0"/>
                <a:cs typeface="Times New Roman" panose="02020603050405020304" pitchFamily="18" charset="0"/>
              </a:rPr>
              <a:t> quay </a:t>
            </a:r>
            <a:r>
              <a:rPr lang="en-US" sz="1400" dirty="0" err="1">
                <a:solidFill>
                  <a:srgbClr val="203864"/>
                </a:solidFill>
                <a:latin typeface="Times New Roman" panose="02020603050405020304" pitchFamily="18" charset="0"/>
                <a:cs typeface="Times New Roman" panose="02020603050405020304" pitchFamily="18" charset="0"/>
              </a:rPr>
              <a:t>vòng</a:t>
            </a:r>
            <a:r>
              <a:rPr lang="en-US" sz="1400" dirty="0">
                <a:solidFill>
                  <a:srgbClr val="203864"/>
                </a:solidFill>
                <a:latin typeface="Times New Roman" panose="02020603050405020304" pitchFamily="18" charset="0"/>
                <a:cs typeface="Times New Roman" panose="02020603050405020304" pitchFamily="18" charset="0"/>
              </a:rPr>
              <a:t>. Ban KT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gửi</a:t>
            </a:r>
            <a:r>
              <a:rPr lang="en-US" sz="1400" dirty="0">
                <a:solidFill>
                  <a:srgbClr val="203864"/>
                </a:solidFill>
                <a:latin typeface="Times New Roman" panose="02020603050405020304" pitchFamily="18" charset="0"/>
                <a:cs typeface="Times New Roman" panose="02020603050405020304" pitchFamily="18" charset="0"/>
              </a:rPr>
              <a:t> KH </a:t>
            </a:r>
            <a:r>
              <a:rPr lang="en-US" sz="1400" dirty="0" err="1">
                <a:solidFill>
                  <a:srgbClr val="203864"/>
                </a:solidFill>
                <a:latin typeface="Times New Roman" panose="02020603050405020304" pitchFamily="18" charset="0"/>
                <a:cs typeface="Times New Roman" panose="02020603050405020304" pitchFamily="18" charset="0"/>
              </a:rPr>
              <a:t>tháo</a:t>
            </a:r>
            <a:r>
              <a:rPr lang="en-US" sz="1400" dirty="0">
                <a:solidFill>
                  <a:srgbClr val="203864"/>
                </a:solidFill>
                <a:latin typeface="Times New Roman" panose="02020603050405020304" pitchFamily="18" charset="0"/>
                <a:cs typeface="Times New Roman" panose="02020603050405020304" pitchFamily="18" charset="0"/>
              </a:rPr>
              <a:t> 04 </a:t>
            </a:r>
            <a:r>
              <a:rPr lang="en-US" sz="1400" dirty="0" err="1">
                <a:solidFill>
                  <a:srgbClr val="203864"/>
                </a:solidFill>
                <a:latin typeface="Times New Roman" panose="02020603050405020304" pitchFamily="18" charset="0"/>
                <a:cs typeface="Times New Roman" panose="02020603050405020304" pitchFamily="18" charset="0"/>
              </a:rPr>
              <a:t>khối</a:t>
            </a:r>
            <a:r>
              <a:rPr lang="en-US" sz="1400" dirty="0">
                <a:solidFill>
                  <a:srgbClr val="203864"/>
                </a:solidFill>
                <a:latin typeface="Times New Roman" panose="02020603050405020304" pitchFamily="18" charset="0"/>
                <a:cs typeface="Times New Roman" panose="02020603050405020304" pitchFamily="18" charset="0"/>
              </a:rPr>
              <a:t>/ 01 </a:t>
            </a:r>
            <a:r>
              <a:rPr lang="en-US" sz="1400" dirty="0" err="1">
                <a:solidFill>
                  <a:srgbClr val="203864"/>
                </a:solidFill>
                <a:latin typeface="Times New Roman" panose="02020603050405020304" pitchFamily="18" charset="0"/>
                <a:cs typeface="Times New Roman" panose="02020603050405020304" pitchFamily="18" charset="0"/>
              </a:rPr>
              <a:t>tháng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cho</a:t>
            </a:r>
            <a:r>
              <a:rPr lang="en-US" sz="1400" dirty="0">
                <a:solidFill>
                  <a:srgbClr val="203864"/>
                </a:solidFill>
                <a:latin typeface="Times New Roman" panose="02020603050405020304" pitchFamily="18" charset="0"/>
                <a:cs typeface="Times New Roman" panose="02020603050405020304" pitchFamily="18" charset="0"/>
              </a:rPr>
              <a:t> STA =&gt; </a:t>
            </a:r>
            <a:r>
              <a:rPr lang="en-US" sz="1400" dirty="0" err="1">
                <a:solidFill>
                  <a:srgbClr val="203864"/>
                </a:solidFill>
                <a:latin typeface="Times New Roman" panose="02020603050405020304" pitchFamily="18" charset="0"/>
                <a:cs typeface="Times New Roman" panose="02020603050405020304" pitchFamily="18" charset="0"/>
              </a:rPr>
              <a:t>đề</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nghị</a:t>
            </a:r>
            <a:r>
              <a:rPr lang="en-US" sz="1400" dirty="0">
                <a:solidFill>
                  <a:srgbClr val="203864"/>
                </a:solidFill>
                <a:latin typeface="Times New Roman" panose="02020603050405020304" pitchFamily="18" charset="0"/>
                <a:cs typeface="Times New Roman" panose="02020603050405020304" pitchFamily="18" charset="0"/>
              </a:rPr>
              <a:t> QLVT </a:t>
            </a:r>
            <a:r>
              <a:rPr lang="en-US" sz="1400" dirty="0" err="1">
                <a:solidFill>
                  <a:srgbClr val="203864"/>
                </a:solidFill>
                <a:latin typeface="Times New Roman" panose="02020603050405020304" pitchFamily="18" charset="0"/>
                <a:cs typeface="Times New Roman" panose="02020603050405020304" pitchFamily="18" charset="0"/>
              </a:rPr>
              <a:t>làm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việc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với</a:t>
            </a:r>
            <a:r>
              <a:rPr lang="en-US" sz="1400" dirty="0">
                <a:solidFill>
                  <a:srgbClr val="203864"/>
                </a:solidFill>
                <a:latin typeface="Times New Roman" panose="02020603050405020304" pitchFamily="18" charset="0"/>
                <a:cs typeface="Times New Roman" panose="02020603050405020304" pitchFamily="18" charset="0"/>
              </a:rPr>
              <a:t> STA </a:t>
            </a:r>
            <a:r>
              <a:rPr lang="en-US" sz="1400" dirty="0" err="1">
                <a:solidFill>
                  <a:srgbClr val="203864"/>
                </a:solidFill>
                <a:latin typeface="Times New Roman" panose="02020603050405020304" pitchFamily="18" charset="0"/>
                <a:cs typeface="Times New Roman" panose="02020603050405020304" pitchFamily="18" charset="0"/>
              </a:rPr>
              <a:t>để</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vật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tư</a:t>
            </a:r>
            <a:r>
              <a:rPr lang="en-US" sz="1400" dirty="0">
                <a:solidFill>
                  <a:srgbClr val="203864"/>
                </a:solidFill>
                <a:latin typeface="Times New Roman" panose="02020603050405020304" pitchFamily="18" charset="0"/>
                <a:cs typeface="Times New Roman" panose="02020603050405020304" pitchFamily="18" charset="0"/>
              </a:rPr>
              <a:t> quay </a:t>
            </a:r>
            <a:r>
              <a:rPr lang="en-US" sz="1400" dirty="0" err="1">
                <a:solidFill>
                  <a:srgbClr val="203864"/>
                </a:solidFill>
                <a:latin typeface="Times New Roman" panose="02020603050405020304" pitchFamily="18" charset="0"/>
                <a:cs typeface="Times New Roman" panose="02020603050405020304" pitchFamily="18" charset="0"/>
              </a:rPr>
              <a:t>vòng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chương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trình</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Chương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trình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theo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dõi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tình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trạng</a:t>
            </a:r>
            <a:r>
              <a:rPr lang="en-US" sz="1400" dirty="0">
                <a:solidFill>
                  <a:srgbClr val="203864"/>
                </a:solidFill>
                <a:latin typeface="Times New Roman" panose="02020603050405020304" pitchFamily="18" charset="0"/>
                <a:cs typeface="Times New Roman" panose="02020603050405020304" pitchFamily="18" charset="0"/>
              </a:rPr>
              <a:t> avionic fan 8000 USD/1 </a:t>
            </a:r>
            <a:r>
              <a:rPr lang="en-US" sz="1400" dirty="0" err="1">
                <a:solidFill>
                  <a:srgbClr val="203864"/>
                </a:solidFill>
                <a:latin typeface="Times New Roman" panose="02020603050405020304" pitchFamily="18" charset="0"/>
                <a:cs typeface="Times New Roman" panose="02020603050405020304" pitchFamily="18" charset="0"/>
              </a:rPr>
              <a:t>khối</a:t>
            </a:r>
            <a:r>
              <a:rPr lang="en-US" sz="1400" dirty="0">
                <a:solidFill>
                  <a:srgbClr val="203864"/>
                </a:solidFill>
                <a:latin typeface="Times New Roman" panose="02020603050405020304" pitchFamily="18" charset="0"/>
                <a:cs typeface="Times New Roman" panose="02020603050405020304" pitchFamily="18" charset="0"/>
              </a:rPr>
              <a:t> =&gt; </a:t>
            </a:r>
            <a:r>
              <a:rPr lang="en-US" sz="1400" dirty="0" err="1">
                <a:solidFill>
                  <a:srgbClr val="203864"/>
                </a:solidFill>
                <a:latin typeface="Times New Roman" panose="02020603050405020304" pitchFamily="18" charset="0"/>
                <a:cs typeface="Times New Roman" panose="02020603050405020304" pitchFamily="18" charset="0"/>
              </a:rPr>
              <a:t>cân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nhắc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đánh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giá</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thưc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nếu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cần</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6"/>
          <a:stretch>
            <a:fillRect/>
          </a:stretch>
        </p:blipFill>
        <p:spPr>
          <a:xfrm>
            <a:off x="8473439" y="2493712"/>
            <a:ext cx="2766213" cy="1815327"/>
          </a:xfrm>
          <a:prstGeom prst="rect">
            <a:avLst/>
          </a:prstGeom>
        </p:spPr>
      </p:pic>
      <p:pic>
        <p:nvPicPr>
          <p:cNvPr id="5" name="Picture 4"/>
          <p:cNvPicPr>
            <a:picLocks noChangeAspect="1"/>
          </p:cNvPicPr>
          <p:nvPr/>
        </p:nvPicPr>
        <p:blipFill>
          <a:blip r:embed="rId7"/>
          <a:stretch>
            <a:fillRect/>
          </a:stretch>
        </p:blipFill>
        <p:spPr>
          <a:xfrm>
            <a:off x="8498251" y="4243382"/>
            <a:ext cx="3217027" cy="2071698"/>
          </a:xfrm>
          <a:prstGeom prst="rect">
            <a:avLst/>
          </a:prstGeom>
        </p:spPr>
      </p:pic>
    </p:spTree>
    <p:extLst>
      <p:ext uri="{BB962C8B-B14F-4D97-AF65-F5344CB8AC3E}">
        <p14:creationId xmlns:p14="http://schemas.microsoft.com/office/powerpoint/2010/main" val="823119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12</a:t>
            </a:fld>
            <a:endParaRPr lang="en-US" altLang="en-US" sz="1200">
              <a:solidFill>
                <a:srgbClr val="D2A43B"/>
              </a:solidFill>
              <a:latin typeface="Montserrat"/>
            </a:endParaRPr>
          </a:p>
        </p:txBody>
      </p:sp>
      <p:sp>
        <p:nvSpPr>
          <p:cNvPr id="1048638" name="Title 4"/>
          <p:cNvSpPr>
            <a:spLocks noGrp="1"/>
          </p:cNvSpPr>
          <p:nvPr>
            <p:ph type="title"/>
          </p:nvPr>
        </p:nvSpPr>
        <p:spPr>
          <a:xfrm>
            <a:off x="1051775" y="521594"/>
            <a:ext cx="8686799" cy="609600"/>
          </a:xfrm>
        </p:spPr>
        <p:txBody>
          <a:bodyPr rtlCol="0">
            <a:normAutofit/>
          </a:bodyPr>
          <a:lstStyle/>
          <a:p>
            <a:pPr eaLnBrk="1" fontAlgn="auto" hangingPunct="1">
              <a:spcAft>
                <a:spcPts val="0"/>
              </a:spcAft>
              <a:defRPr/>
            </a:pPr>
            <a:r>
              <a:rPr lang="en-US" sz="24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4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311CC99-42A4-BD10-390B-EE6B3A4DC329}"/>
              </a:ext>
            </a:extLst>
          </p:cNvPr>
          <p:cNvSpPr txBox="1"/>
          <p:nvPr/>
        </p:nvSpPr>
        <p:spPr>
          <a:xfrm>
            <a:off x="1047482" y="1143000"/>
            <a:ext cx="10229811" cy="3293209"/>
          </a:xfrm>
          <a:prstGeom prst="rect">
            <a:avLst/>
          </a:prstGeom>
          <a:noFill/>
        </p:spPr>
        <p:txBody>
          <a:bodyPr wrap="square">
            <a:spAutoFit/>
          </a:bodyPr>
          <a:lstStyle/>
          <a:p>
            <a:pPr lvl="0" algn="just">
              <a:lnSpc>
                <a:spcPct val="150000"/>
              </a:lnSpc>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dirty="0">
                <a:latin typeface="Times New Roman" panose="02020603050405020304" pitchFamily="18" charset="0"/>
                <a:cs typeface="Times New Roman" panose="02020603050405020304" pitchFamily="18" charset="0"/>
              </a:rPr>
              <a:t>: </a:t>
            </a:r>
          </a:p>
          <a:p>
            <a:pPr lvl="0" algn="just">
              <a:lnSpc>
                <a:spcPct val="150000"/>
              </a:lnSpc>
              <a:defRPr/>
            </a:pPr>
            <a:r>
              <a:rPr lang="en-US" sz="1600" smtClean="0">
                <a:latin typeface="Times New Roman" panose="02020603050405020304" pitchFamily="18" charset="0"/>
                <a:cs typeface="Times New Roman" panose="02020603050405020304" pitchFamily="18" charset="0"/>
              </a:rPr>
              <a:t>Các phát sinh trong tuần</a:t>
            </a:r>
            <a:endParaRPr lang="vi-VN" sz="160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a:latin typeface="Times New Roman" panose="02020603050405020304" pitchFamily="18" charset="0"/>
                <a:cs typeface="Times New Roman" panose="02020603050405020304" pitchFamily="18" charset="0"/>
              </a:rPr>
              <a:t>A323 phát sinh MSG ENG#1 FUEL VALVE FAULT, tàu đã thay FMU để khắc phục </a:t>
            </a:r>
          </a:p>
          <a:p>
            <a:pPr marL="342900" indent="-342900">
              <a:buFont typeface="+mj-lt"/>
              <a:buAutoNum type="arabicPeriod"/>
            </a:pPr>
            <a:r>
              <a:rPr lang="en-US" sz="1600">
                <a:latin typeface="Times New Roman" panose="02020603050405020304" pitchFamily="18" charset="0"/>
                <a:cs typeface="Times New Roman" panose="02020603050405020304" pitchFamily="18" charset="0"/>
              </a:rPr>
              <a:t>A358 GTB VENT EXTRACT FAN FAULT (tàu trước đó đã có ADD về AVIONICS BLOWER FAN FAULT), đã thực hiện swap 2 FAN với nhau để bỏ 1 MEL avionics blower fan. Sau đó tàu về kiểm tra các fan và dây dẫy không phát hiện bất thường, 2 FAN trên cũng mới khai thác từ 2024.</a:t>
            </a:r>
          </a:p>
          <a:p>
            <a:pPr marL="342900" indent="-342900">
              <a:buFont typeface="+mj-lt"/>
              <a:buAutoNum type="arabicPeriod"/>
            </a:pPr>
            <a:r>
              <a:rPr lang="en-US" sz="1600">
                <a:latin typeface="Times New Roman" panose="02020603050405020304" pitchFamily="18" charset="0"/>
                <a:cs typeface="Times New Roman" panose="02020603050405020304" pitchFamily="18" charset="0"/>
              </a:rPr>
              <a:t>A614 khi khắc phục ADD B2409 phát hiệnANTI ICE INPACT PANEL disbond out of limit, tàu sẽ vào check để thay động cơ</a:t>
            </a:r>
          </a:p>
          <a:p>
            <a:pPr marL="342900" indent="-342900">
              <a:buFont typeface="+mj-lt"/>
              <a:buAutoNum type="arabicPeriod"/>
            </a:pPr>
            <a:r>
              <a:rPr lang="en-US" sz="1600">
                <a:latin typeface="Times New Roman" panose="02020603050405020304" pitchFamily="18" charset="0"/>
                <a:cs typeface="Times New Roman" panose="02020603050405020304" pitchFamily="18" charset="0"/>
              </a:rPr>
              <a:t>Ngoài ra trong tuần phát sinh trường hợp tàu A331 kiểm tra CoA phát hiện heatshield ở cả 2 động cơ bị hỏng và phải dừng để khắc phục hỏng hóc</a:t>
            </a:r>
          </a:p>
          <a:p>
            <a:pPr marL="342900" indent="-342900">
              <a:buFont typeface="+mj-lt"/>
              <a:buAutoNum type="arabicPeriod"/>
            </a:pPr>
            <a:r>
              <a:rPr lang="en-US" sz="1600">
                <a:latin typeface="Times New Roman" panose="02020603050405020304" pitchFamily="18" charset="0"/>
                <a:cs typeface="Times New Roman" panose="02020603050405020304" pitchFamily="18" charset="0"/>
              </a:rPr>
              <a:t>A334 </a:t>
            </a:r>
            <a:r>
              <a:rPr lang="en-US" sz="1600" smtClean="0">
                <a:latin typeface="Times New Roman" panose="02020603050405020304" pitchFamily="18" charset="0"/>
                <a:cs typeface="Times New Roman" panose="02020603050405020304" pitchFamily="18" charset="0"/>
              </a:rPr>
              <a:t>phát </a:t>
            </a:r>
            <a:r>
              <a:rPr lang="en-US" sz="1600">
                <a:latin typeface="Times New Roman" panose="02020603050405020304" pitchFamily="18" charset="0"/>
                <a:cs typeface="Times New Roman" panose="02020603050405020304" pitchFamily="18" charset="0"/>
              </a:rPr>
              <a:t>sinh GTB &amp; ATB do cũng xuất hiện Mess AVIONICS BLOWER FAN FAULT và VENT EXTRACT FAN FAULT, phát hiện skin air valve bị kẹt và đang </a:t>
            </a:r>
            <a:r>
              <a:rPr lang="en-US" sz="1600" smtClean="0">
                <a:latin typeface="Times New Roman" panose="02020603050405020304" pitchFamily="18" charset="0"/>
                <a:cs typeface="Times New Roman" panose="02020603050405020304" pitchFamily="18" charset="0"/>
              </a:rPr>
              <a:t>T/S.</a:t>
            </a:r>
            <a:endParaRPr lang="en-US"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0225025"/>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166351" y="0"/>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00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A2E25CF-F09B-0F7D-8BE1-4832D15B9FCD}"/>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Tuần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từ</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24/02/2025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02/03/2025, Fleet A350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tình</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trạng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tốt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không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vụ</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OI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nào</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liên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quan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Rectangle 5">
            <a:extLst>
              <a:ext uri="{FF2B5EF4-FFF2-40B4-BE49-F238E27FC236}">
                <a16:creationId xmlns:a16="http://schemas.microsoft.com/office/drawing/2014/main" id="{5914447B-A879-4C97-AD62-7AFABAF9410A}"/>
              </a:ext>
            </a:extLst>
          </p:cNvPr>
          <p:cNvSpPr/>
          <p:nvPr/>
        </p:nvSpPr>
        <p:spPr>
          <a:xfrm>
            <a:off x="914400" y="1853973"/>
            <a:ext cx="11769687"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tốt.</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US" sz="1600">
                <a:latin typeface="Times New Roman" panose="02020603050405020304" pitchFamily="18" charset="0"/>
                <a:cs typeface="Times New Roman" panose="02020603050405020304" pitchFamily="18" charset="0"/>
              </a:rPr>
              <a:t>+ NIL.</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5213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08C4FE41-8561-6ADF-AC81-51E829E168DB}"/>
              </a:ext>
            </a:extLst>
          </p:cNvPr>
          <p:cNvGraphicFramePr>
            <a:graphicFrameLocks noGrp="1"/>
          </p:cNvGraphicFramePr>
          <p:nvPr>
            <p:extLst/>
          </p:nvPr>
        </p:nvGraphicFramePr>
        <p:xfrm>
          <a:off x="257576" y="565154"/>
          <a:ext cx="11676849" cy="6282809"/>
        </p:xfrm>
        <a:graphic>
          <a:graphicData uri="http://schemas.openxmlformats.org/drawingml/2006/table">
            <a:tbl>
              <a:tblPr/>
              <a:tblGrid>
                <a:gridCol w="347069">
                  <a:extLst>
                    <a:ext uri="{9D8B030D-6E8A-4147-A177-3AD203B41FA5}">
                      <a16:colId xmlns:a16="http://schemas.microsoft.com/office/drawing/2014/main" val="2790313564"/>
                    </a:ext>
                  </a:extLst>
                </a:gridCol>
                <a:gridCol w="495609">
                  <a:extLst>
                    <a:ext uri="{9D8B030D-6E8A-4147-A177-3AD203B41FA5}">
                      <a16:colId xmlns:a16="http://schemas.microsoft.com/office/drawing/2014/main" val="2753543418"/>
                    </a:ext>
                  </a:extLst>
                </a:gridCol>
                <a:gridCol w="545171">
                  <a:extLst>
                    <a:ext uri="{9D8B030D-6E8A-4147-A177-3AD203B41FA5}">
                      <a16:colId xmlns:a16="http://schemas.microsoft.com/office/drawing/2014/main" val="2222516927"/>
                    </a:ext>
                  </a:extLst>
                </a:gridCol>
                <a:gridCol w="1348059">
                  <a:extLst>
                    <a:ext uri="{9D8B030D-6E8A-4147-A177-3AD203B41FA5}">
                      <a16:colId xmlns:a16="http://schemas.microsoft.com/office/drawing/2014/main" val="4076735905"/>
                    </a:ext>
                  </a:extLst>
                </a:gridCol>
                <a:gridCol w="1011044">
                  <a:extLst>
                    <a:ext uri="{9D8B030D-6E8A-4147-A177-3AD203B41FA5}">
                      <a16:colId xmlns:a16="http://schemas.microsoft.com/office/drawing/2014/main" val="3249414057"/>
                    </a:ext>
                  </a:extLst>
                </a:gridCol>
                <a:gridCol w="1447180">
                  <a:extLst>
                    <a:ext uri="{9D8B030D-6E8A-4147-A177-3AD203B41FA5}">
                      <a16:colId xmlns:a16="http://schemas.microsoft.com/office/drawing/2014/main" val="3527473840"/>
                    </a:ext>
                  </a:extLst>
                </a:gridCol>
                <a:gridCol w="6482717">
                  <a:extLst>
                    <a:ext uri="{9D8B030D-6E8A-4147-A177-3AD203B41FA5}">
                      <a16:colId xmlns:a16="http://schemas.microsoft.com/office/drawing/2014/main" val="460410430"/>
                    </a:ext>
                  </a:extLst>
                </a:gridCol>
              </a:tblGrid>
              <a:tr h="185616">
                <a:tc>
                  <a:txBody>
                    <a:bodyPr/>
                    <a:lstStyle/>
                    <a:p>
                      <a:pPr algn="ctr" fontAlgn="ctr"/>
                      <a:r>
                        <a:rPr lang="en-US" sz="1200" b="0" i="0" u="none" strike="noStrike">
                          <a:solidFill>
                            <a:srgbClr val="000000"/>
                          </a:solidFill>
                          <a:effectLst/>
                          <a:latin typeface="Calibri" panose="020F0502020204030204" pitchFamily="34" charset="0"/>
                        </a:rPr>
                        <a:t>No</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Fleet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tàu bay</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KT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200" b="0" i="0" u="none" strike="noStrike">
                          <a:solidFill>
                            <a:srgbClr val="000000"/>
                          </a:solidFill>
                          <a:effectLst/>
                          <a:latin typeface="Calibri" panose="020F0502020204030204" pitchFamily="34" charset="0"/>
                        </a:rPr>
                        <a:t>Điều kiện chuyên cơ</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Ghi chú</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7065882"/>
                  </a:ext>
                </a:extLst>
              </a:tr>
              <a:tr h="551376">
                <a:tc>
                  <a:txBody>
                    <a:bodyPr/>
                    <a:lstStyle/>
                    <a:p>
                      <a:pPr algn="ctr" fontAlgn="ctr"/>
                      <a:r>
                        <a:rPr lang="en-US" sz="1200" b="0" i="0" u="none" strike="noStrike">
                          <a:solidFill>
                            <a:srgbClr val="000000"/>
                          </a:solidFill>
                          <a:effectLst/>
                          <a:latin typeface="Calibri" panose="020F0502020204030204" pitchFamily="34" charset="0"/>
                        </a:rPr>
                        <a:t>1</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A886</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B1372 RAISED DM AIR REDUNDANCY LOSS ON FUEL INERTING</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B1379 RAISED PACK 1 REGULATION REDUNDANCY</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B1381 RAISED F/CTL R OUT R AILERON G ACTUATOR</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2015123"/>
                  </a:ext>
                </a:extLst>
              </a:tr>
              <a:tr h="185616">
                <a:tc>
                  <a:txBody>
                    <a:bodyPr/>
                    <a:lstStyle/>
                    <a:p>
                      <a:pPr algn="ctr" fontAlgn="ctr"/>
                      <a:r>
                        <a:rPr lang="en-US" sz="1200" b="0" i="0" u="none" strike="noStrike">
                          <a:solidFill>
                            <a:srgbClr val="000000"/>
                          </a:solidFill>
                          <a:effectLst/>
                          <a:latin typeface="Calibri" panose="020F0502020204030204" pitchFamily="34" charset="0"/>
                        </a:rPr>
                        <a:t>2</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A887</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B1246 RAISED AIR PACK 2 REGUL REDUNDANCY</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6233938"/>
                  </a:ext>
                </a:extLst>
              </a:tr>
              <a:tr h="368496">
                <a:tc>
                  <a:txBody>
                    <a:bodyPr/>
                    <a:lstStyle/>
                    <a:p>
                      <a:pPr algn="ctr" fontAlgn="ctr"/>
                      <a:r>
                        <a:rPr lang="en-US" sz="1200" b="0" i="0" u="none" strike="noStrike">
                          <a:solidFill>
                            <a:srgbClr val="000000"/>
                          </a:solidFill>
                          <a:effectLst/>
                          <a:latin typeface="Calibri" panose="020F0502020204030204" pitchFamily="34" charset="0"/>
                        </a:rPr>
                        <a:t>3</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A888</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B1377 RAISED EXT LT STROBE LT</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SKYWISE MSG: ENG 1-SD-ENG-QOIL DISPLAYED IN GREEN PULSING COLOUR</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5498896"/>
                  </a:ext>
                </a:extLst>
              </a:tr>
              <a:tr h="551376">
                <a:tc>
                  <a:txBody>
                    <a:bodyPr/>
                    <a:lstStyle/>
                    <a:p>
                      <a:pPr algn="ctr" fontAlgn="ctr"/>
                      <a:r>
                        <a:rPr lang="en-US" sz="1200" b="0" i="0" u="none" strike="noStrike">
                          <a:solidFill>
                            <a:srgbClr val="000000"/>
                          </a:solidFill>
                          <a:effectLst/>
                          <a:latin typeface="Calibri" panose="020F0502020204030204" pitchFamily="34" charset="0"/>
                        </a:rPr>
                        <a:t>4</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A889</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21088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B1188 RAISED THE OUTBOARD SEAL OF LH MOVEABLE FAIRING # 4 DAMAGED (38CM)</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MSG SATCOM</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8439310"/>
                  </a:ext>
                </a:extLst>
              </a:tr>
              <a:tr h="551376">
                <a:tc>
                  <a:txBody>
                    <a:bodyPr/>
                    <a:lstStyle/>
                    <a:p>
                      <a:pPr algn="ctr" fontAlgn="ctr"/>
                      <a:r>
                        <a:rPr lang="en-US" sz="1200" b="0" i="0" u="none" strike="noStrike">
                          <a:solidFill>
                            <a:srgbClr val="000000"/>
                          </a:solidFill>
                          <a:effectLst/>
                          <a:latin typeface="Calibri" panose="020F0502020204030204" pitchFamily="34" charset="0"/>
                        </a:rPr>
                        <a:t>5</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TR 81489576: PREVENTIVE RECOMMENDATION PACK 2 INTERNAL LEAKAGE</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DM: F/CTL ONE GYRO/ACCLMTR</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B1495 RAISED REAR NAV LIGHT 2 INOP</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5926723"/>
                  </a:ext>
                </a:extLst>
              </a:tr>
              <a:tr h="185616">
                <a:tc>
                  <a:txBody>
                    <a:bodyPr/>
                    <a:lstStyle/>
                    <a:p>
                      <a:pPr algn="ctr" fontAlgn="ctr"/>
                      <a:r>
                        <a:rPr lang="en-US" sz="1200" b="0" i="0" u="none" strike="noStrike">
                          <a:solidFill>
                            <a:srgbClr val="000000"/>
                          </a:solidFill>
                          <a:effectLst/>
                          <a:latin typeface="Calibri" panose="020F0502020204030204" pitchFamily="34" charset="0"/>
                        </a:rPr>
                        <a:t>6</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A891</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4235647"/>
                  </a:ext>
                </a:extLst>
              </a:tr>
              <a:tr h="368496">
                <a:tc>
                  <a:txBody>
                    <a:bodyPr/>
                    <a:lstStyle/>
                    <a:p>
                      <a:pPr algn="ctr" fontAlgn="ctr"/>
                      <a:r>
                        <a:rPr lang="en-US" sz="1200" b="0" i="0" u="none" strike="noStrike">
                          <a:solidFill>
                            <a:srgbClr val="000000"/>
                          </a:solidFill>
                          <a:effectLst/>
                          <a:latin typeface="Calibri" panose="020F0502020204030204" pitchFamily="34" charset="0"/>
                        </a:rPr>
                        <a:t>7</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A892</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B1455 RAISED THE DROOP-NOSE END-FILLING PANEL AT R/H MISSING</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2. ENGINE: #2/21368 ON AIRCRAFT VN-A892: P25 MEASUREMENT ERROR</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838290"/>
                  </a:ext>
                </a:extLst>
              </a:tr>
              <a:tr h="368496">
                <a:tc>
                  <a:txBody>
                    <a:bodyPr/>
                    <a:lstStyle/>
                    <a:p>
                      <a:pPr algn="ctr" fontAlgn="ctr"/>
                      <a:r>
                        <a:rPr lang="en-US" sz="1200" b="0" i="0" u="none" strike="noStrike">
                          <a:solidFill>
                            <a:srgbClr val="000000"/>
                          </a:solidFill>
                          <a:effectLst/>
                          <a:latin typeface="Calibri" panose="020F0502020204030204" pitchFamily="34" charset="0"/>
                        </a:rPr>
                        <a:t>8</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A893</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1. Không chọn chuyên cơ do động cơ số 2 S/N 21369 tiêu hao dầu nhờn cao, Rolls-Royce chưa đưa ra được giải pháp khắc phục.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2163683"/>
                  </a:ext>
                </a:extLst>
              </a:tr>
              <a:tr h="368496">
                <a:tc>
                  <a:txBody>
                    <a:bodyPr/>
                    <a:lstStyle/>
                    <a:p>
                      <a:pPr algn="ctr" fontAlgn="ctr"/>
                      <a:r>
                        <a:rPr lang="en-US" sz="1200" b="0" i="0" u="none" strike="noStrike">
                          <a:solidFill>
                            <a:srgbClr val="000000"/>
                          </a:solidFill>
                          <a:effectLst/>
                          <a:latin typeface="Calibri" panose="020F0502020204030204" pitchFamily="34" charset="0"/>
                        </a:rPr>
                        <a:t>9</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A894</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21425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B1107 RAISED INBOARD SEAL OF LH INBOARD AILERON DAMAGED (15CM)</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8435046"/>
                  </a:ext>
                </a:extLst>
              </a:tr>
              <a:tr h="368496">
                <a:tc>
                  <a:txBody>
                    <a:bodyPr/>
                    <a:lstStyle/>
                    <a:p>
                      <a:pPr algn="ctr" fontAlgn="ctr"/>
                      <a:r>
                        <a:rPr lang="en-US" sz="1200" b="0" i="0" u="none" strike="noStrike">
                          <a:solidFill>
                            <a:srgbClr val="000000"/>
                          </a:solidFill>
                          <a:effectLst/>
                          <a:latin typeface="Calibri" panose="020F0502020204030204" pitchFamily="34" charset="0"/>
                        </a:rPr>
                        <a:t>10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A895</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B995 RAISED ENGINE #1 SN 21604 HAVE LOW LIFE TIME </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2. ADD B996 RAISED ENGINE #2 SN 21414 HAVE LOW LIFE TIME</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530906"/>
                  </a:ext>
                </a:extLst>
              </a:tr>
              <a:tr h="392345">
                <a:tc>
                  <a:txBody>
                    <a:bodyPr/>
                    <a:lstStyle/>
                    <a:p>
                      <a:pPr algn="ctr" fontAlgn="ctr"/>
                      <a:r>
                        <a:rPr lang="en-US" sz="1200" b="0" i="0" u="none" strike="noStrike">
                          <a:solidFill>
                            <a:srgbClr val="000000"/>
                          </a:solidFill>
                          <a:effectLst/>
                          <a:latin typeface="Calibri" panose="020F0502020204030204" pitchFamily="34" charset="0"/>
                        </a:rPr>
                        <a:t>11</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A896</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B954 RAISED UPPER LATCH ASSY OF COCKPIT DOOR BOLTING SYSTEM IS NOT FULLY LOCKED </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2. TR 81416394: PREVENTIVE RECOMMENDATION PACK 1 INTERNAL LEAKAGE</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0835205"/>
                  </a:ext>
                </a:extLst>
              </a:tr>
              <a:tr h="368496">
                <a:tc>
                  <a:txBody>
                    <a:bodyPr/>
                    <a:lstStyle/>
                    <a:p>
                      <a:pPr algn="ctr" fontAlgn="ctr"/>
                      <a:r>
                        <a:rPr lang="en-US" sz="1200" b="0" i="0" u="none" strike="noStrike">
                          <a:solidFill>
                            <a:srgbClr val="000000"/>
                          </a:solidFill>
                          <a:effectLst/>
                          <a:latin typeface="Calibri" panose="020F0502020204030204" pitchFamily="34" charset="0"/>
                        </a:rPr>
                        <a:t>12</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A897</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21214 giảm tần suất soi heatshield 2400FH/400FC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A897 có logo Skyteam</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193321"/>
                  </a:ext>
                </a:extLst>
              </a:tr>
              <a:tr h="1282896">
                <a:tc>
                  <a:txBody>
                    <a:bodyPr/>
                    <a:lstStyle/>
                    <a:p>
                      <a:pPr algn="ctr" fontAlgn="ctr"/>
                      <a:r>
                        <a:rPr lang="en-US" sz="1200" b="0" i="0" u="none" strike="noStrike">
                          <a:solidFill>
                            <a:srgbClr val="000000"/>
                          </a:solidFill>
                          <a:effectLst/>
                          <a:latin typeface="Calibri" panose="020F0502020204030204" pitchFamily="34" charset="0"/>
                        </a:rPr>
                        <a:t>13</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A898</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21214 giảm tần suất soi heatshield 2400FH/400FC. Eng 2 21268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CABIN tồn đọng hỏng hóc MID SCS CHILLER, cân nhắc chọn tầu VIP chỉ bay nội địa</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B1134 RAISED FOR REPAIR OF DENT L/H DROOP NOSE WITHIN 350FC OR 150 DAYS WHICHEVER COME FIRST</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ADD B1137 RAISED BRAKE FAN #8 INOP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5. CAPT OXYGEN CYLINDER (11HT1) PRESSURE IS LOW NEAR LIMIT (&lt;1200 PSI)</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0015640"/>
                  </a:ext>
                </a:extLst>
              </a:tr>
              <a:tr h="185616">
                <a:tc>
                  <a:txBody>
                    <a:bodyPr/>
                    <a:lstStyle/>
                    <a:p>
                      <a:pPr algn="ctr" fontAlgn="ctr"/>
                      <a:r>
                        <a:rPr lang="en-US" sz="1200" b="0" i="0" u="none" strike="noStrike">
                          <a:solidFill>
                            <a:srgbClr val="000000"/>
                          </a:solidFill>
                          <a:effectLst/>
                          <a:latin typeface="Calibri" panose="020F0502020204030204" pitchFamily="34" charset="0"/>
                        </a:rPr>
                        <a:t>14</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A899</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21048 giảm tần suất soi HPT blade 800FH/100FC</a:t>
                      </a:r>
                    </a:p>
                  </a:txBody>
                  <a:tcPr marL="2736" marR="2736" marT="27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7580969"/>
                  </a:ext>
                </a:extLst>
              </a:tr>
            </a:tbl>
          </a:graphicData>
        </a:graphic>
      </p:graphicFrame>
    </p:spTree>
    <p:extLst>
      <p:ext uri="{BB962C8B-B14F-4D97-AF65-F5344CB8AC3E}">
        <p14:creationId xmlns:p14="http://schemas.microsoft.com/office/powerpoint/2010/main" val="2960261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92E031-A495-C425-F4D6-8B23CC62A11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EF91500-24F8-9A79-AC28-72188765A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C1F1A29-C2BD-434E-677B-E97D46A702DD}"/>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4" name="TextBox 3">
            <a:extLst>
              <a:ext uri="{FF2B5EF4-FFF2-40B4-BE49-F238E27FC236}">
                <a16:creationId xmlns:a16="http://schemas.microsoft.com/office/drawing/2014/main" id="{967EFEE8-7A57-C8BE-9EB9-D2B348474B51}"/>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792301F0-8542-2D8A-C66A-326C6F3CDFAE}"/>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03</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CAD5C0B-89B3-48BC-CC84-9F640008550B}"/>
              </a:ext>
            </a:extLst>
          </p:cNvPr>
          <p:cNvGraphicFramePr>
            <a:graphicFrameLocks noGrp="1"/>
          </p:cNvGraphicFramePr>
          <p:nvPr>
            <p:extLst>
              <p:ext uri="{D42A27DB-BD31-4B8C-83A1-F6EECF244321}">
                <p14:modId xmlns:p14="http://schemas.microsoft.com/office/powerpoint/2010/main" val="4270279267"/>
              </p:ext>
            </p:extLst>
          </p:nvPr>
        </p:nvGraphicFramePr>
        <p:xfrm>
          <a:off x="152399" y="1570679"/>
          <a:ext cx="11688719" cy="1856583"/>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09600">
                  <a:extLst>
                    <a:ext uri="{9D8B030D-6E8A-4147-A177-3AD203B41FA5}">
                      <a16:colId xmlns:a16="http://schemas.microsoft.com/office/drawing/2014/main" val="905265164"/>
                    </a:ext>
                  </a:extLst>
                </a:gridCol>
                <a:gridCol w="1515240">
                  <a:extLst>
                    <a:ext uri="{9D8B030D-6E8A-4147-A177-3AD203B41FA5}">
                      <a16:colId xmlns:a16="http://schemas.microsoft.com/office/drawing/2014/main" val="1766184023"/>
                    </a:ext>
                  </a:extLst>
                </a:gridCol>
                <a:gridCol w="3132960">
                  <a:extLst>
                    <a:ext uri="{9D8B030D-6E8A-4147-A177-3AD203B41FA5}">
                      <a16:colId xmlns:a16="http://schemas.microsoft.com/office/drawing/2014/main" val="3411328682"/>
                    </a:ext>
                  </a:extLst>
                </a:gridCol>
                <a:gridCol w="381000">
                  <a:extLst>
                    <a:ext uri="{9D8B030D-6E8A-4147-A177-3AD203B41FA5}">
                      <a16:colId xmlns:a16="http://schemas.microsoft.com/office/drawing/2014/main" val="2556803980"/>
                    </a:ext>
                  </a:extLst>
                </a:gridCol>
                <a:gridCol w="3230518">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r>
                        <a:rPr lang="en-US" sz="1100" b="0" i="0" u="none" strike="noStrike" dirty="0">
                          <a:solidFill>
                            <a:srgbClr val="000000"/>
                          </a:solidFill>
                          <a:effectLst/>
                          <a:latin typeface="Times New Roman" panose="02020603050405020304" pitchFamily="18" charset="0"/>
                        </a:rPr>
                        <a:t>ATA</a:t>
                      </a:r>
                      <a:endParaRPr lang="en-CA" dirty="0"/>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ctr" fontAlgn="t"/>
                      <a:r>
                        <a:rPr lang="vi-VN" sz="1100" b="0" i="0" u="none" strike="noStrike" dirty="0">
                          <a:solidFill>
                            <a:srgbClr val="000000"/>
                          </a:solidFill>
                          <a:effectLst/>
                          <a:latin typeface="Times New Roman (Body)"/>
                        </a:rPr>
                        <a:t>3</a:t>
                      </a:r>
                      <a:endParaRPr lang="en-US" sz="1100" b="0" i="0" u="none" strike="noStrike" dirty="0">
                        <a:solidFill>
                          <a:srgbClr val="000000"/>
                        </a:solidFill>
                        <a:effectLst/>
                        <a:latin typeface="Times New Roman (Body)"/>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Body)"/>
                        </a:rPr>
                        <a:t>A869</a:t>
                      </a:r>
                      <a:endParaRPr lang="en-US" sz="1100" b="0" i="0" u="none" strike="noStrike" dirty="0">
                        <a:solidFill>
                          <a:srgbClr val="000000"/>
                        </a:solidFill>
                        <a:effectLst/>
                        <a:latin typeface="Times New Roman (Body)"/>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Body)"/>
                        </a:rPr>
                        <a:t>04/03/2025 10:20</a:t>
                      </a:r>
                      <a:endParaRPr lang="en-US" sz="1100" b="0" i="0" u="none" strike="noStrike" dirty="0">
                        <a:solidFill>
                          <a:srgbClr val="000000"/>
                        </a:solidFill>
                        <a:effectLst/>
                        <a:latin typeface="Times New Roman (Body)"/>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Body)"/>
                        </a:rPr>
                        <a:t>SGN</a:t>
                      </a:r>
                      <a:endParaRPr lang="en-US" sz="1100" b="0" i="0" u="none" strike="noStrike" dirty="0">
                        <a:solidFill>
                          <a:srgbClr val="000000"/>
                        </a:solidFill>
                        <a:effectLst/>
                        <a:latin typeface="Times New Roman (Body)"/>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Body)"/>
                        </a:rPr>
                        <a:t>15</a:t>
                      </a:r>
                      <a:endParaRPr lang="en-US" sz="1100" b="0" i="0" u="none" strike="noStrike" dirty="0">
                        <a:solidFill>
                          <a:srgbClr val="000000"/>
                        </a:solidFill>
                        <a:effectLst/>
                        <a:latin typeface="Times New Roman (Body)"/>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Body)"/>
                        </a:rPr>
                        <a:t>VN246</a:t>
                      </a:r>
                      <a:endParaRPr lang="en-US" sz="1100" b="0" i="0" u="none" strike="noStrike" dirty="0">
                        <a:solidFill>
                          <a:srgbClr val="000000"/>
                        </a:solidFill>
                        <a:effectLst/>
                        <a:latin typeface="Times New Roman (Body)"/>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Body)"/>
                        </a:rPr>
                        <a:t>SGN-HAN</a:t>
                      </a:r>
                      <a:endParaRPr lang="en-US" sz="1100" b="0" i="0" u="none" strike="noStrike" dirty="0">
                        <a:solidFill>
                          <a:srgbClr val="000000"/>
                        </a:solidFill>
                        <a:effectLst/>
                        <a:latin typeface="Times New Roman (Body)"/>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Body)"/>
                        </a:rPr>
                        <a:t>DURING TRANSIT FOUND SPOILER #11 FAIL.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Body)"/>
                        </a:rPr>
                        <a:t>ACTION: C/O DEACTIVATED SPOILER #11 AND RAISED ADD SATIS. A/C SERVICEABLE.</a:t>
                      </a:r>
                      <a:r>
                        <a:rPr lang="vi-VN" sz="1100" b="0" i="0" u="none" strike="noStrike" dirty="0">
                          <a:solidFill>
                            <a:srgbClr val="000000"/>
                          </a:solidFill>
                          <a:effectLst/>
                          <a:latin typeface="Times New Roman (Body)"/>
                        </a:rPr>
                        <a:t> </a:t>
                      </a:r>
                      <a:r>
                        <a:rPr lang="en-US" sz="1100" b="0" i="0" u="none" strike="noStrike" dirty="0">
                          <a:solidFill>
                            <a:srgbClr val="000000"/>
                          </a:solidFill>
                          <a:effectLst/>
                          <a:latin typeface="Times New Roman (Body)"/>
                        </a:rPr>
                        <a:t>DURING TRANSIT FOUND SPOILER #11 FAIL. EVENT CLOSED EVENT CLOSED</a:t>
                      </a:r>
                      <a:r>
                        <a:rPr lang="vi-VN" sz="1100" b="0" i="0" u="none" strike="noStrike" dirty="0">
                          <a:solidFill>
                            <a:srgbClr val="000000"/>
                          </a:solidFill>
                          <a:effectLst/>
                          <a:latin typeface="Times New Roman (Body)"/>
                        </a:rPr>
                        <a:t> “</a:t>
                      </a:r>
                      <a:r>
                        <a:rPr lang="en-US" sz="1100" b="0" i="0" u="none" strike="noStrike" dirty="0">
                          <a:solidFill>
                            <a:srgbClr val="000000"/>
                          </a:solidFill>
                          <a:effectLst/>
                          <a:latin typeface="Times New Roman (Body)"/>
                        </a:rPr>
                        <a:t>SPOILER #11 FAIL.</a:t>
                      </a:r>
                      <a:r>
                        <a:rPr lang="vi-VN" sz="1100" b="0" i="0" u="none" strike="noStrike" dirty="0">
                          <a:solidFill>
                            <a:srgbClr val="000000"/>
                          </a:solidFill>
                          <a:effectLst/>
                          <a:latin typeface="Times New Roman (Body)"/>
                        </a:rPr>
                        <a:t>”</a:t>
                      </a:r>
                      <a:endParaRPr lang="en-US" sz="1100" b="0" i="0" u="none" strike="noStrike" dirty="0">
                        <a:solidFill>
                          <a:srgbClr val="000000"/>
                        </a:solidFill>
                        <a:effectLst/>
                        <a:latin typeface="Times New Roman (Body)"/>
                      </a:endParaRPr>
                    </a:p>
                    <a:p>
                      <a:pPr algn="l" fontAlgn="b"/>
                      <a:r>
                        <a:rPr lang="en-US" sz="1100" b="0" i="0" u="none" strike="noStrike" smtClean="0">
                          <a:solidFill>
                            <a:srgbClr val="000000"/>
                          </a:solidFill>
                          <a:effectLst/>
                          <a:latin typeface="Times New Roman (Body)"/>
                        </a:rPr>
                        <a:t>.</a:t>
                      </a:r>
                      <a:endParaRPr lang="en-US" sz="1100" b="0" i="0" u="none" strike="noStrike" dirty="0">
                        <a:solidFill>
                          <a:srgbClr val="000000"/>
                        </a:solidFill>
                        <a:effectLst/>
                        <a:latin typeface="Times New Roman (Body)"/>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Body)"/>
                        </a:rPr>
                        <a:t>27-61</a:t>
                      </a:r>
                      <a:endParaRPr lang="en-US" sz="1100" b="0" i="0" u="none" strike="noStrike" dirty="0">
                        <a:solidFill>
                          <a:srgbClr val="000000"/>
                        </a:solidFill>
                        <a:effectLst/>
                        <a:latin typeface="Times New Roman (Body)"/>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dirty="0">
                          <a:latin typeface="Times New Roman (Body)"/>
                        </a:rPr>
                        <a:t>Thực hiện thay EMA PN C99144-006 để khắc phục. Đây là PN mới nhất của BOE, được nâng cấp từ PN -005 từ năm 2018 để khắc phục lỗi cọ sát dây điện với cấu trúc lân cận của máy bay (lỗi trong quá trình sản xuất). Đội bay VNA đã hoàn thành nâng cấp này năm 2018 ĐTC: MTBUR 80k &lt; RPSL 90k. Từ khi khai thác đã thay 18 khối, nằm rải rác từ năm 2018 đến 2024. Hiện tại BOE không có nâng cấp nào liên quan đến PN này.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976264"/>
                  </a:ext>
                </a:extLst>
              </a:tr>
            </a:tbl>
          </a:graphicData>
        </a:graphic>
      </p:graphicFrame>
    </p:spTree>
    <p:extLst>
      <p:ext uri="{BB962C8B-B14F-4D97-AF65-F5344CB8AC3E}">
        <p14:creationId xmlns:p14="http://schemas.microsoft.com/office/powerpoint/2010/main" val="668756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2742471A-84F2-7B3B-C208-D57261AA5408}"/>
              </a:ext>
            </a:extLst>
          </p:cNvPr>
          <p:cNvGraphicFramePr>
            <a:graphicFrameLocks noGrp="1"/>
          </p:cNvGraphicFramePr>
          <p:nvPr>
            <p:extLst/>
          </p:nvPr>
        </p:nvGraphicFramePr>
        <p:xfrm>
          <a:off x="175690" y="501466"/>
          <a:ext cx="11840620" cy="6326201"/>
        </p:xfrm>
        <a:graphic>
          <a:graphicData uri="http://schemas.openxmlformats.org/drawingml/2006/table">
            <a:tbl>
              <a:tblPr/>
              <a:tblGrid>
                <a:gridCol w="438867">
                  <a:extLst>
                    <a:ext uri="{9D8B030D-6E8A-4147-A177-3AD203B41FA5}">
                      <a16:colId xmlns:a16="http://schemas.microsoft.com/office/drawing/2014/main" val="2758017365"/>
                    </a:ext>
                  </a:extLst>
                </a:gridCol>
                <a:gridCol w="654205">
                  <a:extLst>
                    <a:ext uri="{9D8B030D-6E8A-4147-A177-3AD203B41FA5}">
                      <a16:colId xmlns:a16="http://schemas.microsoft.com/office/drawing/2014/main" val="2008238397"/>
                    </a:ext>
                  </a:extLst>
                </a:gridCol>
                <a:gridCol w="683941">
                  <a:extLst>
                    <a:ext uri="{9D8B030D-6E8A-4147-A177-3AD203B41FA5}">
                      <a16:colId xmlns:a16="http://schemas.microsoft.com/office/drawing/2014/main" val="4156464867"/>
                    </a:ext>
                  </a:extLst>
                </a:gridCol>
                <a:gridCol w="1407532">
                  <a:extLst>
                    <a:ext uri="{9D8B030D-6E8A-4147-A177-3AD203B41FA5}">
                      <a16:colId xmlns:a16="http://schemas.microsoft.com/office/drawing/2014/main" val="2249407893"/>
                    </a:ext>
                  </a:extLst>
                </a:gridCol>
                <a:gridCol w="1348059">
                  <a:extLst>
                    <a:ext uri="{9D8B030D-6E8A-4147-A177-3AD203B41FA5}">
                      <a16:colId xmlns:a16="http://schemas.microsoft.com/office/drawing/2014/main" val="1616459572"/>
                    </a:ext>
                  </a:extLst>
                </a:gridCol>
                <a:gridCol w="1506653">
                  <a:extLst>
                    <a:ext uri="{9D8B030D-6E8A-4147-A177-3AD203B41FA5}">
                      <a16:colId xmlns:a16="http://schemas.microsoft.com/office/drawing/2014/main" val="207326797"/>
                    </a:ext>
                  </a:extLst>
                </a:gridCol>
                <a:gridCol w="5801363">
                  <a:extLst>
                    <a:ext uri="{9D8B030D-6E8A-4147-A177-3AD203B41FA5}">
                      <a16:colId xmlns:a16="http://schemas.microsoft.com/office/drawing/2014/main" val="2349805032"/>
                    </a:ext>
                  </a:extLst>
                </a:gridCol>
              </a:tblGrid>
              <a:tr h="207576">
                <a:tc>
                  <a:txBody>
                    <a:bodyPr/>
                    <a:lstStyle/>
                    <a:p>
                      <a:pPr algn="ctr" fontAlgn="ctr"/>
                      <a:r>
                        <a:rPr lang="en-US" sz="1300" b="0" i="0" u="none" strike="noStrike">
                          <a:solidFill>
                            <a:srgbClr val="000000"/>
                          </a:solidFill>
                          <a:effectLst/>
                          <a:latin typeface="Calibri" panose="020F0502020204030204" pitchFamily="34" charset="0"/>
                        </a:rPr>
                        <a:t>No</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7255337"/>
                  </a:ext>
                </a:extLst>
              </a:tr>
              <a:tr h="1223576">
                <a:tc>
                  <a:txBody>
                    <a:bodyPr/>
                    <a:lstStyle/>
                    <a:p>
                      <a:pPr algn="ctr" fontAlgn="ctr"/>
                      <a:r>
                        <a:rPr lang="en-US" sz="1300" b="0" i="0" u="none" strike="noStrike">
                          <a:solidFill>
                            <a:srgbClr val="000000"/>
                          </a:solidFill>
                          <a:effectLst/>
                          <a:latin typeface="Calibri" panose="020F0502020204030204" pitchFamily="34" charset="0"/>
                        </a:rPr>
                        <a:t>1</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B1539  BRAKE#7 WORN AND DEACTIVED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B1543 CABIN AIR CPRSR L2</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B1544 NITROGEN GENERATION SYS</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B1545 LAVATORY/GALLEY AIR FLOW</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B1546 LAVATORY/GALLEY AIR FLOW DET CORELATED ADD B1545</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B1547 STS MSG TCP C </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4952174"/>
                  </a:ext>
                </a:extLst>
              </a:tr>
              <a:tr h="207576">
                <a:tc>
                  <a:txBody>
                    <a:bodyPr/>
                    <a:lstStyle/>
                    <a:p>
                      <a:pPr algn="ctr" fontAlgn="ctr"/>
                      <a:r>
                        <a:rPr lang="en-US" sz="1300" b="0" i="0" u="none" strike="noStrike">
                          <a:solidFill>
                            <a:srgbClr val="000000"/>
                          </a:solidFill>
                          <a:effectLst/>
                          <a:latin typeface="Calibri" panose="020F0502020204030204" pitchFamily="34" charset="0"/>
                        </a:rPr>
                        <a:t>2</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9901268"/>
                  </a:ext>
                </a:extLst>
              </a:tr>
              <a:tr h="410776">
                <a:tc>
                  <a:txBody>
                    <a:bodyPr/>
                    <a:lstStyle/>
                    <a:p>
                      <a:pPr algn="ctr" fontAlgn="ctr"/>
                      <a:r>
                        <a:rPr lang="en-US" sz="1300" b="0" i="0" u="none" strike="noStrike">
                          <a:solidFill>
                            <a:srgbClr val="000000"/>
                          </a:solidFill>
                          <a:effectLst/>
                          <a:latin typeface="Calibri" panose="020F0502020204030204" pitchFamily="34" charset="0"/>
                        </a:rPr>
                        <a:t>3</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B1601 STS TAIL AIRFLOW SYS</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3680018"/>
                  </a:ext>
                </a:extLst>
              </a:tr>
              <a:tr h="207576">
                <a:tc>
                  <a:txBody>
                    <a:bodyPr/>
                    <a:lstStyle/>
                    <a:p>
                      <a:pPr algn="ctr" fontAlgn="ctr"/>
                      <a:r>
                        <a:rPr lang="en-US" sz="1300" b="0" i="0" u="none" strike="noStrike">
                          <a:solidFill>
                            <a:srgbClr val="000000"/>
                          </a:solidFill>
                          <a:effectLst/>
                          <a:latin typeface="Calibri" panose="020F0502020204030204" pitchFamily="34" charset="0"/>
                        </a:rPr>
                        <a:t>4</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2 (956577) HPT 1B có hỏng hóc (giảm tần suất 50FC)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00279"/>
                  </a:ext>
                </a:extLst>
              </a:tr>
              <a:tr h="207576">
                <a:tc>
                  <a:txBody>
                    <a:bodyPr/>
                    <a:lstStyle/>
                    <a:p>
                      <a:pPr algn="ctr" fontAlgn="ctr"/>
                      <a:r>
                        <a:rPr lang="en-US" sz="1300" b="0" i="0" u="none" strike="noStrike">
                          <a:solidFill>
                            <a:srgbClr val="000000"/>
                          </a:solidFill>
                          <a:effectLst/>
                          <a:latin typeface="Calibri" panose="020F0502020204030204" pitchFamily="34" charset="0"/>
                        </a:rPr>
                        <a:t>5</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401205"/>
                  </a:ext>
                </a:extLst>
              </a:tr>
              <a:tr h="410776">
                <a:tc>
                  <a:txBody>
                    <a:bodyPr/>
                    <a:lstStyle/>
                    <a:p>
                      <a:pPr algn="ctr" fontAlgn="ctr"/>
                      <a:r>
                        <a:rPr lang="en-US" sz="1300" b="0" i="0" u="none" strike="noStrike">
                          <a:solidFill>
                            <a:srgbClr val="000000"/>
                          </a:solidFill>
                          <a:effectLst/>
                          <a:latin typeface="Calibri" panose="020F0502020204030204" pitchFamily="34" charset="0"/>
                        </a:rPr>
                        <a:t>6</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5588844"/>
                  </a:ext>
                </a:extLst>
              </a:tr>
              <a:tr h="647501">
                <a:tc>
                  <a:txBody>
                    <a:bodyPr/>
                    <a:lstStyle/>
                    <a:p>
                      <a:pPr algn="ctr" fontAlgn="ctr"/>
                      <a:r>
                        <a:rPr lang="en-US" sz="1300" b="0" i="0" u="none" strike="noStrike">
                          <a:solidFill>
                            <a:srgbClr val="000000"/>
                          </a:solidFill>
                          <a:effectLst/>
                          <a:latin typeface="Calibri" panose="020F0502020204030204" pitchFamily="34" charset="0"/>
                        </a:rPr>
                        <a:t>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B1536 TAIL AIRFLOW SYS</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Left Air Conditioning Pack is degraded. (Active - Mode)</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292827"/>
                  </a:ext>
                </a:extLst>
              </a:tr>
              <a:tr h="325484">
                <a:tc>
                  <a:txBody>
                    <a:bodyPr/>
                    <a:lstStyle/>
                    <a:p>
                      <a:pPr algn="ctr" fontAlgn="ctr"/>
                      <a:r>
                        <a:rPr lang="en-US" sz="1300" b="0" i="0" u="none" strike="noStrike">
                          <a:solidFill>
                            <a:srgbClr val="000000"/>
                          </a:solidFill>
                          <a:effectLst/>
                          <a:latin typeface="Calibri" panose="020F0502020204030204" pitchFamily="34" charset="0"/>
                        </a:rPr>
                        <a:t>8</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B1061 RAISED: ENG#1 REPLACE OR RE-INSPECT NOT TO EXCEED 50 CYCLES</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5163431"/>
                  </a:ext>
                </a:extLst>
              </a:tr>
              <a:tr h="613976">
                <a:tc>
                  <a:txBody>
                    <a:bodyPr/>
                    <a:lstStyle/>
                    <a:p>
                      <a:pPr algn="ctr" fontAlgn="ctr"/>
                      <a:r>
                        <a:rPr lang="en-US" sz="1300" b="0" i="0" u="none" strike="noStrike">
                          <a:solidFill>
                            <a:srgbClr val="000000"/>
                          </a:solidFill>
                          <a:effectLst/>
                          <a:latin typeface="Calibri" panose="020F0502020204030204" pitchFamily="34" charset="0"/>
                        </a:rPr>
                        <a:t>9</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B1012 INTEGRATED COOLING LEAK</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9905611"/>
                  </a:ext>
                </a:extLst>
              </a:tr>
              <a:tr h="207576">
                <a:tc>
                  <a:txBody>
                    <a:bodyPr/>
                    <a:lstStyle/>
                    <a:p>
                      <a:pPr algn="ctr" fontAlgn="ctr"/>
                      <a:r>
                        <a:rPr lang="en-US" sz="1300" b="0" i="0" u="none" strike="noStrike">
                          <a:solidFill>
                            <a:srgbClr val="000000"/>
                          </a:solidFill>
                          <a:effectLst/>
                          <a:latin typeface="Calibri" panose="020F0502020204030204" pitchFamily="34" charset="0"/>
                        </a:rPr>
                        <a:t>10</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Định kỳ</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7079105"/>
                  </a:ext>
                </a:extLst>
              </a:tr>
              <a:tr h="207576">
                <a:tc>
                  <a:txBody>
                    <a:bodyPr/>
                    <a:lstStyle/>
                    <a:p>
                      <a:pPr algn="ctr" fontAlgn="ctr"/>
                      <a:r>
                        <a:rPr lang="en-US" sz="1300" b="0" i="0" u="none" strike="noStrike">
                          <a:solidFill>
                            <a:srgbClr val="000000"/>
                          </a:solidFill>
                          <a:effectLst/>
                          <a:latin typeface="Calibri" panose="020F0502020204030204" pitchFamily="34" charset="0"/>
                        </a:rPr>
                        <a:t>11</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(956913) HPT 1B có hỏng hóc (giảm tần suất 50FC)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5279088"/>
                  </a:ext>
                </a:extLst>
              </a:tr>
              <a:tr h="207576">
                <a:tc>
                  <a:txBody>
                    <a:bodyPr/>
                    <a:lstStyle/>
                    <a:p>
                      <a:pPr algn="ctr" fontAlgn="ctr"/>
                      <a:r>
                        <a:rPr lang="en-US" sz="1300" b="0" i="0" u="none" strike="noStrike">
                          <a:solidFill>
                            <a:srgbClr val="000000"/>
                          </a:solidFill>
                          <a:effectLst/>
                          <a:latin typeface="Calibri" panose="020F0502020204030204" pitchFamily="34" charset="0"/>
                        </a:rPr>
                        <a:t>12</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4847982"/>
                  </a:ext>
                </a:extLst>
              </a:tr>
              <a:tr h="207576">
                <a:tc>
                  <a:txBody>
                    <a:bodyPr/>
                    <a:lstStyle/>
                    <a:p>
                      <a:pPr algn="ctr" fontAlgn="ctr"/>
                      <a:r>
                        <a:rPr lang="en-US" sz="1300" b="0" i="0" u="none" strike="noStrike">
                          <a:solidFill>
                            <a:srgbClr val="000000"/>
                          </a:solidFill>
                          <a:effectLst/>
                          <a:latin typeface="Calibri" panose="020F0502020204030204" pitchFamily="34" charset="0"/>
                        </a:rPr>
                        <a:t>13</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402709"/>
                  </a:ext>
                </a:extLst>
              </a:tr>
              <a:tr h="207576">
                <a:tc>
                  <a:txBody>
                    <a:bodyPr/>
                    <a:lstStyle/>
                    <a:p>
                      <a:pPr algn="ctr" fontAlgn="ctr"/>
                      <a:r>
                        <a:rPr lang="en-US" sz="1300" b="0" i="0" u="none" strike="noStrike">
                          <a:solidFill>
                            <a:srgbClr val="000000"/>
                          </a:solidFill>
                          <a:effectLst/>
                          <a:latin typeface="Calibri" panose="020F0502020204030204" pitchFamily="34" charset="0"/>
                        </a:rPr>
                        <a:t>14</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7920968"/>
                  </a:ext>
                </a:extLst>
              </a:tr>
              <a:tr h="207576">
                <a:tc>
                  <a:txBody>
                    <a:bodyPr/>
                    <a:lstStyle/>
                    <a:p>
                      <a:pPr algn="ctr" fontAlgn="ctr"/>
                      <a:r>
                        <a:rPr lang="en-US" sz="1300" b="0" i="0" u="none" strike="noStrike">
                          <a:solidFill>
                            <a:srgbClr val="000000"/>
                          </a:solidFill>
                          <a:effectLst/>
                          <a:latin typeface="Calibri" panose="020F0502020204030204" pitchFamily="34" charset="0"/>
                        </a:rPr>
                        <a:t>15</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8462198"/>
                  </a:ext>
                </a:extLst>
              </a:tr>
              <a:tr h="207576">
                <a:tc>
                  <a:txBody>
                    <a:bodyPr/>
                    <a:lstStyle/>
                    <a:p>
                      <a:pPr algn="ctr" fontAlgn="ctr"/>
                      <a:r>
                        <a:rPr lang="en-US" sz="1300" b="0" i="0" u="none" strike="noStrike">
                          <a:solidFill>
                            <a:srgbClr val="000000"/>
                          </a:solidFill>
                          <a:effectLst/>
                          <a:latin typeface="Calibri" panose="020F0502020204030204" pitchFamily="34" charset="0"/>
                        </a:rPr>
                        <a:t>16</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9915553"/>
                  </a:ext>
                </a:extLst>
              </a:tr>
              <a:tr h="410776">
                <a:tc>
                  <a:txBody>
                    <a:bodyPr/>
                    <a:lstStyle/>
                    <a:p>
                      <a:pPr algn="ctr" fontAlgn="ctr"/>
                      <a:r>
                        <a:rPr lang="en-US" sz="1300" b="0" i="0" u="none" strike="noStrike">
                          <a:solidFill>
                            <a:srgbClr val="000000"/>
                          </a:solidFill>
                          <a:effectLst/>
                          <a:latin typeface="Calibri" panose="020F0502020204030204" pitchFamily="34" charset="0"/>
                        </a:rPr>
                        <a:t>17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4282680"/>
                  </a:ext>
                </a:extLst>
              </a:tr>
            </a:tbl>
          </a:graphicData>
        </a:graphic>
      </p:graphicFrame>
    </p:spTree>
    <p:extLst>
      <p:ext uri="{BB962C8B-B14F-4D97-AF65-F5344CB8AC3E}">
        <p14:creationId xmlns:p14="http://schemas.microsoft.com/office/powerpoint/2010/main" val="3203174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17</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649707" y="533400"/>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762001" y="1195640"/>
            <a:ext cx="10668000"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tốt.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NIL</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8283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7FFFD32A-D857-26BA-8C88-AF84F06C6115}"/>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718379F-6E2C-27F7-D858-85181BF3EEC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6A04FEE5-D0DA-2495-9B08-80815707FBB8}"/>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ATR-72</a:t>
            </a:r>
          </a:p>
        </p:txBody>
      </p:sp>
      <p:sp>
        <p:nvSpPr>
          <p:cNvPr id="4" name="TextBox 3">
            <a:extLst>
              <a:ext uri="{FF2B5EF4-FFF2-40B4-BE49-F238E27FC236}">
                <a16:creationId xmlns:a16="http://schemas.microsoft.com/office/drawing/2014/main" id="{D472A939-F687-3938-FAAA-F2BD97CE4D6F}"/>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42CD8792-F0DF-F829-5EA1-7B74C51591E9}"/>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359C9C68-5D97-FAFB-7E74-3F7930E40946}"/>
              </a:ext>
            </a:extLst>
          </p:cNvPr>
          <p:cNvGraphicFramePr>
            <a:graphicFrameLocks noGrp="1"/>
          </p:cNvGraphicFramePr>
          <p:nvPr>
            <p:extLst/>
          </p:nvPr>
        </p:nvGraphicFramePr>
        <p:xfrm>
          <a:off x="152399" y="1570679"/>
          <a:ext cx="11688719" cy="4615023"/>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09600">
                  <a:extLst>
                    <a:ext uri="{9D8B030D-6E8A-4147-A177-3AD203B41FA5}">
                      <a16:colId xmlns:a16="http://schemas.microsoft.com/office/drawing/2014/main" val="905265164"/>
                    </a:ext>
                  </a:extLst>
                </a:gridCol>
                <a:gridCol w="1515240">
                  <a:extLst>
                    <a:ext uri="{9D8B030D-6E8A-4147-A177-3AD203B41FA5}">
                      <a16:colId xmlns:a16="http://schemas.microsoft.com/office/drawing/2014/main" val="1766184023"/>
                    </a:ext>
                  </a:extLst>
                </a:gridCol>
                <a:gridCol w="3132960">
                  <a:extLst>
                    <a:ext uri="{9D8B030D-6E8A-4147-A177-3AD203B41FA5}">
                      <a16:colId xmlns:a16="http://schemas.microsoft.com/office/drawing/2014/main" val="3411328682"/>
                    </a:ext>
                  </a:extLst>
                </a:gridCol>
                <a:gridCol w="381000">
                  <a:extLst>
                    <a:ext uri="{9D8B030D-6E8A-4147-A177-3AD203B41FA5}">
                      <a16:colId xmlns:a16="http://schemas.microsoft.com/office/drawing/2014/main" val="2556803980"/>
                    </a:ext>
                  </a:extLst>
                </a:gridCol>
                <a:gridCol w="3230518">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r>
                        <a:rPr lang="en-US" sz="1100" b="0" i="0" u="none" strike="noStrike" dirty="0">
                          <a:solidFill>
                            <a:srgbClr val="000000"/>
                          </a:solidFill>
                          <a:effectLst/>
                          <a:latin typeface="Times New Roman" panose="02020603050405020304" pitchFamily="18" charset="0"/>
                        </a:rPr>
                        <a:t>ATA</a:t>
                      </a:r>
                      <a:endParaRPr lang="en-CA" dirty="0"/>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ctr" fontAlgn="t"/>
                      <a:r>
                        <a:rPr lang="vi-VN" sz="1100" b="0" i="0" u="none" strike="noStrike" dirty="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B223</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15:30</a:t>
                      </a:r>
                    </a:p>
                    <a:p>
                      <a:pPr algn="l" fontAlgn="b"/>
                      <a:r>
                        <a:rPr lang="vi-VN" sz="1100" b="0" i="0" u="none" strike="noStrike" dirty="0">
                          <a:solidFill>
                            <a:srgbClr val="000000"/>
                          </a:solidFill>
                          <a:effectLst/>
                          <a:latin typeface="Calibri" panose="020F0502020204030204" pitchFamily="34" charset="0"/>
                        </a:rPr>
                        <a:t>08/03/2025</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SGN</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15</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VN1885</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SGN-VCS</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B223/SGN/RTO: VN1885/SGN-VCS/STD 15:10 CAPT INFORM VIA VHF REJECT TAKE OFF DUE TO ATPCS (Automatic Takeoff Power Control System) NOT ARM.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ACTION: TSV ADVISED TEST ATPCS FOUND ARM NORMAL. CAPT DECIDED TO CONTINUE THE FLIGHT. Tàu về N/S SGN tối 08/03 sẽ được Vaeco kiểm tra lại kỹ, ca tối lưu ý cập nhật  Addittional action: AFU #1 RPLD</a:t>
                      </a:r>
                    </a:p>
                    <a:p>
                      <a:pPr algn="l" fontAlgn="b"/>
                      <a:r>
                        <a:rPr lang="vi-VN" sz="1100" b="0" i="0" u="none" strike="noStrike" dirty="0">
                          <a:solidFill>
                            <a:srgbClr val="000000"/>
                          </a:solidFill>
                          <a:effectLst/>
                          <a:latin typeface="Calibri" panose="020F0502020204030204" pitchFamily="34" charset="0"/>
                        </a:rPr>
                        <a:t>Ảnh hưởng: VN1885 dla 0h15.</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61-00</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dirty="0">
                          <a:solidFill>
                            <a:srgbClr val="000000"/>
                          </a:solidFill>
                          <a:effectLst/>
                          <a:latin typeface="Calibri" panose="020F0502020204030204" pitchFamily="34" charset="0"/>
                        </a:rPr>
                        <a:t>Hỏng hóc phát sinh khi  tổ bay thực hiện Static ATPCS test trước khi cất cánh  lần đầu không thấy đèn ATPCS not ARM, sau khi test lại theo yêu cầu của CRS lại bình thường. VAECO đã thực hiện kiểm tra lại tại nightstop theo khuyến cáo của ATR liên quan đến hỏng hóc này (Sensor, Connector, Relays, Switch) tuy nhiên không phát hiện gì bất thường và đã cho thay chủ động AFU #1 có giờ cao hơn để tiếp tục theo dõi. Sẽ cho dowload QAR để phân tích kỹ hơn.</a:t>
                      </a:r>
                    </a:p>
                    <a:p>
                      <a:pPr algn="l" fontAlgn="b"/>
                      <a:r>
                        <a:rPr lang="vi-VN" sz="1000" b="0" i="0" u="none" strike="noStrike" dirty="0">
                          <a:solidFill>
                            <a:srgbClr val="000000"/>
                          </a:solidFill>
                          <a:effectLst/>
                          <a:latin typeface="Calibri" panose="020F0502020204030204" pitchFamily="34" charset="0"/>
                        </a:rPr>
                        <a:t>Hệ thống ATPCS có chức năng: </a:t>
                      </a:r>
                    </a:p>
                    <a:p>
                      <a:pPr algn="l" fontAlgn="b"/>
                      <a:r>
                        <a:rPr lang="vi-VN" sz="1000" b="0" i="0" u="none" strike="noStrike" dirty="0">
                          <a:solidFill>
                            <a:srgbClr val="000000"/>
                          </a:solidFill>
                          <a:effectLst/>
                          <a:latin typeface="Calibri" panose="020F0502020204030204" pitchFamily="34" charset="0"/>
                        </a:rPr>
                        <a:t>1. Tự động tăng công suất của động cơ còn lại lên mức tối đa để bù đắp lực đẩy bị mất, giúp máy bay duy trì tốc độ và độ cao cần thiết để tiếp tục hành trình cất cánh an toàn trong trường hợp 1 động cơ bị lỗi. (Uptrim mode).</a:t>
                      </a:r>
                    </a:p>
                    <a:p>
                      <a:pPr algn="l" fontAlgn="b"/>
                      <a:r>
                        <a:rPr lang="vi-VN" sz="1000" b="0" i="0" u="none" strike="noStrike" dirty="0">
                          <a:solidFill>
                            <a:srgbClr val="000000"/>
                          </a:solidFill>
                          <a:effectLst/>
                          <a:latin typeface="Calibri" panose="020F0502020204030204" pitchFamily="34" charset="0"/>
                        </a:rPr>
                        <a:t>2. Điều khiển cánh quạt về vị trí Feather để giảm lực cản trong trường hợp động cơ xảy ra sự cố (Feathering).</a:t>
                      </a:r>
                    </a:p>
                    <a:p>
                      <a:pPr algn="l" fontAlgn="b"/>
                      <a:r>
                        <a:rPr lang="vi-VN" sz="1000" b="0" i="0" u="none" strike="noStrike" dirty="0">
                          <a:solidFill>
                            <a:srgbClr val="000000"/>
                          </a:solidFill>
                          <a:effectLst/>
                          <a:latin typeface="Calibri" panose="020F0502020204030204" pitchFamily="34" charset="0"/>
                        </a:rPr>
                        <a:t>3. Hỗ trợ phi công trong quá trình cất cánh để giảm workload.</a:t>
                      </a:r>
                    </a:p>
                    <a:p>
                      <a:pPr algn="l" fontAlgn="b"/>
                      <a:r>
                        <a:rPr lang="vi-VN" sz="1000" b="0" i="0" u="none" strike="noStrike" dirty="0">
                          <a:solidFill>
                            <a:srgbClr val="000000"/>
                          </a:solidFill>
                          <a:effectLst/>
                          <a:latin typeface="Calibri" panose="020F0502020204030204" pitchFamily="34" charset="0"/>
                        </a:rPr>
                        <a:t>Trước mỗi chuyến bay tổ bay cần thực hiện static ATPCS test để check function của hệ thống, cuối mỗi ngày tổ bay cần thực hiện Dynamic ATPCS test. </a:t>
                      </a:r>
                    </a:p>
                    <a:p>
                      <a:pPr algn="l" fontAlgn="b"/>
                      <a:r>
                        <a:rPr lang="vi-VN" sz="1000" b="0" i="0" u="none" strike="noStrike" dirty="0">
                          <a:solidFill>
                            <a:srgbClr val="000000"/>
                          </a:solidFill>
                          <a:effectLst/>
                          <a:latin typeface="Calibri" panose="020F0502020204030204" pitchFamily="34" charset="0"/>
                        </a:rPr>
                        <a:t>Theo thống kê ĐTC thì từ 2015-nay có 13 hỏng hóc (2018: 01, 2019: 05, 2020: 04, 2021: 01, 2024: 01) liên quan đến hệ thống ATPCS trong đó có 06 lần khắc do hỏng hóc khối Auto Feather Unit (AFU), 01 lần do khối APTCS test switch, còn lại khắc phục do opt test.</a:t>
                      </a:r>
                    </a:p>
                    <a:p>
                      <a:pPr algn="l" fontAlgn="b"/>
                      <a:r>
                        <a:rPr lang="vi-VN" sz="1000" b="0" i="0" u="none" strike="noStrike" dirty="0">
                          <a:solidFill>
                            <a:srgbClr val="000000"/>
                          </a:solidFill>
                          <a:effectLst/>
                          <a:latin typeface="Calibri" panose="020F0502020204030204" pitchFamily="34" charset="0"/>
                        </a:rPr>
                        <a:t>Tàu B223 lắp 2 khối AFU#1 S/N= RT4225 có  TSN/TSO = 7970FH,  AFU#2 S/N: MM1760 (thuộc động cơ thuê Willis) có TSR= 2880 FH. Khối này có ngưỡng OVH soft-time 12000 FH, hiện tại vẫn thực hiện khi được gửi đi shop cùng động cơ.</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5691000"/>
                  </a:ext>
                </a:extLst>
              </a:tr>
            </a:tbl>
          </a:graphicData>
        </a:graphic>
      </p:graphicFrame>
    </p:spTree>
    <p:extLst>
      <p:ext uri="{BB962C8B-B14F-4D97-AF65-F5344CB8AC3E}">
        <p14:creationId xmlns:p14="http://schemas.microsoft.com/office/powerpoint/2010/main" val="2874012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19</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649707" y="533400"/>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t>
            </a:r>
            <a:r>
              <a:rPr lang="en-US" sz="2933" b="1" smtClean="0">
                <a:ln w="0"/>
                <a:solidFill>
                  <a:schemeClr val="accent4"/>
                </a:solidFill>
                <a:latin typeface="Times New Roman" panose="02020603050405020304" pitchFamily="18" charset="0"/>
                <a:cs typeface="Times New Roman" panose="02020603050405020304" pitchFamily="18" charset="0"/>
                <a:sym typeface="Montserrat SemiBold"/>
              </a:rPr>
              <a:t>ATR72</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762001" y="1195640"/>
            <a:ext cx="10668000" cy="1569660"/>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cs typeface="Times New Roman" panose="02020603050405020304" pitchFamily="18" charset="0"/>
              </a:rPr>
              <a:t>ATR72 trong tuần phát sinh 01 trường hợp RTO của tàu B223 VN1885 SGN-VCS ngày 08/03/2025, khi kéo ga lấy đà cất cánh phát sinh “ATCPS không Arm”, Capt hủy cất cánh xin quay lại đường lăn, qua VHF, CRS hỗ trợ kiểm tra tại chỗ, Test tại chỗ tàu tốt; chuyến bay cất cánh bình thường. VAECO đã thực hiện kiểm tra lại tại nightstop theo khuyến cáo của ATR liên quan đến hỏng hóc này (Sensor, Connector, Relays, Switch) tuy nhiên không phát hiện gì bất thường và đã cho thay chủ động AFU #1 có giờ cao hơn để tiếp tục theo dõi.</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072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W10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03/03/2025-09/03/20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73084" cy="12926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10/2025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tin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cậy </a:t>
            </a:r>
            <a:r>
              <a:rPr kumimoji="0" lang="en-US" sz="13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các đội A321, A350, B787 đều đạt mục tiêu, riêng đội ATR72 không đạt</a:t>
            </a:r>
            <a:endParaRPr kumimoji="0" lang="en-US" sz="13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a:solidFill>
                  <a:prstClr val="black"/>
                </a:solidFill>
                <a:latin typeface="Times New Roman" panose="02020603050405020304" pitchFamily="18" charset="0"/>
                <a:cs typeface="Times New Roman" panose="02020603050405020304" pitchFamily="18" charset="0"/>
              </a:rPr>
              <a:t>A3</a:t>
            </a:r>
            <a:r>
              <a:rPr lang="vi-VN" sz="1300" dirty="0">
                <a:solidFill>
                  <a:prstClr val="black"/>
                </a:solidFill>
                <a:latin typeface="Times New Roman" panose="02020603050405020304" pitchFamily="18" charset="0"/>
                <a:cs typeface="Times New Roman" panose="02020603050405020304" pitchFamily="18" charset="0"/>
              </a:rPr>
              <a:t>21</a:t>
            </a:r>
            <a:r>
              <a:rPr lang="en-US" sz="1300">
                <a:solidFill>
                  <a:prstClr val="black"/>
                </a:solidFill>
                <a:latin typeface="Times New Roman" panose="02020603050405020304" pitchFamily="18" charset="0"/>
                <a:cs typeface="Times New Roman" panose="02020603050405020304" pitchFamily="18" charset="0"/>
              </a:rPr>
              <a:t>: 99,85% cao hơn 0,22%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a:t>
            </a:r>
            <a:endParaRPr lang="vi-VN" sz="13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A350: 99,47% cao hơn 0,03%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B787: 99,68% </a:t>
            </a:r>
            <a:r>
              <a:rPr lang="en-US" sz="1300">
                <a:latin typeface="Times New Roman" panose="02020603050405020304" pitchFamily="18" charset="0"/>
                <a:cs typeface="Times New Roman" panose="02020603050405020304" pitchFamily="18" charset="0"/>
              </a:rPr>
              <a:t>cao hơn 0,32% so với mục tiêu.</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ATR72: 99,60% thấp hơn 0,05%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do có 1 sự kiện B223 R T/O do hệ thống ATPCS.</a:t>
            </a:r>
            <a:endParaRPr lang="en-US" sz="13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1982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7" name="Chart 6"/>
          <p:cNvGraphicFramePr>
            <a:graphicFrameLocks/>
          </p:cNvGraphicFramePr>
          <p:nvPr/>
        </p:nvGraphicFramePr>
        <p:xfrm>
          <a:off x="552665" y="764292"/>
          <a:ext cx="11155680" cy="3219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75085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21</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508000"/>
          <a:ext cx="11878434" cy="625845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84087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GTF.</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draft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lãnh</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đạo</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84087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28 (02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đco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956556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T11/2023 induct 12/07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956533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T01/2024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T9/2024)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total 05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ESN 956695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a:t>
                      </a:r>
                      <a:endPar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Group 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chế</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02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ứng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gói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sắp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Airshow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23/07/2025.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26/11: 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cập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Leadership</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Ngày 11/02</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Đ</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Tuần</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10 – 14/03: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Technical Review GE – Working Level (12/03)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GE9X (B777X)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ngày</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13/03</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92661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04/03 VP RR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nguồn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lực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tìm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kiếm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pháp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AOG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đồng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thời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quyết</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còn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tồn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như</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CRC, Day in service.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4074758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214372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a:t>
            </a:r>
            <a:r>
              <a:rPr lang="en-US"/>
              <a:t>PHÒNG Q1-Q2/2025</a:t>
            </a:r>
            <a:endParaRPr lang="vi-VN" dirty="0"/>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kiến</a:t>
            </a:r>
            <a:r>
              <a:rPr lang="en-US" sz="1333" dirty="0">
                <a:solidFill>
                  <a:prstClr val="black"/>
                </a:solidFill>
                <a:latin typeface="Times New Roman" panose="02020603050405020304" pitchFamily="18" charset="0"/>
                <a:cs typeface="Times New Roman" panose="02020603050405020304" pitchFamily="18" charset="0"/>
              </a:rPr>
              <a:t> Q3-Q4/2025 </a:t>
            </a:r>
            <a:r>
              <a:rPr lang="en-US" sz="1333" dirty="0" err="1">
                <a:solidFill>
                  <a:prstClr val="black"/>
                </a:solidFill>
                <a:latin typeface="Times New Roman" panose="02020603050405020304" pitchFamily="18" charset="0"/>
                <a:cs typeface="Times New Roman" panose="02020603050405020304" pitchFamily="18" charset="0"/>
              </a:rPr>
              <a:t>trả</a:t>
            </a:r>
            <a:r>
              <a:rPr lang="en-US" sz="1333" dirty="0">
                <a:solidFill>
                  <a:prstClr val="black"/>
                </a:solidFill>
                <a:latin typeface="Times New Roman" panose="02020603050405020304" pitchFamily="18" charset="0"/>
                <a:cs typeface="Times New Roman" panose="02020603050405020304" pitchFamily="18" charset="0"/>
              </a:rPr>
              <a:t>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duy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trì</a:t>
            </a:r>
            <a:r>
              <a:rPr lang="en-US" sz="1333" dirty="0">
                <a:solidFill>
                  <a:prstClr val="black"/>
                </a:solidFill>
                <a:latin typeface="Times New Roman" panose="02020603050405020304" pitchFamily="18" charset="0"/>
                <a:cs typeface="Times New Roman" panose="02020603050405020304" pitchFamily="18" charset="0"/>
              </a:rPr>
              <a:t> 9-10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2026.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a:t>
            </a:r>
            <a:r>
              <a:rPr lang="vi-VN" sz="1333" dirty="0">
                <a:latin typeface="Times New Roman" panose="02020603050405020304" pitchFamily="18" charset="0"/>
                <a:cs typeface="Times New Roman" panose="02020603050405020304" pitchFamily="18" charset="0"/>
              </a:rPr>
              <a:t>ngoài KH do Vibration, Oil Leak…08 động cơ đang sửa chữa bị delay nhiều lần từ đầu tháng 12, với tổng ~ 366 days, tương ứng ~ 183 AOG days.</a:t>
            </a:r>
            <a:endParaRPr lang="en-US" sz="1333" dirty="0">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*B787: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trên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kế</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hoạch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nhận</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vào</a:t>
            </a:r>
            <a:r>
              <a:rPr lang="en-US" sz="1333" dirty="0">
                <a:solidFill>
                  <a:prstClr val="black"/>
                </a:solidFill>
                <a:latin typeface="Times New Roman" panose="02020603050405020304" pitchFamily="18" charset="0"/>
                <a:cs typeface="Times New Roman" panose="02020603050405020304" pitchFamily="18" charset="0"/>
              </a:rPr>
              <a:t> T9 </a:t>
            </a:r>
            <a:r>
              <a:rPr lang="en-US" sz="1333" dirty="0" err="1">
                <a:solidFill>
                  <a:prstClr val="black"/>
                </a:solidFill>
                <a:latin typeface="Times New Roman" panose="02020603050405020304" pitchFamily="18" charset="0"/>
                <a:cs typeface="Times New Roman" panose="02020603050405020304" pitchFamily="18" charset="0"/>
              </a:rPr>
              <a:t>và</a:t>
            </a:r>
            <a:r>
              <a:rPr lang="en-US" sz="1333" dirty="0">
                <a:solidFill>
                  <a:prstClr val="black"/>
                </a:solidFill>
                <a:latin typeface="Times New Roman" panose="02020603050405020304" pitchFamily="18" charset="0"/>
                <a:cs typeface="Times New Roman" panose="02020603050405020304" pitchFamily="18" charset="0"/>
              </a:rPr>
              <a:t> T11.</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HPT Blade</a:t>
            </a:r>
          </a:p>
        </p:txBody>
      </p:sp>
    </p:spTree>
    <p:extLst>
      <p:ext uri="{BB962C8B-B14F-4D97-AF65-F5344CB8AC3E}">
        <p14:creationId xmlns:p14="http://schemas.microsoft.com/office/powerpoint/2010/main" val="1195150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24</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T2-T4/2025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kiến</a:t>
            </a:r>
            <a:r>
              <a:rPr lang="en-US" sz="1200" dirty="0">
                <a:solidFill>
                  <a:prstClr val="black"/>
                </a:solidFill>
                <a:latin typeface="Times New Roman" panose="02020603050405020304" pitchFamily="18" charset="0"/>
                <a:cs typeface="Times New Roman" panose="02020603050405020304" pitchFamily="18" charset="0"/>
              </a:rPr>
              <a:t> Q3-Q4/2025 </a:t>
            </a:r>
            <a:r>
              <a:rPr lang="en-US" sz="1200" dirty="0" err="1">
                <a:solidFill>
                  <a:prstClr val="black"/>
                </a:solidFill>
                <a:latin typeface="Times New Roman" panose="02020603050405020304" pitchFamily="18" charset="0"/>
                <a:cs typeface="Times New Roman" panose="02020603050405020304" pitchFamily="18" charset="0"/>
              </a:rPr>
              <a:t>trả</a:t>
            </a:r>
            <a:r>
              <a:rPr lang="en-US" sz="1200" dirty="0">
                <a:solidFill>
                  <a:prstClr val="black"/>
                </a:solidFill>
                <a:latin typeface="Times New Roman" panose="02020603050405020304" pitchFamily="18" charset="0"/>
                <a:cs typeface="Times New Roman" panose="02020603050405020304" pitchFamily="18" charset="0"/>
              </a:rPr>
              <a:t>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thuê</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duy</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trì</a:t>
            </a:r>
            <a:r>
              <a:rPr lang="en-US" sz="1200" dirty="0">
                <a:solidFill>
                  <a:prstClr val="black"/>
                </a:solidFill>
                <a:latin typeface="Times New Roman" panose="02020603050405020304" pitchFamily="18" charset="0"/>
                <a:cs typeface="Times New Roman" panose="02020603050405020304" pitchFamily="18" charset="0"/>
              </a:rPr>
              <a:t> 9-10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phòng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trong</a:t>
            </a:r>
            <a:r>
              <a:rPr lang="en-US" sz="1200" dirty="0">
                <a:solidFill>
                  <a:prstClr val="black"/>
                </a:solidFill>
                <a:latin typeface="Times New Roman" panose="02020603050405020304" pitchFamily="18" charset="0"/>
                <a:cs typeface="Times New Roman" panose="02020603050405020304" pitchFamily="18" charset="0"/>
              </a:rPr>
              <a:t> 2026.</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muộn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shop delay </a:t>
            </a:r>
            <a:r>
              <a:rPr lang="en-US" sz="1200" dirty="0" err="1">
                <a:latin typeface="Times New Roman" panose="02020603050405020304" pitchFamily="18" charset="0"/>
                <a:cs typeface="Times New Roman" panose="02020603050405020304" pitchFamily="18" charset="0"/>
              </a:rPr>
              <a:t>nhiều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lần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Vibration, Oil Leak, HPT </a:t>
            </a:r>
            <a:r>
              <a:rPr lang="en-US" sz="1200" dirty="0" err="1">
                <a:latin typeface="Times New Roman" panose="02020603050405020304" pitchFamily="18" charset="0"/>
                <a:cs typeface="Times New Roman" panose="02020603050405020304" pitchFamily="18" charset="0"/>
              </a:rPr>
              <a:t>Balde</a:t>
            </a:r>
            <a:r>
              <a:rPr lang="en-US" sz="1200" dirty="0">
                <a:latin typeface="Times New Roman" panose="02020603050405020304" pitchFamily="18" charset="0"/>
                <a:cs typeface="Times New Roman" panose="02020603050405020304" pitchFamily="18" charset="0"/>
              </a:rPr>
              <a:t>…</a:t>
            </a:r>
            <a:r>
              <a:rPr lang="vi-VN" sz="1200" dirty="0">
                <a:cs typeface="Times New Roman" panose="02020603050405020304" pitchFamily="18" charset="0"/>
              </a:rPr>
              <a:t>08 động cơ đang sửa chữa bị delay nhiều lần từ đầu tháng 12, với tổng ~ 366 days, tương ứng ~ 183 AOG days</a:t>
            </a:r>
            <a:r>
              <a:rPr lang="vi-VN" sz="1200" dirty="0">
                <a:solidFill>
                  <a:srgbClr val="FF0000"/>
                </a:solidFill>
                <a:cs typeface="Times New Roman" panose="02020603050405020304" pitchFamily="18" charset="0"/>
              </a:rPr>
              <a:t>.</a:t>
            </a:r>
            <a:endParaRPr lang="en-US" sz="1200" dirty="0">
              <a:highlight>
                <a:srgbClr val="FFFF00"/>
              </a:highlight>
              <a:latin typeface="Times New Roman" panose="02020603050405020304" pitchFamily="18" charset="0"/>
              <a:cs typeface="Times New Roman" panose="02020603050405020304" pitchFamily="18" charset="0"/>
            </a:endParaRP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Nhu </a:t>
            </a:r>
            <a:r>
              <a:rPr lang="en-US" sz="1200" dirty="0" err="1">
                <a:latin typeface="Times New Roman" panose="02020603050405020304" pitchFamily="18" charset="0"/>
                <a:cs typeface="Times New Roman" panose="02020603050405020304" pitchFamily="18" charset="0"/>
              </a:rPr>
              <a:t>cầu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cập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sau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hoạch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thêm</a:t>
            </a:r>
            <a:r>
              <a:rPr lang="en-US" sz="1200" dirty="0">
                <a:latin typeface="Times New Roman" panose="02020603050405020304" pitchFamily="18" charset="0"/>
                <a:cs typeface="Times New Roman" panose="02020603050405020304" pitchFamily="18" charset="0"/>
              </a:rPr>
              <a:t> 02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T9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T12/2024.</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High oil consumption, HPT Blade</a:t>
            </a:r>
          </a:p>
          <a:p>
            <a:pPr marL="0" lvl="1"/>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438397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sp>
        <p:nvSpPr>
          <p:cNvPr id="6" name="Rectangle 5">
            <a:extLst>
              <a:ext uri="{FF2B5EF4-FFF2-40B4-BE49-F238E27FC236}">
                <a16:creationId xmlns:a16="http://schemas.microsoft.com/office/drawing/2014/main" id="{F732C424-6503-4AF0-A801-38325F00ECC8}"/>
              </a:ext>
            </a:extLst>
          </p:cNvPr>
          <p:cNvSpPr/>
          <p:nvPr/>
        </p:nvSpPr>
        <p:spPr>
          <a:xfrm>
            <a:off x="228600" y="6077034"/>
            <a:ext cx="11201400" cy="523220"/>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r>
              <a:rPr lang="en-US" sz="1400" dirty="0"/>
              <a:t>-</a:t>
            </a:r>
            <a:r>
              <a:rPr lang="vi-VN" sz="1400" dirty="0"/>
              <a:t>Giữ giờ động cơ P771710</a:t>
            </a:r>
            <a:r>
              <a:rPr lang="en-US" sz="1400" dirty="0"/>
              <a:t> </a:t>
            </a:r>
            <a:r>
              <a:rPr lang="en-US" sz="1400" dirty="0" err="1"/>
              <a:t>trên</a:t>
            </a:r>
            <a:r>
              <a:rPr lang="en-US" sz="1400" dirty="0"/>
              <a:t> A621</a:t>
            </a:r>
            <a:r>
              <a:rPr lang="vi-VN" sz="1400" dirty="0"/>
              <a:t> (hết hạn 05/07) và P772905 </a:t>
            </a:r>
            <a:r>
              <a:rPr lang="en-US" sz="1400" dirty="0" err="1"/>
              <a:t>trên</a:t>
            </a:r>
            <a:r>
              <a:rPr lang="en-US" sz="1400" dirty="0"/>
              <a:t> A619</a:t>
            </a:r>
            <a:r>
              <a:rPr lang="vi-VN" sz="1400" dirty="0"/>
              <a:t>(</a:t>
            </a:r>
            <a:r>
              <a:rPr lang="en-US" sz="1400" dirty="0" err="1"/>
              <a:t>hết</a:t>
            </a:r>
            <a:r>
              <a:rPr lang="en-US" sz="1400" dirty="0"/>
              <a:t> </a:t>
            </a:r>
            <a:r>
              <a:rPr lang="en-US" sz="1400" dirty="0" err="1"/>
              <a:t>hạn</a:t>
            </a:r>
            <a:r>
              <a:rPr lang="en-US" sz="1400" dirty="0"/>
              <a:t> </a:t>
            </a:r>
            <a:r>
              <a:rPr lang="vi-VN" sz="1400" dirty="0"/>
              <a:t>19/07) sang sau cao điểm hè (15/8) để có thêm 1 tàu từ giữa T7.</a:t>
            </a:r>
            <a:endParaRPr lang="en-US" sz="1400" dirty="0"/>
          </a:p>
        </p:txBody>
      </p:sp>
      <p:graphicFrame>
        <p:nvGraphicFramePr>
          <p:cNvPr id="3" name="Chart 2">
            <a:extLst>
              <a:ext uri="{FF2B5EF4-FFF2-40B4-BE49-F238E27FC236}">
                <a16:creationId xmlns:a16="http://schemas.microsoft.com/office/drawing/2014/main" id="{B6D2BFDC-B8A6-1C6A-1378-381323CC21AE}"/>
              </a:ext>
            </a:extLst>
          </p:cNvPr>
          <p:cNvGraphicFramePr>
            <a:graphicFrameLocks/>
          </p:cNvGraphicFramePr>
          <p:nvPr/>
        </p:nvGraphicFramePr>
        <p:xfrm>
          <a:off x="232458" y="914400"/>
          <a:ext cx="11811000" cy="49784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71442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7"/>
          <a:ext cx="11867079" cy="5352146"/>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86855">
                  <a:extLst>
                    <a:ext uri="{9D8B030D-6E8A-4147-A177-3AD203B41FA5}">
                      <a16:colId xmlns:a16="http://schemas.microsoft.com/office/drawing/2014/main" val="3845954792"/>
                    </a:ext>
                  </a:extLst>
                </a:gridCol>
                <a:gridCol w="1170104">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68984">
                  <a:extLst>
                    <a:ext uri="{9D8B030D-6E8A-4147-A177-3AD203B41FA5}">
                      <a16:colId xmlns:a16="http://schemas.microsoft.com/office/drawing/2014/main" val="3807119371"/>
                    </a:ext>
                  </a:extLst>
                </a:gridCol>
                <a:gridCol w="3560124">
                  <a:extLst>
                    <a:ext uri="{9D8B030D-6E8A-4147-A177-3AD203B41FA5}">
                      <a16:colId xmlns:a16="http://schemas.microsoft.com/office/drawing/2014/main"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27/04/2025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A625</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69768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P771075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25/07/2024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A621#2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3669721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13/04/2025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17/05/2025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A619#2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A616</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46001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r h="523616">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12/06/2025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QT</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P771423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09/07/2025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465008"/>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8690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fld id="{00000000-1234-1234-1234-123412341234}" type="slidenum">
              <a:rPr lang="vi" smtClean="0"/>
              <a:pPr/>
              <a:t>27</a:t>
            </a:fld>
            <a:endParaRPr lang="vi"/>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Kế</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hoạch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thay</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a:t>
            </a:r>
            <a:r>
              <a:rPr lang="vi-VN" sz="2400" b="1" dirty="0">
                <a:solidFill>
                  <a:srgbClr val="002060"/>
                </a:solidFill>
                <a:latin typeface="Times New Roman" panose="02020603050405020304" pitchFamily="18" charset="0"/>
                <a:cs typeface="Times New Roman" panose="02020603050405020304" pitchFamily="18" charset="0"/>
              </a:rPr>
              <a:t>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a:solidFill>
                  <a:srgbClr val="002060"/>
                </a:solidFill>
                <a:latin typeface="Times New Roman" panose="02020603050405020304" pitchFamily="18" charset="0"/>
                <a:cs typeface="Times New Roman" panose="02020603050405020304" pitchFamily="18" charset="0"/>
              </a:rPr>
              <a:t>A321NEO T3-T4/25</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63789" y="1032931"/>
          <a:ext cx="11864421" cy="5717568"/>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val="1598605427"/>
                    </a:ext>
                  </a:extLst>
                </a:gridCol>
                <a:gridCol w="1162593">
                  <a:extLst>
                    <a:ext uri="{9D8B030D-6E8A-4147-A177-3AD203B41FA5}">
                      <a16:colId xmlns:a16="http://schemas.microsoft.com/office/drawing/2014/main" val="3845954792"/>
                    </a:ext>
                  </a:extLst>
                </a:gridCol>
                <a:gridCol w="1190421">
                  <a:extLst>
                    <a:ext uri="{9D8B030D-6E8A-4147-A177-3AD203B41FA5}">
                      <a16:colId xmlns:a16="http://schemas.microsoft.com/office/drawing/2014/main" val="2148822928"/>
                    </a:ext>
                  </a:extLst>
                </a:gridCol>
                <a:gridCol w="1190421">
                  <a:extLst>
                    <a:ext uri="{9D8B030D-6E8A-4147-A177-3AD203B41FA5}">
                      <a16:colId xmlns:a16="http://schemas.microsoft.com/office/drawing/2014/main" val="2136763095"/>
                    </a:ext>
                  </a:extLst>
                </a:gridCol>
                <a:gridCol w="1190421">
                  <a:extLst>
                    <a:ext uri="{9D8B030D-6E8A-4147-A177-3AD203B41FA5}">
                      <a16:colId xmlns:a16="http://schemas.microsoft.com/office/drawing/2014/main" val="4058157000"/>
                    </a:ext>
                  </a:extLst>
                </a:gridCol>
                <a:gridCol w="1190421">
                  <a:extLst>
                    <a:ext uri="{9D8B030D-6E8A-4147-A177-3AD203B41FA5}">
                      <a16:colId xmlns:a16="http://schemas.microsoft.com/office/drawing/2014/main" val="1185879436"/>
                    </a:ext>
                  </a:extLst>
                </a:gridCol>
                <a:gridCol w="1190421">
                  <a:extLst>
                    <a:ext uri="{9D8B030D-6E8A-4147-A177-3AD203B41FA5}">
                      <a16:colId xmlns:a16="http://schemas.microsoft.com/office/drawing/2014/main" val="3807119371"/>
                    </a:ext>
                  </a:extLst>
                </a:gridCol>
                <a:gridCol w="890210">
                  <a:extLst>
                    <a:ext uri="{9D8B030D-6E8A-4147-A177-3AD203B41FA5}">
                      <a16:colId xmlns:a16="http://schemas.microsoft.com/office/drawing/2014/main" val="2251645117"/>
                    </a:ext>
                  </a:extLst>
                </a:gridCol>
                <a:gridCol w="3341410">
                  <a:extLst>
                    <a:ext uri="{9D8B030D-6E8A-4147-A177-3AD203B41FA5}">
                      <a16:colId xmlns:a16="http://schemas.microsoft.com/office/drawing/2014/main" val="3735753066"/>
                    </a:ext>
                  </a:extLst>
                </a:gridCol>
              </a:tblGrid>
              <a:tr h="496397">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29071">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a:t>
                      </a:r>
                      <a:r>
                        <a:rPr lang="vi-VN" sz="1200" b="0" i="0" u="none" strike="noStrike">
                          <a:solidFill>
                            <a:schemeClr val="tx1"/>
                          </a:solidFill>
                          <a:effectLst/>
                          <a:latin typeface="Calibri" panose="020F0502020204030204" pitchFamily="34" charset="0"/>
                        </a:rPr>
                        <a:t>414</a:t>
                      </a:r>
                      <a:endParaRPr lang="en-US" sz="1200" b="0" i="0" u="none" strike="noStrike">
                        <a:solidFill>
                          <a:schemeClr val="tx1"/>
                        </a:solidFill>
                        <a:effectLst/>
                        <a:latin typeface="Calibri" panose="020F0502020204030204" pitchFamily="34" charset="0"/>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26-Feb-25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28-Feb-25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505085"/>
                  </a:ext>
                </a:extLst>
              </a:tr>
              <a:tr h="429071">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066291"/>
                  </a:ext>
                </a:extLst>
              </a:tr>
              <a:tr h="429071">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P771041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 QT Shop Visit</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4227953"/>
                  </a:ext>
                </a:extLst>
              </a:tr>
              <a:tr h="501390">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endPar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Rob for A506#2 for 7 day engine run-up interval</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565641"/>
                  </a:ext>
                </a:extLst>
              </a:tr>
              <a:tr h="429071">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P771423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cap="none">
                          <a:solidFill>
                            <a:schemeClr val="tx1"/>
                          </a:solidFill>
                          <a:effectLst/>
                          <a:latin typeface="Calibri" panose="020F0502020204030204" pitchFamily="34" charset="0"/>
                          <a:ea typeface="+mn-ea"/>
                          <a:cs typeface="+mn-cs"/>
                          <a:sym typeface="Arial"/>
                        </a:rPr>
                        <a:t>P771090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Calibri" panose="020F0502020204030204" pitchFamily="34" charset="0"/>
                          <a:ea typeface="+mn-ea"/>
                          <a:cs typeface="+mn-cs"/>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10-Mar-25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QT Shop Visit</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390368"/>
                  </a:ext>
                </a:extLst>
              </a:tr>
              <a:tr h="429071">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P771710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cap="none">
                          <a:solidFill>
                            <a:schemeClr val="tx1"/>
                          </a:solidFill>
                          <a:effectLst/>
                          <a:latin typeface="Calibri" panose="020F0502020204030204" pitchFamily="34" charset="0"/>
                          <a:ea typeface="+mn-ea"/>
                          <a:cs typeface="+mn-cs"/>
                          <a:sym typeface="Arial"/>
                        </a:rPr>
                        <a:t>P771075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7-Mar-25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9-Mar-25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Giữ giờ P771710 để bay CĐ hè</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539945"/>
                  </a:ext>
                </a:extLst>
              </a:tr>
              <a:tr h="429071">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P770904</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25-Mar-25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7-Apr-25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429071">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a:t>
                      </a:r>
                      <a:r>
                        <a:rPr lang="en-US" sz="1200" b="0" i="0" u="none" strike="noStrike" cap="none">
                          <a:solidFill>
                            <a:schemeClr val="tx1"/>
                          </a:solidFill>
                          <a:effectLst/>
                          <a:latin typeface="Calibri" panose="020F0502020204030204" pitchFamily="34" charset="0"/>
                          <a:ea typeface="+mn-ea"/>
                          <a:cs typeface="+mn-cs"/>
                          <a:sym typeface="Arial"/>
                        </a:rPr>
                        <a:t>1130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13-Apr-25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429071">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P771110</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27-Mar-25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29-Mar-25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r h="429071">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P771131</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a:solidFill>
                            <a:srgbClr val="000000"/>
                          </a:solidFill>
                          <a:effectLst/>
                          <a:latin typeface="Calibri" panose="020F0502020204030204" pitchFamily="34" charset="0"/>
                        </a:rPr>
                        <a:t>A623#2</a:t>
                      </a: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110417"/>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11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rPr>
                        <a:t>P771119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sym typeface="Arial"/>
                        </a:rPr>
                        <a:t>P771710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rPr>
                        <a:t>A625#2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rPr>
                        <a:t>A625#2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rPr>
                        <a:t>14-Apr-25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rPr>
                        <a:t>14-Apr-25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cap="none"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cap="none"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7915192"/>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12</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rPr>
                        <a:t>P771463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sym typeface="Arial"/>
                        </a:rPr>
                        <a:t>P770903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rPr>
                        <a:t>A625#1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rPr>
                        <a:t>A625#1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rPr>
                        <a:t>26-Apr-25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cap="none">
                          <a:solidFill>
                            <a:schemeClr val="tx1"/>
                          </a:solidFill>
                          <a:effectLst/>
                          <a:latin typeface="Calibri" panose="020F0502020204030204" pitchFamily="34" charset="0"/>
                          <a:ea typeface="+mn-ea"/>
                          <a:cs typeface="+mn-cs"/>
                        </a:rPr>
                        <a:t>26-Apr-25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cap="none"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cap="none"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7395999"/>
                  </a:ext>
                </a:extLst>
              </a:tr>
            </a:tbl>
          </a:graphicData>
        </a:graphic>
      </p:graphicFrame>
    </p:spTree>
    <p:extLst>
      <p:ext uri="{BB962C8B-B14F-4D97-AF65-F5344CB8AC3E}">
        <p14:creationId xmlns:p14="http://schemas.microsoft.com/office/powerpoint/2010/main" val="2724857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28</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23/02/2025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SGN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18/04/2025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25/04/2025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31/03/2025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07/04/2025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03/05)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19/03/2025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26/03/2025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18/06/2025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01/08/2025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08/08/2025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29/04/2025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Q1-Q2/2025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2955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16-18/03/2025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96005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A357#2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28-30/03/2025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11-13/04/2025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XU350#2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AD Hub,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83875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V11694</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A359#1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26-28/04/2025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07966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22610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18-20/06/2025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2002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6076786"/>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447396"/>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836082"/>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3249183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29</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29</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867116" y="445510"/>
          <a:ext cx="5236309" cy="348400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3935202"/>
            <a:ext cx="12014853" cy="28015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958537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SGN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28/02 </a:t>
            </a:r>
            <a:r>
              <a:rPr lang="en-US" sz="1467" dirty="0" err="1">
                <a:solidFill>
                  <a:schemeClr val="tx1"/>
                </a:solidFill>
                <a:latin typeface="Times New Roman" panose="02020603050405020304" pitchFamily="18" charset="0"/>
                <a:cs typeface="Times New Roman" panose="02020603050405020304" pitchFamily="18" charset="0"/>
              </a:rPr>
              <a:t>phục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vụ</a:t>
            </a:r>
            <a:r>
              <a:rPr lang="en-US" sz="1467" dirty="0">
                <a:solidFill>
                  <a:schemeClr val="tx1"/>
                </a:solidFill>
                <a:latin typeface="Times New Roman" panose="02020603050405020304" pitchFamily="18" charset="0"/>
                <a:cs typeface="Times New Roman" panose="02020603050405020304" pitchFamily="18" charset="0"/>
              </a:rPr>
              <a:t> ENG CHANG A870 (</a:t>
            </a:r>
            <a:r>
              <a:rPr lang="en-US" sz="1467" dirty="0" err="1">
                <a:solidFill>
                  <a:schemeClr val="tx1"/>
                </a:solidFill>
                <a:latin typeface="Times New Roman" panose="02020603050405020304" pitchFamily="18" charset="0"/>
                <a:cs typeface="Times New Roman" panose="02020603050405020304" pitchFamily="18" charset="0"/>
              </a:rPr>
              <a:t>thay</a:t>
            </a:r>
            <a:r>
              <a:rPr lang="en-US" sz="1467" dirty="0">
                <a:solidFill>
                  <a:schemeClr val="tx1"/>
                </a:solidFill>
                <a:latin typeface="Times New Roman" panose="02020603050405020304" pitchFamily="18" charset="0"/>
                <a:cs typeface="Times New Roman" panose="02020603050405020304" pitchFamily="18" charset="0"/>
              </a:rPr>
              <a:t> qua A863); 958395 – 25 cycle </a:t>
            </a:r>
            <a:r>
              <a:rPr lang="en-US" sz="1467" dirty="0" err="1">
                <a:solidFill>
                  <a:schemeClr val="tx1"/>
                </a:solidFill>
                <a:latin typeface="Times New Roman" panose="02020603050405020304" pitchFamily="18" charset="0"/>
                <a:cs typeface="Times New Roman" panose="02020603050405020304" pitchFamily="18" charset="0"/>
              </a:rPr>
              <a:t>làm</a:t>
            </a:r>
            <a:r>
              <a:rPr lang="en-US" sz="1467" dirty="0">
                <a:solidFill>
                  <a:schemeClr val="tx1"/>
                </a:solidFill>
                <a:latin typeface="Times New Roman" panose="02020603050405020304" pitchFamily="18" charset="0"/>
                <a:cs typeface="Times New Roman" panose="02020603050405020304" pitchFamily="18" charset="0"/>
              </a:rPr>
              <a:t> ĐCDP </a:t>
            </a:r>
            <a:r>
              <a:rPr lang="en-US" sz="1467" dirty="0" err="1">
                <a:solidFill>
                  <a:schemeClr val="tx1"/>
                </a:solidFill>
                <a:latin typeface="Times New Roman" panose="02020603050405020304" pitchFamily="18" charset="0"/>
                <a:cs typeface="Times New Roman" panose="02020603050405020304" pitchFamily="18" charset="0"/>
              </a:rPr>
              <a:t>nếu</a:t>
            </a:r>
            <a:r>
              <a:rPr lang="en-US" sz="1467" dirty="0">
                <a:solidFill>
                  <a:schemeClr val="tx1"/>
                </a:solidFill>
                <a:latin typeface="Times New Roman" panose="02020603050405020304" pitchFamily="18" charset="0"/>
                <a:cs typeface="Times New Roman" panose="02020603050405020304" pitchFamily="18" charset="0"/>
              </a:rPr>
              <a:t> urgent.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a:t>
            </a:r>
          </a:p>
          <a:p>
            <a:pPr marL="548640" indent="-182880">
              <a:buFont typeface="Wingdings" panose="05000000000000000000" pitchFamily="2" charset="2"/>
              <a:buChar char="§"/>
              <a:defRPr/>
            </a:pPr>
            <a:r>
              <a:rPr lang="vi-VN" sz="1467" dirty="0">
                <a:solidFill>
                  <a:srgbClr val="FF0000"/>
                </a:solidFill>
                <a:latin typeface="Times New Roman" panose="02020603050405020304" pitchFamily="18" charset="0"/>
                <a:cs typeface="Times New Roman" panose="02020603050405020304" pitchFamily="18" charset="0"/>
              </a:rPr>
              <a:t>956638 (A870) – Remove in 25 cyc và không được GE cấp DR (tần suất trước đó 100 cyc); </a:t>
            </a:r>
            <a:r>
              <a:rPr lang="en-US" sz="1467" dirty="0" err="1">
                <a:solidFill>
                  <a:srgbClr val="FF0000"/>
                </a:solidFill>
                <a:latin typeface="Times New Roman" panose="02020603050405020304" pitchFamily="18" charset="0"/>
                <a:cs typeface="Times New Roman" panose="02020603050405020304" pitchFamily="18" charset="0"/>
              </a:rPr>
              <a:t>Đã</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triển</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khai</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thay</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động</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cơ</a:t>
            </a:r>
            <a:r>
              <a:rPr lang="en-US" sz="1467" dirty="0">
                <a:solidFill>
                  <a:srgbClr val="FF0000"/>
                </a:solidFill>
                <a:latin typeface="Times New Roman" panose="02020603050405020304" pitchFamily="18" charset="0"/>
                <a:cs typeface="Times New Roman" panose="02020603050405020304" pitchFamily="18" charset="0"/>
              </a:rPr>
              <a:t>.</a:t>
            </a:r>
            <a:endParaRPr lang="vi-VN" sz="1467" dirty="0">
              <a:solidFill>
                <a:srgbClr val="FF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dirty="0">
                <a:solidFill>
                  <a:srgbClr val="ED0000"/>
                </a:solidFill>
                <a:latin typeface="Times New Roman" panose="02020603050405020304" pitchFamily="18" charset="0"/>
                <a:cs typeface="Times New Roman" panose="02020603050405020304" pitchFamily="18" charset="0"/>
              </a:rPr>
              <a:t>956577 (A864) – </a:t>
            </a:r>
            <a:r>
              <a:rPr lang="en-US" sz="1467" dirty="0">
                <a:solidFill>
                  <a:srgbClr val="ED0000"/>
                </a:solidFill>
                <a:latin typeface="Times New Roman" panose="02020603050405020304" pitchFamily="18" charset="0"/>
                <a:cs typeface="Times New Roman" panose="02020603050405020304" pitchFamily="18" charset="0"/>
              </a:rPr>
              <a:t>Remove in 25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và</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không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được</a:t>
            </a:r>
            <a:r>
              <a:rPr lang="en-US" sz="1467" dirty="0">
                <a:solidFill>
                  <a:srgbClr val="ED0000"/>
                </a:solidFill>
                <a:latin typeface="Times New Roman" panose="02020603050405020304" pitchFamily="18" charset="0"/>
                <a:cs typeface="Times New Roman" panose="02020603050405020304" pitchFamily="18" charset="0"/>
              </a:rPr>
              <a:t> GE </a:t>
            </a:r>
            <a:r>
              <a:rPr lang="en-US" sz="1467" dirty="0" err="1">
                <a:solidFill>
                  <a:srgbClr val="ED0000"/>
                </a:solidFill>
                <a:latin typeface="Times New Roman" panose="02020603050405020304" pitchFamily="18" charset="0"/>
                <a:cs typeface="Times New Roman" panose="02020603050405020304" pitchFamily="18" charset="0"/>
              </a:rPr>
              <a:t>cấp</a:t>
            </a:r>
            <a:r>
              <a:rPr lang="en-US" sz="1467" dirty="0">
                <a:solidFill>
                  <a:srgbClr val="ED0000"/>
                </a:solidFill>
                <a:latin typeface="Times New Roman" panose="02020603050405020304" pitchFamily="18" charset="0"/>
                <a:cs typeface="Times New Roman" panose="02020603050405020304" pitchFamily="18" charset="0"/>
              </a:rPr>
              <a:t> DR (</a:t>
            </a:r>
            <a:r>
              <a:rPr lang="en-US" sz="1467" dirty="0" err="1">
                <a:solidFill>
                  <a:srgbClr val="ED0000"/>
                </a:solidFill>
                <a:latin typeface="Times New Roman" panose="02020603050405020304" pitchFamily="18" charset="0"/>
                <a:cs typeface="Times New Roman" panose="02020603050405020304" pitchFamily="18" charset="0"/>
              </a:rPr>
              <a:t>tần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suất</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trước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đó</a:t>
            </a:r>
            <a:r>
              <a:rPr lang="en-US" sz="1467" dirty="0">
                <a:solidFill>
                  <a:srgbClr val="ED0000"/>
                </a:solidFill>
                <a:latin typeface="Times New Roman" panose="02020603050405020304" pitchFamily="18" charset="0"/>
                <a:cs typeface="Times New Roman" panose="02020603050405020304" pitchFamily="18" charset="0"/>
              </a:rPr>
              <a:t> 50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Đã</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triển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khai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thay</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động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cơ</a:t>
            </a:r>
            <a:r>
              <a:rPr lang="en-US" sz="1467" dirty="0">
                <a:solidFill>
                  <a:srgbClr val="ED0000"/>
                </a:solidFill>
                <a:latin typeface="Times New Roman" panose="02020603050405020304" pitchFamily="18" charset="0"/>
                <a:cs typeface="Times New Roman" panose="02020603050405020304" pitchFamily="18" charset="0"/>
              </a:rPr>
              <a:t> (=956556)</a:t>
            </a: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Remove in 50 cyc or reinspect</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latin typeface="Times New Roman" panose="02020603050405020304" pitchFamily="18" charset="0"/>
                <a:cs typeface="Times New Roman" panose="02020603050405020304" pitchFamily="18" charset="0"/>
              </a:rPr>
              <a:t>956913 (A871)</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latin typeface="Times New Roman" panose="02020603050405020304" pitchFamily="18" charset="0"/>
                <a:cs typeface="Times New Roman" panose="02020603050405020304" pitchFamily="18" charset="0"/>
              </a:rPr>
              <a:t>958170 (A863)</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latin typeface="Times New Roman" panose="02020603050405020304" pitchFamily="18" charset="0"/>
                <a:cs typeface="Times New Roman" panose="02020603050405020304" pitchFamily="18" charset="0"/>
              </a:rPr>
              <a:t>956769 (A868) </a:t>
            </a: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100 cycle – 01 ĐC;  150 cycle – 01 ĐC; 250 cycle – 02 ĐC</a:t>
            </a:r>
            <a:r>
              <a:rPr lang="en-US" sz="1467" dirty="0">
                <a:solidFill>
                  <a:schemeClr val="tx1"/>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tác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hoạch</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A870/</a:t>
            </a:r>
            <a:r>
              <a:rPr lang="vi-VN" sz="1467" dirty="0">
                <a:solidFill>
                  <a:schemeClr val="tx1"/>
                </a:solidFill>
                <a:latin typeface="Times New Roman" panose="02020603050405020304" pitchFamily="18" charset="0"/>
                <a:cs typeface="Times New Roman" panose="02020603050405020304" pitchFamily="18" charset="0"/>
              </a:rPr>
              <a:t>956638</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khắc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phục</a:t>
            </a:r>
            <a:r>
              <a:rPr lang="vi-VN" sz="1467" dirty="0">
                <a:solidFill>
                  <a:schemeClr val="tx1"/>
                </a:solidFill>
                <a:latin typeface="Times New Roman" panose="02020603050405020304" pitchFamily="18" charset="0"/>
                <a:cs typeface="Times New Roman" panose="02020603050405020304" pitchFamily="18" charset="0"/>
              </a:rPr>
              <a:t> </a:t>
            </a:r>
            <a:r>
              <a:rPr lang="en-US" sz="1467" dirty="0">
                <a:solidFill>
                  <a:schemeClr val="tx1"/>
                </a:solidFill>
                <a:latin typeface="Times New Roman" panose="02020603050405020304" pitchFamily="18" charset="0"/>
                <a:cs typeface="Times New Roman" panose="02020603050405020304" pitchFamily="18" charset="0"/>
              </a:rPr>
              <a:t>AOG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hoàn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thiện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cấu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hình</a:t>
            </a:r>
            <a:r>
              <a:rPr lang="en-US" sz="1467" dirty="0">
                <a:solidFill>
                  <a:schemeClr val="tx1"/>
                </a:solidFill>
                <a:latin typeface="Times New Roman" panose="02020603050405020304" pitchFamily="18" charset="0"/>
                <a:cs typeface="Times New Roman" panose="02020603050405020304" pitchFamily="18" charset="0"/>
              </a:rPr>
              <a:t> bay Nga - </a:t>
            </a:r>
            <a:r>
              <a:rPr lang="en-US" sz="1467" b="1" dirty="0">
                <a:solidFill>
                  <a:schemeClr val="tx1"/>
                </a:solidFill>
                <a:latin typeface="Times New Roman" panose="02020603050405020304" pitchFamily="18" charset="0"/>
                <a:cs typeface="Times New Roman" panose="02020603050405020304" pitchFamily="18" charset="0"/>
              </a:rPr>
              <a:t>10/03/2025</a:t>
            </a:r>
            <a:r>
              <a:rPr lang="en-US" sz="1467" dirty="0">
                <a:solidFill>
                  <a:schemeClr val="tx1"/>
                </a:solidFill>
                <a:latin typeface="Times New Roman" panose="02020603050405020304" pitchFamily="18" charset="0"/>
                <a:cs typeface="Times New Roman" panose="02020603050405020304" pitchFamily="18" charset="0"/>
              </a:rPr>
              <a:t> (A870 </a:t>
            </a:r>
            <a:r>
              <a:rPr lang="en-US" sz="1467" dirty="0" err="1">
                <a:solidFill>
                  <a:schemeClr val="tx1"/>
                </a:solidFill>
                <a:latin typeface="Times New Roman" panose="02020603050405020304" pitchFamily="18" charset="0"/>
                <a:cs typeface="Times New Roman" panose="02020603050405020304" pitchFamily="18" charset="0"/>
              </a:rPr>
              <a:t>sơn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cánh</a:t>
            </a:r>
            <a:r>
              <a:rPr lang="en-US" sz="1467" dirty="0">
                <a:solidFill>
                  <a:schemeClr val="tx1"/>
                </a:solidFill>
                <a:latin typeface="Times New Roman" panose="02020603050405020304" pitchFamily="18" charset="0"/>
                <a:cs typeface="Times New Roman" panose="02020603050405020304" pitchFamily="18" charset="0"/>
              </a:rPr>
              <a:t> + ENG CHG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27/02 – 10/03; ENG </a:t>
            </a:r>
            <a:r>
              <a:rPr lang="en-US" sz="1467" dirty="0" err="1">
                <a:solidFill>
                  <a:schemeClr val="tx1"/>
                </a:solidFill>
                <a:latin typeface="Times New Roman" panose="02020603050405020304" pitchFamily="18" charset="0"/>
                <a:cs typeface="Times New Roman" panose="02020603050405020304" pitchFamily="18" charset="0"/>
              </a:rPr>
              <a:t>gốc</a:t>
            </a:r>
            <a:r>
              <a:rPr lang="en-US" sz="1467" dirty="0">
                <a:solidFill>
                  <a:schemeClr val="tx1"/>
                </a:solidFill>
                <a:latin typeface="Times New Roman" panose="02020603050405020304" pitchFamily="18" charset="0"/>
                <a:cs typeface="Times New Roman" panose="02020603050405020304" pitchFamily="18" charset="0"/>
              </a:rPr>
              <a:t> A870 - 956818 </a:t>
            </a:r>
            <a:r>
              <a:rPr lang="en-US" sz="1467" dirty="0" err="1">
                <a:solidFill>
                  <a:schemeClr val="tx1"/>
                </a:solidFill>
                <a:latin typeface="Times New Roman" panose="02020603050405020304" pitchFamily="18" charset="0"/>
                <a:cs typeface="Times New Roman" panose="02020603050405020304" pitchFamily="18" charset="0"/>
              </a:rPr>
              <a:t>lấy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A863 </a:t>
            </a:r>
            <a:r>
              <a:rPr lang="en-US" sz="1467" dirty="0" err="1">
                <a:solidFill>
                  <a:schemeClr val="tx1"/>
                </a:solidFill>
                <a:latin typeface="Times New Roman" panose="02020603050405020304" pitchFamily="18" charset="0"/>
                <a:cs typeface="Times New Roman" panose="02020603050405020304" pitchFamily="18" charset="0"/>
              </a:rPr>
              <a:t>sau</a:t>
            </a:r>
            <a:r>
              <a:rPr lang="en-US" sz="1467" dirty="0">
                <a:solidFill>
                  <a:schemeClr val="tx1"/>
                </a:solidFill>
                <a:latin typeface="Times New Roman" panose="02020603050405020304" pitchFamily="18" charset="0"/>
                <a:cs typeface="Times New Roman" panose="02020603050405020304" pitchFamily="18" charset="0"/>
              </a:rPr>
              <a:t> A863 ENG CHANGE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02 – 05/03 </a:t>
            </a:r>
            <a:r>
              <a:rPr lang="en-US" sz="1467" dirty="0" err="1">
                <a:solidFill>
                  <a:schemeClr val="tx1"/>
                </a:solidFill>
                <a:latin typeface="Times New Roman" panose="02020603050405020304" pitchFamily="18" charset="0"/>
                <a:cs typeface="Times New Roman" panose="02020603050405020304" pitchFamily="18" charset="0"/>
              </a:rPr>
              <a:t>sử</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dụng</a:t>
            </a:r>
            <a:r>
              <a:rPr lang="en-US" sz="1467" dirty="0">
                <a:solidFill>
                  <a:schemeClr val="tx1"/>
                </a:solidFill>
                <a:latin typeface="Times New Roman" panose="02020603050405020304" pitchFamily="18" charset="0"/>
                <a:cs typeface="Times New Roman" panose="02020603050405020304" pitchFamily="18" charset="0"/>
              </a:rPr>
              <a:t> ĐCDP 958537 </a:t>
            </a:r>
            <a:r>
              <a:rPr lang="en-US" sz="1467" dirty="0" err="1">
                <a:solidFill>
                  <a:schemeClr val="tx1"/>
                </a:solidFill>
                <a:latin typeface="Times New Roman" panose="02020603050405020304" pitchFamily="18" charset="0"/>
                <a:cs typeface="Times New Roman" panose="02020603050405020304" pitchFamily="18" charset="0"/>
              </a:rPr>
              <a:t>sửa</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chữa</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xong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GE CAL). A870 </a:t>
            </a:r>
            <a:r>
              <a:rPr lang="en-US" sz="1467" dirty="0" err="1">
                <a:solidFill>
                  <a:schemeClr val="tx1"/>
                </a:solidFill>
                <a:latin typeface="Times New Roman" panose="02020603050405020304" pitchFamily="18" charset="0"/>
                <a:cs typeface="Times New Roman" panose="02020603050405020304" pitchFamily="18" charset="0"/>
              </a:rPr>
              <a:t>đã</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sẵn</a:t>
            </a:r>
            <a:r>
              <a:rPr lang="en-US" sz="1467" dirty="0">
                <a:solidFill>
                  <a:schemeClr val="tx1"/>
                </a:solidFill>
                <a:latin typeface="Times New Roman" panose="02020603050405020304" pitchFamily="18" charset="0"/>
                <a:cs typeface="Times New Roman" panose="02020603050405020304" pitchFamily="18" charset="0"/>
              </a:rPr>
              <a:t> 01 ENG </a:t>
            </a:r>
            <a:r>
              <a:rPr lang="en-US" sz="1467" dirty="0" err="1">
                <a:solidFill>
                  <a:schemeClr val="tx1"/>
                </a:solidFill>
                <a:latin typeface="Times New Roman" panose="02020603050405020304" pitchFamily="18" charset="0"/>
                <a:cs typeface="Times New Roman" panose="02020603050405020304" pitchFamily="18" charset="0"/>
              </a:rPr>
              <a:t>thỏa</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mãn</a:t>
            </a:r>
            <a:r>
              <a:rPr lang="en-US" sz="1467" dirty="0">
                <a:solidFill>
                  <a:schemeClr val="tx1"/>
                </a:solidFill>
                <a:latin typeface="Times New Roman" panose="02020603050405020304" pitchFamily="18" charset="0"/>
                <a:cs typeface="Times New Roman" panose="02020603050405020304" pitchFamily="18" charset="0"/>
              </a:rPr>
              <a:t> bay Nga.</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A864/956577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a:t>
            </a:r>
            <a:r>
              <a:rPr lang="en-US" sz="1467" b="1" dirty="0">
                <a:solidFill>
                  <a:schemeClr val="tx1"/>
                </a:solidFill>
                <a:latin typeface="Times New Roman" panose="02020603050405020304" pitchFamily="18" charset="0"/>
                <a:cs typeface="Times New Roman" panose="02020603050405020304" pitchFamily="18" charset="0"/>
              </a:rPr>
              <a:t>14/03 - 04/04/2025</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khắc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phục</a:t>
            </a:r>
            <a:r>
              <a:rPr lang="en-US" sz="1467" dirty="0">
                <a:solidFill>
                  <a:schemeClr val="tx1"/>
                </a:solidFill>
                <a:latin typeface="Times New Roman" panose="02020603050405020304" pitchFamily="18" charset="0"/>
                <a:cs typeface="Times New Roman" panose="02020603050405020304" pitchFamily="18" charset="0"/>
              </a:rPr>
              <a:t> AOG </a:t>
            </a:r>
            <a:r>
              <a:rPr lang="en-US" sz="1467" dirty="0" err="1">
                <a:solidFill>
                  <a:schemeClr val="tx1"/>
                </a:solidFill>
                <a:latin typeface="Times New Roman" panose="02020603050405020304" pitchFamily="18" charset="0"/>
                <a:cs typeface="Times New Roman" panose="02020603050405020304" pitchFamily="18" charset="0"/>
              </a:rPr>
              <a:t>sử</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dụng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956556 </a:t>
            </a:r>
            <a:r>
              <a:rPr lang="en-US" sz="1467" dirty="0" err="1">
                <a:solidFill>
                  <a:schemeClr val="tx1"/>
                </a:solidFill>
                <a:latin typeface="Times New Roman" panose="02020603050405020304" pitchFamily="18" charset="0"/>
                <a:cs typeface="Times New Roman" panose="02020603050405020304" pitchFamily="18" charset="0"/>
              </a:rPr>
              <a:t>sửa</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chữa</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xong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cuối</a:t>
            </a:r>
            <a:r>
              <a:rPr lang="en-US" sz="1467" dirty="0">
                <a:solidFill>
                  <a:schemeClr val="tx1"/>
                </a:solidFill>
                <a:latin typeface="Times New Roman" panose="02020603050405020304" pitchFamily="18" charset="0"/>
                <a:cs typeface="Times New Roman" panose="02020603050405020304" pitchFamily="18" charset="0"/>
              </a:rPr>
              <a:t> T3/2025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ENG SWAP 956697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tx1"/>
                </a:solidFill>
                <a:latin typeface="Times New Roman" panose="02020603050405020304" pitchFamily="18" charset="0"/>
                <a:cs typeface="Times New Roman" panose="02020603050405020304" pitchFamily="18" charset="0"/>
              </a:rPr>
              <a:t> A867. A864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thay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endParaRPr lang="en-US" sz="1467"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Hoàn </a:t>
            </a:r>
            <a:r>
              <a:rPr lang="en-US" sz="1467" dirty="0" err="1">
                <a:solidFill>
                  <a:schemeClr val="tx1"/>
                </a:solidFill>
                <a:latin typeface="Times New Roman" panose="02020603050405020304" pitchFamily="18" charset="0"/>
                <a:cs typeface="Times New Roman" panose="02020603050405020304" pitchFamily="18" charset="0"/>
              </a:rPr>
              <a:t>thiện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cấu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hình</a:t>
            </a:r>
            <a:r>
              <a:rPr lang="en-US" sz="1467" dirty="0">
                <a:solidFill>
                  <a:schemeClr val="tx1"/>
                </a:solidFill>
                <a:latin typeface="Times New Roman" panose="02020603050405020304" pitchFamily="18" charset="0"/>
                <a:cs typeface="Times New Roman" panose="02020603050405020304" pitchFamily="18" charset="0"/>
              </a:rPr>
              <a:t> bay Nga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A867 – </a:t>
            </a:r>
            <a:r>
              <a:rPr lang="en-US" sz="1467" b="1" dirty="0">
                <a:solidFill>
                  <a:schemeClr val="tx1"/>
                </a:solidFill>
                <a:latin typeface="Times New Roman" panose="02020603050405020304" pitchFamily="18" charset="0"/>
                <a:cs typeface="Times New Roman" panose="02020603050405020304" pitchFamily="18" charset="0"/>
              </a:rPr>
              <a:t>29/04/2025</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thực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02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ENG SWAP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tx1"/>
                </a:solidFill>
                <a:latin typeface="Times New Roman" panose="02020603050405020304" pitchFamily="18" charset="0"/>
                <a:cs typeface="Times New Roman" panose="02020603050405020304" pitchFamily="18" charset="0"/>
              </a:rPr>
              <a:t> A864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T3/2025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A861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T4/2025).</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2" y="445511"/>
          <a:ext cx="6778543" cy="3484008"/>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849128">
                  <a:extLst>
                    <a:ext uri="{9D8B030D-6E8A-4147-A177-3AD203B41FA5}">
                      <a16:colId xmlns:a16="http://schemas.microsoft.com/office/drawing/2014/main" val="3803391337"/>
                    </a:ext>
                  </a:extLst>
                </a:gridCol>
                <a:gridCol w="1797456">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385674">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385674">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b="1" u="none" strike="noStrike" dirty="0">
                          <a:solidFill>
                            <a:srgbClr val="FF0000"/>
                          </a:solidFill>
                          <a:effectLst/>
                          <a:latin typeface="+mn-lt"/>
                        </a:rPr>
                        <a:t>14/03/2025</a:t>
                      </a:r>
                    </a:p>
                    <a:p>
                      <a:pPr algn="ctr" fontAlgn="ctr"/>
                      <a:r>
                        <a:rPr lang="en-US" sz="1200" u="none" strike="noStrike" dirty="0">
                          <a:solidFill>
                            <a:schemeClr val="tx1"/>
                          </a:solidFill>
                          <a:effectLst/>
                          <a:latin typeface="+mn-lt"/>
                        </a:rPr>
                        <a:t>Induct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22/03/2025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385674">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1" u="none" strike="noStrike" dirty="0">
                          <a:solidFill>
                            <a:srgbClr val="FF0000"/>
                          </a:solidFill>
                          <a:effectLst/>
                          <a:latin typeface="+mn-lt"/>
                          <a:cs typeface="Times New Roman" panose="02020603050405020304" pitchFamily="18" charset="0"/>
                        </a:rPr>
                        <a:t>30/03/2025</a:t>
                      </a:r>
                    </a:p>
                    <a:p>
                      <a:pPr algn="ctr" fontAlgn="ctr"/>
                      <a:r>
                        <a:rPr lang="en-US" sz="1200" b="0" u="none" strike="noStrike" dirty="0">
                          <a:solidFill>
                            <a:schemeClr val="tx1"/>
                          </a:solidFill>
                          <a:effectLst/>
                          <a:latin typeface="+mn-lt"/>
                          <a:cs typeface="Times New Roman" panose="02020603050405020304" pitchFamily="18" charset="0"/>
                        </a:rPr>
                        <a:t>Induct 05/10/2024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FF0000"/>
                          </a:solidFill>
                          <a:effectLst/>
                          <a:latin typeface="+mn-lt"/>
                          <a:ea typeface="+mn-ea"/>
                          <a:cs typeface="Times New Roman" panose="02020603050405020304" pitchFamily="18" charset="0"/>
                        </a:rPr>
                        <a:t>T4/2025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385674">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TBD (T10/2025)</a:t>
                      </a:r>
                    </a:p>
                    <a:p>
                      <a:pPr algn="ctr" fontAlgn="ctr"/>
                      <a:r>
                        <a:rPr lang="en-US" sz="1200" b="0" u="none" strike="noStrike" dirty="0">
                          <a:solidFill>
                            <a:schemeClr val="tx1"/>
                          </a:solidFill>
                          <a:effectLst/>
                          <a:latin typeface="+mn-lt"/>
                          <a:cs typeface="Times New Roman" panose="02020603050405020304" pitchFamily="18" charset="0"/>
                        </a:rPr>
                        <a:t>Induct 12/11/2024</a:t>
                      </a:r>
                    </a:p>
                  </a:txBody>
                  <a:tcPr marL="12700" marR="12700" marT="12700" marB="0" anchor="ctr"/>
                </a:tc>
                <a:tc>
                  <a:txBody>
                    <a:bodyPr/>
                    <a:lstStyle/>
                    <a:p>
                      <a:pPr marL="0" algn="ctr" defTabSz="914400" rtl="0" eaLnBrk="1" fontAlgn="ctr" latinLnBrk="0" hangingPunct="1"/>
                      <a:r>
                        <a:rPr lang="en-US" sz="1200" b="1" i="0" u="none" strike="noStrike" dirty="0">
                          <a:solidFill>
                            <a:schemeClr val="tx1"/>
                          </a:solidFill>
                          <a:effectLst/>
                          <a:latin typeface="+mn-lt"/>
                          <a:cs typeface="Times New Roman" panose="02020603050405020304" pitchFamily="18" charset="0"/>
                        </a:rPr>
                        <a:t>TBD</a:t>
                      </a:r>
                      <a:endParaRPr lang="en-US" sz="1200" b="1" i="0" u="none" strike="noStrike" kern="1200" dirty="0">
                        <a:solidFill>
                          <a:schemeClr val="tx1"/>
                        </a:solidFill>
                        <a:effectLst/>
                        <a:latin typeface="+mn-lt"/>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385674">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rgbClr val="FF0000"/>
                          </a:solidFill>
                          <a:effectLst/>
                          <a:latin typeface="+mn-lt"/>
                          <a:cs typeface="Times New Roman" panose="02020603050405020304" pitchFamily="18" charset="0"/>
                        </a:rPr>
                        <a:t>15/05/2025</a:t>
                      </a:r>
                    </a:p>
                    <a:p>
                      <a:pPr algn="ctr" fontAlgn="ctr"/>
                      <a:r>
                        <a:rPr lang="en-US" sz="1200" b="0" u="none" strike="noStrike" dirty="0">
                          <a:solidFill>
                            <a:schemeClr val="tx1"/>
                          </a:solidFill>
                          <a:effectLst/>
                          <a:latin typeface="+mn-lt"/>
                          <a:cs typeface="Times New Roman" panose="02020603050405020304" pitchFamily="18" charset="0"/>
                        </a:rPr>
                        <a:t>Induct 17/07/2024</a:t>
                      </a: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22/05/2025</a:t>
                      </a: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385674">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TBD (13/07/2025)</a:t>
                      </a:r>
                    </a:p>
                    <a:p>
                      <a:pPr algn="ctr" fontAlgn="ctr"/>
                      <a:r>
                        <a:rPr lang="en-US" sz="1200" b="0" u="none" strike="noStrike" dirty="0">
                          <a:solidFill>
                            <a:schemeClr val="tx1"/>
                          </a:solidFill>
                          <a:effectLst/>
                          <a:latin typeface="+mn-lt"/>
                          <a:cs typeface="Times New Roman" panose="02020603050405020304" pitchFamily="18" charset="0"/>
                        </a:rPr>
                        <a:t>Induct 26/11/2024</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385674">
                <a:tc>
                  <a:txBody>
                    <a:bodyPr/>
                    <a:lstStyle/>
                    <a:p>
                      <a:pPr algn="ctr" fontAlgn="ctr"/>
                      <a:r>
                        <a:rPr lang="en-US" sz="1200" b="0" i="0" u="none" strike="noStrike" dirty="0">
                          <a:solidFill>
                            <a:schemeClr val="tx1"/>
                          </a:solidFill>
                          <a:effectLst/>
                          <a:latin typeface="+mn-lt"/>
                          <a:cs typeface="Times New Roman" panose="02020603050405020304" pitchFamily="18" charset="0"/>
                        </a:rPr>
                        <a:t>958537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17/09/2024</a:t>
                      </a:r>
                    </a:p>
                  </a:txBody>
                  <a:tcPr marL="12700" marR="12700" marT="12700" marB="0" anchor="ctr"/>
                </a:tc>
                <a:tc>
                  <a:txBody>
                    <a:bodyPr/>
                    <a:lstStyle/>
                    <a:p>
                      <a:pPr algn="ctr" fontAlgn="ctr"/>
                      <a:r>
                        <a:rPr lang="en-US" sz="1200" b="1" u="none" strike="noStrike" kern="1200" dirty="0">
                          <a:solidFill>
                            <a:srgbClr val="247A00"/>
                          </a:solidFill>
                          <a:effectLst/>
                          <a:latin typeface="+mn-lt"/>
                          <a:ea typeface="+mn-ea"/>
                          <a:cs typeface="Times New Roman" panose="02020603050405020304" pitchFamily="18" charset="0"/>
                        </a:rPr>
                        <a:t>21/Feb/2025</a:t>
                      </a:r>
                    </a:p>
                    <a:p>
                      <a:pPr algn="ctr" fontAlgn="ctr"/>
                      <a:r>
                        <a:rPr lang="en-US" sz="1200" b="1" u="none" strike="noStrike" kern="1200" dirty="0">
                          <a:solidFill>
                            <a:srgbClr val="247A00"/>
                          </a:solidFill>
                          <a:effectLst/>
                          <a:latin typeface="+mn-lt"/>
                          <a:ea typeface="+mn-ea"/>
                          <a:cs typeface="Times New Roman" panose="02020603050405020304" pitchFamily="18" charset="0"/>
                        </a:rPr>
                        <a:t>Induct 04/11</a:t>
                      </a:r>
                    </a:p>
                  </a:txBody>
                  <a:tcPr marL="12700" marR="12700" marT="12700" marB="0" anchor="ctr"/>
                </a:tc>
                <a:tc>
                  <a:txBody>
                    <a:bodyPr/>
                    <a:lstStyle/>
                    <a:p>
                      <a:pPr algn="ctr" fontAlgn="ctr"/>
                      <a:r>
                        <a:rPr lang="en-US" sz="1200" b="1" u="none" strike="noStrike" kern="1200" dirty="0">
                          <a:solidFill>
                            <a:srgbClr val="247A00"/>
                          </a:solidFill>
                          <a:effectLst/>
                          <a:latin typeface="+mn-lt"/>
                          <a:ea typeface="+mn-ea"/>
                          <a:cs typeface="Times New Roman" panose="02020603050405020304" pitchFamily="18" charset="0"/>
                        </a:rPr>
                        <a:t>28/Feb/25</a:t>
                      </a:r>
                    </a:p>
                  </a:txBody>
                  <a:tcPr marL="12700" marR="12700" marT="12700" marB="0" anchor="ctr"/>
                </a:tc>
                <a:tc>
                  <a:txBody>
                    <a:bodyPr/>
                    <a:lstStyle/>
                    <a:p>
                      <a:pPr algn="ctr" fontAlgn="ctr"/>
                      <a:endParaRPr lang="en-US" sz="1200" b="1" i="0" u="none" strike="noStrike" dirty="0">
                        <a:solidFill>
                          <a:srgbClr val="247A00"/>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rgbClr val="247A00"/>
                          </a:solidFill>
                          <a:effectLst/>
                          <a:latin typeface="+mn-lt"/>
                          <a:cs typeface="Times New Roman" panose="02020603050405020304" pitchFamily="18" charset="0"/>
                        </a:rPr>
                        <a:t>02/03 </a:t>
                      </a:r>
                    </a:p>
                    <a:p>
                      <a:pPr algn="ctr" fontAlgn="ctr"/>
                      <a:r>
                        <a:rPr lang="en-US" sz="1200" b="1" i="0" u="none" strike="noStrike" dirty="0">
                          <a:solidFill>
                            <a:srgbClr val="247A00"/>
                          </a:solidFill>
                          <a:effectLst/>
                          <a:latin typeface="+mn-lt"/>
                          <a:cs typeface="Times New Roman" panose="02020603050405020304" pitchFamily="18" charset="0"/>
                        </a:rPr>
                        <a:t>(A863 to A870)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38567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 04/03/2025        </a:t>
                      </a:r>
                    </a:p>
                    <a:p>
                      <a:pPr algn="ctr" fontAlgn="ctr"/>
                      <a:r>
                        <a:rPr lang="en-US" sz="1200" b="0" u="none" strike="noStrike" dirty="0">
                          <a:solidFill>
                            <a:srgbClr val="FF0000"/>
                          </a:solidFill>
                          <a:effectLst/>
                          <a:latin typeface="+mn-lt"/>
                          <a:cs typeface="Times New Roman" panose="02020603050405020304" pitchFamily="18" charset="0"/>
                        </a:rPr>
                        <a:t>(KH </a:t>
                      </a:r>
                      <a:r>
                        <a:rPr lang="en-US" sz="1200" b="0" u="none" strike="noStrike" dirty="0" err="1">
                          <a:solidFill>
                            <a:srgbClr val="FF0000"/>
                          </a:solidFill>
                          <a:effectLst/>
                          <a:latin typeface="+mn-lt"/>
                          <a:cs typeface="Times New Roman" panose="02020603050405020304" pitchFamily="18" charset="0"/>
                        </a:rPr>
                        <a:t>cũ</a:t>
                      </a:r>
                      <a:r>
                        <a:rPr lang="en-US" sz="1200" b="0" u="none" strike="noStrike" dirty="0">
                          <a:solidFill>
                            <a:srgbClr val="FF0000"/>
                          </a:solidFill>
                          <a:effectLst/>
                          <a:latin typeface="+mn-lt"/>
                          <a:cs typeface="Times New Roman" panose="02020603050405020304" pitchFamily="18" charset="0"/>
                        </a:rPr>
                        <a:t> 16/12)</a:t>
                      </a:r>
                    </a:p>
                  </a:txBody>
                  <a:tcPr marL="12700" marR="12700" marT="12700" marB="0" anchor="ctr"/>
                </a:tc>
                <a:tc>
                  <a:txBody>
                    <a:bodyPr/>
                    <a:lstStyle/>
                    <a:p>
                      <a:pPr algn="ctr" fontAlgn="ctr"/>
                      <a:r>
                        <a:rPr lang="en-US" sz="1200" b="0" i="0" u="none" strike="noStrike" dirty="0">
                          <a:solidFill>
                            <a:srgbClr val="F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199308">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Induction 15/04/2025</a:t>
                      </a:r>
                    </a:p>
                  </a:txBody>
                  <a:tcPr marL="12700" marR="12700" marT="12700" marB="0" anchor="ctr"/>
                </a:tc>
                <a:tc>
                  <a:txBody>
                    <a:bodyPr/>
                    <a:lstStyle/>
                    <a:p>
                      <a:pPr algn="ctr" fontAlgn="ctr"/>
                      <a:r>
                        <a:rPr lang="en-US" sz="1200" b="0" i="0" u="none" strike="noStrike" dirty="0">
                          <a:solidFill>
                            <a:srgbClr val="F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199308">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Induction 24/05/2025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rgbClr val="FF0000"/>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0346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30</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30</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extLst/>
          </p:nvPr>
        </p:nvGraphicFramePr>
        <p:xfrm>
          <a:off x="59590" y="875397"/>
          <a:ext cx="6123469" cy="2926080"/>
        </p:xfrm>
        <a:graphic>
          <a:graphicData uri="http://schemas.openxmlformats.org/drawingml/2006/table">
            <a:tbl>
              <a:tblPr firstRow="1" bandRow="1">
                <a:tableStyleId>{5C22544A-7EE6-4342-B048-85BDC9FD1C3A}</a:tableStyleId>
              </a:tblPr>
              <a:tblGrid>
                <a:gridCol w="662940">
                  <a:extLst>
                    <a:ext uri="{9D8B030D-6E8A-4147-A177-3AD203B41FA5}">
                      <a16:colId xmlns:a16="http://schemas.microsoft.com/office/drawing/2014/main" val="1930757539"/>
                    </a:ext>
                  </a:extLst>
                </a:gridCol>
                <a:gridCol w="1186815">
                  <a:extLst>
                    <a:ext uri="{9D8B030D-6E8A-4147-A177-3AD203B41FA5}">
                      <a16:colId xmlns:a16="http://schemas.microsoft.com/office/drawing/2014/main" val="1674463010"/>
                    </a:ext>
                  </a:extLst>
                </a:gridCol>
                <a:gridCol w="915353">
                  <a:extLst>
                    <a:ext uri="{9D8B030D-6E8A-4147-A177-3AD203B41FA5}">
                      <a16:colId xmlns:a16="http://schemas.microsoft.com/office/drawing/2014/main" val="1549944897"/>
                    </a:ext>
                  </a:extLst>
                </a:gridCol>
                <a:gridCol w="909003">
                  <a:extLst>
                    <a:ext uri="{9D8B030D-6E8A-4147-A177-3AD203B41FA5}">
                      <a16:colId xmlns:a16="http://schemas.microsoft.com/office/drawing/2014/main" val="3687717734"/>
                    </a:ext>
                  </a:extLst>
                </a:gridCol>
                <a:gridCol w="824865">
                  <a:extLst>
                    <a:ext uri="{9D8B030D-6E8A-4147-A177-3AD203B41FA5}">
                      <a16:colId xmlns:a16="http://schemas.microsoft.com/office/drawing/2014/main" val="4100307886"/>
                    </a:ext>
                  </a:extLst>
                </a:gridCol>
                <a:gridCol w="1624493">
                  <a:extLst>
                    <a:ext uri="{9D8B030D-6E8A-4147-A177-3AD203B41FA5}">
                      <a16:colId xmlns:a16="http://schemas.microsoft.com/office/drawing/2014/main" val="3114215318"/>
                    </a:ext>
                  </a:extLst>
                </a:gridCol>
              </a:tblGrid>
              <a:tr h="325120">
                <a:tc>
                  <a:txBody>
                    <a:bodyPr/>
                    <a:lstStyle/>
                    <a:p>
                      <a:r>
                        <a:rPr lang="en-US" sz="1200" dirty="0">
                          <a:latin typeface="Times New Roman" panose="02020603050405020304" pitchFamily="18" charset="0"/>
                          <a:cs typeface="Times New Roman" panose="02020603050405020304" pitchFamily="18" charset="0"/>
                        </a:rPr>
                        <a:t>ESN</a:t>
                      </a: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Shop-WSC</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Induction</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Complete</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Arrive</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Used for</a:t>
                      </a:r>
                    </a:p>
                  </a:txBody>
                  <a:tcPr marL="121920" marR="121920" marT="60960" marB="60960" anchor="ctr"/>
                </a:tc>
                <a:extLst>
                  <a:ext uri="{0D108BD9-81ED-4DB2-BD59-A6C34878D82A}">
                    <a16:rowId xmlns:a16="http://schemas.microsoft.com/office/drawing/2014/main" val="1532058823"/>
                  </a:ext>
                </a:extLst>
              </a:tr>
              <a:tr h="325120">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 </a:t>
                      </a:r>
                      <a:r>
                        <a:rPr lang="en-GB" sz="1200" dirty="0">
                          <a:latin typeface="Times New Roman" panose="02020603050405020304" pitchFamily="18" charset="0"/>
                          <a:cs typeface="Times New Roman" panose="02020603050405020304" pitchFamily="18" charset="0"/>
                        </a:rPr>
                        <a:t>– 2RF</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1" dirty="0">
                          <a:solidFill>
                            <a:srgbClr val="FF0000"/>
                          </a:solidFill>
                          <a:latin typeface="Times New Roman" panose="02020603050405020304" pitchFamily="18" charset="0"/>
                          <a:cs typeface="Times New Roman" panose="02020603050405020304" pitchFamily="18" charset="0"/>
                        </a:rPr>
                        <a:t>29/03/</a:t>
                      </a:r>
                      <a:r>
                        <a:rPr lang="vi-VN" sz="1200" b="1" dirty="0">
                          <a:solidFill>
                            <a:srgbClr val="FF0000"/>
                          </a:solidFill>
                          <a:latin typeface="Times New Roman" panose="02020603050405020304" pitchFamily="18" charset="0"/>
                          <a:cs typeface="Times New Roman" panose="02020603050405020304" pitchFamily="18" charset="0"/>
                        </a:rPr>
                        <a:t>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dirty="0">
                          <a:solidFill>
                            <a:srgbClr val="FF0000"/>
                          </a:solidFill>
                          <a:latin typeface="Times New Roman" panose="02020603050405020304" pitchFamily="18" charset="0"/>
                          <a:cs typeface="Times New Roman" panose="02020603050405020304" pitchFamily="18" charset="0"/>
                        </a:rPr>
                        <a:t>08/04/</a:t>
                      </a:r>
                      <a:r>
                        <a:rPr lang="vi-VN" sz="1200" b="1" dirty="0">
                          <a:solidFill>
                            <a:srgbClr val="FF0000"/>
                          </a:solidFill>
                          <a:latin typeface="Times New Roman" panose="02020603050405020304" pitchFamily="18" charset="0"/>
                          <a:cs typeface="Times New Roman" panose="02020603050405020304" pitchFamily="18" charset="0"/>
                        </a:rPr>
                        <a:t>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dirty="0">
                          <a:solidFill>
                            <a:schemeClr val="tx1"/>
                          </a:solidFill>
                          <a:latin typeface="Times New Roman" panose="02020603050405020304" pitchFamily="18" charset="0"/>
                          <a:ea typeface="+mn-ea"/>
                          <a:cs typeface="Times New Roman" panose="02020603050405020304" pitchFamily="18" charset="0"/>
                        </a:rPr>
                        <a:t>A886</a:t>
                      </a:r>
                    </a:p>
                  </a:txBody>
                  <a:tcPr marL="121920" marR="121920" marT="60960" marB="60960" anchor="ctr"/>
                </a:tc>
                <a:extLst>
                  <a:ext uri="{0D108BD9-81ED-4DB2-BD59-A6C34878D82A}">
                    <a16:rowId xmlns:a16="http://schemas.microsoft.com/office/drawing/2014/main" val="2082573017"/>
                  </a:ext>
                </a:extLst>
              </a:tr>
              <a:tr h="325120">
                <a:tc>
                  <a:txBody>
                    <a:bodyPr/>
                    <a:lstStyle/>
                    <a:p>
                      <a:r>
                        <a:rPr lang="en-US" sz="1200" b="1" dirty="0">
                          <a:latin typeface="Times New Roman" panose="02020603050405020304" pitchFamily="18" charset="0"/>
                          <a:cs typeface="Times New Roman" panose="02020603050405020304" pitchFamily="18" charset="0"/>
                        </a:rPr>
                        <a:t>21043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a:t>
                      </a:r>
                      <a:r>
                        <a:rPr lang="en-US" sz="1200" dirty="0">
                          <a:latin typeface="Times New Roman" panose="02020603050405020304" pitchFamily="18" charset="0"/>
                          <a:cs typeface="Times New Roman" panose="02020603050405020304" pitchFamily="18" charset="0"/>
                        </a:rPr>
                        <a:t>– 2RF</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10/06/25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A895</a:t>
                      </a:r>
                    </a:p>
                  </a:txBody>
                  <a:tcPr marL="121920" marR="121920" marT="60960" marB="60960" anchor="ctr"/>
                </a:tc>
                <a:extLst>
                  <a:ext uri="{0D108BD9-81ED-4DB2-BD59-A6C34878D82A}">
                    <a16:rowId xmlns:a16="http://schemas.microsoft.com/office/drawing/2014/main" val="83465224"/>
                  </a:ext>
                </a:extLst>
              </a:tr>
              <a:tr h="325120">
                <a:tc>
                  <a:txBody>
                    <a:bodyPr/>
                    <a:lstStyle/>
                    <a:p>
                      <a:r>
                        <a:rPr lang="en-US" sz="1200" b="1" dirty="0">
                          <a:latin typeface="Times New Roman" panose="02020603050405020304" pitchFamily="18" charset="0"/>
                          <a:cs typeface="Times New Roman" panose="02020603050405020304" pitchFamily="18" charset="0"/>
                        </a:rPr>
                        <a:t>21137</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20/06/25</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30/06/25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A887</a:t>
                      </a:r>
                    </a:p>
                  </a:txBody>
                  <a:tcPr marL="121920" marR="121920" marT="60960" marB="60960" anchor="ctr"/>
                </a:tc>
                <a:extLst>
                  <a:ext uri="{0D108BD9-81ED-4DB2-BD59-A6C34878D82A}">
                    <a16:rowId xmlns:a16="http://schemas.microsoft.com/office/drawing/2014/main" val="1733553736"/>
                  </a:ext>
                </a:extLst>
              </a:tr>
              <a:tr h="325120">
                <a:tc>
                  <a:txBody>
                    <a:bodyPr/>
                    <a:lstStyle/>
                    <a:p>
                      <a:r>
                        <a:rPr lang="en-US" sz="1200" b="1" dirty="0">
                          <a:latin typeface="Times New Roman" panose="02020603050405020304" pitchFamily="18" charset="0"/>
                          <a:cs typeface="Times New Roman" panose="02020603050405020304" pitchFamily="18" charset="0"/>
                        </a:rPr>
                        <a:t>21422</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1RF – 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dirty="0">
                          <a:solidFill>
                            <a:schemeClr val="tx1"/>
                          </a:solidFill>
                          <a:latin typeface="Times New Roman" panose="02020603050405020304" pitchFamily="18" charset="0"/>
                          <a:ea typeface="+mn-ea"/>
                          <a:cs typeface="Times New Roman" panose="02020603050405020304" pitchFamily="18" charset="0"/>
                        </a:rPr>
                        <a:t>30/03/25</a:t>
                      </a: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10/04/25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dirty="0">
                          <a:solidFill>
                            <a:schemeClr val="tx1"/>
                          </a:solidFill>
                          <a:latin typeface="Times New Roman" panose="02020603050405020304" pitchFamily="18" charset="0"/>
                          <a:ea typeface="+mn-ea"/>
                          <a:cs typeface="Times New Roman" panose="02020603050405020304" pitchFamily="18" charset="0"/>
                        </a:rPr>
                        <a:t>A886</a:t>
                      </a:r>
                    </a:p>
                  </a:txBody>
                  <a:tcPr marL="121920" marR="121920" marT="60960" marB="60960" anchor="ctr"/>
                </a:tc>
                <a:extLst>
                  <a:ext uri="{0D108BD9-81ED-4DB2-BD59-A6C34878D82A}">
                    <a16:rowId xmlns:a16="http://schemas.microsoft.com/office/drawing/2014/main" val="875011403"/>
                  </a:ext>
                </a:extLst>
              </a:tr>
              <a:tr h="325120">
                <a:tc>
                  <a:txBody>
                    <a:bodyPr/>
                    <a:lstStyle/>
                    <a:p>
                      <a:r>
                        <a:rPr lang="en-US" sz="1200" b="1" dirty="0">
                          <a:latin typeface="Times New Roman" panose="02020603050405020304" pitchFamily="18" charset="0"/>
                          <a:cs typeface="Times New Roman" panose="02020603050405020304" pitchFamily="18" charset="0"/>
                        </a:rPr>
                        <a:t>21201</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A894 (đ/c </a:t>
                      </a:r>
                      <a:r>
                        <a:rPr lang="en-US" sz="1200" b="0" dirty="0" err="1">
                          <a:solidFill>
                            <a:schemeClr val="tx1"/>
                          </a:solidFill>
                          <a:latin typeface="Times New Roman" panose="02020603050405020304" pitchFamily="18" charset="0"/>
                          <a:cs typeface="Times New Roman" panose="02020603050405020304" pitchFamily="18" charset="0"/>
                        </a:rPr>
                        <a:t>hết</a:t>
                      </a:r>
                      <a:r>
                        <a:rPr lang="en-US" sz="1200" b="0" dirty="0">
                          <a:solidFill>
                            <a:schemeClr val="tx1"/>
                          </a:solidFill>
                          <a:latin typeface="Times New Roman" panose="02020603050405020304" pitchFamily="18" charset="0"/>
                          <a:cs typeface="Times New Roman" panose="02020603050405020304" pitchFamily="18" charset="0"/>
                        </a:rPr>
                        <a:t> LLP)</a:t>
                      </a:r>
                    </a:p>
                  </a:txBody>
                  <a:tcPr marL="121920" marR="121920" marT="60960" marB="60960" anchor="ctr"/>
                </a:tc>
                <a:extLst>
                  <a:ext uri="{0D108BD9-81ED-4DB2-BD59-A6C34878D82A}">
                    <a16:rowId xmlns:a16="http://schemas.microsoft.com/office/drawing/2014/main" val="727372545"/>
                  </a:ext>
                </a:extLst>
              </a:tr>
              <a:tr h="325120">
                <a:tc>
                  <a:txBody>
                    <a:bodyPr/>
                    <a:lstStyle/>
                    <a:p>
                      <a:r>
                        <a:rPr lang="en-US" sz="1200" b="1" dirty="0">
                          <a:latin typeface="Times New Roman" panose="02020603050405020304" pitchFamily="18" charset="0"/>
                          <a:cs typeface="Times New Roman" panose="02020603050405020304" pitchFamily="18" charset="0"/>
                        </a:rPr>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 – 1RF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02/06/25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A895</a:t>
                      </a:r>
                    </a:p>
                  </a:txBody>
                  <a:tcPr marL="121920" marR="121920" marT="60960" marB="60960" anchor="ctr"/>
                </a:tc>
                <a:extLst>
                  <a:ext uri="{0D108BD9-81ED-4DB2-BD59-A6C34878D82A}">
                    <a16:rowId xmlns:a16="http://schemas.microsoft.com/office/drawing/2014/main" val="829074625"/>
                  </a:ext>
                </a:extLst>
              </a:tr>
              <a:tr h="325120">
                <a:tc>
                  <a:txBody>
                    <a:bodyPr/>
                    <a:lstStyle/>
                    <a:p>
                      <a:r>
                        <a:rPr lang="en-US" sz="1200" b="1">
                          <a:latin typeface="Times New Roman" panose="02020603050405020304" pitchFamily="18" charset="0"/>
                          <a:cs typeface="Times New Roman" panose="02020603050405020304" pitchFamily="18" charset="0"/>
                        </a:rPr>
                        <a:t>21269</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QT</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27/01/25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dirty="0">
                          <a:solidFill>
                            <a:srgbClr val="FF0000"/>
                          </a:solidFill>
                          <a:latin typeface="Times New Roman" panose="02020603050405020304" pitchFamily="18" charset="0"/>
                          <a:cs typeface="Times New Roman" panose="02020603050405020304" pitchFamily="18" charset="0"/>
                        </a:rPr>
                        <a:t>14/03/25</a:t>
                      </a:r>
                    </a:p>
                  </a:txBody>
                  <a:tcPr marL="121920" marR="121920" marT="60960" marB="60960" anchor="ctr"/>
                </a:tc>
                <a:tc>
                  <a:txBody>
                    <a:bodyPr/>
                    <a:lstStyle/>
                    <a:p>
                      <a:r>
                        <a:rPr lang="en-US" sz="1200" b="1" dirty="0">
                          <a:solidFill>
                            <a:srgbClr val="FF0000"/>
                          </a:solidFill>
                          <a:latin typeface="Times New Roman" panose="02020603050405020304" pitchFamily="18" charset="0"/>
                          <a:cs typeface="Times New Roman" panose="02020603050405020304" pitchFamily="18" charset="0"/>
                        </a:rPr>
                        <a:t>24/03/25</a:t>
                      </a:r>
                    </a:p>
                  </a:txBody>
                  <a:tcPr marL="121920" marR="121920" marT="60960" marB="60960" anchor="ctr"/>
                </a:tc>
                <a:tc>
                  <a:txBody>
                    <a:bodyPr/>
                    <a:lstStyle/>
                    <a:p>
                      <a:pPr marL="0" algn="l" defTabSz="914400" rtl="0" eaLnBrk="1" latinLnBrk="0" hangingPunct="1"/>
                      <a:r>
                        <a:rPr lang="en-US" sz="1200" b="0" kern="1200" dirty="0">
                          <a:solidFill>
                            <a:schemeClr val="tx1"/>
                          </a:solidFill>
                          <a:latin typeface="Times New Roman" panose="02020603050405020304" pitchFamily="18" charset="0"/>
                          <a:ea typeface="+mn-ea"/>
                          <a:cs typeface="Times New Roman" panose="02020603050405020304" pitchFamily="18" charset="0"/>
                        </a:rPr>
                        <a:t>A891 (</a:t>
                      </a:r>
                      <a:r>
                        <a:rPr lang="en-US" sz="1200" b="0" kern="1200" dirty="0" err="1">
                          <a:solidFill>
                            <a:schemeClr val="tx1"/>
                          </a:solidFill>
                          <a:latin typeface="Times New Roman" panose="02020603050405020304" pitchFamily="18" charset="0"/>
                          <a:ea typeface="+mn-ea"/>
                          <a:cs typeface="Times New Roman" panose="02020603050405020304" pitchFamily="18" charset="0"/>
                        </a:rPr>
                        <a:t>giữ</a:t>
                      </a:r>
                      <a:r>
                        <a:rPr lang="en-US" sz="1200" b="0" kern="1200" dirty="0">
                          <a:solidFill>
                            <a:schemeClr val="tx1"/>
                          </a:solidFill>
                          <a:latin typeface="Times New Roman" panose="02020603050405020304" pitchFamily="18" charset="0"/>
                          <a:ea typeface="+mn-ea"/>
                          <a:cs typeface="Times New Roman" panose="02020603050405020304" pitchFamily="18" charset="0"/>
                        </a:rPr>
                        <a:t> </a:t>
                      </a:r>
                      <a:r>
                        <a:rPr lang="en-US" sz="1200" b="0" kern="1200" dirty="0" err="1">
                          <a:solidFill>
                            <a:schemeClr val="tx1"/>
                          </a:solidFill>
                          <a:latin typeface="Times New Roman" panose="02020603050405020304" pitchFamily="18" charset="0"/>
                          <a:ea typeface="+mn-ea"/>
                          <a:cs typeface="Times New Roman" panose="02020603050405020304" pitchFamily="18" charset="0"/>
                        </a:rPr>
                        <a:t>giờ</a:t>
                      </a:r>
                      <a:r>
                        <a:rPr lang="en-US" sz="1200" b="0" kern="1200" dirty="0">
                          <a:solidFill>
                            <a:schemeClr val="tx1"/>
                          </a:solidFill>
                          <a:latin typeface="Times New Roman" panose="02020603050405020304" pitchFamily="18" charset="0"/>
                          <a:ea typeface="+mn-ea"/>
                          <a:cs typeface="Times New Roman" panose="02020603050405020304" pitchFamily="18" charset="0"/>
                        </a:rPr>
                        <a:t> 21346)</a:t>
                      </a:r>
                    </a:p>
                  </a:txBody>
                  <a:tcPr marL="121920" marR="121920" marT="60960" marB="60960" anchor="ctr"/>
                </a:tc>
                <a:extLst>
                  <a:ext uri="{0D108BD9-81ED-4DB2-BD59-A6C34878D82A}">
                    <a16:rowId xmlns:a16="http://schemas.microsoft.com/office/drawing/2014/main" val="1733130508"/>
                  </a:ext>
                </a:extLst>
              </a:tr>
              <a:tr h="325120">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17/06/25</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A887</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135666374"/>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76200" y="4321843"/>
          <a:ext cx="5879459" cy="2438400"/>
        </p:xfrm>
        <a:graphic>
          <a:graphicData uri="http://schemas.openxmlformats.org/drawingml/2006/table">
            <a:tbl>
              <a:tblPr firstRow="1" bandRow="1">
                <a:tableStyleId>{21E4AEA4-8DFA-4A89-87EB-49C32662AFE0}</a:tableStyleId>
              </a:tblPr>
              <a:tblGrid>
                <a:gridCol w="991528">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0">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0">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0">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177050543"/>
                  </a:ext>
                </a:extLst>
              </a:tr>
              <a:tr h="0">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A898</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p>
                  </a:txBody>
                  <a:tcPr marL="121920" marR="121920" marT="60960" marB="60960" anchor="ctr"/>
                </a:tc>
                <a:extLst>
                  <a:ext uri="{0D108BD9-81ED-4DB2-BD59-A6C34878D82A}">
                    <a16:rowId xmlns:a16="http://schemas.microsoft.com/office/drawing/2014/main" val="4001673644"/>
                  </a:ext>
                </a:extLst>
              </a:tr>
              <a:tr h="0">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927641313"/>
                  </a:ext>
                </a:extLst>
              </a:tr>
              <a:tr h="0">
                <a:tc>
                  <a:txBody>
                    <a:bodyPr/>
                    <a:lstStyle/>
                    <a:p>
                      <a:r>
                        <a:rPr lang="en-GB" sz="1200" b="1" dirty="0">
                          <a:latin typeface="Times New Roman" panose="02020603050405020304" pitchFamily="18" charset="0"/>
                          <a:cs typeface="Times New Roman" panose="02020603050405020304" pitchFamily="18" charset="0"/>
                        </a:rPr>
                        <a:t>21414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T3/25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63729012"/>
                  </a:ext>
                </a:extLst>
              </a:tr>
              <a:tr h="0">
                <a:tc>
                  <a:txBody>
                    <a:bodyPr/>
                    <a:lstStyle/>
                    <a:p>
                      <a:r>
                        <a:rPr lang="en-GB" sz="1200" b="1" dirty="0">
                          <a:latin typeface="Times New Roman" panose="02020603050405020304" pitchFamily="18" charset="0"/>
                          <a:cs typeface="Times New Roman" panose="02020603050405020304" pitchFamily="18" charset="0"/>
                        </a:rPr>
                        <a:t>21604</a:t>
                      </a:r>
                    </a:p>
                  </a:txBody>
                  <a:tcPr marL="121920" marR="121920" marT="60960" marB="60960" anchor="ctr"/>
                </a:tc>
                <a:tc>
                  <a:txBody>
                    <a:bodyPr/>
                    <a:lstStyle/>
                    <a:p>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T4/25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958768938"/>
                  </a:ext>
                </a:extLst>
              </a:tr>
              <a:tr h="0">
                <a:tc>
                  <a:txBody>
                    <a:bodyPr/>
                    <a:lstStyle/>
                    <a:p>
                      <a:r>
                        <a:rPr lang="en-GB" sz="1200" b="1">
                          <a:latin typeface="Times New Roman" panose="02020603050405020304" pitchFamily="18" charset="0"/>
                          <a:cs typeface="Times New Roman" panose="02020603050405020304" pitchFamily="18" charset="0"/>
                        </a:rPr>
                        <a:t>21048</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54533860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đang trong shop (08 động c</a:t>
            </a:r>
            <a:r>
              <a:rPr lang="en-US" sz="2133" b="1">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414473" y="3851378"/>
            <a:ext cx="5195392"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ch</a:t>
            </a:r>
            <a:r>
              <a:rPr lang="en-US" sz="2133" b="1">
                <a:solidFill>
                  <a:srgbClr val="002060"/>
                </a:solidFill>
                <a:latin typeface="Times New Roman" panose="02020603050405020304" pitchFamily="18" charset="0"/>
                <a:cs typeface="Times New Roman" panose="02020603050405020304" pitchFamily="18" charset="0"/>
              </a:rPr>
              <a:t>ờ sửa </a:t>
            </a:r>
            <a:r>
              <a:rPr lang="en-GB" sz="2133" b="1">
                <a:solidFill>
                  <a:srgbClr val="002060"/>
                </a:solidFill>
                <a:latin typeface="Times New Roman" panose="02020603050405020304" pitchFamily="18" charset="0"/>
                <a:cs typeface="Times New Roman" panose="02020603050405020304" pitchFamily="18" charset="0"/>
              </a:rPr>
              <a:t>(07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859609"/>
            <a:ext cx="5167083" cy="461665"/>
          </a:xfrm>
          <a:prstGeom prst="rect">
            <a:avLst/>
          </a:prstGeom>
          <a:noFill/>
        </p:spPr>
        <p:txBody>
          <a:bodyPr wrap="square" rtlCol="0">
            <a:spAutoFit/>
          </a:bodyPr>
          <a:lstStyle/>
          <a:p>
            <a:pPr algn="ctr" defTabSz="1219170">
              <a:defRPr/>
            </a:pPr>
            <a:r>
              <a:rPr lang="en-US" sz="2400" b="1">
                <a:solidFill>
                  <a:srgbClr val="002060"/>
                </a:solidFill>
                <a:latin typeface="Times New Roman" panose="02020603050405020304" pitchFamily="18" charset="0"/>
                <a:cs typeface="Times New Roman" panose="02020603050405020304" pitchFamily="18" charset="0"/>
              </a:rPr>
              <a:t>Số tàu AOG (kb tốt)</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74810" y="3352800"/>
          <a:ext cx="5808956" cy="3200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29534" y="907137"/>
          <a:ext cx="5625452" cy="17068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191279">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algn="ctr" defTabSz="1219170">
              <a:defRPr/>
            </a:pPr>
            <a:r>
              <a:rPr lang="en-US" sz="2133" b="1">
                <a:solidFill>
                  <a:srgbClr val="002060"/>
                </a:solidFill>
                <a:latin typeface="Times New Roman" panose="02020603050405020304" pitchFamily="18" charset="0"/>
                <a:cs typeface="Times New Roman" panose="02020603050405020304" pitchFamily="18" charset="0"/>
              </a:rPr>
              <a:t>Các tàu đang AOG (04 tàu)</a:t>
            </a:r>
            <a:endParaRPr lang="en-GB" sz="2133"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124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3F1044C-49FE-4761-AB6C-08C2C66EE4F0}"/>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t>
            </a:r>
            <a:r>
              <a:rPr lang="en-US" sz="2667" b="1">
                <a:ln w="0"/>
                <a:solidFill>
                  <a:srgbClr val="FBAC00"/>
                </a:solidFill>
                <a:latin typeface="Times New Roman" panose="02020603050405020304" pitchFamily="18" charset="0"/>
                <a:cs typeface="Times New Roman" panose="02020603050405020304" pitchFamily="18" charset="0"/>
              </a:rPr>
              <a:t>AOG A350 2025 DO THIẾU ĐỘNG C</a:t>
            </a:r>
            <a:r>
              <a:rPr lang="vi-VN" sz="2667" b="1">
                <a:ln w="0"/>
                <a:solidFill>
                  <a:srgbClr val="FBAC00"/>
                </a:solidFill>
                <a:latin typeface="Times New Roman" panose="02020603050405020304" pitchFamily="18" charset="0"/>
                <a:cs typeface="Times New Roman" panose="02020603050405020304" pitchFamily="18" charset="0"/>
              </a:rPr>
              <a:t>Ơ</a:t>
            </a:r>
            <a:endParaRPr lang="en-US"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6" name="Chart 15">
            <a:extLst>
              <a:ext uri="{FF2B5EF4-FFF2-40B4-BE49-F238E27FC236}">
                <a16:creationId xmlns:a16="http://schemas.microsoft.com/office/drawing/2014/main" id="{A3E8964E-6605-453B-87FD-34C390A534B1}"/>
              </a:ext>
            </a:extLst>
          </p:cNvPr>
          <p:cNvGraphicFramePr>
            <a:graphicFrameLocks/>
          </p:cNvGraphicFramePr>
          <p:nvPr/>
        </p:nvGraphicFramePr>
        <p:xfrm>
          <a:off x="304800" y="533400"/>
          <a:ext cx="11430000" cy="5562600"/>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id="{E9C07DA6-E964-4FA0-BC5D-1A4F09D3658F}"/>
              </a:ext>
            </a:extLst>
          </p:cNvPr>
          <p:cNvSpPr/>
          <p:nvPr/>
        </p:nvSpPr>
        <p:spPr>
          <a:xfrm>
            <a:off x="228600" y="6111240"/>
            <a:ext cx="12039600" cy="630942"/>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pPr lvl="0"/>
            <a:r>
              <a:rPr lang="en-US" sz="900" dirty="0"/>
              <a:t>- </a:t>
            </a:r>
            <a:r>
              <a:rPr lang="en-GB" sz="1050" dirty="0" err="1"/>
              <a:t>Với</a:t>
            </a:r>
            <a:r>
              <a:rPr lang="en-GB" sz="1050" dirty="0"/>
              <a:t> 21346 (</a:t>
            </a:r>
            <a:r>
              <a:rPr lang="en-GB" sz="1050" dirty="0" err="1"/>
              <a:t>hết</a:t>
            </a:r>
            <a:r>
              <a:rPr lang="en-GB" sz="1050" dirty="0"/>
              <a:t> </a:t>
            </a:r>
            <a:r>
              <a:rPr lang="en-GB" sz="1050" dirty="0" err="1"/>
              <a:t>hạn</a:t>
            </a:r>
            <a:r>
              <a:rPr lang="en-GB" sz="1050" dirty="0"/>
              <a:t> 14/06): </a:t>
            </a:r>
            <a:r>
              <a:rPr lang="en-GB" sz="1050" dirty="0" err="1"/>
              <a:t>chờ</a:t>
            </a:r>
            <a:r>
              <a:rPr lang="en-GB" sz="1050" dirty="0"/>
              <a:t> </a:t>
            </a:r>
            <a:r>
              <a:rPr lang="en-GB" sz="1050" dirty="0" err="1"/>
              <a:t>động</a:t>
            </a:r>
            <a:r>
              <a:rPr lang="en-GB" sz="1050" dirty="0"/>
              <a:t> </a:t>
            </a:r>
            <a:r>
              <a:rPr lang="en-GB" sz="1050" dirty="0" err="1"/>
              <a:t>cơ</a:t>
            </a:r>
            <a:r>
              <a:rPr lang="en-GB" sz="1050" dirty="0"/>
              <a:t> 21269 </a:t>
            </a:r>
            <a:r>
              <a:rPr lang="en-GB" sz="1050" dirty="0" err="1"/>
              <a:t>đi</a:t>
            </a:r>
            <a:r>
              <a:rPr lang="en-GB" sz="1050" dirty="0"/>
              <a:t> shop </a:t>
            </a:r>
            <a:r>
              <a:rPr lang="en-GB" sz="1050" dirty="0" err="1"/>
              <a:t>về</a:t>
            </a:r>
            <a:r>
              <a:rPr lang="en-GB" sz="1050" dirty="0"/>
              <a:t> </a:t>
            </a:r>
            <a:r>
              <a:rPr lang="en-GB" sz="1050" dirty="0" err="1"/>
              <a:t>ngày</a:t>
            </a:r>
            <a:r>
              <a:rPr lang="en-GB" sz="1050" dirty="0"/>
              <a:t> 24/03 </a:t>
            </a:r>
            <a:r>
              <a:rPr lang="en-GB" sz="1050" dirty="0" err="1"/>
              <a:t>sẽ</a:t>
            </a:r>
            <a:r>
              <a:rPr lang="en-GB" sz="1050" dirty="0"/>
              <a:t> </a:t>
            </a:r>
            <a:r>
              <a:rPr lang="en-GB" sz="1050" dirty="0" err="1"/>
              <a:t>tháo</a:t>
            </a:r>
            <a:r>
              <a:rPr lang="en-GB" sz="1050" dirty="0"/>
              <a:t> </a:t>
            </a:r>
            <a:r>
              <a:rPr lang="en-GB" sz="1050" dirty="0" err="1"/>
              <a:t>động</a:t>
            </a:r>
            <a:r>
              <a:rPr lang="en-GB" sz="1050" dirty="0"/>
              <a:t> </a:t>
            </a:r>
            <a:r>
              <a:rPr lang="en-GB" sz="1050" dirty="0" err="1"/>
              <a:t>cơ</a:t>
            </a:r>
            <a:r>
              <a:rPr lang="en-GB" sz="1050" dirty="0"/>
              <a:t> </a:t>
            </a:r>
            <a:r>
              <a:rPr lang="en-GB" sz="1050" dirty="0" err="1"/>
              <a:t>này</a:t>
            </a:r>
            <a:r>
              <a:rPr lang="en-GB" sz="1050" dirty="0"/>
              <a:t> </a:t>
            </a:r>
            <a:r>
              <a:rPr lang="en-GB" sz="1050" dirty="0" err="1"/>
              <a:t>xuống</a:t>
            </a:r>
            <a:r>
              <a:rPr lang="en-GB" sz="1050" dirty="0"/>
              <a:t> </a:t>
            </a:r>
            <a:r>
              <a:rPr lang="en-GB" sz="1050" dirty="0" err="1"/>
              <a:t>giữ</a:t>
            </a:r>
            <a:r>
              <a:rPr lang="en-GB" sz="1050" dirty="0"/>
              <a:t> </a:t>
            </a:r>
            <a:r>
              <a:rPr lang="en-GB" sz="1050" dirty="0" err="1"/>
              <a:t>giờ</a:t>
            </a:r>
            <a:r>
              <a:rPr lang="en-GB" sz="1050" dirty="0"/>
              <a:t> </a:t>
            </a:r>
            <a:r>
              <a:rPr lang="en-GB" sz="1050" dirty="0" err="1"/>
              <a:t>đến</a:t>
            </a:r>
            <a:r>
              <a:rPr lang="en-GB" sz="1050" dirty="0"/>
              <a:t> 10/5 </a:t>
            </a:r>
            <a:r>
              <a:rPr lang="en-GB" sz="1050" dirty="0" err="1"/>
              <a:t>lắp</a:t>
            </a:r>
            <a:r>
              <a:rPr lang="en-GB" sz="1050" dirty="0"/>
              <a:t> </a:t>
            </a:r>
            <a:r>
              <a:rPr lang="en-GB" sz="1050" dirty="0" err="1"/>
              <a:t>lại</a:t>
            </a:r>
            <a:r>
              <a:rPr lang="en-GB" sz="1050" dirty="0"/>
              <a:t> A899 (</a:t>
            </a:r>
            <a:r>
              <a:rPr lang="en-GB" sz="1050" dirty="0" err="1"/>
              <a:t>tàu</a:t>
            </a:r>
            <a:r>
              <a:rPr lang="en-GB" sz="1050" dirty="0"/>
              <a:t> </a:t>
            </a:r>
            <a:r>
              <a:rPr lang="en-GB" sz="1050" dirty="0" err="1"/>
              <a:t>đang</a:t>
            </a:r>
            <a:r>
              <a:rPr lang="en-GB" sz="1050" dirty="0"/>
              <a:t> </a:t>
            </a:r>
            <a:r>
              <a:rPr lang="en-GB" sz="1050" dirty="0" err="1"/>
              <a:t>dừng</a:t>
            </a:r>
            <a:r>
              <a:rPr lang="en-GB" sz="1050" dirty="0"/>
              <a:t> </a:t>
            </a:r>
            <a:r>
              <a:rPr lang="en-GB" sz="1050" dirty="0" err="1"/>
              <a:t>làm</a:t>
            </a:r>
            <a:r>
              <a:rPr lang="en-GB" sz="1050" dirty="0"/>
              <a:t> 6Y</a:t>
            </a:r>
            <a:r>
              <a:rPr lang="en-US" sz="1050" dirty="0"/>
              <a:t>), </a:t>
            </a:r>
            <a:r>
              <a:rPr lang="en-US" sz="1050" dirty="0" err="1"/>
              <a:t>sau</a:t>
            </a:r>
            <a:r>
              <a:rPr lang="en-US" sz="1050" dirty="0"/>
              <a:t> </a:t>
            </a:r>
            <a:r>
              <a:rPr lang="en-US" sz="1050" dirty="0" err="1"/>
              <a:t>đó</a:t>
            </a:r>
            <a:r>
              <a:rPr lang="en-US" sz="1050" dirty="0"/>
              <a:t> </a:t>
            </a:r>
            <a:r>
              <a:rPr lang="en-US" sz="1050" dirty="0" err="1"/>
              <a:t>lắp</a:t>
            </a:r>
            <a:r>
              <a:rPr lang="en-US" sz="1050" dirty="0"/>
              <a:t> A899 </a:t>
            </a:r>
            <a:r>
              <a:rPr lang="en-US" sz="1050" dirty="0" err="1"/>
              <a:t>giữ</a:t>
            </a:r>
            <a:r>
              <a:rPr lang="en-US" sz="1050" dirty="0"/>
              <a:t> </a:t>
            </a:r>
            <a:r>
              <a:rPr lang="en-US" sz="1050" dirty="0" err="1"/>
              <a:t>thêm</a:t>
            </a:r>
            <a:r>
              <a:rPr lang="en-US" sz="1050" dirty="0"/>
              <a:t> 10 </a:t>
            </a:r>
            <a:r>
              <a:rPr lang="en-US" sz="1050" dirty="0" err="1"/>
              <a:t>ngày</a:t>
            </a:r>
            <a:r>
              <a:rPr lang="en-US" sz="1050" dirty="0"/>
              <a:t>. </a:t>
            </a:r>
            <a:endParaRPr lang="en-US" sz="1000" dirty="0"/>
          </a:p>
          <a:p>
            <a:pPr lvl="0"/>
            <a:r>
              <a:rPr lang="en-GB" sz="1050" dirty="0"/>
              <a:t>- </a:t>
            </a:r>
            <a:r>
              <a:rPr lang="en-GB" sz="1050" dirty="0" err="1"/>
              <a:t>Với</a:t>
            </a:r>
            <a:r>
              <a:rPr lang="en-GB" sz="1050" dirty="0"/>
              <a:t> 21418 (</a:t>
            </a:r>
            <a:r>
              <a:rPr lang="en-GB" sz="1050" dirty="0" err="1"/>
              <a:t>hết</a:t>
            </a:r>
            <a:r>
              <a:rPr lang="en-GB" sz="1050" dirty="0"/>
              <a:t> </a:t>
            </a:r>
            <a:r>
              <a:rPr lang="en-GB" sz="1050" dirty="0" err="1"/>
              <a:t>hạn</a:t>
            </a:r>
            <a:r>
              <a:rPr lang="en-GB" sz="1050" dirty="0"/>
              <a:t> 07/07): </a:t>
            </a:r>
            <a:r>
              <a:rPr lang="en-GB" sz="1050" dirty="0" err="1"/>
              <a:t>Lắp</a:t>
            </a:r>
            <a:r>
              <a:rPr lang="en-GB" sz="1050" dirty="0"/>
              <a:t> </a:t>
            </a:r>
            <a:r>
              <a:rPr lang="en-GB" sz="1050" dirty="0" err="1"/>
              <a:t>trên</a:t>
            </a:r>
            <a:r>
              <a:rPr lang="en-GB" sz="1050" dirty="0"/>
              <a:t> </a:t>
            </a:r>
            <a:r>
              <a:rPr lang="en-GB" sz="1050" dirty="0" err="1"/>
              <a:t>tàu</a:t>
            </a:r>
            <a:r>
              <a:rPr lang="en-GB" sz="1050" dirty="0"/>
              <a:t> A891 </a:t>
            </a:r>
            <a:r>
              <a:rPr lang="en-GB" sz="1050" dirty="0" err="1"/>
              <a:t>làm</a:t>
            </a:r>
            <a:r>
              <a:rPr lang="en-GB" sz="1050" dirty="0"/>
              <a:t> check </a:t>
            </a:r>
            <a:r>
              <a:rPr lang="en-GB" sz="1050" dirty="0" err="1"/>
              <a:t>từ</a:t>
            </a:r>
            <a:r>
              <a:rPr lang="en-GB" sz="1050" dirty="0"/>
              <a:t> 10/3 – 19/3; </a:t>
            </a:r>
            <a:r>
              <a:rPr lang="en-GB" sz="1050" dirty="0" err="1"/>
              <a:t>từ</a:t>
            </a:r>
            <a:r>
              <a:rPr lang="en-GB" sz="1050" dirty="0"/>
              <a:t> 16/04 – 10/05: </a:t>
            </a:r>
            <a:r>
              <a:rPr lang="en-GB" sz="1050" dirty="0" err="1"/>
              <a:t>lắp</a:t>
            </a:r>
            <a:r>
              <a:rPr lang="en-GB" sz="1050" dirty="0"/>
              <a:t> sang </a:t>
            </a:r>
            <a:r>
              <a:rPr lang="en-GB" sz="1050" dirty="0" err="1"/>
              <a:t>tàu</a:t>
            </a:r>
            <a:r>
              <a:rPr lang="en-GB" sz="1050" dirty="0"/>
              <a:t> A899 (</a:t>
            </a:r>
            <a:r>
              <a:rPr lang="en-GB" sz="1050" dirty="0" err="1"/>
              <a:t>làm</a:t>
            </a:r>
            <a:r>
              <a:rPr lang="en-GB" sz="1050" dirty="0"/>
              <a:t> 6Y) </a:t>
            </a:r>
            <a:r>
              <a:rPr lang="en-GB" sz="1050" dirty="0" err="1"/>
              <a:t>giữ</a:t>
            </a:r>
            <a:r>
              <a:rPr lang="en-GB" sz="1050" dirty="0"/>
              <a:t> </a:t>
            </a:r>
            <a:r>
              <a:rPr lang="en-GB" sz="1050" dirty="0" err="1"/>
              <a:t>thêm</a:t>
            </a:r>
            <a:r>
              <a:rPr lang="en-GB" sz="1050" dirty="0"/>
              <a:t> </a:t>
            </a:r>
            <a:r>
              <a:rPr lang="en-GB" sz="1050" dirty="0" err="1"/>
              <a:t>được</a:t>
            </a:r>
            <a:r>
              <a:rPr lang="en-GB" sz="1050" dirty="0"/>
              <a:t> 25 </a:t>
            </a:r>
            <a:r>
              <a:rPr lang="en-GB" sz="1050" dirty="0" err="1"/>
              <a:t>ngày</a:t>
            </a:r>
            <a:r>
              <a:rPr lang="en-GB" sz="1050" dirty="0"/>
              <a:t>, </a:t>
            </a:r>
            <a:r>
              <a:rPr lang="en-GB" sz="1050" dirty="0" err="1"/>
              <a:t>sau</a:t>
            </a:r>
            <a:r>
              <a:rPr lang="en-GB" sz="1050" dirty="0"/>
              <a:t> </a:t>
            </a:r>
            <a:r>
              <a:rPr lang="en-GB" sz="1050" dirty="0" err="1"/>
              <a:t>đó</a:t>
            </a:r>
            <a:r>
              <a:rPr lang="en-GB" sz="1050" dirty="0"/>
              <a:t> A899 </a:t>
            </a:r>
            <a:r>
              <a:rPr lang="en-GB" sz="1050" dirty="0" err="1"/>
              <a:t>chủ</a:t>
            </a:r>
            <a:r>
              <a:rPr lang="en-GB" sz="1050" dirty="0"/>
              <a:t> </a:t>
            </a:r>
            <a:r>
              <a:rPr lang="en-GB" sz="1050" dirty="0" err="1"/>
              <a:t>động</a:t>
            </a:r>
            <a:r>
              <a:rPr lang="en-GB" sz="1050" dirty="0"/>
              <a:t> d</a:t>
            </a:r>
            <a:r>
              <a:rPr lang="en-US" sz="1050" dirty="0" err="1"/>
              <a:t>ừng</a:t>
            </a:r>
            <a:r>
              <a:rPr lang="en-US" sz="1050" dirty="0"/>
              <a:t> </a:t>
            </a:r>
            <a:r>
              <a:rPr lang="en-US" sz="1050" dirty="0" err="1"/>
              <a:t>thêm</a:t>
            </a:r>
            <a:r>
              <a:rPr lang="en-US" sz="1050" dirty="0"/>
              <a:t> 10 </a:t>
            </a:r>
            <a:r>
              <a:rPr lang="en-US" sz="1050" dirty="0" err="1"/>
              <a:t>ngày</a:t>
            </a:r>
            <a:r>
              <a:rPr lang="en-US" sz="1050" dirty="0"/>
              <a:t>. </a:t>
            </a:r>
            <a:endParaRPr lang="en-US" sz="1000" dirty="0"/>
          </a:p>
        </p:txBody>
      </p:sp>
    </p:spTree>
    <p:extLst>
      <p:ext uri="{BB962C8B-B14F-4D97-AF65-F5344CB8AC3E}">
        <p14:creationId xmlns:p14="http://schemas.microsoft.com/office/powerpoint/2010/main" val="3585394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fld id="{00000000-1234-1234-1234-123412341234}" type="slidenum">
              <a:rPr lang="vi" smtClean="0"/>
              <a:pPr/>
              <a:t>32</a:t>
            </a:fld>
            <a:endParaRPr lang="vi"/>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32</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6939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291533" y="1134199"/>
          <a:ext cx="11460202" cy="1863582"/>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7717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7717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17893171"/>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ATR</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0" y="3198167"/>
            <a:ext cx="7239699"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cơ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đội</a:t>
            </a:r>
            <a:r>
              <a:rPr lang="en-US" sz="2400" b="1" dirty="0">
                <a:solidFill>
                  <a:srgbClr val="002060"/>
                </a:solidFill>
                <a:latin typeface="Times New Roman" panose="02020603050405020304" pitchFamily="18" charset="0"/>
                <a:cs typeface="Times New Roman" panose="02020603050405020304" pitchFamily="18" charset="0"/>
              </a:rPr>
              <a:t> bay</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76200" y="3733800"/>
            <a:ext cx="11460201" cy="1692771"/>
          </a:xfrm>
          <a:prstGeom prst="rect">
            <a:avLst/>
          </a:prstGeom>
          <a:noFill/>
        </p:spPr>
        <p:txBody>
          <a:bodyPr wrap="square" rtlCol="0">
            <a:spAutoFit/>
          </a:bodyPr>
          <a:lstStyle/>
          <a:p>
            <a:pPr marL="380990" indent="-380990">
              <a:spcBef>
                <a:spcPts val="800"/>
              </a:spcBef>
              <a:spcAft>
                <a:spcPts val="800"/>
              </a:spcAft>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ED0217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HPT Vane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38 FH), ED0233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78 FC), ED0214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err="1">
                <a:latin typeface="Times New Roman" panose="02020603050405020304" pitchFamily="18" charset="0"/>
                <a:cs typeface="Times New Roman" panose="02020603050405020304" pitchFamily="18" charset="0"/>
              </a:rPr>
              <a:t>còn</a:t>
            </a:r>
            <a:r>
              <a:rPr lang="en-US" sz="1600">
                <a:latin typeface="Times New Roman" panose="02020603050405020304" pitchFamily="18" charset="0"/>
                <a:cs typeface="Times New Roman" panose="02020603050405020304" pitchFamily="18" charset="0"/>
              </a:rPr>
              <a:t> 39 FC)</a:t>
            </a:r>
          </a:p>
          <a:p>
            <a:pPr marL="380990" indent="-380990">
              <a:spcBef>
                <a:spcPts val="800"/>
              </a:spcBef>
              <a:spcAft>
                <a:spcPts val="800"/>
              </a:spcAf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Động cơ dự phòng: ED0192. KH Stagger sau cao điểm tết.</a:t>
            </a:r>
          </a:p>
          <a:p>
            <a:pPr marL="380990" indent="-380990">
              <a:spcBef>
                <a:spcPts val="800"/>
              </a:spcBef>
              <a:spcAft>
                <a:spcPts val="800"/>
              </a:spcAft>
              <a:buFont typeface="Arial" panose="020B0604020202020204" pitchFamily="34" charset="0"/>
              <a:buChar char="•"/>
            </a:pPr>
            <a:r>
              <a:rPr lang="it-IT" sz="1600">
                <a:latin typeface="Times New Roman" panose="02020603050405020304" pitchFamily="18" charset="0"/>
                <a:cs typeface="Times New Roman" panose="02020603050405020304" pitchFamily="18" charset="0"/>
              </a:rPr>
              <a:t>Động </a:t>
            </a:r>
            <a:r>
              <a:rPr lang="it-IT" sz="1600" dirty="0">
                <a:latin typeface="Times New Roman" panose="02020603050405020304" pitchFamily="18" charset="0"/>
                <a:cs typeface="Times New Roman" panose="02020603050405020304" pitchFamily="18" charset="0"/>
              </a:rPr>
              <a:t>cơ thuê: ED0321, ED0036 và ED0715</a:t>
            </a:r>
          </a:p>
          <a:p>
            <a:pPr marL="380990" indent="-380990">
              <a:spcBef>
                <a:spcPts val="800"/>
              </a:spcBef>
              <a:spcAft>
                <a:spcPts val="800"/>
              </a:spcAft>
              <a:buFont typeface="Arial" panose="020B0604020202020204" pitchFamily="34" charset="0"/>
              <a:buChar char="•"/>
            </a:pPr>
            <a:r>
              <a:rPr lang="it-IT" sz="1600" dirty="0">
                <a:latin typeface="Times New Roman" panose="02020603050405020304" pitchFamily="18" charset="0"/>
                <a:cs typeface="Times New Roman" panose="02020603050405020304" pitchFamily="18" charset="0"/>
              </a:rPr>
              <a:t>Động cơ cao giờ: NIL</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17140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03/03/2025 – 09/03/2025: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A392.</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A357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APU), A606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Cooling Fan).</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01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a:solidFill>
                  <a:prstClr val="black"/>
                </a:solidFill>
                <a:latin typeface="Times New Roman" panose="02020603050405020304" pitchFamily="18" charset="0"/>
                <a:cs typeface="Times New Roman" panose="02020603050405020304" pitchFamily="18" charset="0"/>
              </a:rPr>
              <a:t>: A392.</a:t>
            </a:r>
            <a:endParaRPr lang="en-US" sz="1600" dirty="0">
              <a:solidFill>
                <a:prstClr val="black"/>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8"/>
          <a:ext cx="12054615" cy="4841852"/>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418667">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A392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09/03. KH T/S ở HAN 09/03.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gửi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còn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0290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0"/>
          <a:ext cx="11169547" cy="4267200"/>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448734">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42427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25-Mar-24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42427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42427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P-4708</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A363 (PA)</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42427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P-5222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A359 (PA)</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42427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42427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15-Apr-25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42427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42427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P-00255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10-Oct-24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20-Mar-25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A887</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r h="42427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P-00263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08019" y="5151765"/>
            <a:ext cx="11169547" cy="1241622"/>
          </a:xfrm>
          <a:prstGeom prst="rect">
            <a:avLst/>
          </a:prstGeom>
          <a:noFill/>
        </p:spPr>
        <p:txBody>
          <a:bodyPr wrap="square" rtlCol="0">
            <a:spAutoFit/>
          </a:bodyPr>
          <a:lstStyle/>
          <a:p>
            <a:pPr defTabSz="1219170">
              <a:defRPr/>
            </a:pPr>
            <a:r>
              <a:rPr lang="en-US" sz="1867" b="1" dirty="0" err="1">
                <a:solidFill>
                  <a:prstClr val="black"/>
                </a:solidFill>
                <a:latin typeface="Times New Roman" panose="02020603050405020304" pitchFamily="18" charset="0"/>
                <a:cs typeface="Times New Roman" panose="02020603050405020304" pitchFamily="18" charset="0"/>
              </a:rPr>
              <a:t>Đánh</a:t>
            </a:r>
            <a:r>
              <a:rPr lang="en-US" sz="1867" b="1" dirty="0">
                <a:solidFill>
                  <a:prstClr val="black"/>
                </a:solidFill>
                <a:latin typeface="Times New Roman" panose="02020603050405020304" pitchFamily="18" charset="0"/>
                <a:cs typeface="Times New Roman" panose="02020603050405020304" pitchFamily="18" charset="0"/>
              </a:rPr>
              <a:t> </a:t>
            </a:r>
            <a:r>
              <a:rPr lang="en-US" sz="1867" b="1" dirty="0" err="1">
                <a:solidFill>
                  <a:prstClr val="black"/>
                </a:solidFill>
                <a:latin typeface="Times New Roman" panose="02020603050405020304" pitchFamily="18" charset="0"/>
                <a:cs typeface="Times New Roman" panose="02020603050405020304" pitchFamily="18" charset="0"/>
              </a:rPr>
              <a:t>giá</a:t>
            </a:r>
            <a:r>
              <a:rPr lang="en-US" sz="1867"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rPr>
              <a:t>Đội</a:t>
            </a:r>
            <a:r>
              <a:rPr lang="en-US" sz="1867" dirty="0">
                <a:solidFill>
                  <a:prstClr val="black"/>
                </a:solidFill>
                <a:latin typeface="Times New Roman" panose="02020603050405020304" pitchFamily="18" charset="0"/>
                <a:cs typeface="Times New Roman" panose="02020603050405020304" pitchFamily="18" charset="0"/>
              </a:rPr>
              <a:t> bay A321: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27580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36</a:t>
            </a:fld>
            <a:endParaRPr dirty="0"/>
          </a:p>
        </p:txBody>
      </p:sp>
      <p:sp>
        <p:nvSpPr>
          <p:cNvPr id="76" name="Google Shape;76;p2"/>
          <p:cNvSpPr txBox="1">
            <a:spLocks noGrp="1"/>
          </p:cNvSpPr>
          <p:nvPr>
            <p:ph type="title"/>
          </p:nvPr>
        </p:nvSpPr>
        <p:spPr>
          <a:xfrm>
            <a:off x="990600" y="640377"/>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838200" y="1295400"/>
            <a:ext cx="10458411" cy="44958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lnSpc>
                <a:spcPct val="100000"/>
              </a:lnSpc>
              <a:spcBef>
                <a:spcPts val="0"/>
              </a:spcBef>
              <a:buSzPts val="1100"/>
              <a:buNone/>
            </a:pPr>
            <a:r>
              <a:rPr lang="en-US" sz="1600" b="1" smtClean="0">
                <a:cs typeface="Times New Roman" panose="02020603050405020304" pitchFamily="18" charset="0"/>
              </a:rPr>
              <a:t>   Tàu BQDB: </a:t>
            </a:r>
          </a:p>
          <a:p>
            <a:pPr marL="12700" indent="0" algn="just">
              <a:lnSpc>
                <a:spcPct val="100000"/>
              </a:lnSpc>
              <a:spcBef>
                <a:spcPts val="0"/>
              </a:spcBef>
              <a:buSzPts val="1100"/>
              <a:buNone/>
            </a:pPr>
            <a:r>
              <a:rPr lang="en-US" sz="1600" b="1" smtClean="0">
                <a:cs typeface="Times New Roman" panose="02020603050405020304" pitchFamily="18" charset="0"/>
              </a:rPr>
              <a:t>    H</a:t>
            </a:r>
            <a:r>
              <a:rPr lang="en-US" sz="1600" b="1" smtClean="0"/>
              <a:t>AN</a:t>
            </a:r>
            <a:r>
              <a:rPr lang="en-US" sz="1600" b="1"/>
              <a:t>: A501, A503, A505, A506, A508, A510, A511, A616, A620, A622, A623, A624, A625, A886, A887</a:t>
            </a:r>
            <a:r>
              <a:rPr lang="en-US" sz="1600" b="1" smtClean="0"/>
              <a:t>,  </a:t>
            </a:r>
            <a:r>
              <a:rPr lang="en-US" sz="1600" b="1"/>
              <a:t>A898</a:t>
            </a:r>
            <a:r>
              <a:rPr lang="en-US"/>
              <a:t>, </a:t>
            </a:r>
            <a:r>
              <a:rPr lang="en-US" sz="1600" b="1" smtClean="0"/>
              <a:t>A895.</a:t>
            </a:r>
            <a:r>
              <a:rPr lang="pt-BR" sz="1600" b="1" smtClean="0">
                <a:solidFill>
                  <a:schemeClr val="accent1">
                    <a:lumMod val="75000"/>
                  </a:schemeClr>
                </a:solidFill>
                <a:cs typeface="Times New Roman" panose="02020603050405020304" pitchFamily="18" charset="0"/>
              </a:rPr>
              <a:t> </a:t>
            </a:r>
          </a:p>
          <a:p>
            <a:pPr marL="12700" indent="0" algn="just">
              <a:lnSpc>
                <a:spcPct val="100000"/>
              </a:lnSpc>
              <a:spcBef>
                <a:spcPts val="0"/>
              </a:spcBef>
              <a:buSzPts val="1100"/>
              <a:buNone/>
            </a:pPr>
            <a:r>
              <a:rPr lang="pt-BR" sz="1600" b="1">
                <a:solidFill>
                  <a:schemeClr val="accent1">
                    <a:lumMod val="75000"/>
                  </a:schemeClr>
                </a:solidFill>
                <a:cs typeface="Times New Roman" panose="02020603050405020304" pitchFamily="18" charset="0"/>
              </a:rPr>
              <a:t> </a:t>
            </a:r>
            <a:r>
              <a:rPr lang="pt-BR" sz="1600" b="1" smtClean="0">
                <a:solidFill>
                  <a:schemeClr val="accent1">
                    <a:lumMod val="75000"/>
                  </a:schemeClr>
                </a:solidFill>
                <a:cs typeface="Times New Roman" panose="02020603050405020304" pitchFamily="18" charset="0"/>
              </a:rPr>
              <a:t>   </a:t>
            </a:r>
            <a:r>
              <a:rPr lang="pt-BR" sz="1600" b="1" smtClean="0">
                <a:cs typeface="Times New Roman" panose="02020603050405020304" pitchFamily="18" charset="0"/>
              </a:rPr>
              <a:t>SGN: </a:t>
            </a:r>
            <a:r>
              <a:rPr lang="pt-BR" sz="1600" b="1" dirty="0">
                <a:cs typeface="Times New Roman" panose="02020603050405020304" pitchFamily="18" charset="0"/>
              </a:rPr>
              <a:t>(A617, </a:t>
            </a:r>
            <a:r>
              <a:rPr lang="pt-BR" sz="1600" b="1">
                <a:cs typeface="Times New Roman" panose="02020603050405020304" pitchFamily="18" charset="0"/>
              </a:rPr>
              <a:t>A509</a:t>
            </a:r>
            <a:r>
              <a:rPr lang="pt-BR" sz="1600" b="1" smtClean="0">
                <a:cs typeface="Times New Roman" panose="02020603050405020304" pitchFamily="18" charset="0"/>
              </a:rPr>
              <a:t>).</a:t>
            </a:r>
          </a:p>
          <a:p>
            <a:pPr marL="0" indent="0" algn="just">
              <a:lnSpc>
                <a:spcPct val="150000"/>
              </a:lnSpc>
              <a:spcBef>
                <a:spcPts val="0"/>
              </a:spcBef>
              <a:buNone/>
            </a:pPr>
            <a:r>
              <a:rPr lang="en-US" sz="1600"/>
              <a:t>* </a:t>
            </a:r>
            <a:r>
              <a:rPr lang="en-US" sz="1600" smtClean="0"/>
              <a:t> CHECK</a:t>
            </a:r>
            <a:r>
              <a:rPr lang="en-US" sz="1600"/>
              <a:t>:  </a:t>
            </a:r>
            <a:r>
              <a:rPr lang="en-US" sz="1600" smtClean="0"/>
              <a:t>SGN</a:t>
            </a:r>
            <a:r>
              <a:rPr lang="en-US" sz="1600"/>
              <a:t>: </a:t>
            </a:r>
            <a:r>
              <a:rPr lang="en-US" sz="1600" smtClean="0"/>
              <a:t>A870</a:t>
            </a:r>
            <a:r>
              <a:rPr lang="en-US" sz="1600"/>
              <a:t>: WING PAINTING+ENGCHG (27/02-11/03</a:t>
            </a:r>
            <a:r>
              <a:rPr lang="en-US" sz="1600" smtClean="0"/>
              <a:t>)</a:t>
            </a:r>
            <a:r>
              <a:rPr lang="en-US" sz="1600"/>
              <a:t> </a:t>
            </a:r>
          </a:p>
          <a:p>
            <a:pPr marL="0" indent="0" algn="just">
              <a:lnSpc>
                <a:spcPct val="150000"/>
              </a:lnSpc>
              <a:spcBef>
                <a:spcPts val="0"/>
              </a:spcBef>
              <a:buNone/>
            </a:pPr>
            <a:r>
              <a:rPr lang="en-US" sz="1600" smtClean="0"/>
              <a:t>*  ĐỊNH </a:t>
            </a:r>
            <a:r>
              <a:rPr lang="en-US" sz="1600"/>
              <a:t>KỲ TRONG KHI BQDB</a:t>
            </a:r>
            <a:r>
              <a:rPr lang="en-US" sz="1600" smtClean="0"/>
              <a:t>:</a:t>
            </a:r>
            <a:endParaRPr lang="en-US" sz="1600"/>
          </a:p>
          <a:p>
            <a:pPr algn="just">
              <a:lnSpc>
                <a:spcPct val="150000"/>
              </a:lnSpc>
              <a:spcBef>
                <a:spcPts val="0"/>
              </a:spcBef>
            </a:pPr>
            <a:r>
              <a:rPr lang="en-US" sz="1600"/>
              <a:t>HAN:</a:t>
            </a:r>
          </a:p>
          <a:p>
            <a:pPr marL="0" indent="0" algn="just">
              <a:lnSpc>
                <a:spcPct val="150000"/>
              </a:lnSpc>
              <a:spcBef>
                <a:spcPts val="0"/>
              </a:spcBef>
              <a:buNone/>
            </a:pPr>
            <a:r>
              <a:rPr lang="en-US" sz="1600" smtClean="0"/>
              <a:t>    1</a:t>
            </a:r>
            <a:r>
              <a:rPr lang="en-US" sz="1600"/>
              <a:t>. A620: C01+C03+Y01+Y06+EA08,09+ SWAP ENG WITH A619 (14/02 -23/03)</a:t>
            </a:r>
          </a:p>
          <a:p>
            <a:pPr marL="0" indent="0" algn="just">
              <a:lnSpc>
                <a:spcPct val="150000"/>
              </a:lnSpc>
              <a:spcBef>
                <a:spcPts val="0"/>
              </a:spcBef>
              <a:buNone/>
            </a:pPr>
            <a:r>
              <a:rPr lang="en-US" sz="1600" smtClean="0"/>
              <a:t>    2</a:t>
            </a:r>
            <a:r>
              <a:rPr lang="en-US" sz="1600"/>
              <a:t>. A898: C01+Y03+Y06+ENGCHG (17/02-</a:t>
            </a:r>
            <a:r>
              <a:rPr lang="vi-VN" sz="1600"/>
              <a:t>20</a:t>
            </a:r>
            <a:r>
              <a:rPr lang="en-US" sz="1600"/>
              <a:t>/03</a:t>
            </a:r>
            <a:r>
              <a:rPr lang="en-US" sz="1600" smtClean="0"/>
              <a:t>)</a:t>
            </a:r>
          </a:p>
          <a:p>
            <a:pPr marL="0" indent="0" algn="just">
              <a:lnSpc>
                <a:spcPct val="150000"/>
              </a:lnSpc>
              <a:spcBef>
                <a:spcPts val="0"/>
              </a:spcBef>
              <a:buNone/>
            </a:pPr>
            <a:r>
              <a:rPr lang="en-US" sz="1600" smtClean="0"/>
              <a:t>    3</a:t>
            </a:r>
            <a:r>
              <a:rPr lang="en-US" sz="1600"/>
              <a:t>. A501: EC06+EC01+C03+Y06+EA04-EA10 (27/11-28/02, EXT 15/03, TEST FLIGHT REQUIRED)</a:t>
            </a:r>
          </a:p>
          <a:p>
            <a:pPr marL="0" indent="0" algn="just">
              <a:lnSpc>
                <a:spcPct val="100000"/>
              </a:lnSpc>
              <a:spcBef>
                <a:spcPts val="0"/>
              </a:spcBef>
              <a:buNone/>
            </a:pPr>
            <a:r>
              <a:rPr lang="en-US"/>
              <a:t> </a:t>
            </a: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7424881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3" name="Table 2"/>
          <p:cNvGraphicFramePr>
            <a:graphicFrameLocks noGrp="1"/>
          </p:cNvGraphicFramePr>
          <p:nvPr>
            <p:extLst/>
          </p:nvPr>
        </p:nvGraphicFramePr>
        <p:xfrm>
          <a:off x="369435" y="914400"/>
          <a:ext cx="11517762" cy="5486402"/>
        </p:xfrm>
        <a:graphic>
          <a:graphicData uri="http://schemas.openxmlformats.org/drawingml/2006/table">
            <a:tbl>
              <a:tblPr/>
              <a:tblGrid>
                <a:gridCol w="355972">
                  <a:extLst>
                    <a:ext uri="{9D8B030D-6E8A-4147-A177-3AD203B41FA5}">
                      <a16:colId xmlns:a16="http://schemas.microsoft.com/office/drawing/2014/main" val="2711730927"/>
                    </a:ext>
                  </a:extLst>
                </a:gridCol>
                <a:gridCol w="2354895">
                  <a:extLst>
                    <a:ext uri="{9D8B030D-6E8A-4147-A177-3AD203B41FA5}">
                      <a16:colId xmlns:a16="http://schemas.microsoft.com/office/drawing/2014/main" val="412789488"/>
                    </a:ext>
                  </a:extLst>
                </a:gridCol>
                <a:gridCol w="575031">
                  <a:extLst>
                    <a:ext uri="{9D8B030D-6E8A-4147-A177-3AD203B41FA5}">
                      <a16:colId xmlns:a16="http://schemas.microsoft.com/office/drawing/2014/main" val="3912591345"/>
                    </a:ext>
                  </a:extLst>
                </a:gridCol>
                <a:gridCol w="547650">
                  <a:extLst>
                    <a:ext uri="{9D8B030D-6E8A-4147-A177-3AD203B41FA5}">
                      <a16:colId xmlns:a16="http://schemas.microsoft.com/office/drawing/2014/main" val="315761197"/>
                    </a:ext>
                  </a:extLst>
                </a:gridCol>
                <a:gridCol w="602415">
                  <a:extLst>
                    <a:ext uri="{9D8B030D-6E8A-4147-A177-3AD203B41FA5}">
                      <a16:colId xmlns:a16="http://schemas.microsoft.com/office/drawing/2014/main" val="4226510442"/>
                    </a:ext>
                  </a:extLst>
                </a:gridCol>
                <a:gridCol w="523691">
                  <a:extLst>
                    <a:ext uri="{9D8B030D-6E8A-4147-A177-3AD203B41FA5}">
                      <a16:colId xmlns:a16="http://schemas.microsoft.com/office/drawing/2014/main" val="3517769996"/>
                    </a:ext>
                  </a:extLst>
                </a:gridCol>
                <a:gridCol w="506576">
                  <a:extLst>
                    <a:ext uri="{9D8B030D-6E8A-4147-A177-3AD203B41FA5}">
                      <a16:colId xmlns:a16="http://schemas.microsoft.com/office/drawing/2014/main" val="3428779458"/>
                    </a:ext>
                  </a:extLst>
                </a:gridCol>
                <a:gridCol w="561341">
                  <a:extLst>
                    <a:ext uri="{9D8B030D-6E8A-4147-A177-3AD203B41FA5}">
                      <a16:colId xmlns:a16="http://schemas.microsoft.com/office/drawing/2014/main" val="4050348247"/>
                    </a:ext>
                  </a:extLst>
                </a:gridCol>
                <a:gridCol w="533959">
                  <a:extLst>
                    <a:ext uri="{9D8B030D-6E8A-4147-A177-3AD203B41FA5}">
                      <a16:colId xmlns:a16="http://schemas.microsoft.com/office/drawing/2014/main" val="3631331575"/>
                    </a:ext>
                  </a:extLst>
                </a:gridCol>
                <a:gridCol w="547650">
                  <a:extLst>
                    <a:ext uri="{9D8B030D-6E8A-4147-A177-3AD203B41FA5}">
                      <a16:colId xmlns:a16="http://schemas.microsoft.com/office/drawing/2014/main" val="1384677605"/>
                    </a:ext>
                  </a:extLst>
                </a:gridCol>
                <a:gridCol w="561341">
                  <a:extLst>
                    <a:ext uri="{9D8B030D-6E8A-4147-A177-3AD203B41FA5}">
                      <a16:colId xmlns:a16="http://schemas.microsoft.com/office/drawing/2014/main" val="1083276868"/>
                    </a:ext>
                  </a:extLst>
                </a:gridCol>
                <a:gridCol w="561341">
                  <a:extLst>
                    <a:ext uri="{9D8B030D-6E8A-4147-A177-3AD203B41FA5}">
                      <a16:colId xmlns:a16="http://schemas.microsoft.com/office/drawing/2014/main" val="2814161146"/>
                    </a:ext>
                  </a:extLst>
                </a:gridCol>
                <a:gridCol w="533959">
                  <a:extLst>
                    <a:ext uri="{9D8B030D-6E8A-4147-A177-3AD203B41FA5}">
                      <a16:colId xmlns:a16="http://schemas.microsoft.com/office/drawing/2014/main" val="2246173070"/>
                    </a:ext>
                  </a:extLst>
                </a:gridCol>
                <a:gridCol w="2751941">
                  <a:extLst>
                    <a:ext uri="{9D8B030D-6E8A-4147-A177-3AD203B41FA5}">
                      <a16:colId xmlns:a16="http://schemas.microsoft.com/office/drawing/2014/main" val="1944509514"/>
                    </a:ext>
                  </a:extLst>
                </a:gridCol>
              </a:tblGrid>
              <a:tr h="459514">
                <a:tc gridSpan="14">
                  <a:txBody>
                    <a:bodyPr/>
                    <a:lstStyle/>
                    <a:p>
                      <a:pPr algn="ctr" fontAlgn="ctr"/>
                      <a:r>
                        <a:rPr lang="en-US" sz="1400" b="1" i="0" u="none" strike="noStrike">
                          <a:solidFill>
                            <a:srgbClr val="000000"/>
                          </a:solidFill>
                          <a:effectLst/>
                          <a:latin typeface="Times New Roman" panose="02020603050405020304" pitchFamily="18" charset="0"/>
                        </a:rPr>
                        <a:t>NGUỒN LỰC KỸ THUÂT FLEET A321 (CẬP NHẬT 09/03)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27933152"/>
                  </a:ext>
                </a:extLst>
              </a:tr>
              <a:tr h="556988">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458437013"/>
                  </a:ext>
                </a:extLst>
              </a:tr>
              <a:tr h="1086205">
                <a:tc>
                  <a:txBody>
                    <a:bodyPr/>
                    <a:lstStyle/>
                    <a:p>
                      <a:pPr algn="ctr" fontAlgn="ctr"/>
                      <a:r>
                        <a:rPr lang="en-US" sz="1200" b="1"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- 04/2025: thêm 0.5 tàu do ENG về muộn</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- 03/2025: thêm 0.5 tàu do ENG về muộn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8659403"/>
                  </a:ext>
                </a:extLst>
              </a:tr>
              <a:tr h="779782">
                <a:tc>
                  <a:txBody>
                    <a:bodyPr/>
                    <a:lstStyle/>
                    <a:p>
                      <a:pPr algn="ctr" fontAlgn="ctr"/>
                      <a:r>
                        <a:rPr lang="en-US" sz="1200" b="1"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258915930"/>
                  </a:ext>
                </a:extLst>
              </a:tr>
              <a:tr h="849405">
                <a:tc>
                  <a:txBody>
                    <a:bodyPr/>
                    <a:lstStyle/>
                    <a:p>
                      <a:pPr algn="ctr" fontAlgn="ctr"/>
                      <a:r>
                        <a:rPr lang="en-US" sz="1200" b="1"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2.20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2.20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200" b="0" i="0" u="none" strike="noStrike" dirty="0">
                          <a:solidFill>
                            <a:srgbClr val="FF0000"/>
                          </a:solidFill>
                          <a:effectLst/>
                          <a:latin typeface="Times New Roman" panose="02020603050405020304" pitchFamily="18" charset="0"/>
                        </a:rPr>
                        <a:t>03/2025: thêm 0.2 tàu dừng do A614 AOG 04-09/03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4446338"/>
                  </a:ext>
                </a:extLst>
              </a:tr>
              <a:tr h="877254">
                <a:tc>
                  <a:txBody>
                    <a:bodyPr/>
                    <a:lstStyle/>
                    <a:p>
                      <a:pPr algn="ctr" fontAlgn="ctr"/>
                      <a:r>
                        <a:rPr lang="en-US" sz="1200" b="1"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17.20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920788037"/>
                  </a:ext>
                </a:extLst>
              </a:tr>
              <a:tr h="877254">
                <a:tc>
                  <a:txBody>
                    <a:bodyPr/>
                    <a:lstStyle/>
                    <a:p>
                      <a:pPr algn="ctr" fontAlgn="ctr"/>
                      <a:r>
                        <a:rPr lang="en-US" sz="1200" b="1"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9219786"/>
                  </a:ext>
                </a:extLst>
              </a:tr>
            </a:tbl>
          </a:graphicData>
        </a:graphic>
      </p:graphicFrame>
    </p:spTree>
    <p:extLst>
      <p:ext uri="{BB962C8B-B14F-4D97-AF65-F5344CB8AC3E}">
        <p14:creationId xmlns:p14="http://schemas.microsoft.com/office/powerpoint/2010/main" val="33340779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457200" y="152400"/>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2" name="Table 1"/>
          <p:cNvGraphicFramePr>
            <a:graphicFrameLocks noGrp="1"/>
          </p:cNvGraphicFramePr>
          <p:nvPr>
            <p:extLst/>
          </p:nvPr>
        </p:nvGraphicFramePr>
        <p:xfrm>
          <a:off x="457200" y="644216"/>
          <a:ext cx="11430001" cy="5939122"/>
        </p:xfrm>
        <a:graphic>
          <a:graphicData uri="http://schemas.openxmlformats.org/drawingml/2006/table">
            <a:tbl>
              <a:tblPr/>
              <a:tblGrid>
                <a:gridCol w="375061">
                  <a:extLst>
                    <a:ext uri="{9D8B030D-6E8A-4147-A177-3AD203B41FA5}">
                      <a16:colId xmlns:a16="http://schemas.microsoft.com/office/drawing/2014/main" val="1004565224"/>
                    </a:ext>
                  </a:extLst>
                </a:gridCol>
                <a:gridCol w="2578548">
                  <a:extLst>
                    <a:ext uri="{9D8B030D-6E8A-4147-A177-3AD203B41FA5}">
                      <a16:colId xmlns:a16="http://schemas.microsoft.com/office/drawing/2014/main" val="3289719381"/>
                    </a:ext>
                  </a:extLst>
                </a:gridCol>
                <a:gridCol w="537590">
                  <a:extLst>
                    <a:ext uri="{9D8B030D-6E8A-4147-A177-3AD203B41FA5}">
                      <a16:colId xmlns:a16="http://schemas.microsoft.com/office/drawing/2014/main" val="3416396183"/>
                    </a:ext>
                  </a:extLst>
                </a:gridCol>
                <a:gridCol w="512585">
                  <a:extLst>
                    <a:ext uri="{9D8B030D-6E8A-4147-A177-3AD203B41FA5}">
                      <a16:colId xmlns:a16="http://schemas.microsoft.com/office/drawing/2014/main" val="2153024823"/>
                    </a:ext>
                  </a:extLst>
                </a:gridCol>
                <a:gridCol w="550090">
                  <a:extLst>
                    <a:ext uri="{9D8B030D-6E8A-4147-A177-3AD203B41FA5}">
                      <a16:colId xmlns:a16="http://schemas.microsoft.com/office/drawing/2014/main" val="941974191"/>
                    </a:ext>
                  </a:extLst>
                </a:gridCol>
                <a:gridCol w="512585">
                  <a:extLst>
                    <a:ext uri="{9D8B030D-6E8A-4147-A177-3AD203B41FA5}">
                      <a16:colId xmlns:a16="http://schemas.microsoft.com/office/drawing/2014/main" val="2736246932"/>
                    </a:ext>
                  </a:extLst>
                </a:gridCol>
                <a:gridCol w="462577">
                  <a:extLst>
                    <a:ext uri="{9D8B030D-6E8A-4147-A177-3AD203B41FA5}">
                      <a16:colId xmlns:a16="http://schemas.microsoft.com/office/drawing/2014/main" val="303143735"/>
                    </a:ext>
                  </a:extLst>
                </a:gridCol>
                <a:gridCol w="525085">
                  <a:extLst>
                    <a:ext uri="{9D8B030D-6E8A-4147-A177-3AD203B41FA5}">
                      <a16:colId xmlns:a16="http://schemas.microsoft.com/office/drawing/2014/main" val="682824655"/>
                    </a:ext>
                  </a:extLst>
                </a:gridCol>
                <a:gridCol w="500082">
                  <a:extLst>
                    <a:ext uri="{9D8B030D-6E8A-4147-A177-3AD203B41FA5}">
                      <a16:colId xmlns:a16="http://schemas.microsoft.com/office/drawing/2014/main" val="172847390"/>
                    </a:ext>
                  </a:extLst>
                </a:gridCol>
                <a:gridCol w="500082">
                  <a:extLst>
                    <a:ext uri="{9D8B030D-6E8A-4147-A177-3AD203B41FA5}">
                      <a16:colId xmlns:a16="http://schemas.microsoft.com/office/drawing/2014/main" val="542630356"/>
                    </a:ext>
                  </a:extLst>
                </a:gridCol>
                <a:gridCol w="525085">
                  <a:extLst>
                    <a:ext uri="{9D8B030D-6E8A-4147-A177-3AD203B41FA5}">
                      <a16:colId xmlns:a16="http://schemas.microsoft.com/office/drawing/2014/main" val="1396929017"/>
                    </a:ext>
                  </a:extLst>
                </a:gridCol>
                <a:gridCol w="512585">
                  <a:extLst>
                    <a:ext uri="{9D8B030D-6E8A-4147-A177-3AD203B41FA5}">
                      <a16:colId xmlns:a16="http://schemas.microsoft.com/office/drawing/2014/main" val="1397894284"/>
                    </a:ext>
                  </a:extLst>
                </a:gridCol>
                <a:gridCol w="3338046">
                  <a:extLst>
                    <a:ext uri="{9D8B030D-6E8A-4147-A177-3AD203B41FA5}">
                      <a16:colId xmlns:a16="http://schemas.microsoft.com/office/drawing/2014/main" val="1975254423"/>
                    </a:ext>
                  </a:extLst>
                </a:gridCol>
              </a:tblGrid>
              <a:tr h="259046">
                <a:tc gridSpan="13">
                  <a:txBody>
                    <a:bodyPr/>
                    <a:lstStyle/>
                    <a:p>
                      <a:pPr algn="ctr" fontAlgn="ctr"/>
                      <a:r>
                        <a:rPr lang="en-US" sz="1400" b="1" i="0" u="none" strike="noStrike">
                          <a:solidFill>
                            <a:srgbClr val="000000"/>
                          </a:solidFill>
                          <a:effectLst/>
                          <a:latin typeface="Times New Roman" panose="02020603050405020304" pitchFamily="18" charset="0"/>
                        </a:rPr>
                        <a:t>NGUỒN LỰC KỸ THUÂT A350/B787 (CẬP NHẬT 09/03)</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73970941"/>
                  </a:ext>
                </a:extLst>
              </a:tr>
              <a:tr h="245440">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dirty="0">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967973180"/>
                  </a:ext>
                </a:extLst>
              </a:tr>
              <a:tr h="1410336">
                <a:tc>
                  <a:txBody>
                    <a:bodyPr/>
                    <a:lstStyle/>
                    <a:p>
                      <a:pPr algn="ctr" fontAlgn="ctr"/>
                      <a:r>
                        <a:rPr lang="en-US" sz="1200" b="0"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FF0000"/>
                          </a:solidFill>
                          <a:effectLst/>
                          <a:latin typeface="Times New Roman" panose="02020603050405020304" pitchFamily="18" charset="0"/>
                        </a:rPr>
                        <a:t>- </a:t>
                      </a:r>
                      <a:r>
                        <a:rPr lang="vi-VN" sz="1200" b="0" i="0" u="none" strike="noStrike" dirty="0">
                          <a:solidFill>
                            <a:srgbClr val="FF0000"/>
                          </a:solidFill>
                          <a:effectLst/>
                          <a:latin typeface="Times New Roman" panose="02020603050405020304" pitchFamily="18" charset="0"/>
                        </a:rPr>
                        <a:t>KB tốt giữ giờ 03 động cơ tháo trong cao điểm hè:  - 21346 (A891): Cần giữ giờ 63 ngày (đã lên phương án giữ giờ 50 ngày bao gồm offwing 23 ngày và 27 ngày swap ENG với A899 Y6);</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- 21418 (A890): Cần giữ giờ 38 ngày (đã lên phương án giữ giờ 30 ngày bao bồm dừng Đkỳ 10 ngày và 20 ngày swap ENG với A899 Y6) </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- 21317 (A897): Cần giữ giờ 12 ngày.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1795828"/>
                  </a:ext>
                </a:extLst>
              </a:tr>
              <a:tr h="470112">
                <a:tc>
                  <a:txBody>
                    <a:bodyPr/>
                    <a:lstStyle/>
                    <a:p>
                      <a:pPr algn="ctr" fontAlgn="ctr"/>
                      <a:r>
                        <a:rPr lang="en-US" sz="1200" b="0"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just" fontAlgn="ctr"/>
                      <a:r>
                        <a:rPr lang="en-US" sz="1200" b="0" i="0" u="none" strike="noStrike" dirty="0">
                          <a:solidFill>
                            <a:srgbClr val="FF0000"/>
                          </a:solidFill>
                          <a:effectLst/>
                          <a:latin typeface="Times New Roman" panose="02020603050405020304" pitchFamily="18" charset="0"/>
                        </a:rPr>
                        <a:t>- 06/2025: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05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A886/A887 RTS </a:t>
                      </a:r>
                      <a:r>
                        <a:rPr lang="en-US" sz="1200" b="0" i="0" u="none" strike="noStrike" dirty="0" err="1">
                          <a:solidFill>
                            <a:srgbClr val="FF0000"/>
                          </a:solidFill>
                          <a:effectLst/>
                          <a:latin typeface="Times New Roman" panose="02020603050405020304" pitchFamily="18" charset="0"/>
                        </a:rPr>
                        <a:t>cần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hoàn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thiện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cấu</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hình</a:t>
                      </a:r>
                      <a:r>
                        <a:rPr lang="en-US" sz="1200" b="0" i="0" u="none" strike="noStrike" dirty="0">
                          <a:solidFill>
                            <a:srgbClr val="FF0000"/>
                          </a:solidFill>
                          <a:effectLst/>
                          <a:latin typeface="Times New Roman" panose="02020603050405020304" pitchFamily="18" charset="0"/>
                        </a:rPr>
                        <a:t> ENG </a:t>
                      </a:r>
                      <a:r>
                        <a:rPr lang="en-US" sz="1200" b="0" i="0" u="none" strike="noStrike" dirty="0" err="1">
                          <a:solidFill>
                            <a:srgbClr val="FF0000"/>
                          </a:solidFill>
                          <a:effectLst/>
                          <a:latin typeface="Times New Roman" panose="02020603050405020304" pitchFamily="18" charset="0"/>
                        </a:rPr>
                        <a:t>và</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thực</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hiện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các</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công</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việc</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hết</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hạn</a:t>
                      </a:r>
                      <a:endParaRPr lang="en-US" sz="1200" b="0" i="0" u="none" strike="noStrike" dirty="0">
                        <a:solidFill>
                          <a:srgbClr val="FF000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811987733"/>
                  </a:ext>
                </a:extLst>
              </a:tr>
              <a:tr h="313996">
                <a:tc>
                  <a:txBody>
                    <a:bodyPr/>
                    <a:lstStyle/>
                    <a:p>
                      <a:pPr algn="ctr" fontAlgn="ctr"/>
                      <a:r>
                        <a:rPr lang="en-US" sz="1200" b="0"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3997902"/>
                  </a:ext>
                </a:extLst>
              </a:tr>
              <a:tr h="313996">
                <a:tc>
                  <a:txBody>
                    <a:bodyPr/>
                    <a:lstStyle/>
                    <a:p>
                      <a:pPr algn="ctr" fontAlgn="ctr"/>
                      <a:r>
                        <a:rPr lang="en-US" sz="1200" b="0"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379497268"/>
                  </a:ext>
                </a:extLst>
              </a:tr>
              <a:tr h="714340">
                <a:tc>
                  <a:txBody>
                    <a:bodyPr/>
                    <a:lstStyle/>
                    <a:p>
                      <a:pPr algn="ctr" fontAlgn="ctr"/>
                      <a:r>
                        <a:rPr lang="en-US" sz="1200" b="0"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FF0000"/>
                          </a:solidFill>
                          <a:effectLst/>
                          <a:latin typeface="Times New Roman" panose="02020603050405020304" pitchFamily="18" charset="0"/>
                        </a:rPr>
                        <a:t>- </a:t>
                      </a:r>
                      <a:r>
                        <a:rPr lang="vi-VN" sz="1200" b="0" i="0" u="none" strike="noStrike" dirty="0">
                          <a:solidFill>
                            <a:srgbClr val="FF0000"/>
                          </a:solidFill>
                          <a:effectLst/>
                          <a:latin typeface="Times New Roman" panose="02020603050405020304" pitchFamily="18" charset="0"/>
                        </a:rPr>
                        <a:t>03/2025: tăng 04 tàu dừng do A864 AOG từ 14/03 chờ động cơ dự kiến bàn giao VAECO 22/03</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Rủi ro phát sinh tàu AOG do A868/A863/A861 có giới hạn BSI 50CY.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0290356"/>
                  </a:ext>
                </a:extLst>
              </a:tr>
              <a:tr h="494543">
                <a:tc>
                  <a:txBody>
                    <a:bodyPr/>
                    <a:lstStyle/>
                    <a:p>
                      <a:pPr algn="ctr" fontAlgn="ctr"/>
                      <a:r>
                        <a:rPr lang="en-US" sz="1200" b="0" i="0" u="none" strike="noStrike">
                          <a:solidFill>
                            <a:srgbClr val="000000"/>
                          </a:solidFill>
                          <a:effectLst/>
                          <a:latin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FF0000"/>
                          </a:solidFill>
                          <a:effectLst/>
                          <a:latin typeface="Times New Roman" panose="02020603050405020304" pitchFamily="18" charset="0"/>
                        </a:rPr>
                        <a:t>- </a:t>
                      </a:r>
                      <a:r>
                        <a:rPr lang="vi-VN" sz="1200" b="0" i="0" u="none" strike="noStrike" dirty="0">
                          <a:solidFill>
                            <a:srgbClr val="FF0000"/>
                          </a:solidFill>
                          <a:effectLst/>
                          <a:latin typeface="Times New Roman" panose="02020603050405020304" pitchFamily="18" charset="0"/>
                        </a:rPr>
                        <a:t>03/2025: tăng thêm 0.2 tàu dừng do bổ sung swap ENG A870 &amp; A863 để A870 bay nga (A870 bổ sung sơn cánh tận dụng thời gian AOG do hỏng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222721793"/>
                  </a:ext>
                </a:extLst>
              </a:tr>
              <a:tr h="313996">
                <a:tc>
                  <a:txBody>
                    <a:bodyPr/>
                    <a:lstStyle/>
                    <a:p>
                      <a:pPr algn="ctr" fontAlgn="ctr"/>
                      <a:r>
                        <a:rPr lang="en-US" sz="1200" b="0" i="0" u="none" strike="noStrike">
                          <a:solidFill>
                            <a:srgbClr val="000000"/>
                          </a:solidFill>
                          <a:effectLst/>
                          <a:latin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5671929"/>
                  </a:ext>
                </a:extLst>
              </a:tr>
              <a:tr h="313996">
                <a:tc>
                  <a:txBody>
                    <a:bodyPr/>
                    <a:lstStyle/>
                    <a:p>
                      <a:pPr algn="ctr" fontAlgn="ctr"/>
                      <a:r>
                        <a:rPr lang="en-US" sz="1200" b="0" i="0" u="none" strike="noStrike">
                          <a:solidFill>
                            <a:srgbClr val="000000"/>
                          </a:solidFill>
                          <a:effectLst/>
                          <a:latin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94724915"/>
                  </a:ext>
                </a:extLst>
              </a:tr>
              <a:tr h="313996">
                <a:tc>
                  <a:txBody>
                    <a:bodyPr/>
                    <a:lstStyle/>
                    <a:p>
                      <a:pPr algn="ctr" fontAlgn="ctr"/>
                      <a:r>
                        <a:rPr lang="en-US" sz="1200" b="0" i="0" u="none" strike="noStrike">
                          <a:solidFill>
                            <a:srgbClr val="000000"/>
                          </a:solidFill>
                          <a:effectLst/>
                          <a:latin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6631513"/>
                  </a:ext>
                </a:extLst>
              </a:tr>
              <a:tr h="313996">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278804555"/>
                  </a:ext>
                </a:extLst>
              </a:tr>
            </a:tbl>
          </a:graphicData>
        </a:graphic>
      </p:graphicFrame>
    </p:spTree>
    <p:extLst>
      <p:ext uri="{BB962C8B-B14F-4D97-AF65-F5344CB8AC3E}">
        <p14:creationId xmlns:p14="http://schemas.microsoft.com/office/powerpoint/2010/main" val="41658679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20414" y="5914504"/>
            <a:ext cx="2743200" cy="365125"/>
          </a:xfrm>
        </p:spPr>
        <p:txBody>
          <a:bodyPr>
            <a:normAutofit/>
          </a:bodyPr>
          <a:lstStyle/>
          <a:p>
            <a:fld id="{6C6B6B8D-D74E-47CD-B5EE-156060B7CD17}" type="slidenum">
              <a:rPr lang="en-US" sz="1100" smtClean="0"/>
              <a:pPr/>
              <a:t>39</a:t>
            </a:fld>
            <a:endParaRPr lang="en-US" sz="1100" dirty="0"/>
          </a:p>
        </p:txBody>
      </p:sp>
      <p:sp>
        <p:nvSpPr>
          <p:cNvPr id="21" name="TextBox 20"/>
          <p:cNvSpPr txBox="1"/>
          <p:nvPr/>
        </p:nvSpPr>
        <p:spPr>
          <a:xfrm>
            <a:off x="287628" y="23083"/>
            <a:ext cx="11691322" cy="461665"/>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r>
              <a:rPr lang="en-US" sz="2400" dirty="0"/>
              <a:t>HỎNG HÓC CABIN ẢNH HƯỞNG KHAI THÁC VÀ PTVT – TUẦN 10</a:t>
            </a:r>
            <a:endParaRPr lang="vi-VN" sz="2400" dirty="0"/>
          </a:p>
        </p:txBody>
      </p:sp>
      <p:sp>
        <p:nvSpPr>
          <p:cNvPr id="24" name="TextBox 23"/>
          <p:cNvSpPr txBox="1"/>
          <p:nvPr/>
        </p:nvSpPr>
        <p:spPr>
          <a:xfrm>
            <a:off x="304800" y="3752484"/>
            <a:ext cx="11674151" cy="2953116"/>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30000"/>
              </a:lnSpc>
            </a:pPr>
            <a:r>
              <a:rPr lang="en-US" sz="1100" b="1" dirty="0" err="1">
                <a:latin typeface="Times New Roman" panose="02020603050405020304" pitchFamily="18" charset="0"/>
                <a:cs typeface="Times New Roman" panose="02020603050405020304" pitchFamily="18" charset="0"/>
              </a:rPr>
              <a:t>Nội</a:t>
            </a:r>
            <a:r>
              <a:rPr lang="en-US" sz="1100" b="1" dirty="0">
                <a:latin typeface="Times New Roman" panose="02020603050405020304" pitchFamily="18" charset="0"/>
                <a:cs typeface="Times New Roman" panose="02020603050405020304" pitchFamily="18" charset="0"/>
              </a:rPr>
              <a:t> dung </a:t>
            </a:r>
            <a:r>
              <a:rPr lang="en-US" sz="1100" b="1" dirty="0" err="1">
                <a:latin typeface="Times New Roman" panose="02020603050405020304" pitchFamily="18" charset="0"/>
                <a:cs typeface="Times New Roman" panose="02020603050405020304" pitchFamily="18" charset="0"/>
              </a:rPr>
              <a:t>khác</a:t>
            </a:r>
            <a:r>
              <a:rPr lang="en-US" sz="1100" b="1" dirty="0">
                <a:latin typeface="Times New Roman" panose="02020603050405020304" pitchFamily="18" charset="0"/>
                <a:cs typeface="Times New Roman" panose="02020603050405020304" pitchFamily="18" charset="0"/>
              </a:rPr>
              <a:t>:</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Decal 30 </a:t>
            </a:r>
            <a:r>
              <a:rPr lang="en-US" sz="1100" b="1" dirty="0" err="1">
                <a:solidFill>
                  <a:schemeClr val="tx1"/>
                </a:solidFill>
                <a:latin typeface="Times New Roman" panose="02020603050405020304" pitchFamily="18" charset="0"/>
                <a:cs typeface="Times New Roman" panose="02020603050405020304" pitchFamily="18" charset="0"/>
              </a:rPr>
              <a:t>năm</a:t>
            </a:r>
            <a:r>
              <a:rPr lang="en-US" sz="1100" b="1" dirty="0">
                <a:solidFill>
                  <a:schemeClr val="tx1"/>
                </a:solidFill>
                <a:latin typeface="Times New Roman" panose="02020603050405020304" pitchFamily="18" charset="0"/>
                <a:cs typeface="Times New Roman" panose="02020603050405020304" pitchFamily="18" charset="0"/>
              </a:rPr>
              <a:t> 787-9</a:t>
            </a:r>
            <a:r>
              <a:rPr lang="en-US" sz="1100" dirty="0">
                <a:solidFill>
                  <a:schemeClr val="tx1"/>
                </a:solidFill>
                <a:latin typeface="Times New Roman" panose="02020603050405020304" pitchFamily="18" charset="0"/>
                <a:cs typeface="Times New Roman" panose="02020603050405020304" pitchFamily="18" charset="0"/>
              </a:rPr>
              <a:t>: Decal </a:t>
            </a:r>
            <a:r>
              <a:rPr lang="en-US" sz="1100" dirty="0" err="1">
                <a:solidFill>
                  <a:schemeClr val="tx1"/>
                </a:solidFill>
                <a:latin typeface="Times New Roman" panose="02020603050405020304" pitchFamily="18" charset="0"/>
                <a:cs typeface="Times New Roman" panose="02020603050405020304" pitchFamily="18" charset="0"/>
              </a:rPr>
              <a:t>bổ</a:t>
            </a:r>
            <a:r>
              <a:rPr lang="en-US" sz="1100" dirty="0">
                <a:solidFill>
                  <a:schemeClr val="tx1"/>
                </a:solidFill>
                <a:latin typeface="Times New Roman" panose="02020603050405020304" pitchFamily="18" charset="0"/>
                <a:cs typeface="Times New Roman" panose="02020603050405020304" pitchFamily="18" charset="0"/>
              </a:rPr>
              <a:t> sung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làm</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việc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đối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tác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có</a:t>
            </a:r>
            <a:r>
              <a:rPr lang="en-US" sz="1100" dirty="0">
                <a:solidFill>
                  <a:schemeClr val="tx1"/>
                </a:solidFill>
                <a:latin typeface="Times New Roman" panose="02020603050405020304" pitchFamily="18" charset="0"/>
                <a:cs typeface="Times New Roman" panose="02020603050405020304" pitchFamily="18" charset="0"/>
              </a:rPr>
              <a:t> chi </a:t>
            </a:r>
            <a:r>
              <a:rPr lang="en-US" sz="1100" dirty="0" err="1">
                <a:solidFill>
                  <a:schemeClr val="tx1"/>
                </a:solidFill>
                <a:latin typeface="Times New Roman" panose="02020603050405020304" pitchFamily="18" charset="0"/>
                <a:cs typeface="Times New Roman" panose="02020603050405020304" pitchFamily="18" charset="0"/>
              </a:rPr>
              <a:t>phí</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bán</a:t>
            </a:r>
            <a:r>
              <a:rPr lang="en-US" sz="1100" dirty="0">
                <a:solidFill>
                  <a:schemeClr val="tx1"/>
                </a:solidFill>
                <a:latin typeface="Times New Roman" panose="02020603050405020304" pitchFamily="18" charset="0"/>
                <a:cs typeface="Times New Roman" panose="02020603050405020304" pitchFamily="18" charset="0"/>
              </a:rPr>
              <a:t>. Ban TT </a:t>
            </a:r>
            <a:r>
              <a:rPr lang="en-US" sz="1100" dirty="0" err="1">
                <a:solidFill>
                  <a:schemeClr val="tx1"/>
                </a:solidFill>
                <a:latin typeface="Times New Roman" panose="02020603050405020304" pitchFamily="18" charset="0"/>
                <a:cs typeface="Times New Roman" panose="02020603050405020304" pitchFamily="18" charset="0"/>
              </a:rPr>
              <a:t>đang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trình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phê</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duyệt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thiết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kế</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mới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phát</a:t>
            </a:r>
            <a:r>
              <a:rPr lang="en-US" sz="1100" dirty="0">
                <a:solidFill>
                  <a:schemeClr val="tx1"/>
                </a:solidFill>
                <a:latin typeface="Times New Roman" panose="02020603050405020304" pitchFamily="18" charset="0"/>
                <a:cs typeface="Times New Roman" panose="02020603050405020304" pitchFamily="18" charset="0"/>
              </a:rPr>
              <a:t> PO. </a:t>
            </a:r>
            <a:r>
              <a:rPr lang="en-US" sz="1100" dirty="0" err="1">
                <a:solidFill>
                  <a:schemeClr val="tx1"/>
                </a:solidFill>
                <a:latin typeface="Times New Roman" panose="02020603050405020304" pitchFamily="18" charset="0"/>
                <a:cs typeface="Times New Roman" panose="02020603050405020304" pitchFamily="18" charset="0"/>
              </a:rPr>
              <a:t>Tiếp</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tục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giục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đối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tác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để</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sớm</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có</a:t>
            </a:r>
            <a:r>
              <a:rPr lang="en-US" sz="1100" dirty="0">
                <a:solidFill>
                  <a:schemeClr val="tx1"/>
                </a:solidFill>
                <a:latin typeface="Times New Roman" panose="02020603050405020304" pitchFamily="18" charset="0"/>
                <a:cs typeface="Times New Roman" panose="02020603050405020304" pitchFamily="18" charset="0"/>
              </a:rPr>
              <a:t> SB </a:t>
            </a:r>
            <a:r>
              <a:rPr lang="en-US" sz="1100" dirty="0" err="1">
                <a:solidFill>
                  <a:schemeClr val="tx1"/>
                </a:solidFill>
                <a:latin typeface="Times New Roman" panose="02020603050405020304" pitchFamily="18" charset="0"/>
                <a:cs typeface="Times New Roman" panose="02020603050405020304" pitchFamily="18" charset="0"/>
              </a:rPr>
              <a:t>trong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đầu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4/2025 </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IFC 10 tàu A350: </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Tài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liệu</a:t>
            </a:r>
            <a:r>
              <a:rPr lang="en-US" sz="1100" dirty="0">
                <a:solidFill>
                  <a:schemeClr val="tx1"/>
                </a:solidFill>
                <a:latin typeface="Times New Roman" panose="02020603050405020304" pitchFamily="18" charset="0"/>
                <a:cs typeface="Times New Roman" panose="02020603050405020304" pitchFamily="18" charset="0"/>
              </a:rPr>
              <a:t> TSM </a:t>
            </a:r>
            <a:r>
              <a:rPr lang="en-US" sz="1100" dirty="0" err="1">
                <a:solidFill>
                  <a:schemeClr val="tx1"/>
                </a:solidFill>
                <a:latin typeface="Times New Roman" panose="02020603050405020304" pitchFamily="18" charset="0"/>
                <a:cs typeface="Times New Roman" panose="02020603050405020304" pitchFamily="18" charset="0"/>
              </a:rPr>
              <a:t>hệ</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thống</a:t>
            </a:r>
            <a:r>
              <a:rPr lang="en-US" sz="1100" dirty="0">
                <a:solidFill>
                  <a:schemeClr val="tx1"/>
                </a:solidFill>
                <a:latin typeface="Times New Roman" panose="02020603050405020304" pitchFamily="18" charset="0"/>
                <a:cs typeface="Times New Roman" panose="02020603050405020304" pitchFamily="18" charset="0"/>
              </a:rPr>
              <a:t> IFC: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giao</a:t>
            </a:r>
            <a:r>
              <a:rPr lang="en-US" sz="1100" b="1" dirty="0">
                <a:solidFill>
                  <a:schemeClr val="tx1"/>
                </a:solidFill>
                <a:latin typeface="Times New Roman" panose="02020603050405020304" pitchFamily="18" charset="0"/>
                <a:cs typeface="Times New Roman" panose="02020603050405020304" pitchFamily="18" charset="0"/>
              </a:rPr>
              <a:t> 6/3/2025 </a:t>
            </a:r>
            <a:r>
              <a:rPr lang="en-US" sz="1100" b="1" dirty="0" err="1">
                <a:solidFill>
                  <a:schemeClr val="tx1"/>
                </a:solidFill>
                <a:latin typeface="Times New Roman" panose="02020603050405020304" pitchFamily="18" charset="0"/>
                <a:cs typeface="Times New Roman" panose="02020603050405020304" pitchFamily="18" charset="0"/>
              </a:rPr>
              <a:t>và</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triển</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khai</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cho</a:t>
            </a:r>
            <a:r>
              <a:rPr lang="en-US" sz="1100" b="1" dirty="0">
                <a:solidFill>
                  <a:schemeClr val="tx1"/>
                </a:solidFill>
                <a:latin typeface="Times New Roman" panose="02020603050405020304" pitchFamily="18" charset="0"/>
                <a:cs typeface="Times New Roman" panose="02020603050405020304" pitchFamily="18" charset="0"/>
              </a:rPr>
              <a:t> VAECO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Vật tư </a:t>
            </a:r>
            <a:r>
              <a:rPr lang="en-US" sz="1100" dirty="0" err="1">
                <a:solidFill>
                  <a:schemeClr val="tx1"/>
                </a:solidFill>
                <a:latin typeface="Times New Roman" panose="02020603050405020304" pitchFamily="18" charset="0"/>
                <a:cs typeface="Times New Roman" panose="02020603050405020304" pitchFamily="18" charset="0"/>
              </a:rPr>
              <a:t>dự</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phòng</a:t>
            </a:r>
            <a:r>
              <a:rPr lang="en-US" sz="1100"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giao</a:t>
            </a:r>
            <a:r>
              <a:rPr lang="en-US" sz="1100" b="1" dirty="0">
                <a:solidFill>
                  <a:schemeClr val="tx1"/>
                </a:solidFill>
                <a:latin typeface="Times New Roman" panose="02020603050405020304" pitchFamily="18" charset="0"/>
                <a:cs typeface="Times New Roman" panose="02020603050405020304" pitchFamily="18" charset="0"/>
              </a:rPr>
              <a:t> KFRU, MODMAN, KANDU;  FMA 01ea giao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4/2025 (tiếp tục giục Thales)</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 MPS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FSAT: </a:t>
            </a:r>
            <a:r>
              <a:rPr lang="en-US" sz="1100" b="1" dirty="0">
                <a:solidFill>
                  <a:schemeClr val="tx1"/>
                </a:solidFill>
                <a:latin typeface="Times New Roman" panose="02020603050405020304" pitchFamily="18" charset="0"/>
                <a:cs typeface="Times New Roman" panose="02020603050405020304" pitchFamily="18" charset="0"/>
              </a:rPr>
              <a:t>MPS </a:t>
            </a:r>
            <a:r>
              <a:rPr lang="en-US" sz="1100" b="1" dirty="0" err="1">
                <a:solidFill>
                  <a:schemeClr val="tx1"/>
                </a:solidFill>
                <a:latin typeface="Times New Roman" panose="02020603050405020304" pitchFamily="18" charset="0"/>
                <a:cs typeface="Times New Roman" panose="02020603050405020304" pitchFamily="18" charset="0"/>
              </a:rPr>
              <a:t>và</a:t>
            </a:r>
            <a:r>
              <a:rPr lang="en-US" sz="1100" b="1" dirty="0">
                <a:solidFill>
                  <a:schemeClr val="tx1"/>
                </a:solidFill>
                <a:latin typeface="Times New Roman" panose="02020603050405020304" pitchFamily="18" charset="0"/>
                <a:cs typeface="Times New Roman" panose="02020603050405020304" pitchFamily="18" charset="0"/>
              </a:rPr>
              <a:t> mod kit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giao</a:t>
            </a:r>
            <a:r>
              <a:rPr lang="en-US" sz="1100" b="1" dirty="0">
                <a:solidFill>
                  <a:schemeClr val="tx1"/>
                </a:solidFill>
                <a:latin typeface="Times New Roman" panose="02020603050405020304" pitchFamily="18" charset="0"/>
                <a:cs typeface="Times New Roman" panose="02020603050405020304" pitchFamily="18" charset="0"/>
              </a:rPr>
              <a:t>, SB release </a:t>
            </a:r>
            <a:r>
              <a:rPr lang="en-US" sz="1100" b="1" dirty="0" err="1">
                <a:solidFill>
                  <a:schemeClr val="tx1"/>
                </a:solidFill>
                <a:latin typeface="Times New Roman" panose="02020603050405020304" pitchFamily="18" charset="0"/>
                <a:cs typeface="Times New Roman" panose="02020603050405020304" pitchFamily="18" charset="0"/>
              </a:rPr>
              <a:t>cuối</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3/2025. </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gửi 02 shipset tàu bảo quản đi nâng </a:t>
            </a:r>
            <a:r>
              <a:rPr lang="en-US" sz="1100" dirty="0" err="1">
                <a:solidFill>
                  <a:schemeClr val="tx1"/>
                </a:solidFill>
                <a:latin typeface="Times New Roman" panose="02020603050405020304" pitchFamily="18" charset="0"/>
                <a:cs typeface="Times New Roman" panose="02020603050405020304" pitchFamily="18" charset="0"/>
              </a:rPr>
              <a:t>cấp</a:t>
            </a:r>
            <a:r>
              <a:rPr lang="en-US" sz="1100" dirty="0">
                <a:solidFill>
                  <a:schemeClr val="tx1"/>
                </a:solidFill>
                <a:latin typeface="Times New Roman" panose="02020603050405020304" pitchFamily="18" charset="0"/>
                <a:cs typeface="Times New Roman" panose="02020603050405020304" pitchFamily="18" charset="0"/>
              </a:rPr>
              <a:t> firmware, TAT 60-70 ngày =&gt; </a:t>
            </a:r>
            <a:r>
              <a:rPr lang="en-US" sz="1100" b="1" dirty="0">
                <a:solidFill>
                  <a:schemeClr val="tx1"/>
                </a:solidFill>
                <a:latin typeface="Times New Roman" panose="02020603050405020304" pitchFamily="18" charset="0"/>
                <a:cs typeface="Times New Roman" panose="02020603050405020304" pitchFamily="18" charset="0"/>
              </a:rPr>
              <a:t>tiếp tục giục Thales &amp; Honeywell, </a:t>
            </a:r>
            <a:r>
              <a:rPr lang="en-US" sz="1100" b="1" dirty="0" err="1">
                <a:solidFill>
                  <a:schemeClr val="tx1"/>
                </a:solidFill>
                <a:latin typeface="Times New Roman" panose="02020603050405020304" pitchFamily="18" charset="0"/>
                <a:cs typeface="Times New Roman" panose="02020603050405020304" pitchFamily="18" charset="0"/>
              </a:rPr>
              <a:t>vật</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tư</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đến</a:t>
            </a:r>
            <a:r>
              <a:rPr lang="en-US" sz="1100" b="1"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02 </a:t>
            </a:r>
            <a:r>
              <a:rPr lang="en-US" sz="1100" dirty="0" err="1">
                <a:solidFill>
                  <a:schemeClr val="tx1"/>
                </a:solidFill>
                <a:latin typeface="Times New Roman" panose="02020603050405020304" pitchFamily="18" charset="0"/>
                <a:cs typeface="Times New Roman" panose="02020603050405020304" pitchFamily="18" charset="0"/>
              </a:rPr>
              <a:t>Antena</a:t>
            </a:r>
            <a:r>
              <a:rPr lang="en-US" sz="1100" dirty="0">
                <a:solidFill>
                  <a:schemeClr val="tx1"/>
                </a:solidFill>
                <a:latin typeface="Times New Roman" panose="02020603050405020304" pitchFamily="18" charset="0"/>
                <a:cs typeface="Times New Roman" panose="02020603050405020304" pitchFamily="18" charset="0"/>
              </a:rPr>
              <a:t> gửi sửa chữa shop: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về</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và</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thay</a:t>
            </a:r>
            <a:r>
              <a:rPr lang="en-US" sz="1100" b="1" dirty="0">
                <a:solidFill>
                  <a:schemeClr val="tx1"/>
                </a:solidFill>
                <a:latin typeface="Times New Roman" panose="02020603050405020304" pitchFamily="18" charset="0"/>
                <a:cs typeface="Times New Roman" panose="02020603050405020304" pitchFamily="18" charset="0"/>
              </a:rPr>
              <a:t> A893 + A896 </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Đào tạo IFC VAECO dự kiến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19-20/2/2025: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thực</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hiện</a:t>
            </a:r>
            <a:endParaRPr lang="en-US" sz="1100" b="1" dirty="0">
              <a:solidFill>
                <a:schemeClr val="tx1"/>
              </a:solidFill>
              <a:latin typeface="Times New Roman" panose="02020603050405020304" pitchFamily="18" charset="0"/>
              <a:cs typeface="Times New Roman" panose="02020603050405020304" pitchFamily="18" charset="0"/>
            </a:endParaRP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FSAT </a:t>
            </a:r>
            <a:r>
              <a:rPr lang="en-US" sz="1100" dirty="0" err="1">
                <a:solidFill>
                  <a:schemeClr val="tx1"/>
                </a:solidFill>
                <a:latin typeface="Times New Roman" panose="02020603050405020304" pitchFamily="18" charset="0"/>
                <a:cs typeface="Times New Roman" panose="02020603050405020304" pitchFamily="18" charset="0"/>
              </a:rPr>
              <a:t>từ</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ngày</a:t>
            </a:r>
            <a:r>
              <a:rPr lang="en-US" sz="1100" dirty="0">
                <a:solidFill>
                  <a:schemeClr val="tx1"/>
                </a:solidFill>
                <a:latin typeface="Times New Roman" panose="02020603050405020304" pitchFamily="18" charset="0"/>
                <a:cs typeface="Times New Roman" panose="02020603050405020304" pitchFamily="18" charset="0"/>
              </a:rPr>
              <a:t> 4-7/3/2025: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hoàn</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thành</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Phần</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mềm</a:t>
            </a:r>
            <a:r>
              <a:rPr lang="en-US" sz="1100" b="1" dirty="0">
                <a:solidFill>
                  <a:schemeClr val="tx1"/>
                </a:solidFill>
                <a:latin typeface="Times New Roman" panose="02020603050405020304" pitchFamily="18" charset="0"/>
                <a:cs typeface="Times New Roman" panose="02020603050405020304" pitchFamily="18" charset="0"/>
              </a:rPr>
              <a:t> FSAT </a:t>
            </a:r>
            <a:r>
              <a:rPr lang="en-US" sz="1100" b="1" dirty="0" err="1">
                <a:solidFill>
                  <a:schemeClr val="tx1"/>
                </a:solidFill>
                <a:latin typeface="Times New Roman" panose="02020603050405020304" pitchFamily="18" charset="0"/>
                <a:cs typeface="Times New Roman" panose="02020603050405020304" pitchFamily="18" charset="0"/>
              </a:rPr>
              <a:t>dự</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kiến</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cuối</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3/2025</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CĐCH ghế 23 tàu A321CEO: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HSYC lần 1,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nhận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bản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hoàn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thành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đánh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giá</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bản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 =&gt; </a:t>
            </a: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trình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kết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quả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lựa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chọn</a:t>
            </a:r>
            <a:r>
              <a:rPr lang="en-US" sz="1100" dirty="0">
                <a:solidFill>
                  <a:schemeClr val="tx1"/>
                </a:solidFill>
                <a:latin typeface="Times New Roman" panose="02020603050405020304" pitchFamily="18" charset="0"/>
                <a:cs typeface="Times New Roman" panose="02020603050405020304" pitchFamily="18" charset="0"/>
              </a:rPr>
              <a:t> NCC </a:t>
            </a:r>
            <a:r>
              <a:rPr lang="en-US" sz="1100" dirty="0" err="1">
                <a:solidFill>
                  <a:schemeClr val="tx1"/>
                </a:solidFill>
                <a:latin typeface="Times New Roman" panose="02020603050405020304" pitchFamily="18" charset="0"/>
                <a:cs typeface="Times New Roman" panose="02020603050405020304" pitchFamily="18" charset="0"/>
              </a:rPr>
              <a:t>ghế</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SB</a:t>
            </a:r>
          </a:p>
        </p:txBody>
      </p:sp>
      <p:sp>
        <p:nvSpPr>
          <p:cNvPr id="22" name="TextBox 21"/>
          <p:cNvSpPr txBox="1"/>
          <p:nvPr/>
        </p:nvSpPr>
        <p:spPr>
          <a:xfrm>
            <a:off x="304801" y="2819400"/>
            <a:ext cx="11674151"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Galley:</a:t>
            </a:r>
          </a:p>
          <a:p>
            <a:pPr marL="285750" indent="-285750">
              <a:buFontTx/>
              <a:buChar char="-"/>
            </a:pPr>
            <a:r>
              <a:rPr lang="en-US" sz="1100" b="1" dirty="0">
                <a:latin typeface="Times New Roman" panose="02020603050405020304" pitchFamily="18" charset="0"/>
                <a:cs typeface="Times New Roman" panose="02020603050405020304" pitchFamily="18" charset="0"/>
              </a:rPr>
              <a:t>Hỏng hóc wine chiller</a:t>
            </a:r>
            <a:r>
              <a:rPr lang="en-US" sz="1100" dirty="0">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10ea,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00ea,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10 ea. </a:t>
            </a:r>
            <a:r>
              <a:rPr lang="en-US" sz="1100" dirty="0" err="1">
                <a:solidFill>
                  <a:schemeClr val="tx1"/>
                </a:solidFill>
                <a:latin typeface="Times New Roman" panose="02020603050405020304" pitchFamily="18" charset="0"/>
                <a:cs typeface="Times New Roman" panose="02020603050405020304" pitchFamily="18" charset="0"/>
              </a:rPr>
              <a:t>Tiến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độ</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sửa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tại</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B787: </a:t>
            </a:r>
            <a:r>
              <a:rPr lang="en-US" sz="1100" dirty="0">
                <a:latin typeface="Times New Roman" panose="02020603050405020304" pitchFamily="18" charset="0"/>
                <a:cs typeface="Times New Roman" panose="02020603050405020304" pitchFamily="18" charset="0"/>
              </a:rPr>
              <a:t>05</a:t>
            </a:r>
            <a:r>
              <a:rPr lang="vi-VN" sz="1100" dirty="0">
                <a:latin typeface="Times New Roman" panose="02020603050405020304" pitchFamily="18" charset="0"/>
                <a:cs typeface="Times New Roman" panose="02020603050405020304" pitchFamily="18" charset="0"/>
              </a:rPr>
              <a:t> ADD; </a:t>
            </a:r>
            <a:r>
              <a:rPr lang="en-US" sz="1100" dirty="0">
                <a:latin typeface="Times New Roman"/>
                <a:ea typeface="Times New Roman"/>
                <a:cs typeface="Times New Roman"/>
                <a:sym typeface="Times New Roman"/>
              </a:rPr>
              <a:t>04RO </a:t>
            </a:r>
            <a:r>
              <a:rPr lang="vi-VN" sz="1100" dirty="0">
                <a:latin typeface="Times New Roman" panose="02020603050405020304" pitchFamily="18" charset="0"/>
                <a:cs typeface="Times New Roman" panose="02020603050405020304" pitchFamily="18" charset="0"/>
              </a:rPr>
              <a:t>chưa có EDD</a:t>
            </a:r>
            <a:r>
              <a:rPr lang="en-US" sz="1100" dirty="0">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A350: </a:t>
            </a:r>
            <a:r>
              <a:rPr lang="en-US" sz="1100" dirty="0">
                <a:latin typeface="Times New Roman" panose="02020603050405020304" pitchFamily="18" charset="0"/>
                <a:cs typeface="Times New Roman" panose="02020603050405020304" pitchFamily="18" charset="0"/>
              </a:rPr>
              <a:t>05  ADD; </a:t>
            </a:r>
            <a:r>
              <a:rPr lang="en-US" sz="1100" dirty="0">
                <a:latin typeface="Times New Roman"/>
                <a:cs typeface="Times New Roman"/>
                <a:sym typeface="Times New Roman"/>
              </a:rPr>
              <a:t>05</a:t>
            </a:r>
            <a:r>
              <a:rPr lang="en-US" sz="1100" dirty="0">
                <a:latin typeface="Times New Roman"/>
                <a:ea typeface="Times New Roman"/>
                <a:cs typeface="Times New Roman"/>
                <a:sym typeface="Times New Roman"/>
              </a:rPr>
              <a:t> RO, </a:t>
            </a:r>
            <a:r>
              <a:rPr lang="vi-VN" sz="1100" dirty="0">
                <a:latin typeface="Times New Roman" panose="02020603050405020304" pitchFamily="18" charset="0"/>
                <a:cs typeface="Times New Roman" panose="02020603050405020304" pitchFamily="18" charset="0"/>
              </a:rPr>
              <a:t>chưa có EDD</a:t>
            </a:r>
            <a:endParaRPr lang="en-US" sz="1100" dirty="0">
              <a:latin typeface="Times New Roman"/>
              <a:cs typeface="Times New Roman"/>
              <a:sym typeface="Times New Roman"/>
            </a:endParaRPr>
          </a:p>
          <a:p>
            <a:pPr marL="285750" indent="-285750">
              <a:buClr>
                <a:srgbClr val="000000"/>
              </a:buClr>
              <a:buSzPts val="1300"/>
              <a:buFont typeface="Times New Roman" panose="02020603050405020304" pitchFamily="18" charset="0"/>
              <a:buChar char="⁃"/>
            </a:pPr>
            <a:r>
              <a:rPr lang="en-US" sz="1100" dirty="0">
                <a:latin typeface="Times New Roman" panose="02020603050405020304" pitchFamily="18" charset="0"/>
                <a:cs typeface="Times New Roman" panose="02020603050405020304" pitchFamily="18" charset="0"/>
              </a:rPr>
              <a:t>Hỏng hóc oven: </a:t>
            </a:r>
            <a:r>
              <a:rPr lang="en-US" sz="1100" dirty="0">
                <a:solidFill>
                  <a:schemeClr val="tx1"/>
                </a:solidFill>
                <a:latin typeface="Times New Roman" panose="02020603050405020304" pitchFamily="18" charset="0"/>
                <a:cs typeface="Times New Roman" panose="02020603050405020304" pitchFamily="18" charset="0"/>
              </a:rPr>
              <a:t>hỏng </a:t>
            </a:r>
            <a:r>
              <a:rPr lang="en-US" sz="1100" dirty="0" err="1">
                <a:solidFill>
                  <a:schemeClr val="tx1"/>
                </a:solidFill>
                <a:latin typeface="Times New Roman" panose="02020603050405020304" pitchFamily="18" charset="0"/>
                <a:cs typeface="Times New Roman" panose="02020603050405020304" pitchFamily="18" charset="0"/>
              </a:rPr>
              <a:t>hóc</a:t>
            </a:r>
            <a:r>
              <a:rPr lang="en-US" sz="1100" dirty="0">
                <a:solidFill>
                  <a:schemeClr val="tx1"/>
                </a:solidFill>
                <a:latin typeface="Times New Roman" panose="02020603050405020304" pitchFamily="18" charset="0"/>
                <a:cs typeface="Times New Roman" panose="02020603050405020304" pitchFamily="18" charset="0"/>
              </a:rPr>
              <a:t> 07ea, khắc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02ea,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05ea</a:t>
            </a:r>
          </a:p>
        </p:txBody>
      </p:sp>
      <p:sp>
        <p:nvSpPr>
          <p:cNvPr id="23" name="TextBox 22"/>
          <p:cNvSpPr txBox="1"/>
          <p:nvPr/>
        </p:nvSpPr>
        <p:spPr>
          <a:xfrm>
            <a:off x="304802" y="1355624"/>
            <a:ext cx="11674150" cy="61555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IFE: Thales SVDU (A350/B787): </a:t>
            </a:r>
            <a:r>
              <a:rPr lang="en-US" sz="1100" dirty="0">
                <a:latin typeface="Times New Roman" panose="02020603050405020304" pitchFamily="18" charset="0"/>
                <a:cs typeface="Times New Roman" panose="02020603050405020304" pitchFamily="18" charset="0"/>
              </a:rPr>
              <a:t>replaced </a:t>
            </a:r>
            <a:r>
              <a:rPr lang="en-GB" sz="1100" b="1" dirty="0">
                <a:solidFill>
                  <a:schemeClr val="tx1"/>
                </a:solidFill>
                <a:latin typeface="Times New Roman" panose="02020603050405020304" pitchFamily="18" charset="0"/>
                <a:cs typeface="Times New Roman" panose="02020603050405020304" pitchFamily="18" charset="0"/>
              </a:rPr>
              <a:t>2</a:t>
            </a:r>
            <a:r>
              <a:rPr lang="en-US" sz="1100" b="1" dirty="0">
                <a:solidFill>
                  <a:schemeClr val="tx1"/>
                </a:solidFill>
                <a:latin typeface="Times New Roman" panose="02020603050405020304" pitchFamily="18" charset="0"/>
                <a:cs typeface="Times New Roman" panose="02020603050405020304" pitchFamily="18" charset="0"/>
              </a:rPr>
              <a:t>797</a:t>
            </a:r>
            <a:r>
              <a:rPr lang="en-GB" sz="1100" b="1" dirty="0">
                <a:solidFill>
                  <a:schemeClr val="tx1"/>
                </a:solidFill>
                <a:latin typeface="Times New Roman" panose="02020603050405020304" pitchFamily="18" charset="0"/>
                <a:cs typeface="Times New Roman" panose="02020603050405020304" pitchFamily="18" charset="0"/>
              </a:rPr>
              <a:t>/3</a:t>
            </a:r>
            <a:r>
              <a:rPr lang="en-US" sz="1100" b="1" dirty="0">
                <a:solidFill>
                  <a:schemeClr val="tx1"/>
                </a:solidFill>
                <a:latin typeface="Times New Roman" panose="02020603050405020304" pitchFamily="18" charset="0"/>
                <a:cs typeface="Times New Roman" panose="02020603050405020304" pitchFamily="18" charset="0"/>
              </a:rPr>
              <a:t>112 </a:t>
            </a:r>
            <a:r>
              <a:rPr lang="en-US" sz="1100" b="1" dirty="0">
                <a:latin typeface="Times New Roman" panose="02020603050405020304" pitchFamily="18" charset="0"/>
                <a:cs typeface="Times New Roman" panose="02020603050405020304" pitchFamily="18" charset="0"/>
              </a:rPr>
              <a:t>SVDU (</a:t>
            </a:r>
            <a:r>
              <a:rPr lang="en-US" sz="1100" b="1" dirty="0" err="1">
                <a:latin typeface="Times New Roman" panose="02020603050405020304" pitchFamily="18" charset="0"/>
                <a:cs typeface="Times New Roman" panose="02020603050405020304" pitchFamily="18" charset="0"/>
              </a:rPr>
              <a:t>còn</a:t>
            </a:r>
            <a:r>
              <a:rPr lang="en-US" sz="1100" b="1" dirty="0">
                <a:latin typeface="Times New Roman" panose="02020603050405020304" pitchFamily="18" charset="0"/>
                <a:cs typeface="Times New Roman" panose="02020603050405020304" pitchFamily="18" charset="0"/>
              </a:rPr>
              <a:t> 305 INOP SVDU). </a:t>
            </a:r>
            <a:r>
              <a:rPr lang="en-US" sz="1100" dirty="0">
                <a:solidFill>
                  <a:srgbClr val="FF0000"/>
                </a:solidFill>
                <a:latin typeface="Times New Roman" panose="02020603050405020304" pitchFamily="18" charset="0"/>
                <a:cs typeface="Times New Roman" panose="02020603050405020304" pitchFamily="18" charset="0"/>
              </a:rPr>
              <a:t>Trong </a:t>
            </a:r>
            <a:r>
              <a:rPr lang="en-US" sz="1100" dirty="0" err="1">
                <a:solidFill>
                  <a:srgbClr val="FF0000"/>
                </a:solidFill>
                <a:latin typeface="Times New Roman" panose="02020603050405020304" pitchFamily="18" charset="0"/>
                <a:cs typeface="Times New Roman" panose="02020603050405020304" pitchFamily="18" charset="0"/>
              </a:rPr>
              <a:t>tuần</a:t>
            </a:r>
            <a:r>
              <a:rPr lang="en-US" sz="1100" dirty="0">
                <a:solidFill>
                  <a:srgbClr val="FF0000"/>
                </a:solidFill>
                <a:latin typeface="Times New Roman" panose="02020603050405020304" pitchFamily="18" charset="0"/>
                <a:cs typeface="Times New Roman" panose="02020603050405020304" pitchFamily="18" charset="0"/>
              </a:rPr>
              <a:t> 10:  hỏng </a:t>
            </a:r>
            <a:r>
              <a:rPr lang="en-US" sz="1100" dirty="0" err="1">
                <a:solidFill>
                  <a:srgbClr val="FF0000"/>
                </a:solidFill>
                <a:latin typeface="Times New Roman" panose="02020603050405020304" pitchFamily="18" charset="0"/>
                <a:cs typeface="Times New Roman" panose="02020603050405020304" pitchFamily="18" charset="0"/>
              </a:rPr>
              <a:t>mới</a:t>
            </a:r>
            <a:r>
              <a:rPr lang="en-US" sz="1100" dirty="0">
                <a:solidFill>
                  <a:srgbClr val="FF0000"/>
                </a:solidFill>
                <a:latin typeface="Times New Roman" panose="02020603050405020304" pitchFamily="18" charset="0"/>
                <a:cs typeface="Times New Roman" panose="02020603050405020304" pitchFamily="18" charset="0"/>
              </a:rPr>
              <a:t> 05 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20ea</a:t>
            </a:r>
            <a:r>
              <a:rPr lang="en-US" sz="1100" dirty="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       Hỏng hóc đội bay A350: đã được khắc phục và kiểm soát</a:t>
            </a:r>
          </a:p>
          <a:p>
            <a:r>
              <a:rPr lang="en-US" sz="11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dự kiến bổ sung 30 SVDU trong tháng 3/2025</a:t>
            </a:r>
          </a:p>
        </p:txBody>
      </p:sp>
      <p:sp>
        <p:nvSpPr>
          <p:cNvPr id="25" name="TextBox 24"/>
          <p:cNvSpPr txBox="1"/>
          <p:nvPr/>
        </p:nvSpPr>
        <p:spPr>
          <a:xfrm>
            <a:off x="305922" y="1948957"/>
            <a:ext cx="11673030"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LAV:</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Toilet </a:t>
            </a:r>
            <a:r>
              <a:rPr lang="en-US" sz="1100" b="1" dirty="0" err="1">
                <a:solidFill>
                  <a:schemeClr val="tx1"/>
                </a:solidFill>
                <a:latin typeface="Times New Roman" panose="02020603050405020304" pitchFamily="18" charset="0"/>
                <a:cs typeface="Times New Roman" panose="02020603050405020304" pitchFamily="18" charset="0"/>
              </a:rPr>
              <a:t>Assy</a:t>
            </a:r>
            <a:r>
              <a:rPr lang="en-US" sz="1100" b="1"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04 </a:t>
            </a:r>
            <a:r>
              <a:rPr lang="en-US" sz="1100" dirty="0" err="1">
                <a:solidFill>
                  <a:schemeClr val="tx1"/>
                </a:solidFill>
                <a:latin typeface="Times New Roman" panose="02020603050405020304" pitchFamily="18" charset="0"/>
                <a:cs typeface="Times New Roman" panose="02020603050405020304" pitchFamily="18" charset="0"/>
              </a:rPr>
              <a:t>ea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02ea,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02ea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Faucet </a:t>
            </a:r>
            <a:r>
              <a:rPr lang="en-US" sz="1100" b="1" dirty="0" err="1">
                <a:solidFill>
                  <a:schemeClr val="tx1"/>
                </a:solidFill>
                <a:latin typeface="Times New Roman" panose="02020603050405020304" pitchFamily="18" charset="0"/>
                <a:cs typeface="Times New Roman" panose="02020603050405020304" pitchFamily="18" charset="0"/>
              </a:rPr>
              <a:t>Assy</a:t>
            </a:r>
            <a:r>
              <a:rPr lang="en-US" sz="1100" b="1"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02ea,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01ea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Basin: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03ea,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02ea,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01ea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Boiler: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07ea,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05ea,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2ea</a:t>
            </a:r>
          </a:p>
        </p:txBody>
      </p:sp>
      <p:sp>
        <p:nvSpPr>
          <p:cNvPr id="26" name="TextBox 25"/>
          <p:cNvSpPr txBox="1"/>
          <p:nvPr/>
        </p:nvSpPr>
        <p:spPr>
          <a:xfrm>
            <a:off x="304800" y="500390"/>
            <a:ext cx="11674150" cy="2616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ADD ảnh hưởng dịch vụ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10: </a:t>
            </a:r>
            <a:r>
              <a:rPr lang="en-US" sz="1100" dirty="0" err="1">
                <a:latin typeface="Times New Roman" panose="02020603050405020304" pitchFamily="18" charset="0"/>
                <a:cs typeface="Times New Roman" panose="02020603050405020304" pitchFamily="18" charset="0"/>
              </a:rPr>
              <a:t>Tổng</a:t>
            </a:r>
            <a:r>
              <a:rPr lang="en-US" sz="1100" dirty="0">
                <a:latin typeface="Times New Roman" panose="02020603050405020304" pitchFamily="18" charset="0"/>
                <a:cs typeface="Times New Roman" panose="02020603050405020304" pitchFamily="18" charset="0"/>
              </a:rPr>
              <a:t> 213 (</a:t>
            </a:r>
            <a:r>
              <a:rPr lang="en-US" sz="1100" dirty="0" err="1">
                <a:latin typeface="Times New Roman" panose="02020603050405020304" pitchFamily="18" charset="0"/>
                <a:cs typeface="Times New Roman" panose="02020603050405020304" pitchFamily="18" charset="0"/>
              </a:rPr>
              <a:t>giảm</a:t>
            </a:r>
            <a:r>
              <a:rPr lang="en-US" sz="1100" dirty="0">
                <a:latin typeface="Times New Roman" panose="02020603050405020304" pitchFamily="18" charset="0"/>
                <a:cs typeface="Times New Roman" panose="02020603050405020304" pitchFamily="18" charset="0"/>
              </a:rPr>
              <a:t> 3%), khắc </a:t>
            </a:r>
            <a:r>
              <a:rPr lang="en-US" sz="1100" dirty="0" err="1">
                <a:latin typeface="Times New Roman" panose="02020603050405020304" pitchFamily="18" charset="0"/>
                <a:cs typeface="Times New Roman" panose="02020603050405020304" pitchFamily="18" charset="0"/>
              </a:rPr>
              <a:t>phục</a:t>
            </a:r>
            <a:r>
              <a:rPr lang="en-US" sz="1100" dirty="0">
                <a:latin typeface="Times New Roman" panose="02020603050405020304" pitchFamily="18" charset="0"/>
                <a:cs typeface="Times New Roman" panose="02020603050405020304" pitchFamily="18" charset="0"/>
              </a:rPr>
              <a:t> 62ADD =&gt; tồn </a:t>
            </a:r>
            <a:r>
              <a:rPr lang="en-US" sz="1100" dirty="0" err="1">
                <a:latin typeface="Times New Roman" panose="02020603050405020304" pitchFamily="18" charset="0"/>
                <a:cs typeface="Times New Roman" panose="02020603050405020304" pitchFamily="18" charset="0"/>
              </a:rPr>
              <a:t>đọng</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151ADD</a:t>
            </a:r>
            <a:r>
              <a:rPr lang="en-US" sz="1100" dirty="0">
                <a:latin typeface="Times New Roman" panose="02020603050405020304" pitchFamily="18" charset="0"/>
                <a:cs typeface="Times New Roman" panose="02020603050405020304" pitchFamily="18" charset="0"/>
              </a:rPr>
              <a:t> </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tương</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đương</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9).</a:t>
            </a:r>
          </a:p>
        </p:txBody>
      </p:sp>
      <p:sp>
        <p:nvSpPr>
          <p:cNvPr id="27" name="TextBox 26"/>
          <p:cNvSpPr txBox="1"/>
          <p:nvPr/>
        </p:nvSpPr>
        <p:spPr>
          <a:xfrm>
            <a:off x="304802" y="762000"/>
            <a:ext cx="11674150"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Hỏng hóc Ghế thuộc diện cắt khách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10</a:t>
            </a:r>
          </a:p>
          <a:p>
            <a:pPr marL="285750" indent="-285750">
              <a:buFontTx/>
              <a:buChar char="-"/>
            </a:pPr>
            <a:r>
              <a:rPr lang="en-US" sz="1100" b="1" dirty="0">
                <a:latin typeface="Times New Roman" panose="02020603050405020304" pitchFamily="18" charset="0"/>
                <a:cs typeface="Times New Roman" panose="02020603050405020304" pitchFamily="18" charset="0"/>
              </a:rPr>
              <a:t>Ghế 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02, </a:t>
            </a:r>
            <a:r>
              <a:rPr lang="en-US" sz="1100" dirty="0" err="1">
                <a:solidFill>
                  <a:srgbClr val="FF0000"/>
                </a:solidFill>
                <a:latin typeface="Times New Roman" panose="02020603050405020304" pitchFamily="18" charset="0"/>
                <a:cs typeface="Times New Roman" panose="02020603050405020304" pitchFamily="18" charset="0"/>
              </a:rPr>
              <a:t>khắc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02,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00.</a:t>
            </a:r>
          </a:p>
          <a:p>
            <a:pPr marL="285750" indent="-285750">
              <a:buFontTx/>
              <a:buChar char="-"/>
            </a:pPr>
            <a:r>
              <a:rPr lang="en-US" sz="1100" b="1" dirty="0" err="1">
                <a:latin typeface="Times New Roman" panose="02020603050405020304" pitchFamily="18" charset="0"/>
                <a:cs typeface="Times New Roman" panose="02020603050405020304" pitchFamily="18" charset="0"/>
              </a:rPr>
              <a:t>Ghế</a:t>
            </a:r>
            <a:r>
              <a:rPr lang="en-US" sz="1100" b="1" dirty="0">
                <a:latin typeface="Times New Roman" panose="02020603050405020304" pitchFamily="18" charset="0"/>
                <a:cs typeface="Times New Roman" panose="02020603050405020304" pitchFamily="18" charset="0"/>
              </a:rPr>
              <a:t> 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06, đã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03,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03</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83352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761998" y="344424"/>
            <a:ext cx="10820401" cy="461624"/>
          </a:xfrm>
          <a:prstGeom prst="rect">
            <a:avLst/>
          </a:prstGeom>
          <a:noFill/>
          <a:ln>
            <a:noFill/>
          </a:ln>
        </p:spPr>
        <p:txBody>
          <a:bodyPr spcFirstLastPara="1" wrap="square" lIns="91433" tIns="45700" rIns="91433" bIns="45700" anchor="t" anchorCtr="0">
            <a:spAutoFit/>
          </a:bodyPr>
          <a:lstStyle/>
          <a:p>
            <a:pPr lvl="0" algn="ctr"/>
            <a:r>
              <a:rPr lang="en-US" sz="2400" b="1" dirty="0">
                <a:ln w="0"/>
                <a:solidFill>
                  <a:srgbClr val="FBAC00"/>
                </a:solidFill>
                <a:latin typeface="Times New Roman" panose="02020603050405020304" pitchFamily="18" charset="0"/>
                <a:cs typeface="Times New Roman" panose="02020603050405020304" pitchFamily="18" charset="0"/>
              </a:rPr>
              <a:t>CÔNG TÁC BÁN TRẢ/TIẾP NHẬN/BÀN GIAO TÀU BAY</a:t>
            </a:r>
            <a:endParaRPr sz="2400" dirty="0"/>
          </a:p>
        </p:txBody>
      </p:sp>
      <p:sp>
        <p:nvSpPr>
          <p:cNvPr id="66" name="Google Shape;66;p6"/>
          <p:cNvSpPr txBox="1"/>
          <p:nvPr/>
        </p:nvSpPr>
        <p:spPr>
          <a:xfrm>
            <a:off x="1143001" y="958100"/>
            <a:ext cx="10439398" cy="5632271"/>
          </a:xfrm>
          <a:prstGeom prst="rect">
            <a:avLst/>
          </a:prstGeom>
          <a:noFill/>
          <a:ln>
            <a:noFill/>
          </a:ln>
        </p:spPr>
        <p:txBody>
          <a:bodyPr spcFirstLastPara="1" wrap="square" lIns="91433" tIns="45700" rIns="91433" bIns="45700" anchor="t" anchorCtr="0">
            <a:spAutoFit/>
          </a:bodyPr>
          <a:lstStyle/>
          <a:p>
            <a:pPr lvl="0" algn="just">
              <a:lnSpc>
                <a:spcPct val="150000"/>
              </a:lnSpc>
            </a:pPr>
            <a:r>
              <a:rPr lang="en-US" sz="1600" b="1" smtClean="0">
                <a:latin typeface="Times New Roman" panose="02020603050405020304" pitchFamily="18" charset="0"/>
                <a:cs typeface="Times New Roman" panose="02020603050405020304" pitchFamily="18" charset="0"/>
              </a:rPr>
              <a:t>GIA </a:t>
            </a:r>
            <a:r>
              <a:rPr lang="en-US" sz="1600" b="1" dirty="0">
                <a:latin typeface="Times New Roman" panose="02020603050405020304" pitchFamily="18" charset="0"/>
                <a:cs typeface="Times New Roman" panose="02020603050405020304" pitchFamily="18" charset="0"/>
              </a:rPr>
              <a:t>HẠN THUÊ 10 TÀU VALC </a:t>
            </a:r>
          </a:p>
          <a:p>
            <a:pPr algn="just">
              <a:lnSpc>
                <a:spcPct val="150000"/>
              </a:lnSpc>
            </a:pPr>
            <a:r>
              <a:rPr lang="en-US" sz="1600" dirty="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ý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31/03/2025.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02 </a:t>
            </a:r>
            <a:r>
              <a:rPr lang="en-US" sz="1600" dirty="0" err="1">
                <a:latin typeface="Times New Roman" panose="02020603050405020304" pitchFamily="18" charset="0"/>
                <a:cs typeface="Times New Roman" panose="02020603050405020304" pitchFamily="18" charset="0"/>
              </a:rPr>
              <a:t>đối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tâm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mua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FTAI. </a:t>
            </a:r>
            <a:r>
              <a:rPr lang="en-US" sz="1600" dirty="0" err="1">
                <a:latin typeface="Times New Roman" panose="02020603050405020304" pitchFamily="18" charset="0"/>
                <a:cs typeface="Times New Roman" panose="02020603050405020304" pitchFamily="18" charset="0"/>
              </a:rPr>
              <a:t>Thủ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tục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chậm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tiếp</a:t>
            </a:r>
            <a:r>
              <a:rPr lang="en-US" sz="1600" dirty="0">
                <a:latin typeface="Times New Roman" panose="02020603050405020304" pitchFamily="18" charset="0"/>
                <a:cs typeface="Times New Roman" panose="02020603050405020304" pitchFamily="18" charset="0"/>
              </a:rPr>
              <a:t> 3 </a:t>
            </a:r>
            <a:r>
              <a:rPr lang="en-US" sz="1600" dirty="0" err="1">
                <a:latin typeface="Times New Roman" panose="02020603050405020304" pitchFamily="18" charset="0"/>
                <a:cs typeface="Times New Roman" panose="02020603050405020304" pitchFamily="18" charset="0"/>
              </a:rPr>
              <a:t>tháng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30/06/2025.</a:t>
            </a:r>
          </a:p>
          <a:p>
            <a:pPr lvl="0" algn="just">
              <a:lnSpc>
                <a:spcPct val="150000"/>
              </a:lnSpc>
            </a:pPr>
            <a:r>
              <a:rPr lang="en-US" sz="1600" dirty="0">
                <a:latin typeface="Times New Roman" panose="02020603050405020304" pitchFamily="18" charset="0"/>
                <a:cs typeface="Times New Roman" panose="02020603050405020304" pitchFamily="18" charset="0"/>
              </a:rPr>
              <a:t>1,  Arena: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trung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bình</a:t>
            </a:r>
            <a:r>
              <a:rPr lang="en-US" sz="1600" dirty="0">
                <a:latin typeface="Times New Roman" panose="02020603050405020304" pitchFamily="18" charset="0"/>
                <a:cs typeface="Times New Roman" panose="02020603050405020304" pitchFamily="18" charset="0"/>
              </a:rPr>
              <a:t> 5 </a:t>
            </a:r>
            <a:r>
              <a:rPr lang="en-US" sz="1600" dirty="0" err="1">
                <a:latin typeface="Times New Roman" panose="02020603050405020304" pitchFamily="18" charset="0"/>
                <a:cs typeface="Times New Roman" panose="02020603050405020304" pitchFamily="18" charset="0"/>
              </a:rPr>
              <a:t>năm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nội</a:t>
            </a:r>
            <a:r>
              <a:rPr lang="en-US" sz="1600" dirty="0">
                <a:latin typeface="Times New Roman" panose="02020603050405020304" pitchFamily="18" charset="0"/>
                <a:cs typeface="Times New Roman" panose="02020603050405020304" pitchFamily="18" charset="0"/>
              </a:rPr>
              <a:t> dung </a:t>
            </a:r>
            <a:r>
              <a:rPr lang="en-US" sz="1600" dirty="0" err="1">
                <a:latin typeface="Times New Roman" panose="02020603050405020304" pitchFamily="18" charset="0"/>
                <a:cs typeface="Times New Roman" panose="02020603050405020304" pitchFamily="18" charset="0"/>
              </a:rPr>
              <a:t>liên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KT</a:t>
            </a:r>
          </a:p>
          <a:p>
            <a:pPr lvl="0" algn="just">
              <a:lnSpc>
                <a:spcPct val="150000"/>
              </a:lnSpc>
            </a:pP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vấn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lớn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xuất</a:t>
            </a:r>
            <a:r>
              <a:rPr lang="en-US" sz="1600" dirty="0">
                <a:latin typeface="Times New Roman" panose="02020603050405020304" pitchFamily="18" charset="0"/>
                <a:cs typeface="Times New Roman" panose="02020603050405020304" pitchFamily="18" charset="0"/>
              </a:rPr>
              <a:t>:</a:t>
            </a:r>
          </a:p>
          <a:p>
            <a:pPr lvl="1" algn="just">
              <a:lnSpc>
                <a:spcPct val="150000"/>
              </a:lnSpc>
            </a:pPr>
            <a:r>
              <a:rPr lang="en-US" sz="1600" dirty="0">
                <a:latin typeface="Times New Roman" panose="02020603050405020304" pitchFamily="18" charset="0"/>
                <a:cs typeface="Times New Roman" panose="02020603050405020304" pitchFamily="18" charset="0"/>
              </a:rPr>
              <a:t>a.  </a:t>
            </a:r>
            <a:r>
              <a:rPr lang="vi-VN" sz="1600" dirty="0">
                <a:latin typeface="Times New Roman" panose="02020603050405020304" pitchFamily="18" charset="0"/>
                <a:cs typeface="Times New Roman" panose="02020603050405020304" pitchFamily="18" charset="0"/>
              </a:rPr>
              <a:t>10 tàu bay cần được duy trì khả năng khai thác sau khi hết hợp đồng gia hạn với Arena.</a:t>
            </a:r>
          </a:p>
          <a:p>
            <a:pPr lvl="1" algn="just">
              <a:lnSpc>
                <a:spcPct val="150000"/>
              </a:lnSpc>
            </a:pPr>
            <a:r>
              <a:rPr lang="en-US" sz="1600" dirty="0">
                <a:latin typeface="Times New Roman" panose="02020603050405020304" pitchFamily="18" charset="0"/>
                <a:cs typeface="Times New Roman" panose="02020603050405020304" pitchFamily="18" charset="0"/>
              </a:rPr>
              <a:t>b.  </a:t>
            </a:r>
            <a:r>
              <a:rPr lang="vi-VN" sz="1600" dirty="0">
                <a:latin typeface="Times New Roman" panose="02020603050405020304" pitchFamily="18" charset="0"/>
                <a:cs typeface="Times New Roman" panose="02020603050405020304" pitchFamily="18" charset="0"/>
              </a:rPr>
              <a:t>Thực hiện balancing quỹ bảo dưỡng sau khi kết thúc gia hạn thuê.</a:t>
            </a:r>
          </a:p>
          <a:p>
            <a:pPr lvl="1" algn="just">
              <a:lnSpc>
                <a:spcPct val="150000"/>
              </a:lnSpc>
            </a:pPr>
            <a:r>
              <a:rPr lang="en-US" sz="1600" dirty="0">
                <a:latin typeface="Times New Roman" panose="02020603050405020304" pitchFamily="18" charset="0"/>
                <a:cs typeface="Times New Roman" panose="02020603050405020304" pitchFamily="18" charset="0"/>
              </a:rPr>
              <a:t>c.  </a:t>
            </a:r>
            <a:r>
              <a:rPr lang="vi-VN" sz="1600" dirty="0">
                <a:latin typeface="Times New Roman" panose="02020603050405020304" pitchFamily="18" charset="0"/>
                <a:cs typeface="Times New Roman" panose="02020603050405020304" pitchFamily="18" charset="0"/>
              </a:rPr>
              <a:t>Đồng ý giảm MR và đề xuất phương án buy-out</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cho </a:t>
            </a:r>
            <a:r>
              <a:rPr lang="en-US" sz="1600" dirty="0" err="1">
                <a:latin typeface="Times New Roman" panose="02020603050405020304" pitchFamily="18" charset="0"/>
                <a:cs typeface="Times New Roman" panose="02020603050405020304" pitchFamily="18" charset="0"/>
              </a:rPr>
              <a:t>một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điều kiện trả</a:t>
            </a:r>
            <a:r>
              <a:rPr lang="en-US" sz="1600" dirty="0">
                <a:latin typeface="Times New Roman" panose="02020603050405020304" pitchFamily="18" charset="0"/>
                <a:cs typeface="Times New Roman" panose="02020603050405020304" pitchFamily="18" charset="0"/>
              </a:rPr>
              <a:t>.</a:t>
            </a:r>
          </a:p>
          <a:p>
            <a:pPr algn="just">
              <a:lnSpc>
                <a:spcPct val="150000"/>
              </a:lnSpc>
            </a:pPr>
            <a:r>
              <a:rPr lang="en-US" sz="1600" dirty="0">
                <a:latin typeface="Times New Roman" panose="02020603050405020304" pitchFamily="18" charset="0"/>
                <a:cs typeface="Times New Roman" panose="02020603050405020304" pitchFamily="18" charset="0"/>
              </a:rPr>
              <a:t>2,  FTAI: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As-is,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đảm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hỗ</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run-out.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đóng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quỹ</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ngoại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thuận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VNA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p>
          <a:p>
            <a:pPr algn="just">
              <a:lnSpc>
                <a:spcPct val="150000"/>
              </a:lnSpc>
            </a:pPr>
            <a:r>
              <a:rPr lang="en-US" sz="1600" b="1" dirty="0" err="1">
                <a:latin typeface="Times New Roman" panose="02020603050405020304" pitchFamily="18" charset="0"/>
                <a:cs typeface="Times New Roman" panose="02020603050405020304" pitchFamily="18" charset="0"/>
              </a:rPr>
              <a:t>Đã</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có</a:t>
            </a:r>
            <a:r>
              <a:rPr lang="en-US" sz="1600" b="1" dirty="0">
                <a:latin typeface="Times New Roman" panose="02020603050405020304" pitchFamily="18" charset="0"/>
                <a:cs typeface="Times New Roman" panose="02020603050405020304" pitchFamily="18" charset="0"/>
              </a:rPr>
              <a:t> 2 </a:t>
            </a:r>
            <a:r>
              <a:rPr lang="en-US" sz="1600" b="1" dirty="0" err="1">
                <a:latin typeface="Times New Roman" panose="02020603050405020304" pitchFamily="18" charset="0"/>
                <a:cs typeface="Times New Roman" panose="02020603050405020304" pitchFamily="18" charset="0"/>
              </a:rPr>
              <a:t>đối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thực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hiện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liệu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phục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vụ</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công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bán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của</a:t>
            </a:r>
            <a:r>
              <a:rPr lang="en-US" sz="1600" b="1" dirty="0">
                <a:latin typeface="Times New Roman" panose="02020603050405020304" pitchFamily="18" charset="0"/>
                <a:cs typeface="Times New Roman" panose="02020603050405020304" pitchFamily="18" charset="0"/>
              </a:rPr>
              <a:t> VALC </a:t>
            </a:r>
            <a:r>
              <a:rPr lang="en-US" sz="1600" b="1" dirty="0" err="1">
                <a:latin typeface="Times New Roman" panose="02020603050405020304" pitchFamily="18" charset="0"/>
                <a:cs typeface="Times New Roman" panose="02020603050405020304" pitchFamily="18" charset="0"/>
              </a:rPr>
              <a:t>là</a:t>
            </a:r>
            <a:r>
              <a:rPr lang="en-US" sz="1600" b="1" dirty="0">
                <a:latin typeface="Times New Roman" panose="02020603050405020304" pitchFamily="18" charset="0"/>
                <a:cs typeface="Times New Roman" panose="02020603050405020304" pitchFamily="18" charset="0"/>
              </a:rPr>
              <a:t> Arena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a:latin typeface="Times New Roman" panose="02020603050405020304" pitchFamily="18" charset="0"/>
                <a:cs typeface="Times New Roman" panose="02020603050405020304" pitchFamily="18" charset="0"/>
              </a:rPr>
              <a:t>XAero</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đối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này</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đã</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xong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liệu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05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VN-A397(VAECO-HCM)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VN-A338/A392/A395/A604(VAECO-HAN</a:t>
            </a:r>
            <a:r>
              <a:rPr lang="en-US" sz="1600" b="1">
                <a:latin typeface="Times New Roman" panose="02020603050405020304" pitchFamily="18" charset="0"/>
                <a:cs typeface="Times New Roman" panose="02020603050405020304" pitchFamily="18" charset="0"/>
              </a:rPr>
              <a:t>)). </a:t>
            </a:r>
            <a:endParaRPr sz="1600" b="1" dirty="0">
              <a:solidFill>
                <a:srgbClr val="006880"/>
              </a:solidFill>
              <a:latin typeface="Times New Roman" panose="02020603050405020304" pitchFamily="18" charset="0"/>
              <a:cs typeface="Times New Roman" panose="02020603050405020304" pitchFamily="18" charset="0"/>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40</a:t>
            </a:fld>
            <a:endParaRPr/>
          </a:p>
        </p:txBody>
      </p:sp>
    </p:spTree>
    <p:extLst>
      <p:ext uri="{BB962C8B-B14F-4D97-AF65-F5344CB8AC3E}">
        <p14:creationId xmlns:p14="http://schemas.microsoft.com/office/powerpoint/2010/main" val="38050711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41</a:t>
            </a:fld>
            <a:endParaRPr lang="en-US"/>
          </a:p>
        </p:txBody>
      </p:sp>
      <p:sp>
        <p:nvSpPr>
          <p:cNvPr id="5" name="Title 4"/>
          <p:cNvSpPr>
            <a:spLocks noGrp="1"/>
          </p:cNvSpPr>
          <p:nvPr>
            <p:ph type="title"/>
          </p:nvPr>
        </p:nvSpPr>
        <p:spPr>
          <a:xfrm>
            <a:off x="228600" y="2286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0F57D65-7805-B24D-1A96-BF3E84637B21}"/>
              </a:ext>
            </a:extLst>
          </p:cNvPr>
          <p:cNvGraphicFramePr>
            <a:graphicFrameLocks noGrp="1"/>
          </p:cNvGraphicFramePr>
          <p:nvPr>
            <p:extLst>
              <p:ext uri="{D42A27DB-BD31-4B8C-83A1-F6EECF244321}">
                <p14:modId xmlns:p14="http://schemas.microsoft.com/office/powerpoint/2010/main" val="396674124"/>
              </p:ext>
            </p:extLst>
          </p:nvPr>
        </p:nvGraphicFramePr>
        <p:xfrm>
          <a:off x="320118" y="2690452"/>
          <a:ext cx="11708093" cy="4078237"/>
        </p:xfrm>
        <a:graphic>
          <a:graphicData uri="http://schemas.openxmlformats.org/drawingml/2006/table">
            <a:tbl>
              <a:tblPr/>
              <a:tblGrid>
                <a:gridCol w="212543">
                  <a:extLst>
                    <a:ext uri="{9D8B030D-6E8A-4147-A177-3AD203B41FA5}">
                      <a16:colId xmlns:a16="http://schemas.microsoft.com/office/drawing/2014/main" val="3395604806"/>
                    </a:ext>
                  </a:extLst>
                </a:gridCol>
                <a:gridCol w="1352544">
                  <a:extLst>
                    <a:ext uri="{9D8B030D-6E8A-4147-A177-3AD203B41FA5}">
                      <a16:colId xmlns:a16="http://schemas.microsoft.com/office/drawing/2014/main" val="2504808571"/>
                    </a:ext>
                  </a:extLst>
                </a:gridCol>
                <a:gridCol w="431526">
                  <a:extLst>
                    <a:ext uri="{9D8B030D-6E8A-4147-A177-3AD203B41FA5}">
                      <a16:colId xmlns:a16="http://schemas.microsoft.com/office/drawing/2014/main" val="3858393853"/>
                    </a:ext>
                  </a:extLst>
                </a:gridCol>
                <a:gridCol w="527421">
                  <a:extLst>
                    <a:ext uri="{9D8B030D-6E8A-4147-A177-3AD203B41FA5}">
                      <a16:colId xmlns:a16="http://schemas.microsoft.com/office/drawing/2014/main" val="1971462064"/>
                    </a:ext>
                  </a:extLst>
                </a:gridCol>
                <a:gridCol w="6077323">
                  <a:extLst>
                    <a:ext uri="{9D8B030D-6E8A-4147-A177-3AD203B41FA5}">
                      <a16:colId xmlns:a16="http://schemas.microsoft.com/office/drawing/2014/main" val="596523797"/>
                    </a:ext>
                  </a:extLst>
                </a:gridCol>
                <a:gridCol w="528136">
                  <a:extLst>
                    <a:ext uri="{9D8B030D-6E8A-4147-A177-3AD203B41FA5}">
                      <a16:colId xmlns:a16="http://schemas.microsoft.com/office/drawing/2014/main" val="1710758584"/>
                    </a:ext>
                  </a:extLst>
                </a:gridCol>
                <a:gridCol w="689154">
                  <a:extLst>
                    <a:ext uri="{9D8B030D-6E8A-4147-A177-3AD203B41FA5}">
                      <a16:colId xmlns:a16="http://schemas.microsoft.com/office/drawing/2014/main" val="227531442"/>
                    </a:ext>
                  </a:extLst>
                </a:gridCol>
                <a:gridCol w="1522327">
                  <a:extLst>
                    <a:ext uri="{9D8B030D-6E8A-4147-A177-3AD203B41FA5}">
                      <a16:colId xmlns:a16="http://schemas.microsoft.com/office/drawing/2014/main" val="1180511121"/>
                    </a:ext>
                  </a:extLst>
                </a:gridCol>
                <a:gridCol w="367119">
                  <a:extLst>
                    <a:ext uri="{9D8B030D-6E8A-4147-A177-3AD203B41FA5}">
                      <a16:colId xmlns:a16="http://schemas.microsoft.com/office/drawing/2014/main" val="3220739837"/>
                    </a:ext>
                  </a:extLst>
                </a:gridCol>
              </a:tblGrid>
              <a:tr h="212402">
                <a:tc gridSpan="9">
                  <a:txBody>
                    <a:bodyPr/>
                    <a:lstStyle/>
                    <a:p>
                      <a:pPr algn="ctr" fontAlgn="ctr"/>
                      <a:r>
                        <a:rPr lang="vi-VN" sz="1100" b="1" i="0" u="none" strike="noStrike">
                          <a:solidFill>
                            <a:srgbClr val="000000"/>
                          </a:solidFill>
                          <a:effectLst/>
                          <a:latin typeface="Times New Roman" panose="02020603050405020304" pitchFamily="18" charset="0"/>
                        </a:rPr>
                        <a:t>BẢNG TỔNG HỢP VÀ THEO DÕI NHÂN NHƯỢNG - VIETNAM AIRLINES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20348431"/>
                  </a:ext>
                </a:extLst>
              </a:tr>
              <a:tr h="332882">
                <a:tc>
                  <a:txBody>
                    <a:bodyPr/>
                    <a:lstStyle/>
                    <a:p>
                      <a:pPr algn="ctr" fontAlgn="ctr"/>
                      <a:r>
                        <a:rPr lang="en-US" sz="1100" b="1" i="0" u="none" strike="noStrike">
                          <a:solidFill>
                            <a:srgbClr val="000000"/>
                          </a:solidFill>
                          <a:effectLst/>
                          <a:latin typeface="Times New Roman" panose="02020603050405020304" pitchFamily="18" charset="0"/>
                        </a:rPr>
                        <a:t>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Concession 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Type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Reg</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Description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By</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ADD/CHK/Task 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Status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458353"/>
                  </a:ext>
                </a:extLst>
              </a:tr>
              <a:tr h="212402">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877-02/25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A877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B026-GALLEY AIR CHILLER SYS INOP IS RAISE IAW MEL 21-53-01-01 CAT C. EXP 02/03/2025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3-Mar-2025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B206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3435531"/>
                  </a:ext>
                </a:extLst>
              </a:tr>
              <a:tr h="262486">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HVN/VN-A604/2025-03-03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A604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B1783: FLAP TRACK FIXED FAIRING 633EB SEAL DAMAGED IS RAISED REF CDL 27-15 REV 02 OCT 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3-Mar-2025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B1783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2018178"/>
                  </a:ext>
                </a:extLst>
              </a:tr>
              <a:tr h="408679">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HVN/VN-A336/2025-03-03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A336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B1687: SEAL AT R/H FLAP FIX FAIRING #3 PARTIALLY DAMAGED IS RAISED REF CDL 27-15 REV 02 OCT 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3-Mar-2025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B1687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1273514"/>
                  </a:ext>
                </a:extLst>
              </a:tr>
              <a:tr h="261886">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HVN/VN-A395/2025-03-03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A395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B1600: SEAL AT LH WING FIXED FAIRING 533EB DAMAGED IS RAISED REF CDL 27-15 REV 02 OCT 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3-Mar-2025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B1600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4017354"/>
                  </a:ext>
                </a:extLst>
              </a:tr>
              <a:tr h="277540">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HVN/VN-A398/2025-03-03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A398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B1718:" RAIN REPELLENT SYS CONSIDER INOP DUE TO NEEDLE AT YELLOW BAND" REF MEL MEL 30-45-03A, CAT 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3-Mar-2025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B1718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1817361"/>
                  </a:ext>
                </a:extLst>
              </a:tr>
              <a:tr h="424043">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HVN/VN-A621/2025-02-28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B528, B529, B530, B531, B532 WAS RAISED “SEAL OF FLAP TRACK 631EB, 531EB, 533EB, 632EB, 633EB FIXED FAIRING DAMAGED” REFER TO CDL 27-15, D/L9339.58 FH;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3-Mar-2025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B528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3950850"/>
                  </a:ext>
                </a:extLst>
              </a:tr>
              <a:tr h="242251">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877-03/25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TASK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A877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AMP group tasks for check A01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4-Mar-2025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 Check A01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2345814"/>
                  </a:ext>
                </a:extLst>
              </a:tr>
              <a:tr h="545766">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867-02/25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TASK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A877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Due  to  the LACK OF SPARES, the  schedule  to perform AMP  task 21-071-00 Restore (off </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aircraft) the Primary /  Secondary Air Conditioning  Pack, Power Electronics  Cooling System </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(PECS)  and  Forward  Cargo  Air Conditioning  (FCAC)  HEAT  EXCHANGERS by  replacing </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the capacitor need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4-Mar-2025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AMP TASK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560859"/>
                  </a:ext>
                </a:extLst>
              </a:tr>
              <a:tr h="224068">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HVN/VN-A339/2025-03-07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A339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B1366:" RAIN REPELLENT SYS CONSIDER INOP DUE TO IN YELLOW BAND" REF MEL MEL 30-45-03A, CAT 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7-Mar-2025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ADD B1366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460289"/>
                  </a:ext>
                </a:extLst>
              </a:tr>
              <a:tr h="223522">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896-01/25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A896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Due t o the impact of changes Maintenance Schedule, schedule of A896 Group tasks A05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08/03/2025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3748003"/>
                  </a:ext>
                </a:extLst>
              </a:tr>
              <a:tr h="424043">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862-01/25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A862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Due to LACK OF RESOURCES, schedule of group tasks for check A07 for VN-A862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07/03/2025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5184625"/>
                  </a:ext>
                </a:extLst>
              </a:tr>
            </a:tbl>
          </a:graphicData>
        </a:graphic>
      </p:graphicFrame>
      <p:graphicFrame>
        <p:nvGraphicFramePr>
          <p:cNvPr id="8" name="Chart 7">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676719070"/>
              </p:ext>
            </p:extLst>
          </p:nvPr>
        </p:nvGraphicFramePr>
        <p:xfrm>
          <a:off x="3889392" y="735331"/>
          <a:ext cx="4004481" cy="177927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77956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118.04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394:25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211:05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901:15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665:30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502:20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262:40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225:35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126.35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395:05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822:50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523:40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1" name="Chart 10"/>
          <p:cNvGraphicFramePr>
            <a:graphicFrameLocks/>
          </p:cNvGraphicFramePr>
          <p:nvPr/>
        </p:nvGraphicFramePr>
        <p:xfrm>
          <a:off x="1059507" y="990600"/>
          <a:ext cx="10370491" cy="264386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87757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04-Mar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05-Mar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06-Mar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07-Mar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08-Mar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09-Mar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9" name="Chart 8"/>
          <p:cNvGraphicFramePr>
            <a:graphicFrameLocks/>
          </p:cNvGraphicFramePr>
          <p:nvPr/>
        </p:nvGraphicFramePr>
        <p:xfrm>
          <a:off x="925417" y="1143001"/>
          <a:ext cx="10521107" cy="220535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768884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nvGraphicFramePr>
        <p:xfrm>
          <a:off x="983673" y="1295400"/>
          <a:ext cx="10674927" cy="5105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419161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vật tư cho hỏng hóc trên đội bay</a:t>
            </a: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Tàu AOG: NIL</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hình tàu check: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không có vướng mắc</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ảnh hưởng khai thác: Không có vướng mắc vật tư</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B defect hết hạn trong 10 ngày:</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682363" y="2332463"/>
            <a:ext cx="10334625" cy="2981325"/>
          </a:xfrm>
          <a:prstGeom prst="rect">
            <a:avLst/>
          </a:prstGeom>
          <a:noFill/>
          <a:ln>
            <a:noFill/>
          </a:ln>
        </p:spPr>
      </p:pic>
    </p:spTree>
    <p:extLst>
      <p:ext uri="{BB962C8B-B14F-4D97-AF65-F5344CB8AC3E}">
        <p14:creationId xmlns:p14="http://schemas.microsoft.com/office/powerpoint/2010/main" val="153969149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46</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67" name="Google Shape;167;g31ccdae391d_0_271"/>
          <p:cNvGraphicFramePr/>
          <p:nvPr/>
        </p:nvGraphicFramePr>
        <p:xfrm>
          <a:off x="489114" y="611396"/>
          <a:ext cx="11570675" cy="420320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NIL, đang giục RO (gửi VAECO)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NIL, đang giục RO (gửi VAECO)</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4ea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6562173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74" name="Google Shape;17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47</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75" name="Google Shape;175;g31ccdae391d_0_278"/>
          <p:cNvGraphicFramePr/>
          <p:nvPr/>
        </p:nvGraphicFramePr>
        <p:xfrm>
          <a:off x="558675" y="462325"/>
          <a:ext cx="10287000" cy="6299034"/>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 không có stock, đã upgrade AOG nhưng chưa có dự kiến</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ST đang ship 2ea về kho pool dự phòng</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 3RO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77505188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82" name="Google Shape;18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48</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83" name="Google Shape;183;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NIL</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và PO mua 3ea từ OEM Safran</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5224289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1ccdae391d_0_292"/>
          <p:cNvSpPr txBox="1">
            <a:spLocks noGrp="1"/>
          </p:cNvSpPr>
          <p:nvPr>
            <p:ph type="title"/>
          </p:nvPr>
        </p:nvSpPr>
        <p:spPr>
          <a:xfrm>
            <a:off x="414739" y="5334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VƯỚNG MẮC VẬT TƯ VAECO</a:t>
            </a:r>
            <a:endParaRPr sz="2800">
              <a:solidFill>
                <a:srgbClr val="FFC000"/>
              </a:solidFill>
              <a:latin typeface="Times New Roman"/>
              <a:ea typeface="Times New Roman"/>
              <a:cs typeface="Times New Roman"/>
              <a:sym typeface="Times New Roman"/>
            </a:endParaRPr>
          </a:p>
        </p:txBody>
      </p:sp>
      <p:sp>
        <p:nvSpPr>
          <p:cNvPr id="190" name="Google Shape;190;g31ccdae391d_0_29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49</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91" name="Google Shape;191;g31ccdae391d_0_292"/>
          <p:cNvGraphicFramePr/>
          <p:nvPr/>
        </p:nvGraphicFramePr>
        <p:xfrm>
          <a:off x="414739" y="1604714"/>
          <a:ext cx="11570675" cy="182356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29625">
                  <a:extLst>
                    <a:ext uri="{9D8B030D-6E8A-4147-A177-3AD203B41FA5}">
                      <a16:colId xmlns:a16="http://schemas.microsoft.com/office/drawing/2014/main" val="20001"/>
                    </a:ext>
                  </a:extLst>
                </a:gridCol>
                <a:gridCol w="1269800">
                  <a:extLst>
                    <a:ext uri="{9D8B030D-6E8A-4147-A177-3AD203B41FA5}">
                      <a16:colId xmlns:a16="http://schemas.microsoft.com/office/drawing/2014/main" val="20002"/>
                    </a:ext>
                  </a:extLst>
                </a:gridCol>
                <a:gridCol w="4068475">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FF0000"/>
                          </a:solidFill>
                          <a:latin typeface="Times New Roman"/>
                          <a:ea typeface="Times New Roman"/>
                          <a:cs typeface="Times New Roman"/>
                          <a:sym typeface="Times New Roman"/>
                        </a:rPr>
                        <a:t>A321 – VAECO</a:t>
                      </a:r>
                      <a:endParaRPr sz="14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1</a:t>
                      </a:r>
                      <a:endParaRPr sz="1150"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BELOW</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D2157160120000</a:t>
                      </a:r>
                      <a:endParaRPr sz="1150" u="none" strike="noStrike" cap="none">
                        <a:solidFill>
                          <a:schemeClr val="dk1"/>
                        </a:solidFill>
                        <a:highlight>
                          <a:srgbClr val="FFFFFF"/>
                        </a:highlight>
                        <a:latin typeface="Times New Roman"/>
                        <a:ea typeface="Times New Roman"/>
                        <a:cs typeface="Times New Roman"/>
                        <a:sym typeface="Times New Roman"/>
                      </a:endParaRPr>
                    </a:p>
                    <a:p>
                      <a:pPr marL="0" marR="0" lvl="0" indent="0" algn="l" rtl="0">
                        <a:spcBef>
                          <a:spcPts val="0"/>
                        </a:spcBef>
                        <a:spcAft>
                          <a:spcPts val="0"/>
                        </a:spcAft>
                        <a:buClr>
                          <a:schemeClr val="dk1"/>
                        </a:buClr>
                        <a:buSzPts val="1150"/>
                        <a:buFont typeface="Arial"/>
                        <a:buNone/>
                      </a:pPr>
                      <a:r>
                        <a:rPr lang="en-US" sz="1150" u="none" strike="noStrike" cap="none">
                          <a:solidFill>
                            <a:schemeClr val="dk1"/>
                          </a:solidFill>
                          <a:highlight>
                            <a:schemeClr val="lt1"/>
                          </a:highlight>
                          <a:latin typeface="Times New Roman"/>
                          <a:ea typeface="Times New Roman"/>
                          <a:cs typeface="Times New Roman"/>
                          <a:sym typeface="Times New Roman"/>
                        </a:rPr>
                        <a:t>D2157160000000</a:t>
                      </a:r>
                      <a:endParaRPr sz="1150" u="none" strike="noStrike" cap="none">
                        <a:solidFill>
                          <a:schemeClr val="dk1"/>
                        </a:solidFill>
                        <a:highlight>
                          <a:srgbClr val="FFFFFF"/>
                        </a:highlight>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gây A359 AOG hỏng Bellow của hệ thống Pack. Các tàu trong check có task kiểm tra hệ thống Pack đều phát hiện ra hỏng Bellow. Ngoài ra, Ban KT triển khai việc kiểm tra chủ động nhưng Airbus không cấp được hàng.</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VAECO vẫn mua dự phòng nhưng gần đây Airbus cấp hàng chậm.</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Tình trạng:</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D2157160120000 stock 5ea</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D2157160000000 stock 3EA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Arial"/>
                        <a:buChar char="-"/>
                      </a:pPr>
                      <a:r>
                        <a:rPr lang="en-US" sz="1150" u="none" strike="noStrike" cap="none">
                          <a:solidFill>
                            <a:schemeClr val="dk1"/>
                          </a:solidFill>
                          <a:latin typeface="Times New Roman"/>
                          <a:ea typeface="Times New Roman"/>
                          <a:cs typeface="Times New Roman"/>
                          <a:sym typeface="Times New Roman"/>
                        </a:rPr>
                        <a:t>Ban QLVT đã hỗ trợ claim Airbus đồng thời tìm kiếm nguồn cung ứng giúp VAECO tuy nhiên việc cung ứng vẫn rất khó khăn do thiếu raw materials, Airbus chỉ cấp hàng AOG và chưa đồng ý cấp cho chương trình đánh chặn. Hiện Airbus chưa có dự kiến ngày ship</a:t>
                      </a:r>
                      <a:endParaRPr sz="115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3831576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8" name="Google Shape;198;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99" name="Google Shape;199;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28 đơn hàng quá hạn trong tổng số 42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overdue 16 LO / total  18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overdue 12 EO / total 24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00" name="Google Shape;200;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01" name="Google Shape;201;g31ccdae391d_0_299"/>
          <p:cNvPicPr preferRelativeResize="0"/>
          <p:nvPr/>
        </p:nvPicPr>
        <p:blipFill>
          <a:blip r:embed="rId3">
            <a:alphaModFix/>
          </a:blip>
          <a:stretch>
            <a:fillRect/>
          </a:stretch>
        </p:blipFill>
        <p:spPr>
          <a:xfrm>
            <a:off x="2105025" y="1686299"/>
            <a:ext cx="7561649" cy="4595450"/>
          </a:xfrm>
          <a:prstGeom prst="rect">
            <a:avLst/>
          </a:prstGeom>
          <a:noFill/>
          <a:ln>
            <a:noFill/>
          </a:ln>
        </p:spPr>
      </p:pic>
    </p:spTree>
    <p:extLst>
      <p:ext uri="{BB962C8B-B14F-4D97-AF65-F5344CB8AC3E}">
        <p14:creationId xmlns:p14="http://schemas.microsoft.com/office/powerpoint/2010/main" val="29522381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8" name="Google Shape;208;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51</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09" name="Google Shape;209;g31ccdae391d_0_308"/>
          <p:cNvGraphicFramePr/>
          <p:nvPr/>
        </p:nvGraphicFramePr>
        <p:xfrm>
          <a:off x="607288" y="787650"/>
          <a:ext cx="11227800" cy="438002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01ea in stock + 01ea Vip kit</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EDD 17Mar2025.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+ 04ea chưa có EDD.</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- 01ea dự phòng in stock.</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in stock.</a:t>
                      </a:r>
                      <a:endParaRPr sz="1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PO  EDD 10/2025.</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6632854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6" name="Google Shape;216;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52</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17" name="Google Shape;217;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Một</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số</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PTVT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PTVT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thay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VFSG, GPM, NSG, CAC, Pump Pack, FMU, GWIV,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Tailcone</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light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hóc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rất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sub card led).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Hỏng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hóc</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ảnh</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hưởng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A861</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A862, A879 - Brake worn to limit: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03ea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Phanh</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stock, 01ea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SGN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10/03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ea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15/3</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A873, A879 -  CARGO HANDLING SYS INOP: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yêu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MCDU,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01ea release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tuần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11.</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p:txBody>
      </p:sp>
      <p:pic>
        <p:nvPicPr>
          <p:cNvPr id="3" name="Picture 2"/>
          <p:cNvPicPr>
            <a:picLocks noChangeAspect="1"/>
          </p:cNvPicPr>
          <p:nvPr/>
        </p:nvPicPr>
        <p:blipFill>
          <a:blip r:embed="rId3"/>
          <a:stretch>
            <a:fillRect/>
          </a:stretch>
        </p:blipFill>
        <p:spPr>
          <a:xfrm>
            <a:off x="1181100" y="2821843"/>
            <a:ext cx="9829800" cy="3638550"/>
          </a:xfrm>
          <a:prstGeom prst="rect">
            <a:avLst/>
          </a:prstGeom>
        </p:spPr>
      </p:pic>
    </p:spTree>
    <p:extLst>
      <p:ext uri="{BB962C8B-B14F-4D97-AF65-F5344CB8AC3E}">
        <p14:creationId xmlns:p14="http://schemas.microsoft.com/office/powerpoint/2010/main" val="93031241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5" name="Google Shape;225;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26" name="Google Shape;226;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33 đơn hàng quá hạn trong tổng số 36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OSS: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07 overdue LO / total 07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26 overdue EO / total  29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trạng đơn hàng pool trong 4 tuần gần nhất:</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27" name="Google Shape;227;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28" name="Google Shape;228;g31ccdae391d_0_323"/>
          <p:cNvPicPr preferRelativeResize="0"/>
          <p:nvPr/>
        </p:nvPicPr>
        <p:blipFill>
          <a:blip r:embed="rId3">
            <a:alphaModFix/>
          </a:blip>
          <a:stretch>
            <a:fillRect/>
          </a:stretch>
        </p:blipFill>
        <p:spPr>
          <a:xfrm>
            <a:off x="2509848" y="2093648"/>
            <a:ext cx="6541274" cy="4483376"/>
          </a:xfrm>
          <a:prstGeom prst="rect">
            <a:avLst/>
          </a:prstGeom>
          <a:noFill/>
          <a:ln>
            <a:noFill/>
          </a:ln>
        </p:spPr>
      </p:pic>
    </p:spTree>
    <p:extLst>
      <p:ext uri="{BB962C8B-B14F-4D97-AF65-F5344CB8AC3E}">
        <p14:creationId xmlns:p14="http://schemas.microsoft.com/office/powerpoint/2010/main" val="48325183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5" name="Google Shape;235;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54</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36" name="Google Shape;236;g31ccdae391d_0_332"/>
          <p:cNvGraphicFramePr/>
          <p:nvPr/>
        </p:nvGraphicFramePr>
        <p:xfrm>
          <a:off x="474783" y="301869"/>
          <a:ext cx="11561850" cy="5404125"/>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N01ea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6e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 (04ea của tàu BQ)</a:t>
                      </a:r>
                      <a:r>
                        <a:rPr lang="en-US" sz="1300">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7</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09</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02ea in</a:t>
                      </a:r>
                      <a:r>
                        <a:rPr lang="en-US" sz="1300" u="none" strike="noStrike" cap="none">
                          <a:solidFill>
                            <a:schemeClr val="dk1"/>
                          </a:solidFill>
                          <a:latin typeface="Times New Roman"/>
                          <a:ea typeface="Times New Roman"/>
                          <a:cs typeface="Times New Roman"/>
                          <a:sym typeface="Times New Roman"/>
                        </a:rPr>
                        <a:t> stock</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3</a:t>
                      </a:r>
                      <a:r>
                        <a:rPr lang="en-US" sz="1300" u="none" strike="noStrike" cap="none">
                          <a:solidFill>
                            <a:schemeClr val="dk1"/>
                          </a:solidFill>
                          <a:latin typeface="Times New Roman"/>
                          <a:ea typeface="Times New Roman"/>
                          <a:cs typeface="Times New Roman"/>
                          <a:sym typeface="Times New Roman"/>
                        </a:rPr>
                        <a:t>RO, trong đó: </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04ea EDD 10/04, 05ea 21/04</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+ 01ea EDD NIL</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+ 03ea vào shop tuần 11.</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11</a:t>
                      </a:r>
                      <a:r>
                        <a:rPr lang="en-US" sz="1300" u="none" strike="noStrike" cap="none">
                          <a:solidFill>
                            <a:schemeClr val="dk1"/>
                          </a:solidFill>
                          <a:latin typeface="Times New Roman"/>
                          <a:ea typeface="Times New Roman"/>
                          <a:cs typeface="Times New Roman"/>
                          <a:sym typeface="Times New Roman"/>
                        </a:rPr>
                        <a:t>ea in stock (10ea của tàu BQ).</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02ea Controller in stock (01ea </a:t>
                      </a:r>
                      <a:r>
                        <a:rPr lang="en-US" sz="1300" dirty="0" err="1">
                          <a:solidFill>
                            <a:schemeClr val="dk1"/>
                          </a:solidFill>
                          <a:latin typeface="Times New Roman"/>
                          <a:ea typeface="Times New Roman"/>
                          <a:cs typeface="Times New Roman"/>
                          <a:sym typeface="Times New Roman"/>
                        </a:rPr>
                        <a:t>của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5389065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3" name="Google Shape;243;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44" name="Google Shape;244;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Một số PTVT cần lưu ý:</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    Một số thiết bị pooling của OEM Honeywell liên quan hệ thống Chiller (VCRU, Motor Controler) TAT vẫn rất dài.</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thống vẫn nhiều, vẫn chưa giảm.</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Hỏng hóc ảnh hưởng cần lưu ý:</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A891 - OUTBOARD SEAL OF LH MOVEA-BLE FAIRING # 3 DAMAGED: đặt hàng Seal (Vaeco cung ứng), về Han trong tuần 11.</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A891 - SEAL OF RH MOVEABLE FAIRING # 3 DAMAGED: đã có Seal.</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A896 - UPPER LATCH ASSY OF COCKPIT DOOR BOLTING SYSTEM IS NOT FULLY LOCKED: đặt hàng Latch (Vaeco cung ứng), dự kiến release 14/03.</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A894 - INBOARD SEAL OF LH INBOARD AILERON DAMAGED: đặt hàng Seal (Vaeco cung ứng), đã nâng cấp AOG cho đơn hàng mua đang chờ Airbus cập nhật kế hoạch.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A897 - SEAL OF RH INBOARD AI-LERON DAMAGED:  đặt hàng Seal (aeco cung ứng), chờ Airbus cập nhật kế hoạch.</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2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45" name="Google Shape;245;g31ccdae391d_0_339"/>
          <p:cNvPicPr preferRelativeResize="0"/>
          <p:nvPr/>
        </p:nvPicPr>
        <p:blipFill>
          <a:blip r:embed="rId3">
            <a:alphaModFix/>
          </a:blip>
          <a:stretch>
            <a:fillRect/>
          </a:stretch>
        </p:blipFill>
        <p:spPr>
          <a:xfrm>
            <a:off x="1190625" y="4452938"/>
            <a:ext cx="9810750" cy="695325"/>
          </a:xfrm>
          <a:prstGeom prst="rect">
            <a:avLst/>
          </a:prstGeom>
          <a:noFill/>
          <a:ln>
            <a:noFill/>
          </a:ln>
        </p:spPr>
      </p:pic>
    </p:spTree>
    <p:extLst>
      <p:ext uri="{BB962C8B-B14F-4D97-AF65-F5344CB8AC3E}">
        <p14:creationId xmlns:p14="http://schemas.microsoft.com/office/powerpoint/2010/main" val="204658880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47"/>
          <p:cNvSpPr txBox="1">
            <a:spLocks noGrp="1"/>
          </p:cNvSpPr>
          <p:nvPr>
            <p:ph type="title"/>
          </p:nvPr>
        </p:nvSpPr>
        <p:spPr>
          <a:xfrm>
            <a:off x="434248" y="149858"/>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2" name="Google Shape;252;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56</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53" name="Google Shape;253;g31ccdae391d_0_347"/>
          <p:cNvGraphicFramePr/>
          <p:nvPr>
            <p:extLst>
              <p:ext uri="{D42A27DB-BD31-4B8C-83A1-F6EECF244321}">
                <p14:modId xmlns:p14="http://schemas.microsoft.com/office/powerpoint/2010/main" val="515834102"/>
              </p:ext>
            </p:extLst>
          </p:nvPr>
        </p:nvGraphicFramePr>
        <p:xfrm>
          <a:off x="439614" y="866284"/>
          <a:ext cx="11611325" cy="5666608"/>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195177">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95177">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94426">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R815505-6/-9</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94426">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735024">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735024">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97831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29618">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66131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đang vận chuyển từ Pháp về (hàng đổi)</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chưa có thông tin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80830880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0" name="Google Shape;260;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57</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61" name="Google Shape;261;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01 stock</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01ea giao SGN ngày 10/03. Dự  kiến  có  02 ea dự kiến về 15/3.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05ea in stock, 02ea sẽ ra shop VSTEA trong tuần 11.</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5 e</a:t>
                      </a:r>
                      <a:r>
                        <a:rPr lang="en-US" sz="1400" u="none" strike="noStrike" cap="none">
                          <a:latin typeface="Times New Roman"/>
                          <a:ea typeface="Times New Roman"/>
                          <a:cs typeface="Times New Roman"/>
                          <a:sym typeface="Times New Roman"/>
                        </a:rPr>
                        <a:t>a</a:t>
                      </a:r>
                      <a:r>
                        <a:rPr lang="en-US" sz="1400" u="none" strike="noStrike" cap="none">
                          <a:solidFill>
                            <a:schemeClr val="dk1"/>
                          </a:solidFill>
                          <a:latin typeface="Times New Roman"/>
                          <a:ea typeface="Times New Roman"/>
                          <a:cs typeface="Times New Roman"/>
                          <a:sym typeface="Times New Roman"/>
                        </a:rPr>
                        <a:t> dự phòng</a:t>
                      </a:r>
                      <a:r>
                        <a:rPr lang="en-US">
                          <a:solidFill>
                            <a:schemeClr val="dk1"/>
                          </a:solidFill>
                          <a:latin typeface="Times New Roman"/>
                          <a:ea typeface="Times New Roman"/>
                          <a:cs typeface="Times New Roman"/>
                          <a:sym typeface="Times New Roman"/>
                        </a:rPr>
                        <a:t>. Tuần 11 dự kiến shop vstea ra 5 ea.</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6572311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8" name="Google Shape;268;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58</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69" name="Google Shape;269;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1" i="0" u="none" strike="noStrike" kern="0" cap="none" spc="0" normalizeH="0" baseline="0" noProof="0">
                <a:ln>
                  <a:noFill/>
                </a:ln>
                <a:solidFill>
                  <a:srgbClr val="FF0000"/>
                </a:solidFill>
                <a:effectLst/>
                <a:highlight>
                  <a:srgbClr val="FFFFFF"/>
                </a:highlight>
                <a:uLnTx/>
                <a:uFillTx/>
                <a:latin typeface="Times New Roman"/>
                <a:ea typeface="Times New Roman"/>
                <a:cs typeface="Times New Roman"/>
                <a:sym typeface="Times New Roman"/>
              </a:rPr>
              <a:t>Đội bay A350:</a:t>
            </a:r>
            <a:endParaRPr kumimoji="0" sz="1500" b="1" i="0" u="none" strike="noStrike" kern="0" cap="none" spc="0" normalizeH="0" baseline="0" noProof="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dự phòng: 03ea (thuê dài hạn) &amp; 03 động cơ thuê ngắn hạn + 01 động cơ new (giao HAN 22/01).</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trong kho: 0</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động cơ đang tại shop sửa chữa: 09ea (03 động cơ 21047 và 21043 và 21317 sửa tại N3 và 02 động cơ 21422 &amp; 21269 &amp; 21201 sửa tại HAESL và 03 tại SEASL 21584, 21414 và 21604).</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•Đã thu xếp chuyển 01 core engine stand từ N3 về để swap động cơ vào tháo tiếp động cơ gửi đi shop.</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1" i="0" u="none" strike="noStrike" kern="0" cap="none" spc="0" normalizeH="0" baseline="0" noProof="0">
                <a:ln>
                  <a:noFill/>
                </a:ln>
                <a:solidFill>
                  <a:srgbClr val="FF0000"/>
                </a:solidFill>
                <a:effectLst/>
                <a:highlight>
                  <a:srgbClr val="FFFFFF"/>
                </a:highlight>
                <a:uLnTx/>
                <a:uFillTx/>
                <a:latin typeface="Times New Roman"/>
                <a:ea typeface="Times New Roman"/>
                <a:cs typeface="Times New Roman"/>
                <a:sym typeface="Times New Roman"/>
              </a:rPr>
              <a:t>- Đội bay B787:</a:t>
            </a:r>
            <a:endParaRPr kumimoji="0" sz="1500" b="1" i="0" u="none" strike="noStrike" kern="0" cap="none" spc="0" normalizeH="0" baseline="0" noProof="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dự phòng: 09ea (2 sở hữu, 2 dài hạn và 5 ngắn hạn) đã ký thêm 02 hđ thuê đc với Aercap.</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trong kho: 0.</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động cơ đang tại shop sửa chữa:</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+05 động cơ ở KLM shop : 956556, 956569, 956533, 956599 và 956947.</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+01 động cơ ở GE shop: 958398 (delay in GEEVES).</a:t>
            </a:r>
            <a:endParaRPr kumimoji="0" sz="1500" b="0" i="0" u="none" strike="noStrike" kern="0" cap="none" spc="0" normalizeH="0" baseline="0" noProof="0">
              <a:ln>
                <a:noFill/>
              </a:ln>
              <a:solidFill>
                <a:srgbClr val="000000"/>
              </a:solidFill>
              <a:effectLst/>
              <a:highlight>
                <a:srgbClr val="FFFF00"/>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Thuê động cơ đáp ứng KH sửa 2024-2025: B787 có 04 dự phòng và đang thuê 05 của Aercap (956933; 958266 và 958934 958966 và 956626) dự kiến cần thuê 01 động cơ nữa Q1 trong năm 2025.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59369870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31ccdae391d_0_368"/>
          <p:cNvSpPr txBox="1">
            <a:spLocks noGrp="1"/>
          </p:cNvSpPr>
          <p:nvPr>
            <p:ph type="title"/>
          </p:nvPr>
        </p:nvSpPr>
        <p:spPr>
          <a:xfrm>
            <a:off x="1295400" y="6858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6" name="Google Shape;276;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59</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77" name="Google Shape;277;g31ccdae391d_0_368"/>
          <p:cNvSpPr/>
          <p:nvPr/>
        </p:nvSpPr>
        <p:spPr>
          <a:xfrm>
            <a:off x="1295400" y="1219200"/>
            <a:ext cx="9753600" cy="41148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Đội bay A321 Ceo:</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13 (3 sở hữu, 10 thuê ngắn hạn)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trong kho: 03ea V17951 (HAN), V15851 (HAN), V16037 (SGN)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US chờ chuyển đi: NIL</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động cơ đang sửa tại shop: 10ea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Danh mục missing part list của động cơ sửa chữa về</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Thúc đẩy việc sửa chữa động cơ tại shop</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Làm việc với Ban KT về KH động cơ về, tháo trả.</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94727067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31ccdae391d_0_375"/>
          <p:cNvSpPr txBox="1">
            <a:spLocks noGrp="1"/>
          </p:cNvSpPr>
          <p:nvPr>
            <p:ph type="title"/>
          </p:nvPr>
        </p:nvSpPr>
        <p:spPr>
          <a:xfrm>
            <a:off x="793854" y="1891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4" name="Google Shape;284;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85" name="Google Shape;285;g31ccdae391d_0_375"/>
          <p:cNvSpPr/>
          <p:nvPr/>
        </p:nvSpPr>
        <p:spPr>
          <a:xfrm>
            <a:off x="760584" y="659682"/>
            <a:ext cx="10972200" cy="623507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Tình trạng trả động cơ thuê </a:t>
            </a:r>
            <a:r>
              <a:rPr kumimoji="0" lang="en-US" sz="1600" b="1" i="0" u="none" strike="noStrike" kern="0" cap="none" spc="0" normalizeH="0" baseline="0" noProof="0" smtClean="0">
                <a:ln>
                  <a:noFill/>
                </a:ln>
                <a:solidFill>
                  <a:srgbClr val="FF0000"/>
                </a:solidFill>
                <a:effectLst/>
                <a:uLnTx/>
                <a:uFillTx/>
                <a:latin typeface="Times New Roman"/>
                <a:ea typeface="Times New Roman"/>
                <a:cs typeface="Times New Roman"/>
                <a:sym typeface="Times New Roman"/>
              </a:rPr>
              <a:t>2024</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86" name="Google Shape;286;g31ccdae391d_0_375"/>
          <p:cNvPicPr preferRelativeResize="0"/>
          <p:nvPr/>
        </p:nvPicPr>
        <p:blipFill>
          <a:blip r:embed="rId3">
            <a:alphaModFix/>
          </a:blip>
          <a:stretch>
            <a:fillRect/>
          </a:stretch>
        </p:blipFill>
        <p:spPr>
          <a:xfrm>
            <a:off x="838657" y="1600200"/>
            <a:ext cx="10741122" cy="2795275"/>
          </a:xfrm>
          <a:prstGeom prst="rect">
            <a:avLst/>
          </a:prstGeom>
          <a:noFill/>
          <a:ln>
            <a:noFill/>
          </a:ln>
        </p:spPr>
      </p:pic>
    </p:spTree>
    <p:extLst>
      <p:ext uri="{BB962C8B-B14F-4D97-AF65-F5344CB8AC3E}">
        <p14:creationId xmlns:p14="http://schemas.microsoft.com/office/powerpoint/2010/main" val="282286876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93" name="Google Shape;293;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Đội bay A321 Neo:</a:t>
            </a:r>
            <a:endParaRPr kumimoji="0" sz="15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05ea (2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SLB), 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của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NIL.</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8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(06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ESA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IHI)</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 Eng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Q2/2025  (Willis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ELFC)</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P771075: </a:t>
            </a:r>
            <a:r>
              <a:rPr kumimoji="0" lang="en-US" sz="15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giao</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VAECO </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HAN </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08/03</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P771041: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Induct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19/3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MTU.</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Vướng</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mắc</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kéo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do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slot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lên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200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A321 NEO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trước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đây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lắp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lên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LRUs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cùng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thời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điểm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nghỉ</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lễ</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hụt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phụ</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tùng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liệu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tăng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lỗi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Rejection 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kiểm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sau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thử</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nghiệm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Giải</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pháp</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Thúc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đẩy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Tổ</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chức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họp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pháp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Ban KT, VAECO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danh</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MPL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57709038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62</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0" name="Google Shape;300;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Đội bay ATR:</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06:  03 ENG sở hữu, 03 ENG thuê ngắn hạn: (ED0321) (ED0036) (ED0715).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ED0238 đang sửa tại shop PWC tại SING.</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ED0239 đang sửa tại SA.</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 Khó khăn:</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Các shop vẫn đang gặp trình trạng thiếu part, dẫn đến TAT bị kéo dài tại cả 02 shop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Tiếp tục theo sát các động cơ đang sửa chữa tại PWC và StandardAero.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301" name="Google Shape;301;g31ccdae391d_0_389"/>
          <p:cNvPicPr preferRelativeResize="0"/>
          <p:nvPr/>
        </p:nvPicPr>
        <p:blipFill>
          <a:blip r:embed="rId3">
            <a:alphaModFix/>
          </a:blip>
          <a:stretch>
            <a:fillRect/>
          </a:stretch>
        </p:blipFill>
        <p:spPr>
          <a:xfrm>
            <a:off x="124988" y="2497275"/>
            <a:ext cx="11942026" cy="3172099"/>
          </a:xfrm>
          <a:prstGeom prst="rect">
            <a:avLst/>
          </a:prstGeom>
          <a:noFill/>
          <a:ln>
            <a:noFill/>
          </a:ln>
        </p:spPr>
      </p:pic>
    </p:spTree>
    <p:extLst>
      <p:ext uri="{BB962C8B-B14F-4D97-AF65-F5344CB8AC3E}">
        <p14:creationId xmlns:p14="http://schemas.microsoft.com/office/powerpoint/2010/main" val="45104721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8" name="Google Shape;308;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9" name="Google Shape;309;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A350: </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B787: </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Động cơ 956556 sửa tại KLM dự kiến xong 14Mar và về SGN cuối tháng 3/2025</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A321 CEO </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Động cơ về trong tháng 3: V12505 (26/03).</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l"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A321 NEO</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 P771075: </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08/03 giao VAECO HAN.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ATR:</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01 stock (ED0192).</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+ED0239 sửa chữa tại StandardAero: dự kiến release ngày 14/04/2025</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+ED0238 sửa chữa tại PWC: induct ngày 24/01/2025 và chưa có ngày về dự kiến.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22532276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6" name="Google Shape;316;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64</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17" name="Google Shape;317;g31ccdae391d_0_403"/>
          <p:cNvSpPr txBox="1"/>
          <p:nvPr/>
        </p:nvSpPr>
        <p:spPr>
          <a:xfrm>
            <a:off x="7059775" y="425750"/>
            <a:ext cx="4085700" cy="5741541"/>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A321 </a:t>
            </a:r>
            <a:endParaRPr kumimoji="0"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+STK</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00 APU. </a:t>
            </a: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3: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dk</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01ea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a:t>
            </a: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+ 04 APU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U/S:</a:t>
            </a: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03ea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chờ</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gửi</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01ea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gửi</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bảo</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hành</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AMECO (</a:t>
            </a:r>
            <a:r>
              <a:rPr kumimoji="0" lang="en-US" sz="17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đang</a:t>
            </a:r>
            <a:r>
              <a:rPr kumimoji="0" lang="en-US" sz="17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chờ</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đối</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tác</a:t>
            </a: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7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confirm).</a:t>
            </a:r>
            <a:endPar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A350</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STK: 0 </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APU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xuống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để</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gửi</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+01APU </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(P-00255)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Lufthansa,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release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11/03/2025</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1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B787 </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STK: 0 APU</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APU (PWC-Z926122)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gửi</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t>
            </a: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a:t>
            </a:r>
            <a:r>
              <a:rPr kumimoji="0" lang="en-US" sz="14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(PWC-Z925500</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PW Poland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gặp</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tình</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trạng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khăn</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chuỗi</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ứng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nên</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chưa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confirm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được</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dk</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pic>
        <p:nvPicPr>
          <p:cNvPr id="318" name="Google Shape;318;g31ccdae391d_0_403"/>
          <p:cNvPicPr preferRelativeResize="0"/>
          <p:nvPr/>
        </p:nvPicPr>
        <p:blipFill>
          <a:blip r:embed="rId3">
            <a:alphaModFix/>
          </a:blip>
          <a:stretch>
            <a:fillRect/>
          </a:stretch>
        </p:blipFill>
        <p:spPr>
          <a:xfrm>
            <a:off x="430025" y="495300"/>
            <a:ext cx="6586650" cy="5440125"/>
          </a:xfrm>
          <a:prstGeom prst="rect">
            <a:avLst/>
          </a:prstGeom>
          <a:noFill/>
          <a:ln>
            <a:noFill/>
          </a:ln>
        </p:spPr>
      </p:pic>
    </p:spTree>
    <p:extLst>
      <p:ext uri="{BB962C8B-B14F-4D97-AF65-F5344CB8AC3E}">
        <p14:creationId xmlns:p14="http://schemas.microsoft.com/office/powerpoint/2010/main" val="365872253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1_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Props1.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3.xml><?xml version="1.0" encoding="utf-8"?>
<ds:datastoreItem xmlns:ds="http://schemas.openxmlformats.org/officeDocument/2006/customXml" ds:itemID="{7CE18D4A-261A-4850-B6EF-E8D1177C057C}">
  <ds:schemaRefs>
    <ds:schemaRef ds:uri="e189f61e-1295-4779-a752-040c7fad5177"/>
    <ds:schemaRef ds:uri="http://purl.org/dc/terms/"/>
    <ds:schemaRef ds:uri="http://schemas.microsoft.com/office/2006/metadata/properties"/>
    <ds:schemaRef ds:uri="http://www.w3.org/XML/1998/namespace"/>
    <ds:schemaRef ds:uri="http://schemas.microsoft.com/office/infopath/2007/PartnerControls"/>
    <ds:schemaRef ds:uri="b6015720-aa74-4be3-ba0d-eab08776cb9b"/>
    <ds:schemaRef ds:uri="http://schemas.microsoft.com/office/2006/documentManagement/types"/>
    <ds:schemaRef ds:uri="http://schemas.openxmlformats.org/package/2006/metadata/core-propertie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73168</TotalTime>
  <Words>12116</Words>
  <Application>Microsoft Office PowerPoint</Application>
  <PresentationFormat>Widescreen</PresentationFormat>
  <Paragraphs>2616</Paragraphs>
  <Slides>65</Slides>
  <Notes>55</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65</vt:i4>
      </vt:variant>
    </vt:vector>
  </HeadingPairs>
  <TitlesOfParts>
    <vt:vector size="80" baseType="lpstr">
      <vt:lpstr>MS PGothic</vt:lpstr>
      <vt:lpstr>Arial</vt:lpstr>
      <vt:lpstr>Calibri</vt:lpstr>
      <vt:lpstr>Cambria</vt:lpstr>
      <vt:lpstr>Exo</vt:lpstr>
      <vt:lpstr>Franklin Gothic Medium Cond</vt:lpstr>
      <vt:lpstr>Montserrat</vt:lpstr>
      <vt:lpstr>Montserrat SemiBold</vt:lpstr>
      <vt:lpstr>Tahoma</vt:lpstr>
      <vt:lpstr>Times New Roman</vt:lpstr>
      <vt:lpstr>Times New Roman (Body)</vt:lpstr>
      <vt:lpstr>Wingdings</vt:lpstr>
      <vt:lpstr>16-9 MASTER TEMPLATE</vt:lpstr>
      <vt:lpstr>1_16-9 MASTER TEMPLATE</vt:lpstr>
      <vt:lpstr>Office Theme</vt:lpstr>
      <vt:lpstr>BÁO CÁO KỸ THUẬT (Tuần 10: 03/03/2025 – 09/03/2025)</vt:lpstr>
      <vt:lpstr>TỔNG HỢP AOG, DELAY VÀ GTB/ATB/DIV</vt:lpstr>
      <vt:lpstr>ATB/GTB COMPARISON</vt:lpstr>
      <vt:lpstr>CÁC SỰ KIỆN ATB/GTB/DIV</vt:lpstr>
      <vt:lpstr>CÁC SỰ KIỆN ATB/GTB/DIV</vt:lpstr>
      <vt:lpstr>CÁC SỰ KIỆN MOR</vt:lpstr>
      <vt:lpstr>PowerPoint Presentation</vt:lpstr>
      <vt:lpstr>TÌNH TRẠNG KỸ THUẬT ĐỘI BAY – A320/A321</vt:lpstr>
      <vt:lpstr>TÌNH TRẠNG KỸ THUẬT ĐỘI BAY – A320/A321</vt:lpstr>
      <vt:lpstr>TÌNH TRẠNG KỸ THUẬT ĐỘI BAY – A320/A321</vt:lpstr>
      <vt:lpstr>TÌNH TRẠNG KỸ THUẬT ĐỘI BAY – A320/A321</vt:lpstr>
      <vt:lpstr>PowerPoint Presentation</vt:lpstr>
      <vt:lpstr>TÌNH TRẠNG KỸ THUẬT ĐỘI BAY A320/ A321 </vt:lpstr>
      <vt:lpstr>TÌNH TRẠNG KỸ THUẬT ĐỘI BAY – A350</vt:lpstr>
      <vt:lpstr>PowerPoint Presentation</vt:lpstr>
      <vt:lpstr>TÌNH TRẠNG KỸ THUẬT ĐỘI BAY – B787</vt:lpstr>
      <vt:lpstr>PowerPoint Presentation</vt:lpstr>
      <vt:lpstr>PowerPoint Presentation</vt:lpstr>
      <vt:lpstr>TÌNH TRẠNG KỸ THUẬT ĐỘI BAY – ATR-72</vt:lpstr>
      <vt:lpstr>PowerPoint Presentation</vt:lpstr>
      <vt:lpstr>DISPATCH RELIABILITY W10 (03/03/2025-09/03/2025)</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 (BDĐK)</vt:lpstr>
      <vt:lpstr>PowerPoint Presentation</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TÌNH TRẠNG APU LRU A321 </vt:lpstr>
      <vt:lpstr>A321 CÁC VẬT TƯ VƯỚNG MẮC KHÁC</vt:lpstr>
      <vt:lpstr>A321 VƯỚNG MẮC VẬT TƯ VAECO</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Tran Khac Long-Tech</cp:lastModifiedBy>
  <cp:revision>11621</cp:revision>
  <cp:lastPrinted>2019-03-27T09:25:07Z</cp:lastPrinted>
  <dcterms:created xsi:type="dcterms:W3CDTF">2018-12-27T04:50:36Z</dcterms:created>
  <dcterms:modified xsi:type="dcterms:W3CDTF">2025-03-09T15:05:38Z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