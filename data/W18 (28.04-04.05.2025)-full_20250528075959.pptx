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theme/themeOverride1.xml" ContentType="application/vnd.openxmlformats-officedocument.themeOverride+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3.xml" ContentType="application/vnd.openxmlformats-officedocument.presentationml.tags+xml"/>
  <Override PartName="/ppt/notesSlides/notesSlide19.xml" ContentType="application/vnd.openxmlformats-officedocument.presentationml.notesSlide+xml"/>
  <Override PartName="/ppt/charts/chart7.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7.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9.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1.xml" ContentType="application/vnd.openxmlformats-officedocument.drawingml.chartshapes+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5.xml" ContentType="application/vnd.openxmlformats-officedocument.drawingml.chart+xml"/>
  <Override PartName="/ppt/notesSlides/notesSlide35.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36.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37.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74"/>
  </p:notesMasterIdLst>
  <p:sldIdLst>
    <p:sldId id="11486" r:id="rId5"/>
    <p:sldId id="11487" r:id="rId6"/>
    <p:sldId id="11488" r:id="rId7"/>
    <p:sldId id="12217" r:id="rId8"/>
    <p:sldId id="11493" r:id="rId9"/>
    <p:sldId id="12277" r:id="rId10"/>
    <p:sldId id="12278" r:id="rId11"/>
    <p:sldId id="12279" r:id="rId12"/>
    <p:sldId id="12306" r:id="rId13"/>
    <p:sldId id="12280" r:id="rId14"/>
    <p:sldId id="12300" r:id="rId15"/>
    <p:sldId id="12301" r:id="rId16"/>
    <p:sldId id="12281" r:id="rId17"/>
    <p:sldId id="12302" r:id="rId18"/>
    <p:sldId id="12303" r:id="rId19"/>
    <p:sldId id="12304" r:id="rId20"/>
    <p:sldId id="12282" r:id="rId21"/>
    <p:sldId id="12305" r:id="rId22"/>
    <p:sldId id="12283" r:id="rId23"/>
    <p:sldId id="12235" r:id="rId24"/>
    <p:sldId id="12284" r:id="rId25"/>
    <p:sldId id="12285" r:id="rId26"/>
    <p:sldId id="12058" r:id="rId27"/>
    <p:sldId id="12092" r:id="rId28"/>
    <p:sldId id="12286" r:id="rId29"/>
    <p:sldId id="12287" r:id="rId30"/>
    <p:sldId id="12288" r:id="rId31"/>
    <p:sldId id="12289" r:id="rId32"/>
    <p:sldId id="12290" r:id="rId33"/>
    <p:sldId id="12291" r:id="rId34"/>
    <p:sldId id="12292" r:id="rId35"/>
    <p:sldId id="12293" r:id="rId36"/>
    <p:sldId id="12294" r:id="rId37"/>
    <p:sldId id="12295" r:id="rId38"/>
    <p:sldId id="12296" r:id="rId39"/>
    <p:sldId id="12297" r:id="rId40"/>
    <p:sldId id="12298" r:id="rId41"/>
    <p:sldId id="12299" r:id="rId42"/>
    <p:sldId id="12187" r:id="rId43"/>
    <p:sldId id="12188" r:id="rId44"/>
    <p:sldId id="12274" r:id="rId45"/>
    <p:sldId id="12275" r:id="rId46"/>
    <p:sldId id="12276" r:id="rId47"/>
    <p:sldId id="11545" r:id="rId48"/>
    <p:sldId id="12271" r:id="rId49"/>
    <p:sldId id="12272" r:id="rId50"/>
    <p:sldId id="12273" r:id="rId51"/>
    <p:sldId id="12250" r:id="rId52"/>
    <p:sldId id="12251" r:id="rId53"/>
    <p:sldId id="12252" r:id="rId54"/>
    <p:sldId id="12253" r:id="rId55"/>
    <p:sldId id="12254" r:id="rId56"/>
    <p:sldId id="12255" r:id="rId57"/>
    <p:sldId id="12256" r:id="rId58"/>
    <p:sldId id="12257" r:id="rId59"/>
    <p:sldId id="12258" r:id="rId60"/>
    <p:sldId id="12259" r:id="rId61"/>
    <p:sldId id="12260" r:id="rId62"/>
    <p:sldId id="12261" r:id="rId63"/>
    <p:sldId id="12262" r:id="rId64"/>
    <p:sldId id="12263" r:id="rId65"/>
    <p:sldId id="12264" r:id="rId66"/>
    <p:sldId id="12265" r:id="rId67"/>
    <p:sldId id="12266" r:id="rId68"/>
    <p:sldId id="12267" r:id="rId69"/>
    <p:sldId id="12268" r:id="rId70"/>
    <p:sldId id="12269" r:id="rId71"/>
    <p:sldId id="12270" r:id="rId72"/>
    <p:sldId id="11888" r:id="rId7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87007" autoAdjust="0"/>
  </p:normalViewPr>
  <p:slideViewPr>
    <p:cSldViewPr>
      <p:cViewPr varScale="1">
        <p:scale>
          <a:sx n="100" d="100"/>
          <a:sy n="100" d="100"/>
        </p:scale>
        <p:origin x="876" y="72"/>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charts/_rels/chart1.xml.rels><?xml version="1.0" encoding="UTF-8" standalone="yes"?>
<Relationships xmlns="http://schemas.openxmlformats.org/package/2006/relationships"><Relationship Id="rId3" Type="http://schemas.openxmlformats.org/officeDocument/2006/relationships/oleObject" Target="file:///D:\Pho&#768;ng%20MOC\W18\W18%20(28.04-04.05.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oleObject" Target="file:///D:\Pho&#768;ng%20MOC\W18\W18%20(28.04-04.05.2025).xlsx" TargetMode="External"/><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1" Type="http://schemas.openxmlformats.org/officeDocument/2006/relationships/oleObject" Target="file:///D:\Pho&#768;ng%20MOC\W18\W18%20(28.04-04.05.2025).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D:\Pho&#768;ng%20MOC\W18\W18%20(28.04-04.05.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Pho&#768;ng%20MOC\W18\W18%20(28.04-04.05.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Pho&#768;ng%20MOC\W18\W18%20(28.04-04.05.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ViberDownloads\DR-W18.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1.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D:\Pho&#768;ng%20MOC\W18\W18%20(28.04-04.05.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4</c:v>
                </c:pt>
                <c:pt idx="2">
                  <c:v>0</c:v>
                </c:pt>
                <c:pt idx="3">
                  <c:v>0</c:v>
                </c:pt>
                <c:pt idx="4">
                  <c:v>0</c:v>
                </c:pt>
                <c:pt idx="5">
                  <c:v>4</c:v>
                </c:pt>
              </c:numCache>
            </c:numRef>
          </c:val>
          <c:extLst xmlns:c15="http://schemas.microsoft.com/office/drawing/2012/chart">
            <c:ext xmlns:c16="http://schemas.microsoft.com/office/drawing/2014/chart" uri="{C3380CC4-5D6E-409C-BE32-E72D297353CC}">
              <c16:uniqueId val="{00000000-B9F9-4748-AB4C-EEECE6DD6D3A}"/>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2</c:v>
                </c:pt>
                <c:pt idx="2">
                  <c:v>0</c:v>
                </c:pt>
                <c:pt idx="3">
                  <c:v>0</c:v>
                </c:pt>
                <c:pt idx="4">
                  <c:v>0</c:v>
                </c:pt>
                <c:pt idx="5">
                  <c:v>2</c:v>
                </c:pt>
              </c:numCache>
            </c:numRef>
          </c:val>
          <c:extLst>
            <c:ext xmlns:c16="http://schemas.microsoft.com/office/drawing/2014/chart" uri="{C3380CC4-5D6E-409C-BE32-E72D297353CC}">
              <c16:uniqueId val="{00000001-B9F9-4748-AB4C-EEECE6DD6D3A}"/>
            </c:ext>
          </c:extLst>
        </c:ser>
        <c:dLbls>
          <c:dLblPos val="outEnd"/>
          <c:showLegendKey val="0"/>
          <c:showVal val="1"/>
          <c:showCatName val="0"/>
          <c:showSerName val="0"/>
          <c:showPercent val="0"/>
          <c:showBubbleSize val="0"/>
        </c:dLbls>
        <c:gapWidth val="219"/>
        <c:overlap val="-27"/>
        <c:axId val="329779328"/>
        <c:axId val="329774232"/>
        <c:extLst/>
      </c:barChart>
      <c:catAx>
        <c:axId val="32977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232"/>
        <c:crosses val="autoZero"/>
        <c:auto val="1"/>
        <c:lblAlgn val="ctr"/>
        <c:lblOffset val="100"/>
        <c:noMultiLvlLbl val="0"/>
      </c:catAx>
      <c:valAx>
        <c:axId val="329774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9328"/>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9</c:v>
                </c:pt>
                <c:pt idx="2">
                  <c:v>2</c:v>
                </c:pt>
                <c:pt idx="3">
                  <c:v>2</c:v>
                </c:pt>
                <c:pt idx="4">
                  <c:v>0</c:v>
                </c:pt>
                <c:pt idx="5">
                  <c:v>13</c:v>
                </c:pt>
              </c:numCache>
            </c:numRef>
          </c:val>
          <c:extLst xmlns:c15="http://schemas.microsoft.com/office/drawing/2012/chart">
            <c:ext xmlns:c16="http://schemas.microsoft.com/office/drawing/2014/chart" uri="{C3380CC4-5D6E-409C-BE32-E72D297353CC}">
              <c16:uniqueId val="{00000000-69FB-4845-9426-10CCB8801B7B}"/>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1</c:v>
                </c:pt>
                <c:pt idx="1">
                  <c:v>6</c:v>
                </c:pt>
                <c:pt idx="2">
                  <c:v>2</c:v>
                </c:pt>
                <c:pt idx="3">
                  <c:v>3</c:v>
                </c:pt>
                <c:pt idx="4">
                  <c:v>1</c:v>
                </c:pt>
                <c:pt idx="5">
                  <c:v>13</c:v>
                </c:pt>
              </c:numCache>
            </c:numRef>
          </c:val>
          <c:extLst>
            <c:ext xmlns:c16="http://schemas.microsoft.com/office/drawing/2014/chart" uri="{C3380CC4-5D6E-409C-BE32-E72D297353CC}">
              <c16:uniqueId val="{00000001-69FB-4845-9426-10CCB8801B7B}"/>
            </c:ext>
          </c:extLst>
        </c:ser>
        <c:dLbls>
          <c:dLblPos val="outEnd"/>
          <c:showLegendKey val="0"/>
          <c:showVal val="1"/>
          <c:showCatName val="0"/>
          <c:showSerName val="0"/>
          <c:showPercent val="0"/>
          <c:showBubbleSize val="0"/>
        </c:dLbls>
        <c:gapWidth val="219"/>
        <c:overlap val="-27"/>
        <c:axId val="326994968"/>
        <c:axId val="326995752"/>
        <c:extLst/>
      </c:barChart>
      <c:catAx>
        <c:axId val="326994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5752"/>
        <c:crosses val="autoZero"/>
        <c:auto val="1"/>
        <c:lblAlgn val="ctr"/>
        <c:lblOffset val="100"/>
        <c:noMultiLvlLbl val="0"/>
      </c:catAx>
      <c:valAx>
        <c:axId val="326995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496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2</c:v>
                </c:pt>
                <c:pt idx="2">
                  <c:v>0</c:v>
                </c:pt>
                <c:pt idx="3">
                  <c:v>1</c:v>
                </c:pt>
                <c:pt idx="4">
                  <c:v>0</c:v>
                </c:pt>
                <c:pt idx="5">
                  <c:v>3</c:v>
                </c:pt>
              </c:numCache>
            </c:numRef>
          </c:val>
          <c:extLst xmlns:c15="http://schemas.microsoft.com/office/drawing/2012/chart">
            <c:ext xmlns:c16="http://schemas.microsoft.com/office/drawing/2014/chart" uri="{C3380CC4-5D6E-409C-BE32-E72D297353CC}">
              <c16:uniqueId val="{00000000-020D-425A-80B2-CD3A847B7428}"/>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020D-425A-80B2-CD3A847B7428}"/>
            </c:ext>
          </c:extLst>
        </c:ser>
        <c:dLbls>
          <c:showLegendKey val="0"/>
          <c:showVal val="0"/>
          <c:showCatName val="0"/>
          <c:showSerName val="0"/>
          <c:showPercent val="0"/>
          <c:showBubbleSize val="0"/>
        </c:dLbls>
        <c:gapWidth val="219"/>
        <c:overlap val="-27"/>
        <c:axId val="326996144"/>
        <c:axId val="326996536"/>
        <c:extLst/>
      </c:barChart>
      <c:catAx>
        <c:axId val="326996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536"/>
        <c:crosses val="autoZero"/>
        <c:auto val="1"/>
        <c:lblAlgn val="ctr"/>
        <c:lblOffset val="100"/>
        <c:noMultiLvlLbl val="0"/>
      </c:catAx>
      <c:valAx>
        <c:axId val="326996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14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C304-42EE-A3D8-DEE23A54F7C5}"/>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C304-42EE-A3D8-DEE23A54F7C5}"/>
            </c:ext>
          </c:extLst>
        </c:ser>
        <c:dLbls>
          <c:showLegendKey val="0"/>
          <c:showVal val="0"/>
          <c:showCatName val="0"/>
          <c:showSerName val="0"/>
          <c:showPercent val="0"/>
          <c:showBubbleSize val="0"/>
        </c:dLbls>
        <c:gapWidth val="219"/>
        <c:overlap val="-27"/>
        <c:axId val="329774624"/>
        <c:axId val="330488232"/>
        <c:extLst/>
      </c:barChart>
      <c:catAx>
        <c:axId val="329774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0488232"/>
        <c:crosses val="autoZero"/>
        <c:auto val="1"/>
        <c:lblAlgn val="ctr"/>
        <c:lblOffset val="100"/>
        <c:noMultiLvlLbl val="0"/>
      </c:catAx>
      <c:valAx>
        <c:axId val="330488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62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97DF-4875-A708-D451CD109E8D}"/>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numCache>
            </c:numRef>
          </c:val>
          <c:smooth val="0"/>
          <c:extLst>
            <c:ext xmlns:c16="http://schemas.microsoft.com/office/drawing/2014/chart" uri="{C3380CC4-5D6E-409C-BE32-E72D297353CC}">
              <c16:uniqueId val="{00000001-97DF-4875-A708-D451CD109E8D}"/>
            </c:ext>
          </c:extLst>
        </c:ser>
        <c:dLbls>
          <c:showLegendKey val="0"/>
          <c:showVal val="0"/>
          <c:showCatName val="0"/>
          <c:showSerName val="0"/>
          <c:showPercent val="0"/>
          <c:showBubbleSize val="0"/>
        </c:dLbls>
        <c:marker val="1"/>
        <c:smooth val="0"/>
        <c:axId val="325636512"/>
        <c:axId val="325632984"/>
      </c:lineChart>
      <c:catAx>
        <c:axId val="32563651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2984"/>
        <c:crosses val="autoZero"/>
        <c:auto val="1"/>
        <c:lblAlgn val="ctr"/>
        <c:lblOffset val="100"/>
        <c:noMultiLvlLbl val="0"/>
      </c:catAx>
      <c:valAx>
        <c:axId val="3256329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6512"/>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FE4B-4910-AB95-8C56135131E6}"/>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numCache>
            </c:numRef>
          </c:val>
          <c:smooth val="0"/>
          <c:extLst>
            <c:ext xmlns:c16="http://schemas.microsoft.com/office/drawing/2014/chart" uri="{C3380CC4-5D6E-409C-BE32-E72D297353CC}">
              <c16:uniqueId val="{00000001-FE4B-4910-AB95-8C56135131E6}"/>
            </c:ext>
          </c:extLst>
        </c:ser>
        <c:dLbls>
          <c:showLegendKey val="0"/>
          <c:showVal val="0"/>
          <c:showCatName val="0"/>
          <c:showSerName val="0"/>
          <c:showPercent val="0"/>
          <c:showBubbleSize val="0"/>
        </c:dLbls>
        <c:marker val="1"/>
        <c:smooth val="0"/>
        <c:axId val="325631808"/>
        <c:axId val="325638864"/>
      </c:lineChart>
      <c:catAx>
        <c:axId val="32563180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8864"/>
        <c:crosses val="autoZero"/>
        <c:auto val="1"/>
        <c:lblAlgn val="ctr"/>
        <c:lblOffset val="100"/>
        <c:noMultiLvlLbl val="0"/>
      </c:catAx>
      <c:valAx>
        <c:axId val="3256388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180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W17</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17D8-4FE9-A469-8232CB8485CA}"/>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99.57224334600761</c:v>
                </c:pt>
                <c:pt idx="1">
                  <c:v>99.415204678362571</c:v>
                </c:pt>
                <c:pt idx="2">
                  <c:v>99.441340782122907</c:v>
                </c:pt>
                <c:pt idx="3">
                  <c:v>99.549549549549553</c:v>
                </c:pt>
              </c:numCache>
            </c:numRef>
          </c:val>
          <c:extLst>
            <c:ext xmlns:c16="http://schemas.microsoft.com/office/drawing/2014/chart" uri="{C3380CC4-5D6E-409C-BE32-E72D297353CC}">
              <c16:uniqueId val="{00000001-17D8-4FE9-A469-8232CB8485CA}"/>
            </c:ext>
          </c:extLst>
        </c:ser>
        <c:ser>
          <c:idx val="1"/>
          <c:order val="1"/>
          <c:tx>
            <c:strRef>
              <c:f>DR!$D$3</c:f>
              <c:strCache>
                <c:ptCount val="1"/>
                <c:pt idx="0">
                  <c:v>W18</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99.736611062335385</c:v>
                </c:pt>
                <c:pt idx="1">
                  <c:v>99.029126213592235</c:v>
                </c:pt>
                <c:pt idx="2">
                  <c:v>99.184782608695656</c:v>
                </c:pt>
                <c:pt idx="3">
                  <c:v>99.549549549549553</c:v>
                </c:pt>
              </c:numCache>
            </c:numRef>
          </c:val>
          <c:extLst>
            <c:ext xmlns:c16="http://schemas.microsoft.com/office/drawing/2014/chart" uri="{C3380CC4-5D6E-409C-BE32-E72D297353CC}">
              <c16:uniqueId val="{00000002-17D8-4FE9-A469-8232CB8485CA}"/>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7D8-4FE9-A469-8232CB8485CA}"/>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17D8-4FE9-A469-8232CB8485CA}"/>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0.00</c:formatCode>
                      <c:ptCount val="4"/>
                    </c:numCache>
                  </c:numRef>
                </c:val>
                <c:extLst>
                  <c:ext xmlns:c16="http://schemas.microsoft.com/office/drawing/2014/chart" uri="{C3380CC4-5D6E-409C-BE32-E72D297353CC}">
                    <c16:uniqueId val="{00000005-17D8-4FE9-A469-8232CB8485CA}"/>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Sheet1!$D$7:$AF$7</c:f>
              <c:strCache>
                <c:ptCount val="6"/>
                <c:pt idx="0">
                  <c:v>T4</c:v>
                </c:pt>
                <c:pt idx="1">
                  <c:v>T5</c:v>
                </c:pt>
                <c:pt idx="2">
                  <c:v>T6</c:v>
                </c:pt>
                <c:pt idx="3">
                  <c:v>T7</c:v>
                </c:pt>
                <c:pt idx="4">
                  <c:v>T8</c:v>
                </c:pt>
                <c:pt idx="5">
                  <c:v>T9</c:v>
                </c:pt>
              </c:strCache>
            </c:strRef>
          </c:cat>
          <c:val>
            <c:numRef>
              <c:f>Sheet1!$D$8:$AF$8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Sheet1!$D$7:$AF$7</c:f>
              <c:strCache>
                <c:ptCount val="6"/>
                <c:pt idx="0">
                  <c:v>T4</c:v>
                </c:pt>
                <c:pt idx="1">
                  <c:v>T5</c:v>
                </c:pt>
                <c:pt idx="2">
                  <c:v>T6</c:v>
                </c:pt>
                <c:pt idx="3">
                  <c:v>T7</c:v>
                </c:pt>
                <c:pt idx="4">
                  <c:v>T8</c:v>
                </c:pt>
                <c:pt idx="5">
                  <c:v>T9</c:v>
                </c:pt>
              </c:strCache>
            </c:strRef>
          </c:cat>
          <c:val>
            <c:numRef>
              <c:f>Sheet1!$D$10:$AF$10</c:f>
              <c:numCache>
                <c:formatCode>General</c:formatCode>
                <c:ptCount val="6"/>
                <c:pt idx="0">
                  <c:v>9</c:v>
                </c:pt>
                <c:pt idx="1">
                  <c:v>6</c:v>
                </c:pt>
                <c:pt idx="2">
                  <c:v>4</c:v>
                </c:pt>
                <c:pt idx="3">
                  <c:v>1</c:v>
                </c:pt>
                <c:pt idx="4">
                  <c:v>1</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Sheet1!$D$7:$AF$7</c:f>
              <c:strCache>
                <c:ptCount val="6"/>
                <c:pt idx="0">
                  <c:v>T4</c:v>
                </c:pt>
                <c:pt idx="1">
                  <c:v>T5</c:v>
                </c:pt>
                <c:pt idx="2">
                  <c:v>T6</c:v>
                </c:pt>
                <c:pt idx="3">
                  <c:v>T7</c:v>
                </c:pt>
                <c:pt idx="4">
                  <c:v>T8</c:v>
                </c:pt>
                <c:pt idx="5">
                  <c:v>T9</c:v>
                </c:pt>
              </c:strCache>
            </c:strRef>
          </c:cat>
          <c:val>
            <c:numRef>
              <c:f>Sheet1!$D$11:$AF$11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Sheet1!$D$7:$AF$7</c:f>
              <c:strCache>
                <c:ptCount val="6"/>
                <c:pt idx="0">
                  <c:v>T4</c:v>
                </c:pt>
                <c:pt idx="1">
                  <c:v>T5</c:v>
                </c:pt>
                <c:pt idx="2">
                  <c:v>T6</c:v>
                </c:pt>
                <c:pt idx="3">
                  <c:v>T7</c:v>
                </c:pt>
                <c:pt idx="4">
                  <c:v>T8</c:v>
                </c:pt>
                <c:pt idx="5">
                  <c:v>T9</c:v>
                </c:pt>
              </c:strCache>
            </c:strRef>
          </c:cat>
          <c:val>
            <c:numRef>
              <c:f>Sheet1!$D$9:$AF$9</c:f>
              <c:numCache>
                <c:formatCode>General</c:formatCode>
                <c:ptCount val="6"/>
                <c:pt idx="0">
                  <c:v>30</c:v>
                </c:pt>
                <c:pt idx="1">
                  <c:v>29</c:v>
                </c:pt>
                <c:pt idx="2">
                  <c:v>24</c:v>
                </c:pt>
                <c:pt idx="3">
                  <c:v>22</c:v>
                </c:pt>
                <c:pt idx="4">
                  <c:v>23</c:v>
                </c:pt>
                <c:pt idx="5">
                  <c:v>24</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Sheet1!$D$7:$AF$7</c:f>
              <c:strCache>
                <c:ptCount val="6"/>
                <c:pt idx="0">
                  <c:v>T4</c:v>
                </c:pt>
                <c:pt idx="1">
                  <c:v>T5</c:v>
                </c:pt>
                <c:pt idx="2">
                  <c:v>T6</c:v>
                </c:pt>
                <c:pt idx="3">
                  <c:v>T7</c:v>
                </c:pt>
                <c:pt idx="4">
                  <c:v>T8</c:v>
                </c:pt>
                <c:pt idx="5">
                  <c:v>T9</c:v>
                </c:pt>
              </c:strCache>
            </c:strRef>
          </c:cat>
          <c:val>
            <c:numRef>
              <c:f>Sheet1!$D$12:$AF$12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Sheet1!$D$8:$BC$8</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Sheet1!$D$9:$BC$9</c:f>
              <c:numCache>
                <c:formatCode>General</c:formatCode>
                <c:ptCount val="16"/>
                <c:pt idx="0">
                  <c:v>30</c:v>
                </c:pt>
                <c:pt idx="1">
                  <c:v>29</c:v>
                </c:pt>
                <c:pt idx="2">
                  <c:v>29</c:v>
                </c:pt>
                <c:pt idx="3">
                  <c:v>27</c:v>
                </c:pt>
                <c:pt idx="4">
                  <c:v>26</c:v>
                </c:pt>
                <c:pt idx="5">
                  <c:v>24</c:v>
                </c:pt>
                <c:pt idx="6">
                  <c:v>23</c:v>
                </c:pt>
                <c:pt idx="7">
                  <c:v>22</c:v>
                </c:pt>
                <c:pt idx="8">
                  <c:v>22</c:v>
                </c:pt>
                <c:pt idx="9">
                  <c:v>22</c:v>
                </c:pt>
                <c:pt idx="10">
                  <c:v>22</c:v>
                </c:pt>
                <c:pt idx="11">
                  <c:v>22</c:v>
                </c:pt>
                <c:pt idx="12">
                  <c:v>22</c:v>
                </c:pt>
                <c:pt idx="13">
                  <c:v>22</c:v>
                </c:pt>
                <c:pt idx="14">
                  <c:v>23</c:v>
                </c:pt>
                <c:pt idx="15">
                  <c:v>23</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Sheet1!$D$10:$BC$10</c:f>
              <c:numCache>
                <c:formatCode>General</c:formatCode>
                <c:ptCount val="16"/>
                <c:pt idx="0">
                  <c:v>6</c:v>
                </c:pt>
                <c:pt idx="1">
                  <c:v>6</c:v>
                </c:pt>
                <c:pt idx="2">
                  <c:v>6</c:v>
                </c:pt>
                <c:pt idx="3">
                  <c:v>6</c:v>
                </c:pt>
                <c:pt idx="4">
                  <c:v>5</c:v>
                </c:pt>
                <c:pt idx="5">
                  <c:v>4</c:v>
                </c:pt>
                <c:pt idx="6">
                  <c:v>4</c:v>
                </c:pt>
                <c:pt idx="7">
                  <c:v>3</c:v>
                </c:pt>
                <c:pt idx="8">
                  <c:v>2</c:v>
                </c:pt>
                <c:pt idx="9">
                  <c:v>1</c:v>
                </c:pt>
                <c:pt idx="10">
                  <c:v>0</c:v>
                </c:pt>
                <c:pt idx="11">
                  <c:v>0</c:v>
                </c:pt>
                <c:pt idx="12">
                  <c:v>0</c:v>
                </c:pt>
                <c:pt idx="13">
                  <c:v>0</c:v>
                </c:pt>
                <c:pt idx="14">
                  <c:v>2</c:v>
                </c:pt>
                <c:pt idx="15">
                  <c:v>2</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Sheet1!$D$11:$BC$11</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Sheet1!$D$12:$BC$12</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69191304715942759"/>
          <c:y val="4.8924913857883043E-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KB thuê 1 NEO từ T6</c:v>
                </c:pt>
              </c:strCache>
            </c:strRef>
          </c:tx>
          <c:spPr>
            <a:ln w="31750" cap="rnd">
              <a:solidFill>
                <a:srgbClr val="FF0000"/>
              </a:solidFill>
              <a:round/>
            </a:ln>
            <a:effectLst/>
          </c:spPr>
          <c:marker>
            <c:symbol val="circle"/>
            <c:size val="2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Sheet1!$D$8:$O$8</c:f>
              <c:numCache>
                <c:formatCode>General</c:formatCode>
                <c:ptCount val="12"/>
                <c:pt idx="0">
                  <c:v>14.25</c:v>
                </c:pt>
                <c:pt idx="1">
                  <c:v>13.75</c:v>
                </c:pt>
                <c:pt idx="2">
                  <c:v>15.25</c:v>
                </c:pt>
                <c:pt idx="3">
                  <c:v>15</c:v>
                </c:pt>
                <c:pt idx="4">
                  <c:v>14.5</c:v>
                </c:pt>
                <c:pt idx="5">
                  <c:v>11.5</c:v>
                </c:pt>
                <c:pt idx="6">
                  <c:v>11</c:v>
                </c:pt>
                <c:pt idx="7">
                  <c:v>11.5</c:v>
                </c:pt>
                <c:pt idx="8">
                  <c:v>12</c:v>
                </c:pt>
                <c:pt idx="9">
                  <c:v>11.5</c:v>
                </c:pt>
                <c:pt idx="10">
                  <c:v>12</c:v>
                </c:pt>
                <c:pt idx="11">
                  <c:v>11</c:v>
                </c:pt>
              </c:numCache>
            </c:numRef>
          </c:val>
          <c:smooth val="0"/>
          <c:extLst>
            <c:ext xmlns:c16="http://schemas.microsoft.com/office/drawing/2014/chart" uri="{C3380CC4-5D6E-409C-BE32-E72D297353CC}">
              <c16:uniqueId val="{00000000-004B-458A-8713-88F7F4F6F328}"/>
            </c:ext>
          </c:extLst>
        </c:ser>
        <c:ser>
          <c:idx val="1"/>
          <c:order val="1"/>
          <c:tx>
            <c:strRef>
              <c:f>Sheet1!$C$9</c:f>
              <c:strCache>
                <c:ptCount val="1"/>
                <c:pt idx="0">
                  <c:v>KB báo KHPT 25/04 (A621 hỏng đ/c)</c:v>
                </c:pt>
              </c:strCache>
            </c:strRef>
          </c:tx>
          <c:spPr>
            <a:ln w="3175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Sheet1!$D$7:$O$7</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Sheet1!$D$9:$O$9</c:f>
              <c:numCache>
                <c:formatCode>General</c:formatCode>
                <c:ptCount val="12"/>
                <c:pt idx="0">
                  <c:v>14.25</c:v>
                </c:pt>
                <c:pt idx="1">
                  <c:v>13.75</c:v>
                </c:pt>
                <c:pt idx="2">
                  <c:v>15.25</c:v>
                </c:pt>
                <c:pt idx="3">
                  <c:v>15</c:v>
                </c:pt>
                <c:pt idx="4">
                  <c:v>14</c:v>
                </c:pt>
                <c:pt idx="5">
                  <c:v>12.5</c:v>
                </c:pt>
                <c:pt idx="6">
                  <c:v>11.5</c:v>
                </c:pt>
                <c:pt idx="7">
                  <c:v>11.5</c:v>
                </c:pt>
                <c:pt idx="8">
                  <c:v>12</c:v>
                </c:pt>
                <c:pt idx="9">
                  <c:v>12</c:v>
                </c:pt>
                <c:pt idx="10">
                  <c:v>12</c:v>
                </c:pt>
                <c:pt idx="11">
                  <c:v>11</c:v>
                </c:pt>
              </c:numCache>
            </c:numRef>
          </c:val>
          <c:smooth val="0"/>
          <c:extLst>
            <c:ext xmlns:c16="http://schemas.microsoft.com/office/drawing/2014/chart" uri="{C3380CC4-5D6E-409C-BE32-E72D297353CC}">
              <c16:uniqueId val="{00000001-71F6-424F-B3AF-3760BAAA0FDD}"/>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majorUnit val="1"/>
      </c:valAx>
      <c:spPr>
        <a:noFill/>
        <a:ln>
          <a:noFill/>
        </a:ln>
        <a:effectLst/>
      </c:spPr>
    </c:plotArea>
    <c:legend>
      <c:legendPos val="b"/>
      <c:layout>
        <c:manualLayout>
          <c:xMode val="edge"/>
          <c:yMode val="edge"/>
          <c:x val="0.52094530522394378"/>
          <c:y val="3.3255125203944108E-2"/>
          <c:w val="0.35566471932943866"/>
          <c:h val="0.1491037100092218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Sheet1!$A$10:$A$25</c:f>
              <c:strCache>
                <c:ptCount val="16"/>
                <c:pt idx="0">
                  <c:v>May-W1</c:v>
                </c:pt>
                <c:pt idx="1">
                  <c:v>May-W2</c:v>
                </c:pt>
                <c:pt idx="2">
                  <c:v>May-W3</c:v>
                </c:pt>
                <c:pt idx="3">
                  <c:v>May-W4</c:v>
                </c:pt>
                <c:pt idx="4">
                  <c:v>Jun-W1</c:v>
                </c:pt>
                <c:pt idx="5">
                  <c:v>Jun-W2</c:v>
                </c:pt>
                <c:pt idx="6">
                  <c:v>Jun-W3</c:v>
                </c:pt>
                <c:pt idx="7">
                  <c:v>Jun-W4</c:v>
                </c:pt>
                <c:pt idx="8">
                  <c:v>Jul-W1</c:v>
                </c:pt>
                <c:pt idx="9">
                  <c:v>Jul-W2</c:v>
                </c:pt>
                <c:pt idx="10">
                  <c:v>Jul-W3</c:v>
                </c:pt>
                <c:pt idx="11">
                  <c:v>Jul-W4</c:v>
                </c:pt>
                <c:pt idx="12">
                  <c:v>Aug-W1</c:v>
                </c:pt>
                <c:pt idx="13">
                  <c:v>Aug-W2</c:v>
                </c:pt>
                <c:pt idx="14">
                  <c:v>Aug-W3</c:v>
                </c:pt>
                <c:pt idx="15">
                  <c:v>Aug-W4</c:v>
                </c:pt>
              </c:strCache>
            </c:strRef>
          </c:cat>
          <c:val>
            <c:numRef>
              <c:f>Sheet1!$B$10:$B$25</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Sheet1!$A$9:$A$44</c:f>
              <c:strCache>
                <c:ptCount val="16"/>
                <c:pt idx="0">
                  <c:v>May-W1</c:v>
                </c:pt>
                <c:pt idx="1">
                  <c:v>May-W2</c:v>
                </c:pt>
                <c:pt idx="2">
                  <c:v>May-W3</c:v>
                </c:pt>
                <c:pt idx="3">
                  <c:v>May-W4</c:v>
                </c:pt>
                <c:pt idx="4">
                  <c:v>Jun-W1</c:v>
                </c:pt>
                <c:pt idx="5">
                  <c:v>Jun-W2</c:v>
                </c:pt>
                <c:pt idx="6">
                  <c:v>Jun-W3</c:v>
                </c:pt>
                <c:pt idx="7">
                  <c:v>Jun-W4</c:v>
                </c:pt>
                <c:pt idx="8">
                  <c:v>Jul-W1</c:v>
                </c:pt>
                <c:pt idx="9">
                  <c:v>Jul-W2</c:v>
                </c:pt>
                <c:pt idx="10">
                  <c:v>Jul-W3</c:v>
                </c:pt>
                <c:pt idx="11">
                  <c:v>Jul-W4</c:v>
                </c:pt>
                <c:pt idx="12">
                  <c:v>Aug-W1</c:v>
                </c:pt>
                <c:pt idx="13">
                  <c:v>Aug-W2</c:v>
                </c:pt>
                <c:pt idx="14">
                  <c:v>Aug-W3</c:v>
                </c:pt>
                <c:pt idx="15">
                  <c:v>Aug-W4</c:v>
                </c:pt>
              </c:strCache>
            </c:strRef>
          </c:cat>
          <c:val>
            <c:numRef>
              <c:f>Sheet1!$B$9:$B$44</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Sheet1!$A$9:$A$44</c:f>
              <c:strCache>
                <c:ptCount val="16"/>
                <c:pt idx="0">
                  <c:v>May-W1</c:v>
                </c:pt>
                <c:pt idx="1">
                  <c:v>May-W2</c:v>
                </c:pt>
                <c:pt idx="2">
                  <c:v>May-W3</c:v>
                </c:pt>
                <c:pt idx="3">
                  <c:v>May-W4</c:v>
                </c:pt>
                <c:pt idx="4">
                  <c:v>Jun-W1</c:v>
                </c:pt>
                <c:pt idx="5">
                  <c:v>Jun-W2</c:v>
                </c:pt>
                <c:pt idx="6">
                  <c:v>Jun-W3</c:v>
                </c:pt>
                <c:pt idx="7">
                  <c:v>Jun-W4</c:v>
                </c:pt>
                <c:pt idx="8">
                  <c:v>Jul-W1</c:v>
                </c:pt>
                <c:pt idx="9">
                  <c:v>Jul-W2</c:v>
                </c:pt>
                <c:pt idx="10">
                  <c:v>Jul-W3</c:v>
                </c:pt>
                <c:pt idx="11">
                  <c:v>Jul-W4</c:v>
                </c:pt>
                <c:pt idx="12">
                  <c:v>Aug-W1</c:v>
                </c:pt>
                <c:pt idx="13">
                  <c:v>Aug-W2</c:v>
                </c:pt>
                <c:pt idx="14">
                  <c:v>Aug-W3</c:v>
                </c:pt>
                <c:pt idx="15">
                  <c:v>Aug-W4</c:v>
                </c:pt>
              </c:strCache>
            </c:strRef>
          </c:cat>
          <c:val>
            <c:numRef>
              <c:f>Sheet1!$C$9:$C$44</c:f>
              <c:numCache>
                <c:formatCode>General</c:formatCode>
                <c:ptCount val="16"/>
                <c:pt idx="0">
                  <c:v>3</c:v>
                </c:pt>
                <c:pt idx="1">
                  <c:v>3</c:v>
                </c:pt>
                <c:pt idx="2">
                  <c:v>3</c:v>
                </c:pt>
                <c:pt idx="3">
                  <c:v>3</c:v>
                </c:pt>
                <c:pt idx="4">
                  <c:v>2</c:v>
                </c:pt>
                <c:pt idx="5">
                  <c:v>2</c:v>
                </c:pt>
                <c:pt idx="6">
                  <c:v>2</c:v>
                </c:pt>
                <c:pt idx="7">
                  <c:v>2</c:v>
                </c:pt>
                <c:pt idx="8">
                  <c:v>1</c:v>
                </c:pt>
                <c:pt idx="9">
                  <c:v>1</c:v>
                </c:pt>
                <c:pt idx="10">
                  <c:v>0</c:v>
                </c:pt>
                <c:pt idx="11">
                  <c:v>0</c:v>
                </c:pt>
                <c:pt idx="12">
                  <c:v>0</c:v>
                </c:pt>
                <c:pt idx="13">
                  <c:v>0</c:v>
                </c:pt>
                <c:pt idx="14">
                  <c:v>1</c:v>
                </c:pt>
                <c:pt idx="15">
                  <c:v>1</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4"/>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3"/>
          <c:order val="0"/>
          <c:tx>
            <c:strRef>
              <c:f>Sheet1!$B$1</c:f>
              <c:strCache>
                <c:ptCount val="1"/>
                <c:pt idx="0">
                  <c:v>KB gửi KHPT 25/04</c:v>
                </c:pt>
              </c:strCache>
            </c:strRef>
          </c:tx>
          <c:spPr>
            <a:ln w="28575" cap="rnd">
              <a:solidFill>
                <a:srgbClr val="0070C0"/>
              </a:solidFill>
              <a:round/>
            </a:ln>
            <a:effectLst/>
          </c:spPr>
          <c:marker>
            <c:symbol val="circle"/>
            <c:size val="25"/>
            <c:spPr>
              <a:solidFill>
                <a:srgbClr val="0070C0"/>
              </a:solidFill>
              <a:ln w="9525">
                <a:solidFill>
                  <a:srgbClr val="0070C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Sheet1!$B$10:$B$33</c:f>
              <c:numCache>
                <c:formatCode>General</c:formatCode>
                <c:ptCount val="12"/>
                <c:pt idx="0">
                  <c:v>4</c:v>
                </c:pt>
                <c:pt idx="1">
                  <c:v>4</c:v>
                </c:pt>
                <c:pt idx="2">
                  <c:v>4</c:v>
                </c:pt>
                <c:pt idx="3">
                  <c:v>4</c:v>
                </c:pt>
                <c:pt idx="4">
                  <c:v>3</c:v>
                </c:pt>
                <c:pt idx="5">
                  <c:v>2</c:v>
                </c:pt>
                <c:pt idx="6">
                  <c:v>0.5</c:v>
                </c:pt>
                <c:pt idx="7">
                  <c:v>0.5</c:v>
                </c:pt>
                <c:pt idx="8">
                  <c:v>2</c:v>
                </c:pt>
                <c:pt idx="9">
                  <c:v>1.5</c:v>
                </c:pt>
                <c:pt idx="10">
                  <c:v>2</c:v>
                </c:pt>
                <c:pt idx="11">
                  <c:v>2</c:v>
                </c:pt>
              </c:numCache>
            </c:numRef>
          </c:val>
          <c:smooth val="0"/>
          <c:extLst>
            <c:ext xmlns:c16="http://schemas.microsoft.com/office/drawing/2014/chart" uri="{C3380CC4-5D6E-409C-BE32-E72D297353CC}">
              <c16:uniqueId val="{00000000-2B09-4F42-BD33-DCEFBD805B05}"/>
            </c:ext>
          </c:extLst>
        </c:ser>
        <c:ser>
          <c:idx val="4"/>
          <c:order val="1"/>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2</c:v>
                </c:pt>
                <c:pt idx="6">
                  <c:v>0.5</c:v>
                </c:pt>
                <c:pt idx="7">
                  <c:v>0.5</c:v>
                </c:pt>
                <c:pt idx="8">
                  <c:v>2</c:v>
                </c:pt>
                <c:pt idx="9">
                  <c:v>2</c:v>
                </c:pt>
                <c:pt idx="10">
                  <c:v>2</c:v>
                </c:pt>
                <c:pt idx="11">
                  <c:v>2</c:v>
                </c:pt>
              </c:numCache>
            </c:numRef>
          </c:val>
          <c:smooth val="0"/>
          <c:extLst>
            <c:ext xmlns:c16="http://schemas.microsoft.com/office/drawing/2014/chart" uri="{C3380CC4-5D6E-409C-BE32-E72D297353CC}">
              <c16:uniqueId val="{00000001-2B09-4F42-BD33-DCEFBD805B05}"/>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legend>
      <c:legendPos val="b"/>
      <c:layout>
        <c:manualLayout>
          <c:xMode val="edge"/>
          <c:yMode val="edge"/>
          <c:x val="0.42789808928219164"/>
          <c:y val="8.7968592228071602E-2"/>
          <c:w val="0.22456151431567511"/>
          <c:h val="0.11274844113498629"/>
        </c:manualLayout>
      </c:layout>
      <c:overlay val="0"/>
      <c:spPr>
        <a:solidFill>
          <a:schemeClr val="bg1"/>
        </a:solidFill>
        <a:ln>
          <a:solidFill>
            <a:srgbClr val="00FF00"/>
          </a:solidFill>
        </a:ln>
        <a:effectLst/>
      </c:spPr>
      <c:txPr>
        <a:bodyPr rot="0" spcFirstLastPara="1" vertOverflow="ellipsis" vert="horz" wrap="square" anchor="ctr" anchorCtr="1"/>
        <a:lstStyle/>
        <a:p>
          <a:pPr>
            <a:defRPr sz="15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manualLayout>
          <c:xMode val="edge"/>
          <c:yMode val="edge"/>
          <c:x val="0.19994925684501938"/>
          <c:y val="3.2012408379184877E-2"/>
        </c:manualLayout>
      </c:layout>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1</c:v>
                </c:pt>
                <c:pt idx="2">
                  <c:v>1</c:v>
                </c:pt>
                <c:pt idx="3">
                  <c:v>2</c:v>
                </c:pt>
                <c:pt idx="4">
                  <c:v>0</c:v>
                </c:pt>
                <c:pt idx="5" formatCode="0">
                  <c:v>4</c:v>
                </c:pt>
              </c:numCache>
            </c:numRef>
          </c:val>
          <c:extLst>
            <c:ext xmlns:c16="http://schemas.microsoft.com/office/drawing/2014/chart" uri="{C3380CC4-5D6E-409C-BE32-E72D297353CC}">
              <c16:uniqueId val="{00000000-E89E-457E-B571-CC50DFC89989}"/>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3</c:v>
                </c:pt>
                <c:pt idx="2">
                  <c:v>0</c:v>
                </c:pt>
                <c:pt idx="3">
                  <c:v>2</c:v>
                </c:pt>
                <c:pt idx="4">
                  <c:v>0</c:v>
                </c:pt>
                <c:pt idx="5" formatCode="0">
                  <c:v>5</c:v>
                </c:pt>
              </c:numCache>
            </c:numRef>
          </c:val>
          <c:extLst>
            <c:ext xmlns:c16="http://schemas.microsoft.com/office/drawing/2014/chart" uri="{C3380CC4-5D6E-409C-BE32-E72D297353CC}">
              <c16:uniqueId val="{00000001-E89E-457E-B571-CC50DFC89989}"/>
            </c:ext>
          </c:extLst>
        </c:ser>
        <c:dLbls>
          <c:showLegendKey val="0"/>
          <c:showVal val="0"/>
          <c:showCatName val="0"/>
          <c:showSerName val="0"/>
          <c:showPercent val="0"/>
          <c:showBubbleSize val="0"/>
        </c:dLbls>
        <c:gapWidth val="150"/>
        <c:axId val="325637296"/>
        <c:axId val="325636120"/>
      </c:barChart>
      <c:catAx>
        <c:axId val="325637296"/>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25636120"/>
        <c:crosses val="autoZero"/>
        <c:auto val="1"/>
        <c:lblAlgn val="ctr"/>
        <c:lblOffset val="100"/>
        <c:noMultiLvlLbl val="0"/>
      </c:catAx>
      <c:valAx>
        <c:axId val="325636120"/>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25637296"/>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6.2970430107526898E-2</c:v>
                </c:pt>
                <c:pt idx="1">
                  <c:v>7.835667865480471E-2</c:v>
                </c:pt>
                <c:pt idx="2">
                  <c:v>8.2714371980676438E-2</c:v>
                </c:pt>
                <c:pt idx="3">
                  <c:v>0.14979288499025334</c:v>
                </c:pt>
                <c:pt idx="4">
                  <c:v>0.24523148148148177</c:v>
                </c:pt>
                <c:pt idx="5">
                  <c:v>0.2822613268608416</c:v>
                </c:pt>
                <c:pt idx="6">
                  <c:v>0.16310763888888891</c:v>
                </c:pt>
                <c:pt idx="7">
                  <c:v>0.13241879174256246</c:v>
                </c:pt>
                <c:pt idx="8">
                  <c:v>4.2279411764705906E-2</c:v>
                </c:pt>
              </c:numCache>
            </c:numRef>
          </c:val>
          <c:extLst>
            <c:ext xmlns:c16="http://schemas.microsoft.com/office/drawing/2014/chart" uri="{C3380CC4-5D6E-409C-BE32-E72D297353CC}">
              <c16:uniqueId val="{00000000-2350-4EEE-BF55-F077634CD128}"/>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6.2088815789473673E-2</c:v>
                </c:pt>
                <c:pt idx="1">
                  <c:v>8.1536519036519123E-2</c:v>
                </c:pt>
                <c:pt idx="2">
                  <c:v>8.3636584182435803E-2</c:v>
                </c:pt>
                <c:pt idx="3">
                  <c:v>0.13878038194444442</c:v>
                </c:pt>
                <c:pt idx="4">
                  <c:v>0.27966426071741057</c:v>
                </c:pt>
                <c:pt idx="5">
                  <c:v>0.2890011223344558</c:v>
                </c:pt>
                <c:pt idx="6">
                  <c:v>0.14083672086720866</c:v>
                </c:pt>
                <c:pt idx="7">
                  <c:v>0.13541666666666691</c:v>
                </c:pt>
                <c:pt idx="8">
                  <c:v>4.2401175213675243E-2</c:v>
                </c:pt>
              </c:numCache>
            </c:numRef>
          </c:val>
          <c:extLst>
            <c:ext xmlns:c16="http://schemas.microsoft.com/office/drawing/2014/chart" uri="{C3380CC4-5D6E-409C-BE32-E72D297353CC}">
              <c16:uniqueId val="{00000001-2350-4EEE-BF55-F077634CD128}"/>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7.3809523809523814</c:v>
                </c:pt>
                <c:pt idx="1">
                  <c:v>6.6203007518796984</c:v>
                </c:pt>
                <c:pt idx="2">
                  <c:v>6.5714285714285712</c:v>
                </c:pt>
                <c:pt idx="3">
                  <c:v>2.6883116883116882</c:v>
                </c:pt>
                <c:pt idx="4">
                  <c:v>3.2678571428571428</c:v>
                </c:pt>
                <c:pt idx="5">
                  <c:v>7.8928571428571432</c:v>
                </c:pt>
              </c:numCache>
            </c:numRef>
          </c:val>
          <c:extLst>
            <c:ext xmlns:c16="http://schemas.microsoft.com/office/drawing/2014/chart" uri="{C3380CC4-5D6E-409C-BE32-E72D297353CC}">
              <c16:uniqueId val="{00000000-68D8-499B-AF8D-66A96F28EB0F}"/>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7.2380952380952381</c:v>
                </c:pt>
                <c:pt idx="1">
                  <c:v>5.9135338345864668</c:v>
                </c:pt>
                <c:pt idx="2">
                  <c:v>5.4523809523809517</c:v>
                </c:pt>
                <c:pt idx="3">
                  <c:v>2.7285714285714286</c:v>
                </c:pt>
                <c:pt idx="4">
                  <c:v>3.0252100840336134</c:v>
                </c:pt>
                <c:pt idx="5">
                  <c:v>7.4285714285714288</c:v>
                </c:pt>
              </c:numCache>
            </c:numRef>
          </c:val>
          <c:extLst>
            <c:ext xmlns:c16="http://schemas.microsoft.com/office/drawing/2014/chart" uri="{C3380CC4-5D6E-409C-BE32-E72D297353CC}">
              <c16:uniqueId val="{00000001-68D8-499B-AF8D-66A96F28EB0F}"/>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78F1-44B6-A5DF-8734CF25C2FA}"/>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78F1-44B6-A5DF-8734CF25C2FA}"/>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78F1-44B6-A5DF-8734CF25C2FA}"/>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78F1-44B6-A5DF-8734CF25C2FA}"/>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78F1-44B6-A5DF-8734CF25C2FA}"/>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78F1-44B6-A5DF-8734CF25C2FA}"/>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78F1-44B6-A5DF-8734CF25C2FA}"/>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78F1-44B6-A5DF-8734CF25C2FA}"/>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Week!$B$35:$BD$35</c:f>
              <c:numCache>
                <c:formatCode>d\-mmm</c:formatCode>
                <c:ptCount val="55"/>
                <c:pt idx="0">
                  <c:v>45775</c:v>
                </c:pt>
                <c:pt idx="1">
                  <c:v>45776</c:v>
                </c:pt>
                <c:pt idx="2">
                  <c:v>45777</c:v>
                </c:pt>
                <c:pt idx="3">
                  <c:v>45778</c:v>
                </c:pt>
                <c:pt idx="4">
                  <c:v>45779</c:v>
                </c:pt>
                <c:pt idx="5">
                  <c:v>45780</c:v>
                </c:pt>
                <c:pt idx="6">
                  <c:v>45781</c:v>
                </c:pt>
                <c:pt idx="7">
                  <c:v>45782</c:v>
                </c:pt>
                <c:pt idx="8">
                  <c:v>45783</c:v>
                </c:pt>
                <c:pt idx="9">
                  <c:v>45784</c:v>
                </c:pt>
                <c:pt idx="10">
                  <c:v>45785</c:v>
                </c:pt>
                <c:pt idx="11">
                  <c:v>45786</c:v>
                </c:pt>
                <c:pt idx="12">
                  <c:v>45787</c:v>
                </c:pt>
                <c:pt idx="13">
                  <c:v>45788</c:v>
                </c:pt>
                <c:pt idx="14">
                  <c:v>45789</c:v>
                </c:pt>
                <c:pt idx="15">
                  <c:v>45790</c:v>
                </c:pt>
                <c:pt idx="16">
                  <c:v>45791</c:v>
                </c:pt>
                <c:pt idx="17">
                  <c:v>45792</c:v>
                </c:pt>
                <c:pt idx="18">
                  <c:v>45793</c:v>
                </c:pt>
                <c:pt idx="19">
                  <c:v>45794</c:v>
                </c:pt>
                <c:pt idx="20">
                  <c:v>45795</c:v>
                </c:pt>
                <c:pt idx="21">
                  <c:v>45796</c:v>
                </c:pt>
                <c:pt idx="22">
                  <c:v>45797</c:v>
                </c:pt>
                <c:pt idx="23">
                  <c:v>45798</c:v>
                </c:pt>
                <c:pt idx="24">
                  <c:v>45799</c:v>
                </c:pt>
                <c:pt idx="25">
                  <c:v>45800</c:v>
                </c:pt>
                <c:pt idx="26">
                  <c:v>45801</c:v>
                </c:pt>
                <c:pt idx="27">
                  <c:v>45802</c:v>
                </c:pt>
                <c:pt idx="28">
                  <c:v>45803</c:v>
                </c:pt>
                <c:pt idx="29">
                  <c:v>45804</c:v>
                </c:pt>
                <c:pt idx="30">
                  <c:v>45805</c:v>
                </c:pt>
                <c:pt idx="31">
                  <c:v>45806</c:v>
                </c:pt>
                <c:pt idx="32">
                  <c:v>45807</c:v>
                </c:pt>
                <c:pt idx="33">
                  <c:v>45808</c:v>
                </c:pt>
              </c:numCache>
            </c:numRef>
          </c:cat>
          <c:val>
            <c:numRef>
              <c:f>Week!$B$36:$BD$36</c:f>
              <c:numCache>
                <c:formatCode>General</c:formatCode>
                <c:ptCount val="55"/>
                <c:pt idx="0">
                  <c:v>419</c:v>
                </c:pt>
                <c:pt idx="1">
                  <c:v>460</c:v>
                </c:pt>
                <c:pt idx="2">
                  <c:v>449</c:v>
                </c:pt>
                <c:pt idx="3">
                  <c:v>418</c:v>
                </c:pt>
                <c:pt idx="4">
                  <c:v>408</c:v>
                </c:pt>
                <c:pt idx="5">
                  <c:v>451</c:v>
                </c:pt>
                <c:pt idx="6">
                  <c:v>469</c:v>
                </c:pt>
                <c:pt idx="7">
                  <c:v>420</c:v>
                </c:pt>
                <c:pt idx="8">
                  <c:v>381</c:v>
                </c:pt>
                <c:pt idx="9">
                  <c:v>391</c:v>
                </c:pt>
                <c:pt idx="10">
                  <c:v>387</c:v>
                </c:pt>
                <c:pt idx="11">
                  <c:v>406</c:v>
                </c:pt>
                <c:pt idx="12">
                  <c:v>399</c:v>
                </c:pt>
                <c:pt idx="13">
                  <c:v>410</c:v>
                </c:pt>
                <c:pt idx="14">
                  <c:v>395</c:v>
                </c:pt>
                <c:pt idx="15">
                  <c:v>373</c:v>
                </c:pt>
                <c:pt idx="16">
                  <c:v>391</c:v>
                </c:pt>
                <c:pt idx="17">
                  <c:v>399</c:v>
                </c:pt>
                <c:pt idx="18">
                  <c:v>407</c:v>
                </c:pt>
                <c:pt idx="19">
                  <c:v>399</c:v>
                </c:pt>
                <c:pt idx="20">
                  <c:v>412</c:v>
                </c:pt>
                <c:pt idx="21">
                  <c:v>405</c:v>
                </c:pt>
                <c:pt idx="22">
                  <c:v>390</c:v>
                </c:pt>
                <c:pt idx="23">
                  <c:v>392</c:v>
                </c:pt>
                <c:pt idx="24">
                  <c:v>435</c:v>
                </c:pt>
                <c:pt idx="25">
                  <c:v>436</c:v>
                </c:pt>
                <c:pt idx="26">
                  <c:v>444</c:v>
                </c:pt>
                <c:pt idx="27">
                  <c:v>452</c:v>
                </c:pt>
                <c:pt idx="28">
                  <c:v>443</c:v>
                </c:pt>
                <c:pt idx="29">
                  <c:v>438</c:v>
                </c:pt>
                <c:pt idx="30">
                  <c:v>431</c:v>
                </c:pt>
                <c:pt idx="31">
                  <c:v>444</c:v>
                </c:pt>
                <c:pt idx="32">
                  <c:v>446</c:v>
                </c:pt>
                <c:pt idx="33">
                  <c:v>456</c:v>
                </c:pt>
              </c:numCache>
            </c:numRef>
          </c:val>
          <c:extLst>
            <c:ext xmlns:c16="http://schemas.microsoft.com/office/drawing/2014/chart" uri="{C3380CC4-5D6E-409C-BE32-E72D297353CC}">
              <c16:uniqueId val="{00000010-78F1-44B6-A5DF-8734CF25C2FA}"/>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480"/>
          <c:min val="35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0.08652</cdr:x>
      <cdr:y>0.47977</cdr:y>
    </cdr:from>
    <cdr:to>
      <cdr:x>0.38979</cdr:x>
      <cdr:y>0.81984</cdr:y>
    </cdr:to>
    <cdr:sp macro="" textlink="">
      <cdr:nvSpPr>
        <cdr:cNvPr id="2" name="TextBox 1">
          <a:extLst xmlns:a="http://schemas.openxmlformats.org/drawingml/2006/main">
            <a:ext uri="{FF2B5EF4-FFF2-40B4-BE49-F238E27FC236}">
              <a16:creationId xmlns:a16="http://schemas.microsoft.com/office/drawing/2014/main" id="{CD939C01-4FDE-4466-9481-5A3B05BD383C}"/>
            </a:ext>
          </a:extLst>
        </cdr:cNvPr>
        <cdr:cNvSpPr txBox="1"/>
      </cdr:nvSpPr>
      <cdr:spPr>
        <a:xfrm xmlns:a="http://schemas.openxmlformats.org/drawingml/2006/main">
          <a:off x="1000027" y="2810932"/>
          <a:ext cx="3505182" cy="1992447"/>
        </a:xfrm>
        <a:prstGeom xmlns:a="http://schemas.openxmlformats.org/drawingml/2006/main" prst="rect">
          <a:avLst/>
        </a:prstGeom>
        <a:solidFill xmlns:a="http://schemas.openxmlformats.org/drawingml/2006/main">
          <a:srgbClr val="FFFFCC"/>
        </a:solidFill>
        <a:ln xmlns:a="http://schemas.openxmlformats.org/drawingml/2006/main">
          <a:solidFill>
            <a:srgbClr val="FFC000"/>
          </a:solidFill>
        </a:ln>
      </cdr:spPr>
      <cdr:txBody>
        <a:bodyPr xmlns:a="http://schemas.openxmlformats.org/drawingml/2006/main" vertOverflow="clip" wrap="square" rtlCol="0">
          <a:spAutoFit/>
        </a:bodyPr>
        <a:lstStyle xmlns:a="http://schemas.openxmlformats.org/drawingml/2006/main"/>
        <a:p xmlns:a="http://schemas.openxmlformats.org/drawingml/2006/main">
          <a:r>
            <a:rPr lang="en-US" sz="1000" b="1" dirty="0">
              <a:solidFill>
                <a:srgbClr val="FF0000"/>
              </a:solidFill>
              <a:latin typeface="+mj-lt"/>
            </a:rPr>
            <a:t>Update </a:t>
          </a:r>
          <a:r>
            <a:rPr lang="en-US" sz="1000" b="1" dirty="0" err="1">
              <a:solidFill>
                <a:srgbClr val="FF0000"/>
              </a:solidFill>
              <a:latin typeface="+mj-lt"/>
            </a:rPr>
            <a:t>thay</a:t>
          </a:r>
          <a:r>
            <a:rPr lang="en-US" sz="1000" b="1" dirty="0">
              <a:solidFill>
                <a:srgbClr val="FF0000"/>
              </a:solidFill>
              <a:latin typeface="+mj-lt"/>
            </a:rPr>
            <a:t> </a:t>
          </a:r>
          <a:r>
            <a:rPr lang="en-US" sz="1000" b="1" dirty="0" err="1">
              <a:solidFill>
                <a:srgbClr val="FF0000"/>
              </a:solidFill>
              <a:latin typeface="+mj-lt"/>
            </a:rPr>
            <a:t>đổi</a:t>
          </a:r>
          <a:r>
            <a:rPr lang="en-US" sz="1000" b="1" dirty="0">
              <a:solidFill>
                <a:srgbClr val="FF0000"/>
              </a:solidFill>
              <a:latin typeface="+mj-lt"/>
            </a:rPr>
            <a:t>:</a:t>
          </a:r>
        </a:p>
        <a:p xmlns:a="http://schemas.openxmlformats.org/drawingml/2006/main">
          <a:pPr marL="171450" indent="-171450">
            <a:buFontTx/>
            <a:buChar char="-"/>
          </a:pPr>
          <a:r>
            <a:rPr lang="en-US" sz="1000" b="1" dirty="0">
              <a:solidFill>
                <a:schemeClr val="tx1"/>
              </a:solidFill>
              <a:latin typeface="+mj-lt"/>
            </a:rPr>
            <a:t>Update 07/04: </a:t>
          </a:r>
          <a:r>
            <a:rPr lang="en-US" sz="1000" dirty="0">
              <a:solidFill>
                <a:schemeClr val="tx1"/>
              </a:solidFill>
              <a:latin typeface="+mj-lt"/>
            </a:rPr>
            <a:t>21137 </a:t>
          </a:r>
          <a:r>
            <a:rPr lang="en-US" sz="1000" dirty="0" err="1">
              <a:solidFill>
                <a:schemeClr val="tx1"/>
              </a:solidFill>
              <a:latin typeface="+mj-lt"/>
            </a:rPr>
            <a:t>và</a:t>
          </a:r>
          <a:r>
            <a:rPr lang="en-US" sz="1000" dirty="0">
              <a:solidFill>
                <a:schemeClr val="tx1"/>
              </a:solidFill>
              <a:latin typeface="+mj-lt"/>
            </a:rPr>
            <a:t> 21043 (shop N3) delay 1 </a:t>
          </a:r>
          <a:r>
            <a:rPr lang="en-US" sz="1000" dirty="0" err="1">
              <a:solidFill>
                <a:schemeClr val="tx1"/>
              </a:solidFill>
              <a:latin typeface="+mj-lt"/>
            </a:rPr>
            <a:t>tuần</a:t>
          </a:r>
          <a:r>
            <a:rPr lang="en-US" sz="1000" dirty="0">
              <a:solidFill>
                <a:schemeClr val="tx1"/>
              </a:solidFill>
              <a:latin typeface="+mj-lt"/>
            </a:rPr>
            <a:t>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1 </a:t>
          </a:r>
          <a:r>
            <a:rPr lang="en-US" sz="1000" dirty="0" err="1">
              <a:solidFill>
                <a:schemeClr val="tx1"/>
              </a:solidFill>
              <a:latin typeface="+mj-lt"/>
            </a:rPr>
            <a:t>tuần</a:t>
          </a:r>
          <a:r>
            <a:rPr lang="en-US" sz="1000" dirty="0">
              <a:solidFill>
                <a:schemeClr val="tx1"/>
              </a:solidFill>
              <a:latin typeface="+mj-lt"/>
            </a:rPr>
            <a:t> AOG </a:t>
          </a:r>
          <a:r>
            <a:rPr lang="en-US" sz="1000" dirty="0" err="1">
              <a:solidFill>
                <a:schemeClr val="tx1"/>
              </a:solidFill>
              <a:latin typeface="+mj-lt"/>
            </a:rPr>
            <a:t>vào</a:t>
          </a:r>
          <a:r>
            <a:rPr lang="en-US" sz="1000" dirty="0">
              <a:solidFill>
                <a:schemeClr val="tx1"/>
              </a:solidFill>
              <a:latin typeface="+mj-lt"/>
            </a:rPr>
            <a:t> T6). .</a:t>
          </a:r>
        </a:p>
        <a:p xmlns:a="http://schemas.openxmlformats.org/drawingml/2006/main">
          <a:pPr marL="171450" indent="-171450">
            <a:buFontTx/>
            <a:buChar char="-"/>
          </a:pPr>
          <a:r>
            <a:rPr lang="en-US" sz="1000" b="1" dirty="0">
              <a:solidFill>
                <a:schemeClr val="tx1"/>
              </a:solidFill>
              <a:latin typeface="+mj-lt"/>
            </a:rPr>
            <a:t>Update 13/04: </a:t>
          </a:r>
          <a:r>
            <a:rPr lang="en-US" sz="1000" dirty="0">
              <a:solidFill>
                <a:schemeClr val="tx1"/>
              </a:solidFill>
              <a:latin typeface="+mj-lt"/>
            </a:rPr>
            <a:t>21043 delay </a:t>
          </a:r>
          <a:r>
            <a:rPr lang="en-US" sz="1000" dirty="0" err="1">
              <a:solidFill>
                <a:schemeClr val="tx1"/>
              </a:solidFill>
              <a:latin typeface="+mj-lt"/>
            </a:rPr>
            <a:t>thêm</a:t>
          </a:r>
          <a:r>
            <a:rPr lang="en-US" sz="1000" dirty="0">
              <a:solidFill>
                <a:schemeClr val="tx1"/>
              </a:solidFill>
              <a:latin typeface="+mj-lt"/>
            </a:rPr>
            <a:t> 1 </a:t>
          </a:r>
          <a:r>
            <a:rPr lang="en-US" sz="1000" dirty="0" err="1">
              <a:solidFill>
                <a:schemeClr val="tx1"/>
              </a:solidFill>
              <a:latin typeface="+mj-lt"/>
            </a:rPr>
            <a:t>tuần</a:t>
          </a:r>
          <a:r>
            <a:rPr lang="en-US" sz="1000" dirty="0">
              <a:solidFill>
                <a:schemeClr val="tx1"/>
              </a:solidFill>
              <a:latin typeface="+mj-lt"/>
            </a:rPr>
            <a:t>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0.25 AOG </a:t>
          </a:r>
          <a:r>
            <a:rPr lang="en-US" sz="1000" dirty="0" err="1">
              <a:solidFill>
                <a:schemeClr val="tx1"/>
              </a:solidFill>
              <a:latin typeface="+mj-lt"/>
            </a:rPr>
            <a:t>vào</a:t>
          </a:r>
          <a:r>
            <a:rPr lang="en-US" sz="1000" dirty="0">
              <a:solidFill>
                <a:schemeClr val="tx1"/>
              </a:solidFill>
              <a:latin typeface="+mj-lt"/>
            </a:rPr>
            <a:t> T6. </a:t>
          </a:r>
        </a:p>
        <a:p xmlns:a="http://schemas.openxmlformats.org/drawingml/2006/main">
          <a:pPr marL="171450" indent="-171450">
            <a:buFontTx/>
            <a:buChar char="-"/>
          </a:pPr>
          <a:r>
            <a:rPr lang="en-US" sz="1000" b="1" dirty="0">
              <a:solidFill>
                <a:schemeClr val="tx1"/>
              </a:solidFill>
              <a:latin typeface="+mj-lt"/>
            </a:rPr>
            <a:t>Update 20/04: </a:t>
          </a:r>
          <a:r>
            <a:rPr lang="en-US" sz="1000" dirty="0" err="1">
              <a:solidFill>
                <a:schemeClr val="tx1"/>
              </a:solidFill>
              <a:latin typeface="+mj-lt"/>
            </a:rPr>
            <a:t>ảnh</a:t>
          </a:r>
          <a:r>
            <a:rPr lang="en-US" sz="1000" dirty="0">
              <a:solidFill>
                <a:schemeClr val="tx1"/>
              </a:solidFill>
              <a:latin typeface="+mj-lt"/>
            </a:rPr>
            <a:t> </a:t>
          </a:r>
          <a:r>
            <a:rPr lang="en-US" sz="1000" dirty="0" err="1">
              <a:solidFill>
                <a:schemeClr val="tx1"/>
              </a:solidFill>
              <a:latin typeface="+mj-lt"/>
            </a:rPr>
            <a:t>hưởng</a:t>
          </a:r>
          <a:r>
            <a:rPr lang="en-US" sz="1000" dirty="0">
              <a:solidFill>
                <a:schemeClr val="tx1"/>
              </a:solidFill>
              <a:latin typeface="+mj-lt"/>
            </a:rPr>
            <a:t> </a:t>
          </a:r>
          <a:r>
            <a:rPr lang="en-US" sz="1000" dirty="0" err="1">
              <a:solidFill>
                <a:schemeClr val="tx1"/>
              </a:solidFill>
              <a:latin typeface="+mj-lt"/>
            </a:rPr>
            <a:t>của</a:t>
          </a:r>
          <a:r>
            <a:rPr lang="en-US" sz="1000" dirty="0">
              <a:solidFill>
                <a:schemeClr val="tx1"/>
              </a:solidFill>
              <a:latin typeface="+mj-lt"/>
            </a:rPr>
            <a:t> 21316 </a:t>
          </a:r>
          <a:r>
            <a:rPr lang="en-US" sz="1000" dirty="0" err="1">
              <a:solidFill>
                <a:schemeClr val="tx1"/>
              </a:solidFill>
              <a:latin typeface="+mj-lt"/>
            </a:rPr>
            <a:t>hỏng</a:t>
          </a:r>
          <a:r>
            <a:rPr lang="en-US" sz="1000" dirty="0">
              <a:solidFill>
                <a:schemeClr val="tx1"/>
              </a:solidFill>
              <a:latin typeface="+mj-lt"/>
            </a:rPr>
            <a:t> </a:t>
          </a:r>
          <a:r>
            <a:rPr lang="en-US" sz="1000" dirty="0" err="1">
              <a:solidFill>
                <a:schemeClr val="tx1"/>
              </a:solidFill>
              <a:latin typeface="+mj-lt"/>
            </a:rPr>
            <a:t>hóc</a:t>
          </a:r>
          <a:r>
            <a:rPr lang="en-US" sz="1000" dirty="0">
              <a:solidFill>
                <a:schemeClr val="tx1"/>
              </a:solidFill>
              <a:latin typeface="+mj-lt"/>
            </a:rPr>
            <a:t>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0.5 AOG T4.</a:t>
          </a:r>
        </a:p>
        <a:p xmlns:a="http://schemas.openxmlformats.org/drawingml/2006/main">
          <a:pPr marL="171450" indent="-171450">
            <a:buFontTx/>
            <a:buChar char="-"/>
          </a:pPr>
          <a:r>
            <a:rPr lang="en-US" sz="1000" b="1" dirty="0">
              <a:solidFill>
                <a:schemeClr val="tx1"/>
              </a:solidFill>
              <a:latin typeface="+mj-lt"/>
            </a:rPr>
            <a:t>Update 27/04: </a:t>
          </a:r>
          <a:r>
            <a:rPr lang="en-US" sz="1000" dirty="0" err="1">
              <a:solidFill>
                <a:schemeClr val="tx1"/>
              </a:solidFill>
              <a:latin typeface="+mj-lt"/>
            </a:rPr>
            <a:t>động</a:t>
          </a:r>
          <a:r>
            <a:rPr lang="en-US" sz="1000" dirty="0">
              <a:solidFill>
                <a:schemeClr val="tx1"/>
              </a:solidFill>
              <a:latin typeface="+mj-lt"/>
            </a:rPr>
            <a:t> </a:t>
          </a:r>
          <a:r>
            <a:rPr lang="en-US" sz="1000" dirty="0" err="1">
              <a:solidFill>
                <a:schemeClr val="tx1"/>
              </a:solidFill>
              <a:latin typeface="+mj-lt"/>
            </a:rPr>
            <a:t>cơ</a:t>
          </a:r>
          <a:r>
            <a:rPr lang="en-US" sz="1000" dirty="0">
              <a:solidFill>
                <a:schemeClr val="tx1"/>
              </a:solidFill>
              <a:latin typeface="+mj-lt"/>
            </a:rPr>
            <a:t> 21043 (N3) </a:t>
          </a:r>
          <a:r>
            <a:rPr lang="en-US" sz="1000" dirty="0" err="1">
              <a:solidFill>
                <a:schemeClr val="tx1"/>
              </a:solidFill>
              <a:latin typeface="+mj-lt"/>
            </a:rPr>
            <a:t>tiếp</a:t>
          </a:r>
          <a:r>
            <a:rPr lang="en-US" sz="1000" dirty="0">
              <a:solidFill>
                <a:schemeClr val="tx1"/>
              </a:solidFill>
              <a:latin typeface="+mj-lt"/>
            </a:rPr>
            <a:t> </a:t>
          </a:r>
          <a:r>
            <a:rPr lang="en-US" sz="1000" dirty="0" err="1">
              <a:solidFill>
                <a:schemeClr val="tx1"/>
              </a:solidFill>
              <a:latin typeface="+mj-lt"/>
            </a:rPr>
            <a:t>tục</a:t>
          </a:r>
          <a:r>
            <a:rPr lang="en-US" sz="1000" dirty="0">
              <a:solidFill>
                <a:schemeClr val="tx1"/>
              </a:solidFill>
              <a:latin typeface="+mj-lt"/>
            </a:rPr>
            <a:t> delay 14 </a:t>
          </a:r>
          <a:r>
            <a:rPr lang="en-US" sz="1000" dirty="0" err="1">
              <a:solidFill>
                <a:schemeClr val="tx1"/>
              </a:solidFill>
              <a:latin typeface="+mj-lt"/>
            </a:rPr>
            <a:t>ngày</a:t>
          </a:r>
          <a:r>
            <a:rPr lang="en-US" sz="1000" dirty="0">
              <a:solidFill>
                <a:schemeClr val="tx1"/>
              </a:solidFill>
              <a:latin typeface="+mj-lt"/>
            </a:rPr>
            <a:t>, </a:t>
          </a:r>
          <a:r>
            <a:rPr lang="en-US" sz="1000" dirty="0" err="1">
              <a:solidFill>
                <a:schemeClr val="tx1"/>
              </a:solidFill>
              <a:latin typeface="+mj-lt"/>
            </a:rPr>
            <a:t>tuy</a:t>
          </a:r>
          <a:r>
            <a:rPr lang="en-US" sz="1000" dirty="0">
              <a:solidFill>
                <a:schemeClr val="tx1"/>
              </a:solidFill>
              <a:latin typeface="+mj-lt"/>
            </a:rPr>
            <a:t> </a:t>
          </a:r>
          <a:r>
            <a:rPr lang="en-US" sz="1000" dirty="0" err="1">
              <a:solidFill>
                <a:schemeClr val="tx1"/>
              </a:solidFill>
              <a:latin typeface="+mj-lt"/>
            </a:rPr>
            <a:t>nhiên</a:t>
          </a:r>
          <a:r>
            <a:rPr lang="en-US" sz="1000" dirty="0">
              <a:solidFill>
                <a:schemeClr val="tx1"/>
              </a:solidFill>
              <a:latin typeface="+mj-lt"/>
            </a:rPr>
            <a:t> KTMB </a:t>
          </a:r>
          <a:r>
            <a:rPr lang="en-US" sz="1000" dirty="0" err="1">
              <a:solidFill>
                <a:schemeClr val="tx1"/>
              </a:solidFill>
              <a:latin typeface="+mj-lt"/>
            </a:rPr>
            <a:t>và</a:t>
          </a:r>
          <a:r>
            <a:rPr lang="en-US" sz="1000" dirty="0">
              <a:solidFill>
                <a:schemeClr val="tx1"/>
              </a:solidFill>
              <a:latin typeface="+mj-lt"/>
            </a:rPr>
            <a:t> MPP </a:t>
          </a:r>
          <a:r>
            <a:rPr lang="en-US" sz="1000" dirty="0" err="1">
              <a:solidFill>
                <a:schemeClr val="tx1"/>
              </a:solidFill>
              <a:latin typeface="+mj-lt"/>
            </a:rPr>
            <a:t>điều</a:t>
          </a:r>
          <a:r>
            <a:rPr lang="en-US" sz="1000" dirty="0">
              <a:solidFill>
                <a:schemeClr val="tx1"/>
              </a:solidFill>
              <a:latin typeface="+mj-lt"/>
            </a:rPr>
            <a:t> </a:t>
          </a:r>
          <a:r>
            <a:rPr lang="en-US" sz="1000" dirty="0" err="1">
              <a:solidFill>
                <a:schemeClr val="tx1"/>
              </a:solidFill>
              <a:latin typeface="+mj-lt"/>
            </a:rPr>
            <a:t>chỉnh</a:t>
          </a:r>
          <a:r>
            <a:rPr lang="en-US" sz="1000" dirty="0">
              <a:solidFill>
                <a:schemeClr val="tx1"/>
              </a:solidFill>
              <a:latin typeface="+mj-lt"/>
            </a:rPr>
            <a:t> </a:t>
          </a:r>
          <a:r>
            <a:rPr lang="en-US" sz="1000" dirty="0" err="1">
              <a:solidFill>
                <a:schemeClr val="tx1"/>
              </a:solidFill>
              <a:latin typeface="+mj-lt"/>
            </a:rPr>
            <a:t>để</a:t>
          </a:r>
          <a:r>
            <a:rPr lang="en-US" sz="1000" dirty="0">
              <a:solidFill>
                <a:schemeClr val="tx1"/>
              </a:solidFill>
              <a:latin typeface="+mj-lt"/>
            </a:rPr>
            <a:t> </a:t>
          </a:r>
          <a:r>
            <a:rPr lang="en-US" sz="1000" dirty="0" err="1">
              <a:solidFill>
                <a:schemeClr val="tx1"/>
              </a:solidFill>
              <a:latin typeface="+mj-lt"/>
            </a:rPr>
            <a:t>không</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AOG.  </a:t>
          </a:r>
          <a:r>
            <a:rPr lang="en-US" sz="1000" dirty="0" err="1">
              <a:solidFill>
                <a:schemeClr val="tx1"/>
              </a:solidFill>
              <a:latin typeface="+mj-lt"/>
            </a:rPr>
            <a:t>Động</a:t>
          </a:r>
          <a:r>
            <a:rPr lang="en-US" sz="1000" dirty="0">
              <a:solidFill>
                <a:schemeClr val="tx1"/>
              </a:solidFill>
              <a:latin typeface="+mj-lt"/>
            </a:rPr>
            <a:t> </a:t>
          </a:r>
          <a:r>
            <a:rPr lang="en-US" sz="1000" dirty="0" err="1">
              <a:solidFill>
                <a:schemeClr val="tx1"/>
              </a:solidFill>
              <a:latin typeface="+mj-lt"/>
            </a:rPr>
            <a:t>cơ</a:t>
          </a:r>
          <a:r>
            <a:rPr lang="en-US" sz="1000" dirty="0">
              <a:solidFill>
                <a:schemeClr val="tx1"/>
              </a:solidFill>
              <a:latin typeface="+mj-lt"/>
            </a:rPr>
            <a:t> 21048 TAT 190 </a:t>
          </a:r>
          <a:r>
            <a:rPr lang="en-US" sz="1000" dirty="0" err="1">
              <a:solidFill>
                <a:schemeClr val="tx1"/>
              </a:solidFill>
              <a:latin typeface="+mj-lt"/>
            </a:rPr>
            <a:t>ngày</a:t>
          </a:r>
          <a:r>
            <a:rPr lang="en-US" sz="1000" dirty="0">
              <a:solidFill>
                <a:schemeClr val="tx1"/>
              </a:solidFill>
              <a:latin typeface="+mj-lt"/>
            </a:rPr>
            <a:t> </a:t>
          </a:r>
          <a:r>
            <a:rPr lang="en-US" sz="1000" dirty="0" err="1">
              <a:solidFill>
                <a:schemeClr val="tx1"/>
              </a:solidFill>
              <a:latin typeface="+mj-lt"/>
            </a:rPr>
            <a:t>thay</a:t>
          </a:r>
          <a:r>
            <a:rPr lang="en-US" sz="1000" dirty="0">
              <a:solidFill>
                <a:schemeClr val="tx1"/>
              </a:solidFill>
              <a:latin typeface="+mj-lt"/>
            </a:rPr>
            <a:t> </a:t>
          </a:r>
          <a:r>
            <a:rPr lang="en-US" sz="1000" dirty="0" err="1">
              <a:solidFill>
                <a:schemeClr val="tx1"/>
              </a:solidFill>
              <a:latin typeface="+mj-lt"/>
            </a:rPr>
            <a:t>vì</a:t>
          </a:r>
          <a:r>
            <a:rPr lang="en-US" sz="1000" dirty="0">
              <a:solidFill>
                <a:schemeClr val="tx1"/>
              </a:solidFill>
              <a:latin typeface="+mj-lt"/>
            </a:rPr>
            <a:t> 160 </a:t>
          </a:r>
          <a:r>
            <a:rPr lang="en-US" sz="1000" dirty="0" err="1">
              <a:solidFill>
                <a:schemeClr val="tx1"/>
              </a:solidFill>
              <a:latin typeface="+mj-lt"/>
            </a:rPr>
            <a:t>ngày</a:t>
          </a:r>
          <a:r>
            <a:rPr lang="en-US" sz="1000" dirty="0">
              <a:solidFill>
                <a:schemeClr val="tx1"/>
              </a:solidFill>
              <a:latin typeface="+mj-lt"/>
            </a:rPr>
            <a:t> </a:t>
          </a:r>
          <a:r>
            <a:rPr lang="en-US" sz="1000" dirty="0" err="1">
              <a:solidFill>
                <a:schemeClr val="tx1"/>
              </a:solidFill>
              <a:latin typeface="+mj-lt"/>
            </a:rPr>
            <a:t>theo</a:t>
          </a:r>
          <a:r>
            <a:rPr lang="en-US" sz="1000" dirty="0">
              <a:solidFill>
                <a:schemeClr val="tx1"/>
              </a:solidFill>
              <a:latin typeface="+mj-lt"/>
            </a:rPr>
            <a:t> KH </a:t>
          </a:r>
          <a:r>
            <a:rPr lang="en-US" sz="1000" dirty="0" err="1">
              <a:solidFill>
                <a:schemeClr val="tx1"/>
              </a:solidFill>
              <a:latin typeface="+mj-lt"/>
            </a:rPr>
            <a:t>của</a:t>
          </a:r>
          <a:r>
            <a:rPr lang="en-US" sz="1000" dirty="0">
              <a:solidFill>
                <a:schemeClr val="tx1"/>
              </a:solidFill>
              <a:latin typeface="+mj-lt"/>
            </a:rPr>
            <a:t> RR </a:t>
          </a:r>
          <a:r>
            <a:rPr lang="en-US" sz="1000" dirty="0" err="1">
              <a:solidFill>
                <a:schemeClr val="tx1"/>
              </a:solidFill>
              <a:latin typeface="+mj-lt"/>
            </a:rPr>
            <a:t>làm</a:t>
          </a:r>
          <a:r>
            <a:rPr lang="en-US" sz="1000" dirty="0">
              <a:solidFill>
                <a:schemeClr val="tx1"/>
              </a:solidFill>
              <a:latin typeface="+mj-lt"/>
            </a:rPr>
            <a:t> </a:t>
          </a:r>
          <a:r>
            <a:rPr lang="en-US" sz="1000" dirty="0" err="1">
              <a:solidFill>
                <a:schemeClr val="tx1"/>
              </a:solidFill>
              <a:latin typeface="+mj-lt"/>
            </a:rPr>
            <a:t>tăng</a:t>
          </a:r>
          <a:r>
            <a:rPr lang="en-US" sz="1000" dirty="0">
              <a:solidFill>
                <a:schemeClr val="tx1"/>
              </a:solidFill>
              <a:latin typeface="+mj-lt"/>
            </a:rPr>
            <a:t> 0.5 AOG T10.</a:t>
          </a:r>
          <a:endParaRPr lang="en-US" sz="1000" b="1" dirty="0">
            <a:solidFill>
              <a:schemeClr val="tx1"/>
            </a:solidFill>
            <a:latin typeface="+mj-lt"/>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04-May-25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777988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55383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4FA6629-0541-A72B-9666-3867BA3B1B3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33C17C1-660C-B50B-D9ED-3A9017B9A4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5200AEC9-ACBB-DD3B-D360-70F8D39EF07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30CE1C0-6CFB-CDC4-EAAA-DD572481BE9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21756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0529EE75-E89D-62F3-06A2-EE9280FB540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E6E561D9-0174-854A-255A-2008ADB3C1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D78C1B7-E29E-2206-E89D-E1774B78D0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9B9E57D-8F69-F6C4-C6A5-E64BA4FA19D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54728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85739" indent="-285739">
              <a:lnSpc>
                <a:spcPts val="2125"/>
              </a:lnSpc>
              <a:buSzPct val="100000"/>
              <a:buFontTx/>
              <a:buChar char="•"/>
            </a:pPr>
            <a:r>
              <a:rPr lang="en-US" sz="600" dirty="0" err="1" smtClean="0">
                <a:latin typeface="Times New Roman" panose="02020603050405020304" pitchFamily="18" charset="0"/>
                <a:ea typeface="Open Sans" pitchFamily="34" charset="-122"/>
                <a:cs typeface="Times New Roman" panose="02020603050405020304" pitchFamily="18" charset="0"/>
              </a:rPr>
              <a:t>Đội</a:t>
            </a:r>
            <a:r>
              <a:rPr lang="en-US" sz="600" dirty="0" smtClean="0">
                <a:latin typeface="Times New Roman" panose="02020603050405020304" pitchFamily="18" charset="0"/>
                <a:ea typeface="Open Sans" pitchFamily="34" charset="-122"/>
                <a:cs typeface="Times New Roman" panose="02020603050405020304" pitchFamily="18" charset="0"/>
              </a:rPr>
              <a:t> bay A321 </a:t>
            </a:r>
            <a:r>
              <a:rPr lang="en-US" sz="600" dirty="0" err="1" smtClean="0">
                <a:latin typeface="Times New Roman" panose="02020603050405020304" pitchFamily="18" charset="0"/>
                <a:ea typeface="Open Sans" pitchFamily="34" charset="-122"/>
                <a:cs typeface="Times New Roman" panose="02020603050405020304" pitchFamily="18" charset="0"/>
              </a:rPr>
              <a:t>trong</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tuần</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phát</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sinh</a:t>
            </a:r>
            <a:r>
              <a:rPr lang="en-US" sz="600" dirty="0" smtClean="0">
                <a:latin typeface="Times New Roman" panose="02020603050405020304" pitchFamily="18" charset="0"/>
                <a:ea typeface="Open Sans" pitchFamily="34" charset="-122"/>
                <a:cs typeface="Times New Roman" panose="02020603050405020304" pitchFamily="18" charset="0"/>
              </a:rPr>
              <a:t> 02 </a:t>
            </a:r>
            <a:r>
              <a:rPr lang="en-US" sz="600" dirty="0" err="1" smtClean="0">
                <a:latin typeface="Times New Roman" panose="02020603050405020304" pitchFamily="18" charset="0"/>
                <a:ea typeface="Open Sans" pitchFamily="34" charset="-122"/>
                <a:cs typeface="Times New Roman" panose="02020603050405020304" pitchFamily="18" charset="0"/>
              </a:rPr>
              <a:t>vụ</a:t>
            </a:r>
            <a:r>
              <a:rPr lang="en-US" sz="600" dirty="0" smtClean="0">
                <a:latin typeface="Times New Roman" panose="02020603050405020304" pitchFamily="18" charset="0"/>
                <a:ea typeface="Open Sans" pitchFamily="34" charset="-122"/>
                <a:cs typeface="Times New Roman" panose="02020603050405020304" pitchFamily="18" charset="0"/>
              </a:rPr>
              <a:t> AOG </a:t>
            </a:r>
            <a:r>
              <a:rPr lang="en-US" sz="600" dirty="0" err="1" smtClean="0">
                <a:latin typeface="Times New Roman" panose="02020603050405020304" pitchFamily="18" charset="0"/>
                <a:ea typeface="Open Sans" pitchFamily="34" charset="-122"/>
                <a:cs typeface="Times New Roman" panose="02020603050405020304" pitchFamily="18" charset="0"/>
              </a:rPr>
              <a:t>trong</a:t>
            </a:r>
            <a:r>
              <a:rPr lang="en-US" sz="600" dirty="0" smtClean="0">
                <a:latin typeface="Times New Roman" panose="02020603050405020304" pitchFamily="18" charset="0"/>
                <a:ea typeface="Open Sans" pitchFamily="34" charset="-122"/>
                <a:cs typeface="Times New Roman" panose="02020603050405020304" pitchFamily="18" charset="0"/>
              </a:rPr>
              <a:t> </a:t>
            </a:r>
            <a:r>
              <a:rPr lang="en-US" sz="600" dirty="0" err="1" smtClean="0">
                <a:latin typeface="Times New Roman" panose="02020603050405020304" pitchFamily="18" charset="0"/>
                <a:ea typeface="Open Sans" pitchFamily="34" charset="-122"/>
                <a:cs typeface="Times New Roman" panose="02020603050405020304" pitchFamily="18" charset="0"/>
              </a:rPr>
              <a:t>đó</a:t>
            </a:r>
            <a:r>
              <a:rPr lang="en-US" sz="600" dirty="0" smtClean="0">
                <a:latin typeface="Times New Roman" panose="02020603050405020304" pitchFamily="18" charset="0"/>
                <a:ea typeface="Open Sans" pitchFamily="34" charset="-122"/>
                <a:cs typeface="Times New Roman" panose="02020603050405020304" pitchFamily="18" charset="0"/>
              </a:rPr>
              <a:t>:</a:t>
            </a:r>
          </a:p>
          <a:p>
            <a:pPr marL="285739" marR="0" indent="-285739" algn="l" defTabSz="914400" rtl="0" eaLnBrk="1" fontAlgn="auto" latinLnBrk="0" hangingPunct="1">
              <a:lnSpc>
                <a:spcPts val="2125"/>
              </a:lnSpc>
              <a:spcBef>
                <a:spcPts val="0"/>
              </a:spcBef>
              <a:spcAft>
                <a:spcPts val="0"/>
              </a:spcAft>
              <a:buClrTx/>
              <a:buSzPct val="100000"/>
              <a:buFontTx/>
              <a:buChar char="•"/>
              <a:tabLst/>
              <a:defRPr/>
            </a:pPr>
            <a:r>
              <a:rPr lang="en-US" sz="800" dirty="0" smtClean="0">
                <a:effectLst/>
              </a:rPr>
              <a:t>A339 AOG</a:t>
            </a:r>
            <a:r>
              <a:rPr lang="en-US" sz="800" baseline="0" dirty="0" smtClean="0">
                <a:effectLst/>
              </a:rPr>
              <a:t> do </a:t>
            </a:r>
            <a:r>
              <a:rPr lang="en-US" sz="800" baseline="0" dirty="0" err="1" smtClean="0">
                <a:effectLst/>
              </a:rPr>
              <a:t>lỗi</a:t>
            </a:r>
            <a:r>
              <a:rPr lang="en-US" sz="800" baseline="0" dirty="0" smtClean="0">
                <a:effectLst/>
              </a:rPr>
              <a:t> </a:t>
            </a:r>
            <a:r>
              <a:rPr lang="en-US" sz="800" dirty="0" smtClean="0">
                <a:effectLst/>
              </a:rPr>
              <a:t>NAV IR 1 FAULT </a:t>
            </a:r>
            <a:r>
              <a:rPr lang="en-US" sz="800" dirty="0" err="1" smtClean="0">
                <a:effectLst/>
              </a:rPr>
              <a:t>đã</a:t>
            </a:r>
            <a:r>
              <a:rPr lang="en-US" sz="800" baseline="0" dirty="0" smtClean="0">
                <a:effectLst/>
              </a:rPr>
              <a:t> </a:t>
            </a:r>
            <a:r>
              <a:rPr lang="en-US" sz="800" baseline="0" dirty="0" err="1" smtClean="0">
                <a:effectLst/>
              </a:rPr>
              <a:t>thực</a:t>
            </a:r>
            <a:r>
              <a:rPr lang="en-US" sz="800" baseline="0" dirty="0" smtClean="0">
                <a:effectLst/>
              </a:rPr>
              <a:t> </a:t>
            </a:r>
            <a:r>
              <a:rPr lang="en-US" sz="800" baseline="0" dirty="0" err="1" smtClean="0">
                <a:effectLst/>
              </a:rPr>
              <a:t>hiện</a:t>
            </a:r>
            <a:r>
              <a:rPr lang="en-US" sz="800" baseline="0" dirty="0" smtClean="0">
                <a:effectLst/>
              </a:rPr>
              <a:t> </a:t>
            </a:r>
            <a:r>
              <a:rPr lang="en-US" sz="800" baseline="0" dirty="0" err="1" smtClean="0">
                <a:effectLst/>
              </a:rPr>
              <a:t>thay</a:t>
            </a:r>
            <a:r>
              <a:rPr lang="en-US" sz="800" baseline="0" dirty="0" smtClean="0">
                <a:effectLst/>
              </a:rPr>
              <a:t> CB</a:t>
            </a:r>
          </a:p>
          <a:p>
            <a:pPr marL="285739" marR="0" indent="-285739" algn="l" defTabSz="914400" rtl="0" eaLnBrk="1" fontAlgn="auto" latinLnBrk="0" hangingPunct="1">
              <a:lnSpc>
                <a:spcPts val="2125"/>
              </a:lnSpc>
              <a:spcBef>
                <a:spcPts val="0"/>
              </a:spcBef>
              <a:spcAft>
                <a:spcPts val="0"/>
              </a:spcAft>
              <a:buClrTx/>
              <a:buSzPct val="100000"/>
              <a:buFontTx/>
              <a:buChar char="•"/>
              <a:tabLst/>
              <a:defRPr/>
            </a:pPr>
            <a:r>
              <a:rPr lang="en-US" sz="800" dirty="0" smtClean="0">
                <a:effectLst/>
              </a:rPr>
              <a:t>A353 AOG</a:t>
            </a:r>
            <a:r>
              <a:rPr lang="en-US" sz="800" baseline="0" dirty="0" smtClean="0">
                <a:effectLst/>
              </a:rPr>
              <a:t> </a:t>
            </a:r>
            <a:r>
              <a:rPr lang="en-US" sz="800" baseline="0" dirty="0" err="1" smtClean="0">
                <a:effectLst/>
              </a:rPr>
              <a:t>phát</a:t>
            </a:r>
            <a:r>
              <a:rPr lang="en-US" sz="800" baseline="0" dirty="0" smtClean="0">
                <a:effectLst/>
              </a:rPr>
              <a:t> </a:t>
            </a:r>
            <a:r>
              <a:rPr lang="en-US" sz="800" baseline="0" dirty="0" err="1" smtClean="0">
                <a:effectLst/>
              </a:rPr>
              <a:t>hiện</a:t>
            </a:r>
            <a:r>
              <a:rPr lang="en-US" sz="800" baseline="0" dirty="0" smtClean="0">
                <a:effectLst/>
              </a:rPr>
              <a:t> </a:t>
            </a:r>
            <a:r>
              <a:rPr lang="en-US" sz="800" baseline="0" dirty="0" err="1" smtClean="0">
                <a:effectLst/>
              </a:rPr>
              <a:t>cảnh</a:t>
            </a:r>
            <a:r>
              <a:rPr lang="en-US" sz="800" baseline="0" dirty="0" smtClean="0">
                <a:effectLst/>
              </a:rPr>
              <a:t> </a:t>
            </a:r>
            <a:r>
              <a:rPr lang="en-US" sz="800" baseline="0" dirty="0" err="1" smtClean="0">
                <a:effectLst/>
              </a:rPr>
              <a:t>báo</a:t>
            </a:r>
            <a:r>
              <a:rPr lang="en-US" sz="800" baseline="0" dirty="0" smtClean="0">
                <a:effectLst/>
              </a:rPr>
              <a:t> Cargo door open </a:t>
            </a:r>
            <a:r>
              <a:rPr lang="en-US" sz="800" baseline="0" dirty="0" err="1" smtClean="0">
                <a:effectLst/>
              </a:rPr>
              <a:t>trên</a:t>
            </a:r>
            <a:r>
              <a:rPr lang="en-US" sz="800" baseline="0" dirty="0" smtClean="0">
                <a:effectLst/>
              </a:rPr>
              <a:t> ECAM, </a:t>
            </a:r>
            <a:r>
              <a:rPr lang="en-US" sz="800" baseline="0" dirty="0" err="1" smtClean="0">
                <a:effectLst/>
              </a:rPr>
              <a:t>phát</a:t>
            </a:r>
            <a:r>
              <a:rPr lang="en-US" sz="800" baseline="0" dirty="0" smtClean="0">
                <a:effectLst/>
              </a:rPr>
              <a:t> </a:t>
            </a:r>
            <a:r>
              <a:rPr lang="en-US" sz="800" baseline="0" dirty="0" err="1" smtClean="0">
                <a:effectLst/>
              </a:rPr>
              <a:t>hiện</a:t>
            </a:r>
            <a:r>
              <a:rPr lang="en-US" sz="800" baseline="0" dirty="0" smtClean="0">
                <a:effectLst/>
              </a:rPr>
              <a:t> </a:t>
            </a:r>
            <a:r>
              <a:rPr lang="vi-VN" sz="1200" b="0" i="0" kern="1200" dirty="0" smtClean="0">
                <a:solidFill>
                  <a:schemeClr val="tx1"/>
                </a:solidFill>
                <a:effectLst/>
                <a:latin typeface="+mn-lt"/>
                <a:ea typeface="+mn-ea"/>
                <a:cs typeface="+mn-cs"/>
              </a:rPr>
              <a:t>BUSING BỊ TUỘT RA KHỎI VỊ TRÍ DẪN ĐẾN VENT DOOR KẸT KO ĐÓNG KÍN ĐƯỢC</a:t>
            </a:r>
            <a:r>
              <a:rPr lang="en-US" sz="1200" b="0" i="0" kern="1200" dirty="0" smtClean="0">
                <a:solidFill>
                  <a:schemeClr val="tx1"/>
                </a:solidFill>
                <a:effectLst/>
                <a:latin typeface="+mn-lt"/>
                <a:ea typeface="+mn-ea"/>
                <a:cs typeface="+mn-cs"/>
              </a:rPr>
              <a:t> </a:t>
            </a:r>
            <a:endParaRPr lang="en-US" sz="800" dirty="0" smtClean="0">
              <a:effectLst/>
            </a:endParaRPr>
          </a:p>
          <a:p>
            <a:pPr marL="285739" marR="0" indent="-285739" algn="l" defTabSz="914400" rtl="0" eaLnBrk="1" fontAlgn="auto" latinLnBrk="0" hangingPunct="1">
              <a:lnSpc>
                <a:spcPts val="2125"/>
              </a:lnSpc>
              <a:spcBef>
                <a:spcPts val="0"/>
              </a:spcBef>
              <a:spcAft>
                <a:spcPts val="0"/>
              </a:spcAft>
              <a:buClrTx/>
              <a:buSzPct val="100000"/>
              <a:buFontTx/>
              <a:buChar char="•"/>
              <a:tabLst/>
              <a:defRPr/>
            </a:pPr>
            <a:endParaRPr lang="en-US" sz="800" dirty="0" smtClean="0">
              <a:effectLst/>
            </a:endParaRPr>
          </a:p>
          <a:p>
            <a:pPr marL="285739" indent="-285739">
              <a:lnSpc>
                <a:spcPts val="2125"/>
              </a:lnSpc>
              <a:buSzPct val="100000"/>
              <a:buFontTx/>
              <a:buChar char="•"/>
            </a:pPr>
            <a:endParaRPr lang="en-US" altLang="en-US" sz="7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78876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24792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10</a:t>
            </a:fld>
            <a:endParaRPr/>
          </a:p>
        </p:txBody>
      </p:sp>
    </p:spTree>
    <p:extLst>
      <p:ext uri="{BB962C8B-B14F-4D97-AF65-F5344CB8AC3E}">
        <p14:creationId xmlns:p14="http://schemas.microsoft.com/office/powerpoint/2010/main" val="2193620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11</a:t>
            </a:fld>
            <a:endParaRPr/>
          </a:p>
        </p:txBody>
      </p:sp>
    </p:spTree>
    <p:extLst>
      <p:ext uri="{BB962C8B-B14F-4D97-AF65-F5344CB8AC3E}">
        <p14:creationId xmlns:p14="http://schemas.microsoft.com/office/powerpoint/2010/main" val="3314869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B32A7D1-DC30-8DBF-34D0-1F3F0E550F1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1CFF4A2-3CD2-3708-5859-3B6FCCDBE3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B6163D7-E793-FC80-3FBC-F363A07B50C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D996FA1-AEB4-AAAE-EC1C-52A03E904E4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3356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3390443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3175065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50670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15C6D1E-D6FD-8D2D-4235-62366D1BDBD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80B6BCB-853F-3F9D-344A-23B2F7E239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EB8F982-A31C-7CB1-9B7A-29C8E5E9C0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AC0315F-EF69-0125-D01A-6B05E25B2A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8357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1640377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5536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1008183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199015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28025538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37763374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6224441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97523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27449963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1113643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18887299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24133023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extLst>
      <p:ext uri="{BB962C8B-B14F-4D97-AF65-F5344CB8AC3E}">
        <p14:creationId xmlns:p14="http://schemas.microsoft.com/office/powerpoint/2010/main" val="38662724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40</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259966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41</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5529914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43</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47590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48965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95968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2702792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48</a:t>
            </a:fld>
            <a:endParaRPr/>
          </a:p>
        </p:txBody>
      </p:sp>
    </p:spTree>
    <p:extLst>
      <p:ext uri="{BB962C8B-B14F-4D97-AF65-F5344CB8AC3E}">
        <p14:creationId xmlns:p14="http://schemas.microsoft.com/office/powerpoint/2010/main" val="1373000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334519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496920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011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52</a:t>
            </a:fld>
            <a:endParaRPr/>
          </a:p>
        </p:txBody>
      </p:sp>
    </p:spTree>
    <p:extLst>
      <p:ext uri="{BB962C8B-B14F-4D97-AF65-F5344CB8AC3E}">
        <p14:creationId xmlns:p14="http://schemas.microsoft.com/office/powerpoint/2010/main" val="30253756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402876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17473374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55</a:t>
            </a:fld>
            <a:endParaRPr/>
          </a:p>
        </p:txBody>
      </p:sp>
    </p:spTree>
    <p:extLst>
      <p:ext uri="{BB962C8B-B14F-4D97-AF65-F5344CB8AC3E}">
        <p14:creationId xmlns:p14="http://schemas.microsoft.com/office/powerpoint/2010/main" val="4586960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663643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57</a:t>
            </a:fld>
            <a:endParaRPr/>
          </a:p>
        </p:txBody>
      </p:sp>
    </p:spTree>
    <p:extLst>
      <p:ext uri="{BB962C8B-B14F-4D97-AF65-F5344CB8AC3E}">
        <p14:creationId xmlns:p14="http://schemas.microsoft.com/office/powerpoint/2010/main" val="36918771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683492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359735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60</a:t>
            </a:fld>
            <a:endParaRPr sz="1200">
              <a:latin typeface="Calibri"/>
              <a:ea typeface="Calibri"/>
              <a:cs typeface="Calibri"/>
              <a:sym typeface="Calibri"/>
            </a:endParaRPr>
          </a:p>
        </p:txBody>
      </p:sp>
    </p:spTree>
    <p:extLst>
      <p:ext uri="{BB962C8B-B14F-4D97-AF65-F5344CB8AC3E}">
        <p14:creationId xmlns:p14="http://schemas.microsoft.com/office/powerpoint/2010/main" val="24010700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61</a:t>
            </a:fld>
            <a:endParaRPr sz="1200">
              <a:latin typeface="Calibri"/>
              <a:ea typeface="Calibri"/>
              <a:cs typeface="Calibri"/>
              <a:sym typeface="Calibri"/>
            </a:endParaRPr>
          </a:p>
        </p:txBody>
      </p:sp>
    </p:spTree>
    <p:extLst>
      <p:ext uri="{BB962C8B-B14F-4D97-AF65-F5344CB8AC3E}">
        <p14:creationId xmlns:p14="http://schemas.microsoft.com/office/powerpoint/2010/main" val="9452899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40318648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63</a:t>
            </a:fld>
            <a:endParaRPr sz="1200">
              <a:latin typeface="Calibri"/>
              <a:ea typeface="Calibri"/>
              <a:cs typeface="Calibri"/>
              <a:sym typeface="Calibri"/>
            </a:endParaRPr>
          </a:p>
        </p:txBody>
      </p:sp>
    </p:spTree>
    <p:extLst>
      <p:ext uri="{BB962C8B-B14F-4D97-AF65-F5344CB8AC3E}">
        <p14:creationId xmlns:p14="http://schemas.microsoft.com/office/powerpoint/2010/main" val="19429029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40777396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65</a:t>
            </a:fld>
            <a:endParaRPr sz="1200">
              <a:latin typeface="Calibri"/>
              <a:ea typeface="Calibri"/>
              <a:cs typeface="Calibri"/>
              <a:sym typeface="Calibri"/>
            </a:endParaRPr>
          </a:p>
        </p:txBody>
      </p:sp>
    </p:spTree>
    <p:extLst>
      <p:ext uri="{BB962C8B-B14F-4D97-AF65-F5344CB8AC3E}">
        <p14:creationId xmlns:p14="http://schemas.microsoft.com/office/powerpoint/2010/main" val="12340067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45882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93254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25021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04-May-25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0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3.xml"/><Relationship Id="rId4" Type="http://schemas.openxmlformats.org/officeDocument/2006/relationships/chart" Target="../charts/char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18</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28/04/2025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04</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2489320295"/>
              </p:ext>
            </p:extLst>
          </p:nvPr>
        </p:nvGraphicFramePr>
        <p:xfrm>
          <a:off x="1675169" y="936294"/>
          <a:ext cx="4102936" cy="2398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3450707429"/>
              </p:ext>
            </p:extLst>
          </p:nvPr>
        </p:nvGraphicFramePr>
        <p:xfrm>
          <a:off x="6335550" y="936294"/>
          <a:ext cx="4054080" cy="23988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1226810541"/>
              </p:ext>
            </p:extLst>
          </p:nvPr>
        </p:nvGraphicFramePr>
        <p:xfrm>
          <a:off x="1675169" y="3569481"/>
          <a:ext cx="4102936" cy="23988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2998605096"/>
              </p:ext>
            </p:extLst>
          </p:nvPr>
        </p:nvGraphicFramePr>
        <p:xfrm>
          <a:off x="6350639" y="3607755"/>
          <a:ext cx="4054080" cy="239886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424358668"/>
              </p:ext>
            </p:extLst>
          </p:nvPr>
        </p:nvGraphicFramePr>
        <p:xfrm>
          <a:off x="1293640" y="952330"/>
          <a:ext cx="9609945" cy="2857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954866264"/>
              </p:ext>
            </p:extLst>
          </p:nvPr>
        </p:nvGraphicFramePr>
        <p:xfrm>
          <a:off x="1293640" y="3815866"/>
          <a:ext cx="9609945" cy="28498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381000" y="485872"/>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81000" y="1307068"/>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noProof="0"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spTree>
    <p:custDataLst>
      <p:tags r:id="rId1"/>
    </p:custDataLst>
    <p:extLst>
      <p:ext uri="{BB962C8B-B14F-4D97-AF65-F5344CB8AC3E}">
        <p14:creationId xmlns:p14="http://schemas.microsoft.com/office/powerpoint/2010/main" val="253621693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845422649"/>
              </p:ext>
            </p:extLst>
          </p:nvPr>
        </p:nvGraphicFramePr>
        <p:xfrm>
          <a:off x="375271" y="1079799"/>
          <a:ext cx="11463227" cy="2491373"/>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1">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319580">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636172">
                <a:tc>
                  <a:txBody>
                    <a:bodyPr/>
                    <a:lstStyle/>
                    <a:p>
                      <a:pPr algn="l" fontAlgn="t"/>
                      <a:endParaRPr lang="en-US" sz="1100" b="0" i="0" u="none" strike="noStrike" dirty="0" smtClean="0">
                        <a:solidFill>
                          <a:srgbClr val="000000"/>
                        </a:solidFill>
                        <a:effectLst/>
                        <a:latin typeface="Calibri" panose="020F0502020204030204" pitchFamily="34" charset="0"/>
                      </a:endParaRPr>
                    </a:p>
                    <a:p>
                      <a:pPr algn="l" fontAlgn="t"/>
                      <a:r>
                        <a:rPr lang="en-US" sz="1100" b="0" i="0" u="none" strike="noStrike" dirty="0" smtClean="0">
                          <a:solidFill>
                            <a:srgbClr val="000000"/>
                          </a:solidFill>
                          <a:effectLst/>
                          <a:latin typeface="Calibri" panose="020F0502020204030204" pitchFamily="34" charset="0"/>
                        </a:rPr>
                        <a:t> 1</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A867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06:00 01/05/2025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VN206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A/C HAD MSG ELEC P300 P400 DISTR CHANNEL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 EVENT CLOSED - C/O SWAP SPDU CARD P300 P400 SLOT-18 TO SLOT-0 &amp; TEST SATIS. A/C SERVICEABLE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TOTAL DELAY 48 MINS. TECH DELAY 24 MINS. ELEC P300 P400 DISTR </a:t>
                      </a:r>
                      <a:r>
                        <a:rPr lang="en-US" sz="1100" b="0" i="0" u="none" strike="noStrike" dirty="0" smtClean="0">
                          <a:solidFill>
                            <a:srgbClr val="000000"/>
                          </a:solidFill>
                          <a:effectLst/>
                          <a:latin typeface="Calibri" panose="020F0502020204030204" pitchFamily="34" charset="0"/>
                        </a:rPr>
                        <a:t>CHANNEL</a:t>
                      </a: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r h="600243">
                <a:tc>
                  <a:txBody>
                    <a:bodyPr/>
                    <a:lstStyle/>
                    <a:p>
                      <a:pPr algn="l" fontAlgn="t"/>
                      <a:endParaRPr lang="en-US" sz="1100" b="0" i="0" u="none" strike="noStrike" dirty="0" smtClean="0">
                        <a:solidFill>
                          <a:srgbClr val="000000"/>
                        </a:solidFill>
                        <a:effectLst/>
                        <a:latin typeface="Calibri" panose="020F0502020204030204" pitchFamily="34" charset="0"/>
                      </a:endParaRPr>
                    </a:p>
                    <a:p>
                      <a:pPr algn="l" fontAlgn="t"/>
                      <a:r>
                        <a:rPr lang="en-US" sz="1100" b="0" i="0" u="none" strike="noStrike" dirty="0" smtClean="0">
                          <a:solidFill>
                            <a:srgbClr val="000000"/>
                          </a:solidFill>
                          <a:effectLst/>
                          <a:latin typeface="Calibri" panose="020F0502020204030204" pitchFamily="34" charset="0"/>
                        </a:rPr>
                        <a:t>  2</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08:20 30/04/2025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VN7245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AFTER BOARDING COMPLETED, ECAM MSG: NAV IR 1 </a:t>
                      </a:r>
                      <a:r>
                        <a:rPr lang="en-US" sz="1100" b="0" i="0" u="none" strike="noStrike" dirty="0" smtClean="0">
                          <a:solidFill>
                            <a:srgbClr val="000000"/>
                          </a:solidFill>
                          <a:effectLst/>
                          <a:latin typeface="Calibri" panose="020F0502020204030204" pitchFamily="34" charset="0"/>
                        </a:rPr>
                        <a:t>FAULT</a:t>
                      </a: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 REPLACED C/B 4FP1, OPS TEST SATIS EVENT CLOSED  NAV IR 1 </a:t>
                      </a:r>
                      <a:r>
                        <a:rPr lang="en-US" sz="1100" b="0" i="0" u="none" strike="noStrike" dirty="0" smtClean="0">
                          <a:solidFill>
                            <a:srgbClr val="000000"/>
                          </a:solidFill>
                          <a:effectLst/>
                          <a:latin typeface="Calibri" panose="020F0502020204030204" pitchFamily="34" charset="0"/>
                        </a:rPr>
                        <a:t>FAULT</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172MIN, tech 92MIN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6354557"/>
                  </a:ext>
                </a:extLst>
              </a:tr>
              <a:tr h="869405">
                <a:tc>
                  <a:txBody>
                    <a:bodyPr/>
                    <a:lstStyle/>
                    <a:p>
                      <a:pPr algn="l" fontAlgn="t"/>
                      <a:r>
                        <a:rPr lang="en-US" sz="1100" b="0" i="0" u="none" strike="noStrike" dirty="0" smtClean="0">
                          <a:solidFill>
                            <a:srgbClr val="000000"/>
                          </a:solidFill>
                          <a:effectLst/>
                          <a:latin typeface="Calibri" panose="020F0502020204030204" pitchFamily="34" charset="0"/>
                        </a:rPr>
                        <a:t>  3</a:t>
                      </a:r>
                      <a:endParaRPr lang="en-US" sz="1100" b="0" i="0" u="none" strike="noStrike" dirty="0">
                        <a:solidFill>
                          <a:srgbClr val="000000"/>
                        </a:solidFill>
                        <a:effectLst/>
                        <a:latin typeface="Calibri" panose="020F0502020204030204" pitchFamily="34" charset="0"/>
                      </a:endParaRP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A898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09:46 28/04/2025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VN245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HAN-SGN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FOUND R/H Y CABIN LIGHTING LOSS A898 VN245 HAN-SGN ETD-08:00 (PREFLIGHT) FOUND R/H Y </a:t>
                      </a:r>
                      <a:r>
                        <a:rPr lang="en-US" sz="1100" b="0" i="0" u="none" strike="noStrike" dirty="0" smtClean="0">
                          <a:solidFill>
                            <a:srgbClr val="000000"/>
                          </a:solidFill>
                          <a:effectLst/>
                          <a:latin typeface="Calibri" panose="020F0502020204030204" pitchFamily="34" charset="0"/>
                        </a:rPr>
                        <a:t>CABIN </a:t>
                      </a:r>
                      <a:r>
                        <a:rPr lang="en-US" sz="1100" b="0" i="0" u="none" strike="noStrike" dirty="0">
                          <a:solidFill>
                            <a:srgbClr val="000000"/>
                          </a:solidFill>
                          <a:effectLst/>
                          <a:latin typeface="Calibri" panose="020F0502020204030204" pitchFamily="34" charset="0"/>
                        </a:rPr>
                        <a:t>LIGHTING LOSS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 EVENT CLOSED ACTION: REPLACE CONNECTOR 34PN -&gt; NIL HELP, REPLACE SENSOR 14PN -&gt; CHECK SATIS. VN245 DELAY 1H20’.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R/H Y CABIN LIGHTING </a:t>
                      </a:r>
                      <a:r>
                        <a:rPr lang="en-US" sz="1100" b="0" i="0" u="none" strike="noStrike" dirty="0" smtClean="0">
                          <a:solidFill>
                            <a:srgbClr val="000000"/>
                          </a:solidFill>
                          <a:effectLst/>
                          <a:latin typeface="Calibri" panose="020F0502020204030204" pitchFamily="34" charset="0"/>
                        </a:rPr>
                        <a:t>LOSS</a:t>
                      </a: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297940" y="3682966"/>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a:t>
            </a:r>
            <a:r>
              <a:rPr lang="en-US" sz="1600" b="1" dirty="0" smtClean="0">
                <a:solidFill>
                  <a:prstClr val="black"/>
                </a:solidFill>
                <a:latin typeface="Times New Roman" panose="02020603050405020304" pitchFamily="18" charset="0"/>
                <a:cs typeface="Times New Roman" panose="02020603050405020304" pitchFamily="18" charset="0"/>
              </a:rPr>
              <a:t>LỐP (</a:t>
            </a:r>
            <a:r>
              <a:rPr lang="en-US" sz="1600" b="1" dirty="0" err="1" smtClean="0">
                <a:solidFill>
                  <a:prstClr val="black"/>
                </a:solidFill>
                <a:latin typeface="Times New Roman" panose="02020603050405020304" pitchFamily="18" charset="0"/>
                <a:cs typeface="Times New Roman" panose="02020603050405020304" pitchFamily="18" charset="0"/>
              </a:rPr>
              <a:t>Không</a:t>
            </a:r>
            <a:r>
              <a:rPr lang="en-US" sz="1600" b="1" dirty="0" smtClean="0">
                <a:solidFill>
                  <a:prstClr val="black"/>
                </a:solidFill>
                <a:latin typeface="Times New Roman" panose="02020603050405020304" pitchFamily="18" charset="0"/>
                <a:cs typeface="Times New Roman" panose="02020603050405020304" pitchFamily="18" charset="0"/>
              </a:rPr>
              <a:t> </a:t>
            </a:r>
            <a:r>
              <a:rPr lang="en-US" sz="1600" b="1" dirty="0" err="1" smtClean="0">
                <a:solidFill>
                  <a:prstClr val="black"/>
                </a:solidFill>
                <a:latin typeface="Times New Roman" panose="02020603050405020304" pitchFamily="18" charset="0"/>
                <a:cs typeface="Times New Roman" panose="02020603050405020304" pitchFamily="18" charset="0"/>
              </a:rPr>
              <a:t>tính</a:t>
            </a:r>
            <a:r>
              <a:rPr lang="en-US" sz="1600" b="1" dirty="0" smtClean="0">
                <a:solidFill>
                  <a:prstClr val="black"/>
                </a:solidFill>
                <a:latin typeface="Times New Roman" panose="02020603050405020304" pitchFamily="18" charset="0"/>
                <a:cs typeface="Times New Roman" panose="02020603050405020304" pitchFamily="18" charset="0"/>
              </a:rPr>
              <a:t> </a:t>
            </a:r>
            <a:r>
              <a:rPr lang="en-US" sz="1600" b="1" dirty="0" err="1" smtClean="0">
                <a:solidFill>
                  <a:prstClr val="black"/>
                </a:solidFill>
                <a:latin typeface="Times New Roman" panose="02020603050405020304" pitchFamily="18" charset="0"/>
                <a:cs typeface="Times New Roman" panose="02020603050405020304" pitchFamily="18" charset="0"/>
              </a:rPr>
              <a:t>vào</a:t>
            </a:r>
            <a:r>
              <a:rPr lang="en-US" sz="1600" b="1" dirty="0" smtClean="0">
                <a:solidFill>
                  <a:prstClr val="black"/>
                </a:solidFill>
                <a:latin typeface="Times New Roman" panose="02020603050405020304" pitchFamily="18" charset="0"/>
                <a:cs typeface="Times New Roman" panose="02020603050405020304" pitchFamily="18" charset="0"/>
              </a:rPr>
              <a:t> chỉ </a:t>
            </a:r>
            <a:r>
              <a:rPr lang="en-US" sz="1600" b="1" dirty="0" err="1" smtClean="0">
                <a:solidFill>
                  <a:prstClr val="black"/>
                </a:solidFill>
                <a:latin typeface="Times New Roman" panose="02020603050405020304" pitchFamily="18" charset="0"/>
                <a:cs typeface="Times New Roman" panose="02020603050405020304" pitchFamily="18" charset="0"/>
              </a:rPr>
              <a:t>sô</a:t>
            </a:r>
            <a:r>
              <a:rPr lang="en-US" sz="1600" b="1" dirty="0" smtClean="0">
                <a:solidFill>
                  <a:prstClr val="black"/>
                </a:solidFill>
                <a:latin typeface="Times New Roman" panose="02020603050405020304" pitchFamily="18" charset="0"/>
                <a:cs typeface="Times New Roman" panose="02020603050405020304" pitchFamily="18" charset="0"/>
              </a:rPr>
              <a:t>́ delay)</a:t>
            </a:r>
            <a:endParaRPr lang="en-US" sz="1600" b="1" dirty="0">
              <a:solidFill>
                <a:prstClr val="black"/>
              </a:solidFill>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64641045"/>
              </p:ext>
            </p:extLst>
          </p:nvPr>
        </p:nvGraphicFramePr>
        <p:xfrm>
          <a:off x="375271" y="4085252"/>
          <a:ext cx="11430000" cy="1062312"/>
        </p:xfrm>
        <a:graphic>
          <a:graphicData uri="http://schemas.openxmlformats.org/drawingml/2006/table">
            <a:tbl>
              <a:tblPr/>
              <a:tblGrid>
                <a:gridCol w="270853">
                  <a:extLst>
                    <a:ext uri="{9D8B030D-6E8A-4147-A177-3AD203B41FA5}">
                      <a16:colId xmlns:a16="http://schemas.microsoft.com/office/drawing/2014/main" val="20000"/>
                    </a:ext>
                  </a:extLst>
                </a:gridCol>
                <a:gridCol w="514621">
                  <a:extLst>
                    <a:ext uri="{9D8B030D-6E8A-4147-A177-3AD203B41FA5}">
                      <a16:colId xmlns:a16="http://schemas.microsoft.com/office/drawing/2014/main" val="20001"/>
                    </a:ext>
                  </a:extLst>
                </a:gridCol>
                <a:gridCol w="487536">
                  <a:extLst>
                    <a:ext uri="{9D8B030D-6E8A-4147-A177-3AD203B41FA5}">
                      <a16:colId xmlns:a16="http://schemas.microsoft.com/office/drawing/2014/main" val="20002"/>
                    </a:ext>
                  </a:extLst>
                </a:gridCol>
                <a:gridCol w="1164668">
                  <a:extLst>
                    <a:ext uri="{9D8B030D-6E8A-4147-A177-3AD203B41FA5}">
                      <a16:colId xmlns:a16="http://schemas.microsoft.com/office/drawing/2014/main" val="20003"/>
                    </a:ext>
                  </a:extLst>
                </a:gridCol>
                <a:gridCol w="487536">
                  <a:extLst>
                    <a:ext uri="{9D8B030D-6E8A-4147-A177-3AD203B41FA5}">
                      <a16:colId xmlns:a16="http://schemas.microsoft.com/office/drawing/2014/main" val="20004"/>
                    </a:ext>
                  </a:extLst>
                </a:gridCol>
                <a:gridCol w="799016">
                  <a:extLst>
                    <a:ext uri="{9D8B030D-6E8A-4147-A177-3AD203B41FA5}">
                      <a16:colId xmlns:a16="http://schemas.microsoft.com/office/drawing/2014/main" val="20005"/>
                    </a:ext>
                  </a:extLst>
                </a:gridCol>
                <a:gridCol w="880273">
                  <a:extLst>
                    <a:ext uri="{9D8B030D-6E8A-4147-A177-3AD203B41FA5}">
                      <a16:colId xmlns:a16="http://schemas.microsoft.com/office/drawing/2014/main" val="20006"/>
                    </a:ext>
                  </a:extLst>
                </a:gridCol>
                <a:gridCol w="1029241">
                  <a:extLst>
                    <a:ext uri="{9D8B030D-6E8A-4147-A177-3AD203B41FA5}">
                      <a16:colId xmlns:a16="http://schemas.microsoft.com/office/drawing/2014/main" val="20007"/>
                    </a:ext>
                  </a:extLst>
                </a:gridCol>
                <a:gridCol w="2627275">
                  <a:extLst>
                    <a:ext uri="{9D8B030D-6E8A-4147-A177-3AD203B41FA5}">
                      <a16:colId xmlns:a16="http://schemas.microsoft.com/office/drawing/2014/main" val="20008"/>
                    </a:ext>
                  </a:extLst>
                </a:gridCol>
                <a:gridCol w="3168981">
                  <a:extLst>
                    <a:ext uri="{9D8B030D-6E8A-4147-A177-3AD203B41FA5}">
                      <a16:colId xmlns:a16="http://schemas.microsoft.com/office/drawing/2014/main" val="20009"/>
                    </a:ext>
                  </a:extLst>
                </a:gridCol>
              </a:tblGrid>
              <a:tr h="343875">
                <a:tc>
                  <a:txBody>
                    <a:bodyPr/>
                    <a:lstStyle/>
                    <a:p>
                      <a:pPr algn="ctr" fontAlgn="t"/>
                      <a:r>
                        <a:rPr lang="en-US" sz="1100" b="0" i="0" u="none" strike="noStrike">
                          <a:solidFill>
                            <a:srgbClr val="000000"/>
                          </a:solidFill>
                          <a:effectLst/>
                          <a:latin typeface="Cambria" panose="02040503050406030204" pitchFamily="18" charset="0"/>
                        </a:rPr>
                        <a:t>NO</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FLEET</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A/C</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DATE</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STA</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MINUTES</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FLIGHT NO</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ROUTE</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DESC</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Cambria" panose="02040503050406030204" pitchFamily="18" charset="0"/>
                        </a:rPr>
                        <a:t>DELAY ACTION</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718437">
                <a:tc>
                  <a:txBody>
                    <a:bodyPr/>
                    <a:lstStyle/>
                    <a:p>
                      <a:pPr algn="l" fontAlgn="t"/>
                      <a:r>
                        <a:rPr lang="en-US" sz="1100" b="0" i="0" u="none" strike="noStrike">
                          <a:solidFill>
                            <a:srgbClr val="000000"/>
                          </a:solidFill>
                          <a:effectLst/>
                          <a:latin typeface="Calibri" panose="020F0502020204030204" pitchFamily="34" charset="0"/>
                        </a:rPr>
                        <a:t>1</a:t>
                      </a:r>
                    </a:p>
                  </a:txBody>
                  <a:tcPr marL="7476" marR="7476" marT="7476"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A512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16:00 30/04/2025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TRANSIT CHECK FOUND MW #2 INNER SHOULDER CORD EXPOSED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FINAL ACTION: MW #2 REPLACED SATIS TRANSIT CHECK FOUND MW #2 INNER SHOULDER CORD EXPOSED EVENT CLOSED  TOTAL DELAY 112 MINS, TECH DELAY 0 MIN, A/C ARRIVAL LATE 72 MINS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508815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03</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B2A343B0-CA63-B141-0A92-337EE967CB60}"/>
              </a:ext>
            </a:extLst>
          </p:cNvPr>
          <p:cNvGraphicFramePr>
            <a:graphicFrameLocks noGrp="1"/>
          </p:cNvGraphicFramePr>
          <p:nvPr>
            <p:extLst/>
          </p:nvPr>
        </p:nvGraphicFramePr>
        <p:xfrm>
          <a:off x="105714" y="1522792"/>
          <a:ext cx="11612515" cy="5299010"/>
        </p:xfrm>
        <a:graphic>
          <a:graphicData uri="http://schemas.openxmlformats.org/drawingml/2006/table">
            <a:tbl>
              <a:tblPr/>
              <a:tblGrid>
                <a:gridCol w="307939">
                  <a:extLst>
                    <a:ext uri="{9D8B030D-6E8A-4147-A177-3AD203B41FA5}">
                      <a16:colId xmlns:a16="http://schemas.microsoft.com/office/drawing/2014/main" val="2063721084"/>
                    </a:ext>
                  </a:extLst>
                </a:gridCol>
                <a:gridCol w="891400">
                  <a:extLst>
                    <a:ext uri="{9D8B030D-6E8A-4147-A177-3AD203B41FA5}">
                      <a16:colId xmlns:a16="http://schemas.microsoft.com/office/drawing/2014/main" val="2873260237"/>
                    </a:ext>
                  </a:extLst>
                </a:gridCol>
                <a:gridCol w="891400">
                  <a:extLst>
                    <a:ext uri="{9D8B030D-6E8A-4147-A177-3AD203B41FA5}">
                      <a16:colId xmlns:a16="http://schemas.microsoft.com/office/drawing/2014/main" val="2953836739"/>
                    </a:ext>
                  </a:extLst>
                </a:gridCol>
                <a:gridCol w="307939">
                  <a:extLst>
                    <a:ext uri="{9D8B030D-6E8A-4147-A177-3AD203B41FA5}">
                      <a16:colId xmlns:a16="http://schemas.microsoft.com/office/drawing/2014/main" val="2090188566"/>
                    </a:ext>
                  </a:extLst>
                </a:gridCol>
                <a:gridCol w="3298181">
                  <a:extLst>
                    <a:ext uri="{9D8B030D-6E8A-4147-A177-3AD203B41FA5}">
                      <a16:colId xmlns:a16="http://schemas.microsoft.com/office/drawing/2014/main" val="2407488742"/>
                    </a:ext>
                  </a:extLst>
                </a:gridCol>
                <a:gridCol w="3460253">
                  <a:extLst>
                    <a:ext uri="{9D8B030D-6E8A-4147-A177-3AD203B41FA5}">
                      <a16:colId xmlns:a16="http://schemas.microsoft.com/office/drawing/2014/main" val="3542240269"/>
                    </a:ext>
                  </a:extLst>
                </a:gridCol>
                <a:gridCol w="316043">
                  <a:extLst>
                    <a:ext uri="{9D8B030D-6E8A-4147-A177-3AD203B41FA5}">
                      <a16:colId xmlns:a16="http://schemas.microsoft.com/office/drawing/2014/main" val="36977257"/>
                    </a:ext>
                  </a:extLst>
                </a:gridCol>
                <a:gridCol w="2139360">
                  <a:extLst>
                    <a:ext uri="{9D8B030D-6E8A-4147-A177-3AD203B41FA5}">
                      <a16:colId xmlns:a16="http://schemas.microsoft.com/office/drawing/2014/main" val="3425661266"/>
                    </a:ext>
                  </a:extLst>
                </a:gridCol>
              </a:tblGrid>
              <a:tr h="106403">
                <a:tc>
                  <a:txBody>
                    <a:bodyPr/>
                    <a:lstStyle/>
                    <a:p>
                      <a:pPr algn="ctr" fontAlgn="ctr"/>
                      <a:r>
                        <a:rPr lang="en-US" sz="600" b="0" i="0" u="none" strike="noStrike">
                          <a:solidFill>
                            <a:srgbClr val="000000"/>
                          </a:solidFill>
                          <a:effectLst/>
                          <a:latin typeface="Calibri" panose="020F0502020204030204" pitchFamily="34" charset="0"/>
                        </a:rPr>
                        <a:t>A/C</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OPEN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CLOSED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STA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DEFECT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ACTION</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Engineering Assessment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262748239"/>
                  </a:ext>
                </a:extLst>
              </a:tr>
              <a:tr h="161193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A353</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17:35 03/05/2025</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CAPT REPORTED FWD CARGO DOOR SHOW OPEN ON ECAM IN FLIGHT - CAPT REPORTED: FWD CARGO DOOR SHOW OPEN ON ECAM IN FLIGHT</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 CHECK FOUND VENT FLAP DOOR NOT FULLY CLOSED</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
                      </a:r>
                      <a:br>
                        <a:rPr lang="vi-VN" sz="1000" b="0" i="0" u="none" strike="noStrike" dirty="0">
                          <a:solidFill>
                            <a:srgbClr val="000000"/>
                          </a:solidFill>
                          <a:effectLst/>
                          <a:latin typeface="Times" panose="02020603050405020304" pitchFamily="18" charset="0"/>
                          <a:cs typeface="Times" panose="02020603050405020304" pitchFamily="18" charset="0"/>
                        </a:rPr>
                      </a:br>
                      <a:r>
                        <a:rPr lang="vi-VN" sz="1000" b="0" i="0" u="none" strike="noStrike" dirty="0">
                          <a:solidFill>
                            <a:srgbClr val="000000"/>
                          </a:solidFill>
                          <a:effectLst/>
                          <a:latin typeface="Times" panose="02020603050405020304" pitchFamily="18" charset="0"/>
                          <a:cs typeface="Times" panose="02020603050405020304" pitchFamily="18" charset="0"/>
                        </a:rPr>
                        <a:t>C/O CLEAN AND REINSTALL BUSHING. C/O ADJUSTED VENT DOOR AND OPS TEST CLOSE/OPEN. SATIS. A/C SERVICEABLE TIMELINE (LOCALTIME)+ EVENT CLOSED - C/O CLEAN AND REINSTALL BUSHING. C/O ADJUSTED VENT DOOR AND OPS TEST CLOSE/OPEN. SATIS. A/C SERVICEABLE</a:t>
                      </a:r>
                      <a:br>
                        <a:rPr lang="vi-VN" sz="1000" b="0" i="0" u="none" strike="noStrike" dirty="0">
                          <a:solidFill>
                            <a:srgbClr val="000000"/>
                          </a:solidFill>
                          <a:effectLst/>
                          <a:latin typeface="Times" panose="02020603050405020304" pitchFamily="18" charset="0"/>
                          <a:cs typeface="Times" panose="02020603050405020304" pitchFamily="18" charset="0"/>
                        </a:rPr>
                      </a:br>
                      <a:r>
                        <a:rPr lang="vi-VN" sz="1000" b="0" i="0" u="none" strike="noStrike" dirty="0">
                          <a:solidFill>
                            <a:srgbClr val="000000"/>
                          </a:solidFill>
                          <a:effectLst/>
                          <a:latin typeface="Times" panose="02020603050405020304" pitchFamily="18" charset="0"/>
                          <a:cs typeface="Times" panose="02020603050405020304" pitchFamily="18" charset="0"/>
                        </a:rPr>
                        <a:t>- TOTAL DELAY 110 MINS. TECH DELAY 10 MINS (DELAY KT TỪ LÚC BÁO HỎNG ĐẾN LÚC ĐỔI TÀU 17:40-17:50) TOTAL DELAY 110 MINS. TECH DELAY 10 MINS (DELAY KT TỪ LÚC BÁO HỎNG ĐẾN LÚC ĐỔI TÀU 17:40-17:50)</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Hỏng hóc do bushing của cargo door mechanism bị tuột, dẫn đến vent door và door handle bị kẹt. Vent door trên cargo door có tác dụng cân bằng áp suất trong khi đóng/mở cargo door, được nối với door handle thông qua connection rod và bellcrank. Airbus khuyến cáo trong trường hợp handle bị kẹt, nên thực hiện kiểm tra vent door bearing và đảm bảo bearing không dính FOD vàc được chuyển động tự do. VAECO đã thực hiện vệ sinh và căn chỉnh lại cơ cấu vent door. Toàn bộ fleet A321CEO đã được thực hiện EO kiểm tra, bôi trơn và căn chỉnh cargo door. Tuy nhiên đây chỉ là EO thực hiện 1 lần. Ban KT đã yêu cầu Vaeco thực hiện lại EO kiểm tra này với tần suất dự kiến 1 năm và thêm một số nội dung kiểm tra hệ thống điện khác.</a:t>
                      </a:r>
                      <a:br>
                        <a:rPr lang="vi-VN" sz="1000" b="0" i="0" u="none" strike="noStrike" dirty="0">
                          <a:solidFill>
                            <a:srgbClr val="000000"/>
                          </a:solidFill>
                          <a:effectLst/>
                          <a:latin typeface="Times" panose="02020603050405020304" pitchFamily="18" charset="0"/>
                          <a:cs typeface="Times" panose="02020603050405020304" pitchFamily="18" charset="0"/>
                        </a:rPr>
                      </a:br>
                      <a:endParaRPr lang="vi-VN" sz="1000" b="0" i="0" u="none" strike="noStrike" dirty="0">
                        <a:solidFill>
                          <a:srgbClr val="000000"/>
                        </a:solidFill>
                        <a:effectLst/>
                        <a:latin typeface="Times" panose="02020603050405020304" pitchFamily="18" charset="0"/>
                        <a:cs typeface="Times" panose="02020603050405020304" pitchFamily="18" charset="0"/>
                      </a:endParaRP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0169263"/>
                  </a:ext>
                </a:extLst>
              </a:tr>
              <a:tr h="425614">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A513</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23:50 01/05/2025</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08:30 02/05/2025</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TERM CHECK SUSPECTED BIRDSTRIKE TO ENG#1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EVENT CLOSED REF AMM 05-51-14-200-803-A FOUND BIRD STRIKE ON ENG 1. REF AMM 72-00-00-210-807-A REV MAY/2025 PFM INSPECT NO FOUND DAMAGE. C/O BOROSCOPE LPC AND HPC IAW AMM 72-35-00-290-801 MAY/2025 FOUND BIRD DEBRIS ON LPC , NO DAMAGED. NO FOUND BIRD DEBRIS ON HPC, NO DAMAGED. A/C SERVICEABLE.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05-00</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NONE-TECH</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73048279"/>
                  </a:ext>
                </a:extLst>
              </a:tr>
              <a:tr h="53201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A339</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08:20 30/04/2025</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09:30 30/04/2025</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AFTER BOARDING COMPLETED, ECAM MSG: NAV IR 1 FAULT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 REPLACED C/B 4FP1, OPS TEST SATIS EVENT CLOSED NAV IR 1 FAULT</a:t>
                      </a:r>
                      <a:br>
                        <a:rPr lang="en-US" sz="1000" b="0" i="0" u="none" strike="noStrike" dirty="0">
                          <a:solidFill>
                            <a:srgbClr val="000000"/>
                          </a:solidFill>
                          <a:effectLst/>
                          <a:latin typeface="Times" panose="02020603050405020304" pitchFamily="18" charset="0"/>
                          <a:cs typeface="Times" panose="02020603050405020304" pitchFamily="18" charset="0"/>
                        </a:rPr>
                      </a:br>
                      <a:r>
                        <a:rPr lang="en-US" sz="1000" b="0" i="0" u="none" strike="noStrike" dirty="0">
                          <a:solidFill>
                            <a:srgbClr val="000000"/>
                          </a:solidFill>
                          <a:effectLst/>
                          <a:latin typeface="Times" panose="02020603050405020304" pitchFamily="18" charset="0"/>
                          <a:cs typeface="Times" panose="02020603050405020304" pitchFamily="18" charset="0"/>
                        </a:rPr>
                        <a:t>Total delay 172MIN, tech 92MIN</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34</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Hỏng hóc liên quan đến việc ADIRU 1 không được cấp điện. Hỏng hóc được khắc phục sau khi thay circuit breaker PB NSA931320-030. Part là vật tư tiêu hao nên không có dữ liệu về độ tin cậy, không có vấn đề kỹ thuật liên quan. Hỏng hóc đơn lẻ</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1457199"/>
                  </a:ext>
                </a:extLst>
              </a:tr>
            </a:tbl>
          </a:graphicData>
        </a:graphic>
      </p:graphicFrame>
    </p:spTree>
    <p:extLst>
      <p:ext uri="{BB962C8B-B14F-4D97-AF65-F5344CB8AC3E}">
        <p14:creationId xmlns:p14="http://schemas.microsoft.com/office/powerpoint/2010/main" val="1589934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33E94D9-62CA-049B-AB49-2DDBDEF8C88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46CD6DE-9EE5-D0B2-5848-C27382E5E26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1B133406-436E-72A5-A7A5-AE254111995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EDEEDB4-4B70-81A4-DE42-EEE802B02D0B}"/>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C40098CF-4D9E-A9DA-A3A0-9B5C55EA8796}"/>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non-tech)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3" name="Table 2">
            <a:extLst>
              <a:ext uri="{FF2B5EF4-FFF2-40B4-BE49-F238E27FC236}">
                <a16:creationId xmlns:a16="http://schemas.microsoft.com/office/drawing/2014/main" id="{3C0EDDC8-08BF-E615-99AE-9904FE9DB51F}"/>
              </a:ext>
            </a:extLst>
          </p:cNvPr>
          <p:cNvGraphicFramePr>
            <a:graphicFrameLocks noGrp="1"/>
          </p:cNvGraphicFramePr>
          <p:nvPr>
            <p:extLst/>
          </p:nvPr>
        </p:nvGraphicFramePr>
        <p:xfrm>
          <a:off x="134289" y="1611652"/>
          <a:ext cx="11688716" cy="4384709"/>
        </p:xfrm>
        <a:graphic>
          <a:graphicData uri="http://schemas.openxmlformats.org/drawingml/2006/table">
            <a:tbl>
              <a:tblPr/>
              <a:tblGrid>
                <a:gridCol w="399111">
                  <a:extLst>
                    <a:ext uri="{9D8B030D-6E8A-4147-A177-3AD203B41FA5}">
                      <a16:colId xmlns:a16="http://schemas.microsoft.com/office/drawing/2014/main" val="1941658064"/>
                    </a:ext>
                  </a:extLst>
                </a:gridCol>
                <a:gridCol w="705571">
                  <a:extLst>
                    <a:ext uri="{9D8B030D-6E8A-4147-A177-3AD203B41FA5}">
                      <a16:colId xmlns:a16="http://schemas.microsoft.com/office/drawing/2014/main" val="3051854625"/>
                    </a:ext>
                  </a:extLst>
                </a:gridCol>
                <a:gridCol w="283635">
                  <a:extLst>
                    <a:ext uri="{9D8B030D-6E8A-4147-A177-3AD203B41FA5}">
                      <a16:colId xmlns:a16="http://schemas.microsoft.com/office/drawing/2014/main" val="3943693142"/>
                    </a:ext>
                  </a:extLst>
                </a:gridCol>
                <a:gridCol w="768798">
                  <a:extLst>
                    <a:ext uri="{9D8B030D-6E8A-4147-A177-3AD203B41FA5}">
                      <a16:colId xmlns:a16="http://schemas.microsoft.com/office/drawing/2014/main" val="2683694270"/>
                    </a:ext>
                  </a:extLst>
                </a:gridCol>
                <a:gridCol w="574733">
                  <a:extLst>
                    <a:ext uri="{9D8B030D-6E8A-4147-A177-3AD203B41FA5}">
                      <a16:colId xmlns:a16="http://schemas.microsoft.com/office/drawing/2014/main" val="4165135737"/>
                    </a:ext>
                  </a:extLst>
                </a:gridCol>
                <a:gridCol w="477700">
                  <a:extLst>
                    <a:ext uri="{9D8B030D-6E8A-4147-A177-3AD203B41FA5}">
                      <a16:colId xmlns:a16="http://schemas.microsoft.com/office/drawing/2014/main" val="1601033839"/>
                    </a:ext>
                  </a:extLst>
                </a:gridCol>
                <a:gridCol w="2321321">
                  <a:extLst>
                    <a:ext uri="{9D8B030D-6E8A-4147-A177-3AD203B41FA5}">
                      <a16:colId xmlns:a16="http://schemas.microsoft.com/office/drawing/2014/main" val="4219214852"/>
                    </a:ext>
                  </a:extLst>
                </a:gridCol>
                <a:gridCol w="2993087">
                  <a:extLst>
                    <a:ext uri="{9D8B030D-6E8A-4147-A177-3AD203B41FA5}">
                      <a16:colId xmlns:a16="http://schemas.microsoft.com/office/drawing/2014/main" val="3532656176"/>
                    </a:ext>
                  </a:extLst>
                </a:gridCol>
                <a:gridCol w="291098">
                  <a:extLst>
                    <a:ext uri="{9D8B030D-6E8A-4147-A177-3AD203B41FA5}">
                      <a16:colId xmlns:a16="http://schemas.microsoft.com/office/drawing/2014/main" val="3516547174"/>
                    </a:ext>
                  </a:extLst>
                </a:gridCol>
                <a:gridCol w="2873662">
                  <a:extLst>
                    <a:ext uri="{9D8B030D-6E8A-4147-A177-3AD203B41FA5}">
                      <a16:colId xmlns:a16="http://schemas.microsoft.com/office/drawing/2014/main" val="1420136508"/>
                    </a:ext>
                  </a:extLst>
                </a:gridCol>
              </a:tblGrid>
              <a:tr h="97367">
                <a:tc>
                  <a:txBody>
                    <a:bodyPr/>
                    <a:lstStyle/>
                    <a:p>
                      <a:pPr algn="ctr" fontAlgn="ctr"/>
                      <a:r>
                        <a:rPr lang="en-US" sz="600" b="0" i="0" u="none" strike="noStrike">
                          <a:solidFill>
                            <a:srgbClr val="000000"/>
                          </a:solidFill>
                          <a:effectLst/>
                          <a:latin typeface="Calibri" panose="020F0502020204030204" pitchFamily="34"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267187023"/>
                  </a:ext>
                </a:extLst>
              </a:tr>
              <a:tr h="973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A513</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09:30 03/05/2025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DAD</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17</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VN113</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DADSGN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OXYGEN MASK 9ABC ASSY LOOSEN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ADJUSTED AND REINSTALLED ASSY.CHK NML EVENT CLOSED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r>
                        <a:rPr lang="en-US" sz="1000" b="0" i="0" u="none" strike="noStrike">
                          <a:solidFill>
                            <a:srgbClr val="000000"/>
                          </a:solidFill>
                          <a:effectLst/>
                          <a:latin typeface="Times" panose="02020603050405020304" pitchFamily="18" charset="0"/>
                          <a:cs typeface="Times" panose="02020603050405020304" pitchFamily="18" charset="0"/>
                        </a:rPr>
                        <a:t>3520</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Tàu A513 mới nhận, vẫn còn đang trong bảo hành. Đề nghị QLVT claim bảo hành</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0533262"/>
                  </a:ext>
                </a:extLst>
              </a:tr>
              <a:tr h="3894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A336</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19:00 02/05/2025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BKK</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33</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VN606</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BKKSGN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FWD CARGO DOOR UNABLE TO OPEN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EVENT CLOSED TVJ TEAM IN BKK (ONCALL) SUPPORTED. AFTER TRY TO OPEN, FWD CARGO DOOR OPEN.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Toàn bộ fleet A321CEO đã được thực hiện EO kiểm tra, bôi trơn và căn chỉnh cargo door. Tuy nhiên đây chỉ là EO thực hiện 1 lần. Ban KT đã yêu cầu Vaeco thực hiện lại EO kiểm tra này với tần suất dự kiến 1 năm và thêm một số nội dung kiểm tra hệ thống điện khác.</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6793464"/>
                  </a:ext>
                </a:extLst>
              </a:tr>
              <a:tr h="3894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A399</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17:20 02/05/2025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SIN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43</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VN654</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SINSGN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FWD CARGO DOOR UNABLE TO OPEN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EVENT CLOSED SIAEC TEAM IN SIN (ONCALL) SUPPORTED. AFTER TRY TO OPEN, FWD CARGO DOOR OPEN.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Toàn bộ fleet A321CEO đã được thực hiện EO kiểm tra, bôi trơn và căn chỉnh cargo door. Tuy nhiên đây chỉ là EO thực hiện 1 lần. Ban KT đã yêu cầu Vaeco thực hiện lại EO kiểm tra này với tần suất dự kiến 1 năm và thêm một số nội dung kiểm tra hệ thống điện khác.</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4780181"/>
                  </a:ext>
                </a:extLst>
              </a:tr>
              <a:tr h="3894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A325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10:05 01/05/2025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DAD</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23</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VN164</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AIR PACK 1 OVHT CAPT REPORT:</a:t>
                      </a:r>
                      <a:br>
                        <a:rPr lang="en-US" sz="1000" b="0" i="0" u="none" strike="noStrike" dirty="0">
                          <a:solidFill>
                            <a:srgbClr val="000000"/>
                          </a:solidFill>
                          <a:effectLst/>
                          <a:latin typeface="Times" panose="02020603050405020304" pitchFamily="18" charset="0"/>
                          <a:cs typeface="Times" panose="02020603050405020304" pitchFamily="18" charset="0"/>
                        </a:rPr>
                      </a:br>
                      <a:r>
                        <a:rPr lang="en-US" sz="1000" b="0" i="0" u="none" strike="noStrike" dirty="0">
                          <a:solidFill>
                            <a:srgbClr val="000000"/>
                          </a:solidFill>
                          <a:effectLst/>
                          <a:latin typeface="Times" panose="02020603050405020304" pitchFamily="18" charset="0"/>
                          <a:cs typeface="Times" panose="02020603050405020304" pitchFamily="18" charset="0"/>
                        </a:rPr>
                        <a:t>1. AIR PACK 1 REGUL FAULT</a:t>
                      </a:r>
                      <a:br>
                        <a:rPr lang="en-US" sz="1000" b="0" i="0" u="none" strike="noStrike" dirty="0">
                          <a:solidFill>
                            <a:srgbClr val="000000"/>
                          </a:solidFill>
                          <a:effectLst/>
                          <a:latin typeface="Times" panose="02020603050405020304" pitchFamily="18" charset="0"/>
                          <a:cs typeface="Times" panose="02020603050405020304" pitchFamily="18" charset="0"/>
                        </a:rPr>
                      </a:br>
                      <a:r>
                        <a:rPr lang="en-US" sz="1000" b="0" i="0" u="none" strike="noStrike" dirty="0">
                          <a:solidFill>
                            <a:srgbClr val="000000"/>
                          </a:solidFill>
                          <a:effectLst/>
                          <a:latin typeface="Times" panose="02020603050405020304" pitchFamily="18" charset="0"/>
                          <a:cs typeface="Times" panose="02020603050405020304" pitchFamily="18" charset="0"/>
                        </a:rPr>
                        <a:t>2. AIR PACK 1 OVHT (PACK COMPRESSOR OUTLET TEMP 270 DEGREE)</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1. OPEN ADD B1870: AIR PACK 1 REGUL FAULT</a:t>
                      </a:r>
                      <a:br>
                        <a:rPr lang="en-US" sz="1000" b="0" i="0" u="none" strike="noStrike" dirty="0">
                          <a:solidFill>
                            <a:srgbClr val="000000"/>
                          </a:solidFill>
                          <a:effectLst/>
                          <a:latin typeface="Times" panose="02020603050405020304" pitchFamily="18" charset="0"/>
                          <a:cs typeface="Times" panose="02020603050405020304" pitchFamily="18" charset="0"/>
                        </a:rPr>
                      </a:br>
                      <a:r>
                        <a:rPr lang="en-US" sz="1000" b="0" i="0" u="none" strike="noStrike" dirty="0">
                          <a:solidFill>
                            <a:srgbClr val="000000"/>
                          </a:solidFill>
                          <a:effectLst/>
                          <a:latin typeface="Times" panose="02020603050405020304" pitchFamily="18" charset="0"/>
                          <a:cs typeface="Times" panose="02020603050405020304" pitchFamily="18" charset="0"/>
                        </a:rPr>
                        <a:t>2. OPEN ADD B1871: AIR PACK 1 OVHT AND PACK 1 FCV IS SECURED IN CLOSED POS. AIR PACK 1 OVHT EVENT CLOSED  A/C ARRIVAL LATE 11mins </a:t>
                      </a:r>
                      <a:r>
                        <a:rPr lang="en-US" sz="1000" b="1" i="0" u="none" strike="noStrike" dirty="0">
                          <a:solidFill>
                            <a:srgbClr val="FF0000"/>
                          </a:solidFill>
                          <a:effectLst/>
                          <a:latin typeface="Times" panose="02020603050405020304" pitchFamily="18" charset="0"/>
                          <a:cs typeface="Times" panose="02020603050405020304" pitchFamily="18" charset="0"/>
                        </a:rPr>
                        <a:t>( TD 9mins)</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r>
                        <a:rPr lang="en-US" sz="1000" b="0" i="0" u="none" strike="noStrike">
                          <a:solidFill>
                            <a:srgbClr val="000000"/>
                          </a:solidFill>
                          <a:effectLst/>
                          <a:latin typeface="Times" panose="02020603050405020304" pitchFamily="18" charset="0"/>
                          <a:cs typeface="Times" panose="02020603050405020304" pitchFamily="18" charset="0"/>
                        </a:rPr>
                        <a:t>2151</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Hỏng hóc liên quan đến SAV, khối này có TSO khoảng 10k FH. Hiện Vaeco đã cho tháo để phòng ngừa hỏng hóc lặp lại</a:t>
                      </a:r>
                      <a:br>
                        <a:rPr lang="en-US" sz="1000" b="0" i="0" u="none" strike="noStrike">
                          <a:solidFill>
                            <a:srgbClr val="000000"/>
                          </a:solidFill>
                          <a:effectLst/>
                          <a:latin typeface="Times" panose="02020603050405020304" pitchFamily="18" charset="0"/>
                          <a:cs typeface="Times" panose="02020603050405020304" pitchFamily="18" charset="0"/>
                        </a:rPr>
                      </a:br>
                      <a:endParaRPr lang="en-US" sz="1000" b="0" i="0" u="none" strike="noStrike">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2718081"/>
                  </a:ext>
                </a:extLst>
              </a:tr>
              <a:tr h="3894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A339</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08:20 30/04/2025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92</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VN7245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AFTER BOARDING COMPLETED, ECAM MSG: NAV IR 1 FAULT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 REPLACED C/B 4FP1, OPS TEST SATIS EVENT CLOSED NAV IR 1 FAULT</a:t>
                      </a:r>
                      <a:br>
                        <a:rPr lang="en-US" sz="1000" b="0" i="0" u="none" strike="noStrike" dirty="0">
                          <a:solidFill>
                            <a:srgbClr val="000000"/>
                          </a:solidFill>
                          <a:effectLst/>
                          <a:latin typeface="Times" panose="02020603050405020304" pitchFamily="18" charset="0"/>
                          <a:cs typeface="Times" panose="02020603050405020304" pitchFamily="18" charset="0"/>
                        </a:rPr>
                      </a:br>
                      <a:r>
                        <a:rPr lang="en-US" sz="1000" b="0" i="0" u="none" strike="noStrike" dirty="0">
                          <a:solidFill>
                            <a:srgbClr val="000000"/>
                          </a:solidFill>
                          <a:effectLst/>
                          <a:latin typeface="Times" panose="02020603050405020304" pitchFamily="18" charset="0"/>
                          <a:cs typeface="Times" panose="02020603050405020304" pitchFamily="18" charset="0"/>
                        </a:rPr>
                        <a:t>Total delay 172MIN, tech 92MIN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34</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panose="02020603050405020304" pitchFamily="18" charset="0"/>
                          <a:cs typeface="Times" panose="02020603050405020304" pitchFamily="18" charset="0"/>
                        </a:rPr>
                        <a:t>Hỏng hóc liên quan đến việc ADIRU 1 không được cấp điện. Hỏng hóc được khắc phục sau khi thay circuit breaker PB NSA931320-030. Part là vật tư tiêu hao nên không có dữ liệu về độ tin cậy, không có vấn đề kỹ thuật liên quan. Hỏng hóc đơn lẻ.</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8432987"/>
                  </a:ext>
                </a:extLst>
              </a:tr>
              <a:tr h="3894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A512</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09:00 28/04/2025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ICN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55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VN431</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ICNDAD</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REPORT 15 TRIGGER NZKPI PARAMETER IS 0.73 REPORT 15 TRIGGER NZKPI PARAMETER IS 0.73</a:t>
                      </a:r>
                      <a:br>
                        <a:rPr lang="en-US" sz="1000" b="0" i="0" u="none" strike="noStrike">
                          <a:solidFill>
                            <a:srgbClr val="000000"/>
                          </a:solidFill>
                          <a:effectLst/>
                          <a:latin typeface="Times" panose="02020603050405020304" pitchFamily="18" charset="0"/>
                          <a:cs typeface="Times" panose="02020603050405020304" pitchFamily="18" charset="0"/>
                        </a:rPr>
                      </a:br>
                      <a:endParaRPr lang="en-US" sz="1000" b="0" i="0" u="none" strike="noStrike">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REF AMM TASK 055111200004C, CHECK NZKPI 0.73&amp;lt;0.8 AND FLIGHT CREW CONFIRM NO HARD LANDING. A/C SERVICEABLE ACTION EVENT CLOSED  REPORT 15 TRIGGER NZKPI PARAMETER IS 0.73</a:t>
                      </a:r>
                      <a:br>
                        <a:rPr lang="en-US" sz="1000" b="0" i="0" u="none" strike="noStrike" dirty="0">
                          <a:solidFill>
                            <a:srgbClr val="000000"/>
                          </a:solidFill>
                          <a:effectLst/>
                          <a:latin typeface="Times" panose="02020603050405020304" pitchFamily="18" charset="0"/>
                          <a:cs typeface="Times" panose="02020603050405020304" pitchFamily="18" charset="0"/>
                        </a:rPr>
                      </a:br>
                      <a:endParaRPr lang="en-US" sz="1000" b="0" i="0" u="none" strike="noStrike" dirty="0">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r>
                        <a:rPr lang="en-US" sz="1000" b="0" i="0" u="none" strike="noStrike">
                          <a:solidFill>
                            <a:srgbClr val="000000"/>
                          </a:solidFill>
                          <a:effectLst/>
                          <a:latin typeface="Times" panose="02020603050405020304" pitchFamily="18" charset="0"/>
                          <a:cs typeface="Times" panose="02020603050405020304" pitchFamily="18" charset="0"/>
                        </a:rPr>
                        <a:t>500</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Báo giả, ban KT đã trợ giúp Vaeco đánh giá trường hợp này là báo giả mà ko cần phải gửi QAR để hỏi AIB</a:t>
                      </a:r>
                      <a:br>
                        <a:rPr lang="vi-VN" sz="1000" b="0" i="0" u="none" strike="noStrike" dirty="0">
                          <a:solidFill>
                            <a:srgbClr val="000000"/>
                          </a:solidFill>
                          <a:effectLst/>
                          <a:latin typeface="Times" panose="02020603050405020304" pitchFamily="18" charset="0"/>
                          <a:cs typeface="Times" panose="02020603050405020304" pitchFamily="18" charset="0"/>
                        </a:rPr>
                      </a:br>
                      <a:endParaRPr lang="vi-VN" sz="1000" b="0" i="0" u="none" strike="noStrike" dirty="0">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602270"/>
                  </a:ext>
                </a:extLst>
              </a:tr>
            </a:tbl>
          </a:graphicData>
        </a:graphic>
      </p:graphicFrame>
    </p:spTree>
    <p:extLst>
      <p:ext uri="{BB962C8B-B14F-4D97-AF65-F5344CB8AC3E}">
        <p14:creationId xmlns:p14="http://schemas.microsoft.com/office/powerpoint/2010/main" val="982295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C72B8CB-F424-DDAE-7639-E3BA8AA57C3A}"/>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57BFB0DF-E2C2-7E32-FDAC-AA4488D64C1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E1921B2-EDB3-D6A3-2F40-E5D651FC1A21}"/>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10C1E6C-83BB-42DF-2922-9F7E09A7A102}"/>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7</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94A6E5B3-EC8B-3089-20F2-410944D449DB}"/>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non-tech)</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AD92399C-F3BF-8AE1-8BA3-F432096EBBD6}"/>
              </a:ext>
            </a:extLst>
          </p:cNvPr>
          <p:cNvGraphicFramePr>
            <a:graphicFrameLocks noGrp="1"/>
          </p:cNvGraphicFramePr>
          <p:nvPr>
            <p:extLst>
              <p:ext uri="{D42A27DB-BD31-4B8C-83A1-F6EECF244321}">
                <p14:modId xmlns:p14="http://schemas.microsoft.com/office/powerpoint/2010/main" val="3617152587"/>
              </p:ext>
            </p:extLst>
          </p:nvPr>
        </p:nvGraphicFramePr>
        <p:xfrm>
          <a:off x="134289" y="1429811"/>
          <a:ext cx="11612514" cy="2694881"/>
        </p:xfrm>
        <a:graphic>
          <a:graphicData uri="http://schemas.openxmlformats.org/drawingml/2006/table">
            <a:tbl>
              <a:tblPr/>
              <a:tblGrid>
                <a:gridCol w="351956">
                  <a:extLst>
                    <a:ext uri="{9D8B030D-6E8A-4147-A177-3AD203B41FA5}">
                      <a16:colId xmlns:a16="http://schemas.microsoft.com/office/drawing/2014/main" val="1391089935"/>
                    </a:ext>
                  </a:extLst>
                </a:gridCol>
                <a:gridCol w="745523">
                  <a:extLst>
                    <a:ext uri="{9D8B030D-6E8A-4147-A177-3AD203B41FA5}">
                      <a16:colId xmlns:a16="http://schemas.microsoft.com/office/drawing/2014/main" val="3976146303"/>
                    </a:ext>
                  </a:extLst>
                </a:gridCol>
                <a:gridCol w="281785">
                  <a:extLst>
                    <a:ext uri="{9D8B030D-6E8A-4147-A177-3AD203B41FA5}">
                      <a16:colId xmlns:a16="http://schemas.microsoft.com/office/drawing/2014/main" val="1809658995"/>
                    </a:ext>
                  </a:extLst>
                </a:gridCol>
                <a:gridCol w="763786">
                  <a:extLst>
                    <a:ext uri="{9D8B030D-6E8A-4147-A177-3AD203B41FA5}">
                      <a16:colId xmlns:a16="http://schemas.microsoft.com/office/drawing/2014/main" val="2414498946"/>
                    </a:ext>
                  </a:extLst>
                </a:gridCol>
                <a:gridCol w="570986">
                  <a:extLst>
                    <a:ext uri="{9D8B030D-6E8A-4147-A177-3AD203B41FA5}">
                      <a16:colId xmlns:a16="http://schemas.microsoft.com/office/drawing/2014/main" val="1201190510"/>
                    </a:ext>
                  </a:extLst>
                </a:gridCol>
                <a:gridCol w="474585">
                  <a:extLst>
                    <a:ext uri="{9D8B030D-6E8A-4147-A177-3AD203B41FA5}">
                      <a16:colId xmlns:a16="http://schemas.microsoft.com/office/drawing/2014/main" val="2321391010"/>
                    </a:ext>
                  </a:extLst>
                </a:gridCol>
                <a:gridCol w="2306189">
                  <a:extLst>
                    <a:ext uri="{9D8B030D-6E8A-4147-A177-3AD203B41FA5}">
                      <a16:colId xmlns:a16="http://schemas.microsoft.com/office/drawing/2014/main" val="1943342933"/>
                    </a:ext>
                  </a:extLst>
                </a:gridCol>
                <a:gridCol w="2973574">
                  <a:extLst>
                    <a:ext uri="{9D8B030D-6E8A-4147-A177-3AD203B41FA5}">
                      <a16:colId xmlns:a16="http://schemas.microsoft.com/office/drawing/2014/main" val="164509778"/>
                    </a:ext>
                  </a:extLst>
                </a:gridCol>
                <a:gridCol w="289201">
                  <a:extLst>
                    <a:ext uri="{9D8B030D-6E8A-4147-A177-3AD203B41FA5}">
                      <a16:colId xmlns:a16="http://schemas.microsoft.com/office/drawing/2014/main" val="2205488461"/>
                    </a:ext>
                  </a:extLst>
                </a:gridCol>
                <a:gridCol w="2854929">
                  <a:extLst>
                    <a:ext uri="{9D8B030D-6E8A-4147-A177-3AD203B41FA5}">
                      <a16:colId xmlns:a16="http://schemas.microsoft.com/office/drawing/2014/main" val="246051290"/>
                    </a:ext>
                  </a:extLst>
                </a:gridCol>
              </a:tblGrid>
              <a:tr h="97367">
                <a:tc>
                  <a:txBody>
                    <a:bodyPr/>
                    <a:lstStyle/>
                    <a:p>
                      <a:pPr algn="ctr" fontAlgn="ctr"/>
                      <a:r>
                        <a:rPr lang="en-US" sz="600" b="0" i="0" u="none" strike="noStrike">
                          <a:solidFill>
                            <a:srgbClr val="000000"/>
                          </a:solidFill>
                          <a:effectLst/>
                          <a:latin typeface="Calibri" panose="020F0502020204030204" pitchFamily="34"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599098285"/>
                  </a:ext>
                </a:extLst>
              </a:tr>
              <a:tr h="292100">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A332</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17:47 30/04/2025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18</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VN580</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SGNKHH</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MSG COND AFT CARGO DUCT OVHT APPEARED AFTER BOARDING FINISHED, MSG COND AFT CARGO DUCT OVHT APPEARED</a:t>
                      </a:r>
                      <a:br>
                        <a:rPr lang="en-US" sz="1000" b="0" i="0" u="none" strike="noStrike" dirty="0">
                          <a:solidFill>
                            <a:srgbClr val="000000"/>
                          </a:solidFill>
                          <a:effectLst/>
                          <a:latin typeface="Times" panose="02020603050405020304" pitchFamily="18" charset="0"/>
                          <a:cs typeface="Times" panose="02020603050405020304" pitchFamily="18" charset="0"/>
                        </a:rPr>
                      </a:br>
                      <a:endParaRPr lang="en-US" sz="1000" b="0" i="0" u="none" strike="noStrike" dirty="0">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EVENT CLOSED </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COND AFT CARGO DUCT OVHT APPEARED</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TOTAL DELAY: 20 MINS, TECH DELAY: 18 MINS</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r>
                        <a:rPr lang="en-US" sz="1000" b="0" i="0" u="none" strike="noStrike">
                          <a:solidFill>
                            <a:srgbClr val="000000"/>
                          </a:solidFill>
                          <a:effectLst/>
                          <a:latin typeface="Times" panose="02020603050405020304" pitchFamily="18" charset="0"/>
                          <a:cs typeface="Times" panose="02020603050405020304" pitchFamily="18" charset="0"/>
                        </a:rPr>
                        <a:t>2143</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Nguyên </a:t>
                      </a:r>
                      <a:r>
                        <a:rPr lang="en-US" sz="1000" b="0" i="0" u="none" strike="noStrike" dirty="0" err="1">
                          <a:solidFill>
                            <a:srgbClr val="000000"/>
                          </a:solidFill>
                          <a:effectLst/>
                          <a:latin typeface="Times" panose="02020603050405020304" pitchFamily="18" charset="0"/>
                          <a:cs typeface="Times" panose="02020603050405020304" pitchFamily="18" charset="0"/>
                        </a:rPr>
                        <a:t>nhân</a:t>
                      </a:r>
                      <a:r>
                        <a:rPr lang="en-US" sz="1000" b="0" i="0" u="none" strike="noStrike" dirty="0">
                          <a:solidFill>
                            <a:srgbClr val="000000"/>
                          </a:solidFill>
                          <a:effectLst/>
                          <a:latin typeface="Times" panose="02020603050405020304" pitchFamily="18" charset="0"/>
                          <a:cs typeface="Times" panose="02020603050405020304" pitchFamily="18" charset="0"/>
                        </a:rPr>
                        <a:t> do </a:t>
                      </a:r>
                      <a:r>
                        <a:rPr lang="en-US" sz="1000" b="0" i="0" u="none" strike="noStrike" dirty="0" err="1">
                          <a:solidFill>
                            <a:srgbClr val="000000"/>
                          </a:solidFill>
                          <a:effectLst/>
                          <a:latin typeface="Times" panose="02020603050405020304" pitchFamily="18" charset="0"/>
                          <a:cs typeface="Times" panose="02020603050405020304" pitchFamily="18" charset="0"/>
                        </a:rPr>
                        <a:t>hỏng</a:t>
                      </a:r>
                      <a:r>
                        <a:rPr lang="en-US" sz="1000" b="0" i="0" u="none" strike="noStrike" dirty="0">
                          <a:solidFill>
                            <a:srgbClr val="000000"/>
                          </a:solidFill>
                          <a:effectLst/>
                          <a:latin typeface="Times" panose="02020603050405020304" pitchFamily="18" charset="0"/>
                          <a:cs typeface="Times" panose="02020603050405020304" pitchFamily="18" charset="0"/>
                        </a:rPr>
                        <a:t> sensor 13HC, </a:t>
                      </a:r>
                      <a:r>
                        <a:rPr lang="en-US" sz="1000" b="0" i="0" u="none" strike="noStrike" dirty="0" err="1">
                          <a:solidFill>
                            <a:srgbClr val="000000"/>
                          </a:solidFill>
                          <a:effectLst/>
                          <a:latin typeface="Times" panose="02020603050405020304" pitchFamily="18" charset="0"/>
                          <a:cs typeface="Times" panose="02020603050405020304" pitchFamily="18" charset="0"/>
                        </a:rPr>
                        <a:t>sau</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khi</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thay</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thế</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không</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còn</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cảnh</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báo</a:t>
                      </a:r>
                      <a:r>
                        <a:rPr lang="en-US" sz="1000" b="0" i="0" u="none" strike="noStrike" dirty="0">
                          <a:solidFill>
                            <a:srgbClr val="000000"/>
                          </a:solidFill>
                          <a:effectLst/>
                          <a:latin typeface="Times" panose="02020603050405020304" pitchFamily="18" charset="0"/>
                          <a:cs typeface="Times" panose="02020603050405020304" pitchFamily="18" charset="0"/>
                        </a:rPr>
                        <a:t>. Theo </a:t>
                      </a:r>
                      <a:r>
                        <a:rPr lang="en-US" sz="1000" b="0" i="0" u="none" strike="noStrike" dirty="0" err="1">
                          <a:solidFill>
                            <a:srgbClr val="000000"/>
                          </a:solidFill>
                          <a:effectLst/>
                          <a:latin typeface="Times" panose="02020603050405020304" pitchFamily="18" charset="0"/>
                          <a:cs typeface="Times" panose="02020603050405020304" pitchFamily="18" charset="0"/>
                        </a:rPr>
                        <a:t>dõi</a:t>
                      </a:r>
                      <a:r>
                        <a:rPr lang="en-US" sz="1000" b="0" i="0" u="none" strike="noStrike" dirty="0">
                          <a:solidFill>
                            <a:srgbClr val="000000"/>
                          </a:solidFill>
                          <a:effectLst/>
                          <a:latin typeface="Times" panose="02020603050405020304" pitchFamily="18" charset="0"/>
                          <a:cs typeface="Times" panose="02020603050405020304" pitchFamily="18" charset="0"/>
                        </a:rPr>
                        <a:t> </a:t>
                      </a:r>
                      <a:r>
                        <a:rPr lang="en-US" sz="1000" b="0" i="0" u="none" strike="noStrike" dirty="0" err="1">
                          <a:solidFill>
                            <a:srgbClr val="000000"/>
                          </a:solidFill>
                          <a:effectLst/>
                          <a:latin typeface="Times" panose="02020603050405020304" pitchFamily="18" charset="0"/>
                          <a:cs typeface="Times" panose="02020603050405020304" pitchFamily="18" charset="0"/>
                        </a:rPr>
                        <a:t>thêm</a:t>
                      </a:r>
                      <a:endParaRPr lang="en-US" sz="1000" b="0" i="0" u="none" strike="noStrike" dirty="0">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3508616"/>
                  </a:ext>
                </a:extLst>
              </a:tr>
              <a:tr h="778933">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A605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14:00 29/04/2025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DAD</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VN1911</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DADBMV</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SEATBACK  14G CANT BE IN UPRIGHT POSITION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panose="02020603050405020304" pitchFamily="18" charset="0"/>
                          <a:cs typeface="Times" panose="02020603050405020304" pitchFamily="18" charset="0"/>
                        </a:rPr>
                        <a:t>ADD B1858 &amp;#34;SEAT 14G IS INOP&amp;#34; REF MEL 252001A REV 28MAR25 CAT D DEADLINE 27AUG2025. SEAT BACK IS SECURED IN FWD POSITION NOT BLOCK EMER EXIT SEATBACK  14G CANT BE IN UPRIGHT POSITION EVENT CLOSED A/C SERVICEABLE 12:45 – Tàu hạ cánh</a:t>
                      </a:r>
                      <a:br>
                        <a:rPr lang="vi-VN" sz="1000" b="0" i="0" u="none" strike="noStrike">
                          <a:solidFill>
                            <a:srgbClr val="000000"/>
                          </a:solidFill>
                          <a:effectLst/>
                          <a:latin typeface="Times" panose="02020603050405020304" pitchFamily="18" charset="0"/>
                          <a:cs typeface="Times" panose="02020603050405020304" pitchFamily="18" charset="0"/>
                        </a:rPr>
                      </a:br>
                      <a:r>
                        <a:rPr lang="vi-VN" sz="1000" b="0" i="0" u="none" strike="noStrike">
                          <a:solidFill>
                            <a:srgbClr val="000000"/>
                          </a:solidFill>
                          <a:effectLst/>
                          <a:latin typeface="Times" panose="02020603050405020304" pitchFamily="18" charset="0"/>
                          <a:cs typeface="Times" panose="02020603050405020304" pitchFamily="18" charset="0"/>
                        </a:rPr>
                        <a:t>12:55 – Tiếp viên báo ghế 14G ko ở vị trí up right pos. Kiểm tra thì khả năng xi lanh bị kẹt nên ko duỗi về vị trí upright được. Nên buộc phải tháo xi lanh và ngả lưng ghế về phía trước do ghế ở tại vị trí cửa thoát hiểm. Đã raised ADD b1858</a:t>
                      </a:r>
                      <a:br>
                        <a:rPr lang="vi-VN" sz="1000" b="0" i="0" u="none" strike="noStrike">
                          <a:solidFill>
                            <a:srgbClr val="000000"/>
                          </a:solidFill>
                          <a:effectLst/>
                          <a:latin typeface="Times" panose="02020603050405020304" pitchFamily="18" charset="0"/>
                          <a:cs typeface="Times" panose="02020603050405020304" pitchFamily="18" charset="0"/>
                        </a:rPr>
                      </a:br>
                      <a:r>
                        <a:rPr lang="vi-VN" sz="1000" b="0" i="0" u="none" strike="noStrike">
                          <a:solidFill>
                            <a:srgbClr val="000000"/>
                          </a:solidFill>
                          <a:effectLst/>
                          <a:latin typeface="Times" panose="02020603050405020304" pitchFamily="18" charset="0"/>
                          <a:cs typeface="Times" panose="02020603050405020304" pitchFamily="18" charset="0"/>
                        </a:rPr>
                        <a:t>Total delay: 29mins, Tech: 25mins</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Nguyên nhân do xi lanh bị kẹt, có thể do ảnh hưởng trong quá trình khai thác. Hỏng hóc này ít khi xảy ra. Tiếp tục theo dõi thêm</a:t>
                      </a:r>
                      <a:br>
                        <a:rPr lang="vi-VN" sz="1000" b="0" i="0" u="none" strike="noStrike" dirty="0">
                          <a:solidFill>
                            <a:srgbClr val="000000"/>
                          </a:solidFill>
                          <a:effectLst/>
                          <a:latin typeface="Times" panose="02020603050405020304" pitchFamily="18" charset="0"/>
                          <a:cs typeface="Times" panose="02020603050405020304" pitchFamily="18" charset="0"/>
                        </a:rPr>
                      </a:br>
                      <a:endParaRPr lang="vi-VN" sz="1000" b="0" i="0" u="none" strike="noStrike" dirty="0">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36759914"/>
                  </a:ext>
                </a:extLst>
              </a:tr>
            </a:tbl>
          </a:graphicData>
        </a:graphic>
      </p:graphicFrame>
    </p:spTree>
    <p:extLst>
      <p:ext uri="{BB962C8B-B14F-4D97-AF65-F5344CB8AC3E}">
        <p14:creationId xmlns:p14="http://schemas.microsoft.com/office/powerpoint/2010/main" val="1333078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pic>
        <p:nvPicPr>
          <p:cNvPr id="6" name="Image 0" descr="preencoded.png"/>
          <p:cNvPicPr>
            <a:picLocks noChangeAspect="1"/>
          </p:cNvPicPr>
          <p:nvPr/>
        </p:nvPicPr>
        <p:blipFill>
          <a:blip r:embed="rId4"/>
          <a:stretch>
            <a:fillRect/>
          </a:stretch>
        </p:blipFill>
        <p:spPr>
          <a:xfrm>
            <a:off x="0" y="990600"/>
            <a:ext cx="4572000" cy="5868790"/>
          </a:xfrm>
          <a:prstGeom prst="rect">
            <a:avLst/>
          </a:prstGeom>
        </p:spPr>
      </p:pic>
      <p:sp>
        <p:nvSpPr>
          <p:cNvPr id="8" name="Text 0"/>
          <p:cNvSpPr/>
          <p:nvPr/>
        </p:nvSpPr>
        <p:spPr>
          <a:xfrm>
            <a:off x="5169794" y="774423"/>
            <a:ext cx="6424414" cy="1895326"/>
          </a:xfrm>
          <a:prstGeom prst="rect">
            <a:avLst/>
          </a:prstGeom>
          <a:noFill/>
          <a:ln/>
        </p:spPr>
        <p:txBody>
          <a:bodyPr wrap="square" lIns="0" tIns="0" rIns="0" bIns="0" rtlCol="0" anchor="t"/>
          <a:lstStyle/>
          <a:p>
            <a:r>
              <a:rPr lang="en-US" sz="1600" b="1" dirty="0">
                <a:solidFill>
                  <a:srgbClr val="38512F"/>
                </a:solidFill>
                <a:latin typeface="Times New Roman" panose="02020603050405020304" pitchFamily="18" charset="0"/>
                <a:ea typeface="Lora" pitchFamily="34" charset="-122"/>
                <a:cs typeface="Times New Roman" panose="02020603050405020304" pitchFamily="18" charset="0"/>
              </a:rPr>
              <a:t>Hỏng Hóc Nổi Bật Đội Tàu A321 và Giải Pháp </a:t>
            </a:r>
            <a:r>
              <a:rPr lang="en-US" sz="1600" b="1" dirty="0" err="1">
                <a:solidFill>
                  <a:srgbClr val="38512F"/>
                </a:solidFill>
                <a:latin typeface="Times New Roman" panose="02020603050405020304" pitchFamily="18" charset="0"/>
                <a:ea typeface="Lora" pitchFamily="34" charset="-122"/>
                <a:cs typeface="Times New Roman" panose="02020603050405020304" pitchFamily="18" charset="0"/>
              </a:rPr>
              <a:t>Khắc</a:t>
            </a:r>
            <a:r>
              <a:rPr lang="en-US" sz="1600" b="1"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b="1" dirty="0" err="1" smtClean="0">
                <a:solidFill>
                  <a:srgbClr val="38512F"/>
                </a:solidFill>
                <a:latin typeface="Times New Roman" panose="02020603050405020304" pitchFamily="18" charset="0"/>
                <a:ea typeface="Lora" pitchFamily="34" charset="-122"/>
                <a:cs typeface="Times New Roman" panose="02020603050405020304" pitchFamily="18" charset="0"/>
              </a:rPr>
              <a:t>Phục</a:t>
            </a:r>
            <a:r>
              <a:rPr lang="en-US" sz="1600" b="1" dirty="0" smtClean="0">
                <a:solidFill>
                  <a:srgbClr val="38512F"/>
                </a:solidFill>
                <a:latin typeface="Times New Roman" panose="02020603050405020304" pitchFamily="18" charset="0"/>
                <a:ea typeface="Lora" pitchFamily="34" charset="-122"/>
                <a:cs typeface="Times New Roman" panose="02020603050405020304" pitchFamily="18" charset="0"/>
              </a:rPr>
              <a:t> </a:t>
            </a:r>
          </a:p>
          <a:p>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Trong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tuần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phát</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sinh</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2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sự</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kiện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AOG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đánh</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giá</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là</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các</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hỏng</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hóc</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đơn</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lẻ</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không</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phổ</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biến</a:t>
            </a:r>
            <a:endPar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endParaRPr>
          </a:p>
          <a:p>
            <a:pPr>
              <a:lnSpc>
                <a:spcPts val="1958"/>
              </a:lnSpc>
            </a:pP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Ngoài</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ra</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trong</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tuần</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phát</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sinh</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lại</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các</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trường</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hợp</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Delay do </a:t>
            </a:r>
            <a:r>
              <a:rPr lang="en-US" sz="1600" dirty="0" err="1" smtClean="0">
                <a:solidFill>
                  <a:srgbClr val="38512F"/>
                </a:solidFill>
                <a:latin typeface="Times New Roman" panose="02020603050405020304" pitchFamily="18" charset="0"/>
                <a:ea typeface="Lora" pitchFamily="34" charset="-122"/>
                <a:cs typeface="Times New Roman" panose="02020603050405020304" pitchFamily="18" charset="0"/>
              </a:rPr>
              <a:t>kẹt</a:t>
            </a:r>
            <a:r>
              <a:rPr lang="en-US" sz="1600" dirty="0" smtClean="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cửa</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buồng</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hàng</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ở BKK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và</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SIN do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trước</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đó</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các</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tàu</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này</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đều</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đã</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thực</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hiện</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kiểm</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tra</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theo</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EO.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Nghi</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ngờ</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do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nhân</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viên</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mặt</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đất</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tài</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các</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sân</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BKK, SIN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không</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thực</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hiện</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đúng</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quy</a:t>
            </a:r>
            <a:r>
              <a:rPr lang="en-US" sz="1600" dirty="0">
                <a:solidFill>
                  <a:srgbClr val="38512F"/>
                </a:solidFill>
                <a:latin typeface="Times New Roman" panose="02020603050405020304" pitchFamily="18" charset="0"/>
                <a:ea typeface="Lora" pitchFamily="34" charset="-122"/>
                <a:cs typeface="Times New Roman" panose="02020603050405020304" pitchFamily="18" charset="0"/>
              </a:rPr>
              <a:t> </a:t>
            </a:r>
            <a:r>
              <a:rPr lang="en-US" sz="1600" dirty="0" err="1">
                <a:solidFill>
                  <a:srgbClr val="38512F"/>
                </a:solidFill>
                <a:latin typeface="Times New Roman" panose="02020603050405020304" pitchFamily="18" charset="0"/>
                <a:ea typeface="Lora" pitchFamily="34" charset="-122"/>
                <a:cs typeface="Times New Roman" panose="02020603050405020304" pitchFamily="18" charset="0"/>
              </a:rPr>
              <a:t>trình</a:t>
            </a:r>
            <a:endParaRPr lang="en-US" sz="1600" dirty="0">
              <a:solidFill>
                <a:srgbClr val="38512F"/>
              </a:solidFill>
              <a:latin typeface="Times New Roman" panose="02020603050405020304" pitchFamily="18" charset="0"/>
              <a:ea typeface="Lora" pitchFamily="34" charset="-122"/>
              <a:cs typeface="Times New Roman" panose="02020603050405020304" pitchFamily="18" charset="0"/>
            </a:endParaRPr>
          </a:p>
        </p:txBody>
      </p:sp>
      <p:sp>
        <p:nvSpPr>
          <p:cNvPr id="9" name="Shape 1"/>
          <p:cNvSpPr/>
          <p:nvPr/>
        </p:nvSpPr>
        <p:spPr>
          <a:xfrm>
            <a:off x="5103543" y="2680900"/>
            <a:ext cx="6424414" cy="968375"/>
          </a:xfrm>
          <a:prstGeom prst="roundRect">
            <a:avLst>
              <a:gd name="adj" fmla="val 2646"/>
            </a:avLst>
          </a:prstGeom>
          <a:solidFill>
            <a:srgbClr val="F3E7D4"/>
          </a:solidFill>
          <a:ln/>
        </p:spPr>
      </p:sp>
      <p:sp>
        <p:nvSpPr>
          <p:cNvPr id="10" name="Text 2"/>
          <p:cNvSpPr/>
          <p:nvPr/>
        </p:nvSpPr>
        <p:spPr>
          <a:xfrm>
            <a:off x="5274297" y="2851656"/>
            <a:ext cx="2009577" cy="251123"/>
          </a:xfrm>
          <a:prstGeom prst="rect">
            <a:avLst/>
          </a:prstGeom>
          <a:noFill/>
          <a:ln/>
        </p:spPr>
        <p:txBody>
          <a:bodyPr wrap="none" lIns="0" tIns="0" rIns="0" bIns="0" rtlCol="0" anchor="t"/>
          <a:lstStyle/>
          <a:p>
            <a:pPr>
              <a:lnSpc>
                <a:spcPts val="1958"/>
              </a:lnSpc>
            </a:pPr>
            <a:r>
              <a:rPr lang="en-US" sz="1542" dirty="0" smtClean="0">
                <a:solidFill>
                  <a:srgbClr val="3A3630"/>
                </a:solidFill>
                <a:latin typeface="Lora" pitchFamily="34" charset="0"/>
                <a:ea typeface="Lora" pitchFamily="34" charset="-122"/>
                <a:cs typeface="Lora" pitchFamily="34" charset="-120"/>
              </a:rPr>
              <a:t>A339/HAN</a:t>
            </a:r>
            <a:endParaRPr lang="en-US" sz="1542" dirty="0"/>
          </a:p>
        </p:txBody>
      </p:sp>
      <p:sp>
        <p:nvSpPr>
          <p:cNvPr id="11" name="Text 3"/>
          <p:cNvSpPr/>
          <p:nvPr/>
        </p:nvSpPr>
        <p:spPr>
          <a:xfrm>
            <a:off x="5274298" y="3205172"/>
            <a:ext cx="6082903" cy="273348"/>
          </a:xfrm>
          <a:prstGeom prst="rect">
            <a:avLst/>
          </a:prstGeom>
          <a:noFill/>
          <a:ln/>
        </p:spPr>
        <p:txBody>
          <a:bodyPr wrap="none" lIns="0" tIns="0" rIns="0" bIns="0" rtlCol="0" anchor="t"/>
          <a:lstStyle/>
          <a:p>
            <a:pPr>
              <a:lnSpc>
                <a:spcPts val="2125"/>
              </a:lnSpc>
            </a:pPr>
            <a:r>
              <a:rPr lang="en-US" sz="1333" dirty="0" smtClean="0">
                <a:solidFill>
                  <a:srgbClr val="3A3630"/>
                </a:solidFill>
                <a:latin typeface="Source Sans Pro" pitchFamily="34" charset="0"/>
                <a:ea typeface="Source Sans Pro" pitchFamily="34" charset="-122"/>
                <a:cs typeface="Source Sans Pro" pitchFamily="34" charset="-120"/>
              </a:rPr>
              <a:t>AOG do </a:t>
            </a:r>
            <a:r>
              <a:rPr lang="en-US" sz="1333" dirty="0" err="1">
                <a:solidFill>
                  <a:srgbClr val="3A3630"/>
                </a:solidFill>
                <a:latin typeface="Source Sans Pro" pitchFamily="34" charset="0"/>
                <a:ea typeface="Source Sans Pro" pitchFamily="34" charset="-122"/>
                <a:cs typeface="Source Sans Pro" pitchFamily="34" charset="-120"/>
              </a:rPr>
              <a:t>lỗi</a:t>
            </a:r>
            <a:r>
              <a:rPr lang="en-US" sz="1333" dirty="0">
                <a:solidFill>
                  <a:srgbClr val="3A3630"/>
                </a:solidFill>
                <a:latin typeface="Source Sans Pro" pitchFamily="34" charset="0"/>
                <a:ea typeface="Source Sans Pro" pitchFamily="34" charset="-122"/>
                <a:cs typeface="Source Sans Pro" pitchFamily="34" charset="-120"/>
              </a:rPr>
              <a:t> NAV IR 1 FAULT .</a:t>
            </a:r>
            <a:endParaRPr lang="en-US" sz="1333" dirty="0"/>
          </a:p>
        </p:txBody>
      </p:sp>
      <p:sp>
        <p:nvSpPr>
          <p:cNvPr id="12" name="Shape 4"/>
          <p:cNvSpPr/>
          <p:nvPr/>
        </p:nvSpPr>
        <p:spPr>
          <a:xfrm>
            <a:off x="5167935" y="3820031"/>
            <a:ext cx="6424414" cy="968375"/>
          </a:xfrm>
          <a:prstGeom prst="roundRect">
            <a:avLst>
              <a:gd name="adj" fmla="val 2646"/>
            </a:avLst>
          </a:prstGeom>
          <a:solidFill>
            <a:srgbClr val="F3E7D4"/>
          </a:solidFill>
          <a:ln/>
        </p:spPr>
      </p:sp>
      <p:sp>
        <p:nvSpPr>
          <p:cNvPr id="13" name="Text 5"/>
          <p:cNvSpPr/>
          <p:nvPr/>
        </p:nvSpPr>
        <p:spPr>
          <a:xfrm>
            <a:off x="5274297" y="3990786"/>
            <a:ext cx="2009577" cy="251123"/>
          </a:xfrm>
          <a:prstGeom prst="rect">
            <a:avLst/>
          </a:prstGeom>
          <a:noFill/>
          <a:ln/>
        </p:spPr>
        <p:txBody>
          <a:bodyPr wrap="none" lIns="0" tIns="0" rIns="0" bIns="0" rtlCol="0" anchor="t"/>
          <a:lstStyle/>
          <a:p>
            <a:pPr>
              <a:lnSpc>
                <a:spcPts val="1958"/>
              </a:lnSpc>
            </a:pPr>
            <a:r>
              <a:rPr lang="en-US" sz="1542" dirty="0" smtClean="0">
                <a:solidFill>
                  <a:srgbClr val="3A3630"/>
                </a:solidFill>
                <a:latin typeface="Lora" pitchFamily="34" charset="0"/>
                <a:ea typeface="Lora" pitchFamily="34" charset="-122"/>
                <a:cs typeface="Lora" pitchFamily="34" charset="-120"/>
              </a:rPr>
              <a:t>A353/SGN</a:t>
            </a:r>
            <a:endParaRPr lang="en-US" sz="1542" dirty="0"/>
          </a:p>
        </p:txBody>
      </p:sp>
      <p:sp>
        <p:nvSpPr>
          <p:cNvPr id="14" name="Text 6"/>
          <p:cNvSpPr/>
          <p:nvPr/>
        </p:nvSpPr>
        <p:spPr>
          <a:xfrm>
            <a:off x="5274298" y="4344303"/>
            <a:ext cx="6082903" cy="273348"/>
          </a:xfrm>
          <a:prstGeom prst="rect">
            <a:avLst/>
          </a:prstGeom>
          <a:noFill/>
          <a:ln/>
        </p:spPr>
        <p:txBody>
          <a:bodyPr wrap="none" lIns="0" tIns="0" rIns="0" bIns="0" rtlCol="0" anchor="t"/>
          <a:lstStyle/>
          <a:p>
            <a:pPr>
              <a:lnSpc>
                <a:spcPts val="2125"/>
              </a:lnSpc>
            </a:pPr>
            <a:r>
              <a:rPr lang="en-US" sz="1333" dirty="0" smtClean="0">
                <a:solidFill>
                  <a:srgbClr val="3A3630"/>
                </a:solidFill>
                <a:latin typeface="Source Sans Pro" pitchFamily="34" charset="0"/>
                <a:ea typeface="Source Sans Pro" pitchFamily="34" charset="-122"/>
              </a:rPr>
              <a:t>AOG do </a:t>
            </a:r>
            <a:r>
              <a:rPr lang="en-US" sz="1333" dirty="0" err="1">
                <a:solidFill>
                  <a:srgbClr val="3A3630"/>
                </a:solidFill>
                <a:latin typeface="Source Sans Pro" pitchFamily="34" charset="0"/>
                <a:ea typeface="Source Sans Pro" pitchFamily="34" charset="-122"/>
              </a:rPr>
              <a:t>phát</a:t>
            </a:r>
            <a:r>
              <a:rPr lang="en-US" sz="1333" dirty="0">
                <a:solidFill>
                  <a:srgbClr val="3A3630"/>
                </a:solidFill>
                <a:latin typeface="Source Sans Pro" pitchFamily="34" charset="0"/>
                <a:ea typeface="Source Sans Pro" pitchFamily="34" charset="-122"/>
              </a:rPr>
              <a:t> </a:t>
            </a:r>
            <a:r>
              <a:rPr lang="en-US" sz="1333" dirty="0" err="1">
                <a:solidFill>
                  <a:srgbClr val="3A3630"/>
                </a:solidFill>
                <a:latin typeface="Source Sans Pro" pitchFamily="34" charset="0"/>
                <a:ea typeface="Source Sans Pro" pitchFamily="34" charset="-122"/>
              </a:rPr>
              <a:t>hiện</a:t>
            </a:r>
            <a:r>
              <a:rPr lang="en-US" sz="1333" dirty="0">
                <a:solidFill>
                  <a:srgbClr val="3A3630"/>
                </a:solidFill>
                <a:latin typeface="Source Sans Pro" pitchFamily="34" charset="0"/>
                <a:ea typeface="Source Sans Pro" pitchFamily="34" charset="-122"/>
              </a:rPr>
              <a:t> </a:t>
            </a:r>
            <a:r>
              <a:rPr lang="en-US" sz="1333" dirty="0" err="1">
                <a:solidFill>
                  <a:srgbClr val="3A3630"/>
                </a:solidFill>
                <a:latin typeface="Source Sans Pro" pitchFamily="34" charset="0"/>
                <a:ea typeface="Source Sans Pro" pitchFamily="34" charset="-122"/>
              </a:rPr>
              <a:t>cảnh</a:t>
            </a:r>
            <a:r>
              <a:rPr lang="en-US" sz="1333" dirty="0">
                <a:solidFill>
                  <a:srgbClr val="3A3630"/>
                </a:solidFill>
                <a:latin typeface="Source Sans Pro" pitchFamily="34" charset="0"/>
                <a:ea typeface="Source Sans Pro" pitchFamily="34" charset="-122"/>
              </a:rPr>
              <a:t> </a:t>
            </a:r>
            <a:r>
              <a:rPr lang="en-US" sz="1333" dirty="0" err="1">
                <a:solidFill>
                  <a:srgbClr val="3A3630"/>
                </a:solidFill>
                <a:latin typeface="Source Sans Pro" pitchFamily="34" charset="0"/>
                <a:ea typeface="Source Sans Pro" pitchFamily="34" charset="-122"/>
              </a:rPr>
              <a:t>báo</a:t>
            </a:r>
            <a:r>
              <a:rPr lang="en-US" sz="1333" dirty="0">
                <a:solidFill>
                  <a:srgbClr val="3A3630"/>
                </a:solidFill>
                <a:latin typeface="Source Sans Pro" pitchFamily="34" charset="0"/>
                <a:ea typeface="Source Sans Pro" pitchFamily="34" charset="-122"/>
              </a:rPr>
              <a:t> Cargo door open </a:t>
            </a:r>
            <a:r>
              <a:rPr lang="en-US" sz="1333" dirty="0" err="1">
                <a:solidFill>
                  <a:srgbClr val="3A3630"/>
                </a:solidFill>
                <a:latin typeface="Source Sans Pro" pitchFamily="34" charset="0"/>
                <a:ea typeface="Source Sans Pro" pitchFamily="34" charset="-122"/>
              </a:rPr>
              <a:t>trên</a:t>
            </a:r>
            <a:r>
              <a:rPr lang="en-US" sz="1333" dirty="0">
                <a:solidFill>
                  <a:srgbClr val="3A3630"/>
                </a:solidFill>
                <a:latin typeface="Source Sans Pro" pitchFamily="34" charset="0"/>
                <a:ea typeface="Source Sans Pro" pitchFamily="34" charset="-122"/>
              </a:rPr>
              <a:t> ECAM</a:t>
            </a:r>
            <a:endParaRPr lang="en-US" sz="1333" dirty="0"/>
          </a:p>
        </p:txBody>
      </p:sp>
      <p:sp>
        <p:nvSpPr>
          <p:cNvPr id="22" name="Title 4"/>
          <p:cNvSpPr txBox="1">
            <a:spLocks/>
          </p:cNvSpPr>
          <p:nvPr/>
        </p:nvSpPr>
        <p:spPr>
          <a:xfrm>
            <a:off x="304800" y="118417"/>
            <a:ext cx="11811000" cy="705000"/>
          </a:xfrm>
          <a:prstGeom prst="rect">
            <a:avLst/>
          </a:prstGeom>
        </p:spPr>
        <p:txBody>
          <a:bodyPr rtlCol="0">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a:defRPr/>
            </a:pPr>
            <a:r>
              <a:rPr lang="en-US" sz="2400" b="1" dirty="0">
                <a:ln w="0"/>
                <a:solidFill>
                  <a:schemeClr val="accent4"/>
                </a:solidFill>
                <a:cs typeface="Times New Roman" panose="02020603050405020304" pitchFamily="18" charset="0"/>
              </a:rPr>
              <a:t>TÌNH TRẠNG KỸ THUẬT ĐỘI BAY</a:t>
            </a:r>
          </a:p>
        </p:txBody>
      </p:sp>
    </p:spTree>
    <p:custDataLst>
      <p:tags r:id="rId1"/>
    </p:custDataLst>
    <p:extLst>
      <p:ext uri="{BB962C8B-B14F-4D97-AF65-F5344CB8AC3E}">
        <p14:creationId xmlns:p14="http://schemas.microsoft.com/office/powerpoint/2010/main" val="1547619298"/>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43343" y="505494"/>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(01 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1C8B535D-D8C1-44A7-2C7C-469AE61F5D3C}"/>
              </a:ext>
            </a:extLst>
          </p:cNvPr>
          <p:cNvSpPr txBox="1"/>
          <p:nvPr/>
        </p:nvSpPr>
        <p:spPr>
          <a:xfrm>
            <a:off x="143342" y="1002386"/>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803CF7F-1D9A-6FC9-1DA0-8B4CB6CCF472}"/>
              </a:ext>
            </a:extLst>
          </p:cNvPr>
          <p:cNvGraphicFramePr>
            <a:graphicFrameLocks noGrp="1"/>
          </p:cNvGraphicFramePr>
          <p:nvPr>
            <p:extLst/>
          </p:nvPr>
        </p:nvGraphicFramePr>
        <p:xfrm>
          <a:off x="134289" y="1499278"/>
          <a:ext cx="11706826" cy="719672"/>
        </p:xfrm>
        <a:graphic>
          <a:graphicData uri="http://schemas.openxmlformats.org/drawingml/2006/table">
            <a:tbl>
              <a:tblPr/>
              <a:tblGrid>
                <a:gridCol w="310440">
                  <a:extLst>
                    <a:ext uri="{9D8B030D-6E8A-4147-A177-3AD203B41FA5}">
                      <a16:colId xmlns:a16="http://schemas.microsoft.com/office/drawing/2014/main" val="40282166"/>
                    </a:ext>
                  </a:extLst>
                </a:gridCol>
                <a:gridCol w="898640">
                  <a:extLst>
                    <a:ext uri="{9D8B030D-6E8A-4147-A177-3AD203B41FA5}">
                      <a16:colId xmlns:a16="http://schemas.microsoft.com/office/drawing/2014/main" val="799634009"/>
                    </a:ext>
                  </a:extLst>
                </a:gridCol>
                <a:gridCol w="898640">
                  <a:extLst>
                    <a:ext uri="{9D8B030D-6E8A-4147-A177-3AD203B41FA5}">
                      <a16:colId xmlns:a16="http://schemas.microsoft.com/office/drawing/2014/main" val="2438280118"/>
                    </a:ext>
                  </a:extLst>
                </a:gridCol>
                <a:gridCol w="310440">
                  <a:extLst>
                    <a:ext uri="{9D8B030D-6E8A-4147-A177-3AD203B41FA5}">
                      <a16:colId xmlns:a16="http://schemas.microsoft.com/office/drawing/2014/main" val="1827285672"/>
                    </a:ext>
                  </a:extLst>
                </a:gridCol>
                <a:gridCol w="3324967">
                  <a:extLst>
                    <a:ext uri="{9D8B030D-6E8A-4147-A177-3AD203B41FA5}">
                      <a16:colId xmlns:a16="http://schemas.microsoft.com/office/drawing/2014/main" val="119173844"/>
                    </a:ext>
                  </a:extLst>
                </a:gridCol>
                <a:gridCol w="3488355">
                  <a:extLst>
                    <a:ext uri="{9D8B030D-6E8A-4147-A177-3AD203B41FA5}">
                      <a16:colId xmlns:a16="http://schemas.microsoft.com/office/drawing/2014/main" val="42807521"/>
                    </a:ext>
                  </a:extLst>
                </a:gridCol>
                <a:gridCol w="318609">
                  <a:extLst>
                    <a:ext uri="{9D8B030D-6E8A-4147-A177-3AD203B41FA5}">
                      <a16:colId xmlns:a16="http://schemas.microsoft.com/office/drawing/2014/main" val="261316898"/>
                    </a:ext>
                  </a:extLst>
                </a:gridCol>
                <a:gridCol w="2156735">
                  <a:extLst>
                    <a:ext uri="{9D8B030D-6E8A-4147-A177-3AD203B41FA5}">
                      <a16:colId xmlns:a16="http://schemas.microsoft.com/office/drawing/2014/main" val="3758935386"/>
                    </a:ext>
                  </a:extLst>
                </a:gridCol>
              </a:tblGrid>
              <a:tr h="106403">
                <a:tc>
                  <a:txBody>
                    <a:bodyPr/>
                    <a:lstStyle/>
                    <a:p>
                      <a:pPr algn="ctr" fontAlgn="ctr"/>
                      <a:r>
                        <a:rPr lang="en-US" sz="600" b="0" i="0" u="none" strike="noStrike">
                          <a:solidFill>
                            <a:srgbClr val="000000"/>
                          </a:solidFill>
                          <a:effectLst/>
                          <a:latin typeface="Calibri" panose="020F0502020204030204" pitchFamily="34" charset="0"/>
                        </a:rPr>
                        <a:t>A/C</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OPEN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CLOSED DATE</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STA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DEFECT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ACTION</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ATA</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Engineering Assessment</a:t>
                      </a:r>
                    </a:p>
                  </a:txBody>
                  <a:tcPr marL="3669" marR="3669" marT="36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539831988"/>
                  </a:ext>
                </a:extLst>
              </a:tr>
              <a:tr h="425614">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A896</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19:00 02/05/2025</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12:30 03/05/2025</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CDG</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BIRD STRIKE TO RH DROPNOSE OUT OF LIMIT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R/H DROPNOSE EVENT CLOSED - AF Technical C/O Inspection and NDT DROPNOSE  ref Airbus advicement</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 Airbus issue RDAF, The repair consists of filling the dent with High Speed Tape with limitation 02FC to Main Base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NONE-TECH</a:t>
                      </a:r>
                    </a:p>
                  </a:txBody>
                  <a:tcPr marL="3669" marR="3669" marT="366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361105"/>
                  </a:ext>
                </a:extLst>
              </a:tr>
            </a:tbl>
          </a:graphicData>
        </a:graphic>
      </p:graphicFrame>
      <p:sp>
        <p:nvSpPr>
          <p:cNvPr id="5" name="TextBox 4">
            <a:extLst>
              <a:ext uri="{FF2B5EF4-FFF2-40B4-BE49-F238E27FC236}">
                <a16:creationId xmlns:a16="http://schemas.microsoft.com/office/drawing/2014/main" id="{AD9F146A-28C6-FD41-0CF8-01B59B1004B8}"/>
              </a:ext>
            </a:extLst>
          </p:cNvPr>
          <p:cNvSpPr txBox="1"/>
          <p:nvPr/>
        </p:nvSpPr>
        <p:spPr>
          <a:xfrm>
            <a:off x="124764" y="2341449"/>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8" name="Table 7">
            <a:extLst>
              <a:ext uri="{FF2B5EF4-FFF2-40B4-BE49-F238E27FC236}">
                <a16:creationId xmlns:a16="http://schemas.microsoft.com/office/drawing/2014/main" id="{F23FDF27-1DB2-E34E-61E6-D251CCEB0889}"/>
              </a:ext>
            </a:extLst>
          </p:cNvPr>
          <p:cNvGraphicFramePr>
            <a:graphicFrameLocks noGrp="1"/>
          </p:cNvGraphicFramePr>
          <p:nvPr>
            <p:extLst/>
          </p:nvPr>
        </p:nvGraphicFramePr>
        <p:xfrm>
          <a:off x="134289" y="2762944"/>
          <a:ext cx="11679189" cy="4066481"/>
        </p:xfrm>
        <a:graphic>
          <a:graphicData uri="http://schemas.openxmlformats.org/drawingml/2006/table">
            <a:tbl>
              <a:tblPr/>
              <a:tblGrid>
                <a:gridCol w="399111">
                  <a:extLst>
                    <a:ext uri="{9D8B030D-6E8A-4147-A177-3AD203B41FA5}">
                      <a16:colId xmlns:a16="http://schemas.microsoft.com/office/drawing/2014/main" val="3678090921"/>
                    </a:ext>
                  </a:extLst>
                </a:gridCol>
                <a:gridCol w="704670">
                  <a:extLst>
                    <a:ext uri="{9D8B030D-6E8A-4147-A177-3AD203B41FA5}">
                      <a16:colId xmlns:a16="http://schemas.microsoft.com/office/drawing/2014/main" val="1076392510"/>
                    </a:ext>
                  </a:extLst>
                </a:gridCol>
                <a:gridCol w="283403">
                  <a:extLst>
                    <a:ext uri="{9D8B030D-6E8A-4147-A177-3AD203B41FA5}">
                      <a16:colId xmlns:a16="http://schemas.microsoft.com/office/drawing/2014/main" val="3700715983"/>
                    </a:ext>
                  </a:extLst>
                </a:gridCol>
                <a:gridCol w="768171">
                  <a:extLst>
                    <a:ext uri="{9D8B030D-6E8A-4147-A177-3AD203B41FA5}">
                      <a16:colId xmlns:a16="http://schemas.microsoft.com/office/drawing/2014/main" val="3817174356"/>
                    </a:ext>
                  </a:extLst>
                </a:gridCol>
                <a:gridCol w="574264">
                  <a:extLst>
                    <a:ext uri="{9D8B030D-6E8A-4147-A177-3AD203B41FA5}">
                      <a16:colId xmlns:a16="http://schemas.microsoft.com/office/drawing/2014/main" val="1975464141"/>
                    </a:ext>
                  </a:extLst>
                </a:gridCol>
                <a:gridCol w="477310">
                  <a:extLst>
                    <a:ext uri="{9D8B030D-6E8A-4147-A177-3AD203B41FA5}">
                      <a16:colId xmlns:a16="http://schemas.microsoft.com/office/drawing/2014/main" val="3121123693"/>
                    </a:ext>
                  </a:extLst>
                </a:gridCol>
                <a:gridCol w="2319430">
                  <a:extLst>
                    <a:ext uri="{9D8B030D-6E8A-4147-A177-3AD203B41FA5}">
                      <a16:colId xmlns:a16="http://schemas.microsoft.com/office/drawing/2014/main" val="467443827"/>
                    </a:ext>
                  </a:extLst>
                </a:gridCol>
                <a:gridCol w="2990648">
                  <a:extLst>
                    <a:ext uri="{9D8B030D-6E8A-4147-A177-3AD203B41FA5}">
                      <a16:colId xmlns:a16="http://schemas.microsoft.com/office/drawing/2014/main" val="1422949806"/>
                    </a:ext>
                  </a:extLst>
                </a:gridCol>
                <a:gridCol w="290861">
                  <a:extLst>
                    <a:ext uri="{9D8B030D-6E8A-4147-A177-3AD203B41FA5}">
                      <a16:colId xmlns:a16="http://schemas.microsoft.com/office/drawing/2014/main" val="710412361"/>
                    </a:ext>
                  </a:extLst>
                </a:gridCol>
                <a:gridCol w="2871321">
                  <a:extLst>
                    <a:ext uri="{9D8B030D-6E8A-4147-A177-3AD203B41FA5}">
                      <a16:colId xmlns:a16="http://schemas.microsoft.com/office/drawing/2014/main" val="2996055548"/>
                    </a:ext>
                  </a:extLst>
                </a:gridCol>
              </a:tblGrid>
              <a:tr h="97367">
                <a:tc>
                  <a:txBody>
                    <a:bodyPr/>
                    <a:lstStyle/>
                    <a:p>
                      <a:pPr algn="ctr" fontAlgn="ctr"/>
                      <a:r>
                        <a:rPr lang="en-US" sz="600" b="0" i="0" u="none" strike="noStrike">
                          <a:solidFill>
                            <a:srgbClr val="000000"/>
                          </a:solidFill>
                          <a:effectLst/>
                          <a:latin typeface="Calibri" panose="020F0502020204030204" pitchFamily="34"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322313149"/>
                  </a:ext>
                </a:extLst>
              </a:tr>
              <a:tr h="6815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A898</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09:46 28/04/2025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80</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VN245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FOUND R/H Y CABIN LIGHTING LOSS A898 VN245 HANSGN ETD08:00 (PREFLIGHT) FOUND R/H Y CABIN LIGHTING LOSS</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EVENT CLOSED ACTION: REPLACE CONNECTOR 34PN &gt; NIL HELP, REPLACE SENSOR 14PN CHECK SATIS. VN245 DELAY 1H20’.</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R/H Y CABIN LIGHTING LOSS</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
                      </a:r>
                      <a:br>
                        <a:rPr lang="en-US" sz="1000" b="0" i="0" u="none" strike="noStrike">
                          <a:solidFill>
                            <a:srgbClr val="000000"/>
                          </a:solidFill>
                          <a:effectLst/>
                          <a:latin typeface="Times" panose="02020603050405020304" pitchFamily="18" charset="0"/>
                          <a:cs typeface="Times" panose="02020603050405020304" pitchFamily="18" charset="0"/>
                        </a:rPr>
                      </a:br>
                      <a:endParaRPr lang="en-US" sz="1000" b="0" i="0" u="none" strike="noStrike">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a:solidFill>
                            <a:srgbClr val="000000"/>
                          </a:solidFill>
                          <a:effectLst/>
                          <a:latin typeface="Times" panose="02020603050405020304" pitchFamily="18" charset="0"/>
                          <a:cs typeface="Times" panose="02020603050405020304" pitchFamily="18" charset="0"/>
                        </a:rPr>
                        <a:t>Hỏng hóc do Contactor PN 101CC05Y00 và  RCCB DC Sensor PN 140GC04L06Y10. Đây là các thiết bị có độ tin cậy cao, hiếm khi hỏng, từ lúc khai thác Contactor PN 101CC05Y00 chưa phải thay thế, RCCB DC Sensor PN 101CC05Y00  thay 01 lần vào năm 2021. </a:t>
                      </a:r>
                      <a:br>
                        <a:rPr lang="vi-VN" sz="1000" b="0" i="0" u="none" strike="noStrike">
                          <a:solidFill>
                            <a:srgbClr val="000000"/>
                          </a:solidFill>
                          <a:effectLst/>
                          <a:latin typeface="Times" panose="02020603050405020304" pitchFamily="18" charset="0"/>
                          <a:cs typeface="Times" panose="02020603050405020304" pitchFamily="18" charset="0"/>
                        </a:rPr>
                      </a:br>
                      <a:r>
                        <a:rPr lang="vi-VN" sz="1000" b="0" i="0" u="none" strike="noStrike">
                          <a:solidFill>
                            <a:srgbClr val="000000"/>
                          </a:solidFill>
                          <a:effectLst/>
                          <a:latin typeface="Times" panose="02020603050405020304" pitchFamily="18" charset="0"/>
                          <a:cs typeface="Times" panose="02020603050405020304" pitchFamily="18" charset="0"/>
                        </a:rPr>
                        <a:t>Theo Airbus tại TFU 24.71.00.020, hỏng hóc do RCCB DC sensor (có thể kéo theo contactor) có thể do tiếp điểm bên trong khối không tốt, ảnh hưởng đến tin hiệu. Airbus đang nghiên cứu cải tiến thiết kế, dự kiến sẽ có vào mid2026</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5720857"/>
                  </a:ext>
                </a:extLst>
              </a:tr>
              <a:tr h="9736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A898</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11:00 29/04/2025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35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VN7257</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MSG NO GO “DM: F/CTL  &gt; F/CTL DIFF FLAP SETTING C/o WO7337481: MSG NO GO “DM: F/CTL ; F/CTL DIFF FLAP SETTING”</a:t>
                      </a:r>
                      <a:br>
                        <a:rPr lang="en-US" sz="1000" b="0" i="0" u="none" strike="noStrike">
                          <a:solidFill>
                            <a:srgbClr val="000000"/>
                          </a:solidFill>
                          <a:effectLst/>
                          <a:latin typeface="Times" panose="02020603050405020304" pitchFamily="18" charset="0"/>
                          <a:cs typeface="Times" panose="02020603050405020304" pitchFamily="18" charset="0"/>
                        </a:rPr>
                      </a:br>
                      <a:endParaRPr lang="en-US" sz="1000" b="0" i="0" u="none" strike="noStrike">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C/o replaced brakepower off, ADGB RH (82CV) ; test found MSG F/CTL flap SYS#2 ; C/o applied MEL. ACTION EVENT CLOSED F/CTL DIFF FLAP SETTING</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r>
                        <a:rPr lang="en-US" sz="1000" b="0" i="0" u="none" strike="noStrike">
                          <a:solidFill>
                            <a:srgbClr val="000000"/>
                          </a:solidFill>
                          <a:effectLst/>
                          <a:latin typeface="Times" panose="02020603050405020304" pitchFamily="18" charset="0"/>
                          <a:cs typeface="Times" panose="02020603050405020304" pitchFamily="18" charset="0"/>
                        </a:rPr>
                        <a:t>2751</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DM: F/CTL  &gt; F/CTL DIFF FLAP SETTING FM: BRAKEPOWER OFF, ADGB LH(81CV) / BRAKEPOWER OFF, ADGB RH(82CV) / GEARBOXACTIVE DIFFERENTIAL,FLAP LH(5028CV),  FC: 2750F80U</a:t>
                      </a:r>
                      <a:br>
                        <a:rPr lang="vi-VN" sz="1000" b="0" i="0" u="none" strike="noStrike" dirty="0">
                          <a:solidFill>
                            <a:srgbClr val="000000"/>
                          </a:solidFill>
                          <a:effectLst/>
                          <a:latin typeface="Times" panose="02020603050405020304" pitchFamily="18" charset="0"/>
                          <a:cs typeface="Times" panose="02020603050405020304" pitchFamily="18" charset="0"/>
                        </a:rPr>
                      </a:br>
                      <a:r>
                        <a:rPr lang="vi-VN" sz="1000" b="0" i="0" u="none" strike="noStrike" dirty="0">
                          <a:solidFill>
                            <a:srgbClr val="000000"/>
                          </a:solidFill>
                          <a:effectLst/>
                          <a:latin typeface="Times" panose="02020603050405020304" pitchFamily="18" charset="0"/>
                          <a:cs typeface="Times" panose="02020603050405020304" pitchFamily="18" charset="0"/>
                        </a:rPr>
                        <a:t>Hỏng hóc được khắc phục sau khi thay khối GEARBOXACTIVE DIFFERENTIAL,FLAP LH(5028CV), PN OFF 4787A000004, S/N OFF 4787A00LI000707 theo AFI task. Khối này gốc theo tàu bay CSN =4300, TSN= 18269:51</a:t>
                      </a:r>
                      <a:br>
                        <a:rPr lang="vi-VN" sz="1000" b="0" i="0" u="none" strike="noStrike" dirty="0">
                          <a:solidFill>
                            <a:srgbClr val="000000"/>
                          </a:solidFill>
                          <a:effectLst/>
                          <a:latin typeface="Times" panose="02020603050405020304" pitchFamily="18" charset="0"/>
                          <a:cs typeface="Times" panose="02020603050405020304" pitchFamily="18" charset="0"/>
                        </a:rPr>
                      </a:br>
                      <a:r>
                        <a:rPr lang="vi-VN" sz="1000" b="0" i="0" u="none" strike="noStrike" dirty="0">
                          <a:solidFill>
                            <a:srgbClr val="000000"/>
                          </a:solidFill>
                          <a:effectLst/>
                          <a:latin typeface="Times" panose="02020603050405020304" pitchFamily="18" charset="0"/>
                          <a:cs typeface="Times" panose="02020603050405020304" pitchFamily="18" charset="0"/>
                        </a:rPr>
                        <a:t>Tính từ khi EIS, đây là lần đầu tiên hỏng hóc khối gear box này, Ngoài ra, khối tháo xuống cũng là khối đời mới nhất. Airbus không có tài liệu nào đề cập đến độ tin cậy của khối này</a:t>
                      </a:r>
                      <a:br>
                        <a:rPr lang="vi-VN" sz="1000" b="0" i="0" u="none" strike="noStrike" dirty="0">
                          <a:solidFill>
                            <a:srgbClr val="000000"/>
                          </a:solidFill>
                          <a:effectLst/>
                          <a:latin typeface="Times" panose="02020603050405020304" pitchFamily="18" charset="0"/>
                          <a:cs typeface="Times" panose="02020603050405020304" pitchFamily="18" charset="0"/>
                        </a:rPr>
                      </a:br>
                      <a:r>
                        <a:rPr lang="vi-VN" sz="1000" b="0" i="0" u="none" strike="noStrike" dirty="0">
                          <a:solidFill>
                            <a:srgbClr val="000000"/>
                          </a:solidFill>
                          <a:effectLst/>
                          <a:latin typeface="Times" panose="02020603050405020304" pitchFamily="18" charset="0"/>
                          <a:cs typeface="Times" panose="02020603050405020304" pitchFamily="18" charset="0"/>
                        </a:rPr>
                        <a:t>Chờ SFR để đánh giá nguyên nhân.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7331297"/>
                  </a:ext>
                </a:extLst>
              </a:tr>
            </a:tbl>
          </a:graphicData>
        </a:graphic>
      </p:graphicFrame>
    </p:spTree>
    <p:extLst>
      <p:ext uri="{BB962C8B-B14F-4D97-AF65-F5344CB8AC3E}">
        <p14:creationId xmlns:p14="http://schemas.microsoft.com/office/powerpoint/2010/main" val="2670689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77C8D40E-EBC4-8468-01AD-8C1615BF81C1}"/>
              </a:ext>
            </a:extLst>
          </p:cNvPr>
          <p:cNvGraphicFramePr>
            <a:graphicFrameLocks noGrp="1"/>
          </p:cNvGraphicFramePr>
          <p:nvPr>
            <p:extLst/>
          </p:nvPr>
        </p:nvGraphicFramePr>
        <p:xfrm>
          <a:off x="157437" y="565153"/>
          <a:ext cx="11776990" cy="6212939"/>
        </p:xfrm>
        <a:graphic>
          <a:graphicData uri="http://schemas.openxmlformats.org/drawingml/2006/table">
            <a:tbl>
              <a:tblPr/>
              <a:tblGrid>
                <a:gridCol w="348085">
                  <a:extLst>
                    <a:ext uri="{9D8B030D-6E8A-4147-A177-3AD203B41FA5}">
                      <a16:colId xmlns:a16="http://schemas.microsoft.com/office/drawing/2014/main" val="2409740082"/>
                    </a:ext>
                  </a:extLst>
                </a:gridCol>
                <a:gridCol w="555084">
                  <a:extLst>
                    <a:ext uri="{9D8B030D-6E8A-4147-A177-3AD203B41FA5}">
                      <a16:colId xmlns:a16="http://schemas.microsoft.com/office/drawing/2014/main" val="1052309924"/>
                    </a:ext>
                  </a:extLst>
                </a:gridCol>
                <a:gridCol w="604644">
                  <a:extLst>
                    <a:ext uri="{9D8B030D-6E8A-4147-A177-3AD203B41FA5}">
                      <a16:colId xmlns:a16="http://schemas.microsoft.com/office/drawing/2014/main" val="3610827626"/>
                    </a:ext>
                  </a:extLst>
                </a:gridCol>
                <a:gridCol w="1476916">
                  <a:extLst>
                    <a:ext uri="{9D8B030D-6E8A-4147-A177-3AD203B41FA5}">
                      <a16:colId xmlns:a16="http://schemas.microsoft.com/office/drawing/2014/main" val="442665913"/>
                    </a:ext>
                  </a:extLst>
                </a:gridCol>
                <a:gridCol w="1199376">
                  <a:extLst>
                    <a:ext uri="{9D8B030D-6E8A-4147-A177-3AD203B41FA5}">
                      <a16:colId xmlns:a16="http://schemas.microsoft.com/office/drawing/2014/main" val="2404776318"/>
                    </a:ext>
                  </a:extLst>
                </a:gridCol>
                <a:gridCol w="1605776">
                  <a:extLst>
                    <a:ext uri="{9D8B030D-6E8A-4147-A177-3AD203B41FA5}">
                      <a16:colId xmlns:a16="http://schemas.microsoft.com/office/drawing/2014/main" val="3136549563"/>
                    </a:ext>
                  </a:extLst>
                </a:gridCol>
                <a:gridCol w="5987109">
                  <a:extLst>
                    <a:ext uri="{9D8B030D-6E8A-4147-A177-3AD203B41FA5}">
                      <a16:colId xmlns:a16="http://schemas.microsoft.com/office/drawing/2014/main" val="3718139897"/>
                    </a:ext>
                  </a:extLst>
                </a:gridCol>
              </a:tblGrid>
              <a:tr h="255885">
                <a:tc>
                  <a:txBody>
                    <a:bodyPr/>
                    <a:lstStyle/>
                    <a:p>
                      <a:pPr algn="ctr" fontAlgn="ctr"/>
                      <a:r>
                        <a:rPr lang="en-US" sz="1300" b="0" i="0" u="none" strike="noStrike">
                          <a:solidFill>
                            <a:srgbClr val="000000"/>
                          </a:solidFill>
                          <a:effectLst/>
                          <a:latin typeface="Calibri" panose="020F0502020204030204" pitchFamily="34" charset="0"/>
                        </a:rPr>
                        <a:t>No</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1192679"/>
                  </a:ext>
                </a:extLst>
              </a:tr>
              <a:tr h="758248">
                <a:tc>
                  <a:txBody>
                    <a:bodyPr/>
                    <a:lstStyle/>
                    <a:p>
                      <a:pPr algn="ctr" fontAlgn="ctr"/>
                      <a:r>
                        <a:rPr lang="en-US" sz="1300" b="0" i="0" u="none" strike="noStrike">
                          <a:solidFill>
                            <a:srgbClr val="000000"/>
                          </a:solidFill>
                          <a:effectLst/>
                          <a:latin typeface="Calibri" panose="020F0502020204030204" pitchFamily="34" charset="0"/>
                        </a:rPr>
                        <a:t>1</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ADD B1372 RAISED DM AIR REDUNDANCY LOSS ON FUEL INERTING</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B1379 RAISED PACK 1 REGULATION REDUNDANCY</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B1381 RAISED F/CTL R OUT R AILERON G ACTUATOR</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8754865"/>
                  </a:ext>
                </a:extLst>
              </a:tr>
              <a:tr h="255885">
                <a:tc>
                  <a:txBody>
                    <a:bodyPr/>
                    <a:lstStyle/>
                    <a:p>
                      <a:pPr algn="ctr" fontAlgn="ctr"/>
                      <a:r>
                        <a:rPr lang="en-US" sz="1300" b="0" i="0" u="none" strike="noStrike">
                          <a:solidFill>
                            <a:srgbClr val="000000"/>
                          </a:solidFill>
                          <a:effectLst/>
                          <a:latin typeface="Calibri" panose="020F0502020204030204" pitchFamily="34" charset="0"/>
                        </a:rPr>
                        <a:t>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B1246 RAISED AIR PACK 2 REGUL REDUNDANCY</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706972"/>
                  </a:ext>
                </a:extLst>
              </a:tr>
              <a:tr h="632657">
                <a:tc>
                  <a:txBody>
                    <a:bodyPr/>
                    <a:lstStyle/>
                    <a:p>
                      <a:pPr algn="ctr" fontAlgn="ctr"/>
                      <a:r>
                        <a:rPr lang="en-US" sz="1300" b="0" i="0" u="none" strike="noStrike">
                          <a:solidFill>
                            <a:srgbClr val="000000"/>
                          </a:solidFill>
                          <a:effectLst/>
                          <a:latin typeface="Calibri" panose="020F0502020204030204" pitchFamily="34" charset="0"/>
                        </a:rPr>
                        <a:t>3</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C1236 RAISED CHILLER SYS INOP DURING CRUISE</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7517105"/>
                  </a:ext>
                </a:extLst>
              </a:tr>
              <a:tr h="410207">
                <a:tc>
                  <a:txBody>
                    <a:bodyPr/>
                    <a:lstStyle/>
                    <a:p>
                      <a:pPr algn="ctr" fontAlgn="ctr"/>
                      <a:r>
                        <a:rPr lang="en-US" sz="1300" b="0" i="0" u="none" strike="noStrike">
                          <a:solidFill>
                            <a:srgbClr val="000000"/>
                          </a:solidFill>
                          <a:effectLst/>
                          <a:latin typeface="Calibri" panose="020F0502020204030204" pitchFamily="34" charset="0"/>
                        </a:rPr>
                        <a:t>4</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1426412"/>
                  </a:ext>
                </a:extLst>
              </a:tr>
              <a:tr h="507067">
                <a:tc>
                  <a:txBody>
                    <a:bodyPr/>
                    <a:lstStyle/>
                    <a:p>
                      <a:pPr algn="ctr" fontAlgn="ctr"/>
                      <a:r>
                        <a:rPr lang="en-US" sz="1300" b="0" i="0" u="none" strike="noStrike">
                          <a:solidFill>
                            <a:srgbClr val="000000"/>
                          </a:solidFill>
                          <a:effectLst/>
                          <a:latin typeface="Calibri" panose="020F0502020204030204" pitchFamily="34" charset="0"/>
                        </a:rPr>
                        <a:t>5</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81489576: PREVENTIVE RECOMMENDATION PACK 2 INTERNAL LEAKAGE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B1508 RAISED APU INOP</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2002931"/>
                  </a:ext>
                </a:extLst>
              </a:tr>
              <a:tr h="207007">
                <a:tc>
                  <a:txBody>
                    <a:bodyPr/>
                    <a:lstStyle/>
                    <a:p>
                      <a:pPr algn="ctr" fontAlgn="ctr"/>
                      <a:r>
                        <a:rPr lang="en-US" sz="1300" b="0" i="0" u="none" strike="noStrike">
                          <a:solidFill>
                            <a:srgbClr val="000000"/>
                          </a:solidFill>
                          <a:effectLst/>
                          <a:latin typeface="Calibri" panose="020F0502020204030204" pitchFamily="34" charset="0"/>
                        </a:rPr>
                        <a:t>6</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0469432"/>
                  </a:ext>
                </a:extLst>
              </a:tr>
              <a:tr h="507067">
                <a:tc>
                  <a:txBody>
                    <a:bodyPr/>
                    <a:lstStyle/>
                    <a:p>
                      <a:pPr algn="ctr" fontAlgn="ctr"/>
                      <a:r>
                        <a:rPr lang="en-US" sz="1300" b="0" i="0" u="none" strike="noStrike">
                          <a:solidFill>
                            <a:srgbClr val="000000"/>
                          </a:solidFill>
                          <a:effectLst/>
                          <a:latin typeface="Calibri" panose="020F0502020204030204" pitchFamily="34" charset="0"/>
                        </a:rPr>
                        <a:t>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ENGINE: #2/21368 ON AIRCRAFT VN-A892: P25 MEASUREMENT ERROR</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C1203 RAISED GALLEY CHILLER SYS INOP </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3530220"/>
                  </a:ext>
                </a:extLst>
              </a:tr>
              <a:tr h="507067">
                <a:tc>
                  <a:txBody>
                    <a:bodyPr/>
                    <a:lstStyle/>
                    <a:p>
                      <a:pPr algn="ctr" fontAlgn="ctr"/>
                      <a:r>
                        <a:rPr lang="en-US" sz="1300" b="0" i="0" u="none" strike="noStrike">
                          <a:solidFill>
                            <a:srgbClr val="000000"/>
                          </a:solidFill>
                          <a:effectLst/>
                          <a:latin typeface="Calibri" panose="020F0502020204030204" pitchFamily="34" charset="0"/>
                        </a:rPr>
                        <a:t>8</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2639870"/>
                  </a:ext>
                </a:extLst>
              </a:tr>
              <a:tr h="255885">
                <a:tc>
                  <a:txBody>
                    <a:bodyPr/>
                    <a:lstStyle/>
                    <a:p>
                      <a:pPr algn="ctr" fontAlgn="ctr"/>
                      <a:r>
                        <a:rPr lang="en-US" sz="1300" b="0" i="0" u="none" strike="noStrike">
                          <a:solidFill>
                            <a:srgbClr val="000000"/>
                          </a:solidFill>
                          <a:effectLst/>
                          <a:latin typeface="Calibri" panose="020F0502020204030204" pitchFamily="34" charset="0"/>
                        </a:rPr>
                        <a:t>9</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21425 giảm tần suất soi HPT blade 800FH/100FC ( giảm 600FH/75FC)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7168862"/>
                  </a:ext>
                </a:extLst>
              </a:tr>
              <a:tr h="507067">
                <a:tc>
                  <a:txBody>
                    <a:bodyPr/>
                    <a:lstStyle/>
                    <a:p>
                      <a:pPr algn="ctr" fontAlgn="ctr"/>
                      <a:r>
                        <a:rPr lang="en-US" sz="1300" b="0" i="0" u="none" strike="noStrike">
                          <a:solidFill>
                            <a:srgbClr val="000000"/>
                          </a:solidFill>
                          <a:effectLst/>
                          <a:latin typeface="Calibri" panose="020F0502020204030204" pitchFamily="34" charset="0"/>
                        </a:rPr>
                        <a:t>10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B995 RAISED ENGINE #1 SN 21604 HAVE LOW LIFE TIME </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ADD B996 RAISED ENGINE #2 SN 21414 HAVE LOW LIFE TIME</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5301599"/>
                  </a:ext>
                </a:extLst>
              </a:tr>
              <a:tr h="381476">
                <a:tc>
                  <a:txBody>
                    <a:bodyPr/>
                    <a:lstStyle/>
                    <a:p>
                      <a:pPr algn="ctr" fontAlgn="ctr"/>
                      <a:r>
                        <a:rPr lang="en-US" sz="1300" b="0" i="0" u="none" strike="noStrike">
                          <a:solidFill>
                            <a:srgbClr val="000000"/>
                          </a:solidFill>
                          <a:effectLst/>
                          <a:latin typeface="Calibri" panose="020F0502020204030204" pitchFamily="34" charset="0"/>
                        </a:rPr>
                        <a:t>11</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428382"/>
                  </a:ext>
                </a:extLst>
              </a:tr>
              <a:tr h="410207">
                <a:tc>
                  <a:txBody>
                    <a:bodyPr/>
                    <a:lstStyle/>
                    <a:p>
                      <a:pPr algn="ctr" fontAlgn="ctr"/>
                      <a:r>
                        <a:rPr lang="en-US" sz="1300" b="0" i="0" u="none" strike="noStrike">
                          <a:solidFill>
                            <a:srgbClr val="000000"/>
                          </a:solidFill>
                          <a:effectLst/>
                          <a:latin typeface="Calibri" panose="020F0502020204030204" pitchFamily="34" charset="0"/>
                        </a:rPr>
                        <a:t>12</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1831949"/>
                  </a:ext>
                </a:extLst>
              </a:tr>
              <a:tr h="410207">
                <a:tc>
                  <a:txBody>
                    <a:bodyPr/>
                    <a:lstStyle/>
                    <a:p>
                      <a:pPr algn="ctr" fontAlgn="ctr"/>
                      <a:r>
                        <a:rPr lang="en-US" sz="1300" b="0" i="0" u="none" strike="noStrike">
                          <a:solidFill>
                            <a:srgbClr val="000000"/>
                          </a:solidFill>
                          <a:effectLst/>
                          <a:latin typeface="Calibri" panose="020F0502020204030204" pitchFamily="34" charset="0"/>
                        </a:rPr>
                        <a:t>13</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B1168 RAISED APU INOP</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38403"/>
                  </a:ext>
                </a:extLst>
              </a:tr>
              <a:tr h="207007">
                <a:tc>
                  <a:txBody>
                    <a:bodyPr/>
                    <a:lstStyle/>
                    <a:p>
                      <a:pPr algn="ctr" fontAlgn="ctr"/>
                      <a:r>
                        <a:rPr lang="en-US" sz="1300" b="0" i="0" u="none" strike="noStrike">
                          <a:solidFill>
                            <a:srgbClr val="000000"/>
                          </a:solidFill>
                          <a:effectLst/>
                          <a:latin typeface="Calibri" panose="020F0502020204030204" pitchFamily="34" charset="0"/>
                        </a:rPr>
                        <a:t>14</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Vừa thay ENG bay theo dõi thêm</a:t>
                      </a:r>
                    </a:p>
                  </a:txBody>
                  <a:tcPr marL="3807" marR="3807" marT="38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6585049"/>
                  </a:ext>
                </a:extLst>
              </a:tr>
            </a:tbl>
          </a:graphicData>
        </a:graphic>
      </p:graphicFrame>
    </p:spTree>
    <p:extLst>
      <p:ext uri="{BB962C8B-B14F-4D97-AF65-F5344CB8AC3E}">
        <p14:creationId xmlns:p14="http://schemas.microsoft.com/office/powerpoint/2010/main" val="3306485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3785652"/>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tương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A898 delay ngày 29/04 do DM: F/CTL &gt; F/CTL DIFF FLAP SETTING -&gt; C/o replaced brake-power off, ADGB RH (82CV) -&gt; test found MSG F/CTL flap SYS#2 -&gt; C/o applied MEL</a:t>
            </a:r>
          </a:p>
          <a:p>
            <a:pPr marL="609585" lvl="1" algn="just"/>
            <a:r>
              <a:rPr lang="vi-VN" sz="1600">
                <a:solidFill>
                  <a:srgbClr val="FF0000"/>
                </a:solidFill>
                <a:latin typeface="Times New Roman" panose="02020603050405020304" pitchFamily="18" charset="0"/>
                <a:cs typeface="Times New Roman" panose="02020603050405020304" pitchFamily="18" charset="0"/>
              </a:rPr>
              <a:t>DM: F/CTL  &gt; F/CTL DIFF FLAP SETTING FM: BRAKE-POWER OFF, ADGB LH(81CV) / BRAKE-POWER OFF, ADGB RH(82CV) / GEARBOX-ACTIVE DIFFERENTIAL,FLAP LH(5028CV), FC: 2750F80U Hỏng hóc được khắc phục sau khi thay khối GEARBOX-ACTIVE DIFFERENTIAL,FLAP LH(5028CV), PN OFF 4787A0000-04, S/N OFF 4787A00LI000707 theo AFI task. Khối này gốc theo tàu bay CSN =4300, TSN= 18269:51 Tính từ khi EIS, đây là lần đầu tiên hỏng hóc khối gear box này, Ngoài ra, khối tháo xuống cũng là khối đời mới nhất. Airbus không có tài liệu nào đề cập đến độ tin cậy của khối này Chờ SFR để đánh giá nguyên nhân.</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A896 AOG tại CDG ngày 02-03/05 do </a:t>
            </a:r>
            <a:r>
              <a:rPr lang="en-SG" sz="1600">
                <a:latin typeface="Times New Roman" panose="02020603050405020304" pitchFamily="18" charset="0"/>
                <a:cs typeface="Times New Roman" panose="02020603050405020304" pitchFamily="18" charset="0"/>
              </a:rPr>
              <a:t>BIRD STRIKE TO RH DROPNOSE OUT OF LIMIT -&gt; AF Technical C/O Inspection and NDT DROPNOSE ref Airbus advicement - Airbus issue RDAF, The repair consists of filling the dent with High Speed Tape with limitation 02FC to Main Base</a:t>
            </a:r>
            <a:endParaRPr 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849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85E255-E5DC-36C6-BB51-2E8F12AFA67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6EA80D2-CCFB-7B3A-3B27-4049299B9DA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C0E37A0-659F-0345-F717-8B510D4FDE98}"/>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266D002E-5A1C-D48D-4011-EED045EA32E0}"/>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075CB683-F69E-CCB0-4732-23E07123C4ED}"/>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892178D3-C1DE-6B08-A413-911F853D2B72}"/>
              </a:ext>
            </a:extLst>
          </p:cNvPr>
          <p:cNvGraphicFramePr>
            <a:graphicFrameLocks noGrp="1"/>
          </p:cNvGraphicFramePr>
          <p:nvPr>
            <p:extLst/>
          </p:nvPr>
        </p:nvGraphicFramePr>
        <p:xfrm>
          <a:off x="134289" y="1805968"/>
          <a:ext cx="11688716" cy="2241038"/>
        </p:xfrm>
        <a:graphic>
          <a:graphicData uri="http://schemas.openxmlformats.org/drawingml/2006/table">
            <a:tbl>
              <a:tblPr/>
              <a:tblGrid>
                <a:gridCol w="322911">
                  <a:extLst>
                    <a:ext uri="{9D8B030D-6E8A-4147-A177-3AD203B41FA5}">
                      <a16:colId xmlns:a16="http://schemas.microsoft.com/office/drawing/2014/main" val="2818045697"/>
                    </a:ext>
                  </a:extLst>
                </a:gridCol>
                <a:gridCol w="781771">
                  <a:extLst>
                    <a:ext uri="{9D8B030D-6E8A-4147-A177-3AD203B41FA5}">
                      <a16:colId xmlns:a16="http://schemas.microsoft.com/office/drawing/2014/main" val="2377592624"/>
                    </a:ext>
                  </a:extLst>
                </a:gridCol>
                <a:gridCol w="283635">
                  <a:extLst>
                    <a:ext uri="{9D8B030D-6E8A-4147-A177-3AD203B41FA5}">
                      <a16:colId xmlns:a16="http://schemas.microsoft.com/office/drawing/2014/main" val="3392847594"/>
                    </a:ext>
                  </a:extLst>
                </a:gridCol>
                <a:gridCol w="768798">
                  <a:extLst>
                    <a:ext uri="{9D8B030D-6E8A-4147-A177-3AD203B41FA5}">
                      <a16:colId xmlns:a16="http://schemas.microsoft.com/office/drawing/2014/main" val="1585429748"/>
                    </a:ext>
                  </a:extLst>
                </a:gridCol>
                <a:gridCol w="574733">
                  <a:extLst>
                    <a:ext uri="{9D8B030D-6E8A-4147-A177-3AD203B41FA5}">
                      <a16:colId xmlns:a16="http://schemas.microsoft.com/office/drawing/2014/main" val="1044719955"/>
                    </a:ext>
                  </a:extLst>
                </a:gridCol>
                <a:gridCol w="477700">
                  <a:extLst>
                    <a:ext uri="{9D8B030D-6E8A-4147-A177-3AD203B41FA5}">
                      <a16:colId xmlns:a16="http://schemas.microsoft.com/office/drawing/2014/main" val="2312727483"/>
                    </a:ext>
                  </a:extLst>
                </a:gridCol>
                <a:gridCol w="2321321">
                  <a:extLst>
                    <a:ext uri="{9D8B030D-6E8A-4147-A177-3AD203B41FA5}">
                      <a16:colId xmlns:a16="http://schemas.microsoft.com/office/drawing/2014/main" val="1675658391"/>
                    </a:ext>
                  </a:extLst>
                </a:gridCol>
                <a:gridCol w="2993087">
                  <a:extLst>
                    <a:ext uri="{9D8B030D-6E8A-4147-A177-3AD203B41FA5}">
                      <a16:colId xmlns:a16="http://schemas.microsoft.com/office/drawing/2014/main" val="1522169741"/>
                    </a:ext>
                  </a:extLst>
                </a:gridCol>
                <a:gridCol w="291098">
                  <a:extLst>
                    <a:ext uri="{9D8B030D-6E8A-4147-A177-3AD203B41FA5}">
                      <a16:colId xmlns:a16="http://schemas.microsoft.com/office/drawing/2014/main" val="1642079011"/>
                    </a:ext>
                  </a:extLst>
                </a:gridCol>
                <a:gridCol w="2873662">
                  <a:extLst>
                    <a:ext uri="{9D8B030D-6E8A-4147-A177-3AD203B41FA5}">
                      <a16:colId xmlns:a16="http://schemas.microsoft.com/office/drawing/2014/main" val="190694972"/>
                    </a:ext>
                  </a:extLst>
                </a:gridCol>
              </a:tblGrid>
              <a:tr h="97367">
                <a:tc>
                  <a:txBody>
                    <a:bodyPr/>
                    <a:lstStyle/>
                    <a:p>
                      <a:pPr algn="ctr" fontAlgn="ctr"/>
                      <a:r>
                        <a:rPr lang="en-US" sz="600" b="0" i="0" u="none" strike="noStrike">
                          <a:solidFill>
                            <a:srgbClr val="000000"/>
                          </a:solidFill>
                          <a:effectLst/>
                          <a:latin typeface="Calibri" panose="020F0502020204030204" pitchFamily="34"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600" b="0" i="0" u="none" strike="noStrike">
                          <a:solidFill>
                            <a:srgbClr val="000000"/>
                          </a:solidFill>
                          <a:effectLst/>
                          <a:latin typeface="Calibri" panose="020F0502020204030204" pitchFamily="34"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968063649"/>
                  </a:ext>
                </a:extLst>
              </a:tr>
              <a:tr h="292100">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A862</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05:40 03/05/2025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18</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VN243</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HANSGN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MSG: ELEC P200 PANEL. A/c Transit: Before boarding appeared MSG: Elec P200 panel.</a:t>
                      </a:r>
                      <a:br>
                        <a:rPr lang="en-US" sz="1000" b="0" i="0" u="none" strike="noStrike">
                          <a:solidFill>
                            <a:srgbClr val="000000"/>
                          </a:solidFill>
                          <a:effectLst/>
                          <a:latin typeface="Times" panose="02020603050405020304" pitchFamily="18" charset="0"/>
                          <a:cs typeface="Times" panose="02020603050405020304" pitchFamily="18" charset="0"/>
                        </a:rPr>
                      </a:br>
                      <a:endParaRPr lang="en-US" sz="1000" b="0" i="0" u="none" strike="noStrike">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REF FIM DMCB787A2120F508A421AA,C/O TEST RECIRCULATION FAN SYSTEM.TEST PASSED</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 ACTION EVENT CLOSED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r>
                        <a:rPr lang="en-US" sz="1000" b="0" i="0" u="none" strike="noStrike">
                          <a:solidFill>
                            <a:srgbClr val="000000"/>
                          </a:solidFill>
                          <a:effectLst/>
                          <a:latin typeface="Times" panose="02020603050405020304" pitchFamily="18" charset="0"/>
                          <a:cs typeface="Times" panose="02020603050405020304" pitchFamily="18" charset="0"/>
                        </a:rPr>
                        <a:t>2120</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Thực hiện system test hệ thống, MSG clear. Tiếp tục theo dõi</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3044195"/>
                  </a:ext>
                </a:extLst>
              </a:tr>
              <a:tr h="292100">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A867</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06:00 01/05/2025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24</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VN206</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SGNHAN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A/C HAD MSG ELEC P300 P400 DISTR CHANNEL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EVENT CLOSED  C/O SWAP SPDU CARD P300 P400 SLOT18 TO SLOT0 &amp; TEST SATIS. A/C SERVICEABLE</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 TOTAL DELAY 48 MINS. TECH DELAY 24 MINS.ELEC P300 P400 DISTR CHANNEL</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Thực hiện swap SPDU Microprocessor Slot 1 và Slot 8 (PN: 7000278H01), MSG clear. Đến nay MSG không xuất hiện lại. Đánh giá cảnh báo giả. Thiết bị PN: 7000278H01 MTBUR =748,592 &gt; GMTBUR=28,800FH.</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2179428"/>
                  </a:ext>
                </a:extLst>
              </a:tr>
              <a:tr h="389467">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A874</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15:30 30/04/2025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40</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VN216</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SGNHAN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TRANSIT CHECK FOUND FO INBOARD DISPLAY INOP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CLEAN FIBEROPTIC AND COOL DARK, CHECK DISPLAY SATIS. A/C SERVICEABLE TRANSIT CHECK FOUND FO INBOARD DISPLAY INOP EVENT CLOSED FO INBOARD DISPLAY INOP</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TOTAL DELAY 73 MINS, TECH DELAY 40 MINS</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Thực hiện clean Fiber optic, màn hình hiển thị trở lại. Đánh giá có thể do môi trường bụi bẩn và khai thác trong thời gian dài, dẫn đến đường truyền tín hiệu bị nhiễu do dây bám tạp chất, bụi…</a:t>
                      </a:r>
                      <a:br>
                        <a:rPr lang="vi-VN" sz="1000" b="0" i="0" u="none" strike="noStrike" dirty="0">
                          <a:solidFill>
                            <a:srgbClr val="000000"/>
                          </a:solidFill>
                          <a:effectLst/>
                          <a:latin typeface="Times" panose="02020603050405020304" pitchFamily="18" charset="0"/>
                          <a:cs typeface="Times" panose="02020603050405020304" pitchFamily="18" charset="0"/>
                        </a:rPr>
                      </a:br>
                      <a:endParaRPr lang="vi-VN" sz="1000" b="0" i="0" u="none" strike="noStrike" dirty="0">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5398561"/>
                  </a:ext>
                </a:extLst>
              </a:tr>
            </a:tbl>
          </a:graphicData>
        </a:graphic>
      </p:graphicFrame>
    </p:spTree>
    <p:extLst>
      <p:ext uri="{BB962C8B-B14F-4D97-AF65-F5344CB8AC3E}">
        <p14:creationId xmlns:p14="http://schemas.microsoft.com/office/powerpoint/2010/main" val="1752386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2B215B49-D42C-3A9A-E9A6-317B29FE0A7E}"/>
              </a:ext>
            </a:extLst>
          </p:cNvPr>
          <p:cNvGraphicFramePr>
            <a:graphicFrameLocks noGrp="1"/>
          </p:cNvGraphicFramePr>
          <p:nvPr>
            <p:extLst/>
          </p:nvPr>
        </p:nvGraphicFramePr>
        <p:xfrm>
          <a:off x="175689" y="501464"/>
          <a:ext cx="11852519" cy="6232771"/>
        </p:xfrm>
        <a:graphic>
          <a:graphicData uri="http://schemas.openxmlformats.org/drawingml/2006/table">
            <a:tbl>
              <a:tblPr/>
              <a:tblGrid>
                <a:gridCol w="438867">
                  <a:extLst>
                    <a:ext uri="{9D8B030D-6E8A-4147-A177-3AD203B41FA5}">
                      <a16:colId xmlns:a16="http://schemas.microsoft.com/office/drawing/2014/main" val="276097051"/>
                    </a:ext>
                  </a:extLst>
                </a:gridCol>
                <a:gridCol w="594732">
                  <a:extLst>
                    <a:ext uri="{9D8B030D-6E8A-4147-A177-3AD203B41FA5}">
                      <a16:colId xmlns:a16="http://schemas.microsoft.com/office/drawing/2014/main" val="4223414186"/>
                    </a:ext>
                  </a:extLst>
                </a:gridCol>
                <a:gridCol w="624468">
                  <a:extLst>
                    <a:ext uri="{9D8B030D-6E8A-4147-A177-3AD203B41FA5}">
                      <a16:colId xmlns:a16="http://schemas.microsoft.com/office/drawing/2014/main" val="2390945684"/>
                    </a:ext>
                  </a:extLst>
                </a:gridCol>
                <a:gridCol w="1476917">
                  <a:extLst>
                    <a:ext uri="{9D8B030D-6E8A-4147-A177-3AD203B41FA5}">
                      <a16:colId xmlns:a16="http://schemas.microsoft.com/office/drawing/2014/main" val="3891695573"/>
                    </a:ext>
                  </a:extLst>
                </a:gridCol>
                <a:gridCol w="1090341">
                  <a:extLst>
                    <a:ext uri="{9D8B030D-6E8A-4147-A177-3AD203B41FA5}">
                      <a16:colId xmlns:a16="http://schemas.microsoft.com/office/drawing/2014/main" val="1088850794"/>
                    </a:ext>
                  </a:extLst>
                </a:gridCol>
                <a:gridCol w="1516565">
                  <a:extLst>
                    <a:ext uri="{9D8B030D-6E8A-4147-A177-3AD203B41FA5}">
                      <a16:colId xmlns:a16="http://schemas.microsoft.com/office/drawing/2014/main" val="2808754940"/>
                    </a:ext>
                  </a:extLst>
                </a:gridCol>
                <a:gridCol w="6110629">
                  <a:extLst>
                    <a:ext uri="{9D8B030D-6E8A-4147-A177-3AD203B41FA5}">
                      <a16:colId xmlns:a16="http://schemas.microsoft.com/office/drawing/2014/main" val="2950605393"/>
                    </a:ext>
                  </a:extLst>
                </a:gridCol>
              </a:tblGrid>
              <a:tr h="206847">
                <a:tc>
                  <a:txBody>
                    <a:bodyPr/>
                    <a:lstStyle/>
                    <a:p>
                      <a:pPr algn="ctr" fontAlgn="ctr"/>
                      <a:r>
                        <a:rPr lang="en-US" sz="1300" b="0" i="0" u="none" strike="noStrike">
                          <a:solidFill>
                            <a:srgbClr val="000000"/>
                          </a:solidFill>
                          <a:effectLst/>
                          <a:latin typeface="Calibri" panose="020F0502020204030204" pitchFamily="34" charset="0"/>
                        </a:rPr>
                        <a:t>No</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72231467"/>
                  </a:ext>
                </a:extLst>
              </a:tr>
              <a:tr h="206847">
                <a:tc>
                  <a:txBody>
                    <a:bodyPr/>
                    <a:lstStyle/>
                    <a:p>
                      <a:pPr algn="ctr" fontAlgn="ctr"/>
                      <a:r>
                        <a:rPr lang="en-US" sz="1300" b="0" i="0" u="none" strike="noStrike">
                          <a:solidFill>
                            <a:srgbClr val="000000"/>
                          </a:solidFill>
                          <a:effectLst/>
                          <a:latin typeface="Calibri" panose="020F0502020204030204" pitchFamily="34" charset="0"/>
                        </a:rPr>
                        <a:t>1</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6896231"/>
                  </a:ext>
                </a:extLst>
              </a:tr>
              <a:tr h="410047">
                <a:tc>
                  <a:txBody>
                    <a:bodyPr/>
                    <a:lstStyle/>
                    <a:p>
                      <a:pPr algn="ctr" fontAlgn="ctr"/>
                      <a:r>
                        <a:rPr lang="en-US" sz="1300" b="0" i="0" u="none" strike="noStrike">
                          <a:solidFill>
                            <a:srgbClr val="000000"/>
                          </a:solidFill>
                          <a:effectLst/>
                          <a:latin typeface="Calibri" panose="020F0502020204030204" pitchFamily="34" charset="0"/>
                        </a:rPr>
                        <a:t>2</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B1338 RAISED FOR STS MSG: ELEC MC  CAC L2/ START R1</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B1343 STS MSG "FUEL QTY LEFT CHANNEL B"</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252242"/>
                  </a:ext>
                </a:extLst>
              </a:tr>
              <a:tr h="410047">
                <a:tc>
                  <a:txBody>
                    <a:bodyPr/>
                    <a:lstStyle/>
                    <a:p>
                      <a:pPr algn="ctr" fontAlgn="ctr"/>
                      <a:r>
                        <a:rPr lang="en-US" sz="1300" b="0" i="0" u="none" strike="noStrike">
                          <a:solidFill>
                            <a:srgbClr val="000000"/>
                          </a:solidFill>
                          <a:effectLst/>
                          <a:latin typeface="Calibri" panose="020F0502020204030204" pitchFamily="34" charset="0"/>
                        </a:rPr>
                        <a:t>3</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RAISED: STS MSG: TAIL AIRFLOW SYS</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0781082"/>
                  </a:ext>
                </a:extLst>
              </a:tr>
              <a:tr h="410047">
                <a:tc>
                  <a:txBody>
                    <a:bodyPr/>
                    <a:lstStyle/>
                    <a:p>
                      <a:pPr algn="ctr" fontAlgn="ctr"/>
                      <a:r>
                        <a:rPr lang="en-US" sz="1300" b="0" i="0" u="none" strike="noStrike">
                          <a:solidFill>
                            <a:srgbClr val="000000"/>
                          </a:solidFill>
                          <a:effectLst/>
                          <a:latin typeface="Calibri" panose="020F0502020204030204" pitchFamily="34" charset="0"/>
                        </a:rPr>
                        <a:t>4</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B1264 RAISED: AFT CARGO HANDLING SYSTEM IN/OUT IN CENTER LOADING PDU INOP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B1266 RAISED STATUS NITROGEN GENERATION STS</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6930594"/>
                  </a:ext>
                </a:extLst>
              </a:tr>
              <a:tr h="613247">
                <a:tc>
                  <a:txBody>
                    <a:bodyPr/>
                    <a:lstStyle/>
                    <a:p>
                      <a:pPr algn="ctr" fontAlgn="ctr"/>
                      <a:r>
                        <a:rPr lang="en-US" sz="1300" b="0" i="0" u="none" strike="noStrike">
                          <a:solidFill>
                            <a:srgbClr val="000000"/>
                          </a:solidFill>
                          <a:effectLst/>
                          <a:latin typeface="Calibri" panose="020F0502020204030204" pitchFamily="34" charset="0"/>
                        </a:rPr>
                        <a:t>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B1294 BRAKE#06 WORN AND DEACTIVED</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B1295 NITROGEN GENERATION SYSTEM (NGS)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B1298 RAISED "STS MSG APU CONTROL",</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6401628"/>
                  </a:ext>
                </a:extLst>
              </a:tr>
              <a:tr h="410047">
                <a:tc>
                  <a:txBody>
                    <a:bodyPr/>
                    <a:lstStyle/>
                    <a:p>
                      <a:pPr algn="ctr" fontAlgn="ctr"/>
                      <a:r>
                        <a:rPr lang="en-US" sz="1300" b="0" i="0" u="none" strike="noStrike">
                          <a:solidFill>
                            <a:srgbClr val="000000"/>
                          </a:solidFill>
                          <a:effectLst/>
                          <a:latin typeface="Calibri" panose="020F0502020204030204" pitchFamily="34" charset="0"/>
                        </a:rPr>
                        <a:t>6</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9491246"/>
                  </a:ext>
                </a:extLst>
              </a:tr>
              <a:tr h="410047">
                <a:tc>
                  <a:txBody>
                    <a:bodyPr/>
                    <a:lstStyle/>
                    <a:p>
                      <a:pPr algn="ctr" fontAlgn="ctr"/>
                      <a:r>
                        <a:rPr lang="en-US" sz="1300" b="0" i="0" u="none" strike="noStrike">
                          <a:solidFill>
                            <a:srgbClr val="000000"/>
                          </a:solidFill>
                          <a:effectLst/>
                          <a:latin typeface="Calibri" panose="020F0502020204030204" pitchFamily="34" charset="0"/>
                        </a:rPr>
                        <a:t>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4880072"/>
                  </a:ext>
                </a:extLst>
              </a:tr>
              <a:tr h="206847">
                <a:tc>
                  <a:txBody>
                    <a:bodyPr/>
                    <a:lstStyle/>
                    <a:p>
                      <a:pPr algn="ctr" fontAlgn="ctr"/>
                      <a:r>
                        <a:rPr lang="en-US" sz="1300" b="0" i="0" u="none" strike="noStrike">
                          <a:solidFill>
                            <a:srgbClr val="000000"/>
                          </a:solidFill>
                          <a:effectLst/>
                          <a:latin typeface="Calibri" panose="020F0502020204030204" pitchFamily="34" charset="0"/>
                        </a:rPr>
                        <a:t>8</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2048943"/>
                  </a:ext>
                </a:extLst>
              </a:tr>
              <a:tr h="613247">
                <a:tc>
                  <a:txBody>
                    <a:bodyPr/>
                    <a:lstStyle/>
                    <a:p>
                      <a:pPr algn="ctr" fontAlgn="ctr"/>
                      <a:r>
                        <a:rPr lang="en-US" sz="1300" b="0" i="0" u="none" strike="noStrike">
                          <a:solidFill>
                            <a:srgbClr val="000000"/>
                          </a:solidFill>
                          <a:effectLst/>
                          <a:latin typeface="Calibri" panose="020F0502020204030204" pitchFamily="34" charset="0"/>
                        </a:rPr>
                        <a:t>9</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B1046 RAISED BRAKE #8 IS WORN TO LIMIT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5526918"/>
                  </a:ext>
                </a:extLst>
              </a:tr>
              <a:tr h="206847">
                <a:tc>
                  <a:txBody>
                    <a:bodyPr/>
                    <a:lstStyle/>
                    <a:p>
                      <a:pPr algn="ctr" fontAlgn="ctr"/>
                      <a:r>
                        <a:rPr lang="en-US" sz="1300" b="0" i="0" u="none" strike="noStrike">
                          <a:solidFill>
                            <a:srgbClr val="000000"/>
                          </a:solidFill>
                          <a:effectLst/>
                          <a:latin typeface="Calibri" panose="020F0502020204030204" pitchFamily="34" charset="0"/>
                        </a:rPr>
                        <a:t>10</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161112"/>
                  </a:ext>
                </a:extLst>
              </a:tr>
              <a:tr h="206847">
                <a:tc>
                  <a:txBody>
                    <a:bodyPr/>
                    <a:lstStyle/>
                    <a:p>
                      <a:pPr algn="ctr" fontAlgn="ctr"/>
                      <a:r>
                        <a:rPr lang="en-US" sz="1300" b="0" i="0" u="none" strike="noStrike">
                          <a:solidFill>
                            <a:srgbClr val="000000"/>
                          </a:solidFill>
                          <a:effectLst/>
                          <a:latin typeface="Calibri" panose="020F0502020204030204" pitchFamily="34" charset="0"/>
                        </a:rPr>
                        <a:t>11</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thay trong 25FC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6151592"/>
                  </a:ext>
                </a:extLst>
              </a:tr>
              <a:tr h="410047">
                <a:tc>
                  <a:txBody>
                    <a:bodyPr/>
                    <a:lstStyle/>
                    <a:p>
                      <a:pPr algn="ctr" fontAlgn="ctr"/>
                      <a:r>
                        <a:rPr lang="en-US" sz="1300" b="0" i="0" u="none" strike="noStrike">
                          <a:solidFill>
                            <a:srgbClr val="000000"/>
                          </a:solidFill>
                          <a:effectLst/>
                          <a:latin typeface="Calibri" panose="020F0502020204030204" pitchFamily="34" charset="0"/>
                        </a:rPr>
                        <a:t>12</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B1283 DET EAI LEAK L CHAN A</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B1284 GREEN INDICATOR DISC BLURED AND SNAP RING DAMAGED</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8417800"/>
                  </a:ext>
                </a:extLst>
              </a:tr>
              <a:tr h="206847">
                <a:tc>
                  <a:txBody>
                    <a:bodyPr/>
                    <a:lstStyle/>
                    <a:p>
                      <a:pPr algn="ctr" fontAlgn="ctr"/>
                      <a:r>
                        <a:rPr lang="en-US" sz="1300" b="0" i="0" u="none" strike="noStrike">
                          <a:solidFill>
                            <a:srgbClr val="000000"/>
                          </a:solidFill>
                          <a:effectLst/>
                          <a:latin typeface="Calibri" panose="020F0502020204030204" pitchFamily="34" charset="0"/>
                        </a:rPr>
                        <a:t>13</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B540 : 50 CYCS REPEATED INSPECTION INTERVAL ON ENG#1 S/N 958435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0099942"/>
                  </a:ext>
                </a:extLst>
              </a:tr>
              <a:tr h="206847">
                <a:tc>
                  <a:txBody>
                    <a:bodyPr/>
                    <a:lstStyle/>
                    <a:p>
                      <a:pPr algn="ctr" fontAlgn="ctr"/>
                      <a:r>
                        <a:rPr lang="en-US" sz="1300" b="0" i="0" u="none" strike="noStrike">
                          <a:solidFill>
                            <a:srgbClr val="000000"/>
                          </a:solidFill>
                          <a:effectLst/>
                          <a:latin typeface="Calibri" panose="020F0502020204030204" pitchFamily="34" charset="0"/>
                        </a:rPr>
                        <a:t>14</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9758629"/>
                  </a:ext>
                </a:extLst>
              </a:tr>
              <a:tr h="277972">
                <a:tc>
                  <a:txBody>
                    <a:bodyPr/>
                    <a:lstStyle/>
                    <a:p>
                      <a:pPr algn="ctr" fontAlgn="ctr"/>
                      <a:r>
                        <a:rPr lang="en-US" sz="1300" b="0" i="0" u="none" strike="noStrike">
                          <a:solidFill>
                            <a:srgbClr val="000000"/>
                          </a:solidFill>
                          <a:effectLst/>
                          <a:latin typeface="Calibri" panose="020F0502020204030204" pitchFamily="34" charset="0"/>
                        </a:rPr>
                        <a:t>15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B047 APU CONTROL</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0683021"/>
                  </a:ext>
                </a:extLst>
              </a:tr>
              <a:tr h="206847">
                <a:tc>
                  <a:txBody>
                    <a:bodyPr/>
                    <a:lstStyle/>
                    <a:p>
                      <a:pPr algn="ctr" fontAlgn="ctr"/>
                      <a:r>
                        <a:rPr lang="en-US" sz="1300" b="0" i="0" u="none" strike="noStrike">
                          <a:solidFill>
                            <a:srgbClr val="000000"/>
                          </a:solidFill>
                          <a:effectLst/>
                          <a:latin typeface="Calibri" panose="020F0502020204030204" pitchFamily="34" charset="0"/>
                        </a:rPr>
                        <a:t>16</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1380086"/>
                  </a:ext>
                </a:extLst>
              </a:tr>
              <a:tr h="613247">
                <a:tc>
                  <a:txBody>
                    <a:bodyPr/>
                    <a:lstStyle/>
                    <a:p>
                      <a:pPr algn="ctr" fontAlgn="ctr"/>
                      <a:r>
                        <a:rPr lang="en-US" sz="1300" b="0" i="0" u="none" strike="noStrike">
                          <a:solidFill>
                            <a:srgbClr val="000000"/>
                          </a:solidFill>
                          <a:effectLst/>
                          <a:latin typeface="Calibri" panose="020F0502020204030204" pitchFamily="34" charset="0"/>
                        </a:rPr>
                        <a:t>17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B574 BRAKE#08 IWORN AND DEACTIVED</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2649967"/>
                  </a:ext>
                </a:extLst>
              </a:tr>
            </a:tbl>
          </a:graphicData>
        </a:graphic>
      </p:graphicFrame>
    </p:spTree>
    <p:extLst>
      <p:ext uri="{BB962C8B-B14F-4D97-AF65-F5344CB8AC3E}">
        <p14:creationId xmlns:p14="http://schemas.microsoft.com/office/powerpoint/2010/main" val="1423293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3"/>
            <a:ext cx="11941351"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tương đối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en-US" sz="1600">
                <a:solidFill>
                  <a:prstClr val="black"/>
                </a:solidFill>
                <a:latin typeface="Times New Roman" panose="02020603050405020304" pitchFamily="18" charset="0"/>
                <a:cs typeface="Times New Roman" panose="02020603050405020304" pitchFamily="18" charset="0"/>
              </a:rPr>
              <a:t>A873 ENG1 HPT STG1 giảm tần suất soi từ 100FC còn 50FC sau lần soi ngày 03/05.</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7321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10763157" cy="498494"/>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defRPr/>
            </a:pPr>
            <a:r>
              <a:rPr lang="vi-VN" sz="2933" b="1">
                <a:ln w="0"/>
                <a:solidFill>
                  <a:schemeClr val="accent4"/>
                </a:solidFill>
                <a:latin typeface="Times New Roman" panose="02020603050405020304" pitchFamily="18" charset="0"/>
                <a:cs typeface="Times New Roman" panose="02020603050405020304" pitchFamily="18" charset="0"/>
                <a:sym typeface="Montserrat SemiBold"/>
              </a:rPr>
              <a:t>CÁC HỎNG HÓC NỔI CỘM</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83655" y="799697"/>
            <a:ext cx="11171451" cy="3046988"/>
          </a:xfrm>
          <a:prstGeom prst="rect">
            <a:avLst/>
          </a:prstGeom>
          <a:noFill/>
        </p:spPr>
        <p:txBody>
          <a:bodyPr wrap="square">
            <a:spAutoFit/>
          </a:bodyPr>
          <a:lstStyle/>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Đội bay </a:t>
            </a:r>
            <a:r>
              <a:rPr lang="en-US" sz="1600" b="1" dirty="0">
                <a:solidFill>
                  <a:prstClr val="black"/>
                </a:solidFill>
                <a:latin typeface="Times New Roman" panose="02020603050405020304" pitchFamily="18" charset="0"/>
                <a:cs typeface="Times New Roman" panose="02020603050405020304" pitchFamily="18" charset="0"/>
              </a:rPr>
              <a:t>A350:</a:t>
            </a: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Tình hình kỹ thuật đội A350 trong tuần tương đối tốt, tuy nhiên A898 mới trở lại khai thác sau BQ dài ngày có phát sinh hỏng hóc F/CTL DIFF FLAP SETTING phải thay khối GEARBOX-ACTIVE DIFFERENTIAL,FLAP LH để khắc phục, đây là lần đầu tiên hỏng hóc khối này và không có issue liên quan, Ban KT sẽ tiếp tục nghiên cứu khi có SFR. Về nguyên nhân khác, thêm 01 TH AOG tại CDG do chim va, A896 ngày 02-03/05 </a:t>
            </a:r>
            <a:r>
              <a:rPr lang="en-SG" sz="1600">
                <a:solidFill>
                  <a:prstClr val="black"/>
                </a:solidFill>
                <a:latin typeface="Times New Roman" panose="02020603050405020304" pitchFamily="18" charset="0"/>
                <a:cs typeface="Times New Roman" panose="02020603050405020304" pitchFamily="18" charset="0"/>
              </a:rPr>
              <a:t>BIRD STRIKE TO RH DROPNOSE phải xin AIB sửa tạm bay 02FC về căn cứ để thay thế.</a:t>
            </a:r>
            <a:r>
              <a:rPr lang="en-US" sz="1600">
                <a:solidFill>
                  <a:prstClr val="black"/>
                </a:solidFill>
                <a:latin typeface="Times New Roman" panose="02020603050405020304" pitchFamily="18" charset="0"/>
                <a:cs typeface="Times New Roman" panose="02020603050405020304" pitchFamily="18" charset="0"/>
              </a:rPr>
              <a:t> Tàu A890 có APU INOP cần thay tuy nhiên dự kiến giữa tháng 05/2025 có APU để thay trong khi đó A898 cũng phát sinh APU INOP, dự kiến soi APU theo yêu cầu của Honeywell. </a:t>
            </a:r>
            <a:endParaRPr lang="en-SG" sz="1600">
              <a:solidFill>
                <a:prstClr val="black"/>
              </a:solidFill>
              <a:latin typeface="Times New Roman" panose="02020603050405020304" pitchFamily="18" charset="0"/>
              <a:cs typeface="Times New Roman" panose="02020603050405020304" pitchFamily="18" charset="0"/>
            </a:endParaRP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Tàu hạn chế khai thác: A893 ENG2 có hiện tượng HIGH OIL CONSUMPTION (từ giữa tháng 07/2024) tiếp tục khai thác hạn chế với chặng bay dưới 9 tiếng. </a:t>
            </a:r>
          </a:p>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Đội bay B787:</a:t>
            </a: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Tình hình kỹ thuật đội B787 trong tuần tương đối tốt, tuy nhiên động cơ số 1 tàu A873 soi ngày 03/05 phát sinh hỏng hóc nên giảm tần suất soi từ 100FC còn 50FC</a:t>
            </a:r>
            <a:r>
              <a:rPr lang="en-SG" sz="1600">
                <a:solidFill>
                  <a:prstClr val="black"/>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21240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8F17B81-745E-43F9-95AF-359EADAF9C2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3D9386E-CB27-0FA5-A8B4-5F8374B3F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010B559A-ABEC-3C1C-8B0F-78AC157317C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09F43E05-78F5-8AA8-6EC5-16D039445338}"/>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smtClean="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6146DA51-23CC-D6EE-A05C-E4B1B633BE7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F69D9DF-B2A1-2D94-3E8E-128610442781}"/>
              </a:ext>
            </a:extLst>
          </p:cNvPr>
          <p:cNvGraphicFramePr>
            <a:graphicFrameLocks noGrp="1"/>
          </p:cNvGraphicFramePr>
          <p:nvPr>
            <p:extLst/>
          </p:nvPr>
        </p:nvGraphicFramePr>
        <p:xfrm>
          <a:off x="134290" y="1676400"/>
          <a:ext cx="11706824" cy="1530714"/>
        </p:xfrm>
        <a:graphic>
          <a:graphicData uri="http://schemas.openxmlformats.org/drawingml/2006/table">
            <a:tbl>
              <a:tblPr/>
              <a:tblGrid>
                <a:gridCol w="284074">
                  <a:extLst>
                    <a:ext uri="{9D8B030D-6E8A-4147-A177-3AD203B41FA5}">
                      <a16:colId xmlns:a16="http://schemas.microsoft.com/office/drawing/2014/main" val="1559444187"/>
                    </a:ext>
                  </a:extLst>
                </a:gridCol>
                <a:gridCol w="822319">
                  <a:extLst>
                    <a:ext uri="{9D8B030D-6E8A-4147-A177-3AD203B41FA5}">
                      <a16:colId xmlns:a16="http://schemas.microsoft.com/office/drawing/2014/main" val="3084149159"/>
                    </a:ext>
                  </a:extLst>
                </a:gridCol>
                <a:gridCol w="284074">
                  <a:extLst>
                    <a:ext uri="{9D8B030D-6E8A-4147-A177-3AD203B41FA5}">
                      <a16:colId xmlns:a16="http://schemas.microsoft.com/office/drawing/2014/main" val="592359483"/>
                    </a:ext>
                  </a:extLst>
                </a:gridCol>
                <a:gridCol w="769989">
                  <a:extLst>
                    <a:ext uri="{9D8B030D-6E8A-4147-A177-3AD203B41FA5}">
                      <a16:colId xmlns:a16="http://schemas.microsoft.com/office/drawing/2014/main" val="1491763954"/>
                    </a:ext>
                  </a:extLst>
                </a:gridCol>
                <a:gridCol w="575623">
                  <a:extLst>
                    <a:ext uri="{9D8B030D-6E8A-4147-A177-3AD203B41FA5}">
                      <a16:colId xmlns:a16="http://schemas.microsoft.com/office/drawing/2014/main" val="356619158"/>
                    </a:ext>
                  </a:extLst>
                </a:gridCol>
                <a:gridCol w="478440">
                  <a:extLst>
                    <a:ext uri="{9D8B030D-6E8A-4147-A177-3AD203B41FA5}">
                      <a16:colId xmlns:a16="http://schemas.microsoft.com/office/drawing/2014/main" val="2729674980"/>
                    </a:ext>
                  </a:extLst>
                </a:gridCol>
                <a:gridCol w="2324918">
                  <a:extLst>
                    <a:ext uri="{9D8B030D-6E8A-4147-A177-3AD203B41FA5}">
                      <a16:colId xmlns:a16="http://schemas.microsoft.com/office/drawing/2014/main" val="290848657"/>
                    </a:ext>
                  </a:extLst>
                </a:gridCol>
                <a:gridCol w="2997724">
                  <a:extLst>
                    <a:ext uri="{9D8B030D-6E8A-4147-A177-3AD203B41FA5}">
                      <a16:colId xmlns:a16="http://schemas.microsoft.com/office/drawing/2014/main" val="573885834"/>
                    </a:ext>
                  </a:extLst>
                </a:gridCol>
                <a:gridCol w="291549">
                  <a:extLst>
                    <a:ext uri="{9D8B030D-6E8A-4147-A177-3AD203B41FA5}">
                      <a16:colId xmlns:a16="http://schemas.microsoft.com/office/drawing/2014/main" val="3503532275"/>
                    </a:ext>
                  </a:extLst>
                </a:gridCol>
                <a:gridCol w="2878114">
                  <a:extLst>
                    <a:ext uri="{9D8B030D-6E8A-4147-A177-3AD203B41FA5}">
                      <a16:colId xmlns:a16="http://schemas.microsoft.com/office/drawing/2014/main" val="2988133313"/>
                    </a:ext>
                  </a:extLst>
                </a:gridCol>
              </a:tblGrid>
              <a:tr h="97367">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A/C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DELAY DATE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STA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DELAY MINUTES</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FLIGHT NO</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ROUTINE</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DELAY DESC</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DELAY ACTION</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ATA</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0" i="0" u="none" strike="noStrike">
                          <a:solidFill>
                            <a:srgbClr val="000000"/>
                          </a:solidFill>
                          <a:effectLst/>
                          <a:latin typeface="Times" panose="02020603050405020304" pitchFamily="18" charset="0"/>
                          <a:cs typeface="Times" panose="02020603050405020304" pitchFamily="18" charset="0"/>
                        </a:rPr>
                        <a:t>Engineering Assessment</a:t>
                      </a:r>
                    </a:p>
                  </a:txBody>
                  <a:tcPr marL="3357" marR="3357" marT="335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4448922"/>
                  </a:ext>
                </a:extLst>
              </a:tr>
              <a:tr h="486833">
                <a:tc>
                  <a:txBody>
                    <a:bodyPr/>
                    <a:lstStyle/>
                    <a:p>
                      <a:pPr algn="l" fontAlgn="t"/>
                      <a:r>
                        <a:rPr lang="en-US" sz="1000" b="0" i="0" u="none" strike="noStrike" dirty="0">
                          <a:solidFill>
                            <a:srgbClr val="000000"/>
                          </a:solidFill>
                          <a:effectLst/>
                          <a:latin typeface="Times" panose="02020603050405020304" pitchFamily="18" charset="0"/>
                          <a:cs typeface="Times" panose="02020603050405020304" pitchFamily="18" charset="0"/>
                        </a:rPr>
                        <a:t>B225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12:40 01/05/2025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25</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VN1859</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SGNVCS</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CAPT REPORTED: BOTH BEACON LT INOP &amp; CAPT SEAT CANNOT LOCKED </a:t>
                      </a:r>
                      <a:br>
                        <a:rPr lang="en-US" sz="1000" b="0" i="0" u="none" strike="noStrike">
                          <a:solidFill>
                            <a:srgbClr val="000000"/>
                          </a:solidFill>
                          <a:effectLst/>
                          <a:latin typeface="Times" panose="02020603050405020304" pitchFamily="18" charset="0"/>
                          <a:cs typeface="Times" panose="02020603050405020304" pitchFamily="18" charset="0"/>
                        </a:rPr>
                      </a:br>
                      <a:endParaRPr lang="en-US" sz="1000" b="0" i="0" u="none" strike="noStrike">
                        <a:solidFill>
                          <a:srgbClr val="000000"/>
                        </a:solidFill>
                        <a:effectLst/>
                        <a:latin typeface="Times" panose="02020603050405020304" pitchFamily="18" charset="0"/>
                        <a:cs typeface="Times" panose="02020603050405020304" pitchFamily="18" charset="0"/>
                      </a:endParaRP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EVENT CLOSED  ADD B634 RAISED FOR BOTH BEACON LT INOP WITH DAY LIGHT OPERATION ONLY &amp;amp; ADJUSTED CAPT SEAT BY CABIN STAFF. SATIS.</a:t>
                      </a:r>
                      <a:br>
                        <a:rPr lang="en-US" sz="1000" b="0" i="0" u="none" strike="noStrike">
                          <a:solidFill>
                            <a:srgbClr val="000000"/>
                          </a:solidFill>
                          <a:effectLst/>
                          <a:latin typeface="Times" panose="02020603050405020304" pitchFamily="18" charset="0"/>
                          <a:cs typeface="Times" panose="02020603050405020304" pitchFamily="18" charset="0"/>
                        </a:rPr>
                      </a:br>
                      <a:r>
                        <a:rPr lang="en-US" sz="1000" b="0" i="0" u="none" strike="noStrike">
                          <a:solidFill>
                            <a:srgbClr val="000000"/>
                          </a:solidFill>
                          <a:effectLst/>
                          <a:latin typeface="Times" panose="02020603050405020304" pitchFamily="18" charset="0"/>
                          <a:cs typeface="Times" panose="02020603050405020304" pitchFamily="18" charset="0"/>
                        </a:rPr>
                        <a:t> TOTAL DELAY 54 MINS, TECH DELAY 25MINS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000" b="0" i="0" u="none" strike="noStrike">
                          <a:solidFill>
                            <a:srgbClr val="000000"/>
                          </a:solidFill>
                          <a:effectLst/>
                          <a:latin typeface="Times" panose="02020603050405020304" pitchFamily="18" charset="0"/>
                          <a:cs typeface="Times" panose="02020603050405020304" pitchFamily="18" charset="0"/>
                        </a:rPr>
                        <a:t> </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000" b="0" i="0" u="none" strike="noStrike" dirty="0">
                          <a:solidFill>
                            <a:srgbClr val="000000"/>
                          </a:solidFill>
                          <a:effectLst/>
                          <a:latin typeface="Times" panose="02020603050405020304" pitchFamily="18" charset="0"/>
                          <a:cs typeface="Times" panose="02020603050405020304" pitchFamily="18" charset="0"/>
                        </a:rPr>
                        <a:t>Hỏng hóc do Power Supply Unit PN APS401, có thể raise MEL để tiếp tục khai thác. Hỏng hóc PSU rải rác ở nhiều linh kiện, do công nghệ đèn Halogen cũ kết hợp đặc thù tàu ATR, môi trường dưới bụng dễ ẩm, làm tuổi thọ khối giảm theo thời gian.</a:t>
                      </a:r>
                      <a:br>
                        <a:rPr lang="vi-VN" sz="1000" b="0" i="0" u="none" strike="noStrike" dirty="0">
                          <a:solidFill>
                            <a:srgbClr val="000000"/>
                          </a:solidFill>
                          <a:effectLst/>
                          <a:latin typeface="Times" panose="02020603050405020304" pitchFamily="18" charset="0"/>
                          <a:cs typeface="Times" panose="02020603050405020304" pitchFamily="18" charset="0"/>
                        </a:rPr>
                      </a:br>
                      <a:r>
                        <a:rPr lang="vi-VN" sz="1000" b="0" i="0" u="none" strike="noStrike" dirty="0">
                          <a:solidFill>
                            <a:srgbClr val="000000"/>
                          </a:solidFill>
                          <a:effectLst/>
                          <a:latin typeface="Times" panose="02020603050405020304" pitchFamily="18" charset="0"/>
                          <a:cs typeface="Times" panose="02020603050405020304" pitchFamily="18" charset="0"/>
                        </a:rPr>
                        <a:t>Giải pháp tạm thời: dự phòng PTVT</a:t>
                      </a:r>
                      <a:br>
                        <a:rPr lang="vi-VN" sz="1000" b="0" i="0" u="none" strike="noStrike" dirty="0">
                          <a:solidFill>
                            <a:srgbClr val="000000"/>
                          </a:solidFill>
                          <a:effectLst/>
                          <a:latin typeface="Times" panose="02020603050405020304" pitchFamily="18" charset="0"/>
                          <a:cs typeface="Times" panose="02020603050405020304" pitchFamily="18" charset="0"/>
                        </a:rPr>
                      </a:br>
                      <a:r>
                        <a:rPr lang="vi-VN" sz="1000" b="0" i="0" u="none" strike="noStrike" dirty="0">
                          <a:solidFill>
                            <a:srgbClr val="000000"/>
                          </a:solidFill>
                          <a:effectLst/>
                          <a:latin typeface="Times" panose="02020603050405020304" pitchFamily="18" charset="0"/>
                          <a:cs typeface="Times" panose="02020603050405020304" pitchFamily="18" charset="0"/>
                        </a:rPr>
                        <a:t>Giải pháp triệt để, nghiên cứu nâng cấp lên công nghệ đèn LED</a:t>
                      </a:r>
                    </a:p>
                  </a:txBody>
                  <a:tcPr marL="3357" marR="3357" marT="3357"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5182604"/>
                  </a:ext>
                </a:extLst>
              </a:tr>
            </a:tbl>
          </a:graphicData>
        </a:graphic>
      </p:graphicFrame>
    </p:spTree>
    <p:extLst>
      <p:ext uri="{BB962C8B-B14F-4D97-AF65-F5344CB8AC3E}">
        <p14:creationId xmlns:p14="http://schemas.microsoft.com/office/powerpoint/2010/main" val="1373375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10763157" cy="498494"/>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defRPr/>
            </a:pPr>
            <a:r>
              <a:rPr lang="vi-VN" sz="2933" b="1">
                <a:ln w="0"/>
                <a:solidFill>
                  <a:schemeClr val="accent4"/>
                </a:solidFill>
                <a:latin typeface="Times New Roman" panose="02020603050405020304" pitchFamily="18" charset="0"/>
                <a:cs typeface="Times New Roman" panose="02020603050405020304" pitchFamily="18" charset="0"/>
                <a:sym typeface="Montserrat SemiBold"/>
              </a:rPr>
              <a:t>CÁC HỎNG HÓC NỔI CỘM</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83655" y="799697"/>
            <a:ext cx="11171451" cy="830997"/>
          </a:xfrm>
          <a:prstGeom prst="rect">
            <a:avLst/>
          </a:prstGeom>
          <a:noFill/>
        </p:spPr>
        <p:txBody>
          <a:bodyPr wrap="square">
            <a:spAutoFit/>
          </a:bodyPr>
          <a:lstStyle/>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Đội bay </a:t>
            </a:r>
            <a:r>
              <a:rPr lang="en-US" sz="1600" b="1">
                <a:solidFill>
                  <a:prstClr val="black"/>
                </a:solidFill>
                <a:latin typeface="Times New Roman" panose="02020603050405020304" pitchFamily="18" charset="0"/>
                <a:cs typeface="Times New Roman" panose="02020603050405020304" pitchFamily="18" charset="0"/>
              </a:rPr>
              <a:t>ATR72:</a:t>
            </a:r>
            <a:endParaRPr lang="en-US" sz="1600" b="1" dirty="0">
              <a:solidFill>
                <a:prstClr val="black"/>
              </a:solidFill>
              <a:latin typeface="Times New Roman" panose="02020603050405020304" pitchFamily="18" charset="0"/>
              <a:cs typeface="Times New Roman" panose="02020603050405020304" pitchFamily="18" charset="0"/>
            </a:endParaRP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Tình hình kỹ thuật đội </a:t>
            </a:r>
            <a:r>
              <a:rPr lang="en-US" sz="1600">
                <a:solidFill>
                  <a:prstClr val="black"/>
                </a:solidFill>
                <a:latin typeface="Times New Roman" panose="02020603050405020304" pitchFamily="18" charset="0"/>
                <a:cs typeface="Times New Roman" panose="02020603050405020304" pitchFamily="18" charset="0"/>
              </a:rPr>
              <a:t>ATR72 </a:t>
            </a:r>
            <a:r>
              <a:rPr lang="en-US" sz="1600">
                <a:solidFill>
                  <a:prstClr val="black"/>
                </a:solidFill>
                <a:latin typeface="Times New Roman" panose="02020603050405020304" pitchFamily="18" charset="0"/>
                <a:cs typeface="Times New Roman" panose="02020603050405020304" pitchFamily="18" charset="0"/>
              </a:rPr>
              <a:t>trong tuần tương đối tốt, </a:t>
            </a:r>
            <a:r>
              <a:rPr lang="en-US" sz="1600">
                <a:solidFill>
                  <a:prstClr val="black"/>
                </a:solidFill>
                <a:latin typeface="Times New Roman" panose="02020603050405020304" pitchFamily="18" charset="0"/>
                <a:cs typeface="Times New Roman" panose="02020603050405020304" pitchFamily="18" charset="0"/>
              </a:rPr>
              <a:t>chỉ có 01 TH Delay tàu B225 do 2 lỗi liên quan đến beacon light inop và ghế captain không lock. Các lỗi này đã được xử lý và đưa tàu trở lại khai thác bình thường ngay sau đó.</a:t>
            </a:r>
            <a:endParaRPr lang="en-SG" sz="16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1122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W17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21/04/2025-27/04/20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extLst>
              <p:ext uri="{D42A27DB-BD31-4B8C-83A1-F6EECF244321}">
                <p14:modId xmlns:p14="http://schemas.microsoft.com/office/powerpoint/2010/main" val="1973032294"/>
              </p:ext>
            </p:extLst>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6</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dirty="0" smtClean="0">
                          <a:solidFill>
                            <a:srgbClr val="00B050"/>
                          </a:solidFill>
                          <a:effectLst/>
                          <a:latin typeface="Times New Roman" panose="02020603050405020304" pitchFamily="18" charset="0"/>
                        </a:rPr>
                        <a:t>2278</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2</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dirty="0" smtClean="0">
                          <a:solidFill>
                            <a:srgbClr val="00B050"/>
                          </a:solidFill>
                          <a:effectLst/>
                          <a:latin typeface="Times New Roman" panose="02020603050405020304" pitchFamily="18" charset="0"/>
                        </a:rPr>
                        <a:t>206</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3</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dirty="0" smtClean="0">
                          <a:solidFill>
                            <a:srgbClr val="00B050"/>
                          </a:solidFill>
                          <a:effectLst/>
                          <a:latin typeface="Times New Roman" panose="02020603050405020304" pitchFamily="18" charset="0"/>
                        </a:rPr>
                        <a:t>368</a:t>
                      </a:r>
                      <a:endParaRPr lang="en-US" sz="1200" b="1" i="0" u="none" strike="noStrike" dirty="0">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dirty="0">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dirty="0">
                          <a:solidFill>
                            <a:srgbClr val="00B050"/>
                          </a:solidFill>
                          <a:effectLst/>
                          <a:latin typeface="Times New Roman" panose="02020603050405020304" pitchFamily="18" charset="0"/>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extLst>
              <p:ext uri="{D42A27DB-BD31-4B8C-83A1-F6EECF244321}">
                <p14:modId xmlns:p14="http://schemas.microsoft.com/office/powerpoint/2010/main" val="3516007917"/>
              </p:ext>
            </p:extLst>
          </p:nvPr>
        </p:nvGraphicFramePr>
        <p:xfrm>
          <a:off x="552666" y="901739"/>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375264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19</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5477765"/>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0341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09025">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13.5k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 slot.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telecon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ng</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07/05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pending.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 việc với PW yêu cầu tăng CAP SSA 2024, slot induct 2025, ĐCDP thứ 5, ĐC thuê…</a:t>
                      </a:r>
                    </a:p>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33870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dung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GE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fr-FR"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92661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dirty="0">
                          <a:solidFill>
                            <a:schemeClr val="tx1"/>
                          </a:solidFill>
                          <a:effectLst/>
                          <a:latin typeface="Times New Roman" panose="02020603050405020304" pitchFamily="18" charset="0"/>
                          <a:ea typeface="+mn-ea"/>
                          <a:cs typeface="Times New Roman" panose="02020603050405020304" pitchFamily="18" charset="0"/>
                        </a:rPr>
                        <a:t>Các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dung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04/03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kiếm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quyết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tồn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CRC, Day in service.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15/04 VP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EVP VNA.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chuẩn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sẵn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shop visit, spare,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nếu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thiết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06/05 VP Technical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Ban KT/QLVT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claim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kỹ</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thuật</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shop visit, TAT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3348129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20</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165838867"/>
              </p:ext>
            </p:extLst>
          </p:nvPr>
        </p:nvGraphicFramePr>
        <p:xfrm>
          <a:off x="156783" y="606959"/>
          <a:ext cx="11878434" cy="3675544"/>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30744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7582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chọn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AMOSeTL</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Swiss-AS</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vướng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mắc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khâu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suất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tích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eTL</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cùng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tầng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AMOS. Do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vậy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Swiss-AS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VAECO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thống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Change Request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ớc</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53340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sản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(Teledyne, Collins...)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WQAR.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chi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40k</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60k USD/</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185706">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6</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A892,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trên</a:t>
                      </a:r>
                      <a:r>
                        <a:rPr lang="en-US" sz="1400" dirty="0">
                          <a:solidFill>
                            <a:schemeClr val="tx1"/>
                          </a:solidFill>
                          <a:latin typeface="Times New Roman" panose="02020603050405020304" pitchFamily="18" charset="0"/>
                          <a:cs typeface="Times New Roman" panose="02020603050405020304" pitchFamily="18" charset="0"/>
                        </a:rPr>
                        <a:t> - </a:t>
                      </a:r>
                      <a:r>
                        <a:rPr lang="en-US" sz="1400" dirty="0" err="1">
                          <a:solidFill>
                            <a:schemeClr val="tx1"/>
                          </a:solidFill>
                          <a:latin typeface="Times New Roman" panose="02020603050405020304" pitchFamily="18" charset="0"/>
                          <a:cs typeface="Times New Roman" panose="02020603050405020304" pitchFamily="18" charset="0"/>
                        </a:rPr>
                        <a:t>tiếp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Server MPS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SW </a:t>
                      </a:r>
                      <a:r>
                        <a:rPr lang="en-US" sz="1400" dirty="0" err="1">
                          <a:solidFill>
                            <a:schemeClr val="tx1"/>
                          </a:solidFill>
                          <a:latin typeface="Times New Roman" panose="02020603050405020304" pitchFamily="18" charset="0"/>
                          <a:cs typeface="Times New Roman" panose="02020603050405020304" pitchFamily="18" charset="0"/>
                        </a:rPr>
                        <a:t>để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kích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hoạt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dịch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vụ</a:t>
                      </a:r>
                      <a:r>
                        <a:rPr lang="en-US" sz="1400" dirty="0">
                          <a:solidFill>
                            <a:schemeClr val="tx1"/>
                          </a:solidFill>
                          <a:latin typeface="Times New Roman" panose="02020603050405020304" pitchFamily="18" charset="0"/>
                          <a:cs typeface="Times New Roman" panose="02020603050405020304" pitchFamily="18" charset="0"/>
                        </a:rPr>
                        <a:t> =&gt;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MOC/MCC </a:t>
                      </a:r>
                      <a:r>
                        <a:rPr lang="en-US" sz="1400" dirty="0" err="1">
                          <a:solidFill>
                            <a:schemeClr val="tx1"/>
                          </a:solidFill>
                          <a:latin typeface="Times New Roman" panose="02020603050405020304" pitchFamily="18" charset="0"/>
                          <a:cs typeface="Times New Roman" panose="02020603050405020304" pitchFamily="18" charset="0"/>
                        </a:rPr>
                        <a:t>để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xếp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lịch</a:t>
                      </a:r>
                      <a:endParaRPr lang="en-US" sz="1400"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Các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lại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gửi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 (TAT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HON shop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kéo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dài</a:t>
                      </a:r>
                      <a:r>
                        <a:rPr lang="en-US" sz="1400" dirty="0">
                          <a:solidFill>
                            <a:schemeClr val="tx1"/>
                          </a:solidFill>
                          <a:latin typeface="Times New Roman" panose="02020603050405020304" pitchFamily="18" charset="0"/>
                          <a:cs typeface="Times New Roman" panose="02020603050405020304" pitchFamily="18" charset="0"/>
                        </a:rPr>
                        <a:t> 120 </a:t>
                      </a:r>
                      <a:r>
                        <a:rPr lang="en-US" sz="1400" dirty="0" err="1">
                          <a:solidFill>
                            <a:schemeClr val="tx1"/>
                          </a:solidFill>
                          <a:latin typeface="Times New Roman" panose="02020603050405020304" pitchFamily="18" charset="0"/>
                          <a:cs typeface="Times New Roman" panose="02020603050405020304" pitchFamily="18" charset="0"/>
                        </a:rPr>
                        <a:t>ngày</a:t>
                      </a:r>
                      <a:r>
                        <a:rPr lang="en-US" sz="1400" dirty="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Đào </a:t>
                      </a:r>
                      <a:r>
                        <a:rPr lang="en-US" sz="1400" dirty="0" err="1">
                          <a:solidFill>
                            <a:schemeClr val="tx1"/>
                          </a:solidFill>
                          <a:latin typeface="Times New Roman" panose="02020603050405020304" pitchFamily="18" charset="0"/>
                          <a:cs typeface="Times New Roman" panose="02020603050405020304" pitchFamily="18" charset="0"/>
                        </a:rPr>
                        <a:t>tạo</a:t>
                      </a:r>
                      <a:r>
                        <a:rPr lang="en-US" sz="1400" dirty="0">
                          <a:solidFill>
                            <a:schemeClr val="tx1"/>
                          </a:solidFill>
                          <a:latin typeface="Times New Roman" panose="02020603050405020304" pitchFamily="18" charset="0"/>
                          <a:cs typeface="Times New Roman" panose="02020603050405020304" pitchFamily="18" charset="0"/>
                        </a:rPr>
                        <a:t> IFC VAECO 19-20/2/2025: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thực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hiện</a:t>
                      </a:r>
                      <a:endParaRPr lang="en-US" sz="1400" b="1"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a:solidFill>
                            <a:schemeClr val="tx1"/>
                          </a:solidFill>
                          <a:latin typeface="Times New Roman" panose="02020603050405020304" pitchFamily="18" charset="0"/>
                          <a:cs typeface="Times New Roman" panose="02020603050405020304" pitchFamily="18" charset="0"/>
                        </a:rPr>
                        <a:t>Tài </a:t>
                      </a:r>
                      <a:r>
                        <a:rPr lang="en-US" sz="1400" dirty="0" err="1">
                          <a:solidFill>
                            <a:schemeClr val="tx1"/>
                          </a:solidFill>
                          <a:latin typeface="Times New Roman" panose="02020603050405020304" pitchFamily="18" charset="0"/>
                          <a:cs typeface="Times New Roman" panose="02020603050405020304" pitchFamily="18" charset="0"/>
                        </a:rPr>
                        <a:t>liệu</a:t>
                      </a:r>
                      <a:r>
                        <a:rPr lang="en-US" sz="1400" dirty="0">
                          <a:solidFill>
                            <a:schemeClr val="tx1"/>
                          </a:solidFill>
                          <a:latin typeface="Times New Roman" panose="02020603050405020304" pitchFamily="18" charset="0"/>
                          <a:cs typeface="Times New Roman" panose="02020603050405020304" pitchFamily="18" charset="0"/>
                        </a:rPr>
                        <a:t> TSM </a:t>
                      </a:r>
                      <a:r>
                        <a:rPr lang="en-US" sz="1400" dirty="0" err="1">
                          <a:solidFill>
                            <a:schemeClr val="tx1"/>
                          </a:solidFill>
                          <a:latin typeface="Times New Roman" panose="02020603050405020304" pitchFamily="18" charset="0"/>
                          <a:cs typeface="Times New Roman" panose="02020603050405020304" pitchFamily="18" charset="0"/>
                        </a:rPr>
                        <a:t>hệ</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thống</a:t>
                      </a:r>
                      <a:r>
                        <a:rPr lang="en-US" sz="1400" dirty="0">
                          <a:solidFill>
                            <a:schemeClr val="tx1"/>
                          </a:solidFill>
                          <a:latin typeface="Times New Roman" panose="02020603050405020304" pitchFamily="18" charset="0"/>
                          <a:cs typeface="Times New Roman" panose="02020603050405020304" pitchFamily="18" charset="0"/>
                        </a:rPr>
                        <a:t> IFC: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triển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cho</a:t>
                      </a:r>
                      <a:r>
                        <a:rPr lang="en-US" sz="1400" b="1" dirty="0">
                          <a:solidFill>
                            <a:schemeClr val="tx1"/>
                          </a:solidFill>
                          <a:latin typeface="Times New Roman" panose="02020603050405020304" pitchFamily="18" charset="0"/>
                          <a:cs typeface="Times New Roman" panose="02020603050405020304" pitchFamily="18" charset="0"/>
                        </a:rPr>
                        <a:t> VAECO</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b="0" dirty="0">
                          <a:solidFill>
                            <a:schemeClr val="tx1"/>
                          </a:solidFill>
                          <a:latin typeface="Times New Roman" panose="02020603050405020304" pitchFamily="18" charset="0"/>
                          <a:cs typeface="Times New Roman" panose="02020603050405020304" pitchFamily="18" charset="0"/>
                        </a:rPr>
                        <a:t>Tài </a:t>
                      </a:r>
                      <a:r>
                        <a:rPr lang="en-US" sz="1400" b="0" dirty="0" err="1">
                          <a:solidFill>
                            <a:schemeClr val="tx1"/>
                          </a:solidFill>
                          <a:latin typeface="Times New Roman" panose="02020603050405020304" pitchFamily="18" charset="0"/>
                          <a:cs typeface="Times New Roman" panose="02020603050405020304" pitchFamily="18" charset="0"/>
                        </a:rPr>
                        <a:t>liệu</a:t>
                      </a:r>
                      <a:r>
                        <a:rPr lang="en-US" sz="1400" b="0" dirty="0">
                          <a:solidFill>
                            <a:schemeClr val="tx1"/>
                          </a:solidFill>
                          <a:latin typeface="Times New Roman" panose="02020603050405020304" pitchFamily="18" charset="0"/>
                          <a:cs typeface="Times New Roman" panose="02020603050405020304" pitchFamily="18" charset="0"/>
                        </a:rPr>
                        <a:t> AMM: </a:t>
                      </a:r>
                      <a:r>
                        <a:rPr lang="en-US" sz="1400" b="1" dirty="0">
                          <a:solidFill>
                            <a:schemeClr val="tx1"/>
                          </a:solidFill>
                          <a:latin typeface="Times New Roman" panose="02020603050405020304" pitchFamily="18" charset="0"/>
                          <a:cs typeface="Times New Roman" panose="02020603050405020304" pitchFamily="18" charset="0"/>
                        </a:rPr>
                        <a:t>update </a:t>
                      </a:r>
                      <a:r>
                        <a:rPr lang="en-US" sz="1400" b="1" dirty="0" err="1">
                          <a:solidFill>
                            <a:schemeClr val="tx1"/>
                          </a:solidFill>
                          <a:latin typeface="Times New Roman" panose="02020603050405020304" pitchFamily="18" charset="0"/>
                          <a:cs typeface="Times New Roman" panose="02020603050405020304" pitchFamily="18" charset="0"/>
                        </a:rPr>
                        <a:t>trong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tháng</a:t>
                      </a:r>
                      <a:r>
                        <a:rPr lang="en-US" sz="1400" b="1" dirty="0">
                          <a:solidFill>
                            <a:schemeClr val="tx1"/>
                          </a:solidFill>
                          <a:latin typeface="Times New Roman" panose="02020603050405020304" pitchFamily="18" charset="0"/>
                          <a:cs typeface="Times New Roman" panose="02020603050405020304" pitchFamily="18" charset="0"/>
                        </a:rPr>
                        <a:t> 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dirty="0" err="1">
                          <a:solidFill>
                            <a:schemeClr val="tx1"/>
                          </a:solidFill>
                          <a:latin typeface="Times New Roman" panose="02020603050405020304" pitchFamily="18" charset="0"/>
                          <a:cs typeface="Times New Roman" panose="02020603050405020304" pitchFamily="18" charset="0"/>
                        </a:rPr>
                        <a:t>Vật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phòng</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đã</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endParaRPr lang="en-US" sz="1400" b="1"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731902314"/>
              </p:ext>
            </p:extLst>
          </p:nvPr>
        </p:nvGraphicFramePr>
        <p:xfrm>
          <a:off x="156783" y="4267201"/>
          <a:ext cx="11878434" cy="259079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009137770"/>
                    </a:ext>
                  </a:extLst>
                </a:gridCol>
                <a:gridCol w="1182943">
                  <a:extLst>
                    <a:ext uri="{9D8B030D-6E8A-4147-A177-3AD203B41FA5}">
                      <a16:colId xmlns:a16="http://schemas.microsoft.com/office/drawing/2014/main" val="1246878174"/>
                    </a:ext>
                  </a:extLst>
                </a:gridCol>
                <a:gridCol w="8905547">
                  <a:extLst>
                    <a:ext uri="{9D8B030D-6E8A-4147-A177-3AD203B41FA5}">
                      <a16:colId xmlns:a16="http://schemas.microsoft.com/office/drawing/2014/main" val="91546684"/>
                    </a:ext>
                  </a:extLst>
                </a:gridCol>
                <a:gridCol w="1367217">
                  <a:extLst>
                    <a:ext uri="{9D8B030D-6E8A-4147-A177-3AD203B41FA5}">
                      <a16:colId xmlns:a16="http://schemas.microsoft.com/office/drawing/2014/main" val="58329594"/>
                    </a:ext>
                  </a:extLst>
                </a:gridCol>
              </a:tblGrid>
              <a:tr h="2590799">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7</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4936373"/>
                  </a:ext>
                </a:extLst>
              </a:tr>
            </a:tbl>
          </a:graphicData>
        </a:graphic>
      </p:graphicFrame>
    </p:spTree>
    <p:extLst>
      <p:ext uri="{BB962C8B-B14F-4D97-AF65-F5344CB8AC3E}">
        <p14:creationId xmlns:p14="http://schemas.microsoft.com/office/powerpoint/2010/main" val="387696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21</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12645" y="-95301"/>
            <a:ext cx="9312664" cy="508000"/>
          </a:xfrm>
        </p:spPr>
        <p:txBody>
          <a:bodyPr>
            <a:noAutofit/>
          </a:bodyPr>
          <a:lstStyle/>
          <a:p>
            <a:pPr eaLnBrk="1" hangingPunct="1"/>
            <a:r>
              <a:rPr lang="en-US" altLang="en-US" sz="2500" dirty="0">
                <a:solidFill>
                  <a:srgbClr val="FFC000"/>
                </a:solidFill>
                <a:latin typeface="Times New Roman" panose="02020603050405020304" pitchFamily="18" charset="0"/>
                <a:cs typeface="Times New Roman" panose="02020603050405020304" pitchFamily="18" charset="0"/>
              </a:rPr>
              <a:t>CÁC CÔNG VIỆC TRỌNG </a:t>
            </a:r>
            <a:r>
              <a:rPr lang="en-US" altLang="en-US" sz="2500" dirty="0" smtClean="0">
                <a:solidFill>
                  <a:srgbClr val="FFC000"/>
                </a:solidFill>
                <a:latin typeface="Times New Roman" panose="02020603050405020304" pitchFamily="18" charset="0"/>
                <a:cs typeface="Times New Roman" panose="02020603050405020304" pitchFamily="18" charset="0"/>
              </a:rPr>
              <a:t>ĐIỂM</a:t>
            </a:r>
            <a:endParaRPr lang="en-US" altLang="en-US" sz="2500" dirty="0">
              <a:solidFill>
                <a:srgbClr val="FFC000"/>
              </a:solidFill>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292763043"/>
              </p:ext>
            </p:extLst>
          </p:nvPr>
        </p:nvGraphicFramePr>
        <p:xfrm>
          <a:off x="228600" y="335061"/>
          <a:ext cx="11612515" cy="2063114"/>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156461">
                  <a:extLst>
                    <a:ext uri="{9D8B030D-6E8A-4147-A177-3AD203B41FA5}">
                      <a16:colId xmlns:a16="http://schemas.microsoft.com/office/drawing/2014/main" val="221963637"/>
                    </a:ext>
                  </a:extLst>
                </a:gridCol>
                <a:gridCol w="9022075">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8</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CĐCH </a:t>
                      </a:r>
                      <a:r>
                        <a:rPr lang="en-US" sz="1400" b="1" dirty="0" err="1">
                          <a:solidFill>
                            <a:schemeClr val="tx1"/>
                          </a:solidFill>
                          <a:latin typeface="Times New Roman" panose="02020603050405020304" pitchFamily="18" charset="0"/>
                          <a:cs typeface="Times New Roman" panose="02020603050405020304" pitchFamily="18" charset="0"/>
                        </a:rPr>
                        <a:t>ghế</a:t>
                      </a:r>
                      <a:r>
                        <a:rPr lang="en-US" sz="1400" b="1" dirty="0">
                          <a:solidFill>
                            <a:schemeClr val="tx1"/>
                          </a:solidFill>
                          <a:latin typeface="Times New Roman" panose="02020603050405020304" pitchFamily="18" charset="0"/>
                          <a:cs typeface="Times New Roman" panose="02020603050405020304" pitchFamily="18" charset="0"/>
                        </a:rPr>
                        <a:t> 23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A321CEO</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HSYC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1,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hoàn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đánh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giá</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bản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chào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2 =&gt; </a:t>
                      </a: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lựa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chọn</a:t>
                      </a:r>
                      <a:r>
                        <a:rPr lang="en-US" sz="1400" dirty="0">
                          <a:solidFill>
                            <a:schemeClr val="tx1"/>
                          </a:solidFill>
                          <a:latin typeface="Times New Roman" panose="02020603050405020304" pitchFamily="18" charset="0"/>
                          <a:cs typeface="Times New Roman" panose="02020603050405020304" pitchFamily="18" charset="0"/>
                        </a:rPr>
                        <a:t>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STC </a:t>
                      </a:r>
                      <a:r>
                        <a:rPr lang="en-US" sz="1400" dirty="0" err="1">
                          <a:solidFill>
                            <a:schemeClr val="tx1"/>
                          </a:solidFill>
                          <a:latin typeface="Times New Roman" panose="02020603050405020304" pitchFamily="18" charset="0"/>
                          <a:cs typeface="Times New Roman" panose="02020603050405020304" pitchFamily="18" charset="0"/>
                        </a:rPr>
                        <a:t>chê</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duyệt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việc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đối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pre-ICTM,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chính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thức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đầu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tháng</a:t>
                      </a:r>
                      <a:r>
                        <a:rPr lang="en-US" sz="1400" dirty="0">
                          <a:solidFill>
                            <a:schemeClr val="tx1"/>
                          </a:solidFill>
                          <a:latin typeface="Times New Roman" panose="02020603050405020304" pitchFamily="18" charset="0"/>
                          <a:cs typeface="Times New Roman" panose="02020603050405020304" pitchFamily="18" charset="0"/>
                        </a:rPr>
                        <a:t> 5/2025</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err="1" smtClean="0">
                          <a:solidFill>
                            <a:schemeClr val="tx1"/>
                          </a:solidFill>
                          <a:latin typeface="Times New Roman" panose="02020603050405020304" pitchFamily="18" charset="0"/>
                          <a:cs typeface="Times New Roman" panose="02020603050405020304" pitchFamily="18" charset="0"/>
                        </a:rPr>
                        <a:t>Dán</a:t>
                      </a:r>
                      <a:r>
                        <a:rPr lang="en-US" sz="1400" b="0" baseline="0" dirty="0" smtClean="0">
                          <a:solidFill>
                            <a:schemeClr val="tx1"/>
                          </a:solidFill>
                          <a:latin typeface="Times New Roman" panose="02020603050405020304" pitchFamily="18" charset="0"/>
                          <a:cs typeface="Times New Roman" panose="02020603050405020304" pitchFamily="18" charset="0"/>
                        </a:rPr>
                        <a:t> </a:t>
                      </a:r>
                      <a:r>
                        <a:rPr lang="en-US" sz="1400" b="0" dirty="0" smtClean="0">
                          <a:solidFill>
                            <a:schemeClr val="tx1"/>
                          </a:solidFill>
                          <a:latin typeface="Times New Roman" panose="02020603050405020304" pitchFamily="18" charset="0"/>
                          <a:cs typeface="Times New Roman" panose="02020603050405020304" pitchFamily="18" charset="0"/>
                        </a:rPr>
                        <a:t>Decal</a:t>
                      </a:r>
                      <a:r>
                        <a:rPr lang="en-US" sz="1400" b="0" baseline="0" dirty="0" smtClean="0">
                          <a:solidFill>
                            <a:schemeClr val="tx1"/>
                          </a:solidFill>
                          <a:latin typeface="Times New Roman" panose="02020603050405020304" pitchFamily="18" charset="0"/>
                          <a:cs typeface="Times New Roman" panose="02020603050405020304" pitchFamily="18" charset="0"/>
                        </a:rPr>
                        <a:t> </a:t>
                      </a:r>
                    </a:p>
                    <a:p>
                      <a:pPr algn="l" fontAlgn="ctr"/>
                      <a:r>
                        <a:rPr lang="en-US" sz="1400" b="0" baseline="0" dirty="0" err="1" smtClean="0">
                          <a:solidFill>
                            <a:schemeClr val="tx1"/>
                          </a:solidFill>
                          <a:latin typeface="Times New Roman" panose="02020603050405020304" pitchFamily="18" charset="0"/>
                          <a:cs typeface="Times New Roman" panose="02020603050405020304" pitchFamily="18" charset="0"/>
                        </a:rPr>
                        <a:t>tàu</a:t>
                      </a:r>
                      <a:r>
                        <a:rPr lang="en-US" sz="1400" b="0" baseline="0" dirty="0" smtClean="0">
                          <a:solidFill>
                            <a:schemeClr val="tx1"/>
                          </a:solidFill>
                          <a:latin typeface="Times New Roman" panose="02020603050405020304" pitchFamily="18" charset="0"/>
                          <a:cs typeface="Times New Roman" panose="02020603050405020304" pitchFamily="18" charset="0"/>
                        </a:rPr>
                        <a:t> bay</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hoàn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thành</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đúng</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kế</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smtClean="0">
                          <a:solidFill>
                            <a:schemeClr val="tx1"/>
                          </a:solidFill>
                          <a:latin typeface="Times New Roman" panose="02020603050405020304" pitchFamily="18" charset="0"/>
                          <a:ea typeface="+mn-ea"/>
                          <a:cs typeface="Times New Roman" panose="02020603050405020304" pitchFamily="18" charset="0"/>
                        </a:rPr>
                        <a:t>hoạch</a:t>
                      </a:r>
                      <a:r>
                        <a:rPr lang="en-US" sz="1400" kern="120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dirty="0" err="1" smtClean="0">
                          <a:solidFill>
                            <a:schemeClr val="tx1"/>
                          </a:solidFill>
                          <a:latin typeface="Times New Roman" panose="02020603050405020304" pitchFamily="18" charset="0"/>
                          <a:ea typeface="+mn-ea"/>
                          <a:cs typeface="Times New Roman" panose="02020603050405020304" pitchFamily="18" charset="0"/>
                        </a:rPr>
                        <a:t>dán</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decal 30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năm</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trên</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tàu</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B787-9</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Dán</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decal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Báo</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nhân</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en-US" sz="1400" kern="1200" baseline="0" dirty="0" err="1" smtClean="0">
                          <a:solidFill>
                            <a:schemeClr val="tx1"/>
                          </a:solidFill>
                          <a:latin typeface="Times New Roman" panose="02020603050405020304" pitchFamily="18" charset="0"/>
                          <a:ea typeface="+mn-ea"/>
                          <a:cs typeface="Times New Roman" panose="02020603050405020304" pitchFamily="18" charset="0"/>
                        </a:rPr>
                        <a:t>dân</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vi-VN" sz="1400" kern="1200" baseline="0" dirty="0" smtClean="0">
                          <a:solidFill>
                            <a:schemeClr val="tx1"/>
                          </a:solidFill>
                          <a:latin typeface="Times New Roman" panose="02020603050405020304" pitchFamily="18" charset="0"/>
                          <a:ea typeface="+mn-ea"/>
                          <a:cs typeface="Times New Roman" panose="02020603050405020304" pitchFamily="18" charset="0"/>
                        </a:rPr>
                        <a:t>đã có bản chào và chi phí từ đối tác. Đã gửi</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vi-VN" sz="1400" kern="1200" baseline="0" dirty="0" smtClean="0">
                          <a:solidFill>
                            <a:schemeClr val="tx1"/>
                          </a:solidFill>
                          <a:latin typeface="Times New Roman" panose="02020603050405020304" pitchFamily="18" charset="0"/>
                          <a:ea typeface="+mn-ea"/>
                          <a:cs typeface="Times New Roman" panose="02020603050405020304" pitchFamily="18" charset="0"/>
                        </a:rPr>
                        <a:t>thông tin cho ban TT để xác định phương án tàu</a:t>
                      </a:r>
                      <a:r>
                        <a:rPr lang="en-US" sz="1400" kern="1200" baseline="0" dirty="0" smtClean="0">
                          <a:solidFill>
                            <a:schemeClr val="tx1"/>
                          </a:solidFill>
                          <a:latin typeface="Times New Roman" panose="02020603050405020304" pitchFamily="18" charset="0"/>
                          <a:ea typeface="+mn-ea"/>
                          <a:cs typeface="Times New Roman" panose="02020603050405020304" pitchFamily="18" charset="0"/>
                        </a:rPr>
                        <a:t> </a:t>
                      </a:r>
                      <a:r>
                        <a:rPr lang="vi-VN" sz="1400" kern="1200" baseline="0" dirty="0" smtClean="0">
                          <a:solidFill>
                            <a:schemeClr val="tx1"/>
                          </a:solidFill>
                          <a:latin typeface="Times New Roman" panose="02020603050405020304" pitchFamily="18" charset="0"/>
                          <a:ea typeface="+mn-ea"/>
                          <a:cs typeface="Times New Roman" panose="02020603050405020304" pitchFamily="18" charset="0"/>
                        </a:rPr>
                        <a:t>A321 hay B787 và phê duyệt ngân sách. Ban KT sẽ triển khai tiếp theo khi có phản hồi từ ban TT</a:t>
                      </a:r>
                      <a:endParaRPr lang="en-US" sz="1400" kern="1200" dirty="0">
                        <a:solidFill>
                          <a:schemeClr val="tx1"/>
                        </a:solidFill>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910064927"/>
              </p:ext>
            </p:extLst>
          </p:nvPr>
        </p:nvGraphicFramePr>
        <p:xfrm>
          <a:off x="228600" y="2407700"/>
          <a:ext cx="11612515" cy="2092958"/>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416854018"/>
                    </a:ext>
                  </a:extLst>
                </a:gridCol>
                <a:gridCol w="1156461">
                  <a:extLst>
                    <a:ext uri="{9D8B030D-6E8A-4147-A177-3AD203B41FA5}">
                      <a16:colId xmlns:a16="http://schemas.microsoft.com/office/drawing/2014/main" val="575741111"/>
                    </a:ext>
                  </a:extLst>
                </a:gridCol>
                <a:gridCol w="9022075">
                  <a:extLst>
                    <a:ext uri="{9D8B030D-6E8A-4147-A177-3AD203B41FA5}">
                      <a16:colId xmlns:a16="http://schemas.microsoft.com/office/drawing/2014/main" val="948690633"/>
                    </a:ext>
                  </a:extLst>
                </a:gridCol>
                <a:gridCol w="1020715">
                  <a:extLst>
                    <a:ext uri="{9D8B030D-6E8A-4147-A177-3AD203B41FA5}">
                      <a16:colId xmlns:a16="http://schemas.microsoft.com/office/drawing/2014/main" val="3719674093"/>
                    </a:ext>
                  </a:extLst>
                </a:gridCol>
              </a:tblGrid>
              <a:tr h="818864">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300" b="0" dirty="0" smtClean="0">
                          <a:latin typeface="Times New Roman" panose="02020603050405020304" pitchFamily="18" charset="0"/>
                          <a:cs typeface="Times New Roman" panose="02020603050405020304" pitchFamily="18" charset="0"/>
                        </a:rPr>
                        <a:t>GIA HẠN THUÊ 10 TÀU VALC </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của</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chậm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nên</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10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A321CEO 3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30/06/2025.</a:t>
                      </a:r>
                    </a:p>
                    <a:p>
                      <a:pPr algn="just">
                        <a:lnSpc>
                          <a:spcPct val="150000"/>
                        </a:lnSpc>
                      </a:pP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tại</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quả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cần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đàm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trong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a:t>
                      </a:r>
                      <a:r>
                        <a:rPr lang="vi-VN" sz="1300" dirty="0" smtClean="0">
                          <a:latin typeface="Times New Roman" panose="02020603050405020304" pitchFamily="18" charset="0"/>
                          <a:cs typeface="Times New Roman" panose="02020603050405020304" pitchFamily="18" charset="0"/>
                        </a:rPr>
                        <a:t>ư</a:t>
                      </a:r>
                      <a:r>
                        <a:rPr lang="en-US" sz="1300" dirty="0" err="1" smtClean="0">
                          <a:latin typeface="Times New Roman" panose="02020603050405020304" pitchFamily="18" charset="0"/>
                          <a:cs typeface="Times New Roman" panose="02020603050405020304" pitchFamily="18" charset="0"/>
                        </a:rPr>
                        <a:t>ờng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chuyển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đổi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sở</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hữu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449390"/>
                  </a:ext>
                </a:extLst>
              </a:tr>
              <a:tr h="818864">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50000"/>
                        </a:lnSpc>
                      </a:pPr>
                      <a:r>
                        <a:rPr lang="en-US" sz="1300" b="0" smtClean="0">
                          <a:latin typeface="Times New Roman" panose="02020603050405020304" pitchFamily="18" charset="0"/>
                          <a:cs typeface="Times New Roman" panose="02020603050405020304" pitchFamily="18" charset="0"/>
                        </a:rPr>
                        <a:t>DỰ ÁN TÀU BAY THÂN HẸP</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vi-VN" sz="1300" dirty="0" smtClean="0">
                          <a:latin typeface="+mn-lt"/>
                          <a:cs typeface="Times New Roman" panose="02020603050405020304" pitchFamily="18" charset="0"/>
                        </a:rPr>
                        <a:t>Tổ </a:t>
                      </a:r>
                      <a:r>
                        <a:rPr lang="en-US" sz="1300" dirty="0" smtClean="0">
                          <a:latin typeface="Times New Roman" panose="02020603050405020304" pitchFamily="18" charset="0"/>
                          <a:cs typeface="Times New Roman" panose="02020603050405020304" pitchFamily="18" charset="0"/>
                        </a:rPr>
                        <a:t>TMTB</a:t>
                      </a:r>
                      <a:r>
                        <a:rPr lang="vi-VN" sz="1300" dirty="0" smtClean="0">
                          <a:latin typeface="+mn-lt"/>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hoàn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thành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hồ</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sơ</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cáo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các</a:t>
                      </a:r>
                      <a:r>
                        <a:rPr lang="en-US" sz="1300" dirty="0" smtClean="0">
                          <a:latin typeface="Times New Roman" panose="02020603050405020304" pitchFamily="18" charset="0"/>
                          <a:cs typeface="Times New Roman" panose="02020603050405020304" pitchFamily="18" charset="0"/>
                        </a:rPr>
                        <a:t> </a:t>
                      </a:r>
                      <a:r>
                        <a:rPr lang="vi-VN" sz="1300" dirty="0" smtClean="0">
                          <a:latin typeface="+mn-lt"/>
                          <a:cs typeface="Times New Roman" panose="02020603050405020304" pitchFamily="18" charset="0"/>
                        </a:rPr>
                        <a:t>cấp có thẩm quyền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dự</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có</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thể</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là</a:t>
                      </a:r>
                      <a:r>
                        <a:rPr lang="en-US" sz="1300" dirty="0" smtClean="0">
                          <a:latin typeface="Times New Roman" panose="02020603050405020304" pitchFamily="18" charset="0"/>
                          <a:cs typeface="Times New Roman" panose="02020603050405020304" pitchFamily="18" charset="0"/>
                        </a:rPr>
                        <a:t> 50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B737 Max 8).</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1765247"/>
                  </a:ext>
                </a:extLst>
              </a:tr>
            </a:tbl>
          </a:graphicData>
        </a:graphic>
      </p:graphicFrame>
    </p:spTree>
    <p:extLst>
      <p:ext uri="{BB962C8B-B14F-4D97-AF65-F5344CB8AC3E}">
        <p14:creationId xmlns:p14="http://schemas.microsoft.com/office/powerpoint/2010/main" val="147003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22</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572142694"/>
              </p:ext>
            </p:extLst>
          </p:nvPr>
        </p:nvGraphicFramePr>
        <p:xfrm>
          <a:off x="156783" y="606960"/>
          <a:ext cx="11878434" cy="3115242"/>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40078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474926">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smtClean="0">
                          <a:latin typeface="Times New Roman" panose="02020603050405020304" pitchFamily="18" charset="0"/>
                          <a:cs typeface="Times New Roman" panose="02020603050405020304" pitchFamily="18" charset="0"/>
                        </a:rPr>
                        <a:t>01 TÀU ATR72 CHO K6 THUÊ KHÔ VN-B220 MSN 890</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khô</a:t>
                      </a:r>
                      <a:r>
                        <a:rPr lang="en-US" sz="1300" dirty="0" smtClean="0">
                          <a:latin typeface="Times New Roman" panose="02020603050405020304" pitchFamily="18" charset="0"/>
                          <a:cs typeface="Times New Roman" panose="02020603050405020304" pitchFamily="18" charset="0"/>
                        </a:rPr>
                        <a:t>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ATR72 MSN 890 VN-B220,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vào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ngày</a:t>
                      </a:r>
                      <a:r>
                        <a:rPr lang="en-US" sz="1300" dirty="0" smtClean="0">
                          <a:latin typeface="Times New Roman" panose="02020603050405020304" pitchFamily="18" charset="0"/>
                          <a:cs typeface="Times New Roman" panose="02020603050405020304" pitchFamily="18" charset="0"/>
                        </a:rPr>
                        <a:t> </a:t>
                      </a:r>
                      <a:r>
                        <a:rPr lang="en-US" sz="1300" b="1" dirty="0" smtClean="0">
                          <a:latin typeface="Times New Roman" panose="02020603050405020304" pitchFamily="18" charset="0"/>
                          <a:cs typeface="Times New Roman" panose="02020603050405020304" pitchFamily="18" charset="0"/>
                        </a:rPr>
                        <a:t>25/06/2025</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đề</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nghị</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với</a:t>
                      </a:r>
                      <a:r>
                        <a:rPr lang="en-US" sz="1300" dirty="0" smtClean="0">
                          <a:latin typeface="Times New Roman" panose="02020603050405020304" pitchFamily="18" charset="0"/>
                          <a:cs typeface="Times New Roman" panose="02020603050405020304" pitchFamily="18" charset="0"/>
                        </a:rPr>
                        <a:t> t</a:t>
                      </a:r>
                      <a:r>
                        <a:rPr lang="vi-VN" sz="1300" dirty="0" smtClean="0">
                          <a:latin typeface="+mn-lt"/>
                          <a:cs typeface="Times New Roman" panose="02020603050405020304" pitchFamily="18" charset="0"/>
                        </a:rPr>
                        <a:t>hời hạn gian hạn (hoặc thuê mới) từ 26/06/2025 – 30/11/2025</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690677">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13</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smtClean="0">
                          <a:latin typeface="Times New Roman" panose="02020603050405020304" pitchFamily="18" charset="0"/>
                          <a:cs typeface="Times New Roman" panose="02020603050405020304" pitchFamily="18" charset="0"/>
                        </a:rPr>
                        <a:t>03 </a:t>
                      </a:r>
                      <a:r>
                        <a:rPr lang="en-US" sz="1300" b="0" dirty="0" smtClean="0">
                          <a:latin typeface="Times New Roman" panose="02020603050405020304" pitchFamily="18" charset="0"/>
                          <a:cs typeface="Times New Roman" panose="02020603050405020304" pitchFamily="18" charset="0"/>
                        </a:rPr>
                        <a:t>TÀU A321 CEO CHO PA THUÊ KHÔ A354, A359,</a:t>
                      </a:r>
                      <a:r>
                        <a:rPr lang="en-US" sz="1300" b="0" baseline="0" dirty="0" smtClean="0">
                          <a:latin typeface="Times New Roman" panose="02020603050405020304" pitchFamily="18" charset="0"/>
                          <a:cs typeface="Times New Roman" panose="02020603050405020304" pitchFamily="18" charset="0"/>
                        </a:rPr>
                        <a:t> </a:t>
                      </a:r>
                      <a:r>
                        <a:rPr lang="en-US" sz="1300" b="0" dirty="0" smtClean="0">
                          <a:latin typeface="Times New Roman" panose="02020603050405020304" pitchFamily="18" charset="0"/>
                          <a:cs typeface="Times New Roman" panose="02020603050405020304" pitchFamily="18" charset="0"/>
                        </a:rPr>
                        <a:t>A363</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200" dirty="0" smtClean="0">
                          <a:latin typeface="Times New Roman" panose="02020603050405020304" pitchFamily="18" charset="0"/>
                          <a:cs typeface="Times New Roman" panose="02020603050405020304" pitchFamily="18" charset="0"/>
                        </a:rPr>
                        <a:t>03 </a:t>
                      </a:r>
                      <a:r>
                        <a:rPr lang="en-US" sz="1200" dirty="0" err="1" smtClean="0">
                          <a:latin typeface="Times New Roman" panose="02020603050405020304" pitchFamily="18" charset="0"/>
                          <a:cs typeface="Times New Roman" panose="02020603050405020304" pitchFamily="18" charset="0"/>
                        </a:rPr>
                        <a:t>tàu</a:t>
                      </a:r>
                      <a:r>
                        <a:rPr lang="en-US" sz="1200" dirty="0" smtClean="0">
                          <a:latin typeface="Times New Roman" panose="02020603050405020304" pitchFamily="18" charset="0"/>
                          <a:cs typeface="Times New Roman" panose="02020603050405020304" pitchFamily="18" charset="0"/>
                        </a:rPr>
                        <a:t> bay </a:t>
                      </a:r>
                      <a:r>
                        <a:rPr lang="en-US" sz="1200" dirty="0" err="1" smtClean="0">
                          <a:latin typeface="Times New Roman" panose="02020603050405020304" pitchFamily="18" charset="0"/>
                          <a:cs typeface="Times New Roman" panose="02020603050405020304" pitchFamily="18" charset="0"/>
                        </a:rPr>
                        <a:t>hết</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hạn</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thuê</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tháng</a:t>
                      </a:r>
                      <a:r>
                        <a:rPr lang="en-US" sz="1200" dirty="0" smtClean="0">
                          <a:latin typeface="Times New Roman" panose="02020603050405020304" pitchFamily="18" charset="0"/>
                          <a:cs typeface="Times New Roman" panose="02020603050405020304" pitchFamily="18" charset="0"/>
                        </a:rPr>
                        <a:t> 06,07,10 </a:t>
                      </a:r>
                      <a:r>
                        <a:rPr lang="en-US" sz="1200" dirty="0" err="1" smtClean="0">
                          <a:latin typeface="Times New Roman" panose="02020603050405020304" pitchFamily="18" charset="0"/>
                          <a:cs typeface="Times New Roman" panose="02020603050405020304" pitchFamily="18" charset="0"/>
                        </a:rPr>
                        <a:t>năm</a:t>
                      </a:r>
                      <a:r>
                        <a:rPr lang="en-US" sz="1200" dirty="0" smtClean="0">
                          <a:latin typeface="Times New Roman" panose="02020603050405020304" pitchFamily="18" charset="0"/>
                          <a:cs typeface="Times New Roman" panose="02020603050405020304" pitchFamily="18" charset="0"/>
                        </a:rPr>
                        <a:t> 2025 </a:t>
                      </a:r>
                      <a:r>
                        <a:rPr lang="en-US" sz="1200" dirty="0" err="1" smtClean="0">
                          <a:latin typeface="Times New Roman" panose="02020603050405020304" pitchFamily="18" charset="0"/>
                          <a:cs typeface="Times New Roman" panose="02020603050405020304" pitchFamily="18" charset="0"/>
                        </a:rPr>
                        <a:t>cần</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gia</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hạn</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duy</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trì</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khai</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thác</a:t>
                      </a:r>
                      <a:r>
                        <a:rPr lang="en-US" sz="1200" dirty="0" smtClean="0">
                          <a:latin typeface="Times New Roman" panose="02020603050405020304" pitchFamily="18" charset="0"/>
                          <a:cs typeface="Times New Roman" panose="02020603050405020304" pitchFamily="18" charset="0"/>
                        </a:rPr>
                        <a:t> AOC </a:t>
                      </a:r>
                      <a:r>
                        <a:rPr lang="en-US" sz="1200" dirty="0" err="1" smtClean="0">
                          <a:latin typeface="Times New Roman" panose="02020603050405020304" pitchFamily="18" charset="0"/>
                          <a:cs typeface="Times New Roman" panose="02020603050405020304" pitchFamily="18" charset="0"/>
                        </a:rPr>
                        <a:t>cho</a:t>
                      </a:r>
                      <a:r>
                        <a:rPr lang="en-US" sz="1200" dirty="0" smtClean="0">
                          <a:latin typeface="Times New Roman" panose="02020603050405020304" pitchFamily="18" charset="0"/>
                          <a:cs typeface="Times New Roman" panose="02020603050405020304" pitchFamily="18" charset="0"/>
                        </a:rPr>
                        <a:t> PA</a:t>
                      </a:r>
                    </a:p>
                    <a:p>
                      <a:pPr marL="285750" lvl="0" indent="-285750" algn="just">
                        <a:buFontTx/>
                        <a:buChar char="-"/>
                      </a:pPr>
                      <a:r>
                        <a:rPr lang="en-US" sz="1200" dirty="0" smtClean="0">
                          <a:latin typeface="Times New Roman" panose="02020603050405020304" pitchFamily="18" charset="0"/>
                          <a:cs typeface="Times New Roman" panose="02020603050405020304" pitchFamily="18" charset="0"/>
                        </a:rPr>
                        <a:t>05 </a:t>
                      </a:r>
                      <a:r>
                        <a:rPr lang="en-US" sz="1200" dirty="0" err="1" smtClean="0">
                          <a:latin typeface="Times New Roman" panose="02020603050405020304" pitchFamily="18" charset="0"/>
                          <a:cs typeface="Times New Roman" panose="02020603050405020304" pitchFamily="18" charset="0"/>
                        </a:rPr>
                        <a:t>động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cơ</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có</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hạn</a:t>
                      </a:r>
                      <a:r>
                        <a:rPr lang="en-US" sz="1200" dirty="0" smtClean="0">
                          <a:latin typeface="Times New Roman" panose="02020603050405020304" pitchFamily="18" charset="0"/>
                          <a:cs typeface="Times New Roman" panose="02020603050405020304" pitchFamily="18" charset="0"/>
                        </a:rPr>
                        <a:t> SV </a:t>
                      </a:r>
                      <a:r>
                        <a:rPr lang="en-US" sz="1200" dirty="0" err="1" smtClean="0">
                          <a:latin typeface="Times New Roman" panose="02020603050405020304" pitchFamily="18" charset="0"/>
                          <a:cs typeface="Times New Roman" panose="02020603050405020304" pitchFamily="18" charset="0"/>
                        </a:rPr>
                        <a:t>trong</a:t>
                      </a:r>
                      <a:r>
                        <a:rPr lang="en-US" sz="1200" dirty="0" smtClean="0">
                          <a:latin typeface="Times New Roman" panose="02020603050405020304" pitchFamily="18" charset="0"/>
                          <a:cs typeface="Times New Roman" panose="02020603050405020304" pitchFamily="18" charset="0"/>
                        </a:rPr>
                        <a:t> 2025 </a:t>
                      </a:r>
                      <a:r>
                        <a:rPr lang="en-US" sz="1200" dirty="0" err="1" smtClean="0">
                          <a:latin typeface="Times New Roman" panose="02020603050405020304" pitchFamily="18" charset="0"/>
                          <a:cs typeface="Times New Roman" panose="02020603050405020304" pitchFamily="18" charset="0"/>
                        </a:rPr>
                        <a:t>cần</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thay</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động</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cơ</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khác</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của</a:t>
                      </a:r>
                      <a:r>
                        <a:rPr lang="en-US" sz="1200" dirty="0" smtClean="0">
                          <a:latin typeface="Times New Roman" panose="02020603050405020304" pitchFamily="18" charset="0"/>
                          <a:cs typeface="Times New Roman" panose="02020603050405020304" pitchFamily="18" charset="0"/>
                        </a:rPr>
                        <a:t> VNA </a:t>
                      </a:r>
                      <a:r>
                        <a:rPr lang="en-US" sz="1200" dirty="0" err="1" smtClean="0">
                          <a:latin typeface="Times New Roman" panose="02020603050405020304" pitchFamily="18" charset="0"/>
                          <a:cs typeface="Times New Roman" panose="02020603050405020304" pitchFamily="18" charset="0"/>
                        </a:rPr>
                        <a:t>nếu</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tiếp</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tục</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khai</a:t>
                      </a:r>
                      <a:r>
                        <a:rPr lang="en-US" sz="1200" dirty="0" smtClean="0">
                          <a:latin typeface="Times New Roman" panose="02020603050405020304" pitchFamily="18" charset="0"/>
                          <a:cs typeface="Times New Roman" panose="02020603050405020304" pitchFamily="18" charset="0"/>
                        </a:rPr>
                        <a:t> </a:t>
                      </a:r>
                      <a:r>
                        <a:rPr lang="en-US" sz="1200" dirty="0" err="1" smtClean="0">
                          <a:latin typeface="Times New Roman" panose="02020603050405020304" pitchFamily="18" charset="0"/>
                          <a:cs typeface="Times New Roman" panose="02020603050405020304" pitchFamily="18" charset="0"/>
                        </a:rPr>
                        <a:t>thác</a:t>
                      </a:r>
                      <a:endParaRPr lang="en-US" sz="12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bl>
          </a:graphicData>
        </a:graphic>
      </p:graphicFrame>
      <p:sp>
        <p:nvSpPr>
          <p:cNvPr id="5"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3532634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586155457"/>
              </p:ext>
            </p:extLst>
          </p:nvPr>
        </p:nvGraphicFramePr>
        <p:xfrm>
          <a:off x="156783" y="606960"/>
          <a:ext cx="11878434" cy="4498440"/>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753147">
                  <a:extLst>
                    <a:ext uri="{9D8B030D-6E8A-4147-A177-3AD203B41FA5}">
                      <a16:colId xmlns:a16="http://schemas.microsoft.com/office/drawing/2014/main" val="426833219"/>
                    </a:ext>
                  </a:extLst>
                </a:gridCol>
                <a:gridCol w="1519617">
                  <a:extLst>
                    <a:ext uri="{9D8B030D-6E8A-4147-A177-3AD203B41FA5}">
                      <a16:colId xmlns:a16="http://schemas.microsoft.com/office/drawing/2014/main" val="3649942957"/>
                    </a:ext>
                  </a:extLst>
                </a:gridCol>
              </a:tblGrid>
              <a:tr h="763685">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3734755">
                <a:tc>
                  <a:txBody>
                    <a:bodyPr/>
                    <a:lstStyle/>
                    <a:p>
                      <a:pPr algn="ctr" fontAlgn="b"/>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dirty="0" smtClean="0">
                          <a:latin typeface="Times New Roman" panose="02020603050405020304" pitchFamily="18" charset="0"/>
                          <a:cs typeface="Times New Roman" panose="02020603050405020304" pitchFamily="18" charset="0"/>
                        </a:rPr>
                        <a:t>03 TÀU BAY A321 CEO CHO PA THUÊ KHÔ</a:t>
                      </a:r>
                      <a:r>
                        <a:rPr lang="vi-VN" sz="1400" b="0" dirty="0" smtClean="0">
                          <a:latin typeface="+mn-lt"/>
                          <a:cs typeface="Times New Roman" panose="02020603050405020304" pitchFamily="18" charset="0"/>
                        </a:rPr>
                        <a:t> </a:t>
                      </a:r>
                      <a:r>
                        <a:rPr lang="en-US" sz="1400" b="0" dirty="0" smtClean="0">
                          <a:latin typeface="Times New Roman" panose="02020603050405020304" pitchFamily="18" charset="0"/>
                          <a:cs typeface="Times New Roman" panose="02020603050405020304" pitchFamily="18" charset="0"/>
                        </a:rPr>
                        <a:t>VN-A354, VN-A359 </a:t>
                      </a:r>
                      <a:r>
                        <a:rPr lang="en-US" sz="1400" b="0" dirty="0" err="1" smtClean="0">
                          <a:latin typeface="Times New Roman" panose="02020603050405020304" pitchFamily="18" charset="0"/>
                          <a:cs typeface="Times New Roman" panose="02020603050405020304" pitchFamily="18" charset="0"/>
                        </a:rPr>
                        <a:t>và</a:t>
                      </a:r>
                      <a:r>
                        <a:rPr lang="en-US" sz="1400" b="0" dirty="0" smtClean="0">
                          <a:latin typeface="Times New Roman" panose="02020603050405020304" pitchFamily="18" charset="0"/>
                          <a:cs typeface="Times New Roman" panose="02020603050405020304" pitchFamily="18" charset="0"/>
                        </a:rPr>
                        <a:t> VN-A363</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2700" lvl="0" algn="just">
                        <a:spcBef>
                          <a:spcPts val="1000"/>
                        </a:spcBef>
                        <a:buClr>
                          <a:schemeClr val="dk1"/>
                        </a:buClr>
                        <a:buSzPts val="1100"/>
                      </a:pPr>
                      <a:endParaRPr lang="en-US" sz="14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60325"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bl>
          </a:graphicData>
        </a:graphic>
      </p:graphicFrame>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extLst>
              <p:ext uri="{D42A27DB-BD31-4B8C-83A1-F6EECF244321}">
                <p14:modId xmlns:p14="http://schemas.microsoft.com/office/powerpoint/2010/main" val="3032293182"/>
              </p:ext>
            </p:extLst>
          </p:nvPr>
        </p:nvGraphicFramePr>
        <p:xfrm>
          <a:off x="1752600" y="1371599"/>
          <a:ext cx="8763000" cy="3733801"/>
        </p:xfrm>
        <a:graphic>
          <a:graphicData uri="http://schemas.openxmlformats.org/drawingml/2006/table">
            <a:tbl>
              <a:tblPr firstRow="1" firstCol="1" bandRow="1"/>
              <a:tblGrid>
                <a:gridCol w="538080">
                  <a:extLst>
                    <a:ext uri="{9D8B030D-6E8A-4147-A177-3AD203B41FA5}">
                      <a16:colId xmlns:a16="http://schemas.microsoft.com/office/drawing/2014/main" val="1531600724"/>
                    </a:ext>
                  </a:extLst>
                </a:gridCol>
                <a:gridCol w="936648">
                  <a:extLst>
                    <a:ext uri="{9D8B030D-6E8A-4147-A177-3AD203B41FA5}">
                      <a16:colId xmlns:a16="http://schemas.microsoft.com/office/drawing/2014/main" val="2778344331"/>
                    </a:ext>
                  </a:extLst>
                </a:gridCol>
                <a:gridCol w="944858">
                  <a:extLst>
                    <a:ext uri="{9D8B030D-6E8A-4147-A177-3AD203B41FA5}">
                      <a16:colId xmlns:a16="http://schemas.microsoft.com/office/drawing/2014/main" val="51065387"/>
                    </a:ext>
                  </a:extLst>
                </a:gridCol>
                <a:gridCol w="932996">
                  <a:extLst>
                    <a:ext uri="{9D8B030D-6E8A-4147-A177-3AD203B41FA5}">
                      <a16:colId xmlns:a16="http://schemas.microsoft.com/office/drawing/2014/main" val="783667054"/>
                    </a:ext>
                  </a:extLst>
                </a:gridCol>
                <a:gridCol w="798314">
                  <a:extLst>
                    <a:ext uri="{9D8B030D-6E8A-4147-A177-3AD203B41FA5}">
                      <a16:colId xmlns:a16="http://schemas.microsoft.com/office/drawing/2014/main" val="2213163783"/>
                    </a:ext>
                  </a:extLst>
                </a:gridCol>
                <a:gridCol w="1379998">
                  <a:extLst>
                    <a:ext uri="{9D8B030D-6E8A-4147-A177-3AD203B41FA5}">
                      <a16:colId xmlns:a16="http://schemas.microsoft.com/office/drawing/2014/main" val="3043656086"/>
                    </a:ext>
                  </a:extLst>
                </a:gridCol>
                <a:gridCol w="1420631">
                  <a:extLst>
                    <a:ext uri="{9D8B030D-6E8A-4147-A177-3AD203B41FA5}">
                      <a16:colId xmlns:a16="http://schemas.microsoft.com/office/drawing/2014/main" val="2131793250"/>
                    </a:ext>
                  </a:extLst>
                </a:gridCol>
                <a:gridCol w="1811475">
                  <a:extLst>
                    <a:ext uri="{9D8B030D-6E8A-4147-A177-3AD203B41FA5}">
                      <a16:colId xmlns:a16="http://schemas.microsoft.com/office/drawing/2014/main" val="1805902935"/>
                    </a:ext>
                  </a:extLst>
                </a:gridCol>
              </a:tblGrid>
              <a:tr h="977683">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endParaRPr lang="en-GB" sz="1300" b="0" kern="100" smtClean="0">
                        <a:solidFill>
                          <a:schemeClr val="tx1"/>
                        </a:solidFill>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smtClean="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ĐC lắp trên 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Lịch sửa chữa ĐC </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336300">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smtClean="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16/03-10/04/2025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V15894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16/10/2028</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48717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V11752</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05/03/2025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3377786"/>
                  </a:ext>
                </a:extLst>
              </a:tr>
              <a:tr h="336300">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V11694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10/04/2025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48717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V16049</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051290"/>
                  </a:ext>
                </a:extLst>
              </a:tr>
              <a:tr h="336300">
                <a:tc rowSpan="2">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V16563</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07/11/2025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r h="77286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V11696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20/10/2025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814873"/>
                  </a:ext>
                </a:extLst>
              </a:tr>
            </a:tbl>
          </a:graphicData>
        </a:graphic>
      </p:graphicFrame>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56783" y="11853"/>
            <a:ext cx="9312664" cy="508000"/>
          </a:xfrm>
        </p:spPr>
        <p:txBody>
          <a:bodyPr>
            <a:noAutofit/>
          </a:bodyPr>
          <a:lstStyle/>
          <a:p>
            <a:pPr eaLnBrk="1" hangingPunct="1"/>
            <a:r>
              <a:rPr lang="en-US" altLang="en-US" sz="29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28401213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806698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Q2-Q3/2025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a:solidFill>
                  <a:prstClr val="black"/>
                </a:solidFill>
                <a:latin typeface="Times New Roman" panose="02020603050405020304" pitchFamily="18" charset="0"/>
                <a:cs typeface="Times New Roman" panose="02020603050405020304" pitchFamily="18" charset="0"/>
              </a:rPr>
              <a:t>: </a:t>
            </a:r>
            <a:r>
              <a:rPr lang="vi-VN" sz="1333">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a:latin typeface="Times New Roman" panose="02020603050405020304" pitchFamily="18" charset="0"/>
                <a:cs typeface="Times New Roman" panose="02020603050405020304" pitchFamily="18" charset="0"/>
              </a:rPr>
              <a:t>ngoài KH do Vibration, Oil Leak…</a:t>
            </a:r>
            <a:endParaRPr lang="en-US" sz="1333">
              <a:latin typeface="Times New Roman" panose="02020603050405020304" pitchFamily="18" charset="0"/>
              <a:cs typeface="Times New Roman" panose="02020603050405020304" pitchFamily="18" charset="0"/>
            </a:endParaRPr>
          </a:p>
          <a:p>
            <a:pPr defTabSz="914377">
              <a:defRPr/>
            </a:pPr>
            <a:r>
              <a:rPr lang="en-US" sz="1333" b="1">
                <a:latin typeface="Times New Roman" panose="02020603050405020304" pitchFamily="18" charset="0"/>
                <a:cs typeface="Times New Roman" panose="02020603050405020304" pitchFamily="18" charset="0"/>
              </a:rPr>
              <a:t>*</a:t>
            </a:r>
            <a:r>
              <a:rPr lang="en-US" sz="1333" b="1" dirty="0">
                <a:latin typeface="Times New Roman" panose="02020603050405020304" pitchFamily="18" charset="0"/>
                <a:cs typeface="Times New Roman" panose="02020603050405020304" pitchFamily="18" charset="0"/>
              </a:rPr>
              <a:t>B787: </a:t>
            </a:r>
            <a:r>
              <a:rPr lang="en-US" sz="1333" dirty="0" err="1">
                <a:latin typeface="Times New Roman" panose="02020603050405020304" pitchFamily="18" charset="0"/>
                <a:cs typeface="Times New Roman" panose="02020603050405020304" pitchFamily="18" charset="0"/>
              </a:rPr>
              <a:t>Thực</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tế</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đã</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phải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bổ</a:t>
            </a:r>
            <a:r>
              <a:rPr lang="en-US" sz="1333" dirty="0">
                <a:latin typeface="Times New Roman" panose="02020603050405020304" pitchFamily="18" charset="0"/>
                <a:cs typeface="Times New Roman" panose="02020603050405020304" pitchFamily="18" charset="0"/>
              </a:rPr>
              <a:t> sung 01 ĐC </a:t>
            </a:r>
            <a:r>
              <a:rPr lang="en-US" sz="1333" dirty="0" err="1">
                <a:latin typeface="Times New Roman" panose="02020603050405020304" pitchFamily="18" charset="0"/>
                <a:cs typeface="Times New Roman" panose="02020603050405020304" pitchFamily="18" charset="0"/>
              </a:rPr>
              <a:t>vào</a:t>
            </a:r>
            <a:r>
              <a:rPr lang="en-US" sz="1333" dirty="0">
                <a:latin typeface="Times New Roman" panose="02020603050405020304" pitchFamily="18" charset="0"/>
                <a:cs typeface="Times New Roman" panose="02020603050405020304" pitchFamily="18" charset="0"/>
              </a:rPr>
              <a:t> T4/2025 </a:t>
            </a:r>
            <a:r>
              <a:rPr lang="en-US" sz="1333" dirty="0" err="1">
                <a:latin typeface="Times New Roman" panose="02020603050405020304" pitchFamily="18" charset="0"/>
                <a:cs typeface="Times New Roman" panose="02020603050405020304" pitchFamily="18" charset="0"/>
              </a:rPr>
              <a:t>để</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khai</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thác</a:t>
            </a:r>
            <a:r>
              <a:rPr lang="en-US" sz="1333" dirty="0">
                <a:latin typeface="Times New Roman" panose="02020603050405020304" pitchFamily="18" charset="0"/>
                <a:cs typeface="Times New Roman" panose="02020603050405020304" pitchFamily="18" charset="0"/>
              </a:rPr>
              <a:t> A868. </a:t>
            </a:r>
            <a:r>
              <a:rPr lang="en-US" sz="1333" dirty="0" err="1">
                <a:latin typeface="Times New Roman" panose="02020603050405020304" pitchFamily="18" charset="0"/>
                <a:cs typeface="Times New Roman" panose="02020603050405020304" pitchFamily="18" charset="0"/>
              </a:rPr>
              <a:t>Số</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lượng</a:t>
            </a:r>
            <a:r>
              <a:rPr lang="en-US" sz="1333" dirty="0">
                <a:latin typeface="Times New Roman" panose="02020603050405020304" pitchFamily="18" charset="0"/>
                <a:cs typeface="Times New Roman" panose="02020603050405020304" pitchFamily="18" charset="0"/>
              </a:rPr>
              <a:t> ĐCDP </a:t>
            </a:r>
            <a:r>
              <a:rPr lang="en-US" sz="1333" dirty="0" err="1">
                <a:latin typeface="Times New Roman" panose="02020603050405020304" pitchFamily="18" charset="0"/>
                <a:cs typeface="Times New Roman" panose="02020603050405020304" pitchFamily="18" charset="0"/>
              </a:rPr>
              <a:t>hiện</a:t>
            </a:r>
            <a:r>
              <a:rPr lang="en-US" sz="1333" dirty="0">
                <a:latin typeface="Times New Roman" panose="02020603050405020304" pitchFamily="18" charset="0"/>
                <a:cs typeface="Times New Roman" panose="02020603050405020304" pitchFamily="18" charset="0"/>
              </a:rPr>
              <a:t> </a:t>
            </a:r>
            <a:r>
              <a:rPr lang="en-US" sz="1333" dirty="0" err="1">
                <a:latin typeface="Times New Roman" panose="02020603050405020304" pitchFamily="18" charset="0"/>
                <a:cs typeface="Times New Roman" panose="02020603050405020304" pitchFamily="18" charset="0"/>
              </a:rPr>
              <a:t>tại</a:t>
            </a:r>
            <a:r>
              <a:rPr lang="en-US" sz="1333" dirty="0">
                <a:latin typeface="Times New Roman" panose="02020603050405020304" pitchFamily="18" charset="0"/>
                <a:cs typeface="Times New Roman" panose="02020603050405020304" pitchFamily="18" charset="0"/>
              </a:rPr>
              <a:t> 10 (ĐC </a:t>
            </a:r>
            <a:r>
              <a:rPr lang="en-US" sz="1333" dirty="0" err="1">
                <a:latin typeface="Times New Roman" panose="02020603050405020304" pitchFamily="18" charset="0"/>
                <a:cs typeface="Times New Roman" panose="02020603050405020304" pitchFamily="18" charset="0"/>
              </a:rPr>
              <a:t>thuê</a:t>
            </a:r>
            <a:r>
              <a:rPr lang="en-US" sz="1333" dirty="0">
                <a:latin typeface="Times New Roman" panose="02020603050405020304" pitchFamily="18" charset="0"/>
                <a:cs typeface="Times New Roman" panose="02020603050405020304" pitchFamily="18" charset="0"/>
              </a:rPr>
              <a:t> 06)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err="1">
                <a:solidFill>
                  <a:prstClr val="black"/>
                </a:solidFill>
                <a:latin typeface="Times New Roman" panose="02020603050405020304" pitchFamily="18" charset="0"/>
                <a:cs typeface="Times New Roman" panose="02020603050405020304" pitchFamily="18" charset="0"/>
              </a:rPr>
              <a:t>ro</a:t>
            </a:r>
            <a:r>
              <a:rPr lang="en-US" sz="1333">
                <a:solidFill>
                  <a:prstClr val="black"/>
                </a:solidFill>
                <a:latin typeface="Times New Roman" panose="02020603050405020304" pitchFamily="18" charset="0"/>
                <a:cs typeface="Times New Roman" panose="02020603050405020304" pitchFamily="18" charset="0"/>
              </a:rPr>
              <a:t> động cơ đi shop về muộn (rủi ro cao do RR th</a:t>
            </a:r>
            <a:r>
              <a:rPr lang="vi-VN" sz="1333">
                <a:solidFill>
                  <a:prstClr val="black"/>
                </a:solidFill>
                <a:latin typeface="Times New Roman" panose="02020603050405020304" pitchFamily="18" charset="0"/>
                <a:cs typeface="Times New Roman" panose="02020603050405020304" pitchFamily="18" charset="0"/>
              </a:rPr>
              <a:t>ư</a:t>
            </a:r>
            <a:r>
              <a:rPr lang="en-US" sz="1333">
                <a:solidFill>
                  <a:prstClr val="black"/>
                </a:solidFill>
                <a:latin typeface="Times New Roman" panose="02020603050405020304" pitchFamily="18" charset="0"/>
                <a:cs typeface="Times New Roman" panose="02020603050405020304" pitchFamily="18" charset="0"/>
              </a:rPr>
              <a:t>ờng xuyên extend TAT) tháo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A893), HPT Blade (2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100FC), IPC Blade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soi </a:t>
            </a:r>
            <a:r>
              <a:rPr lang="en-US" sz="1333" dirty="0" err="1">
                <a:solidFill>
                  <a:prstClr val="black"/>
                </a:solidFill>
                <a:latin typeface="Times New Roman" panose="02020603050405020304" pitchFamily="18" charset="0"/>
                <a:cs typeface="Times New Roman" panose="02020603050405020304" pitchFamily="18" charset="0"/>
              </a:rPr>
              <a:t>năm</a:t>
            </a:r>
            <a:r>
              <a:rPr lang="en-US" sz="1333" dirty="0">
                <a:solidFill>
                  <a:prstClr val="black"/>
                </a:solidFill>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2372908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26</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T4-T6/2025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425903"/>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a:latin typeface="Times New Roman" panose="02020603050405020304" pitchFamily="18" charset="0"/>
                <a:cs typeface="Times New Roman" panose="02020603050405020304" pitchFamily="18" charset="0"/>
              </a:rPr>
              <a:t>: </a:t>
            </a:r>
            <a:r>
              <a:rPr lang="vi-VN" sz="1200">
                <a:solidFill>
                  <a:prstClr val="black"/>
                </a:solidFill>
                <a:cs typeface="Times New Roman" panose="02020603050405020304" pitchFamily="18" charset="0"/>
              </a:rPr>
              <a:t>Rủi ro động cơ đi shop về muộn (thực tế đã bị shop delay nhiều lần) và rủi ro tháo động cơ </a:t>
            </a:r>
            <a:r>
              <a:rPr lang="vi-VN" sz="1200">
                <a:cs typeface="Times New Roman" panose="02020603050405020304" pitchFamily="18" charset="0"/>
              </a:rPr>
              <a:t>ngoài KH do Vibration, Oil Leak…</a:t>
            </a:r>
            <a:endParaRPr lang="en-US" sz="1200">
              <a:latin typeface="Times New Roman" panose="02020603050405020304" pitchFamily="18" charset="0"/>
              <a:cs typeface="Times New Roman" panose="02020603050405020304" pitchFamily="18" charset="0"/>
            </a:endParaRPr>
          </a:p>
          <a:p>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phải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bổ</a:t>
            </a:r>
            <a:r>
              <a:rPr lang="en-US" sz="1200" dirty="0">
                <a:latin typeface="Times New Roman" panose="02020603050405020304" pitchFamily="18" charset="0"/>
                <a:cs typeface="Times New Roman" panose="02020603050405020304" pitchFamily="18" charset="0"/>
              </a:rPr>
              <a:t> sung 01 ĐC </a:t>
            </a:r>
            <a:r>
              <a:rPr lang="en-US" sz="1200" dirty="0" err="1">
                <a:latin typeface="Times New Roman" panose="02020603050405020304" pitchFamily="18" charset="0"/>
                <a:cs typeface="Times New Roman" panose="02020603050405020304" pitchFamily="18" charset="0"/>
              </a:rPr>
              <a:t>vào</a:t>
            </a:r>
            <a:r>
              <a:rPr lang="en-US" sz="1200" dirty="0">
                <a:latin typeface="Times New Roman" panose="02020603050405020304" pitchFamily="18" charset="0"/>
                <a:cs typeface="Times New Roman" panose="02020603050405020304" pitchFamily="18" charset="0"/>
              </a:rPr>
              <a:t> T4/2025 </a:t>
            </a:r>
            <a:r>
              <a:rPr lang="en-US" sz="1200" dirty="0" err="1">
                <a:latin typeface="Times New Roman" panose="02020603050405020304" pitchFamily="18" charset="0"/>
                <a:cs typeface="Times New Roman" panose="02020603050405020304" pitchFamily="18" charset="0"/>
              </a:rPr>
              <a:t>để</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khai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thác</a:t>
            </a:r>
            <a:r>
              <a:rPr lang="en-US" sz="1200" dirty="0">
                <a:latin typeface="Times New Roman" panose="02020603050405020304" pitchFamily="18" charset="0"/>
                <a:cs typeface="Times New Roman" panose="02020603050405020304" pitchFamily="18" charset="0"/>
              </a:rPr>
              <a:t> A868. </a:t>
            </a:r>
            <a:r>
              <a:rPr lang="en-US" sz="1200" dirty="0" err="1">
                <a:latin typeface="Times New Roman" panose="02020603050405020304" pitchFamily="18" charset="0"/>
                <a:cs typeface="Times New Roman" panose="02020603050405020304" pitchFamily="18" charset="0"/>
              </a:rPr>
              <a:t>Số</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lượng</a:t>
            </a:r>
            <a:r>
              <a:rPr lang="en-US" sz="1200" dirty="0">
                <a:latin typeface="Times New Roman" panose="02020603050405020304" pitchFamily="18" charset="0"/>
                <a:cs typeface="Times New Roman" panose="02020603050405020304" pitchFamily="18" charset="0"/>
              </a:rPr>
              <a:t> ĐCDP </a:t>
            </a:r>
            <a:r>
              <a:rPr lang="en-US" sz="1200" dirty="0" err="1">
                <a:latin typeface="Times New Roman" panose="02020603050405020304" pitchFamily="18" charset="0"/>
                <a:cs typeface="Times New Roman" panose="02020603050405020304" pitchFamily="18" charset="0"/>
              </a:rPr>
              <a:t>hiện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tại</a:t>
            </a:r>
            <a:r>
              <a:rPr lang="en-US" sz="1200" dirty="0">
                <a:latin typeface="Times New Roman" panose="02020603050405020304" pitchFamily="18" charset="0"/>
                <a:cs typeface="Times New Roman" panose="02020603050405020304" pitchFamily="18" charset="0"/>
              </a:rPr>
              <a:t> 10 (ĐC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06)</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a:latin typeface="Times New Roman" panose="02020603050405020304" pitchFamily="18" charset="0"/>
                <a:cs typeface="Times New Roman" panose="02020603050405020304" pitchFamily="18" charset="0"/>
              </a:rPr>
              <a:t>: </a:t>
            </a:r>
            <a:r>
              <a:rPr lang="en-US" sz="1200">
                <a:solidFill>
                  <a:prstClr val="black"/>
                </a:solidFill>
                <a:latin typeface="Times New Roman" panose="02020603050405020304" pitchFamily="18" charset="0"/>
                <a:cs typeface="Times New Roman" panose="02020603050405020304" pitchFamily="18" charset="0"/>
              </a:rPr>
              <a:t>Rủi ro động cơ đi shop về muộn (rủi ro cao do RR th</a:t>
            </a:r>
            <a:r>
              <a:rPr lang="vi-VN" sz="1200">
                <a:solidFill>
                  <a:prstClr val="black"/>
                </a:solidFill>
                <a:cs typeface="Times New Roman" panose="02020603050405020304" pitchFamily="18" charset="0"/>
              </a:rPr>
              <a:t>ư</a:t>
            </a:r>
            <a:r>
              <a:rPr lang="en-US" sz="1200">
                <a:solidFill>
                  <a:prstClr val="black"/>
                </a:solidFill>
                <a:latin typeface="Times New Roman" panose="02020603050405020304" pitchFamily="18" charset="0"/>
                <a:cs typeface="Times New Roman" panose="02020603050405020304" pitchFamily="18" charset="0"/>
              </a:rPr>
              <a:t>ờng xuyên extend TAT) tháo động c</a:t>
            </a:r>
            <a:r>
              <a:rPr lang="vi-VN" sz="1200">
                <a:solidFill>
                  <a:prstClr val="black"/>
                </a:solidFill>
                <a:cs typeface="Times New Roman" panose="02020603050405020304" pitchFamily="18" charset="0"/>
              </a:rPr>
              <a:t>ơ</a:t>
            </a:r>
            <a:r>
              <a:rPr lang="en-US" sz="1200">
                <a:solidFill>
                  <a:prstClr val="black"/>
                </a:solidFill>
                <a:latin typeface="Times New Roman" panose="02020603050405020304" pitchFamily="18" charset="0"/>
                <a:cs typeface="Times New Roman" panose="02020603050405020304" pitchFamily="18" charset="0"/>
              </a:rPr>
              <a:t> ngoài KH do High oil consumption (động cơ A893), HPT Blade (2 động cơ 100FC), IPC Blade (3 động cơ cần soi năm 2025) </a:t>
            </a:r>
          </a:p>
          <a:p>
            <a:pPr marL="0" lvl="1"/>
            <a:r>
              <a:rPr lang="en-US" sz="1200" b="1">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3421558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graphicFrame>
        <p:nvGraphicFramePr>
          <p:cNvPr id="3" name="Chart 2">
            <a:extLst>
              <a:ext uri="{FF2B5EF4-FFF2-40B4-BE49-F238E27FC236}">
                <a16:creationId xmlns:a16="http://schemas.microsoft.com/office/drawing/2014/main" id="{B6D2BFDC-B8A6-1C6A-1378-381323CC21AE}"/>
              </a:ext>
            </a:extLst>
          </p:cNvPr>
          <p:cNvGraphicFramePr>
            <a:graphicFrameLocks/>
          </p:cNvGraphicFramePr>
          <p:nvPr/>
        </p:nvGraphicFramePr>
        <p:xfrm>
          <a:off x="232458" y="914400"/>
          <a:ext cx="11811000" cy="5638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1">
            <a:extLst>
              <a:ext uri="{FF2B5EF4-FFF2-40B4-BE49-F238E27FC236}">
                <a16:creationId xmlns:a16="http://schemas.microsoft.com/office/drawing/2014/main" id="{DBA8147F-0EF8-415E-A7D8-99D0ECD639ED}"/>
              </a:ext>
            </a:extLst>
          </p:cNvPr>
          <p:cNvSpPr txBox="1"/>
          <p:nvPr/>
        </p:nvSpPr>
        <p:spPr>
          <a:xfrm>
            <a:off x="914400" y="4114800"/>
            <a:ext cx="3505182" cy="1323439"/>
          </a:xfrm>
          <a:prstGeom prst="rect">
            <a:avLst/>
          </a:prstGeom>
          <a:solidFill>
            <a:srgbClr val="FFFFCC"/>
          </a:solidFill>
          <a:ln>
            <a:solidFill>
              <a:srgbClr val="FFC000"/>
            </a:solidFill>
          </a:ln>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000" b="1">
                <a:solidFill>
                  <a:srgbClr val="FF0000"/>
                </a:solidFill>
                <a:latin typeface="+mj-lt"/>
              </a:rPr>
              <a:t>Update thay đổi:</a:t>
            </a:r>
          </a:p>
          <a:p>
            <a:pPr marL="171450" indent="-171450">
              <a:buFontTx/>
              <a:buChar char="-"/>
            </a:pPr>
            <a:r>
              <a:rPr lang="en-US" sz="1000" b="1">
                <a:solidFill>
                  <a:schemeClr val="tx1"/>
                </a:solidFill>
                <a:latin typeface="+mj-lt"/>
              </a:rPr>
              <a:t>Update 20/04: </a:t>
            </a:r>
            <a:r>
              <a:rPr lang="en-US" sz="1000">
                <a:solidFill>
                  <a:schemeClr val="tx1"/>
                </a:solidFill>
                <a:latin typeface="+mj-lt"/>
              </a:rPr>
              <a:t>A621 phải thay động </a:t>
            </a:r>
            <a:r>
              <a:rPr lang="en-US" sz="1000">
                <a:latin typeface="+mj-lt"/>
              </a:rPr>
              <a:t>dẫn đến</a:t>
            </a:r>
            <a:r>
              <a:rPr lang="en-US" sz="1000">
                <a:solidFill>
                  <a:schemeClr val="tx1"/>
                </a:solidFill>
                <a:latin typeface="+mj-lt"/>
              </a:rPr>
              <a:t> tăng 0,5 AOG vào T5, 7 &amp; 8 (thiếu 1 động c</a:t>
            </a:r>
            <a:r>
              <a:rPr lang="vi-VN" sz="1000">
                <a:solidFill>
                  <a:schemeClr val="tx1"/>
                </a:solidFill>
                <a:latin typeface="+mj-lt"/>
              </a:rPr>
              <a:t>ơ</a:t>
            </a:r>
            <a:r>
              <a:rPr lang="en-US" sz="1000">
                <a:solidFill>
                  <a:schemeClr val="tx1"/>
                </a:solidFill>
                <a:latin typeface="+mj-lt"/>
              </a:rPr>
              <a:t> và ảnh h</a:t>
            </a:r>
            <a:r>
              <a:rPr lang="vi-VN" sz="1000">
                <a:solidFill>
                  <a:schemeClr val="tx1"/>
                </a:solidFill>
                <a:latin typeface="+mj-lt"/>
              </a:rPr>
              <a:t>ư</a:t>
            </a:r>
            <a:r>
              <a:rPr lang="en-US" sz="1000">
                <a:latin typeface="+mj-lt"/>
              </a:rPr>
              <a:t>ởng đến giữ giờ). Cần tính toán sắp xếp lại KH stagger để tối </a:t>
            </a:r>
            <a:r>
              <a:rPr lang="vi-VN" sz="1000">
                <a:latin typeface="+mj-lt"/>
              </a:rPr>
              <a:t>ư</a:t>
            </a:r>
            <a:r>
              <a:rPr lang="en-US" sz="1000">
                <a:latin typeface="+mj-lt"/>
              </a:rPr>
              <a:t>u số tàu dừng.</a:t>
            </a:r>
          </a:p>
          <a:p>
            <a:pPr marL="171450" indent="-171450">
              <a:buFontTx/>
              <a:buChar char="-"/>
            </a:pPr>
            <a:r>
              <a:rPr lang="en-US" sz="1000" b="1">
                <a:solidFill>
                  <a:schemeClr val="tx1"/>
                </a:solidFill>
                <a:latin typeface="+mj-lt"/>
              </a:rPr>
              <a:t>Update 27/04: </a:t>
            </a:r>
            <a:r>
              <a:rPr lang="en-US" sz="1000">
                <a:latin typeface="+mj-lt"/>
              </a:rPr>
              <a:t>Tính thêm 1 động c</a:t>
            </a:r>
            <a:r>
              <a:rPr lang="vi-VN" sz="1000">
                <a:latin typeface="+mj-lt"/>
              </a:rPr>
              <a:t>ơ</a:t>
            </a:r>
            <a:r>
              <a:rPr lang="en-US" sz="1000">
                <a:latin typeface="+mj-lt"/>
              </a:rPr>
              <a:t> thuê của PWEL từ đầu T6, giúp T6, T7, T8, T10 giảm 0.5 AOG.</a:t>
            </a:r>
          </a:p>
          <a:p>
            <a:pPr marL="171450" indent="-171450">
              <a:buFontTx/>
              <a:buChar char="-"/>
            </a:pPr>
            <a:r>
              <a:rPr lang="en-US" sz="1000" b="1">
                <a:latin typeface="+mj-lt"/>
              </a:rPr>
              <a:t>Update 04/05: </a:t>
            </a:r>
            <a:r>
              <a:rPr lang="en-US" sz="1000">
                <a:latin typeface="+mj-lt"/>
              </a:rPr>
              <a:t>Hai động c</a:t>
            </a:r>
            <a:r>
              <a:rPr lang="vi-VN" sz="1000">
                <a:latin typeface="+mj-lt"/>
              </a:rPr>
              <a:t>ơ</a:t>
            </a:r>
            <a:r>
              <a:rPr lang="en-US" sz="1000">
                <a:latin typeface="+mj-lt"/>
              </a:rPr>
              <a:t> đi shop về muộn làm A616 RTS đầu T5 thay vì cuối T4. </a:t>
            </a:r>
          </a:p>
        </p:txBody>
      </p:sp>
    </p:spTree>
    <p:extLst>
      <p:ext uri="{BB962C8B-B14F-4D97-AF65-F5344CB8AC3E}">
        <p14:creationId xmlns:p14="http://schemas.microsoft.com/office/powerpoint/2010/main" val="1082691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206840"/>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86855">
                  <a:extLst>
                    <a:ext uri="{9D8B030D-6E8A-4147-A177-3AD203B41FA5}">
                      <a16:colId xmlns:a16="http://schemas.microsoft.com/office/drawing/2014/main" val="3845954792"/>
                    </a:ext>
                  </a:extLst>
                </a:gridCol>
                <a:gridCol w="1170104">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57768">
                  <a:extLst>
                    <a:ext uri="{9D8B030D-6E8A-4147-A177-3AD203B41FA5}">
                      <a16:colId xmlns:a16="http://schemas.microsoft.com/office/drawing/2014/main" val="3807119371"/>
                    </a:ext>
                  </a:extLst>
                </a:gridCol>
                <a:gridCol w="3571340">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10/05/2025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A501</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Heavy PV</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552379">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28/04/2025</a:t>
                      </a:r>
                      <a:endParaRPr lang="en-GB" sz="1100" dirty="0">
                        <a:solidFill>
                          <a:schemeClr val="tx1"/>
                        </a:solidFill>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Times New Roman" panose="02020603050405020304" pitchFamily="18" charset="0"/>
                          <a:cs typeface="Times New Roman" panose="02020603050405020304" pitchFamily="18" charset="0"/>
                        </a:rPr>
                        <a:t>Delay 6 ngày do transportation.</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30/04/2025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Times New Roman" panose="02020603050405020304" pitchFamily="18" charset="0"/>
                          <a:cs typeface="Times New Roman" panose="02020603050405020304" pitchFamily="18" charset="0"/>
                        </a:rPr>
                        <a:t>Delay 3 ngày do transportation</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A625</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Light PV</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23/05/2025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A625</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Light PV</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 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P771423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15/04/2025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09/07/2025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QT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692465008"/>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P771079</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16/05/2025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22/12/2025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WSC FIV</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4518812"/>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6878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T4-T6/25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54061" y="912983"/>
          <a:ext cx="11864421" cy="5829436"/>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47638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11773">
                <a:tc>
                  <a:txBody>
                    <a:bodyPr/>
                    <a:lstStyle/>
                    <a:p>
                      <a:pPr algn="ctr"/>
                      <a:r>
                        <a:rPr lang="en-US" sz="1200">
                          <a:solidFill>
                            <a:schemeClr val="tx1"/>
                          </a:solidFill>
                          <a:latin typeface="Times New Roman" panose="02020603050405020304" pitchFamily="18" charset="0"/>
                          <a:cs typeface="Times New Roman" panose="02020603050405020304" pitchFamily="18" charset="0"/>
                        </a:rPr>
                        <a:t>1</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P770904</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28-Apr-25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sym typeface="Arial"/>
                        </a:rPr>
                        <a:t>P77</a:t>
                      </a:r>
                      <a:r>
                        <a:rPr lang="en-US" sz="1200" b="0" i="0" u="none" strike="noStrike" kern="1200">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29-Apr-25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200" b="0" i="0" u="none" strike="noStrike" kern="1200" noProof="0">
                          <a:solidFill>
                            <a:schemeClr val="tx1"/>
                          </a:solidFill>
                          <a:effectLst/>
                          <a:latin typeface="Calibri" panose="020F0502020204030204" pitchFamily="34" charset="0"/>
                          <a:ea typeface="+mn-ea"/>
                          <a:cs typeface="+mn-cs"/>
                          <a:sym typeface="Arial"/>
                        </a:rPr>
                        <a:t>ENG </a:t>
                      </a:r>
                      <a:r>
                        <a:rPr lang="en-US" sz="1200" b="0" i="0" u="none" strike="noStrike" kern="1200" noProof="0">
                          <a:solidFill>
                            <a:schemeClr val="tx1"/>
                          </a:solidFill>
                          <a:effectLst/>
                          <a:latin typeface="Calibri" panose="020F0502020204030204" pitchFamily="34" charset="0"/>
                          <a:ea typeface="+mn-ea"/>
                          <a:cs typeface="+mn-cs"/>
                          <a:sym typeface="Arial"/>
                        </a:rPr>
                        <a:t>INSTALL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411773">
                <a:tc>
                  <a:txBody>
                    <a:bodyPr/>
                    <a:lstStyle/>
                    <a:p>
                      <a:pPr algn="ctr"/>
                      <a:r>
                        <a:rPr lang="en-US" sz="1200" dirty="0">
                          <a:solidFill>
                            <a:schemeClr val="tx1"/>
                          </a:solidFill>
                          <a:latin typeface="Times New Roman" panose="02020603050405020304" pitchFamily="18" charset="0"/>
                          <a:cs typeface="Times New Roman" panose="02020603050405020304" pitchFamily="18" charset="0"/>
                        </a:rPr>
                        <a:t>3</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P771079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P771177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A617#1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16-Apr-25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6778683"/>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P770910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A621#1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22-Apr-25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UER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08730"/>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P770903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Calibri" panose="020F0502020204030204" pitchFamily="34" charset="0"/>
                          <a:ea typeface="+mn-ea"/>
                          <a:cs typeface="+mn-cs"/>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10-May-25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12-May-25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Giữ giờ</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0136682"/>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P772905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21-Apr-25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23-May-25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868498"/>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7</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sym typeface="Arial"/>
                        </a:rPr>
                        <a:t>P771077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23-May-25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2485768"/>
                  </a:ext>
                </a:extLst>
              </a:tr>
              <a:tr h="411773">
                <a:tc>
                  <a:txBody>
                    <a:bodyPr/>
                    <a:lstStyle/>
                    <a:p>
                      <a:pPr algn="ctr"/>
                      <a:r>
                        <a:rPr lang="en-GB" sz="12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P771110</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 9</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chemeClr val="tx1"/>
                          </a:solidFill>
                          <a:effectLst/>
                          <a:latin typeface="Calibri" panose="020F0502020204030204" pitchFamily="34" charset="0"/>
                          <a:ea typeface="+mn-ea"/>
                          <a:cs typeface="+mn-cs"/>
                        </a:rPr>
                        <a:t>P771131</a:t>
                      </a:r>
                      <a:endParaRPr lang="en-US" sz="1200" b="0" i="0" u="none" strike="noStrike" kern="1200">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kern="1200">
                          <a:solidFill>
                            <a:schemeClr val="tx1"/>
                          </a:solidFill>
                          <a:effectLst/>
                          <a:latin typeface="Calibri" panose="020F0502020204030204" pitchFamily="34" charset="0"/>
                          <a:ea typeface="+mn-ea"/>
                          <a:cs typeface="+mn-cs"/>
                        </a:rPr>
                        <a:t>A623#2</a:t>
                      </a: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chemeClr val="tx1"/>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24-Apr-25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10</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P771463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P771391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5-May-25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25-May-25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a:t>
                      </a:r>
                      <a:r>
                        <a:rPr lang="en-GB" sz="1200" dirty="0">
                          <a:solidFill>
                            <a:schemeClr val="tx1"/>
                          </a:solidFill>
                          <a:latin typeface="Times New Roman" panose="02020603050405020304" pitchFamily="18" charset="0"/>
                          <a:cs typeface="Times New Roman" panose="02020603050405020304" pitchFamily="18" charset="0"/>
                        </a:rPr>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P771119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P771387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10-May-25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26-May-25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noProof="0">
                          <a:solidFill>
                            <a:schemeClr val="tx1"/>
                          </a:solidFill>
                          <a:effectLst/>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12</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P771175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5-Jun-25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7-Jun-25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1114306"/>
                  </a:ext>
                </a:extLst>
              </a:tr>
              <a:tr h="411773">
                <a:tc>
                  <a:txBody>
                    <a:bodyPr/>
                    <a:lstStyle/>
                    <a:p>
                      <a:pPr algn="ctr"/>
                      <a:r>
                        <a:rPr lang="en-GB" sz="1200">
                          <a:solidFill>
                            <a:schemeClr val="tx1"/>
                          </a:solidFill>
                          <a:latin typeface="Times New Roman" panose="02020603050405020304" pitchFamily="18" charset="0"/>
                          <a:cs typeface="Times New Roman" panose="02020603050405020304" pitchFamily="18" charset="0"/>
                        </a:rPr>
                        <a:t>13</a:t>
                      </a:r>
                      <a:endParaRPr lang="en-GB" sz="12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P771687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Lease Engine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10-Jun-25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12-Jun-25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 to RTS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682958"/>
                  </a:ext>
                </a:extLst>
              </a:tr>
            </a:tbl>
          </a:graphicData>
        </a:graphic>
      </p:graphicFrame>
    </p:spTree>
    <p:extLst>
      <p:ext uri="{BB962C8B-B14F-4D97-AF65-F5344CB8AC3E}">
        <p14:creationId xmlns:p14="http://schemas.microsoft.com/office/powerpoint/2010/main" val="786017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30</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02/05/2025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06/05/2025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09/05)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13/05/2025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25/05/2025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22/05)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11/06/2025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17/06/2025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24/06/2025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17/06)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14/05/2025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30/04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09-11/05/2025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27-29/05/2025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25-27/06/2025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08-10/08/2025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648756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6760941"/>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210619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31</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31</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6"/>
          <a:ext cx="5855025" cy="348855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92537"/>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a:solidFill>
                  <a:srgbClr val="ED0000"/>
                </a:solidFill>
                <a:latin typeface="Times New Roman" panose="02020603050405020304" pitchFamily="18" charset="0"/>
                <a:cs typeface="Times New Roman" panose="02020603050405020304" pitchFamily="18" charset="0"/>
              </a:rPr>
              <a:t>956533 </a:t>
            </a:r>
            <a:r>
              <a:rPr lang="en-US" sz="1467" dirty="0" err="1">
                <a:solidFill>
                  <a:srgbClr val="ED0000"/>
                </a:solidFill>
                <a:latin typeface="Times New Roman" panose="02020603050405020304" pitchFamily="18" charset="0"/>
                <a:cs typeface="Times New Roman" panose="02020603050405020304" pitchFamily="18" charset="0"/>
              </a:rPr>
              <a:t>dự</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kiến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nhận</a:t>
            </a:r>
            <a:r>
              <a:rPr lang="en-US" sz="1467" dirty="0">
                <a:solidFill>
                  <a:srgbClr val="ED0000"/>
                </a:solidFill>
                <a:latin typeface="Times New Roman" panose="02020603050405020304" pitchFamily="18" charset="0"/>
                <a:cs typeface="Times New Roman" panose="02020603050405020304" pitchFamily="18" charset="0"/>
              </a:rPr>
              <a:t> ở VN </a:t>
            </a:r>
            <a:r>
              <a:rPr lang="en-US" sz="1467" dirty="0" err="1">
                <a:solidFill>
                  <a:srgbClr val="ED0000"/>
                </a:solidFill>
                <a:latin typeface="Times New Roman" panose="02020603050405020304" pitchFamily="18" charset="0"/>
                <a:cs typeface="Times New Roman" panose="02020603050405020304" pitchFamily="18" charset="0"/>
              </a:rPr>
              <a:t>từ</a:t>
            </a:r>
            <a:r>
              <a:rPr lang="en-US" sz="1467" dirty="0">
                <a:solidFill>
                  <a:srgbClr val="ED0000"/>
                </a:solidFill>
                <a:latin typeface="Times New Roman" panose="02020603050405020304" pitchFamily="18" charset="0"/>
                <a:cs typeface="Times New Roman" panose="02020603050405020304" pitchFamily="18" charset="0"/>
              </a:rPr>
              <a:t> 09/05 (</a:t>
            </a:r>
            <a:r>
              <a:rPr lang="en-US" sz="1467" dirty="0" err="1">
                <a:solidFill>
                  <a:srgbClr val="ED0000"/>
                </a:solidFill>
                <a:latin typeface="Times New Roman" panose="02020603050405020304" pitchFamily="18" charset="0"/>
                <a:cs typeface="Times New Roman" panose="02020603050405020304" pitchFamily="18" charset="0"/>
              </a:rPr>
              <a:t>Bị</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chậm</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vận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chuyển</a:t>
            </a:r>
            <a:r>
              <a:rPr lang="en-US" sz="1467" dirty="0">
                <a:solidFill>
                  <a:srgbClr val="ED0000"/>
                </a:solidFill>
                <a:latin typeface="Times New Roman" panose="02020603050405020304" pitchFamily="18" charset="0"/>
                <a:cs typeface="Times New Roman" panose="02020603050405020304" pitchFamily="18" charset="0"/>
              </a:rPr>
              <a:t> do </a:t>
            </a:r>
            <a:r>
              <a:rPr lang="en-US" sz="1467" dirty="0" err="1">
                <a:solidFill>
                  <a:srgbClr val="ED0000"/>
                </a:solidFill>
                <a:latin typeface="Times New Roman" panose="02020603050405020304" pitchFamily="18" charset="0"/>
                <a:cs typeface="Times New Roman" panose="02020603050405020304" pitchFamily="18" charset="0"/>
              </a:rPr>
              <a:t>chảy</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dầu</a:t>
            </a:r>
            <a:r>
              <a:rPr lang="en-US" sz="1467" dirty="0">
                <a:solidFill>
                  <a:srgbClr val="ED0000"/>
                </a:solidFill>
                <a:latin typeface="Times New Roman" panose="02020603050405020304" pitchFamily="18" charset="0"/>
                <a:cs typeface="Times New Roman" panose="02020603050405020304" pitchFamily="18" charset="0"/>
              </a:rPr>
              <a:t> – KLM </a:t>
            </a:r>
            <a:r>
              <a:rPr lang="en-US" sz="1467" dirty="0" err="1">
                <a:solidFill>
                  <a:srgbClr val="ED0000"/>
                </a:solidFill>
                <a:latin typeface="Times New Roman" panose="02020603050405020304" pitchFamily="18" charset="0"/>
                <a:cs typeface="Times New Roman" panose="02020603050405020304" pitchFamily="18" charset="0"/>
              </a:rPr>
              <a:t>báo</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là</a:t>
            </a:r>
            <a:r>
              <a:rPr lang="en-US" sz="1467" dirty="0">
                <a:solidFill>
                  <a:srgbClr val="ED0000"/>
                </a:solidFill>
                <a:latin typeface="Times New Roman" panose="02020603050405020304" pitchFamily="18" charset="0"/>
                <a:cs typeface="Times New Roman" panose="02020603050405020304" pitchFamily="18" charset="0"/>
              </a:rPr>
              <a:t> oil </a:t>
            </a:r>
            <a:r>
              <a:rPr lang="en-US" sz="1467" dirty="0" err="1">
                <a:solidFill>
                  <a:srgbClr val="ED0000"/>
                </a:solidFill>
                <a:latin typeface="Times New Roman" panose="02020603050405020304" pitchFamily="18" charset="0"/>
                <a:cs typeface="Times New Roman" panose="02020603050405020304" pitchFamily="18" charset="0"/>
              </a:rPr>
              <a:t>còn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lại</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sau</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bảo</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quản</a:t>
            </a:r>
            <a:r>
              <a:rPr lang="en-US" sz="1467" dirty="0">
                <a:solidFill>
                  <a:srgbClr val="ED0000"/>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vi-VN" sz="1467" b="1" dirty="0">
                <a:solidFill>
                  <a:srgbClr val="ED0000"/>
                </a:solidFill>
                <a:latin typeface="Times New Roman" panose="02020603050405020304" pitchFamily="18" charset="0"/>
                <a:cs typeface="Times New Roman" panose="02020603050405020304" pitchFamily="18" charset="0"/>
              </a:rPr>
              <a:t>Remove in </a:t>
            </a:r>
            <a:r>
              <a:rPr lang="en-US" sz="1467" b="1" dirty="0">
                <a:solidFill>
                  <a:srgbClr val="ED0000"/>
                </a:solidFill>
                <a:latin typeface="Times New Roman" panose="02020603050405020304" pitchFamily="18" charset="0"/>
                <a:cs typeface="Times New Roman" panose="02020603050405020304" pitchFamily="18" charset="0"/>
              </a:rPr>
              <a:t>25</a:t>
            </a:r>
            <a:r>
              <a:rPr lang="vi-VN" sz="1467" b="1" dirty="0">
                <a:solidFill>
                  <a:srgbClr val="ED0000"/>
                </a:solidFill>
                <a:latin typeface="Times New Roman" panose="02020603050405020304" pitchFamily="18" charset="0"/>
                <a:cs typeface="Times New Roman" panose="02020603050405020304" pitchFamily="18" charset="0"/>
              </a:rPr>
              <a:t> cyc</a:t>
            </a:r>
            <a:r>
              <a:rPr lang="en-US" sz="1467" b="1" dirty="0">
                <a:solidFill>
                  <a:srgbClr val="ED0000"/>
                </a:solidFill>
                <a:latin typeface="Times New Roman" panose="02020603050405020304" pitchFamily="18" charset="0"/>
                <a:cs typeface="Times New Roman" panose="02020603050405020304" pitchFamily="18" charset="0"/>
              </a:rPr>
              <a:t>: </a:t>
            </a:r>
            <a:r>
              <a:rPr lang="vi-VN" sz="1467" b="1" dirty="0">
                <a:solidFill>
                  <a:srgbClr val="ED0000"/>
                </a:solidFill>
                <a:latin typeface="Times New Roman" panose="02020603050405020304" pitchFamily="18" charset="0"/>
                <a:cs typeface="Times New Roman" panose="02020603050405020304" pitchFamily="18" charset="0"/>
              </a:rPr>
              <a:t>956913 (A871)</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vừa</a:t>
            </a:r>
            <a:r>
              <a:rPr lang="en-US" sz="1467" b="1" dirty="0">
                <a:solidFill>
                  <a:srgbClr val="ED0000"/>
                </a:solidFill>
                <a:latin typeface="Times New Roman" panose="02020603050405020304" pitchFamily="18" charset="0"/>
                <a:cs typeface="Times New Roman" panose="02020603050405020304" pitchFamily="18" charset="0"/>
              </a:rPr>
              <a:t> soi </a:t>
            </a:r>
            <a:r>
              <a:rPr lang="en-US" sz="1467" b="1" dirty="0" err="1">
                <a:solidFill>
                  <a:srgbClr val="ED0000"/>
                </a:solidFill>
                <a:latin typeface="Times New Roman" panose="02020603050405020304" pitchFamily="18" charset="0"/>
                <a:cs typeface="Times New Roman" panose="02020603050405020304" pitchFamily="18" charset="0"/>
              </a:rPr>
              <a:t>ngày</a:t>
            </a:r>
            <a:r>
              <a:rPr lang="en-US" sz="1467" b="1" dirty="0">
                <a:solidFill>
                  <a:srgbClr val="ED0000"/>
                </a:solidFill>
                <a:latin typeface="Times New Roman" panose="02020603050405020304" pitchFamily="18" charset="0"/>
                <a:cs typeface="Times New Roman" panose="02020603050405020304" pitchFamily="18" charset="0"/>
              </a:rPr>
              <a:t> 26/04 </a:t>
            </a:r>
            <a:r>
              <a:rPr lang="en-US" sz="1467" b="1" dirty="0" err="1">
                <a:solidFill>
                  <a:srgbClr val="ED0000"/>
                </a:solidFill>
                <a:latin typeface="Times New Roman" panose="02020603050405020304" pitchFamily="18" charset="0"/>
                <a:cs typeface="Times New Roman" panose="02020603050405020304" pitchFamily="18" charset="0"/>
              </a:rPr>
              <a:t>phải</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tháo</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trong</a:t>
            </a:r>
            <a:r>
              <a:rPr lang="en-US" sz="1467" b="1" dirty="0">
                <a:solidFill>
                  <a:srgbClr val="ED0000"/>
                </a:solidFill>
                <a:latin typeface="Times New Roman" panose="02020603050405020304" pitchFamily="18" charset="0"/>
                <a:cs typeface="Times New Roman" panose="02020603050405020304" pitchFamily="18" charset="0"/>
              </a:rPr>
              <a:t> 25 cycle, KH </a:t>
            </a:r>
            <a:r>
              <a:rPr lang="en-US" sz="1467" b="1" dirty="0" err="1">
                <a:solidFill>
                  <a:srgbClr val="ED0000"/>
                </a:solidFill>
                <a:latin typeface="Times New Roman" panose="02020603050405020304" pitchFamily="18" charset="0"/>
                <a:cs typeface="Times New Roman" panose="02020603050405020304" pitchFamily="18" charset="0"/>
              </a:rPr>
              <a:t>thay</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động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cơ</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từ</a:t>
            </a:r>
            <a:r>
              <a:rPr lang="en-US" sz="1467" b="1" dirty="0">
                <a:solidFill>
                  <a:srgbClr val="ED0000"/>
                </a:solidFill>
                <a:latin typeface="Times New Roman" panose="02020603050405020304" pitchFamily="18" charset="0"/>
                <a:cs typeface="Times New Roman" panose="02020603050405020304" pitchFamily="18" charset="0"/>
              </a:rPr>
              <a:t> 07/05 </a:t>
            </a:r>
            <a:r>
              <a:rPr lang="en-US" sz="1467" b="1" dirty="0" err="1">
                <a:solidFill>
                  <a:srgbClr val="ED0000"/>
                </a:solidFill>
                <a:latin typeface="Times New Roman" panose="02020603050405020304" pitchFamily="18" charset="0"/>
                <a:cs typeface="Times New Roman" panose="02020603050405020304" pitchFamily="18" charset="0"/>
              </a:rPr>
              <a:t>sử</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dụng</a:t>
            </a:r>
            <a:r>
              <a:rPr lang="en-US" sz="1467" b="1" dirty="0">
                <a:solidFill>
                  <a:srgbClr val="ED0000"/>
                </a:solidFill>
                <a:latin typeface="Times New Roman" panose="02020603050405020304" pitchFamily="18" charset="0"/>
                <a:cs typeface="Times New Roman" panose="02020603050405020304" pitchFamily="18" charset="0"/>
              </a:rPr>
              <a:t> ĐCDP 956533; </a:t>
            </a:r>
          </a:p>
          <a:p>
            <a:pPr marL="548640" indent="-182880">
              <a:buFont typeface="Wingdings" panose="05000000000000000000" pitchFamily="2" charset="2"/>
              <a:buChar char="§"/>
              <a:defRPr/>
            </a:pPr>
            <a:r>
              <a:rPr lang="en-US" sz="1467" b="1" dirty="0">
                <a:solidFill>
                  <a:srgbClr val="ED0000"/>
                </a:solidFill>
                <a:latin typeface="Times New Roman" panose="02020603050405020304" pitchFamily="18" charset="0"/>
                <a:cs typeface="Times New Roman" panose="02020603050405020304" pitchFamily="18" charset="0"/>
              </a:rPr>
              <a:t>Repetitive inspection 50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958435: soi </a:t>
            </a:r>
            <a:r>
              <a:rPr lang="en-US" sz="1467" b="1" dirty="0" err="1">
                <a:solidFill>
                  <a:srgbClr val="ED0000"/>
                </a:solidFill>
                <a:latin typeface="Times New Roman" panose="02020603050405020304" pitchFamily="18" charset="0"/>
                <a:cs typeface="Times New Roman" panose="02020603050405020304" pitchFamily="18" charset="0"/>
              </a:rPr>
              <a:t>ngày</a:t>
            </a:r>
            <a:r>
              <a:rPr lang="en-US" sz="1467" b="1" dirty="0">
                <a:solidFill>
                  <a:srgbClr val="ED0000"/>
                </a:solidFill>
                <a:latin typeface="Times New Roman" panose="02020603050405020304" pitchFamily="18" charset="0"/>
                <a:cs typeface="Times New Roman" panose="02020603050405020304" pitchFamily="18" charset="0"/>
              </a:rPr>
              <a:t> 03/05 </a:t>
            </a:r>
            <a:r>
              <a:rPr lang="en-US" sz="1467" b="1" dirty="0" err="1">
                <a:solidFill>
                  <a:srgbClr val="ED0000"/>
                </a:solidFill>
                <a:latin typeface="Times New Roman" panose="02020603050405020304" pitchFamily="18" charset="0"/>
                <a:cs typeface="Times New Roman" panose="02020603050405020304" pitchFamily="18" charset="0"/>
              </a:rPr>
              <a:t>giảm</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từ</a:t>
            </a:r>
            <a:r>
              <a:rPr lang="en-US" sz="1467" b="1" dirty="0">
                <a:solidFill>
                  <a:srgbClr val="ED0000"/>
                </a:solidFill>
                <a:latin typeface="Times New Roman" panose="02020603050405020304" pitchFamily="18" charset="0"/>
                <a:cs typeface="Times New Roman" panose="02020603050405020304" pitchFamily="18" charset="0"/>
              </a:rPr>
              <a:t> 100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xuống</a:t>
            </a:r>
            <a:r>
              <a:rPr lang="en-US" sz="1467" b="1" dirty="0">
                <a:solidFill>
                  <a:srgbClr val="ED0000"/>
                </a:solidFill>
                <a:latin typeface="Times New Roman" panose="02020603050405020304" pitchFamily="18" charset="0"/>
                <a:cs typeface="Times New Roman" panose="02020603050405020304" pitchFamily="18" charset="0"/>
              </a:rPr>
              <a:t> 50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theo</a:t>
            </a:r>
            <a:r>
              <a:rPr lang="en-US" sz="1467" b="1" dirty="0">
                <a:solidFill>
                  <a:srgbClr val="ED0000"/>
                </a:solidFill>
                <a:latin typeface="Times New Roman" panose="02020603050405020304" pitchFamily="18" charset="0"/>
                <a:cs typeface="Times New Roman" panose="02020603050405020304" pitchFamily="18" charset="0"/>
              </a:rPr>
              <a:t> DR.</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Remove in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or reinspect: </a:t>
            </a:r>
            <a:r>
              <a:rPr lang="vi-VN" sz="1467" dirty="0">
                <a:solidFill>
                  <a:schemeClr val="tx1"/>
                </a:solidFill>
                <a:latin typeface="Times New Roman" panose="02020603050405020304" pitchFamily="18" charset="0"/>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vừa</a:t>
            </a:r>
            <a:r>
              <a:rPr lang="en-US" sz="1467" dirty="0">
                <a:solidFill>
                  <a:schemeClr val="tx1"/>
                </a:solidFill>
                <a:latin typeface="Times New Roman" panose="02020603050405020304" pitchFamily="18" charset="0"/>
                <a:cs typeface="Times New Roman" panose="02020603050405020304" pitchFamily="18" charset="0"/>
              </a:rPr>
              <a:t> soi </a:t>
            </a:r>
            <a:r>
              <a:rPr lang="en-US" sz="1467" dirty="0" err="1">
                <a:solidFill>
                  <a:schemeClr val="tx1"/>
                </a:solidFill>
                <a:latin typeface="Times New Roman" panose="02020603050405020304" pitchFamily="18" charset="0"/>
                <a:cs typeface="Times New Roman" panose="02020603050405020304" pitchFamily="18" charset="0"/>
              </a:rPr>
              <a:t>lại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02/05 </a:t>
            </a:r>
            <a:r>
              <a:rPr lang="en-US" sz="1467" dirty="0" err="1">
                <a:solidFill>
                  <a:schemeClr val="tx1"/>
                </a:solidFill>
                <a:latin typeface="Times New Roman" panose="02020603050405020304" pitchFamily="18" charset="0"/>
                <a:cs typeface="Times New Roman" panose="02020603050405020304" pitchFamily="18" charset="0"/>
              </a:rPr>
              <a:t>vẫn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nguyên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(bao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latin typeface="Times New Roman" panose="02020603050405020304" pitchFamily="18" charset="0"/>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1</a:t>
            </a:r>
            <a:r>
              <a:rPr lang="vi-VN" sz="1467" dirty="0">
                <a:solidFill>
                  <a:schemeClr val="tx1"/>
                </a:solidFill>
                <a:latin typeface="Times New Roman" panose="02020603050405020304" pitchFamily="18" charset="0"/>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A870/</a:t>
            </a:r>
            <a:r>
              <a:rPr lang="vi-VN" sz="1467" dirty="0">
                <a:solidFill>
                  <a:srgbClr val="388600"/>
                </a:solidFill>
                <a:latin typeface="Times New Roman" panose="02020603050405020304" pitchFamily="18" charset="0"/>
                <a:cs typeface="Times New Roman" panose="02020603050405020304" pitchFamily="18" charset="0"/>
              </a:rPr>
              <a:t>956638</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vi-VN" sz="1467" dirty="0">
                <a:solidFill>
                  <a:srgbClr val="388600"/>
                </a:solidFill>
                <a:latin typeface="Times New Roman" panose="02020603050405020304" pitchFamily="18" charset="0"/>
                <a:cs typeface="Times New Roman" panose="02020603050405020304" pitchFamily="18" charset="0"/>
              </a:rPr>
              <a:t> </a:t>
            </a:r>
            <a:r>
              <a:rPr lang="en-US" sz="1467" dirty="0">
                <a:solidFill>
                  <a:srgbClr val="388600"/>
                </a:solidFill>
                <a:latin typeface="Times New Roman" panose="02020603050405020304" pitchFamily="18" charset="0"/>
                <a:cs typeface="Times New Roman" panose="02020603050405020304" pitchFamily="18" charset="0"/>
              </a:rPr>
              <a:t>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hoàn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Nga - </a:t>
            </a:r>
            <a:r>
              <a:rPr lang="en-US" sz="1467" b="1" dirty="0">
                <a:solidFill>
                  <a:srgbClr val="388600"/>
                </a:solidFill>
                <a:latin typeface="Times New Roman" panose="02020603050405020304" pitchFamily="18" charset="0"/>
                <a:cs typeface="Times New Roman" panose="02020603050405020304" pitchFamily="18" charset="0"/>
              </a:rPr>
              <a:t>12/03/2025.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tàu</a:t>
            </a:r>
            <a:r>
              <a:rPr lang="en-US" sz="1467" dirty="0">
                <a:solidFill>
                  <a:srgbClr val="388600"/>
                </a:solidFill>
                <a:latin typeface="Times New Roman" panose="02020603050405020304" pitchFamily="18" charset="0"/>
                <a:cs typeface="Times New Roman" panose="02020603050405020304" pitchFamily="18" charset="0"/>
              </a:rPr>
              <a:t> A870 </a:t>
            </a:r>
            <a:r>
              <a:rPr lang="en-US" sz="1467" dirty="0" err="1">
                <a:solidFill>
                  <a:srgbClr val="388600"/>
                </a:solidFill>
                <a:latin typeface="Times New Roman" panose="02020603050405020304" pitchFamily="18" charset="0"/>
                <a:cs typeface="Times New Roman" panose="02020603050405020304" pitchFamily="18" charset="0"/>
              </a:rPr>
              <a:t>đã</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lắp</a:t>
            </a:r>
            <a:r>
              <a:rPr lang="en-US" sz="1467" dirty="0">
                <a:solidFill>
                  <a:srgbClr val="388600"/>
                </a:solidFill>
                <a:latin typeface="Times New Roman" panose="02020603050405020304" pitchFamily="18" charset="0"/>
                <a:cs typeface="Times New Roman" panose="02020603050405020304" pitchFamily="18" charset="0"/>
              </a:rPr>
              <a:t> 02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gốc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để</a:t>
            </a:r>
            <a:r>
              <a:rPr lang="en-US" sz="1467" dirty="0">
                <a:solidFill>
                  <a:srgbClr val="388600"/>
                </a:solidFill>
                <a:latin typeface="Times New Roman" panose="02020603050405020304" pitchFamily="18" charset="0"/>
                <a:cs typeface="Times New Roman" panose="02020603050405020304" pitchFamily="18" charset="0"/>
              </a:rPr>
              <a:t> bay Nga. </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A864/956577 </a:t>
            </a:r>
            <a:r>
              <a:rPr lang="en-US" sz="1467" dirty="0" err="1">
                <a:solidFill>
                  <a:srgbClr val="388600"/>
                </a:solidFill>
                <a:latin typeface="Times New Roman" panose="02020603050405020304" pitchFamily="18" charset="0"/>
                <a:cs typeface="Times New Roman" panose="02020603050405020304" pitchFamily="18" charset="0"/>
              </a:rPr>
              <a:t>từ</a:t>
            </a:r>
            <a:r>
              <a:rPr lang="en-US" sz="1467" dirty="0">
                <a:solidFill>
                  <a:srgbClr val="388600"/>
                </a:solidFill>
                <a:latin typeface="Times New Roman" panose="02020603050405020304" pitchFamily="18" charset="0"/>
                <a:cs typeface="Times New Roman" panose="02020603050405020304" pitchFamily="18" charset="0"/>
              </a:rPr>
              <a:t> </a:t>
            </a:r>
            <a:r>
              <a:rPr lang="en-US" sz="1467" b="1" dirty="0">
                <a:solidFill>
                  <a:srgbClr val="388600"/>
                </a:solidFill>
                <a:latin typeface="Times New Roman" panose="02020603050405020304" pitchFamily="18" charset="0"/>
                <a:cs typeface="Times New Roman" panose="02020603050405020304" pitchFamily="18" charset="0"/>
              </a:rPr>
              <a:t>14/03 - 04/04/2025</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AOG </a:t>
            </a:r>
            <a:r>
              <a:rPr lang="en-US" sz="1467" dirty="0" err="1">
                <a:solidFill>
                  <a:srgbClr val="388600"/>
                </a:solidFill>
                <a:latin typeface="Times New Roman" panose="02020603050405020304" pitchFamily="18" charset="0"/>
                <a:cs typeface="Times New Roman" panose="02020603050405020304" pitchFamily="18" charset="0"/>
              </a:rPr>
              <a:t>sử</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dụng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động</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956556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ENG SWAP 956697 </a:t>
            </a:r>
            <a:r>
              <a:rPr lang="en-US" sz="1467" dirty="0" err="1">
                <a:solidFill>
                  <a:srgbClr val="388600"/>
                </a:solidFill>
                <a:latin typeface="Times New Roman" panose="02020603050405020304" pitchFamily="18" charset="0"/>
                <a:cs typeface="Times New Roman" panose="02020603050405020304" pitchFamily="18" charset="0"/>
              </a:rPr>
              <a:t>với</a:t>
            </a:r>
            <a:r>
              <a:rPr lang="en-US" sz="1467" dirty="0">
                <a:solidFill>
                  <a:srgbClr val="388600"/>
                </a:solidFill>
                <a:latin typeface="Times New Roman" panose="02020603050405020304" pitchFamily="18" charset="0"/>
                <a:cs typeface="Times New Roman" panose="02020603050405020304" pitchFamily="18" charset="0"/>
              </a:rPr>
              <a:t> A867.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a:t>
            </a:r>
            <a:r>
              <a:rPr lang="en-US" sz="1467" dirty="0">
                <a:solidFill>
                  <a:srgbClr val="388600"/>
                </a:solidFill>
                <a:latin typeface="Times New Roman" panose="02020603050405020304" pitchFamily="18" charset="0"/>
                <a:cs typeface="Times New Roman" panose="02020603050405020304" pitchFamily="18" charset="0"/>
              </a:rPr>
              <a:t> </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A868/956769 </a:t>
            </a:r>
            <a:r>
              <a:rPr lang="en-US" sz="1467" dirty="0" err="1">
                <a:solidFill>
                  <a:srgbClr val="388600"/>
                </a:solidFill>
                <a:latin typeface="Times New Roman" panose="02020603050405020304" pitchFamily="18" charset="0"/>
                <a:cs typeface="Times New Roman" panose="02020603050405020304" pitchFamily="18" charset="0"/>
              </a:rPr>
              <a:t>khắc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AOG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khôi</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phục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tàu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chuyên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cơ</a:t>
            </a:r>
            <a:r>
              <a:rPr lang="en-US" sz="1467" dirty="0">
                <a:solidFill>
                  <a:srgbClr val="388600"/>
                </a:solidFill>
                <a:latin typeface="Times New Roman" panose="02020603050405020304" pitchFamily="18" charset="0"/>
                <a:cs typeface="Times New Roman" panose="02020603050405020304" pitchFamily="18" charset="0"/>
              </a:rPr>
              <a:t> – </a:t>
            </a:r>
            <a:r>
              <a:rPr lang="en-US" sz="1467" b="1" dirty="0">
                <a:solidFill>
                  <a:srgbClr val="388600"/>
                </a:solidFill>
                <a:latin typeface="Times New Roman" panose="02020603050405020304" pitchFamily="18" charset="0"/>
                <a:cs typeface="Times New Roman" panose="02020603050405020304" pitchFamily="18" charset="0"/>
              </a:rPr>
              <a:t>16/04/2025 –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b="1" dirty="0">
                <a:solidFill>
                  <a:srgbClr val="388600"/>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388600"/>
                </a:solidFill>
                <a:latin typeface="Times New Roman" panose="02020603050405020304" pitchFamily="18" charset="0"/>
                <a:cs typeface="Times New Roman" panose="02020603050405020304" pitchFamily="18" charset="0"/>
              </a:rPr>
              <a:t>A867/Hoàn </a:t>
            </a:r>
            <a:r>
              <a:rPr lang="en-US" sz="1467" dirty="0" err="1">
                <a:solidFill>
                  <a:srgbClr val="388600"/>
                </a:solidFill>
                <a:latin typeface="Times New Roman" panose="02020603050405020304" pitchFamily="18" charset="0"/>
                <a:cs typeface="Times New Roman" panose="02020603050405020304" pitchFamily="18" charset="0"/>
              </a:rPr>
              <a:t>thiện</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cấu</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hình</a:t>
            </a:r>
            <a:r>
              <a:rPr lang="en-US" sz="1467" dirty="0">
                <a:solidFill>
                  <a:srgbClr val="388600"/>
                </a:solidFill>
                <a:latin typeface="Times New Roman" panose="02020603050405020304" pitchFamily="18" charset="0"/>
                <a:cs typeface="Times New Roman" panose="02020603050405020304" pitchFamily="18" charset="0"/>
              </a:rPr>
              <a:t> bay – </a:t>
            </a:r>
            <a:r>
              <a:rPr lang="en-US" sz="1467" b="1" dirty="0">
                <a:solidFill>
                  <a:srgbClr val="388600"/>
                </a:solidFill>
                <a:latin typeface="Times New Roman" panose="02020603050405020304" pitchFamily="18" charset="0"/>
                <a:cs typeface="Times New Roman" panose="02020603050405020304" pitchFamily="18" charset="0"/>
              </a:rPr>
              <a:t>27/04/2025. </a:t>
            </a:r>
            <a:r>
              <a:rPr lang="en-US" sz="1467" b="1" dirty="0" err="1">
                <a:solidFill>
                  <a:srgbClr val="388600"/>
                </a:solidFill>
                <a:latin typeface="Times New Roman" panose="02020603050405020304" pitchFamily="18" charset="0"/>
                <a:cs typeface="Times New Roman" panose="02020603050405020304" pitchFamily="18" charset="0"/>
              </a:rPr>
              <a:t>Đã</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hoàn</a:t>
            </a:r>
            <a:r>
              <a:rPr lang="en-US" sz="1467" b="1" dirty="0">
                <a:solidFill>
                  <a:srgbClr val="388600"/>
                </a:solidFill>
                <a:latin typeface="Times New Roman" panose="02020603050405020304" pitchFamily="18" charset="0"/>
                <a:cs typeface="Times New Roman" panose="02020603050405020304" pitchFamily="18" charset="0"/>
              </a:rPr>
              <a:t> </a:t>
            </a:r>
            <a:r>
              <a:rPr lang="en-US" sz="1467" b="1" dirty="0" err="1">
                <a:solidFill>
                  <a:srgbClr val="388600"/>
                </a:solidFill>
                <a:latin typeface="Times New Roman" panose="02020603050405020304" pitchFamily="18" charset="0"/>
                <a:cs typeface="Times New Roman" panose="02020603050405020304" pitchFamily="18" charset="0"/>
              </a:rPr>
              <a:t>thành</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thực</a:t>
            </a:r>
            <a:r>
              <a:rPr lang="en-US" sz="1467" dirty="0">
                <a:solidFill>
                  <a:srgbClr val="388600"/>
                </a:solidFill>
                <a:latin typeface="Times New Roman" panose="02020603050405020304" pitchFamily="18" charset="0"/>
                <a:cs typeface="Times New Roman" panose="02020603050405020304" pitchFamily="18" charset="0"/>
              </a:rPr>
              <a:t> </a:t>
            </a:r>
            <a:r>
              <a:rPr lang="en-US" sz="1467" dirty="0" err="1">
                <a:solidFill>
                  <a:srgbClr val="388600"/>
                </a:solidFill>
                <a:latin typeface="Times New Roman" panose="02020603050405020304" pitchFamily="18" charset="0"/>
                <a:cs typeface="Times New Roman" panose="02020603050405020304" pitchFamily="18" charset="0"/>
              </a:rPr>
              <a:t>hiện</a:t>
            </a:r>
            <a:r>
              <a:rPr lang="en-US" sz="1467" dirty="0">
                <a:solidFill>
                  <a:srgbClr val="388600"/>
                </a:solidFill>
                <a:latin typeface="Times New Roman" panose="02020603050405020304" pitchFamily="18" charset="0"/>
                <a:cs typeface="Times New Roman" panose="02020603050405020304" pitchFamily="18" charset="0"/>
              </a:rPr>
              <a:t> 02 </a:t>
            </a:r>
            <a:r>
              <a:rPr lang="en-US" sz="1467" dirty="0" err="1">
                <a:solidFill>
                  <a:srgbClr val="388600"/>
                </a:solidFill>
                <a:latin typeface="Times New Roman" panose="02020603050405020304" pitchFamily="18" charset="0"/>
                <a:cs typeface="Times New Roman" panose="02020603050405020304" pitchFamily="18" charset="0"/>
              </a:rPr>
              <a:t>lần</a:t>
            </a:r>
            <a:r>
              <a:rPr lang="en-US" sz="1467" dirty="0">
                <a:solidFill>
                  <a:srgbClr val="388600"/>
                </a:solidFill>
                <a:latin typeface="Times New Roman" panose="02020603050405020304" pitchFamily="18" charset="0"/>
                <a:cs typeface="Times New Roman" panose="02020603050405020304" pitchFamily="18" charset="0"/>
              </a:rPr>
              <a:t> ENG SWAP </a:t>
            </a:r>
            <a:r>
              <a:rPr lang="en-US" sz="1467" dirty="0" err="1">
                <a:solidFill>
                  <a:srgbClr val="388600"/>
                </a:solidFill>
                <a:latin typeface="Times New Roman" panose="02020603050405020304" pitchFamily="18" charset="0"/>
                <a:cs typeface="Times New Roman" panose="02020603050405020304" pitchFamily="18" charset="0"/>
              </a:rPr>
              <a:t>với</a:t>
            </a:r>
            <a:r>
              <a:rPr lang="en-US" sz="1467" dirty="0">
                <a:solidFill>
                  <a:srgbClr val="388600"/>
                </a:solidFill>
                <a:latin typeface="Times New Roman" panose="02020603050405020304" pitchFamily="18" charset="0"/>
                <a:cs typeface="Times New Roman" panose="02020603050405020304" pitchFamily="18" charset="0"/>
              </a:rPr>
              <a:t> A864 </a:t>
            </a:r>
            <a:r>
              <a:rPr lang="en-US" sz="1467" dirty="0" err="1">
                <a:solidFill>
                  <a:srgbClr val="388600"/>
                </a:solidFill>
                <a:latin typeface="Times New Roman" panose="02020603050405020304" pitchFamily="18" charset="0"/>
                <a:cs typeface="Times New Roman" panose="02020603050405020304" pitchFamily="18" charset="0"/>
              </a:rPr>
              <a:t>trong</a:t>
            </a:r>
            <a:r>
              <a:rPr lang="en-US" sz="1467" dirty="0">
                <a:solidFill>
                  <a:srgbClr val="388600"/>
                </a:solidFill>
                <a:latin typeface="Times New Roman" panose="02020603050405020304" pitchFamily="18" charset="0"/>
                <a:cs typeface="Times New Roman" panose="02020603050405020304" pitchFamily="18" charset="0"/>
              </a:rPr>
              <a:t> T3/2025 </a:t>
            </a:r>
            <a:r>
              <a:rPr lang="en-US" sz="1467" dirty="0" err="1">
                <a:solidFill>
                  <a:srgbClr val="388600"/>
                </a:solidFill>
                <a:latin typeface="Times New Roman" panose="02020603050405020304" pitchFamily="18" charset="0"/>
                <a:cs typeface="Times New Roman" panose="02020603050405020304" pitchFamily="18" charset="0"/>
              </a:rPr>
              <a:t>và</a:t>
            </a:r>
            <a:r>
              <a:rPr lang="en-US" sz="1467" dirty="0">
                <a:solidFill>
                  <a:srgbClr val="388600"/>
                </a:solidFill>
                <a:latin typeface="Times New Roman" panose="02020603050405020304" pitchFamily="18" charset="0"/>
                <a:cs typeface="Times New Roman" panose="02020603050405020304" pitchFamily="18" charset="0"/>
              </a:rPr>
              <a:t> A861 </a:t>
            </a:r>
            <a:r>
              <a:rPr lang="en-US" sz="1467" dirty="0" err="1">
                <a:solidFill>
                  <a:srgbClr val="388600"/>
                </a:solidFill>
                <a:latin typeface="Times New Roman" panose="02020603050405020304" pitchFamily="18" charset="0"/>
                <a:cs typeface="Times New Roman" panose="02020603050405020304" pitchFamily="18" charset="0"/>
              </a:rPr>
              <a:t>trong</a:t>
            </a:r>
            <a:r>
              <a:rPr lang="en-US" sz="1467" dirty="0">
                <a:solidFill>
                  <a:srgbClr val="388600"/>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159828" cy="3488557"/>
        </p:xfrm>
        <a:graphic>
          <a:graphicData uri="http://schemas.openxmlformats.org/drawingml/2006/table">
            <a:tbl>
              <a:tblPr firstRow="1" bandRow="1">
                <a:tableStyleId>{7DF18680-E054-41AD-8BC1-D1AEF772440D}</a:tableStyleId>
              </a:tblPr>
              <a:tblGrid>
                <a:gridCol w="691693">
                  <a:extLst>
                    <a:ext uri="{9D8B030D-6E8A-4147-A177-3AD203B41FA5}">
                      <a16:colId xmlns:a16="http://schemas.microsoft.com/office/drawing/2014/main" val="1598605427"/>
                    </a:ext>
                  </a:extLst>
                </a:gridCol>
                <a:gridCol w="680554">
                  <a:extLst>
                    <a:ext uri="{9D8B030D-6E8A-4147-A177-3AD203B41FA5}">
                      <a16:colId xmlns:a16="http://schemas.microsoft.com/office/drawing/2014/main" val="3845954792"/>
                    </a:ext>
                  </a:extLst>
                </a:gridCol>
                <a:gridCol w="939777">
                  <a:extLst>
                    <a:ext uri="{9D8B030D-6E8A-4147-A177-3AD203B41FA5}">
                      <a16:colId xmlns:a16="http://schemas.microsoft.com/office/drawing/2014/main" val="3803391337"/>
                    </a:ext>
                  </a:extLst>
                </a:gridCol>
                <a:gridCol w="1665007">
                  <a:extLst>
                    <a:ext uri="{9D8B030D-6E8A-4147-A177-3AD203B41FA5}">
                      <a16:colId xmlns:a16="http://schemas.microsoft.com/office/drawing/2014/main" val="2148822928"/>
                    </a:ext>
                  </a:extLst>
                </a:gridCol>
                <a:gridCol w="978496">
                  <a:extLst>
                    <a:ext uri="{9D8B030D-6E8A-4147-A177-3AD203B41FA5}">
                      <a16:colId xmlns:a16="http://schemas.microsoft.com/office/drawing/2014/main" val="1106888684"/>
                    </a:ext>
                  </a:extLst>
                </a:gridCol>
                <a:gridCol w="1204301">
                  <a:extLst>
                    <a:ext uri="{9D8B030D-6E8A-4147-A177-3AD203B41FA5}">
                      <a16:colId xmlns:a16="http://schemas.microsoft.com/office/drawing/2014/main" val="558551088"/>
                    </a:ext>
                  </a:extLst>
                </a:gridCol>
              </a:tblGrid>
              <a:tr h="44303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11977">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Induction 24/06/2025</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25139">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412942">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24/04/2025</a:t>
                      </a:r>
                    </a:p>
                    <a:p>
                      <a:pPr algn="ctr" fontAlgn="ctr"/>
                      <a:r>
                        <a:rPr lang="en-US" sz="1200" b="0" u="none" strike="noStrike" dirty="0">
                          <a:solidFill>
                            <a:schemeClr val="tx1"/>
                          </a:solidFill>
                          <a:effectLst/>
                          <a:latin typeface="+mn-lt"/>
                          <a:cs typeface="Times New Roman" panose="02020603050405020304" pitchFamily="18" charset="0"/>
                        </a:rPr>
                        <a:t>Inducted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09/05/2025</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A871 (956913)</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10189">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24/05/2025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31/05/2025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A863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958170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07/06/2025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14/06/2025</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A873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 958435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13/07/2025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47915">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203940">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1839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2895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06/05/2025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966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32</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32</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6"/>
          <a:ext cx="5905159" cy="4057835"/>
        </p:xfrm>
        <a:graphic>
          <a:graphicData uri="http://schemas.openxmlformats.org/drawingml/2006/table">
            <a:tbl>
              <a:tblPr firstRow="1" bandRow="1">
                <a:tableStyleId>{5C22544A-7EE6-4342-B048-85BDC9FD1C3A}</a:tableStyleId>
              </a:tblPr>
              <a:tblGrid>
                <a:gridCol w="854810">
                  <a:extLst>
                    <a:ext uri="{9D8B030D-6E8A-4147-A177-3AD203B41FA5}">
                      <a16:colId xmlns:a16="http://schemas.microsoft.com/office/drawing/2014/main" val="1930757539"/>
                    </a:ext>
                  </a:extLst>
                </a:gridCol>
                <a:gridCol w="762000">
                  <a:extLst>
                    <a:ext uri="{9D8B030D-6E8A-4147-A177-3AD203B41FA5}">
                      <a16:colId xmlns:a16="http://schemas.microsoft.com/office/drawing/2014/main" val="1674463010"/>
                    </a:ext>
                  </a:extLst>
                </a:gridCol>
                <a:gridCol w="838200">
                  <a:extLst>
                    <a:ext uri="{9D8B030D-6E8A-4147-A177-3AD203B41FA5}">
                      <a16:colId xmlns:a16="http://schemas.microsoft.com/office/drawing/2014/main" val="1549944897"/>
                    </a:ext>
                  </a:extLst>
                </a:gridCol>
                <a:gridCol w="1752600">
                  <a:extLst>
                    <a:ext uri="{9D8B030D-6E8A-4147-A177-3AD203B41FA5}">
                      <a16:colId xmlns:a16="http://schemas.microsoft.com/office/drawing/2014/main" val="3687717734"/>
                    </a:ext>
                  </a:extLst>
                </a:gridCol>
                <a:gridCol w="1697549">
                  <a:extLst>
                    <a:ext uri="{9D8B030D-6E8A-4147-A177-3AD203B41FA5}">
                      <a16:colId xmlns:a16="http://schemas.microsoft.com/office/drawing/2014/main" val="4100307886"/>
                    </a:ext>
                  </a:extLst>
                </a:gridCol>
              </a:tblGrid>
              <a:tr h="336206">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Shop</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Induct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512714">
                <a:tc>
                  <a:txBody>
                    <a:bodyPr/>
                    <a:lstStyle/>
                    <a:p>
                      <a:r>
                        <a:rPr lang="en-US" sz="1200" b="1" dirty="0">
                          <a:latin typeface="Times New Roman" panose="02020603050405020304" pitchFamily="18" charset="0"/>
                          <a:cs typeface="Times New Roman" panose="02020603050405020304" pitchFamily="18" charset="0"/>
                        </a:rPr>
                        <a:t>21043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28/06/25</a:t>
                      </a:r>
                    </a:p>
                    <a:p>
                      <a:r>
                        <a:rPr lang="en-US" sz="1050" b="0" dirty="0">
                          <a:solidFill>
                            <a:schemeClr val="tx1"/>
                          </a:solidFill>
                          <a:latin typeface="Times New Roman" panose="02020603050405020304" pitchFamily="18" charset="0"/>
                          <a:cs typeface="Times New Roman" panose="02020603050405020304" pitchFamily="18" charset="0"/>
                        </a:rPr>
                        <a:t>(+28 </a:t>
                      </a:r>
                      <a:r>
                        <a:rPr lang="en-US" sz="1050" b="0" dirty="0" err="1">
                          <a:solidFill>
                            <a:schemeClr val="tx1"/>
                          </a:solidFill>
                          <a:latin typeface="Times New Roman" panose="02020603050405020304" pitchFamily="18" charset="0"/>
                          <a:cs typeface="Times New Roman" panose="02020603050405020304" pitchFamily="18" charset="0"/>
                        </a:rPr>
                        <a:t>ngày</a:t>
                      </a:r>
                      <a:r>
                        <a:rPr lang="en-US" sz="1050" b="0" dirty="0">
                          <a:solidFill>
                            <a:schemeClr val="tx1"/>
                          </a:solidFill>
                          <a:latin typeface="Times New Roman" panose="02020603050405020304" pitchFamily="18" charset="0"/>
                          <a:cs typeface="Times New Roman" panose="02020603050405020304" pitchFamily="18" charset="0"/>
                        </a:rPr>
                        <a:t> so </a:t>
                      </a:r>
                      <a:r>
                        <a:rPr lang="en-US" sz="1050" b="0" dirty="0" err="1">
                          <a:solidFill>
                            <a:schemeClr val="tx1"/>
                          </a:solidFill>
                          <a:latin typeface="Times New Roman" panose="02020603050405020304" pitchFamily="18" charset="0"/>
                          <a:cs typeface="Times New Roman" panose="02020603050405020304" pitchFamily="18" charset="0"/>
                        </a:rPr>
                        <a:t>với</a:t>
                      </a:r>
                      <a:r>
                        <a:rPr lang="en-US" sz="1050" b="0" dirty="0">
                          <a:solidFill>
                            <a:schemeClr val="tx1"/>
                          </a:solidFill>
                          <a:latin typeface="Times New Roman" panose="02020603050405020304" pitchFamily="18" charset="0"/>
                          <a:cs typeface="Times New Roman" panose="02020603050405020304" pitchFamily="18" charset="0"/>
                        </a:rPr>
                        <a:t> KH </a:t>
                      </a:r>
                      <a:r>
                        <a:rPr lang="en-US" sz="1050" b="0" dirty="0" err="1">
                          <a:solidFill>
                            <a:schemeClr val="tx1"/>
                          </a:solidFill>
                          <a:latin typeface="Times New Roman" panose="02020603050405020304" pitchFamily="18" charset="0"/>
                          <a:cs typeface="Times New Roman" panose="02020603050405020304" pitchFamily="18" charset="0"/>
                        </a:rPr>
                        <a:t>gốc</a:t>
                      </a:r>
                      <a:r>
                        <a:rPr lang="en-US" sz="1050" b="0" dirty="0">
                          <a:solidFill>
                            <a:schemeClr val="tx1"/>
                          </a:solidFill>
                          <a:latin typeface="Times New Roman" panose="02020603050405020304" pitchFamily="18" charset="0"/>
                          <a:cs typeface="Times New Roman" panose="02020603050405020304" pitchFamily="18" charset="0"/>
                        </a:rPr>
                        <a:t>)</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08/07/25</a:t>
                      </a:r>
                    </a:p>
                  </a:txBody>
                  <a:tcPr marL="121920" marR="121920" marT="60960" marB="60960" anchor="ctr"/>
                </a:tc>
                <a:extLst>
                  <a:ext uri="{0D108BD9-81ED-4DB2-BD59-A6C34878D82A}">
                    <a16:rowId xmlns:a16="http://schemas.microsoft.com/office/drawing/2014/main" val="83465224"/>
                  </a:ext>
                </a:extLst>
              </a:tr>
              <a:tr h="521119">
                <a:tc>
                  <a:txBody>
                    <a:bodyPr/>
                    <a:lstStyle/>
                    <a:p>
                      <a:r>
                        <a:rPr lang="en-US" sz="1200" b="1" dirty="0">
                          <a:latin typeface="Times New Roman" panose="02020603050405020304" pitchFamily="18" charset="0"/>
                          <a:cs typeface="Times New Roman" panose="02020603050405020304" pitchFamily="18" charset="0"/>
                        </a:rPr>
                        <a:t>21137</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N3</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28/06/25</a:t>
                      </a:r>
                      <a:endParaRPr lang="en-US" sz="1200" b="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latin typeface="Times New Roman" panose="02020603050405020304" pitchFamily="18" charset="0"/>
                          <a:cs typeface="Times New Roman" panose="02020603050405020304" pitchFamily="18" charset="0"/>
                        </a:rPr>
                        <a:t>(+7 </a:t>
                      </a:r>
                      <a:r>
                        <a:rPr lang="en-US" sz="1100" b="0" dirty="0" err="1">
                          <a:solidFill>
                            <a:schemeClr val="tx1"/>
                          </a:solidFill>
                          <a:latin typeface="Times New Roman" panose="02020603050405020304" pitchFamily="18" charset="0"/>
                          <a:cs typeface="Times New Roman" panose="02020603050405020304" pitchFamily="18" charset="0"/>
                        </a:rPr>
                        <a:t>ngày</a:t>
                      </a:r>
                      <a:r>
                        <a:rPr lang="en-US" sz="1100" b="0" dirty="0">
                          <a:solidFill>
                            <a:schemeClr val="tx1"/>
                          </a:solidFill>
                          <a:latin typeface="Times New Roman" panose="02020603050405020304" pitchFamily="18" charset="0"/>
                          <a:cs typeface="Times New Roman" panose="02020603050405020304" pitchFamily="18" charset="0"/>
                        </a:rPr>
                        <a:t> so </a:t>
                      </a:r>
                      <a:r>
                        <a:rPr lang="en-US" sz="1100" b="0" dirty="0" err="1">
                          <a:solidFill>
                            <a:schemeClr val="tx1"/>
                          </a:solidFill>
                          <a:latin typeface="Times New Roman" panose="02020603050405020304" pitchFamily="18" charset="0"/>
                          <a:cs typeface="Times New Roman" panose="02020603050405020304" pitchFamily="18" charset="0"/>
                        </a:rPr>
                        <a:t>với</a:t>
                      </a:r>
                      <a:r>
                        <a:rPr lang="en-US" sz="1100" b="0" dirty="0">
                          <a:solidFill>
                            <a:schemeClr val="tx1"/>
                          </a:solidFill>
                          <a:latin typeface="Times New Roman" panose="02020603050405020304" pitchFamily="18" charset="0"/>
                          <a:cs typeface="Times New Roman" panose="02020603050405020304" pitchFamily="18" charset="0"/>
                        </a:rPr>
                        <a:t> KH </a:t>
                      </a:r>
                      <a:r>
                        <a:rPr lang="en-US" sz="1100" b="0" dirty="0" err="1">
                          <a:solidFill>
                            <a:schemeClr val="tx1"/>
                          </a:solidFill>
                          <a:latin typeface="Times New Roman" panose="02020603050405020304" pitchFamily="18" charset="0"/>
                          <a:cs typeface="Times New Roman" panose="02020603050405020304" pitchFamily="18" charset="0"/>
                        </a:rPr>
                        <a:t>gốc</a:t>
                      </a:r>
                      <a:r>
                        <a:rPr lang="en-US" sz="1100" b="0" dirty="0">
                          <a:solidFill>
                            <a:schemeClr val="tx1"/>
                          </a:solidFill>
                          <a:latin typeface="Times New Roman" panose="02020603050405020304" pitchFamily="18" charset="0"/>
                          <a:cs typeface="Times New Roman" panose="02020603050405020304" pitchFamily="18" charset="0"/>
                        </a:rPr>
                        <a:t>)</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537929">
                <a:tc>
                  <a:txBody>
                    <a:bodyPr/>
                    <a:lstStyle/>
                    <a:p>
                      <a:r>
                        <a:rPr lang="en-US" sz="1200" b="1" dirty="0">
                          <a:latin typeface="Times New Roman" panose="02020603050405020304" pitchFamily="18" charset="0"/>
                          <a:cs typeface="Times New Roman" panose="02020603050405020304" pitchFamily="18" charset="0"/>
                        </a:rPr>
                        <a:t>21201</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28/12/24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17/04/25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15/05/25 (</a:t>
                      </a:r>
                      <a:r>
                        <a:rPr lang="en-US" sz="1200" b="0" err="1">
                          <a:solidFill>
                            <a:schemeClr val="tx1"/>
                          </a:solidFill>
                          <a:latin typeface="Times New Roman" panose="02020603050405020304" pitchFamily="18" charset="0"/>
                          <a:cs typeface="Times New Roman" panose="02020603050405020304" pitchFamily="18" charset="0"/>
                        </a:rPr>
                        <a:t>cần</a:t>
                      </a:r>
                      <a:r>
                        <a:rPr lang="en-US" sz="1200" b="0">
                          <a:solidFill>
                            <a:schemeClr val="tx1"/>
                          </a:solidFill>
                          <a:latin typeface="Times New Roman" panose="02020603050405020304" pitchFamily="18" charset="0"/>
                          <a:cs typeface="Times New Roman" panose="02020603050405020304" pitchFamily="18" charset="0"/>
                        </a:rPr>
                        <a:t> điều chuyển stand nên thời gian chờ la)</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336206">
                <a:tc>
                  <a:txBody>
                    <a:bodyPr/>
                    <a:lstStyle/>
                    <a:p>
                      <a:r>
                        <a:rPr lang="en-US" sz="1200" b="1" dirty="0">
                          <a:latin typeface="Times New Roman" panose="02020603050405020304" pitchFamily="18" charset="0"/>
                          <a:cs typeface="Times New Roman" panose="02020603050405020304" pitchFamily="18" charset="0"/>
                        </a:rPr>
                        <a:t>21584</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23/05/25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extLst>
                  <a:ext uri="{0D108BD9-81ED-4DB2-BD59-A6C34878D82A}">
                    <a16:rowId xmlns:a16="http://schemas.microsoft.com/office/drawing/2014/main" val="829074625"/>
                  </a:ext>
                </a:extLst>
              </a:tr>
              <a:tr h="336206">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07/06/25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17/06/25</a:t>
                      </a:r>
                    </a:p>
                  </a:txBody>
                  <a:tcPr marL="121920" marR="121920" marT="60960" marB="60960" anchor="ctr"/>
                </a:tc>
                <a:extLst>
                  <a:ext uri="{0D108BD9-81ED-4DB2-BD59-A6C34878D82A}">
                    <a16:rowId xmlns:a16="http://schemas.microsoft.com/office/drawing/2014/main" val="3135666374"/>
                  </a:ext>
                </a:extLst>
              </a:tr>
              <a:tr h="336206">
                <a:tc>
                  <a:txBody>
                    <a:bodyPr/>
                    <a:lstStyle/>
                    <a:p>
                      <a:r>
                        <a:rPr lang="en-US" sz="1200" b="1">
                          <a:latin typeface="Times New Roman" panose="02020603050405020304" pitchFamily="18" charset="0"/>
                          <a:cs typeface="Times New Roman" panose="02020603050405020304" pitchFamily="18" charset="0"/>
                        </a:rPr>
                        <a:t>21414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19/03/25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17/07/25</a:t>
                      </a: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27/07/25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336206">
                <a:tc>
                  <a:txBody>
                    <a:bodyPr/>
                    <a:lstStyle/>
                    <a:p>
                      <a:r>
                        <a:rPr lang="en-US" sz="1200" b="1">
                          <a:latin typeface="Times New Roman" panose="02020603050405020304" pitchFamily="18" charset="0"/>
                          <a:cs typeface="Times New Roman" panose="02020603050405020304" pitchFamily="18" charset="0"/>
                        </a:rPr>
                        <a:t>21604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31/03/25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29/07/25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06/08/25</a:t>
                      </a:r>
                    </a:p>
                  </a:txBody>
                  <a:tcPr marL="121920" marR="121920" marT="60960" marB="60960" anchor="ctr"/>
                </a:tc>
                <a:extLst>
                  <a:ext uri="{0D108BD9-81ED-4DB2-BD59-A6C34878D82A}">
                    <a16:rowId xmlns:a16="http://schemas.microsoft.com/office/drawing/2014/main" val="4034618264"/>
                  </a:ext>
                </a:extLst>
              </a:tr>
              <a:tr h="336206">
                <a:tc>
                  <a:txBody>
                    <a:bodyPr/>
                    <a:lstStyle/>
                    <a:p>
                      <a:r>
                        <a:rPr lang="en-US" sz="1200" b="1" dirty="0">
                          <a:latin typeface="Times New Roman" panose="02020603050405020304" pitchFamily="18" charset="0"/>
                          <a:cs typeface="Times New Roman" panose="02020603050405020304" pitchFamily="18" charset="0"/>
                        </a:rPr>
                        <a:t>21048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N3</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22/04/25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29/10/25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09/11/25</a:t>
                      </a:r>
                    </a:p>
                  </a:txBody>
                  <a:tcPr marL="121920" marR="121920" marT="60960" marB="60960" anchor="ctr"/>
                </a:tc>
                <a:extLst>
                  <a:ext uri="{0D108BD9-81ED-4DB2-BD59-A6C34878D82A}">
                    <a16:rowId xmlns:a16="http://schemas.microsoft.com/office/drawing/2014/main" val="4245775366"/>
                  </a:ext>
                </a:extLst>
              </a:tr>
              <a:tr h="336206">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SAESL</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11/04/25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25/06/25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05/07/25</a:t>
                      </a:r>
                    </a:p>
                  </a:txBody>
                  <a:tcPr marL="121920" marR="121920" marT="60960" marB="60960" anchor="ctr"/>
                </a:tc>
                <a:extLst>
                  <a:ext uri="{0D108BD9-81ED-4DB2-BD59-A6C34878D82A}">
                    <a16:rowId xmlns:a16="http://schemas.microsoft.com/office/drawing/2014/main" val="2430177177"/>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59590" y="5441695"/>
          <a:ext cx="5879459" cy="9144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285257">
                <a:tc>
                  <a:txBody>
                    <a:bodyPr/>
                    <a:lstStyle/>
                    <a:p>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17828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30/09/2025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17828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T5/2025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001673644"/>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đang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trong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a:solidFill>
                  <a:srgbClr val="002060"/>
                </a:solidFill>
                <a:latin typeface="Times New Roman" panose="02020603050405020304" pitchFamily="18" charset="0"/>
                <a:cs typeface="Times New Roman" panose="02020603050405020304" pitchFamily="18" charset="0"/>
              </a:rPr>
              <a:t>shop (9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c</a:t>
            </a:r>
            <a:r>
              <a:rPr lang="en-US" sz="2133" b="1" dirty="0">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126895" y="5010245"/>
            <a:ext cx="5195392" cy="420564"/>
          </a:xfrm>
          <a:prstGeom prst="rect">
            <a:avLst/>
          </a:prstGeom>
          <a:noFill/>
        </p:spPr>
        <p:txBody>
          <a:bodyPr wrap="square" rtlCol="0">
            <a:spAutoFit/>
          </a:bodyPr>
          <a:lstStyle/>
          <a:p>
            <a:pPr algn="ctr" defTabSz="1219170">
              <a:defRPr/>
            </a:pPr>
            <a:r>
              <a:rPr lang="en-GB" sz="2133" b="1" dirty="0">
                <a:solidFill>
                  <a:srgbClr val="002060"/>
                </a:solidFill>
                <a:latin typeface="Times New Roman" panose="02020603050405020304" pitchFamily="18" charset="0"/>
                <a:cs typeface="Times New Roman" panose="02020603050405020304" pitchFamily="18" charset="0"/>
              </a:rPr>
              <a:t>Các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ch</a:t>
            </a:r>
            <a:r>
              <a:rPr lang="en-US" sz="2133" b="1" dirty="0">
                <a:solidFill>
                  <a:srgbClr val="002060"/>
                </a:solidFill>
                <a:latin typeface="Times New Roman" panose="02020603050405020304" pitchFamily="18" charset="0"/>
                <a:cs typeface="Times New Roman" panose="02020603050405020304" pitchFamily="18" charset="0"/>
              </a:rPr>
              <a:t>ờ </a:t>
            </a:r>
            <a:r>
              <a:rPr lang="en-US" sz="2133" b="1" dirty="0" err="1">
                <a:solidFill>
                  <a:srgbClr val="002060"/>
                </a:solidFill>
                <a:latin typeface="Times New Roman" panose="02020603050405020304" pitchFamily="18" charset="0"/>
                <a:cs typeface="Times New Roman" panose="02020603050405020304" pitchFamily="18" charset="0"/>
              </a:rPr>
              <a:t>sửa</a:t>
            </a:r>
            <a:r>
              <a:rPr lang="en-US" sz="2133" b="1" dirty="0">
                <a:solidFill>
                  <a:srgbClr val="002060"/>
                </a:solidFill>
                <a:latin typeface="Times New Roman" panose="02020603050405020304" pitchFamily="18" charset="0"/>
                <a:cs typeface="Times New Roman" panose="02020603050405020304" pitchFamily="18" charset="0"/>
              </a:rPr>
              <a:t> </a:t>
            </a:r>
            <a:r>
              <a:rPr lang="en-GB" sz="2133" b="1" dirty="0">
                <a:solidFill>
                  <a:srgbClr val="002060"/>
                </a:solidFill>
                <a:latin typeface="Times New Roman" panose="02020603050405020304" pitchFamily="18" charset="0"/>
                <a:cs typeface="Times New Roman" panose="02020603050405020304" pitchFamily="18" charset="0"/>
              </a:rPr>
              <a:t>(02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351845" y="3900110"/>
            <a:ext cx="5167083" cy="461665"/>
          </a:xfrm>
          <a:prstGeom prst="rect">
            <a:avLst/>
          </a:prstGeom>
          <a:noFill/>
        </p:spPr>
        <p:txBody>
          <a:bodyPr wrap="square" rtlCol="0">
            <a:spAutoFit/>
          </a:bodyPr>
          <a:lstStyle/>
          <a:p>
            <a:pPr algn="ctr" defTabSz="1219170">
              <a:defRPr/>
            </a:pPr>
            <a:r>
              <a:rPr lang="en-US" sz="2400" b="1" dirty="0" err="1">
                <a:solidFill>
                  <a:srgbClr val="002060"/>
                </a:solidFill>
                <a:latin typeface="Times New Roman" panose="02020603050405020304" pitchFamily="18" charset="0"/>
                <a:cs typeface="Times New Roman" panose="02020603050405020304" pitchFamily="18" charset="0"/>
              </a:rPr>
              <a:t>Số</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tàu</a:t>
            </a:r>
            <a:r>
              <a:rPr lang="en-US" sz="2400" b="1" dirty="0">
                <a:solidFill>
                  <a:srgbClr val="002060"/>
                </a:solidFill>
                <a:latin typeface="Times New Roman" panose="02020603050405020304" pitchFamily="18" charset="0"/>
                <a:cs typeface="Times New Roman" panose="02020603050405020304" pitchFamily="18" charset="0"/>
              </a:rPr>
              <a:t> AOG</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4413350"/>
          <a:ext cx="5808956" cy="21398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88062" y="857454"/>
          <a:ext cx="5625452" cy="14020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Times New Roman" panose="02020603050405020304" pitchFamily="18" charset="0"/>
                          <a:cs typeface="Times New Roman" panose="02020603050405020304" pitchFamily="18" charset="0"/>
                        </a:rPr>
                        <a:t>Trống</a:t>
                      </a:r>
                      <a:r>
                        <a:rPr lang="en-US" sz="1200" dirty="0">
                          <a:latin typeface="Times New Roman" panose="02020603050405020304" pitchFamily="18" charset="0"/>
                          <a:cs typeface="Times New Roman" panose="02020603050405020304" pitchFamily="18" charset="0"/>
                        </a:rPr>
                        <a:t> 1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1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hạn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kiểm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tra</a:t>
                      </a:r>
                      <a:r>
                        <a:rPr lang="en-US" sz="1200" dirty="0">
                          <a:latin typeface="Times New Roman" panose="02020603050405020304" pitchFamily="18" charset="0"/>
                          <a:cs typeface="Times New Roman" panose="02020603050405020304" pitchFamily="18" charset="0"/>
                        </a:rPr>
                        <a:t> LPT</a:t>
                      </a: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Times New Roman" panose="02020603050405020304" pitchFamily="18" charset="0"/>
                          <a:cs typeface="Times New Roman" panose="02020603050405020304" pitchFamily="18" charset="0"/>
                        </a:rPr>
                        <a:t>Trống</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0989" y="265250"/>
            <a:ext cx="6705299" cy="420564"/>
          </a:xfrm>
          <a:prstGeom prst="rect">
            <a:avLst/>
          </a:prstGeom>
          <a:noFill/>
        </p:spPr>
        <p:txBody>
          <a:bodyPr wrap="square" rtlCol="0">
            <a:spAutoFit/>
          </a:bodyPr>
          <a:lstStyle/>
          <a:p>
            <a:pPr algn="ctr" defTabSz="1219170">
              <a:defRPr/>
            </a:pPr>
            <a:r>
              <a:rPr lang="en-US" sz="2133" b="1" dirty="0">
                <a:solidFill>
                  <a:srgbClr val="002060"/>
                </a:solidFill>
                <a:latin typeface="Times New Roman" panose="02020603050405020304" pitchFamily="18" charset="0"/>
                <a:cs typeface="Times New Roman" panose="02020603050405020304" pitchFamily="18" charset="0"/>
              </a:rPr>
              <a:t>Các </a:t>
            </a:r>
            <a:r>
              <a:rPr lang="en-US" sz="2133" b="1" dirty="0" err="1">
                <a:solidFill>
                  <a:srgbClr val="002060"/>
                </a:solidFill>
                <a:latin typeface="Times New Roman" panose="02020603050405020304" pitchFamily="18" charset="0"/>
                <a:cs typeface="Times New Roman" panose="02020603050405020304" pitchFamily="18" charset="0"/>
              </a:rPr>
              <a:t>tàu</a:t>
            </a:r>
            <a:r>
              <a:rPr lang="en-US" sz="2133" b="1" dirty="0">
                <a:solidFill>
                  <a:srgbClr val="002060"/>
                </a:solidFill>
                <a:latin typeface="Times New Roman" panose="02020603050405020304" pitchFamily="18" charset="0"/>
                <a:cs typeface="Times New Roman" panose="02020603050405020304" pitchFamily="18" charset="0"/>
              </a:rPr>
              <a:t> </a:t>
            </a:r>
            <a:r>
              <a:rPr lang="en-US" sz="2133" b="1" dirty="0" err="1">
                <a:solidFill>
                  <a:srgbClr val="002060"/>
                </a:solidFill>
                <a:latin typeface="Times New Roman" panose="02020603050405020304" pitchFamily="18" charset="0"/>
                <a:cs typeface="Times New Roman" panose="02020603050405020304" pitchFamily="18" charset="0"/>
              </a:rPr>
              <a:t>đang</a:t>
            </a:r>
            <a:r>
              <a:rPr lang="en-US" sz="2133" b="1" dirty="0">
                <a:solidFill>
                  <a:srgbClr val="002060"/>
                </a:solidFill>
                <a:latin typeface="Times New Roman" panose="02020603050405020304" pitchFamily="18" charset="0"/>
                <a:cs typeface="Times New Roman" panose="02020603050405020304" pitchFamily="18" charset="0"/>
              </a:rPr>
              <a:t> AOG (03 </a:t>
            </a:r>
            <a:r>
              <a:rPr lang="en-US" sz="2133" b="1" dirty="0" err="1">
                <a:solidFill>
                  <a:srgbClr val="002060"/>
                </a:solidFill>
                <a:latin typeface="Times New Roman" panose="02020603050405020304" pitchFamily="18" charset="0"/>
                <a:cs typeface="Times New Roman" panose="02020603050405020304" pitchFamily="18" charset="0"/>
              </a:rPr>
              <a:t>tàu</a:t>
            </a:r>
            <a:r>
              <a:rPr lang="en-US" sz="2133" b="1" dirty="0">
                <a:solidFill>
                  <a:srgbClr val="002060"/>
                </a:solidFill>
                <a:latin typeface="Times New Roman" panose="02020603050405020304" pitchFamily="18" charset="0"/>
                <a:cs typeface="Times New Roman" panose="02020603050405020304" pitchFamily="18" charset="0"/>
              </a:rPr>
              <a:t>)</a:t>
            </a:r>
            <a:endParaRPr lang="en-GB" sz="2133" b="1" dirty="0">
              <a:solidFill>
                <a:srgbClr val="002060"/>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EF0FE7CB-1D2F-2A2D-6726-9BC57A431414}"/>
              </a:ext>
            </a:extLst>
          </p:cNvPr>
          <p:cNvGraphicFramePr>
            <a:graphicFrameLocks noGrp="1"/>
          </p:cNvGraphicFramePr>
          <p:nvPr/>
        </p:nvGraphicFramePr>
        <p:xfrm>
          <a:off x="6218386" y="2839630"/>
          <a:ext cx="5879459" cy="914400"/>
        </p:xfrm>
        <a:graphic>
          <a:graphicData uri="http://schemas.openxmlformats.org/drawingml/2006/table">
            <a:tbl>
              <a:tblPr firstRow="1" bandRow="1">
                <a:tableStyleId>{F5AB1C69-6EDB-4FF4-983F-18BD219EF322}</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285257">
                <a:tc>
                  <a:txBody>
                    <a:bodyPr/>
                    <a:lstStyle/>
                    <a:p>
                      <a:r>
                        <a:rPr lang="en-US" sz="1200" dirty="0" err="1"/>
                        <a:t>Động</a:t>
                      </a:r>
                      <a:r>
                        <a:rPr lang="en-US" sz="1200"/>
                        <a:t> c</a:t>
                      </a:r>
                      <a:r>
                        <a:rPr lang="vi-VN" sz="1200"/>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t>Ngày</a:t>
                      </a:r>
                      <a:r>
                        <a:rPr lang="en-US" sz="1200" dirty="0"/>
                        <a:t> </a:t>
                      </a:r>
                      <a:r>
                        <a:rPr lang="en-US" sz="1200" dirty="0" err="1"/>
                        <a:t>sửa</a:t>
                      </a:r>
                      <a:r>
                        <a:rPr lang="en-US" sz="1200" dirty="0"/>
                        <a:t> </a:t>
                      </a:r>
                      <a:r>
                        <a:rPr lang="en-US" sz="1200" dirty="0" err="1"/>
                        <a:t>dự</a:t>
                      </a:r>
                      <a:r>
                        <a:rPr lang="en-US" sz="1200" dirty="0"/>
                        <a:t> </a:t>
                      </a:r>
                      <a:r>
                        <a:rPr lang="en-US" sz="1200" dirty="0" err="1"/>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t>Remark</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78280">
                <a:tc>
                  <a:txBody>
                    <a:bodyPr/>
                    <a:lstStyle/>
                    <a:p>
                      <a:r>
                        <a:rPr lang="en-GB" sz="1200" dirty="0"/>
                        <a:t>21316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A899</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t>T5/2025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err="1">
                          <a:ln>
                            <a:noFill/>
                          </a:ln>
                          <a:effectLst/>
                          <a:uLnTx/>
                          <a:uFillTx/>
                        </a:rPr>
                        <a:t>Sửa</a:t>
                      </a:r>
                      <a:r>
                        <a:rPr kumimoji="0" lang="en-US" sz="1200" u="none" strike="noStrike" kern="1200" cap="none" spc="0" normalizeH="0" baseline="0" noProof="0" dirty="0">
                          <a:ln>
                            <a:noFill/>
                          </a:ln>
                          <a:effectLst/>
                          <a:uLnTx/>
                          <a:uFillTx/>
                        </a:rPr>
                        <a:t> </a:t>
                      </a:r>
                      <a:r>
                        <a:rPr kumimoji="0" lang="en-US" sz="1200" u="none" strike="noStrike" kern="1200" cap="none" spc="0" normalizeH="0" baseline="0" noProof="0" dirty="0" err="1">
                          <a:ln>
                            <a:noFill/>
                          </a:ln>
                          <a:effectLst/>
                          <a:uLnTx/>
                          <a:uFillTx/>
                        </a:rPr>
                        <a:t>boroblending</a:t>
                      </a:r>
                      <a:r>
                        <a:rPr kumimoji="0" lang="en-US" sz="1200" u="none" strike="noStrike" kern="1200" cap="none" spc="0" normalizeH="0" baseline="0" noProof="0" dirty="0">
                          <a:ln>
                            <a:noFill/>
                          </a:ln>
                          <a:effectLst/>
                          <a:uLnTx/>
                          <a:uFillTx/>
                        </a:rPr>
                        <a:t> </a:t>
                      </a:r>
                      <a:r>
                        <a:rPr kumimoji="0" lang="en-US" sz="1200" u="none" strike="noStrike" kern="1200" cap="none" spc="0" normalizeH="0" baseline="0" noProof="0" dirty="0" err="1">
                          <a:ln>
                            <a:noFill/>
                          </a:ln>
                          <a:effectLst/>
                          <a:uLnTx/>
                          <a:uFillTx/>
                        </a:rPr>
                        <a:t>tại</a:t>
                      </a:r>
                      <a:r>
                        <a:rPr kumimoji="0" lang="en-US" sz="1200" u="none" strike="noStrike" kern="1200" cap="none" spc="0" normalizeH="0" baseline="0" noProof="0" dirty="0">
                          <a:ln>
                            <a:noFill/>
                          </a:ln>
                          <a:effectLst/>
                          <a:uLnTx/>
                          <a:uFillTx/>
                        </a:rPr>
                        <a:t> VN</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178280">
                <a:tc>
                  <a:txBody>
                    <a:bodyPr/>
                    <a:lstStyle/>
                    <a:p>
                      <a:r>
                        <a:rPr lang="en-GB" sz="1200" dirty="0"/>
                        <a:t>21346</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t>NBA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t>NIL</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err="1">
                          <a:ln>
                            <a:noFill/>
                          </a:ln>
                          <a:effectLst/>
                          <a:uLnTx/>
                          <a:uFillTx/>
                        </a:rPr>
                        <a:t>Giữ</a:t>
                      </a:r>
                      <a:r>
                        <a:rPr kumimoji="0" lang="en-US" sz="1200" u="none" strike="noStrike" kern="1200" cap="none" spc="0" normalizeH="0" baseline="0" noProof="0" dirty="0">
                          <a:ln>
                            <a:noFill/>
                          </a:ln>
                          <a:effectLst/>
                          <a:uLnTx/>
                          <a:uFillTx/>
                        </a:rPr>
                        <a:t> </a:t>
                      </a:r>
                      <a:r>
                        <a:rPr kumimoji="0" lang="en-US" sz="1200" u="none" strike="noStrike" kern="1200" cap="none" spc="0" normalizeH="0" baseline="0" noProof="0" dirty="0" err="1">
                          <a:ln>
                            <a:noFill/>
                          </a:ln>
                          <a:effectLst/>
                          <a:uLnTx/>
                          <a:uFillTx/>
                        </a:rPr>
                        <a:t>giờ</a:t>
                      </a:r>
                      <a:r>
                        <a:rPr kumimoji="0" lang="en-US" sz="1200" u="none" strike="noStrike" kern="1200" cap="none" spc="0" normalizeH="0" baseline="0" noProof="0" dirty="0">
                          <a:ln>
                            <a:noFill/>
                          </a:ln>
                          <a:effectLst/>
                          <a:uLnTx/>
                          <a:uFillTx/>
                        </a:rPr>
                        <a:t> </a:t>
                      </a:r>
                      <a:r>
                        <a:rPr kumimoji="0" lang="en-US" sz="1200" u="none" strike="noStrike" kern="1200" cap="none" spc="0" normalizeH="0" baseline="0" noProof="0" dirty="0" err="1">
                          <a:ln>
                            <a:noFill/>
                          </a:ln>
                          <a:effectLst/>
                          <a:uLnTx/>
                          <a:uFillTx/>
                        </a:rPr>
                        <a:t>cho</a:t>
                      </a:r>
                      <a:r>
                        <a:rPr kumimoji="0" lang="en-US" sz="1200" u="none" strike="noStrike" kern="1200" cap="none" spc="0" normalizeH="0" baseline="0" noProof="0" dirty="0">
                          <a:ln>
                            <a:noFill/>
                          </a:ln>
                          <a:effectLst/>
                          <a:uLnTx/>
                          <a:uFillTx/>
                        </a:rPr>
                        <a:t> </a:t>
                      </a:r>
                      <a:r>
                        <a:rPr kumimoji="0" lang="en-US" sz="1200" u="none" strike="noStrike" kern="1200" cap="none" spc="0" normalizeH="0" baseline="0" noProof="0" dirty="0" err="1">
                          <a:ln>
                            <a:noFill/>
                          </a:ln>
                          <a:effectLst/>
                          <a:uLnTx/>
                          <a:uFillTx/>
                        </a:rPr>
                        <a:t>cao</a:t>
                      </a:r>
                      <a:r>
                        <a:rPr kumimoji="0" lang="en-US" sz="1200" u="none" strike="noStrike" kern="1200" cap="none" spc="0" normalizeH="0" baseline="0" noProof="0" dirty="0">
                          <a:ln>
                            <a:noFill/>
                          </a:ln>
                          <a:effectLst/>
                          <a:uLnTx/>
                          <a:uFillTx/>
                        </a:rPr>
                        <a:t> </a:t>
                      </a:r>
                      <a:r>
                        <a:rPr kumimoji="0" lang="en-US" sz="1200" u="none" strike="noStrike" kern="1200" cap="none" spc="0" normalizeH="0" baseline="0" noProof="0" dirty="0" err="1">
                          <a:ln>
                            <a:noFill/>
                          </a:ln>
                          <a:effectLst/>
                          <a:uLnTx/>
                          <a:uFillTx/>
                        </a:rPr>
                        <a:t>điểm</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01673644"/>
                  </a:ext>
                </a:extLst>
              </a:tr>
            </a:tbl>
          </a:graphicData>
        </a:graphic>
      </p:graphicFrame>
      <p:sp>
        <p:nvSpPr>
          <p:cNvPr id="14" name="TextBox 13">
            <a:extLst>
              <a:ext uri="{FF2B5EF4-FFF2-40B4-BE49-F238E27FC236}">
                <a16:creationId xmlns:a16="http://schemas.microsoft.com/office/drawing/2014/main" id="{949B925C-81B6-9719-8B1C-BA9D726E01BC}"/>
              </a:ext>
            </a:extLst>
          </p:cNvPr>
          <p:cNvSpPr txBox="1"/>
          <p:nvPr/>
        </p:nvSpPr>
        <p:spPr>
          <a:xfrm>
            <a:off x="6321050" y="2411454"/>
            <a:ext cx="5167083" cy="461665"/>
          </a:xfrm>
          <a:prstGeom prst="rect">
            <a:avLst/>
          </a:prstGeom>
          <a:noFill/>
        </p:spPr>
        <p:txBody>
          <a:bodyPr wrap="square" rtlCol="0">
            <a:spAutoFit/>
          </a:bodyPr>
          <a:lstStyle/>
          <a:p>
            <a:pPr algn="ctr" defTabSz="1219170">
              <a:defRPr/>
            </a:pP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khác</a:t>
            </a:r>
            <a:endParaRPr lang="en-GB" sz="2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1791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id="{282059E6-27E7-472C-AEAC-06C1F6F9B2A2}"/>
              </a:ext>
            </a:extLst>
          </p:cNvPr>
          <p:cNvGraphicFramePr/>
          <p:nvPr/>
        </p:nvGraphicFramePr>
        <p:xfrm>
          <a:off x="295373" y="770468"/>
          <a:ext cx="11557960" cy="58589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46438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34</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34</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013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3340178"/>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609998">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3546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09/05/2025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3546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r h="535461">
                <a:tc>
                  <a:txBody>
                    <a:bodyPr/>
                    <a:lstStyle/>
                    <a:p>
                      <a:pPr algn="ctr"/>
                      <a:r>
                        <a:rPr lang="en-GB" sz="1500">
                          <a:latin typeface="Times New Roman" panose="02020603050405020304" pitchFamily="18" charset="0"/>
                          <a:cs typeface="Times New Roman" panose="02020603050405020304" pitchFamily="18" charset="0"/>
                        </a:rPr>
                        <a:t>3</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ED0217</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20/03/2025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34517888"/>
                  </a:ext>
                </a:extLst>
              </a:tr>
              <a:tr h="496410">
                <a:tc>
                  <a:txBody>
                    <a:bodyPr/>
                    <a:lstStyle/>
                    <a:p>
                      <a:pPr algn="ctr"/>
                      <a:r>
                        <a:rPr lang="en-GB" sz="1500">
                          <a:latin typeface="Times New Roman" panose="02020603050405020304" pitchFamily="18" charset="0"/>
                          <a:cs typeface="Times New Roman" panose="02020603050405020304" pitchFamily="18" charset="0"/>
                        </a:rPr>
                        <a:t>4</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ED0233</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546132875"/>
                  </a:ext>
                </a:extLst>
              </a:tr>
              <a:tr h="496410">
                <a:tc>
                  <a:txBody>
                    <a:bodyPr/>
                    <a:lstStyle/>
                    <a:p>
                      <a:pPr algn="ctr"/>
                      <a:r>
                        <a:rPr lang="en-GB" sz="1500">
                          <a:latin typeface="Times New Roman" panose="02020603050405020304" pitchFamily="18" charset="0"/>
                          <a:cs typeface="Times New Roman" panose="02020603050405020304" pitchFamily="18" charset="0"/>
                        </a:rPr>
                        <a:t>5</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ED0214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algn="ctr" fontAlgn="ct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5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380655896"/>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36660" y="4557765"/>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112860" y="5093398"/>
            <a:ext cx="11460201" cy="1241365"/>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90851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28/04/2025 – 04/05/2025: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A898.</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02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A898, A890.</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A890</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08/04. NSX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khuyến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nhiều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mạt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loại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16/05.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giữa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A890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A898</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29/04.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xin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downtime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T/S.</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1742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419600"/>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87671">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A359</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07-May-25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10-May-25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25-May-25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P-00263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16-May-25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A890</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26-Jul-25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r h="366539">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A892</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extLst>
                  <a:ext uri="{0D108BD9-81ED-4DB2-BD59-A6C34878D82A}">
                    <a16:rowId xmlns:a16="http://schemas.microsoft.com/office/drawing/2014/main" val="3237182100"/>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5029200"/>
            <a:ext cx="11169547" cy="1816266"/>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cao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điểm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hè</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do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A350</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BQDB</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đều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a:t>
            </a:r>
            <a:r>
              <a:rPr lang="vi-VN"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ứng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tuy</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nhiên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phát</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sinh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02 tr</a:t>
            </a:r>
            <a:r>
              <a:rPr lang="vi-VN"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ờng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hợp</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ngoài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dẫn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đủ</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để</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clear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sớm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hóc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cần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p>
          <a:p>
            <a:pPr marL="990575" lvl="1"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9424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609600"/>
            <a:ext cx="10512582" cy="19050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(A501/03/05/06/08/10/11/16, </a:t>
            </a:r>
            <a:r>
              <a:rPr lang="pt-BR" sz="1600" b="1" dirty="0" smtClean="0">
                <a:cs typeface="Times New Roman" panose="02020603050405020304" pitchFamily="18" charset="0"/>
              </a:rPr>
              <a:t>A617/20/22/23/24/25</a:t>
            </a:r>
            <a:r>
              <a:rPr lang="pt-BR" sz="1600" b="1" dirty="0">
                <a:cs typeface="Times New Roman" panose="02020603050405020304" pitchFamily="18" charset="0"/>
              </a:rPr>
              <a:t>, </a:t>
            </a:r>
            <a:r>
              <a:rPr lang="pt-BR" sz="1600" b="1" dirty="0" smtClean="0">
                <a:cs typeface="Times New Roman" panose="02020603050405020304" pitchFamily="18" charset="0"/>
              </a:rPr>
              <a:t>A886/887/895) </a:t>
            </a:r>
            <a:r>
              <a:rPr lang="pt-BR" sz="1600" b="1" dirty="0">
                <a:cs typeface="Times New Roman" panose="02020603050405020304" pitchFamily="18" charset="0"/>
              </a:rPr>
              <a:t>/</a:t>
            </a:r>
            <a:r>
              <a:rPr lang="pt-BR" sz="1600" b="1" dirty="0">
                <a:solidFill>
                  <a:schemeClr val="accent1">
                    <a:lumMod val="75000"/>
                  </a:schemeClr>
                </a:solidFill>
                <a:cs typeface="Times New Roman" panose="02020603050405020304" pitchFamily="18" charset="0"/>
              </a:rPr>
              <a:t> SGN </a:t>
            </a:r>
            <a:r>
              <a:rPr lang="pt-BR" sz="1600" b="1" dirty="0" smtClean="0">
                <a:solidFill>
                  <a:schemeClr val="accent1">
                    <a:lumMod val="75000"/>
                  </a:schemeClr>
                </a:solidFill>
                <a:cs typeface="Times New Roman" panose="02020603050405020304" pitchFamily="18" charset="0"/>
              </a:rPr>
              <a:t>(A509</a:t>
            </a:r>
            <a:r>
              <a:rPr lang="pt-BR" sz="1600" b="1" dirty="0">
                <a:solidFill>
                  <a:schemeClr val="accent1">
                    <a:lumMod val="75000"/>
                  </a:schemeClr>
                </a:solidFill>
                <a:cs typeface="Times New Roman" panose="02020603050405020304" pitchFamily="18" charset="0"/>
              </a:rPr>
              <a:t>).</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t>
            </a:r>
            <a:r>
              <a:rPr lang="en-US" sz="1600" b="1" dirty="0" smtClean="0">
                <a:cs typeface="Times New Roman" panose="02020603050405020304" pitchFamily="18" charset="0"/>
              </a:rPr>
              <a:t>A604, A616;</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a:t>
            </a:r>
            <a:r>
              <a:rPr lang="en-US" sz="1600" b="1" dirty="0" smtClean="0">
                <a:cs typeface="Times New Roman" panose="02020603050405020304" pitchFamily="18" charset="0"/>
              </a:rPr>
              <a:t>: Nil;</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              ATR72: </a:t>
            </a:r>
            <a:r>
              <a:rPr lang="en-US" sz="1600" b="1" dirty="0" smtClean="0">
                <a:cs typeface="Times New Roman" panose="02020603050405020304" pitchFamily="18" charset="0"/>
              </a:rPr>
              <a:t>B218;</a:t>
            </a:r>
            <a:endParaRPr lang="en-US" sz="1600" b="1" dirty="0">
              <a:cs typeface="Times New Roman" panose="02020603050405020304" pitchFamily="18" charset="0"/>
            </a:endParaRP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t>
            </a:r>
            <a:r>
              <a:rPr lang="en-US" sz="1600" b="1" dirty="0" smtClean="0">
                <a:cs typeface="Times New Roman" panose="02020603050405020304" pitchFamily="18" charset="0"/>
              </a:rPr>
              <a:t>A861;</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438400"/>
            <a:ext cx="11068012" cy="44196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500" b="1" dirty="0">
                <a:cs typeface="Times New Roman" panose="02020603050405020304" pitchFamily="18" charset="0"/>
              </a:rPr>
              <a:t>I. A321: </a:t>
            </a:r>
          </a:p>
          <a:p>
            <a:pPr marL="12700" indent="0" algn="just">
              <a:lnSpc>
                <a:spcPct val="100000"/>
              </a:lnSpc>
              <a:buSzPts val="1100"/>
              <a:buNone/>
            </a:pPr>
            <a:r>
              <a:rPr lang="es-ES" sz="1500" b="1" dirty="0">
                <a:solidFill>
                  <a:srgbClr val="FF0000"/>
                </a:solidFill>
                <a:cs typeface="Times New Roman" panose="02020603050405020304" pitchFamily="18" charset="0"/>
                <a:sym typeface="Wingdings" panose="05000000000000000000" pitchFamily="2" charset="2"/>
              </a:rPr>
              <a:t>    1. </a:t>
            </a:r>
            <a:r>
              <a:rPr lang="en-US" sz="1500" b="1" dirty="0" smtClean="0">
                <a:solidFill>
                  <a:srgbClr val="FF0000"/>
                </a:solidFill>
                <a:cs typeface="Times New Roman" panose="02020603050405020304" pitchFamily="18" charset="0"/>
                <a:sym typeface="Wingdings" panose="05000000000000000000" pitchFamily="2" charset="2"/>
              </a:rPr>
              <a:t>A604_HAN_EC06+EC01+C02+C03+Y06+Y12+EA08-EA09_13/04-13/05: </a:t>
            </a:r>
            <a:r>
              <a:rPr lang="en-US" sz="1500" b="1" dirty="0">
                <a:solidFill>
                  <a:srgbClr val="FF0000"/>
                </a:solidFill>
                <a:cs typeface="Times New Roman" panose="02020603050405020304" pitchFamily="18" charset="0"/>
                <a:sym typeface="Wingdings" panose="05000000000000000000" pitchFamily="2" charset="2"/>
              </a:rPr>
              <a:t>On sked</a:t>
            </a:r>
          </a:p>
          <a:p>
            <a:pPr marL="12700" indent="0" algn="just">
              <a:lnSpc>
                <a:spcPct val="100000"/>
              </a:lnSpc>
              <a:spcBef>
                <a:spcPts val="600"/>
              </a:spcBef>
              <a:buSzPts val="1100"/>
              <a:buNone/>
            </a:pPr>
            <a:r>
              <a:rPr lang="es-E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Thiếu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C-Duct Actuator</a:t>
            </a:r>
            <a:r>
              <a:rPr lang="en-US" sz="1500" dirty="0">
                <a:cs typeface="Times New Roman" panose="02020603050405020304" pitchFamily="18" charset="0"/>
                <a:sym typeface="Wingdings" panose="05000000000000000000" pitchFamily="2" charset="2"/>
              </a:rPr>
              <a:t>, PN: 3282982-3. </a:t>
            </a:r>
            <a:r>
              <a:rPr lang="en-US" sz="1500" dirty="0" smtClean="0">
                <a:cs typeface="Times New Roman" panose="02020603050405020304" pitchFamily="18" charset="0"/>
                <a:sym typeface="Wingdings" panose="05000000000000000000" pitchFamily="2" charset="2"/>
              </a:rPr>
              <a:t>Fan Cowl LH</a:t>
            </a:r>
            <a:r>
              <a:rPr lang="en-US" sz="1500" dirty="0">
                <a:cs typeface="Times New Roman" panose="02020603050405020304" pitchFamily="18" charset="0"/>
                <a:sym typeface="Wingdings" panose="05000000000000000000" pitchFamily="2" charset="2"/>
              </a:rPr>
              <a:t>, PN: </a:t>
            </a:r>
            <a:r>
              <a:rPr lang="en-US" sz="1500" dirty="0" smtClean="0">
                <a:cs typeface="Times New Roman" panose="02020603050405020304" pitchFamily="18" charset="0"/>
                <a:sym typeface="Wingdings" panose="05000000000000000000" pitchFamily="2" charset="2"/>
              </a:rPr>
              <a:t>745-4000-515. Tube </a:t>
            </a:r>
            <a:r>
              <a:rPr lang="en-US" sz="1500" dirty="0" err="1" smtClean="0">
                <a:cs typeface="Times New Roman" panose="02020603050405020304" pitchFamily="18" charset="0"/>
                <a:sym typeface="Wingdings" panose="05000000000000000000" pitchFamily="2" charset="2"/>
              </a:rPr>
              <a:t>Assy</a:t>
            </a:r>
            <a:r>
              <a:rPr lang="en-US" sz="1500" dirty="0" smtClean="0">
                <a:cs typeface="Times New Roman" panose="02020603050405020304" pitchFamily="18" charset="0"/>
                <a:sym typeface="Wingdings" panose="05000000000000000000" pitchFamily="2" charset="2"/>
              </a:rPr>
              <a:t> PN: 6A6206, </a:t>
            </a:r>
            <a:r>
              <a:rPr lang="en-US" sz="1500" dirty="0" err="1" smtClean="0">
                <a:cs typeface="Times New Roman" panose="02020603050405020304" pitchFamily="18" charset="0"/>
                <a:sym typeface="Wingdings" panose="05000000000000000000" pitchFamily="2" charset="2"/>
              </a:rPr>
              <a:t>dư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muộn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nhất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ngày</a:t>
            </a:r>
            <a:r>
              <a:rPr lang="en-US" sz="1500" dirty="0" smtClean="0">
                <a:cs typeface="Times New Roman" panose="02020603050405020304" pitchFamily="18" charset="0"/>
                <a:sym typeface="Wingdings" panose="05000000000000000000" pitchFamily="2" charset="2"/>
              </a:rPr>
              <a:t> 10/5 </a:t>
            </a:r>
            <a:r>
              <a:rPr lang="en-US" sz="1500" dirty="0" err="1" smtClean="0">
                <a:cs typeface="Times New Roman" panose="02020603050405020304" pitchFamily="18" charset="0"/>
                <a:sym typeface="Wingdings" panose="05000000000000000000" pitchFamily="2" charset="2"/>
              </a:rPr>
              <a:t>hoặc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dừng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gối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đầu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khai</a:t>
            </a:r>
            <a:r>
              <a:rPr lang="en-US" sz="1500" dirty="0" smtClean="0">
                <a:cs typeface="Times New Roman" panose="02020603050405020304" pitchFamily="18" charset="0"/>
                <a:sym typeface="Wingdings" panose="05000000000000000000" pitchFamily="2" charset="2"/>
              </a:rPr>
              <a:t> Rob. = &gt; </a:t>
            </a:r>
            <a:r>
              <a:rPr lang="en-US" sz="1500" dirty="0" err="1" smtClean="0">
                <a:cs typeface="Times New Roman" panose="02020603050405020304" pitchFamily="18" charset="0"/>
                <a:sym typeface="Wingdings" panose="05000000000000000000" pitchFamily="2" charset="2"/>
              </a:rPr>
              <a:t>Xem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xét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dừng</a:t>
            </a:r>
            <a:r>
              <a:rPr lang="en-US" sz="1500" dirty="0" smtClean="0">
                <a:cs typeface="Times New Roman" panose="02020603050405020304" pitchFamily="18" charset="0"/>
                <a:sym typeface="Wingdings" panose="05000000000000000000" pitchFamily="2" charset="2"/>
              </a:rPr>
              <a:t> Overlap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A326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Rob </a:t>
            </a:r>
            <a:r>
              <a:rPr lang="en-US" sz="1500" dirty="0" err="1" smtClean="0">
                <a:cs typeface="Times New Roman" panose="02020603050405020304" pitchFamily="18" charset="0"/>
                <a:sym typeface="Wingdings" panose="05000000000000000000" pitchFamily="2" charset="2"/>
              </a:rPr>
              <a:t>các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trên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nếu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không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kịp</a:t>
            </a:r>
            <a:r>
              <a:rPr lang="en-US" sz="15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Window Panel PN: D5627000120000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sớm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lắp</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vách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ghê</a:t>
            </a:r>
            <a:r>
              <a:rPr lang="en-US" sz="15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500" dirty="0" smtClean="0">
                <a:cs typeface="Times New Roman" panose="02020603050405020304" pitchFamily="18" charset="0"/>
                <a:sym typeface="Wingdings" panose="05000000000000000000" pitchFamily="2" charset="2"/>
              </a:rPr>
              <a:t>    </a:t>
            </a:r>
            <a:r>
              <a:rPr lang="es-ES" sz="1500" b="1" dirty="0" smtClean="0">
                <a:solidFill>
                  <a:srgbClr val="FF0000"/>
                </a:solidFill>
                <a:cs typeface="Times New Roman" panose="02020603050405020304" pitchFamily="18" charset="0"/>
                <a:sym typeface="Wingdings" panose="05000000000000000000" pitchFamily="2" charset="2"/>
              </a:rPr>
              <a:t>2. </a:t>
            </a:r>
            <a:r>
              <a:rPr lang="en-US" sz="1500" b="1" dirty="0" smtClean="0">
                <a:solidFill>
                  <a:srgbClr val="FF0000"/>
                </a:solidFill>
                <a:cs typeface="Times New Roman" panose="02020603050405020304" pitchFamily="18" charset="0"/>
                <a:sym typeface="Wingdings" panose="05000000000000000000" pitchFamily="2" charset="2"/>
              </a:rPr>
              <a:t>A616_HAN_ENG1,2 CHG, RTS_28/4-07/5: On sked</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được</a:t>
            </a:r>
            <a:r>
              <a:rPr lang="en-US" sz="1500" dirty="0" smtClean="0">
                <a:cs typeface="Times New Roman" panose="02020603050405020304" pitchFamily="18" charset="0"/>
                <a:sym typeface="Wingdings" panose="05000000000000000000" pitchFamily="2" charset="2"/>
              </a:rPr>
              <a:t> bay </a:t>
            </a:r>
            <a:r>
              <a:rPr lang="en-US" sz="1500" dirty="0" err="1" smtClean="0">
                <a:cs typeface="Times New Roman" panose="02020603050405020304" pitchFamily="18" charset="0"/>
                <a:sym typeface="Wingdings" panose="05000000000000000000" pitchFamily="2" charset="2"/>
              </a:rPr>
              <a:t>thư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sau</a:t>
            </a:r>
            <a:r>
              <a:rPr lang="en-US" sz="1500" dirty="0" smtClean="0">
                <a:cs typeface="Times New Roman" panose="02020603050405020304" pitchFamily="18" charset="0"/>
                <a:sym typeface="Wingdings" panose="05000000000000000000" pitchFamily="2" charset="2"/>
              </a:rPr>
              <a:t> Check do </a:t>
            </a:r>
            <a:r>
              <a:rPr lang="en-US" sz="1500" dirty="0" err="1" smtClean="0">
                <a:cs typeface="Times New Roman" panose="02020603050405020304" pitchFamily="18" charset="0"/>
                <a:sym typeface="Wingdings" panose="05000000000000000000" pitchFamily="2" charset="2"/>
              </a:rPr>
              <a:t>thay</a:t>
            </a:r>
            <a:r>
              <a:rPr lang="en-US" sz="1500" dirty="0" smtClean="0">
                <a:cs typeface="Times New Roman" panose="02020603050405020304" pitchFamily="18" charset="0"/>
                <a:sym typeface="Wingdings" panose="05000000000000000000" pitchFamily="2" charset="2"/>
              </a:rPr>
              <a:t> 2 ENG,</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Đ/n VAECO </a:t>
            </a:r>
            <a:r>
              <a:rPr lang="en-US" sz="1500" dirty="0" err="1" smtClean="0">
                <a:cs typeface="Times New Roman" panose="02020603050405020304" pitchFamily="18" charset="0"/>
                <a:sym typeface="Wingdings" panose="05000000000000000000" pitchFamily="2" charset="2"/>
              </a:rPr>
              <a:t>đánh</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gia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hoàn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sớm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các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sai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lệch</a:t>
            </a:r>
            <a:r>
              <a:rPr lang="en-US" sz="1500" dirty="0" smtClean="0">
                <a:cs typeface="Times New Roman" panose="02020603050405020304" pitchFamily="18" charset="0"/>
                <a:sym typeface="Wingdings" panose="05000000000000000000" pitchFamily="2" charset="2"/>
              </a:rPr>
              <a:t> BQ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báo</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cáo</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Cục</a:t>
            </a:r>
            <a:r>
              <a:rPr lang="en-US" sz="1500" dirty="0" smtClean="0">
                <a:cs typeface="Times New Roman" panose="02020603050405020304" pitchFamily="18" charset="0"/>
                <a:sym typeface="Wingdings" panose="05000000000000000000" pitchFamily="2" charset="2"/>
              </a:rPr>
              <a:t> HK </a:t>
            </a:r>
            <a:r>
              <a:rPr lang="en-US" sz="1500" dirty="0" err="1" smtClean="0">
                <a:cs typeface="Times New Roman" panose="02020603050405020304" pitchFamily="18" charset="0"/>
                <a:sym typeface="Wingdings" panose="05000000000000000000" pitchFamily="2" charset="2"/>
              </a:rPr>
              <a:t>va</a:t>
            </a:r>
            <a:r>
              <a:rPr lang="en-US" sz="1500" dirty="0" smtClean="0">
                <a:cs typeface="Times New Roman" panose="02020603050405020304" pitchFamily="18" charset="0"/>
                <a:sym typeface="Wingdings" panose="05000000000000000000" pitchFamily="2" charset="2"/>
              </a:rPr>
              <a:t>̀ NSX </a:t>
            </a:r>
            <a:r>
              <a:rPr lang="en-US" sz="1500" dirty="0" err="1" smtClean="0">
                <a:cs typeface="Times New Roman" panose="02020603050405020304" pitchFamily="18" charset="0"/>
                <a:sym typeface="Wingdings" panose="05000000000000000000" pitchFamily="2" charset="2"/>
              </a:rPr>
              <a:t>nếu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chưa</a:t>
            </a:r>
            <a:r>
              <a:rPr lang="en-US" sz="1500" dirty="0" smtClean="0">
                <a:cs typeface="Times New Roman" panose="02020603050405020304" pitchFamily="18" charset="0"/>
                <a:sym typeface="Wingdings" panose="05000000000000000000" pitchFamily="2" charset="2"/>
              </a:rPr>
              <a:t> có </a:t>
            </a:r>
            <a:r>
              <a:rPr lang="en-US" sz="1500" dirty="0" err="1" smtClean="0">
                <a:cs typeface="Times New Roman" panose="02020603050405020304" pitchFamily="18" charset="0"/>
                <a:sym typeface="Wingdings" panose="05000000000000000000" pitchFamily="2" charset="2"/>
              </a:rPr>
              <a:t>dư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kiến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xem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xét</a:t>
            </a:r>
            <a:r>
              <a:rPr lang="en-US" sz="1500" dirty="0" smtClean="0">
                <a:cs typeface="Times New Roman" panose="02020603050405020304" pitchFamily="18" charset="0"/>
                <a:sym typeface="Wingdings" panose="05000000000000000000" pitchFamily="2" charset="2"/>
              </a:rPr>
              <a:t> Rob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các</a:t>
            </a:r>
            <a:r>
              <a:rPr lang="en-US" sz="1500" dirty="0" smtClean="0">
                <a:cs typeface="Times New Roman" panose="02020603050405020304" pitchFamily="18" charset="0"/>
                <a:sym typeface="Wingdings" panose="05000000000000000000" pitchFamily="2" charset="2"/>
              </a:rPr>
              <a:t> </a:t>
            </a:r>
            <a:r>
              <a:rPr lang="en-US" sz="1500" dirty="0" err="1">
                <a:cs typeface="Times New Roman" panose="02020603050405020304" pitchFamily="18" charset="0"/>
                <a:sym typeface="Wingdings" panose="05000000000000000000" pitchFamily="2" charset="2"/>
              </a:rPr>
              <a:t>t</a:t>
            </a:r>
            <a:r>
              <a:rPr lang="en-US" sz="1500" dirty="0" err="1" smtClean="0">
                <a:cs typeface="Times New Roman" panose="02020603050405020304" pitchFamily="18" charset="0"/>
                <a:sym typeface="Wingdings" panose="05000000000000000000" pitchFamily="2" charset="2"/>
              </a:rPr>
              <a:t>àu</a:t>
            </a:r>
            <a:r>
              <a:rPr lang="en-US" sz="1500" dirty="0" smtClean="0">
                <a:cs typeface="Times New Roman" panose="02020603050405020304" pitchFamily="18" charset="0"/>
                <a:sym typeface="Wingdings" panose="05000000000000000000" pitchFamily="2" charset="2"/>
              </a:rPr>
              <a:t> BQDB/CHECK </a:t>
            </a:r>
            <a:r>
              <a:rPr lang="en-US" sz="1500" dirty="0" err="1" smtClean="0">
                <a:cs typeface="Times New Roman" panose="02020603050405020304" pitchFamily="18" charset="0"/>
                <a:sym typeface="Wingdings" panose="05000000000000000000" pitchFamily="2" charset="2"/>
              </a:rPr>
              <a:t>khác</a:t>
            </a:r>
            <a:r>
              <a:rPr lang="en-US" sz="1500" dirty="0" smtClean="0">
                <a:cs typeface="Times New Roman" panose="02020603050405020304" pitchFamily="18" charset="0"/>
                <a:sym typeface="Wingdings" panose="05000000000000000000" pitchFamily="2" charset="2"/>
              </a:rPr>
              <a:t>.</a:t>
            </a:r>
          </a:p>
          <a:p>
            <a:pPr marL="12700" indent="0">
              <a:lnSpc>
                <a:spcPct val="120000"/>
              </a:lnSpc>
              <a:buSzPts val="1100"/>
              <a:buNone/>
            </a:pPr>
            <a:r>
              <a:rPr lang="en-US" sz="1500" b="1" dirty="0" smtClean="0">
                <a:cs typeface="Times New Roman" panose="02020603050405020304" pitchFamily="18" charset="0"/>
              </a:rPr>
              <a:t>II</a:t>
            </a:r>
            <a:r>
              <a:rPr lang="en-US" sz="1500" b="1" dirty="0" smtClean="0">
                <a:cs typeface="Times New Roman" panose="02020603050405020304" pitchFamily="18" charset="0"/>
              </a:rPr>
              <a:t>. </a:t>
            </a:r>
            <a:r>
              <a:rPr lang="en-US" sz="1500" b="1" dirty="0">
                <a:cs typeface="Times New Roman" panose="02020603050405020304" pitchFamily="18" charset="0"/>
              </a:rPr>
              <a:t>A350:</a:t>
            </a:r>
            <a:r>
              <a:rPr lang="es-ES" sz="1500" i="1" dirty="0">
                <a:cs typeface="Times New Roman" panose="02020603050405020304" pitchFamily="18" charset="0"/>
                <a:sym typeface="Wingdings" panose="05000000000000000000" pitchFamily="2" charset="2"/>
              </a:rPr>
              <a:t> </a:t>
            </a:r>
          </a:p>
          <a:p>
            <a:pPr marL="12700" indent="0" algn="just">
              <a:buSzPts val="1100"/>
              <a:buNone/>
            </a:pPr>
            <a:r>
              <a:rPr lang="en-US" sz="1500" b="1" dirty="0" smtClean="0">
                <a:solidFill>
                  <a:srgbClr val="FF0000"/>
                </a:solidFill>
                <a:cs typeface="Times New Roman" panose="02020603050405020304" pitchFamily="18" charset="0"/>
                <a:sym typeface="Wingdings" panose="05000000000000000000" pitchFamily="2" charset="2"/>
              </a:rPr>
              <a:t>   </a:t>
            </a:r>
            <a:r>
              <a:rPr lang="en-US" sz="1500" b="1" dirty="0" smtClean="0">
                <a:solidFill>
                  <a:srgbClr val="FF0000"/>
                </a:solidFill>
                <a:cs typeface="Times New Roman" panose="02020603050405020304" pitchFamily="18" charset="0"/>
                <a:sym typeface="Wingdings" panose="05000000000000000000" pitchFamily="2" charset="2"/>
              </a:rPr>
              <a:t>Nil</a:t>
            </a:r>
            <a:endParaRPr lang="en-US" sz="1500" dirty="0" smtClean="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816007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39</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s-ES" sz="1400" b="1" dirty="0" smtClean="0">
                <a:cs typeface="Times New Roman" panose="02020603050405020304" pitchFamily="18" charset="0"/>
                <a:sym typeface="Wingdings" panose="05000000000000000000" pitchFamily="2" charset="2"/>
              </a:rPr>
              <a:t>III</a:t>
            </a:r>
            <a:r>
              <a:rPr lang="es-ES" sz="1400" b="1" dirty="0" smtClean="0">
                <a:cs typeface="Times New Roman" panose="02020603050405020304" pitchFamily="18" charset="0"/>
                <a:sym typeface="Wingdings" panose="05000000000000000000" pitchFamily="2" charset="2"/>
              </a:rPr>
              <a:t>. B787:</a:t>
            </a:r>
          </a:p>
          <a:p>
            <a:pPr marL="12700" indent="0" algn="just">
              <a:buSzPts val="1100"/>
              <a:buNone/>
            </a:pPr>
            <a:r>
              <a:rPr lang="en-US" sz="1400" b="1" dirty="0" smtClean="0">
                <a:solidFill>
                  <a:srgbClr val="FF0000"/>
                </a:solidFill>
                <a:cs typeface="Times New Roman" panose="02020603050405020304" pitchFamily="18" charset="0"/>
                <a:sym typeface="Wingdings" panose="05000000000000000000" pitchFamily="2" charset="2"/>
              </a:rPr>
              <a:t> 1. A861_SGN_REMAIN </a:t>
            </a:r>
            <a:r>
              <a:rPr lang="en-US" sz="1400" b="1" dirty="0">
                <a:solidFill>
                  <a:srgbClr val="FF0000"/>
                </a:solidFill>
                <a:cs typeface="Times New Roman" panose="02020603050405020304" pitchFamily="18" charset="0"/>
                <a:sym typeface="Wingdings" panose="05000000000000000000" pitchFamily="2" charset="2"/>
              </a:rPr>
              <a:t>TASK A06, C01, C03, ENGCHG_21/4-06/5: </a:t>
            </a:r>
            <a:r>
              <a:rPr lang="en-US" sz="1400" b="1" dirty="0" smtClean="0">
                <a:solidFill>
                  <a:srgbClr val="FF0000"/>
                </a:solidFill>
                <a:cs typeface="Times New Roman" panose="02020603050405020304" pitchFamily="18" charset="0"/>
                <a:sym typeface="Wingdings" panose="05000000000000000000" pitchFamily="2" charset="2"/>
              </a:rPr>
              <a:t>Ext to 07/5</a:t>
            </a:r>
            <a:endParaRPr lang="en-US" sz="1400" b="1" dirty="0" smtClean="0">
              <a:solidFill>
                <a:srgbClr val="FF0000"/>
              </a:solidFill>
              <a:cs typeface="Times New Roman" panose="02020603050405020304" pitchFamily="18" charset="0"/>
              <a:sym typeface="Wingdings" panose="05000000000000000000" pitchFamily="2" charset="2"/>
            </a:endParaRPr>
          </a:p>
          <a:p>
            <a:pPr marL="12700" indent="0" algn="just">
              <a:lnSpc>
                <a:spcPct val="150000"/>
              </a:lnSpc>
              <a:buSzPts val="1100"/>
              <a:buNone/>
            </a:pPr>
            <a:r>
              <a:rPr lang="en-US" sz="1400" dirty="0" smtClean="0">
                <a:cs typeface="Times New Roman" panose="02020603050405020304" pitchFamily="18" charset="0"/>
                <a:sym typeface="Wingdings" panose="05000000000000000000" pitchFamily="2" charset="2"/>
              </a:rPr>
              <a:t> - </a:t>
            </a:r>
            <a:r>
              <a:rPr lang="en-US" sz="1400" dirty="0" smtClean="0">
                <a:cs typeface="Times New Roman" panose="02020603050405020304" pitchFamily="18" charset="0"/>
                <a:sym typeface="Wingdings" panose="05000000000000000000" pitchFamily="2" charset="2"/>
              </a:rPr>
              <a:t>03/5, </a:t>
            </a:r>
            <a:r>
              <a:rPr lang="en-US" sz="1400" dirty="0" err="1" smtClean="0">
                <a:cs typeface="Times New Roman" panose="02020603050405020304" pitchFamily="18" charset="0"/>
                <a:sym typeface="Wingdings" panose="05000000000000000000" pitchFamily="2" charset="2"/>
              </a:rPr>
              <a:t>tàu</a:t>
            </a:r>
            <a:r>
              <a:rPr lang="en-US" sz="1400" dirty="0" smtClean="0">
                <a:cs typeface="Times New Roman" panose="02020603050405020304" pitchFamily="18" charset="0"/>
                <a:sym typeface="Wingdings" panose="05000000000000000000" pitchFamily="2" charset="2"/>
              </a:rPr>
              <a:t> bị </a:t>
            </a:r>
            <a:r>
              <a:rPr lang="en-US" sz="1400" dirty="0">
                <a:cs typeface="Times New Roman" panose="02020603050405020304" pitchFamily="18" charset="0"/>
                <a:sym typeface="Wingdings" panose="05000000000000000000" pitchFamily="2" charset="2"/>
              </a:rPr>
              <a:t>Rob GPM PN:182513-001 </a:t>
            </a:r>
            <a:r>
              <a:rPr lang="en-US" sz="1400" dirty="0" err="1" smtClean="0">
                <a:cs typeface="Times New Roman" panose="02020603050405020304" pitchFamily="18" charset="0"/>
                <a:sym typeface="Wingdings" panose="05000000000000000000" pitchFamily="2" charset="2"/>
              </a:rPr>
              <a:t>cho</a:t>
            </a:r>
            <a:r>
              <a:rPr lang="en-US" sz="1400" dirty="0" smtClean="0">
                <a:cs typeface="Times New Roman" panose="02020603050405020304" pitchFamily="18" charset="0"/>
                <a:sym typeface="Wingdings" panose="05000000000000000000" pitchFamily="2" charset="2"/>
              </a:rPr>
              <a:t> VIP Kit = &gt; </a:t>
            </a:r>
            <a:r>
              <a:rPr lang="en-US" sz="1400" dirty="0" err="1" smtClean="0">
                <a:cs typeface="Times New Roman" panose="02020603050405020304" pitchFamily="18" charset="0"/>
                <a:sym typeface="Wingdings" panose="05000000000000000000" pitchFamily="2" charset="2"/>
              </a:rPr>
              <a:t>Ảnh</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hưởng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cấu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hình</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lên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điện</a:t>
            </a:r>
            <a:r>
              <a:rPr lang="en-US" sz="1400" dirty="0" smtClean="0">
                <a:cs typeface="Times New Roman" panose="02020603050405020304" pitchFamily="18" charset="0"/>
                <a:sym typeface="Wingdings" panose="05000000000000000000" pitchFamily="2" charset="2"/>
              </a:rPr>
              <a:t> = &gt; Check </a:t>
            </a:r>
            <a:r>
              <a:rPr lang="en-US" sz="1400" dirty="0" err="1" smtClean="0">
                <a:cs typeface="Times New Roman" panose="02020603050405020304" pitchFamily="18" charset="0"/>
                <a:sym typeface="Wingdings" panose="05000000000000000000" pitchFamily="2" charset="2"/>
              </a:rPr>
              <a:t>ext</a:t>
            </a:r>
            <a:r>
              <a:rPr lang="en-US" sz="1400" dirty="0" smtClean="0">
                <a:cs typeface="Times New Roman" panose="02020603050405020304" pitchFamily="18" charset="0"/>
                <a:sym typeface="Wingdings" panose="05000000000000000000" pitchFamily="2" charset="2"/>
              </a:rPr>
              <a:t> to 07/5</a:t>
            </a:r>
            <a:r>
              <a:rPr lang="vi-VN" sz="1400" dirty="0" smtClean="0">
                <a:cs typeface="Times New Roman" panose="02020603050405020304" pitchFamily="18" charset="0"/>
                <a:sym typeface="Wingdings" panose="05000000000000000000" pitchFamily="2" charset="2"/>
              </a:rPr>
              <a:t>.</a:t>
            </a:r>
            <a:endParaRPr lang="en-US" sz="1400" dirty="0">
              <a:cs typeface="Times New Roman" panose="02020603050405020304" pitchFamily="18" charset="0"/>
              <a:sym typeface="Wingdings" panose="05000000000000000000" pitchFamily="2" charset="2"/>
            </a:endParaRPr>
          </a:p>
          <a:p>
            <a:pPr marL="12700" indent="0" algn="just">
              <a:buSzPts val="1100"/>
              <a:buNone/>
            </a:pPr>
            <a:r>
              <a:rPr lang="es-ES" sz="1400" b="1" dirty="0" smtClean="0">
                <a:cs typeface="Times New Roman" panose="02020603050405020304" pitchFamily="18" charset="0"/>
                <a:sym typeface="Wingdings" panose="05000000000000000000" pitchFamily="2" charset="2"/>
              </a:rPr>
              <a:t>IV. </a:t>
            </a:r>
            <a:r>
              <a:rPr lang="es-ES" sz="1400" b="1" dirty="0">
                <a:cs typeface="Times New Roman" panose="02020603050405020304" pitchFamily="18" charset="0"/>
                <a:sym typeface="Wingdings" panose="05000000000000000000" pitchFamily="2" charset="2"/>
              </a:rPr>
              <a:t>ATR72:</a:t>
            </a:r>
          </a:p>
          <a:p>
            <a:pPr marL="12700" indent="0" algn="just">
              <a:buSzPts val="1100"/>
              <a:buNone/>
            </a:pPr>
            <a:r>
              <a:rPr lang="en-US" sz="1400" b="1" dirty="0">
                <a:solidFill>
                  <a:srgbClr val="FF0000"/>
                </a:solidFill>
                <a:cs typeface="Times New Roman" panose="02020603050405020304" pitchFamily="18" charset="0"/>
                <a:sym typeface="Wingdings" panose="05000000000000000000" pitchFamily="2" charset="2"/>
              </a:rPr>
              <a:t>1. B218_SGN_Y02+Y04+Y08+SWAP LH LDG WITH B223_03-25/04: Ext </a:t>
            </a:r>
            <a:r>
              <a:rPr lang="en-US" sz="1400" b="1" dirty="0" smtClean="0">
                <a:solidFill>
                  <a:srgbClr val="FF0000"/>
                </a:solidFill>
                <a:cs typeface="Times New Roman" panose="02020603050405020304" pitchFamily="18" charset="0"/>
                <a:sym typeface="Wingdings" panose="05000000000000000000" pitchFamily="2" charset="2"/>
              </a:rPr>
              <a:t>13/5.</a:t>
            </a:r>
          </a:p>
          <a:p>
            <a:pPr marL="12700" indent="0" algn="just">
              <a:lnSpc>
                <a:spcPct val="150000"/>
              </a:lnSpc>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- 17/4, Found heavy corrosion Lower Frame Segment LH 41</a:t>
            </a:r>
            <a:r>
              <a:rPr lang="en-US" sz="1400" dirty="0" smtClean="0">
                <a:cs typeface="Times New Roman" panose="02020603050405020304" pitchFamily="18" charset="0"/>
                <a:sym typeface="Wingdings" panose="05000000000000000000" pitchFamily="2" charset="2"/>
              </a:rPr>
              <a:t>, Check Ext </a:t>
            </a:r>
            <a:r>
              <a:rPr lang="en-US" sz="1400" dirty="0" err="1" smtClean="0">
                <a:cs typeface="Times New Roman" panose="02020603050405020304" pitchFamily="18" charset="0"/>
                <a:sym typeface="Wingdings" panose="05000000000000000000" pitchFamily="2" charset="2"/>
              </a:rPr>
              <a:t>đến</a:t>
            </a:r>
            <a:r>
              <a:rPr lang="en-US" sz="1400" dirty="0" smtClean="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10/5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sữa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chữa</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sau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cần</a:t>
            </a:r>
            <a:r>
              <a:rPr lang="en-US" sz="1400" dirty="0" smtClean="0">
                <a:cs typeface="Times New Roman" panose="02020603050405020304" pitchFamily="18" charset="0"/>
                <a:sym typeface="Wingdings" panose="05000000000000000000" pitchFamily="2" charset="2"/>
              </a:rPr>
              <a:t> Overlap </a:t>
            </a:r>
            <a:r>
              <a:rPr lang="en-US" sz="1400" dirty="0" err="1" smtClean="0">
                <a:cs typeface="Times New Roman" panose="02020603050405020304" pitchFamily="18" charset="0"/>
                <a:sym typeface="Wingdings" panose="05000000000000000000" pitchFamily="2" charset="2"/>
              </a:rPr>
              <a:t>với</a:t>
            </a:r>
            <a:r>
              <a:rPr lang="en-US" sz="1400" dirty="0" smtClean="0">
                <a:cs typeface="Times New Roman" panose="02020603050405020304" pitchFamily="18" charset="0"/>
                <a:sym typeface="Wingdings" panose="05000000000000000000" pitchFamily="2" charset="2"/>
              </a:rPr>
              <a:t> B219 2 </a:t>
            </a:r>
            <a:r>
              <a:rPr lang="en-US" sz="1400" dirty="0" err="1" smtClean="0">
                <a:cs typeface="Times New Roman" panose="02020603050405020304" pitchFamily="18" charset="0"/>
                <a:sym typeface="Wingdings" panose="05000000000000000000" pitchFamily="2" charset="2"/>
              </a:rPr>
              <a:t>ngày</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đê</a:t>
            </a:r>
            <a:r>
              <a:rPr lang="en-US" sz="1400" dirty="0" smtClean="0">
                <a:cs typeface="Times New Roman" panose="02020603050405020304" pitchFamily="18" charset="0"/>
                <a:sym typeface="Wingdings" panose="05000000000000000000" pitchFamily="2" charset="2"/>
              </a:rPr>
              <a:t>̉ Swap LH MLG. </a:t>
            </a:r>
            <a:r>
              <a:rPr lang="en-US" sz="1400" dirty="0" err="1" smtClean="0">
                <a:cs typeface="Times New Roman" panose="02020603050405020304" pitchFamily="18" charset="0"/>
                <a:sym typeface="Wingdings" panose="05000000000000000000" pitchFamily="2" charset="2"/>
              </a:rPr>
              <a:t>Tuy</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nhiên</a:t>
            </a:r>
            <a:r>
              <a:rPr lang="en-US" sz="1400" dirty="0" smtClean="0">
                <a:cs typeface="Times New Roman" panose="02020603050405020304" pitchFamily="18" charset="0"/>
                <a:sym typeface="Wingdings" panose="05000000000000000000" pitchFamily="2" charset="2"/>
              </a:rPr>
              <a:t> do </a:t>
            </a:r>
            <a:r>
              <a:rPr lang="en-US" sz="1400" dirty="0" err="1" smtClean="0">
                <a:cs typeface="Times New Roman" panose="02020603050405020304" pitchFamily="18" charset="0"/>
                <a:sym typeface="Wingdings" panose="05000000000000000000" pitchFamily="2" charset="2"/>
              </a:rPr>
              <a:t>nhu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cầu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khai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thác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dẫn</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đến</a:t>
            </a:r>
            <a:r>
              <a:rPr lang="en-US" sz="1400" dirty="0" smtClean="0">
                <a:cs typeface="Times New Roman" panose="02020603050405020304" pitchFamily="18" charset="0"/>
                <a:sym typeface="Wingdings" panose="05000000000000000000" pitchFamily="2" charset="2"/>
              </a:rPr>
              <a:t> B219 chỉ </a:t>
            </a:r>
            <a:r>
              <a:rPr lang="en-US" sz="1400" dirty="0" err="1" smtClean="0">
                <a:cs typeface="Times New Roman" panose="02020603050405020304" pitchFamily="18" charset="0"/>
                <a:sym typeface="Wingdings" panose="05000000000000000000" pitchFamily="2" charset="2"/>
              </a:rPr>
              <a:t>dừng</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được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tối</a:t>
            </a:r>
            <a:r>
              <a:rPr lang="en-US" sz="1400" dirty="0" smtClean="0">
                <a:cs typeface="Times New Roman" panose="02020603050405020304" pitchFamily="18" charset="0"/>
                <a:sym typeface="Wingdings" panose="05000000000000000000" pitchFamily="2" charset="2"/>
              </a:rPr>
              <a:t> 11/5 = &gt; Check </a:t>
            </a:r>
            <a:r>
              <a:rPr lang="en-US" sz="1400" dirty="0" err="1" smtClean="0">
                <a:cs typeface="Times New Roman" panose="02020603050405020304" pitchFamily="18" charset="0"/>
                <a:sym typeface="Wingdings" panose="05000000000000000000" pitchFamily="2" charset="2"/>
              </a:rPr>
              <a:t>kéo</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dài</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đến</a:t>
            </a:r>
            <a:r>
              <a:rPr lang="en-US" sz="1400" dirty="0" smtClean="0">
                <a:cs typeface="Times New Roman" panose="02020603050405020304" pitchFamily="18" charset="0"/>
                <a:sym typeface="Wingdings" panose="05000000000000000000" pitchFamily="2" charset="2"/>
              </a:rPr>
              <a:t> 13/5.</a:t>
            </a:r>
            <a:endParaRPr lang="vi-VN" sz="1400" dirty="0" smtClean="0">
              <a:cs typeface="Times New Roman" panose="02020603050405020304" pitchFamily="18" charset="0"/>
              <a:sym typeface="Wingdings" panose="05000000000000000000" pitchFamily="2" charset="2"/>
            </a:endParaRPr>
          </a:p>
          <a:p>
            <a:pPr marL="12700" indent="0" algn="just">
              <a:lnSpc>
                <a:spcPct val="150000"/>
              </a:lnSpc>
              <a:buSzPts val="1100"/>
              <a:buNone/>
            </a:pPr>
            <a:r>
              <a:rPr lang="en-US" sz="1400" dirty="0" smtClean="0">
                <a:cs typeface="Times New Roman" panose="02020603050405020304" pitchFamily="18" charset="0"/>
                <a:sym typeface="Wingdings" panose="05000000000000000000" pitchFamily="2" charset="2"/>
              </a:rPr>
              <a:t>  </a:t>
            </a:r>
            <a:r>
              <a:rPr lang="vi-VN"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Các</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vật</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thiếu</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dư</a:t>
            </a:r>
            <a:r>
              <a:rPr lang="en-US" sz="1400" dirty="0" smtClean="0">
                <a:cs typeface="Times New Roman" panose="02020603050405020304" pitchFamily="18" charset="0"/>
                <a:sym typeface="Wingdings" panose="05000000000000000000" pitchFamily="2" charset="2"/>
              </a:rPr>
              <a:t>̣ </a:t>
            </a:r>
            <a:r>
              <a:rPr lang="en-US" sz="1400" dirty="0" err="1" smtClean="0">
                <a:cs typeface="Times New Roman" panose="02020603050405020304" pitchFamily="18" charset="0"/>
                <a:sym typeface="Wingdings" panose="05000000000000000000" pitchFamily="2" charset="2"/>
              </a:rPr>
              <a:t>kiến</a:t>
            </a:r>
            <a:r>
              <a:rPr lang="en-US" sz="1400" dirty="0" smtClean="0">
                <a:cs typeface="Times New Roman" panose="02020603050405020304" pitchFamily="18" charset="0"/>
                <a:sym typeface="Wingdings" panose="05000000000000000000" pitchFamily="2" charset="2"/>
              </a:rPr>
              <a:t> sẽ </a:t>
            </a:r>
            <a:r>
              <a:rPr lang="en-US" sz="1400" dirty="0" err="1" smtClean="0">
                <a:cs typeface="Times New Roman" panose="02020603050405020304" pitchFamily="18" charset="0"/>
                <a:sym typeface="Wingdings" panose="05000000000000000000" pitchFamily="2" charset="2"/>
              </a:rPr>
              <a:t>được</a:t>
            </a:r>
            <a:r>
              <a:rPr lang="en-US" sz="1400" dirty="0" smtClean="0">
                <a:cs typeface="Times New Roman" panose="02020603050405020304" pitchFamily="18" charset="0"/>
                <a:sym typeface="Wingdings" panose="05000000000000000000" pitchFamily="2" charset="2"/>
              </a:rPr>
              <a:t> </a:t>
            </a:r>
            <a:r>
              <a:rPr lang="en-US" sz="1400" dirty="0" smtClean="0">
                <a:cs typeface="Times New Roman" panose="02020603050405020304" pitchFamily="18" charset="0"/>
                <a:sym typeface="Wingdings" panose="05000000000000000000" pitchFamily="2" charset="2"/>
              </a:rPr>
              <a:t>Swap </a:t>
            </a:r>
            <a:r>
              <a:rPr lang="en-US" sz="1400" dirty="0" err="1" smtClean="0">
                <a:cs typeface="Times New Roman" panose="02020603050405020304" pitchFamily="18" charset="0"/>
                <a:sym typeface="Wingdings" panose="05000000000000000000" pitchFamily="2" charset="2"/>
              </a:rPr>
              <a:t>tư</a:t>
            </a:r>
            <a:r>
              <a:rPr lang="en-US" sz="1400" dirty="0" smtClean="0">
                <a:cs typeface="Times New Roman" panose="02020603050405020304" pitchFamily="18" charset="0"/>
                <a:sym typeface="Wingdings" panose="05000000000000000000" pitchFamily="2" charset="2"/>
              </a:rPr>
              <a:t>̀ B219</a:t>
            </a:r>
            <a:endParaRPr lang="en-US" sz="1400" dirty="0" smtClean="0">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2621510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6" name="Table 5">
            <a:extLst>
              <a:ext uri="{FF2B5EF4-FFF2-40B4-BE49-F238E27FC236}">
                <a16:creationId xmlns:a16="http://schemas.microsoft.com/office/drawing/2014/main" id="{BB35CC2C-8423-E521-CD4E-293939B98321}"/>
              </a:ext>
            </a:extLst>
          </p:cNvPr>
          <p:cNvGraphicFramePr>
            <a:graphicFrameLocks noGrp="1"/>
          </p:cNvGraphicFramePr>
          <p:nvPr>
            <p:extLst>
              <p:ext uri="{D42A27DB-BD31-4B8C-83A1-F6EECF244321}">
                <p14:modId xmlns:p14="http://schemas.microsoft.com/office/powerpoint/2010/main" val="2406533751"/>
              </p:ext>
            </p:extLst>
          </p:nvPr>
        </p:nvGraphicFramePr>
        <p:xfrm>
          <a:off x="381000" y="990600"/>
          <a:ext cx="11506198" cy="5562600"/>
        </p:xfrm>
        <a:graphic>
          <a:graphicData uri="http://schemas.openxmlformats.org/drawingml/2006/table">
            <a:tbl>
              <a:tblPr/>
              <a:tblGrid>
                <a:gridCol w="334258">
                  <a:extLst>
                    <a:ext uri="{9D8B030D-6E8A-4147-A177-3AD203B41FA5}">
                      <a16:colId xmlns:a16="http://schemas.microsoft.com/office/drawing/2014/main" val="3525710516"/>
                    </a:ext>
                  </a:extLst>
                </a:gridCol>
                <a:gridCol w="2262672">
                  <a:extLst>
                    <a:ext uri="{9D8B030D-6E8A-4147-A177-3AD203B41FA5}">
                      <a16:colId xmlns:a16="http://schemas.microsoft.com/office/drawing/2014/main" val="2060993390"/>
                    </a:ext>
                  </a:extLst>
                </a:gridCol>
                <a:gridCol w="527099">
                  <a:extLst>
                    <a:ext uri="{9D8B030D-6E8A-4147-A177-3AD203B41FA5}">
                      <a16:colId xmlns:a16="http://schemas.microsoft.com/office/drawing/2014/main" val="2769651570"/>
                    </a:ext>
                  </a:extLst>
                </a:gridCol>
                <a:gridCol w="578524">
                  <a:extLst>
                    <a:ext uri="{9D8B030D-6E8A-4147-A177-3AD203B41FA5}">
                      <a16:colId xmlns:a16="http://schemas.microsoft.com/office/drawing/2014/main" val="1681519571"/>
                    </a:ext>
                  </a:extLst>
                </a:gridCol>
                <a:gridCol w="514244">
                  <a:extLst>
                    <a:ext uri="{9D8B030D-6E8A-4147-A177-3AD203B41FA5}">
                      <a16:colId xmlns:a16="http://schemas.microsoft.com/office/drawing/2014/main" val="2480987328"/>
                    </a:ext>
                  </a:extLst>
                </a:gridCol>
                <a:gridCol w="488531">
                  <a:extLst>
                    <a:ext uri="{9D8B030D-6E8A-4147-A177-3AD203B41FA5}">
                      <a16:colId xmlns:a16="http://schemas.microsoft.com/office/drawing/2014/main" val="309500298"/>
                    </a:ext>
                  </a:extLst>
                </a:gridCol>
                <a:gridCol w="527099">
                  <a:extLst>
                    <a:ext uri="{9D8B030D-6E8A-4147-A177-3AD203B41FA5}">
                      <a16:colId xmlns:a16="http://schemas.microsoft.com/office/drawing/2014/main" val="1782067338"/>
                    </a:ext>
                  </a:extLst>
                </a:gridCol>
                <a:gridCol w="514244">
                  <a:extLst>
                    <a:ext uri="{9D8B030D-6E8A-4147-A177-3AD203B41FA5}">
                      <a16:colId xmlns:a16="http://schemas.microsoft.com/office/drawing/2014/main" val="756116976"/>
                    </a:ext>
                  </a:extLst>
                </a:gridCol>
                <a:gridCol w="527099">
                  <a:extLst>
                    <a:ext uri="{9D8B030D-6E8A-4147-A177-3AD203B41FA5}">
                      <a16:colId xmlns:a16="http://schemas.microsoft.com/office/drawing/2014/main" val="130436723"/>
                    </a:ext>
                  </a:extLst>
                </a:gridCol>
                <a:gridCol w="527099">
                  <a:extLst>
                    <a:ext uri="{9D8B030D-6E8A-4147-A177-3AD203B41FA5}">
                      <a16:colId xmlns:a16="http://schemas.microsoft.com/office/drawing/2014/main" val="2033125473"/>
                    </a:ext>
                  </a:extLst>
                </a:gridCol>
                <a:gridCol w="527099">
                  <a:extLst>
                    <a:ext uri="{9D8B030D-6E8A-4147-A177-3AD203B41FA5}">
                      <a16:colId xmlns:a16="http://schemas.microsoft.com/office/drawing/2014/main" val="3419650201"/>
                    </a:ext>
                  </a:extLst>
                </a:gridCol>
                <a:gridCol w="4178230">
                  <a:extLst>
                    <a:ext uri="{9D8B030D-6E8A-4147-A177-3AD203B41FA5}">
                      <a16:colId xmlns:a16="http://schemas.microsoft.com/office/drawing/2014/main" val="2479167483"/>
                    </a:ext>
                  </a:extLst>
                </a:gridCol>
              </a:tblGrid>
              <a:tr h="456859">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FLEET A321 (CẬP NHẬT </a:t>
                      </a:r>
                      <a:r>
                        <a:rPr lang="en-US" sz="1600" b="1" i="0" u="none" strike="noStrike" dirty="0" smtClean="0">
                          <a:solidFill>
                            <a:srgbClr val="000000"/>
                          </a:solidFill>
                          <a:effectLst/>
                          <a:latin typeface="Times New Roman" panose="02020603050405020304" pitchFamily="18" charset="0"/>
                        </a:rPr>
                        <a:t>04/05)</a:t>
                      </a:r>
                      <a:endParaRPr lang="en-US" sz="1600" b="1" i="0" u="none" strike="noStrike" dirty="0">
                        <a:solidFill>
                          <a:srgbClr val="000000"/>
                        </a:solidFill>
                        <a:effectLst/>
                        <a:latin typeface="Times New Roman" panose="02020603050405020304" pitchFamily="18" charset="0"/>
                      </a:endParaRP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18094248"/>
                  </a:ext>
                </a:extLst>
              </a:tr>
              <a:tr h="553767">
                <a:tc>
                  <a:txBody>
                    <a:bodyPr/>
                    <a:lstStyle/>
                    <a:p>
                      <a:pPr algn="ctr" fontAlgn="ctr"/>
                      <a:r>
                        <a:rPr lang="en-US" sz="1100" b="1" i="0" u="none" strike="noStrike">
                          <a:solidFill>
                            <a:srgbClr val="000000"/>
                          </a:solidFill>
                          <a:effectLst/>
                          <a:latin typeface="Times New Roman" panose="02020603050405020304" pitchFamily="18" charset="0"/>
                        </a:rPr>
                        <a:t>STT</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A/C</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Jun-25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dirty="0">
                          <a:solidFill>
                            <a:srgbClr val="000000"/>
                          </a:solidFill>
                          <a:effectLst/>
                          <a:latin typeface="Times New Roman" panose="02020603050405020304" pitchFamily="18" charset="0"/>
                        </a:rPr>
                        <a:t>Aug-25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131083321"/>
                  </a:ext>
                </a:extLst>
              </a:tr>
              <a:tr h="1473023">
                <a:tc>
                  <a:txBody>
                    <a:bodyPr/>
                    <a:lstStyle/>
                    <a:p>
                      <a:pPr algn="ctr" fontAlgn="ctr"/>
                      <a:r>
                        <a:rPr lang="en-US" sz="1100" b="1" i="0" u="none" strike="noStrike">
                          <a:solidFill>
                            <a:srgbClr val="000000"/>
                          </a:solidFill>
                          <a:effectLst/>
                          <a:latin typeface="Times New Roman" panose="02020603050405020304" pitchFamily="18" charset="0"/>
                        </a:rPr>
                        <a:t>1</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14.00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0" i="0" u="none" strike="noStrike">
                          <a:solidFill>
                            <a:srgbClr val="000000"/>
                          </a:solidFill>
                          <a:effectLst/>
                          <a:latin typeface="Times New Roman" panose="02020603050405020304" pitchFamily="18" charset="0"/>
                        </a:rPr>
                        <a:t>11.50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rPr>
                        <a:t>- </a:t>
                      </a:r>
                      <a:r>
                        <a:rPr lang="en-US" sz="1200" b="0" i="0" u="none" strike="noStrike" dirty="0" err="1" smtClean="0">
                          <a:solidFill>
                            <a:srgbClr val="000000"/>
                          </a:solidFill>
                          <a:effectLst/>
                          <a:latin typeface="Times New Roman" panose="02020603050405020304" pitchFamily="18" charset="0"/>
                        </a:rPr>
                        <a:t>Đang</a:t>
                      </a:r>
                      <a:r>
                        <a:rPr lang="en-US" sz="1200" b="0" i="0" u="none" strike="noStrike" baseline="0" dirty="0" smtClean="0">
                          <a:solidFill>
                            <a:srgbClr val="000000"/>
                          </a:solidFill>
                          <a:effectLst/>
                          <a:latin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rPr>
                        <a:t>triển</a:t>
                      </a:r>
                      <a:r>
                        <a:rPr lang="en-US" sz="1200" b="0" i="0" u="none" strike="noStrike" baseline="0" dirty="0" smtClean="0">
                          <a:solidFill>
                            <a:srgbClr val="000000"/>
                          </a:solidFill>
                          <a:effectLst/>
                          <a:latin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rPr>
                        <a:t>khai</a:t>
                      </a:r>
                      <a:r>
                        <a:rPr lang="en-US" sz="1200" b="0" i="0" u="none" strike="noStrike" baseline="0" dirty="0" smtClean="0">
                          <a:solidFill>
                            <a:srgbClr val="000000"/>
                          </a:solidFill>
                          <a:effectLst/>
                          <a:latin typeface="Times New Roman" panose="02020603050405020304" pitchFamily="18" charset="0"/>
                        </a:rPr>
                        <a:t> </a:t>
                      </a:r>
                      <a:r>
                        <a:rPr lang="en-US" sz="1200" b="0" i="0" u="none" strike="noStrike" baseline="0" dirty="0" err="1" smtClean="0">
                          <a:solidFill>
                            <a:srgbClr val="000000"/>
                          </a:solidFill>
                          <a:effectLst/>
                          <a:latin typeface="Times New Roman" panose="02020603050405020304" pitchFamily="18" charset="0"/>
                        </a:rPr>
                        <a:t>theo</a:t>
                      </a:r>
                      <a:r>
                        <a:rPr lang="en-US" sz="1200" b="0" i="0" u="none" strike="noStrike" baseline="0" dirty="0" smtClean="0">
                          <a:solidFill>
                            <a:srgbClr val="000000"/>
                          </a:solidFill>
                          <a:effectLst/>
                          <a:latin typeface="Times New Roman" panose="02020603050405020304" pitchFamily="18" charset="0"/>
                        </a:rPr>
                        <a:t> </a:t>
                      </a:r>
                      <a:r>
                        <a:rPr lang="vi-VN" sz="1200" b="0" i="0" u="none" strike="noStrike" dirty="0" smtClean="0">
                          <a:solidFill>
                            <a:srgbClr val="000000"/>
                          </a:solidFill>
                          <a:effectLst/>
                          <a:latin typeface="Times New Roman" panose="02020603050405020304" pitchFamily="18" charset="0"/>
                        </a:rPr>
                        <a:t>kịch </a:t>
                      </a:r>
                      <a:r>
                        <a:rPr lang="vi-VN" sz="1200" b="0" i="0" u="none" strike="noStrike" dirty="0">
                          <a:solidFill>
                            <a:srgbClr val="000000"/>
                          </a:solidFill>
                          <a:effectLst/>
                          <a:latin typeface="Times New Roman" panose="02020603050405020304" pitchFamily="18" charset="0"/>
                        </a:rPr>
                        <a:t>bản thuê thêm 1 ENG trước 05/06 để đảm bảo nguồn lực, </a:t>
                      </a:r>
                      <a:r>
                        <a:rPr lang="vi-VN" sz="1200" b="0" i="0" u="none" strike="noStrike" dirty="0">
                          <a:solidFill>
                            <a:srgbClr val="FF0000"/>
                          </a:solidFill>
                          <a:effectLst/>
                          <a:latin typeface="Times New Roman" panose="02020603050405020304" pitchFamily="18" charset="0"/>
                        </a:rPr>
                        <a:t>nếu không thuê thêm ENG sẽ phát sinh:</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+ 06/2025: tăng 1 tàu dừng</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+ 07/2025: tăng 0.5 tàu dừng</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000000"/>
                          </a:solidFill>
                          <a:effectLst/>
                          <a:latin typeface="Times New Roman" panose="02020603050405020304" pitchFamily="18" charset="0"/>
                        </a:rPr>
                        <a:t>- 05/2025: tăng 1 tàu do lùi RTS A501 (phát sinh A621 thay ENG)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5609312"/>
                  </a:ext>
                </a:extLst>
              </a:tr>
              <a:tr h="487316">
                <a:tc>
                  <a:txBody>
                    <a:bodyPr/>
                    <a:lstStyle/>
                    <a:p>
                      <a:pPr algn="ctr" fontAlgn="ctr"/>
                      <a:r>
                        <a:rPr lang="en-US" sz="1100" b="1" i="0" u="none" strike="noStrike">
                          <a:solidFill>
                            <a:srgbClr val="000000"/>
                          </a:solidFill>
                          <a:effectLst/>
                          <a:latin typeface="Times New Roman" panose="02020603050405020304" pitchFamily="18" charset="0"/>
                        </a:rPr>
                        <a:t>2</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886773308"/>
                  </a:ext>
                </a:extLst>
              </a:tr>
              <a:tr h="1439797">
                <a:tc>
                  <a:txBody>
                    <a:bodyPr/>
                    <a:lstStyle/>
                    <a:p>
                      <a:pPr algn="ctr" fontAlgn="ctr"/>
                      <a:r>
                        <a:rPr lang="en-US" sz="1100" b="1" i="0" u="none" strike="noStrike">
                          <a:solidFill>
                            <a:srgbClr val="000000"/>
                          </a:solidFill>
                          <a:effectLst/>
                          <a:latin typeface="Times New Roman" panose="02020603050405020304" pitchFamily="18" charset="0"/>
                        </a:rPr>
                        <a:t>3</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2.40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3.10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1.20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0.80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FF0000"/>
                          </a:solidFill>
                          <a:effectLst/>
                          <a:latin typeface="Times New Roman" panose="02020603050405020304" pitchFamily="18" charset="0"/>
                        </a:rPr>
                        <a:t>- 08/2025: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0.3 do </a:t>
                      </a:r>
                      <a:r>
                        <a:rPr lang="en-US" sz="1200" b="0" i="0" u="none" strike="noStrike" dirty="0" err="1">
                          <a:solidFill>
                            <a:srgbClr val="FF0000"/>
                          </a:solidFill>
                          <a:effectLst/>
                          <a:latin typeface="Times New Roman" panose="02020603050405020304" pitchFamily="18" charset="0"/>
                        </a:rPr>
                        <a:t>dồn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lịch</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tháng</a:t>
                      </a:r>
                      <a:r>
                        <a:rPr lang="en-US" sz="1200" b="0" i="0" u="none" strike="noStrike" dirty="0">
                          <a:solidFill>
                            <a:srgbClr val="FF0000"/>
                          </a:solidFill>
                          <a:effectLst/>
                          <a:latin typeface="Times New Roman" panose="02020603050405020304" pitchFamily="18" charset="0"/>
                        </a:rPr>
                        <a:t> 7</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- 07/2025: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0.3 do </a:t>
                      </a:r>
                      <a:r>
                        <a:rPr lang="en-US" sz="1200" b="0" i="0" u="none" strike="noStrike" dirty="0" err="1">
                          <a:solidFill>
                            <a:srgbClr val="FF0000"/>
                          </a:solidFill>
                          <a:effectLst/>
                          <a:latin typeface="Times New Roman" panose="02020603050405020304" pitchFamily="18" charset="0"/>
                        </a:rPr>
                        <a:t>dồn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lịch</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tháng</a:t>
                      </a:r>
                      <a:r>
                        <a:rPr lang="en-US" sz="1200" b="0" i="0" u="none" strike="noStrike" dirty="0">
                          <a:solidFill>
                            <a:srgbClr val="FF0000"/>
                          </a:solidFill>
                          <a:effectLst/>
                          <a:latin typeface="Times New Roman" panose="02020603050405020304" pitchFamily="18" charset="0"/>
                        </a:rPr>
                        <a:t> 5 &amp; 6</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- 06/2025: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0.1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A354 </a:t>
                      </a:r>
                      <a:r>
                        <a:rPr lang="en-US" sz="1200" b="0" i="0" u="none" strike="noStrike" dirty="0" err="1">
                          <a:solidFill>
                            <a:srgbClr val="FF0000"/>
                          </a:solidFill>
                          <a:effectLst/>
                          <a:latin typeface="Times New Roman" panose="02020603050405020304" pitchFamily="18" charset="0"/>
                        </a:rPr>
                        <a:t>cần</a:t>
                      </a:r>
                      <a:r>
                        <a:rPr lang="en-US" sz="1200" b="0" i="0" u="none" strike="noStrike" dirty="0">
                          <a:solidFill>
                            <a:srgbClr val="FF0000"/>
                          </a:solidFill>
                          <a:effectLst/>
                          <a:latin typeface="Times New Roman" panose="02020603050405020304" pitchFamily="18" charset="0"/>
                        </a:rPr>
                        <a:t> 3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thực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hiện</a:t>
                      </a:r>
                      <a:r>
                        <a:rPr lang="en-US" sz="1200" b="0" i="0" u="none" strike="noStrike" dirty="0">
                          <a:solidFill>
                            <a:srgbClr val="FF0000"/>
                          </a:solidFill>
                          <a:effectLst/>
                          <a:latin typeface="Times New Roman" panose="02020603050405020304" pitchFamily="18" charset="0"/>
                        </a:rPr>
                        <a:t> ALI task</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- 05/2025: </a:t>
                      </a:r>
                      <a:r>
                        <a:rPr lang="en-US" sz="1200" b="0" i="0" u="none" strike="noStrike" dirty="0" err="1">
                          <a:solidFill>
                            <a:srgbClr val="FF0000"/>
                          </a:solidFill>
                          <a:effectLst/>
                          <a:latin typeface="Times New Roman" panose="02020603050405020304" pitchFamily="18" charset="0"/>
                        </a:rPr>
                        <a:t>giảm</a:t>
                      </a:r>
                      <a:r>
                        <a:rPr lang="en-US" sz="1200" b="0" i="0" u="none" strike="noStrike" dirty="0">
                          <a:solidFill>
                            <a:srgbClr val="FF0000"/>
                          </a:solidFill>
                          <a:effectLst/>
                          <a:latin typeface="Times New Roman" panose="02020603050405020304" pitchFamily="18" charset="0"/>
                        </a:rPr>
                        <a:t> 0.3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lùi</a:t>
                      </a:r>
                      <a:r>
                        <a:rPr lang="en-US" sz="1200" b="0" i="0" u="none" strike="noStrike" dirty="0">
                          <a:solidFill>
                            <a:srgbClr val="FF0000"/>
                          </a:solidFill>
                          <a:effectLst/>
                          <a:latin typeface="Times New Roman" panose="02020603050405020304" pitchFamily="18" charset="0"/>
                        </a:rPr>
                        <a:t> check </a:t>
                      </a:r>
                      <a:r>
                        <a:rPr lang="en-US" sz="1200" b="0" i="0" u="none" strike="noStrike" dirty="0" err="1">
                          <a:solidFill>
                            <a:srgbClr val="FF0000"/>
                          </a:solidFill>
                          <a:effectLst/>
                          <a:latin typeface="Times New Roman" panose="02020603050405020304" pitchFamily="18" charset="0"/>
                        </a:rPr>
                        <a:t>để</a:t>
                      </a:r>
                      <a:r>
                        <a:rPr lang="en-US" sz="1200" b="0" i="0" u="none" strike="noStrike" dirty="0">
                          <a:solidFill>
                            <a:srgbClr val="FF0000"/>
                          </a:solidFill>
                          <a:effectLst/>
                          <a:latin typeface="Times New Roman" panose="02020603050405020304" pitchFamily="18" charset="0"/>
                        </a:rPr>
                        <a:t> bay </a:t>
                      </a:r>
                      <a:r>
                        <a:rPr lang="en-US" sz="1200" b="0" i="0" u="none" strike="noStrike" dirty="0" err="1">
                          <a:solidFill>
                            <a:srgbClr val="FF0000"/>
                          </a:solidFill>
                          <a:effectLst/>
                          <a:latin typeface="Times New Roman" panose="02020603050405020304" pitchFamily="18" charset="0"/>
                        </a:rPr>
                        <a:t>bù</a:t>
                      </a:r>
                      <a:r>
                        <a:rPr lang="en-US" sz="1200" b="0" i="0" u="none" strike="noStrike" dirty="0">
                          <a:solidFill>
                            <a:srgbClr val="FF0000"/>
                          </a:solidFill>
                          <a:effectLst/>
                          <a:latin typeface="Times New Roman" panose="02020603050405020304" pitchFamily="18" charset="0"/>
                        </a:rPr>
                        <a:t> do A501 RTS </a:t>
                      </a:r>
                      <a:r>
                        <a:rPr lang="en-US" sz="1200" b="0" i="0" u="none" strike="noStrike" dirty="0" err="1">
                          <a:solidFill>
                            <a:srgbClr val="FF0000"/>
                          </a:solidFill>
                          <a:effectLst/>
                          <a:latin typeface="Times New Roman" panose="02020603050405020304" pitchFamily="18" charset="0"/>
                        </a:rPr>
                        <a:t>muộn</a:t>
                      </a:r>
                      <a:r>
                        <a:rPr lang="en-US" sz="1200" b="0" i="0" u="none" strike="noStrike" dirty="0">
                          <a:solidFill>
                            <a:srgbClr val="FF0000"/>
                          </a:solidFill>
                          <a:effectLst/>
                          <a:latin typeface="Times New Roman" panose="02020603050405020304" pitchFamily="18" charset="0"/>
                        </a:rPr>
                        <a:t>)</a:t>
                      </a:r>
                      <a:br>
                        <a:rPr lang="en-US" sz="1200" b="0" i="0" u="none" strike="noStrike" dirty="0">
                          <a:solidFill>
                            <a:srgbClr val="FF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- 04/2025: </a:t>
                      </a:r>
                      <a:r>
                        <a:rPr lang="en-US" sz="1200" b="0" i="0" u="none" strike="noStrike" dirty="0" err="1">
                          <a:solidFill>
                            <a:srgbClr val="FF0000"/>
                          </a:solidFill>
                          <a:effectLst/>
                          <a:latin typeface="Times New Roman" panose="02020603050405020304" pitchFamily="18" charset="0"/>
                        </a:rPr>
                        <a:t>tăng</a:t>
                      </a:r>
                      <a:r>
                        <a:rPr lang="en-US" sz="1200" b="0" i="0" u="none" strike="noStrike" dirty="0">
                          <a:solidFill>
                            <a:srgbClr val="FF0000"/>
                          </a:solidFill>
                          <a:effectLst/>
                          <a:latin typeface="Times New Roman" panose="02020603050405020304" pitchFamily="18" charset="0"/>
                        </a:rPr>
                        <a:t> 0.8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do A354 Y6 </a:t>
                      </a:r>
                      <a:r>
                        <a:rPr lang="en-US" sz="1200" b="0" i="0" u="none" strike="noStrike" dirty="0" err="1">
                          <a:solidFill>
                            <a:srgbClr val="FF0000"/>
                          </a:solidFill>
                          <a:effectLst/>
                          <a:latin typeface="Times New Roman" panose="02020603050405020304" pitchFamily="18" charset="0"/>
                        </a:rPr>
                        <a:t>kéo</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dài</a:t>
                      </a:r>
                      <a:r>
                        <a:rPr lang="en-US" sz="1200" b="0" i="0" u="none" strike="noStrike" dirty="0">
                          <a:solidFill>
                            <a:srgbClr val="FF0000"/>
                          </a:solidFill>
                          <a:effectLst/>
                          <a:latin typeface="Times New Roman" panose="02020603050405020304" pitchFamily="18" charset="0"/>
                        </a:rPr>
                        <a:t> và A621 ENG AOG</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3697773"/>
                  </a:ext>
                </a:extLst>
              </a:tr>
              <a:tr h="575919">
                <a:tc>
                  <a:txBody>
                    <a:bodyPr/>
                    <a:lstStyle/>
                    <a:p>
                      <a:pPr algn="ctr" fontAlgn="ctr"/>
                      <a:r>
                        <a:rPr lang="en-US" sz="1100" b="1" i="0" u="none" strike="noStrike">
                          <a:solidFill>
                            <a:srgbClr val="000000"/>
                          </a:solidFill>
                          <a:effectLst/>
                          <a:latin typeface="Times New Roman" panose="02020603050405020304" pitchFamily="18" charset="0"/>
                        </a:rPr>
                        <a:t>4</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17.4</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17.10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13.70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12.30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FF0000"/>
                          </a:solidFill>
                          <a:effectLst/>
                          <a:latin typeface="Times New Roman" panose="02020603050405020304" pitchFamily="18" charset="0"/>
                        </a:rPr>
                        <a:t>15.00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15.2</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14.0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Times New Roman" panose="02020603050405020304" pitchFamily="18" charset="0"/>
                        </a:rPr>
                        <a:t>14.0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465915704"/>
                  </a:ext>
                </a:extLst>
              </a:tr>
              <a:tr h="575919">
                <a:tc>
                  <a:txBody>
                    <a:bodyPr/>
                    <a:lstStyle/>
                    <a:p>
                      <a:pPr algn="ctr" fontAlgn="ctr"/>
                      <a:r>
                        <a:rPr lang="en-US" sz="1100" b="1" i="0" u="none" strike="noStrike">
                          <a:solidFill>
                            <a:srgbClr val="000000"/>
                          </a:solidFill>
                          <a:effectLst/>
                          <a:latin typeface="Times New Roman" panose="02020603050405020304" pitchFamily="18" charset="0"/>
                        </a:rPr>
                        <a:t>5</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47.6</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47.9</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51.30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52.70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50.00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49.80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50.00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51.00</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FF0000"/>
                          </a:solidFill>
                          <a:effectLst/>
                          <a:latin typeface="Times New Roman" panose="02020603050405020304" pitchFamily="18" charset="0"/>
                        </a:rPr>
                        <a:t>Chưa tính tàu thuê ướt (nếu có)</a:t>
                      </a:r>
                    </a:p>
                  </a:txBody>
                  <a:tcPr marL="7050" marR="7050" marT="70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8367020"/>
                  </a:ext>
                </a:extLst>
              </a:tr>
            </a:tbl>
          </a:graphicData>
        </a:graphic>
      </p:graphicFrame>
    </p:spTree>
    <p:extLst>
      <p:ext uri="{BB962C8B-B14F-4D97-AF65-F5344CB8AC3E}">
        <p14:creationId xmlns:p14="http://schemas.microsoft.com/office/powerpoint/2010/main" val="583649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5" name="Table 4">
            <a:extLst>
              <a:ext uri="{FF2B5EF4-FFF2-40B4-BE49-F238E27FC236}">
                <a16:creationId xmlns:a16="http://schemas.microsoft.com/office/drawing/2014/main" id="{1263A1E0-CBC8-2978-7820-28787D7EEFA3}"/>
              </a:ext>
            </a:extLst>
          </p:cNvPr>
          <p:cNvGraphicFramePr>
            <a:graphicFrameLocks noGrp="1"/>
          </p:cNvGraphicFramePr>
          <p:nvPr>
            <p:extLst>
              <p:ext uri="{D42A27DB-BD31-4B8C-83A1-F6EECF244321}">
                <p14:modId xmlns:p14="http://schemas.microsoft.com/office/powerpoint/2010/main" val="2324923226"/>
              </p:ext>
            </p:extLst>
          </p:nvPr>
        </p:nvGraphicFramePr>
        <p:xfrm>
          <a:off x="304800" y="762000"/>
          <a:ext cx="11699032" cy="5370133"/>
        </p:xfrm>
        <a:graphic>
          <a:graphicData uri="http://schemas.openxmlformats.org/drawingml/2006/table">
            <a:tbl>
              <a:tblPr/>
              <a:tblGrid>
                <a:gridCol w="355026">
                  <a:extLst>
                    <a:ext uri="{9D8B030D-6E8A-4147-A177-3AD203B41FA5}">
                      <a16:colId xmlns:a16="http://schemas.microsoft.com/office/drawing/2014/main" val="1068702201"/>
                    </a:ext>
                  </a:extLst>
                </a:gridCol>
                <a:gridCol w="2427920">
                  <a:extLst>
                    <a:ext uri="{9D8B030D-6E8A-4147-A177-3AD203B41FA5}">
                      <a16:colId xmlns:a16="http://schemas.microsoft.com/office/drawing/2014/main" val="641674578"/>
                    </a:ext>
                  </a:extLst>
                </a:gridCol>
                <a:gridCol w="509982">
                  <a:extLst>
                    <a:ext uri="{9D8B030D-6E8A-4147-A177-3AD203B41FA5}">
                      <a16:colId xmlns:a16="http://schemas.microsoft.com/office/drawing/2014/main" val="2042539116"/>
                    </a:ext>
                  </a:extLst>
                </a:gridCol>
                <a:gridCol w="515361">
                  <a:extLst>
                    <a:ext uri="{9D8B030D-6E8A-4147-A177-3AD203B41FA5}">
                      <a16:colId xmlns:a16="http://schemas.microsoft.com/office/drawing/2014/main" val="1057249473"/>
                    </a:ext>
                  </a:extLst>
                </a:gridCol>
                <a:gridCol w="469551">
                  <a:extLst>
                    <a:ext uri="{9D8B030D-6E8A-4147-A177-3AD203B41FA5}">
                      <a16:colId xmlns:a16="http://schemas.microsoft.com/office/drawing/2014/main" val="2202221306"/>
                    </a:ext>
                  </a:extLst>
                </a:gridCol>
                <a:gridCol w="435193">
                  <a:extLst>
                    <a:ext uri="{9D8B030D-6E8A-4147-A177-3AD203B41FA5}">
                      <a16:colId xmlns:a16="http://schemas.microsoft.com/office/drawing/2014/main" val="3892567927"/>
                    </a:ext>
                  </a:extLst>
                </a:gridCol>
                <a:gridCol w="492456">
                  <a:extLst>
                    <a:ext uri="{9D8B030D-6E8A-4147-A177-3AD203B41FA5}">
                      <a16:colId xmlns:a16="http://schemas.microsoft.com/office/drawing/2014/main" val="2638892246"/>
                    </a:ext>
                  </a:extLst>
                </a:gridCol>
                <a:gridCol w="469551">
                  <a:extLst>
                    <a:ext uri="{9D8B030D-6E8A-4147-A177-3AD203B41FA5}">
                      <a16:colId xmlns:a16="http://schemas.microsoft.com/office/drawing/2014/main" val="2750203390"/>
                    </a:ext>
                  </a:extLst>
                </a:gridCol>
                <a:gridCol w="469551">
                  <a:extLst>
                    <a:ext uri="{9D8B030D-6E8A-4147-A177-3AD203B41FA5}">
                      <a16:colId xmlns:a16="http://schemas.microsoft.com/office/drawing/2014/main" val="2873311299"/>
                    </a:ext>
                  </a:extLst>
                </a:gridCol>
                <a:gridCol w="492456">
                  <a:extLst>
                    <a:ext uri="{9D8B030D-6E8A-4147-A177-3AD203B41FA5}">
                      <a16:colId xmlns:a16="http://schemas.microsoft.com/office/drawing/2014/main" val="3273883618"/>
                    </a:ext>
                  </a:extLst>
                </a:gridCol>
                <a:gridCol w="469551">
                  <a:extLst>
                    <a:ext uri="{9D8B030D-6E8A-4147-A177-3AD203B41FA5}">
                      <a16:colId xmlns:a16="http://schemas.microsoft.com/office/drawing/2014/main" val="1982656878"/>
                    </a:ext>
                  </a:extLst>
                </a:gridCol>
                <a:gridCol w="4592434">
                  <a:extLst>
                    <a:ext uri="{9D8B030D-6E8A-4147-A177-3AD203B41FA5}">
                      <a16:colId xmlns:a16="http://schemas.microsoft.com/office/drawing/2014/main" val="18409739"/>
                    </a:ext>
                  </a:extLst>
                </a:gridCol>
              </a:tblGrid>
              <a:tr h="346140">
                <a:tc gridSpan="12">
                  <a:txBody>
                    <a:bodyPr/>
                    <a:lstStyle/>
                    <a:p>
                      <a:pPr algn="ctr" fontAlgn="ctr"/>
                      <a:r>
                        <a:rPr lang="en-US" sz="1600" b="1" i="0" u="none" strike="noStrike" dirty="0">
                          <a:solidFill>
                            <a:srgbClr val="000000"/>
                          </a:solidFill>
                          <a:effectLst/>
                          <a:latin typeface="Times New Roman" panose="02020603050405020304" pitchFamily="18" charset="0"/>
                        </a:rPr>
                        <a:t>NGUỒN LỰC KỸ THUÂT A350/B787 (CẬP NHẬT </a:t>
                      </a:r>
                      <a:r>
                        <a:rPr lang="en-US" sz="1600" b="1" i="0" u="none" strike="noStrike" dirty="0" smtClean="0">
                          <a:solidFill>
                            <a:srgbClr val="000000"/>
                          </a:solidFill>
                          <a:effectLst/>
                          <a:latin typeface="Times New Roman" panose="02020603050405020304" pitchFamily="18" charset="0"/>
                        </a:rPr>
                        <a:t>04/05)</a:t>
                      </a:r>
                      <a:endParaRPr lang="en-US" sz="1600" b="1" i="0" u="none" strike="noStrike" dirty="0">
                        <a:solidFill>
                          <a:srgbClr val="000000"/>
                        </a:solidFill>
                        <a:effectLst/>
                        <a:latin typeface="Times New Roman" panose="02020603050405020304" pitchFamily="18" charset="0"/>
                      </a:endParaRPr>
                    </a:p>
                  </a:txBody>
                  <a:tcPr marL="6198" marR="6198" marT="6198"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1364268"/>
                  </a:ext>
                </a:extLst>
              </a:tr>
              <a:tr h="327260">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395931311"/>
                  </a:ext>
                </a:extLst>
              </a:tr>
              <a:tr h="746825">
                <a:tc>
                  <a:txBody>
                    <a:bodyPr/>
                    <a:lstStyle/>
                    <a:p>
                      <a:pPr algn="ctr" fontAlgn="ctr"/>
                      <a:r>
                        <a:rPr lang="en-US" sz="1200" b="0" i="0" u="none" strike="noStrike">
                          <a:solidFill>
                            <a:srgbClr val="000000"/>
                          </a:solidFill>
                          <a:effectLst/>
                          <a:latin typeface="Times New Roman" panose="02020603050405020304" pitchFamily="18" charset="0"/>
                        </a:rPr>
                        <a:t>1</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FF0000"/>
                          </a:solidFill>
                          <a:effectLst/>
                          <a:latin typeface="Times New Roman" panose="02020603050405020304" pitchFamily="18" charset="0"/>
                        </a:rPr>
                        <a:t>- 08/2025: tăng 0.5 tàu do ENG hết hạn sớm hơn khi lắp 2 động cơ giữ giờ 21436 lên A887 và 21418 lên A886</a:t>
                      </a:r>
                      <a:r>
                        <a:rPr lang="vi-VN" sz="1200" b="0" i="0" u="none" strike="noStrike" dirty="0">
                          <a:solidFill>
                            <a:srgbClr val="000000"/>
                          </a:solidFill>
                          <a:effectLst/>
                          <a:latin typeface="Times New Roman" panose="02020603050405020304" pitchFamily="18" charset="0"/>
                        </a:rPr>
                        <a:t/>
                      </a:r>
                      <a:br>
                        <a:rPr lang="vi-VN" sz="1200" b="0" i="0" u="none" strike="noStrike" dirty="0">
                          <a:solidFill>
                            <a:srgbClr val="00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- 06/2025: tăng 0.5 tàu do ENG về muộn</a:t>
                      </a:r>
                      <a:endParaRPr lang="vi-VN" sz="1200" b="0" i="0" u="none" strike="noStrike" dirty="0">
                        <a:solidFill>
                          <a:srgbClr val="000000"/>
                        </a:solidFill>
                        <a:effectLst/>
                        <a:latin typeface="Times New Roman" panose="02020603050405020304" pitchFamily="18" charset="0"/>
                      </a:endParaRP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0364295"/>
                  </a:ext>
                </a:extLst>
              </a:tr>
              <a:tr h="688087">
                <a:tc>
                  <a:txBody>
                    <a:bodyPr/>
                    <a:lstStyle/>
                    <a:p>
                      <a:pPr algn="ctr" fontAlgn="ctr"/>
                      <a:r>
                        <a:rPr lang="en-US" sz="1200" b="0" i="0" u="none" strike="noStrike" dirty="0">
                          <a:solidFill>
                            <a:srgbClr val="000000"/>
                          </a:solidFill>
                          <a:effectLst/>
                          <a:latin typeface="Times New Roman" panose="02020603050405020304" pitchFamily="18" charset="0"/>
                        </a:rPr>
                        <a:t>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dirty="0">
                          <a:solidFill>
                            <a:srgbClr val="000000"/>
                          </a:solidFill>
                          <a:effectLst/>
                          <a:latin typeface="Times New Roman" panose="02020603050405020304" pitchFamily="18" charset="0"/>
                        </a:rPr>
                        <a:t>A350 </a:t>
                      </a:r>
                      <a:r>
                        <a:rPr lang="en-US" sz="1200" b="1" i="0" u="none" strike="noStrike" dirty="0" err="1">
                          <a:solidFill>
                            <a:srgbClr val="000000"/>
                          </a:solidFill>
                          <a:effectLst/>
                          <a:latin typeface="Times New Roman" panose="02020603050405020304" pitchFamily="18" charset="0"/>
                        </a:rPr>
                        <a:t>dừng</a:t>
                      </a:r>
                      <a:r>
                        <a:rPr lang="en-US" sz="1200" b="1" i="0" u="none" strike="noStrike" dirty="0">
                          <a:solidFill>
                            <a:srgbClr val="000000"/>
                          </a:solidFill>
                          <a:effectLst/>
                          <a:latin typeface="Times New Roman" panose="02020603050405020304" pitchFamily="18" charset="0"/>
                        </a:rPr>
                        <a:t> BD</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- 05/2025: tăng 0.2 tàu do A899 Y6 lùi 3 ngày (lùi dây chuyền từ A892 C4 do VIP), A891 &amp; A896 tăng 1 ngày do kết hợp làm MOD IFC</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689131509"/>
                  </a:ext>
                </a:extLst>
              </a:tr>
              <a:tr h="421065">
                <a:tc>
                  <a:txBody>
                    <a:bodyPr/>
                    <a:lstStyle/>
                    <a:p>
                      <a:pPr algn="ctr" fontAlgn="ctr"/>
                      <a:r>
                        <a:rPr lang="en-US" sz="1200" b="0" i="0" u="none" strike="noStrike">
                          <a:solidFill>
                            <a:srgbClr val="000000"/>
                          </a:solidFill>
                          <a:effectLst/>
                          <a:latin typeface="Times New Roman" panose="02020603050405020304" pitchFamily="18" charset="0"/>
                        </a:rPr>
                        <a:t>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5.1</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4110023"/>
                  </a:ext>
                </a:extLst>
              </a:tr>
              <a:tr h="421065">
                <a:tc>
                  <a:txBody>
                    <a:bodyPr/>
                    <a:lstStyle/>
                    <a:p>
                      <a:pPr algn="ctr" fontAlgn="ctr"/>
                      <a:r>
                        <a:rPr lang="en-US" sz="1200" b="0" i="0" u="none" strike="noStrike">
                          <a:solidFill>
                            <a:srgbClr val="000000"/>
                          </a:solidFill>
                          <a:effectLst/>
                          <a:latin typeface="Times New Roman" panose="02020603050405020304" pitchFamily="18" charset="0"/>
                        </a:rPr>
                        <a:t>4</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8.9</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39306758"/>
                  </a:ext>
                </a:extLst>
              </a:tr>
              <a:tr h="419564">
                <a:tc>
                  <a:txBody>
                    <a:bodyPr/>
                    <a:lstStyle/>
                    <a:p>
                      <a:pPr algn="ctr" fontAlgn="ctr"/>
                      <a:r>
                        <a:rPr lang="en-US" sz="1200" b="0" i="0" u="none" strike="noStrike">
                          <a:solidFill>
                            <a:srgbClr val="000000"/>
                          </a:solidFill>
                          <a:effectLst/>
                          <a:latin typeface="Times New Roman" panose="02020603050405020304" pitchFamily="18" charset="0"/>
                        </a:rPr>
                        <a:t>5</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2855971"/>
                  </a:ext>
                </a:extLst>
              </a:tr>
              <a:tr h="738433">
                <a:tc>
                  <a:txBody>
                    <a:bodyPr/>
                    <a:lstStyle/>
                    <a:p>
                      <a:pPr algn="ctr" fontAlgn="ctr"/>
                      <a:r>
                        <a:rPr lang="en-US" sz="1200" b="0" i="0" u="none" strike="noStrike">
                          <a:solidFill>
                            <a:srgbClr val="000000"/>
                          </a:solidFill>
                          <a:effectLst/>
                          <a:latin typeface="Times New Roman" panose="02020603050405020304" pitchFamily="18" charset="0"/>
                        </a:rPr>
                        <a:t>6</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FF0000"/>
                          </a:solidFill>
                          <a:effectLst/>
                          <a:latin typeface="Times New Roman" panose="02020603050405020304" pitchFamily="18" charset="0"/>
                        </a:rPr>
                        <a:t>- 08/2025: tăng 0.2 tàu do A870 Y3 (due: 04/06) xin NN lùi sau cao điểm hè</a:t>
                      </a:r>
                      <a:br>
                        <a:rPr lang="vi-VN" sz="1200" b="0" i="0" u="none" strike="noStrike">
                          <a:solidFill>
                            <a:srgbClr val="FF0000"/>
                          </a:solidFill>
                          <a:effectLst/>
                          <a:latin typeface="Times New Roman" panose="02020603050405020304" pitchFamily="18" charset="0"/>
                        </a:rPr>
                      </a:br>
                      <a:r>
                        <a:rPr lang="vi-VN" sz="1200" b="0" i="0" u="none" strike="noStrike">
                          <a:solidFill>
                            <a:srgbClr val="FF0000"/>
                          </a:solidFill>
                          <a:effectLst/>
                          <a:latin typeface="Times New Roman" panose="02020603050405020304" pitchFamily="18" charset="0"/>
                        </a:rPr>
                        <a:t>- 06/2025: tăng 0.2 tàu do ảnh hưởng thay ENG A871 AOG và bổ sung thay ENG A863 &amp; A873</a:t>
                      </a:r>
                      <a:endParaRPr lang="vi-VN" sz="1200" b="0" i="0" u="none" strike="noStrike">
                        <a:solidFill>
                          <a:srgbClr val="000000"/>
                        </a:solidFill>
                        <a:effectLst/>
                        <a:latin typeface="Times New Roman" panose="02020603050405020304" pitchFamily="18" charset="0"/>
                      </a:endParaRP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54460211"/>
                  </a:ext>
                </a:extLst>
              </a:tr>
              <a:tr h="421065">
                <a:tc>
                  <a:txBody>
                    <a:bodyPr/>
                    <a:lstStyle/>
                    <a:p>
                      <a:pPr algn="ctr" fontAlgn="ctr"/>
                      <a:r>
                        <a:rPr lang="en-US" sz="1200" b="0" i="0" u="none" strike="noStrike">
                          <a:solidFill>
                            <a:srgbClr val="000000"/>
                          </a:solidFill>
                          <a:effectLst/>
                          <a:latin typeface="Times New Roman" panose="02020603050405020304" pitchFamily="18" charset="0"/>
                        </a:rPr>
                        <a:t>7</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0.2</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1095748"/>
                  </a:ext>
                </a:extLst>
              </a:tr>
              <a:tr h="419564">
                <a:tc>
                  <a:txBody>
                    <a:bodyPr/>
                    <a:lstStyle/>
                    <a:p>
                      <a:pPr algn="ctr" fontAlgn="ctr"/>
                      <a:r>
                        <a:rPr lang="en-US" sz="1200" b="0" i="0" u="none" strike="noStrike">
                          <a:solidFill>
                            <a:srgbClr val="000000"/>
                          </a:solidFill>
                          <a:effectLst/>
                          <a:latin typeface="Times New Roman" panose="02020603050405020304" pitchFamily="18" charset="0"/>
                        </a:rPr>
                        <a:t>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15.7</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231873416"/>
                  </a:ext>
                </a:extLst>
              </a:tr>
              <a:tr h="421065">
                <a:tc>
                  <a:txBody>
                    <a:bodyPr/>
                    <a:lstStyle/>
                    <a:p>
                      <a:pPr algn="ctr" fontAlgn="ctr"/>
                      <a:r>
                        <a:rPr lang="en-US" sz="1200" b="0" i="0" u="none" strike="noStrike">
                          <a:solidFill>
                            <a:srgbClr val="000000"/>
                          </a:solidFill>
                          <a:effectLst/>
                          <a:latin typeface="Times New Roman" panose="02020603050405020304" pitchFamily="18" charset="0"/>
                        </a:rPr>
                        <a:t>9</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6.4</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198" marR="6198" marT="61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071880"/>
                  </a:ext>
                </a:extLst>
              </a:tr>
            </a:tbl>
          </a:graphicData>
        </a:graphic>
      </p:graphicFrame>
    </p:spTree>
    <p:extLst>
      <p:ext uri="{BB962C8B-B14F-4D97-AF65-F5344CB8AC3E}">
        <p14:creationId xmlns:p14="http://schemas.microsoft.com/office/powerpoint/2010/main" val="10062073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42</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18</a:t>
            </a:r>
            <a:endParaRPr lang="vi-VN" sz="2700" dirty="0"/>
          </a:p>
        </p:txBody>
      </p:sp>
      <p:sp>
        <p:nvSpPr>
          <p:cNvPr id="22" name="TextBox 21"/>
          <p:cNvSpPr txBox="1"/>
          <p:nvPr/>
        </p:nvSpPr>
        <p:spPr>
          <a:xfrm>
            <a:off x="376712" y="4566269"/>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10a,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10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05</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05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12ea,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05ea,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07ea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3" name="TextBox 22"/>
          <p:cNvSpPr txBox="1"/>
          <p:nvPr/>
        </p:nvSpPr>
        <p:spPr>
          <a:xfrm>
            <a:off x="393941" y="203099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001</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111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110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17: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15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35ea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       Hỏng hóc đội bay A350: đã được khắc phục và kiểm soát</a:t>
            </a:r>
          </a:p>
          <a:p>
            <a:pPr>
              <a:lnSpc>
                <a:spcPct val="150000"/>
              </a:lnSpc>
            </a:pPr>
            <a:r>
              <a:rPr lang="en-US" sz="14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bổ</a:t>
            </a:r>
            <a:r>
              <a:rPr lang="en-US" sz="1400" dirty="0">
                <a:solidFill>
                  <a:schemeClr val="tx1"/>
                </a:solidFill>
                <a:latin typeface="Times New Roman" panose="02020603050405020304" pitchFamily="18" charset="0"/>
                <a:cs typeface="Times New Roman" panose="02020603050405020304" pitchFamily="18" charset="0"/>
              </a:rPr>
              <a:t> sung 30 SVDU quay </a:t>
            </a:r>
            <a:r>
              <a:rPr lang="en-US" sz="1400" dirty="0" err="1">
                <a:solidFill>
                  <a:schemeClr val="tx1"/>
                </a:solidFill>
                <a:latin typeface="Times New Roman" panose="02020603050405020304" pitchFamily="18" charset="0"/>
                <a:cs typeface="Times New Roman" panose="02020603050405020304" pitchFamily="18" charset="0"/>
              </a:rPr>
              <a:t>vòng</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377833" y="3106694"/>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451497"/>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18: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232 (</a:t>
            </a:r>
            <a:r>
              <a:rPr lang="en-US" sz="1400" dirty="0" err="1">
                <a:latin typeface="Times New Roman" panose="02020603050405020304" pitchFamily="18" charset="0"/>
                <a:cs typeface="Times New Roman" panose="02020603050405020304" pitchFamily="18" charset="0"/>
              </a:rPr>
              <a:t>tăng</a:t>
            </a:r>
            <a:r>
              <a:rPr lang="en-US" sz="1400" dirty="0">
                <a:latin typeface="Times New Roman" panose="02020603050405020304" pitchFamily="18" charset="0"/>
                <a:cs typeface="Times New Roman" panose="02020603050405020304" pitchFamily="18" charset="0"/>
              </a:rPr>
              <a:t> 8%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17),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77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155ADD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4%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17).</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Hỏng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17</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05,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14,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09,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05</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18558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43</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164922986"/>
              </p:ext>
            </p:extLst>
          </p:nvPr>
        </p:nvGraphicFramePr>
        <p:xfrm>
          <a:off x="533400" y="3276600"/>
          <a:ext cx="10744200" cy="2560462"/>
        </p:xfrm>
        <a:graphic>
          <a:graphicData uri="http://schemas.openxmlformats.org/drawingml/2006/table">
            <a:tbl>
              <a:tblPr/>
              <a:tblGrid>
                <a:gridCol w="241722">
                  <a:extLst>
                    <a:ext uri="{9D8B030D-6E8A-4147-A177-3AD203B41FA5}">
                      <a16:colId xmlns:a16="http://schemas.microsoft.com/office/drawing/2014/main" val="20000"/>
                    </a:ext>
                  </a:extLst>
                </a:gridCol>
                <a:gridCol w="1545553">
                  <a:extLst>
                    <a:ext uri="{9D8B030D-6E8A-4147-A177-3AD203B41FA5}">
                      <a16:colId xmlns:a16="http://schemas.microsoft.com/office/drawing/2014/main" val="20001"/>
                    </a:ext>
                  </a:extLst>
                </a:gridCol>
                <a:gridCol w="498093">
                  <a:extLst>
                    <a:ext uri="{9D8B030D-6E8A-4147-A177-3AD203B41FA5}">
                      <a16:colId xmlns:a16="http://schemas.microsoft.com/office/drawing/2014/main" val="20002"/>
                    </a:ext>
                  </a:extLst>
                </a:gridCol>
                <a:gridCol w="537159">
                  <a:extLst>
                    <a:ext uri="{9D8B030D-6E8A-4147-A177-3AD203B41FA5}">
                      <a16:colId xmlns:a16="http://schemas.microsoft.com/office/drawing/2014/main" val="20003"/>
                    </a:ext>
                  </a:extLst>
                </a:gridCol>
                <a:gridCol w="4211814">
                  <a:extLst>
                    <a:ext uri="{9D8B030D-6E8A-4147-A177-3AD203B41FA5}">
                      <a16:colId xmlns:a16="http://schemas.microsoft.com/office/drawing/2014/main" val="20004"/>
                    </a:ext>
                  </a:extLst>
                </a:gridCol>
                <a:gridCol w="600641">
                  <a:extLst>
                    <a:ext uri="{9D8B030D-6E8A-4147-A177-3AD203B41FA5}">
                      <a16:colId xmlns:a16="http://schemas.microsoft.com/office/drawing/2014/main" val="20005"/>
                    </a:ext>
                  </a:extLst>
                </a:gridCol>
                <a:gridCol w="976653">
                  <a:extLst>
                    <a:ext uri="{9D8B030D-6E8A-4147-A177-3AD203B41FA5}">
                      <a16:colId xmlns:a16="http://schemas.microsoft.com/office/drawing/2014/main" val="20006"/>
                    </a:ext>
                  </a:extLst>
                </a:gridCol>
                <a:gridCol w="1562644">
                  <a:extLst>
                    <a:ext uri="{9D8B030D-6E8A-4147-A177-3AD203B41FA5}">
                      <a16:colId xmlns:a16="http://schemas.microsoft.com/office/drawing/2014/main" val="20007"/>
                    </a:ext>
                  </a:extLst>
                </a:gridCol>
                <a:gridCol w="569921">
                  <a:extLst>
                    <a:ext uri="{9D8B030D-6E8A-4147-A177-3AD203B41FA5}">
                      <a16:colId xmlns:a16="http://schemas.microsoft.com/office/drawing/2014/main" val="20008"/>
                    </a:ext>
                  </a:extLst>
                </a:gridCol>
              </a:tblGrid>
              <a:tr h="192100">
                <a:tc gridSpan="9">
                  <a:txBody>
                    <a:bodyPr/>
                    <a:lstStyle/>
                    <a:p>
                      <a:pPr algn="ctr" fontAlgn="ctr"/>
                      <a:r>
                        <a:rPr lang="vi-VN" sz="1000" b="1" i="0" u="none" strike="noStrike">
                          <a:solidFill>
                            <a:srgbClr val="000000"/>
                          </a:solidFill>
                          <a:effectLst/>
                          <a:latin typeface="Times New Roman" panose="02020603050405020304" pitchFamily="18" charset="0"/>
                        </a:rPr>
                        <a:t>BẢNG TỔNG HỢP VÀ THEO DÕI NHÂN NHƯỢNG - VIETNAM AIRLINES</a:t>
                      </a:r>
                    </a:p>
                  </a:txBody>
                  <a:tcPr marL="6741" marR="6741" marT="674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92100">
                <a:tc>
                  <a:txBody>
                    <a:bodyPr/>
                    <a:lstStyle/>
                    <a:p>
                      <a:pPr algn="ctr" fontAlgn="ctr"/>
                      <a:r>
                        <a:rPr lang="en-US" sz="1100" b="1" i="0" u="none" strike="noStrike" dirty="0">
                          <a:solidFill>
                            <a:srgbClr val="000000"/>
                          </a:solidFill>
                          <a:effectLst/>
                          <a:latin typeface="Times New Roman" panose="02020603050405020304" pitchFamily="18" charset="0"/>
                        </a:rPr>
                        <a:t>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2100">
                <a:tc>
                  <a:txBody>
                    <a:bodyPr/>
                    <a:lstStyle/>
                    <a:p>
                      <a:pPr algn="ctr" fontAlgn="ctr"/>
                      <a:r>
                        <a:rPr lang="en-US" sz="10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335-01/25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EXTEND SCHEDULE OF GROUP CMP TASKS OF C01 CHECK DUE TO MAINTENANCE SCHEDULE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29-Apr-2025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GROUP TASK CMP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0962188"/>
                  </a:ext>
                </a:extLst>
              </a:tr>
              <a:tr h="576302">
                <a:tc>
                  <a:txBody>
                    <a:bodyPr/>
                    <a:lstStyle/>
                    <a:p>
                      <a:pPr algn="ctr" fontAlgn="ctr"/>
                      <a:r>
                        <a:rPr lang="en-US" sz="1000" b="0" i="0" u="none" strike="noStrike">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 396-01/25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A396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EXTEND SCHEDULE OF GROUP CMP TASKS DUE TO LACK OF RESOURCE FOR OPERATION SCHEDULE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29-Apr-2025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GROUP TASK CMP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2185">
                <a:tc>
                  <a:txBody>
                    <a:bodyPr/>
                    <a:lstStyle/>
                    <a:p>
                      <a:pPr algn="ctr" fontAlgn="ctr"/>
                      <a:r>
                        <a:rPr lang="en-US" sz="1000" b="0" i="0" u="none" strike="noStrike">
                          <a:solidFill>
                            <a:srgbClr val="00000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HVN/VN-A873/2025-04-29/01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AMP Task 38-VNA-20 (VACUUM WASTE LINES - SOAK) has an interval 12000 FH for VN-A873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29-Apr-2025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38-VNA-20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8109">
                <a:tc>
                  <a:txBody>
                    <a:bodyPr/>
                    <a:lstStyle/>
                    <a:p>
                      <a:pPr algn="ctr" fontAlgn="ctr"/>
                      <a:r>
                        <a:rPr lang="en-US" sz="1000" b="0" i="0" u="none" strike="noStrike">
                          <a:solidFill>
                            <a:srgbClr val="00000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HVN/VN-A862/2025-04-29/02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ADD B1331 IS RAISED: STS MSG FUEL PUMP CENTER R, IAW MEL 28-22-02A R9, CAT C DUE TO THE OPERATION, DOWNTIME FOR MAINTENANCE COULD NOT BE ARRANGED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29-Apr-2025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 B1331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CLOSE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4202">
                <a:tc>
                  <a:txBody>
                    <a:bodyPr/>
                    <a:lstStyle/>
                    <a:p>
                      <a:pPr algn="ctr" fontAlgn="ctr"/>
                      <a:r>
                        <a:rPr lang="en-US" sz="1000" b="0" i="0" u="none" strike="noStrike">
                          <a:solidFill>
                            <a:srgbClr val="00000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HVN/VN-A396/2025-05-02/01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A396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ADD B991 "FLAP TRACK FIXED FAIRING SEAL AT FAIRING 631EB DAMAGED" RAISED IAW CDL 27- 15 , DL: 26698 FH TO WAIT FOR SPARE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2-May-2025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 B991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7" name="Chart 6">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2058778467"/>
              </p:ext>
            </p:extLst>
          </p:nvPr>
        </p:nvGraphicFramePr>
        <p:xfrm>
          <a:off x="3733800" y="692538"/>
          <a:ext cx="4004481" cy="23803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137.99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456:35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204:55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882:50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697:45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226:30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128.26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459:40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686:40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581:45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8" y="990599"/>
          <a:ext cx="10370492" cy="26191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421779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30-Apr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9-May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extLst/>
          </p:nvPr>
        </p:nvGraphicFramePr>
        <p:xfrm>
          <a:off x="925417" y="1219201"/>
          <a:ext cx="10521107" cy="212915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843077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983673" y="1447800"/>
          <a:ext cx="10549845" cy="5029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807544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i="0" u="none" strike="noStrike" cap="none">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A604: EC06+EC01+C02+C03+Y06+Y12+EA08-EA09 (13/04-13/05): hiện phát sinh các PTVT với thông tin như sau:</a:t>
            </a: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A616 RTS: hiện còn thiếu 01 Starter Duct, sẽ rob từ tàu A321NEO bảo quản.</a:t>
            </a:r>
            <a:endParaRPr sz="1500" b="1">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Kh</a:t>
            </a:r>
            <a:r>
              <a:rPr lang="en-US" sz="1500" b="1">
                <a:solidFill>
                  <a:schemeClr val="dk1"/>
                </a:solidFill>
                <a:latin typeface="Times New Roman"/>
                <a:ea typeface="Times New Roman"/>
                <a:cs typeface="Times New Roman"/>
                <a:sym typeface="Times New Roman"/>
              </a:rPr>
              <a:t>ông có vướng mắc vật tư</a:t>
            </a:r>
            <a:endParaRPr sz="1500" b="1">
              <a:solidFill>
                <a:schemeClr val="dk1"/>
              </a:solidFill>
              <a:latin typeface="Times New Roman"/>
              <a:ea typeface="Times New Roman"/>
              <a:cs typeface="Times New Roman"/>
              <a:sym typeface="Times New Roman"/>
            </a:endParaRPr>
          </a:p>
          <a:p>
            <a:pPr marL="45720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Không có vướng mắc vật tư</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1180300" y="1742135"/>
            <a:ext cx="8309651" cy="3373726"/>
          </a:xfrm>
          <a:prstGeom prst="rect">
            <a:avLst/>
          </a:prstGeom>
          <a:noFill/>
          <a:ln>
            <a:noFill/>
          </a:ln>
        </p:spPr>
      </p:pic>
    </p:spTree>
    <p:extLst>
      <p:ext uri="{BB962C8B-B14F-4D97-AF65-F5344CB8AC3E}">
        <p14:creationId xmlns:p14="http://schemas.microsoft.com/office/powerpoint/2010/main" val="136196971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56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104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27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36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13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18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16 overdue orders / total 50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913575" y="2094724"/>
            <a:ext cx="8277401" cy="4079801"/>
          </a:xfrm>
          <a:prstGeom prst="rect">
            <a:avLst/>
          </a:prstGeom>
          <a:noFill/>
          <a:ln>
            <a:noFill/>
          </a:ln>
        </p:spPr>
      </p:pic>
    </p:spTree>
    <p:extLst>
      <p:ext uri="{BB962C8B-B14F-4D97-AF65-F5344CB8AC3E}">
        <p14:creationId xmlns:p14="http://schemas.microsoft.com/office/powerpoint/2010/main" val="35888544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6" name="Google Shape;17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graphicFrame>
        <p:nvGraphicFramePr>
          <p:cNvPr id="177" name="Google Shape;177;g31ccdae391d_0_271"/>
          <p:cNvGraphicFramePr/>
          <p:nvPr/>
        </p:nvGraphicFramePr>
        <p:xfrm>
          <a:off x="489114" y="611396"/>
          <a:ext cx="11570675" cy="519031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9</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LH</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745-4000-515</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 Ban QLVT đang tìm thuê 2ea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10 </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RH</a:t>
                      </a:r>
                      <a:endParaRPr sz="1600">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745-4000-516</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2ea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77174087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4" name="Google Shape;18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graphicFrame>
        <p:nvGraphicFramePr>
          <p:cNvPr id="185" name="Google Shape;185;g31ccdae391d_0_278"/>
          <p:cNvGraphicFramePr/>
          <p:nvPr/>
        </p:nvGraphicFramePr>
        <p:xfrm>
          <a:off x="558675" y="462325"/>
          <a:ext cx="10287000" cy="6309871"/>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ngày 5/5 nhập kho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push Honeywell cấp AOG nhưng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giục STEA khối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5/5 nhập kho</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giục Honeywell sửa chữa bảo hành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78740489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2" name="Google Shape;19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graphicFrame>
        <p:nvGraphicFramePr>
          <p:cNvPr id="193" name="Google Shape;19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195459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23</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43</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12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16</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11</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27</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105025" y="1717024"/>
            <a:ext cx="7636474" cy="4640925"/>
          </a:xfrm>
          <a:prstGeom prst="rect">
            <a:avLst/>
          </a:prstGeom>
          <a:noFill/>
          <a:ln>
            <a:noFill/>
          </a:ln>
        </p:spPr>
      </p:pic>
    </p:spTree>
    <p:extLst>
      <p:ext uri="{BB962C8B-B14F-4D97-AF65-F5344CB8AC3E}">
        <p14:creationId xmlns:p14="http://schemas.microsoft.com/office/powerpoint/2010/main" val="199709094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211" name="Google Shape;211;g31ccdae391d_0_308"/>
          <p:cNvGraphicFramePr/>
          <p:nvPr/>
        </p:nvGraphicFramePr>
        <p:xfrm>
          <a:off x="607288" y="787650"/>
          <a:ext cx="11227800" cy="4360600"/>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01ea in stock + 01 VIp kit</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giao EDD 19/05.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chưa có EDD.</a:t>
                      </a: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  01 lấp đầy chưa có EDD.</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8067910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GWIV.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A862 - ELEC MC CAC L2/ START R1: cần CMSC H03, hiện kho dự phòng chỉ có H04. Đã đặt hàng H03 đến KLM, chờ KLM cập nhật thông tin.</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A865, A869, A879 - Brake worn to limit: dự kiến 03ea về trong tuần 19.</a:t>
            </a: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20" name="Google Shape;220;g31ccdae391d_0_315"/>
          <p:cNvPicPr preferRelativeResize="0"/>
          <p:nvPr/>
        </p:nvPicPr>
        <p:blipFill>
          <a:blip r:embed="rId3">
            <a:alphaModFix/>
          </a:blip>
          <a:stretch>
            <a:fillRect/>
          </a:stretch>
        </p:blipFill>
        <p:spPr>
          <a:xfrm>
            <a:off x="785813" y="3195638"/>
            <a:ext cx="10620375" cy="2600325"/>
          </a:xfrm>
          <a:prstGeom prst="rect">
            <a:avLst/>
          </a:prstGeom>
          <a:noFill/>
          <a:ln>
            <a:noFill/>
          </a:ln>
        </p:spPr>
      </p:pic>
    </p:spTree>
    <p:extLst>
      <p:ext uri="{BB962C8B-B14F-4D97-AF65-F5344CB8AC3E}">
        <p14:creationId xmlns:p14="http://schemas.microsoft.com/office/powerpoint/2010/main" val="231793601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38</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72</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08</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30</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63</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509848" y="2174973"/>
            <a:ext cx="6422650" cy="4402049"/>
          </a:xfrm>
          <a:prstGeom prst="rect">
            <a:avLst/>
          </a:prstGeom>
          <a:noFill/>
          <a:ln>
            <a:noFill/>
          </a:ln>
        </p:spPr>
      </p:pic>
    </p:spTree>
    <p:extLst>
      <p:ext uri="{BB962C8B-B14F-4D97-AF65-F5344CB8AC3E}">
        <p14:creationId xmlns:p14="http://schemas.microsoft.com/office/powerpoint/2010/main" val="374012316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238" name="Google Shape;238;g31ccdae391d_0_332"/>
          <p:cNvGraphicFramePr/>
          <p:nvPr>
            <p:extLst/>
          </p:nvPr>
        </p:nvGraphicFramePr>
        <p:xfrm>
          <a:off x="474783" y="301869"/>
          <a:ext cx="11561850" cy="5968219"/>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73859">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3859">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21424">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2e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61744">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07</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+ 05ea EDD 18/06.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+ 07ea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2142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09</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2142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hệ</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thống</a:t>
                      </a:r>
                      <a:r>
                        <a:rPr lang="en-US" sz="1300" u="none" strike="noStrike" cap="none" dirty="0">
                          <a:latin typeface="Times New Roman"/>
                          <a:ea typeface="Times New Roman"/>
                          <a:cs typeface="Times New Roman"/>
                          <a:sym typeface="Times New Roman"/>
                        </a:rPr>
                        <a:t> chiller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bay.</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TAT </a:t>
                      </a:r>
                      <a:r>
                        <a:rPr lang="en-US" sz="1300" u="none" strike="noStrike" cap="none" dirty="0" err="1">
                          <a:latin typeface="Times New Roman"/>
                          <a:ea typeface="Times New Roman"/>
                          <a:cs typeface="Times New Roman"/>
                          <a:sym typeface="Times New Roman"/>
                        </a:rPr>
                        <a:t>sửa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chữa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tại</a:t>
                      </a:r>
                      <a:r>
                        <a:rPr lang="en-US" sz="1300" u="none" strike="noStrike" cap="none" dirty="0">
                          <a:latin typeface="Times New Roman"/>
                          <a:ea typeface="Times New Roman"/>
                          <a:cs typeface="Times New Roman"/>
                          <a:sym typeface="Times New Roman"/>
                        </a:rPr>
                        <a:t> shop Honeywell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dài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chưa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được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việc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cung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ứng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hàng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Airbus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chậm</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Nhiều tàu A350 có mssg VCRU và controller.</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VCRU chưa có lịch ship.</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Controller: 02ea in stock (trả cho tàu BQ)..</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569868">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lượng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dịch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vụ</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TAT ở shop </a:t>
                      </a:r>
                      <a:r>
                        <a:rPr lang="en-US" sz="1300" dirty="0" err="1">
                          <a:latin typeface="Times New Roman"/>
                          <a:ea typeface="Times New Roman"/>
                          <a:cs typeface="Times New Roman"/>
                          <a:sym typeface="Times New Roman"/>
                        </a:rPr>
                        <a:t>rất</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dài</a:t>
                      </a:r>
                      <a:r>
                        <a:rPr lang="en-US" sz="1300" dirty="0">
                          <a:latin typeface="Times New Roman"/>
                          <a:ea typeface="Times New Roman"/>
                          <a:cs typeface="Times New Roman"/>
                          <a:sym typeface="Times New Roman"/>
                        </a:rPr>
                        <a:t> do </a:t>
                      </a:r>
                      <a:r>
                        <a:rPr lang="en-US" sz="1300" dirty="0" err="1">
                          <a:latin typeface="Times New Roman"/>
                          <a:ea typeface="Times New Roman"/>
                          <a:cs typeface="Times New Roman"/>
                          <a:sym typeface="Times New Roman"/>
                        </a:rPr>
                        <a:t>thiếu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hụt</a:t>
                      </a:r>
                      <a:r>
                        <a:rPr lang="en-US" sz="1300" dirty="0">
                          <a:latin typeface="Times New Roman"/>
                          <a:ea typeface="Times New Roman"/>
                          <a:cs typeface="Times New Roman"/>
                          <a:sym typeface="Times New Roman"/>
                        </a:rPr>
                        <a:t> sub part </a:t>
                      </a:r>
                      <a:r>
                        <a:rPr lang="en-US" sz="1300" dirty="0" err="1">
                          <a:latin typeface="Times New Roman"/>
                          <a:ea typeface="Times New Roman"/>
                          <a:cs typeface="Times New Roman"/>
                          <a:sym typeface="Times New Roman"/>
                        </a:rPr>
                        <a:t>sửa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chữa</a:t>
                      </a:r>
                      <a:r>
                        <a:rPr lang="en-US" sz="1300" dirty="0">
                          <a:latin typeface="Times New Roman"/>
                          <a:ea typeface="Times New Roman"/>
                          <a:cs typeface="Times New Roman"/>
                          <a:sym typeface="Times New Roman"/>
                        </a:rPr>
                        <a:t> (PMSD). </a:t>
                      </a:r>
                      <a:r>
                        <a:rPr lang="en-US" sz="1300" dirty="0" err="1">
                          <a:latin typeface="Times New Roman"/>
                          <a:ea typeface="Times New Roman"/>
                          <a:cs typeface="Times New Roman"/>
                          <a:sym typeface="Times New Roman"/>
                        </a:rPr>
                        <a:t>Safran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dự</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kiến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cuối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tháng</a:t>
                      </a:r>
                      <a:r>
                        <a:rPr lang="en-US" sz="1300" dirty="0">
                          <a:latin typeface="Times New Roman"/>
                          <a:ea typeface="Times New Roman"/>
                          <a:cs typeface="Times New Roman"/>
                          <a:sym typeface="Times New Roman"/>
                        </a:rPr>
                        <a:t> 4 </a:t>
                      </a:r>
                      <a:r>
                        <a:rPr lang="en-US" sz="1300" dirty="0" err="1">
                          <a:latin typeface="Times New Roman"/>
                          <a:ea typeface="Times New Roman"/>
                          <a:cs typeface="Times New Roman"/>
                          <a:sym typeface="Times New Roman"/>
                        </a:rPr>
                        <a:t>mới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PMSD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sửa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chữa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Mặc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dù</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đã</a:t>
                      </a:r>
                      <a:r>
                        <a:rPr lang="en-US" sz="1300" dirty="0">
                          <a:latin typeface="Times New Roman"/>
                          <a:ea typeface="Times New Roman"/>
                          <a:cs typeface="Times New Roman"/>
                          <a:sym typeface="Times New Roman"/>
                        </a:rPr>
                        <a:t> rob 20ea oven </a:t>
                      </a:r>
                      <a:r>
                        <a:rPr lang="en-US" sz="1300" dirty="0" err="1">
                          <a:latin typeface="Times New Roman"/>
                          <a:ea typeface="Times New Roman"/>
                          <a:cs typeface="Times New Roman"/>
                          <a:sym typeface="Times New Roman"/>
                        </a:rPr>
                        <a:t>từ</a:t>
                      </a:r>
                      <a:r>
                        <a:rPr lang="en-US" sz="1300" dirty="0">
                          <a:latin typeface="Times New Roman"/>
                          <a:ea typeface="Times New Roman"/>
                          <a:cs typeface="Times New Roman"/>
                          <a:sym typeface="Times New Roman"/>
                        </a:rPr>
                        <a:t> 02 </a:t>
                      </a:r>
                      <a:r>
                        <a:rPr lang="en-US" sz="1300" dirty="0" err="1">
                          <a:latin typeface="Times New Roman"/>
                          <a:ea typeface="Times New Roman"/>
                          <a:cs typeface="Times New Roman"/>
                          <a:sym typeface="Times New Roman"/>
                        </a:rPr>
                        <a:t>tàu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bảo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quản</a:t>
                      </a:r>
                      <a:r>
                        <a:rPr lang="en-US" sz="1300" dirty="0">
                          <a:latin typeface="Times New Roman"/>
                          <a:ea typeface="Times New Roman"/>
                          <a:cs typeface="Times New Roman"/>
                          <a:sym typeface="Times New Roman"/>
                        </a:rPr>
                        <a:t> A886 </a:t>
                      </a:r>
                      <a:r>
                        <a:rPr lang="en-US" sz="1300" dirty="0" err="1">
                          <a:latin typeface="Times New Roman"/>
                          <a:ea typeface="Times New Roman"/>
                          <a:cs typeface="Times New Roman"/>
                          <a:sym typeface="Times New Roman"/>
                        </a:rPr>
                        <a:t>và</a:t>
                      </a:r>
                      <a:r>
                        <a:rPr lang="en-US" sz="1300" dirty="0">
                          <a:latin typeface="Times New Roman"/>
                          <a:ea typeface="Times New Roman"/>
                          <a:cs typeface="Times New Roman"/>
                          <a:sym typeface="Times New Roman"/>
                        </a:rPr>
                        <a:t> A887 </a:t>
                      </a:r>
                      <a:r>
                        <a:rPr lang="en-US" sz="1300" dirty="0" err="1">
                          <a:latin typeface="Times New Roman"/>
                          <a:ea typeface="Times New Roman"/>
                          <a:cs typeface="Times New Roman"/>
                          <a:sym typeface="Times New Roman"/>
                        </a:rPr>
                        <a:t>nhưng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vẫn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còn</a:t>
                      </a: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01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a:t>
                      </a:r>
                      <a:r>
                        <a:rPr lang="en-US" sz="1300" dirty="0" err="1" smtClean="0">
                          <a:latin typeface="Times New Roman"/>
                          <a:ea typeface="Times New Roman"/>
                          <a:cs typeface="Times New Roman"/>
                          <a:sym typeface="Times New Roman"/>
                        </a:rPr>
                        <a:t>tàu</a:t>
                      </a:r>
                      <a:r>
                        <a:rPr lang="en-US" sz="1300" baseline="0" dirty="0" smtClean="0">
                          <a:latin typeface="Times New Roman"/>
                          <a:ea typeface="Times New Roman"/>
                          <a:cs typeface="Times New Roman"/>
                          <a:sym typeface="Times New Roman"/>
                        </a:rPr>
                        <a:t> A889</a:t>
                      </a:r>
                      <a:r>
                        <a:rPr lang="en-US" sz="1300" dirty="0" smtClean="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Trong </a:t>
                      </a:r>
                      <a:r>
                        <a:rPr lang="en-US" sz="1300" dirty="0" err="1">
                          <a:latin typeface="Times New Roman"/>
                          <a:ea typeface="Times New Roman"/>
                          <a:cs typeface="Times New Roman"/>
                          <a:sym typeface="Times New Roman"/>
                        </a:rPr>
                        <a:t>năm</a:t>
                      </a:r>
                      <a:r>
                        <a:rPr lang="en-US" sz="1300" dirty="0">
                          <a:latin typeface="Times New Roman"/>
                          <a:ea typeface="Times New Roman"/>
                          <a:cs typeface="Times New Roman"/>
                          <a:sym typeface="Times New Roman"/>
                        </a:rPr>
                        <a:t> 2025 </a:t>
                      </a:r>
                      <a:r>
                        <a:rPr lang="en-US" sz="1300" dirty="0" err="1">
                          <a:latin typeface="Times New Roman"/>
                          <a:ea typeface="Times New Roman"/>
                          <a:cs typeface="Times New Roman"/>
                          <a:sym typeface="Times New Roman"/>
                        </a:rPr>
                        <a:t>yêu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cầu</a:t>
                      </a: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29ea</a:t>
                      </a:r>
                      <a:r>
                        <a:rPr lang="en-US" sz="1300" dirty="0">
                          <a:latin typeface="Times New Roman"/>
                          <a:ea typeface="Times New Roman"/>
                          <a:cs typeface="Times New Roman"/>
                          <a:sym typeface="Times New Roman"/>
                        </a:rPr>
                        <a:t>, trong </a:t>
                      </a:r>
                      <a:r>
                        <a:rPr lang="en-US" sz="1300" dirty="0" err="1">
                          <a:latin typeface="Times New Roman"/>
                          <a:ea typeface="Times New Roman"/>
                          <a:cs typeface="Times New Roman"/>
                          <a:sym typeface="Times New Roman"/>
                        </a:rPr>
                        <a:t>đó</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đã</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thay</a:t>
                      </a: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28ea </a:t>
                      </a:r>
                      <a:r>
                        <a:rPr lang="en-US" sz="1300" dirty="0" err="1">
                          <a:latin typeface="Times New Roman"/>
                          <a:ea typeface="Times New Roman"/>
                          <a:cs typeface="Times New Roman"/>
                          <a:sym typeface="Times New Roman"/>
                        </a:rPr>
                        <a:t>và</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04 TH NFF.</a:t>
                      </a:r>
                      <a:endParaRPr sz="1300"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vi-VN" sz="1300" dirty="0" smtClean="0">
                          <a:solidFill>
                            <a:schemeClr val="dk1"/>
                          </a:solidFill>
                          <a:latin typeface="Times New Roman"/>
                          <a:ea typeface="Times New Roman"/>
                          <a:cs typeface="Times New Roman"/>
                          <a:sym typeface="Times New Roman"/>
                        </a:rPr>
                        <a:t>Tiếp tục giục hàng Safran trong tuần 19, do tàu BQ có kế hoạch release nên các oven về sẽ ưu tiên lắp cho các tàu BQ</a:t>
                      </a:r>
                      <a:r>
                        <a:rPr lang="en-US" sz="1300" dirty="0" smtClean="0">
                          <a:solidFill>
                            <a:schemeClr val="dk1"/>
                          </a:solidFill>
                          <a:latin typeface="Times New Roman"/>
                          <a:ea typeface="Times New Roman"/>
                          <a:cs typeface="Times New Roman"/>
                          <a:sym typeface="Times New Roman"/>
                        </a:rPr>
                        <a:t>.</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4498151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 vẫn chưa giảm.</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A888 - CHILLER SYS INOP DURING CRUISE: đặt hàng VCRU, chưa có EDD.</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A892 - GALLEY CHILLER SYS INOP: đặt hàng VCRU, chưa có EDD.</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A896 - BRK FAN #3 INOP &amp; DEAC-TIVATED DUE TO IMPELLER SAFETY WIRE HOLE DAM-AGED: đặt hàng IMPELLER, giao Vaeco cung ứng.</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A890 - APU INOP: APU dự kiến giao HAN 13/05.</a:t>
            </a: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866775" y="3595688"/>
            <a:ext cx="10610850" cy="1343025"/>
          </a:xfrm>
          <a:prstGeom prst="rect">
            <a:avLst/>
          </a:prstGeom>
          <a:noFill/>
          <a:ln>
            <a:noFill/>
          </a:ln>
        </p:spPr>
      </p:pic>
    </p:spTree>
    <p:extLst>
      <p:ext uri="{BB962C8B-B14F-4D97-AF65-F5344CB8AC3E}">
        <p14:creationId xmlns:p14="http://schemas.microsoft.com/office/powerpoint/2010/main" val="297532277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255" name="Google Shape;255;g31ccdae391d_0_347"/>
          <p:cNvGraphicFramePr/>
          <p:nvPr/>
        </p:nvGraphicFramePr>
        <p:xfrm>
          <a:off x="439614" y="221847"/>
          <a:ext cx="11611325" cy="667137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1209095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graphicFrame>
        <p:nvGraphicFramePr>
          <p:cNvPr id="263" name="Google Shape;263;g31ccdae391d_0_354"/>
          <p:cNvGraphicFramePr/>
          <p:nvPr>
            <p:extLst/>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err="1" smtClean="0">
                          <a:latin typeface="Times New Roman"/>
                          <a:ea typeface="Times New Roman"/>
                          <a:cs typeface="Times New Roman"/>
                          <a:sym typeface="Times New Roman"/>
                        </a:rPr>
                        <a:t>Dự</a:t>
                      </a:r>
                      <a:r>
                        <a:rPr lang="en-US" dirty="0" smtClean="0">
                          <a:latin typeface="Times New Roman"/>
                          <a:ea typeface="Times New Roman"/>
                          <a:cs typeface="Times New Roman"/>
                          <a:sym typeface="Times New Roman"/>
                        </a:rPr>
                        <a:t> </a:t>
                      </a:r>
                      <a:r>
                        <a:rPr lang="en-US" dirty="0" err="1" smtClean="0">
                          <a:latin typeface="Times New Roman"/>
                          <a:ea typeface="Times New Roman"/>
                          <a:cs typeface="Times New Roman"/>
                          <a:sym typeface="Times New Roman"/>
                        </a:rPr>
                        <a:t>kiến</a:t>
                      </a:r>
                      <a:r>
                        <a:rPr lang="en-US" dirty="0" smtClean="0">
                          <a:latin typeface="Times New Roman"/>
                          <a:ea typeface="Times New Roman"/>
                          <a:cs typeface="Times New Roman"/>
                          <a:sym typeface="Times New Roman"/>
                        </a:rPr>
                        <a:t> 03ea </a:t>
                      </a:r>
                      <a:r>
                        <a:rPr lang="en-US" dirty="0" err="1" smtClean="0">
                          <a:latin typeface="Times New Roman"/>
                          <a:ea typeface="Times New Roman"/>
                          <a:cs typeface="Times New Roman"/>
                          <a:sym typeface="Times New Roman"/>
                        </a:rPr>
                        <a:t>về</a:t>
                      </a:r>
                      <a:r>
                        <a:rPr lang="en-US" dirty="0" smtClean="0">
                          <a:latin typeface="Times New Roman"/>
                          <a:ea typeface="Times New Roman"/>
                          <a:cs typeface="Times New Roman"/>
                          <a:sym typeface="Times New Roman"/>
                        </a:rPr>
                        <a:t> </a:t>
                      </a:r>
                      <a:r>
                        <a:rPr lang="en-US" dirty="0" err="1" smtClean="0">
                          <a:latin typeface="Times New Roman"/>
                          <a:ea typeface="Times New Roman"/>
                          <a:cs typeface="Times New Roman"/>
                          <a:sym typeface="Times New Roman"/>
                        </a:rPr>
                        <a:t>ngày</a:t>
                      </a:r>
                      <a:r>
                        <a:rPr lang="en-US" dirty="0" smtClean="0">
                          <a:latin typeface="Times New Roman"/>
                          <a:ea typeface="Times New Roman"/>
                          <a:cs typeface="Times New Roman"/>
                          <a:sym typeface="Times New Roman"/>
                        </a:rPr>
                        <a:t> 07/05.</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05ea in stock.</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smtClean="0">
                          <a:solidFill>
                            <a:schemeClr val="dk1"/>
                          </a:solidFill>
                          <a:latin typeface="Times New Roman"/>
                          <a:ea typeface="Times New Roman"/>
                          <a:cs typeface="Times New Roman"/>
                          <a:sym typeface="Times New Roman"/>
                        </a:rPr>
                        <a:t>4ea in stock. trong </a:t>
                      </a:r>
                      <a:r>
                        <a:rPr lang="en-US" dirty="0" err="1" smtClean="0">
                          <a:solidFill>
                            <a:schemeClr val="dk1"/>
                          </a:solidFill>
                          <a:latin typeface="Times New Roman"/>
                          <a:ea typeface="Times New Roman"/>
                          <a:cs typeface="Times New Roman"/>
                          <a:sym typeface="Times New Roman"/>
                        </a:rPr>
                        <a:t>tuần</a:t>
                      </a:r>
                      <a:r>
                        <a:rPr lang="en-US" dirty="0" smtClean="0">
                          <a:solidFill>
                            <a:schemeClr val="dk1"/>
                          </a:solidFill>
                          <a:latin typeface="Times New Roman"/>
                          <a:ea typeface="Times New Roman"/>
                          <a:cs typeface="Times New Roman"/>
                          <a:sym typeface="Times New Roman"/>
                        </a:rPr>
                        <a:t> 15 </a:t>
                      </a:r>
                      <a:r>
                        <a:rPr lang="en-US" dirty="0" err="1" smtClean="0">
                          <a:solidFill>
                            <a:schemeClr val="dk1"/>
                          </a:solidFill>
                          <a:latin typeface="Times New Roman"/>
                          <a:ea typeface="Times New Roman"/>
                          <a:cs typeface="Times New Roman"/>
                          <a:sym typeface="Times New Roman"/>
                        </a:rPr>
                        <a:t>sẽ</a:t>
                      </a:r>
                      <a:r>
                        <a:rPr lang="en-US" dirty="0" smtClean="0">
                          <a:solidFill>
                            <a:schemeClr val="dk1"/>
                          </a:solidFill>
                          <a:latin typeface="Times New Roman"/>
                          <a:ea typeface="Times New Roman"/>
                          <a:cs typeface="Times New Roman"/>
                          <a:sym typeface="Times New Roman"/>
                        </a:rPr>
                        <a:t> </a:t>
                      </a:r>
                      <a:r>
                        <a:rPr lang="en-US" dirty="0" err="1" smtClean="0">
                          <a:solidFill>
                            <a:schemeClr val="dk1"/>
                          </a:solidFill>
                          <a:latin typeface="Times New Roman"/>
                          <a:ea typeface="Times New Roman"/>
                          <a:cs typeface="Times New Roman"/>
                          <a:sym typeface="Times New Roman"/>
                        </a:rPr>
                        <a:t>có</a:t>
                      </a:r>
                      <a:r>
                        <a:rPr lang="en-US" dirty="0" smtClean="0">
                          <a:solidFill>
                            <a:schemeClr val="dk1"/>
                          </a:solidFill>
                          <a:latin typeface="Times New Roman"/>
                          <a:ea typeface="Times New Roman"/>
                          <a:cs typeface="Times New Roman"/>
                          <a:sym typeface="Times New Roman"/>
                        </a:rPr>
                        <a:t> </a:t>
                      </a:r>
                      <a:r>
                        <a:rPr lang="en-US" dirty="0" err="1" smtClean="0">
                          <a:solidFill>
                            <a:schemeClr val="dk1"/>
                          </a:solidFill>
                          <a:latin typeface="Times New Roman"/>
                          <a:ea typeface="Times New Roman"/>
                          <a:cs typeface="Times New Roman"/>
                          <a:sym typeface="Times New Roman"/>
                        </a:rPr>
                        <a:t>thêm</a:t>
                      </a:r>
                      <a:r>
                        <a:rPr lang="en-US" dirty="0" smtClean="0">
                          <a:solidFill>
                            <a:schemeClr val="dk1"/>
                          </a:solidFill>
                          <a:latin typeface="Times New Roman"/>
                          <a:ea typeface="Times New Roman"/>
                          <a:cs typeface="Times New Roman"/>
                          <a:sym typeface="Times New Roman"/>
                        </a:rPr>
                        <a:t> 05ea.</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618722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b="1" i="0" u="none" strike="noStrike" cap="none">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03ea (thuê dài hạn) &amp; 03 động cơ thuê ngắn hạn + </a:t>
            </a:r>
            <a:r>
              <a:rPr lang="en-US" sz="1500">
                <a:solidFill>
                  <a:schemeClr val="dk1"/>
                </a:solidFill>
                <a:highlight>
                  <a:schemeClr val="lt1"/>
                </a:highlight>
                <a:latin typeface="Times New Roman"/>
                <a:ea typeface="Times New Roman"/>
                <a:cs typeface="Times New Roman"/>
                <a:sym typeface="Times New Roman"/>
              </a:rPr>
              <a:t>01 động cơ new (giao HAN 22/01).</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NIL</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 0</a:t>
            </a:r>
            <a:r>
              <a:rPr lang="en-US" sz="1500">
                <a:solidFill>
                  <a:schemeClr val="dk1"/>
                </a:solidFill>
                <a:highlight>
                  <a:schemeClr val="lt1"/>
                </a:highlight>
                <a:latin typeface="Times New Roman"/>
                <a:ea typeface="Times New Roman"/>
                <a:cs typeface="Times New Roman"/>
                <a:sym typeface="Times New Roman"/>
              </a:rPr>
              <a:t>7</a:t>
            </a:r>
            <a:r>
              <a:rPr lang="en-US" sz="1500" b="0" i="0" u="none" strike="noStrike" cap="none">
                <a:solidFill>
                  <a:schemeClr val="dk1"/>
                </a:solidFill>
                <a:highlight>
                  <a:schemeClr val="lt1"/>
                </a:highlight>
                <a:latin typeface="Times New Roman"/>
                <a:ea typeface="Times New Roman"/>
                <a:cs typeface="Times New Roman"/>
                <a:sym typeface="Times New Roman"/>
              </a:rPr>
              <a:t>ea (0</a:t>
            </a:r>
            <a:r>
              <a:rPr lang="en-US" sz="1500">
                <a:solidFill>
                  <a:schemeClr val="dk1"/>
                </a:solidFill>
                <a:highlight>
                  <a:schemeClr val="lt1"/>
                </a:highlight>
                <a:latin typeface="Times New Roman"/>
                <a:ea typeface="Times New Roman"/>
                <a:cs typeface="Times New Roman"/>
                <a:sym typeface="Times New Roman"/>
              </a:rPr>
              <a:t>3</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21043 và 21317, 21048 sửa tại N3 và 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21201 sửa tại HAESL v</a:t>
            </a:r>
            <a:r>
              <a:rPr lang="en-US" sz="1500">
                <a:solidFill>
                  <a:schemeClr val="dk1"/>
                </a:solidFill>
                <a:highlight>
                  <a:schemeClr val="lt1"/>
                </a:highlight>
                <a:latin typeface="Times New Roman"/>
                <a:ea typeface="Times New Roman"/>
                <a:cs typeface="Times New Roman"/>
                <a:sym typeface="Times New Roman"/>
              </a:rPr>
              <a:t>à 03 tại SEASL 21584, 21414 và 21604</a:t>
            </a:r>
            <a:r>
              <a:rPr lang="en-US" sz="1500" b="0" i="0" u="none" strike="noStrike" cap="none">
                <a:solidFill>
                  <a:schemeClr val="dk1"/>
                </a:solidFill>
                <a:highlight>
                  <a:schemeClr val="lt1"/>
                </a:highlight>
                <a:latin typeface="Times New Roman"/>
                <a:ea typeface="Times New Roman"/>
                <a:cs typeface="Times New Roman"/>
                <a:sym typeface="Times New Roman"/>
              </a:rPr>
              <a:t>)</a:t>
            </a:r>
            <a:r>
              <a:rPr lang="en-US" sz="1500">
                <a:solidFill>
                  <a:schemeClr val="dk1"/>
                </a:solidFill>
                <a:highlight>
                  <a:schemeClr val="lt1"/>
                </a:highlight>
                <a:latin typeface="Times New Roman"/>
                <a:ea typeface="Times New Roman"/>
                <a:cs typeface="Times New Roman"/>
                <a:sym typeface="Times New Roman"/>
              </a:rPr>
              <a:t>. </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•Đã thu xếp chuyển 01 core engine stand từ N3 về để swap động cơ vào tháo tiếp động cơ gửi đi shop.</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a:t>
            </a:r>
            <a:r>
              <a:rPr lang="en-US" sz="1500">
                <a:solidFill>
                  <a:schemeClr val="dk1"/>
                </a:solidFill>
                <a:highlight>
                  <a:schemeClr val="lt1"/>
                </a:highlight>
                <a:latin typeface="Times New Roman"/>
                <a:ea typeface="Times New Roman"/>
                <a:cs typeface="Times New Roman"/>
                <a:sym typeface="Times New Roman"/>
              </a:rPr>
              <a:t>10</a:t>
            </a:r>
            <a:r>
              <a:rPr lang="en-US" sz="1500" b="0" i="0" u="none" strike="noStrike" cap="none">
                <a:solidFill>
                  <a:schemeClr val="dk1"/>
                </a:solidFill>
                <a:highlight>
                  <a:schemeClr val="lt1"/>
                </a:highlight>
                <a:latin typeface="Times New Roman"/>
                <a:ea typeface="Times New Roman"/>
                <a:cs typeface="Times New Roman"/>
                <a:sym typeface="Times New Roman"/>
              </a:rPr>
              <a:t>ea (2 sở hữu, 2 dài hạn và </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 ngắn hạn) đã ký thêm </a:t>
            </a:r>
            <a:r>
              <a:rPr lang="en-US" sz="1500">
                <a:solidFill>
                  <a:schemeClr val="dk1"/>
                </a:solidFill>
                <a:highlight>
                  <a:schemeClr val="lt1"/>
                </a:highlight>
                <a:latin typeface="Times New Roman"/>
                <a:ea typeface="Times New Roman"/>
                <a:cs typeface="Times New Roman"/>
                <a:sym typeface="Times New Roman"/>
              </a:rPr>
              <a:t>01</a:t>
            </a:r>
            <a:r>
              <a:rPr lang="en-US" sz="1500" b="0" i="0" u="none" strike="noStrike" cap="none">
                <a:solidFill>
                  <a:schemeClr val="dk1"/>
                </a:solidFill>
                <a:highlight>
                  <a:schemeClr val="lt1"/>
                </a:highlight>
                <a:latin typeface="Times New Roman"/>
                <a:ea typeface="Times New Roman"/>
                <a:cs typeface="Times New Roman"/>
                <a:sym typeface="Times New Roman"/>
              </a:rPr>
              <a:t> hđ thuê đc M</a:t>
            </a:r>
            <a:r>
              <a:rPr lang="en-US" sz="1500">
                <a:solidFill>
                  <a:schemeClr val="dk1"/>
                </a:solidFill>
                <a:highlight>
                  <a:schemeClr val="lt1"/>
                </a:highlight>
                <a:latin typeface="Times New Roman"/>
                <a:ea typeface="Times New Roman"/>
                <a:cs typeface="Times New Roman"/>
                <a:sym typeface="Times New Roman"/>
              </a:rPr>
              <a:t>ar/2025 </a:t>
            </a:r>
            <a:r>
              <a:rPr lang="en-US" sz="1500" b="0" i="0" u="none" strike="noStrike" cap="none">
                <a:solidFill>
                  <a:schemeClr val="dk1"/>
                </a:solidFill>
                <a:highlight>
                  <a:schemeClr val="lt1"/>
                </a:highlight>
                <a:latin typeface="Times New Roman"/>
                <a:ea typeface="Times New Roman"/>
                <a:cs typeface="Times New Roman"/>
                <a:sym typeface="Times New Roman"/>
              </a:rPr>
              <a:t>với Aercap.</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4</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KLM shop:  956533, 956599 và 956947, 956534 (inducted th</a:t>
            </a:r>
            <a:r>
              <a:rPr lang="en-US" sz="1500">
                <a:solidFill>
                  <a:schemeClr val="dk1"/>
                </a:solidFill>
                <a:highlight>
                  <a:schemeClr val="lt1"/>
                </a:highlight>
                <a:latin typeface="Times New Roman"/>
                <a:ea typeface="Times New Roman"/>
                <a:cs typeface="Times New Roman"/>
                <a:sym typeface="Times New Roman"/>
              </a:rPr>
              <a:t>áng 4/2025)</a:t>
            </a:r>
            <a:r>
              <a:rPr lang="en-US" sz="1500" b="0" i="0" u="none" strike="noStrike" cap="none">
                <a:solidFill>
                  <a:schemeClr val="dk1"/>
                </a:solidFill>
                <a:highlight>
                  <a:schemeClr val="lt1"/>
                </a:highlight>
                <a:latin typeface="Times New Roman"/>
                <a:ea typeface="Times New Roman"/>
                <a:cs typeface="Times New Roman"/>
                <a:sym typeface="Times New Roman"/>
              </a:rPr>
              <a:t>. trong </a:t>
            </a:r>
            <a:r>
              <a:rPr lang="en-US" sz="1500">
                <a:solidFill>
                  <a:schemeClr val="dk1"/>
                </a:solidFill>
                <a:highlight>
                  <a:schemeClr val="lt1"/>
                </a:highlight>
                <a:latin typeface="Times New Roman"/>
                <a:ea typeface="Times New Roman"/>
                <a:cs typeface="Times New Roman"/>
                <a:sym typeface="Times New Roman"/>
              </a:rPr>
              <a:t>đó động cơ 956533 dự kiến về SGN 08May.</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1</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ở GE shop: 958398 (delay in GEEVES) d</a:t>
            </a:r>
            <a:r>
              <a:rPr lang="en-US" sz="1500">
                <a:solidFill>
                  <a:schemeClr val="dk1"/>
                </a:solidFill>
                <a:highlight>
                  <a:schemeClr val="lt1"/>
                </a:highlight>
                <a:latin typeface="Times New Roman"/>
                <a:ea typeface="Times New Roman"/>
                <a:cs typeface="Times New Roman"/>
                <a:sym typeface="Times New Roman"/>
              </a:rPr>
              <a:t>ự kiến giao cuối tháng 6/2025.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a:highlight>
                  <a:schemeClr val="lt1"/>
                </a:highlight>
                <a:latin typeface="Times New Roman"/>
                <a:ea typeface="Times New Roman"/>
                <a:cs typeface="Times New Roman"/>
                <a:sym typeface="Times New Roman"/>
              </a:rPr>
              <a:t>Thuê </a:t>
            </a:r>
            <a:r>
              <a:rPr lang="en-US" sz="1500" b="0" i="0" u="none" strike="noStrike" cap="none">
                <a:solidFill>
                  <a:srgbClr val="000000"/>
                </a:solidFill>
                <a:highlight>
                  <a:schemeClr val="lt1"/>
                </a:highlight>
                <a:latin typeface="Times New Roman"/>
                <a:ea typeface="Times New Roman"/>
                <a:cs typeface="Times New Roman"/>
                <a:sym typeface="Times New Roman"/>
              </a:rPr>
              <a:t>động cơ đáp ứng KH sửa 2024-2025: B787 có 04 dự phòng và đang thuê 0</a:t>
            </a:r>
            <a:r>
              <a:rPr lang="en-US" sz="1500">
                <a:highlight>
                  <a:schemeClr val="lt1"/>
                </a:highlight>
                <a:latin typeface="Times New Roman"/>
                <a:ea typeface="Times New Roman"/>
                <a:cs typeface="Times New Roman"/>
                <a:sym typeface="Times New Roman"/>
              </a:rPr>
              <a:t>6</a:t>
            </a:r>
            <a:r>
              <a:rPr lang="en-US" sz="1500" b="0" i="0" u="none" strike="noStrike" cap="none">
                <a:solidFill>
                  <a:srgbClr val="000000"/>
                </a:solidFill>
                <a:highlight>
                  <a:schemeClr val="lt1"/>
                </a:highlight>
                <a:latin typeface="Times New Roman"/>
                <a:ea typeface="Times New Roman"/>
                <a:cs typeface="Times New Roman"/>
                <a:sym typeface="Times New Roman"/>
              </a:rPr>
              <a:t> của Aercap (956933; 958266 và 958934 958966 và 956626, 956980)</a:t>
            </a:r>
            <a:r>
              <a:rPr lang="en-US" sz="1500">
                <a:highlight>
                  <a:schemeClr val="lt1"/>
                </a:highlight>
                <a:latin typeface="Times New Roman"/>
                <a:ea typeface="Times New Roman"/>
                <a:cs typeface="Times New Roman"/>
                <a:sym typeface="Times New Roman"/>
              </a:rPr>
              <a:t> trong đó 956980 mới thuê do 01 đc trên A868 phải tháo đầu tháng 4/2025</a:t>
            </a:r>
            <a:r>
              <a:rPr lang="en-US" sz="1500" b="0" i="0" u="none" strike="noStrike" cap="none">
                <a:solidFill>
                  <a:srgbClr val="000000"/>
                </a:solidFill>
                <a:highlight>
                  <a:schemeClr val="lt1"/>
                </a:highlight>
                <a:latin typeface="Times New Roman"/>
                <a:ea typeface="Times New Roman"/>
                <a:cs typeface="Times New Roman"/>
                <a:sym typeface="Times New Roman"/>
              </a:rPr>
              <a:t>  </a:t>
            </a:r>
            <a:endParaRPr sz="15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5953438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02ea V11752, V16582 (VNA), V16462 (K6)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09</a:t>
            </a:r>
            <a:r>
              <a:rPr lang="en-US" sz="1600" b="0" i="0" u="none" strike="noStrike" cap="none">
                <a:solidFill>
                  <a:schemeClr val="dk1"/>
                </a:solidFill>
                <a:latin typeface="Times New Roman"/>
                <a:ea typeface="Times New Roman"/>
                <a:cs typeface="Times New Roman"/>
                <a:sym typeface="Times New Roman"/>
              </a:rPr>
              <a:t>ea VNA</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2456902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6" name="Google Shape;28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87" name="Google Shape;28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8" name="Google Shape;288;g31ccdae391d_0_375"/>
          <p:cNvPicPr preferRelativeResize="0"/>
          <p:nvPr/>
        </p:nvPicPr>
        <p:blipFill>
          <a:blip r:embed="rId3">
            <a:alphaModFix/>
          </a:blip>
          <a:stretch>
            <a:fillRect/>
          </a:stretch>
        </p:blipFill>
        <p:spPr>
          <a:xfrm>
            <a:off x="459225" y="1378813"/>
            <a:ext cx="11732774" cy="3711475"/>
          </a:xfrm>
          <a:prstGeom prst="rect">
            <a:avLst/>
          </a:prstGeom>
          <a:noFill/>
          <a:ln>
            <a:noFill/>
          </a:ln>
        </p:spPr>
      </p:pic>
    </p:spTree>
    <p:extLst>
      <p:ext uri="{BB962C8B-B14F-4D97-AF65-F5344CB8AC3E}">
        <p14:creationId xmlns:p14="http://schemas.microsoft.com/office/powerpoint/2010/main" val="56126742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95" name="Google Shape;29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8</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5</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Đang đàm phán thuê thêm 2 động cơ ( LHT- cuối tháng 7 và PWEL cuối tháng 5 ) </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PTVT thiếu hụt, đặc biệt là khác khối AP51</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8612444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302" name="Google Shape;30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ED0217,ED0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4090448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0" name="Google Shape;31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311" name="Google Shape;311;g31ccdae391d_0_396"/>
          <p:cNvSpPr/>
          <p:nvPr/>
        </p:nvSpPr>
        <p:spPr>
          <a:xfrm>
            <a:off x="609900" y="3836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NIL stock</a:t>
            </a:r>
            <a:r>
              <a:rPr lang="en-US" sz="160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956533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08/05. </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5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03ea: V16338 (06/05), V17403 (13/05), V16692 (28/05).</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P770903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12/05.</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P771077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23/05.</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P771391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25/05.</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P771387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29/05.</a:t>
            </a:r>
            <a:endParaRPr sz="16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01 stock (ED0</a:t>
            </a:r>
            <a:r>
              <a:rPr lang="en-US" sz="1600" dirty="0">
                <a:solidFill>
                  <a:schemeClr val="dk1"/>
                </a:solidFill>
                <a:latin typeface="Times New Roman"/>
                <a:ea typeface="Times New Roman"/>
                <a:cs typeface="Times New Roman"/>
                <a:sym typeface="Times New Roman"/>
              </a:rPr>
              <a:t>235</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EST SGN 28/05.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9926226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8" name="Google Shape;31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19" name="Google Shape;319;g31ccdae391d_0_403"/>
          <p:cNvSpPr txBox="1"/>
          <p:nvPr/>
        </p:nvSpPr>
        <p:spPr>
          <a:xfrm>
            <a:off x="7066700" y="571500"/>
            <a:ext cx="4085700" cy="421958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a:t>
            </a:r>
            <a:r>
              <a:rPr lang="en-US" dirty="0">
                <a:solidFill>
                  <a:schemeClr val="dk1"/>
                </a:solidFill>
                <a:latin typeface="Times New Roman"/>
                <a:ea typeface="Times New Roman"/>
                <a:cs typeface="Times New Roman"/>
                <a:sym typeface="Times New Roman"/>
              </a:rPr>
              <a:t>00 </a:t>
            </a:r>
            <a:r>
              <a:rPr lang="en-US" sz="1400" b="0" i="0" u="none" strike="noStrike" cap="none" dirty="0">
                <a:solidFill>
                  <a:schemeClr val="dk1"/>
                </a:solidFill>
                <a:latin typeface="Times New Roman"/>
                <a:ea typeface="Times New Roman"/>
                <a:cs typeface="Times New Roman"/>
                <a:sym typeface="Times New Roman"/>
              </a:rPr>
              <a:t>APU</a:t>
            </a:r>
            <a:r>
              <a:rPr lang="en-US" dirty="0">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err="1">
                <a:solidFill>
                  <a:schemeClr val="dk1"/>
                </a:solidFill>
                <a:latin typeface="Times New Roman"/>
                <a:ea typeface="Times New Roman"/>
                <a:cs typeface="Times New Roman"/>
                <a:sym typeface="Times New Roman"/>
              </a:rPr>
              <a:t>Th</a:t>
            </a:r>
            <a:r>
              <a:rPr lang="en-US" dirty="0" err="1">
                <a:solidFill>
                  <a:schemeClr val="dk1"/>
                </a:solidFill>
                <a:latin typeface="Times New Roman"/>
                <a:ea typeface="Times New Roman"/>
                <a:cs typeface="Times New Roman"/>
                <a:sym typeface="Times New Roman"/>
              </a:rPr>
              <a:t>áng</a:t>
            </a:r>
            <a:r>
              <a:rPr lang="en-US" dirty="0">
                <a:solidFill>
                  <a:schemeClr val="dk1"/>
                </a:solidFill>
                <a:latin typeface="Times New Roman"/>
                <a:ea typeface="Times New Roman"/>
                <a:cs typeface="Times New Roman"/>
                <a:sym typeface="Times New Roman"/>
              </a:rPr>
              <a:t> 5: 01ea EDD </a:t>
            </a:r>
            <a:r>
              <a:rPr lang="en-US" dirty="0" smtClean="0">
                <a:solidFill>
                  <a:schemeClr val="dk1"/>
                </a:solidFill>
                <a:latin typeface="Times New Roman"/>
                <a:ea typeface="Times New Roman"/>
                <a:cs typeface="Times New Roman"/>
                <a:sym typeface="Times New Roman"/>
              </a:rPr>
              <a:t>10/05</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A350</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vận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chuyển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đi</a:t>
            </a:r>
            <a:r>
              <a:rPr lang="en-US" dirty="0">
                <a:solidFill>
                  <a:schemeClr val="dk1"/>
                </a:solidFill>
                <a:latin typeface="Times New Roman"/>
                <a:ea typeface="Times New Roman"/>
                <a:cs typeface="Times New Roman"/>
                <a:sym typeface="Times New Roman"/>
              </a:rPr>
              <a:t> shop </a:t>
            </a:r>
            <a:r>
              <a:rPr lang="en-US" dirty="0" err="1">
                <a:solidFill>
                  <a:schemeClr val="dk1"/>
                </a:solidFill>
                <a:latin typeface="Times New Roman"/>
                <a:ea typeface="Times New Roman"/>
                <a:cs typeface="Times New Roman"/>
                <a:sym typeface="Times New Roman"/>
              </a:rPr>
              <a:t>Lufth</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smtClean="0">
                <a:solidFill>
                  <a:schemeClr val="dk1"/>
                </a:solidFill>
                <a:latin typeface="Times New Roman"/>
                <a:ea typeface="Times New Roman"/>
                <a:cs typeface="Times New Roman"/>
                <a:sym typeface="Times New Roman"/>
              </a:rPr>
              <a:t>+ 02 </a:t>
            </a:r>
            <a:r>
              <a:rPr lang="en-US" dirty="0">
                <a:solidFill>
                  <a:schemeClr val="dk1"/>
                </a:solidFill>
                <a:latin typeface="Times New Roman"/>
                <a:ea typeface="Times New Roman"/>
                <a:cs typeface="Times New Roman"/>
                <a:sym typeface="Times New Roman"/>
              </a:rPr>
              <a:t>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 P-00263 (DK 05/05/2025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xong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13/05 </a:t>
            </a:r>
            <a:r>
              <a:rPr lang="en-US" dirty="0" err="1">
                <a:solidFill>
                  <a:schemeClr val="dk1"/>
                </a:solidFill>
                <a:latin typeface="Times New Roman"/>
                <a:ea typeface="Times New Roman"/>
                <a:cs typeface="Times New Roman"/>
                <a:sym typeface="Times New Roman"/>
              </a:rPr>
              <a:t>stk</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khi</a:t>
            </a:r>
            <a:r>
              <a:rPr lang="en-US" dirty="0">
                <a:solidFill>
                  <a:schemeClr val="dk1"/>
                </a:solidFill>
                <a:latin typeface="Times New Roman"/>
                <a:ea typeface="Times New Roman"/>
                <a:cs typeface="Times New Roman"/>
                <a:sym typeface="Times New Roman"/>
              </a:rPr>
              <a:t> HAN) </a:t>
            </a:r>
            <a:r>
              <a:rPr lang="en-US" dirty="0" err="1">
                <a:solidFill>
                  <a:schemeClr val="dk1"/>
                </a:solidFill>
                <a:latin typeface="Times New Roman"/>
                <a:ea typeface="Times New Roman"/>
                <a:cs typeface="Times New Roman"/>
                <a:sym typeface="Times New Roman"/>
              </a:rPr>
              <a:t>và</a:t>
            </a:r>
            <a:r>
              <a:rPr lang="en-US" dirty="0">
                <a:solidFill>
                  <a:schemeClr val="dk1"/>
                </a:solidFill>
                <a:latin typeface="Times New Roman"/>
                <a:ea typeface="Times New Roman"/>
                <a:cs typeface="Times New Roman"/>
                <a:sym typeface="Times New Roman"/>
              </a:rPr>
              <a:t> P-00194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ngày</a:t>
            </a:r>
            <a:r>
              <a:rPr lang="en-US" dirty="0">
                <a:solidFill>
                  <a:schemeClr val="dk1"/>
                </a:solidFill>
                <a:latin typeface="Times New Roman"/>
                <a:ea typeface="Times New Roman"/>
                <a:cs typeface="Times New Roman"/>
                <a:sym typeface="Times New Roman"/>
              </a:rPr>
              <a:t> release.</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a:t>
            </a:r>
            <a:r>
              <a:rPr lang="en-US" sz="1400" b="0" i="0" u="none" strike="noStrike" cap="none" dirty="0">
                <a:solidFill>
                  <a:schemeClr val="dk1"/>
                </a:solidFill>
                <a:latin typeface="Times New Roman"/>
                <a:ea typeface="Times New Roman"/>
                <a:cs typeface="Times New Roman"/>
                <a:sym typeface="Times New Roman"/>
              </a:rPr>
              <a:t> APU</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(PWC-Z926122)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dk</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về</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mtClean="0">
                <a:solidFill>
                  <a:schemeClr val="dk1"/>
                </a:solidFill>
                <a:latin typeface="Times New Roman"/>
                <a:ea typeface="Times New Roman"/>
                <a:cs typeface="Times New Roman"/>
                <a:sym typeface="Times New Roman"/>
              </a:rPr>
              <a:t>+ 01 </a:t>
            </a:r>
            <a:r>
              <a:rPr lang="en-US" dirty="0">
                <a:solidFill>
                  <a:schemeClr val="dk1"/>
                </a:solidFill>
                <a:latin typeface="Times New Roman"/>
                <a:ea typeface="Times New Roman"/>
                <a:cs typeface="Times New Roman"/>
                <a:sym typeface="Times New Roman"/>
              </a:rPr>
              <a:t>APU ( PWC-Z925500) DK 06/05/2025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xong</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pic>
        <p:nvPicPr>
          <p:cNvPr id="320" name="Google Shape;320;g31ccdae391d_0_403"/>
          <p:cNvPicPr preferRelativeResize="0"/>
          <p:nvPr/>
        </p:nvPicPr>
        <p:blipFill>
          <a:blip r:embed="rId3">
            <a:alphaModFix/>
          </a:blip>
          <a:stretch>
            <a:fillRect/>
          </a:stretch>
        </p:blipFill>
        <p:spPr>
          <a:xfrm>
            <a:off x="437525" y="495300"/>
            <a:ext cx="6583800" cy="6153075"/>
          </a:xfrm>
          <a:prstGeom prst="rect">
            <a:avLst/>
          </a:prstGeom>
          <a:noFill/>
          <a:ln>
            <a:noFill/>
          </a:ln>
        </p:spPr>
      </p:pic>
    </p:spTree>
    <p:extLst>
      <p:ext uri="{BB962C8B-B14F-4D97-AF65-F5344CB8AC3E}">
        <p14:creationId xmlns:p14="http://schemas.microsoft.com/office/powerpoint/2010/main" val="348493794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338eea6c084_0_0"/>
          <p:cNvSpPr txBox="1">
            <a:spLocks noGrp="1"/>
          </p:cNvSpPr>
          <p:nvPr>
            <p:ph type="title"/>
          </p:nvPr>
        </p:nvSpPr>
        <p:spPr>
          <a:xfrm>
            <a:off x="3727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CHUẨN BỊ BAY NGA</a:t>
            </a:r>
            <a:endParaRPr sz="2800">
              <a:solidFill>
                <a:srgbClr val="FFC000"/>
              </a:solidFill>
              <a:latin typeface="Times New Roman"/>
              <a:ea typeface="Times New Roman"/>
              <a:cs typeface="Times New Roman"/>
              <a:sym typeface="Times New Roman"/>
            </a:endParaRPr>
          </a:p>
        </p:txBody>
      </p:sp>
      <p:sp>
        <p:nvSpPr>
          <p:cNvPr id="327" name="Google Shape;32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328" name="Google Shape;328;g338eea6c084_0_0"/>
          <p:cNvSpPr/>
          <p:nvPr/>
        </p:nvSpPr>
        <p:spPr>
          <a:xfrm>
            <a:off x="609900" y="17057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15000"/>
              </a:lnSpc>
              <a:spcBef>
                <a:spcPts val="0"/>
              </a:spcBef>
              <a:spcAft>
                <a:spcPts val="0"/>
              </a:spcAft>
              <a:buClr>
                <a:schemeClr val="dk1"/>
              </a:buClr>
              <a:buSzPts val="2000"/>
              <a:buFont typeface="Times New Roman"/>
              <a:buAutoNum type="arabicPeriod"/>
            </a:pPr>
            <a:r>
              <a:rPr lang="en-US" sz="2000" b="1" dirty="0">
                <a:solidFill>
                  <a:schemeClr val="dk1"/>
                </a:solidFill>
                <a:latin typeface="Times New Roman"/>
                <a:ea typeface="Times New Roman"/>
                <a:cs typeface="Times New Roman"/>
                <a:sym typeface="Times New Roman"/>
              </a:rPr>
              <a:t>NHIÊN LIỆU:</a:t>
            </a:r>
            <a:endParaRPr sz="2000" b="1"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công</a:t>
            </a:r>
            <a:r>
              <a:rPr lang="en-US" sz="1600" dirty="0">
                <a:solidFill>
                  <a:schemeClr val="dk1"/>
                </a:solidFill>
                <a:latin typeface="Times New Roman"/>
                <a:ea typeface="Times New Roman"/>
                <a:cs typeface="Times New Roman"/>
                <a:sym typeface="Times New Roman"/>
              </a:rPr>
              <a:t> ty </a:t>
            </a:r>
            <a:r>
              <a:rPr lang="en-US" sz="1600" dirty="0" err="1">
                <a:solidFill>
                  <a:schemeClr val="dk1"/>
                </a:solidFill>
                <a:latin typeface="Times New Roman"/>
                <a:ea typeface="Times New Roman"/>
                <a:cs typeface="Times New Roman"/>
                <a:sym typeface="Times New Roman"/>
              </a:rPr>
              <a:t>Skypec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trình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kí</a:t>
            </a:r>
            <a:r>
              <a:rPr lang="en-US" sz="1600" dirty="0">
                <a:solidFill>
                  <a:schemeClr val="dk1"/>
                </a:solidFill>
                <a:latin typeface="Times New Roman"/>
                <a:ea typeface="Times New Roman"/>
                <a:cs typeface="Times New Roman"/>
                <a:sym typeface="Times New Roman"/>
              </a:rPr>
              <a:t> HĐ trong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19 (</a:t>
            </a:r>
            <a:r>
              <a:rPr lang="en-US" sz="1600" dirty="0" err="1">
                <a:solidFill>
                  <a:schemeClr val="dk1"/>
                </a:solidFill>
                <a:latin typeface="Times New Roman"/>
                <a:ea typeface="Times New Roman"/>
                <a:cs typeface="Times New Roman"/>
                <a:sym typeface="Times New Roman"/>
              </a:rPr>
              <a:t>khi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phát</a:t>
            </a:r>
            <a:r>
              <a:rPr lang="en-US" sz="1600" dirty="0">
                <a:solidFill>
                  <a:schemeClr val="dk1"/>
                </a:solidFill>
                <a:latin typeface="Times New Roman"/>
                <a:ea typeface="Times New Roman"/>
                <a:cs typeface="Times New Roman"/>
                <a:sym typeface="Times New Roman"/>
              </a:rPr>
              <a:t> sinh </a:t>
            </a:r>
            <a:r>
              <a:rPr lang="en-US" sz="1600" dirty="0" err="1">
                <a:solidFill>
                  <a:schemeClr val="dk1"/>
                </a:solidFill>
                <a:latin typeface="Times New Roman"/>
                <a:ea typeface="Times New Roman"/>
                <a:cs typeface="Times New Roman"/>
                <a:sym typeface="Times New Roman"/>
              </a:rPr>
              <a:t>yêu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hút</a:t>
            </a:r>
            <a:r>
              <a:rPr lang="en-US" sz="1600" dirty="0">
                <a:solidFill>
                  <a:schemeClr val="dk1"/>
                </a:solidFill>
                <a:latin typeface="Times New Roman"/>
                <a:ea typeface="Times New Roman"/>
                <a:cs typeface="Times New Roman"/>
                <a:sym typeface="Times New Roman"/>
              </a:rPr>
              <a:t> NL, </a:t>
            </a:r>
            <a:r>
              <a:rPr lang="en-US" sz="1600" dirty="0" err="1">
                <a:solidFill>
                  <a:schemeClr val="dk1"/>
                </a:solidFill>
                <a:latin typeface="Times New Roman"/>
                <a:ea typeface="Times New Roman"/>
                <a:cs typeface="Times New Roman"/>
                <a:sym typeface="Times New Roman"/>
              </a:rPr>
              <a:t>Skypec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xử</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tính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phí</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theo</a:t>
            </a:r>
            <a:r>
              <a:rPr lang="en-US" sz="1600" dirty="0">
                <a:solidFill>
                  <a:schemeClr val="dk1"/>
                </a:solidFill>
                <a:latin typeface="Times New Roman"/>
                <a:ea typeface="Times New Roman"/>
                <a:cs typeface="Times New Roman"/>
                <a:sym typeface="Times New Roman"/>
              </a:rPr>
              <a:t> case by case).</a:t>
            </a:r>
            <a:endParaRPr sz="20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2.   PTVT </a:t>
            </a:r>
            <a:r>
              <a:rPr lang="en-US" sz="2000" b="1" dirty="0">
                <a:solidFill>
                  <a:schemeClr val="dk1"/>
                </a:solidFill>
                <a:latin typeface="Times New Roman"/>
                <a:ea typeface="Times New Roman"/>
                <a:cs typeface="Times New Roman"/>
                <a:sym typeface="Times New Roman"/>
              </a:rPr>
              <a:t>DỰ PHÒNG FAK</a:t>
            </a:r>
            <a:endParaRPr sz="16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TGĐ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63 item (5.18 </a:t>
            </a:r>
            <a:r>
              <a:rPr lang="en-US" sz="1600" dirty="0" err="1">
                <a:solidFill>
                  <a:schemeClr val="dk1"/>
                </a:solidFill>
                <a:latin typeface="Times New Roman"/>
                <a:ea typeface="Times New Roman"/>
                <a:cs typeface="Times New Roman"/>
                <a:sym typeface="Times New Roman"/>
              </a:rPr>
              <a:t>triệu</a:t>
            </a:r>
            <a:r>
              <a:rPr lang="en-US" sz="1600" dirty="0">
                <a:solidFill>
                  <a:schemeClr val="dk1"/>
                </a:solidFill>
                <a:latin typeface="Times New Roman"/>
                <a:ea typeface="Times New Roman"/>
                <a:cs typeface="Times New Roman"/>
                <a:sym typeface="Times New Roman"/>
              </a:rPr>
              <a:t> USD) trong </a:t>
            </a:r>
            <a:r>
              <a:rPr lang="en-US" sz="1600" dirty="0" err="1">
                <a:solidFill>
                  <a:schemeClr val="dk1"/>
                </a:solidFill>
                <a:latin typeface="Times New Roman"/>
                <a:ea typeface="Times New Roman"/>
                <a:cs typeface="Times New Roman"/>
                <a:sym typeface="Times New Roman"/>
              </a:rPr>
              <a:t>đó</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33 item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14 item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HAN/SGN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07/05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kịp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chuyến</a:t>
            </a:r>
            <a:r>
              <a:rPr lang="en-US" sz="1600" dirty="0">
                <a:solidFill>
                  <a:schemeClr val="dk1"/>
                </a:solidFill>
                <a:latin typeface="Times New Roman"/>
                <a:ea typeface="Times New Roman"/>
                <a:cs typeface="Times New Roman"/>
                <a:sym typeface="Times New Roman"/>
              </a:rPr>
              <a:t> bay </a:t>
            </a:r>
            <a:r>
              <a:rPr lang="en-US" sz="1600" dirty="0" err="1">
                <a:solidFill>
                  <a:schemeClr val="dk1"/>
                </a:solidFill>
                <a:latin typeface="Times New Roman"/>
                <a:ea typeface="Times New Roman"/>
                <a:cs typeface="Times New Roman"/>
                <a:sym typeface="Times New Roman"/>
              </a:rPr>
              <a:t>đầu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tiền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08/05.</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16 item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ít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nhất</a:t>
            </a:r>
            <a:r>
              <a:rPr lang="en-US" sz="1600" dirty="0">
                <a:solidFill>
                  <a:schemeClr val="dk1"/>
                </a:solidFill>
                <a:latin typeface="Times New Roman"/>
                <a:ea typeface="Times New Roman"/>
                <a:cs typeface="Times New Roman"/>
                <a:sym typeface="Times New Roman"/>
              </a:rPr>
              <a:t> 05ea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5).</a:t>
            </a:r>
          </a:p>
          <a:p>
            <a:pPr marL="127000" lvl="0" algn="just" rtl="0">
              <a:lnSpc>
                <a:spcPct val="115000"/>
              </a:lnSpc>
              <a:spcBef>
                <a:spcPts val="0"/>
              </a:spcBef>
              <a:spcAft>
                <a:spcPts val="0"/>
              </a:spcAft>
              <a:buClr>
                <a:schemeClr val="dk1"/>
              </a:buClr>
              <a:buSzPts val="1600"/>
            </a:pPr>
            <a:r>
              <a:rPr lang="en-US" sz="1600" b="0" i="0" u="none" strike="noStrike" cap="none" dirty="0" err="1" smtClean="0">
                <a:solidFill>
                  <a:schemeClr val="dk1"/>
                </a:solidFill>
                <a:latin typeface="Times New Roman"/>
                <a:ea typeface="Times New Roman"/>
                <a:cs typeface="Times New Roman"/>
                <a:sym typeface="Times New Roman"/>
              </a:rPr>
              <a:t>Số</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lượng</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khí</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tài</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mang</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theo</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chuyến</a:t>
            </a:r>
            <a:r>
              <a:rPr lang="en-US" sz="1600" b="0" i="0" u="none" strike="noStrike" cap="none" dirty="0" smtClean="0">
                <a:solidFill>
                  <a:schemeClr val="dk1"/>
                </a:solidFill>
                <a:latin typeface="Times New Roman"/>
                <a:ea typeface="Times New Roman"/>
                <a:cs typeface="Times New Roman"/>
                <a:sym typeface="Times New Roman"/>
              </a:rPr>
              <a:t> bay Nga </a:t>
            </a:r>
            <a:r>
              <a:rPr lang="en-US" sz="1600" b="0" i="0" u="none" strike="noStrike" cap="none" dirty="0" err="1" smtClean="0">
                <a:solidFill>
                  <a:schemeClr val="dk1"/>
                </a:solidFill>
                <a:latin typeface="Times New Roman"/>
                <a:ea typeface="Times New Roman"/>
                <a:cs typeface="Times New Roman"/>
                <a:sym typeface="Times New Roman"/>
              </a:rPr>
              <a:t>ngày</a:t>
            </a:r>
            <a:r>
              <a:rPr lang="en-US" sz="1600" b="0" i="0" u="none" strike="noStrike" cap="none" dirty="0" smtClean="0">
                <a:solidFill>
                  <a:schemeClr val="dk1"/>
                </a:solidFill>
                <a:latin typeface="Times New Roman"/>
                <a:ea typeface="Times New Roman"/>
                <a:cs typeface="Times New Roman"/>
                <a:sym typeface="Times New Roman"/>
              </a:rPr>
              <a:t> 08/05 </a:t>
            </a:r>
            <a:r>
              <a:rPr lang="en-US" sz="1600" b="0" i="0" u="none" strike="noStrike" cap="none" dirty="0" err="1" smtClean="0">
                <a:solidFill>
                  <a:schemeClr val="dk1"/>
                </a:solidFill>
                <a:latin typeface="Times New Roman"/>
                <a:ea typeface="Times New Roman"/>
                <a:cs typeface="Times New Roman"/>
                <a:sym typeface="Times New Roman"/>
              </a:rPr>
              <a:t>sẽ</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ít</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hơn</a:t>
            </a:r>
            <a:r>
              <a:rPr lang="en-US" sz="1600" b="0" i="0" u="none" strike="noStrike" cap="none" dirty="0" smtClean="0">
                <a:solidFill>
                  <a:schemeClr val="dk1"/>
                </a:solidFill>
                <a:latin typeface="Times New Roman"/>
                <a:ea typeface="Times New Roman"/>
                <a:cs typeface="Times New Roman"/>
                <a:sym typeface="Times New Roman"/>
              </a:rPr>
              <a:t> so </a:t>
            </a:r>
            <a:r>
              <a:rPr lang="en-US" sz="1600" b="0" i="0" u="none" strike="noStrike" cap="none" dirty="0" err="1" smtClean="0">
                <a:solidFill>
                  <a:schemeClr val="dk1"/>
                </a:solidFill>
                <a:latin typeface="Times New Roman"/>
                <a:ea typeface="Times New Roman"/>
                <a:cs typeface="Times New Roman"/>
                <a:sym typeface="Times New Roman"/>
              </a:rPr>
              <a:t>với</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số</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lượng</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về</a:t>
            </a:r>
            <a:r>
              <a:rPr lang="en-US" sz="1600" b="0" i="0" u="none" strike="noStrike" cap="none" dirty="0" smtClean="0">
                <a:solidFill>
                  <a:schemeClr val="dk1"/>
                </a:solidFill>
                <a:latin typeface="Times New Roman"/>
                <a:ea typeface="Times New Roman"/>
                <a:cs typeface="Times New Roman"/>
                <a:sym typeface="Times New Roman"/>
              </a:rPr>
              <a:t> do </a:t>
            </a:r>
            <a:r>
              <a:rPr lang="en-US" sz="1600" b="0" i="0" u="none" strike="noStrike" cap="none" dirty="0" err="1" smtClean="0">
                <a:solidFill>
                  <a:schemeClr val="dk1"/>
                </a:solidFill>
                <a:latin typeface="Times New Roman"/>
                <a:ea typeface="Times New Roman"/>
                <a:cs typeface="Times New Roman"/>
                <a:sym typeface="Times New Roman"/>
              </a:rPr>
              <a:t>một</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số</a:t>
            </a:r>
            <a:r>
              <a:rPr lang="en-US" sz="1600" b="0" i="0" u="none" strike="noStrike" cap="none" dirty="0" smtClean="0">
                <a:solidFill>
                  <a:schemeClr val="dk1"/>
                </a:solidFill>
                <a:latin typeface="Times New Roman"/>
                <a:ea typeface="Times New Roman"/>
                <a:cs typeface="Times New Roman"/>
                <a:sym typeface="Times New Roman"/>
              </a:rPr>
              <a:t> item </a:t>
            </a:r>
            <a:r>
              <a:rPr lang="en-US" sz="1600" b="0" i="0" u="none" strike="noStrike" cap="none" dirty="0" err="1" smtClean="0">
                <a:solidFill>
                  <a:schemeClr val="dk1"/>
                </a:solidFill>
                <a:latin typeface="Times New Roman"/>
                <a:ea typeface="Times New Roman"/>
                <a:cs typeface="Times New Roman"/>
                <a:sym typeface="Times New Roman"/>
              </a:rPr>
              <a:t>đã</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mang</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theo</a:t>
            </a:r>
            <a:r>
              <a:rPr lang="en-US" sz="1600" b="0" i="0" u="none" strike="noStrike" cap="none" dirty="0" smtClean="0">
                <a:solidFill>
                  <a:schemeClr val="dk1"/>
                </a:solidFill>
                <a:latin typeface="Times New Roman"/>
                <a:ea typeface="Times New Roman"/>
                <a:cs typeface="Times New Roman"/>
                <a:sym typeface="Times New Roman"/>
              </a:rPr>
              <a:t> </a:t>
            </a:r>
            <a:r>
              <a:rPr lang="en-US" sz="1600" b="0" i="0" u="none" strike="noStrike" cap="none" dirty="0" err="1" smtClean="0">
                <a:solidFill>
                  <a:schemeClr val="dk1"/>
                </a:solidFill>
                <a:latin typeface="Times New Roman"/>
                <a:ea typeface="Times New Roman"/>
                <a:cs typeface="Times New Roman"/>
                <a:sym typeface="Times New Roman"/>
              </a:rPr>
              <a:t>chuyến</a:t>
            </a:r>
            <a:r>
              <a:rPr lang="en-US" sz="1600" b="0" i="0" u="none" strike="noStrike" cap="none" dirty="0" smtClean="0">
                <a:solidFill>
                  <a:schemeClr val="dk1"/>
                </a:solidFill>
                <a:latin typeface="Times New Roman"/>
                <a:ea typeface="Times New Roman"/>
                <a:cs typeface="Times New Roman"/>
                <a:sym typeface="Times New Roman"/>
              </a:rPr>
              <a:t> bay </a:t>
            </a:r>
            <a:r>
              <a:rPr lang="en-US" sz="1600" b="0" i="0" u="none" strike="noStrike" cap="none" dirty="0" err="1" smtClean="0">
                <a:solidFill>
                  <a:schemeClr val="dk1"/>
                </a:solidFill>
                <a:latin typeface="Times New Roman"/>
                <a:ea typeface="Times New Roman"/>
                <a:cs typeface="Times New Roman"/>
                <a:sym typeface="Times New Roman"/>
              </a:rPr>
              <a:t>Vip</a:t>
            </a:r>
            <a:r>
              <a:rPr lang="en-US" sz="1600" b="0" i="0" u="none" strike="noStrike" cap="none" dirty="0" smtClean="0">
                <a:solidFill>
                  <a:schemeClr val="dk1"/>
                </a:solidFill>
                <a:latin typeface="Times New Roman"/>
                <a:ea typeface="Times New Roman"/>
                <a:cs typeface="Times New Roman"/>
                <a:sym typeface="Times New Roman"/>
              </a:rPr>
              <a:t> 05-13/05).</a:t>
            </a:r>
            <a:endParaRPr sz="1600" b="0" i="0" u="none" strike="noStrike" cap="none" dirty="0" smtClean="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3.   VẬN CHUYỂN, THUÊ KHO Ở NGA</a:t>
            </a:r>
            <a:endParaRPr sz="2000" b="1" i="0" u="none" strike="noStrike" cap="none" dirty="0" smtClean="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smtClean="0">
                <a:solidFill>
                  <a:schemeClr val="dk1"/>
                </a:solidFill>
                <a:latin typeface="Times New Roman"/>
                <a:ea typeface="Times New Roman"/>
                <a:cs typeface="Times New Roman"/>
                <a:sym typeface="Times New Roman"/>
              </a:rPr>
              <a:t>Vận</a:t>
            </a:r>
            <a:r>
              <a:rPr lang="en-US" sz="1600" dirty="0" smtClean="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hệ</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trước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phương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án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một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vướng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mắc</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cụ</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case by case (HS Code, product description, commercial invoice and purpose of use information in order to take action).</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Submit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Airlines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xin</a:t>
            </a:r>
            <a:r>
              <a:rPr lang="en-US" sz="1600" dirty="0">
                <a:solidFill>
                  <a:schemeClr val="dk1"/>
                </a:solidFill>
                <a:latin typeface="Times New Roman"/>
                <a:ea typeface="Times New Roman"/>
                <a:cs typeface="Times New Roman"/>
                <a:sym typeface="Times New Roman"/>
              </a:rPr>
              <a:t> approval.</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Nếu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thì</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cũng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mất</a:t>
            </a:r>
            <a:r>
              <a:rPr lang="en-US" sz="1600" dirty="0">
                <a:solidFill>
                  <a:schemeClr val="dk1"/>
                </a:solidFill>
                <a:latin typeface="Times New Roman"/>
                <a:ea typeface="Times New Roman"/>
                <a:cs typeface="Times New Roman"/>
                <a:sym typeface="Times New Roman"/>
              </a:rPr>
              <a:t> 3-5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VN. </a:t>
            </a:r>
            <a:r>
              <a:rPr lang="en-US" sz="1600" dirty="0" err="1">
                <a:solidFill>
                  <a:schemeClr val="dk1"/>
                </a:solidFill>
                <a:latin typeface="Times New Roman"/>
                <a:ea typeface="Times New Roman"/>
                <a:cs typeface="Times New Roman"/>
                <a:sym typeface="Times New Roman"/>
              </a:rPr>
              <a:t>Còn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Âu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Mỹ</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hiện</a:t>
            </a:r>
            <a:r>
              <a:rPr lang="en-US" sz="1600" dirty="0">
                <a:solidFill>
                  <a:schemeClr val="dk1"/>
                </a:solidFill>
                <a:latin typeface="Times New Roman"/>
                <a:ea typeface="Times New Roman"/>
                <a:cs typeface="Times New Roman"/>
                <a:sym typeface="Times New Roman"/>
              </a:rPr>
              <a:t> nay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được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Nga</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--&gt; </a:t>
            </a:r>
            <a:r>
              <a:rPr lang="en-US" sz="1600" dirty="0" err="1">
                <a:solidFill>
                  <a:schemeClr val="dk1"/>
                </a:solidFill>
                <a:latin typeface="Times New Roman"/>
                <a:ea typeface="Times New Roman"/>
                <a:cs typeface="Times New Roman"/>
                <a:sym typeface="Times New Roman"/>
              </a:rPr>
              <a:t>vẫn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khăn</a:t>
            </a:r>
            <a:r>
              <a:rPr lang="en-US" sz="1600" dirty="0">
                <a:solidFill>
                  <a:schemeClr val="dk1"/>
                </a:solidFill>
                <a:latin typeface="Times New Roman"/>
                <a:ea typeface="Times New Roman"/>
                <a:cs typeface="Times New Roman"/>
                <a:sym typeface="Times New Roman"/>
              </a:rPr>
              <a:t> trong </a:t>
            </a:r>
            <a:r>
              <a:rPr lang="en-US" sz="1600" dirty="0" err="1">
                <a:solidFill>
                  <a:schemeClr val="dk1"/>
                </a:solidFill>
                <a:latin typeface="Times New Roman"/>
                <a:ea typeface="Times New Roman"/>
                <a:cs typeface="Times New Roman"/>
                <a:sym typeface="Times New Roman"/>
              </a:rPr>
              <a:t>vận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tìm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thêm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khác</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tác</a:t>
            </a:r>
            <a:r>
              <a:rPr lang="en-US" sz="1600" dirty="0">
                <a:solidFill>
                  <a:schemeClr val="dk1"/>
                </a:solidFill>
                <a:latin typeface="Times New Roman"/>
                <a:ea typeface="Times New Roman"/>
                <a:cs typeface="Times New Roman"/>
                <a:sym typeface="Times New Roman"/>
              </a:rPr>
              <a:t> ở Nga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nhưng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phải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thủ</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vào</a:t>
            </a:r>
            <a:r>
              <a:rPr lang="en-US" sz="1600" dirty="0">
                <a:solidFill>
                  <a:schemeClr val="dk1"/>
                </a:solidFill>
                <a:latin typeface="Times New Roman"/>
                <a:ea typeface="Times New Roman"/>
                <a:cs typeface="Times New Roman"/>
                <a:sym typeface="Times New Roman"/>
              </a:rPr>
              <a:t> Nga, </a:t>
            </a:r>
            <a:r>
              <a:rPr lang="en-US" sz="1600" dirty="0" err="1">
                <a:solidFill>
                  <a:schemeClr val="dk1"/>
                </a:solidFill>
                <a:latin typeface="Times New Roman"/>
                <a:ea typeface="Times New Roman"/>
                <a:cs typeface="Times New Roman"/>
                <a:sym typeface="Times New Roman"/>
              </a:rPr>
              <a:t>như</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vậy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vi </a:t>
            </a:r>
            <a:r>
              <a:rPr lang="en-US" sz="1600" dirty="0" err="1">
                <a:solidFill>
                  <a:schemeClr val="dk1"/>
                </a:solidFill>
                <a:latin typeface="Times New Roman"/>
                <a:ea typeface="Times New Roman"/>
                <a:cs typeface="Times New Roman"/>
                <a:sym typeface="Times New Roman"/>
              </a:rPr>
              <a:t>phạm</a:t>
            </a:r>
            <a:r>
              <a:rPr lang="en-US" sz="1600" dirty="0">
                <a:solidFill>
                  <a:schemeClr val="dk1"/>
                </a:solidFill>
                <a:latin typeface="Times New Roman"/>
                <a:ea typeface="Times New Roman"/>
                <a:cs typeface="Times New Roman"/>
                <a:sym typeface="Times New Roman"/>
              </a:rPr>
              <a:t> cam </a:t>
            </a:r>
            <a:r>
              <a:rPr lang="en-US" sz="1600" dirty="0" err="1">
                <a:solidFill>
                  <a:schemeClr val="dk1"/>
                </a:solidFill>
                <a:latin typeface="Times New Roman"/>
                <a:ea typeface="Times New Roman"/>
                <a:cs typeface="Times New Roman"/>
                <a:sym typeface="Times New Roman"/>
              </a:rPr>
              <a:t>kết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xuất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khẩu</a:t>
            </a:r>
            <a:r>
              <a:rPr lang="en-US" sz="1600" dirty="0">
                <a:solidFill>
                  <a:schemeClr val="dk1"/>
                </a:solidFill>
                <a:latin typeface="Times New Roman"/>
                <a:ea typeface="Times New Roman"/>
                <a:cs typeface="Times New Roman"/>
                <a:sym typeface="Times New Roman"/>
              </a:rPr>
              <a:t> PTVT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các</a:t>
            </a:r>
            <a:r>
              <a:rPr lang="en-US" sz="1600" dirty="0">
                <a:solidFill>
                  <a:schemeClr val="dk1"/>
                </a:solidFill>
                <a:latin typeface="Times New Roman"/>
                <a:ea typeface="Times New Roman"/>
                <a:cs typeface="Times New Roman"/>
                <a:sym typeface="Times New Roman"/>
              </a:rPr>
              <a:t> OEM.</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Ngoài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ra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diện</a:t>
            </a:r>
            <a:r>
              <a:rPr lang="en-US" sz="1600" dirty="0">
                <a:solidFill>
                  <a:schemeClr val="dk1"/>
                </a:solidFill>
                <a:latin typeface="Times New Roman"/>
                <a:ea typeface="Times New Roman"/>
                <a:cs typeface="Times New Roman"/>
                <a:sym typeface="Times New Roman"/>
              </a:rPr>
              <a:t> Nga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thông</a:t>
            </a:r>
            <a:r>
              <a:rPr lang="en-US" sz="1600" dirty="0">
                <a:solidFill>
                  <a:schemeClr val="dk1"/>
                </a:solidFill>
                <a:latin typeface="Times New Roman"/>
                <a:ea typeface="Times New Roman"/>
                <a:cs typeface="Times New Roman"/>
                <a:sym typeface="Times New Roman"/>
              </a:rPr>
              <a:t> tin </a:t>
            </a:r>
            <a:r>
              <a:rPr lang="en-US" sz="1600" dirty="0" err="1">
                <a:solidFill>
                  <a:schemeClr val="dk1"/>
                </a:solidFill>
                <a:latin typeface="Times New Roman"/>
                <a:ea typeface="Times New Roman"/>
                <a:cs typeface="Times New Roman"/>
                <a:sym typeface="Times New Roman"/>
              </a:rPr>
              <a:t>việc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thiết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ngoại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quan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RAMP </a:t>
            </a:r>
            <a:r>
              <a:rPr lang="en-US" sz="1600" dirty="0" err="1">
                <a:solidFill>
                  <a:schemeClr val="dk1"/>
                </a:solidFill>
                <a:latin typeface="Times New Roman"/>
                <a:ea typeface="Times New Roman"/>
                <a:cs typeface="Times New Roman"/>
                <a:sym typeface="Times New Roman"/>
              </a:rPr>
              <a:t>để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dụng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cụ</a:t>
            </a:r>
            <a:r>
              <a:rPr lang="en-US" sz="1600" dirty="0">
                <a:solidFill>
                  <a:schemeClr val="dk1"/>
                </a:solidFill>
                <a:latin typeface="Times New Roman"/>
                <a:ea typeface="Times New Roman"/>
                <a:cs typeface="Times New Roman"/>
                <a:sym typeface="Times New Roman"/>
              </a:rPr>
              <a:t>, 1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PTVT </a:t>
            </a:r>
            <a:r>
              <a:rPr lang="en-US" sz="1600" dirty="0" err="1">
                <a:solidFill>
                  <a:schemeClr val="dk1"/>
                </a:solidFill>
                <a:latin typeface="Times New Roman"/>
                <a:ea typeface="Times New Roman"/>
                <a:cs typeface="Times New Roman"/>
                <a:sym typeface="Times New Roman"/>
              </a:rPr>
              <a:t>tiêu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hao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bánh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thể</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không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phép</a:t>
            </a:r>
            <a:r>
              <a:rPr lang="en-US" sz="1600" dirty="0">
                <a:solidFill>
                  <a:schemeClr val="dk1"/>
                </a:solidFill>
                <a:latin typeface="Times New Roman"/>
                <a:ea typeface="Times New Roman"/>
                <a:cs typeface="Times New Roman"/>
                <a:sym typeface="Times New Roman"/>
              </a:rPr>
              <a:t> do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quan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quy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trình</a:t>
            </a:r>
            <a:r>
              <a:rPr lang="en-US" sz="1600" dirty="0">
                <a:solidFill>
                  <a:schemeClr val="dk1"/>
                </a:solidFill>
                <a:latin typeface="Times New Roman"/>
                <a:ea typeface="Times New Roman"/>
                <a:cs typeface="Times New Roman"/>
                <a:sym typeface="Times New Roman"/>
              </a:rPr>
              <a:t> Hải </a:t>
            </a:r>
            <a:r>
              <a:rPr lang="en-US" sz="1600" dirty="0" err="1">
                <a:solidFill>
                  <a:schemeClr val="dk1"/>
                </a:solidFill>
                <a:latin typeface="Times New Roman"/>
                <a:ea typeface="Times New Roman"/>
                <a:cs typeface="Times New Roman"/>
                <a:sym typeface="Times New Roman"/>
              </a:rPr>
              <a:t>quan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rất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nghiêm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Ban QLVT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liên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hệ</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thêm</a:t>
            </a:r>
            <a:r>
              <a:rPr lang="en-US" sz="1600" dirty="0">
                <a:solidFill>
                  <a:schemeClr val="dk1"/>
                </a:solidFill>
                <a:latin typeface="Times New Roman"/>
                <a:ea typeface="Times New Roman"/>
                <a:cs typeface="Times New Roman"/>
                <a:sym typeface="Times New Roman"/>
              </a:rPr>
              <a:t> 1 </a:t>
            </a:r>
            <a:r>
              <a:rPr lang="en-US" sz="1600" dirty="0" err="1">
                <a:solidFill>
                  <a:schemeClr val="dk1"/>
                </a:solidFill>
                <a:latin typeface="Times New Roman"/>
                <a:ea typeface="Times New Roman"/>
                <a:cs typeface="Times New Roman"/>
                <a:sym typeface="Times New Roman"/>
              </a:rPr>
              <a:t>số</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ứng</a:t>
            </a:r>
            <a:r>
              <a:rPr lang="en-US" sz="1600" dirty="0">
                <a:solidFill>
                  <a:schemeClr val="dk1"/>
                </a:solidFill>
                <a:latin typeface="Times New Roman"/>
                <a:ea typeface="Times New Roman"/>
                <a:cs typeface="Times New Roman"/>
                <a:sym typeface="Times New Roman"/>
              </a:rPr>
              <a:t> ở SVO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hỗ</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tiêu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hao</a:t>
            </a:r>
            <a:r>
              <a:rPr lang="en-US" sz="1600" dirty="0">
                <a:solidFill>
                  <a:schemeClr val="dk1"/>
                </a:solidFill>
                <a:latin typeface="Times New Roman"/>
                <a:ea typeface="Times New Roman"/>
                <a:cs typeface="Times New Roman"/>
                <a:sym typeface="Times New Roman"/>
              </a:rPr>
              <a:t> trong TH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thiết</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0946651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75427</TotalTime>
  <Words>11691</Words>
  <Application>Microsoft Office PowerPoint</Application>
  <PresentationFormat>Widescreen</PresentationFormat>
  <Paragraphs>2676</Paragraphs>
  <Slides>69</Slides>
  <Notes>59</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69</vt:i4>
      </vt:variant>
    </vt:vector>
  </HeadingPairs>
  <TitlesOfParts>
    <vt:vector size="84" baseType="lpstr">
      <vt:lpstr>MS PGothic</vt:lpstr>
      <vt:lpstr>Arial</vt:lpstr>
      <vt:lpstr>Calibri</vt:lpstr>
      <vt:lpstr>Cambria</vt:lpstr>
      <vt:lpstr>Lora</vt:lpstr>
      <vt:lpstr>Montserrat</vt:lpstr>
      <vt:lpstr>Montserrat SemiBold</vt:lpstr>
      <vt:lpstr>Open Sans</vt:lpstr>
      <vt:lpstr>Source Sans Pro</vt:lpstr>
      <vt:lpstr>Symbol</vt:lpstr>
      <vt:lpstr>Tahoma</vt:lpstr>
      <vt:lpstr>Times</vt:lpstr>
      <vt:lpstr>Times New Roman</vt:lpstr>
      <vt:lpstr>Wingdings</vt:lpstr>
      <vt:lpstr>16-9 MASTER TEMPLATE</vt:lpstr>
      <vt:lpstr>BÁO CÁO KỸ THUẬT (Tuần 18: 28/04/2025 – 04/05/2025)</vt:lpstr>
      <vt:lpstr>TỔNG HỢP AOG, DELAY VÀ GTB/ATB/DIV</vt:lpstr>
      <vt:lpstr>ATB/GTB COMPARISON</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PowerPoint Presentation</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PowerPoint Presentation</vt:lpstr>
      <vt:lpstr>TÌNH TRẠNG KỸ THUẬT ĐỘI BAY – ATR72</vt:lpstr>
      <vt:lpstr>PowerPoint Presentation</vt:lpstr>
      <vt:lpstr>DISPATCH RELIABILITY W17 (21/04/2025-27/04/2025)</vt:lpstr>
      <vt:lpstr>CÁC CÔNG VIỆC TRỌNG ĐIỂM TRONG TUẦN</vt:lpstr>
      <vt:lpstr>CÁC CÔNG VIỆC TRỌNG ĐIỂM TRONG TUẦN</vt:lpstr>
      <vt:lpstr>CÁC CÔNG VIỆC TRỌNG ĐIỂM</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BQDB VÀ ĐANG TRONG BẢO DƯỠNG (BDĐK)</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CHUẨN BỊ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Dinh Gia Hoang-Tech</cp:lastModifiedBy>
  <cp:revision>11825</cp:revision>
  <cp:lastPrinted>2019-03-27T09:25:07Z</cp:lastPrinted>
  <dcterms:created xsi:type="dcterms:W3CDTF">2018-12-27T04:50:36Z</dcterms:created>
  <dcterms:modified xsi:type="dcterms:W3CDTF">2025-05-04T13:49:30Z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