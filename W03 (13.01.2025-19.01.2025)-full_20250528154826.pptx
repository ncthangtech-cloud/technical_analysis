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4.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5.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6.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1.xml" ContentType="application/vnd.openxmlformats-officedocument.drawingml.chartshapes+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2.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5.xml" ContentType="application/vnd.openxmlformats-officedocument.drawingml.chart+xml"/>
  <Override PartName="/ppt/theme/themeOverride7.xml" ContentType="application/vnd.openxmlformats-officedocument.themeOverride+xml"/>
  <Override PartName="/ppt/notesSlides/notesSlide34.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8.xml" ContentType="application/vnd.openxmlformats-officedocument.themeOverride+xml"/>
  <Override PartName="/ppt/notesSlides/notesSlide35.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9.xml" ContentType="application/vnd.openxmlformats-officedocument.themeOverride+xml"/>
  <Override PartName="/ppt/notesSlides/notesSlide36.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0.xml" ContentType="application/vnd.openxmlformats-officedocument.themeOverr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75"/>
  </p:notesMasterIdLst>
  <p:sldIdLst>
    <p:sldId id="11485" r:id="rId5"/>
    <p:sldId id="3997" r:id="rId6"/>
    <p:sldId id="3793" r:id="rId7"/>
    <p:sldId id="11941" r:id="rId8"/>
    <p:sldId id="11705" r:id="rId9"/>
    <p:sldId id="11750" r:id="rId10"/>
    <p:sldId id="11942" r:id="rId11"/>
    <p:sldId id="11943" r:id="rId12"/>
    <p:sldId id="11944" r:id="rId13"/>
    <p:sldId id="10903" r:id="rId14"/>
    <p:sldId id="11945" r:id="rId15"/>
    <p:sldId id="11946" r:id="rId16"/>
    <p:sldId id="257" r:id="rId17"/>
    <p:sldId id="262" r:id="rId18"/>
    <p:sldId id="11947" r:id="rId19"/>
    <p:sldId id="11956" r:id="rId20"/>
    <p:sldId id="11957" r:id="rId21"/>
    <p:sldId id="11948" r:id="rId22"/>
    <p:sldId id="11949" r:id="rId23"/>
    <p:sldId id="11905" r:id="rId24"/>
    <p:sldId id="273" r:id="rId25"/>
    <p:sldId id="282" r:id="rId26"/>
    <p:sldId id="11950" r:id="rId27"/>
    <p:sldId id="11501" r:id="rId28"/>
    <p:sldId id="289" r:id="rId29"/>
    <p:sldId id="290" r:id="rId30"/>
    <p:sldId id="11506" r:id="rId31"/>
    <p:sldId id="292" r:id="rId32"/>
    <p:sldId id="11505" r:id="rId33"/>
    <p:sldId id="11504" r:id="rId34"/>
    <p:sldId id="299" r:id="rId35"/>
    <p:sldId id="300" r:id="rId36"/>
    <p:sldId id="301" r:id="rId37"/>
    <p:sldId id="11503" r:id="rId38"/>
    <p:sldId id="302" r:id="rId39"/>
    <p:sldId id="303" r:id="rId40"/>
    <p:sldId id="11906" r:id="rId41"/>
    <p:sldId id="11907" r:id="rId42"/>
    <p:sldId id="11908" r:id="rId43"/>
    <p:sldId id="11951" r:id="rId44"/>
    <p:sldId id="11487" r:id="rId45"/>
    <p:sldId id="11488" r:id="rId46"/>
    <p:sldId id="11876" r:id="rId47"/>
    <p:sldId id="8509" r:id="rId48"/>
    <p:sldId id="11954" r:id="rId49"/>
    <p:sldId id="11955" r:id="rId50"/>
    <p:sldId id="11489" r:id="rId51"/>
    <p:sldId id="278" r:id="rId52"/>
    <p:sldId id="279" r:id="rId53"/>
    <p:sldId id="280" r:id="rId54"/>
    <p:sldId id="281" r:id="rId55"/>
    <p:sldId id="11952" r:id="rId56"/>
    <p:sldId id="283" r:id="rId57"/>
    <p:sldId id="284" r:id="rId58"/>
    <p:sldId id="263" r:id="rId59"/>
    <p:sldId id="264" r:id="rId60"/>
    <p:sldId id="265" r:id="rId61"/>
    <p:sldId id="266" r:id="rId62"/>
    <p:sldId id="267" r:id="rId63"/>
    <p:sldId id="268" r:id="rId64"/>
    <p:sldId id="269" r:id="rId65"/>
    <p:sldId id="270" r:id="rId66"/>
    <p:sldId id="271" r:id="rId67"/>
    <p:sldId id="272" r:id="rId68"/>
    <p:sldId id="11953" r:id="rId69"/>
    <p:sldId id="274" r:id="rId70"/>
    <p:sldId id="275" r:id="rId71"/>
    <p:sldId id="276" r:id="rId72"/>
    <p:sldId id="277" r:id="rId73"/>
    <p:sldId id="11486" r:id="rId7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499" autoAdjust="0"/>
    <p:restoredTop sz="95337" autoAdjust="0"/>
  </p:normalViewPr>
  <p:slideViewPr>
    <p:cSldViewPr>
      <p:cViewPr varScale="1">
        <p:scale>
          <a:sx n="106" d="100"/>
          <a:sy n="106" d="100"/>
        </p:scale>
        <p:origin x="132" y="318"/>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rts/_rels/chart1.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3\W03%20(13.01.2025-19.01.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3\W03%20(13.01.2025-19.01.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thanh_ggdrive\work\B&#193;O%20C&#193;O\B&#225;o%20c&#225;o%20tu&#7847;n\2025\Week%2003\W03%20(13.01.2025-19.01.2025).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thanh_ggdrive\work\B&#193;O%20C&#193;O\B&#225;o%20c&#225;o%20tu&#7847;n\2025\Week%2003\W03%20(13.01.2025-19.01.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3\W03%20(13.01.2025-19.01.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3\W03%20(13.01.2025-19.01.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03\DR\DR-W03.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2.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3\W03%20(13.01.2025-19.01.2025).xlsx" TargetMode="External"/><Relationship Id="rId1" Type="http://schemas.openxmlformats.org/officeDocument/2006/relationships/themeOverride" Target="../theme/themeOverride7.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ng&#224;y%20C&#272;T%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ng&#224;y%20C&#272;T%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ng&#224;y%20C&#272;T%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Chart'!$B$10:$B$15</c:f>
              <c:strCache>
                <c:ptCount val="6"/>
                <c:pt idx="0">
                  <c:v>A320</c:v>
                </c:pt>
                <c:pt idx="1">
                  <c:v>A321</c:v>
                </c:pt>
                <c:pt idx="2">
                  <c:v>A350</c:v>
                </c:pt>
                <c:pt idx="3">
                  <c:v>B787</c:v>
                </c:pt>
                <c:pt idx="4">
                  <c:v>ATR72</c:v>
                </c:pt>
                <c:pt idx="5">
                  <c:v>Tất cả</c:v>
                </c:pt>
              </c:strCache>
              <c:extLst xmlns:c15="http://schemas.microsoft.com/office/drawing/2012/chart"/>
            </c:strRef>
          </c:cat>
          <c:val>
            <c:numRef>
              <c:f>'Data Chart'!$C$10:$C$15</c:f>
              <c:numCache>
                <c:formatCode>General</c:formatCode>
                <c:ptCount val="6"/>
                <c:pt idx="0">
                  <c:v>0</c:v>
                </c:pt>
                <c:pt idx="1">
                  <c:v>4</c:v>
                </c:pt>
                <c:pt idx="2">
                  <c:v>4</c:v>
                </c:pt>
                <c:pt idx="3">
                  <c:v>0</c:v>
                </c:pt>
                <c:pt idx="4">
                  <c:v>0</c:v>
                </c:pt>
                <c:pt idx="5">
                  <c:v>8</c:v>
                </c:pt>
              </c:numCache>
              <c:extLst xmlns:c15="http://schemas.microsoft.com/office/drawing/2012/chart"/>
            </c:numRef>
          </c:val>
          <c:extLst xmlns:c15="http://schemas.microsoft.com/office/drawing/2012/chart">
            <c:ext xmlns:c16="http://schemas.microsoft.com/office/drawing/2014/chart" uri="{C3380CC4-5D6E-409C-BE32-E72D297353CC}">
              <c16:uniqueId val="{00000000-B8BC-4D74-8923-503EFFEC54AC}"/>
            </c:ext>
          </c:extLst>
        </c:ser>
        <c:ser>
          <c:idx val="1"/>
          <c:order val="1"/>
          <c:tx>
            <c:strRef>
              <c:f>'Data Chart'!$D$9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Chart'!$B$10:$B$15</c:f>
              <c:strCache>
                <c:ptCount val="6"/>
                <c:pt idx="0">
                  <c:v>A320</c:v>
                </c:pt>
                <c:pt idx="1">
                  <c:v>A321</c:v>
                </c:pt>
                <c:pt idx="2">
                  <c:v>A350</c:v>
                </c:pt>
                <c:pt idx="3">
                  <c:v>B787</c:v>
                </c:pt>
                <c:pt idx="4">
                  <c:v>ATR72</c:v>
                </c:pt>
                <c:pt idx="5">
                  <c:v>Tất cả</c:v>
                </c:pt>
              </c:strCache>
            </c:strRef>
          </c:cat>
          <c:val>
            <c:numRef>
              <c:f>'Data Chart'!$D$10:$D$15</c:f>
              <c:numCache>
                <c:formatCode>General</c:formatCode>
                <c:ptCount val="6"/>
                <c:pt idx="0">
                  <c:v>0</c:v>
                </c:pt>
                <c:pt idx="1">
                  <c:v>3</c:v>
                </c:pt>
                <c:pt idx="2">
                  <c:v>2</c:v>
                </c:pt>
                <c:pt idx="3">
                  <c:v>1</c:v>
                </c:pt>
                <c:pt idx="4">
                  <c:v>2</c:v>
                </c:pt>
                <c:pt idx="5">
                  <c:v>8</c:v>
                </c:pt>
              </c:numCache>
            </c:numRef>
          </c:val>
          <c:extLst>
            <c:ext xmlns:c16="http://schemas.microsoft.com/office/drawing/2014/chart" uri="{C3380CC4-5D6E-409C-BE32-E72D297353CC}">
              <c16:uniqueId val="{00000001-B8BC-4D74-8923-503EFFEC54AC}"/>
            </c:ext>
          </c:extLst>
        </c:ser>
        <c:dLbls>
          <c:dLblPos val="outEnd"/>
          <c:showLegendKey val="0"/>
          <c:showVal val="1"/>
          <c:showCatName val="0"/>
          <c:showSerName val="0"/>
          <c:showPercent val="0"/>
          <c:showBubbleSize val="0"/>
        </c:dLbls>
        <c:gapWidth val="219"/>
        <c:overlap val="-27"/>
        <c:axId val="313732480"/>
        <c:axId val="313738360"/>
        <c:extLst/>
      </c:barChart>
      <c:catAx>
        <c:axId val="313732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3738360"/>
        <c:crosses val="autoZero"/>
        <c:auto val="1"/>
        <c:lblAlgn val="ctr"/>
        <c:lblOffset val="100"/>
        <c:noMultiLvlLbl val="0"/>
      </c:catAx>
      <c:valAx>
        <c:axId val="313738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3732480"/>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Chart'!$C$19</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Chart'!$B$20:$B$25</c:f>
              <c:strCache>
                <c:ptCount val="6"/>
                <c:pt idx="0">
                  <c:v>A320</c:v>
                </c:pt>
                <c:pt idx="1">
                  <c:v>A321</c:v>
                </c:pt>
                <c:pt idx="2">
                  <c:v>A350</c:v>
                </c:pt>
                <c:pt idx="3">
                  <c:v>B787</c:v>
                </c:pt>
                <c:pt idx="4">
                  <c:v>ATR72</c:v>
                </c:pt>
                <c:pt idx="5">
                  <c:v>Tất cả</c:v>
                </c:pt>
              </c:strCache>
              <c:extLst xmlns:c15="http://schemas.microsoft.com/office/drawing/2012/chart"/>
            </c:strRef>
          </c:cat>
          <c:val>
            <c:numRef>
              <c:f>'Data Chart'!$C$20:$C$25</c:f>
              <c:numCache>
                <c:formatCode>General</c:formatCode>
                <c:ptCount val="6"/>
                <c:pt idx="0">
                  <c:v>0</c:v>
                </c:pt>
                <c:pt idx="1">
                  <c:v>0</c:v>
                </c:pt>
                <c:pt idx="2">
                  <c:v>2</c:v>
                </c:pt>
                <c:pt idx="3">
                  <c:v>0</c:v>
                </c:pt>
                <c:pt idx="4">
                  <c:v>0</c:v>
                </c:pt>
                <c:pt idx="5">
                  <c:v>2</c:v>
                </c:pt>
              </c:numCache>
              <c:extLst xmlns:c15="http://schemas.microsoft.com/office/drawing/2012/chart"/>
            </c:numRef>
          </c:val>
          <c:extLst xmlns:c15="http://schemas.microsoft.com/office/drawing/2012/chart">
            <c:ext xmlns:c16="http://schemas.microsoft.com/office/drawing/2014/chart" uri="{C3380CC4-5D6E-409C-BE32-E72D297353CC}">
              <c16:uniqueId val="{00000000-9076-44C9-B03A-42E1861A4D7C}"/>
            </c:ext>
          </c:extLst>
        </c:ser>
        <c:ser>
          <c:idx val="1"/>
          <c:order val="1"/>
          <c:tx>
            <c:strRef>
              <c:f>'Data Chart'!$D$19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Chart'!$B$20:$B$25</c:f>
              <c:strCache>
                <c:ptCount val="6"/>
                <c:pt idx="0">
                  <c:v>A320</c:v>
                </c:pt>
                <c:pt idx="1">
                  <c:v>A321</c:v>
                </c:pt>
                <c:pt idx="2">
                  <c:v>A350</c:v>
                </c:pt>
                <c:pt idx="3">
                  <c:v>B787</c:v>
                </c:pt>
                <c:pt idx="4">
                  <c:v>ATR72</c:v>
                </c:pt>
                <c:pt idx="5">
                  <c:v>Tất cả</c:v>
                </c:pt>
              </c:strCache>
            </c:strRef>
          </c:cat>
          <c:val>
            <c:numRef>
              <c:f>'Data Chart'!$D$20:$D$25</c:f>
              <c:numCache>
                <c:formatCode>General</c:formatCode>
                <c:ptCount val="6"/>
                <c:pt idx="0">
                  <c:v>0</c:v>
                </c:pt>
                <c:pt idx="1">
                  <c:v>1</c:v>
                </c:pt>
                <c:pt idx="2">
                  <c:v>0</c:v>
                </c:pt>
                <c:pt idx="3">
                  <c:v>0</c:v>
                </c:pt>
                <c:pt idx="4">
                  <c:v>0</c:v>
                </c:pt>
                <c:pt idx="5">
                  <c:v>1</c:v>
                </c:pt>
              </c:numCache>
            </c:numRef>
          </c:val>
          <c:extLst>
            <c:ext xmlns:c16="http://schemas.microsoft.com/office/drawing/2014/chart" uri="{C3380CC4-5D6E-409C-BE32-E72D297353CC}">
              <c16:uniqueId val="{00000001-9076-44C9-B03A-42E1861A4D7C}"/>
            </c:ext>
          </c:extLst>
        </c:ser>
        <c:dLbls>
          <c:showLegendKey val="0"/>
          <c:showVal val="0"/>
          <c:showCatName val="0"/>
          <c:showSerName val="0"/>
          <c:showPercent val="0"/>
          <c:showBubbleSize val="0"/>
        </c:dLbls>
        <c:gapWidth val="219"/>
        <c:overlap val="-27"/>
        <c:axId val="313737184"/>
        <c:axId val="313736400"/>
        <c:extLst/>
      </c:barChart>
      <c:catAx>
        <c:axId val="313737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736400"/>
        <c:crosses val="autoZero"/>
        <c:auto val="1"/>
        <c:lblAlgn val="ctr"/>
        <c:lblOffset val="100"/>
        <c:noMultiLvlLbl val="0"/>
      </c:catAx>
      <c:valAx>
        <c:axId val="313736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73718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Chart'!$C$1</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Chart'!$B$2:$B$7</c:f>
              <c:strCache>
                <c:ptCount val="6"/>
                <c:pt idx="0">
                  <c:v>A320</c:v>
                </c:pt>
                <c:pt idx="1">
                  <c:v>A321</c:v>
                </c:pt>
                <c:pt idx="2">
                  <c:v>A350</c:v>
                </c:pt>
                <c:pt idx="3">
                  <c:v>B787</c:v>
                </c:pt>
                <c:pt idx="4">
                  <c:v>ATR72</c:v>
                </c:pt>
                <c:pt idx="5">
                  <c:v>Tất cả</c:v>
                </c:pt>
              </c:strCache>
              <c:extLst xmlns:c15="http://schemas.microsoft.com/office/drawing/2012/chart"/>
            </c:strRef>
          </c:cat>
          <c:val>
            <c:numRef>
              <c:f>'Data Chart'!$C$2:$C$7</c:f>
              <c:numCache>
                <c:formatCode>General</c:formatCode>
                <c:ptCount val="6"/>
                <c:pt idx="0">
                  <c:v>0</c:v>
                </c:pt>
                <c:pt idx="1">
                  <c:v>2</c:v>
                </c:pt>
                <c:pt idx="2">
                  <c:v>0</c:v>
                </c:pt>
                <c:pt idx="3">
                  <c:v>0</c:v>
                </c:pt>
                <c:pt idx="4">
                  <c:v>1</c:v>
                </c:pt>
                <c:pt idx="5">
                  <c:v>3</c:v>
                </c:pt>
              </c:numCache>
              <c:extLst xmlns:c15="http://schemas.microsoft.com/office/drawing/2012/chart"/>
            </c:numRef>
          </c:val>
          <c:extLst xmlns:c15="http://schemas.microsoft.com/office/drawing/2012/chart">
            <c:ext xmlns:c16="http://schemas.microsoft.com/office/drawing/2014/chart" uri="{C3380CC4-5D6E-409C-BE32-E72D297353CC}">
              <c16:uniqueId val="{00000000-1DD7-4FDA-AA9C-F74D0B663A84}"/>
            </c:ext>
          </c:extLst>
        </c:ser>
        <c:ser>
          <c:idx val="1"/>
          <c:order val="1"/>
          <c:tx>
            <c:strRef>
              <c:f>'Data Chart'!$D$1</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Chart'!$B$2:$B$7</c:f>
              <c:strCache>
                <c:ptCount val="6"/>
                <c:pt idx="0">
                  <c:v>A320</c:v>
                </c:pt>
                <c:pt idx="1">
                  <c:v>A321</c:v>
                </c:pt>
                <c:pt idx="2">
                  <c:v>A350</c:v>
                </c:pt>
                <c:pt idx="3">
                  <c:v>B787</c:v>
                </c:pt>
                <c:pt idx="4">
                  <c:v>ATR72</c:v>
                </c:pt>
                <c:pt idx="5">
                  <c:v>Tất cả</c:v>
                </c:pt>
              </c:strCache>
            </c:strRef>
          </c:cat>
          <c:val>
            <c:numRef>
              <c:f>'Data Chart'!$D$2:$D$7</c:f>
              <c:numCache>
                <c:formatCode>General</c:formatCode>
                <c:ptCount val="6"/>
                <c:pt idx="0">
                  <c:v>0</c:v>
                </c:pt>
                <c:pt idx="1">
                  <c:v>3</c:v>
                </c:pt>
                <c:pt idx="2">
                  <c:v>1</c:v>
                </c:pt>
                <c:pt idx="3">
                  <c:v>0</c:v>
                </c:pt>
                <c:pt idx="4">
                  <c:v>1</c:v>
                </c:pt>
                <c:pt idx="5">
                  <c:v>5</c:v>
                </c:pt>
              </c:numCache>
            </c:numRef>
          </c:val>
          <c:extLst>
            <c:ext xmlns:c16="http://schemas.microsoft.com/office/drawing/2014/chart" uri="{C3380CC4-5D6E-409C-BE32-E72D297353CC}">
              <c16:uniqueId val="{00000001-1DD7-4FDA-AA9C-F74D0B663A84}"/>
            </c:ext>
          </c:extLst>
        </c:ser>
        <c:dLbls>
          <c:dLblPos val="outEnd"/>
          <c:showLegendKey val="0"/>
          <c:showVal val="1"/>
          <c:showCatName val="0"/>
          <c:showSerName val="0"/>
          <c:showPercent val="0"/>
          <c:showBubbleSize val="0"/>
        </c:dLbls>
        <c:gapWidth val="219"/>
        <c:overlap val="-27"/>
        <c:axId val="314614112"/>
        <c:axId val="314610192"/>
        <c:extLst/>
      </c:barChart>
      <c:catAx>
        <c:axId val="31461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0192"/>
        <c:crosses val="autoZero"/>
        <c:auto val="1"/>
        <c:lblAlgn val="ctr"/>
        <c:lblOffset val="100"/>
        <c:noMultiLvlLbl val="0"/>
      </c:catAx>
      <c:valAx>
        <c:axId val="31461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4112"/>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Chart'!$C$26</c:f>
              <c:strCache>
                <c:ptCount val="1"/>
                <c:pt idx="0">
                  <c:v>Last week</c:v>
                </c:pt>
              </c:strCache>
              <c:extLs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Chart'!$B$27:$B$32</c:f>
              <c:strCache>
                <c:ptCount val="6"/>
                <c:pt idx="0">
                  <c:v>A320</c:v>
                </c:pt>
                <c:pt idx="1">
                  <c:v>A321</c:v>
                </c:pt>
                <c:pt idx="2">
                  <c:v>A350</c:v>
                </c:pt>
                <c:pt idx="3">
                  <c:v>B787</c:v>
                </c:pt>
                <c:pt idx="4">
                  <c:v>ATR72</c:v>
                </c:pt>
                <c:pt idx="5">
                  <c:v>Tất cả</c:v>
                </c:pt>
              </c:strCache>
              <c:extLst xmlns:c15="http://schemas.microsoft.com/office/drawing/2012/chart"/>
            </c:strRef>
          </c:cat>
          <c:val>
            <c:numRef>
              <c:f>'Data Chart'!$C$27:$C$32</c:f>
              <c:numCache>
                <c:formatCode>General</c:formatCode>
                <c:ptCount val="6"/>
                <c:pt idx="0">
                  <c:v>0</c:v>
                </c:pt>
                <c:pt idx="1">
                  <c:v>0</c:v>
                </c:pt>
                <c:pt idx="2">
                  <c:v>0</c:v>
                </c:pt>
                <c:pt idx="3">
                  <c:v>0</c:v>
                </c:pt>
                <c:pt idx="4">
                  <c:v>0</c:v>
                </c:pt>
                <c:pt idx="5">
                  <c:v>0</c:v>
                </c:pt>
              </c:numCache>
              <c:extLst xmlns:c15="http://schemas.microsoft.com/office/drawing/2012/chart"/>
            </c:numRef>
          </c:val>
          <c:extLst xmlns:c15="http://schemas.microsoft.com/office/drawing/2012/chart">
            <c:ext xmlns:c16="http://schemas.microsoft.com/office/drawing/2014/chart" uri="{C3380CC4-5D6E-409C-BE32-E72D297353CC}">
              <c16:uniqueId val="{00000000-F47E-4235-89DD-860270A799B2}"/>
            </c:ext>
          </c:extLst>
        </c:ser>
        <c:ser>
          <c:idx val="1"/>
          <c:order val="1"/>
          <c:tx>
            <c:strRef>
              <c:f>'Data Chart'!$D$26</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Chart'!$B$27:$B$32</c:f>
              <c:strCache>
                <c:ptCount val="6"/>
                <c:pt idx="0">
                  <c:v>A320</c:v>
                </c:pt>
                <c:pt idx="1">
                  <c:v>A321</c:v>
                </c:pt>
                <c:pt idx="2">
                  <c:v>A350</c:v>
                </c:pt>
                <c:pt idx="3">
                  <c:v>B787</c:v>
                </c:pt>
                <c:pt idx="4">
                  <c:v>ATR72</c:v>
                </c:pt>
                <c:pt idx="5">
                  <c:v>Tất cả</c:v>
                </c:pt>
              </c:strCache>
            </c:strRef>
          </c:cat>
          <c:val>
            <c:numRef>
              <c:f>'Data Chart'!$D$27:$D$32</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F47E-4235-89DD-860270A799B2}"/>
            </c:ext>
          </c:extLst>
        </c:ser>
        <c:dLbls>
          <c:showLegendKey val="0"/>
          <c:showVal val="0"/>
          <c:showCatName val="0"/>
          <c:showSerName val="0"/>
          <c:showPercent val="0"/>
          <c:showBubbleSize val="0"/>
        </c:dLbls>
        <c:gapWidth val="219"/>
        <c:overlap val="-27"/>
        <c:axId val="314609408"/>
        <c:axId val="314610976"/>
        <c:extLst/>
      </c:barChart>
      <c:catAx>
        <c:axId val="314609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10976"/>
        <c:crosses val="autoZero"/>
        <c:auto val="1"/>
        <c:lblAlgn val="ctr"/>
        <c:lblOffset val="100"/>
        <c:noMultiLvlLbl val="0"/>
      </c:catAx>
      <c:valAx>
        <c:axId val="314610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4609408"/>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BF9A-4E45-B21A-29C3019221D8}"/>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numCache>
            </c:numRef>
          </c:val>
          <c:smooth val="0"/>
          <c:extLst>
            <c:ext xmlns:c16="http://schemas.microsoft.com/office/drawing/2014/chart" uri="{C3380CC4-5D6E-409C-BE32-E72D297353CC}">
              <c16:uniqueId val="{00000001-BF9A-4E45-B21A-29C3019221D8}"/>
            </c:ext>
          </c:extLst>
        </c:ser>
        <c:dLbls>
          <c:showLegendKey val="0"/>
          <c:showVal val="0"/>
          <c:showCatName val="0"/>
          <c:showSerName val="0"/>
          <c:showPercent val="0"/>
          <c:showBubbleSize val="0"/>
        </c:dLbls>
        <c:marker val="1"/>
        <c:smooth val="0"/>
        <c:axId val="266741624"/>
        <c:axId val="267136992"/>
      </c:lineChart>
      <c:catAx>
        <c:axId val="26674162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7136992"/>
        <c:crosses val="autoZero"/>
        <c:auto val="1"/>
        <c:lblAlgn val="ctr"/>
        <c:lblOffset val="100"/>
        <c:noMultiLvlLbl val="0"/>
      </c:catAx>
      <c:valAx>
        <c:axId val="26713699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6741624"/>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6A44-4468-B669-0DD4AC75E882}"/>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numCache>
            </c:numRef>
          </c:val>
          <c:smooth val="0"/>
          <c:extLst>
            <c:ext xmlns:c16="http://schemas.microsoft.com/office/drawing/2014/chart" uri="{C3380CC4-5D6E-409C-BE32-E72D297353CC}">
              <c16:uniqueId val="{00000001-6A44-4468-B669-0DD4AC75E882}"/>
            </c:ext>
          </c:extLst>
        </c:ser>
        <c:dLbls>
          <c:showLegendKey val="0"/>
          <c:showVal val="0"/>
          <c:showCatName val="0"/>
          <c:showSerName val="0"/>
          <c:showPercent val="0"/>
          <c:showBubbleSize val="0"/>
        </c:dLbls>
        <c:marker val="1"/>
        <c:smooth val="0"/>
        <c:axId val="313596064"/>
        <c:axId val="313596448"/>
      </c:lineChart>
      <c:catAx>
        <c:axId val="31359606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596448"/>
        <c:crosses val="autoZero"/>
        <c:auto val="1"/>
        <c:lblAlgn val="ctr"/>
        <c:lblOffset val="100"/>
        <c:noMultiLvlLbl val="0"/>
      </c:catAx>
      <c:valAx>
        <c:axId val="31359644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596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W02</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DE03-460C-954B-33C71608B73C}"/>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99.779005524861873</c:v>
                </c:pt>
                <c:pt idx="1">
                  <c:v>97.604790419161674</c:v>
                </c:pt>
                <c:pt idx="2">
                  <c:v>100</c:v>
                </c:pt>
                <c:pt idx="3">
                  <c:v>100</c:v>
                </c:pt>
              </c:numCache>
            </c:numRef>
          </c:val>
          <c:extLst>
            <c:ext xmlns:c16="http://schemas.microsoft.com/office/drawing/2014/chart" uri="{C3380CC4-5D6E-409C-BE32-E72D297353CC}">
              <c16:uniqueId val="{00000001-DE03-460C-954B-33C71608B73C}"/>
            </c:ext>
          </c:extLst>
        </c:ser>
        <c:ser>
          <c:idx val="1"/>
          <c:order val="1"/>
          <c:tx>
            <c:strRef>
              <c:f>DR!$D$3</c:f>
              <c:strCache>
                <c:ptCount val="1"/>
                <c:pt idx="0">
                  <c:v>W03</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99.868189806678387</c:v>
                </c:pt>
                <c:pt idx="1">
                  <c:v>98.936170212765958</c:v>
                </c:pt>
                <c:pt idx="2">
                  <c:v>99.415204678362571</c:v>
                </c:pt>
                <c:pt idx="3">
                  <c:v>99.056603773584911</c:v>
                </c:pt>
              </c:numCache>
            </c:numRef>
          </c:val>
          <c:extLst>
            <c:ext xmlns:c16="http://schemas.microsoft.com/office/drawing/2014/chart" uri="{C3380CC4-5D6E-409C-BE32-E72D297353CC}">
              <c16:uniqueId val="{00000002-DE03-460C-954B-33C71608B73C}"/>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E03-460C-954B-33C71608B73C}"/>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DE03-460C-954B-33C71608B73C}"/>
            </c:ext>
          </c:extLst>
        </c:ser>
        <c:dLbls>
          <c:showLegendKey val="0"/>
          <c:showVal val="0"/>
          <c:showCatName val="0"/>
          <c:showSerName val="0"/>
          <c:showPercent val="0"/>
          <c:showBubbleSize val="0"/>
        </c:dLbls>
        <c:gapWidth val="219"/>
        <c:overlap val="-27"/>
        <c:axId val="-95521472"/>
        <c:axId val="-95499712"/>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DE03-460C-954B-33C71608B73C}"/>
                  </c:ext>
                </c:extLst>
              </c15:ser>
            </c15:filteredBarSeries>
          </c:ext>
        </c:extLst>
      </c:barChart>
      <c:catAx>
        <c:axId val="-95521472"/>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95499712"/>
        <c:crosses val="autoZero"/>
        <c:auto val="1"/>
        <c:lblAlgn val="ctr"/>
        <c:lblOffset val="100"/>
        <c:noMultiLvlLbl val="0"/>
      </c:catAx>
      <c:valAx>
        <c:axId val="-95499712"/>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95521472"/>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c:v>
                </c:pt>
                <c:pt idx="2">
                  <c:v>8</c:v>
                </c:pt>
                <c:pt idx="3">
                  <c:v>6</c:v>
                </c:pt>
                <c:pt idx="4">
                  <c:v>5</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27</c:v>
                </c:pt>
                <c:pt idx="1">
                  <c:v>26.5</c:v>
                </c:pt>
                <c:pt idx="2">
                  <c:v>28.25</c:v>
                </c:pt>
                <c:pt idx="3">
                  <c:v>26</c:v>
                </c:pt>
                <c:pt idx="4">
                  <c:v>24.25</c:v>
                </c:pt>
                <c:pt idx="5">
                  <c:v>22</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Sheet1!$D$8:$AI$8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Sheet1!$D$9:$AI$9</c:f>
              <c:numCache>
                <c:formatCode>General</c:formatCode>
                <c:ptCount val="12"/>
                <c:pt idx="0">
                  <c:v>28</c:v>
                </c:pt>
                <c:pt idx="1">
                  <c:v>28</c:v>
                </c:pt>
                <c:pt idx="2">
                  <c:v>26</c:v>
                </c:pt>
                <c:pt idx="3">
                  <c:v>26</c:v>
                </c:pt>
                <c:pt idx="4">
                  <c:v>26</c:v>
                </c:pt>
                <c:pt idx="5">
                  <c:v>26</c:v>
                </c:pt>
                <c:pt idx="6">
                  <c:v>26</c:v>
                </c:pt>
                <c:pt idx="7">
                  <c:v>28</c:v>
                </c:pt>
                <c:pt idx="8">
                  <c:v>28</c:v>
                </c:pt>
                <c:pt idx="9">
                  <c:v>28</c:v>
                </c:pt>
                <c:pt idx="10">
                  <c:v>28</c:v>
                </c:pt>
                <c:pt idx="11">
                  <c:v>28</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Sheet1!$D$10:$AI$10</c:f>
              <c:numCache>
                <c:formatCode>General</c:formatCode>
                <c:ptCount val="12"/>
                <c:pt idx="0">
                  <c:v>8</c:v>
                </c:pt>
                <c:pt idx="1">
                  <c:v>8</c:v>
                </c:pt>
                <c:pt idx="2">
                  <c:v>8</c:v>
                </c:pt>
                <c:pt idx="3">
                  <c:v>8</c:v>
                </c:pt>
                <c:pt idx="4">
                  <c:v>8</c:v>
                </c:pt>
                <c:pt idx="5">
                  <c:v>8</c:v>
                </c:pt>
                <c:pt idx="6">
                  <c:v>8</c:v>
                </c:pt>
                <c:pt idx="7">
                  <c:v>8</c:v>
                </c:pt>
                <c:pt idx="8">
                  <c:v>8</c:v>
                </c:pt>
                <c:pt idx="9">
                  <c:v>8</c:v>
                </c:pt>
                <c:pt idx="10">
                  <c:v>7</c:v>
                </c:pt>
                <c:pt idx="11">
                  <c:v>7</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Sheet1!$D$11:$AI$11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Sheet1!$D$12:$AI$12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5445543480618638E-2"/>
          <c:y val="2.2682228076795662E-2"/>
          <c:w val="0.943893299494588"/>
          <c:h val="0.90560716838710642"/>
        </c:manualLayout>
      </c:layout>
      <c:lineChart>
        <c:grouping val="standard"/>
        <c:varyColors val="0"/>
        <c:ser>
          <c:idx val="0"/>
          <c:order val="0"/>
          <c:tx>
            <c:strRef>
              <c:f>Sheet1!$B$1</c:f>
              <c:strCache>
                <c:ptCount val="1"/>
                <c:pt idx="0">
                  <c:v>KH Hiện tại</c:v>
                </c:pt>
              </c:strCache>
            </c:strRef>
          </c:tx>
          <c:spPr>
            <a:ln w="28575" cap="rnd">
              <a:solidFill>
                <a:srgbClr val="00B0F0"/>
              </a:solidFill>
              <a:round/>
            </a:ln>
            <a:effectLst/>
          </c:spPr>
          <c:marker>
            <c:symbol val="circle"/>
            <c:size val="25"/>
            <c:spPr>
              <a:solidFill>
                <a:srgbClr val="0099FF"/>
              </a:solidFill>
              <a:ln w="9525">
                <a:solidFill>
                  <a:srgbClr val="0099FF"/>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Sheet1!$B$2:$B$16</c:f>
              <c:numCache>
                <c:formatCode>General</c:formatCode>
                <c:ptCount val="5"/>
                <c:pt idx="0">
                  <c:v>15</c:v>
                </c:pt>
                <c:pt idx="1">
                  <c:v>15.5</c:v>
                </c:pt>
                <c:pt idx="2">
                  <c:v>14.25</c:v>
                </c:pt>
                <c:pt idx="3">
                  <c:v>13.75</c:v>
                </c:pt>
                <c:pt idx="4">
                  <c:v>14</c:v>
                </c:pt>
              </c:numCache>
            </c:numRef>
          </c:val>
          <c:smooth val="1"/>
          <c:extLst>
            <c:ext xmlns:c16="http://schemas.microsoft.com/office/drawing/2014/chart" uri="{C3380CC4-5D6E-409C-BE32-E72D297353CC}">
              <c16:uniqueId val="{00000000-1A84-4B14-B83A-F9020AB8809D}"/>
            </c:ext>
          </c:extLst>
        </c:ser>
        <c:ser>
          <c:idx val="1"/>
          <c:order val="1"/>
          <c:tx>
            <c:strRef>
              <c:f>Sheet1!$C$1</c:f>
              <c:strCache>
                <c:ptCount val="1"/>
                <c:pt idx="0">
                  <c:v>KB cũ </c:v>
                </c:pt>
              </c:strCache>
            </c:strRef>
          </c:tx>
          <c:spPr>
            <a:ln w="28575" cap="rnd">
              <a:solidFill>
                <a:srgbClr val="C00000"/>
              </a:solidFill>
              <a:prstDash val="sysDash"/>
              <a:round/>
            </a:ln>
            <a:effectLst/>
          </c:spPr>
          <c:marker>
            <c:symbol val="circle"/>
            <c:size val="25"/>
            <c:spPr>
              <a:solidFill>
                <a:schemeClr val="bg1"/>
              </a:solidFill>
              <a:ln w="222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Sheet1!$C$2:$C$16</c:f>
              <c:numCache>
                <c:formatCode>General</c:formatCode>
                <c:ptCount val="5"/>
                <c:pt idx="0">
                  <c:v>14</c:v>
                </c:pt>
                <c:pt idx="1">
                  <c:v>15</c:v>
                </c:pt>
                <c:pt idx="2">
                  <c:v>13</c:v>
                </c:pt>
                <c:pt idx="3">
                  <c:v>12.5</c:v>
                </c:pt>
                <c:pt idx="4">
                  <c:v>13</c:v>
                </c:pt>
              </c:numCache>
            </c:numRef>
          </c:val>
          <c:smooth val="1"/>
          <c:extLst>
            <c:ext xmlns:c16="http://schemas.microsoft.com/office/drawing/2014/chart" uri="{C3380CC4-5D6E-409C-BE32-E72D297353CC}">
              <c16:uniqueId val="{00000001-1A84-4B14-B83A-F9020AB8809D}"/>
            </c:ext>
          </c:extLst>
        </c:ser>
        <c:ser>
          <c:idx val="3"/>
          <c:order val="2"/>
          <c:tx>
            <c:strRef>
              <c:f>Sheet1!$E$1</c:f>
              <c:strCache>
                <c:ptCount val="1"/>
                <c:pt idx="0">
                  <c:v>Giải pháp triển khai thêm để giảm 01 AOG (khả thi)</c:v>
                </c:pt>
              </c:strCache>
            </c:strRef>
          </c:tx>
          <c:spPr>
            <a:ln w="28575" cap="rnd">
              <a:solidFill>
                <a:schemeClr val="accent4"/>
              </a:solidFill>
              <a:round/>
            </a:ln>
            <a:effectLst/>
          </c:spPr>
          <c:marker>
            <c:symbol val="circle"/>
            <c:size val="3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Sheet1!$E$2:$E$16</c:f>
            </c:numRef>
          </c:val>
          <c:smooth val="1"/>
          <c:extLst>
            <c:ext xmlns:c16="http://schemas.microsoft.com/office/drawing/2014/chart" uri="{C3380CC4-5D6E-409C-BE32-E72D297353CC}">
              <c16:uniqueId val="{00000002-1A84-4B14-B83A-F9020AB8809D}"/>
            </c:ext>
          </c:extLst>
        </c:ser>
        <c:dLbls>
          <c:showLegendKey val="0"/>
          <c:showVal val="0"/>
          <c:showCatName val="0"/>
          <c:showSerName val="0"/>
          <c:showPercent val="0"/>
          <c:showBubbleSize val="0"/>
        </c:dLbls>
        <c:marker val="1"/>
        <c:smooth val="0"/>
        <c:axId val="369140504"/>
        <c:axId val="369142464"/>
      </c:lineChart>
      <c:catAx>
        <c:axId val="369140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2464"/>
        <c:crosses val="autoZero"/>
        <c:auto val="1"/>
        <c:lblAlgn val="ctr"/>
        <c:lblOffset val="100"/>
        <c:noMultiLvlLbl val="0"/>
      </c:catAx>
      <c:valAx>
        <c:axId val="369142464"/>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9140504"/>
        <c:crosses val="autoZero"/>
        <c:crossBetween val="between"/>
        <c:majorUnit val="1"/>
      </c:valAx>
      <c:spPr>
        <a:noFill/>
        <a:ln>
          <a:noFill/>
        </a:ln>
        <a:effectLst/>
      </c:spPr>
    </c:plotArea>
    <c:legend>
      <c:legendPos val="r"/>
      <c:layout>
        <c:manualLayout>
          <c:xMode val="edge"/>
          <c:yMode val="edge"/>
          <c:x val="0.74928376782223216"/>
          <c:y val="0.76358296622613808"/>
          <c:w val="0.16189253624902974"/>
          <c:h val="0.16291558268872777"/>
        </c:manualLayout>
      </c:layout>
      <c:overlay val="0"/>
      <c:spPr>
        <a:solidFill>
          <a:schemeClr val="bg1"/>
        </a:solidFill>
        <a:ln>
          <a:solidFill>
            <a:srgbClr val="0070C0"/>
          </a:solid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Sheet1!$A$100:$A$111</c:f>
              <c:strCache>
                <c:ptCount val="12"/>
                <c:pt idx="0">
                  <c:v>Dec-W1</c:v>
                </c:pt>
                <c:pt idx="1">
                  <c:v>Dec-W2</c:v>
                </c:pt>
                <c:pt idx="2">
                  <c:v>Dec-W3</c:v>
                </c:pt>
                <c:pt idx="3">
                  <c:v>Dec-W4</c:v>
                </c:pt>
                <c:pt idx="4">
                  <c:v>Jan-W1</c:v>
                </c:pt>
                <c:pt idx="5">
                  <c:v>Jan-W2</c:v>
                </c:pt>
                <c:pt idx="6">
                  <c:v>Jan-W3</c:v>
                </c:pt>
                <c:pt idx="7">
                  <c:v>Jan-W4</c:v>
                </c:pt>
                <c:pt idx="8">
                  <c:v>Feb-W1</c:v>
                </c:pt>
                <c:pt idx="9">
                  <c:v>Feb-W2</c:v>
                </c:pt>
                <c:pt idx="10">
                  <c:v>Feb-W3</c:v>
                </c:pt>
                <c:pt idx="11">
                  <c:v>Feb-W4</c:v>
                </c:pt>
              </c:strCache>
            </c:strRef>
          </c:cat>
          <c:val>
            <c:numRef>
              <c:f>Sheet1!$G$100:$G$111</c:f>
              <c:numCache>
                <c:formatCode>General</c:formatCode>
                <c:ptCount val="12"/>
                <c:pt idx="0">
                  <c:v>16</c:v>
                </c:pt>
                <c:pt idx="1">
                  <c:v>16</c:v>
                </c:pt>
                <c:pt idx="2">
                  <c:v>16</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userShapes r:id="rId4"/>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7242419776671173E-2"/>
          <c:y val="0.11299273833944892"/>
          <c:w val="0.943893299494588"/>
          <c:h val="0.67116276858031643"/>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Sheet1!$A$9:$A$24</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Sheet1!$B$9:$B$24</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Sheet1!$A$9:$A$24</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Sheet1!$C$9:$C$24</c:f>
              <c:numCache>
                <c:formatCode>General</c:formatCode>
                <c:ptCount val="12"/>
                <c:pt idx="0">
                  <c:v>4</c:v>
                </c:pt>
                <c:pt idx="1">
                  <c:v>4</c:v>
                </c:pt>
                <c:pt idx="2">
                  <c:v>4</c:v>
                </c:pt>
                <c:pt idx="3">
                  <c:v>4</c:v>
                </c:pt>
                <c:pt idx="4">
                  <c:v>4</c:v>
                </c:pt>
                <c:pt idx="5">
                  <c:v>4</c:v>
                </c:pt>
                <c:pt idx="6">
                  <c:v>4</c:v>
                </c:pt>
                <c:pt idx="7">
                  <c:v>4</c:v>
                </c:pt>
                <c:pt idx="8">
                  <c:v>4</c:v>
                </c:pt>
                <c:pt idx="9">
                  <c:v>4</c:v>
                </c:pt>
                <c:pt idx="10">
                  <c:v>4</c:v>
                </c:pt>
                <c:pt idx="11">
                  <c:v>4</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1059458913E-2"/>
          <c:y val="7.9544479126264098E-2"/>
          <c:w val="0.89607850198693251"/>
          <c:h val="0.73802210163219706"/>
        </c:manualLayout>
      </c:layout>
      <c:lineChart>
        <c:grouping val="standard"/>
        <c:varyColors val="0"/>
        <c:ser>
          <c:idx val="3"/>
          <c:order val="0"/>
          <c:tx>
            <c:strRef>
              <c:f>Sheet1!$B$1</c:f>
              <c:strCache>
                <c:ptCount val="1"/>
                <c:pt idx="0">
                  <c:v>A350 đủ động cơ</c:v>
                </c:pt>
              </c:strCache>
            </c:strRef>
          </c:tx>
          <c:spPr>
            <a:ln w="28575" cap="rnd">
              <a:solidFill>
                <a:srgbClr val="FF0000"/>
              </a:solidFill>
              <a:round/>
            </a:ln>
            <a:effectLst/>
          </c:spPr>
          <c:marker>
            <c:symbol val="circle"/>
            <c:size val="20"/>
            <c:spPr>
              <a:solidFill>
                <a:srgbClr val="003300"/>
              </a:solidFill>
              <a:ln w="9525">
                <a:solidFill>
                  <a:srgbClr val="003300"/>
                </a:solidFill>
              </a:ln>
              <a:effectLst/>
            </c:spPr>
          </c:marker>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Sheet1!$B$7:$B$107</c:f>
              <c:numCache>
                <c:formatCode>General</c:formatCode>
                <c:ptCount val="16"/>
                <c:pt idx="0">
                  <c:v>10</c:v>
                </c:pt>
                <c:pt idx="1">
                  <c:v>10</c:v>
                </c:pt>
                <c:pt idx="2">
                  <c:v>9</c:v>
                </c:pt>
                <c:pt idx="3">
                  <c:v>9</c:v>
                </c:pt>
                <c:pt idx="4">
                  <c:v>9</c:v>
                </c:pt>
                <c:pt idx="5">
                  <c:v>9</c:v>
                </c:pt>
                <c:pt idx="6">
                  <c:v>9</c:v>
                </c:pt>
                <c:pt idx="7">
                  <c:v>10</c:v>
                </c:pt>
                <c:pt idx="8">
                  <c:v>10</c:v>
                </c:pt>
                <c:pt idx="9">
                  <c:v>10</c:v>
                </c:pt>
                <c:pt idx="10">
                  <c:v>10</c:v>
                </c:pt>
                <c:pt idx="11">
                  <c:v>10</c:v>
                </c:pt>
                <c:pt idx="12">
                  <c:v>10</c:v>
                </c:pt>
                <c:pt idx="13">
                  <c:v>10</c:v>
                </c:pt>
                <c:pt idx="14">
                  <c:v>10</c:v>
                </c:pt>
                <c:pt idx="15">
                  <c:v>10</c:v>
                </c:pt>
              </c:numCache>
            </c:numRef>
          </c:val>
          <c:smooth val="0"/>
          <c:extLst>
            <c:ext xmlns:c16="http://schemas.microsoft.com/office/drawing/2014/chart" uri="{C3380CC4-5D6E-409C-BE32-E72D297353CC}">
              <c16:uniqueId val="{00000000-37CD-47C2-9C96-FB4BA1EFE2D2}"/>
            </c:ext>
          </c:extLst>
        </c:ser>
        <c:ser>
          <c:idx val="0"/>
          <c:order val="1"/>
          <c:tx>
            <c:strRef>
              <c:f>Sheet1!$C$1</c:f>
              <c:strCache>
                <c:ptCount val="1"/>
                <c:pt idx="0">
                  <c:v>Nhu cầu A350</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Sheet1!$C$7:$C$107</c:f>
            </c:numRef>
          </c:val>
          <c:smooth val="0"/>
          <c:extLst>
            <c:ext xmlns:c16="http://schemas.microsoft.com/office/drawing/2014/chart" uri="{C3380CC4-5D6E-409C-BE32-E72D297353CC}">
              <c16:uniqueId val="{00000001-37CD-47C2-9C96-FB4BA1EFE2D2}"/>
            </c:ext>
          </c:extLst>
        </c:ser>
        <c:dLbls>
          <c:dLblPos val="ctr"/>
          <c:showLegendKey val="0"/>
          <c:showVal val="1"/>
          <c:showCatName val="0"/>
          <c:showSerName val="0"/>
          <c:showPercent val="0"/>
          <c:showBubbleSize val="0"/>
        </c:dLbls>
        <c:marker val="1"/>
        <c:smooth val="0"/>
        <c:axId val="322941480"/>
        <c:axId val="322943048"/>
      </c:lineChart>
      <c:catAx>
        <c:axId val="3229414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322943048"/>
        <c:crosses val="autoZero"/>
        <c:auto val="1"/>
        <c:lblAlgn val="ctr"/>
        <c:lblOffset val="100"/>
        <c:noMultiLvlLbl val="0"/>
      </c:catAx>
      <c:valAx>
        <c:axId val="322943048"/>
        <c:scaling>
          <c:orientation val="minMax"/>
          <c:max val="11"/>
          <c:min val="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32294148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sz="1600" b="1"/>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Chart'!$C$34</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Chart'!$C$35:$C$40</c:f>
              <c:numCache>
                <c:formatCode>General</c:formatCode>
                <c:ptCount val="6"/>
                <c:pt idx="0">
                  <c:v>0</c:v>
                </c:pt>
                <c:pt idx="1">
                  <c:v>2</c:v>
                </c:pt>
                <c:pt idx="2">
                  <c:v>2</c:v>
                </c:pt>
                <c:pt idx="3">
                  <c:v>4</c:v>
                </c:pt>
                <c:pt idx="4">
                  <c:v>1</c:v>
                </c:pt>
                <c:pt idx="5" formatCode="0">
                  <c:v>9</c:v>
                </c:pt>
              </c:numCache>
            </c:numRef>
          </c:val>
          <c:extLst>
            <c:ext xmlns:c16="http://schemas.microsoft.com/office/drawing/2014/chart" uri="{C3380CC4-5D6E-409C-BE32-E72D297353CC}">
              <c16:uniqueId val="{00000000-63C9-4C2B-9793-EEA0F369CE2E}"/>
            </c:ext>
          </c:extLst>
        </c:ser>
        <c:ser>
          <c:idx val="1"/>
          <c:order val="1"/>
          <c:tx>
            <c:strRef>
              <c:f>'Data Chart'!$D$34</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Chart'!$D$35:$D$40</c:f>
              <c:numCache>
                <c:formatCode>General</c:formatCode>
                <c:ptCount val="6"/>
                <c:pt idx="0">
                  <c:v>0</c:v>
                </c:pt>
                <c:pt idx="1">
                  <c:v>5</c:v>
                </c:pt>
                <c:pt idx="2">
                  <c:v>2</c:v>
                </c:pt>
                <c:pt idx="3">
                  <c:v>1</c:v>
                </c:pt>
                <c:pt idx="4">
                  <c:v>0</c:v>
                </c:pt>
                <c:pt idx="5" formatCode="0">
                  <c:v>8</c:v>
                </c:pt>
              </c:numCache>
            </c:numRef>
          </c:val>
          <c:extLst>
            <c:ext xmlns:c16="http://schemas.microsoft.com/office/drawing/2014/chart" uri="{C3380CC4-5D6E-409C-BE32-E72D297353CC}">
              <c16:uniqueId val="{00000001-63C9-4C2B-9793-EEA0F369CE2E}"/>
            </c:ext>
          </c:extLst>
        </c:ser>
        <c:dLbls>
          <c:showLegendKey val="0"/>
          <c:showVal val="0"/>
          <c:showCatName val="0"/>
          <c:showSerName val="0"/>
          <c:showPercent val="0"/>
          <c:showBubbleSize val="0"/>
        </c:dLbls>
        <c:gapWidth val="150"/>
        <c:axId val="313739144"/>
        <c:axId val="313732872"/>
      </c:barChart>
      <c:catAx>
        <c:axId val="31373914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3732872"/>
        <c:crosses val="autoZero"/>
        <c:auto val="1"/>
        <c:lblAlgn val="ctr"/>
        <c:lblOffset val="100"/>
        <c:noMultiLvlLbl val="0"/>
      </c:catAx>
      <c:valAx>
        <c:axId val="313732872"/>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373914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6.4986861861861839E-2</c:v>
                </c:pt>
                <c:pt idx="1">
                  <c:v>7.878982657793919E-2</c:v>
                </c:pt>
                <c:pt idx="2">
                  <c:v>9.5410628019323748E-2</c:v>
                </c:pt>
                <c:pt idx="3">
                  <c:v>0.16631235827664398</c:v>
                </c:pt>
                <c:pt idx="4">
                  <c:v>0.26593725019984038</c:v>
                </c:pt>
                <c:pt idx="5">
                  <c:v>0.25172397047397066</c:v>
                </c:pt>
                <c:pt idx="6">
                  <c:v>0.14820326278659612</c:v>
                </c:pt>
                <c:pt idx="7">
                  <c:v>0.14674025704809296</c:v>
                </c:pt>
                <c:pt idx="8">
                  <c:v>4.4068016614745638E-2</c:v>
                </c:pt>
              </c:numCache>
            </c:numRef>
          </c:val>
          <c:extLst>
            <c:ext xmlns:c16="http://schemas.microsoft.com/office/drawing/2014/chart" uri="{C3380CC4-5D6E-409C-BE32-E72D297353CC}">
              <c16:uniqueId val="{00000000-3D72-4EB3-ACAD-B4BEA5803E8D}"/>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6.8930802103879071E-2</c:v>
                </c:pt>
                <c:pt idx="1">
                  <c:v>7.7301999231065122E-2</c:v>
                </c:pt>
                <c:pt idx="2">
                  <c:v>8.8982672382993969E-2</c:v>
                </c:pt>
                <c:pt idx="3">
                  <c:v>0.11782407407407405</c:v>
                </c:pt>
                <c:pt idx="4">
                  <c:v>0.25899098601913195</c:v>
                </c:pt>
                <c:pt idx="5">
                  <c:v>0.23712962962962991</c:v>
                </c:pt>
                <c:pt idx="6">
                  <c:v>0.13942035147392298</c:v>
                </c:pt>
                <c:pt idx="7">
                  <c:v>0.13997952279202303</c:v>
                </c:pt>
                <c:pt idx="8">
                  <c:v>4.9300449346405283E-2</c:v>
                </c:pt>
              </c:numCache>
            </c:numRef>
          </c:val>
          <c:extLst>
            <c:ext xmlns:c16="http://schemas.microsoft.com/office/drawing/2014/chart" uri="{C3380CC4-5D6E-409C-BE32-E72D297353CC}">
              <c16:uniqueId val="{00000001-3D72-4EB3-ACAD-B4BEA5803E8D}"/>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7.0476190476190466</c:v>
                </c:pt>
                <c:pt idx="1">
                  <c:v>6.0549450549450556</c:v>
                </c:pt>
                <c:pt idx="2">
                  <c:v>4.6938775510204085</c:v>
                </c:pt>
                <c:pt idx="3">
                  <c:v>2.6857142857142859</c:v>
                </c:pt>
                <c:pt idx="4">
                  <c:v>2.8571428571428572</c:v>
                </c:pt>
                <c:pt idx="5">
                  <c:v>6.1142857142857139</c:v>
                </c:pt>
              </c:numCache>
            </c:numRef>
          </c:val>
          <c:extLst>
            <c:ext xmlns:c16="http://schemas.microsoft.com/office/drawing/2014/chart" uri="{C3380CC4-5D6E-409C-BE32-E72D297353CC}">
              <c16:uniqueId val="{00000000-3C61-4032-B1C5-4F86666047B0}"/>
            </c:ext>
          </c:extLst>
        </c:ser>
        <c:ser>
          <c:idx val="1"/>
          <c:order val="1"/>
          <c:tx>
            <c:strRef>
              <c:f>Week!$K$15</c:f>
              <c:strCache>
                <c:ptCount val="1"/>
                <c:pt idx="0">
                  <c:v>This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8.0476190476190474</c:v>
                </c:pt>
                <c:pt idx="1">
                  <c:v>8.0293040293040292</c:v>
                </c:pt>
                <c:pt idx="2">
                  <c:v>6.3469387755102034</c:v>
                </c:pt>
                <c:pt idx="3">
                  <c:v>3.2285714285714291</c:v>
                </c:pt>
                <c:pt idx="4">
                  <c:v>3.3949579831932772</c:v>
                </c:pt>
                <c:pt idx="5">
                  <c:v>7.7714285714285722</c:v>
                </c:pt>
              </c:numCache>
            </c:numRef>
          </c:val>
          <c:extLst>
            <c:ext xmlns:c16="http://schemas.microsoft.com/office/drawing/2014/chart" uri="{C3380CC4-5D6E-409C-BE32-E72D297353CC}">
              <c16:uniqueId val="{00000001-3C61-4032-B1C5-4F86666047B0}"/>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chemeClr val="accent1">
                  <a:shade val="95000"/>
                </a:schemeClr>
              </a:solidFill>
              <a:round/>
            </a:ln>
            <a:effectLst/>
          </c:spPr>
          <c:invertIfNegative val="0"/>
          <c:dPt>
            <c:idx val="0"/>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1-0BE1-4276-B987-43240F3D3464}"/>
              </c:ext>
            </c:extLst>
          </c:dPt>
          <c:dPt>
            <c:idx val="1"/>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3-0BE1-4276-B987-43240F3D3464}"/>
              </c:ext>
            </c:extLst>
          </c:dPt>
          <c:dPt>
            <c:idx val="2"/>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5-0BE1-4276-B987-43240F3D3464}"/>
              </c:ext>
            </c:extLst>
          </c:dPt>
          <c:dPt>
            <c:idx val="3"/>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7-0BE1-4276-B987-43240F3D3464}"/>
              </c:ext>
            </c:extLst>
          </c:dPt>
          <c:dPt>
            <c:idx val="4"/>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9-0BE1-4276-B987-43240F3D3464}"/>
              </c:ext>
            </c:extLst>
          </c:dPt>
          <c:dPt>
            <c:idx val="5"/>
            <c:invertIfNegative val="0"/>
            <c:bubble3D val="0"/>
            <c:spPr>
              <a:solidFill>
                <a:srgbClr val="ED7D31"/>
              </a:solidFill>
              <a:ln w="9525" cap="flat" cmpd="sng" algn="ctr">
                <a:solidFill>
                  <a:schemeClr val="accent1">
                    <a:shade val="95000"/>
                  </a:schemeClr>
                </a:solidFill>
                <a:round/>
              </a:ln>
              <a:effectLst/>
            </c:spPr>
            <c:extLst>
              <c:ext xmlns:c16="http://schemas.microsoft.com/office/drawing/2014/chart" uri="{C3380CC4-5D6E-409C-BE32-E72D297353CC}">
                <c16:uniqueId val="{0000000B-0BE1-4276-B987-43240F3D3464}"/>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45670</c:v>
                </c:pt>
                <c:pt idx="1">
                  <c:v>45671</c:v>
                </c:pt>
                <c:pt idx="2">
                  <c:v>45672</c:v>
                </c:pt>
                <c:pt idx="3">
                  <c:v>45673</c:v>
                </c:pt>
                <c:pt idx="4">
                  <c:v>45674</c:v>
                </c:pt>
                <c:pt idx="5">
                  <c:v>45675</c:v>
                </c:pt>
                <c:pt idx="6">
                  <c:v>45676</c:v>
                </c:pt>
                <c:pt idx="7">
                  <c:v>45677</c:v>
                </c:pt>
                <c:pt idx="8">
                  <c:v>45678</c:v>
                </c:pt>
                <c:pt idx="9">
                  <c:v>45679</c:v>
                </c:pt>
                <c:pt idx="10">
                  <c:v>45680</c:v>
                </c:pt>
                <c:pt idx="11">
                  <c:v>45681</c:v>
                </c:pt>
                <c:pt idx="12">
                  <c:v>45682</c:v>
                </c:pt>
                <c:pt idx="13">
                  <c:v>45683</c:v>
                </c:pt>
                <c:pt idx="14">
                  <c:v>45684</c:v>
                </c:pt>
                <c:pt idx="15">
                  <c:v>45685</c:v>
                </c:pt>
                <c:pt idx="16">
                  <c:v>45686</c:v>
                </c:pt>
                <c:pt idx="17">
                  <c:v>45687</c:v>
                </c:pt>
                <c:pt idx="18">
                  <c:v>45688</c:v>
                </c:pt>
                <c:pt idx="19">
                  <c:v>45689</c:v>
                </c:pt>
                <c:pt idx="20">
                  <c:v>45690</c:v>
                </c:pt>
                <c:pt idx="21">
                  <c:v>45691</c:v>
                </c:pt>
                <c:pt idx="22">
                  <c:v>45692</c:v>
                </c:pt>
                <c:pt idx="23">
                  <c:v>45693</c:v>
                </c:pt>
                <c:pt idx="24">
                  <c:v>45694</c:v>
                </c:pt>
                <c:pt idx="25">
                  <c:v>45695</c:v>
                </c:pt>
                <c:pt idx="26">
                  <c:v>45696</c:v>
                </c:pt>
                <c:pt idx="27">
                  <c:v>45697</c:v>
                </c:pt>
                <c:pt idx="28">
                  <c:v>45698</c:v>
                </c:pt>
                <c:pt idx="29">
                  <c:v>45699</c:v>
                </c:pt>
                <c:pt idx="30">
                  <c:v>45700</c:v>
                </c:pt>
                <c:pt idx="31">
                  <c:v>45701</c:v>
                </c:pt>
                <c:pt idx="32">
                  <c:v>45702</c:v>
                </c:pt>
                <c:pt idx="33">
                  <c:v>45703</c:v>
                </c:pt>
                <c:pt idx="34">
                  <c:v>45704</c:v>
                </c:pt>
                <c:pt idx="35">
                  <c:v>45705</c:v>
                </c:pt>
                <c:pt idx="36">
                  <c:v>45706</c:v>
                </c:pt>
                <c:pt idx="37">
                  <c:v>45707</c:v>
                </c:pt>
                <c:pt idx="38">
                  <c:v>45708</c:v>
                </c:pt>
                <c:pt idx="39">
                  <c:v>45709</c:v>
                </c:pt>
                <c:pt idx="40">
                  <c:v>45710</c:v>
                </c:pt>
                <c:pt idx="41">
                  <c:v>45711</c:v>
                </c:pt>
                <c:pt idx="42">
                  <c:v>45712</c:v>
                </c:pt>
                <c:pt idx="43">
                  <c:v>45713</c:v>
                </c:pt>
                <c:pt idx="44">
                  <c:v>45714</c:v>
                </c:pt>
                <c:pt idx="45">
                  <c:v>45715</c:v>
                </c:pt>
                <c:pt idx="46">
                  <c:v>45716</c:v>
                </c:pt>
              </c:numCache>
            </c:numRef>
          </c:cat>
          <c:val>
            <c:numRef>
              <c:f>Week!$B$36:$BQ$36</c:f>
              <c:numCache>
                <c:formatCode>General</c:formatCode>
                <c:ptCount val="68"/>
                <c:pt idx="0">
                  <c:v>411</c:v>
                </c:pt>
                <c:pt idx="1">
                  <c:v>414</c:v>
                </c:pt>
                <c:pt idx="2">
                  <c:v>423</c:v>
                </c:pt>
                <c:pt idx="3">
                  <c:v>424</c:v>
                </c:pt>
                <c:pt idx="4">
                  <c:v>446</c:v>
                </c:pt>
                <c:pt idx="5">
                  <c:v>460</c:v>
                </c:pt>
                <c:pt idx="6">
                  <c:v>440</c:v>
                </c:pt>
                <c:pt idx="7">
                  <c:v>442</c:v>
                </c:pt>
                <c:pt idx="8">
                  <c:v>472</c:v>
                </c:pt>
                <c:pt idx="9">
                  <c:v>532</c:v>
                </c:pt>
                <c:pt idx="10">
                  <c:v>552</c:v>
                </c:pt>
                <c:pt idx="11">
                  <c:v>558</c:v>
                </c:pt>
                <c:pt idx="12">
                  <c:v>552</c:v>
                </c:pt>
                <c:pt idx="13">
                  <c:v>543</c:v>
                </c:pt>
                <c:pt idx="14">
                  <c:v>553</c:v>
                </c:pt>
                <c:pt idx="15">
                  <c:v>461</c:v>
                </c:pt>
                <c:pt idx="16">
                  <c:v>435</c:v>
                </c:pt>
                <c:pt idx="17">
                  <c:v>476</c:v>
                </c:pt>
                <c:pt idx="18">
                  <c:v>496</c:v>
                </c:pt>
                <c:pt idx="19">
                  <c:v>551</c:v>
                </c:pt>
                <c:pt idx="20">
                  <c:v>572</c:v>
                </c:pt>
                <c:pt idx="21">
                  <c:v>578</c:v>
                </c:pt>
                <c:pt idx="22">
                  <c:v>572</c:v>
                </c:pt>
                <c:pt idx="23">
                  <c:v>555</c:v>
                </c:pt>
                <c:pt idx="24">
                  <c:v>555</c:v>
                </c:pt>
                <c:pt idx="25">
                  <c:v>545</c:v>
                </c:pt>
                <c:pt idx="26">
                  <c:v>527</c:v>
                </c:pt>
                <c:pt idx="27">
                  <c:v>538</c:v>
                </c:pt>
                <c:pt idx="28">
                  <c:v>514</c:v>
                </c:pt>
                <c:pt idx="29">
                  <c:v>501</c:v>
                </c:pt>
                <c:pt idx="30">
                  <c:v>507</c:v>
                </c:pt>
                <c:pt idx="31">
                  <c:v>447</c:v>
                </c:pt>
                <c:pt idx="32">
                  <c:v>442</c:v>
                </c:pt>
                <c:pt idx="33">
                  <c:v>444</c:v>
                </c:pt>
                <c:pt idx="34">
                  <c:v>454</c:v>
                </c:pt>
                <c:pt idx="35">
                  <c:v>427</c:v>
                </c:pt>
                <c:pt idx="36">
                  <c:v>413</c:v>
                </c:pt>
                <c:pt idx="37">
                  <c:v>419</c:v>
                </c:pt>
                <c:pt idx="38">
                  <c:v>418</c:v>
                </c:pt>
                <c:pt idx="39">
                  <c:v>433</c:v>
                </c:pt>
                <c:pt idx="40">
                  <c:v>428</c:v>
                </c:pt>
                <c:pt idx="41">
                  <c:v>435</c:v>
                </c:pt>
                <c:pt idx="42">
                  <c:v>413</c:v>
                </c:pt>
                <c:pt idx="43">
                  <c:v>413</c:v>
                </c:pt>
                <c:pt idx="44">
                  <c:v>409</c:v>
                </c:pt>
                <c:pt idx="45">
                  <c:v>414</c:v>
                </c:pt>
                <c:pt idx="46">
                  <c:v>414</c:v>
                </c:pt>
              </c:numCache>
            </c:numRef>
          </c:val>
          <c:extLst>
            <c:ext xmlns:c16="http://schemas.microsoft.com/office/drawing/2014/chart" uri="{C3380CC4-5D6E-409C-BE32-E72D297353CC}">
              <c16:uniqueId val="{0000000C-0BE1-4276-B987-43240F3D3464}"/>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90"/>
          <c:min val="2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0.3797</cdr:x>
      <cdr:y>0.79526</cdr:y>
    </cdr:from>
    <cdr:to>
      <cdr:x>0.48327</cdr:x>
      <cdr:y>0.86114</cdr:y>
    </cdr:to>
    <cdr:sp macro="" textlink="">
      <cdr:nvSpPr>
        <cdr:cNvPr id="2" name="TextBox 1">
          <a:extLst xmlns:a="http://schemas.openxmlformats.org/drawingml/2006/main">
            <a:ext uri="{FF2B5EF4-FFF2-40B4-BE49-F238E27FC236}">
              <a16:creationId xmlns:a16="http://schemas.microsoft.com/office/drawing/2014/main" id="{06015A32-1E3C-6359-2AE7-55045DA3B5A1}"/>
            </a:ext>
          </a:extLst>
        </cdr:cNvPr>
        <cdr:cNvSpPr txBox="1"/>
      </cdr:nvSpPr>
      <cdr:spPr>
        <a:xfrm xmlns:a="http://schemas.openxmlformats.org/drawingml/2006/main">
          <a:off x="1828811" y="2972323"/>
          <a:ext cx="498855" cy="246221"/>
        </a:xfrm>
        <a:prstGeom xmlns:a="http://schemas.openxmlformats.org/drawingml/2006/main" prst="rect">
          <a:avLst/>
        </a:prstGeom>
        <a:noFill xmlns:a="http://schemas.openxmlformats.org/drawingml/2006/main"/>
      </cdr:spPr>
      <cdr:txBody>
        <a:bodyPr xmlns:a="http://schemas.openxmlformats.org/drawingml/2006/main" vertOverflow="clip" wrap="none" rtlCol="0">
          <a:spAutoFit/>
        </a:bodyPr>
        <a:lstStyle xmlns:a="http://schemas.openxmlformats.org/drawingml/2006/main"/>
        <a:p xmlns:a="http://schemas.openxmlformats.org/drawingml/2006/main">
          <a:r>
            <a:rPr lang="en-US" sz="1000" b="1" kern="1200" dirty="0">
              <a:solidFill>
                <a:srgbClr val="D2A43B"/>
              </a:solidFill>
              <a:latin typeface="Montserrat" pitchFamily="2" charset="77"/>
            </a:rPr>
            <a:t>2025</a:t>
          </a:r>
        </a:p>
      </cdr:txBody>
    </cdr:sp>
  </cdr:relSizeAnchor>
</c:userShapes>
</file>

<file path=ppt/drawings/drawing2.xml><?xml version="1.0" encoding="utf-8"?>
<c:userShapes xmlns:c="http://schemas.openxmlformats.org/drawingml/2006/chart">
  <cdr:relSizeAnchor xmlns:cdr="http://schemas.openxmlformats.org/drawingml/2006/chartDrawing">
    <cdr:from>
      <cdr:x>0.07349</cdr:x>
      <cdr:y>0.76219</cdr:y>
    </cdr:from>
    <cdr:to>
      <cdr:x>0.97416</cdr:x>
      <cdr:y>0.82679</cdr:y>
    </cdr:to>
    <cdr:sp macro="" textlink="">
      <cdr:nvSpPr>
        <cdr:cNvPr id="4" name="Rectangle 3">
          <a:extLst xmlns:a="http://schemas.openxmlformats.org/drawingml/2006/main">
            <a:ext uri="{FF2B5EF4-FFF2-40B4-BE49-F238E27FC236}">
              <a16:creationId xmlns:a16="http://schemas.microsoft.com/office/drawing/2014/main" id="{338E3D7E-F7D1-440F-A166-CB5C793E6271}"/>
            </a:ext>
          </a:extLst>
        </cdr:cNvPr>
        <cdr:cNvSpPr/>
      </cdr:nvSpPr>
      <cdr:spPr>
        <a:xfrm xmlns:a="http://schemas.openxmlformats.org/drawingml/2006/main">
          <a:off x="838200" y="2910954"/>
          <a:ext cx="10272399" cy="24670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A886  thiếu 2 động cơ</a:t>
          </a:r>
          <a:endParaRPr lang="en-US" sz="900" b="1" dirty="0"/>
        </a:p>
      </cdr:txBody>
    </cdr:sp>
  </cdr:relSizeAnchor>
  <cdr:relSizeAnchor xmlns:cdr="http://schemas.openxmlformats.org/drawingml/2006/chartDrawing">
    <cdr:from>
      <cdr:x>0.07349</cdr:x>
      <cdr:y>0.68238</cdr:y>
    </cdr:from>
    <cdr:to>
      <cdr:x>0.97416</cdr:x>
      <cdr:y>0.74224</cdr:y>
    </cdr:to>
    <cdr:sp macro="" textlink="">
      <cdr:nvSpPr>
        <cdr:cNvPr id="5" name="Rectangle 4">
          <a:extLst xmlns:a="http://schemas.openxmlformats.org/drawingml/2006/main">
            <a:ext uri="{FF2B5EF4-FFF2-40B4-BE49-F238E27FC236}">
              <a16:creationId xmlns:a16="http://schemas.microsoft.com/office/drawing/2014/main" id="{AC001FB9-20D7-43C4-8A74-EF08DC900745}"/>
            </a:ext>
          </a:extLst>
        </cdr:cNvPr>
        <cdr:cNvSpPr/>
      </cdr:nvSpPr>
      <cdr:spPr>
        <a:xfrm xmlns:a="http://schemas.openxmlformats.org/drawingml/2006/main">
          <a:off x="838201" y="2606136"/>
          <a:ext cx="10272406" cy="228617"/>
        </a:xfrm>
        <a:prstGeom xmlns:a="http://schemas.openxmlformats.org/drawingml/2006/main" prst="rect">
          <a:avLst/>
        </a:prstGeom>
        <a:solidFill xmlns:a="http://schemas.openxmlformats.org/drawingml/2006/main">
          <a:srgbClr val="0070C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A887 lắp 1 động cơ đến hạn kiểm tra LPT</a:t>
          </a:r>
        </a:p>
        <a:p xmlns:a="http://schemas.openxmlformats.org/drawingml/2006/main">
          <a:endParaRPr lang="en-US" sz="900" b="1" dirty="0"/>
        </a:p>
      </cdr:txBody>
    </cdr:sp>
  </cdr:relSizeAnchor>
  <cdr:relSizeAnchor xmlns:cdr="http://schemas.openxmlformats.org/drawingml/2006/chartDrawing">
    <cdr:from>
      <cdr:x>0.07702</cdr:x>
      <cdr:y>0.60258</cdr:y>
    </cdr:from>
    <cdr:to>
      <cdr:x>0.97416</cdr:x>
      <cdr:y>0.66243</cdr:y>
    </cdr:to>
    <cdr:sp macro="" textlink="">
      <cdr:nvSpPr>
        <cdr:cNvPr id="3" name="Rectangle 2">
          <a:extLst xmlns:a="http://schemas.openxmlformats.org/drawingml/2006/main">
            <a:ext uri="{FF2B5EF4-FFF2-40B4-BE49-F238E27FC236}">
              <a16:creationId xmlns:a16="http://schemas.microsoft.com/office/drawing/2014/main" id="{8C06442C-9D9E-F4F8-6680-E3EEBE834D35}"/>
            </a:ext>
          </a:extLst>
        </cdr:cNvPr>
        <cdr:cNvSpPr/>
      </cdr:nvSpPr>
      <cdr:spPr>
        <a:xfrm xmlns:a="http://schemas.openxmlformats.org/drawingml/2006/main">
          <a:off x="684017" y="1912981"/>
          <a:ext cx="7967945" cy="190003"/>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A898 đang có 2 động cwo đến hạn kiểm tra LPT</a:t>
          </a:r>
          <a:endParaRPr lang="en-US" sz="900" b="1" dirty="0"/>
        </a:p>
      </cdr:txBody>
    </cdr:sp>
  </cdr:relSizeAnchor>
  <cdr:relSizeAnchor xmlns:cdr="http://schemas.openxmlformats.org/drawingml/2006/chartDrawing">
    <cdr:from>
      <cdr:x>0.07446</cdr:x>
      <cdr:y>0.51411</cdr:y>
    </cdr:from>
    <cdr:to>
      <cdr:x>0.97416</cdr:x>
      <cdr:y>0.57397</cdr:y>
    </cdr:to>
    <cdr:sp macro="" textlink="">
      <cdr:nvSpPr>
        <cdr:cNvPr id="6" name="Rectangle 5">
          <a:extLst xmlns:a="http://schemas.openxmlformats.org/drawingml/2006/main">
            <a:ext uri="{FF2B5EF4-FFF2-40B4-BE49-F238E27FC236}">
              <a16:creationId xmlns:a16="http://schemas.microsoft.com/office/drawing/2014/main" id="{3CB04933-FC0C-D6B1-4ACB-5A3CDF5466E3}"/>
            </a:ext>
          </a:extLst>
        </cdr:cNvPr>
        <cdr:cNvSpPr/>
      </cdr:nvSpPr>
      <cdr:spPr>
        <a:xfrm xmlns:a="http://schemas.openxmlformats.org/drawingml/2006/main">
          <a:off x="661347" y="1632120"/>
          <a:ext cx="7990616" cy="190034"/>
        </a:xfrm>
        <a:prstGeom xmlns:a="http://schemas.openxmlformats.org/drawingml/2006/main" prst="rect">
          <a:avLst/>
        </a:prstGeom>
        <a:solidFill xmlns:a="http://schemas.openxmlformats.org/drawingml/2006/main">
          <a:srgbClr val="0070C0"/>
        </a:solidFill>
        <a:ln xmlns:a="http://schemas.openxmlformats.org/drawingml/2006/main">
          <a:solidFill>
            <a:schemeClr val="accent1">
              <a:lumMod val="50000"/>
            </a:schemeClr>
          </a:solidFill>
        </a:ln>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A895 đang có 1 động cơ hết LLP</a:t>
          </a:r>
          <a:endParaRPr lang="en-US" sz="900" b="1" dirty="0"/>
        </a:p>
      </cdr:txBody>
    </cdr:sp>
  </cdr:relSizeAnchor>
  <cdr:relSizeAnchor xmlns:cdr="http://schemas.openxmlformats.org/drawingml/2006/chartDrawing">
    <cdr:from>
      <cdr:x>0.18916</cdr:x>
      <cdr:y>0.42163</cdr:y>
    </cdr:from>
    <cdr:to>
      <cdr:x>0.46724</cdr:x>
      <cdr:y>0.49663</cdr:y>
    </cdr:to>
    <cdr:sp macro="" textlink="">
      <cdr:nvSpPr>
        <cdr:cNvPr id="7" name="Rectangle 6">
          <a:extLst xmlns:a="http://schemas.openxmlformats.org/drawingml/2006/main">
            <a:ext uri="{FF2B5EF4-FFF2-40B4-BE49-F238E27FC236}">
              <a16:creationId xmlns:a16="http://schemas.microsoft.com/office/drawing/2014/main" id="{36D639A6-0073-B7D2-F93D-836D7CB3B552}"/>
            </a:ext>
          </a:extLst>
        </cdr:cNvPr>
        <cdr:cNvSpPr/>
      </cdr:nvSpPr>
      <cdr:spPr>
        <a:xfrm xmlns:a="http://schemas.openxmlformats.org/drawingml/2006/main">
          <a:off x="1680017" y="1338532"/>
          <a:ext cx="2469786" cy="23809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A896 thay 2 động cơ</a:t>
          </a:r>
          <a:endParaRPr lang="en-US" sz="900" b="1" dirty="0"/>
        </a:p>
      </cdr:txBody>
    </cdr:sp>
  </cdr:relSizeAnchor>
  <cdr:relSizeAnchor xmlns:cdr="http://schemas.openxmlformats.org/drawingml/2006/chartDrawing">
    <cdr:from>
      <cdr:x>0.86228</cdr:x>
      <cdr:y>0.33519</cdr:y>
    </cdr:from>
    <cdr:to>
      <cdr:x>0.92092</cdr:x>
      <cdr:y>0.5</cdr:y>
    </cdr:to>
    <cdr:sp macro="" textlink="">
      <cdr:nvSpPr>
        <cdr:cNvPr id="8" name="Rectangle 7">
          <a:extLst xmlns:a="http://schemas.openxmlformats.org/drawingml/2006/main">
            <a:ext uri="{FF2B5EF4-FFF2-40B4-BE49-F238E27FC236}">
              <a16:creationId xmlns:a16="http://schemas.microsoft.com/office/drawing/2014/main" id="{6760457E-4D8D-4A41-A351-EB1CFCF9A605}"/>
            </a:ext>
          </a:extLst>
        </cdr:cNvPr>
        <cdr:cNvSpPr/>
      </cdr:nvSpPr>
      <cdr:spPr>
        <a:xfrm xmlns:a="http://schemas.openxmlformats.org/drawingml/2006/main">
          <a:off x="7658278" y="1064111"/>
          <a:ext cx="520809" cy="523214"/>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A899 thay đ/c</a:t>
          </a:r>
          <a:endParaRPr lang="en-US" sz="800" b="1" dirty="0"/>
        </a:p>
      </cdr:txBody>
    </cdr:sp>
  </cdr:relSizeAnchor>
  <cdr:relSizeAnchor xmlns:cdr="http://schemas.openxmlformats.org/drawingml/2006/chartDrawing">
    <cdr:from>
      <cdr:x>0.69853</cdr:x>
      <cdr:y>0.33021</cdr:y>
    </cdr:from>
    <cdr:to>
      <cdr:x>0.75298</cdr:x>
      <cdr:y>0.49502</cdr:y>
    </cdr:to>
    <cdr:sp macro="" textlink="">
      <cdr:nvSpPr>
        <cdr:cNvPr id="9" name="Rectangle 8">
          <a:extLst xmlns:a="http://schemas.openxmlformats.org/drawingml/2006/main">
            <a:ext uri="{FF2B5EF4-FFF2-40B4-BE49-F238E27FC236}">
              <a16:creationId xmlns:a16="http://schemas.microsoft.com/office/drawing/2014/main" id="{89DA79E5-4D55-4BFD-99AB-8A66C78C61D0}"/>
            </a:ext>
          </a:extLst>
        </cdr:cNvPr>
        <cdr:cNvSpPr/>
      </cdr:nvSpPr>
      <cdr:spPr>
        <a:xfrm xmlns:a="http://schemas.openxmlformats.org/drawingml/2006/main">
          <a:off x="8271934" y="1397738"/>
          <a:ext cx="644794" cy="697619"/>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A893 thay đ/c</a:t>
          </a:r>
          <a:endParaRPr lang="en-US" sz="800" b="1" dirty="0"/>
        </a:p>
      </cdr:txBody>
    </cdr:sp>
  </cdr:relSizeAnchor>
  <cdr:relSizeAnchor xmlns:cdr="http://schemas.openxmlformats.org/drawingml/2006/chartDrawing">
    <cdr:from>
      <cdr:x>0.67279</cdr:x>
      <cdr:y>0.08267</cdr:y>
    </cdr:from>
    <cdr:to>
      <cdr:x>0.67279</cdr:x>
      <cdr:y>0.87475</cdr:y>
    </cdr:to>
    <cdr:cxnSp macro="">
      <cdr:nvCxnSpPr>
        <cdr:cNvPr id="10" name="Straight Connector 9">
          <a:extLst xmlns:a="http://schemas.openxmlformats.org/drawingml/2006/main">
            <a:ext uri="{FF2B5EF4-FFF2-40B4-BE49-F238E27FC236}">
              <a16:creationId xmlns:a16="http://schemas.microsoft.com/office/drawing/2014/main" id="{0A14C737-04A0-4D39-A697-23AF9BD360C2}"/>
            </a:ext>
          </a:extLst>
        </cdr:cNvPr>
        <cdr:cNvCxnSpPr/>
      </cdr:nvCxnSpPr>
      <cdr:spPr>
        <a:xfrm xmlns:a="http://schemas.openxmlformats.org/drawingml/2006/main" flipV="1">
          <a:off x="7967134" y="349919"/>
          <a:ext cx="0" cy="3352800"/>
        </a:xfrm>
        <a:prstGeom xmlns:a="http://schemas.openxmlformats.org/drawingml/2006/main" prst="line">
          <a:avLst/>
        </a:prstGeom>
        <a:ln xmlns:a="http://schemas.openxmlformats.org/drawingml/2006/main" w="28575">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1/20/2025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594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1018950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2700868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077398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6460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4032107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19966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6460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6081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9</a:t>
            </a:fld>
            <a:endParaRPr lang="en-US" altLang="en-US">
              <a:solidFill>
                <a:srgbClr val="000000"/>
              </a:solidFill>
            </a:endParaRPr>
          </a:p>
        </p:txBody>
      </p:sp>
    </p:spTree>
    <p:extLst>
      <p:ext uri="{BB962C8B-B14F-4D97-AF65-F5344CB8AC3E}">
        <p14:creationId xmlns:p14="http://schemas.microsoft.com/office/powerpoint/2010/main" val="3540968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D244115-3526-86DD-02F0-950DD8271E3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741430F-F6E1-ED7F-868B-0C93A76EAD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A96752A-C9F7-32A3-1D55-FC5894623C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355F85F-2469-EBF8-BE61-88894DA37A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7497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9B2C098-1399-3AC6-C11E-41BDFEAE79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BEB6950-9C70-A6C1-BC2E-0C640CD5F3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5E37D5B6-F191-5366-455B-BA1C5133AF4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1ADCC2-0F01-8374-40FF-BA8375C81A2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292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12</a:t>
            </a:fld>
            <a:endParaRPr/>
          </a:p>
        </p:txBody>
      </p:sp>
    </p:spTree>
    <p:extLst>
      <p:ext uri="{BB962C8B-B14F-4D97-AF65-F5344CB8AC3E}">
        <p14:creationId xmlns:p14="http://schemas.microsoft.com/office/powerpoint/2010/main" val="4176067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977118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7787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1131255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8532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280977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19</a:t>
            </a:fld>
            <a:endParaRPr lang="en-US" altLang="en-US">
              <a:solidFill>
                <a:srgbClr val="000000"/>
              </a:solidFill>
            </a:endParaRPr>
          </a:p>
        </p:txBody>
      </p:sp>
    </p:spTree>
    <p:extLst>
      <p:ext uri="{BB962C8B-B14F-4D97-AF65-F5344CB8AC3E}">
        <p14:creationId xmlns:p14="http://schemas.microsoft.com/office/powerpoint/2010/main" val="4022901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34985512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3204377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12575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34598918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7959964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8952226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extLst>
      <p:ext uri="{BB962C8B-B14F-4D97-AF65-F5344CB8AC3E}">
        <p14:creationId xmlns:p14="http://schemas.microsoft.com/office/powerpoint/2010/main" val="6707746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extLst>
      <p:ext uri="{BB962C8B-B14F-4D97-AF65-F5344CB8AC3E}">
        <p14:creationId xmlns:p14="http://schemas.microsoft.com/office/powerpoint/2010/main" val="879606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39319347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40</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680020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41</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9061415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19868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43</a:t>
            </a:fld>
            <a:endParaRPr lang="en-US"/>
          </a:p>
        </p:txBody>
      </p:sp>
    </p:spTree>
    <p:extLst>
      <p:ext uri="{BB962C8B-B14F-4D97-AF65-F5344CB8AC3E}">
        <p14:creationId xmlns:p14="http://schemas.microsoft.com/office/powerpoint/2010/main" val="8793748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5193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05930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33899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21108427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ccdae391d_0_25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1ccdae391d_0_25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1ccdae391d_0_25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48</a:t>
            </a:fld>
            <a:endParaRPr/>
          </a:p>
        </p:txBody>
      </p:sp>
    </p:spTree>
    <p:extLst>
      <p:ext uri="{BB962C8B-B14F-4D97-AF65-F5344CB8AC3E}">
        <p14:creationId xmlns:p14="http://schemas.microsoft.com/office/powerpoint/2010/main" val="2904412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1ccdae391d_0_26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1ccdae391d_0_26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1ccdae391d_0_26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extLst>
      <p:ext uri="{BB962C8B-B14F-4D97-AF65-F5344CB8AC3E}">
        <p14:creationId xmlns:p14="http://schemas.microsoft.com/office/powerpoint/2010/main" val="34537616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382964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493084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679322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061192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12868758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79129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56</a:t>
            </a:fld>
            <a:endParaRPr/>
          </a:p>
        </p:txBody>
      </p:sp>
    </p:spTree>
    <p:extLst>
      <p:ext uri="{BB962C8B-B14F-4D97-AF65-F5344CB8AC3E}">
        <p14:creationId xmlns:p14="http://schemas.microsoft.com/office/powerpoint/2010/main" val="9088285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57</a:t>
            </a:fld>
            <a:endParaRPr/>
          </a:p>
        </p:txBody>
      </p:sp>
    </p:spTree>
    <p:extLst>
      <p:ext uri="{BB962C8B-B14F-4D97-AF65-F5344CB8AC3E}">
        <p14:creationId xmlns:p14="http://schemas.microsoft.com/office/powerpoint/2010/main" val="33051966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2042420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59</a:t>
            </a:fld>
            <a:endParaRPr/>
          </a:p>
        </p:txBody>
      </p:sp>
    </p:spTree>
    <p:extLst>
      <p:ext uri="{BB962C8B-B14F-4D97-AF65-F5344CB8AC3E}">
        <p14:creationId xmlns:p14="http://schemas.microsoft.com/office/powerpoint/2010/main" val="25062895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560619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431865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26790188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63</a:t>
            </a:fld>
            <a:endParaRPr sz="1200">
              <a:latin typeface="Calibri"/>
              <a:ea typeface="Calibri"/>
              <a:cs typeface="Calibri"/>
              <a:sym typeface="Calibri"/>
            </a:endParaRPr>
          </a:p>
        </p:txBody>
      </p:sp>
    </p:spTree>
    <p:extLst>
      <p:ext uri="{BB962C8B-B14F-4D97-AF65-F5344CB8AC3E}">
        <p14:creationId xmlns:p14="http://schemas.microsoft.com/office/powerpoint/2010/main" val="3404108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7293055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65</a:t>
            </a:fld>
            <a:endParaRPr sz="1200">
              <a:latin typeface="Calibri"/>
              <a:ea typeface="Calibri"/>
              <a:cs typeface="Calibri"/>
              <a:sym typeface="Calibri"/>
            </a:endParaRPr>
          </a:p>
        </p:txBody>
      </p:sp>
    </p:spTree>
    <p:extLst>
      <p:ext uri="{BB962C8B-B14F-4D97-AF65-F5344CB8AC3E}">
        <p14:creationId xmlns:p14="http://schemas.microsoft.com/office/powerpoint/2010/main" val="36874425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66</a:t>
            </a:fld>
            <a:endParaRPr sz="1200">
              <a:latin typeface="Calibri"/>
              <a:ea typeface="Calibri"/>
              <a:cs typeface="Calibri"/>
              <a:sym typeface="Calibri"/>
            </a:endParaRPr>
          </a:p>
        </p:txBody>
      </p:sp>
    </p:spTree>
    <p:extLst>
      <p:ext uri="{BB962C8B-B14F-4D97-AF65-F5344CB8AC3E}">
        <p14:creationId xmlns:p14="http://schemas.microsoft.com/office/powerpoint/2010/main" val="34176394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67</a:t>
            </a:fld>
            <a:endParaRPr sz="1200">
              <a:latin typeface="Calibri"/>
              <a:ea typeface="Calibri"/>
              <a:cs typeface="Calibri"/>
              <a:sym typeface="Calibri"/>
            </a:endParaRPr>
          </a:p>
        </p:txBody>
      </p:sp>
    </p:spTree>
    <p:extLst>
      <p:ext uri="{BB962C8B-B14F-4D97-AF65-F5344CB8AC3E}">
        <p14:creationId xmlns:p14="http://schemas.microsoft.com/office/powerpoint/2010/main" val="17408733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5552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05196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99537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1/20/2025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0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8.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13/01/2025</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19</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01</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113371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152400" y="86849"/>
            <a:ext cx="7415633" cy="815200"/>
          </a:xfrm>
        </p:spPr>
        <p:txBody>
          <a:bodyPr>
            <a:noAutofit/>
          </a:bodyPr>
          <a:lstStyle/>
          <a:p>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2017174822"/>
              </p:ext>
            </p:extLst>
          </p:nvPr>
        </p:nvGraphicFramePr>
        <p:xfrm>
          <a:off x="6320126" y="956035"/>
          <a:ext cx="4176910" cy="22913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3420466727"/>
              </p:ext>
            </p:extLst>
          </p:nvPr>
        </p:nvGraphicFramePr>
        <p:xfrm>
          <a:off x="1692338" y="3601853"/>
          <a:ext cx="4176796" cy="229138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1039780822"/>
              </p:ext>
            </p:extLst>
          </p:nvPr>
        </p:nvGraphicFramePr>
        <p:xfrm>
          <a:off x="1688978" y="959845"/>
          <a:ext cx="4176796" cy="22913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771924400"/>
              </p:ext>
            </p:extLst>
          </p:nvPr>
        </p:nvGraphicFramePr>
        <p:xfrm>
          <a:off x="6326112" y="3610582"/>
          <a:ext cx="4176910" cy="229138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9051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52400" y="104392"/>
            <a:ext cx="9982200" cy="815200"/>
          </a:xfrm>
        </p:spPr>
        <p:txBody>
          <a:bodyPr>
            <a:normAutofit/>
          </a:bodyPr>
          <a:lstStyle/>
          <a:p>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116877694"/>
              </p:ext>
            </p:extLst>
          </p:nvPr>
        </p:nvGraphicFramePr>
        <p:xfrm>
          <a:off x="1143000" y="1066800"/>
          <a:ext cx="9572483" cy="26158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1119568452"/>
              </p:ext>
            </p:extLst>
          </p:nvPr>
        </p:nvGraphicFramePr>
        <p:xfrm>
          <a:off x="1141240" y="3847484"/>
          <a:ext cx="9562178" cy="26174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6875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01		    DIV: 00</a:t>
            </a:r>
          </a:p>
        </p:txBody>
      </p:sp>
      <p:graphicFrame>
        <p:nvGraphicFramePr>
          <p:cNvPr id="3" name="Table 2">
            <a:extLst>
              <a:ext uri="{FF2B5EF4-FFF2-40B4-BE49-F238E27FC236}">
                <a16:creationId xmlns:a16="http://schemas.microsoft.com/office/drawing/2014/main" id="{CB65E8BD-5566-7B73-B8AD-4B51A89C972E}"/>
              </a:ext>
            </a:extLst>
          </p:cNvPr>
          <p:cNvGraphicFramePr>
            <a:graphicFrameLocks noGrp="1"/>
          </p:cNvGraphicFramePr>
          <p:nvPr>
            <p:extLst>
              <p:ext uri="{D42A27DB-BD31-4B8C-83A1-F6EECF244321}">
                <p14:modId xmlns:p14="http://schemas.microsoft.com/office/powerpoint/2010/main" val="3467881562"/>
              </p:ext>
            </p:extLst>
          </p:nvPr>
        </p:nvGraphicFramePr>
        <p:xfrm>
          <a:off x="264461" y="1371600"/>
          <a:ext cx="11517424" cy="3198408"/>
        </p:xfrm>
        <a:graphic>
          <a:graphicData uri="http://schemas.openxmlformats.org/drawingml/2006/table">
            <a:tbl>
              <a:tblPr/>
              <a:tblGrid>
                <a:gridCol w="421339">
                  <a:extLst>
                    <a:ext uri="{9D8B030D-6E8A-4147-A177-3AD203B41FA5}">
                      <a16:colId xmlns:a16="http://schemas.microsoft.com/office/drawing/2014/main" val="3441338988"/>
                    </a:ext>
                  </a:extLst>
                </a:gridCol>
                <a:gridCol w="381000">
                  <a:extLst>
                    <a:ext uri="{9D8B030D-6E8A-4147-A177-3AD203B41FA5}">
                      <a16:colId xmlns:a16="http://schemas.microsoft.com/office/drawing/2014/main" val="864944279"/>
                    </a:ext>
                  </a:extLst>
                </a:gridCol>
                <a:gridCol w="685800">
                  <a:extLst>
                    <a:ext uri="{9D8B030D-6E8A-4147-A177-3AD203B41FA5}">
                      <a16:colId xmlns:a16="http://schemas.microsoft.com/office/drawing/2014/main" val="1230293020"/>
                    </a:ext>
                  </a:extLst>
                </a:gridCol>
                <a:gridCol w="609600">
                  <a:extLst>
                    <a:ext uri="{9D8B030D-6E8A-4147-A177-3AD203B41FA5}">
                      <a16:colId xmlns:a16="http://schemas.microsoft.com/office/drawing/2014/main" val="2750884634"/>
                    </a:ext>
                  </a:extLst>
                </a:gridCol>
                <a:gridCol w="990600">
                  <a:extLst>
                    <a:ext uri="{9D8B030D-6E8A-4147-A177-3AD203B41FA5}">
                      <a16:colId xmlns:a16="http://schemas.microsoft.com/office/drawing/2014/main" val="133176833"/>
                    </a:ext>
                  </a:extLst>
                </a:gridCol>
                <a:gridCol w="685800">
                  <a:extLst>
                    <a:ext uri="{9D8B030D-6E8A-4147-A177-3AD203B41FA5}">
                      <a16:colId xmlns:a16="http://schemas.microsoft.com/office/drawing/2014/main" val="2744726422"/>
                    </a:ext>
                  </a:extLst>
                </a:gridCol>
                <a:gridCol w="1905000">
                  <a:extLst>
                    <a:ext uri="{9D8B030D-6E8A-4147-A177-3AD203B41FA5}">
                      <a16:colId xmlns:a16="http://schemas.microsoft.com/office/drawing/2014/main" val="674967127"/>
                    </a:ext>
                  </a:extLst>
                </a:gridCol>
                <a:gridCol w="2438400">
                  <a:extLst>
                    <a:ext uri="{9D8B030D-6E8A-4147-A177-3AD203B41FA5}">
                      <a16:colId xmlns:a16="http://schemas.microsoft.com/office/drawing/2014/main" val="1613102766"/>
                    </a:ext>
                  </a:extLst>
                </a:gridCol>
                <a:gridCol w="533400">
                  <a:extLst>
                    <a:ext uri="{9D8B030D-6E8A-4147-A177-3AD203B41FA5}">
                      <a16:colId xmlns:a16="http://schemas.microsoft.com/office/drawing/2014/main" val="666514525"/>
                    </a:ext>
                  </a:extLst>
                </a:gridCol>
                <a:gridCol w="2866485">
                  <a:extLst>
                    <a:ext uri="{9D8B030D-6E8A-4147-A177-3AD203B41FA5}">
                      <a16:colId xmlns:a16="http://schemas.microsoft.com/office/drawing/2014/main" val="749522768"/>
                    </a:ext>
                  </a:extLst>
                </a:gridCol>
              </a:tblGrid>
              <a:tr h="403033">
                <a:tc>
                  <a:txBody>
                    <a:bodyPr/>
                    <a:lstStyle/>
                    <a:p>
                      <a:pPr algn="ctr" fontAlgn="ctr"/>
                      <a:r>
                        <a:rPr lang="en-US" sz="1200" b="0" i="0" u="none" strike="noStrike">
                          <a:solidFill>
                            <a:srgbClr val="000000"/>
                          </a:solidFill>
                          <a:effectLst/>
                          <a:latin typeface="Times New Roman" panose="02020603050405020304" pitchFamily="18" charset="0"/>
                        </a:rPr>
                        <a:t>A/C</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STA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FLIGHT NO</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ROUTE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DATE</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EVENT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REASON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ACTION TAKEN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ATA</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Engineering Assessment</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7129995"/>
                  </a:ext>
                </a:extLst>
              </a:tr>
              <a:tr h="2795375">
                <a:tc>
                  <a:txBody>
                    <a:bodyPr/>
                    <a:lstStyle/>
                    <a:p>
                      <a:pPr algn="l" fontAlgn="t"/>
                      <a:r>
                        <a:rPr lang="en-US" sz="1200" b="0" i="0" u="none" strike="noStrike">
                          <a:solidFill>
                            <a:srgbClr val="000000"/>
                          </a:solidFill>
                          <a:effectLst/>
                          <a:latin typeface="Times New Roman" panose="02020603050405020304" pitchFamily="18" charset="0"/>
                        </a:rPr>
                        <a:t>A339</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SGN</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VN7046</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SGN-VII</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23:00 16/01/2025</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OGTB</a:t>
                      </a:r>
                    </a:p>
                  </a:txBody>
                  <a:tcPr marL="3953" marR="3953" marT="39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A339 GTB/MOR BRAKE #2 HOT &lt;p&gt;DURING TAXI CAPT INFORM VIA VHF BRAKE #2 HOT, TSV ADVICED BUT CAPT DECIDED RETURN GATE</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3953" marR="3953" marT="39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15:50 DURING TAXI CAPT INFORM VIA VHF BRAKE #2 HOT, TSV ADVICED BUT CAPT DECIDED RETURN GATE&lt;br /&gt;</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- 16:15 CRS KIỂM TRA LÀ BÁO GIẢ, SẼ RAISED MEL, TÀU NẠP THÊM DẦU TIẾP TỤC KHAI THÁC&lt;br /&gt;</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- 16:20 FINAL ACTION: C/O RAISED ADD FOR BRAKE TEMP #2 WRONG INDICATION. A/C SERVICEABLE&lt;br /&gt;</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- 16:28 DOOR CLOSED&lt;/p&gt; BRAKE #2 HOT EVENT CLOSED EVENT CLOSED</a:t>
                      </a:r>
                    </a:p>
                  </a:txBody>
                  <a:tcPr marL="3953" marR="3953" marT="39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32-00</a:t>
                      </a:r>
                    </a:p>
                  </a:txBody>
                  <a:tcPr marL="3953" marR="3953" marT="39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dirty="0">
                          <a:solidFill>
                            <a:srgbClr val="000000"/>
                          </a:solidFill>
                          <a:effectLst/>
                          <a:latin typeface="Times New Roman" panose="02020603050405020304" pitchFamily="18" charset="0"/>
                        </a:rPr>
                        <a:t>Theo báo của CRS thì sau khi xảy ra cảnh báo thì CRS đã advise pc thực hiện reset nhưng cảnh báo vẫn còn nên capt quyết định quay lại. Sau khi xác định là báo giả đã raise MEL và tiếp tục khai thác. Nguyên nhân là do brake temp sensor bị hỏng, đây là ww issue và hiện AIB vẫn đang nghiên cứu giải pháp, dự kiến cuối 2026 mới ban hành. Trong thời gian đợi AIB khuyến cáo tiếp tục dùng PN cũ và có thể sẽ ban hành biện pháp bọc đầu cắm để hạn chế bụi bẩn xâm nhập và lỏng đầu cắm do rung lắc trong quá trình </a:t>
                      </a:r>
                      <a:r>
                        <a:rPr lang="vi-VN" sz="1200" b="0" i="0" u="none" strike="noStrike">
                          <a:solidFill>
                            <a:srgbClr val="000000"/>
                          </a:solidFill>
                          <a:effectLst/>
                          <a:latin typeface="Times New Roman" panose="02020603050405020304" pitchFamily="18" charset="0"/>
                        </a:rPr>
                        <a:t>hoạt động</a:t>
                      </a:r>
                      <a:r>
                        <a:rPr lang="en-US" sz="1200" b="0" i="0" u="none" strike="noStrike">
                          <a:solidFill>
                            <a:srgbClr val="000000"/>
                          </a:solidFill>
                          <a:effectLst/>
                          <a:latin typeface="Times New Roman" panose="02020603050405020304" pitchFamily="18" charset="0"/>
                        </a:rPr>
                        <a:t>.</a:t>
                      </a:r>
                    </a:p>
                    <a:p>
                      <a:pPr algn="l" fontAlgn="t"/>
                      <a:r>
                        <a:rPr lang="en-US" sz="1200" b="0" i="0" u="none" strike="noStrike">
                          <a:solidFill>
                            <a:srgbClr val="000000"/>
                          </a:solidFill>
                          <a:effectLst/>
                          <a:latin typeface="+mn-lt"/>
                        </a:rPr>
                        <a:t>H</a:t>
                      </a:r>
                      <a:r>
                        <a:rPr lang="vi-VN" sz="1200" b="0" i="0" u="none" strike="noStrike">
                          <a:solidFill>
                            <a:srgbClr val="000000"/>
                          </a:solidFill>
                          <a:effectLst/>
                          <a:latin typeface="+mn-lt"/>
                        </a:rPr>
                        <a:t>iện đang triển khai clean connector theo tần suất 60day nhé</a:t>
                      </a:r>
                      <a:endParaRPr lang="vi-VN" sz="1200" b="0" i="0" u="none" strike="noStrike" dirty="0">
                        <a:solidFill>
                          <a:srgbClr val="000000"/>
                        </a:solidFill>
                        <a:effectLst/>
                        <a:latin typeface="Times New Roman" panose="02020603050405020304" pitchFamily="18" charset="0"/>
                      </a:endParaRPr>
                    </a:p>
                  </a:txBody>
                  <a:tcPr marL="3953" marR="3953" marT="39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141332"/>
                  </a:ext>
                </a:extLst>
              </a:tr>
            </a:tbl>
          </a:graphicData>
        </a:graphic>
      </p:graphicFrame>
    </p:spTree>
    <p:custDataLst>
      <p:tags r:id="rId1"/>
    </p:custDataLst>
    <p:extLst>
      <p:ext uri="{BB962C8B-B14F-4D97-AF65-F5344CB8AC3E}">
        <p14:creationId xmlns:p14="http://schemas.microsoft.com/office/powerpoint/2010/main" val="561651509"/>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4</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304800" y="76200"/>
            <a:ext cx="4901033" cy="815200"/>
          </a:xfrm>
        </p:spPr>
        <p:txBody>
          <a:bodyPr>
            <a:normAutofit/>
          </a:bodyPr>
          <a:lstStyle/>
          <a:p>
            <a:r>
              <a:rPr kumimoji="0" lang="en-US" sz="2800" b="1" i="0" u="none" strike="noStrike" kern="1200" cap="none" spc="0" normalizeH="0" baseline="0" noProof="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 SỰ KIỆN </a:t>
            </a:r>
            <a:r>
              <a:rPr 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A4D34B4-E819-745C-D25C-251608F339BF}"/>
              </a:ext>
            </a:extLst>
          </p:cNvPr>
          <p:cNvGraphicFramePr>
            <a:graphicFrameLocks noGrp="1"/>
          </p:cNvGraphicFramePr>
          <p:nvPr>
            <p:extLst>
              <p:ext uri="{D42A27DB-BD31-4B8C-83A1-F6EECF244321}">
                <p14:modId xmlns:p14="http://schemas.microsoft.com/office/powerpoint/2010/main" val="4020702379"/>
              </p:ext>
            </p:extLst>
          </p:nvPr>
        </p:nvGraphicFramePr>
        <p:xfrm>
          <a:off x="381000" y="891400"/>
          <a:ext cx="11277597" cy="4290200"/>
        </p:xfrm>
        <a:graphic>
          <a:graphicData uri="http://schemas.openxmlformats.org/drawingml/2006/table">
            <a:tbl>
              <a:tblPr/>
              <a:tblGrid>
                <a:gridCol w="557744">
                  <a:extLst>
                    <a:ext uri="{9D8B030D-6E8A-4147-A177-3AD203B41FA5}">
                      <a16:colId xmlns:a16="http://schemas.microsoft.com/office/drawing/2014/main" val="2920741844"/>
                    </a:ext>
                  </a:extLst>
                </a:gridCol>
                <a:gridCol w="557744">
                  <a:extLst>
                    <a:ext uri="{9D8B030D-6E8A-4147-A177-3AD203B41FA5}">
                      <a16:colId xmlns:a16="http://schemas.microsoft.com/office/drawing/2014/main" val="1279338562"/>
                    </a:ext>
                  </a:extLst>
                </a:gridCol>
                <a:gridCol w="635830">
                  <a:extLst>
                    <a:ext uri="{9D8B030D-6E8A-4147-A177-3AD203B41FA5}">
                      <a16:colId xmlns:a16="http://schemas.microsoft.com/office/drawing/2014/main" val="3637084285"/>
                    </a:ext>
                  </a:extLst>
                </a:gridCol>
                <a:gridCol w="602364">
                  <a:extLst>
                    <a:ext uri="{9D8B030D-6E8A-4147-A177-3AD203B41FA5}">
                      <a16:colId xmlns:a16="http://schemas.microsoft.com/office/drawing/2014/main" val="2325167655"/>
                    </a:ext>
                  </a:extLst>
                </a:gridCol>
                <a:gridCol w="691604">
                  <a:extLst>
                    <a:ext uri="{9D8B030D-6E8A-4147-A177-3AD203B41FA5}">
                      <a16:colId xmlns:a16="http://schemas.microsoft.com/office/drawing/2014/main" val="3428103472"/>
                    </a:ext>
                  </a:extLst>
                </a:gridCol>
                <a:gridCol w="557744">
                  <a:extLst>
                    <a:ext uri="{9D8B030D-6E8A-4147-A177-3AD203B41FA5}">
                      <a16:colId xmlns:a16="http://schemas.microsoft.com/office/drawing/2014/main" val="2770578331"/>
                    </a:ext>
                  </a:extLst>
                </a:gridCol>
                <a:gridCol w="557744">
                  <a:extLst>
                    <a:ext uri="{9D8B030D-6E8A-4147-A177-3AD203B41FA5}">
                      <a16:colId xmlns:a16="http://schemas.microsoft.com/office/drawing/2014/main" val="772046923"/>
                    </a:ext>
                  </a:extLst>
                </a:gridCol>
                <a:gridCol w="792226">
                  <a:extLst>
                    <a:ext uri="{9D8B030D-6E8A-4147-A177-3AD203B41FA5}">
                      <a16:colId xmlns:a16="http://schemas.microsoft.com/office/drawing/2014/main" val="852384717"/>
                    </a:ext>
                  </a:extLst>
                </a:gridCol>
                <a:gridCol w="2743200">
                  <a:extLst>
                    <a:ext uri="{9D8B030D-6E8A-4147-A177-3AD203B41FA5}">
                      <a16:colId xmlns:a16="http://schemas.microsoft.com/office/drawing/2014/main" val="420554717"/>
                    </a:ext>
                  </a:extLst>
                </a:gridCol>
                <a:gridCol w="2979033">
                  <a:extLst>
                    <a:ext uri="{9D8B030D-6E8A-4147-A177-3AD203B41FA5}">
                      <a16:colId xmlns:a16="http://schemas.microsoft.com/office/drawing/2014/main" val="1155985481"/>
                    </a:ext>
                  </a:extLst>
                </a:gridCol>
                <a:gridCol w="602364">
                  <a:extLst>
                    <a:ext uri="{9D8B030D-6E8A-4147-A177-3AD203B41FA5}">
                      <a16:colId xmlns:a16="http://schemas.microsoft.com/office/drawing/2014/main" val="1816810672"/>
                    </a:ext>
                  </a:extLst>
                </a:gridCol>
              </a:tblGrid>
              <a:tr h="30699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REG.</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YEAR</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MONTH</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DATE</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FLIGHT</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DEP-ARV</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CORRECTIVE ACTION</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18676145"/>
                  </a:ext>
                </a:extLst>
              </a:tr>
              <a:tr h="1225771">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A877</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2025</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VN409</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ICN-SGN</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Times New Roman" panose="02020603050405020304" pitchFamily="18" charset="0"/>
                          <a:cs typeface="Times New Roman" panose="02020603050405020304" pitchFamily="18" charset="0"/>
                        </a:rPr>
                        <a:t>WHEEL TIRE NO1 HEATSHIELD DAMAGED</a:t>
                      </a:r>
                      <a:br>
                        <a:rPr lang="en-SG" sz="1200" b="0" i="0" u="none" strike="noStrike">
                          <a:solidFill>
                            <a:srgbClr val="000000"/>
                          </a:solidFill>
                          <a:effectLst/>
                          <a:latin typeface="Times New Roman" panose="02020603050405020304" pitchFamily="18" charset="0"/>
                          <a:cs typeface="Times New Roman" panose="02020603050405020304" pitchFamily="18" charset="0"/>
                        </a:rPr>
                      </a:br>
                      <a:r>
                        <a:rPr lang="en-SG" sz="1200" b="0" i="0" u="none" strike="noStrike">
                          <a:solidFill>
                            <a:srgbClr val="000000"/>
                          </a:solidFill>
                          <a:effectLst/>
                          <a:latin typeface="Times New Roman" panose="02020603050405020304" pitchFamily="18" charset="0"/>
                          <a:cs typeface="Times New Roman" panose="02020603050405020304" pitchFamily="18" charset="0"/>
                        </a:rPr>
                        <a:t>AFTER VN409 ICN-SGN DURING WALK AROUND FOUND WHEEL TIRE  No1 HEATSHIELD DAMAGED AT BAY 11-TSN</a:t>
                      </a:r>
                    </a:p>
                  </a:txBody>
                  <a:tcPr marL="5589" marR="5589" marT="55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FINAL ACTION: C/O RPLD MW# 1 CHK SATIS.</a:t>
                      </a:r>
                    </a:p>
                  </a:txBody>
                  <a:tcPr marL="5589" marR="5589" marT="55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32</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469491"/>
                  </a:ext>
                </a:extLst>
              </a:tr>
              <a:tr h="2144552">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A339</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A321</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2025</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16</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VN7046</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SGN-VII</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Times New Roman" panose="02020603050405020304" pitchFamily="18" charset="0"/>
                          <a:cs typeface="Times New Roman" panose="02020603050405020304" pitchFamily="18" charset="0"/>
                        </a:rPr>
                        <a:t>A339 GTB/MOR BRAKE #2 HOT</a:t>
                      </a:r>
                      <a:br>
                        <a:rPr lang="en-SG" sz="1200" b="0" i="0" u="none" strike="noStrike">
                          <a:solidFill>
                            <a:srgbClr val="000000"/>
                          </a:solidFill>
                          <a:effectLst/>
                          <a:latin typeface="Times New Roman" panose="02020603050405020304" pitchFamily="18" charset="0"/>
                          <a:cs typeface="Times New Roman" panose="02020603050405020304" pitchFamily="18" charset="0"/>
                        </a:rPr>
                      </a:br>
                      <a:r>
                        <a:rPr lang="en-SG" sz="1200" b="0" i="0" u="none" strike="noStrike">
                          <a:solidFill>
                            <a:srgbClr val="000000"/>
                          </a:solidFill>
                          <a:effectLst/>
                          <a:latin typeface="Times New Roman" panose="02020603050405020304" pitchFamily="18" charset="0"/>
                          <a:cs typeface="Times New Roman" panose="02020603050405020304" pitchFamily="18" charset="0"/>
                        </a:rPr>
                        <a:t>DURING TAXI CAPT INFORM VIA VHF BRAKE #2 HOT, TSV ADVICED BUT CAPT DECIDED RETURN GATE</a:t>
                      </a:r>
                    </a:p>
                  </a:txBody>
                  <a:tcPr marL="5589" marR="5589" marT="55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- 15:50 DURING TAXI CAPT INFORM VIA VHF BRAKE #2 HOT, TSV ADVICED BUT CAPT DECIDED RETURN GATE</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- 16:15 CRS KIỂM TRA LÀ BÁO GIẢ, SẼ RAISED MEL, TÀU NẠP THÊM DẦU TIẾP TỤC KHAI THÁC</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- 16:20 FINAL ACTION: C/O RAISED ADD FOR BRAKE TEMP #2 WRONG INDICATION. A/C SERVICEABLE</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- 16:28 DOOR CLOSED</a:t>
                      </a:r>
                    </a:p>
                  </a:txBody>
                  <a:tcPr marL="5589" marR="5589" marT="55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32</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870332"/>
                  </a:ext>
                </a:extLst>
              </a:tr>
              <a:tr h="612885">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A327</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A321</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2025</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18</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BKK</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VN602</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BKK-HAN</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Times New Roman" panose="02020603050405020304" pitchFamily="18" charset="0"/>
                          <a:cs typeface="Times New Roman" panose="02020603050405020304" pitchFamily="18" charset="0"/>
                        </a:rPr>
                        <a:t>BIRD STRIKE ON WINDSHIELD F/O</a:t>
                      </a:r>
                    </a:p>
                  </a:txBody>
                  <a:tcPr marL="5589" marR="5589" marT="55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Times New Roman" panose="02020603050405020304" pitchFamily="18" charset="0"/>
                          <a:cs typeface="Times New Roman" panose="02020603050405020304" pitchFamily="18" charset="0"/>
                        </a:rPr>
                        <a:t>C/O INSP =&gt;SATIS , CLEAN F/O WINDSHIELD AND REINSPECTION NO DAMAGED</a:t>
                      </a:r>
                    </a:p>
                  </a:txBody>
                  <a:tcPr marL="5589" marR="5589" marT="55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56</a:t>
                      </a:r>
                    </a:p>
                  </a:txBody>
                  <a:tcPr marL="5589" marR="5589" marT="55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7016828"/>
                  </a:ext>
                </a:extLst>
              </a:tr>
            </a:tbl>
          </a:graphicData>
        </a:graphic>
      </p:graphicFrame>
    </p:spTree>
    <p:extLst>
      <p:ext uri="{BB962C8B-B14F-4D97-AF65-F5344CB8AC3E}">
        <p14:creationId xmlns:p14="http://schemas.microsoft.com/office/powerpoint/2010/main" val="2695279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6906" y="130794"/>
            <a:ext cx="11360820" cy="4800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8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8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105371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7" name="TextBox 6">
            <a:extLst>
              <a:ext uri="{FF2B5EF4-FFF2-40B4-BE49-F238E27FC236}">
                <a16:creationId xmlns:a16="http://schemas.microsoft.com/office/drawing/2014/main" id="{380D0EF5-CAED-4228-924A-DD9228564476}"/>
              </a:ext>
            </a:extLst>
          </p:cNvPr>
          <p:cNvSpPr txBox="1"/>
          <p:nvPr/>
        </p:nvSpPr>
        <p:spPr>
          <a:xfrm>
            <a:off x="302664" y="246738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3" name="Table 2"/>
          <p:cNvGraphicFramePr>
            <a:graphicFrameLocks noGrp="1"/>
          </p:cNvGraphicFramePr>
          <p:nvPr>
            <p:extLst>
              <p:ext uri="{D42A27DB-BD31-4B8C-83A1-F6EECF244321}">
                <p14:modId xmlns:p14="http://schemas.microsoft.com/office/powerpoint/2010/main" val="689815715"/>
              </p:ext>
            </p:extLst>
          </p:nvPr>
        </p:nvGraphicFramePr>
        <p:xfrm>
          <a:off x="301591" y="1389962"/>
          <a:ext cx="11463226" cy="83781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NIL</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949457437"/>
              </p:ext>
            </p:extLst>
          </p:nvPr>
        </p:nvGraphicFramePr>
        <p:xfrm>
          <a:off x="341297" y="2941244"/>
          <a:ext cx="11509405" cy="3524482"/>
        </p:xfrm>
        <a:graphic>
          <a:graphicData uri="http://schemas.openxmlformats.org/drawingml/2006/table">
            <a:tbl>
              <a:tblPr/>
              <a:tblGrid>
                <a:gridCol w="384207">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2438400">
                  <a:extLst>
                    <a:ext uri="{9D8B030D-6E8A-4147-A177-3AD203B41FA5}">
                      <a16:colId xmlns:a16="http://schemas.microsoft.com/office/drawing/2014/main" val="20008"/>
                    </a:ext>
                  </a:extLst>
                </a:gridCol>
                <a:gridCol w="4038598">
                  <a:extLst>
                    <a:ext uri="{9D8B030D-6E8A-4147-A177-3AD203B41FA5}">
                      <a16:colId xmlns:a16="http://schemas.microsoft.com/office/drawing/2014/main" val="20009"/>
                    </a:ext>
                  </a:extLst>
                </a:gridCol>
              </a:tblGrid>
              <a:tr h="198120">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636502">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A873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16/01/2025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VN253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SG" sz="1100" b="0" i="0" u="none" strike="noStrike">
                          <a:solidFill>
                            <a:srgbClr val="000000"/>
                          </a:solidFill>
                          <a:effectLst/>
                          <a:latin typeface="Times New Roman" panose="02020603050405020304" pitchFamily="18" charset="0"/>
                          <a:cs typeface="Times New Roman" panose="02020603050405020304" pitchFamily="18" charset="0"/>
                        </a:rPr>
                        <a:t>M/W #8 SHOULDER WORN ABNORMAL </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MW</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A356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17/01/2025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 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VN9490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HAN-PQC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pl-PL" sz="1100" b="0" i="0" u="none" strike="noStrike">
                          <a:solidFill>
                            <a:srgbClr val="000000"/>
                          </a:solidFill>
                          <a:effectLst/>
                          <a:latin typeface="Times New Roman" panose="02020603050405020304" pitchFamily="18" charset="0"/>
                          <a:cs typeface="Times New Roman" panose="02020603050405020304" pitchFamily="18" charset="0"/>
                        </a:rPr>
                        <a:t>M/W # 3 SIDEWALL ABNORMAL WORN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REPLACED NEW MW</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A894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18/01/2025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VN245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SG" sz="1100" b="0" i="0" u="none" strike="noStrike">
                          <a:solidFill>
                            <a:srgbClr val="000000"/>
                          </a:solidFill>
                          <a:effectLst/>
                          <a:latin typeface="Times New Roman" panose="02020603050405020304" pitchFamily="18" charset="0"/>
                          <a:cs typeface="Times New Roman" panose="02020603050405020304" pitchFamily="18" charset="0"/>
                        </a:rPr>
                        <a:t>FOUND M/W #7 SHOULDER ABNORMAL WORN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MW</a:t>
                      </a:r>
                    </a:p>
                    <a:p>
                      <a:pPr algn="ctr" fontAlgn="t"/>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412169"/>
                  </a:ext>
                </a:extLst>
              </a:tr>
              <a:tr h="838200">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A870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18/01/2025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VN977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SGN-DEL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SG" sz="1100" b="0" i="0" u="none" strike="noStrike">
                          <a:solidFill>
                            <a:srgbClr val="000000"/>
                          </a:solidFill>
                          <a:effectLst/>
                          <a:latin typeface="Times New Roman" panose="02020603050405020304" pitchFamily="18" charset="0"/>
                          <a:cs typeface="Times New Roman" panose="02020603050405020304" pitchFamily="18" charset="0"/>
                        </a:rPr>
                        <a:t>DURING T/X CHK FOUND MW #8  SHOULDER WORN ABNORMAL </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MW</a:t>
                      </a:r>
                    </a:p>
                    <a:p>
                      <a:pPr algn="ctr" fontAlgn="t"/>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4639563"/>
                  </a:ext>
                </a:extLst>
              </a:tr>
            </a:tbl>
          </a:graphicData>
        </a:graphic>
      </p:graphicFrame>
    </p:spTree>
    <p:extLst>
      <p:ext uri="{BB962C8B-B14F-4D97-AF65-F5344CB8AC3E}">
        <p14:creationId xmlns:p14="http://schemas.microsoft.com/office/powerpoint/2010/main" val="3928008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03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8AA4BD9-FDEC-2CC2-1A85-C72F397A4621}"/>
              </a:ext>
            </a:extLst>
          </p:cNvPr>
          <p:cNvGraphicFramePr>
            <a:graphicFrameLocks noGrp="1"/>
          </p:cNvGraphicFramePr>
          <p:nvPr>
            <p:extLst>
              <p:ext uri="{D42A27DB-BD31-4B8C-83A1-F6EECF244321}">
                <p14:modId xmlns:p14="http://schemas.microsoft.com/office/powerpoint/2010/main" val="3328162195"/>
              </p:ext>
            </p:extLst>
          </p:nvPr>
        </p:nvGraphicFramePr>
        <p:xfrm>
          <a:off x="170509" y="1553215"/>
          <a:ext cx="11670605" cy="5194591"/>
        </p:xfrm>
        <a:graphic>
          <a:graphicData uri="http://schemas.openxmlformats.org/drawingml/2006/table">
            <a:tbl>
              <a:tblPr/>
              <a:tblGrid>
                <a:gridCol w="375833">
                  <a:extLst>
                    <a:ext uri="{9D8B030D-6E8A-4147-A177-3AD203B41FA5}">
                      <a16:colId xmlns:a16="http://schemas.microsoft.com/office/drawing/2014/main" val="435942644"/>
                    </a:ext>
                  </a:extLst>
                </a:gridCol>
                <a:gridCol w="1087938">
                  <a:extLst>
                    <a:ext uri="{9D8B030D-6E8A-4147-A177-3AD203B41FA5}">
                      <a16:colId xmlns:a16="http://schemas.microsoft.com/office/drawing/2014/main" val="276862112"/>
                    </a:ext>
                  </a:extLst>
                </a:gridCol>
                <a:gridCol w="1087938">
                  <a:extLst>
                    <a:ext uri="{9D8B030D-6E8A-4147-A177-3AD203B41FA5}">
                      <a16:colId xmlns:a16="http://schemas.microsoft.com/office/drawing/2014/main" val="2191467762"/>
                    </a:ext>
                  </a:extLst>
                </a:gridCol>
                <a:gridCol w="375833">
                  <a:extLst>
                    <a:ext uri="{9D8B030D-6E8A-4147-A177-3AD203B41FA5}">
                      <a16:colId xmlns:a16="http://schemas.microsoft.com/office/drawing/2014/main" val="2342651692"/>
                    </a:ext>
                  </a:extLst>
                </a:gridCol>
                <a:gridCol w="2769349">
                  <a:extLst>
                    <a:ext uri="{9D8B030D-6E8A-4147-A177-3AD203B41FA5}">
                      <a16:colId xmlns:a16="http://schemas.microsoft.com/office/drawing/2014/main" val="3654957790"/>
                    </a:ext>
                  </a:extLst>
                </a:gridCol>
                <a:gridCol w="2590800">
                  <a:extLst>
                    <a:ext uri="{9D8B030D-6E8A-4147-A177-3AD203B41FA5}">
                      <a16:colId xmlns:a16="http://schemas.microsoft.com/office/drawing/2014/main" val="3278939196"/>
                    </a:ext>
                  </a:extLst>
                </a:gridCol>
                <a:gridCol w="381000">
                  <a:extLst>
                    <a:ext uri="{9D8B030D-6E8A-4147-A177-3AD203B41FA5}">
                      <a16:colId xmlns:a16="http://schemas.microsoft.com/office/drawing/2014/main" val="3446310582"/>
                    </a:ext>
                  </a:extLst>
                </a:gridCol>
                <a:gridCol w="3001914">
                  <a:extLst>
                    <a:ext uri="{9D8B030D-6E8A-4147-A177-3AD203B41FA5}">
                      <a16:colId xmlns:a16="http://schemas.microsoft.com/office/drawing/2014/main" val="1400684824"/>
                    </a:ext>
                  </a:extLst>
                </a:gridCol>
              </a:tblGrid>
              <a:tr h="41557">
                <a:tc>
                  <a:txBody>
                    <a:bodyPr/>
                    <a:lstStyle/>
                    <a:p>
                      <a:pPr algn="ctr" fontAlgn="ctr"/>
                      <a:r>
                        <a:rPr lang="en-US" sz="800" b="0" i="0" u="none" strike="noStrike">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3142409">
                <a:tc>
                  <a:txBody>
                    <a:bodyPr/>
                    <a:lstStyle/>
                    <a:p>
                      <a:pPr algn="ctr" fontAlgn="t"/>
                      <a:r>
                        <a:rPr lang="en-US" sz="1100" b="0" i="0" u="none" strike="noStrike">
                          <a:solidFill>
                            <a:srgbClr val="000000"/>
                          </a:solidFill>
                          <a:effectLst/>
                          <a:latin typeface="Times New Roman" panose="02020603050405020304" pitchFamily="18" charset="0"/>
                        </a:rPr>
                        <a:t>A392</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23:20 13/01/2025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14:30 14/01/2025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HAN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CABIN V/S FLUCTUATION &lt;p&gt;After VN1206 Capt report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PACK 2 FLOW FLUCTUATION DURING CLIMB OUT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OUT FLOW VALVE FLUCTUAION</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CABIN V/S FLUCTUATION DURING CLIMB OUT</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Replaced starter valve ENG 2.&lt;br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Pack flow control and indicating test satis.</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ENG bleed sys test satis.&lt;br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ERU all parametter normal.&lt;br /&gt;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Waiting advice from airbus.&lt;/p&gt; REPLACED STARTER VALVE ENG 2 EVENT CLOSED &lt;p&gt;FINAL ACTION: REF TSM 36-11-00-810-899A &amp; 21-31-00-810-868-A</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CHECK LEAK SENSOR LINE NO 1,2,3,4,6 OF ENG 2 -&gt; NO LEAK</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CHECK OPERATE  OF HP VLV, PRV AND OPV OF ENG 2 -&gt; SATIS</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CHECK LEAK PACK 1+ 2 AND BLEED DUCT -&gt; NO LEAK</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FOUND FCV OF PACK 2 FLUCTUATION . C/O REPLACE FCV OF PACK 2. CHECK SATIS.  A/C SERVICEABLE</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21</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a:solidFill>
                            <a:srgbClr val="000000"/>
                          </a:solidFill>
                          <a:effectLst/>
                          <a:latin typeface="Times New Roman" panose="02020603050405020304" pitchFamily="18" charset="0"/>
                        </a:rPr>
                        <a:t>Hỏng hóc lặp lại, trước đó theo đánh giá của AIB thì hiện tượng này là bình thường và không cần phải làm gì thêm. Tuy nhiên sau đó tổ bay tiếp tục ghi sổ V/S tiếp tục dao động. Vaeco đã tiến hành TS và thay thế SAV trước và thực hiện kiểm tra check leak hệ thống bleed và hệ thống điều hoà thì phát hiện FCV cũng có hiện tượng đóng mở không ổn định. Sau khi thay thế 02 thiết bị này thì tàu bay hoạt động bình thường, AIB cũng không khuyến cáo phải làm thêm gì. Nguyên nhân có thể do 1 trong 2 thiết bị hỏng dẫn tới leak khí làm áp suất không ổn định gây ra hiện tượng trên. Ban KT sẽ lưu ý với Vaeco về trường hợp này để chủ động kiểm tra kĩ và thay thế thiết bị nếu cần</a:t>
                      </a:r>
                      <a:br>
                        <a:rPr lang="vi-VN" sz="1100" b="0" i="0" u="none" strike="noStrike">
                          <a:solidFill>
                            <a:srgbClr val="000000"/>
                          </a:solidFill>
                          <a:effectLst/>
                          <a:latin typeface="Times New Roman" panose="02020603050405020304" pitchFamily="18" charset="0"/>
                        </a:rPr>
                      </a:br>
                      <a:endParaRPr lang="vi-VN" sz="1100" b="0" i="0" u="none" strike="noStrike">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r h="1102554">
                <a:tc>
                  <a:txBody>
                    <a:bodyPr/>
                    <a:lstStyle/>
                    <a:p>
                      <a:pPr algn="ctr" fontAlgn="t"/>
                      <a:r>
                        <a:rPr lang="en-US" sz="1100" b="0" i="0" u="none" strike="noStrike">
                          <a:solidFill>
                            <a:srgbClr val="000000"/>
                          </a:solidFill>
                          <a:effectLst/>
                          <a:latin typeface="Times New Roman" panose="02020603050405020304" pitchFamily="18" charset="0"/>
                        </a:rPr>
                        <a:t>A608</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02:14 14/01/2025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08:00 15/01/2025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HAN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ENGINE V17403 &lt;p&gt;C/O WO EOD-32S-72-00-0018-R00BSI ENGINE V17403– INSPECTION OF THE HP COMPRESSOR STAGE 3 ROTOR CLAPPER</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Found 01 HPC ROTOR CLAPPER WITH LOSS MATERIALS REF AMM 72-00-00-210-012-A PART 4.B.(1).b : REJECT THE ENGINE</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HANDOVER TO BASE REPLACE ENG&lt;/p&gt; HANDOVER TO BASE EVENT CLOSED</a:t>
                      </a:r>
                      <a:br>
                        <a:rPr lang="en-US" sz="1100" b="0" i="0" u="none" strike="noStrike">
                          <a:solidFill>
                            <a:srgbClr val="000000"/>
                          </a:solidFill>
                          <a:effectLst/>
                          <a:latin typeface="Times New Roman" panose="02020603050405020304" pitchFamily="18" charset="0"/>
                        </a:rPr>
                      </a:br>
                      <a:endParaRPr lang="en-US" sz="1100" b="0" i="0" u="none" strike="noStrike">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 </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Times New Roman" panose="02020603050405020304" pitchFamily="18" charset="0"/>
                        </a:rPr>
                        <a:t>Động cơ V17403 có TSN/CSN: 22762/15841, TSO/CSO: 7499/ 5450. Động cơ có lịch sử bị chim va ngày 16/06/2024, theo AMM phải soi HPC tầng 3 tần suất 750 FC cho đến khi đạt ít nhất 2100 FC. Đến lần soi thứ 2 thì phát hiện 1 lá bị mất vật liệu nên phải tháo đi shop. Đánh giá hỏng hóc có thể do chim va gây hư hại lá, lâu ngày phát triển gây mất vật liệu.</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5191701"/>
                  </a:ext>
                </a:extLst>
              </a:tr>
              <a:tr h="700663">
                <a:tc>
                  <a:txBody>
                    <a:bodyPr/>
                    <a:lstStyle/>
                    <a:p>
                      <a:pPr algn="ctr" fontAlgn="t"/>
                      <a:r>
                        <a:rPr lang="en-US" sz="1100" b="0" i="0" u="none" strike="noStrike">
                          <a:solidFill>
                            <a:srgbClr val="000000"/>
                          </a:solidFill>
                          <a:effectLst/>
                          <a:latin typeface="Times New Roman" panose="02020603050405020304" pitchFamily="18" charset="0"/>
                        </a:rPr>
                        <a:t>A353</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10:43 14/01/2025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15:30 14/01/2025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Times New Roman" panose="02020603050405020304" pitchFamily="18" charset="0"/>
                        </a:rPr>
                        <a:t>HAN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RH MLG SHOCK ABSORBER LOW</a:t>
                      </a:r>
                    </a:p>
                    <a:p>
                      <a:pPr algn="l" fontAlgn="t"/>
                      <a:r>
                        <a:rPr lang="en-US" sz="1100" b="0" i="0" u="none" strike="noStrike">
                          <a:solidFill>
                            <a:srgbClr val="000000"/>
                          </a:solidFill>
                          <a:effectLst/>
                          <a:latin typeface="Times New Roman" panose="02020603050405020304" pitchFamily="18" charset="0"/>
                        </a:rPr>
                        <a:t>A353 VN579/VN7567 TPE-HAN-CXR (TRANSIT): RH MLG SHOCK ABSORBER LOW NEED TIME FOR INSPECTION.</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SG" sz="1100" b="0" i="0" u="none" strike="noStrike">
                          <a:solidFill>
                            <a:srgbClr val="000000"/>
                          </a:solidFill>
                          <a:effectLst/>
                          <a:latin typeface="Times New Roman" panose="02020603050405020304" pitchFamily="18" charset="0"/>
                        </a:rPr>
                        <a:t>FINAL ACTION: C/O CHECK MLG CHARGE PRESS AND REPLENISH HYD FLUID FOUND SATIS. A/C SERVICEABLE.</a:t>
                      </a:r>
                      <a:endParaRPr lang="en-US" sz="1100" b="0" i="0" u="none" strike="noStrike">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32</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vi-VN" sz="1100" b="0" i="0" u="none" strike="noStrike" dirty="0">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5515967"/>
                  </a:ext>
                </a:extLst>
              </a:tr>
            </a:tbl>
          </a:graphicData>
        </a:graphic>
      </p:graphicFrame>
    </p:spTree>
    <p:extLst>
      <p:ext uri="{BB962C8B-B14F-4D97-AF65-F5344CB8AC3E}">
        <p14:creationId xmlns:p14="http://schemas.microsoft.com/office/powerpoint/2010/main" val="93647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a:t>
            </a: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03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extLst>
              <p:ext uri="{D42A27DB-BD31-4B8C-83A1-F6EECF244321}">
                <p14:modId xmlns:p14="http://schemas.microsoft.com/office/powerpoint/2010/main" val="2691543329"/>
              </p:ext>
            </p:extLst>
          </p:nvPr>
        </p:nvGraphicFramePr>
        <p:xfrm>
          <a:off x="152399" y="1570679"/>
          <a:ext cx="11688717" cy="4170001"/>
        </p:xfrm>
        <a:graphic>
          <a:graphicData uri="http://schemas.openxmlformats.org/drawingml/2006/table">
            <a:tbl>
              <a:tblPr/>
              <a:tblGrid>
                <a:gridCol w="304801">
                  <a:extLst>
                    <a:ext uri="{9D8B030D-6E8A-4147-A177-3AD203B41FA5}">
                      <a16:colId xmlns:a16="http://schemas.microsoft.com/office/drawing/2014/main" val="3316182388"/>
                    </a:ext>
                  </a:extLst>
                </a:gridCol>
                <a:gridCol w="688270">
                  <a:extLst>
                    <a:ext uri="{9D8B030D-6E8A-4147-A177-3AD203B41FA5}">
                      <a16:colId xmlns:a16="http://schemas.microsoft.com/office/drawing/2014/main" val="4104333813"/>
                    </a:ext>
                  </a:extLst>
                </a:gridCol>
                <a:gridCol w="254977">
                  <a:extLst>
                    <a:ext uri="{9D8B030D-6E8A-4147-A177-3AD203B41FA5}">
                      <a16:colId xmlns:a16="http://schemas.microsoft.com/office/drawing/2014/main" val="2544045720"/>
                    </a:ext>
                  </a:extLst>
                </a:gridCol>
                <a:gridCol w="691124">
                  <a:extLst>
                    <a:ext uri="{9D8B030D-6E8A-4147-A177-3AD203B41FA5}">
                      <a16:colId xmlns:a16="http://schemas.microsoft.com/office/drawing/2014/main" val="3951547359"/>
                    </a:ext>
                  </a:extLst>
                </a:gridCol>
                <a:gridCol w="516665">
                  <a:extLst>
                    <a:ext uri="{9D8B030D-6E8A-4147-A177-3AD203B41FA5}">
                      <a16:colId xmlns:a16="http://schemas.microsoft.com/office/drawing/2014/main" val="379936116"/>
                    </a:ext>
                  </a:extLst>
                </a:gridCol>
                <a:gridCol w="429437">
                  <a:extLst>
                    <a:ext uri="{9D8B030D-6E8A-4147-A177-3AD203B41FA5}">
                      <a16:colId xmlns:a16="http://schemas.microsoft.com/office/drawing/2014/main" val="905265164"/>
                    </a:ext>
                  </a:extLst>
                </a:gridCol>
                <a:gridCol w="2556488">
                  <a:extLst>
                    <a:ext uri="{9D8B030D-6E8A-4147-A177-3AD203B41FA5}">
                      <a16:colId xmlns:a16="http://schemas.microsoft.com/office/drawing/2014/main" val="1766184023"/>
                    </a:ext>
                  </a:extLst>
                </a:gridCol>
                <a:gridCol w="2845015">
                  <a:extLst>
                    <a:ext uri="{9D8B030D-6E8A-4147-A177-3AD203B41FA5}">
                      <a16:colId xmlns:a16="http://schemas.microsoft.com/office/drawing/2014/main" val="3411328682"/>
                    </a:ext>
                  </a:extLst>
                </a:gridCol>
                <a:gridCol w="261688">
                  <a:extLst>
                    <a:ext uri="{9D8B030D-6E8A-4147-A177-3AD203B41FA5}">
                      <a16:colId xmlns:a16="http://schemas.microsoft.com/office/drawing/2014/main" val="3312070597"/>
                    </a:ext>
                  </a:extLst>
                </a:gridCol>
                <a:gridCol w="3140252">
                  <a:extLst>
                    <a:ext uri="{9D8B030D-6E8A-4147-A177-3AD203B41FA5}">
                      <a16:colId xmlns:a16="http://schemas.microsoft.com/office/drawing/2014/main" val="1807191619"/>
                    </a:ext>
                  </a:extLst>
                </a:gridCol>
              </a:tblGrid>
              <a:tr h="29521">
                <a:tc>
                  <a:txBody>
                    <a:bodyPr/>
                    <a:lstStyle/>
                    <a:p>
                      <a:pPr algn="ctr" fontAlgn="t"/>
                      <a:r>
                        <a:rPr lang="en-US" sz="5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5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2164507">
                <a:tc>
                  <a:txBody>
                    <a:bodyPr/>
                    <a:lstStyle/>
                    <a:p>
                      <a:pPr algn="ctr" fontAlgn="t"/>
                      <a:r>
                        <a:rPr lang="en-US" sz="900" b="0" i="0" u="none" strike="noStrike">
                          <a:solidFill>
                            <a:srgbClr val="000000"/>
                          </a:solidFill>
                          <a:effectLst/>
                          <a:latin typeface="Times New Roman" panose="02020603050405020304" pitchFamily="18" charset="0"/>
                        </a:rPr>
                        <a:t>A353</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10:43 14/01/2025</a:t>
                      </a:r>
                      <a:endParaRPr lang="en-US" sz="900" b="0" i="0" u="none" strike="noStrike" dirty="0">
                        <a:solidFill>
                          <a:srgbClr val="000000"/>
                        </a:solidFill>
                        <a:effectLst/>
                        <a:latin typeface="Times New Roman" panose="02020603050405020304" pitchFamily="18" charset="0"/>
                      </a:endParaRP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HAN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30</a:t>
                      </a:r>
                      <a:endParaRPr lang="en-US" sz="900" b="0" i="0" u="none" strike="noStrike" dirty="0">
                        <a:solidFill>
                          <a:srgbClr val="000000"/>
                        </a:solidFill>
                        <a:effectLst/>
                        <a:latin typeface="Times New Roman" panose="02020603050405020304" pitchFamily="18" charset="0"/>
                      </a:endParaRP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VN7567</a:t>
                      </a:r>
                      <a:endParaRPr lang="en-US" sz="900" b="0" i="0" u="none" strike="noStrike" dirty="0">
                        <a:solidFill>
                          <a:srgbClr val="000000"/>
                        </a:solidFill>
                        <a:effectLst/>
                        <a:latin typeface="Times New Roman" panose="02020603050405020304" pitchFamily="18" charset="0"/>
                      </a:endParaRP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HAN-CXR</a:t>
                      </a:r>
                      <a:endParaRPr lang="en-US" sz="900" b="0" i="0" u="none" strike="noStrike" dirty="0">
                        <a:solidFill>
                          <a:srgbClr val="000000"/>
                        </a:solidFill>
                        <a:effectLst/>
                        <a:latin typeface="Times New Roman" panose="02020603050405020304" pitchFamily="18" charset="0"/>
                      </a:endParaRP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RH MLG SHOCK ABSORBER LOW</a:t>
                      </a:r>
                    </a:p>
                    <a:p>
                      <a:pPr algn="l" fontAlgn="t"/>
                      <a:r>
                        <a:rPr lang="en-US" sz="1100" b="0" i="0" u="none" strike="noStrike">
                          <a:solidFill>
                            <a:srgbClr val="000000"/>
                          </a:solidFill>
                          <a:effectLst/>
                          <a:latin typeface="Times New Roman" panose="02020603050405020304" pitchFamily="18" charset="0"/>
                        </a:rPr>
                        <a:t>A353 VN579/VN7567 TPE-HAN-CXR (TRANSIT): RH MLG SHOCK ABSORBER LOW NEED TIME FOR INSPECTION.</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SG" sz="1100" b="0" i="0" u="none" strike="noStrike">
                          <a:solidFill>
                            <a:srgbClr val="000000"/>
                          </a:solidFill>
                          <a:effectLst/>
                          <a:latin typeface="Times New Roman" panose="02020603050405020304" pitchFamily="18" charset="0"/>
                        </a:rPr>
                        <a:t>FINAL ACTION: C/O CHECK MLG CHARGE PRESS AND REPLENISH HYD FLUID FOUND SATIS. A/C SERVICEABLE.</a:t>
                      </a:r>
                      <a:endParaRPr lang="en-US" sz="1100" b="0" i="0" u="none" strike="noStrike">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Times New Roman" panose="02020603050405020304" pitchFamily="18" charset="0"/>
                        </a:rPr>
                        <a:t>32</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vi-VN" sz="900" b="0" i="0" u="none" strike="noStrike" dirty="0">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5640721"/>
                  </a:ext>
                </a:extLst>
              </a:tr>
              <a:tr h="1274535">
                <a:tc>
                  <a:txBody>
                    <a:bodyPr/>
                    <a:lstStyle/>
                    <a:p>
                      <a:pPr algn="ctr" fontAlgn="t"/>
                      <a:r>
                        <a:rPr lang="en-US" sz="900" b="0" i="0" u="none" strike="noStrike">
                          <a:solidFill>
                            <a:srgbClr val="000000"/>
                          </a:solidFill>
                          <a:effectLst/>
                          <a:latin typeface="Times New Roman" panose="02020603050405020304" pitchFamily="18" charset="0"/>
                        </a:rPr>
                        <a:t>A339</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23:00 16/01/2025</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SGN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dirty="0">
                          <a:solidFill>
                            <a:srgbClr val="000000"/>
                          </a:solidFill>
                          <a:effectLst/>
                          <a:latin typeface="Times New Roman" panose="02020603050405020304" pitchFamily="18" charset="0"/>
                        </a:rPr>
                        <a:t>30</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VN7046</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SGN-VII</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rPr>
                        <a:t>A339 GTB/MOR BRAKE #2 HOT &lt;p&gt;DURING TAXI CAPT INFORM VIA VHF BRAKE #2 HOT, TSV ADVICED BUT CAPT DECIDED RETURN GATE</a:t>
                      </a:r>
                      <a:br>
                        <a:rPr lang="en-US" sz="900" b="0" i="0" u="none" strike="noStrike">
                          <a:solidFill>
                            <a:srgbClr val="000000"/>
                          </a:solidFill>
                          <a:effectLst/>
                          <a:latin typeface="Times New Roman" panose="02020603050405020304" pitchFamily="18" charset="0"/>
                        </a:rPr>
                      </a:br>
                      <a:endParaRPr lang="en-US" sz="900" b="0" i="0" u="none" strike="noStrike">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dirty="0">
                          <a:solidFill>
                            <a:srgbClr val="000000"/>
                          </a:solidFill>
                          <a:effectLst/>
                          <a:latin typeface="Times New Roman" panose="02020603050405020304" pitchFamily="18" charset="0"/>
                        </a:rPr>
                        <a:t>&lt;p&gt;- 15:50 DURING TAXI CAPT INFORM VIA VHF BRAKE #2 HOT, TSV ADVICED BUT CAPT DECIDED RETURN GATE&lt;</a:t>
                      </a:r>
                      <a:r>
                        <a:rPr lang="en-US" sz="900" b="0" i="0" u="none" strike="noStrike" dirty="0" err="1">
                          <a:solidFill>
                            <a:srgbClr val="000000"/>
                          </a:solidFill>
                          <a:effectLst/>
                          <a:latin typeface="Times New Roman" panose="02020603050405020304" pitchFamily="18" charset="0"/>
                        </a:rPr>
                        <a:t>br</a:t>
                      </a:r>
                      <a:r>
                        <a:rPr lang="en-US" sz="900" b="0" i="0" u="none" strike="noStrike" dirty="0">
                          <a:solidFill>
                            <a:srgbClr val="000000"/>
                          </a:solidFill>
                          <a:effectLst/>
                          <a:latin typeface="Times New Roman" panose="02020603050405020304" pitchFamily="18" charset="0"/>
                        </a:rPr>
                        <a:t> /&gt;</a:t>
                      </a:r>
                      <a:br>
                        <a:rPr lang="en-US" sz="900" b="0" i="0" u="none" strike="noStrike" dirty="0">
                          <a:solidFill>
                            <a:srgbClr val="000000"/>
                          </a:solidFill>
                          <a:effectLst/>
                          <a:latin typeface="Times New Roman" panose="02020603050405020304" pitchFamily="18" charset="0"/>
                        </a:rPr>
                      </a:br>
                      <a:r>
                        <a:rPr lang="en-US" sz="900" b="0" i="0" u="none" strike="noStrike" dirty="0">
                          <a:solidFill>
                            <a:srgbClr val="000000"/>
                          </a:solidFill>
                          <a:effectLst/>
                          <a:latin typeface="Times New Roman" panose="02020603050405020304" pitchFamily="18" charset="0"/>
                        </a:rPr>
                        <a:t>- 16:15 CRS KIỂM TRA LÀ BÁO GIẢ, SẼ RAISED MEL, TÀU NẠP THÊM DẦU TIẾP TỤC KHAI THÁC&lt;</a:t>
                      </a:r>
                      <a:r>
                        <a:rPr lang="en-US" sz="900" b="0" i="0" u="none" strike="noStrike" dirty="0" err="1">
                          <a:solidFill>
                            <a:srgbClr val="000000"/>
                          </a:solidFill>
                          <a:effectLst/>
                          <a:latin typeface="Times New Roman" panose="02020603050405020304" pitchFamily="18" charset="0"/>
                        </a:rPr>
                        <a:t>br</a:t>
                      </a:r>
                      <a:r>
                        <a:rPr lang="en-US" sz="900" b="0" i="0" u="none" strike="noStrike" dirty="0">
                          <a:solidFill>
                            <a:srgbClr val="000000"/>
                          </a:solidFill>
                          <a:effectLst/>
                          <a:latin typeface="Times New Roman" panose="02020603050405020304" pitchFamily="18" charset="0"/>
                        </a:rPr>
                        <a:t> /&gt;</a:t>
                      </a:r>
                      <a:br>
                        <a:rPr lang="en-US" sz="900" b="0" i="0" u="none" strike="noStrike" dirty="0">
                          <a:solidFill>
                            <a:srgbClr val="000000"/>
                          </a:solidFill>
                          <a:effectLst/>
                          <a:latin typeface="Times New Roman" panose="02020603050405020304" pitchFamily="18" charset="0"/>
                        </a:rPr>
                      </a:br>
                      <a:r>
                        <a:rPr lang="en-US" sz="900" b="0" i="0" u="none" strike="noStrike" dirty="0">
                          <a:solidFill>
                            <a:srgbClr val="000000"/>
                          </a:solidFill>
                          <a:effectLst/>
                          <a:latin typeface="Times New Roman" panose="02020603050405020304" pitchFamily="18" charset="0"/>
                        </a:rPr>
                        <a:t>- 16:20 FINAL ACTION: C/O RAISED ADD FOR BRAKE TEMP #2 WRONG INDICATION. A/C SERVICEABLE&lt;</a:t>
                      </a:r>
                      <a:r>
                        <a:rPr lang="en-US" sz="900" b="0" i="0" u="none" strike="noStrike" dirty="0" err="1">
                          <a:solidFill>
                            <a:srgbClr val="000000"/>
                          </a:solidFill>
                          <a:effectLst/>
                          <a:latin typeface="Times New Roman" panose="02020603050405020304" pitchFamily="18" charset="0"/>
                        </a:rPr>
                        <a:t>br</a:t>
                      </a:r>
                      <a:r>
                        <a:rPr lang="en-US" sz="900" b="0" i="0" u="none" strike="noStrike" dirty="0">
                          <a:solidFill>
                            <a:srgbClr val="000000"/>
                          </a:solidFill>
                          <a:effectLst/>
                          <a:latin typeface="Times New Roman" panose="02020603050405020304" pitchFamily="18" charset="0"/>
                        </a:rPr>
                        <a:t> /&gt;</a:t>
                      </a:r>
                      <a:br>
                        <a:rPr lang="en-US" sz="900" b="0" i="0" u="none" strike="noStrike" dirty="0">
                          <a:solidFill>
                            <a:srgbClr val="000000"/>
                          </a:solidFill>
                          <a:effectLst/>
                          <a:latin typeface="Times New Roman" panose="02020603050405020304" pitchFamily="18" charset="0"/>
                        </a:rPr>
                      </a:br>
                      <a:r>
                        <a:rPr lang="en-US" sz="900" b="0" i="0" u="none" strike="noStrike" dirty="0">
                          <a:solidFill>
                            <a:srgbClr val="000000"/>
                          </a:solidFill>
                          <a:effectLst/>
                          <a:latin typeface="Times New Roman" panose="02020603050405020304" pitchFamily="18" charset="0"/>
                        </a:rPr>
                        <a:t>- 16:28 DOOR CLOSED&lt;/p&gt; BRAKE #2 HOT EVENT CLOSED &lt;p&gt;&lt;/p&gt;EVENT CLOSED</a:t>
                      </a:r>
                      <a:br>
                        <a:rPr lang="en-US" sz="900" b="0" i="0" u="none" strike="noStrike" dirty="0">
                          <a:solidFill>
                            <a:srgbClr val="000000"/>
                          </a:solidFill>
                          <a:effectLst/>
                          <a:latin typeface="Times New Roman" panose="02020603050405020304" pitchFamily="18" charset="0"/>
                        </a:rPr>
                      </a:br>
                      <a:endParaRPr lang="en-US" sz="900" b="0" i="0" u="none" strike="noStrike" dirty="0">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dirty="0">
                          <a:solidFill>
                            <a:srgbClr val="000000"/>
                          </a:solidFill>
                          <a:effectLst/>
                          <a:latin typeface="Times New Roman" panose="02020603050405020304" pitchFamily="18" charset="0"/>
                        </a:rPr>
                        <a:t>32-00</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dirty="0">
                          <a:solidFill>
                            <a:srgbClr val="000000"/>
                          </a:solidFill>
                          <a:effectLst/>
                          <a:latin typeface="Times New Roman" panose="02020603050405020304" pitchFamily="18" charset="0"/>
                        </a:rPr>
                        <a:t>Theo báo của CRS thì sau khi xảy ra cảnh báo thì CRS đã advise pc thực hiện reset nhưng cảnh báo vẫn còn nên capt quyết định quay lại. Sau khi xác định là báo giả đã raise MEL và tiếp tục khai thác. Nguyên nhân là do brake temp sensor bị hỏng, đây là ww issue và hiện AIB vẫn đang nghiên cứu giải pháp, dự kiến cuối 2026 mới ban hành. Trong thời gian đợi AIB khuyến cáo tiếp tục dùng PN cũ và có thể sẽ ban hành biện pháp bọc đầu cắm để hạn chế bụi bẩn xâm nhập và lỏng đầu cắm do rung lắc trong quá trình hoạt động</a:t>
                      </a:r>
                      <a:br>
                        <a:rPr lang="vi-VN" sz="900" b="0" i="0" u="none" strike="noStrike" dirty="0">
                          <a:solidFill>
                            <a:srgbClr val="000000"/>
                          </a:solidFill>
                          <a:effectLst/>
                          <a:latin typeface="Times New Roman" panose="02020603050405020304" pitchFamily="18" charset="0"/>
                        </a:rPr>
                      </a:br>
                      <a:endParaRPr lang="vi-VN" sz="900" b="0" i="0" u="none" strike="noStrike" dirty="0">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216369"/>
                  </a:ext>
                </a:extLst>
              </a:tr>
              <a:tr h="176257">
                <a:tc>
                  <a:txBody>
                    <a:bodyPr/>
                    <a:lstStyle/>
                    <a:p>
                      <a:pPr algn="ctr" fontAlgn="t"/>
                      <a:r>
                        <a:rPr lang="en-US" sz="900" b="0" i="0" u="none" strike="noStrike">
                          <a:solidFill>
                            <a:srgbClr val="000000"/>
                          </a:solidFill>
                          <a:effectLst/>
                          <a:latin typeface="Times New Roman" panose="02020603050405020304" pitchFamily="18" charset="0"/>
                        </a:rPr>
                        <a:t>A338</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18:40 13/01/2025</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BKK</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240</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VN618</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rPr>
                        <a:t>BKK-HAN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dirty="0">
                          <a:solidFill>
                            <a:srgbClr val="000000"/>
                          </a:solidFill>
                          <a:effectLst/>
                          <a:latin typeface="Times New Roman" panose="02020603050405020304" pitchFamily="18" charset="0"/>
                        </a:rPr>
                        <a:t>WASTE DRAIN VLV STUCK &lt;p&gt;(</a:t>
                      </a:r>
                      <a:r>
                        <a:rPr lang="en-US" sz="900" b="0" i="0" u="none" strike="noStrike" dirty="0" err="1">
                          <a:solidFill>
                            <a:srgbClr val="000000"/>
                          </a:solidFill>
                          <a:effectLst/>
                          <a:latin typeface="Times New Roman" panose="02020603050405020304" pitchFamily="18" charset="0"/>
                        </a:rPr>
                        <a:t>chuyến</a:t>
                      </a:r>
                      <a:r>
                        <a:rPr lang="en-US" sz="900" b="0" i="0" u="none" strike="noStrike" dirty="0">
                          <a:solidFill>
                            <a:srgbClr val="000000"/>
                          </a:solidFill>
                          <a:effectLst/>
                          <a:latin typeface="Times New Roman" panose="02020603050405020304" pitchFamily="18" charset="0"/>
                        </a:rPr>
                        <a:t> bay do </a:t>
                      </a:r>
                      <a:r>
                        <a:rPr lang="en-US" sz="900" b="0" i="0" u="none" strike="noStrike" dirty="0" err="1">
                          <a:solidFill>
                            <a:srgbClr val="000000"/>
                          </a:solidFill>
                          <a:effectLst/>
                          <a:latin typeface="Times New Roman" panose="02020603050405020304" pitchFamily="18" charset="0"/>
                        </a:rPr>
                        <a:t>Capt</a:t>
                      </a:r>
                      <a:r>
                        <a:rPr lang="en-US" sz="900" b="0" i="0" u="none" strike="noStrike" dirty="0">
                          <a:solidFill>
                            <a:srgbClr val="000000"/>
                          </a:solidFill>
                          <a:effectLst/>
                          <a:latin typeface="Times New Roman" panose="02020603050405020304" pitchFamily="18" charset="0"/>
                        </a:rPr>
                        <a:t> </a:t>
                      </a:r>
                      <a:r>
                        <a:rPr lang="en-US" sz="900" b="0" i="0" u="none" strike="noStrike" dirty="0" err="1">
                          <a:solidFill>
                            <a:srgbClr val="000000"/>
                          </a:solidFill>
                          <a:effectLst/>
                          <a:latin typeface="Times New Roman" panose="02020603050405020304" pitchFamily="18" charset="0"/>
                        </a:rPr>
                        <a:t>ký</a:t>
                      </a:r>
                      <a:r>
                        <a:rPr lang="en-US" sz="900" b="0" i="0" u="none" strike="noStrike" dirty="0">
                          <a:solidFill>
                            <a:srgbClr val="000000"/>
                          </a:solidFill>
                          <a:effectLst/>
                          <a:latin typeface="Times New Roman" panose="02020603050405020304" pitchFamily="18" charset="0"/>
                        </a:rPr>
                        <a:t> </a:t>
                      </a:r>
                      <a:r>
                        <a:rPr lang="en-US" sz="900" b="0" i="0" u="none" strike="noStrike" dirty="0" err="1">
                          <a:solidFill>
                            <a:srgbClr val="000000"/>
                          </a:solidFill>
                          <a:effectLst/>
                          <a:latin typeface="Times New Roman" panose="02020603050405020304" pitchFamily="18" charset="0"/>
                        </a:rPr>
                        <a:t>sổ</a:t>
                      </a:r>
                      <a:r>
                        <a:rPr lang="en-US" sz="900" b="0" i="0" u="none" strike="noStrike" dirty="0">
                          <a:solidFill>
                            <a:srgbClr val="000000"/>
                          </a:solidFill>
                          <a:effectLst/>
                          <a:latin typeface="Times New Roman" panose="02020603050405020304" pitchFamily="18" charset="0"/>
                        </a:rPr>
                        <a:t>, Thai VJ </a:t>
                      </a:r>
                      <a:r>
                        <a:rPr lang="en-US" sz="900" b="0" i="0" u="none" strike="noStrike" dirty="0" err="1">
                          <a:solidFill>
                            <a:srgbClr val="000000"/>
                          </a:solidFill>
                          <a:effectLst/>
                          <a:latin typeface="Times New Roman" panose="02020603050405020304" pitchFamily="18" charset="0"/>
                        </a:rPr>
                        <a:t>Oncall</a:t>
                      </a:r>
                      <a:r>
                        <a:rPr lang="en-US" sz="900" b="0" i="0" u="none" strike="noStrike" dirty="0">
                          <a:solidFill>
                            <a:srgbClr val="000000"/>
                          </a:solidFill>
                          <a:effectLst/>
                          <a:latin typeface="Times New Roman" panose="02020603050405020304" pitchFamily="18" charset="0"/>
                        </a:rPr>
                        <a:t>)&lt;/p&gt;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rPr>
                        <a:t>&lt;p&gt;TVJ Found ROD DRAIN VALVE BROKEN, C/O MAINT TO DRAIN WASTE THEN ADD RAISED&lt;/p&gt; ROD DRAIN VALVE BROKEN EVENT CLOSED</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rPr>
                        <a:t>12-00</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dirty="0">
                          <a:solidFill>
                            <a:srgbClr val="000000"/>
                          </a:solidFill>
                          <a:effectLst/>
                          <a:latin typeface="Times New Roman" panose="02020603050405020304" pitchFamily="18" charset="0"/>
                        </a:rPr>
                        <a:t>Hỏng hóc liên quan đến drain valve, nguyên nhân là do cần gạt bị gẫy, có thể do ảnh hưởng của aging vật liệu. Hiện AIB không có topic nào liên quan đến ĐTC của valve này. Tiếp tục theo dõi thêm</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1241311"/>
                  </a:ext>
                </a:extLst>
              </a:tr>
            </a:tbl>
          </a:graphicData>
        </a:graphic>
      </p:graphicFrame>
    </p:spTree>
    <p:extLst>
      <p:ext uri="{BB962C8B-B14F-4D97-AF65-F5344CB8AC3E}">
        <p14:creationId xmlns:p14="http://schemas.microsoft.com/office/powerpoint/2010/main" val="3528436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A321 – ATA 32 – BRAKE TEMP SENSOR </a:t>
            </a:r>
            <a:endPar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8" name="Rectangle: Single Corner Rounded 17">
            <a:extLst>
              <a:ext uri="{FF2B5EF4-FFF2-40B4-BE49-F238E27FC236}">
                <a16:creationId xmlns:a16="http://schemas.microsoft.com/office/drawing/2014/main" id="{5155226F-3EB7-3C0E-469A-46ED6620612C}"/>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6DE6AE94-1651-1D37-2599-C90EF3CDAD74}"/>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E9495C8-689A-24C5-2045-BD35104BD5D0}"/>
              </a:ext>
            </a:extLst>
          </p:cNvPr>
          <p:cNvSpPr txBox="1"/>
          <p:nvPr/>
        </p:nvSpPr>
        <p:spPr>
          <a:xfrm>
            <a:off x="795407" y="2990319"/>
            <a:ext cx="6700767" cy="1107996"/>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Brake temp sensor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ĐTC </a:t>
            </a:r>
            <a:r>
              <a:rPr lang="en-US" sz="1400" dirty="0" err="1">
                <a:solidFill>
                  <a:srgbClr val="203864"/>
                </a:solidFill>
                <a:latin typeface="Times New Roman" panose="02020603050405020304" pitchFamily="18" charset="0"/>
                <a:cs typeface="Times New Roman" panose="02020603050405020304" pitchFamily="18" charset="0"/>
              </a:rPr>
              <a:t>thấp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đây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ww</a:t>
            </a:r>
            <a:r>
              <a:rPr lang="en-US" sz="1400" dirty="0">
                <a:solidFill>
                  <a:srgbClr val="203864"/>
                </a:solidFill>
                <a:latin typeface="Times New Roman" panose="02020603050405020304" pitchFamily="18" charset="0"/>
                <a:cs typeface="Times New Roman" panose="02020603050405020304" pitchFamily="18" charset="0"/>
              </a:rPr>
              <a:t> issue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đang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dõi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thông</a:t>
            </a:r>
            <a:r>
              <a:rPr lang="en-US" sz="1400" dirty="0">
                <a:solidFill>
                  <a:srgbClr val="203864"/>
                </a:solidFill>
                <a:latin typeface="Times New Roman" panose="02020603050405020304" pitchFamily="18" charset="0"/>
                <a:cs typeface="Times New Roman" panose="02020603050405020304" pitchFamily="18" charset="0"/>
              </a:rPr>
              <a:t> qua TFU 32.47.00018</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do </a:t>
            </a:r>
            <a:r>
              <a:rPr lang="en-US" sz="1400" dirty="0" err="1">
                <a:solidFill>
                  <a:srgbClr val="203864"/>
                </a:solidFill>
                <a:latin typeface="Times New Roman" panose="02020603050405020304" pitchFamily="18" charset="0"/>
                <a:cs typeface="Times New Roman" panose="02020603050405020304" pitchFamily="18" charset="0"/>
              </a:rPr>
              <a:t>ảnh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hưởng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sự</a:t>
            </a:r>
            <a:r>
              <a:rPr lang="en-US" sz="1400" dirty="0">
                <a:solidFill>
                  <a:srgbClr val="203864"/>
                </a:solidFill>
                <a:latin typeface="Times New Roman" panose="02020603050405020304" pitchFamily="18" charset="0"/>
                <a:cs typeface="Times New Roman" panose="02020603050405020304" pitchFamily="18" charset="0"/>
              </a:rPr>
              <a:t> rung </a:t>
            </a:r>
            <a:r>
              <a:rPr lang="en-US" sz="1400" dirty="0" err="1">
                <a:solidFill>
                  <a:srgbClr val="203864"/>
                </a:solidFill>
                <a:latin typeface="Times New Roman" panose="02020603050405020304" pitchFamily="18" charset="0"/>
                <a:cs typeface="Times New Roman" panose="02020603050405020304" pitchFamily="18" charset="0"/>
              </a:rPr>
              <a:t>lắc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trong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quá</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trình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khai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bụi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bẩn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xâm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nhập</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3B6DE76-13AA-7726-0522-454082911B5B}"/>
              </a:ext>
            </a:extLst>
          </p:cNvPr>
          <p:cNvPicPr>
            <a:picLocks noChangeAspect="1"/>
          </p:cNvPicPr>
          <p:nvPr/>
        </p:nvPicPr>
        <p:blipFill>
          <a:blip r:embed="rId3"/>
          <a:stretch>
            <a:fillRect/>
          </a:stretch>
        </p:blipFill>
        <p:spPr>
          <a:xfrm>
            <a:off x="365624" y="2419483"/>
            <a:ext cx="510877" cy="512345"/>
          </a:xfrm>
          <a:prstGeom prst="rect">
            <a:avLst/>
          </a:prstGeom>
        </p:spPr>
      </p:pic>
      <p:sp>
        <p:nvSpPr>
          <p:cNvPr id="22" name="TextBox 21">
            <a:extLst>
              <a:ext uri="{FF2B5EF4-FFF2-40B4-BE49-F238E27FC236}">
                <a16:creationId xmlns:a16="http://schemas.microsoft.com/office/drawing/2014/main" id="{986C469B-70AA-CA8A-F8CE-046A19C59CE0}"/>
              </a:ext>
            </a:extLst>
          </p:cNvPr>
          <p:cNvSpPr txBox="1"/>
          <p:nvPr/>
        </p:nvSpPr>
        <p:spPr>
          <a:xfrm>
            <a:off x="927866" y="4152735"/>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0DE33BD2-F81E-E33E-EF4C-34D51D176F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624" y="3981203"/>
            <a:ext cx="550890" cy="464480"/>
          </a:xfrm>
          <a:prstGeom prst="rect">
            <a:avLst/>
          </a:prstGeom>
        </p:spPr>
      </p:pic>
      <p:sp>
        <p:nvSpPr>
          <p:cNvPr id="24" name="Rectangle 23">
            <a:extLst>
              <a:ext uri="{FF2B5EF4-FFF2-40B4-BE49-F238E27FC236}">
                <a16:creationId xmlns:a16="http://schemas.microsoft.com/office/drawing/2014/main" id="{761A8BF2-5DF1-B0D7-66E6-EB1CC517BD0C}"/>
              </a:ext>
            </a:extLst>
          </p:cNvPr>
          <p:cNvSpPr/>
          <p:nvPr/>
        </p:nvSpPr>
        <p:spPr>
          <a:xfrm>
            <a:off x="795407" y="4522067"/>
            <a:ext cx="8305869" cy="1261884"/>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Hiện AIB </a:t>
            </a:r>
            <a:r>
              <a:rPr lang="en-US" sz="1400" dirty="0" err="1">
                <a:solidFill>
                  <a:srgbClr val="203864"/>
                </a:solidFill>
                <a:latin typeface="Times New Roman" panose="02020603050405020304" pitchFamily="18" charset="0"/>
                <a:cs typeface="Times New Roman" panose="02020603050405020304" pitchFamily="18" charset="0"/>
              </a:rPr>
              <a:t>vẫn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đang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nghiên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cứu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giải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pháp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khắc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phục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dự</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kiến</a:t>
            </a:r>
            <a:r>
              <a:rPr lang="en-US" sz="1400" dirty="0">
                <a:solidFill>
                  <a:srgbClr val="203864"/>
                </a:solidFill>
                <a:latin typeface="Times New Roman" panose="02020603050405020304" pitchFamily="18" charset="0"/>
                <a:cs typeface="Times New Roman" panose="02020603050405020304" pitchFamily="18" charset="0"/>
              </a:rPr>
              <a:t> Q4/2026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giải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pháp</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AIB </a:t>
            </a:r>
            <a:r>
              <a:rPr lang="en-US" sz="1400" dirty="0" err="1">
                <a:solidFill>
                  <a:srgbClr val="203864"/>
                </a:solidFill>
                <a:latin typeface="Times New Roman" panose="02020603050405020304" pitchFamily="18" charset="0"/>
                <a:cs typeface="Times New Roman" panose="02020603050405020304" pitchFamily="18" charset="0"/>
              </a:rPr>
              <a:t>khuyến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tiếp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tục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dụng</a:t>
            </a:r>
            <a:r>
              <a:rPr lang="en-US" sz="1400" dirty="0">
                <a:solidFill>
                  <a:srgbClr val="203864"/>
                </a:solidFill>
                <a:latin typeface="Times New Roman" panose="02020603050405020304" pitchFamily="18" charset="0"/>
                <a:cs typeface="Times New Roman" panose="02020603050405020304" pitchFamily="18" charset="0"/>
              </a:rPr>
              <a:t> sensor </a:t>
            </a:r>
            <a:r>
              <a:rPr lang="en-US" sz="1400" dirty="0" err="1">
                <a:solidFill>
                  <a:srgbClr val="203864"/>
                </a:solidFill>
                <a:latin typeface="Times New Roman" panose="02020603050405020304" pitchFamily="18" charset="0"/>
                <a:cs typeface="Times New Roman" panose="02020603050405020304" pitchFamily="18" charset="0"/>
              </a:rPr>
              <a:t>loại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cũ</a:t>
            </a:r>
            <a:r>
              <a:rPr lang="en-US" sz="1400" dirty="0">
                <a:solidFill>
                  <a:srgbClr val="203864"/>
                </a:solidFill>
                <a:latin typeface="Times New Roman" panose="02020603050405020304" pitchFamily="18" charset="0"/>
                <a:cs typeface="Times New Roman" panose="02020603050405020304" pitchFamily="18" charset="0"/>
              </a:rPr>
              <a:t> do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ĐTC </a:t>
            </a:r>
            <a:r>
              <a:rPr lang="en-US" sz="1400" dirty="0" err="1">
                <a:solidFill>
                  <a:srgbClr val="203864"/>
                </a:solidFill>
                <a:latin typeface="Times New Roman" panose="02020603050405020304" pitchFamily="18" charset="0"/>
                <a:cs typeface="Times New Roman" panose="02020603050405020304" pitchFamily="18" charset="0"/>
              </a:rPr>
              <a:t>cao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hơn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loại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đang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dùng</a:t>
            </a:r>
            <a:r>
              <a:rPr lang="en-US" sz="1400" dirty="0">
                <a:solidFill>
                  <a:srgbClr val="203864"/>
                </a:solidFill>
                <a:latin typeface="Times New Roman" panose="02020603050405020304" pitchFamily="18" charset="0"/>
                <a:cs typeface="Times New Roman" panose="02020603050405020304" pitchFamily="18" charset="0"/>
              </a:rPr>
              <a:t> =&gt; Ban KT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gửi</a:t>
            </a:r>
            <a:r>
              <a:rPr lang="en-US" sz="1400" dirty="0">
                <a:solidFill>
                  <a:srgbClr val="203864"/>
                </a:solidFill>
                <a:latin typeface="Times New Roman" panose="02020603050405020304" pitchFamily="18" charset="0"/>
                <a:cs typeface="Times New Roman" panose="02020603050405020304" pitchFamily="18" charset="0"/>
              </a:rPr>
              <a:t> mail </a:t>
            </a:r>
            <a:r>
              <a:rPr lang="en-US" sz="1400" dirty="0" err="1">
                <a:solidFill>
                  <a:srgbClr val="203864"/>
                </a:solidFill>
                <a:latin typeface="Times New Roman" panose="02020603050405020304" pitchFamily="18" charset="0"/>
                <a:cs typeface="Times New Roman" panose="02020603050405020304" pitchFamily="18" charset="0"/>
              </a:rPr>
              <a:t>thông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cho</a:t>
            </a:r>
            <a:r>
              <a:rPr lang="en-US" sz="1400" dirty="0">
                <a:solidFill>
                  <a:srgbClr val="203864"/>
                </a:solidFill>
                <a:latin typeface="Times New Roman" panose="02020603050405020304" pitchFamily="18" charset="0"/>
                <a:cs typeface="Times New Roman" panose="02020603050405020304" pitchFamily="18" charset="0"/>
              </a:rPr>
              <a:t> Ban QLVT do HĐ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với</a:t>
            </a:r>
            <a:r>
              <a:rPr lang="en-US" sz="1400" dirty="0">
                <a:solidFill>
                  <a:srgbClr val="203864"/>
                </a:solidFill>
                <a:latin typeface="Times New Roman" panose="02020603050405020304" pitchFamily="18" charset="0"/>
                <a:cs typeface="Times New Roman" panose="02020603050405020304" pitchFamily="18" charset="0"/>
              </a:rPr>
              <a:t> STEA </a:t>
            </a:r>
            <a:r>
              <a:rPr lang="en-US" sz="1400" dirty="0" err="1">
                <a:solidFill>
                  <a:srgbClr val="203864"/>
                </a:solidFill>
                <a:latin typeface="Times New Roman" panose="02020603050405020304" pitchFamily="18" charset="0"/>
                <a:cs typeface="Times New Roman" panose="02020603050405020304" pitchFamily="18" charset="0"/>
              </a:rPr>
              <a:t>sẽ</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cover </a:t>
            </a:r>
            <a:r>
              <a:rPr lang="en-US" sz="1400" dirty="0" err="1">
                <a:solidFill>
                  <a:srgbClr val="203864"/>
                </a:solidFill>
                <a:latin typeface="Times New Roman" panose="02020603050405020304" pitchFamily="18" charset="0"/>
                <a:cs typeface="Times New Roman" panose="02020603050405020304" pitchFamily="18" charset="0"/>
              </a:rPr>
              <a:t>thiết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này</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TS </a:t>
            </a:r>
            <a:r>
              <a:rPr lang="en-US" sz="1400" dirty="0" err="1">
                <a:solidFill>
                  <a:srgbClr val="203864"/>
                </a:solidFill>
                <a:latin typeface="Times New Roman" panose="02020603050405020304" pitchFamily="18" charset="0"/>
                <a:cs typeface="Times New Roman" panose="02020603050405020304" pitchFamily="18" charset="0"/>
              </a:rPr>
              <a:t>sẽ</a:t>
            </a:r>
            <a:r>
              <a:rPr lang="en-US" sz="1400" dirty="0">
                <a:solidFill>
                  <a:srgbClr val="203864"/>
                </a:solidFill>
                <a:latin typeface="Times New Roman" panose="02020603050405020304" pitchFamily="18" charset="0"/>
                <a:cs typeface="Times New Roman" panose="02020603050405020304" pitchFamily="18" charset="0"/>
              </a:rPr>
              <a:t> clean connector </a:t>
            </a:r>
            <a:r>
              <a:rPr lang="en-US" sz="1400" dirty="0" err="1">
                <a:solidFill>
                  <a:srgbClr val="203864"/>
                </a:solidFill>
                <a:latin typeface="Times New Roman" panose="02020603050405020304" pitchFamily="18" charset="0"/>
                <a:cs typeface="Times New Roman" panose="02020603050405020304" pitchFamily="18" charset="0"/>
              </a:rPr>
              <a:t>trước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hạn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chế</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tỉ</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lệ</a:t>
            </a:r>
            <a:r>
              <a:rPr lang="en-US" sz="1400" dirty="0">
                <a:solidFill>
                  <a:srgbClr val="203864"/>
                </a:solidFill>
                <a:latin typeface="Times New Roman" panose="02020603050405020304" pitchFamily="18" charset="0"/>
                <a:cs typeface="Times New Roman" panose="02020603050405020304" pitchFamily="18" charset="0"/>
              </a:rPr>
              <a:t> NFF</a:t>
            </a:r>
          </a:p>
        </p:txBody>
      </p:sp>
      <p:pic>
        <p:nvPicPr>
          <p:cNvPr id="25" name="Picture 24">
            <a:extLst>
              <a:ext uri="{FF2B5EF4-FFF2-40B4-BE49-F238E27FC236}">
                <a16:creationId xmlns:a16="http://schemas.microsoft.com/office/drawing/2014/main" id="{E05A1007-8DB2-04D8-84F2-0F9400ED29E5}"/>
              </a:ext>
            </a:extLst>
          </p:cNvPr>
          <p:cNvPicPr>
            <a:picLocks noChangeAspect="1"/>
          </p:cNvPicPr>
          <p:nvPr/>
        </p:nvPicPr>
        <p:blipFill>
          <a:blip r:embed="rId5"/>
          <a:stretch>
            <a:fillRect/>
          </a:stretch>
        </p:blipFill>
        <p:spPr>
          <a:xfrm>
            <a:off x="9484307" y="2359708"/>
            <a:ext cx="2314575" cy="2085975"/>
          </a:xfrm>
          <a:prstGeom prst="rect">
            <a:avLst/>
          </a:prstGeom>
        </p:spPr>
      </p:pic>
      <p:pic>
        <p:nvPicPr>
          <p:cNvPr id="26" name="Picture 25">
            <a:extLst>
              <a:ext uri="{FF2B5EF4-FFF2-40B4-BE49-F238E27FC236}">
                <a16:creationId xmlns:a16="http://schemas.microsoft.com/office/drawing/2014/main" id="{EA335A6B-3B99-34BE-61BF-3DC212B3B0CB}"/>
              </a:ext>
            </a:extLst>
          </p:cNvPr>
          <p:cNvPicPr>
            <a:picLocks noChangeAspect="1"/>
          </p:cNvPicPr>
          <p:nvPr/>
        </p:nvPicPr>
        <p:blipFill>
          <a:blip r:embed="rId6"/>
          <a:stretch>
            <a:fillRect/>
          </a:stretch>
        </p:blipFill>
        <p:spPr>
          <a:xfrm>
            <a:off x="9328810" y="4508103"/>
            <a:ext cx="2470072" cy="2294830"/>
          </a:xfrm>
          <a:prstGeom prst="rect">
            <a:avLst/>
          </a:prstGeom>
        </p:spPr>
      </p:pic>
      <p:sp>
        <p:nvSpPr>
          <p:cNvPr id="27" name="Rectangle 26">
            <a:extLst>
              <a:ext uri="{FF2B5EF4-FFF2-40B4-BE49-F238E27FC236}">
                <a16:creationId xmlns:a16="http://schemas.microsoft.com/office/drawing/2014/main" id="{8DB9332E-35BE-F494-BD5F-68A9B721E490}"/>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A339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G</a:t>
            </a: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TB due to BRAKE HOT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 	</a:t>
            </a:r>
          </a:p>
        </p:txBody>
      </p:sp>
      <p:sp>
        <p:nvSpPr>
          <p:cNvPr id="28" name="Rectangle 27">
            <a:extLst>
              <a:ext uri="{FF2B5EF4-FFF2-40B4-BE49-F238E27FC236}">
                <a16:creationId xmlns:a16="http://schemas.microsoft.com/office/drawing/2014/main" id="{1F6BF835-F55C-FFA9-6C2A-ECF639020DE1}"/>
              </a:ext>
            </a:extLst>
          </p:cNvPr>
          <p:cNvSpPr/>
          <p:nvPr/>
        </p:nvSpPr>
        <p:spPr>
          <a:xfrm>
            <a:off x="737417" y="1210054"/>
            <a:ext cx="10882536" cy="892552"/>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A339/GTB/VN7046/SGN-VII/STD 22:05 DURING TAXI CAPT INFORM VIA</a:t>
            </a:r>
          </a:p>
          <a:p>
            <a:pPr>
              <a:spcBef>
                <a:spcPts val="600"/>
              </a:spcBef>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VHF BRAKE #2 HOT, TSV ADVICED BUT CAPT DECIDED RETURN GATE</a:t>
            </a:r>
          </a:p>
          <a:p>
            <a:pPr marL="285750" indent="-285750">
              <a:spcBef>
                <a:spcPts val="600"/>
              </a:spcBef>
              <a:buFont typeface="Arial" panose="020B0604020202020204" pitchFamily="34" charset="0"/>
              <a:buChar char="•"/>
            </a:pP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do brake temp sensor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đến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giả</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2BA4D8F7-393D-684D-BDE4-D4457C3FD99F}"/>
              </a:ext>
            </a:extLst>
          </p:cNvPr>
          <p:cNvPicPr>
            <a:picLocks noChangeAspect="1"/>
          </p:cNvPicPr>
          <p:nvPr/>
        </p:nvPicPr>
        <p:blipFill>
          <a:blip r:embed="rId7"/>
          <a:stretch>
            <a:fillRect/>
          </a:stretch>
        </p:blipFill>
        <p:spPr>
          <a:xfrm>
            <a:off x="7441350" y="854816"/>
            <a:ext cx="4348258" cy="1200150"/>
          </a:xfrm>
          <a:prstGeom prst="rect">
            <a:avLst/>
          </a:prstGeom>
        </p:spPr>
      </p:pic>
    </p:spTree>
    <p:extLst>
      <p:ext uri="{BB962C8B-B14F-4D97-AF65-F5344CB8AC3E}">
        <p14:creationId xmlns:p14="http://schemas.microsoft.com/office/powerpoint/2010/main" val="287647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9</a:t>
            </a:fld>
            <a:endParaRPr lang="en-US" altLang="en-US" sz="1200">
              <a:solidFill>
                <a:srgbClr val="D2A43B"/>
              </a:solidFill>
              <a:latin typeface="Montserrat"/>
            </a:endParaRPr>
          </a:p>
        </p:txBody>
      </p:sp>
      <p:sp>
        <p:nvSpPr>
          <p:cNvPr id="1048638" name="Title 4"/>
          <p:cNvSpPr>
            <a:spLocks noGrp="1"/>
          </p:cNvSpPr>
          <p:nvPr>
            <p:ph type="title"/>
          </p:nvPr>
        </p:nvSpPr>
        <p:spPr>
          <a:xfrm>
            <a:off x="228600" y="152400"/>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304800" y="838200"/>
            <a:ext cx="11506200" cy="2800767"/>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Một số hỏng hóc nổi cộm đội bay A321 trong tuần:</a:t>
            </a:r>
            <a:endParaRPr lang="en-US" sz="1600" dirty="0">
              <a:latin typeface="Times New Roman" panose="02020603050405020304" pitchFamily="18" charset="0"/>
              <a:cs typeface="Times New Roman" panose="02020603050405020304" pitchFamily="18" charset="0"/>
            </a:endParaRPr>
          </a:p>
          <a:p>
            <a:r>
              <a:rPr lang="vi-VN" sz="1600">
                <a:latin typeface="Times New Roman" panose="02020603050405020304" pitchFamily="18" charset="0"/>
                <a:cs typeface="Times New Roman" panose="02020603050405020304" pitchFamily="18" charset="0"/>
              </a:rPr>
              <a:t>Trong ngày 14/1 phát sinh nhiều trường hợp AOG, các trường hợp trên ảnh hưởng đến các chuyến bay trong ngày gây chậm chuyến từ 30p-1H30p và hủy chuyến gồm các trường hợp:</a:t>
            </a:r>
          </a:p>
          <a:p>
            <a:pPr marL="285750"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A353 phát sinh tụt giảm chấn càng phải, sau khi kiểm tra và nạp lại thủy lực tàu quay trở lại khai thác, tàu thực hiện bay theo dõi 2 chuyến không phát hiện bất thường.</a:t>
            </a:r>
          </a:p>
          <a:p>
            <a:pPr marL="285750"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A608 soi động cơ phát hiện 01 HPC ROTOR CLAPPER WITH LOSS MATERIALS nên phải thay động cơ.</a:t>
            </a:r>
          </a:p>
          <a:p>
            <a:pPr marL="285750"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A392 CABIN V/S FLUCTUATION đã thay starter valve ENG 2, kiểm tra theo yêu cầu của AIB phát hiện FCV OF PACK 2 FLUCTUATION và thực hiện thay valve (Valve này đã hoạt động xấp xỉ 10K FH rơi vào ngưỡng cần gửi đi soft-time). VAECO sau đó đã recertify lại khối stater valve đã tháo xuống trước đó</a:t>
            </a:r>
          </a:p>
          <a:p>
            <a:pPr marL="285750" indent="-285750">
              <a:buFont typeface="Arial" panose="020B0604020202020204" pitchFamily="34" charset="0"/>
              <a:buChar char="•"/>
            </a:pPr>
            <a:r>
              <a:rPr lang="vi-VN" sz="1600">
                <a:latin typeface="Times New Roman" panose="02020603050405020304" pitchFamily="18" charset="0"/>
                <a:cs typeface="Times New Roman" panose="02020603050405020304" pitchFamily="18" charset="0"/>
              </a:rPr>
              <a:t>A339 GTB/ DURING TAXI CAPT INFORM VIA VHF BRAKE #2 HOT, CRS KIỂM TRA LÀ BÁO GIẢ, RAISED ADD B1403 để khắc phục</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250890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9E8391B-7B1B-9518-4216-BB3E79E0AEA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2B986BE-F1F9-839F-5AB3-0E3AFE71F6B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E2E0F42-602D-EFC6-677B-6FED8C5260AA}"/>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F2F29800-2D85-BB73-F094-9BFD6867E529}"/>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sp>
        <p:nvSpPr>
          <p:cNvPr id="8" name="TextBox 7">
            <a:extLst>
              <a:ext uri="{FF2B5EF4-FFF2-40B4-BE49-F238E27FC236}">
                <a16:creationId xmlns:a16="http://schemas.microsoft.com/office/drawing/2014/main" id="{88C5C370-206D-49FE-840E-3FF9FBBE828C}"/>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id="{97BA27D0-63EB-41CE-F296-D99712A7BEDA}"/>
              </a:ext>
            </a:extLst>
          </p:cNvPr>
          <p:cNvGraphicFramePr>
            <a:graphicFrameLocks noGrp="1"/>
          </p:cNvGraphicFramePr>
          <p:nvPr>
            <p:extLst>
              <p:ext uri="{D42A27DB-BD31-4B8C-83A1-F6EECF244321}">
                <p14:modId xmlns:p14="http://schemas.microsoft.com/office/powerpoint/2010/main" val="4133520975"/>
              </p:ext>
            </p:extLst>
          </p:nvPr>
        </p:nvGraphicFramePr>
        <p:xfrm>
          <a:off x="152399" y="1962941"/>
          <a:ext cx="11688713" cy="1289072"/>
        </p:xfrm>
        <a:graphic>
          <a:graphicData uri="http://schemas.openxmlformats.org/drawingml/2006/table">
            <a:tbl>
              <a:tblPr/>
              <a:tblGrid>
                <a:gridCol w="376416">
                  <a:extLst>
                    <a:ext uri="{9D8B030D-6E8A-4147-A177-3AD203B41FA5}">
                      <a16:colId xmlns:a16="http://schemas.microsoft.com/office/drawing/2014/main" val="4169024116"/>
                    </a:ext>
                  </a:extLst>
                </a:gridCol>
                <a:gridCol w="1089626">
                  <a:extLst>
                    <a:ext uri="{9D8B030D-6E8A-4147-A177-3AD203B41FA5}">
                      <a16:colId xmlns:a16="http://schemas.microsoft.com/office/drawing/2014/main" val="897511337"/>
                    </a:ext>
                  </a:extLst>
                </a:gridCol>
                <a:gridCol w="1089626">
                  <a:extLst>
                    <a:ext uri="{9D8B030D-6E8A-4147-A177-3AD203B41FA5}">
                      <a16:colId xmlns:a16="http://schemas.microsoft.com/office/drawing/2014/main" val="2500787465"/>
                    </a:ext>
                  </a:extLst>
                </a:gridCol>
                <a:gridCol w="376416">
                  <a:extLst>
                    <a:ext uri="{9D8B030D-6E8A-4147-A177-3AD203B41FA5}">
                      <a16:colId xmlns:a16="http://schemas.microsoft.com/office/drawing/2014/main" val="2265649039"/>
                    </a:ext>
                  </a:extLst>
                </a:gridCol>
                <a:gridCol w="2981612">
                  <a:extLst>
                    <a:ext uri="{9D8B030D-6E8A-4147-A177-3AD203B41FA5}">
                      <a16:colId xmlns:a16="http://schemas.microsoft.com/office/drawing/2014/main" val="696643035"/>
                    </a:ext>
                  </a:extLst>
                </a:gridCol>
                <a:gridCol w="2218874">
                  <a:extLst>
                    <a:ext uri="{9D8B030D-6E8A-4147-A177-3AD203B41FA5}">
                      <a16:colId xmlns:a16="http://schemas.microsoft.com/office/drawing/2014/main" val="1610964194"/>
                    </a:ext>
                  </a:extLst>
                </a:gridCol>
                <a:gridCol w="376416">
                  <a:extLst>
                    <a:ext uri="{9D8B030D-6E8A-4147-A177-3AD203B41FA5}">
                      <a16:colId xmlns:a16="http://schemas.microsoft.com/office/drawing/2014/main" val="2245771581"/>
                    </a:ext>
                  </a:extLst>
                </a:gridCol>
                <a:gridCol w="3179727">
                  <a:extLst>
                    <a:ext uri="{9D8B030D-6E8A-4147-A177-3AD203B41FA5}">
                      <a16:colId xmlns:a16="http://schemas.microsoft.com/office/drawing/2014/main" val="2587370264"/>
                    </a:ext>
                  </a:extLst>
                </a:gridCol>
              </a:tblGrid>
              <a:tr h="129217">
                <a:tc>
                  <a:txBody>
                    <a:bodyPr/>
                    <a:lstStyle/>
                    <a:p>
                      <a:pPr algn="ctr" fontAlgn="ctr"/>
                      <a:r>
                        <a:rPr lang="en-US" sz="1200" b="0" i="0" u="none" strike="noStrike">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597219027"/>
                  </a:ext>
                </a:extLst>
              </a:tr>
              <a:tr h="623807">
                <a:tc>
                  <a:txBody>
                    <a:bodyPr/>
                    <a:lstStyle/>
                    <a:p>
                      <a:pPr algn="ctr" fontAlgn="t"/>
                      <a:r>
                        <a:rPr lang="en-US" sz="1200" b="0" i="0" u="none" strike="noStrike">
                          <a:solidFill>
                            <a:srgbClr val="000000"/>
                          </a:solidFill>
                          <a:effectLst/>
                          <a:latin typeface="Times New Roman" panose="02020603050405020304" pitchFamily="18" charset="0"/>
                        </a:rPr>
                        <a:t>A896</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07:50 14/01/2025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10:25 14/01/2025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HAN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“F/CTL RUDDER G ACTUATOR” &lt;p&gt;CAPT REPORT “F/CTL RUDDER G ACTUATOR”-&amp;gt; DO NOT RAISED ADD DUE TO TEST DAMPING NOT PASS</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 EVENT CLOSED &lt;p&gt;C/O REPLACED FCRM G RUDDER AND TEST ALL SATIS REF MP 27-24-53-A1001-520/720A-A. A/C SERVICEABLE.</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 </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err="1">
                          <a:solidFill>
                            <a:srgbClr val="000000"/>
                          </a:solidFill>
                          <a:effectLst/>
                          <a:latin typeface="Times New Roman" panose="02020603050405020304" pitchFamily="18" charset="0"/>
                        </a:rPr>
                        <a:t>Hỏng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hóc</a:t>
                      </a:r>
                      <a:r>
                        <a:rPr lang="en-US" sz="1200" b="0" i="0" u="none" strike="noStrike" dirty="0">
                          <a:solidFill>
                            <a:srgbClr val="000000"/>
                          </a:solidFill>
                          <a:effectLst/>
                          <a:latin typeface="Times New Roman" panose="02020603050405020304" pitchFamily="18" charset="0"/>
                        </a:rPr>
                        <a:t> do FCRM, </a:t>
                      </a:r>
                      <a:r>
                        <a:rPr lang="en-US" sz="1200" b="0" i="0" u="none" strike="noStrike" dirty="0" err="1">
                          <a:solidFill>
                            <a:srgbClr val="000000"/>
                          </a:solidFill>
                          <a:effectLst/>
                          <a:latin typeface="Times New Roman" panose="02020603050405020304" pitchFamily="18" charset="0"/>
                        </a:rPr>
                        <a:t>nguyên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nhân</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đứt</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gãy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mối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hàn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bên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trong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bảng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mạch</a:t>
                      </a:r>
                      <a:r>
                        <a:rPr lang="en-US" sz="1200" b="0" i="0" u="none" strike="noStrike" dirty="0">
                          <a:solidFill>
                            <a:srgbClr val="000000"/>
                          </a:solidFill>
                          <a:effectLst/>
                          <a:latin typeface="Times New Roman" panose="02020603050405020304" pitchFamily="18" charset="0"/>
                        </a:rPr>
                        <a:t/>
                      </a:r>
                      <a:br>
                        <a:rPr lang="en-US" sz="1200" b="0" i="0" u="none" strike="noStrike" dirty="0">
                          <a:solidFill>
                            <a:srgbClr val="000000"/>
                          </a:solidFill>
                          <a:effectLst/>
                          <a:latin typeface="Times New Roman" panose="02020603050405020304" pitchFamily="18" charset="0"/>
                        </a:rPr>
                      </a:br>
                      <a:r>
                        <a:rPr lang="en-US" sz="1200" b="0" i="0" u="none" strike="noStrike" dirty="0" err="1">
                          <a:solidFill>
                            <a:srgbClr val="000000"/>
                          </a:solidFill>
                          <a:effectLst/>
                          <a:latin typeface="Times New Roman" panose="02020603050405020304" pitchFamily="18" charset="0"/>
                        </a:rPr>
                        <a:t>Dự</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kiến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tháng</a:t>
                      </a:r>
                      <a:r>
                        <a:rPr lang="en-US" sz="1200" b="0" i="0" u="none" strike="noStrike" dirty="0">
                          <a:solidFill>
                            <a:srgbClr val="000000"/>
                          </a:solidFill>
                          <a:effectLst/>
                          <a:latin typeface="Times New Roman" panose="02020603050405020304" pitchFamily="18" charset="0"/>
                        </a:rPr>
                        <a:t> 4/2025, MOOG </a:t>
                      </a:r>
                      <a:r>
                        <a:rPr lang="en-US" sz="1200" b="0" i="0" u="none" strike="noStrike" dirty="0" err="1">
                          <a:solidFill>
                            <a:srgbClr val="000000"/>
                          </a:solidFill>
                          <a:effectLst/>
                          <a:latin typeface="Times New Roman" panose="02020603050405020304" pitchFamily="18" charset="0"/>
                        </a:rPr>
                        <a:t>sẽ</a:t>
                      </a:r>
                      <a:r>
                        <a:rPr lang="en-US" sz="1200" b="0" i="0" u="none" strike="noStrike" dirty="0">
                          <a:solidFill>
                            <a:srgbClr val="000000"/>
                          </a:solidFill>
                          <a:effectLst/>
                          <a:latin typeface="Times New Roman" panose="02020603050405020304" pitchFamily="18" charset="0"/>
                        </a:rPr>
                        <a:t> ban </a:t>
                      </a:r>
                      <a:r>
                        <a:rPr lang="en-US" sz="1200" b="0" i="0" u="none" strike="noStrike" dirty="0" err="1">
                          <a:solidFill>
                            <a:srgbClr val="000000"/>
                          </a:solidFill>
                          <a:effectLst/>
                          <a:latin typeface="Times New Roman" panose="02020603050405020304" pitchFamily="18" charset="0"/>
                        </a:rPr>
                        <a:t>hành</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giải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pháp</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tạm</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thời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để</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bôi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lớp</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keo</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lên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các</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mối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hàn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để</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hạn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chế</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việc</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đứt</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gãy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mối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hàn</a:t>
                      </a:r>
                      <a:r>
                        <a:rPr lang="en-US" sz="1200" b="0" i="0" u="none" strike="noStrike" dirty="0">
                          <a:solidFill>
                            <a:srgbClr val="000000"/>
                          </a:solidFill>
                          <a:effectLst/>
                          <a:latin typeface="Times New Roman" panose="02020603050405020304" pitchFamily="18" charset="0"/>
                        </a:rPr>
                        <a:t>.</a:t>
                      </a:r>
                      <a:br>
                        <a:rPr lang="en-US" sz="1200" b="0" i="0" u="none" strike="noStrike" dirty="0">
                          <a:solidFill>
                            <a:srgbClr val="000000"/>
                          </a:solidFill>
                          <a:effectLst/>
                          <a:latin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9886865"/>
                  </a:ext>
                </a:extLst>
              </a:tr>
            </a:tbl>
          </a:graphicData>
        </a:graphic>
      </p:graphicFrame>
    </p:spTree>
    <p:extLst>
      <p:ext uri="{BB962C8B-B14F-4D97-AF65-F5344CB8AC3E}">
        <p14:creationId xmlns:p14="http://schemas.microsoft.com/office/powerpoint/2010/main" val="407849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C773CCA-50EF-9047-3B43-17B793B9D30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22311FB-BEC8-026B-A2D2-6AA6A7EF2AC2}"/>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E604DA61-E459-7D42-3904-510AE3B0432E}"/>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id="{A241D3BB-99E3-41C3-B94F-9DF60819084A}"/>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5</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704078EF-7094-5C98-4A5B-6721CC4526F5}"/>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71C39D52-01F6-A2D5-A590-BDB2DF59F54D}"/>
              </a:ext>
            </a:extLst>
          </p:cNvPr>
          <p:cNvGraphicFramePr>
            <a:graphicFrameLocks noGrp="1"/>
          </p:cNvGraphicFramePr>
          <p:nvPr>
            <p:extLst>
              <p:ext uri="{D42A27DB-BD31-4B8C-83A1-F6EECF244321}">
                <p14:modId xmlns:p14="http://schemas.microsoft.com/office/powerpoint/2010/main" val="1944384787"/>
              </p:ext>
            </p:extLst>
          </p:nvPr>
        </p:nvGraphicFramePr>
        <p:xfrm>
          <a:off x="152397" y="1667581"/>
          <a:ext cx="11688714" cy="2569374"/>
        </p:xfrm>
        <a:graphic>
          <a:graphicData uri="http://schemas.openxmlformats.org/drawingml/2006/table">
            <a:tbl>
              <a:tblPr/>
              <a:tblGrid>
                <a:gridCol w="304803">
                  <a:extLst>
                    <a:ext uri="{9D8B030D-6E8A-4147-A177-3AD203B41FA5}">
                      <a16:colId xmlns:a16="http://schemas.microsoft.com/office/drawing/2014/main" val="1256133665"/>
                    </a:ext>
                  </a:extLst>
                </a:gridCol>
                <a:gridCol w="688268">
                  <a:extLst>
                    <a:ext uri="{9D8B030D-6E8A-4147-A177-3AD203B41FA5}">
                      <a16:colId xmlns:a16="http://schemas.microsoft.com/office/drawing/2014/main" val="4239982419"/>
                    </a:ext>
                  </a:extLst>
                </a:gridCol>
                <a:gridCol w="254977">
                  <a:extLst>
                    <a:ext uri="{9D8B030D-6E8A-4147-A177-3AD203B41FA5}">
                      <a16:colId xmlns:a16="http://schemas.microsoft.com/office/drawing/2014/main" val="1384707772"/>
                    </a:ext>
                  </a:extLst>
                </a:gridCol>
                <a:gridCol w="691123">
                  <a:extLst>
                    <a:ext uri="{9D8B030D-6E8A-4147-A177-3AD203B41FA5}">
                      <a16:colId xmlns:a16="http://schemas.microsoft.com/office/drawing/2014/main" val="2863662307"/>
                    </a:ext>
                  </a:extLst>
                </a:gridCol>
                <a:gridCol w="516665">
                  <a:extLst>
                    <a:ext uri="{9D8B030D-6E8A-4147-A177-3AD203B41FA5}">
                      <a16:colId xmlns:a16="http://schemas.microsoft.com/office/drawing/2014/main" val="1357122553"/>
                    </a:ext>
                  </a:extLst>
                </a:gridCol>
                <a:gridCol w="429437">
                  <a:extLst>
                    <a:ext uri="{9D8B030D-6E8A-4147-A177-3AD203B41FA5}">
                      <a16:colId xmlns:a16="http://schemas.microsoft.com/office/drawing/2014/main" val="2137684697"/>
                    </a:ext>
                  </a:extLst>
                </a:gridCol>
                <a:gridCol w="2556487">
                  <a:extLst>
                    <a:ext uri="{9D8B030D-6E8A-4147-A177-3AD203B41FA5}">
                      <a16:colId xmlns:a16="http://schemas.microsoft.com/office/drawing/2014/main" val="2650876194"/>
                    </a:ext>
                  </a:extLst>
                </a:gridCol>
                <a:gridCol w="2845014">
                  <a:extLst>
                    <a:ext uri="{9D8B030D-6E8A-4147-A177-3AD203B41FA5}">
                      <a16:colId xmlns:a16="http://schemas.microsoft.com/office/drawing/2014/main" val="3156420628"/>
                    </a:ext>
                  </a:extLst>
                </a:gridCol>
                <a:gridCol w="261688">
                  <a:extLst>
                    <a:ext uri="{9D8B030D-6E8A-4147-A177-3AD203B41FA5}">
                      <a16:colId xmlns:a16="http://schemas.microsoft.com/office/drawing/2014/main" val="229850816"/>
                    </a:ext>
                  </a:extLst>
                </a:gridCol>
                <a:gridCol w="3140252">
                  <a:extLst>
                    <a:ext uri="{9D8B030D-6E8A-4147-A177-3AD203B41FA5}">
                      <a16:colId xmlns:a16="http://schemas.microsoft.com/office/drawing/2014/main" val="3980041142"/>
                    </a:ext>
                  </a:extLst>
                </a:gridCol>
              </a:tblGrid>
              <a:tr h="85019">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378657601"/>
                  </a:ext>
                </a:extLst>
              </a:tr>
              <a:tr h="338045">
                <a:tc>
                  <a:txBody>
                    <a:bodyPr/>
                    <a:lstStyle/>
                    <a:p>
                      <a:pPr algn="ctr" fontAlgn="t"/>
                      <a:r>
                        <a:rPr lang="en-US" sz="1200" b="0" i="0" u="none" strike="noStrike">
                          <a:solidFill>
                            <a:srgbClr val="000000"/>
                          </a:solidFill>
                          <a:effectLst/>
                          <a:latin typeface="Times New Roman" panose="02020603050405020304" pitchFamily="18" charset="0"/>
                        </a:rPr>
                        <a:t>A896</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07:50 14/01/2025</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HAN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50</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VN779</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HAN-MEL</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“F/CTL RUDDER G ACTUATOR” &lt;p&gt;CAPT REPORT “F/CTL RUDDER G ACTUATOR”-&amp;gt; DO NOT RAISED ADD DUE TO TEST DAMPING NOT PASS</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 EVENT CLOSED &lt;p&gt;C/O REPLACED FCRM G RUDDER AND TEST ALL SATIS REF MP 27-24-53-A1001-520/720A-A. A/C SERVICEABLE</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 </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Hỏng hóc do FCRM, nguyên nhân do đứt gãy mối hàn bên trong bảng mạch</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Dự kiến tháng 4/2025, MOOG sẽ ban hành  giải pháp tạm thời để bôi lớp keo lên các mối hàn để hạn chế việc đứt gãy mối hàn.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7654174"/>
                  </a:ext>
                </a:extLst>
              </a:tr>
              <a:tr h="338045">
                <a:tc>
                  <a:txBody>
                    <a:bodyPr/>
                    <a:lstStyle/>
                    <a:p>
                      <a:pPr algn="ctr" fontAlgn="t"/>
                      <a:r>
                        <a:rPr lang="en-US" sz="1200" b="0" i="0" u="none" strike="noStrike">
                          <a:solidFill>
                            <a:srgbClr val="000000"/>
                          </a:solidFill>
                          <a:effectLst/>
                          <a:latin typeface="Times New Roman" panose="02020603050405020304" pitchFamily="18" charset="0"/>
                        </a:rPr>
                        <a:t>A896</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14:45 14/01/2025</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ICN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80</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VN415</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ICN-HAN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F/CTL RUDDER G ACTUATOR &lt;p&gt;F/CTL RUDDER G ACTUATOR</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 EVENT CLOSED &lt;p&gt;&lt;/p&gt;EVENT CLOSED &lt;p&gt;C/O DE-ACTIVE, ADD RAISED</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27-00</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dirty="0" err="1">
                          <a:solidFill>
                            <a:srgbClr val="000000"/>
                          </a:solidFill>
                          <a:effectLst/>
                          <a:latin typeface="Times New Roman" panose="02020603050405020304" pitchFamily="18" charset="0"/>
                        </a:rPr>
                        <a:t>Hỏng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hóc</a:t>
                      </a:r>
                      <a:r>
                        <a:rPr lang="en-US" sz="1200" b="0" i="0" u="none" strike="noStrike" dirty="0">
                          <a:solidFill>
                            <a:srgbClr val="000000"/>
                          </a:solidFill>
                          <a:effectLst/>
                          <a:latin typeface="Times New Roman" panose="02020603050405020304" pitchFamily="18" charset="0"/>
                        </a:rPr>
                        <a:t> do FCRM, </a:t>
                      </a:r>
                      <a:r>
                        <a:rPr lang="en-US" sz="1200" b="0" i="0" u="none" strike="noStrike" dirty="0" err="1">
                          <a:solidFill>
                            <a:srgbClr val="000000"/>
                          </a:solidFill>
                          <a:effectLst/>
                          <a:latin typeface="Times New Roman" panose="02020603050405020304" pitchFamily="18" charset="0"/>
                        </a:rPr>
                        <a:t>nguyên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nhân</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đứt</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gãy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mối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hàn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bên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trong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bảng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mạch</a:t>
                      </a:r>
                      <a:r>
                        <a:rPr lang="en-US" sz="1200" b="0" i="0" u="none" strike="noStrike" dirty="0">
                          <a:solidFill>
                            <a:srgbClr val="000000"/>
                          </a:solidFill>
                          <a:effectLst/>
                          <a:latin typeface="Times New Roman" panose="02020603050405020304" pitchFamily="18" charset="0"/>
                        </a:rPr>
                        <a:t/>
                      </a:r>
                      <a:br>
                        <a:rPr lang="en-US" sz="1200" b="0" i="0" u="none" strike="noStrike" dirty="0">
                          <a:solidFill>
                            <a:srgbClr val="000000"/>
                          </a:solidFill>
                          <a:effectLst/>
                          <a:latin typeface="Times New Roman" panose="02020603050405020304" pitchFamily="18" charset="0"/>
                        </a:rPr>
                      </a:br>
                      <a:r>
                        <a:rPr lang="en-US" sz="1200" b="0" i="0" u="none" strike="noStrike" dirty="0" err="1">
                          <a:solidFill>
                            <a:srgbClr val="000000"/>
                          </a:solidFill>
                          <a:effectLst/>
                          <a:latin typeface="Times New Roman" panose="02020603050405020304" pitchFamily="18" charset="0"/>
                        </a:rPr>
                        <a:t>Dự</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kiến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tháng</a:t>
                      </a:r>
                      <a:r>
                        <a:rPr lang="en-US" sz="1200" b="0" i="0" u="none" strike="noStrike" dirty="0">
                          <a:solidFill>
                            <a:srgbClr val="000000"/>
                          </a:solidFill>
                          <a:effectLst/>
                          <a:latin typeface="Times New Roman" panose="02020603050405020304" pitchFamily="18" charset="0"/>
                        </a:rPr>
                        <a:t> 4/2025, MOOG </a:t>
                      </a:r>
                      <a:r>
                        <a:rPr lang="en-US" sz="1200" b="0" i="0" u="none" strike="noStrike" dirty="0" err="1">
                          <a:solidFill>
                            <a:srgbClr val="000000"/>
                          </a:solidFill>
                          <a:effectLst/>
                          <a:latin typeface="Times New Roman" panose="02020603050405020304" pitchFamily="18" charset="0"/>
                        </a:rPr>
                        <a:t>sẽ</a:t>
                      </a:r>
                      <a:r>
                        <a:rPr lang="en-US" sz="1200" b="0" i="0" u="none" strike="noStrike" dirty="0">
                          <a:solidFill>
                            <a:srgbClr val="000000"/>
                          </a:solidFill>
                          <a:effectLst/>
                          <a:latin typeface="Times New Roman" panose="02020603050405020304" pitchFamily="18" charset="0"/>
                        </a:rPr>
                        <a:t> ban </a:t>
                      </a:r>
                      <a:r>
                        <a:rPr lang="en-US" sz="1200" b="0" i="0" u="none" strike="noStrike" dirty="0" err="1">
                          <a:solidFill>
                            <a:srgbClr val="000000"/>
                          </a:solidFill>
                          <a:effectLst/>
                          <a:latin typeface="Times New Roman" panose="02020603050405020304" pitchFamily="18" charset="0"/>
                        </a:rPr>
                        <a:t>hành</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giải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pháp</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tạm</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tời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để</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bôi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lớp</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keo</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lên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các</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mối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hàn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để</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hạn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chế</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việc</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đứt</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gãy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mối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hàn</a:t>
                      </a:r>
                      <a:r>
                        <a:rPr lang="en-US" sz="1200" b="0" i="0" u="none" strike="noStrike" dirty="0">
                          <a:solidFill>
                            <a:srgbClr val="000000"/>
                          </a:solidFill>
                          <a:effectLst/>
                          <a:latin typeface="Times New Roman" panose="02020603050405020304" pitchFamily="18" charset="0"/>
                        </a:rPr>
                        <a:t>.</a:t>
                      </a:r>
                      <a:br>
                        <a:rPr lang="en-US" sz="1200" b="0" i="0" u="none" strike="noStrike" dirty="0">
                          <a:solidFill>
                            <a:srgbClr val="000000"/>
                          </a:solidFill>
                          <a:effectLst/>
                          <a:latin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4686829"/>
                  </a:ext>
                </a:extLst>
              </a:tr>
            </a:tbl>
          </a:graphicData>
        </a:graphic>
      </p:graphicFrame>
    </p:spTree>
    <p:extLst>
      <p:ext uri="{BB962C8B-B14F-4D97-AF65-F5344CB8AC3E}">
        <p14:creationId xmlns:p14="http://schemas.microsoft.com/office/powerpoint/2010/main" val="886086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12</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5" name="Table 4">
            <a:extLst>
              <a:ext uri="{FF2B5EF4-FFF2-40B4-BE49-F238E27FC236}">
                <a16:creationId xmlns:a16="http://schemas.microsoft.com/office/drawing/2014/main" id="{361A6516-4CB8-8267-4274-CE39F438F016}"/>
              </a:ext>
            </a:extLst>
          </p:cNvPr>
          <p:cNvGraphicFramePr>
            <a:graphicFrameLocks noGrp="1"/>
          </p:cNvGraphicFramePr>
          <p:nvPr/>
        </p:nvGraphicFramePr>
        <p:xfrm>
          <a:off x="153844" y="565152"/>
          <a:ext cx="11874369" cy="6265499"/>
        </p:xfrm>
        <a:graphic>
          <a:graphicData uri="http://schemas.openxmlformats.org/drawingml/2006/table">
            <a:tbl>
              <a:tblPr/>
              <a:tblGrid>
                <a:gridCol w="321943">
                  <a:extLst>
                    <a:ext uri="{9D8B030D-6E8A-4147-A177-3AD203B41FA5}">
                      <a16:colId xmlns:a16="http://schemas.microsoft.com/office/drawing/2014/main" val="1412444973"/>
                    </a:ext>
                  </a:extLst>
                </a:gridCol>
                <a:gridCol w="505521">
                  <a:extLst>
                    <a:ext uri="{9D8B030D-6E8A-4147-A177-3AD203B41FA5}">
                      <a16:colId xmlns:a16="http://schemas.microsoft.com/office/drawing/2014/main" val="3860565019"/>
                    </a:ext>
                  </a:extLst>
                </a:gridCol>
                <a:gridCol w="574908">
                  <a:extLst>
                    <a:ext uri="{9D8B030D-6E8A-4147-A177-3AD203B41FA5}">
                      <a16:colId xmlns:a16="http://schemas.microsoft.com/office/drawing/2014/main" val="3038276855"/>
                    </a:ext>
                  </a:extLst>
                </a:gridCol>
                <a:gridCol w="1328235">
                  <a:extLst>
                    <a:ext uri="{9D8B030D-6E8A-4147-A177-3AD203B41FA5}">
                      <a16:colId xmlns:a16="http://schemas.microsoft.com/office/drawing/2014/main" val="1064523082"/>
                    </a:ext>
                  </a:extLst>
                </a:gridCol>
                <a:gridCol w="1427356">
                  <a:extLst>
                    <a:ext uri="{9D8B030D-6E8A-4147-A177-3AD203B41FA5}">
                      <a16:colId xmlns:a16="http://schemas.microsoft.com/office/drawing/2014/main" val="1437424073"/>
                    </a:ext>
                  </a:extLst>
                </a:gridCol>
                <a:gridCol w="1526477">
                  <a:extLst>
                    <a:ext uri="{9D8B030D-6E8A-4147-A177-3AD203B41FA5}">
                      <a16:colId xmlns:a16="http://schemas.microsoft.com/office/drawing/2014/main" val="79362446"/>
                    </a:ext>
                  </a:extLst>
                </a:gridCol>
                <a:gridCol w="6189929">
                  <a:extLst>
                    <a:ext uri="{9D8B030D-6E8A-4147-A177-3AD203B41FA5}">
                      <a16:colId xmlns:a16="http://schemas.microsoft.com/office/drawing/2014/main" val="532096406"/>
                    </a:ext>
                  </a:extLst>
                </a:gridCol>
              </a:tblGrid>
              <a:tr h="185533">
                <a:tc>
                  <a:txBody>
                    <a:bodyPr/>
                    <a:lstStyle/>
                    <a:p>
                      <a:pPr algn="ctr" fontAlgn="ctr"/>
                      <a:r>
                        <a:rPr lang="en-US" sz="1200" b="0" i="0" u="none" strike="noStrike">
                          <a:solidFill>
                            <a:srgbClr val="000000"/>
                          </a:solidFill>
                          <a:effectLst/>
                          <a:latin typeface="Calibri" panose="020F0502020204030204" pitchFamily="34" charset="0"/>
                        </a:rPr>
                        <a:t>No</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378293"/>
                  </a:ext>
                </a:extLst>
              </a:tr>
              <a:tr h="551293">
                <a:tc>
                  <a:txBody>
                    <a:bodyPr/>
                    <a:lstStyle/>
                    <a:p>
                      <a:pPr algn="ctr" fontAlgn="ctr"/>
                      <a:r>
                        <a:rPr lang="en-US" sz="1200" b="0" i="0" u="none" strike="noStrike">
                          <a:solidFill>
                            <a:srgbClr val="000000"/>
                          </a:solidFill>
                          <a:effectLst/>
                          <a:latin typeface="Calibri" panose="020F0502020204030204" pitchFamily="34" charset="0"/>
                        </a:rPr>
                        <a:t>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B1372 RAISED DM AIR REDUNDANCY LOSS ON FUEL INERTING</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B1379 RAISED PACK 1 REGULATION REDUNDANCY</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B1381 RAISED F/CTL R OUT R AILERON G ACTUATOR</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8862800"/>
                  </a:ext>
                </a:extLst>
              </a:tr>
              <a:tr h="185533">
                <a:tc>
                  <a:txBody>
                    <a:bodyPr/>
                    <a:lstStyle/>
                    <a:p>
                      <a:pPr algn="ctr" fontAlgn="ctr"/>
                      <a:r>
                        <a:rPr lang="en-US" sz="1200" b="0" i="0" u="none" strike="noStrike">
                          <a:solidFill>
                            <a:srgbClr val="000000"/>
                          </a:solidFill>
                          <a:effectLst/>
                          <a:latin typeface="Calibri" panose="020F0502020204030204" pitchFamily="34" charset="0"/>
                        </a:rPr>
                        <a:t>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B1246 RAISED AIR PACK 2 REGUL REDUNDANCY</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7586727"/>
                  </a:ext>
                </a:extLst>
              </a:tr>
              <a:tr h="551293">
                <a:tc>
                  <a:txBody>
                    <a:bodyPr/>
                    <a:lstStyle/>
                    <a:p>
                      <a:pPr algn="ctr" fontAlgn="ctr"/>
                      <a:r>
                        <a:rPr lang="en-US" sz="1200" b="0" i="0" u="none" strike="noStrike">
                          <a:solidFill>
                            <a:srgbClr val="000000"/>
                          </a:solidFill>
                          <a:effectLst/>
                          <a:latin typeface="Calibri" panose="020F0502020204030204" pitchFamily="34" charset="0"/>
                        </a:rPr>
                        <a:t>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FM: PROBE 1-N1 TURBINE SPEED,ENG2(4088KS12) + PROBE 3-N1 TURBINE SPEED,ENG2(4088KS32) =&gt; monitor sau khi thay</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B1350 "DM: EXT LT STROBE LT"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41411"/>
                  </a:ext>
                </a:extLst>
              </a:tr>
              <a:tr h="368413">
                <a:tc>
                  <a:txBody>
                    <a:bodyPr/>
                    <a:lstStyle/>
                    <a:p>
                      <a:pPr algn="ctr" fontAlgn="ctr"/>
                      <a:r>
                        <a:rPr lang="en-US" sz="1200" b="0" i="0" u="none" strike="noStrike">
                          <a:solidFill>
                            <a:srgbClr val="000000"/>
                          </a:solidFill>
                          <a:effectLst/>
                          <a:latin typeface="Calibri" panose="020F0502020204030204" pitchFamily="34" charset="0"/>
                        </a:rPr>
                        <a:t>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21088 giảm tần suất soi HPT blade 1200FH/150FC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DM &gt; SMOKE LAVATORY DET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3934948"/>
                  </a:ext>
                </a:extLst>
              </a:tr>
              <a:tr h="193317">
                <a:tc>
                  <a:txBody>
                    <a:bodyPr/>
                    <a:lstStyle/>
                    <a:p>
                      <a:pPr algn="ctr" fontAlgn="ctr"/>
                      <a:r>
                        <a:rPr lang="en-US" sz="1200" b="0" i="0" u="none" strike="noStrike">
                          <a:solidFill>
                            <a:srgbClr val="000000"/>
                          </a:solidFill>
                          <a:effectLst/>
                          <a:latin typeface="Calibri" panose="020F0502020204030204" pitchFamily="34" charset="0"/>
                        </a:rPr>
                        <a:t>5</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TR 81489576: PREVENTIVE RECOMMENDATION PACK 2 INTERNAL LEAKAGE</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618243"/>
                  </a:ext>
                </a:extLst>
              </a:tr>
              <a:tr h="185533">
                <a:tc>
                  <a:txBody>
                    <a:bodyPr/>
                    <a:lstStyle/>
                    <a:p>
                      <a:pPr algn="ctr" fontAlgn="ctr"/>
                      <a:r>
                        <a:rPr lang="en-US" sz="1200" b="0" i="0" u="none" strike="noStrike">
                          <a:solidFill>
                            <a:srgbClr val="000000"/>
                          </a:solidFill>
                          <a:effectLst/>
                          <a:latin typeface="Calibri" panose="020F0502020204030204" pitchFamily="34" charset="0"/>
                        </a:rPr>
                        <a:t>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5977619"/>
                  </a:ext>
                </a:extLst>
              </a:tr>
              <a:tr h="185533">
                <a:tc>
                  <a:txBody>
                    <a:bodyPr/>
                    <a:lstStyle/>
                    <a:p>
                      <a:pPr algn="ctr" fontAlgn="ctr"/>
                      <a:r>
                        <a:rPr lang="en-US" sz="1200" b="0" i="0" u="none" strike="noStrike">
                          <a:solidFill>
                            <a:srgbClr val="000000"/>
                          </a:solidFill>
                          <a:effectLst/>
                          <a:latin typeface="Calibri" panose="020F0502020204030204" pitchFamily="34" charset="0"/>
                        </a:rPr>
                        <a:t>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B1455 RAISED THE DROOP-NOSE END-FILLING PANEL AT R/H MISSING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8142544"/>
                  </a:ext>
                </a:extLst>
              </a:tr>
              <a:tr h="368413">
                <a:tc>
                  <a:txBody>
                    <a:bodyPr/>
                    <a:lstStyle/>
                    <a:p>
                      <a:pPr algn="ctr" fontAlgn="ctr"/>
                      <a:r>
                        <a:rPr lang="en-US" sz="1200" b="0" i="0" u="none" strike="noStrike">
                          <a:solidFill>
                            <a:srgbClr val="000000"/>
                          </a:solidFill>
                          <a:effectLst/>
                          <a:latin typeface="Calibri" panose="020F0502020204030204" pitchFamily="34" charset="0"/>
                        </a:rPr>
                        <a:t>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2. ENG#2 HIGH OIL CONSUMPTION</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3. ADD B1261 RAISED REPLACE FAN TRACK LINER OF ENG1 IN 100 FC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9653182"/>
                  </a:ext>
                </a:extLst>
              </a:tr>
              <a:tr h="185533">
                <a:tc>
                  <a:txBody>
                    <a:bodyPr/>
                    <a:lstStyle/>
                    <a:p>
                      <a:pPr algn="ctr" fontAlgn="ctr"/>
                      <a:r>
                        <a:rPr lang="en-US" sz="1200" b="0" i="0" u="none" strike="noStrike">
                          <a:solidFill>
                            <a:srgbClr val="000000"/>
                          </a:solidFill>
                          <a:effectLst/>
                          <a:latin typeface="Calibri" panose="020F0502020204030204" pitchFamily="34" charset="0"/>
                        </a:rPr>
                        <a:t>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21425 giảm tần suất soi HPT blade 800FH/100FC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0967634"/>
                  </a:ext>
                </a:extLst>
              </a:tr>
              <a:tr h="368413">
                <a:tc>
                  <a:txBody>
                    <a:bodyPr/>
                    <a:lstStyle/>
                    <a:p>
                      <a:pPr algn="ctr" fontAlgn="ctr"/>
                      <a:r>
                        <a:rPr lang="en-US" sz="1200" b="0" i="0" u="none" strike="noStrike">
                          <a:solidFill>
                            <a:srgbClr val="000000"/>
                          </a:solidFill>
                          <a:effectLst/>
                          <a:latin typeface="Calibri" panose="020F0502020204030204" pitchFamily="34" charset="0"/>
                        </a:rPr>
                        <a:t>10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A895</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B995 RAISED ENGINE #1 SN 21604 HAVE LOW LIFE TIME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ADD B996 RAISED ENGINE #2 SN 21414 HAVE LOW LIFE TIME</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6475424"/>
                  </a:ext>
                </a:extLst>
              </a:tr>
              <a:tr h="1099933">
                <a:tc>
                  <a:txBody>
                    <a:bodyPr/>
                    <a:lstStyle/>
                    <a:p>
                      <a:pPr algn="ctr" fontAlgn="ctr"/>
                      <a:r>
                        <a:rPr lang="en-US" sz="1200" b="0" i="0" u="none" strike="noStrike">
                          <a:solidFill>
                            <a:srgbClr val="000000"/>
                          </a:solidFill>
                          <a:effectLst/>
                          <a:latin typeface="Calibri" panose="020F0502020204030204" pitchFamily="34" charset="0"/>
                        </a:rPr>
                        <a:t>11</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A896</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B954: UPPER LATCH ASSY OF COCKPIT DOOR BOLTING SYSTEM IS NOT FULLY LOCKED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B971 RAISED F/CTL RUDDER G ACTUATOR</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TR 81416394: PREVENTIVE RECOMMENDATION PACK 1 INTERNAL LEAKAGE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TR (81527880): "PREVENTIVE RECOMMENDATION SERVO-CONTROL OUTBOARD AILERON YELLOW RH PRESSURE SENSOR DEGRADATION (2CR2)"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DOOR 3 R/H, 4 L/H NOISY DURING IN FLIGHT </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7436565"/>
                  </a:ext>
                </a:extLst>
              </a:tr>
              <a:tr h="185533">
                <a:tc>
                  <a:txBody>
                    <a:bodyPr/>
                    <a:lstStyle/>
                    <a:p>
                      <a:pPr algn="ctr" fontAlgn="ctr"/>
                      <a:r>
                        <a:rPr lang="en-US" sz="1200" b="0" i="0" u="none" strike="noStrike">
                          <a:solidFill>
                            <a:srgbClr val="000000"/>
                          </a:solidFill>
                          <a:effectLst/>
                          <a:latin typeface="Calibri" panose="020F0502020204030204" pitchFamily="34" charset="0"/>
                        </a:rPr>
                        <a:t>12</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A897</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Logo Skyteam</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8305684"/>
                  </a:ext>
                </a:extLst>
              </a:tr>
              <a:tr h="1282813">
                <a:tc>
                  <a:txBody>
                    <a:bodyPr/>
                    <a:lstStyle/>
                    <a:p>
                      <a:pPr algn="ctr" fontAlgn="ctr"/>
                      <a:r>
                        <a:rPr lang="en-US" sz="1200" b="0" i="0" u="none" strike="noStrike">
                          <a:solidFill>
                            <a:srgbClr val="000000"/>
                          </a:solidFill>
                          <a:effectLst/>
                          <a:latin typeface="Calibri" panose="020F0502020204030204" pitchFamily="34" charset="0"/>
                        </a:rPr>
                        <a:t>13</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A898</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CABIN tồn đọng hỏng hóc MID SCS CHILLER, cân nhắc chọn tầu VIP chỉ bay nội địa</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B1134 RAISED FOR REPAIR OF DENT L/H DROOP NOSE WITHIN 350FC OR 150 DAYS WHICHEVER COME FIRST</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B1137 RAISED BRAKE FAN #8 INOP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CAPT OXYGEN CYLINDER (11HT1) PRESSURE IS LOW NEAR LIMIT (&lt;1200 PSI)</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7479042"/>
                  </a:ext>
                </a:extLst>
              </a:tr>
              <a:tr h="368413">
                <a:tc>
                  <a:txBody>
                    <a:bodyPr/>
                    <a:lstStyle/>
                    <a:p>
                      <a:pPr algn="ctr" fontAlgn="ctr"/>
                      <a:r>
                        <a:rPr lang="en-US" sz="1200" b="0" i="0" u="none" strike="noStrike">
                          <a:solidFill>
                            <a:srgbClr val="000000"/>
                          </a:solidFill>
                          <a:effectLst/>
                          <a:latin typeface="Calibri" panose="020F0502020204030204" pitchFamily="34" charset="0"/>
                        </a:rPr>
                        <a:t>14</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A899</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21048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DM: F/CTL STABILIZER E3 ACTUATOR INTM</a:t>
                      </a:r>
                    </a:p>
                  </a:txBody>
                  <a:tcPr marL="2653" marR="2653" marT="26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732326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337534" y="730407"/>
            <a:ext cx="11516933" cy="2308324"/>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tương đối tốt với 01 TH AOG.</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solidFill>
                  <a:prstClr val="black"/>
                </a:solidFill>
                <a:latin typeface="Times New Roman" panose="02020603050405020304" pitchFamily="18" charset="0"/>
                <a:cs typeface="Times New Roman" panose="02020603050405020304" pitchFamily="18" charset="0"/>
              </a:rPr>
              <a:t>+ A893 AOG ngày 14/01 tại HAN do </a:t>
            </a:r>
            <a:r>
              <a:rPr lang="en-SG" sz="1600">
                <a:solidFill>
                  <a:prstClr val="black"/>
                </a:solidFill>
                <a:latin typeface="Times New Roman" panose="02020603050405020304" pitchFamily="18" charset="0"/>
                <a:cs typeface="Times New Roman" panose="02020603050405020304" pitchFamily="18" charset="0"/>
              </a:rPr>
              <a:t>F/CTL RUDDER G ACTUATOR -&gt; thay FCRM. Tuy nhiên chuyến sau đó tại ICN delay do xuất hiện lại MSG -&gt; mở MEL. KH thay RUDDER SERVO CTRL để khắc phục ADD ngày 21/01 tại HAN.</a:t>
            </a:r>
            <a:endParaRPr lang="vi-VN" sz="1600">
              <a:solidFill>
                <a:srgbClr val="FF0000"/>
              </a:solidFill>
              <a:latin typeface="Times New Roman" panose="02020603050405020304" pitchFamily="18" charset="0"/>
              <a:cs typeface="Times New Roman" panose="02020603050405020304" pitchFamily="18" charset="0"/>
            </a:endParaRP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do FCRM, nguyên nhân do đứt gãy mối hàn bên trong bảng mạch Dự kiến tháng 4/2025, MOOG sẽ ban hành giải pháp tạm thời để bôi lớp keo lên các mối hàn để hạn chế việc đứt gãy mối hàn. Với trường hợp này, xuất hiện hỏng hóc lặp lại, khối FCRM trong kho lắp lên là NFF từ lần đi shop gần nhất. Nghi ngờ khối trong kho có vấn đề. Đã gửi thông tin cho AIB và đang chờ phản hồi.</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50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34276AA2-D940-E01C-D7BC-0F3A4DE83381}"/>
              </a:ext>
            </a:extLst>
          </p:cNvPr>
          <p:cNvSpPr>
            <a:spLocks noGrp="1"/>
          </p:cNvSpPr>
          <p:nvPr>
            <p:ph type="title"/>
          </p:nvPr>
        </p:nvSpPr>
        <p:spPr>
          <a:xfrm>
            <a:off x="228600" y="93133"/>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id="{707FA246-4B8B-393F-FE30-333DDD45FBD4}"/>
              </a:ext>
            </a:extLst>
          </p:cNvPr>
          <p:cNvSpPr txBox="1"/>
          <p:nvPr/>
        </p:nvSpPr>
        <p:spPr>
          <a:xfrm>
            <a:off x="152397"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3" name="TextBox 2">
            <a:extLst>
              <a:ext uri="{FF2B5EF4-FFF2-40B4-BE49-F238E27FC236}">
                <a16:creationId xmlns:a16="http://schemas.microsoft.com/office/drawing/2014/main" id="{D81119D0-6F80-6B55-5FD9-8175EDB24096}"/>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6D228A3-2957-9776-AA00-6ED0500D28D6}"/>
              </a:ext>
            </a:extLst>
          </p:cNvPr>
          <p:cNvGraphicFramePr>
            <a:graphicFrameLocks noGrp="1"/>
          </p:cNvGraphicFramePr>
          <p:nvPr>
            <p:extLst>
              <p:ext uri="{D42A27DB-BD31-4B8C-83A1-F6EECF244321}">
                <p14:modId xmlns:p14="http://schemas.microsoft.com/office/powerpoint/2010/main" val="2023836057"/>
              </p:ext>
            </p:extLst>
          </p:nvPr>
        </p:nvGraphicFramePr>
        <p:xfrm>
          <a:off x="152397" y="1774593"/>
          <a:ext cx="11688716" cy="2241881"/>
        </p:xfrm>
        <a:graphic>
          <a:graphicData uri="http://schemas.openxmlformats.org/drawingml/2006/table">
            <a:tbl>
              <a:tblPr/>
              <a:tblGrid>
                <a:gridCol w="420683">
                  <a:extLst>
                    <a:ext uri="{9D8B030D-6E8A-4147-A177-3AD203B41FA5}">
                      <a16:colId xmlns:a16="http://schemas.microsoft.com/office/drawing/2014/main" val="3532412126"/>
                    </a:ext>
                  </a:extLst>
                </a:gridCol>
                <a:gridCol w="727397">
                  <a:extLst>
                    <a:ext uri="{9D8B030D-6E8A-4147-A177-3AD203B41FA5}">
                      <a16:colId xmlns:a16="http://schemas.microsoft.com/office/drawing/2014/main" val="2246453922"/>
                    </a:ext>
                  </a:extLst>
                </a:gridCol>
                <a:gridCol w="251282">
                  <a:extLst>
                    <a:ext uri="{9D8B030D-6E8A-4147-A177-3AD203B41FA5}">
                      <a16:colId xmlns:a16="http://schemas.microsoft.com/office/drawing/2014/main" val="3831941748"/>
                    </a:ext>
                  </a:extLst>
                </a:gridCol>
                <a:gridCol w="681109">
                  <a:extLst>
                    <a:ext uri="{9D8B030D-6E8A-4147-A177-3AD203B41FA5}">
                      <a16:colId xmlns:a16="http://schemas.microsoft.com/office/drawing/2014/main" val="961761706"/>
                    </a:ext>
                  </a:extLst>
                </a:gridCol>
                <a:gridCol w="509177">
                  <a:extLst>
                    <a:ext uri="{9D8B030D-6E8A-4147-A177-3AD203B41FA5}">
                      <a16:colId xmlns:a16="http://schemas.microsoft.com/office/drawing/2014/main" val="1638648152"/>
                    </a:ext>
                  </a:extLst>
                </a:gridCol>
                <a:gridCol w="423213">
                  <a:extLst>
                    <a:ext uri="{9D8B030D-6E8A-4147-A177-3AD203B41FA5}">
                      <a16:colId xmlns:a16="http://schemas.microsoft.com/office/drawing/2014/main" val="1768356610"/>
                    </a:ext>
                  </a:extLst>
                </a:gridCol>
                <a:gridCol w="2519436">
                  <a:extLst>
                    <a:ext uri="{9D8B030D-6E8A-4147-A177-3AD203B41FA5}">
                      <a16:colId xmlns:a16="http://schemas.microsoft.com/office/drawing/2014/main" val="3401757400"/>
                    </a:ext>
                  </a:extLst>
                </a:gridCol>
                <a:gridCol w="2803782">
                  <a:extLst>
                    <a:ext uri="{9D8B030D-6E8A-4147-A177-3AD203B41FA5}">
                      <a16:colId xmlns:a16="http://schemas.microsoft.com/office/drawing/2014/main" val="3320069203"/>
                    </a:ext>
                  </a:extLst>
                </a:gridCol>
                <a:gridCol w="257896">
                  <a:extLst>
                    <a:ext uri="{9D8B030D-6E8A-4147-A177-3AD203B41FA5}">
                      <a16:colId xmlns:a16="http://schemas.microsoft.com/office/drawing/2014/main" val="4279825923"/>
                    </a:ext>
                  </a:extLst>
                </a:gridCol>
                <a:gridCol w="3094741">
                  <a:extLst>
                    <a:ext uri="{9D8B030D-6E8A-4147-A177-3AD203B41FA5}">
                      <a16:colId xmlns:a16="http://schemas.microsoft.com/office/drawing/2014/main" val="1988727542"/>
                    </a:ext>
                  </a:extLst>
                </a:gridCol>
              </a:tblGrid>
              <a:tr h="87529">
                <a:tc>
                  <a:txBody>
                    <a:bodyPr/>
                    <a:lstStyle/>
                    <a:p>
                      <a:pPr algn="ctr" fontAlgn="t"/>
                      <a:r>
                        <a:rPr lang="en-US" sz="12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627700936"/>
                  </a:ext>
                </a:extLst>
              </a:tr>
              <a:tr h="1690223">
                <a:tc>
                  <a:txBody>
                    <a:bodyPr/>
                    <a:lstStyle/>
                    <a:p>
                      <a:pPr algn="ctr" fontAlgn="t"/>
                      <a:r>
                        <a:rPr lang="en-US" sz="1200" b="0" i="0" u="none" strike="noStrike">
                          <a:solidFill>
                            <a:srgbClr val="000000"/>
                          </a:solidFill>
                          <a:effectLst/>
                          <a:latin typeface="Times New Roman" panose="02020603050405020304" pitchFamily="18" charset="0"/>
                        </a:rPr>
                        <a:t>A872</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14:04 14/01/2025</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SGN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30</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VN250</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rPr>
                        <a:t>SGN-HAN</a:t>
                      </a:r>
                    </a:p>
                  </a:txBody>
                  <a:tcPr marL="3018" marR="3018" marT="30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T/X FOUND LH ELECTRIC BRAKE POWER SUPPLY UNIT FAILED (NOGO)  &lt;p&gt;T/X FOUND LH ELECTRIC BRAKE POWER SUPPLY UNIT IS FAILED ( MSG NOGO )</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a:solidFill>
                            <a:srgbClr val="000000"/>
                          </a:solidFill>
                          <a:effectLst/>
                          <a:latin typeface="Times New Roman" panose="02020603050405020304" pitchFamily="18" charset="0"/>
                        </a:rPr>
                        <a:t>ACTION:  C/O RPLD CONTACTOR (ROB FROM A866) , OPS TEST SATIS EVENT CLOSED &lt;p&gt; C/O RPLD CONTACTOR (ROB FROM A866) , OPS TEST SATIS.  A/C SERVICEABLE </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24-00</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dirty="0">
                          <a:solidFill>
                            <a:srgbClr val="000000"/>
                          </a:solidFill>
                          <a:effectLst/>
                          <a:latin typeface="Times New Roman" panose="02020603050405020304" pitchFamily="18" charset="0"/>
                        </a:rPr>
                        <a:t>Đã thực hiện thay contactor và EBPSU do hỏng hóc xuất hiện intermittent trong 3 chuyến và tiểm ẩn nguy cơ AOG. Đang làm việc với QLVT gửi contactor sang Safran phân tích thêm nguyên nhân. Sẽ tiếp tục cập nhật.</a:t>
                      </a:r>
                      <a:br>
                        <a:rPr lang="vi-VN" sz="1200" b="0" i="0" u="none" strike="noStrike" dirty="0">
                          <a:solidFill>
                            <a:srgbClr val="000000"/>
                          </a:solidFill>
                          <a:effectLst/>
                          <a:latin typeface="Times New Roman" panose="02020603050405020304" pitchFamily="18" charset="0"/>
                        </a:rPr>
                      </a:br>
                      <a:endParaRPr lang="vi-VN" sz="1200" b="0" i="0" u="none" strike="noStrike" dirty="0">
                        <a:solidFill>
                          <a:srgbClr val="000000"/>
                        </a:solidFill>
                        <a:effectLst/>
                        <a:latin typeface="Times New Roman" panose="02020603050405020304" pitchFamily="18" charset="0"/>
                      </a:endParaRP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760425"/>
                  </a:ext>
                </a:extLst>
              </a:tr>
            </a:tbl>
          </a:graphicData>
        </a:graphic>
      </p:graphicFrame>
    </p:spTree>
    <p:extLst>
      <p:ext uri="{BB962C8B-B14F-4D97-AF65-F5344CB8AC3E}">
        <p14:creationId xmlns:p14="http://schemas.microsoft.com/office/powerpoint/2010/main" val="1235083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5048CE8A-FCB5-6E0C-9222-B31F58D40232}"/>
              </a:ext>
            </a:extLst>
          </p:cNvPr>
          <p:cNvGraphicFramePr>
            <a:graphicFrameLocks noGrp="1"/>
          </p:cNvGraphicFramePr>
          <p:nvPr/>
        </p:nvGraphicFramePr>
        <p:xfrm>
          <a:off x="175690" y="501461"/>
          <a:ext cx="11840622" cy="6270010"/>
        </p:xfrm>
        <a:graphic>
          <a:graphicData uri="http://schemas.openxmlformats.org/drawingml/2006/table">
            <a:tbl>
              <a:tblPr/>
              <a:tblGrid>
                <a:gridCol w="498340">
                  <a:extLst>
                    <a:ext uri="{9D8B030D-6E8A-4147-A177-3AD203B41FA5}">
                      <a16:colId xmlns:a16="http://schemas.microsoft.com/office/drawing/2014/main" val="3837423273"/>
                    </a:ext>
                  </a:extLst>
                </a:gridCol>
                <a:gridCol w="683941">
                  <a:extLst>
                    <a:ext uri="{9D8B030D-6E8A-4147-A177-3AD203B41FA5}">
                      <a16:colId xmlns:a16="http://schemas.microsoft.com/office/drawing/2014/main" val="3116833694"/>
                    </a:ext>
                  </a:extLst>
                </a:gridCol>
                <a:gridCol w="465873">
                  <a:extLst>
                    <a:ext uri="{9D8B030D-6E8A-4147-A177-3AD203B41FA5}">
                      <a16:colId xmlns:a16="http://schemas.microsoft.com/office/drawing/2014/main" val="3350362111"/>
                    </a:ext>
                  </a:extLst>
                </a:gridCol>
                <a:gridCol w="1377795">
                  <a:extLst>
                    <a:ext uri="{9D8B030D-6E8A-4147-A177-3AD203B41FA5}">
                      <a16:colId xmlns:a16="http://schemas.microsoft.com/office/drawing/2014/main" val="4146840853"/>
                    </a:ext>
                  </a:extLst>
                </a:gridCol>
                <a:gridCol w="1060605">
                  <a:extLst>
                    <a:ext uri="{9D8B030D-6E8A-4147-A177-3AD203B41FA5}">
                      <a16:colId xmlns:a16="http://schemas.microsoft.com/office/drawing/2014/main" val="2683699805"/>
                    </a:ext>
                  </a:extLst>
                </a:gridCol>
                <a:gridCol w="1665249">
                  <a:extLst>
                    <a:ext uri="{9D8B030D-6E8A-4147-A177-3AD203B41FA5}">
                      <a16:colId xmlns:a16="http://schemas.microsoft.com/office/drawing/2014/main" val="2325277904"/>
                    </a:ext>
                  </a:extLst>
                </a:gridCol>
                <a:gridCol w="6088819">
                  <a:extLst>
                    <a:ext uri="{9D8B030D-6E8A-4147-A177-3AD203B41FA5}">
                      <a16:colId xmlns:a16="http://schemas.microsoft.com/office/drawing/2014/main" val="1637767943"/>
                    </a:ext>
                  </a:extLst>
                </a:gridCol>
              </a:tblGrid>
              <a:tr h="279937">
                <a:tc>
                  <a:txBody>
                    <a:bodyPr/>
                    <a:lstStyle/>
                    <a:p>
                      <a:pPr algn="ctr" fontAlgn="ctr"/>
                      <a:r>
                        <a:rPr lang="en-US" sz="1200" b="0" i="0" u="none" strike="noStrike">
                          <a:solidFill>
                            <a:srgbClr val="000000"/>
                          </a:solidFill>
                          <a:effectLst/>
                          <a:latin typeface="Calibri" panose="020F0502020204030204" pitchFamily="34" charset="0"/>
                        </a:rPr>
                        <a:t>No</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8749866"/>
                  </a:ext>
                </a:extLst>
              </a:tr>
              <a:tr h="187487">
                <a:tc>
                  <a:txBody>
                    <a:bodyPr/>
                    <a:lstStyle/>
                    <a:p>
                      <a:pPr algn="ctr" fontAlgn="ctr"/>
                      <a:r>
                        <a:rPr lang="en-US" sz="1200" b="0" i="0" u="none" strike="noStrike">
                          <a:solidFill>
                            <a:srgbClr val="000000"/>
                          </a:solidFill>
                          <a:effectLst/>
                          <a:latin typeface="Calibri" panose="020F0502020204030204" pitchFamily="34" charset="0"/>
                        </a:rPr>
                        <a:t>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B1510 : NITROGEN GENERATION SYS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8352135"/>
                  </a:ext>
                </a:extLst>
              </a:tr>
              <a:tr h="187487">
                <a:tc>
                  <a:txBody>
                    <a:bodyPr/>
                    <a:lstStyle/>
                    <a:p>
                      <a:pPr algn="ctr" fontAlgn="ctr"/>
                      <a:r>
                        <a:rPr lang="en-US" sz="1200" b="0" i="0" u="none" strike="noStrike">
                          <a:solidFill>
                            <a:srgbClr val="000000"/>
                          </a:solidFill>
                          <a:effectLst/>
                          <a:latin typeface="Calibri" panose="020F0502020204030204" pitchFamily="34" charset="0"/>
                        </a:rPr>
                        <a:t>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7564103"/>
                  </a:ext>
                </a:extLst>
              </a:tr>
              <a:tr h="554683">
                <a:tc>
                  <a:txBody>
                    <a:bodyPr/>
                    <a:lstStyle/>
                    <a:p>
                      <a:pPr algn="ctr" fontAlgn="ctr"/>
                      <a:r>
                        <a:rPr lang="en-US" sz="1200" b="0" i="0" u="none" strike="noStrike">
                          <a:solidFill>
                            <a:srgbClr val="000000"/>
                          </a:solidFill>
                          <a:effectLst/>
                          <a:latin typeface="Calibri" panose="020F0502020204030204" pitchFamily="34" charset="0"/>
                        </a:rPr>
                        <a:t>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Engine 1 (958170) HPT 1B có hỏng hóc (giảm tần suất 50FC)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Possible leak detected in the crew oxygen system</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B1601 STS TAIL AIRFLOW SYS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3565275"/>
                  </a:ext>
                </a:extLst>
              </a:tr>
              <a:tr h="417309">
                <a:tc>
                  <a:txBody>
                    <a:bodyPr/>
                    <a:lstStyle/>
                    <a:p>
                      <a:pPr algn="ctr" fontAlgn="ctr"/>
                      <a:r>
                        <a:rPr lang="en-US" sz="1200" b="0" i="0" u="none" strike="noStrike">
                          <a:solidFill>
                            <a:srgbClr val="000000"/>
                          </a:solidFill>
                          <a:effectLst/>
                          <a:latin typeface="Calibri" panose="020F0502020204030204" pitchFamily="34" charset="0"/>
                        </a:rPr>
                        <a:t>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Engine 2 (956577) HPT 1B có hỏng hóc (giảm tần suất 50FC)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B1205 WEATHER RADAR SYS R</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6675680"/>
                  </a:ext>
                </a:extLst>
              </a:tr>
              <a:tr h="187487">
                <a:tc>
                  <a:txBody>
                    <a:bodyPr/>
                    <a:lstStyle/>
                    <a:p>
                      <a:pPr algn="ctr" fontAlgn="ctr"/>
                      <a:r>
                        <a:rPr lang="en-US" sz="1200" b="0" i="0" u="none" strike="noStrike">
                          <a:solidFill>
                            <a:srgbClr val="000000"/>
                          </a:solidFill>
                          <a:effectLst/>
                          <a:latin typeface="Calibri" panose="020F0502020204030204" pitchFamily="34" charset="0"/>
                        </a:rPr>
                        <a:t>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110634"/>
                  </a:ext>
                </a:extLst>
              </a:tr>
              <a:tr h="417309">
                <a:tc>
                  <a:txBody>
                    <a:bodyPr/>
                    <a:lstStyle/>
                    <a:p>
                      <a:pPr algn="ctr" fontAlgn="ctr"/>
                      <a:r>
                        <a:rPr lang="en-US" sz="1200" b="0" i="0" u="none" strike="noStrike">
                          <a:solidFill>
                            <a:srgbClr val="000000"/>
                          </a:solidFill>
                          <a:effectLst/>
                          <a:latin typeface="Calibri" panose="020F0502020204030204" pitchFamily="34" charset="0"/>
                        </a:rPr>
                        <a:t>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6769517"/>
                  </a:ext>
                </a:extLst>
              </a:tr>
              <a:tr h="554683">
                <a:tc>
                  <a:txBody>
                    <a:bodyPr/>
                    <a:lstStyle/>
                    <a:p>
                      <a:pPr algn="ctr" fontAlgn="ctr"/>
                      <a:r>
                        <a:rPr lang="en-US" sz="1200" b="0" i="0" u="none" strike="noStrike">
                          <a:solidFill>
                            <a:srgbClr val="000000"/>
                          </a:solidFill>
                          <a:effectLst/>
                          <a:latin typeface="Calibri" panose="020F0502020204030204" pitchFamily="34" charset="0"/>
                        </a:rPr>
                        <a:t>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1 HPT STG 2 CRACK, giảm tần suất soi 250 FC theo DR Recommendation 01379322 Revision 0.0</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B1519 CABIN AIR CPRSR L1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7772389"/>
                  </a:ext>
                </a:extLst>
              </a:tr>
              <a:tr h="417309">
                <a:tc>
                  <a:txBody>
                    <a:bodyPr/>
                    <a:lstStyle/>
                    <a:p>
                      <a:pPr algn="ctr" fontAlgn="ctr"/>
                      <a:r>
                        <a:rPr lang="en-US" sz="1200" b="0" i="0" u="none" strike="noStrike">
                          <a:solidFill>
                            <a:srgbClr val="000000"/>
                          </a:solidFill>
                          <a:effectLst/>
                          <a:latin typeface="Calibri" panose="020F0502020204030204" pitchFamily="34" charset="0"/>
                        </a:rPr>
                        <a:t>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B1061 RAISED: ENG#1 REPLACE OR RE-INSPECT NOT TO EXCEED 50 CYCLES, REF DR#02104796, EXP: 6074 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7027310"/>
                  </a:ext>
                </a:extLst>
              </a:tr>
              <a:tr h="417309">
                <a:tc>
                  <a:txBody>
                    <a:bodyPr/>
                    <a:lstStyle/>
                    <a:p>
                      <a:pPr algn="ctr" fontAlgn="ctr"/>
                      <a:r>
                        <a:rPr lang="en-US" sz="1200" b="0" i="0" u="none" strike="noStrike">
                          <a:solidFill>
                            <a:srgbClr val="000000"/>
                          </a:solidFill>
                          <a:effectLst/>
                          <a:latin typeface="Calibri" panose="020F0502020204030204" pitchFamily="34" charset="0"/>
                        </a:rPr>
                        <a:t>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A869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8220147"/>
                  </a:ext>
                </a:extLst>
              </a:tr>
              <a:tr h="187487">
                <a:tc>
                  <a:txBody>
                    <a:bodyPr/>
                    <a:lstStyle/>
                    <a:p>
                      <a:pPr algn="ctr" fontAlgn="ctr"/>
                      <a:r>
                        <a:rPr lang="en-US" sz="1200" b="0" i="0" u="none" strike="noStrike">
                          <a:solidFill>
                            <a:srgbClr val="000000"/>
                          </a:solidFill>
                          <a:effectLst/>
                          <a:latin typeface="Calibri" panose="020F0502020204030204" pitchFamily="34" charset="0"/>
                        </a:rPr>
                        <a:t>10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1163171"/>
                  </a:ext>
                </a:extLst>
              </a:tr>
              <a:tr h="279937">
                <a:tc>
                  <a:txBody>
                    <a:bodyPr/>
                    <a:lstStyle/>
                    <a:p>
                      <a:pPr algn="ctr" fontAlgn="ctr"/>
                      <a:r>
                        <a:rPr lang="en-US" sz="1200" b="0" i="0" u="none" strike="noStrike">
                          <a:solidFill>
                            <a:srgbClr val="000000"/>
                          </a:solidFill>
                          <a:effectLst/>
                          <a:latin typeface="Calibri" panose="020F0502020204030204" pitchFamily="34" charset="0"/>
                        </a:rPr>
                        <a:t>11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Engine 1 (956913) HPT 1B có hỏng hóc (giảm tần suất 50FC)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5218696"/>
                  </a:ext>
                </a:extLst>
              </a:tr>
              <a:tr h="417309">
                <a:tc>
                  <a:txBody>
                    <a:bodyPr/>
                    <a:lstStyle/>
                    <a:p>
                      <a:pPr algn="ctr" fontAlgn="ctr"/>
                      <a:r>
                        <a:rPr lang="en-US" sz="1200" b="0" i="0" u="none" strike="noStrike">
                          <a:solidFill>
                            <a:srgbClr val="000000"/>
                          </a:solidFill>
                          <a:effectLst/>
                          <a:latin typeface="Calibri" panose="020F0502020204030204" pitchFamily="34" charset="0"/>
                        </a:rPr>
                        <a:t>12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 REF DEPARTURE RECOMMENDATION 02117441 ADD B1240 AT THE END OF THE 50 CYCLES REMOVE THE ENGINE OR RE-INSPEC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7707746"/>
                  </a:ext>
                </a:extLst>
              </a:tr>
              <a:tr h="279937">
                <a:tc>
                  <a:txBody>
                    <a:bodyPr/>
                    <a:lstStyle/>
                    <a:p>
                      <a:pPr algn="ctr" fontAlgn="ctr"/>
                      <a:r>
                        <a:rPr lang="en-US" sz="1200" b="0" i="0" u="none" strike="noStrike">
                          <a:solidFill>
                            <a:srgbClr val="000000"/>
                          </a:solidFill>
                          <a:effectLst/>
                          <a:latin typeface="Calibri" panose="020F0502020204030204" pitchFamily="34" charset="0"/>
                        </a:rPr>
                        <a:t>13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2 giảm tần suất soi HPT 1nd stage 100 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508905"/>
                  </a:ext>
                </a:extLst>
              </a:tr>
              <a:tr h="279937">
                <a:tc>
                  <a:txBody>
                    <a:bodyPr/>
                    <a:lstStyle/>
                    <a:p>
                      <a:pPr algn="ctr" fontAlgn="ctr"/>
                      <a:r>
                        <a:rPr lang="en-US" sz="1200" b="0" i="0" u="none" strike="noStrike">
                          <a:solidFill>
                            <a:srgbClr val="000000"/>
                          </a:solidFill>
                          <a:effectLst/>
                          <a:latin typeface="Calibri" panose="020F0502020204030204" pitchFamily="34" charset="0"/>
                        </a:rPr>
                        <a:t>14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2 giảm tần suất soi HPT 1nd stage 100 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1674009"/>
                  </a:ext>
                </a:extLst>
              </a:tr>
              <a:tr h="187487">
                <a:tc>
                  <a:txBody>
                    <a:bodyPr/>
                    <a:lstStyle/>
                    <a:p>
                      <a:pPr algn="ctr" fontAlgn="ctr"/>
                      <a:r>
                        <a:rPr lang="en-US" sz="1200" b="0" i="0" u="none" strike="noStrike">
                          <a:solidFill>
                            <a:srgbClr val="000000"/>
                          </a:solidFill>
                          <a:effectLst/>
                          <a:latin typeface="Calibri" panose="020F0502020204030204" pitchFamily="34" charset="0"/>
                        </a:rPr>
                        <a:t>15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0934821"/>
                  </a:ext>
                </a:extLst>
              </a:tr>
              <a:tr h="187487">
                <a:tc>
                  <a:txBody>
                    <a:bodyPr/>
                    <a:lstStyle/>
                    <a:p>
                      <a:pPr algn="ctr" fontAlgn="ctr"/>
                      <a:r>
                        <a:rPr lang="en-US" sz="1200" b="0" i="0" u="none" strike="noStrike">
                          <a:solidFill>
                            <a:srgbClr val="000000"/>
                          </a:solidFill>
                          <a:effectLst/>
                          <a:latin typeface="Calibri" panose="020F0502020204030204" pitchFamily="34" charset="0"/>
                        </a:rPr>
                        <a:t>16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4740436"/>
                  </a:ext>
                </a:extLst>
              </a:tr>
              <a:tr h="829429">
                <a:tc>
                  <a:txBody>
                    <a:bodyPr/>
                    <a:lstStyle/>
                    <a:p>
                      <a:pPr algn="ctr" fontAlgn="ctr"/>
                      <a:r>
                        <a:rPr lang="en-US" sz="1200" b="0" i="0" u="none" strike="noStrike">
                          <a:solidFill>
                            <a:srgbClr val="000000"/>
                          </a:solidFill>
                          <a:effectLst/>
                          <a:latin typeface="Calibri" panose="020F0502020204030204" pitchFamily="34" charset="0"/>
                        </a:rPr>
                        <a:t>17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A879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B498 FWD CARGO HANDLING SYSTEM INOP (ELECTRICAL POWER NOT AVAIL)</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1803534"/>
                  </a:ext>
                </a:extLst>
              </a:tr>
            </a:tbl>
          </a:graphicData>
        </a:graphic>
      </p:graphicFrame>
    </p:spTree>
    <p:extLst>
      <p:ext uri="{BB962C8B-B14F-4D97-AF65-F5344CB8AC3E}">
        <p14:creationId xmlns:p14="http://schemas.microsoft.com/office/powerpoint/2010/main" val="4139385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410314" y="730407"/>
            <a:ext cx="11690701"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endParaRPr lang="en-SG" sz="16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6315A99-7C22-BCBB-51AE-B39776276C50}"/>
              </a:ext>
            </a:extLst>
          </p:cNvPr>
          <p:cNvSpPr txBox="1"/>
          <p:nvPr/>
        </p:nvSpPr>
        <p:spPr>
          <a:xfrm>
            <a:off x="457199" y="974924"/>
            <a:ext cx="11383915"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02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3" name="TextBox 2">
            <a:extLst>
              <a:ext uri="{FF2B5EF4-FFF2-40B4-BE49-F238E27FC236}">
                <a16:creationId xmlns:a16="http://schemas.microsoft.com/office/drawing/2014/main" id="{6F27D0E6-6319-F9BB-EBF8-9A0BC977766E}"/>
              </a:ext>
            </a:extLst>
          </p:cNvPr>
          <p:cNvSpPr txBox="1"/>
          <p:nvPr/>
        </p:nvSpPr>
        <p:spPr>
          <a:xfrm>
            <a:off x="457200" y="1447800"/>
            <a:ext cx="11360150"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E9F34CE-B663-A23E-7332-BFA758F56602}"/>
              </a:ext>
            </a:extLst>
          </p:cNvPr>
          <p:cNvGraphicFramePr>
            <a:graphicFrameLocks noGrp="1"/>
          </p:cNvGraphicFramePr>
          <p:nvPr>
            <p:extLst>
              <p:ext uri="{D42A27DB-BD31-4B8C-83A1-F6EECF244321}">
                <p14:modId xmlns:p14="http://schemas.microsoft.com/office/powerpoint/2010/main" val="190550245"/>
              </p:ext>
            </p:extLst>
          </p:nvPr>
        </p:nvGraphicFramePr>
        <p:xfrm>
          <a:off x="457199" y="2068380"/>
          <a:ext cx="11383915" cy="1471952"/>
        </p:xfrm>
        <a:graphic>
          <a:graphicData uri="http://schemas.openxmlformats.org/drawingml/2006/table">
            <a:tbl>
              <a:tblPr/>
              <a:tblGrid>
                <a:gridCol w="366600">
                  <a:extLst>
                    <a:ext uri="{9D8B030D-6E8A-4147-A177-3AD203B41FA5}">
                      <a16:colId xmlns:a16="http://schemas.microsoft.com/office/drawing/2014/main" val="4169024116"/>
                    </a:ext>
                  </a:extLst>
                </a:gridCol>
                <a:gridCol w="1061213">
                  <a:extLst>
                    <a:ext uri="{9D8B030D-6E8A-4147-A177-3AD203B41FA5}">
                      <a16:colId xmlns:a16="http://schemas.microsoft.com/office/drawing/2014/main" val="897511337"/>
                    </a:ext>
                  </a:extLst>
                </a:gridCol>
                <a:gridCol w="1061213">
                  <a:extLst>
                    <a:ext uri="{9D8B030D-6E8A-4147-A177-3AD203B41FA5}">
                      <a16:colId xmlns:a16="http://schemas.microsoft.com/office/drawing/2014/main" val="2500787465"/>
                    </a:ext>
                  </a:extLst>
                </a:gridCol>
                <a:gridCol w="366600">
                  <a:extLst>
                    <a:ext uri="{9D8B030D-6E8A-4147-A177-3AD203B41FA5}">
                      <a16:colId xmlns:a16="http://schemas.microsoft.com/office/drawing/2014/main" val="2265649039"/>
                    </a:ext>
                  </a:extLst>
                </a:gridCol>
                <a:gridCol w="2903863">
                  <a:extLst>
                    <a:ext uri="{9D8B030D-6E8A-4147-A177-3AD203B41FA5}">
                      <a16:colId xmlns:a16="http://schemas.microsoft.com/office/drawing/2014/main" val="696643035"/>
                    </a:ext>
                  </a:extLst>
                </a:gridCol>
                <a:gridCol w="2161014">
                  <a:extLst>
                    <a:ext uri="{9D8B030D-6E8A-4147-A177-3AD203B41FA5}">
                      <a16:colId xmlns:a16="http://schemas.microsoft.com/office/drawing/2014/main" val="1610964194"/>
                    </a:ext>
                  </a:extLst>
                </a:gridCol>
                <a:gridCol w="366600">
                  <a:extLst>
                    <a:ext uri="{9D8B030D-6E8A-4147-A177-3AD203B41FA5}">
                      <a16:colId xmlns:a16="http://schemas.microsoft.com/office/drawing/2014/main" val="2245771581"/>
                    </a:ext>
                  </a:extLst>
                </a:gridCol>
                <a:gridCol w="3096812">
                  <a:extLst>
                    <a:ext uri="{9D8B030D-6E8A-4147-A177-3AD203B41FA5}">
                      <a16:colId xmlns:a16="http://schemas.microsoft.com/office/drawing/2014/main" val="2587370264"/>
                    </a:ext>
                  </a:extLst>
                </a:gridCol>
              </a:tblGrid>
              <a:tr h="12921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597219027"/>
                  </a:ext>
                </a:extLst>
              </a:tr>
              <a:tr h="623807">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B225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14:40 14/01/2025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02:00 15/01/2025</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SG" sz="1200" b="0" i="0" u="none" strike="noStrike">
                          <a:solidFill>
                            <a:srgbClr val="000000"/>
                          </a:solidFill>
                          <a:effectLst/>
                          <a:latin typeface="Times New Roman" panose="02020603050405020304" pitchFamily="18" charset="0"/>
                          <a:cs typeface="Times New Roman" panose="02020603050405020304" pitchFamily="18" charset="0"/>
                        </a:rPr>
                        <a:t>DC SERV BUS SHED, START 1 FAULT, CAN NOT CONNECT EXT PWR.</a:t>
                      </a:r>
                    </a:p>
                    <a:p>
                      <a:pPr algn="l" fontAlgn="t"/>
                      <a:r>
                        <a:rPr lang="en-SG" sz="1200" b="0" i="0" u="none" strike="noStrike">
                          <a:solidFill>
                            <a:srgbClr val="000000"/>
                          </a:solidFill>
                          <a:effectLst/>
                          <a:latin typeface="Times New Roman" panose="02020603050405020304" pitchFamily="18" charset="0"/>
                          <a:cs typeface="Times New Roman" panose="02020603050405020304" pitchFamily="18" charset="0"/>
                        </a:rPr>
                        <a:t>DURING T/X SGN-VCS/0V8093 : A/C HAS DEFECT : DC SERV BUS SHED. UTILITY BUS SHED. START 1 FAULT. CAN NOT CONNECT EXT PWR.</a:t>
                      </a:r>
                      <a:r>
                        <a:rPr lang="en-US" sz="1200" b="0" i="0" u="none" strike="noStrike">
                          <a:solidFill>
                            <a:srgbClr val="000000"/>
                          </a:solidFill>
                          <a:effectLst/>
                          <a:latin typeface="Times New Roman" panose="02020603050405020304" pitchFamily="18" charset="0"/>
                          <a:cs typeface="Times New Roman" panose="02020603050405020304" pitchFamily="18" charset="0"/>
                        </a:rPr>
                        <a:t/>
                      </a:r>
                      <a:br>
                        <a:rPr lang="en-US" sz="1200" b="0" i="0" u="none" strike="noStrike">
                          <a:solidFill>
                            <a:srgbClr val="000000"/>
                          </a:solidFill>
                          <a:effectLst/>
                          <a:latin typeface="Times New Roman" panose="02020603050405020304" pitchFamily="18" charset="0"/>
                          <a:cs typeface="Times New Roman" panose="02020603050405020304" pitchFamily="18" charset="0"/>
                        </a:rPr>
                      </a:b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 </a:t>
                      </a:r>
                      <a:r>
                        <a:rPr lang="pt-BR" sz="1200" b="0" i="0" u="none" strike="noStrike">
                          <a:solidFill>
                            <a:srgbClr val="000000"/>
                          </a:solidFill>
                          <a:effectLst/>
                          <a:latin typeface="Times New Roman" panose="02020603050405020304" pitchFamily="18" charset="0"/>
                          <a:cs typeface="Times New Roman" panose="02020603050405020304" pitchFamily="18" charset="0"/>
                        </a:rPr>
                        <a:t>RPLD DC BPCU + CONTACTOR 42PA</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 24</a:t>
                      </a: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a:solidFill>
                            <a:srgbClr val="000000"/>
                          </a:solidFill>
                          <a:effectLst/>
                          <a:latin typeface="Times New Roman" panose="02020603050405020304" pitchFamily="18" charset="0"/>
                          <a:cs typeface="Times New Roman" panose="02020603050405020304" pitchFamily="18" charset="0"/>
                        </a:rPr>
                        <a:t>Hỏng hóc liên quan đến hệ thống điện DC trên B225, trước đó đã thay thế BPCU nhưng chưa khắc phục được, phải thêm thay contactor 42PA để khắc phục triệt để. Khối BPCU tháo xuống sẽ rectified lại. Hỏng hóc contactor 42PA là hỏng hóc hiếm gặp, từ 2015 đến nay là lần đầu bị hỏng, đánh giá là hỏng hóc đơn lẻ.</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456" marR="4456" marT="445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9886865"/>
                  </a:ext>
                </a:extLst>
              </a:tr>
            </a:tbl>
          </a:graphicData>
        </a:graphic>
      </p:graphicFrame>
    </p:spTree>
    <p:extLst>
      <p:ext uri="{BB962C8B-B14F-4D97-AF65-F5344CB8AC3E}">
        <p14:creationId xmlns:p14="http://schemas.microsoft.com/office/powerpoint/2010/main" val="335587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6315A99-7C22-BCBB-51AE-B39776276C50}"/>
              </a:ext>
            </a:extLst>
          </p:cNvPr>
          <p:cNvSpPr txBox="1"/>
          <p:nvPr/>
        </p:nvSpPr>
        <p:spPr>
          <a:xfrm>
            <a:off x="457199" y="974924"/>
            <a:ext cx="11383915"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02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3" name="TextBox 2">
            <a:extLst>
              <a:ext uri="{FF2B5EF4-FFF2-40B4-BE49-F238E27FC236}">
                <a16:creationId xmlns:a16="http://schemas.microsoft.com/office/drawing/2014/main" id="{6F27D0E6-6319-F9BB-EBF8-9A0BC977766E}"/>
              </a:ext>
            </a:extLst>
          </p:cNvPr>
          <p:cNvSpPr txBox="1"/>
          <p:nvPr/>
        </p:nvSpPr>
        <p:spPr>
          <a:xfrm>
            <a:off x="457200" y="1447800"/>
            <a:ext cx="11360150"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p>
        </p:txBody>
      </p:sp>
      <p:graphicFrame>
        <p:nvGraphicFramePr>
          <p:cNvPr id="6" name="Table 5">
            <a:extLst>
              <a:ext uri="{FF2B5EF4-FFF2-40B4-BE49-F238E27FC236}">
                <a16:creationId xmlns:a16="http://schemas.microsoft.com/office/drawing/2014/main" id="{92666C20-307F-48D4-06E3-46E4784DF667}"/>
              </a:ext>
            </a:extLst>
          </p:cNvPr>
          <p:cNvGraphicFramePr>
            <a:graphicFrameLocks noGrp="1"/>
          </p:cNvGraphicFramePr>
          <p:nvPr/>
        </p:nvGraphicFramePr>
        <p:xfrm>
          <a:off x="457199" y="1923818"/>
          <a:ext cx="11360150" cy="3850263"/>
        </p:xfrm>
        <a:graphic>
          <a:graphicData uri="http://schemas.openxmlformats.org/drawingml/2006/table">
            <a:tbl>
              <a:tblPr/>
              <a:tblGrid>
                <a:gridCol w="247810">
                  <a:extLst>
                    <a:ext uri="{9D8B030D-6E8A-4147-A177-3AD203B41FA5}">
                      <a16:colId xmlns:a16="http://schemas.microsoft.com/office/drawing/2014/main" val="2102544248"/>
                    </a:ext>
                  </a:extLst>
                </a:gridCol>
                <a:gridCol w="717346">
                  <a:extLst>
                    <a:ext uri="{9D8B030D-6E8A-4147-A177-3AD203B41FA5}">
                      <a16:colId xmlns:a16="http://schemas.microsoft.com/office/drawing/2014/main" val="1963927053"/>
                    </a:ext>
                  </a:extLst>
                </a:gridCol>
                <a:gridCol w="247810">
                  <a:extLst>
                    <a:ext uri="{9D8B030D-6E8A-4147-A177-3AD203B41FA5}">
                      <a16:colId xmlns:a16="http://schemas.microsoft.com/office/drawing/2014/main" val="3840043019"/>
                    </a:ext>
                  </a:extLst>
                </a:gridCol>
                <a:gridCol w="671697">
                  <a:extLst>
                    <a:ext uri="{9D8B030D-6E8A-4147-A177-3AD203B41FA5}">
                      <a16:colId xmlns:a16="http://schemas.microsoft.com/office/drawing/2014/main" val="3600809505"/>
                    </a:ext>
                  </a:extLst>
                </a:gridCol>
                <a:gridCol w="502142">
                  <a:extLst>
                    <a:ext uri="{9D8B030D-6E8A-4147-A177-3AD203B41FA5}">
                      <a16:colId xmlns:a16="http://schemas.microsoft.com/office/drawing/2014/main" val="3227864369"/>
                    </a:ext>
                  </a:extLst>
                </a:gridCol>
                <a:gridCol w="417365">
                  <a:extLst>
                    <a:ext uri="{9D8B030D-6E8A-4147-A177-3AD203B41FA5}">
                      <a16:colId xmlns:a16="http://schemas.microsoft.com/office/drawing/2014/main" val="82454695"/>
                    </a:ext>
                  </a:extLst>
                </a:gridCol>
                <a:gridCol w="2484625">
                  <a:extLst>
                    <a:ext uri="{9D8B030D-6E8A-4147-A177-3AD203B41FA5}">
                      <a16:colId xmlns:a16="http://schemas.microsoft.com/office/drawing/2014/main" val="879352902"/>
                    </a:ext>
                  </a:extLst>
                </a:gridCol>
                <a:gridCol w="2765042">
                  <a:extLst>
                    <a:ext uri="{9D8B030D-6E8A-4147-A177-3AD203B41FA5}">
                      <a16:colId xmlns:a16="http://schemas.microsoft.com/office/drawing/2014/main" val="354175309"/>
                    </a:ext>
                  </a:extLst>
                </a:gridCol>
                <a:gridCol w="254332">
                  <a:extLst>
                    <a:ext uri="{9D8B030D-6E8A-4147-A177-3AD203B41FA5}">
                      <a16:colId xmlns:a16="http://schemas.microsoft.com/office/drawing/2014/main" val="503895615"/>
                    </a:ext>
                  </a:extLst>
                </a:gridCol>
                <a:gridCol w="3051981">
                  <a:extLst>
                    <a:ext uri="{9D8B030D-6E8A-4147-A177-3AD203B41FA5}">
                      <a16:colId xmlns:a16="http://schemas.microsoft.com/office/drawing/2014/main" val="817022626"/>
                    </a:ext>
                  </a:extLst>
                </a:gridCol>
              </a:tblGrid>
              <a:tr h="94559">
                <a:tc>
                  <a:txBody>
                    <a:bodyPr/>
                    <a:lstStyle/>
                    <a:p>
                      <a:pPr algn="ctr" fontAlgn="t"/>
                      <a:r>
                        <a:rPr lang="en-US" sz="1200" b="0" i="0" u="none" strike="noStrike">
                          <a:solidFill>
                            <a:srgbClr val="000000"/>
                          </a:solidFill>
                          <a:effectLst/>
                          <a:latin typeface="Times New Roman" panose="02020603050405020304" pitchFamily="18" charset="0"/>
                        </a:rPr>
                        <a:t>A/C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DATE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STA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MINUTES</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FLIGHT NO</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ROUTINE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DESC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DELAY ACTION</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ATA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rPr>
                        <a:t>Engineering Assessment</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07967990"/>
                  </a:ext>
                </a:extLst>
              </a:tr>
              <a:tr h="880379">
                <a:tc>
                  <a:txBody>
                    <a:bodyPr/>
                    <a:lstStyle/>
                    <a:p>
                      <a:pPr algn="l" fontAlgn="t"/>
                      <a:r>
                        <a:rPr lang="en-US" sz="1200" b="0" i="0" u="none" strike="noStrike">
                          <a:solidFill>
                            <a:srgbClr val="000000"/>
                          </a:solidFill>
                          <a:effectLst/>
                          <a:latin typeface="Times New Roman" panose="02020603050405020304" pitchFamily="18" charset="0"/>
                        </a:rPr>
                        <a:t>B223</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15:20 14/01/2025</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SGN</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17</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VN1885</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SGN-VCS</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DUE TO B225 AOG: DC SERV BUS SHED CAN NOT CONNECT EXT PWR. &lt;p&gt;DUE TO B225 AOG: A/C HAS DEFECT : DC SERV BUS SHED. UTILITY BUS SHED. START 1 FAULT. CAN NOT CONNECT EXT PWR</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&lt;p&gt;15:04 TÀU B223 VÀO BÃI&lt;br /&gt;</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15:20 VASCO BÁO DỪNG TÀU B225 &amp;amp; DỒN KHÁCH SANG B223 ( HUỶ CHUYẾN</a:t>
                      </a:r>
                    </a:p>
                    <a:p>
                      <a:pPr algn="l" fontAlgn="t"/>
                      <a:r>
                        <a:rPr lang="en-US" sz="1200" b="0" i="0" u="none" strike="noStrike">
                          <a:solidFill>
                            <a:srgbClr val="000000"/>
                          </a:solidFill>
                          <a:effectLst/>
                          <a:latin typeface="Times New Roman" panose="02020603050405020304" pitchFamily="18" charset="0"/>
                        </a:rPr>
                        <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15:30 BÁO B225 AOG&lt;br /&gt;</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15:57 TÀU ĐÓNG CỬA &amp;amp; ĐẨY&lt;/p&gt;</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&lt;p&gt;A/C ARRIVAL LATE: 24 MINS&lt;/p&gt; DUE TO B225 AOG: DC SERV BUS SHED CAN NOT CONNECT EXT PWR. EVENT CLOSED &lt;p&gt;DỒN KHÁCH TỪ B225 SANG B223</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24-00</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a:solidFill>
                            <a:srgbClr val="000000"/>
                          </a:solidFill>
                          <a:effectLst/>
                          <a:latin typeface="Times New Roman" panose="02020603050405020304" pitchFamily="18" charset="0"/>
                        </a:rPr>
                        <a:t>Hỏng hóc liên quan đến hệ thống điện DC trên B225, trước đó đã thay thế BPCU nhưng chưa khắc phục được, phải thêm thay contactor 42PA để khắc phục triệt để. Khối BPCU tháo xuống sẽ rectified lại. Hỏng hóc contactor 42PA là hỏng hóc hiếm gặp, từ 2015 đến nay là lần đầu bị hỏng, đánh giá là hỏng hóc đơn lẻ.</a:t>
                      </a:r>
                      <a:br>
                        <a:rPr lang="vi-VN" sz="1200" b="0" i="0" u="none" strike="noStrike">
                          <a:solidFill>
                            <a:srgbClr val="000000"/>
                          </a:solidFill>
                          <a:effectLst/>
                          <a:latin typeface="Times New Roman" panose="02020603050405020304" pitchFamily="18" charset="0"/>
                        </a:rPr>
                      </a:br>
                      <a:endParaRPr lang="vi-VN" sz="1200" b="0" i="0" u="none" strike="noStrike">
                        <a:solidFill>
                          <a:srgbClr val="000000"/>
                        </a:solidFill>
                        <a:effectLst/>
                        <a:latin typeface="Times New Roman" panose="02020603050405020304" pitchFamily="18" charset="0"/>
                      </a:endParaRP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3246091"/>
                  </a:ext>
                </a:extLst>
              </a:tr>
              <a:tr h="273896">
                <a:tc>
                  <a:txBody>
                    <a:bodyPr/>
                    <a:lstStyle/>
                    <a:p>
                      <a:pPr algn="l" fontAlgn="t"/>
                      <a:r>
                        <a:rPr lang="en-US" sz="1200" b="0" i="0" u="none" strike="noStrike">
                          <a:solidFill>
                            <a:srgbClr val="000000"/>
                          </a:solidFill>
                          <a:effectLst/>
                          <a:latin typeface="Times New Roman" panose="02020603050405020304" pitchFamily="18" charset="0"/>
                        </a:rPr>
                        <a:t>B219</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11:55 14/01/2025</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PQC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22</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0V8074</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PQC-VCA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DURING T/X CAPT REPORT :    GPWS FAULT , TERRAIN FAULT &lt;p&gt;DURING T/X CAPT REPORT : &amp;#160;&amp;#160;&amp;#34; GPWS FAULT , TERRAIN FAULT ( WARNING DONT SINK BELOW 1000 FT )</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 EVENT CLOSED &lt;p&gt;CAPT  INFORM NOTE "INTERMITTERN IN FLT - ON GROUND OK" ĐỂ CRS A CÓ THỂ TRẢ LỜI SỔ</a:t>
                      </a:r>
                      <a:br>
                        <a:rPr lang="en-US" sz="1200" b="0" i="0" u="none" strike="noStrike">
                          <a:solidFill>
                            <a:srgbClr val="000000"/>
                          </a:solidFill>
                          <a:effectLst/>
                          <a:latin typeface="Times New Roman" panose="02020603050405020304" pitchFamily="18" charset="0"/>
                        </a:rPr>
                      </a:br>
                      <a:endParaRPr lang="en-US" sz="1200" b="0" i="0" u="none" strike="noStrike">
                        <a:solidFill>
                          <a:srgbClr val="000000"/>
                        </a:solidFill>
                        <a:effectLst/>
                        <a:latin typeface="Times New Roman" panose="02020603050405020304" pitchFamily="18" charset="0"/>
                      </a:endParaRP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200" b="0" i="0" u="none" strike="noStrike">
                          <a:solidFill>
                            <a:srgbClr val="000000"/>
                          </a:solidFill>
                          <a:effectLst/>
                          <a:latin typeface="Times New Roman" panose="02020603050405020304" pitchFamily="18" charset="0"/>
                        </a:rPr>
                        <a:t>34-00</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200" b="0" i="0" u="none" strike="noStrike" dirty="0">
                          <a:solidFill>
                            <a:srgbClr val="000000"/>
                          </a:solidFill>
                          <a:effectLst/>
                          <a:latin typeface="Times New Roman" panose="02020603050405020304" pitchFamily="18" charset="0"/>
                        </a:rPr>
                        <a:t>VAECO đã raise ADD B664 để theo dõi, thực hiện ops test hệ thống thì không thấy có vấn đề gì nên đã clear ADD. Đánh giá có thể là cảnh báo giả, hiện chưa thấy xuất hiện lại hỏng hóc, tiếp tục theo dõi thêm.</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9795424"/>
                  </a:ext>
                </a:extLst>
              </a:tr>
            </a:tbl>
          </a:graphicData>
        </a:graphic>
      </p:graphicFrame>
    </p:spTree>
    <p:extLst>
      <p:ext uri="{BB962C8B-B14F-4D97-AF65-F5344CB8AC3E}">
        <p14:creationId xmlns:p14="http://schemas.microsoft.com/office/powerpoint/2010/main" val="2955071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19</a:t>
            </a:fld>
            <a:endParaRPr lang="en-US" altLang="en-US" sz="1200">
              <a:solidFill>
                <a:srgbClr val="D2A43B"/>
              </a:solidFill>
              <a:latin typeface="Montserrat"/>
            </a:endParaRPr>
          </a:p>
        </p:txBody>
      </p:sp>
      <p:sp>
        <p:nvSpPr>
          <p:cNvPr id="1048638" name="Title 4"/>
          <p:cNvSpPr>
            <a:spLocks noGrp="1"/>
          </p:cNvSpPr>
          <p:nvPr>
            <p:ph type="title"/>
          </p:nvPr>
        </p:nvSpPr>
        <p:spPr>
          <a:xfrm>
            <a:off x="152400" y="76200"/>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ATR72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52C54B9-AD3B-54B9-0F8F-0728352A297E}"/>
              </a:ext>
            </a:extLst>
          </p:cNvPr>
          <p:cNvSpPr txBox="1"/>
          <p:nvPr/>
        </p:nvSpPr>
        <p:spPr>
          <a:xfrm>
            <a:off x="381000" y="762000"/>
            <a:ext cx="10287000" cy="1815882"/>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Tình trạng kỹ thuật ATR72 trong tuần không tốt, phát </a:t>
            </a:r>
            <a:r>
              <a:rPr lang="en-US" sz="1600" err="1">
                <a:latin typeface="Times New Roman" panose="02020603050405020304" pitchFamily="18" charset="0"/>
                <a:cs typeface="Times New Roman" panose="02020603050405020304" pitchFamily="18" charset="0"/>
              </a:rPr>
              <a:t>sinh</a:t>
            </a:r>
            <a:r>
              <a:rPr lang="en-US" sz="1600">
                <a:latin typeface="Times New Roman" panose="02020603050405020304" pitchFamily="18" charset="0"/>
                <a:cs typeface="Times New Roman" panose="02020603050405020304" pitchFamily="18" charset="0"/>
              </a:rPr>
              <a:t> 01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hợp</a:t>
            </a:r>
            <a:r>
              <a:rPr lang="en-US" sz="1600">
                <a:latin typeface="Times New Roman" panose="02020603050405020304" pitchFamily="18" charset="0"/>
                <a:cs typeface="Times New Roman" panose="02020603050405020304" pitchFamily="18" charset="0"/>
              </a:rPr>
              <a:t> AOG và 01 trường hợp Delay:</a:t>
            </a:r>
            <a:endParaRPr lang="en-US" sz="1600" dirty="0">
              <a:latin typeface="Times New Roman" panose="02020603050405020304" pitchFamily="18" charset="0"/>
              <a:cs typeface="Times New Roman" panose="02020603050405020304" pitchFamily="18" charset="0"/>
            </a:endParaRPr>
          </a:p>
          <a:p>
            <a:pPr marL="285750" lvl="0" indent="-285750" algn="just">
              <a:buFontTx/>
              <a:buChar char="-"/>
              <a:defRPr/>
            </a:pPr>
            <a:r>
              <a:rPr lang="vi-VN" sz="1600">
                <a:latin typeface="Times New Roman" panose="02020603050405020304" pitchFamily="18" charset="0"/>
                <a:cs typeface="Times New Roman" panose="02020603050405020304" pitchFamily="18" charset="0"/>
              </a:rPr>
              <a:t>B2</a:t>
            </a:r>
            <a:r>
              <a:rPr lang="en-US" sz="1600">
                <a:latin typeface="Times New Roman" panose="02020603050405020304" pitchFamily="18" charset="0"/>
                <a:cs typeface="Times New Roman" panose="02020603050405020304" pitchFamily="18" charset="0"/>
              </a:rPr>
              <a:t>25/SGN/AOG do </a:t>
            </a:r>
            <a:r>
              <a:rPr lang="en-US" sz="1600" i="1">
                <a:latin typeface="Times New Roman" panose="02020603050405020304" pitchFamily="18" charset="0"/>
                <a:cs typeface="Times New Roman" panose="02020603050405020304" pitchFamily="18" charset="0"/>
              </a:rPr>
              <a:t>DC SERV BUS SHED, </a:t>
            </a:r>
            <a:r>
              <a:rPr lang="vi-VN" sz="1600">
                <a:latin typeface="Times New Roman" panose="02020603050405020304" pitchFamily="18" charset="0"/>
                <a:cs typeface="Times New Roman" panose="02020603050405020304" pitchFamily="18" charset="0"/>
              </a:rPr>
              <a:t>đã thay thế BPCU nhưng chưa khắc phục được, phải</a:t>
            </a:r>
            <a:r>
              <a:rPr lang="en-US"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thay</a:t>
            </a:r>
            <a:r>
              <a:rPr lang="en-US" sz="1600">
                <a:latin typeface="Times New Roman" panose="02020603050405020304" pitchFamily="18" charset="0"/>
                <a:cs typeface="Times New Roman" panose="02020603050405020304" pitchFamily="18" charset="0"/>
              </a:rPr>
              <a:t> thêm</a:t>
            </a:r>
            <a:r>
              <a:rPr lang="vi-VN" sz="1600">
                <a:latin typeface="Times New Roman" panose="02020603050405020304" pitchFamily="18" charset="0"/>
                <a:cs typeface="Times New Roman" panose="02020603050405020304" pitchFamily="18" charset="0"/>
              </a:rPr>
              <a:t> contactor 42PA để khắc phục triệt</a:t>
            </a:r>
            <a:r>
              <a:rPr lang="en-US"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Hỏng hóc contactor 42PA là hỏng hóc hiếm gặp, từ 2015 đến nay là lần đầu bị hỏng, đánh giá là hỏng hóc đơn lẻ.</a:t>
            </a:r>
            <a:endParaRPr lang="en-US" sz="1600">
              <a:latin typeface="Times New Roman" panose="02020603050405020304" pitchFamily="18" charset="0"/>
              <a:cs typeface="Times New Roman" panose="02020603050405020304" pitchFamily="18" charset="0"/>
            </a:endParaRPr>
          </a:p>
          <a:p>
            <a:pPr marL="285750" lvl="0" indent="-285750" algn="just">
              <a:buFontTx/>
              <a:buChar char="-"/>
              <a:defRPr/>
            </a:pPr>
            <a:r>
              <a:rPr lang="en-US" sz="1600">
                <a:latin typeface="Times New Roman" panose="02020603050405020304" pitchFamily="18" charset="0"/>
                <a:cs typeface="Times New Roman" panose="02020603050405020304" pitchFamily="18" charset="0"/>
              </a:rPr>
              <a:t>B219/PQC/DELAY do GPWS FAULT , TERRAIN FAULT ( WARNING DONT SINK BELOW 1000 FT ), VAECO đã raise ADD B664 để theo dõi, sau đó tàu về SGN đã </a:t>
            </a:r>
            <a:r>
              <a:rPr lang="vi-VN" sz="1600">
                <a:latin typeface="Times New Roman" panose="02020603050405020304" pitchFamily="18" charset="0"/>
                <a:cs typeface="Times New Roman" panose="02020603050405020304" pitchFamily="18" charset="0"/>
              </a:rPr>
              <a:t>thực hiện ops test hệ thống thì không thấy có vấn đề gì nên đã clear ADD. Đánh giá có thể là cảnh báo giả, hiện chưa thấy xuất hiện lại hỏng hóc, tiếp tục theo dõi thêm.</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5745523"/>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6510" y="546733"/>
            <a:ext cx="10515600" cy="444137"/>
          </a:xfrm>
        </p:spPr>
        <p:txBody>
          <a:bodyPr>
            <a:noAutofit/>
          </a:bodyPr>
          <a:lstStyle/>
          <a:p>
            <a:r>
              <a:rPr lang="en-US" sz="2800" dirty="0">
                <a:ln w="0"/>
                <a:solidFill>
                  <a:schemeClr val="accent4"/>
                </a:solidFill>
                <a:latin typeface="Times New Roman" panose="02020603050405020304" pitchFamily="18" charset="0"/>
                <a:cs typeface="Times New Roman" panose="02020603050405020304" pitchFamily="18" charset="0"/>
              </a:rPr>
              <a:t>Dispatch </a:t>
            </a:r>
            <a:r>
              <a:rPr lang="en-US" sz="2800">
                <a:ln w="0"/>
                <a:solidFill>
                  <a:schemeClr val="accent4"/>
                </a:solidFill>
                <a:latin typeface="Times New Roman" panose="02020603050405020304" pitchFamily="18" charset="0"/>
                <a:cs typeface="Times New Roman" panose="02020603050405020304" pitchFamily="18" charset="0"/>
              </a:rPr>
              <a:t>Reliability W03 </a:t>
            </a:r>
            <a:r>
              <a:rPr lang="vi-VN" sz="2800">
                <a:ln w="0"/>
                <a:solidFill>
                  <a:schemeClr val="accent4"/>
                </a:solidFill>
                <a:latin typeface="Times New Roman" panose="02020603050405020304" pitchFamily="18" charset="0"/>
                <a:cs typeface="Times New Roman" panose="02020603050405020304" pitchFamily="18" charset="0"/>
              </a:rPr>
              <a:t>(</a:t>
            </a:r>
            <a:r>
              <a:rPr lang="en-US" sz="2800">
                <a:ln w="0"/>
                <a:solidFill>
                  <a:schemeClr val="accent4"/>
                </a:solidFill>
                <a:latin typeface="Times New Roman" panose="02020603050405020304" pitchFamily="18" charset="0"/>
                <a:cs typeface="Times New Roman" panose="02020603050405020304" pitchFamily="18" charset="0"/>
              </a:rPr>
              <a:t>13/01/2025-19/01/20</a:t>
            </a:r>
            <a:r>
              <a:rPr lang="vi-VN" sz="2800">
                <a:ln w="0"/>
                <a:solidFill>
                  <a:schemeClr val="accent4"/>
                </a:solidFill>
                <a:latin typeface="Times New Roman" panose="02020603050405020304" pitchFamily="18" charset="0"/>
                <a:cs typeface="Times New Roman" panose="02020603050405020304" pitchFamily="18" charset="0"/>
              </a:rPr>
              <a:t>2</a:t>
            </a:r>
            <a:r>
              <a:rPr lang="en-US" sz="2800">
                <a:ln w="0"/>
                <a:solidFill>
                  <a:schemeClr val="accent4"/>
                </a:solidFill>
                <a:latin typeface="Times New Roman" panose="02020603050405020304" pitchFamily="18" charset="0"/>
                <a:cs typeface="Times New Roman" panose="02020603050405020304" pitchFamily="18" charset="0"/>
              </a:rPr>
              <a:t>5)</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89920" y="5809416"/>
            <a:ext cx="56388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t>1</a:t>
            </a:r>
          </a:p>
        </p:txBody>
      </p:sp>
      <p:sp>
        <p:nvSpPr>
          <p:cNvPr id="6" name="TextBox 5"/>
          <p:cNvSpPr txBox="1"/>
          <p:nvPr/>
        </p:nvSpPr>
        <p:spPr>
          <a:xfrm>
            <a:off x="552666" y="4395787"/>
            <a:ext cx="7073084" cy="16927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03/2025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cậy cất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cánh</a:t>
            </a:r>
            <a:r>
              <a:rPr lang="en-US" sz="1300">
                <a:solidFill>
                  <a:prstClr val="black"/>
                </a:solidFill>
                <a:latin typeface="Times New Roman" panose="02020603050405020304" pitchFamily="18" charset="0"/>
                <a:cs typeface="Times New Roman" panose="02020603050405020304" pitchFamily="18" charset="0"/>
              </a:rPr>
              <a:t> đội A321 và B787 đạt mục tiêu, đội A350 và ATR72 không đạt mục tiêu:</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99,87% cao hơn 0,24%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A350</a:t>
            </a:r>
            <a:r>
              <a:rPr lang="en-US" sz="1300">
                <a:solidFill>
                  <a:prstClr val="black"/>
                </a:solidFill>
                <a:latin typeface="Times New Roman" panose="02020603050405020304" pitchFamily="18" charset="0"/>
                <a:cs typeface="Times New Roman" panose="02020603050405020304" pitchFamily="18" charset="0"/>
              </a:rPr>
              <a:t>: 98,94% thấp  hơn 0,50%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02 sự kiện delay KT do 1 sự kiện hỏng latch Overhead Locker tàu A889 , 1 sự kiện do cảnh báo F/CTL RUDDER G ACTUATOR tàu A896.</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99,42% </a:t>
            </a:r>
            <a:r>
              <a:rPr lang="en-US" sz="1300">
                <a:latin typeface="Times New Roman" panose="02020603050405020304" pitchFamily="18" charset="0"/>
                <a:cs typeface="Times New Roman" panose="02020603050405020304" pitchFamily="18" charset="0"/>
              </a:rPr>
              <a:t>cao </a:t>
            </a:r>
            <a:r>
              <a:rPr lang="vi-VN" sz="1300">
                <a:latin typeface="Times New Roman" panose="02020603050405020304" pitchFamily="18" charset="0"/>
                <a:cs typeface="Times New Roman" panose="02020603050405020304" pitchFamily="18" charset="0"/>
              </a:rPr>
              <a:t>hơn</a:t>
            </a:r>
            <a:r>
              <a:rPr lang="en-US" sz="1300">
                <a:latin typeface="Times New Roman" panose="02020603050405020304" pitchFamily="18" charset="0"/>
                <a:cs typeface="Times New Roman" panose="02020603050405020304" pitchFamily="18" charset="0"/>
              </a:rPr>
              <a:t> 0,06% </a:t>
            </a:r>
            <a:r>
              <a:rPr lang="en-US" sz="1300" dirty="0">
                <a:latin typeface="Times New Roman" panose="02020603050405020304" pitchFamily="18" charset="0"/>
                <a:cs typeface="Times New Roman" panose="02020603050405020304" pitchFamily="18" charset="0"/>
              </a:rPr>
              <a:t>so với </a:t>
            </a:r>
            <a:r>
              <a:rPr lang="en-US" sz="1300">
                <a:latin typeface="Times New Roman" panose="02020603050405020304" pitchFamily="18" charset="0"/>
                <a:cs typeface="Times New Roman" panose="02020603050405020304" pitchFamily="18" charset="0"/>
              </a:rPr>
              <a:t>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99,06% thấp hơn 0,59%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02 sự kiện delay do có 1 sự kiện B223 báo DC SERV BUS SHED, 1 sự kiện B219 báo GPWS FAULT &amp; TERRAIN FAULT.</a:t>
            </a:r>
            <a:endParaRPr lang="en-US" sz="1300" dirty="0">
              <a:solidFill>
                <a:prstClr val="black"/>
              </a:solidFill>
              <a:latin typeface="Times New Roman" panose="02020603050405020304" pitchFamily="18" charset="0"/>
              <a:cs typeface="Times New Roman" panose="02020603050405020304" pitchFamily="18" charset="0"/>
            </a:endParaRPr>
          </a:p>
        </p:txBody>
      </p:sp>
      <p:pic>
        <p:nvPicPr>
          <p:cNvPr id="1025" name="Picture 1" desc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2400" cy="152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0" name="Chart 9"/>
          <p:cNvGraphicFramePr>
            <a:graphicFrameLocks/>
          </p:cNvGraphicFramePr>
          <p:nvPr/>
        </p:nvGraphicFramePr>
        <p:xfrm>
          <a:off x="552666" y="1100791"/>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58090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21</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4" y="652238"/>
          <a:ext cx="11878434" cy="6021612"/>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4215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6231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29/12: HĐ hỗ trợ SSA 2024 đã được 2 PW &amp; VNA ký và đã được ban hành đến các đơn vị liên quan.</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7019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84695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383944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980562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Có</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giai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đoạn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cao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điểm</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Tết</a:t>
            </a:r>
            <a:r>
              <a:rPr lang="en-US" sz="1333" dirty="0">
                <a:solidFill>
                  <a:prstClr val="black"/>
                </a:solidFill>
                <a:latin typeface="Times New Roman" panose="02020603050405020304" pitchFamily="18" charset="0"/>
                <a:cs typeface="Times New Roman" panose="02020603050405020304" pitchFamily="18" charset="0"/>
              </a:rPr>
              <a:t>. </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ngoài KH do Vibration, Oil </a:t>
            </a:r>
            <a:r>
              <a:rPr lang="vi-VN" sz="1333">
                <a:solidFill>
                  <a:prstClr val="black"/>
                </a:solidFill>
                <a:latin typeface="Times New Roman" panose="02020603050405020304" pitchFamily="18" charset="0"/>
                <a:cs typeface="Times New Roman" panose="02020603050405020304" pitchFamily="18" charset="0"/>
              </a:rPr>
              <a:t>Leak…</a:t>
            </a:r>
            <a:r>
              <a:rPr lang="vi-VN" sz="1333">
                <a:solidFill>
                  <a:srgbClr val="FF0000"/>
                </a:solidFill>
                <a:latin typeface="Times New Roman" panose="02020603050405020304" pitchFamily="18" charset="0"/>
                <a:cs typeface="Times New Roman" panose="02020603050405020304" pitchFamily="18" charset="0"/>
              </a:rPr>
              <a:t>08 động cơ đang sửa chữa bị delay nhiều lần từ đầu tháng 12, với tổng ~ 366 days, tương ứng ~ 183 AOG days.</a:t>
            </a:r>
            <a:endParaRPr lang="en-US" sz="1333" dirty="0">
              <a:solidFill>
                <a:srgbClr val="FF0000"/>
              </a:solidFill>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a:solidFill>
                  <a:prstClr val="black"/>
                </a:solidFill>
                <a:latin typeface="Times New Roman" panose="02020603050405020304" pitchFamily="18" charset="0"/>
                <a:cs typeface="Times New Roman" panose="02020603050405020304" pitchFamily="18" charset="0"/>
              </a:rPr>
              <a:t>HPT Blade</a:t>
            </a:r>
            <a:endParaRPr lang="en-US" sz="1333"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4717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24</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T1-T3/2025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phòng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cao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điểm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Tết</a:t>
            </a:r>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err="1">
                <a:latin typeface="Times New Roman" panose="02020603050405020304" pitchFamily="18" charset="0"/>
                <a:cs typeface="Times New Roman" panose="02020603050405020304" pitchFamily="18" charset="0"/>
              </a:rPr>
              <a:t>Balde</a:t>
            </a:r>
            <a:r>
              <a:rPr lang="en-US" sz="1200">
                <a:latin typeface="Times New Roman" panose="02020603050405020304" pitchFamily="18" charset="0"/>
                <a:cs typeface="Times New Roman" panose="02020603050405020304" pitchFamily="18" charset="0"/>
              </a:rPr>
              <a:t>…</a:t>
            </a:r>
            <a:r>
              <a:rPr lang="vi-VN" sz="1200">
                <a:solidFill>
                  <a:srgbClr val="FF0000"/>
                </a:solidFill>
                <a:cs typeface="Times New Roman" panose="02020603050405020304" pitchFamily="18" charset="0"/>
              </a:rPr>
              <a:t>08 động cơ đang sửa chữa bị delay nhiều lần từ đầu tháng 12, với tổng ~ 366 days, tương ứng ~ 183 AOG days.</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High oil consumption, </a:t>
            </a:r>
            <a:r>
              <a:rPr lang="en-US" sz="1200">
                <a:latin typeface="Times New Roman" panose="02020603050405020304" pitchFamily="18" charset="0"/>
                <a:cs typeface="Times New Roman" panose="02020603050405020304" pitchFamily="18" charset="0"/>
              </a:rPr>
              <a:t>HPT Blade</a:t>
            </a:r>
          </a:p>
          <a:p>
            <a:pPr marL="0" lvl="1"/>
            <a:r>
              <a:rPr lang="en-US" sz="1200" b="1">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233293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2024-T3/2025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graphicFrame>
        <p:nvGraphicFramePr>
          <p:cNvPr id="3" name="Chart 2">
            <a:extLst>
              <a:ext uri="{FF2B5EF4-FFF2-40B4-BE49-F238E27FC236}">
                <a16:creationId xmlns:a16="http://schemas.microsoft.com/office/drawing/2014/main" id="{AB08D076-E070-83E5-6CED-DDB5B772B9A8}"/>
              </a:ext>
            </a:extLst>
          </p:cNvPr>
          <p:cNvGraphicFramePr/>
          <p:nvPr/>
        </p:nvGraphicFramePr>
        <p:xfrm>
          <a:off x="690251" y="812800"/>
          <a:ext cx="11247749" cy="5765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peech Bubble: Rectangle with Corners Rounded 6">
            <a:extLst>
              <a:ext uri="{FF2B5EF4-FFF2-40B4-BE49-F238E27FC236}">
                <a16:creationId xmlns:a16="http://schemas.microsoft.com/office/drawing/2014/main" id="{DC56874D-4E6C-1D0F-C9BC-DCA9D7A2D2DE}"/>
              </a:ext>
            </a:extLst>
          </p:cNvPr>
          <p:cNvSpPr/>
          <p:nvPr/>
        </p:nvSpPr>
        <p:spPr>
          <a:xfrm>
            <a:off x="6934200" y="1371600"/>
            <a:ext cx="3105168" cy="871328"/>
          </a:xfrm>
          <a:prstGeom prst="wedgeRoundRectCallout">
            <a:avLst>
              <a:gd name="adj1" fmla="val 6679"/>
              <a:gd name="adj2" fmla="val 88321"/>
              <a:gd name="adj3" fmla="val 16667"/>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200">
                <a:solidFill>
                  <a:srgbClr val="FF0000"/>
                </a:solidFill>
                <a:cs typeface="Times New Roman" panose="02020603050405020304" pitchFamily="18" charset="0"/>
              </a:rPr>
              <a:t>08 động cơ đang sửa chữa bị delay nhiều lần từ đầu tháng 12, </a:t>
            </a:r>
            <a:r>
              <a:rPr lang="en-US" sz="1200">
                <a:solidFill>
                  <a:srgbClr val="FF0000"/>
                </a:solidFill>
                <a:cs typeface="Times New Roman" panose="02020603050405020304" pitchFamily="18" charset="0"/>
              </a:rPr>
              <a:t>trung bình 45 ngày/động c</a:t>
            </a:r>
            <a:r>
              <a:rPr lang="vi-VN" sz="1200">
                <a:solidFill>
                  <a:srgbClr val="FF0000"/>
                </a:solidFill>
                <a:cs typeface="Times New Roman" panose="02020603050405020304" pitchFamily="18" charset="0"/>
              </a:rPr>
              <a:t>ơ</a:t>
            </a:r>
            <a:r>
              <a:rPr lang="en-US" sz="1200">
                <a:solidFill>
                  <a:srgbClr val="FF0000"/>
                </a:solidFill>
                <a:cs typeface="Times New Roman" panose="02020603050405020304" pitchFamily="18" charset="0"/>
              </a:rPr>
              <a:t>, </a:t>
            </a:r>
            <a:r>
              <a:rPr lang="vi-VN" sz="1200">
                <a:solidFill>
                  <a:srgbClr val="FF0000"/>
                </a:solidFill>
                <a:cs typeface="Times New Roman" panose="02020603050405020304" pitchFamily="18" charset="0"/>
              </a:rPr>
              <a:t>với tổng ~ 366 days, tương ứng ~ 183 AOG days.</a:t>
            </a:r>
            <a:endParaRPr lang="en-US" sz="12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218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8"/>
          <a:ext cx="11867079" cy="5703491"/>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70252">
                  <a:extLst>
                    <a:ext uri="{9D8B030D-6E8A-4147-A177-3AD203B41FA5}">
                      <a16:colId xmlns:a16="http://schemas.microsoft.com/office/drawing/2014/main" val="3845954792"/>
                    </a:ext>
                  </a:extLst>
                </a:gridCol>
                <a:gridCol w="1186707">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302140">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30835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P771481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T2/2024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T5/2024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77853865"/>
                  </a:ext>
                </a:extLst>
              </a:tr>
              <a:tr h="30835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P800098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124338883"/>
                  </a:ext>
                </a:extLst>
              </a:tr>
              <a:tr h="30835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P800150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20/06/2024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24/08/2024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165882103"/>
                  </a:ext>
                </a:extLst>
              </a:tr>
              <a:tr h="308355">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P772905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27/06/2024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09/09/2024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A620#2 giữ giờ bay CĐ tết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227979002"/>
                  </a:ext>
                </a:extLst>
              </a:tr>
              <a:tr h="30835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P771703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28/02/2024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23/10/2024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A512#1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70956559"/>
                  </a:ext>
                </a:extLst>
              </a:tr>
              <a:tr h="30835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08/11/2024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75667320"/>
                  </a:ext>
                </a:extLst>
              </a:tr>
              <a:tr h="30835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23/11/2024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959370187"/>
                  </a:ext>
                </a:extLst>
              </a:tr>
              <a:tr h="30835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P770982</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07/12/2024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A507#1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WSC QT, Delay 06 days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29850511"/>
                  </a:ext>
                </a:extLst>
              </a:tr>
              <a:tr h="308355">
                <a:tc>
                  <a:txBody>
                    <a:bodyPr/>
                    <a:lstStyle/>
                    <a:p>
                      <a:pPr algn="ctr"/>
                      <a:r>
                        <a:rPr lang="en-GB" sz="1100" dirty="0">
                          <a:latin typeface="Times New Roman" panose="02020603050405020304" pitchFamily="18" charset="0"/>
                          <a:cs typeface="Times New Roman" panose="02020603050405020304" pitchFamily="18" charset="0"/>
                        </a:rPr>
                        <a:t>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P771056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09/01/2025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A619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Đã sửa xong, đang lắp QEC tại VAECO</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276263675"/>
                  </a:ext>
                </a:extLst>
              </a:tr>
              <a:tr h="308355">
                <a:tc>
                  <a:txBody>
                    <a:bodyPr/>
                    <a:lstStyle/>
                    <a:p>
                      <a:pPr algn="ctr"/>
                      <a:r>
                        <a:rPr lang="en-GB" sz="1100">
                          <a:latin typeface="Times New Roman" panose="02020603050405020304" pitchFamily="18" charset="0"/>
                          <a:cs typeface="Times New Roman" panose="02020603050405020304" pitchFamily="18" charset="0"/>
                        </a:rPr>
                        <a:t>10</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i="0" u="none" strike="noStrike">
                          <a:solidFill>
                            <a:schemeClr val="tx1"/>
                          </a:solidFill>
                          <a:effectLst/>
                          <a:latin typeface="Arial Narrow" panose="020B0606020202030204" pitchFamily="34" charset="0"/>
                        </a:rPr>
                        <a:t>10/04/2025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467671">
                <a:tc>
                  <a:txBody>
                    <a:bodyPr/>
                    <a:lstStyle/>
                    <a:p>
                      <a:pPr algn="ctr"/>
                      <a:r>
                        <a:rPr lang="en-GB" sz="1100">
                          <a:latin typeface="Times New Roman" panose="02020603050405020304" pitchFamily="18" charset="0"/>
                          <a:cs typeface="Times New Roman" panose="02020603050405020304" pitchFamily="18" charset="0"/>
                        </a:rPr>
                        <a:t>11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11/03/2025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308355">
                <a:tc>
                  <a:txBody>
                    <a:bodyPr/>
                    <a:lstStyle/>
                    <a:p>
                      <a:pPr algn="ctr"/>
                      <a:r>
                        <a:rPr lang="en-GB" sz="1100">
                          <a:latin typeface="Times New Roman" panose="02020603050405020304" pitchFamily="18" charset="0"/>
                          <a:cs typeface="Times New Roman" panose="02020603050405020304" pitchFamily="18" charset="0"/>
                        </a:rPr>
                        <a:t>12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04/03/2025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13</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14</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15</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16</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308355">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A508</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3426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fld id="{00000000-1234-1234-1234-123412341234}" type="slidenum">
              <a:rPr lang="vi" smtClean="0"/>
              <a:pPr/>
              <a:t>27</a:t>
            </a:fld>
            <a:endParaRPr lang="vi"/>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T1-T3/25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90" y="1032931"/>
          <a:ext cx="11594304" cy="5132312"/>
        </p:xfrm>
        <a:graphic>
          <a:graphicData uri="http://schemas.openxmlformats.org/drawingml/2006/table">
            <a:tbl>
              <a:tblPr firstRow="1" bandRow="1">
                <a:tableStyleId>{5C22544A-7EE6-4342-B048-85BDC9FD1C3A}</a:tableStyleId>
              </a:tblPr>
              <a:tblGrid>
                <a:gridCol w="506307">
                  <a:extLst>
                    <a:ext uri="{9D8B030D-6E8A-4147-A177-3AD203B41FA5}">
                      <a16:colId xmlns:a16="http://schemas.microsoft.com/office/drawing/2014/main" val="1598605427"/>
                    </a:ext>
                  </a:extLst>
                </a:gridCol>
                <a:gridCol w="1136124">
                  <a:extLst>
                    <a:ext uri="{9D8B030D-6E8A-4147-A177-3AD203B41FA5}">
                      <a16:colId xmlns:a16="http://schemas.microsoft.com/office/drawing/2014/main" val="3845954792"/>
                    </a:ext>
                  </a:extLst>
                </a:gridCol>
                <a:gridCol w="1163319">
                  <a:extLst>
                    <a:ext uri="{9D8B030D-6E8A-4147-A177-3AD203B41FA5}">
                      <a16:colId xmlns:a16="http://schemas.microsoft.com/office/drawing/2014/main" val="2148822928"/>
                    </a:ext>
                  </a:extLst>
                </a:gridCol>
                <a:gridCol w="1163319">
                  <a:extLst>
                    <a:ext uri="{9D8B030D-6E8A-4147-A177-3AD203B41FA5}">
                      <a16:colId xmlns:a16="http://schemas.microsoft.com/office/drawing/2014/main" val="2136763095"/>
                    </a:ext>
                  </a:extLst>
                </a:gridCol>
                <a:gridCol w="1163319">
                  <a:extLst>
                    <a:ext uri="{9D8B030D-6E8A-4147-A177-3AD203B41FA5}">
                      <a16:colId xmlns:a16="http://schemas.microsoft.com/office/drawing/2014/main" val="4058157000"/>
                    </a:ext>
                  </a:extLst>
                </a:gridCol>
                <a:gridCol w="1163319">
                  <a:extLst>
                    <a:ext uri="{9D8B030D-6E8A-4147-A177-3AD203B41FA5}">
                      <a16:colId xmlns:a16="http://schemas.microsoft.com/office/drawing/2014/main" val="1185879436"/>
                    </a:ext>
                  </a:extLst>
                </a:gridCol>
                <a:gridCol w="1163319">
                  <a:extLst>
                    <a:ext uri="{9D8B030D-6E8A-4147-A177-3AD203B41FA5}">
                      <a16:colId xmlns:a16="http://schemas.microsoft.com/office/drawing/2014/main" val="3807119371"/>
                    </a:ext>
                  </a:extLst>
                </a:gridCol>
                <a:gridCol w="1038679">
                  <a:extLst>
                    <a:ext uri="{9D8B030D-6E8A-4147-A177-3AD203B41FA5}">
                      <a16:colId xmlns:a16="http://schemas.microsoft.com/office/drawing/2014/main" val="2251645117"/>
                    </a:ext>
                  </a:extLst>
                </a:gridCol>
                <a:gridCol w="3096599">
                  <a:extLst>
                    <a:ext uri="{9D8B030D-6E8A-4147-A177-3AD203B41FA5}">
                      <a16:colId xmlns:a16="http://schemas.microsoft.com/office/drawing/2014/main" val="3735753066"/>
                    </a:ext>
                  </a:extLst>
                </a:gridCol>
              </a:tblGrid>
              <a:tr h="64976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51065">
                <a:tc>
                  <a:txBody>
                    <a:bodyPr/>
                    <a:lstStyle/>
                    <a:p>
                      <a:pPr algn="ctr"/>
                      <a:r>
                        <a:rPr lang="en-US" sz="1200" b="0" i="0" u="none" strike="noStrike" kern="1200">
                          <a:solidFill>
                            <a:schemeClr val="tx1"/>
                          </a:solidFill>
                          <a:effectLst/>
                          <a:latin typeface="Calibri" panose="020F0502020204030204" pitchFamily="34" charset="0"/>
                          <a:ea typeface="+mn-ea"/>
                          <a:cs typeface="+mn-cs"/>
                        </a:rPr>
                        <a:t>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P770906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P771056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A619#1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Calibri" panose="020F0502020204030204" pitchFamily="34" charset="0"/>
                        </a:rPr>
                        <a:t>A619#1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28-Dec-24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12-Jan-25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3596114"/>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P770906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A511#1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Calibri" panose="020F0502020204030204" pitchFamily="34" charset="0"/>
                        </a:rPr>
                        <a:t>30-Dec-24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dirty="0">
                          <a:solidFill>
                            <a:schemeClr val="tx1"/>
                          </a:solidFill>
                          <a:effectLst/>
                          <a:latin typeface="Calibri" panose="020F0502020204030204" pitchFamily="34" charset="0"/>
                          <a:ea typeface="+mn-ea"/>
                          <a:cs typeface="+mn-cs"/>
                        </a:rPr>
                        <a:t>RTS, Reset 12month preservation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894405"/>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3</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A619, A620 </a:t>
                      </a:r>
                      <a:r>
                        <a:rPr lang="en-US" sz="1200" b="0" i="0" u="none" strike="noStrike" dirty="0" err="1">
                          <a:solidFill>
                            <a:schemeClr val="tx1"/>
                          </a:solidFill>
                          <a:effectLst/>
                          <a:latin typeface="Calibri" panose="020F0502020204030204" pitchFamily="34" charset="0"/>
                        </a:rPr>
                        <a:t>dừng</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làm</a:t>
                      </a:r>
                      <a:r>
                        <a:rPr lang="en-US" sz="1200" b="0" i="0" u="none" strike="noStrike" dirty="0">
                          <a:solidFill>
                            <a:schemeClr val="tx1"/>
                          </a:solidFill>
                          <a:effectLst/>
                          <a:latin typeface="Calibri" panose="020F0502020204030204" pitchFamily="34" charset="0"/>
                        </a:rPr>
                        <a:t> check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4</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A620, A619 </a:t>
                      </a:r>
                      <a:r>
                        <a:rPr lang="en-US" sz="1200" b="0" i="0" u="none" strike="noStrike" dirty="0" err="1">
                          <a:solidFill>
                            <a:schemeClr val="tx1"/>
                          </a:solidFill>
                          <a:effectLst/>
                          <a:latin typeface="Calibri" panose="020F0502020204030204" pitchFamily="34" charset="0"/>
                        </a:rPr>
                        <a:t>tiếp</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tục</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khai</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thác</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5</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6</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7</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561640">
                <a:tc>
                  <a:txBody>
                    <a:bodyPr/>
                    <a:lstStyle/>
                    <a:p>
                      <a:pPr algn="ctr"/>
                      <a:r>
                        <a:rPr lang="en-GB" sz="1200" b="0" i="0" u="none" strike="noStrike" kern="1200">
                          <a:solidFill>
                            <a:schemeClr val="tx1"/>
                          </a:solidFill>
                          <a:effectLst/>
                          <a:latin typeface="Calibri" panose="020F0502020204030204" pitchFamily="34" charset="0"/>
                          <a:ea typeface="+mn-ea"/>
                          <a:cs typeface="+mn-cs"/>
                        </a:rPr>
                        <a:t>8</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P771376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P770904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A506#1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15-Mar-25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bl>
          </a:graphicData>
        </a:graphic>
      </p:graphicFrame>
    </p:spTree>
    <p:extLst>
      <p:ext uri="{BB962C8B-B14F-4D97-AF65-F5344CB8AC3E}">
        <p14:creationId xmlns:p14="http://schemas.microsoft.com/office/powerpoint/2010/main" val="3297997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28</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07/02/2025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rgbClr val="FF0000"/>
                          </a:solidFill>
                          <a:latin typeface="Times New Roman" panose="02020603050405020304" pitchFamily="18" charset="0"/>
                          <a:cs typeface="Times New Roman" panose="02020603050405020304" pitchFamily="18" charset="0"/>
                        </a:rPr>
                        <a:t>Đã</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giao</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Vaeco</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22/04/2025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23/02/2025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03/03/2025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08/06/2025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07/06/2025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14/06/2025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4108882"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2024 – Q1/2025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03-05/03/2025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08-10/03/2025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20-22/04/2025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23618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80492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8809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194852"/>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378394"/>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86196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141497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29</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29</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6" y="445510"/>
          <a:ext cx="5236309" cy="425650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1" y="4702019"/>
            <a:ext cx="12014855" cy="1898468"/>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phòng</a:t>
            </a:r>
            <a:r>
              <a:rPr lang="en-US" sz="1467" dirty="0">
                <a:solidFill>
                  <a:schemeClr val="tx1"/>
                </a:solidFill>
                <a:latin typeface="Times New Roman" panose="02020603050405020304" pitchFamily="18" charset="0"/>
                <a:cs typeface="Times New Roman" panose="02020603050405020304" pitchFamily="18" charset="0"/>
              </a:rPr>
              <a:t>:</a:t>
            </a:r>
            <a:r>
              <a:rPr lang="en-US" sz="1467" dirty="0">
                <a:solidFill>
                  <a:srgbClr val="ED0000"/>
                </a:solidFill>
                <a:latin typeface="Times New Roman" panose="02020603050405020304" pitchFamily="18" charset="0"/>
                <a:cs typeface="Times New Roman" panose="02020603050405020304" pitchFamily="18" charset="0"/>
              </a:rPr>
              <a:t> </a:t>
            </a:r>
            <a:r>
              <a:rPr lang="en-US" sz="1467" b="1" dirty="0">
                <a:solidFill>
                  <a:srgbClr val="388600"/>
                </a:solidFill>
                <a:latin typeface="Times New Roman" panose="02020603050405020304" pitchFamily="18" charset="0"/>
                <a:cs typeface="Times New Roman" panose="02020603050405020304" pitchFamily="18" charset="0"/>
              </a:rPr>
              <a:t>958541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sửa</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chữa</a:t>
            </a:r>
            <a:r>
              <a:rPr lang="en-US" sz="1467" b="1" dirty="0">
                <a:solidFill>
                  <a:srgbClr val="388600"/>
                </a:solidFill>
                <a:latin typeface="Times New Roman" panose="02020603050405020304" pitchFamily="18" charset="0"/>
                <a:cs typeface="Times New Roman" panose="02020603050405020304" pitchFamily="18" charset="0"/>
              </a:rPr>
              <a:t> 31/12 </a:t>
            </a:r>
            <a:r>
              <a:rPr lang="en-US" sz="1467" b="1" dirty="0" err="1">
                <a:solidFill>
                  <a:srgbClr val="388600"/>
                </a:solidFill>
                <a:latin typeface="Times New Roman" panose="02020603050405020304" pitchFamily="18" charset="0"/>
                <a:cs typeface="Times New Roman" panose="02020603050405020304" pitchFamily="18" charset="0"/>
              </a:rPr>
              <a:t>và</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chuyển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về</a:t>
            </a:r>
            <a:r>
              <a:rPr lang="en-US" sz="1467" b="1" dirty="0">
                <a:solidFill>
                  <a:srgbClr val="388600"/>
                </a:solidFill>
                <a:latin typeface="Times New Roman" panose="02020603050405020304" pitchFamily="18" charset="0"/>
                <a:cs typeface="Times New Roman" panose="02020603050405020304" pitchFamily="18" charset="0"/>
              </a:rPr>
              <a:t> VN 12/01/2025</a:t>
            </a:r>
          </a:p>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on-watch:</a:t>
            </a:r>
            <a:endParaRPr lang="en-US" sz="1467" dirty="0">
              <a:solidFill>
                <a:srgbClr val="FF9933"/>
              </a:solidFill>
              <a:latin typeface="Times New Roman" panose="02020603050405020304" pitchFamily="18" charset="0"/>
              <a:cs typeface="Times New Roman" panose="02020603050405020304" pitchFamily="18" charset="0"/>
            </a:endParaRPr>
          </a:p>
          <a:p>
            <a:pPr marL="990575" indent="-380990">
              <a:buFont typeface="Wingdings" panose="05000000000000000000" pitchFamily="2" charset="2"/>
              <a:buChar char="§"/>
              <a:defRPr/>
            </a:pPr>
            <a:r>
              <a:rPr lang="en-US" sz="1467" dirty="0">
                <a:solidFill>
                  <a:srgbClr val="FF0000"/>
                </a:solidFill>
                <a:latin typeface="Times New Roman" panose="02020603050405020304" pitchFamily="18" charset="0"/>
                <a:cs typeface="Times New Roman" panose="02020603050405020304" pitchFamily="18" charset="0"/>
              </a:rPr>
              <a:t>958395 (A872) – Remove in 50 </a:t>
            </a:r>
            <a:r>
              <a:rPr lang="en-US" sz="1467" dirty="0" err="1">
                <a:solidFill>
                  <a:srgbClr val="FF0000"/>
                </a:solidFill>
                <a:latin typeface="Times New Roman" panose="02020603050405020304" pitchFamily="18" charset="0"/>
                <a:cs typeface="Times New Roman" panose="02020603050405020304" pitchFamily="18" charset="0"/>
              </a:rPr>
              <a:t>cyc</a:t>
            </a:r>
            <a:r>
              <a:rPr lang="en-US" sz="1467" dirty="0">
                <a:solidFill>
                  <a:srgbClr val="FF0000"/>
                </a:solidFill>
                <a:latin typeface="Times New Roman" panose="02020603050405020304" pitchFamily="18" charset="0"/>
                <a:cs typeface="Times New Roman" panose="02020603050405020304" pitchFamily="18" charset="0"/>
              </a:rPr>
              <a:t> or reinspect; </a:t>
            </a:r>
            <a:r>
              <a:rPr lang="en-US" sz="1467" dirty="0" err="1">
                <a:solidFill>
                  <a:srgbClr val="FF0000"/>
                </a:solidFill>
                <a:latin typeface="Times New Roman" panose="02020603050405020304" pitchFamily="18" charset="0"/>
                <a:cs typeface="Times New Roman" panose="02020603050405020304" pitchFamily="18" charset="0"/>
              </a:rPr>
              <a:t>Lịch</a:t>
            </a:r>
            <a:r>
              <a:rPr lang="en-US" sz="1467" dirty="0">
                <a:solidFill>
                  <a:srgbClr val="FF0000"/>
                </a:solidFill>
                <a:latin typeface="Times New Roman" panose="02020603050405020304" pitchFamily="18" charset="0"/>
                <a:cs typeface="Times New Roman" panose="02020603050405020304" pitchFamily="18" charset="0"/>
              </a:rPr>
              <a:t> soi </a:t>
            </a:r>
            <a:r>
              <a:rPr lang="en-US" sz="1467" dirty="0" err="1">
                <a:solidFill>
                  <a:srgbClr val="FF0000"/>
                </a:solidFill>
                <a:latin typeface="Times New Roman" panose="02020603050405020304" pitchFamily="18" charset="0"/>
                <a:cs typeface="Times New Roman" panose="02020603050405020304" pitchFamily="18" charset="0"/>
              </a:rPr>
              <a:t>tiếp</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theo</a:t>
            </a:r>
            <a:r>
              <a:rPr lang="en-US" sz="1467" dirty="0">
                <a:solidFill>
                  <a:srgbClr val="FF0000"/>
                </a:solidFill>
                <a:latin typeface="Times New Roman" panose="02020603050405020304" pitchFamily="18" charset="0"/>
                <a:cs typeface="Times New Roman" panose="02020603050405020304" pitchFamily="18" charset="0"/>
              </a:rPr>
              <a:t> 23/01 &amp; 04/02/2025;</a:t>
            </a:r>
          </a:p>
          <a:p>
            <a:pPr marL="990575" indent="-380990">
              <a:buFont typeface="Wingdings" panose="05000000000000000000" pitchFamily="2" charset="2"/>
              <a:buChar char="§"/>
              <a:defRPr/>
            </a:pPr>
            <a:r>
              <a:rPr lang="en-US" sz="1467" dirty="0">
                <a:solidFill>
                  <a:srgbClr val="FF0000"/>
                </a:solidFill>
                <a:latin typeface="Times New Roman" panose="02020603050405020304" pitchFamily="18" charset="0"/>
                <a:cs typeface="Times New Roman" panose="02020603050405020304" pitchFamily="18" charset="0"/>
              </a:rPr>
              <a:t>956913 (A871) – Remove in 50 </a:t>
            </a:r>
            <a:r>
              <a:rPr lang="en-US" sz="1467" dirty="0" err="1">
                <a:solidFill>
                  <a:srgbClr val="FF0000"/>
                </a:solidFill>
                <a:latin typeface="Times New Roman" panose="02020603050405020304" pitchFamily="18" charset="0"/>
                <a:cs typeface="Times New Roman" panose="02020603050405020304" pitchFamily="18" charset="0"/>
              </a:rPr>
              <a:t>cyc</a:t>
            </a:r>
            <a:r>
              <a:rPr lang="en-US" sz="1467" dirty="0">
                <a:solidFill>
                  <a:srgbClr val="FF0000"/>
                </a:solidFill>
                <a:latin typeface="Times New Roman" panose="02020603050405020304" pitchFamily="18" charset="0"/>
                <a:cs typeface="Times New Roman" panose="02020603050405020304" pitchFamily="18" charset="0"/>
              </a:rPr>
              <a:t> or reinspect; </a:t>
            </a:r>
            <a:r>
              <a:rPr lang="en-US" sz="1467" dirty="0" err="1">
                <a:solidFill>
                  <a:srgbClr val="FF0000"/>
                </a:solidFill>
                <a:latin typeface="Times New Roman" panose="02020603050405020304" pitchFamily="18" charset="0"/>
                <a:cs typeface="Times New Roman" panose="02020603050405020304" pitchFamily="18" charset="0"/>
              </a:rPr>
              <a:t>Lịch</a:t>
            </a:r>
            <a:r>
              <a:rPr lang="en-US" sz="1467" dirty="0">
                <a:solidFill>
                  <a:srgbClr val="FF0000"/>
                </a:solidFill>
                <a:latin typeface="Times New Roman" panose="02020603050405020304" pitchFamily="18" charset="0"/>
                <a:cs typeface="Times New Roman" panose="02020603050405020304" pitchFamily="18" charset="0"/>
              </a:rPr>
              <a:t> soi </a:t>
            </a:r>
            <a:r>
              <a:rPr lang="en-US" sz="1467" dirty="0" err="1">
                <a:solidFill>
                  <a:srgbClr val="FF0000"/>
                </a:solidFill>
                <a:latin typeface="Times New Roman" panose="02020603050405020304" pitchFamily="18" charset="0"/>
                <a:cs typeface="Times New Roman" panose="02020603050405020304" pitchFamily="18" charset="0"/>
              </a:rPr>
              <a:t>tiếp</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theo</a:t>
            </a:r>
            <a:r>
              <a:rPr lang="en-US" sz="1467" dirty="0">
                <a:solidFill>
                  <a:srgbClr val="FF0000"/>
                </a:solidFill>
                <a:latin typeface="Times New Roman" panose="02020603050405020304" pitchFamily="18" charset="0"/>
                <a:cs typeface="Times New Roman" panose="02020603050405020304" pitchFamily="18" charset="0"/>
              </a:rPr>
              <a:t> 31/01/2025;</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958170 (A863)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en-US" sz="1467" dirty="0" err="1">
                <a:solidFill>
                  <a:srgbClr val="ED0000"/>
                </a:solidFill>
                <a:latin typeface="Times New Roman" panose="02020603050405020304" pitchFamily="18" charset="0"/>
                <a:cs typeface="Times New Roman" panose="02020603050405020304" pitchFamily="18" charset="0"/>
              </a:rPr>
              <a:t>Lịch</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tiếp</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theo</a:t>
            </a:r>
            <a:r>
              <a:rPr lang="en-US" sz="1467" dirty="0">
                <a:solidFill>
                  <a:srgbClr val="ED0000"/>
                </a:solidFill>
                <a:latin typeface="Times New Roman" panose="02020603050405020304" pitchFamily="18" charset="0"/>
                <a:cs typeface="Times New Roman" panose="02020603050405020304" pitchFamily="18" charset="0"/>
              </a:rPr>
              <a:t> 27/01/2025;</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956769 (A868)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en-US" sz="1467" dirty="0" err="1">
                <a:solidFill>
                  <a:srgbClr val="ED0000"/>
                </a:solidFill>
                <a:latin typeface="Times New Roman" panose="02020603050405020304" pitchFamily="18" charset="0"/>
                <a:cs typeface="Times New Roman" panose="02020603050405020304" pitchFamily="18" charset="0"/>
              </a:rPr>
              <a:t>Lịch</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tiếp</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theo</a:t>
            </a:r>
            <a:r>
              <a:rPr lang="en-US" sz="1467" dirty="0">
                <a:solidFill>
                  <a:srgbClr val="ED0000"/>
                </a:solidFill>
                <a:latin typeface="Times New Roman" panose="02020603050405020304" pitchFamily="18" charset="0"/>
                <a:cs typeface="Times New Roman" panose="02020603050405020304" pitchFamily="18" charset="0"/>
              </a:rPr>
              <a:t> 24/01/2025;  </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956577 (A864) – Repetitive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Lịch</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tiếp</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theo</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ngày</a:t>
            </a:r>
            <a:r>
              <a:rPr lang="en-US" sz="1467" dirty="0">
                <a:solidFill>
                  <a:srgbClr val="ED0000"/>
                </a:solidFill>
                <a:latin typeface="Times New Roman" panose="02020603050405020304" pitchFamily="18" charset="0"/>
                <a:cs typeface="Times New Roman" panose="02020603050405020304" pitchFamily="18" charset="0"/>
              </a:rPr>
              <a:t> 25/01/2025; </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100 cycle – 02 ĐC;  150 cycle – 01 ĐC; 250 cycle – 02 ĐC. </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2" y="445510"/>
          <a:ext cx="6778543" cy="4256510"/>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67909">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09987">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u="none" strike="noStrike" dirty="0">
                          <a:solidFill>
                            <a:schemeClr val="tx1"/>
                          </a:solidFill>
                          <a:effectLst/>
                          <a:latin typeface="+mn-lt"/>
                        </a:rPr>
                        <a:t>End of Feb/2025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28984">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End </a:t>
                      </a:r>
                      <a:r>
                        <a:rPr lang="en-US" sz="1200" b="0" u="none" strike="noStrike">
                          <a:solidFill>
                            <a:schemeClr val="tx1"/>
                          </a:solidFill>
                          <a:effectLst/>
                          <a:latin typeface="+mn-lt"/>
                          <a:cs typeface="Times New Roman" panose="02020603050405020304" pitchFamily="18" charset="0"/>
                        </a:rPr>
                        <a:t>of Mar/2025</a:t>
                      </a:r>
                      <a:endParaRPr lang="en-US" sz="1200" b="0" u="none" strike="noStrike" dirty="0">
                        <a:solidFill>
                          <a:schemeClr val="tx1"/>
                        </a:solidFill>
                        <a:effectLst/>
                        <a:latin typeface="+mn-lt"/>
                        <a:cs typeface="Times New Roman" panose="02020603050405020304" pitchFamily="18" charset="0"/>
                      </a:endParaRP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70767">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rgbClr val="0070C0"/>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455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rgbClr val="0070C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23872">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378460">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16/Feb/2025</a:t>
                      </a:r>
                    </a:p>
                    <a:p>
                      <a:pPr algn="ctr" fontAlgn="ctr"/>
                      <a:r>
                        <a:rPr lang="en-US" sz="1200" b="0" u="none" strike="noStrike" dirty="0">
                          <a:solidFill>
                            <a:schemeClr val="tx1"/>
                          </a:solidFill>
                          <a:effectLst/>
                          <a:latin typeface="+mn-lt"/>
                          <a:cs typeface="Times New Roman" panose="02020603050405020304" pitchFamily="18" charset="0"/>
                        </a:rPr>
                        <a:t>Induct 04/11</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23-25/Feb/25</a:t>
                      </a: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BF0000"/>
                          </a:solidFill>
                          <a:effectLst/>
                          <a:latin typeface="+mn-lt"/>
                          <a:cs typeface="Times New Roman" panose="02020603050405020304" pitchFamily="18" charset="0"/>
                        </a:rPr>
                        <a:t>Induct TBD (KH </a:t>
                      </a:r>
                      <a:r>
                        <a:rPr lang="en-US" sz="1200" b="0" u="none" strike="noStrike" dirty="0" err="1">
                          <a:solidFill>
                            <a:srgbClr val="BF0000"/>
                          </a:solidFill>
                          <a:effectLst/>
                          <a:latin typeface="+mn-lt"/>
                          <a:cs typeface="Times New Roman" panose="02020603050405020304" pitchFamily="18" charset="0"/>
                        </a:rPr>
                        <a:t>cũ</a:t>
                      </a:r>
                      <a:r>
                        <a:rPr lang="en-US" sz="1200" b="0" u="none" strike="noStrike" dirty="0">
                          <a:solidFill>
                            <a:srgbClr val="BF0000"/>
                          </a:solidFill>
                          <a:effectLst/>
                          <a:latin typeface="+mn-lt"/>
                          <a:cs typeface="Times New Roman" panose="02020603050405020304" pitchFamily="18" charset="0"/>
                        </a:rPr>
                        <a:t> 16/12 </a:t>
                      </a:r>
                      <a:r>
                        <a:rPr lang="en-US" sz="1200" b="0" u="none" strike="noStrike" dirty="0" err="1">
                          <a:solidFill>
                            <a:srgbClr val="BF0000"/>
                          </a:solidFill>
                          <a:effectLst/>
                          <a:latin typeface="+mn-lt"/>
                          <a:cs typeface="Times New Roman" panose="02020603050405020304" pitchFamily="18" charset="0"/>
                        </a:rPr>
                        <a:t>nhưng</a:t>
                      </a:r>
                      <a:r>
                        <a:rPr lang="en-US" sz="1200" b="0" u="none" strike="noStrike" dirty="0">
                          <a:solidFill>
                            <a:srgbClr val="BF0000"/>
                          </a:solidFill>
                          <a:effectLst/>
                          <a:latin typeface="+mn-lt"/>
                          <a:cs typeface="Times New Roman" panose="02020603050405020304" pitchFamily="18" charset="0"/>
                        </a:rPr>
                        <a:t> KLM </a:t>
                      </a:r>
                      <a:r>
                        <a:rPr lang="en-US" sz="1200" b="0" u="none" strike="noStrike" dirty="0" err="1">
                          <a:solidFill>
                            <a:srgbClr val="BF0000"/>
                          </a:solidFill>
                          <a:effectLst/>
                          <a:latin typeface="+mn-lt"/>
                          <a:cs typeface="Times New Roman" panose="02020603050405020304" pitchFamily="18" charset="0"/>
                        </a:rPr>
                        <a:t>báo</a:t>
                      </a:r>
                      <a:r>
                        <a:rPr lang="en-US" sz="1200" b="0" u="none" strike="noStrike" dirty="0">
                          <a:solidFill>
                            <a:srgbClr val="BF0000"/>
                          </a:solidFill>
                          <a:effectLst/>
                          <a:latin typeface="+mn-lt"/>
                          <a:cs typeface="Times New Roman" panose="02020603050405020304" pitchFamily="18" charset="0"/>
                        </a:rPr>
                        <a:t> </a:t>
                      </a:r>
                      <a:r>
                        <a:rPr lang="en-US" sz="1200" b="0" u="none" strike="noStrike" dirty="0" err="1">
                          <a:solidFill>
                            <a:srgbClr val="BF0000"/>
                          </a:solidFill>
                          <a:effectLst/>
                          <a:latin typeface="+mn-lt"/>
                          <a:cs typeface="Times New Roman" panose="02020603050405020304" pitchFamily="18" charset="0"/>
                        </a:rPr>
                        <a:t>lùi</a:t>
                      </a:r>
                      <a:r>
                        <a:rPr lang="en-US" sz="1200" b="0" u="none" strike="noStrike" dirty="0">
                          <a:solidFill>
                            <a:srgbClr val="BF0000"/>
                          </a:solidFill>
                          <a:effectLst/>
                          <a:latin typeface="+mn-lt"/>
                          <a:cs typeface="Times New Roman" panose="02020603050405020304" pitchFamily="18" charset="0"/>
                        </a:rPr>
                        <a:t>)</a:t>
                      </a:r>
                    </a:p>
                  </a:txBody>
                  <a:tcPr marL="12700" marR="12700" marT="12700" marB="0" anchor="ctr"/>
                </a:tc>
                <a:tc>
                  <a:txBody>
                    <a:bodyPr/>
                    <a:lstStyle/>
                    <a:p>
                      <a:pPr algn="ctr" fontAlgn="ctr"/>
                      <a:r>
                        <a:rPr lang="en-US" sz="1200" b="0" i="0" u="none" strike="noStrike" dirty="0">
                          <a:solidFill>
                            <a:srgbClr val="B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ED0000"/>
                          </a:solidFill>
                          <a:effectLst/>
                          <a:latin typeface="+mn-lt"/>
                          <a:cs typeface="Times New Roman" panose="02020603050405020304" pitchFamily="18" charset="0"/>
                        </a:rPr>
                        <a:t>TBD</a:t>
                      </a:r>
                      <a:br>
                        <a:rPr lang="en-US" sz="1200" b="0" u="none" strike="noStrike" dirty="0">
                          <a:solidFill>
                            <a:srgbClr val="ED0000"/>
                          </a:solidFill>
                          <a:effectLst/>
                          <a:latin typeface="+mn-lt"/>
                          <a:cs typeface="Times New Roman" panose="02020603050405020304" pitchFamily="18" charset="0"/>
                        </a:rPr>
                      </a:br>
                      <a:r>
                        <a:rPr lang="en-US" sz="1200" b="0" u="none" strike="noStrike" dirty="0">
                          <a:solidFill>
                            <a:srgbClr val="ED0000"/>
                          </a:solidFill>
                          <a:effectLst/>
                          <a:latin typeface="+mn-lt"/>
                          <a:cs typeface="Times New Roman" panose="02020603050405020304" pitchFamily="18" charset="0"/>
                        </a:rPr>
                        <a:t>Induction TBD</a:t>
                      </a:r>
                    </a:p>
                  </a:txBody>
                  <a:tcPr marL="12700" marR="12700" marT="12700" marB="0" anchor="ctr"/>
                </a:tc>
                <a:tc>
                  <a:txBody>
                    <a:bodyPr/>
                    <a:lstStyle/>
                    <a:p>
                      <a:pPr algn="ctr" fontAlgn="ctr"/>
                      <a:r>
                        <a:rPr lang="en-US" sz="1200" b="0" i="0" u="none" strike="noStrike" dirty="0">
                          <a:solidFill>
                            <a:srgbClr val="ED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470767">
                <a:tc>
                  <a:txBody>
                    <a:bodyPr/>
                    <a:lstStyle/>
                    <a:p>
                      <a:pPr algn="ctr" fontAlgn="ctr"/>
                      <a:r>
                        <a:rPr lang="en-US" sz="1200" b="0" i="0" u="none" strike="noStrike" dirty="0">
                          <a:solidFill>
                            <a:schemeClr val="tx1"/>
                          </a:solidFill>
                          <a:effectLst/>
                          <a:latin typeface="+mn-lt"/>
                          <a:cs typeface="Times New Roman" panose="02020603050405020304" pitchFamily="18" charset="0"/>
                        </a:rPr>
                        <a:t>958541</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15/09/2024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31/12/2024</a:t>
                      </a:r>
                    </a:p>
                    <a:p>
                      <a:pPr algn="ctr" fontAlgn="ctr"/>
                      <a:r>
                        <a:rPr lang="en-US" sz="1200" b="0" u="none" strike="noStrike" dirty="0">
                          <a:solidFill>
                            <a:schemeClr val="tx1"/>
                          </a:solidFill>
                          <a:effectLst/>
                          <a:latin typeface="+mn-lt"/>
                          <a:cs typeface="Times New Roman" panose="02020603050405020304" pitchFamily="18" charset="0"/>
                        </a:rPr>
                        <a:t>Induct 02/10/2024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BF0000"/>
                          </a:solidFill>
                          <a:effectLst/>
                          <a:latin typeface="+mn-lt"/>
                          <a:cs typeface="Times New Roman" panose="02020603050405020304" pitchFamily="18" charset="0"/>
                        </a:rPr>
                        <a:t>12/01/2025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80108" y="-47303"/>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535AC63B-0D0C-0A9D-E19A-23C40E138B08}"/>
              </a:ext>
            </a:extLst>
          </p:cNvPr>
          <p:cNvCxnSpPr>
            <a:cxnSpLocks/>
          </p:cNvCxnSpPr>
          <p:nvPr/>
        </p:nvCxnSpPr>
        <p:spPr>
          <a:xfrm>
            <a:off x="8861868" y="789311"/>
            <a:ext cx="0" cy="3962400"/>
          </a:xfrm>
          <a:prstGeom prst="line">
            <a:avLst/>
          </a:prstGeom>
          <a:ln w="12700"/>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256201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30</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30</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6"/>
          <a:ext cx="5905159" cy="23164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957589">
                  <a:extLst>
                    <a:ext uri="{9D8B030D-6E8A-4147-A177-3AD203B41FA5}">
                      <a16:colId xmlns:a16="http://schemas.microsoft.com/office/drawing/2014/main" val="1674463010"/>
                    </a:ext>
                  </a:extLst>
                </a:gridCol>
                <a:gridCol w="942235">
                  <a:extLst>
                    <a:ext uri="{9D8B030D-6E8A-4147-A177-3AD203B41FA5}">
                      <a16:colId xmlns:a16="http://schemas.microsoft.com/office/drawing/2014/main" val="1549944897"/>
                    </a:ext>
                  </a:extLst>
                </a:gridCol>
                <a:gridCol w="942235">
                  <a:extLst>
                    <a:ext uri="{9D8B030D-6E8A-4147-A177-3AD203B41FA5}">
                      <a16:colId xmlns:a16="http://schemas.microsoft.com/office/drawing/2014/main" val="3687717734"/>
                    </a:ext>
                  </a:extLst>
                </a:gridCol>
                <a:gridCol w="1020755">
                  <a:extLst>
                    <a:ext uri="{9D8B030D-6E8A-4147-A177-3AD203B41FA5}">
                      <a16:colId xmlns:a16="http://schemas.microsoft.com/office/drawing/2014/main" val="4100307886"/>
                    </a:ext>
                  </a:extLst>
                </a:gridCol>
              </a:tblGrid>
              <a:tr h="16430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In Shop – N3 –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200" b="1">
                          <a:latin typeface="Times New Roman" panose="02020603050405020304" pitchFamily="18" charset="0"/>
                          <a:cs typeface="Times New Roman" panose="02020603050405020304" pitchFamily="18" charset="0"/>
                        </a:rPr>
                        <a:t>21043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In Shop – N3 –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val="83465224"/>
                  </a:ext>
                </a:extLst>
              </a:tr>
              <a:tr h="164309">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In Shop – HAESL – QT</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31/01/25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10/02/25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0">
                <a:tc>
                  <a:txBody>
                    <a:bodyPr/>
                    <a:lstStyle/>
                    <a:p>
                      <a:r>
                        <a:rPr lang="en-US" sz="1200" b="1">
                          <a:latin typeface="Times New Roman" panose="02020603050405020304" pitchFamily="18" charset="0"/>
                          <a:cs typeface="Times New Roman" panose="02020603050405020304" pitchFamily="18" charset="0"/>
                        </a:rPr>
                        <a:t>21137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In Shop – 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164309">
                <a:tc>
                  <a:txBody>
                    <a:bodyPr/>
                    <a:lstStyle/>
                    <a:p>
                      <a:r>
                        <a:rPr lang="en-US" sz="1200" b="1">
                          <a:latin typeface="Times New Roman" panose="02020603050405020304" pitchFamily="18" charset="0"/>
                          <a:cs typeface="Times New Roman" panose="02020603050405020304" pitchFamily="18" charset="0"/>
                        </a:rPr>
                        <a:t>21422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In Shop – 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00B050"/>
                          </a:solidFill>
                          <a:latin typeface="Times New Roman" panose="02020603050405020304" pitchFamily="18" charset="0"/>
                          <a:cs typeface="Times New Roman" panose="02020603050405020304" pitchFamily="18" charset="0"/>
                        </a:rPr>
                        <a:t>30/03/25</a:t>
                      </a:r>
                      <a:endParaRPr lang="en-US" sz="1200" b="1" dirty="0">
                        <a:solidFill>
                          <a:srgbClr val="00B05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00B050"/>
                          </a:solidFill>
                          <a:latin typeface="Times New Roman" panose="02020603050405020304" pitchFamily="18" charset="0"/>
                          <a:cs typeface="Times New Roman" panose="02020603050405020304" pitchFamily="18" charset="0"/>
                        </a:rPr>
                        <a:t>10/04/25</a:t>
                      </a:r>
                      <a:endParaRPr lang="en-US" sz="1200" b="1" dirty="0">
                        <a:solidFill>
                          <a:srgbClr val="00B05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164309">
                <a:tc>
                  <a:txBody>
                    <a:bodyPr/>
                    <a:lstStyle/>
                    <a:p>
                      <a:r>
                        <a:rPr lang="en-US" sz="1200" b="1">
                          <a:latin typeface="Times New Roman" panose="02020603050405020304" pitchFamily="18" charset="0"/>
                          <a:cs typeface="Times New Roman" panose="02020603050405020304" pitchFamily="18" charset="0"/>
                        </a:rPr>
                        <a:t>21201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In Shop – 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105347" y="3717013"/>
          <a:ext cx="5867400" cy="3025413"/>
        </p:xfrm>
        <a:graphic>
          <a:graphicData uri="http://schemas.openxmlformats.org/drawingml/2006/table">
            <a:tbl>
              <a:tblPr firstRow="1" bandRow="1">
                <a:tableStyleId>{21E4AEA4-8DFA-4A89-87EB-49C32662AFE0}</a:tableStyleId>
              </a:tblPr>
              <a:tblGrid>
                <a:gridCol w="979469">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33615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336157">
                <a:tc>
                  <a:txBody>
                    <a:bodyPr/>
                    <a:lstStyle/>
                    <a:p>
                      <a:r>
                        <a:rPr lang="en-GB" sz="1200" b="1" dirty="0">
                          <a:latin typeface="Times New Roman" panose="02020603050405020304" pitchFamily="18" charset="0"/>
                          <a:cs typeface="Times New Roman" panose="02020603050405020304" pitchFamily="18" charset="0"/>
                        </a:rPr>
                        <a:t>21040</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Transport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T1/2025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indent="0">
                        <a:buFontTx/>
                        <a:buNone/>
                      </a:pPr>
                      <a:endParaRPr lang="en-US"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36157">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336157">
                <a:tc>
                  <a:txBody>
                    <a:bodyPr/>
                    <a:lstStyle/>
                    <a:p>
                      <a:r>
                        <a:rPr lang="en-US" sz="1200" b="1" dirty="0">
                          <a:latin typeface="Times New Roman" panose="02020603050405020304" pitchFamily="18" charset="0"/>
                          <a:cs typeface="Times New Roman" panose="02020603050405020304" pitchFamily="18" charset="0"/>
                        </a:rPr>
                        <a:t>21269</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Transport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T1/2025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3448478813"/>
                  </a:ext>
                </a:extLst>
              </a:tr>
              <a:tr h="336157">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336157">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001673644"/>
                  </a:ext>
                </a:extLst>
              </a:tr>
              <a:tr h="336157">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T2/2025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927641313"/>
                  </a:ext>
                </a:extLst>
              </a:tr>
              <a:tr h="336157">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Tàu</a:t>
                      </a:r>
                      <a:r>
                        <a:rPr lang="en-US" sz="1200" b="0" dirty="0">
                          <a:solidFill>
                            <a:schemeClr val="tx1"/>
                          </a:solidFill>
                          <a:latin typeface="Times New Roman" panose="02020603050405020304" pitchFamily="18" charset="0"/>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863729012"/>
                  </a:ext>
                </a:extLst>
              </a:tr>
              <a:tr h="336157">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Transport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T1/2025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indent="0">
                        <a:buFontTx/>
                        <a:buNone/>
                      </a:pPr>
                      <a:endParaRPr lang="en-US"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735850095"/>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đang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trong</a:t>
            </a:r>
            <a:r>
              <a:rPr lang="en-GB" sz="2133" b="1" dirty="0">
                <a:solidFill>
                  <a:srgbClr val="002060"/>
                </a:solidFill>
                <a:latin typeface="Times New Roman" panose="02020603050405020304" pitchFamily="18" charset="0"/>
                <a:cs typeface="Times New Roman" panose="02020603050405020304" pitchFamily="18" charset="0"/>
              </a:rPr>
              <a:t> shop </a:t>
            </a:r>
            <a:r>
              <a:rPr lang="en-GB" sz="2133" b="1">
                <a:solidFill>
                  <a:srgbClr val="002060"/>
                </a:solidFill>
                <a:latin typeface="Times New Roman" panose="02020603050405020304" pitchFamily="18" charset="0"/>
                <a:cs typeface="Times New Roman" panose="02020603050405020304" pitchFamily="18" charset="0"/>
              </a:rPr>
              <a:t>(06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c</a:t>
            </a:r>
            <a:r>
              <a:rPr lang="en-US" sz="2133" b="1" dirty="0">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268910" y="3263345"/>
            <a:ext cx="5195392"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đến hạn tháo (08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887077"/>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19257" y="3419768"/>
          <a:ext cx="5808956" cy="33226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88976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304800">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304800">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487680">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487680">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hết LLP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(sẽ tiến hành tháo dần trong T1-T2 gửi đi SV)</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304800">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9" name="Speech Bubble: Rectangle with Corners Rounded 8">
            <a:extLst>
              <a:ext uri="{FF2B5EF4-FFF2-40B4-BE49-F238E27FC236}">
                <a16:creationId xmlns:a16="http://schemas.microsoft.com/office/drawing/2014/main" id="{07B625F8-0854-49CC-0CB0-AF842EA02598}"/>
              </a:ext>
            </a:extLst>
          </p:cNvPr>
          <p:cNvSpPr/>
          <p:nvPr/>
        </p:nvSpPr>
        <p:spPr>
          <a:xfrm>
            <a:off x="9026165" y="5130661"/>
            <a:ext cx="2701964" cy="768671"/>
          </a:xfrm>
          <a:prstGeom prst="wedgeRoundRectCallout">
            <a:avLst>
              <a:gd name="adj1" fmla="val -56855"/>
              <a:gd name="adj2" fmla="val -82154"/>
              <a:gd name="adj3" fmla="val 16667"/>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219170">
              <a:defRPr/>
            </a:pPr>
            <a:r>
              <a:rPr lang="en-US" sz="1067">
                <a:solidFill>
                  <a:srgbClr val="FF0000"/>
                </a:solidFill>
                <a:latin typeface="Times New Roman" panose="02020603050405020304" pitchFamily="18" charset="0"/>
                <a:cs typeface="Times New Roman" panose="02020603050405020304" pitchFamily="18" charset="0"/>
              </a:rPr>
              <a:t>Cao điểm Tết: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A893 và A899 thay bằng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thuê RRFP thứ 4 và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21316 đi QT về đầu T2. </a:t>
            </a:r>
            <a:endParaRPr lang="en-US" sz="1067"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7970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832D6-D376-2B3E-80E4-2BB00133B7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7AB7BD-6FB2-6DEE-1597-88CCC23AA773}"/>
              </a:ext>
            </a:extLst>
          </p:cNvPr>
          <p:cNvSpPr>
            <a:spLocks noGrp="1"/>
          </p:cNvSpPr>
          <p:nvPr>
            <p:ph type="sldNum" idx="12"/>
          </p:nvPr>
        </p:nvSpPr>
        <p:spPr/>
        <p:txBody>
          <a:bodyPr/>
          <a:lstStyle/>
          <a:p>
            <a:fld id="{00000000-1234-1234-1234-123412341234}" type="slidenum">
              <a:rPr lang="vi" smtClean="0"/>
              <a:pPr/>
              <a:t>31</a:t>
            </a:fld>
            <a:endParaRPr lang="vi"/>
          </a:p>
        </p:txBody>
      </p:sp>
      <p:sp>
        <p:nvSpPr>
          <p:cNvPr id="3" name="Slide Number Placeholder 3">
            <a:extLst>
              <a:ext uri="{FF2B5EF4-FFF2-40B4-BE49-F238E27FC236}">
                <a16:creationId xmlns:a16="http://schemas.microsoft.com/office/drawing/2014/main" id="{872779D9-F954-864D-33DF-03C9AF45917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31</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1F90731F-79CC-9C0D-90F0-8892B720402F}"/>
              </a:ext>
            </a:extLst>
          </p:cNvPr>
          <p:cNvGraphicFramePr/>
          <p:nvPr/>
        </p:nvGraphicFramePr>
        <p:xfrm>
          <a:off x="186266" y="564481"/>
          <a:ext cx="11841945" cy="42328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id="{59E8CB50-D75D-D69C-E552-996064D3C127}"/>
              </a:ext>
            </a:extLst>
          </p:cNvPr>
          <p:cNvGraphicFramePr>
            <a:graphicFrameLocks noGrp="1"/>
          </p:cNvGraphicFramePr>
          <p:nvPr/>
        </p:nvGraphicFramePr>
        <p:xfrm>
          <a:off x="93132" y="5436863"/>
          <a:ext cx="12028209" cy="1223394"/>
        </p:xfrm>
        <a:graphic>
          <a:graphicData uri="http://schemas.openxmlformats.org/drawingml/2006/table">
            <a:tbl>
              <a:tblPr firstRow="1" bandRow="1">
                <a:tableStyleId>{93296810-A885-4BE3-A3E7-6D5BEEA58F35}</a:tableStyleId>
              </a:tblPr>
              <a:tblGrid>
                <a:gridCol w="829765">
                  <a:extLst>
                    <a:ext uri="{9D8B030D-6E8A-4147-A177-3AD203B41FA5}">
                      <a16:colId xmlns:a16="http://schemas.microsoft.com/office/drawing/2014/main" val="4208667331"/>
                    </a:ext>
                  </a:extLst>
                </a:gridCol>
                <a:gridCol w="6156477">
                  <a:extLst>
                    <a:ext uri="{9D8B030D-6E8A-4147-A177-3AD203B41FA5}">
                      <a16:colId xmlns:a16="http://schemas.microsoft.com/office/drawing/2014/main" val="1351526185"/>
                    </a:ext>
                  </a:extLst>
                </a:gridCol>
                <a:gridCol w="5041967">
                  <a:extLst>
                    <a:ext uri="{9D8B030D-6E8A-4147-A177-3AD203B41FA5}">
                      <a16:colId xmlns:a16="http://schemas.microsoft.com/office/drawing/2014/main" val="1843655469"/>
                    </a:ext>
                  </a:extLst>
                </a:gridCol>
              </a:tblGrid>
              <a:tr h="249088">
                <a:tc>
                  <a:txBody>
                    <a:bodyPr/>
                    <a:lstStyle/>
                    <a:p>
                      <a:pPr algn="ctr" fontAlgn="t"/>
                      <a:r>
                        <a:rPr lang="en-US" sz="1200" b="1" i="0" u="none" strike="noStrike" dirty="0" err="1">
                          <a:solidFill>
                            <a:schemeClr val="bg1"/>
                          </a:solidFill>
                          <a:effectLst/>
                          <a:latin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Phương</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án</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Kế</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hoạch</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thay</a:t>
                      </a:r>
                      <a:endParaRPr lang="en-US" sz="1200" b="1" i="0" u="none" strike="noStrike" dirty="0">
                        <a:solidFill>
                          <a:schemeClr val="bg1"/>
                        </a:solidFill>
                        <a:effectLst/>
                        <a:latin typeface="Times New Roman" panose="02020603050405020304" pitchFamily="18" charset="0"/>
                      </a:endParaRPr>
                    </a:p>
                  </a:txBody>
                  <a:tcPr marL="8467" marR="8467" marT="8467" marB="0" anchor="ctr"/>
                </a:tc>
                <a:extLst>
                  <a:ext uri="{0D108BD9-81ED-4DB2-BD59-A6C34878D82A}">
                    <a16:rowId xmlns:a16="http://schemas.microsoft.com/office/drawing/2014/main" val="1286781906"/>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A893</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Do vấn đề High Oil Consumption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số 2 mà tàu phải khai thác chặng ngắn dẫn đến tăng utilization, không bay đ</a:t>
                      </a:r>
                      <a:r>
                        <a:rPr lang="vi-VN" sz="1200">
                          <a:solidFill>
                            <a:schemeClr val="tx1"/>
                          </a:solidFill>
                          <a:latin typeface="Times New Roman" panose="02020603050405020304" pitchFamily="18" charset="0"/>
                          <a:cs typeface="Times New Roman" panose="02020603050405020304" pitchFamily="18" charset="0"/>
                        </a:rPr>
                        <a:t>ư</a:t>
                      </a:r>
                      <a:r>
                        <a:rPr lang="en-US" sz="1200">
                          <a:solidFill>
                            <a:schemeClr val="tx1"/>
                          </a:solidFill>
                          <a:latin typeface="Times New Roman" panose="02020603050405020304" pitchFamily="18" charset="0"/>
                          <a:cs typeface="Times New Roman" panose="02020603050405020304" pitchFamily="18" charset="0"/>
                        </a:rPr>
                        <a:t>ợc qua Tết. Dự kiến hết hạn vào cuối tháng 1.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Dự kiến thay bằng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thuê thứ 4 sẽ nhận vào 22/01</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val="2913290803"/>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A899</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Times New Roman" panose="02020603050405020304" pitchFamily="18" charset="0"/>
                          <a:cs typeface="Times New Roman" panose="02020603050405020304" pitchFamily="18" charset="0"/>
                        </a:rPr>
                        <a:t>Do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bay </a:t>
                      </a:r>
                      <a:r>
                        <a:rPr lang="en-US" sz="1200" dirty="0" err="1">
                          <a:solidFill>
                            <a:schemeClr val="tx1"/>
                          </a:solidFill>
                          <a:latin typeface="Times New Roman" panose="02020603050405020304" pitchFamily="18" charset="0"/>
                          <a:cs typeface="Times New Roman" panose="02020603050405020304" pitchFamily="18" charset="0"/>
                        </a:rPr>
                        <a:t>bù</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các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VIP </a:t>
                      </a:r>
                      <a:r>
                        <a:rPr lang="en-US" sz="1200" dirty="0" err="1">
                          <a:solidFill>
                            <a:schemeClr val="tx1"/>
                          </a:solidFill>
                          <a:latin typeface="Times New Roman" panose="02020603050405020304" pitchFamily="18" charset="0"/>
                          <a:cs typeface="Times New Roman" panose="02020603050405020304" pitchFamily="18" charset="0"/>
                        </a:rPr>
                        <a:t>tháng</a:t>
                      </a:r>
                      <a:r>
                        <a:rPr lang="en-US" sz="1200" dirty="0">
                          <a:solidFill>
                            <a:schemeClr val="tx1"/>
                          </a:solidFill>
                          <a:latin typeface="Times New Roman" panose="02020603050405020304" pitchFamily="18" charset="0"/>
                          <a:cs typeface="Times New Roman" panose="02020603050405020304" pitchFamily="18" charset="0"/>
                        </a:rPr>
                        <a:t> 1 </a:t>
                      </a:r>
                      <a:r>
                        <a:rPr lang="en-US" sz="1200" dirty="0" err="1">
                          <a:solidFill>
                            <a:schemeClr val="tx1"/>
                          </a:solidFill>
                          <a:latin typeface="Times New Roman" panose="02020603050405020304" pitchFamily="18" charset="0"/>
                          <a:cs typeface="Times New Roman" panose="02020603050405020304" pitchFamily="18" charset="0"/>
                        </a:rPr>
                        <a:t>nên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tăng</a:t>
                      </a:r>
                      <a:r>
                        <a:rPr lang="en-US" sz="1200" dirty="0">
                          <a:solidFill>
                            <a:schemeClr val="tx1"/>
                          </a:solidFill>
                          <a:latin typeface="Times New Roman" panose="02020603050405020304" pitchFamily="18" charset="0"/>
                          <a:cs typeface="Times New Roman" panose="02020603050405020304" pitchFamily="18" charset="0"/>
                        </a:rPr>
                        <a:t> utilization, </a:t>
                      </a:r>
                      <a:r>
                        <a:rPr lang="en-US" sz="1200" dirty="0" err="1">
                          <a:solidFill>
                            <a:schemeClr val="tx1"/>
                          </a:solidFill>
                          <a:latin typeface="Times New Roman" panose="02020603050405020304" pitchFamily="18" charset="0"/>
                          <a:cs typeface="Times New Roman" panose="02020603050405020304" pitchFamily="18" charset="0"/>
                        </a:rPr>
                        <a:t>không</a:t>
                      </a:r>
                      <a:r>
                        <a:rPr lang="en-US" sz="1200" dirty="0">
                          <a:solidFill>
                            <a:schemeClr val="tx1"/>
                          </a:solidFill>
                          <a:latin typeface="Times New Roman" panose="02020603050405020304" pitchFamily="18" charset="0"/>
                          <a:cs typeface="Times New Roman" panose="02020603050405020304" pitchFamily="18" charset="0"/>
                        </a:rPr>
                        <a:t> bay đ</a:t>
                      </a:r>
                      <a:r>
                        <a:rPr lang="vi-VN" sz="1200" dirty="0">
                          <a:solidFill>
                            <a:schemeClr val="tx1"/>
                          </a:solidFill>
                          <a:latin typeface="Times New Roman" panose="02020603050405020304" pitchFamily="18" charset="0"/>
                          <a:cs typeface="Times New Roman" panose="02020603050405020304" pitchFamily="18" charset="0"/>
                        </a:rPr>
                        <a:t>ư</a:t>
                      </a:r>
                      <a:r>
                        <a:rPr lang="en-US" sz="1200" dirty="0" err="1">
                          <a:solidFill>
                            <a:schemeClr val="tx1"/>
                          </a:solidFill>
                          <a:latin typeface="Times New Roman" panose="02020603050405020304" pitchFamily="18" charset="0"/>
                          <a:cs typeface="Times New Roman" panose="02020603050405020304" pitchFamily="18" charset="0"/>
                        </a:rPr>
                        <a:t>ợc</a:t>
                      </a:r>
                      <a:r>
                        <a:rPr lang="en-US" sz="1200" dirty="0">
                          <a:solidFill>
                            <a:schemeClr val="tx1"/>
                          </a:solidFill>
                          <a:latin typeface="Times New Roman" panose="02020603050405020304" pitchFamily="18" charset="0"/>
                          <a:cs typeface="Times New Roman" panose="02020603050405020304" pitchFamily="18" charset="0"/>
                        </a:rPr>
                        <a:t> qua </a:t>
                      </a:r>
                      <a:r>
                        <a:rPr lang="en-US" sz="1200" dirty="0" err="1">
                          <a:solidFill>
                            <a:schemeClr val="tx1"/>
                          </a:solidFill>
                          <a:latin typeface="Times New Roman" panose="02020603050405020304" pitchFamily="18" charset="0"/>
                          <a:cs typeface="Times New Roman" panose="02020603050405020304" pitchFamily="18" charset="0"/>
                        </a:rPr>
                        <a:t>Tết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hạn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chế</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chờ</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Quickturn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đi</a:t>
                      </a:r>
                      <a:r>
                        <a:rPr lang="en-US" sz="1200" dirty="0">
                          <a:solidFill>
                            <a:schemeClr val="tx1"/>
                          </a:solidFill>
                          <a:latin typeface="Times New Roman" panose="02020603050405020304" pitchFamily="18" charset="0"/>
                          <a:cs typeface="Times New Roman" panose="02020603050405020304" pitchFamily="18" charset="0"/>
                        </a:rPr>
                        <a:t> shop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21316 sửa xong cuối T1, dự kiến sẽ về đầu T2.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val="3138330128"/>
                  </a:ext>
                </a:extLst>
              </a:tr>
            </a:tbl>
          </a:graphicData>
        </a:graphic>
      </p:graphicFrame>
      <p:sp>
        <p:nvSpPr>
          <p:cNvPr id="6" name="TextBox 5">
            <a:extLst>
              <a:ext uri="{FF2B5EF4-FFF2-40B4-BE49-F238E27FC236}">
                <a16:creationId xmlns:a16="http://schemas.microsoft.com/office/drawing/2014/main" id="{42078504-4E4E-DE69-F896-C7268F910BB0}"/>
              </a:ext>
            </a:extLst>
          </p:cNvPr>
          <p:cNvSpPr txBox="1"/>
          <p:nvPr/>
        </p:nvSpPr>
        <p:spPr>
          <a:xfrm>
            <a:off x="1397713" y="4768821"/>
            <a:ext cx="9419049" cy="666786"/>
          </a:xfrm>
          <a:prstGeom prst="rect">
            <a:avLst/>
          </a:prstGeom>
          <a:noFill/>
        </p:spPr>
        <p:txBody>
          <a:bodyPr wrap="square" rtlCol="0">
            <a:spAutoFit/>
          </a:bodyPr>
          <a:lstStyle/>
          <a:p>
            <a:pPr algn="ctr" defTabSz="1219170">
              <a:defRPr/>
            </a:pPr>
            <a:r>
              <a:rPr lang="en-US" sz="2133" b="1" dirty="0" err="1">
                <a:solidFill>
                  <a:srgbClr val="002060"/>
                </a:solidFill>
                <a:latin typeface="Times New Roman" panose="02020603050405020304" pitchFamily="18" charset="0"/>
                <a:cs typeface="Times New Roman" panose="02020603050405020304" pitchFamily="18" charset="0"/>
              </a:rPr>
              <a:t>Kế</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hoạch</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thay</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động</a:t>
            </a:r>
            <a:r>
              <a:rPr lang="en-US" sz="2133" b="1" dirty="0">
                <a:solidFill>
                  <a:srgbClr val="002060"/>
                </a:solidFill>
                <a:latin typeface="Times New Roman" panose="02020603050405020304" pitchFamily="18" charset="0"/>
                <a:cs typeface="Times New Roman" panose="02020603050405020304" pitchFamily="18" charset="0"/>
              </a:rPr>
              <a:t> c</a:t>
            </a:r>
            <a:r>
              <a:rPr lang="vi-VN" sz="2133" b="1" dirty="0">
                <a:solidFill>
                  <a:srgbClr val="002060"/>
                </a:solidFill>
                <a:latin typeface="Times New Roman" panose="02020603050405020304" pitchFamily="18" charset="0"/>
                <a:cs typeface="Times New Roman" panose="02020603050405020304" pitchFamily="18" charset="0"/>
              </a:rPr>
              <a:t>ơ</a:t>
            </a:r>
            <a:r>
              <a:rPr lang="en-US" sz="2133" b="1" dirty="0">
                <a:solidFill>
                  <a:srgbClr val="002060"/>
                </a:solidFill>
                <a:latin typeface="Times New Roman" panose="02020603050405020304" pitchFamily="18" charset="0"/>
                <a:cs typeface="Times New Roman" panose="02020603050405020304" pitchFamily="18" charset="0"/>
              </a:rPr>
              <a:t> A350 </a:t>
            </a:r>
          </a:p>
          <a:p>
            <a:pPr algn="ctr" defTabSz="1219170">
              <a:defRPr/>
            </a:pPr>
            <a:r>
              <a:rPr lang="en-US" sz="1600" b="1" i="1" dirty="0">
                <a:solidFill>
                  <a:srgbClr val="002060"/>
                </a:solidFill>
                <a:latin typeface="Times New Roman" panose="02020603050405020304" pitchFamily="18" charset="0"/>
                <a:cs typeface="Times New Roman" panose="02020603050405020304" pitchFamily="18" charset="0"/>
              </a:rPr>
              <a:t>(</a:t>
            </a:r>
            <a:r>
              <a:rPr lang="en-US" sz="1600" b="1" i="1" dirty="0" err="1">
                <a:solidFill>
                  <a:srgbClr val="002060"/>
                </a:solidFill>
                <a:latin typeface="Times New Roman" panose="02020603050405020304" pitchFamily="18" charset="0"/>
                <a:cs typeface="Times New Roman" panose="02020603050405020304" pitchFamily="18" charset="0"/>
              </a:rPr>
              <a:t>các</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tàu</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ảnh</a:t>
            </a:r>
            <a:r>
              <a:rPr lang="en-US" sz="1600" b="1" i="1" dirty="0">
                <a:solidFill>
                  <a:srgbClr val="002060"/>
                </a:solidFill>
                <a:latin typeface="Times New Roman" panose="02020603050405020304" pitchFamily="18" charset="0"/>
                <a:cs typeface="Times New Roman" panose="02020603050405020304" pitchFamily="18" charset="0"/>
              </a:rPr>
              <a:t> h</a:t>
            </a:r>
            <a:r>
              <a:rPr lang="vi-VN" sz="1600" b="1" i="1" dirty="0">
                <a:solidFill>
                  <a:srgbClr val="002060"/>
                </a:solidFill>
                <a:latin typeface="Times New Roman" panose="02020603050405020304" pitchFamily="18" charset="0"/>
                <a:cs typeface="Times New Roman" panose="02020603050405020304" pitchFamily="18" charset="0"/>
              </a:rPr>
              <a:t>ư</a:t>
            </a:r>
            <a:r>
              <a:rPr lang="en-US" sz="1600" b="1" i="1" dirty="0" err="1">
                <a:solidFill>
                  <a:srgbClr val="002060"/>
                </a:solidFill>
                <a:latin typeface="Times New Roman" panose="02020603050405020304" pitchFamily="18" charset="0"/>
                <a:cs typeface="Times New Roman" panose="02020603050405020304" pitchFamily="18" charset="0"/>
              </a:rPr>
              <a:t>ởng</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nguồn</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lực</a:t>
            </a:r>
            <a:r>
              <a:rPr lang="en-US" sz="1600" b="1" i="1" dirty="0">
                <a:solidFill>
                  <a:srgbClr val="002060"/>
                </a:solidFill>
                <a:latin typeface="Times New Roman" panose="02020603050405020304" pitchFamily="18" charset="0"/>
                <a:cs typeface="Times New Roman" panose="02020603050405020304" pitchFamily="18" charset="0"/>
              </a:rPr>
              <a:t>)</a:t>
            </a:r>
            <a:endParaRPr lang="en-GB" sz="2400" b="1" i="1" dirty="0">
              <a:solidFill>
                <a:srgbClr val="00206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91619BD-7E24-FDB8-BC7A-A4CB0B20AAAA}"/>
              </a:ext>
            </a:extLst>
          </p:cNvPr>
          <p:cNvSpPr txBox="1"/>
          <p:nvPr/>
        </p:nvSpPr>
        <p:spPr>
          <a:xfrm>
            <a:off x="1" y="31001"/>
            <a:ext cx="11480800"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A350 T10 – T2/2025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749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32</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67903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vi-VN" sz="1600">
                <a:solidFill>
                  <a:schemeClr val="tx1"/>
                </a:solidFill>
                <a:latin typeface="Times New Roman" panose="02020603050405020304" pitchFamily="18" charset="0"/>
                <a:cs typeface="Times New Roman" panose="02020603050405020304" pitchFamily="18" charset="0"/>
              </a:rPr>
              <a:t>B225 dùng động cơ ED0214 trong kho còn 151 FC và động cơ ED0241 từ sh</a:t>
            </a:r>
            <a:r>
              <a:rPr lang="en-US" sz="1600">
                <a:solidFill>
                  <a:schemeClr val="tx1"/>
                </a:solidFill>
                <a:latin typeface="Times New Roman" panose="02020603050405020304" pitchFamily="18" charset="0"/>
                <a:cs typeface="Times New Roman" panose="02020603050405020304" pitchFamily="18" charset="0"/>
              </a:rPr>
              <a:t>o</a:t>
            </a:r>
            <a:r>
              <a:rPr lang="vi-VN" sz="1600">
                <a:solidFill>
                  <a:schemeClr val="tx1"/>
                </a:solidFill>
                <a:latin typeface="Times New Roman" panose="02020603050405020304" pitchFamily="18" charset="0"/>
                <a:cs typeface="Times New Roman" panose="02020603050405020304" pitchFamily="18" charset="0"/>
              </a:rPr>
              <a:t>p về.</a:t>
            </a:r>
            <a:r>
              <a:rPr lang="en-US" sz="1600">
                <a:solidFill>
                  <a:schemeClr val="tx1"/>
                </a:solidFill>
                <a:latin typeface="Times New Roman" panose="02020603050405020304" pitchFamily="18" charset="0"/>
                <a:cs typeface="Times New Roman" panose="02020603050405020304" pitchFamily="18" charset="0"/>
              </a:rPr>
              <a:t> </a:t>
            </a:r>
            <a:r>
              <a:rPr lang="en-US" sz="1600">
                <a:solidFill>
                  <a:srgbClr val="FF0000"/>
                </a:solidFill>
                <a:latin typeface="Times New Roman" panose="02020603050405020304" pitchFamily="18" charset="0"/>
                <a:cs typeface="Times New Roman" panose="02020603050405020304" pitchFamily="18" charset="0"/>
              </a:rPr>
              <a:t>Đã hoàn thành thay động cơ cao giờ trên B225</a:t>
            </a: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80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3017924"/>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en-US"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ED0181</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17/07/2024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b="0">
                          <a:solidFill>
                            <a:schemeClr val="tx1"/>
                          </a:solidFill>
                          <a:latin typeface="Times New Roman" panose="02020603050405020304" pitchFamily="18" charset="0"/>
                          <a:cs typeface="Times New Roman" panose="02020603050405020304" pitchFamily="18" charset="0"/>
                        </a:rPr>
                        <a:t>16/01/2025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a:solidFill>
                            <a:schemeClr val="tx1"/>
                          </a:solidFill>
                          <a:latin typeface="Times New Roman" panose="02020603050405020304" pitchFamily="18" charset="0"/>
                          <a:cs typeface="Times New Roman" panose="02020603050405020304" pitchFamily="18" charset="0"/>
                        </a:rPr>
                        <a:t>B225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ENG CHANGE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277853865"/>
                  </a:ext>
                </a:extLst>
              </a:tr>
              <a:tr h="577171">
                <a:tc>
                  <a:txBody>
                    <a:bodyPr/>
                    <a:lstStyle/>
                    <a:p>
                      <a:pPr algn="ctr"/>
                      <a:r>
                        <a:rPr lang="en-GB" sz="15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ED0192</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29/08/2024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23/01/2025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a:solidFill>
                            <a:schemeClr val="tx1"/>
                          </a:solidFill>
                          <a:latin typeface="Times New Roman" panose="02020603050405020304" pitchFamily="18" charset="0"/>
                          <a:cs typeface="Times New Roman" panose="02020603050405020304" pitchFamily="18" charset="0"/>
                        </a:rPr>
                        <a:t>Stagger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65882103"/>
                  </a:ext>
                </a:extLst>
              </a:tr>
              <a:tr h="577171">
                <a:tc>
                  <a:txBody>
                    <a:bodyPr/>
                    <a:lstStyle/>
                    <a:p>
                      <a:pPr algn="ctr"/>
                      <a:r>
                        <a:rPr lang="en-US" sz="1500" dirty="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en-GB" sz="15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0" y="4336401"/>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124805" y="4918706"/>
            <a:ext cx="11460201" cy="1241365"/>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ED0217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HPT Vane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38 FH), ED0233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78 FC), ED0214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151 FC)</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378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13/01/2025 – 19/01/2025: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A621 (clean connector), A867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FMU), A608 (ops test).</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4794833"/>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304841">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96664">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Triển khai </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TI-2023-1002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khi T/S APU bad smell.</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Tổ bay chưa tuân thủ điền và gửi report SIC khi có event, đã nêu trong cuộc họp KT-Khai thác, để nghị nghiêm túc thực hiện.</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FON22/061 R03.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96664">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val="1073163020"/>
                  </a:ext>
                </a:extLst>
              </a:tr>
              <a:tr h="1496664">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9558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599134"/>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39904">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25-Feb-24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P-5361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28-Oct-24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28701926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P-8524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07-Nov-24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P-5535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19-Aug-24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26-Jan-24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27734706"/>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HSC-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E1525371PL</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03-Dec-24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25-Feb-25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A871</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extLst>
                  <a:ext uri="{0D108BD9-81ED-4DB2-BD59-A6C34878D82A}">
                    <a16:rowId xmlns:a16="http://schemas.microsoft.com/office/drawing/2014/main" val="1251250973"/>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P-00124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02-Oct-24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20-Feb-25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6494827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20-Feb-25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81373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36</a:t>
            </a:fld>
            <a:endParaRPr dirty="0"/>
          </a:p>
        </p:txBody>
      </p:sp>
      <p:sp>
        <p:nvSpPr>
          <p:cNvPr id="76" name="Google Shape;76;p2"/>
          <p:cNvSpPr txBox="1">
            <a:spLocks noGrp="1"/>
          </p:cNvSpPr>
          <p:nvPr>
            <p:ph type="title"/>
          </p:nvPr>
        </p:nvSpPr>
        <p:spPr>
          <a:xfrm>
            <a:off x="152400" y="152400"/>
            <a:ext cx="11506200"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b="1" dirty="0">
                <a:solidFill>
                  <a:srgbClr val="FFC000"/>
                </a:solidFill>
                <a:latin typeface="Times New Roman" panose="02020603050405020304" pitchFamily="18" charset="0"/>
                <a:cs typeface="Times New Roman" panose="02020603050405020304" pitchFamily="18" charset="0"/>
              </a:rPr>
              <a:t>CÁC TÀU BQDB VÀ ĐANG TRONG BẢO DƯỠNG </a:t>
            </a:r>
            <a:r>
              <a:rPr lang="en-US" b="1">
                <a:solidFill>
                  <a:srgbClr val="FFC000"/>
                </a:solidFill>
                <a:latin typeface="Times New Roman" panose="02020603050405020304" pitchFamily="18" charset="0"/>
                <a:cs typeface="Times New Roman" panose="02020603050405020304" pitchFamily="18" charset="0"/>
              </a:rPr>
              <a:t>ĐỊNH KỲ</a:t>
            </a:r>
            <a:endParaRPr b="0" dirty="0">
              <a:solidFill>
                <a:srgbClr val="FFC000"/>
              </a:solidFill>
              <a:latin typeface="Times New Roman" panose="02020603050405020304" pitchFamily="18" charset="0"/>
              <a:cs typeface="Times New Roman" panose="02020603050405020304" pitchFamily="18" charset="0"/>
            </a:endParaRPr>
          </a:p>
        </p:txBody>
      </p:sp>
      <p:sp>
        <p:nvSpPr>
          <p:cNvPr id="2" name="Google Shape;75;p2">
            <a:extLst>
              <a:ext uri="{FF2B5EF4-FFF2-40B4-BE49-F238E27FC236}">
                <a16:creationId xmlns:a16="http://schemas.microsoft.com/office/drawing/2014/main" id="{0DF58EE6-4E3F-AD4F-B490-92D47A32E347}"/>
              </a:ext>
            </a:extLst>
          </p:cNvPr>
          <p:cNvSpPr txBox="1">
            <a:spLocks/>
          </p:cNvSpPr>
          <p:nvPr/>
        </p:nvSpPr>
        <p:spPr>
          <a:xfrm>
            <a:off x="685800" y="618149"/>
            <a:ext cx="10820399" cy="6239851"/>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(A501/03/05/08/09/10/11, A622/23/24/25, A886/887/895/898) /</a:t>
            </a:r>
            <a:r>
              <a:rPr lang="pt-BR" sz="1600" b="1" dirty="0">
                <a:solidFill>
                  <a:schemeClr val="accent1">
                    <a:lumMod val="75000"/>
                  </a:schemeClr>
                </a:solidFill>
                <a:cs typeface="Times New Roman" panose="02020603050405020304" pitchFamily="18" charset="0"/>
              </a:rPr>
              <a:t> SGN (A617).</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03 </a:t>
            </a:r>
            <a:r>
              <a:rPr lang="en-US" sz="1600" b="1" dirty="0" err="1">
                <a:cs typeface="Times New Roman" panose="02020603050405020304" pitchFamily="18" charset="0"/>
              </a:rPr>
              <a:t>tàu</a:t>
            </a:r>
            <a:r>
              <a:rPr lang="en-US" sz="1600" b="1" dirty="0">
                <a:cs typeface="Times New Roman" panose="02020603050405020304" pitchFamily="18" charset="0"/>
              </a:rPr>
              <a:t> (A625/616/508);</a:t>
            </a:r>
            <a:endParaRPr lang="en-US" sz="1600" b="1" dirty="0">
              <a:solidFill>
                <a:schemeClr val="accent1"/>
              </a:solidFill>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A866, A863;</a:t>
            </a:r>
            <a:endParaRPr lang="pt-BR" sz="1600" b="1" dirty="0">
              <a:solidFill>
                <a:schemeClr val="accent1">
                  <a:lumMod val="75000"/>
                </a:schemeClr>
              </a:solidFill>
              <a:cs typeface="Times New Roman" panose="02020603050405020304" pitchFamily="18" charset="0"/>
            </a:endParaRPr>
          </a:p>
          <a:p>
            <a:pPr marL="412750" indent="-400050" algn="just">
              <a:buClr>
                <a:schemeClr val="dk1"/>
              </a:buClr>
              <a:buSzPts val="1100"/>
              <a:buFont typeface="Arial" panose="020B0604020202020204" pitchFamily="34" charset="0"/>
              <a:buAutoNum type="romanUcPeriod"/>
            </a:pPr>
            <a:r>
              <a:rPr lang="en-US" sz="1600" b="1" dirty="0">
                <a:cs typeface="Times New Roman" panose="02020603050405020304" pitchFamily="18" charset="0"/>
              </a:rPr>
              <a:t>A321: </a:t>
            </a:r>
          </a:p>
          <a:p>
            <a:pPr marL="12700" indent="0" algn="just">
              <a:buClr>
                <a:schemeClr val="dk1"/>
              </a:buClr>
              <a:buSzPts val="1100"/>
              <a:buNone/>
            </a:pPr>
            <a:r>
              <a:rPr lang="en-US" sz="1600" dirty="0" err="1">
                <a:cs typeface="Times New Roman" panose="02020603050405020304" pitchFamily="18" charset="0"/>
                <a:sym typeface="Wingdings" panose="05000000000000000000" pitchFamily="2" charset="2"/>
              </a:rPr>
              <a:t>Các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A625, A616, A508 ban </a:t>
            </a:r>
            <a:r>
              <a:rPr lang="en-US" sz="1600" dirty="0" err="1">
                <a:cs typeface="Times New Roman" panose="02020603050405020304" pitchFamily="18" charset="0"/>
                <a:sym typeface="Wingdings" panose="05000000000000000000" pitchFamily="2" charset="2"/>
              </a:rPr>
              <a:t>đầu</a:t>
            </a:r>
            <a:r>
              <a:rPr lang="en-US" sz="1600" dirty="0">
                <a:cs typeface="Times New Roman" panose="02020603050405020304" pitchFamily="18" charset="0"/>
                <a:sym typeface="Wingdings" panose="05000000000000000000" pitchFamily="2" charset="2"/>
              </a:rPr>
              <a:t> có KH BQDB, </a:t>
            </a:r>
            <a:r>
              <a:rPr lang="en-US" sz="1600" dirty="0" err="1">
                <a:cs typeface="Times New Roman" panose="02020603050405020304" pitchFamily="18" charset="0"/>
                <a:sym typeface="Wingdings" panose="05000000000000000000" pitchFamily="2" charset="2"/>
              </a:rPr>
              <a:t>được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bô</a:t>
            </a:r>
            <a:r>
              <a:rPr lang="en-US" sz="1600" dirty="0">
                <a:cs typeface="Times New Roman" panose="02020603050405020304" pitchFamily="18" charset="0"/>
                <a:sym typeface="Wingdings" panose="05000000000000000000" pitchFamily="2" charset="2"/>
              </a:rPr>
              <a:t>̉ sung RTS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bị </a:t>
            </a:r>
            <a:r>
              <a:rPr lang="en-US" sz="1600" dirty="0" err="1">
                <a:cs typeface="Times New Roman" panose="02020603050405020304" pitchFamily="18" charset="0"/>
                <a:sym typeface="Wingdings" panose="05000000000000000000" pitchFamily="2" charset="2"/>
              </a:rPr>
              <a:t>khai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cao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điểm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Tết</a:t>
            </a:r>
            <a:endParaRPr lang="en-US" sz="1600" dirty="0">
              <a:cs typeface="Times New Roman" panose="02020603050405020304" pitchFamily="18" charset="0"/>
              <a:sym typeface="Wingdings" panose="05000000000000000000" pitchFamily="2" charset="2"/>
            </a:endParaRPr>
          </a:p>
          <a:p>
            <a:pPr marL="12700" indent="0" algn="just">
              <a:buClr>
                <a:schemeClr val="dk1"/>
              </a:buClr>
              <a:buSzPts val="1100"/>
              <a:buNone/>
            </a:pPr>
            <a:r>
              <a:rPr lang="en-US" sz="1600" dirty="0">
                <a:cs typeface="Times New Roman" panose="02020603050405020304" pitchFamily="18" charset="0"/>
                <a:sym typeface="Wingdings" panose="05000000000000000000" pitchFamily="2" charset="2"/>
              </a:rPr>
              <a:t>     A625: Remain 13 CY</a:t>
            </a:r>
          </a:p>
          <a:p>
            <a:pPr marL="12700" indent="0" algn="just">
              <a:buClr>
                <a:schemeClr val="dk1"/>
              </a:buClr>
              <a:buSzPts val="1100"/>
              <a:buNone/>
            </a:pPr>
            <a:r>
              <a:rPr lang="en-US" sz="1600" dirty="0">
                <a:cs typeface="Times New Roman" panose="02020603050405020304" pitchFamily="18" charset="0"/>
                <a:sym typeface="Wingdings" panose="05000000000000000000" pitchFamily="2" charset="2"/>
              </a:rPr>
              <a:t>     A616: Remain 9 CY</a:t>
            </a:r>
          </a:p>
          <a:p>
            <a:pPr marL="12700" indent="0" algn="just">
              <a:buClr>
                <a:schemeClr val="dk1"/>
              </a:buClr>
              <a:buSzPts val="1100"/>
              <a:buNone/>
            </a:pPr>
            <a:r>
              <a:rPr lang="en-US" sz="1600" dirty="0">
                <a:cs typeface="Times New Roman" panose="02020603050405020304" pitchFamily="18" charset="0"/>
                <a:sym typeface="Wingdings" panose="05000000000000000000" pitchFamily="2" charset="2"/>
              </a:rPr>
              <a:t>     A625: Remain 21 CY</a:t>
            </a:r>
            <a:endParaRPr lang="vi-VN" sz="1600" dirty="0">
              <a:cs typeface="Times New Roman" panose="02020603050405020304" pitchFamily="18" charset="0"/>
              <a:sym typeface="Wingdings" panose="05000000000000000000" pitchFamily="2" charset="2"/>
            </a:endParaRP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1. A625_HAN_ EA16-EA24, 18MO, Y01, RTS (17-22/01/2025):</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Vướng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mắc</a:t>
            </a:r>
            <a:r>
              <a:rPr lang="es-ES" sz="1600" b="1" dirty="0">
                <a:cs typeface="Times New Roman" panose="02020603050405020304" pitchFamily="18" charset="0"/>
                <a:sym typeface="Wingdings" panose="05000000000000000000" pitchFamily="2" charset="2"/>
              </a:rPr>
              <a:t>: </a:t>
            </a:r>
          </a:p>
          <a:p>
            <a:pPr marL="12700" indent="0" algn="just">
              <a:buSzPts val="1100"/>
              <a:buNone/>
            </a:pPr>
            <a:r>
              <a:rPr lang="es-ES" sz="1600" b="1" dirty="0">
                <a:cs typeface="Times New Roman" panose="02020603050405020304" pitchFamily="18" charset="0"/>
                <a:sym typeface="Wingdings" panose="05000000000000000000" pitchFamily="2" charset="2"/>
              </a:rPr>
              <a:t>       </a:t>
            </a:r>
            <a:r>
              <a:rPr lang="es-ES" sz="1600" dirty="0">
                <a:cs typeface="Times New Roman" panose="02020603050405020304" pitchFamily="18" charset="0"/>
                <a:sym typeface="Wingdings" panose="05000000000000000000" pitchFamily="2" charset="2"/>
              </a:rPr>
              <a:t>- Fuel </a:t>
            </a:r>
            <a:r>
              <a:rPr lang="es-ES" sz="1600" dirty="0" err="1">
                <a:cs typeface="Times New Roman" panose="02020603050405020304" pitchFamily="18" charset="0"/>
                <a:sym typeface="Wingdings" panose="05000000000000000000" pitchFamily="2" charset="2"/>
              </a:rPr>
              <a:t>leak</a:t>
            </a:r>
            <a:r>
              <a:rPr lang="es-ES" sz="1600" dirty="0">
                <a:cs typeface="Times New Roman" panose="02020603050405020304" pitchFamily="18" charset="0"/>
                <a:sym typeface="Wingdings" panose="05000000000000000000" pitchFamily="2" charset="2"/>
              </a:rPr>
              <a:t> RH </a:t>
            </a:r>
            <a:r>
              <a:rPr lang="es-ES" sz="1600" dirty="0" err="1">
                <a:cs typeface="Times New Roman" panose="02020603050405020304" pitchFamily="18" charset="0"/>
                <a:sym typeface="Wingdings" panose="05000000000000000000" pitchFamily="2" charset="2"/>
              </a:rPr>
              <a:t>Wing</a:t>
            </a:r>
            <a:r>
              <a:rPr lang="es-ES" sz="1600" dirty="0">
                <a:cs typeface="Times New Roman" panose="02020603050405020304" pitchFamily="18" charset="0"/>
                <a:sym typeface="Wingdings" panose="05000000000000000000" pitchFamily="2" charset="2"/>
              </a:rPr>
              <a:t>, VAECO </a:t>
            </a:r>
            <a:r>
              <a:rPr lang="es-ES" sz="1600" dirty="0" err="1">
                <a:cs typeface="Times New Roman" panose="02020603050405020304" pitchFamily="18" charset="0"/>
                <a:sym typeface="Wingdings" panose="05000000000000000000" pitchFamily="2" charset="2"/>
              </a:rPr>
              <a:t>thực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troubleshoot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hôm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ER 2025-1006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tiếng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động</a:t>
            </a:r>
            <a:r>
              <a:rPr lang="es-ES" sz="1600" dirty="0">
                <a:cs typeface="Times New Roman" panose="02020603050405020304" pitchFamily="18" charset="0"/>
                <a:sym typeface="Wingdings" panose="05000000000000000000" pitchFamily="2" charset="2"/>
              </a:rPr>
              <a:t> lạ ở </a:t>
            </a:r>
            <a:r>
              <a:rPr lang="es-ES" sz="1600" dirty="0" err="1">
                <a:cs typeface="Times New Roman" panose="02020603050405020304" pitchFamily="18" charset="0"/>
                <a:sym typeface="Wingdings" panose="05000000000000000000" pitchFamily="2" charset="2"/>
              </a:rPr>
              <a:t>hộp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sô</a:t>
            </a:r>
            <a:r>
              <a:rPr lang="es-ES" sz="1600" dirty="0">
                <a:cs typeface="Times New Roman" panose="02020603050405020304" pitchFamily="18" charset="0"/>
                <a:sym typeface="Wingdings" panose="05000000000000000000" pitchFamily="2" charset="2"/>
              </a:rPr>
              <a:t> ENG#2 (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tiếng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động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quay</a:t>
            </a:r>
            <a:r>
              <a:rPr lang="es-ES" sz="1600" dirty="0">
                <a:cs typeface="Times New Roman" panose="02020603050405020304" pitchFamily="18" charset="0"/>
                <a:sym typeface="Wingdings" panose="05000000000000000000" pitchFamily="2" charset="2"/>
              </a:rPr>
              <a:t> ENG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soi</a:t>
            </a:r>
            <a:r>
              <a:rPr lang="es-ES" sz="1600" dirty="0">
                <a:cs typeface="Times New Roman" panose="02020603050405020304" pitchFamily="18" charset="0"/>
                <a:sym typeface="Wingdings" panose="05000000000000000000" pitchFamily="2" charset="2"/>
              </a:rPr>
              <a:t>)</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Vật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CAN-RAIN REPELLENT FLD P/N: 402Q80-1 </a:t>
            </a:r>
            <a:r>
              <a:rPr lang="en-US" sz="1600" dirty="0" err="1">
                <a:cs typeface="Times New Roman" panose="02020603050405020304" pitchFamily="18" charset="0"/>
                <a:sym typeface="Wingdings" panose="05000000000000000000" pitchFamily="2" charset="2"/>
              </a:rPr>
              <a:t>chưa</a:t>
            </a:r>
            <a:r>
              <a:rPr lang="en-US" sz="1600" dirty="0">
                <a:cs typeface="Times New Roman" panose="02020603050405020304" pitchFamily="18" charset="0"/>
                <a:sym typeface="Wingdings" panose="05000000000000000000" pitchFamily="2" charset="2"/>
              </a:rPr>
              <a:t> có EST,</a:t>
            </a:r>
            <a:endParaRPr lang="es-ES" sz="1600" dirty="0">
              <a:cs typeface="Times New Roman" panose="02020603050405020304" pitchFamily="18" charset="0"/>
              <a:sym typeface="Wingdings" panose="05000000000000000000" pitchFamily="2" charset="2"/>
            </a:endParaRP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hết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CofA</a:t>
            </a:r>
            <a:r>
              <a:rPr lang="es-ES" sz="1600" dirty="0">
                <a:cs typeface="Times New Roman" panose="02020603050405020304" pitchFamily="18" charset="0"/>
                <a:sym typeface="Wingdings" panose="05000000000000000000" pitchFamily="2" charset="2"/>
              </a:rPr>
              <a:t> 28/1 =&gt; </a:t>
            </a:r>
            <a:r>
              <a:rPr lang="es-ES" sz="1600" dirty="0" err="1">
                <a:cs typeface="Times New Roman" panose="02020603050405020304" pitchFamily="18" charset="0"/>
                <a:sym typeface="Wingdings" panose="05000000000000000000" pitchFamily="2" charset="2"/>
              </a:rPr>
              <a:t>không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phép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đặc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biệt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khi</a:t>
            </a:r>
            <a:r>
              <a:rPr lang="es-ES" sz="1600" dirty="0">
                <a:cs typeface="Times New Roman" panose="02020603050405020304" pitchFamily="18" charset="0"/>
                <a:sym typeface="Wingdings" panose="05000000000000000000" pitchFamily="2" charset="2"/>
              </a:rPr>
              <a:t> RTS </a:t>
            </a:r>
            <a:r>
              <a:rPr lang="es-ES" sz="1600" dirty="0" err="1">
                <a:cs typeface="Times New Roman" panose="02020603050405020304" pitchFamily="18" charset="0"/>
                <a:sym typeface="Wingdings" panose="05000000000000000000" pitchFamily="2" charset="2"/>
              </a:rPr>
              <a:t>ngày</a:t>
            </a:r>
            <a:r>
              <a:rPr lang="es-ES" sz="1600" dirty="0">
                <a:cs typeface="Times New Roman" panose="02020603050405020304" pitchFamily="18" charset="0"/>
                <a:sym typeface="Wingdings" panose="05000000000000000000" pitchFamily="2" charset="2"/>
              </a:rPr>
              <a:t> 22/1. Tuy </a:t>
            </a:r>
            <a:r>
              <a:rPr lang="es-ES" sz="1600" dirty="0" err="1">
                <a:cs typeface="Times New Roman" panose="02020603050405020304" pitchFamily="18" charset="0"/>
                <a:sym typeface="Wingdings" panose="05000000000000000000" pitchFamily="2" charset="2"/>
              </a:rPr>
              <a:t>nhiên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Cục</a:t>
            </a:r>
            <a:r>
              <a:rPr lang="es-ES" sz="1600" dirty="0">
                <a:cs typeface="Times New Roman" panose="02020603050405020304" pitchFamily="18" charset="0"/>
                <a:sym typeface="Wingdings" panose="05000000000000000000" pitchFamily="2" charset="2"/>
              </a:rPr>
              <a:t> HK </a:t>
            </a:r>
            <a:r>
              <a:rPr lang="es-ES" sz="1600" dirty="0" err="1">
                <a:cs typeface="Times New Roman" panose="02020603050405020304" pitchFamily="18" charset="0"/>
                <a:sym typeface="Wingdings" panose="05000000000000000000" pitchFamily="2" charset="2"/>
              </a:rPr>
              <a:t>hô</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trơ</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gia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CofA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sau</a:t>
            </a:r>
            <a:r>
              <a:rPr lang="es-ES" sz="1600" dirty="0">
                <a:cs typeface="Times New Roman" panose="02020603050405020304" pitchFamily="18" charset="0"/>
                <a:sym typeface="Wingdings" panose="05000000000000000000" pitchFamily="2" charset="2"/>
              </a:rPr>
              <a:t> RTS.</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ADD </a:t>
            </a:r>
            <a:r>
              <a:rPr lang="es-ES" sz="1600" dirty="0" err="1">
                <a:cs typeface="Times New Roman" panose="02020603050405020304" pitchFamily="18" charset="0"/>
                <a:sym typeface="Wingdings" panose="05000000000000000000" pitchFamily="2" charset="2"/>
              </a:rPr>
              <a:t>thiếu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chuyển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B </a:t>
            </a:r>
            <a:r>
              <a:rPr lang="es-ES" sz="1600" dirty="0" err="1">
                <a:cs typeface="Times New Roman" panose="02020603050405020304" pitchFamily="18" charset="0"/>
                <a:sym typeface="Wingdings" panose="05000000000000000000" pitchFamily="2" charset="2"/>
              </a:rPr>
              <a:t>vê</a:t>
            </a:r>
            <a:r>
              <a:rPr lang="es-ES" sz="1600" dirty="0">
                <a:cs typeface="Times New Roman" panose="02020603050405020304" pitchFamily="18" charset="0"/>
                <a:sym typeface="Wingdings" panose="05000000000000000000" pitchFamily="2" charset="2"/>
              </a:rPr>
              <a:t>̀ C = &gt; </a:t>
            </a:r>
            <a:r>
              <a:rPr lang="es-ES" sz="1600" dirty="0" err="1">
                <a:cs typeface="Times New Roman" panose="02020603050405020304" pitchFamily="18" charset="0"/>
                <a:sym typeface="Wingdings" panose="05000000000000000000" pitchFamily="2" charset="2"/>
              </a:rPr>
              <a:t>Triển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xin</a:t>
            </a:r>
            <a:r>
              <a:rPr lang="es-ES" sz="1600" dirty="0">
                <a:cs typeface="Times New Roman" panose="02020603050405020304" pitchFamily="18" charset="0"/>
                <a:sym typeface="Wingdings" panose="05000000000000000000" pitchFamily="2" charset="2"/>
              </a:rPr>
              <a:t> VAR.</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Vật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hardtime</a:t>
            </a:r>
            <a:r>
              <a:rPr lang="es-ES" sz="1600" dirty="0">
                <a:cs typeface="Times New Roman" panose="02020603050405020304" pitchFamily="18" charset="0"/>
                <a:sym typeface="Wingdings" panose="05000000000000000000" pitchFamily="2" charset="2"/>
              </a:rPr>
              <a:t>: HINGE ASSY, PN: 8450B5, RESERVOIR, PN: 61639-203(04 </a:t>
            </a:r>
            <a:r>
              <a:rPr lang="es-ES" sz="1600" dirty="0" err="1">
                <a:cs typeface="Times New Roman" panose="02020603050405020304" pitchFamily="18" charset="0"/>
                <a:sym typeface="Wingdings" panose="05000000000000000000" pitchFamily="2" charset="2"/>
              </a:rPr>
              <a:t>items</a:t>
            </a:r>
            <a:r>
              <a:rPr lang="es-ES" sz="1600" dirty="0">
                <a:cs typeface="Times New Roman" panose="02020603050405020304" pitchFamily="18" charset="0"/>
                <a:sym typeface="Wingdings" panose="05000000000000000000" pitchFamily="2" charset="2"/>
              </a:rPr>
              <a:t>). MASK-FULL FACE,  PN: MF20-534(03 </a:t>
            </a:r>
            <a:r>
              <a:rPr lang="es-ES" sz="1600" dirty="0" err="1">
                <a:cs typeface="Times New Roman" panose="02020603050405020304" pitchFamily="18" charset="0"/>
                <a:sym typeface="Wingdings" panose="05000000000000000000" pitchFamily="2" charset="2"/>
              </a:rPr>
              <a:t>items</a:t>
            </a:r>
            <a:r>
              <a:rPr lang="es-ES" sz="1600" dirty="0">
                <a:cs typeface="Times New Roman" panose="02020603050405020304" pitchFamily="18" charset="0"/>
                <a:sym typeface="Wingdings" panose="05000000000000000000" pitchFamily="2" charset="2"/>
              </a:rPr>
              <a:t>), </a:t>
            </a:r>
            <a:r>
              <a:rPr lang="nl-NL" sz="1600" dirty="0">
                <a:cs typeface="Times New Roman" panose="02020603050405020304" pitchFamily="18" charset="0"/>
                <a:sym typeface="Wingdings" panose="05000000000000000000" pitchFamily="2" charset="2"/>
              </a:rPr>
              <a:t>SLIDE DOOR 3(L.H) PN: 62293-107 cần được cung cấp đúng hạn hoặc có phương án xin NN.</a:t>
            </a: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811012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37</a:t>
            </a:fld>
            <a:endParaRPr dirty="0"/>
          </a:p>
        </p:txBody>
      </p:sp>
      <p:sp>
        <p:nvSpPr>
          <p:cNvPr id="76" name="Google Shape;76;p2"/>
          <p:cNvSpPr txBox="1">
            <a:spLocks noGrp="1"/>
          </p:cNvSpPr>
          <p:nvPr>
            <p:ph type="title"/>
          </p:nvPr>
        </p:nvSpPr>
        <p:spPr>
          <a:xfrm>
            <a:off x="304800" y="149377"/>
            <a:ext cx="10210800"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b="1" dirty="0">
                <a:solidFill>
                  <a:srgbClr val="FFC000"/>
                </a:solidFill>
                <a:latin typeface="Times New Roman" panose="02020603050405020304" pitchFamily="18" charset="0"/>
                <a:cs typeface="Times New Roman" panose="02020603050405020304" pitchFamily="18" charset="0"/>
              </a:rPr>
              <a:t>CÁC TÀU BQDB VÀ ĐANG TRONG BẢO DƯỠNG </a:t>
            </a:r>
            <a:r>
              <a:rPr lang="en-US" b="1">
                <a:solidFill>
                  <a:srgbClr val="FFC000"/>
                </a:solidFill>
                <a:latin typeface="Times New Roman" panose="02020603050405020304" pitchFamily="18" charset="0"/>
                <a:cs typeface="Times New Roman" panose="02020603050405020304" pitchFamily="18" charset="0"/>
              </a:rPr>
              <a:t>ĐỊNH KỲ</a:t>
            </a:r>
            <a:endParaRPr b="0" dirty="0">
              <a:solidFill>
                <a:srgbClr val="FFC000"/>
              </a:solidFill>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82149F87-4C65-00E9-237C-6A2DC114B39A}"/>
              </a:ext>
            </a:extLst>
          </p:cNvPr>
          <p:cNvSpPr txBox="1">
            <a:spLocks/>
          </p:cNvSpPr>
          <p:nvPr/>
        </p:nvSpPr>
        <p:spPr>
          <a:xfrm>
            <a:off x="838200" y="762000"/>
            <a:ext cx="10591800" cy="5791200"/>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None/>
            </a:pPr>
            <a:r>
              <a:rPr lang="es-ES" sz="1700" b="1" dirty="0">
                <a:solidFill>
                  <a:srgbClr val="FF0000"/>
                </a:solidFill>
                <a:cs typeface="Times New Roman" panose="02020603050405020304" pitchFamily="18" charset="0"/>
                <a:sym typeface="Wingdings" panose="05000000000000000000" pitchFamily="2" charset="2"/>
              </a:rPr>
              <a:t>2</a:t>
            </a:r>
            <a:r>
              <a:rPr lang="es-ES" sz="1700" dirty="0">
                <a:cs typeface="Times New Roman" panose="02020603050405020304" pitchFamily="18" charset="0"/>
                <a:sym typeface="Wingdings" panose="05000000000000000000" pitchFamily="2" charset="2"/>
              </a:rPr>
              <a:t>. </a:t>
            </a:r>
            <a:r>
              <a:rPr lang="es-ES" sz="1700" b="1" dirty="0">
                <a:solidFill>
                  <a:srgbClr val="FF0000"/>
                </a:solidFill>
                <a:cs typeface="Times New Roman" panose="02020603050405020304" pitchFamily="18" charset="0"/>
                <a:sym typeface="Wingdings" panose="05000000000000000000" pitchFamily="2" charset="2"/>
              </a:rPr>
              <a:t>A616: Y01, 18MO, C01, C03, Y06, EA16-EA02, RTS (14/11-15/12, ADJ 19/01): </a:t>
            </a:r>
            <a:r>
              <a:rPr lang="es-ES" sz="1700" b="1" dirty="0" err="1">
                <a:solidFill>
                  <a:srgbClr val="FF0000"/>
                </a:solidFill>
                <a:cs typeface="Times New Roman" panose="02020603050405020304" pitchFamily="18" charset="0"/>
                <a:sym typeface="Wingdings" panose="05000000000000000000" pitchFamily="2" charset="2"/>
              </a:rPr>
              <a:t>Est</a:t>
            </a:r>
            <a:r>
              <a:rPr lang="es-ES" sz="1700" b="1" dirty="0">
                <a:solidFill>
                  <a:srgbClr val="FF0000"/>
                </a:solidFill>
                <a:cs typeface="Times New Roman" panose="02020603050405020304" pitchFamily="18" charset="0"/>
                <a:sym typeface="Wingdings" panose="05000000000000000000" pitchFamily="2" charset="2"/>
              </a:rPr>
              <a:t> </a:t>
            </a:r>
            <a:r>
              <a:rPr lang="es-ES" sz="1700" b="1" dirty="0" err="1">
                <a:solidFill>
                  <a:srgbClr val="FF0000"/>
                </a:solidFill>
                <a:cs typeface="Times New Roman" panose="02020603050405020304" pitchFamily="18" charset="0"/>
                <a:sym typeface="Wingdings" panose="05000000000000000000" pitchFamily="2" charset="2"/>
              </a:rPr>
              <a:t>release</a:t>
            </a:r>
            <a:r>
              <a:rPr lang="es-ES" sz="1700" b="1" dirty="0">
                <a:solidFill>
                  <a:srgbClr val="FF0000"/>
                </a:solidFill>
                <a:cs typeface="Times New Roman" panose="02020603050405020304" pitchFamily="18" charset="0"/>
                <a:sym typeface="Wingdings" panose="05000000000000000000" pitchFamily="2" charset="2"/>
              </a:rPr>
              <a:t> 19/01</a:t>
            </a:r>
          </a:p>
          <a:p>
            <a:pPr marL="12700" indent="0" algn="just">
              <a:buSzPts val="1100"/>
              <a:buNone/>
            </a:pPr>
            <a:r>
              <a:rPr lang="es-ES" sz="1700" b="1" dirty="0">
                <a:solidFill>
                  <a:srgbClr val="FF0000"/>
                </a:solidFill>
                <a:cs typeface="Times New Roman" panose="02020603050405020304" pitchFamily="18" charset="0"/>
                <a:sym typeface="Wingdings" panose="05000000000000000000" pitchFamily="2" charset="2"/>
              </a:rPr>
              <a:t>   </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Tàu</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hết</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hạn</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CofA</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cần</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phép</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bay</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đặc</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biệt</a:t>
            </a:r>
            <a:r>
              <a:rPr lang="es-ES" sz="1700" b="1" dirty="0">
                <a:solidFill>
                  <a:srgbClr val="FF0000"/>
                </a:solidFill>
                <a:cs typeface="Times New Roman" panose="02020603050405020304" pitchFamily="18" charset="0"/>
                <a:sym typeface="Wingdings" panose="05000000000000000000" pitchFamily="2" charset="2"/>
              </a:rPr>
              <a:t> </a:t>
            </a:r>
          </a:p>
          <a:p>
            <a:pPr marL="12700" indent="0" algn="just">
              <a:buSzPts val="1100"/>
              <a:buNone/>
            </a:pPr>
            <a:r>
              <a:rPr lang="en-US" sz="1700" dirty="0">
                <a:cs typeface="Times New Roman" panose="02020603050405020304" pitchFamily="18" charset="0"/>
                <a:sym typeface="Wingdings" panose="05000000000000000000" pitchFamily="2" charset="2"/>
              </a:rPr>
              <a:t>   -  </a:t>
            </a:r>
            <a:r>
              <a:rPr lang="en-US" sz="1700" dirty="0" err="1">
                <a:cs typeface="Times New Roman" panose="02020603050405020304" pitchFamily="18" charset="0"/>
                <a:sym typeface="Wingdings" panose="05000000000000000000" pitchFamily="2" charset="2"/>
              </a:rPr>
              <a:t>Dư</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kiến</a:t>
            </a:r>
            <a:r>
              <a:rPr lang="en-US" sz="1700" dirty="0">
                <a:cs typeface="Times New Roman" panose="02020603050405020304" pitchFamily="18" charset="0"/>
                <a:sym typeface="Wingdings" panose="05000000000000000000" pitchFamily="2" charset="2"/>
              </a:rPr>
              <a:t> sẽ </a:t>
            </a:r>
            <a:r>
              <a:rPr lang="en-US" sz="1700" dirty="0" err="1">
                <a:cs typeface="Times New Roman" panose="02020603050405020304" pitchFamily="18" charset="0"/>
                <a:sym typeface="Wingdings" panose="05000000000000000000" pitchFamily="2" charset="2"/>
              </a:rPr>
              <a:t>triển</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khai</a:t>
            </a:r>
            <a:r>
              <a:rPr lang="en-US" sz="1700" dirty="0">
                <a:cs typeface="Times New Roman" panose="02020603050405020304" pitchFamily="18" charset="0"/>
                <a:sym typeface="Wingdings" panose="05000000000000000000" pitchFamily="2" charset="2"/>
              </a:rPr>
              <a:t> bay </a:t>
            </a:r>
            <a:r>
              <a:rPr lang="en-US" sz="1700" dirty="0" err="1">
                <a:cs typeface="Times New Roman" panose="02020603050405020304" pitchFamily="18" charset="0"/>
                <a:sym typeface="Wingdings" panose="05000000000000000000" pitchFamily="2" charset="2"/>
              </a:rPr>
              <a:t>thư</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vào</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ngày</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mai</a:t>
            </a:r>
            <a:r>
              <a:rPr lang="en-US" sz="1700" dirty="0">
                <a:cs typeface="Times New Roman" panose="02020603050405020304" pitchFamily="18" charset="0"/>
                <a:sym typeface="Wingdings" panose="05000000000000000000" pitchFamily="2" charset="2"/>
              </a:rPr>
              <a:t> 20/1, </a:t>
            </a:r>
            <a:r>
              <a:rPr lang="en-US" sz="1700" dirty="0" err="1">
                <a:cs typeface="Times New Roman" panose="02020603050405020304" pitchFamily="18" charset="0"/>
                <a:sym typeface="Wingdings" panose="05000000000000000000" pitchFamily="2" charset="2"/>
              </a:rPr>
              <a:t>sau</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đo</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Cục</a:t>
            </a:r>
            <a:r>
              <a:rPr lang="en-US" sz="1700" dirty="0">
                <a:cs typeface="Times New Roman" panose="02020603050405020304" pitchFamily="18" charset="0"/>
                <a:sym typeface="Wingdings" panose="05000000000000000000" pitchFamily="2" charset="2"/>
              </a:rPr>
              <a:t> HK sẽ </a:t>
            </a:r>
            <a:r>
              <a:rPr lang="en-US" sz="1700" dirty="0" err="1">
                <a:cs typeface="Times New Roman" panose="02020603050405020304" pitchFamily="18" charset="0"/>
                <a:sym typeface="Wingdings" panose="05000000000000000000" pitchFamily="2" charset="2"/>
              </a:rPr>
              <a:t>đi</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kiểm</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tra</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đánh</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gia</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CofA</a:t>
            </a:r>
            <a:r>
              <a:rPr lang="en-US" sz="1700" dirty="0">
                <a:cs typeface="Times New Roman" panose="02020603050405020304" pitchFamily="18" charset="0"/>
                <a:sym typeface="Wingdings" panose="05000000000000000000" pitchFamily="2" charset="2"/>
              </a:rPr>
              <a:t>.</a:t>
            </a:r>
          </a:p>
          <a:p>
            <a:pPr marL="12700" indent="0" algn="just">
              <a:buSzPts val="1100"/>
              <a:buNone/>
            </a:pPr>
            <a:r>
              <a:rPr lang="en-US" sz="1700" dirty="0">
                <a:cs typeface="Times New Roman" panose="02020603050405020304" pitchFamily="18" charset="0"/>
                <a:sym typeface="Wingdings" panose="05000000000000000000" pitchFamily="2" charset="2"/>
              </a:rPr>
              <a:t> </a:t>
            </a:r>
          </a:p>
          <a:p>
            <a:pPr marL="12700" indent="0" algn="just">
              <a:buSzPts val="1100"/>
              <a:buNone/>
            </a:pPr>
            <a:r>
              <a:rPr lang="es-ES" sz="1700" b="1" dirty="0">
                <a:solidFill>
                  <a:srgbClr val="FF0000"/>
                </a:solidFill>
                <a:cs typeface="Times New Roman" panose="02020603050405020304" pitchFamily="18" charset="0"/>
                <a:sym typeface="Wingdings" panose="05000000000000000000" pitchFamily="2" charset="2"/>
              </a:rPr>
              <a:t>3</a:t>
            </a:r>
            <a:r>
              <a:rPr lang="es-ES" sz="1700" dirty="0">
                <a:cs typeface="Times New Roman" panose="02020603050405020304" pitchFamily="18" charset="0"/>
                <a:sym typeface="Wingdings" panose="05000000000000000000" pitchFamily="2" charset="2"/>
              </a:rPr>
              <a:t>. </a:t>
            </a:r>
            <a:r>
              <a:rPr lang="es-ES" sz="1700" b="1" dirty="0">
                <a:solidFill>
                  <a:srgbClr val="FF0000"/>
                </a:solidFill>
                <a:cs typeface="Times New Roman" panose="02020603050405020304" pitchFamily="18" charset="0"/>
                <a:sym typeface="Wingdings" panose="05000000000000000000" pitchFamily="2" charset="2"/>
              </a:rPr>
              <a:t>A508_HAN_</a:t>
            </a:r>
            <a:r>
              <a:rPr lang="en-US" sz="1700" b="1" dirty="0">
                <a:solidFill>
                  <a:srgbClr val="FF0000"/>
                </a:solidFill>
                <a:cs typeface="Times New Roman" panose="02020603050405020304" pitchFamily="18" charset="0"/>
                <a:sym typeface="Wingdings" panose="05000000000000000000" pitchFamily="2" charset="2"/>
              </a:rPr>
              <a:t>EA16-EA21, REMAIN TASK Y01, RTS (19/01-23/01):</a:t>
            </a:r>
            <a:r>
              <a:rPr lang="es-ES" sz="1700" b="1" dirty="0">
                <a:solidFill>
                  <a:srgbClr val="FF0000"/>
                </a:solidFill>
                <a:cs typeface="Times New Roman" panose="02020603050405020304" pitchFamily="18" charset="0"/>
                <a:sym typeface="Wingdings" panose="05000000000000000000" pitchFamily="2" charset="2"/>
              </a:rPr>
              <a:t> </a:t>
            </a:r>
          </a:p>
          <a:p>
            <a:pPr marL="12700" indent="0" algn="just">
              <a:buSzPts val="1100"/>
              <a:buNone/>
            </a:pPr>
            <a:r>
              <a:rPr lang="es-ES" sz="1700" dirty="0">
                <a:cs typeface="Times New Roman" panose="02020603050405020304" pitchFamily="18" charset="0"/>
                <a:sym typeface="Wingdings" panose="05000000000000000000" pitchFamily="2" charset="2"/>
              </a:rPr>
              <a:t>   -  Taù </a:t>
            </a:r>
            <a:r>
              <a:rPr lang="es-ES" sz="1700" dirty="0" err="1">
                <a:cs typeface="Times New Roman" panose="02020603050405020304" pitchFamily="18" charset="0"/>
                <a:sym typeface="Wingdings" panose="05000000000000000000" pitchFamily="2" charset="2"/>
              </a:rPr>
              <a:t>co</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hạn</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CofA</a:t>
            </a:r>
            <a:r>
              <a:rPr lang="es-ES" sz="1700" dirty="0">
                <a:cs typeface="Times New Roman" panose="02020603050405020304" pitchFamily="18" charset="0"/>
                <a:sym typeface="Wingdings" panose="05000000000000000000" pitchFamily="2" charset="2"/>
              </a:rPr>
              <a:t> 28/5/2025</a:t>
            </a:r>
          </a:p>
          <a:p>
            <a:pPr marL="12700" indent="0" algn="just">
              <a:buSzPts val="1100"/>
              <a:buNone/>
            </a:pPr>
            <a:r>
              <a:rPr lang="es-ES" sz="1700" dirty="0">
                <a:cs typeface="Times New Roman" panose="02020603050405020304" pitchFamily="18" charset="0"/>
                <a:sym typeface="Wingdings" panose="05000000000000000000" pitchFamily="2" charset="2"/>
              </a:rPr>
              <a:t>   -  </a:t>
            </a:r>
            <a:r>
              <a:rPr lang="es-ES" sz="1700" dirty="0" err="1">
                <a:cs typeface="Times New Roman" panose="02020603050405020304" pitchFamily="18" charset="0"/>
                <a:sym typeface="Wingdings" panose="05000000000000000000" pitchFamily="2" charset="2"/>
              </a:rPr>
              <a:t>Vật</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tư</a:t>
            </a:r>
            <a:r>
              <a:rPr lang="es-ES" sz="1700" dirty="0">
                <a:cs typeface="Times New Roman" panose="02020603050405020304" pitchFamily="18" charset="0"/>
                <a:sym typeface="Wingdings" panose="05000000000000000000" pitchFamily="2" charset="2"/>
              </a:rPr>
              <a:t>: </a:t>
            </a:r>
            <a:r>
              <a:rPr lang="en-US" sz="1700" dirty="0">
                <a:cs typeface="Times New Roman" panose="02020603050405020304" pitchFamily="18" charset="0"/>
                <a:sym typeface="Wingdings" panose="05000000000000000000" pitchFamily="2" charset="2"/>
              </a:rPr>
              <a:t>CAN-RAIN REPELLENT FLD P/N: 402Q80-1 </a:t>
            </a:r>
            <a:r>
              <a:rPr lang="en-US" sz="1700" dirty="0" err="1">
                <a:cs typeface="Times New Roman" panose="02020603050405020304" pitchFamily="18" charset="0"/>
                <a:sym typeface="Wingdings" panose="05000000000000000000" pitchFamily="2" charset="2"/>
              </a:rPr>
              <a:t>chưa</a:t>
            </a:r>
            <a:r>
              <a:rPr lang="en-US" sz="1700" dirty="0">
                <a:cs typeface="Times New Roman" panose="02020603050405020304" pitchFamily="18" charset="0"/>
                <a:sym typeface="Wingdings" panose="05000000000000000000" pitchFamily="2" charset="2"/>
              </a:rPr>
              <a:t> có EST,</a:t>
            </a:r>
          </a:p>
          <a:p>
            <a:pPr marL="12700" indent="0" algn="just">
              <a:buSzPts val="1100"/>
              <a:buNone/>
            </a:pPr>
            <a:r>
              <a:rPr lang="en-US" sz="1700" dirty="0">
                <a:cs typeface="Times New Roman" panose="02020603050405020304" pitchFamily="18" charset="0"/>
                <a:sym typeface="Wingdings" panose="05000000000000000000" pitchFamily="2" charset="2"/>
              </a:rPr>
              <a:t>   -  </a:t>
            </a:r>
            <a:r>
              <a:rPr lang="en-US" sz="1700" dirty="0" err="1">
                <a:cs typeface="Times New Roman" panose="02020603050405020304" pitchFamily="18" charset="0"/>
                <a:sym typeface="Wingdings" panose="05000000000000000000" pitchFamily="2" charset="2"/>
              </a:rPr>
              <a:t>Tàu</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cần</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được</a:t>
            </a:r>
            <a:r>
              <a:rPr lang="en-US" sz="1700" dirty="0">
                <a:cs typeface="Times New Roman" panose="02020603050405020304" pitchFamily="18" charset="0"/>
                <a:sym typeface="Wingdings" panose="05000000000000000000" pitchFamily="2" charset="2"/>
              </a:rPr>
              <a:t> bay </a:t>
            </a:r>
            <a:r>
              <a:rPr lang="en-US" sz="1700" dirty="0" err="1">
                <a:cs typeface="Times New Roman" panose="02020603050405020304" pitchFamily="18" charset="0"/>
                <a:sym typeface="Wingdings" panose="05000000000000000000" pitchFamily="2" charset="2"/>
              </a:rPr>
              <a:t>thư</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sau</a:t>
            </a:r>
            <a:r>
              <a:rPr lang="en-US" sz="1700" dirty="0">
                <a:cs typeface="Times New Roman" panose="02020603050405020304" pitchFamily="18" charset="0"/>
                <a:sym typeface="Wingdings" panose="05000000000000000000" pitchFamily="2" charset="2"/>
              </a:rPr>
              <a:t> RTS (</a:t>
            </a:r>
            <a:r>
              <a:rPr lang="en-US" sz="1700" dirty="0" err="1">
                <a:cs typeface="Times New Roman" panose="02020603050405020304" pitchFamily="18" charset="0"/>
                <a:sym typeface="Wingdings" panose="05000000000000000000" pitchFamily="2" charset="2"/>
              </a:rPr>
              <a:t>Không</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cần</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phép</a:t>
            </a:r>
            <a:r>
              <a:rPr lang="en-US" sz="1700" dirty="0">
                <a:cs typeface="Times New Roman" panose="02020603050405020304" pitchFamily="18" charset="0"/>
                <a:sym typeface="Wingdings" panose="05000000000000000000" pitchFamily="2" charset="2"/>
              </a:rPr>
              <a:t> bay </a:t>
            </a:r>
            <a:r>
              <a:rPr lang="en-US" sz="1700" dirty="0" err="1">
                <a:cs typeface="Times New Roman" panose="02020603050405020304" pitchFamily="18" charset="0"/>
                <a:sym typeface="Wingdings" panose="05000000000000000000" pitchFamily="2" charset="2"/>
              </a:rPr>
              <a:t>đặc</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biệt</a:t>
            </a:r>
            <a:r>
              <a:rPr lang="en-US" sz="1700" dirty="0">
                <a:cs typeface="Times New Roman" panose="02020603050405020304" pitchFamily="18" charset="0"/>
                <a:sym typeface="Wingdings" panose="05000000000000000000" pitchFamily="2" charset="2"/>
              </a:rPr>
              <a:t>)</a:t>
            </a:r>
          </a:p>
          <a:p>
            <a:pPr marL="12700" indent="0" algn="just">
              <a:lnSpc>
                <a:spcPct val="120000"/>
              </a:lnSpc>
              <a:buSzPts val="1100"/>
              <a:buNone/>
            </a:pPr>
            <a:r>
              <a:rPr lang="en-US" sz="1700" dirty="0">
                <a:cs typeface="Times New Roman" panose="02020603050405020304" pitchFamily="18" charset="0"/>
                <a:sym typeface="Wingdings" panose="05000000000000000000" pitchFamily="2" charset="2"/>
              </a:rPr>
              <a:t>   - </a:t>
            </a:r>
            <a:r>
              <a:rPr lang="es-ES" sz="1700" dirty="0" err="1">
                <a:cs typeface="Times New Roman" panose="02020603050405020304" pitchFamily="18" charset="0"/>
                <a:sym typeface="Wingdings" panose="05000000000000000000" pitchFamily="2" charset="2"/>
              </a:rPr>
              <a:t>Vật</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tư</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hardtime</a:t>
            </a:r>
            <a:r>
              <a:rPr lang="es-ES" sz="1700" dirty="0">
                <a:cs typeface="Times New Roman" panose="02020603050405020304" pitchFamily="18" charset="0"/>
                <a:sym typeface="Wingdings" panose="05000000000000000000" pitchFamily="2" charset="2"/>
              </a:rPr>
              <a:t>: HINGE ASSY, PN: 8450B5, RESERVOIR, PN: 61639-203(04 </a:t>
            </a:r>
            <a:r>
              <a:rPr lang="es-ES" sz="1700" dirty="0" err="1">
                <a:cs typeface="Times New Roman" panose="02020603050405020304" pitchFamily="18" charset="0"/>
                <a:sym typeface="Wingdings" panose="05000000000000000000" pitchFamily="2" charset="2"/>
              </a:rPr>
              <a:t>items</a:t>
            </a:r>
            <a:r>
              <a:rPr lang="es-ES" sz="1700" dirty="0">
                <a:cs typeface="Times New Roman" panose="02020603050405020304" pitchFamily="18" charset="0"/>
                <a:sym typeface="Wingdings" panose="05000000000000000000" pitchFamily="2" charset="2"/>
              </a:rPr>
              <a:t>). </a:t>
            </a:r>
            <a:r>
              <a:rPr lang="nl-NL" sz="1700" dirty="0">
                <a:cs typeface="Times New Roman" panose="02020603050405020304" pitchFamily="18" charset="0"/>
                <a:sym typeface="Wingdings" panose="05000000000000000000" pitchFamily="2" charset="2"/>
              </a:rPr>
              <a:t>SLIDE DOOR, PN: 62293-107,108; 62292-107,108 (04 items) cần được cung cấp đúng hạn hoặc có phương án xin NN.</a:t>
            </a:r>
          </a:p>
          <a:p>
            <a:pPr marL="12700" indent="0" algn="just">
              <a:buSzPts val="1100"/>
              <a:buNone/>
            </a:pPr>
            <a:endParaRPr lang="en-US" sz="1700" dirty="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700" b="1" dirty="0">
                <a:solidFill>
                  <a:srgbClr val="FF0000"/>
                </a:solidFill>
                <a:cs typeface="Times New Roman" panose="02020603050405020304" pitchFamily="18" charset="0"/>
                <a:sym typeface="Wingdings" panose="05000000000000000000" pitchFamily="2" charset="2"/>
              </a:rPr>
              <a:t>4. </a:t>
            </a:r>
            <a:r>
              <a:rPr lang="es-ES" sz="1700" b="1" dirty="0" err="1">
                <a:solidFill>
                  <a:srgbClr val="FF0000"/>
                </a:solidFill>
                <a:cs typeface="Times New Roman" panose="02020603050405020304" pitchFamily="18" charset="0"/>
                <a:sym typeface="Wingdings" panose="05000000000000000000" pitchFamily="2" charset="2"/>
              </a:rPr>
              <a:t>Vấn</a:t>
            </a:r>
            <a:r>
              <a:rPr lang="es-ES" sz="1700" b="1" dirty="0">
                <a:solidFill>
                  <a:srgbClr val="FF0000"/>
                </a:solidFill>
                <a:cs typeface="Times New Roman" panose="02020603050405020304" pitchFamily="18" charset="0"/>
                <a:sym typeface="Wingdings" panose="05000000000000000000" pitchFamily="2" charset="2"/>
              </a:rPr>
              <a:t> </a:t>
            </a:r>
            <a:r>
              <a:rPr lang="es-ES" sz="1700" b="1" dirty="0" err="1">
                <a:solidFill>
                  <a:srgbClr val="FF0000"/>
                </a:solidFill>
                <a:cs typeface="Times New Roman" panose="02020603050405020304" pitchFamily="18" charset="0"/>
                <a:sym typeface="Wingdings" panose="05000000000000000000" pitchFamily="2" charset="2"/>
              </a:rPr>
              <a:t>đề</a:t>
            </a:r>
            <a:r>
              <a:rPr lang="es-ES" sz="1700" b="1" dirty="0">
                <a:solidFill>
                  <a:srgbClr val="FF0000"/>
                </a:solidFill>
                <a:cs typeface="Times New Roman" panose="02020603050405020304" pitchFamily="18" charset="0"/>
                <a:sym typeface="Wingdings" panose="05000000000000000000" pitchFamily="2" charset="2"/>
              </a:rPr>
              <a:t> </a:t>
            </a:r>
            <a:r>
              <a:rPr lang="es-ES" sz="1700" b="1" dirty="0" err="1">
                <a:solidFill>
                  <a:srgbClr val="FF0000"/>
                </a:solidFill>
                <a:cs typeface="Times New Roman" panose="02020603050405020304" pitchFamily="18" charset="0"/>
                <a:sym typeface="Wingdings" panose="05000000000000000000" pitchFamily="2" charset="2"/>
              </a:rPr>
              <a:t>cần</a:t>
            </a:r>
            <a:r>
              <a:rPr lang="es-ES" sz="1700" b="1" dirty="0">
                <a:solidFill>
                  <a:srgbClr val="FF0000"/>
                </a:solidFill>
                <a:cs typeface="Times New Roman" panose="02020603050405020304" pitchFamily="18" charset="0"/>
                <a:sym typeface="Wingdings" panose="05000000000000000000" pitchFamily="2" charset="2"/>
              </a:rPr>
              <a:t> </a:t>
            </a:r>
            <a:r>
              <a:rPr lang="es-ES" sz="1700" b="1" dirty="0" err="1">
                <a:solidFill>
                  <a:srgbClr val="FF0000"/>
                </a:solidFill>
                <a:cs typeface="Times New Roman" panose="02020603050405020304" pitchFamily="18" charset="0"/>
                <a:sym typeface="Wingdings" panose="05000000000000000000" pitchFamily="2" charset="2"/>
              </a:rPr>
              <a:t>lưu</a:t>
            </a:r>
            <a:r>
              <a:rPr lang="es-ES" sz="1700" b="1" dirty="0">
                <a:solidFill>
                  <a:srgbClr val="FF0000"/>
                </a:solidFill>
                <a:cs typeface="Times New Roman" panose="02020603050405020304" pitchFamily="18" charset="0"/>
                <a:sym typeface="Wingdings" panose="05000000000000000000" pitchFamily="2" charset="2"/>
              </a:rPr>
              <a:t> ý:</a:t>
            </a:r>
            <a:endParaRPr lang="en-US" sz="1700" dirty="0">
              <a:cs typeface="Times New Roman" panose="02020603050405020304" pitchFamily="18" charset="0"/>
            </a:endParaRPr>
          </a:p>
          <a:p>
            <a:pPr marL="12700" indent="0" algn="just">
              <a:lnSpc>
                <a:spcPct val="150000"/>
              </a:lnSpc>
              <a:spcBef>
                <a:spcPts val="600"/>
              </a:spcBef>
              <a:buSzPts val="1100"/>
              <a:buNone/>
            </a:pPr>
            <a:r>
              <a:rPr lang="en-US" sz="1700" dirty="0">
                <a:cs typeface="Times New Roman" panose="02020603050405020304" pitchFamily="18" charset="0"/>
                <a:sym typeface="Wingdings" panose="05000000000000000000" pitchFamily="2" charset="2"/>
              </a:rPr>
              <a:t>    - </a:t>
            </a:r>
            <a:r>
              <a:rPr lang="en-US" sz="1700" dirty="0" err="1">
                <a:cs typeface="Times New Roman" panose="02020603050405020304" pitchFamily="18" charset="0"/>
                <a:sym typeface="Wingdings" panose="05000000000000000000" pitchFamily="2" charset="2"/>
              </a:rPr>
              <a:t>Các</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tàu</a:t>
            </a:r>
            <a:r>
              <a:rPr lang="en-US" sz="1700" dirty="0">
                <a:cs typeface="Times New Roman" panose="02020603050405020304" pitchFamily="18" charset="0"/>
                <a:sym typeface="Wingdings" panose="05000000000000000000" pitchFamily="2" charset="2"/>
              </a:rPr>
              <a:t> A321 NEO </a:t>
            </a:r>
            <a:r>
              <a:rPr lang="en-US" sz="1700" dirty="0" err="1">
                <a:cs typeface="Times New Roman" panose="02020603050405020304" pitchFamily="18" charset="0"/>
                <a:sym typeface="Wingdings" panose="05000000000000000000" pitchFamily="2" charset="2"/>
              </a:rPr>
              <a:t>theo</a:t>
            </a:r>
            <a:r>
              <a:rPr lang="en-US" sz="1700" dirty="0">
                <a:cs typeface="Times New Roman" panose="02020603050405020304" pitchFamily="18" charset="0"/>
                <a:sym typeface="Wingdings" panose="05000000000000000000" pitchFamily="2" charset="2"/>
              </a:rPr>
              <a:t> KH </a:t>
            </a:r>
            <a:r>
              <a:rPr lang="en-US" sz="1700" dirty="0" err="1">
                <a:cs typeface="Times New Roman" panose="02020603050405020304" pitchFamily="18" charset="0"/>
                <a:sym typeface="Wingdings" panose="05000000000000000000" pitchFamily="2" charset="2"/>
              </a:rPr>
              <a:t>mới</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bô</a:t>
            </a:r>
            <a:r>
              <a:rPr lang="en-US" sz="1700" dirty="0">
                <a:cs typeface="Times New Roman" panose="02020603050405020304" pitchFamily="18" charset="0"/>
                <a:sym typeface="Wingdings" panose="05000000000000000000" pitchFamily="2" charset="2"/>
              </a:rPr>
              <a:t>̉ sung </a:t>
            </a:r>
            <a:r>
              <a:rPr lang="en-US" sz="1700" dirty="0" err="1">
                <a:cs typeface="Times New Roman" panose="02020603050405020304" pitchFamily="18" charset="0"/>
                <a:sym typeface="Wingdings" panose="05000000000000000000" pitchFamily="2" charset="2"/>
              </a:rPr>
              <a:t>được</a:t>
            </a:r>
            <a:r>
              <a:rPr lang="en-US" sz="1700" dirty="0">
                <a:cs typeface="Times New Roman" panose="02020603050405020304" pitchFamily="18" charset="0"/>
                <a:sym typeface="Wingdings" panose="05000000000000000000" pitchFamily="2" charset="2"/>
              </a:rPr>
              <a:t> RTS </a:t>
            </a:r>
            <a:r>
              <a:rPr lang="en-US" sz="1700" dirty="0" err="1">
                <a:cs typeface="Times New Roman" panose="02020603050405020304" pitchFamily="18" charset="0"/>
                <a:sym typeface="Wingdings" panose="05000000000000000000" pitchFamily="2" charset="2"/>
              </a:rPr>
              <a:t>đê</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dư</a:t>
            </a:r>
            <a:r>
              <a:rPr lang="en-US" sz="1700" dirty="0">
                <a:cs typeface="Times New Roman" panose="02020603050405020304" pitchFamily="18" charset="0"/>
                <a:sym typeface="Wingdings" panose="05000000000000000000" pitchFamily="2" charset="2"/>
              </a:rPr>
              <a:t>̣ bị </a:t>
            </a:r>
            <a:r>
              <a:rPr lang="en-US" sz="1700" dirty="0" err="1">
                <a:cs typeface="Times New Roman" panose="02020603050405020304" pitchFamily="18" charset="0"/>
                <a:sym typeface="Wingdings" panose="05000000000000000000" pitchFamily="2" charset="2"/>
              </a:rPr>
              <a:t>cao</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điểm</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Tết</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các</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vật</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tư</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cho</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Tàu</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cần</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được</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vê</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đúng</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hạn</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đê</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đảm</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bảo</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bảo</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tiến</a:t>
            </a:r>
            <a:r>
              <a:rPr lang="en-US" sz="1700" dirty="0">
                <a:cs typeface="Times New Roman" panose="02020603050405020304" pitchFamily="18" charset="0"/>
                <a:sym typeface="Wingdings" panose="05000000000000000000" pitchFamily="2" charset="2"/>
              </a:rPr>
              <a:t> </a:t>
            </a:r>
            <a:r>
              <a:rPr lang="en-US" sz="1700" dirty="0" err="1">
                <a:cs typeface="Times New Roman" panose="02020603050405020304" pitchFamily="18" charset="0"/>
                <a:sym typeface="Wingdings" panose="05000000000000000000" pitchFamily="2" charset="2"/>
              </a:rPr>
              <a:t>đô</a:t>
            </a:r>
            <a:r>
              <a:rPr lang="en-US" sz="1700" dirty="0">
                <a:cs typeface="Times New Roman" panose="02020603050405020304" pitchFamily="18" charset="0"/>
                <a:sym typeface="Wingdings" panose="05000000000000000000" pitchFamily="2" charset="2"/>
              </a:rPr>
              <a:t>̣.</a:t>
            </a:r>
          </a:p>
          <a:p>
            <a:pPr marL="12700" indent="0" algn="just">
              <a:lnSpc>
                <a:spcPct val="150000"/>
              </a:lnSpc>
              <a:spcBef>
                <a:spcPts val="600"/>
              </a:spcBef>
              <a:buSzPts val="1100"/>
              <a:buNone/>
            </a:pPr>
            <a:r>
              <a:rPr lang="en-US" sz="1700" dirty="0">
                <a:cs typeface="Times New Roman" panose="02020603050405020304" pitchFamily="18" charset="0"/>
                <a:sym typeface="Wingdings" panose="05000000000000000000" pitchFamily="2" charset="2"/>
              </a:rPr>
              <a:t>    -  </a:t>
            </a:r>
            <a:r>
              <a:rPr lang="es-ES" sz="1700" dirty="0">
                <a:cs typeface="Times New Roman" panose="02020603050405020304" pitchFamily="18" charset="0"/>
                <a:sym typeface="Wingdings" panose="05000000000000000000" pitchFamily="2" charset="2"/>
              </a:rPr>
              <a:t>Đ/n KTMB </a:t>
            </a:r>
            <a:r>
              <a:rPr lang="es-ES" sz="1700" dirty="0" err="1">
                <a:cs typeface="Times New Roman" panose="02020603050405020304" pitchFamily="18" charset="0"/>
                <a:sym typeface="Wingdings" panose="05000000000000000000" pitchFamily="2" charset="2"/>
              </a:rPr>
              <a:t>hô</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trơ</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xin</a:t>
            </a:r>
            <a:r>
              <a:rPr lang="es-ES" sz="1700" dirty="0">
                <a:cs typeface="Times New Roman" panose="02020603050405020304" pitchFamily="18" charset="0"/>
                <a:sym typeface="Wingdings" panose="05000000000000000000" pitchFamily="2" charset="2"/>
              </a:rPr>
              <a:t> RDAF </a:t>
            </a:r>
            <a:r>
              <a:rPr lang="es-ES" sz="1700" dirty="0" err="1">
                <a:cs typeface="Times New Roman" panose="02020603050405020304" pitchFamily="18" charset="0"/>
                <a:sym typeface="Wingdings" panose="05000000000000000000" pitchFamily="2" charset="2"/>
              </a:rPr>
              <a:t>việc</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không</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lắp</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bình</a:t>
            </a:r>
            <a:r>
              <a:rPr lang="es-ES" sz="1700" dirty="0">
                <a:cs typeface="Times New Roman" panose="02020603050405020304" pitchFamily="18" charset="0"/>
                <a:sym typeface="Wingdings" panose="05000000000000000000" pitchFamily="2" charset="2"/>
              </a:rPr>
              <a:t> cho Rain </a:t>
            </a:r>
            <a:r>
              <a:rPr lang="es-ES" sz="1700" dirty="0" err="1">
                <a:cs typeface="Times New Roman" panose="02020603050405020304" pitchFamily="18" charset="0"/>
                <a:sym typeface="Wingdings" panose="05000000000000000000" pitchFamily="2" charset="2"/>
              </a:rPr>
              <a:t>repellent</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với</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sô</a:t>
            </a:r>
            <a:r>
              <a:rPr lang="es-ES" sz="1700" dirty="0">
                <a:cs typeface="Times New Roman" panose="02020603050405020304" pitchFamily="18" charset="0"/>
                <a:sym typeface="Wingdings" panose="05000000000000000000" pitchFamily="2" charset="2"/>
              </a:rPr>
              <a:t>́ CY </a:t>
            </a:r>
            <a:r>
              <a:rPr lang="es-ES" sz="1700" dirty="0" err="1">
                <a:cs typeface="Times New Roman" panose="02020603050405020304" pitchFamily="18" charset="0"/>
                <a:sym typeface="Wingdings" panose="05000000000000000000" pitchFamily="2" charset="2"/>
              </a:rPr>
              <a:t>tương</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ứng</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với</a:t>
            </a:r>
            <a:r>
              <a:rPr lang="es-ES" sz="1700" dirty="0">
                <a:cs typeface="Times New Roman" panose="02020603050405020304" pitchFamily="18" charset="0"/>
                <a:sym typeface="Wingdings" panose="05000000000000000000" pitchFamily="2" charset="2"/>
              </a:rPr>
              <a:t> ENG cho </a:t>
            </a:r>
            <a:r>
              <a:rPr lang="es-ES" sz="1700" dirty="0" err="1">
                <a:cs typeface="Times New Roman" panose="02020603050405020304" pitchFamily="18" charset="0"/>
                <a:sym typeface="Wingdings" panose="05000000000000000000" pitchFamily="2" charset="2"/>
              </a:rPr>
              <a:t>tài</a:t>
            </a:r>
            <a:r>
              <a:rPr lang="es-ES" sz="1700" dirty="0">
                <a:cs typeface="Times New Roman" panose="02020603050405020304" pitchFamily="18" charset="0"/>
                <a:sym typeface="Wingdings" panose="05000000000000000000" pitchFamily="2" charset="2"/>
              </a:rPr>
              <a:t> A625, A508.</a:t>
            </a:r>
          </a:p>
          <a:p>
            <a:pPr marL="12700" indent="0" algn="just">
              <a:lnSpc>
                <a:spcPct val="150000"/>
              </a:lnSpc>
              <a:spcBef>
                <a:spcPts val="600"/>
              </a:spcBef>
              <a:buSzPts val="1100"/>
              <a:buNone/>
            </a:pPr>
            <a:r>
              <a:rPr lang="es-ES" sz="1700" dirty="0">
                <a:cs typeface="Times New Roman" panose="02020603050405020304" pitchFamily="18" charset="0"/>
                <a:sym typeface="Wingdings" panose="05000000000000000000" pitchFamily="2" charset="2"/>
              </a:rPr>
              <a:t>   - </a:t>
            </a:r>
            <a:r>
              <a:rPr lang="es-ES" sz="1700" dirty="0" err="1">
                <a:cs typeface="Times New Roman" panose="02020603050405020304" pitchFamily="18" charset="0"/>
                <a:sym typeface="Wingdings" panose="05000000000000000000" pitchFamily="2" charset="2"/>
              </a:rPr>
              <a:t>Vật</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tư</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Reservoir</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Slide</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Door</a:t>
            </a:r>
            <a:r>
              <a:rPr lang="es-ES" sz="1700" dirty="0">
                <a:cs typeface="Times New Roman" panose="02020603050405020304" pitchFamily="18" charset="0"/>
                <a:sym typeface="Wingdings" panose="05000000000000000000" pitchFamily="2" charset="2"/>
              </a:rPr>
              <a:t> cho A625, A508 </a:t>
            </a:r>
            <a:r>
              <a:rPr lang="es-ES" sz="1700" dirty="0" err="1">
                <a:cs typeface="Times New Roman" panose="02020603050405020304" pitchFamily="18" charset="0"/>
                <a:sym typeface="Wingdings" panose="05000000000000000000" pitchFamily="2" charset="2"/>
              </a:rPr>
              <a:t>thiếu</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nhiều</a:t>
            </a:r>
            <a:r>
              <a:rPr lang="es-ES" sz="1700" dirty="0">
                <a:cs typeface="Times New Roman" panose="02020603050405020304" pitchFamily="18" charset="0"/>
                <a:sym typeface="Wingdings" panose="05000000000000000000" pitchFamily="2" charset="2"/>
              </a:rPr>
              <a:t>.</a:t>
            </a:r>
          </a:p>
          <a:p>
            <a:pPr marL="12700" indent="0" algn="just">
              <a:lnSpc>
                <a:spcPct val="150000"/>
              </a:lnSpc>
              <a:spcBef>
                <a:spcPts val="600"/>
              </a:spcBef>
              <a:buSzPts val="1100"/>
              <a:buNone/>
            </a:pPr>
            <a:r>
              <a:rPr lang="es-ES" sz="1700" dirty="0">
                <a:cs typeface="Times New Roman" panose="02020603050405020304" pitchFamily="18" charset="0"/>
                <a:sym typeface="Wingdings" panose="05000000000000000000" pitchFamily="2" charset="2"/>
              </a:rPr>
              <a:t>   -  </a:t>
            </a:r>
            <a:r>
              <a:rPr lang="es-ES" sz="1700" dirty="0" err="1">
                <a:cs typeface="Times New Roman" panose="02020603050405020304" pitchFamily="18" charset="0"/>
                <a:sym typeface="Wingdings" panose="05000000000000000000" pitchFamily="2" charset="2"/>
              </a:rPr>
              <a:t>Các</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tàu</a:t>
            </a:r>
            <a:r>
              <a:rPr lang="es-ES" sz="1700" dirty="0">
                <a:cs typeface="Times New Roman" panose="02020603050405020304" pitchFamily="18" charset="0"/>
                <a:sym typeface="Wingdings" panose="05000000000000000000" pitchFamily="2" charset="2"/>
              </a:rPr>
              <a:t> RTS </a:t>
            </a:r>
            <a:r>
              <a:rPr lang="es-ES" sz="1700" dirty="0" err="1">
                <a:cs typeface="Times New Roman" panose="02020603050405020304" pitchFamily="18" charset="0"/>
                <a:sym typeface="Wingdings" panose="05000000000000000000" pitchFamily="2" charset="2"/>
              </a:rPr>
              <a:t>cần</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gửi</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chứng</a:t>
            </a:r>
            <a:r>
              <a:rPr lang="es-ES" sz="1700" dirty="0">
                <a:cs typeface="Times New Roman" panose="02020603050405020304" pitchFamily="18" charset="0"/>
                <a:sym typeface="Wingdings" panose="05000000000000000000" pitchFamily="2" charset="2"/>
              </a:rPr>
              <a:t> chỉ CRS cho SQD </a:t>
            </a:r>
            <a:r>
              <a:rPr lang="es-ES" sz="1700" dirty="0" err="1">
                <a:cs typeface="Times New Roman" panose="02020603050405020304" pitchFamily="18" charset="0"/>
                <a:sym typeface="Wingdings" panose="05000000000000000000" pitchFamily="2" charset="2"/>
              </a:rPr>
              <a:t>đê</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báo</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cáo</a:t>
            </a:r>
            <a:r>
              <a:rPr lang="es-ES" sz="1700" dirty="0">
                <a:cs typeface="Times New Roman" panose="02020603050405020304" pitchFamily="18" charset="0"/>
                <a:sym typeface="Wingdings" panose="05000000000000000000" pitchFamily="2" charset="2"/>
              </a:rPr>
              <a:t> CAAV </a:t>
            </a:r>
            <a:r>
              <a:rPr lang="es-ES" sz="1700" dirty="0" err="1">
                <a:cs typeface="Times New Roman" panose="02020603050405020304" pitchFamily="18" charset="0"/>
                <a:sym typeface="Wingdings" panose="05000000000000000000" pitchFamily="2" charset="2"/>
              </a:rPr>
              <a:t>trước</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khi</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bay</a:t>
            </a:r>
            <a:r>
              <a:rPr lang="es-ES" sz="1700" dirty="0">
                <a:cs typeface="Times New Roman" panose="02020603050405020304" pitchFamily="18" charset="0"/>
                <a:sym typeface="Wingdings" panose="05000000000000000000" pitchFamily="2" charset="2"/>
              </a:rPr>
              <a:t> </a:t>
            </a:r>
            <a:r>
              <a:rPr lang="es-ES" sz="1700" dirty="0" err="1">
                <a:cs typeface="Times New Roman" panose="02020603050405020304" pitchFamily="18" charset="0"/>
                <a:sym typeface="Wingdings" panose="05000000000000000000" pitchFamily="2" charset="2"/>
              </a:rPr>
              <a:t>thư</a:t>
            </a:r>
            <a:r>
              <a:rPr lang="es-ES" sz="1700" dirty="0">
                <a:cs typeface="Times New Roman" panose="02020603050405020304" pitchFamily="18" charset="0"/>
                <a:sym typeface="Wingdings" panose="05000000000000000000" pitchFamily="2" charset="2"/>
              </a:rPr>
              <a:t>̉.</a:t>
            </a:r>
          </a:p>
          <a:p>
            <a:pPr marL="12700" indent="0" algn="just">
              <a:lnSpc>
                <a:spcPct val="150000"/>
              </a:lnSpc>
              <a:spcBef>
                <a:spcPts val="600"/>
              </a:spcBef>
              <a:buSzPts val="1100"/>
              <a:buNone/>
            </a:pPr>
            <a:r>
              <a:rPr lang="es-ES" sz="1400" dirty="0">
                <a:cs typeface="Times New Roman" panose="02020603050405020304" pitchFamily="18" charset="0"/>
                <a:sym typeface="Wingdings" panose="05000000000000000000" pitchFamily="2" charset="2"/>
              </a:rPr>
              <a:t>    </a:t>
            </a:r>
            <a:endParaRPr lang="en-US" sz="1500" dirty="0">
              <a:cs typeface="Times New Roman" panose="02020603050405020304" pitchFamily="18" charset="0"/>
            </a:endParaRPr>
          </a:p>
          <a:p>
            <a:pPr marL="12700" indent="0">
              <a:buSzPts val="1100"/>
              <a:buFont typeface="Arial" panose="020B0604020202020204" pitchFamily="34" charset="0"/>
              <a:buNone/>
            </a:pPr>
            <a:endParaRPr lang="es-ES" sz="21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en-VN" dirty="0"/>
          </a:p>
        </p:txBody>
      </p:sp>
    </p:spTree>
    <p:extLst>
      <p:ext uri="{BB962C8B-B14F-4D97-AF65-F5344CB8AC3E}">
        <p14:creationId xmlns:p14="http://schemas.microsoft.com/office/powerpoint/2010/main" val="3485189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228600" y="149377"/>
            <a:ext cx="10134600"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b="1" dirty="0">
                <a:solidFill>
                  <a:srgbClr val="FFC000"/>
                </a:solidFill>
                <a:latin typeface="Times New Roman" panose="02020603050405020304" pitchFamily="18" charset="0"/>
                <a:cs typeface="Times New Roman" panose="02020603050405020304" pitchFamily="18" charset="0"/>
              </a:rPr>
              <a:t>CÁC TÀU BQDB VÀ ĐANG TRONG BẢO DƯỠNG </a:t>
            </a:r>
            <a:r>
              <a:rPr lang="en-US" b="1">
                <a:solidFill>
                  <a:srgbClr val="FFC000"/>
                </a:solidFill>
                <a:latin typeface="Times New Roman" panose="02020603050405020304" pitchFamily="18" charset="0"/>
                <a:cs typeface="Times New Roman" panose="02020603050405020304" pitchFamily="18" charset="0"/>
              </a:rPr>
              <a:t>ĐỊNH KỲ</a:t>
            </a:r>
            <a:endParaRPr b="0" dirty="0">
              <a:solidFill>
                <a:srgbClr val="FFC000"/>
              </a:solidFill>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26746268-7349-BABD-A75C-868F0A029DC1}"/>
              </a:ext>
            </a:extLst>
          </p:cNvPr>
          <p:cNvSpPr txBox="1">
            <a:spLocks/>
          </p:cNvSpPr>
          <p:nvPr/>
        </p:nvSpPr>
        <p:spPr>
          <a:xfrm>
            <a:off x="457200" y="827909"/>
            <a:ext cx="10744201" cy="5623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buSzPts val="1100"/>
              <a:buFont typeface="Arial" panose="020B0604020202020204" pitchFamily="34" charset="0"/>
              <a:buNone/>
            </a:pPr>
            <a:r>
              <a:rPr lang="en-US" sz="1600" b="1" dirty="0">
                <a:cs typeface="Times New Roman" panose="02020603050405020304" pitchFamily="18" charset="0"/>
              </a:rPr>
              <a:t>II. A350:</a:t>
            </a:r>
            <a:r>
              <a:rPr lang="es-ES" sz="1600" i="1" dirty="0">
                <a:cs typeface="Times New Roman" panose="02020603050405020304" pitchFamily="18" charset="0"/>
                <a:sym typeface="Wingdings" panose="05000000000000000000" pitchFamily="2" charset="2"/>
              </a:rPr>
              <a:t> </a:t>
            </a:r>
          </a:p>
          <a:p>
            <a:pPr marL="12700" indent="0">
              <a:lnSpc>
                <a:spcPct val="120000"/>
              </a:lnSpc>
              <a:buSzPts val="1100"/>
              <a:buFont typeface="Arial" panose="020B0604020202020204" pitchFamily="34" charset="0"/>
              <a:buNone/>
            </a:pPr>
            <a:r>
              <a:rPr lang="en-US" sz="1600" b="1" i="1" dirty="0">
                <a:solidFill>
                  <a:srgbClr val="FF0000"/>
                </a:solidFill>
                <a:cs typeface="Times New Roman" panose="02020603050405020304" pitchFamily="18" charset="0"/>
                <a:sym typeface="Wingdings" panose="05000000000000000000" pitchFamily="2" charset="2"/>
              </a:rPr>
              <a:t>Nil</a:t>
            </a:r>
            <a:endParaRPr lang="en-US" sz="1600" b="1" dirty="0">
              <a:cs typeface="Times New Roman" panose="02020603050405020304" pitchFamily="18" charset="0"/>
            </a:endParaRPr>
          </a:p>
          <a:p>
            <a:pPr marL="12700" indent="0">
              <a:lnSpc>
                <a:spcPct val="120000"/>
              </a:lnSpc>
              <a:spcBef>
                <a:spcPts val="600"/>
              </a:spcBef>
              <a:buSzPts val="1100"/>
              <a:buFont typeface="Arial" panose="020B0604020202020204" pitchFamily="34" charset="0"/>
              <a:buNone/>
            </a:pPr>
            <a:r>
              <a:rPr lang="en-US" sz="1600" b="1" dirty="0">
                <a:cs typeface="Times New Roman" panose="02020603050405020304" pitchFamily="18" charset="0"/>
              </a:rPr>
              <a:t>III. B787: </a:t>
            </a:r>
          </a:p>
          <a:p>
            <a:pPr marL="12700" indent="0">
              <a:lnSpc>
                <a:spcPct val="120000"/>
              </a:lnSpc>
              <a:spcBef>
                <a:spcPts val="600"/>
              </a:spcBef>
              <a:buSzPts val="1100"/>
              <a:buFont typeface="Arial" panose="020B0604020202020204" pitchFamily="34" charset="0"/>
              <a:buNone/>
            </a:pPr>
            <a:r>
              <a:rPr lang="es-ES" sz="1600" b="1" dirty="0">
                <a:solidFill>
                  <a:srgbClr val="FF0000"/>
                </a:solidFill>
                <a:cs typeface="Times New Roman" panose="02020603050405020304" pitchFamily="18" charset="0"/>
                <a:sym typeface="Wingdings" panose="05000000000000000000" pitchFamily="2" charset="2"/>
              </a:rPr>
              <a:t>1. A871: SGN – A06 (19-20/01): </a:t>
            </a:r>
            <a:r>
              <a:rPr lang="es-ES" sz="1600" b="1" dirty="0" err="1">
                <a:cs typeface="Times New Roman" panose="02020603050405020304" pitchFamily="18" charset="0"/>
                <a:sym typeface="Wingdings" panose="05000000000000000000" pitchFamily="2" charset="2"/>
              </a:rPr>
              <a:t>On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Sked</a:t>
            </a:r>
            <a:endParaRPr lang="es-ES" sz="1600" b="1"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endParaRPr lang="es-ES" sz="1600" b="1" dirty="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IV. ATR72</a:t>
            </a:r>
          </a:p>
          <a:p>
            <a:pPr marL="12700" indent="0" algn="just">
              <a:buSzPts val="1100"/>
              <a:buFont typeface="Arial" panose="020B0604020202020204" pitchFamily="34" charset="0"/>
              <a:buNone/>
            </a:pPr>
            <a:r>
              <a:rPr lang="es-ES" sz="1600" b="1" dirty="0">
                <a:solidFill>
                  <a:srgbClr val="FF0000"/>
                </a:solidFill>
                <a:cs typeface="Times New Roman" panose="02020603050405020304" pitchFamily="18" charset="0"/>
                <a:sym typeface="Wingdings" panose="05000000000000000000" pitchFamily="2" charset="2"/>
              </a:rPr>
              <a:t>Nil</a:t>
            </a:r>
            <a:endParaRPr lang="es-ES" sz="1600" dirty="0">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en-VN" dirty="0"/>
          </a:p>
        </p:txBody>
      </p:sp>
    </p:spTree>
    <p:extLst>
      <p:ext uri="{BB962C8B-B14F-4D97-AF65-F5344CB8AC3E}">
        <p14:creationId xmlns:p14="http://schemas.microsoft.com/office/powerpoint/2010/main" val="3859945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6162545"/>
            <a:ext cx="2743200" cy="365125"/>
          </a:xfrm>
        </p:spPr>
        <p:txBody>
          <a:bodyPr>
            <a:normAutofit/>
          </a:bodyPr>
          <a:lstStyle/>
          <a:p>
            <a:fld id="{6C6B6B8D-D74E-47CD-B5EE-156060B7CD17}" type="slidenum">
              <a:rPr lang="en-US" sz="1100" smtClean="0"/>
              <a:pPr/>
              <a:t>39</a:t>
            </a:fld>
            <a:endParaRPr lang="en-US" sz="1100" dirty="0"/>
          </a:p>
        </p:txBody>
      </p:sp>
      <p:sp>
        <p:nvSpPr>
          <p:cNvPr id="21" name="TextBox 20"/>
          <p:cNvSpPr txBox="1"/>
          <p:nvPr/>
        </p:nvSpPr>
        <p:spPr>
          <a:xfrm>
            <a:off x="7070" y="31707"/>
            <a:ext cx="12184930" cy="52322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800" dirty="0"/>
              <a:t>HỎNG HÓC CABIN ẢNH HƯỞNG KHAI THÁC VÀ PTVT – TUẦN 03/2025</a:t>
            </a:r>
            <a:endParaRPr lang="vi-VN" sz="2800" dirty="0"/>
          </a:p>
        </p:txBody>
      </p:sp>
      <p:sp>
        <p:nvSpPr>
          <p:cNvPr id="24" name="TextBox 23"/>
          <p:cNvSpPr txBox="1"/>
          <p:nvPr/>
        </p:nvSpPr>
        <p:spPr>
          <a:xfrm>
            <a:off x="358725" y="3722281"/>
            <a:ext cx="10876298" cy="295311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Tháo PCU 787: </a:t>
            </a:r>
            <a:r>
              <a:rPr lang="en-US" sz="1100" dirty="0">
                <a:solidFill>
                  <a:schemeClr val="tx1"/>
                </a:solidFill>
                <a:latin typeface="Times New Roman" panose="02020603050405020304" pitchFamily="18" charset="0"/>
                <a:cs typeface="Times New Roman" panose="02020603050405020304" pitchFamily="18" charset="0"/>
              </a:rPr>
              <a:t>Đã thực hiện 07 tàu A861, A862 ,A863, A865, A866, A867, A868 (trong tuần thực hiện 01 tàu ) =&gt; tiếp tục thực hiện 04 tàu còn lại sau cao điểm</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Interchange SVDU 787&amp;350: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chuyển hồ sơ sang SQD tiếp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CAAV,  CAAV </a:t>
            </a:r>
            <a:r>
              <a:rPr lang="en-US" sz="1100" dirty="0" err="1">
                <a:solidFill>
                  <a:schemeClr val="tx1"/>
                </a:solidFill>
                <a:latin typeface="Times New Roman" panose="02020603050405020304" pitchFamily="18" charset="0"/>
                <a:cs typeface="Times New Roman" panose="02020603050405020304" pitchFamily="18" charset="0"/>
              </a:rPr>
              <a:t>chưa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đồng</a:t>
            </a:r>
            <a:r>
              <a:rPr lang="en-US" sz="1100" dirty="0">
                <a:solidFill>
                  <a:schemeClr val="tx1"/>
                </a:solidFill>
                <a:latin typeface="Times New Roman" panose="02020603050405020304" pitchFamily="18" charset="0"/>
                <a:cs typeface="Times New Roman" panose="02020603050405020304" pitchFamily="18" charset="0"/>
              </a:rPr>
              <a:t> ý </a:t>
            </a:r>
            <a:r>
              <a:rPr lang="en-US" sz="1100" dirty="0" err="1">
                <a:solidFill>
                  <a:schemeClr val="tx1"/>
                </a:solidFill>
                <a:latin typeface="Times New Roman" panose="02020603050405020304" pitchFamily="18" charset="0"/>
                <a:cs typeface="Times New Roman" panose="02020603050405020304" pitchFamily="18" charset="0"/>
              </a:rPr>
              <a:t>phương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án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đánh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interchange </a:t>
            </a:r>
            <a:r>
              <a:rPr lang="en-US" sz="1100" dirty="0" err="1">
                <a:solidFill>
                  <a:schemeClr val="tx1"/>
                </a:solidFill>
                <a:latin typeface="Times New Roman" panose="02020603050405020304" pitchFamily="18" charset="0"/>
                <a:cs typeface="Times New Roman" panose="02020603050405020304" pitchFamily="18" charset="0"/>
              </a:rPr>
              <a:t>của</a:t>
            </a:r>
            <a:r>
              <a:rPr lang="en-US" sz="1100" dirty="0">
                <a:solidFill>
                  <a:schemeClr val="tx1"/>
                </a:solidFill>
                <a:latin typeface="Times New Roman" panose="02020603050405020304" pitchFamily="18" charset="0"/>
                <a:cs typeface="Times New Roman" panose="02020603050405020304" pitchFamily="18" charset="0"/>
              </a:rPr>
              <a:t> VNA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yêu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ý </a:t>
            </a:r>
            <a:r>
              <a:rPr lang="en-US" sz="1100" dirty="0" err="1">
                <a:solidFill>
                  <a:schemeClr val="tx1"/>
                </a:solidFill>
                <a:latin typeface="Times New Roman" panose="02020603050405020304" pitchFamily="18" charset="0"/>
                <a:cs typeface="Times New Roman" panose="02020603050405020304" pitchFamily="18" charset="0"/>
              </a:rPr>
              <a:t>kiến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của</a:t>
            </a:r>
            <a:r>
              <a:rPr lang="en-US" sz="1100" dirty="0">
                <a:solidFill>
                  <a:schemeClr val="tx1"/>
                </a:solidFill>
                <a:latin typeface="Times New Roman" panose="02020603050405020304" pitchFamily="18" charset="0"/>
                <a:cs typeface="Times New Roman" panose="02020603050405020304" pitchFamily="18" charset="0"/>
              </a:rPr>
              <a:t>  Boeing;</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KT đồng thời tiếp tục làm việc Boeing, Thales, Collins giải pháp SB =&gt; chờ seat Collins ban hành NTO và chỉnh sửa CMM để làm việc </a:t>
            </a:r>
            <a:r>
              <a:rPr lang="en-US" sz="1100" dirty="0" err="1">
                <a:solidFill>
                  <a:schemeClr val="tx1"/>
                </a:solidFill>
                <a:latin typeface="Times New Roman" panose="02020603050405020304" pitchFamily="18" charset="0"/>
                <a:cs typeface="Times New Roman" panose="02020603050405020304" pitchFamily="18" charset="0"/>
              </a:rPr>
              <a:t>với</a:t>
            </a:r>
            <a:r>
              <a:rPr lang="en-US" sz="1100" dirty="0">
                <a:solidFill>
                  <a:schemeClr val="tx1"/>
                </a:solidFill>
                <a:latin typeface="Times New Roman" panose="02020603050405020304" pitchFamily="18" charset="0"/>
                <a:cs typeface="Times New Roman" panose="02020603050405020304" pitchFamily="18" charset="0"/>
              </a:rPr>
              <a:t> Boeing (</a:t>
            </a:r>
            <a:r>
              <a:rPr lang="en-US" sz="1100" dirty="0" err="1">
                <a:solidFill>
                  <a:schemeClr val="tx1"/>
                </a:solidFill>
                <a:latin typeface="Times New Roman" panose="02020603050405020304" pitchFamily="18" charset="0"/>
                <a:cs typeface="Times New Roman" panose="02020603050405020304" pitchFamily="18" charset="0"/>
              </a:rPr>
              <a:t>dự</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trong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a:solidFill>
                  <a:schemeClr val="tx1"/>
                </a:solidFill>
                <a:latin typeface="Times New Roman" panose="02020603050405020304" pitchFamily="18" charset="0"/>
                <a:cs typeface="Times New Roman" panose="02020603050405020304" pitchFamily="18" charset="0"/>
              </a:rPr>
              <a:t> 1)</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PO mua vật tư dự phòng, PO mua tài liệu TSM. Vật tư dự phòng bắt đâu giao 2/2025, MPS và FSAT ban giao 3/2025.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gửi 02 shipset tàu bảo quản đi nâng cấp firmwarre, TAT 60-70 ngày =&gt; tiếp tục giục Thales &amp; Honeywell</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antena gửi sửa chữa shop dự kiến về đầu tháng 2/2025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dự kiến tháng 2/2025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a:t>
            </a: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làm rõ bản chào lần 1 của đối tác. Trong các đối tác tham gia chào giá, AIB: </a:t>
            </a:r>
            <a:r>
              <a:rPr lang="en-US" sz="1100" dirty="0" err="1">
                <a:solidFill>
                  <a:schemeClr val="tx1"/>
                </a:solidFill>
                <a:latin typeface="Times New Roman" panose="02020603050405020304" pitchFamily="18" charset="0"/>
                <a:cs typeface="Times New Roman" panose="02020603050405020304" pitchFamily="18" charset="0"/>
              </a:rPr>
              <a:t>mới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ROM.</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Tổ dự kiến gửi bản chào lần 2 trong </a:t>
            </a:r>
            <a:r>
              <a:rPr lang="en-US" sz="1100" dirty="0" err="1">
                <a:solidFill>
                  <a:schemeClr val="tx1"/>
                </a:solidFill>
                <a:latin typeface="Times New Roman" panose="02020603050405020304" pitchFamily="18" charset="0"/>
                <a:cs typeface="Times New Roman" panose="02020603050405020304" pitchFamily="18" charset="0"/>
              </a:rPr>
              <a:t>tuần</a:t>
            </a:r>
            <a:r>
              <a:rPr lang="en-US" sz="1100" dirty="0">
                <a:solidFill>
                  <a:schemeClr val="tx1"/>
                </a:solidFill>
                <a:latin typeface="Times New Roman" panose="02020603050405020304" pitchFamily="18" charset="0"/>
                <a:cs typeface="Times New Roman" panose="02020603050405020304" pitchFamily="18" charset="0"/>
              </a:rPr>
              <a:t> 04/2025</a:t>
            </a:r>
          </a:p>
        </p:txBody>
      </p:sp>
      <p:sp>
        <p:nvSpPr>
          <p:cNvPr id="22" name="TextBox 21"/>
          <p:cNvSpPr txBox="1"/>
          <p:nvPr/>
        </p:nvSpPr>
        <p:spPr>
          <a:xfrm>
            <a:off x="366570" y="2796267"/>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còn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08 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04</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01RO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EDD 15/2</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04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01RO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EDD 30/1</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a:latin typeface="Times New Roman" panose="02020603050405020304" pitchFamily="18" charset="0"/>
                <a:cs typeface="Times New Roman" panose="02020603050405020304" pitchFamily="18" charset="0"/>
              </a:rPr>
              <a:t>Hỏng hóc oven: </a:t>
            </a:r>
            <a:r>
              <a:rPr lang="en-US" sz="1100" dirty="0">
                <a:solidFill>
                  <a:srgbClr val="FF0000"/>
                </a:solidFill>
                <a:latin typeface="Times New Roman" panose="02020603050405020304" pitchFamily="18" charset="0"/>
                <a:cs typeface="Times New Roman" panose="02020603050405020304" pitchFamily="18" charset="0"/>
              </a:rPr>
              <a:t>hỏng </a:t>
            </a:r>
            <a:r>
              <a:rPr lang="en-US" sz="1100" dirty="0" err="1">
                <a:solidFill>
                  <a:srgbClr val="FF0000"/>
                </a:solidFill>
                <a:latin typeface="Times New Roman" panose="02020603050405020304" pitchFamily="18" charset="0"/>
                <a:cs typeface="Times New Roman" panose="02020603050405020304" pitchFamily="18" charset="0"/>
              </a:rPr>
              <a:t>hóc</a:t>
            </a:r>
            <a:r>
              <a:rPr lang="en-US" sz="1100" dirty="0">
                <a:solidFill>
                  <a:srgbClr val="FF0000"/>
                </a:solidFill>
                <a:latin typeface="Times New Roman" panose="02020603050405020304" pitchFamily="18" charset="0"/>
                <a:cs typeface="Times New Roman" panose="02020603050405020304" pitchFamily="18" charset="0"/>
              </a:rPr>
              <a:t> 06ea,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03ea,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03ea</a:t>
            </a:r>
          </a:p>
        </p:txBody>
      </p:sp>
      <p:sp>
        <p:nvSpPr>
          <p:cNvPr id="23" name="TextBox 22"/>
          <p:cNvSpPr txBox="1"/>
          <p:nvPr/>
        </p:nvSpPr>
        <p:spPr>
          <a:xfrm>
            <a:off x="366570" y="1515160"/>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US" sz="1100" b="1" dirty="0">
                <a:latin typeface="Times New Roman" panose="02020603050405020304" pitchFamily="18" charset="0"/>
                <a:cs typeface="Times New Roman" panose="02020603050405020304" pitchFamily="18" charset="0"/>
              </a:rPr>
              <a:t>2780/3238 SVDU (</a:t>
            </a:r>
            <a:r>
              <a:rPr lang="en-US" sz="1100" b="1" dirty="0" err="1">
                <a:latin typeface="Times New Roman" panose="02020603050405020304" pitchFamily="18" charset="0"/>
                <a:cs typeface="Times New Roman" panose="02020603050405020304" pitchFamily="18" charset="0"/>
              </a:rPr>
              <a:t>còn</a:t>
            </a:r>
            <a:r>
              <a:rPr lang="en-US" sz="1100" b="1" dirty="0">
                <a:latin typeface="Times New Roman" panose="02020603050405020304" pitchFamily="18" charset="0"/>
                <a:cs typeface="Times New Roman" panose="02020603050405020304" pitchFamily="18" charset="0"/>
              </a:rPr>
              <a:t> 508 INOP SVDU). </a:t>
            </a:r>
            <a:r>
              <a:rPr lang="en-US" sz="1100" dirty="0">
                <a:solidFill>
                  <a:srgbClr val="FF0000"/>
                </a:solidFill>
                <a:latin typeface="Times New Roman" panose="02020603050405020304" pitchFamily="18" charset="0"/>
                <a:cs typeface="Times New Roman" panose="02020603050405020304" pitchFamily="18" charset="0"/>
              </a:rPr>
              <a:t>Trong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hỏng </a:t>
            </a:r>
            <a:r>
              <a:rPr lang="en-US" sz="1100" dirty="0" err="1">
                <a:solidFill>
                  <a:srgbClr val="FF0000"/>
                </a:solidFill>
                <a:latin typeface="Times New Roman" panose="02020603050405020304" pitchFamily="18" charset="0"/>
                <a:cs typeface="Times New Roman" panose="02020603050405020304" pitchFamily="18" charset="0"/>
              </a:rPr>
              <a:t>mới</a:t>
            </a:r>
            <a:r>
              <a:rPr lang="en-US" sz="1100" dirty="0">
                <a:solidFill>
                  <a:srgbClr val="FF0000"/>
                </a:solidFill>
                <a:latin typeface="Times New Roman" panose="02020603050405020304" pitchFamily="18" charset="0"/>
                <a:cs typeface="Times New Roman" panose="02020603050405020304" pitchFamily="18" charset="0"/>
              </a:rPr>
              <a:t> 10ea,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30ea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(50ea).</a:t>
            </a:r>
          </a:p>
        </p:txBody>
      </p:sp>
      <p:sp>
        <p:nvSpPr>
          <p:cNvPr id="25" name="TextBox 24"/>
          <p:cNvSpPr txBox="1"/>
          <p:nvPr/>
        </p:nvSpPr>
        <p:spPr>
          <a:xfrm>
            <a:off x="366570" y="2173984"/>
            <a:ext cx="10860609"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latin typeface="Times New Roman" panose="02020603050405020304" pitchFamily="18" charset="0"/>
                <a:cs typeface="Times New Roman" panose="02020603050405020304" pitchFamily="18" charset="0"/>
              </a:rPr>
              <a:t>Toilet Assy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03 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02ea,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01ea</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buFontTx/>
              <a:buChar char="-"/>
            </a:pPr>
            <a:r>
              <a:rPr lang="en-US" sz="1100" b="1" dirty="0">
                <a:latin typeface="Times New Roman" panose="02020603050405020304" pitchFamily="18" charset="0"/>
                <a:cs typeface="Times New Roman" panose="02020603050405020304" pitchFamily="18" charset="0"/>
              </a:rPr>
              <a:t>Faucet Assy: </a:t>
            </a:r>
            <a:r>
              <a:rPr lang="en-US" sz="1100" dirty="0">
                <a:solidFill>
                  <a:srgbClr val="FF0000"/>
                </a:solidFill>
                <a:latin typeface="Times New Roman" panose="02020603050405020304" pitchFamily="18" charset="0"/>
                <a:cs typeface="Times New Roman" panose="02020603050405020304" pitchFamily="18" charset="0"/>
              </a:rPr>
              <a:t>hỏng 03ea,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1ea,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02ea</a:t>
            </a:r>
          </a:p>
        </p:txBody>
      </p:sp>
      <p:sp>
        <p:nvSpPr>
          <p:cNvPr id="26" name="TextBox 25"/>
          <p:cNvSpPr txBox="1"/>
          <p:nvPr/>
        </p:nvSpPr>
        <p:spPr>
          <a:xfrm>
            <a:off x="375533" y="577246"/>
            <a:ext cx="10844923"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03: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233,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73ADD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160ADD</a:t>
            </a:r>
            <a:r>
              <a:rPr lang="en-US" sz="1100" dirty="0">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a:t>
            </a:r>
            <a:r>
              <a:rPr lang="en-US" sz="1100" dirty="0" err="1">
                <a:solidFill>
                  <a:srgbClr val="FF0000"/>
                </a:solidFill>
                <a:latin typeface="Times New Roman" panose="02020603050405020304" pitchFamily="18" charset="0"/>
                <a:cs typeface="Times New Roman" panose="02020603050405020304" pitchFamily="18" charset="0"/>
              </a:rPr>
              <a:t>tăng</a:t>
            </a:r>
            <a:r>
              <a:rPr lang="en-US" sz="1100" dirty="0">
                <a:solidFill>
                  <a:srgbClr val="FF0000"/>
                </a:solidFill>
                <a:latin typeface="Times New Roman" panose="02020603050405020304" pitchFamily="18" charset="0"/>
                <a:cs typeface="Times New Roman" panose="02020603050405020304" pitchFamily="18" charset="0"/>
              </a:rPr>
              <a:t> 9% so với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2/2025)</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75533" y="887822"/>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tuần 02</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hỏng 01,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00,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01.</a:t>
            </a:r>
          </a:p>
          <a:p>
            <a:pPr marL="285750" indent="-285750">
              <a:buFontTx/>
              <a:buChar char="-"/>
            </a:pPr>
            <a:r>
              <a:rPr lang="en-US" sz="1100" b="1" dirty="0">
                <a:latin typeface="Times New Roman" panose="02020603050405020304" pitchFamily="18" charset="0"/>
                <a:cs typeface="Times New Roman" panose="02020603050405020304" pitchFamily="18" charset="0"/>
              </a:rPr>
              <a:t>Ghế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08,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07,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01</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9852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ln w="0"/>
                <a:solidFill>
                  <a:srgbClr val="FFC000"/>
                </a:solidFill>
                <a:ea typeface="+mn-ea"/>
                <a:cs typeface="Times New Roman" panose="02020603050405020304" pitchFamily="18" charset="0"/>
              </a:rPr>
              <a:t>NGUỒN LỰC TÀU BAY – A321</a:t>
            </a:r>
          </a:p>
        </p:txBody>
      </p:sp>
      <p:graphicFrame>
        <p:nvGraphicFramePr>
          <p:cNvPr id="2" name="Table 1"/>
          <p:cNvGraphicFramePr>
            <a:graphicFrameLocks noGrp="1"/>
          </p:cNvGraphicFramePr>
          <p:nvPr/>
        </p:nvGraphicFramePr>
        <p:xfrm>
          <a:off x="304798" y="1066800"/>
          <a:ext cx="11506204" cy="5334001"/>
        </p:xfrm>
        <a:graphic>
          <a:graphicData uri="http://schemas.openxmlformats.org/drawingml/2006/table">
            <a:tbl>
              <a:tblPr/>
              <a:tblGrid>
                <a:gridCol w="334483">
                  <a:extLst>
                    <a:ext uri="{9D8B030D-6E8A-4147-A177-3AD203B41FA5}">
                      <a16:colId xmlns:a16="http://schemas.microsoft.com/office/drawing/2014/main" val="895238949"/>
                    </a:ext>
                  </a:extLst>
                </a:gridCol>
                <a:gridCol w="2354757">
                  <a:extLst>
                    <a:ext uri="{9D8B030D-6E8A-4147-A177-3AD203B41FA5}">
                      <a16:colId xmlns:a16="http://schemas.microsoft.com/office/drawing/2014/main" val="107210452"/>
                    </a:ext>
                  </a:extLst>
                </a:gridCol>
                <a:gridCol w="481655">
                  <a:extLst>
                    <a:ext uri="{9D8B030D-6E8A-4147-A177-3AD203B41FA5}">
                      <a16:colId xmlns:a16="http://schemas.microsoft.com/office/drawing/2014/main" val="2664292215"/>
                    </a:ext>
                  </a:extLst>
                </a:gridCol>
                <a:gridCol w="495034">
                  <a:extLst>
                    <a:ext uri="{9D8B030D-6E8A-4147-A177-3AD203B41FA5}">
                      <a16:colId xmlns:a16="http://schemas.microsoft.com/office/drawing/2014/main" val="3984037877"/>
                    </a:ext>
                  </a:extLst>
                </a:gridCol>
                <a:gridCol w="495034">
                  <a:extLst>
                    <a:ext uri="{9D8B030D-6E8A-4147-A177-3AD203B41FA5}">
                      <a16:colId xmlns:a16="http://schemas.microsoft.com/office/drawing/2014/main" val="1726830800"/>
                    </a:ext>
                  </a:extLst>
                </a:gridCol>
                <a:gridCol w="508414">
                  <a:extLst>
                    <a:ext uri="{9D8B030D-6E8A-4147-A177-3AD203B41FA5}">
                      <a16:colId xmlns:a16="http://schemas.microsoft.com/office/drawing/2014/main" val="2880879593"/>
                    </a:ext>
                  </a:extLst>
                </a:gridCol>
                <a:gridCol w="508414">
                  <a:extLst>
                    <a:ext uri="{9D8B030D-6E8A-4147-A177-3AD203B41FA5}">
                      <a16:colId xmlns:a16="http://schemas.microsoft.com/office/drawing/2014/main" val="1801174694"/>
                    </a:ext>
                  </a:extLst>
                </a:gridCol>
                <a:gridCol w="508414">
                  <a:extLst>
                    <a:ext uri="{9D8B030D-6E8A-4147-A177-3AD203B41FA5}">
                      <a16:colId xmlns:a16="http://schemas.microsoft.com/office/drawing/2014/main" val="1434886073"/>
                    </a:ext>
                  </a:extLst>
                </a:gridCol>
                <a:gridCol w="508414">
                  <a:extLst>
                    <a:ext uri="{9D8B030D-6E8A-4147-A177-3AD203B41FA5}">
                      <a16:colId xmlns:a16="http://schemas.microsoft.com/office/drawing/2014/main" val="2220154482"/>
                    </a:ext>
                  </a:extLst>
                </a:gridCol>
                <a:gridCol w="508414">
                  <a:extLst>
                    <a:ext uri="{9D8B030D-6E8A-4147-A177-3AD203B41FA5}">
                      <a16:colId xmlns:a16="http://schemas.microsoft.com/office/drawing/2014/main" val="2738921391"/>
                    </a:ext>
                  </a:extLst>
                </a:gridCol>
                <a:gridCol w="508414">
                  <a:extLst>
                    <a:ext uri="{9D8B030D-6E8A-4147-A177-3AD203B41FA5}">
                      <a16:colId xmlns:a16="http://schemas.microsoft.com/office/drawing/2014/main" val="3076182844"/>
                    </a:ext>
                  </a:extLst>
                </a:gridCol>
                <a:gridCol w="508414">
                  <a:extLst>
                    <a:ext uri="{9D8B030D-6E8A-4147-A177-3AD203B41FA5}">
                      <a16:colId xmlns:a16="http://schemas.microsoft.com/office/drawing/2014/main" val="744924042"/>
                    </a:ext>
                  </a:extLst>
                </a:gridCol>
                <a:gridCol w="508414">
                  <a:extLst>
                    <a:ext uri="{9D8B030D-6E8A-4147-A177-3AD203B41FA5}">
                      <a16:colId xmlns:a16="http://schemas.microsoft.com/office/drawing/2014/main" val="3053662662"/>
                    </a:ext>
                  </a:extLst>
                </a:gridCol>
                <a:gridCol w="508414">
                  <a:extLst>
                    <a:ext uri="{9D8B030D-6E8A-4147-A177-3AD203B41FA5}">
                      <a16:colId xmlns:a16="http://schemas.microsoft.com/office/drawing/2014/main" val="3005564659"/>
                    </a:ext>
                  </a:extLst>
                </a:gridCol>
                <a:gridCol w="2769515">
                  <a:extLst>
                    <a:ext uri="{9D8B030D-6E8A-4147-A177-3AD203B41FA5}">
                      <a16:colId xmlns:a16="http://schemas.microsoft.com/office/drawing/2014/main" val="1451295329"/>
                    </a:ext>
                  </a:extLst>
                </a:gridCol>
              </a:tblGrid>
              <a:tr h="475992">
                <a:tc gridSpan="15">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FLEET A321 (CẬP</a:t>
                      </a:r>
                      <a:r>
                        <a:rPr lang="en-US" sz="1200" b="1" i="0" u="none" strike="noStrike" baseline="0" dirty="0">
                          <a:solidFill>
                            <a:srgbClr val="000000"/>
                          </a:solidFill>
                          <a:effectLst/>
                          <a:latin typeface="Times New Roman" panose="02020603050405020304" pitchFamily="18" charset="0"/>
                          <a:cs typeface="Times New Roman" panose="02020603050405020304" pitchFamily="18" charset="0"/>
                        </a:rPr>
                        <a:t> NHẬT </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19/01)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3264817"/>
                  </a:ext>
                </a:extLst>
              </a:tr>
              <a:tr h="576960">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6904581"/>
                  </a:ext>
                </a:extLst>
              </a:tr>
              <a:tr h="888519">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dirty="0">
                          <a:solidFill>
                            <a:srgbClr val="000000"/>
                          </a:solidFill>
                          <a:effectLst/>
                          <a:latin typeface="Times New Roman" panose="02020603050405020304" pitchFamily="18" charset="0"/>
                          <a:cs typeface="Times New Roman" panose="02020603050405020304" pitchFamily="18" charset="0"/>
                        </a:rPr>
                        <a:t>A321 NEO AOG</a:t>
                      </a:r>
                      <a:br>
                        <a:rPr lang="pt-BR" sz="1200" b="1" i="0" u="none" strike="noStrike" dirty="0">
                          <a:solidFill>
                            <a:srgbClr val="000000"/>
                          </a:solidFill>
                          <a:effectLst/>
                          <a:latin typeface="Times New Roman" panose="02020603050405020304" pitchFamily="18" charset="0"/>
                          <a:cs typeface="Times New Roman" panose="02020603050405020304" pitchFamily="18" charset="0"/>
                        </a:rPr>
                      </a:br>
                      <a:r>
                        <a:rPr lang="pt-BR" sz="1200" b="1" i="0" u="none" strike="noStrike" dirty="0">
                          <a:solidFill>
                            <a:srgbClr val="000000"/>
                          </a:solidFill>
                          <a:effectLst/>
                          <a:latin typeface="Times New Roman" panose="02020603050405020304" pitchFamily="18" charset="0"/>
                          <a:cs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02/2025: thêm 01 tàu dừng do ENG về muộn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4361035"/>
                  </a:ext>
                </a:extLst>
              </a:tr>
              <a:tr h="807746">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048821190"/>
                  </a:ext>
                </a:extLst>
              </a:tr>
              <a:tr h="106160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17.00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03/2025:</a:t>
                      </a:r>
                      <a:r>
                        <a:rPr lang="en-US" sz="1200" b="0" i="0" u="none" strike="noStrike" baseline="0" dirty="0">
                          <a:solidFill>
                            <a:srgbClr val="000000"/>
                          </a:solidFill>
                          <a:effectLst/>
                          <a:latin typeface="Times New Roman" panose="02020603050405020304" pitchFamily="18" charset="0"/>
                          <a:cs typeface="Times New Roman" panose="02020603050405020304" pitchFamily="18" charset="0"/>
                        </a:rPr>
                        <a:t>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Giảm 0.3 tàu dừng BD từ 18-27/03 để bay bù A870 sơn cánh.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2471416"/>
                  </a:ext>
                </a:extLst>
              </a:tr>
              <a:tr h="76158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768191437"/>
                  </a:ext>
                </a:extLst>
              </a:tr>
              <a:tr h="76158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FF0000"/>
                          </a:solidFill>
                          <a:effectLst/>
                          <a:latin typeface="Times New Roman" panose="02020603050405020304" pitchFamily="18" charset="0"/>
                          <a:cs typeface="Times New Roman" panose="02020603050405020304" pitchFamily="18" charset="0"/>
                        </a:rPr>
                        <a:t>Chưa bao gồm các tàu thuê ướt khai thác cao điểm têt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5236036"/>
                  </a:ext>
                </a:extLst>
              </a:tr>
            </a:tbl>
          </a:graphicData>
        </a:graphic>
      </p:graphicFrame>
    </p:spTree>
    <p:extLst>
      <p:ext uri="{BB962C8B-B14F-4D97-AF65-F5344CB8AC3E}">
        <p14:creationId xmlns:p14="http://schemas.microsoft.com/office/powerpoint/2010/main" val="2238892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ln w="0"/>
                <a:solidFill>
                  <a:srgbClr val="FFC000"/>
                </a:solidFill>
                <a:ea typeface="+mn-ea"/>
                <a:cs typeface="Times New Roman" panose="02020603050405020304" pitchFamily="18" charset="0"/>
              </a:rPr>
              <a:t>NGUỒN LỰC TÀU BAY – A350/B787</a:t>
            </a:r>
          </a:p>
        </p:txBody>
      </p:sp>
      <p:graphicFrame>
        <p:nvGraphicFramePr>
          <p:cNvPr id="2" name="Table 1"/>
          <p:cNvGraphicFramePr>
            <a:graphicFrameLocks noGrp="1"/>
          </p:cNvGraphicFramePr>
          <p:nvPr/>
        </p:nvGraphicFramePr>
        <p:xfrm>
          <a:off x="228600" y="914400"/>
          <a:ext cx="11745719" cy="5741278"/>
        </p:xfrm>
        <a:graphic>
          <a:graphicData uri="http://schemas.openxmlformats.org/drawingml/2006/table">
            <a:tbl>
              <a:tblPr/>
              <a:tblGrid>
                <a:gridCol w="375579">
                  <a:extLst>
                    <a:ext uri="{9D8B030D-6E8A-4147-A177-3AD203B41FA5}">
                      <a16:colId xmlns:a16="http://schemas.microsoft.com/office/drawing/2014/main" val="817375"/>
                    </a:ext>
                  </a:extLst>
                </a:gridCol>
                <a:gridCol w="2568483">
                  <a:extLst>
                    <a:ext uri="{9D8B030D-6E8A-4147-A177-3AD203B41FA5}">
                      <a16:colId xmlns:a16="http://schemas.microsoft.com/office/drawing/2014/main" val="1529949278"/>
                    </a:ext>
                  </a:extLst>
                </a:gridCol>
                <a:gridCol w="484619">
                  <a:extLst>
                    <a:ext uri="{9D8B030D-6E8A-4147-A177-3AD203B41FA5}">
                      <a16:colId xmlns:a16="http://schemas.microsoft.com/office/drawing/2014/main" val="4149010681"/>
                    </a:ext>
                  </a:extLst>
                </a:gridCol>
                <a:gridCol w="487363">
                  <a:extLst>
                    <a:ext uri="{9D8B030D-6E8A-4147-A177-3AD203B41FA5}">
                      <a16:colId xmlns:a16="http://schemas.microsoft.com/office/drawing/2014/main" val="2252686956"/>
                    </a:ext>
                  </a:extLst>
                </a:gridCol>
                <a:gridCol w="524573">
                  <a:extLst>
                    <a:ext uri="{9D8B030D-6E8A-4147-A177-3AD203B41FA5}">
                      <a16:colId xmlns:a16="http://schemas.microsoft.com/office/drawing/2014/main" val="4140546131"/>
                    </a:ext>
                  </a:extLst>
                </a:gridCol>
                <a:gridCol w="460388">
                  <a:extLst>
                    <a:ext uri="{9D8B030D-6E8A-4147-A177-3AD203B41FA5}">
                      <a16:colId xmlns:a16="http://schemas.microsoft.com/office/drawing/2014/main" val="1448379832"/>
                    </a:ext>
                  </a:extLst>
                </a:gridCol>
                <a:gridCol w="538163">
                  <a:extLst>
                    <a:ext uri="{9D8B030D-6E8A-4147-A177-3AD203B41FA5}">
                      <a16:colId xmlns:a16="http://schemas.microsoft.com/office/drawing/2014/main" val="405589188"/>
                    </a:ext>
                  </a:extLst>
                </a:gridCol>
                <a:gridCol w="460388">
                  <a:extLst>
                    <a:ext uri="{9D8B030D-6E8A-4147-A177-3AD203B41FA5}">
                      <a16:colId xmlns:a16="http://schemas.microsoft.com/office/drawing/2014/main" val="1909601477"/>
                    </a:ext>
                  </a:extLst>
                </a:gridCol>
                <a:gridCol w="460388">
                  <a:extLst>
                    <a:ext uri="{9D8B030D-6E8A-4147-A177-3AD203B41FA5}">
                      <a16:colId xmlns:a16="http://schemas.microsoft.com/office/drawing/2014/main" val="2845246498"/>
                    </a:ext>
                  </a:extLst>
                </a:gridCol>
                <a:gridCol w="484619">
                  <a:extLst>
                    <a:ext uri="{9D8B030D-6E8A-4147-A177-3AD203B41FA5}">
                      <a16:colId xmlns:a16="http://schemas.microsoft.com/office/drawing/2014/main" val="3919526665"/>
                    </a:ext>
                  </a:extLst>
                </a:gridCol>
                <a:gridCol w="484619">
                  <a:extLst>
                    <a:ext uri="{9D8B030D-6E8A-4147-A177-3AD203B41FA5}">
                      <a16:colId xmlns:a16="http://schemas.microsoft.com/office/drawing/2014/main" val="1767973540"/>
                    </a:ext>
                  </a:extLst>
                </a:gridCol>
                <a:gridCol w="460388">
                  <a:extLst>
                    <a:ext uri="{9D8B030D-6E8A-4147-A177-3AD203B41FA5}">
                      <a16:colId xmlns:a16="http://schemas.microsoft.com/office/drawing/2014/main" val="1087598064"/>
                    </a:ext>
                  </a:extLst>
                </a:gridCol>
                <a:gridCol w="503237">
                  <a:extLst>
                    <a:ext uri="{9D8B030D-6E8A-4147-A177-3AD203B41FA5}">
                      <a16:colId xmlns:a16="http://schemas.microsoft.com/office/drawing/2014/main" val="501344570"/>
                    </a:ext>
                  </a:extLst>
                </a:gridCol>
                <a:gridCol w="484619">
                  <a:extLst>
                    <a:ext uri="{9D8B030D-6E8A-4147-A177-3AD203B41FA5}">
                      <a16:colId xmlns:a16="http://schemas.microsoft.com/office/drawing/2014/main" val="3595488883"/>
                    </a:ext>
                  </a:extLst>
                </a:gridCol>
                <a:gridCol w="2968293">
                  <a:extLst>
                    <a:ext uri="{9D8B030D-6E8A-4147-A177-3AD203B41FA5}">
                      <a16:colId xmlns:a16="http://schemas.microsoft.com/office/drawing/2014/main" val="2246397765"/>
                    </a:ext>
                  </a:extLst>
                </a:gridCol>
              </a:tblGrid>
              <a:tr h="378175">
                <a:tc gridSpan="15">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(CẬP</a:t>
                      </a:r>
                      <a:r>
                        <a:rPr lang="en-US" sz="1200" b="1" i="0" u="none" strike="noStrike" baseline="0" dirty="0">
                          <a:solidFill>
                            <a:srgbClr val="000000"/>
                          </a:solidFill>
                          <a:effectLst/>
                          <a:latin typeface="Times New Roman" panose="02020603050405020304" pitchFamily="18" charset="0"/>
                          <a:cs typeface="Times New Roman" panose="02020603050405020304" pitchFamily="18" charset="0"/>
                        </a:rPr>
                        <a:t> NHẬT </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19/01)</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87534103"/>
                  </a:ext>
                </a:extLst>
              </a:tr>
              <a:tr h="536225">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730821952"/>
                  </a:ext>
                </a:extLst>
              </a:tr>
              <a:tr h="495064">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7925164"/>
                  </a:ext>
                </a:extLst>
              </a:tr>
              <a:tr h="458393">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780480580"/>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5747064"/>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06399928"/>
                  </a:ext>
                </a:extLst>
              </a:tr>
              <a:tr h="664670">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6564457"/>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FF0000"/>
                          </a:solidFill>
                          <a:effectLst/>
                          <a:latin typeface="Times New Roman" panose="02020603050405020304" pitchFamily="18" charset="0"/>
                          <a:cs typeface="Times New Roman" panose="02020603050405020304" pitchFamily="18" charset="0"/>
                        </a:rPr>
                        <a:t>03/2025: tăng 0.3 tàu dừng do bổ sung sơn cánh A870 từ 18-27/03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07918521"/>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cs typeface="Times New Roman" panose="02020603050405020304" pitchFamily="18" charset="0"/>
                        </a:rPr>
                      </a:br>
                      <a:r>
                        <a:rPr lang="nb-NO" sz="12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4114399"/>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72917714"/>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3649207"/>
                  </a:ext>
                </a:extLst>
              </a:tr>
              <a:tr h="45839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86130565"/>
                  </a:ext>
                </a:extLst>
              </a:tr>
            </a:tbl>
          </a:graphicData>
        </a:graphic>
      </p:graphicFrame>
    </p:spTree>
    <p:extLst>
      <p:ext uri="{BB962C8B-B14F-4D97-AF65-F5344CB8AC3E}">
        <p14:creationId xmlns:p14="http://schemas.microsoft.com/office/powerpoint/2010/main" val="2223689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228600" y="228600"/>
            <a:ext cx="10715339" cy="543635"/>
          </a:xfrm>
          <a:prstGeom prst="rect">
            <a:avLst/>
          </a:prstGeom>
          <a:noFill/>
          <a:ln>
            <a:noFill/>
          </a:ln>
        </p:spPr>
        <p:txBody>
          <a:bodyPr spcFirstLastPara="1" wrap="square" lIns="91433" tIns="45700" rIns="91433" bIns="45700" anchor="t" anchorCtr="0">
            <a:spAutoFit/>
          </a:bodyPr>
          <a:lstStyle/>
          <a:p>
            <a:pPr lvl="0"/>
            <a:r>
              <a:rPr lang="en-US" sz="2800" b="1" dirty="0">
                <a:ln w="0"/>
                <a:solidFill>
                  <a:srgbClr val="FFC000"/>
                </a:solidFill>
                <a:latin typeface="Times New Roman" panose="02020603050405020304" pitchFamily="18" charset="0"/>
                <a:cs typeface="Times New Roman" panose="02020603050405020304" pitchFamily="18" charset="0"/>
              </a:rPr>
              <a:t>CÔNG TÁC BÁN TRẢ/TIẾP NHẬN/BÀN GIAO TÀU BAY</a:t>
            </a:r>
            <a:endParaRPr sz="2800" b="1" dirty="0">
              <a:ln w="0"/>
              <a:solidFill>
                <a:srgbClr val="FFC00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42</a:t>
            </a:fld>
            <a:endParaRPr/>
          </a:p>
        </p:txBody>
      </p:sp>
      <p:sp>
        <p:nvSpPr>
          <p:cNvPr id="5" name="Google Shape;66;p6">
            <a:extLst>
              <a:ext uri="{FF2B5EF4-FFF2-40B4-BE49-F238E27FC236}">
                <a16:creationId xmlns:a16="http://schemas.microsoft.com/office/drawing/2014/main" id="{AA9B0D3D-0DAD-44FC-823C-85BE98B011B3}"/>
              </a:ext>
            </a:extLst>
          </p:cNvPr>
          <p:cNvSpPr txBox="1"/>
          <p:nvPr/>
        </p:nvSpPr>
        <p:spPr>
          <a:xfrm>
            <a:off x="427478" y="914400"/>
            <a:ext cx="11337043" cy="5386049"/>
          </a:xfrm>
          <a:prstGeom prst="rect">
            <a:avLst/>
          </a:prstGeom>
          <a:noFill/>
          <a:ln>
            <a:noFill/>
          </a:ln>
        </p:spPr>
        <p:txBody>
          <a:bodyPr spcFirstLastPara="1" wrap="square" lIns="91433" tIns="45700" rIns="91433" bIns="45700" anchor="t" anchorCtr="0">
            <a:spAutoFit/>
          </a:bodyPr>
          <a:lstStyle/>
          <a:p>
            <a:pPr marL="342900" indent="-342900">
              <a:buAutoNum type="arabicPeriod"/>
            </a:pPr>
            <a:r>
              <a:rPr lang="vi-VN" sz="1600" b="1">
                <a:latin typeface="Times New Roman" panose="02020603050405020304" pitchFamily="18" charset="0"/>
                <a:cs typeface="Times New Roman" panose="02020603050405020304" pitchFamily="18" charset="0"/>
              </a:rPr>
              <a:t>1. TÀU BAY THUÊ ƯỚT </a:t>
            </a:r>
            <a:endParaRPr lang="en-US" sz="1600" b="1">
              <a:latin typeface="Times New Roman" panose="02020603050405020304" pitchFamily="18" charset="0"/>
              <a:cs typeface="Times New Roman" panose="02020603050405020304" pitchFamily="18" charset="0"/>
            </a:endParaRPr>
          </a:p>
          <a:p>
            <a:pPr>
              <a:spcAft>
                <a:spcPts val="600"/>
              </a:spcAft>
            </a:pPr>
            <a:r>
              <a:rPr lang="vi-VN" sz="1600">
                <a:latin typeface="Times New Roman" panose="02020603050405020304" pitchFamily="18" charset="0"/>
                <a:cs typeface="Times New Roman" panose="02020603050405020304" pitchFamily="18" charset="0"/>
              </a:rPr>
              <a:t>VNA đã vừa thuê 03 tàu bay A320 thuê ướt của Avion để tăng cường khai thác cao điểm Tết: 03 tàu bay số đăng ký 9H-MLE và 9H-MLO và 9H-MLY. Ba tàu bay hiện đang khai thác thuê ướt cho VNA.</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2</a:t>
            </a:r>
            <a:r>
              <a:rPr lang="en-US" sz="1600" b="1">
                <a:latin typeface="Times New Roman" panose="02020603050405020304" pitchFamily="18" charset="0"/>
                <a:cs typeface="Times New Roman" panose="02020603050405020304" pitchFamily="18" charset="0"/>
              </a:rPr>
              <a:t>. </a:t>
            </a:r>
            <a:r>
              <a:rPr lang="vi-VN" sz="1600" b="1">
                <a:latin typeface="Times New Roman" panose="02020603050405020304" pitchFamily="18" charset="0"/>
                <a:cs typeface="Times New Roman" panose="02020603050405020304" pitchFamily="18" charset="0"/>
              </a:rPr>
              <a:t>GIA HẠN THUÊ 10 TÀU VALC </a:t>
            </a:r>
          </a:p>
          <a:p>
            <a:pPr>
              <a:spcAft>
                <a:spcPts val="600"/>
              </a:spcAft>
            </a:pPr>
            <a:r>
              <a:rPr lang="vi-VN" sz="1600">
                <a:latin typeface="Times New Roman" panose="02020603050405020304" pitchFamily="18" charset="0"/>
                <a:cs typeface="Times New Roman" panose="02020603050405020304" pitchFamily="18" charset="0"/>
              </a:rPr>
              <a:t>VNA và VALC đã đồng ý gia hạn tạm thời 10 tàu thuê đến hết 31/03/2025. Hiện có 02 đối tác quan tâm tới mua và cho thuê lại tàu bay là Arena và FTAI</a:t>
            </a:r>
          </a:p>
          <a:p>
            <a:pPr>
              <a:spcAft>
                <a:spcPts val="600"/>
              </a:spcAft>
            </a:pPr>
            <a:r>
              <a:rPr lang="vi-VN" sz="1600">
                <a:latin typeface="Times New Roman" panose="02020603050405020304" pitchFamily="18" charset="0"/>
                <a:cs typeface="Times New Roman" panose="02020603050405020304" pitchFamily="18" charset="0"/>
              </a:rPr>
              <a:t>2.1 Arena: Bản chào gia hạn thuê 10 tàu A321 với thời gian trung bình 5 năm, hiện đang trong quá trình đàm phán gia hạn. Cơ bản đã đàm phán thống nhất các nội dung liên quan tới KT</a:t>
            </a:r>
          </a:p>
          <a:p>
            <a:pPr>
              <a:spcAft>
                <a:spcPts val="600"/>
              </a:spcAft>
            </a:pPr>
            <a:r>
              <a:rPr lang="vi-VN" sz="1600">
                <a:latin typeface="Times New Roman" panose="02020603050405020304" pitchFamily="18" charset="0"/>
                <a:cs typeface="Times New Roman" panose="02020603050405020304" pitchFamily="18" charset="0"/>
              </a:rPr>
              <a:t>Các vấn đề lớn / cơ bản Arena đang đề xuất:</a:t>
            </a:r>
          </a:p>
          <a:p>
            <a:pPr>
              <a:spcAft>
                <a:spcPts val="600"/>
              </a:spcAft>
            </a:pPr>
            <a:r>
              <a:rPr lang="vi-VN" sz="1600">
                <a:latin typeface="Times New Roman" panose="02020603050405020304" pitchFamily="18" charset="0"/>
                <a:cs typeface="Times New Roman" panose="02020603050405020304" pitchFamily="18" charset="0"/>
              </a:rPr>
              <a:t>a. 10 tàu bay cần được duy trì khả năng khai thác sau khi hết hợp đồng gia hạn với Arena.</a:t>
            </a:r>
          </a:p>
          <a:p>
            <a:pPr>
              <a:spcAft>
                <a:spcPts val="600"/>
              </a:spcAft>
            </a:pPr>
            <a:r>
              <a:rPr lang="vi-VN" sz="1600">
                <a:latin typeface="Times New Roman" panose="02020603050405020304" pitchFamily="18" charset="0"/>
                <a:cs typeface="Times New Roman" panose="02020603050405020304" pitchFamily="18" charset="0"/>
              </a:rPr>
              <a:t>b.Thực hiện balancing quỹ bảo dưỡng sau khi kết thúc gia hạn thuê.</a:t>
            </a:r>
          </a:p>
          <a:p>
            <a:pPr>
              <a:spcAft>
                <a:spcPts val="600"/>
              </a:spcAft>
            </a:pPr>
            <a:r>
              <a:rPr lang="vi-VN" sz="1600">
                <a:latin typeface="Times New Roman" panose="02020603050405020304" pitchFamily="18" charset="0"/>
                <a:cs typeface="Times New Roman" panose="02020603050405020304" pitchFamily="18" charset="0"/>
              </a:rPr>
              <a:t>c.Đồng ý giảm MR và đề xuất phương án buy-out cho một số điều kiện trả.</a:t>
            </a:r>
          </a:p>
          <a:p>
            <a:pPr>
              <a:spcAft>
                <a:spcPts val="600"/>
              </a:spcAft>
            </a:pPr>
            <a:r>
              <a:rPr lang="vi-VN" sz="1600">
                <a:latin typeface="Times New Roman" panose="02020603050405020304" pitchFamily="18" charset="0"/>
                <a:cs typeface="Times New Roman" panose="02020603050405020304" pitchFamily="18" charset="0"/>
              </a:rPr>
              <a:t>2.2 FTAI: Bản chào thuê 10 tàu A321 với điều kiện trả là As-is, có đảm bảo hỗ trợ động cơ khai thác đến hết run-out. Không phải thực hiện đóng quỹ ngoại trừ động cơ. Bàn chào có nhiều thuận lợi cho VNA trong quá trình khai thác và trả tàu bay. </a:t>
            </a:r>
          </a:p>
          <a:p>
            <a:pPr lvl="0"/>
            <a:endParaRPr lang="en-US" sz="1600" dirty="0">
              <a:latin typeface="Times New Roman" panose="02020603050405020304" pitchFamily="18" charset="0"/>
              <a:cs typeface="Times New Roman" panose="02020603050405020304" pitchFamily="18" charset="0"/>
            </a:endParaRPr>
          </a:p>
          <a:p>
            <a:pPr marL="304792" indent="-304792">
              <a:buFont typeface="Arial" panose="020B0604020202020204" pitchFamily="34" charset="0"/>
              <a:buChar char="•"/>
            </a:pPr>
            <a:endParaRPr lang="en-US" sz="1600" b="1" dirty="0">
              <a:solidFill>
                <a:srgbClr val="006880"/>
              </a:solidFill>
              <a:latin typeface="Times New Roman" panose="02020603050405020304" pitchFamily="18" charset="0"/>
              <a:cs typeface="Times New Roman" panose="02020603050405020304" pitchFamily="18" charset="0"/>
            </a:endParaRPr>
          </a:p>
          <a:p>
            <a:pPr marL="304792" indent="-304792">
              <a:buFont typeface="+mj-lt"/>
              <a:buAutoNum type="alphaUcPeriod"/>
            </a:pPr>
            <a:endParaRPr lang="en-US" sz="1600" b="1" dirty="0">
              <a:solidFill>
                <a:srgbClr val="006880"/>
              </a:solidFill>
              <a:latin typeface="Times New Roman" panose="02020603050405020304" pitchFamily="18" charset="0"/>
              <a:cs typeface="Times New Roman" panose="02020603050405020304" pitchFamily="18" charset="0"/>
            </a:endParaRPr>
          </a:p>
          <a:p>
            <a:endParaRPr sz="1600" b="1" dirty="0">
              <a:solidFill>
                <a:srgbClr val="00688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9425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43</a:t>
            </a:fld>
            <a:endParaRPr lang="en-US"/>
          </a:p>
        </p:txBody>
      </p:sp>
      <p:sp>
        <p:nvSpPr>
          <p:cNvPr id="5" name="Title 4"/>
          <p:cNvSpPr>
            <a:spLocks noGrp="1"/>
          </p:cNvSpPr>
          <p:nvPr>
            <p:ph type="title"/>
          </p:nvPr>
        </p:nvSpPr>
        <p:spPr>
          <a:xfrm>
            <a:off x="152400" y="78186"/>
            <a:ext cx="5663033" cy="815200"/>
          </a:xfrm>
        </p:spPr>
        <p:txBody>
          <a:bodyPr>
            <a:normAutofit/>
          </a:bodyPr>
          <a:lstStyle/>
          <a:p>
            <a:r>
              <a:rPr lang="en-US">
                <a:ln w="0"/>
                <a:solidFill>
                  <a:srgbClr val="FFC000"/>
                </a:solidFill>
                <a:latin typeface="Times New Roman" panose="02020603050405020304" pitchFamily="18" charset="0"/>
                <a:ea typeface="+mn-ea"/>
                <a:cs typeface="Times New Roman" panose="02020603050405020304" pitchFamily="18" charset="0"/>
              </a:rPr>
              <a:t>NHÂN NHƯỢNG TRONG TUẦN</a:t>
            </a:r>
            <a:endParaRPr lang="vi-VN"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2161652185"/>
              </p:ext>
            </p:extLst>
          </p:nvPr>
        </p:nvGraphicFramePr>
        <p:xfrm>
          <a:off x="3124200" y="685800"/>
          <a:ext cx="5257800" cy="2362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a:extLst>
              <a:ext uri="{FF2B5EF4-FFF2-40B4-BE49-F238E27FC236}">
                <a16:creationId xmlns:a16="http://schemas.microsoft.com/office/drawing/2014/main" id="{9939BBC6-8FED-8821-C375-FF087921F7A3}"/>
              </a:ext>
            </a:extLst>
          </p:cNvPr>
          <p:cNvGraphicFramePr>
            <a:graphicFrameLocks noGrp="1"/>
          </p:cNvGraphicFramePr>
          <p:nvPr>
            <p:extLst>
              <p:ext uri="{D42A27DB-BD31-4B8C-83A1-F6EECF244321}">
                <p14:modId xmlns:p14="http://schemas.microsoft.com/office/powerpoint/2010/main" val="1093122821"/>
              </p:ext>
            </p:extLst>
          </p:nvPr>
        </p:nvGraphicFramePr>
        <p:xfrm>
          <a:off x="346709" y="3216753"/>
          <a:ext cx="11315702" cy="3525670"/>
        </p:xfrm>
        <a:graphic>
          <a:graphicData uri="http://schemas.openxmlformats.org/drawingml/2006/table">
            <a:tbl>
              <a:tblPr/>
              <a:tblGrid>
                <a:gridCol w="194747">
                  <a:extLst>
                    <a:ext uri="{9D8B030D-6E8A-4147-A177-3AD203B41FA5}">
                      <a16:colId xmlns:a16="http://schemas.microsoft.com/office/drawing/2014/main" val="1118715933"/>
                    </a:ext>
                  </a:extLst>
                </a:gridCol>
                <a:gridCol w="1724370">
                  <a:extLst>
                    <a:ext uri="{9D8B030D-6E8A-4147-A177-3AD203B41FA5}">
                      <a16:colId xmlns:a16="http://schemas.microsoft.com/office/drawing/2014/main" val="4010757683"/>
                    </a:ext>
                  </a:extLst>
                </a:gridCol>
                <a:gridCol w="395396">
                  <a:extLst>
                    <a:ext uri="{9D8B030D-6E8A-4147-A177-3AD203B41FA5}">
                      <a16:colId xmlns:a16="http://schemas.microsoft.com/office/drawing/2014/main" val="4055916400"/>
                    </a:ext>
                  </a:extLst>
                </a:gridCol>
                <a:gridCol w="483264">
                  <a:extLst>
                    <a:ext uri="{9D8B030D-6E8A-4147-A177-3AD203B41FA5}">
                      <a16:colId xmlns:a16="http://schemas.microsoft.com/office/drawing/2014/main" val="2027651970"/>
                    </a:ext>
                  </a:extLst>
                </a:gridCol>
                <a:gridCol w="5393723">
                  <a:extLst>
                    <a:ext uri="{9D8B030D-6E8A-4147-A177-3AD203B41FA5}">
                      <a16:colId xmlns:a16="http://schemas.microsoft.com/office/drawing/2014/main" val="2605435772"/>
                    </a:ext>
                  </a:extLst>
                </a:gridCol>
                <a:gridCol w="658708">
                  <a:extLst>
                    <a:ext uri="{9D8B030D-6E8A-4147-A177-3AD203B41FA5}">
                      <a16:colId xmlns:a16="http://schemas.microsoft.com/office/drawing/2014/main" val="1949965428"/>
                    </a:ext>
                  </a:extLst>
                </a:gridCol>
                <a:gridCol w="789092">
                  <a:extLst>
                    <a:ext uri="{9D8B030D-6E8A-4147-A177-3AD203B41FA5}">
                      <a16:colId xmlns:a16="http://schemas.microsoft.com/office/drawing/2014/main" val="1358526501"/>
                    </a:ext>
                  </a:extLst>
                </a:gridCol>
                <a:gridCol w="1204287">
                  <a:extLst>
                    <a:ext uri="{9D8B030D-6E8A-4147-A177-3AD203B41FA5}">
                      <a16:colId xmlns:a16="http://schemas.microsoft.com/office/drawing/2014/main" val="2944090261"/>
                    </a:ext>
                  </a:extLst>
                </a:gridCol>
                <a:gridCol w="472115">
                  <a:extLst>
                    <a:ext uri="{9D8B030D-6E8A-4147-A177-3AD203B41FA5}">
                      <a16:colId xmlns:a16="http://schemas.microsoft.com/office/drawing/2014/main" val="2725800542"/>
                    </a:ext>
                  </a:extLst>
                </a:gridCol>
              </a:tblGrid>
              <a:tr h="178012">
                <a:tc gridSpan="9">
                  <a:txBody>
                    <a:bodyPr/>
                    <a:lstStyle/>
                    <a:p>
                      <a:pPr algn="ctr" fontAlgn="ctr"/>
                      <a:r>
                        <a:rPr lang="vi-VN" sz="1200" b="1" i="0" u="none" strike="noStrike">
                          <a:solidFill>
                            <a:srgbClr val="000000"/>
                          </a:solidFill>
                          <a:effectLst/>
                          <a:latin typeface="Times New Roman" panose="02020603050405020304" pitchFamily="18" charset="0"/>
                        </a:rPr>
                        <a:t>BẢNG TỔNG HỢP VÀ THEO DÕI NHÂN NHƯỢNG - VIETNAM AIRLINES</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62891923"/>
                  </a:ext>
                </a:extLst>
              </a:tr>
              <a:tr h="178012">
                <a:tc>
                  <a:txBody>
                    <a:bodyPr/>
                    <a:lstStyle/>
                    <a:p>
                      <a:pPr algn="ctr" fontAlgn="ctr"/>
                      <a:r>
                        <a:rPr lang="en-US" sz="1200" b="1" i="0" u="none" strike="noStrike">
                          <a:solidFill>
                            <a:srgbClr val="000000"/>
                          </a:solidFill>
                          <a:effectLst/>
                          <a:latin typeface="Times New Roman" panose="02020603050405020304" pitchFamily="18" charset="0"/>
                        </a:rPr>
                        <a:t>No</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Concession No.</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Type</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Reg</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Description</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By</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Date</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ADD/CHK/Task No</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Status</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5700646"/>
                  </a:ext>
                </a:extLst>
              </a:tr>
              <a:tr h="178012">
                <a:tc>
                  <a:txBody>
                    <a:bodyPr/>
                    <a:lstStyle/>
                    <a:p>
                      <a:pPr algn="ctr" fontAlgn="ctr"/>
                      <a:r>
                        <a:rPr lang="en-US" sz="1200" b="0" i="0" u="none" strike="noStrike">
                          <a:solidFill>
                            <a:srgbClr val="000000"/>
                          </a:solidFill>
                          <a:effectLst/>
                          <a:latin typeface="Times New Roman" panose="02020603050405020304" pitchFamily="18" charset="0"/>
                        </a:rPr>
                        <a:t>1</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A320/321 FLEET- 01/25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A339</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Times New Roman" panose="02020603050405020304" pitchFamily="18" charset="0"/>
                        </a:rPr>
                        <a:t>DUE TO LACK OF RESOURCE, SCHEDULE OF CMP TASK 12-ECO-00 NEEDS TO BE EXTENED</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13-Jan-2025</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 </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Open</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1165993"/>
                  </a:ext>
                </a:extLst>
              </a:tr>
              <a:tr h="355388">
                <a:tc>
                  <a:txBody>
                    <a:bodyPr/>
                    <a:lstStyle/>
                    <a:p>
                      <a:pPr algn="ctr" fontAlgn="ctr"/>
                      <a:r>
                        <a:rPr lang="en-US" sz="1200" b="0" i="0" u="none" strike="noStrike">
                          <a:solidFill>
                            <a:srgbClr val="000000"/>
                          </a:solidFill>
                          <a:effectLst/>
                          <a:latin typeface="Times New Roman" panose="02020603050405020304" pitchFamily="18" charset="0"/>
                        </a:rPr>
                        <a:t>2</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336-01/25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A336</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DUE TO ADD B1678 RAIN REPELLENT INOP, SCHEDULE OF CMP TASK 304500-VNA-1 NEEDS TO BE EXTENED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14-Jan-2025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Open</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8834007"/>
                  </a:ext>
                </a:extLst>
              </a:tr>
              <a:tr h="355388">
                <a:tc>
                  <a:txBody>
                    <a:bodyPr/>
                    <a:lstStyle/>
                    <a:p>
                      <a:pPr algn="ctr" fontAlgn="ctr"/>
                      <a:r>
                        <a:rPr lang="en-US" sz="1200" b="0" i="0" u="none" strike="noStrike">
                          <a:solidFill>
                            <a:srgbClr val="000000"/>
                          </a:solidFill>
                          <a:effectLst/>
                          <a:latin typeface="Times New Roman" panose="02020603050405020304" pitchFamily="18" charset="0"/>
                        </a:rPr>
                        <a:t>3</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616-01/25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A616</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DUE TO LACK OF SPARE PART, SCHEDULE OF CMP TASK 304500-VNA-1 NEEDS TO BE EXTENED IAW RDAF 81526159/004/2025#A</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18-Jan-2025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Open</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8629887"/>
                  </a:ext>
                </a:extLst>
              </a:tr>
              <a:tr h="178012">
                <a:tc>
                  <a:txBody>
                    <a:bodyPr/>
                    <a:lstStyle/>
                    <a:p>
                      <a:pPr algn="ctr" fontAlgn="ctr"/>
                      <a:r>
                        <a:rPr lang="en-US" sz="1200" b="0" i="0" u="none" strike="noStrike">
                          <a:solidFill>
                            <a:srgbClr val="000000"/>
                          </a:solidFill>
                          <a:effectLst/>
                          <a:latin typeface="Times New Roman" panose="02020603050405020304" pitchFamily="18" charset="0"/>
                        </a:rPr>
                        <a:t>4</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894-01/25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A894</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A894 Group Task for A04 Check due to lack of Resources</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17-Jan-2025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Open</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8156551"/>
                  </a:ext>
                </a:extLst>
              </a:tr>
              <a:tr h="178012">
                <a:tc>
                  <a:txBody>
                    <a:bodyPr/>
                    <a:lstStyle/>
                    <a:p>
                      <a:pPr algn="ctr" fontAlgn="ctr"/>
                      <a:r>
                        <a:rPr lang="en-US" sz="1200" b="0" i="0" u="none" strike="noStrike">
                          <a:solidFill>
                            <a:srgbClr val="000000"/>
                          </a:solidFill>
                          <a:effectLst/>
                          <a:latin typeface="Times New Roman" panose="02020603050405020304" pitchFamily="18" charset="0"/>
                        </a:rPr>
                        <a:t>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897-01/25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A897</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A897 Group Task for A04 Check due to lack of Resources</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17-Jan-2025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Open</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2217777"/>
                  </a:ext>
                </a:extLst>
              </a:tr>
              <a:tr h="355388">
                <a:tc>
                  <a:txBody>
                    <a:bodyPr/>
                    <a:lstStyle/>
                    <a:p>
                      <a:pPr algn="ctr" fontAlgn="ctr"/>
                      <a:r>
                        <a:rPr lang="en-US" sz="1200" b="0" i="0" u="none" strike="noStrike">
                          <a:solidFill>
                            <a:srgbClr val="000000"/>
                          </a:solidFill>
                          <a:effectLst/>
                          <a:latin typeface="Times New Roman" panose="02020603050405020304" pitchFamily="18" charset="0"/>
                        </a:rPr>
                        <a:t>6</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602-01/25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A602</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ADD B1886 RAISED: "ENG 2 HP VALVE WRONG INDICATION" PER MEL 36-07-03A REV JUN24, CAT C, DEADLINE: 15-01-25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15-Jan-2025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Open</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7239896"/>
                  </a:ext>
                </a:extLst>
              </a:tr>
              <a:tr h="355388">
                <a:tc>
                  <a:txBody>
                    <a:bodyPr/>
                    <a:lstStyle/>
                    <a:p>
                      <a:pPr algn="ctr" fontAlgn="ctr"/>
                      <a:r>
                        <a:rPr lang="en-US" sz="1200" b="0" i="0" u="none" strike="noStrike">
                          <a:solidFill>
                            <a:srgbClr val="000000"/>
                          </a:solidFill>
                          <a:effectLst/>
                          <a:latin typeface="Times New Roman" panose="02020603050405020304" pitchFamily="18" charset="0"/>
                        </a:rPr>
                        <a:t>7</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VNA-A861/2025/01/01</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A861</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ADD B1505 “CCR GPM 8L” RAISED I.A.W MEL 42-21-01- 01-01 CAT C, REV09. DEADLINE 11 JAN 25.</a:t>
                      </a:r>
                      <a:br>
                        <a:rPr lang="en-SG" sz="1200" b="0" i="0" u="none" strike="noStrike">
                          <a:solidFill>
                            <a:srgbClr val="000000"/>
                          </a:solidFill>
                          <a:effectLst/>
                          <a:latin typeface="Times New Roman" panose="02020603050405020304" pitchFamily="18" charset="0"/>
                        </a:rPr>
                      </a:br>
                      <a:r>
                        <a:rPr lang="en-SG" sz="1200" b="0" i="0" u="none" strike="noStrike">
                          <a:solidFill>
                            <a:srgbClr val="000000"/>
                          </a:solidFill>
                          <a:effectLst/>
                          <a:latin typeface="Times New Roman" panose="02020603050405020304" pitchFamily="18" charset="0"/>
                        </a:rPr>
                        <a:t>- 1ST CONC 861-01/25 APPLIED.EXP: 16/01/25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16-Jan-2025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Open</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7760503"/>
                  </a:ext>
                </a:extLst>
              </a:tr>
              <a:tr h="355388">
                <a:tc>
                  <a:txBody>
                    <a:bodyPr/>
                    <a:lstStyle/>
                    <a:p>
                      <a:pPr algn="ctr" fontAlgn="b"/>
                      <a:r>
                        <a:rPr lang="en-US" sz="1200" b="0" i="0" u="none" strike="noStrike">
                          <a:solidFill>
                            <a:srgbClr val="000000"/>
                          </a:solidFill>
                          <a:effectLst/>
                          <a:latin typeface="Calibri" panose="020F0502020204030204" pitchFamily="34" charset="0"/>
                        </a:rPr>
                        <a:t>8</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VNA-A601/2025/01/01</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A601</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ADD B2584 RAISED FOR LH FLAP TRACK FAIRING (532EB) SEAL MISSING IAW CDL 27-15 (REV 08/24), COVER BY HI SPEED TAPE, REPLACE NOT MORE 1000FH, EXP 27499 FH</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16-Jan-2025</a:t>
                      </a:r>
                    </a:p>
                  </a:txBody>
                  <a:tcPr marL="5095" marR="5095" marT="509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Calibri" panose="020F0502020204030204" pitchFamily="34" charset="0"/>
                        </a:rPr>
                        <a:t> </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Times New Roman" panose="02020603050405020304" pitchFamily="18" charset="0"/>
                        </a:rPr>
                        <a:t>Open</a:t>
                      </a:r>
                    </a:p>
                  </a:txBody>
                  <a:tcPr marL="5095" marR="5095" marT="5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2019528"/>
                  </a:ext>
                </a:extLst>
              </a:tr>
            </a:tbl>
          </a:graphicData>
        </a:graphic>
      </p:graphicFrame>
    </p:spTree>
    <p:extLst>
      <p:ext uri="{BB962C8B-B14F-4D97-AF65-F5344CB8AC3E}">
        <p14:creationId xmlns:p14="http://schemas.microsoft.com/office/powerpoint/2010/main" val="2585018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059507" y="520783"/>
            <a:ext cx="10370492" cy="560972"/>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This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526:40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195:35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863:55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471:55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226:20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Next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279:35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664:10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938:35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853:40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524:05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nvGraphicFramePr>
        <p:xfrm>
          <a:off x="1059507" y="1175274"/>
          <a:ext cx="10370491" cy="256833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69428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Số chuyến bay theo ngày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Next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nvGraphicFramePr>
        <p:xfrm>
          <a:off x="925418" y="1143000"/>
          <a:ext cx="10521106" cy="22767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98370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nvGraphicFramePr>
        <p:xfrm>
          <a:off x="685800" y="1219200"/>
          <a:ext cx="11168062" cy="5334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08858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0" i="0" u="none" strike="noStrike" cap="none">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Hiện đang return các tàu A625/A508/A616 làm dự phòng cao điểm Tết. Ban QLVT đang rà soát vật tư cùng MCC.</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ngoài các hỏng hóc sắp hết hạn:</a:t>
            </a:r>
            <a:endParaRPr sz="1500">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806438" y="2143950"/>
            <a:ext cx="9420225" cy="4095750"/>
          </a:xfrm>
          <a:prstGeom prst="rect">
            <a:avLst/>
          </a:prstGeom>
          <a:noFill/>
          <a:ln>
            <a:noFill/>
          </a:ln>
        </p:spPr>
      </p:pic>
    </p:spTree>
    <p:extLst>
      <p:ext uri="{BB962C8B-B14F-4D97-AF65-F5344CB8AC3E}">
        <p14:creationId xmlns:p14="http://schemas.microsoft.com/office/powerpoint/2010/main" val="26107129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1ccdae391d_0_25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1ccdae391d_0_25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167" name="Google Shape;167;g31ccdae391d_0_255"/>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Hỏng hóc B defect sắp hết hạn trong 10 ngày</a:t>
            </a:r>
            <a:endParaRPr sz="20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68" name="Google Shape;168;g31ccdae391d_0_255"/>
          <p:cNvPicPr preferRelativeResize="0"/>
          <p:nvPr/>
        </p:nvPicPr>
        <p:blipFill>
          <a:blip r:embed="rId3">
            <a:alphaModFix/>
          </a:blip>
          <a:stretch>
            <a:fillRect/>
          </a:stretch>
        </p:blipFill>
        <p:spPr>
          <a:xfrm>
            <a:off x="443013" y="1010725"/>
            <a:ext cx="11496675" cy="5467350"/>
          </a:xfrm>
          <a:prstGeom prst="rect">
            <a:avLst/>
          </a:prstGeom>
          <a:noFill/>
          <a:ln>
            <a:noFill/>
          </a:ln>
        </p:spPr>
      </p:pic>
    </p:spTree>
    <p:extLst>
      <p:ext uri="{BB962C8B-B14F-4D97-AF65-F5344CB8AC3E}">
        <p14:creationId xmlns:p14="http://schemas.microsoft.com/office/powerpoint/2010/main" val="26557786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1ccdae391d_0_26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5" name="Google Shape;175;g31ccdae391d_0_26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176" name="Google Shape;176;g31ccdae391d_0_263"/>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A321: Tình trạng đơn hàng Pooling trước 2/10/2024: còn 2</a:t>
            </a:r>
            <a:r>
              <a:rPr lang="en-US" sz="2000" b="1">
                <a:solidFill>
                  <a:srgbClr val="FF0000"/>
                </a:solidFill>
                <a:latin typeface="Times New Roman"/>
                <a:ea typeface="Times New Roman"/>
                <a:cs typeface="Times New Roman"/>
                <a:sym typeface="Times New Roman"/>
              </a:rPr>
              <a:t>0</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1</a:t>
            </a:r>
            <a:r>
              <a:rPr lang="en-US" sz="1500">
                <a:solidFill>
                  <a:schemeClr val="dk1"/>
                </a:solidFill>
                <a:latin typeface="Times New Roman"/>
                <a:ea typeface="Times New Roman"/>
                <a:cs typeface="Times New Roman"/>
                <a:sym typeface="Times New Roman"/>
              </a:rPr>
              <a:t>1</a:t>
            </a:r>
            <a:r>
              <a:rPr lang="en-US" sz="1500" b="0" i="0" u="none" strike="noStrike" cap="none">
                <a:solidFill>
                  <a:schemeClr val="dk1"/>
                </a:solidFill>
                <a:latin typeface="Times New Roman"/>
                <a:ea typeface="Times New Roman"/>
                <a:cs typeface="Times New Roman"/>
                <a:sym typeface="Times New Roman"/>
              </a:rPr>
              <a:t> đơn hàng</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Hardtime &amp; Softtime: </a:t>
            </a:r>
            <a:r>
              <a:rPr lang="en-US" sz="1500">
                <a:solidFill>
                  <a:schemeClr val="dk1"/>
                </a:solidFill>
                <a:latin typeface="Times New Roman"/>
                <a:ea typeface="Times New Roman"/>
                <a:cs typeface="Times New Roman"/>
                <a:sym typeface="Times New Roman"/>
              </a:rPr>
              <a:t>8 </a:t>
            </a:r>
            <a:r>
              <a:rPr lang="en-US" sz="1500" b="0" i="0" u="none" strike="noStrike" cap="none">
                <a:solidFill>
                  <a:schemeClr val="dk1"/>
                </a:solidFill>
                <a:latin typeface="Times New Roman"/>
                <a:ea typeface="Times New Roman"/>
                <a:cs typeface="Times New Roman"/>
                <a:sym typeface="Times New Roman"/>
              </a:rPr>
              <a:t>đơn hàng (hết hạn trước 2/10) </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1F497D"/>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a:t>
            </a:r>
            <a:r>
              <a:rPr lang="en-US" sz="1500" b="0" i="0" u="none" strike="noStrike" cap="none">
                <a:solidFill>
                  <a:schemeClr val="dk1"/>
                </a:solidFill>
                <a:latin typeface="Times New Roman"/>
                <a:ea typeface="Times New Roman"/>
                <a:cs typeface="Times New Roman"/>
                <a:sym typeface="Times New Roman"/>
              </a:rPr>
              <a:t> (Defect, lấp đầy kho VNA, trả tàu bảo quản…): 0</a:t>
            </a:r>
            <a:r>
              <a:rPr lang="en-US" sz="1500">
                <a:solidFill>
                  <a:schemeClr val="dk1"/>
                </a:solidFill>
                <a:latin typeface="Times New Roman"/>
                <a:ea typeface="Times New Roman"/>
                <a:cs typeface="Times New Roman"/>
                <a:sym typeface="Times New Roman"/>
              </a:rPr>
              <a:t>1</a:t>
            </a:r>
            <a:r>
              <a:rPr lang="en-US" sz="1500" b="0" i="0" u="none" strike="noStrike" cap="none">
                <a:solidFill>
                  <a:schemeClr val="dk1"/>
                </a:solidFill>
                <a:latin typeface="Times New Roman"/>
                <a:ea typeface="Times New Roman"/>
                <a:cs typeface="Times New Roman"/>
                <a:sym typeface="Times New Roman"/>
              </a:rPr>
              <a:t> đơn hàng</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r>
              <a:rPr lang="en-US" sz="1500" b="1" i="0" u="none" strike="noStrike" cap="none">
                <a:solidFill>
                  <a:schemeClr val="dk1"/>
                </a:solidFill>
                <a:latin typeface="Times New Roman"/>
                <a:ea typeface="Times New Roman"/>
                <a:cs typeface="Times New Roman"/>
                <a:sym typeface="Times New Roman"/>
              </a:rPr>
              <a:t>Với các yêu cầu phát sinh sau ngày 2/10/2024, Ban QLVT vẫn tiếp tục đặt hàng trên hệ thống của STEA để claim sau này. </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r>
              <a:rPr lang="en-US" sz="1500" b="1" i="0" u="none" strike="noStrike" cap="none">
                <a:solidFill>
                  <a:schemeClr val="dk1"/>
                </a:solidFill>
                <a:latin typeface="Times New Roman"/>
                <a:ea typeface="Times New Roman"/>
                <a:cs typeface="Times New Roman"/>
                <a:sym typeface="Times New Roman"/>
              </a:rPr>
              <a:t>Hiện đối tác đang từ chối cung cấp vật tư cho các yêu cầu sau:</a:t>
            </a:r>
            <a:endParaRPr sz="1500" b="1" i="0" u="none" strike="noStrike" cap="none">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AutoNum type="arabicPeriod"/>
            </a:pPr>
            <a:r>
              <a:rPr lang="en-US" sz="1500" b="1" i="0" u="none" strike="noStrike" cap="none">
                <a:solidFill>
                  <a:schemeClr val="dk1"/>
                </a:solidFill>
                <a:latin typeface="Times New Roman"/>
                <a:ea typeface="Times New Roman"/>
                <a:cs typeface="Times New Roman"/>
                <a:sym typeface="Times New Roman"/>
              </a:rPr>
              <a:t>Phát sinh từ ngày 3/10/2024 trở về sau.</a:t>
            </a:r>
            <a:endParaRPr sz="1500" b="1" i="0" u="none" strike="noStrike" cap="none">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AutoNum type="arabicPeriod"/>
            </a:pPr>
            <a:r>
              <a:rPr lang="en-US" sz="1500" b="1" i="0" u="none" strike="noStrike" cap="none">
                <a:solidFill>
                  <a:schemeClr val="dk1"/>
                </a:solidFill>
                <a:latin typeface="Times New Roman"/>
                <a:ea typeface="Times New Roman"/>
                <a:cs typeface="Times New Roman"/>
                <a:sym typeface="Times New Roman"/>
              </a:rPr>
              <a:t>Các đặt hàng cho tàu </a:t>
            </a:r>
            <a:r>
              <a:rPr lang="en-US" sz="1500" b="1">
                <a:solidFill>
                  <a:schemeClr val="dk1"/>
                </a:solidFill>
                <a:latin typeface="Times New Roman"/>
                <a:ea typeface="Times New Roman"/>
                <a:cs typeface="Times New Roman"/>
                <a:sym typeface="Times New Roman"/>
              </a:rPr>
              <a:t>r</a:t>
            </a:r>
            <a:r>
              <a:rPr lang="en-US" sz="1500" b="1" i="0" u="none" strike="noStrike" cap="none">
                <a:solidFill>
                  <a:schemeClr val="dk1"/>
                </a:solidFill>
                <a:latin typeface="Times New Roman"/>
                <a:ea typeface="Times New Roman"/>
                <a:cs typeface="Times New Roman"/>
                <a:sym typeface="Times New Roman"/>
              </a:rPr>
              <a:t>elease (A338/A339/A392/A393).</a:t>
            </a:r>
            <a:endParaRPr sz="1500" b="1" i="0" u="none" strike="noStrike" cap="none">
              <a:solidFill>
                <a:schemeClr val="dk1"/>
              </a:solidFill>
              <a:latin typeface="Times New Roman"/>
              <a:ea typeface="Times New Roman"/>
              <a:cs typeface="Times New Roman"/>
              <a:sym typeface="Times New Roman"/>
            </a:endParaRPr>
          </a:p>
        </p:txBody>
      </p:sp>
      <p:sp>
        <p:nvSpPr>
          <p:cNvPr id="177" name="Google Shape;177;g31ccdae391d_0_263"/>
          <p:cNvSpPr txBox="1"/>
          <p:nvPr/>
        </p:nvSpPr>
        <p:spPr>
          <a:xfrm>
            <a:off x="608975" y="6288450"/>
            <a:ext cx="107448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0000"/>
              </a:lnSpc>
              <a:spcBef>
                <a:spcPts val="60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Tree>
    <p:extLst>
      <p:ext uri="{BB962C8B-B14F-4D97-AF65-F5344CB8AC3E}">
        <p14:creationId xmlns:p14="http://schemas.microsoft.com/office/powerpoint/2010/main" val="8431921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84" name="Google Shape;184;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graphicFrame>
        <p:nvGraphicFramePr>
          <p:cNvPr id="185" name="Google Shape;185;g31ccdae391d_0_271"/>
          <p:cNvGraphicFramePr/>
          <p:nvPr/>
        </p:nvGraphicFramePr>
        <p:xfrm>
          <a:off x="489114" y="611396"/>
          <a:ext cx="11570675" cy="44594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979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mới gửi đi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a:solidFill>
                            <a:schemeClr val="dk1"/>
                          </a:solidFill>
                          <a:latin typeface="Times New Roman"/>
                          <a:ea typeface="Times New Roman"/>
                          <a:cs typeface="Times New Roman"/>
                          <a:sym typeface="Times New Roman"/>
                        </a:rPr>
                        <a:t>đang tìm phương án đổi</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 </a:t>
                      </a:r>
                      <a:r>
                        <a:rPr lang="en-US" sz="1600" u="none" strike="noStrike" cap="none">
                          <a:solidFill>
                            <a:schemeClr val="dk1"/>
                          </a:solidFill>
                          <a:latin typeface="Times New Roman"/>
                          <a:ea typeface="Times New Roman"/>
                          <a:cs typeface="Times New Roman"/>
                          <a:sym typeface="Times New Roman"/>
                        </a:rPr>
                        <a:t>đang giục </a:t>
                      </a:r>
                      <a:r>
                        <a:rPr lang="en-US" sz="1600">
                          <a:solidFill>
                            <a:schemeClr val="dk1"/>
                          </a:solidFill>
                          <a:latin typeface="Times New Roman"/>
                          <a:ea typeface="Times New Roman"/>
                          <a:cs typeface="Times New Roman"/>
                          <a:sym typeface="Times New Roman"/>
                        </a:rPr>
                        <a:t>RO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a:t>
                      </a:r>
                      <a:r>
                        <a:rPr lang="en-US" sz="1600" u="none" strike="noStrike" cap="none">
                          <a:solidFill>
                            <a:schemeClr val="dk1"/>
                          </a:solidFill>
                          <a:latin typeface="Times New Roman"/>
                          <a:ea typeface="Times New Roman"/>
                          <a:cs typeface="Times New Roman"/>
                          <a:sym typeface="Times New Roman"/>
                        </a:rPr>
                        <a:t>, đang giục VAECO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20/1 nhập kho 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906874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2" name="Google Shape;192;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graphicFrame>
        <p:nvGraphicFramePr>
          <p:cNvPr id="193" name="Google Shape;193;g31ccdae391d_0_278"/>
          <p:cNvGraphicFramePr/>
          <p:nvPr/>
        </p:nvGraphicFramePr>
        <p:xfrm>
          <a:off x="558675" y="462325"/>
          <a:ext cx="10287000" cy="6130632"/>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 </a:t>
                      </a:r>
                      <a:r>
                        <a:rPr lang="en-US" sz="1300">
                          <a:solidFill>
                            <a:schemeClr val="dk1"/>
                          </a:solidFill>
                          <a:latin typeface="Times New Roman"/>
                          <a:ea typeface="Times New Roman"/>
                          <a:cs typeface="Times New Roman"/>
                          <a:sym typeface="Times New Roman"/>
                        </a:rPr>
                        <a:t>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06ea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2030967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200" name="Google Shape;200;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graphicFrame>
        <p:nvGraphicFramePr>
          <p:cNvPr id="201" name="Google Shape;201;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khối VNA gửi sửa chữa bị scrap, đã đặt mua bổ sung </a:t>
                      </a:r>
                      <a:r>
                        <a:rPr lang="en-US" sz="1150">
                          <a:latin typeface="Times New Roman"/>
                          <a:ea typeface="Times New Roman"/>
                          <a:cs typeface="Times New Roman"/>
                          <a:sym typeface="Times New Roman"/>
                        </a:rPr>
                        <a:t>6</a:t>
                      </a:r>
                      <a:r>
                        <a:rPr lang="en-US" sz="1150" u="none" strike="noStrike" cap="none">
                          <a:latin typeface="Times New Roman"/>
                          <a:ea typeface="Times New Roman"/>
                          <a:cs typeface="Times New Roman"/>
                          <a:sym typeface="Times New Roman"/>
                        </a:rPr>
                        <a:t>ea, leadtime d</a:t>
                      </a:r>
                      <a:r>
                        <a:rPr lang="en-US" sz="1150">
                          <a:latin typeface="Times New Roman"/>
                          <a:ea typeface="Times New Roman"/>
                          <a:cs typeface="Times New Roman"/>
                          <a:sym typeface="Times New Roman"/>
                        </a:rPr>
                        <a:t>ài</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504637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292"/>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208" name="Google Shape;208;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209" name="Google Shape;209;g31ccdae391d_0_292"/>
          <p:cNvGraphicFramePr/>
          <p:nvPr/>
        </p:nvGraphicFramePr>
        <p:xfrm>
          <a:off x="414739" y="1604714"/>
          <a:ext cx="11570675" cy="182356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29625">
                  <a:extLst>
                    <a:ext uri="{9D8B030D-6E8A-4147-A177-3AD203B41FA5}">
                      <a16:colId xmlns:a16="http://schemas.microsoft.com/office/drawing/2014/main" val="20001"/>
                    </a:ext>
                  </a:extLst>
                </a:gridCol>
                <a:gridCol w="1269800">
                  <a:extLst>
                    <a:ext uri="{9D8B030D-6E8A-4147-A177-3AD203B41FA5}">
                      <a16:colId xmlns:a16="http://schemas.microsoft.com/office/drawing/2014/main" val="20002"/>
                    </a:ext>
                  </a:extLst>
                </a:gridCol>
                <a:gridCol w="4068475">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VAECO vẫn mua dự phòng nhưng gần đây Airbus cấp hàng chậm.</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Tình trạng:</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D2157160120000 stock 5ea</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D2157160000000 stock 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15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063356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5" name="Google Shape;215;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16" name="Google Shape;216;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23</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39</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1</a:t>
            </a:r>
            <a:r>
              <a:rPr lang="en-US" sz="1500">
                <a:solidFill>
                  <a:schemeClr val="dk1"/>
                </a:solidFill>
                <a:latin typeface="Times New Roman"/>
                <a:ea typeface="Times New Roman"/>
                <a:cs typeface="Times New Roman"/>
                <a:sym typeface="Times New Roman"/>
              </a:rPr>
              <a:t>4</a:t>
            </a:r>
            <a:r>
              <a:rPr lang="en-US" sz="1500" b="0" i="0" u="none" strike="noStrike" cap="none">
                <a:solidFill>
                  <a:schemeClr val="dk1"/>
                </a:solidFill>
                <a:latin typeface="Times New Roman"/>
                <a:ea typeface="Times New Roman"/>
                <a:cs typeface="Times New Roman"/>
                <a:sym typeface="Times New Roman"/>
              </a:rPr>
              <a:t> LO / total  </a:t>
            </a:r>
            <a:r>
              <a:rPr lang="en-US" sz="1500">
                <a:solidFill>
                  <a:schemeClr val="dk1"/>
                </a:solidFill>
                <a:latin typeface="Times New Roman"/>
                <a:ea typeface="Times New Roman"/>
                <a:cs typeface="Times New Roman"/>
                <a:sym typeface="Times New Roman"/>
              </a:rPr>
              <a:t>18</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21</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17" name="Google Shape;217;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18" name="Google Shape;218;g31ccdae391d_0_299"/>
          <p:cNvPicPr preferRelativeResize="0"/>
          <p:nvPr/>
        </p:nvPicPr>
        <p:blipFill>
          <a:blip r:embed="rId3">
            <a:alphaModFix/>
          </a:blip>
          <a:stretch>
            <a:fillRect/>
          </a:stretch>
        </p:blipFill>
        <p:spPr>
          <a:xfrm>
            <a:off x="2028825" y="1686074"/>
            <a:ext cx="7436649" cy="45194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25" name="Google Shape;225;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226" name="Google Shape;226;g31ccdae391d_0_308"/>
          <p:cNvGraphicFramePr/>
          <p:nvPr/>
        </p:nvGraphicFramePr>
        <p:xfrm>
          <a:off x="607288" y="787650"/>
          <a:ext cx="11227800" cy="454870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01ea giao SGN 18/01, 01ea giao SGN 22/01.</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ea chưa có EDD.</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15/02.</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Ngoài hỏng hóc nhiều trong tháng 12/2024 và đầu tháng 1/2025 do 03 khối rob lắp lên cho A870 (01) và A868 (02ea) đều hỏng ngay sau chuyến bay đầu tiên.</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- 02ea in stock, đang yêu cầu xếp lịch tháp trả khối thuê.</a:t>
                      </a:r>
                      <a:endParaRPr sz="1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giao SGN 20/01</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không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Ngo</a:t>
                      </a:r>
                      <a:r>
                        <a:rPr lang="en-US" sz="1300" dirty="0" err="1">
                          <a:latin typeface="Times New Roman"/>
                          <a:ea typeface="Times New Roman"/>
                          <a:cs typeface="Times New Roman"/>
                          <a:sym typeface="Times New Roman"/>
                        </a:rPr>
                        <a:t>ài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ra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đang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mua</a:t>
                      </a:r>
                      <a:r>
                        <a:rPr lang="en-US" sz="1300" dirty="0">
                          <a:latin typeface="Times New Roman"/>
                          <a:ea typeface="Times New Roman"/>
                          <a:cs typeface="Times New Roman"/>
                          <a:sym typeface="Times New Roman"/>
                        </a:rPr>
                        <a:t> 03ea Card led, trong </a:t>
                      </a:r>
                      <a:r>
                        <a:rPr lang="en-US" sz="1300" dirty="0" err="1">
                          <a:latin typeface="Times New Roman"/>
                          <a:ea typeface="Times New Roman"/>
                          <a:cs typeface="Times New Roman"/>
                          <a:sym typeface="Times New Roman"/>
                        </a:rPr>
                        <a:t>đó</a:t>
                      </a:r>
                      <a:r>
                        <a:rPr lang="en-US" sz="1300"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01ea in stock.</a:t>
                      </a:r>
                      <a:endParaRPr sz="13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+ 02ea PO  EDD 10/2025.</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33" name="Google Shape;233;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
        <p:nvSpPr>
          <p:cNvPr id="234" name="Google Shape;234;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Pump Pack, FMU, GWIV, Tailcone light (hỏng hóc rất nhiều sub card led).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t>
            </a:r>
            <a:r>
              <a:rPr lang="en-US" sz="1600" b="0" i="0" u="none" strike="noStrike" cap="none">
                <a:solidFill>
                  <a:schemeClr val="dk1"/>
                </a:solidFill>
                <a:latin typeface="Times New Roman"/>
                <a:ea typeface="Times New Roman"/>
                <a:cs typeface="Times New Roman"/>
                <a:sym typeface="Times New Roman"/>
              </a:rPr>
              <a:t>A8</a:t>
            </a:r>
            <a:r>
              <a:rPr lang="en-US" sz="1600">
                <a:solidFill>
                  <a:schemeClr val="dk1"/>
                </a:solidFill>
                <a:latin typeface="Times New Roman"/>
                <a:ea typeface="Times New Roman"/>
                <a:cs typeface="Times New Roman"/>
                <a:sym typeface="Times New Roman"/>
              </a:rPr>
              <a:t>73, A879</a:t>
            </a:r>
            <a:r>
              <a:rPr lang="en-US" sz="1600" b="0" i="0" u="none" strike="noStrike" cap="none">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 CARGO HANDLING SYS INOP</a:t>
            </a:r>
            <a:r>
              <a:rPr lang="en-US" sz="1600" b="0" i="0" u="none" strike="noStrike" cap="none">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đặt hàng CARGO MAINTENANCE DISPLAY, hàng đã về nhưng không dùng được doveef là SW của tàu -9, đang làm việc với KLM để ship hàng với SW -10.</a:t>
            </a: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35" name="Google Shape;235;g31ccdae391d_0_315"/>
          <p:cNvPicPr preferRelativeResize="0"/>
          <p:nvPr/>
        </p:nvPicPr>
        <p:blipFill>
          <a:blip r:embed="rId3">
            <a:alphaModFix/>
          </a:blip>
          <a:stretch>
            <a:fillRect/>
          </a:stretch>
        </p:blipFill>
        <p:spPr>
          <a:xfrm>
            <a:off x="1128527" y="2881327"/>
            <a:ext cx="9677600" cy="15930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2" name="Google Shape;242;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43" name="Google Shape;243;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40</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48</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11</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13</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29</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35</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44" name="Google Shape;244;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45" name="Google Shape;245;g31ccdae391d_0_323"/>
          <p:cNvPicPr preferRelativeResize="0"/>
          <p:nvPr/>
        </p:nvPicPr>
        <p:blipFill>
          <a:blip r:embed="rId3">
            <a:alphaModFix/>
          </a:blip>
          <a:stretch>
            <a:fillRect/>
          </a:stretch>
        </p:blipFill>
        <p:spPr>
          <a:xfrm>
            <a:off x="2738448" y="2162729"/>
            <a:ext cx="6329350" cy="433809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52" name="Google Shape;252;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253" name="Google Shape;253;g31ccdae391d_0_332"/>
          <p:cNvGraphicFramePr/>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Spoiler Servo:</a:t>
                      </a:r>
                      <a:r>
                        <a:rPr lang="en-US" sz="1300" dirty="0">
                          <a:latin typeface="Times New Roman"/>
                          <a:ea typeface="Times New Roman"/>
                          <a:cs typeface="Times New Roman"/>
                          <a:sym typeface="Times New Roman"/>
                        </a:rPr>
                        <a:t> 01ea in  stock</a:t>
                      </a:r>
                      <a:r>
                        <a:rPr lang="en-US" sz="1300" u="none" strike="noStrike" cap="none"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FCRM: </a:t>
                      </a:r>
                      <a:r>
                        <a:rPr lang="en-US" sz="1300" u="none" strike="noStrike" cap="none" dirty="0">
                          <a:solidFill>
                            <a:schemeClr val="dk1"/>
                          </a:solidFill>
                          <a:latin typeface="Times New Roman"/>
                          <a:ea typeface="Times New Roman"/>
                          <a:cs typeface="Times New Roman"/>
                          <a:sym typeface="Times New Roman"/>
                        </a:rPr>
                        <a:t>0</a:t>
                      </a:r>
                      <a:r>
                        <a:rPr lang="en-US" sz="1300" dirty="0">
                          <a:solidFill>
                            <a:schemeClr val="dk1"/>
                          </a:solidFill>
                          <a:latin typeface="Times New Roman"/>
                          <a:ea typeface="Times New Roman"/>
                          <a:cs typeface="Times New Roman"/>
                          <a:sym typeface="Times New Roman"/>
                        </a:rPr>
                        <a:t>3</a:t>
                      </a:r>
                      <a:r>
                        <a:rPr lang="en-US" sz="1300" u="none" strike="noStrike" cap="none" dirty="0">
                          <a:solidFill>
                            <a:schemeClr val="dk1"/>
                          </a:solidFill>
                          <a:latin typeface="Times New Roman"/>
                          <a:ea typeface="Times New Roman"/>
                          <a:cs typeface="Times New Roman"/>
                          <a:sym typeface="Times New Roman"/>
                        </a:rPr>
                        <a:t>ea in stock</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01 </a:t>
                      </a:r>
                      <a:r>
                        <a:rPr lang="en-US" sz="1300" dirty="0" err="1">
                          <a:solidFill>
                            <a:schemeClr val="dk1"/>
                          </a:solidFill>
                          <a:latin typeface="Times New Roman"/>
                          <a:ea typeface="Times New Roman"/>
                          <a:cs typeface="Times New Roman"/>
                          <a:sym typeface="Times New Roman"/>
                        </a:rPr>
                        <a:t>hỏng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hóc</a:t>
                      </a:r>
                      <a:r>
                        <a:rPr lang="en-US" sz="1300" dirty="0">
                          <a:solidFill>
                            <a:schemeClr val="dk1"/>
                          </a:solidFill>
                          <a:latin typeface="Times New Roman"/>
                          <a:ea typeface="Times New Roman"/>
                          <a:cs typeface="Times New Roman"/>
                          <a:sym typeface="Times New Roman"/>
                        </a:rPr>
                        <a:t> A888.</a:t>
                      </a:r>
                      <a:r>
                        <a:rPr lang="en-US" sz="1300"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6</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08</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- 1</a:t>
                      </a:r>
                      <a:r>
                        <a:rPr lang="en-US" sz="1300">
                          <a:solidFill>
                            <a:schemeClr val="dk1"/>
                          </a:solidFill>
                          <a:latin typeface="Times New Roman"/>
                          <a:ea typeface="Times New Roman"/>
                          <a:cs typeface="Times New Roman"/>
                          <a:sym typeface="Times New Roman"/>
                        </a:rPr>
                        <a:t>5</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EDD week 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+ 10ea chờ Collins cập nhật lại EDD (trước đó EDD 20/01).</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+ 04 chưa có EDD.</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6</a:t>
                      </a:r>
                      <a:r>
                        <a:rPr lang="en-US" sz="1300" u="none" strike="noStrike" cap="none">
                          <a:solidFill>
                            <a:schemeClr val="dk1"/>
                          </a:solidFill>
                          <a:latin typeface="Times New Roman"/>
                          <a:ea typeface="Times New Roman"/>
                          <a:cs typeface="Times New Roman"/>
                          <a:sym typeface="Times New Roman"/>
                        </a:rPr>
                        <a:t>ea in stock (của tàu BQ)</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 l</a:t>
                      </a:r>
                      <a:r>
                        <a:rPr lang="en-US" sz="1300">
                          <a:solidFill>
                            <a:schemeClr val="dk1"/>
                          </a:solidFill>
                          <a:latin typeface="Times New Roman"/>
                          <a:ea typeface="Times New Roman"/>
                          <a:cs typeface="Times New Roman"/>
                          <a:sym typeface="Times New Roman"/>
                        </a:rPr>
                        <a:t>ấp đầy</a:t>
                      </a:r>
                      <a:r>
                        <a:rPr lang="en-US" sz="1300" u="none" strike="noStrike" cap="none">
                          <a:solidFill>
                            <a:schemeClr val="dk1"/>
                          </a:solidFill>
                          <a:latin typeface="Times New Roman"/>
                          <a:ea typeface="Times New Roman"/>
                          <a:cs typeface="Times New Roman"/>
                          <a:sym typeface="Times New Roman"/>
                        </a:rPr>
                        <a:t>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60" name="Google Shape;260;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61" name="Google Shape;261;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EDP vẫn hỏng hóc nhiều.</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A896- UPPER LATCH ASSY OF COCKPIT DOOR BOLTING SYSTEM IS NOT FULLY LOCKED: Vaeco đang đặt hàng Latch.</a:t>
            </a: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62" name="Google Shape;262;g31ccdae391d_0_339"/>
          <p:cNvPicPr preferRelativeResize="0"/>
          <p:nvPr/>
        </p:nvPicPr>
        <p:blipFill>
          <a:blip r:embed="rId3">
            <a:alphaModFix/>
          </a:blip>
          <a:stretch>
            <a:fillRect/>
          </a:stretch>
        </p:blipFill>
        <p:spPr>
          <a:xfrm>
            <a:off x="1313927" y="3062302"/>
            <a:ext cx="9558875" cy="20276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69" name="Google Shape;269;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graphicFrame>
        <p:nvGraphicFramePr>
          <p:cNvPr id="270" name="Google Shape;270;g31ccdae391d_0_347"/>
          <p:cNvGraphicFramePr/>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05</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0</a:t>
                      </a:r>
                      <a:r>
                        <a:rPr lang="en-US">
                          <a:latin typeface="Times New Roman"/>
                          <a:ea typeface="Times New Roman"/>
                          <a:cs typeface="Times New Roman"/>
                          <a:sym typeface="Times New Roman"/>
                        </a:rPr>
                        <a:t>1</a:t>
                      </a:r>
                      <a:r>
                        <a:rPr lang="en-US" sz="1400" u="none" strike="noStrike" cap="none">
                          <a:latin typeface="Times New Roman"/>
                          <a:ea typeface="Times New Roman"/>
                          <a:cs typeface="Times New Roman"/>
                          <a:sym typeface="Times New Roman"/>
                        </a:rPr>
                        <a:t>EA</a:t>
                      </a:r>
                      <a:r>
                        <a:rPr lang="en-US">
                          <a:latin typeface="Times New Roman"/>
                          <a:ea typeface="Times New Roman"/>
                          <a:cs typeface="Times New Roman"/>
                          <a:sym typeface="Times New Roman"/>
                        </a:rPr>
                        <a:t> PO</a:t>
                      </a:r>
                      <a:r>
                        <a:rPr lang="en-US" sz="1400" u="none" strike="noStrike" cap="none">
                          <a:latin typeface="Times New Roman"/>
                          <a:ea typeface="Times New Roman"/>
                          <a:cs typeface="Times New Roman"/>
                          <a:sym typeface="Times New Roman"/>
                        </a:rPr>
                        <a:t> chưa có thông tin</a:t>
                      </a:r>
                      <a:br>
                        <a:rPr lang="en-US" sz="1400" u="none" strike="noStrike" cap="none">
                          <a:latin typeface="Times New Roman"/>
                          <a:ea typeface="Times New Roman"/>
                          <a:cs typeface="Times New Roman"/>
                          <a:sym typeface="Times New Roman"/>
                        </a:rPr>
                      </a:br>
                      <a:r>
                        <a:rPr lang="en-US" sz="1400" u="none" strike="noStrike" cap="none">
                          <a:latin typeface="Times New Roman"/>
                          <a:ea typeface="Times New Roman"/>
                          <a:cs typeface="Times New Roman"/>
                          <a:sym typeface="Times New Roman"/>
                        </a:rPr>
                        <a:t>01</a:t>
                      </a:r>
                      <a:r>
                        <a:rPr lang="en-US">
                          <a:latin typeface="Times New Roman"/>
                          <a:ea typeface="Times New Roman"/>
                          <a:cs typeface="Times New Roman"/>
                          <a:sym typeface="Times New Roman"/>
                        </a:rPr>
                        <a:t>EA YO </a:t>
                      </a:r>
                      <a:r>
                        <a:rPr lang="en-US">
                          <a:solidFill>
                            <a:schemeClr val="dk1"/>
                          </a:solidFill>
                          <a:latin typeface="Times New Roman"/>
                          <a:ea typeface="Times New Roman"/>
                          <a:cs typeface="Times New Roman"/>
                          <a:sym typeface="Times New Roman"/>
                        </a:rPr>
                        <a:t>chưa có thông tin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 CODE: 81. SGL CHANEL FAULT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01EA: STK SGN </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01RO: ở shop từ 11/2023. </a:t>
                      </a:r>
                      <a:r>
                        <a:rPr lang="en-US">
                          <a:latin typeface="Times New Roman"/>
                          <a:ea typeface="Times New Roman"/>
                          <a:cs typeface="Times New Roman"/>
                          <a:sym typeface="Times New Roman"/>
                        </a:rPr>
                        <a:t>EST JUN2025</a:t>
                      </a:r>
                      <a:r>
                        <a:rPr lang="en-US" sz="1400" u="none" strike="noStrike" cap="none">
                          <a:latin typeface="Times New Roman"/>
                          <a:ea typeface="Times New Roman"/>
                          <a:cs typeface="Times New Roman"/>
                          <a:sym typeface="Times New Roman"/>
                        </a:rPr>
                        <a:t> do thiếu PTVT thay thế</a:t>
                      </a:r>
                      <a:br>
                        <a:rPr lang="en-US" sz="1400" u="none" strike="noStrike" cap="none">
                          <a:latin typeface="Times New Roman"/>
                          <a:ea typeface="Times New Roman"/>
                          <a:cs typeface="Times New Roman"/>
                          <a:sym typeface="Times New Roman"/>
                        </a:rPr>
                      </a:b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02RO issued 06/01 and 08/01</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77" name="Google Shape;277;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graphicFrame>
        <p:nvGraphicFramePr>
          <p:cNvPr id="278" name="Google Shape;278;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Lốp các loại đủ dự phòng cho khai thác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đang thúc đẩy lốp về cho cao điểm tết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C20648000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Kho </a:t>
                      </a:r>
                      <a:r>
                        <a:rPr lang="en-US" sz="1400" u="none" strike="noStrike" cap="none" dirty="0" err="1">
                          <a:latin typeface="Times New Roman"/>
                          <a:ea typeface="Times New Roman"/>
                          <a:cs typeface="Times New Roman"/>
                          <a:sym typeface="Times New Roman"/>
                        </a:rPr>
                        <a:t>có</a:t>
                      </a:r>
                      <a:r>
                        <a:rPr lang="en-US" sz="1400" u="none" strike="noStrike" cap="none" dirty="0">
                          <a:latin typeface="Times New Roman"/>
                          <a:ea typeface="Times New Roman"/>
                          <a:cs typeface="Times New Roman"/>
                          <a:sym typeface="Times New Roman"/>
                        </a:rPr>
                        <a:t> </a:t>
                      </a:r>
                      <a:r>
                        <a:rPr lang="en-US" dirty="0">
                          <a:latin typeface="Times New Roman"/>
                          <a:ea typeface="Times New Roman"/>
                          <a:cs typeface="Times New Roman"/>
                          <a:sym typeface="Times New Roman"/>
                        </a:rPr>
                        <a:t>05e</a:t>
                      </a:r>
                      <a:r>
                        <a:rPr lang="en-US" sz="1400" u="none" strike="noStrike" cap="none" dirty="0">
                          <a:latin typeface="Times New Roman"/>
                          <a:ea typeface="Times New Roman"/>
                          <a:cs typeface="Times New Roman"/>
                          <a:sym typeface="Times New Roman"/>
                        </a:rPr>
                        <a:t>a </a:t>
                      </a:r>
                      <a:r>
                        <a:rPr lang="en-US" sz="1400" u="none" strike="noStrike" cap="none" dirty="0" err="1">
                          <a:latin typeface="Times New Roman"/>
                          <a:ea typeface="Times New Roman"/>
                          <a:cs typeface="Times New Roman"/>
                          <a:sym typeface="Times New Roman"/>
                        </a:rPr>
                        <a:t>dự</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phòng</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2-1756-1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dirty="0">
                          <a:solidFill>
                            <a:schemeClr val="dk1"/>
                          </a:solidFill>
                          <a:latin typeface="Times New Roman"/>
                          <a:ea typeface="Times New Roman"/>
                          <a:cs typeface="Times New Roman"/>
                          <a:sym typeface="Times New Roman"/>
                        </a:rPr>
                        <a:t>Kho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05ea </a:t>
                      </a:r>
                      <a:r>
                        <a:rPr lang="en-US" dirty="0" err="1">
                          <a:solidFill>
                            <a:schemeClr val="dk1"/>
                          </a:solidFill>
                          <a:latin typeface="Times New Roman"/>
                          <a:ea typeface="Times New Roman"/>
                          <a:cs typeface="Times New Roman"/>
                          <a:sym typeface="Times New Roman"/>
                        </a:rPr>
                        <a:t>dự</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phòng</a:t>
                      </a:r>
                      <a:r>
                        <a:rPr lang="en-US" dirty="0">
                          <a:solidFill>
                            <a:schemeClr val="dk1"/>
                          </a:solidFill>
                          <a:latin typeface="Times New Roman"/>
                          <a:ea typeface="Times New Roman"/>
                          <a:cs typeface="Times New Roman"/>
                          <a:sym typeface="Times New Roman"/>
                        </a:rPr>
                        <a:t>.</a:t>
                      </a:r>
                      <a:endParaRPr sz="1400" u="none" strike="noStrike" cap="none"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C20534100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Kho </a:t>
                      </a:r>
                      <a:r>
                        <a:rPr lang="en-US" sz="1400" u="none" strike="noStrike" cap="none" dirty="0" err="1">
                          <a:latin typeface="Times New Roman"/>
                          <a:ea typeface="Times New Roman"/>
                          <a:cs typeface="Times New Roman"/>
                          <a:sym typeface="Times New Roman"/>
                        </a:rPr>
                        <a:t>có</a:t>
                      </a:r>
                      <a:r>
                        <a:rPr lang="en-US" sz="1400" u="none" strike="noStrike" cap="none" dirty="0">
                          <a:latin typeface="Times New Roman"/>
                          <a:ea typeface="Times New Roman"/>
                          <a:cs typeface="Times New Roman"/>
                          <a:sym typeface="Times New Roman"/>
                        </a:rPr>
                        <a:t> 07ea</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dự</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phòng</a:t>
                      </a:r>
                      <a:r>
                        <a:rPr lang="en-US" sz="1400" u="none" strike="noStrike" cap="none" dirty="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86" name="Google Shape;286;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22/01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HAN).</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ea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a:t>
            </a:r>
            <a:r>
              <a:rPr lang="en-US" sz="1500" dirty="0">
                <a:solidFill>
                  <a:schemeClr val="dk1"/>
                </a:solidFill>
                <a:highlight>
                  <a:schemeClr val="lt1"/>
                </a:highlight>
                <a:latin typeface="Times New Roman"/>
                <a:ea typeface="Times New Roman"/>
                <a:cs typeface="Times New Roman"/>
                <a:sym typeface="Times New Roman"/>
              </a:rPr>
              <a:t>422</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21316 &amp;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kiến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02</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induction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SEASL).</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xếp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chuyển</a:t>
            </a:r>
            <a:r>
              <a:rPr lang="en-US" sz="1500" b="0" i="0" u="none" strike="noStrike" cap="none" dirty="0">
                <a:solidFill>
                  <a:schemeClr val="dk1"/>
                </a:solidFill>
                <a:highlight>
                  <a:schemeClr val="lt1"/>
                </a:highlight>
                <a:latin typeface="Times New Roman"/>
                <a:ea typeface="Times New Roman"/>
                <a:cs typeface="Times New Roman"/>
                <a:sym typeface="Times New Roman"/>
              </a:rPr>
              <a:t> 01 core engine stand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từ</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về</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để</a:t>
            </a:r>
            <a:r>
              <a:rPr lang="en-US" sz="1500" b="0" i="0" u="none" strike="noStrike" cap="none" dirty="0">
                <a:solidFill>
                  <a:schemeClr val="dk1"/>
                </a:solidFill>
                <a:highlight>
                  <a:schemeClr val="lt1"/>
                </a:highlight>
                <a:latin typeface="Times New Roman"/>
                <a:ea typeface="Times New Roman"/>
                <a:cs typeface="Times New Roman"/>
                <a:sym typeface="Times New Roman"/>
              </a:rPr>
              <a:t> swap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tiếp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gửi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07ea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 (01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giao</a:t>
            </a:r>
            <a:r>
              <a:rPr lang="en-US" sz="1500" b="0" i="0" u="none" strike="noStrike" cap="none" dirty="0">
                <a:solidFill>
                  <a:schemeClr val="dk1"/>
                </a:solidFill>
                <a:highlight>
                  <a:schemeClr val="lt1"/>
                </a:highlight>
                <a:latin typeface="Times New Roman"/>
                <a:ea typeface="Times New Roman"/>
                <a:cs typeface="Times New Roman"/>
                <a:sym typeface="Times New Roman"/>
              </a:rPr>
              <a:t> 22/09/2024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lắp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trên</a:t>
            </a:r>
            <a:r>
              <a:rPr lang="en-US" sz="1500" b="0" i="0" u="none" strike="noStrike" cap="none" dirty="0">
                <a:solidFill>
                  <a:schemeClr val="dk1"/>
                </a:solidFill>
                <a:highlight>
                  <a:schemeClr val="lt1"/>
                </a:highlight>
                <a:latin typeface="Times New Roman"/>
                <a:ea typeface="Times New Roman"/>
                <a:cs typeface="Times New Roman"/>
                <a:sym typeface="Times New Roman"/>
              </a:rPr>
              <a:t> A874)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01 </a:t>
            </a: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a:t>
            </a:r>
            <a:r>
              <a:rPr lang="en-US" sz="1500" dirty="0" err="1">
                <a:solidFill>
                  <a:schemeClr val="dk1"/>
                </a:solidFill>
                <a:highlight>
                  <a:schemeClr val="lt1"/>
                </a:highlight>
                <a:latin typeface="Times New Roman"/>
                <a:ea typeface="Times New Roman"/>
                <a:cs typeface="Times New Roman"/>
                <a:sym typeface="Times New Roman"/>
              </a:rPr>
              <a:t>ngày</a:t>
            </a:r>
            <a:r>
              <a:rPr lang="en-US" sz="1500" dirty="0">
                <a:solidFill>
                  <a:schemeClr val="dk1"/>
                </a:solidFill>
                <a:highlight>
                  <a:schemeClr val="lt1"/>
                </a:highlight>
                <a:latin typeface="Times New Roman"/>
                <a:ea typeface="Times New Roman"/>
                <a:cs typeface="Times New Roman"/>
                <a:sym typeface="Times New Roman"/>
              </a:rPr>
              <a:t> 15/12 </a:t>
            </a: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lắp</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A871</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NIL</a:t>
            </a:r>
            <a:endParaRPr sz="1500" b="1"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 956556, 956569, 956533,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GE shop :958398 (delay in GEEVES), 958537. </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05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kiến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cần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01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nữa</a:t>
            </a:r>
            <a:r>
              <a:rPr lang="en-US" sz="1500" b="0" i="0" u="none" strike="noStrike" cap="none" dirty="0">
                <a:solidFill>
                  <a:srgbClr val="000000"/>
                </a:solidFill>
                <a:highlight>
                  <a:schemeClr val="lt1"/>
                </a:highlight>
                <a:latin typeface="Times New Roman"/>
                <a:ea typeface="Times New Roman"/>
                <a:cs typeface="Times New Roman"/>
                <a:sym typeface="Times New Roman"/>
              </a:rPr>
              <a:t> Q1 trong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năm</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2025.  </a:t>
            </a:r>
            <a:endParaRPr sz="15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93" name="Google Shape;293;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94" name="Google Shape;294;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01ea V17951</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0</a:t>
            </a:r>
            <a:r>
              <a:rPr lang="en-US" sz="1600">
                <a:solidFill>
                  <a:schemeClr val="dk1"/>
                </a:solidFill>
                <a:latin typeface="Times New Roman"/>
                <a:ea typeface="Times New Roman"/>
                <a:cs typeface="Times New Roman"/>
                <a:sym typeface="Times New Roman"/>
              </a:rPr>
              <a:t>4</a:t>
            </a:r>
            <a:r>
              <a:rPr lang="en-US" sz="1600" b="0" i="0" u="none" strike="noStrike" cap="none">
                <a:solidFill>
                  <a:schemeClr val="dk1"/>
                </a:solidFill>
                <a:latin typeface="Times New Roman"/>
                <a:ea typeface="Times New Roman"/>
                <a:cs typeface="Times New Roman"/>
                <a:sym typeface="Times New Roman"/>
              </a:rPr>
              <a:t>ea g</a:t>
            </a:r>
            <a:r>
              <a:rPr lang="en-US" sz="1600">
                <a:solidFill>
                  <a:schemeClr val="dk1"/>
                </a:solidFill>
                <a:latin typeface="Times New Roman"/>
                <a:ea typeface="Times New Roman"/>
                <a:cs typeface="Times New Roman"/>
                <a:sym typeface="Times New Roman"/>
              </a:rPr>
              <a:t>ồm V15858, V16517, V17403, V16694 -  HAN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0</a:t>
            </a:r>
            <a:r>
              <a:rPr lang="en-US" sz="1600">
                <a:solidFill>
                  <a:schemeClr val="dk1"/>
                </a:solidFill>
                <a:latin typeface="Times New Roman"/>
                <a:ea typeface="Times New Roman"/>
                <a:cs typeface="Times New Roman"/>
                <a:sym typeface="Times New Roman"/>
              </a:rPr>
              <a:t>8</a:t>
            </a:r>
            <a:r>
              <a:rPr lang="en-US" sz="1600" b="0" i="0" u="none" strike="noStrike" cap="none">
                <a:solidFill>
                  <a:schemeClr val="dk1"/>
                </a:solidFill>
                <a:latin typeface="Times New Roman"/>
                <a:ea typeface="Times New Roman"/>
                <a:cs typeface="Times New Roman"/>
                <a:sym typeface="Times New Roman"/>
              </a:rPr>
              <a:t>ea</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Động cơ thuê đang hoàn tất thủ tục hoàn trả đối tác: V12175 (WILLIS) - đã giao WILLIS 18/11/2024, đang hoàn thiện thủ tục</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Động cơ thuê</a:t>
            </a:r>
            <a:r>
              <a:rPr lang="en-US" sz="1600">
                <a:solidFill>
                  <a:schemeClr val="dk1"/>
                </a:solidFill>
                <a:latin typeface="Times New Roman"/>
                <a:ea typeface="Times New Roman"/>
                <a:cs typeface="Times New Roman"/>
                <a:sym typeface="Times New Roman"/>
              </a:rPr>
              <a:t> đang trả</a:t>
            </a:r>
            <a:r>
              <a:rPr lang="en-US" sz="1600" b="0" i="0" u="none" strike="noStrike" cap="none">
                <a:solidFill>
                  <a:schemeClr val="dk1"/>
                </a:solidFill>
                <a:latin typeface="Times New Roman"/>
                <a:ea typeface="Times New Roman"/>
                <a:cs typeface="Times New Roman"/>
                <a:sym typeface="Times New Roman"/>
              </a:rPr>
              <a:t>: V18951 (</a:t>
            </a:r>
            <a:r>
              <a:rPr lang="en-US" sz="1600">
                <a:solidFill>
                  <a:schemeClr val="dk1"/>
                </a:solidFill>
                <a:latin typeface="Times New Roman"/>
                <a:ea typeface="Times New Roman"/>
                <a:cs typeface="Times New Roman"/>
                <a:sym typeface="Times New Roman"/>
              </a:rPr>
              <a:t>Đã giao WILLIS 6/1/2025 - đang hoàn thiện thủ tục</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301" name="Google Shape;301;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302" name="Google Shape;302;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2024</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303" name="Google Shape;303;g31ccdae391d_0_375"/>
          <p:cNvPicPr preferRelativeResize="0"/>
          <p:nvPr/>
        </p:nvPicPr>
        <p:blipFill>
          <a:blip r:embed="rId3">
            <a:alphaModFix/>
          </a:blip>
          <a:stretch>
            <a:fillRect/>
          </a:stretch>
        </p:blipFill>
        <p:spPr>
          <a:xfrm>
            <a:off x="401313" y="1612675"/>
            <a:ext cx="11389376" cy="37887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310" name="Google Shape;310;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rgbClr val="FF0000"/>
                </a:solidFill>
                <a:latin typeface="Times New Roman"/>
                <a:ea typeface="Times New Roman"/>
                <a:cs typeface="Times New Roman"/>
                <a:sym typeface="Times New Roman"/>
              </a:rPr>
              <a:t>- Đội bay A321 Neo:</a:t>
            </a: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05ea (2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SLB), 2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của</a:t>
            </a:r>
            <a:r>
              <a:rPr lang="en-US" sz="1500" b="0" i="0" u="none" strike="noStrike" cap="none" dirty="0">
                <a:solidFill>
                  <a:schemeClr val="dk1"/>
                </a:solidFill>
                <a:latin typeface="Times New Roman"/>
                <a:ea typeface="Times New Roman"/>
                <a:cs typeface="Times New Roman"/>
                <a:sym typeface="Times New Roman"/>
              </a:rPr>
              <a:t> PW).</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trong </a:t>
            </a:r>
            <a:r>
              <a:rPr lang="en-US" sz="1500" b="0" i="0" u="none" strike="noStrike" cap="none" dirty="0" err="1">
                <a:solidFill>
                  <a:schemeClr val="dk1"/>
                </a:solidFill>
                <a:latin typeface="Times New Roman"/>
                <a:ea typeface="Times New Roman"/>
                <a:cs typeface="Times New Roman"/>
                <a:sym typeface="Times New Roman"/>
              </a:rPr>
              <a:t>kho</a:t>
            </a:r>
            <a:r>
              <a:rPr lang="en-US" sz="1500" b="0" i="0" u="none" strike="noStrike" cap="none" dirty="0">
                <a:solidFill>
                  <a:schemeClr val="dk1"/>
                </a:solidFill>
                <a:latin typeface="Times New Roman"/>
                <a:ea typeface="Times New Roman"/>
                <a:cs typeface="Times New Roman"/>
                <a:sym typeface="Times New Roman"/>
              </a:rPr>
              <a:t>: NIL.</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8</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7</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ESA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IHI)</a:t>
            </a:r>
            <a:endParaRPr sz="15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dirty="0">
                <a:solidFill>
                  <a:schemeClr val="dk1"/>
                </a:solidFill>
                <a:latin typeface="Times New Roman"/>
                <a:ea typeface="Times New Roman"/>
                <a:cs typeface="Times New Roman"/>
                <a:sym typeface="Times New Roman"/>
              </a:rPr>
              <a:t>Trong </a:t>
            </a:r>
            <a:r>
              <a:rPr lang="en-US" sz="1500" b="0" i="0" u="none" strike="noStrike" cap="none" dirty="0" err="1">
                <a:solidFill>
                  <a:schemeClr val="dk1"/>
                </a:solidFill>
                <a:latin typeface="Times New Roman"/>
                <a:ea typeface="Times New Roman"/>
                <a:cs typeface="Times New Roman"/>
                <a:sym typeface="Times New Roman"/>
              </a:rPr>
              <a:t>đó</a:t>
            </a: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P771391: Shop target G3S 6/3 sang 6/4/2025</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P771077: Shop target G3S 6/3 sang 27/4/2025</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P771387: Shop </a:t>
            </a:r>
            <a:r>
              <a:rPr lang="en-US" sz="1500" dirty="0" err="1">
                <a:solidFill>
                  <a:schemeClr val="dk1"/>
                </a:solidFill>
                <a:latin typeface="Times New Roman"/>
                <a:ea typeface="Times New Roman"/>
                <a:cs typeface="Times New Roman"/>
                <a:sym typeface="Times New Roman"/>
              </a:rPr>
              <a:t>thông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báo</a:t>
            </a:r>
            <a:r>
              <a:rPr lang="en-US" sz="1500" dirty="0">
                <a:solidFill>
                  <a:schemeClr val="dk1"/>
                </a:solidFill>
                <a:latin typeface="Times New Roman"/>
                <a:ea typeface="Times New Roman"/>
                <a:cs typeface="Times New Roman"/>
                <a:sym typeface="Times New Roman"/>
              </a:rPr>
              <a:t> TBD sang 19/05/2025</a:t>
            </a:r>
            <a:endParaRPr sz="1500"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dirty="0">
                <a:solidFill>
                  <a:schemeClr val="dk1"/>
                </a:solidFill>
                <a:latin typeface="Times New Roman"/>
                <a:ea typeface="Times New Roman"/>
                <a:cs typeface="Times New Roman"/>
                <a:sym typeface="Times New Roman"/>
              </a:rPr>
              <a:t>+ P771373: </a:t>
            </a:r>
            <a:r>
              <a:rPr lang="en-US" sz="1500" dirty="0" err="1">
                <a:solidFill>
                  <a:schemeClr val="dk1"/>
                </a:solidFill>
                <a:latin typeface="Times New Roman"/>
                <a:ea typeface="Times New Roman"/>
                <a:cs typeface="Times New Roman"/>
                <a:sym typeface="Times New Roman"/>
              </a:rPr>
              <a:t>Vận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chuyển</a:t>
            </a:r>
            <a:r>
              <a:rPr lang="en-US" sz="1500" dirty="0">
                <a:solidFill>
                  <a:schemeClr val="dk1"/>
                </a:solidFill>
                <a:latin typeface="Times New Roman"/>
                <a:ea typeface="Times New Roman"/>
                <a:cs typeface="Times New Roman"/>
                <a:sym typeface="Times New Roman"/>
              </a:rPr>
              <a:t> Induct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IHI </a:t>
            </a:r>
            <a:r>
              <a:rPr lang="en-US" sz="1500" dirty="0" err="1">
                <a:solidFill>
                  <a:schemeClr val="dk1"/>
                </a:solidFill>
                <a:latin typeface="Times New Roman"/>
                <a:ea typeface="Times New Roman"/>
                <a:cs typeface="Times New Roman"/>
                <a:sym typeface="Times New Roman"/>
              </a:rPr>
              <a:t>trước</a:t>
            </a:r>
            <a:r>
              <a:rPr lang="en-US" sz="1500" dirty="0">
                <a:solidFill>
                  <a:schemeClr val="dk1"/>
                </a:solidFill>
                <a:latin typeface="Times New Roman"/>
                <a:ea typeface="Times New Roman"/>
                <a:cs typeface="Times New Roman"/>
                <a:sym typeface="Times New Roman"/>
              </a:rPr>
              <a:t> 31/1/2025</a:t>
            </a:r>
            <a:br>
              <a:rPr lang="en-US" sz="1500" dirty="0">
                <a:solidFill>
                  <a:schemeClr val="dk1"/>
                </a:solidFill>
                <a:latin typeface="Times New Roman"/>
                <a:ea typeface="Times New Roman"/>
                <a:cs typeface="Times New Roman"/>
                <a:sym typeface="Times New Roman"/>
              </a:rPr>
            </a:b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TAT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r>
              <a:rPr lang="en-US" sz="1500" b="0" i="0" u="none" strike="noStrike" cap="none" dirty="0" err="1">
                <a:solidFill>
                  <a:schemeClr val="dk1"/>
                </a:solidFill>
                <a:latin typeface="Times New Roman"/>
                <a:ea typeface="Times New Roman"/>
                <a:cs typeface="Times New Roman"/>
                <a:sym typeface="Times New Roman"/>
              </a:rPr>
              <a:t>kéo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hiện</a:t>
            </a:r>
            <a:r>
              <a:rPr lang="en-US" sz="1500" b="0" i="0" u="none" strike="noStrike" cap="none" dirty="0">
                <a:solidFill>
                  <a:schemeClr val="dk1"/>
                </a:solidFill>
                <a:latin typeface="Times New Roman"/>
                <a:ea typeface="Times New Roman"/>
                <a:cs typeface="Times New Roman"/>
                <a:sym typeface="Times New Roman"/>
              </a:rPr>
              <a:t> do shop </a:t>
            </a:r>
            <a:r>
              <a:rPr lang="en-US" sz="1500" b="0" i="0" u="none" strike="noStrike" cap="none" dirty="0" err="1">
                <a:solidFill>
                  <a:schemeClr val="dk1"/>
                </a:solidFill>
                <a:latin typeface="Times New Roman"/>
                <a:ea typeface="Times New Roman"/>
                <a:cs typeface="Times New Roman"/>
                <a:sym typeface="Times New Roman"/>
              </a:rPr>
              <a:t>quá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cung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đợi</a:t>
            </a:r>
            <a:r>
              <a:rPr lang="en-US" sz="1500" b="0" i="0" u="none" strike="noStrike" cap="none" dirty="0">
                <a:solidFill>
                  <a:schemeClr val="dk1"/>
                </a:solidFill>
                <a:latin typeface="Times New Roman"/>
                <a:ea typeface="Times New Roman"/>
                <a:cs typeface="Times New Roman"/>
                <a:sym typeface="Times New Roman"/>
              </a:rPr>
              <a:t> slot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đến</a:t>
            </a:r>
            <a:r>
              <a:rPr lang="en-US" sz="1500" b="0" i="0" u="none" strike="noStrike" cap="none" dirty="0">
                <a:solidFill>
                  <a:schemeClr val="dk1"/>
                </a:solidFill>
                <a:latin typeface="Times New Roman"/>
                <a:ea typeface="Times New Roman"/>
                <a:cs typeface="Times New Roman"/>
                <a:sym typeface="Times New Roman"/>
              </a:rPr>
              <a:t> 200 </a:t>
            </a:r>
            <a:r>
              <a:rPr lang="en-US" sz="1500" b="0" i="0" u="none" strike="noStrike" cap="none" dirty="0" err="1">
                <a:solidFill>
                  <a:schemeClr val="dk1"/>
                </a:solidFill>
                <a:latin typeface="Times New Roman"/>
                <a:ea typeface="Times New Roman"/>
                <a:cs typeface="Times New Roman"/>
                <a:sym typeface="Times New Roman"/>
              </a:rPr>
              <a:t>ngày</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A321 NEO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trước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đây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không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lắp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trả</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nhiều</a:t>
            </a:r>
            <a:r>
              <a:rPr lang="en-US" sz="1500" b="0" i="0" u="none" strike="noStrike" cap="none" dirty="0">
                <a:solidFill>
                  <a:schemeClr val="dk1"/>
                </a:solidFill>
                <a:latin typeface="Times New Roman"/>
                <a:ea typeface="Times New Roman"/>
                <a:cs typeface="Times New Roman"/>
                <a:sym typeface="Times New Roman"/>
              </a:rPr>
              <a:t> LRUs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Khoảng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thời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cao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nghỉ</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lễ</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hụt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phụ</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vật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liệu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tăng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lỗi</a:t>
            </a:r>
            <a:r>
              <a:rPr lang="en-US" sz="1500" b="0" i="0" u="none" strike="noStrike" cap="none" dirty="0">
                <a:solidFill>
                  <a:schemeClr val="dk1"/>
                </a:solidFill>
                <a:latin typeface="Times New Roman"/>
                <a:ea typeface="Times New Roman"/>
                <a:cs typeface="Times New Roman"/>
                <a:sym typeface="Times New Roman"/>
              </a:rPr>
              <a:t> Rejection trong </a:t>
            </a:r>
            <a:r>
              <a:rPr lang="en-US" sz="1500" b="0" i="0" u="none" strike="noStrike" cap="none" dirty="0" err="1">
                <a:solidFill>
                  <a:schemeClr val="dk1"/>
                </a:solidFill>
                <a:latin typeface="Times New Roman"/>
                <a:ea typeface="Times New Roman"/>
                <a:cs typeface="Times New Roman"/>
                <a:sym typeface="Times New Roman"/>
              </a:rPr>
              <a:t>kiểm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sau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thử</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nghiệm</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Thúc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đẩy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Tổ</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chức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họp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tìm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pháp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Ban KT, VAECO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danh</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mục</a:t>
            </a:r>
            <a:r>
              <a:rPr lang="en-US" sz="1500" b="0" i="0" u="none" strike="noStrike" cap="none" dirty="0">
                <a:solidFill>
                  <a:schemeClr val="dk1"/>
                </a:solidFill>
                <a:latin typeface="Times New Roman"/>
                <a:ea typeface="Times New Roman"/>
                <a:cs typeface="Times New Roman"/>
                <a:sym typeface="Times New Roman"/>
              </a:rPr>
              <a:t> MPL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gửi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17" name="Google Shape;317;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ED0192, ED0239 đang sửa tại SA.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Đưa động cơ </a:t>
            </a:r>
            <a:r>
              <a:rPr lang="en-US" sz="1500" b="0" i="0" u="none" strike="noStrike" cap="none">
                <a:solidFill>
                  <a:schemeClr val="dk1"/>
                </a:solidFill>
                <a:latin typeface="Times New Roman"/>
                <a:ea typeface="Times New Roman"/>
                <a:cs typeface="Times New Roman"/>
                <a:sym typeface="Times New Roman"/>
              </a:rPr>
              <a:t>ED0</a:t>
            </a:r>
            <a:r>
              <a:rPr lang="en-US" sz="1500">
                <a:solidFill>
                  <a:schemeClr val="dk1"/>
                </a:solidFill>
                <a:latin typeface="Times New Roman"/>
                <a:ea typeface="Times New Roman"/>
                <a:cs typeface="Times New Roman"/>
                <a:sym typeface="Times New Roman"/>
              </a:rPr>
              <a:t>192 về để làm spare cho cao điểm Tết.</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&gt;ED0</a:t>
            </a:r>
            <a:r>
              <a:rPr lang="en-US" sz="1500">
                <a:solidFill>
                  <a:schemeClr val="dk1"/>
                </a:solidFill>
                <a:latin typeface="Times New Roman"/>
                <a:ea typeface="Times New Roman"/>
                <a:cs typeface="Times New Roman"/>
                <a:sym typeface="Times New Roman"/>
              </a:rPr>
              <a:t>192</a:t>
            </a:r>
            <a:r>
              <a:rPr lang="en-US" sz="1500" b="0" i="0" u="none" strike="noStrike" cap="none">
                <a:solidFill>
                  <a:schemeClr val="dk1"/>
                </a:solidFill>
                <a:latin typeface="Times New Roman"/>
                <a:ea typeface="Times New Roman"/>
                <a:cs typeface="Times New Roman"/>
                <a:sym typeface="Times New Roman"/>
              </a:rPr>
              <a:t>: dk </a:t>
            </a:r>
            <a:r>
              <a:rPr lang="en-US" sz="1500">
                <a:solidFill>
                  <a:schemeClr val="dk1"/>
                </a:solidFill>
                <a:latin typeface="Times New Roman"/>
                <a:ea typeface="Times New Roman"/>
                <a:cs typeface="Times New Roman"/>
                <a:sym typeface="Times New Roman"/>
              </a:rPr>
              <a:t>21</a:t>
            </a:r>
            <a:r>
              <a:rPr lang="en-US" sz="1500" b="0" i="0" u="none" strike="noStrike" cap="none">
                <a:solidFill>
                  <a:schemeClr val="dk1"/>
                </a:solidFill>
                <a:latin typeface="Times New Roman"/>
                <a:ea typeface="Times New Roman"/>
                <a:cs typeface="Times New Roman"/>
                <a:sym typeface="Times New Roman"/>
              </a:rPr>
              <a:t>/01/2025 s</a:t>
            </a:r>
            <a:r>
              <a:rPr lang="en-US" sz="1500">
                <a:solidFill>
                  <a:schemeClr val="dk1"/>
                </a:solidFill>
                <a:latin typeface="Times New Roman"/>
                <a:ea typeface="Times New Roman"/>
                <a:cs typeface="Times New Roman"/>
                <a:sym typeface="Times New Roman"/>
              </a:rPr>
              <a:t>ửa xong, làm spare cho cao điểm Tết.</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318" name="Google Shape;318;g31ccdae391d_0_389"/>
          <p:cNvPicPr preferRelativeResize="0"/>
          <p:nvPr/>
        </p:nvPicPr>
        <p:blipFill>
          <a:blip r:embed="rId3">
            <a:alphaModFix/>
          </a:blip>
          <a:stretch>
            <a:fillRect/>
          </a:stretch>
        </p:blipFill>
        <p:spPr>
          <a:xfrm>
            <a:off x="64275" y="2921075"/>
            <a:ext cx="11372851" cy="29546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25" name="Google Shape;325;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326" name="Google Shape;326;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+ 01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22/01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01 in</a:t>
            </a:r>
            <a:r>
              <a:rPr lang="en-US" sz="1600" b="0" i="0" u="none" strike="noStrike" cap="none" dirty="0">
                <a:solidFill>
                  <a:schemeClr val="dk1"/>
                </a:solidFill>
                <a:latin typeface="Times New Roman"/>
                <a:ea typeface="Times New Roman"/>
                <a:cs typeface="Times New Roman"/>
                <a:sym typeface="Times New Roman"/>
              </a:rPr>
              <a:t> stock (</a:t>
            </a:r>
            <a:r>
              <a:rPr lang="en-US" sz="1600" dirty="0">
                <a:solidFill>
                  <a:schemeClr val="dk1"/>
                </a:solidFill>
                <a:latin typeface="Times New Roman"/>
                <a:ea typeface="Times New Roman"/>
                <a:cs typeface="Times New Roman"/>
                <a:sym typeface="Times New Roman"/>
              </a:rPr>
              <a:t>958541)</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956537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GE_CAL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xong</a:t>
            </a:r>
            <a:r>
              <a:rPr lang="en-US" sz="1600" dirty="0">
                <a:solidFill>
                  <a:schemeClr val="dk1"/>
                </a:solidFill>
                <a:latin typeface="Times New Roman"/>
                <a:ea typeface="Times New Roman"/>
                <a:cs typeface="Times New Roman"/>
                <a:sym typeface="Times New Roman"/>
              </a:rPr>
              <a:t> 16/02</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956556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xong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3/2025</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lvl="0" algn="just">
              <a:lnSpc>
                <a:spcPct val="115000"/>
              </a:lnSpc>
              <a:buSzPts val="1600"/>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2</a:t>
            </a:r>
            <a:r>
              <a:rPr lang="en-US" sz="1600" dirty="0">
                <a:solidFill>
                  <a:schemeClr val="dk1"/>
                </a:solidFill>
                <a:latin typeface="Times New Roman"/>
                <a:ea typeface="Times New Roman"/>
                <a:cs typeface="Times New Roman"/>
                <a:sym typeface="Times New Roman"/>
              </a:rPr>
              <a:t>: V15851 (07/02/2025).</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P771373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remove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chờ</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Induct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IHI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31/1/2025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+ED0181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12/01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issue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B225 17/01</a:t>
            </a:r>
            <a:r>
              <a:rPr lang="en-US" sz="1500"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ED0192</a:t>
            </a:r>
            <a:r>
              <a:rPr lang="en-US" sz="1600" b="0" i="0" u="none" strike="noStrike" cap="none" dirty="0">
                <a:solidFill>
                  <a:schemeClr val="dk1"/>
                </a:solidFill>
                <a:latin typeface="Times New Roman"/>
                <a:ea typeface="Times New Roman"/>
                <a:cs typeface="Times New Roman"/>
                <a:sym typeface="Times New Roman"/>
              </a:rPr>
              <a:t> (shop </a:t>
            </a:r>
            <a:r>
              <a:rPr lang="en-US" sz="1600" b="0" i="0" u="none" strike="noStrike" cap="none" dirty="0" err="1">
                <a:solidFill>
                  <a:schemeClr val="dk1"/>
                </a:solidFill>
                <a:latin typeface="Times New Roman"/>
                <a:ea typeface="Times New Roman"/>
                <a:cs typeface="Times New Roman"/>
                <a:sym typeface="Times New Roman"/>
              </a:rPr>
              <a:t>StandardAero</a:t>
            </a: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release 21/01/2025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28/01/2025.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33" name="Google Shape;333;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334" name="Google Shape;334;g31ccdae391d_0_403"/>
          <p:cNvSpPr txBox="1"/>
          <p:nvPr/>
        </p:nvSpPr>
        <p:spPr>
          <a:xfrm>
            <a:off x="7054175" y="537800"/>
            <a:ext cx="4085700" cy="4701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0</a:t>
            </a:r>
            <a:r>
              <a:rPr lang="en-US">
                <a:solidFill>
                  <a:schemeClr val="dk1"/>
                </a:solidFill>
                <a:latin typeface="Times New Roman"/>
                <a:ea typeface="Times New Roman"/>
                <a:cs typeface="Times New Roman"/>
                <a:sym typeface="Times New Roman"/>
              </a:rPr>
              <a:t>1</a:t>
            </a:r>
            <a:r>
              <a:rPr lang="en-US" sz="1400" b="0" i="0" u="none" strike="noStrike" cap="none">
                <a:solidFill>
                  <a:schemeClr val="dk1"/>
                </a:solidFill>
                <a:latin typeface="Times New Roman"/>
                <a:ea typeface="Times New Roman"/>
                <a:cs typeface="Times New Roman"/>
                <a:sym typeface="Times New Roman"/>
              </a:rPr>
              <a:t> APU tại HAN. </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 Tháng </a:t>
            </a:r>
            <a:r>
              <a:rPr lang="en-US">
                <a:solidFill>
                  <a:schemeClr val="dk1"/>
                </a:solidFill>
                <a:latin typeface="Times New Roman"/>
                <a:ea typeface="Times New Roman"/>
                <a:cs typeface="Times New Roman"/>
                <a:sym typeface="Times New Roman"/>
              </a:rPr>
              <a:t>1</a:t>
            </a:r>
            <a:r>
              <a:rPr lang="en-US" sz="1400" b="0" i="0" u="none" strike="noStrike" cap="none">
                <a:solidFill>
                  <a:schemeClr val="dk1"/>
                </a:solidFill>
                <a:latin typeface="Times New Roman"/>
                <a:ea typeface="Times New Roman"/>
                <a:cs typeface="Times New Roman"/>
                <a:sym typeface="Times New Roman"/>
              </a:rPr>
              <a:t>/202</a:t>
            </a:r>
            <a:r>
              <a:rPr lang="en-US">
                <a:solidFill>
                  <a:schemeClr val="dk1"/>
                </a:solidFill>
                <a:latin typeface="Times New Roman"/>
                <a:ea typeface="Times New Roman"/>
                <a:cs typeface="Times New Roman"/>
                <a:sym typeface="Times New Roman"/>
              </a:rPr>
              <a:t>5</a:t>
            </a:r>
            <a:r>
              <a:rPr lang="en-US" sz="1400" b="0" i="0" u="none" strike="noStrike" cap="none">
                <a:solidFill>
                  <a:schemeClr val="dk1"/>
                </a:solidFill>
                <a:latin typeface="Times New Roman"/>
                <a:ea typeface="Times New Roman"/>
                <a:cs typeface="Times New Roman"/>
                <a:sym typeface="Times New Roman"/>
              </a:rPr>
              <a:t>  dk về 0</a:t>
            </a:r>
            <a:r>
              <a:rPr lang="en-US">
                <a:solidFill>
                  <a:schemeClr val="dk1"/>
                </a:solidFill>
                <a:latin typeface="Times New Roman"/>
                <a:ea typeface="Times New Roman"/>
                <a:cs typeface="Times New Roman"/>
                <a:sym typeface="Times New Roman"/>
              </a:rPr>
              <a:t>3 </a:t>
            </a:r>
            <a:r>
              <a:rPr lang="en-US" sz="1400" b="0" i="0" u="none" strike="noStrike" cap="none">
                <a:solidFill>
                  <a:schemeClr val="dk1"/>
                </a:solidFill>
                <a:latin typeface="Times New Roman"/>
                <a:ea typeface="Times New Roman"/>
                <a:cs typeface="Times New Roman"/>
                <a:sym typeface="Times New Roman"/>
              </a:rPr>
              <a:t>APU.</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NIL.</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+ 02 APU đang sửa chữa tai shop Lufth.</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a:t>
            </a:r>
            <a:r>
              <a:rPr lang="en-US">
                <a:solidFill>
                  <a:schemeClr val="dk1"/>
                </a:solidFill>
                <a:latin typeface="Times New Roman"/>
                <a:ea typeface="Times New Roman"/>
                <a:cs typeface="Times New Roman"/>
                <a:sym typeface="Times New Roman"/>
              </a:rPr>
              <a:t>LUTH đang gặp tình trạng khó khăn trong chuỗi cung ứng nên chưa confirm được ngày về của 2 APU.</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a:t>
            </a:r>
            <a:r>
              <a:rPr lang="en-US" sz="1400" b="0" i="0" u="none" strike="noStrike" cap="none">
                <a:solidFill>
                  <a:schemeClr val="dk1"/>
                </a:solidFill>
                <a:latin typeface="Times New Roman"/>
                <a:ea typeface="Times New Roman"/>
                <a:cs typeface="Times New Roman"/>
                <a:sym typeface="Times New Roman"/>
              </a:rPr>
              <a:t> APU</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+ 02 APU đang sửa tại shop PW Poland.</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+Tháng 03/2025 về 1 APU.</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35" name="Google Shape;335;g31ccdae391d_0_403"/>
          <p:cNvPicPr preferRelativeResize="0"/>
          <p:nvPr/>
        </p:nvPicPr>
        <p:blipFill>
          <a:blip r:embed="rId3">
            <a:alphaModFix/>
          </a:blip>
          <a:stretch>
            <a:fillRect/>
          </a:stretch>
        </p:blipFill>
        <p:spPr>
          <a:xfrm>
            <a:off x="7272988" y="1256475"/>
            <a:ext cx="3648075" cy="495300"/>
          </a:xfrm>
          <a:prstGeom prst="rect">
            <a:avLst/>
          </a:prstGeom>
          <a:noFill/>
          <a:ln>
            <a:noFill/>
          </a:ln>
        </p:spPr>
      </p:pic>
      <p:pic>
        <p:nvPicPr>
          <p:cNvPr id="336" name="Google Shape;336;g31ccdae391d_0_403"/>
          <p:cNvPicPr preferRelativeResize="0"/>
          <p:nvPr/>
        </p:nvPicPr>
        <p:blipFill>
          <a:blip r:embed="rId4">
            <a:alphaModFix/>
          </a:blip>
          <a:stretch>
            <a:fillRect/>
          </a:stretch>
        </p:blipFill>
        <p:spPr>
          <a:xfrm>
            <a:off x="428625" y="495300"/>
            <a:ext cx="6519391" cy="53141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r>
              <a:rPr lang="vi" sz="8800" b="1" i="1">
                <a:solidFill>
                  <a:schemeClr val="lt1"/>
                </a:solidFill>
                <a:latin typeface="Montserrat SemiBold"/>
                <a:ea typeface="Montserrat SemiBold"/>
                <a:cs typeface="Montserrat SemiBold"/>
                <a:sym typeface="Montserrat SemiBold"/>
              </a:rPr>
              <a:t>THANK YOU</a:t>
            </a:r>
            <a:endParaRPr sz="8800" b="1" i="1">
              <a:solidFill>
                <a:schemeClr val="lt1"/>
              </a:solidFill>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69</a:t>
            </a:fld>
            <a:endParaRPr/>
          </a:p>
        </p:txBody>
      </p:sp>
    </p:spTree>
    <p:extLst>
      <p:ext uri="{BB962C8B-B14F-4D97-AF65-F5344CB8AC3E}">
        <p14:creationId xmlns:p14="http://schemas.microsoft.com/office/powerpoint/2010/main" val="25014721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http://www.w3.org/XML/1998/namespace"/>
    <ds:schemaRef ds:uri="http://schemas.microsoft.com/office/2006/documentManagement/types"/>
    <ds:schemaRef ds:uri="http://purl.org/dc/terms/"/>
    <ds:schemaRef ds:uri="e189f61e-1295-4779-a752-040c7fad5177"/>
    <ds:schemaRef ds:uri="http://schemas.openxmlformats.org/package/2006/metadata/core-properties"/>
    <ds:schemaRef ds:uri="http://schemas.microsoft.com/office/2006/metadata/properties"/>
    <ds:schemaRef ds:uri="http://schemas.microsoft.com/office/infopath/2007/PartnerControls"/>
    <ds:schemaRef ds:uri="http://purl.org/dc/elements/1.1/"/>
    <ds:schemaRef ds:uri="b6015720-aa74-4be3-ba0d-eab08776cb9b"/>
    <ds:schemaRef ds:uri="http://purl.org/dc/dcmityp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72389</TotalTime>
  <Words>11402</Words>
  <Application>Microsoft Office PowerPoint</Application>
  <PresentationFormat>Widescreen</PresentationFormat>
  <Paragraphs>2661</Paragraphs>
  <Slides>70</Slides>
  <Notes>59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70</vt:i4>
      </vt:variant>
    </vt:vector>
  </HeadingPairs>
  <TitlesOfParts>
    <vt:vector size="82" baseType="lpstr">
      <vt:lpstr>MS PGothic</vt:lpstr>
      <vt:lpstr>Arial</vt:lpstr>
      <vt:lpstr>Arial Narrow</vt:lpstr>
      <vt:lpstr>Calibri</vt:lpstr>
      <vt:lpstr>Cambria</vt:lpstr>
      <vt:lpstr>Franklin Gothic Medium Cond</vt:lpstr>
      <vt:lpstr>Montserrat</vt:lpstr>
      <vt:lpstr>Montserrat SemiBold</vt:lpstr>
      <vt:lpstr>Tahoma</vt:lpstr>
      <vt:lpstr>Times New Roman</vt:lpstr>
      <vt:lpstr>Wingdings</vt:lpstr>
      <vt:lpstr>16-9 MASTER TEMPLATE</vt:lpstr>
      <vt:lpstr>BÁO CÁO KỸ THUẬT (Tuần 03: 13/01/2025 – 19/01/2025)</vt:lpstr>
      <vt:lpstr>TỔNG HỢP AOG, DELAY VÀ GTB/ATB/DIV</vt:lpstr>
      <vt:lpstr>ATB/GTB COMPARISON</vt:lpstr>
      <vt:lpstr>CÁC SỰ KIỆN ATB/GTB/DIV</vt:lpstr>
      <vt:lpstr>CÁC SỰ KIỆN MOR</vt:lpstr>
      <vt:lpstr>PowerPoint Presentation</vt:lpstr>
      <vt:lpstr>TÌNH TRẠNG KỸ THUẬT ĐỘI BAY – A320/A321</vt:lpstr>
      <vt:lpstr>TÌNH TRẠNG KỸ THUẬT ĐỘI BAY – A320/A321</vt:lpstr>
      <vt:lpstr>A321 – ATA 32 – BRAKE TEMP SENSOR </vt:lpstr>
      <vt:lpstr>TÌNH TRẠNG KỸ THUẬT ĐỘI BAY A320/ A321 </vt:lpstr>
      <vt:lpstr>TÌNH TRẠNG KỸ THUẬT ĐỘI BAY – A350</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TÌNH TRẠNG KỸ THUẬT ĐỘI BAY – ATR72</vt:lpstr>
      <vt:lpstr>TÌNH TRẠNG KỸ THUẬT ĐỘI BAY – ATR72</vt:lpstr>
      <vt:lpstr>TÌNH TRẠNG KỸ THUẬT ĐỘI BAY ATR72 </vt:lpstr>
      <vt:lpstr>Dispatch Reliability W03 (13/01/2025-19/01/2025)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vt:lpstr>
      <vt:lpstr>CÁC TÀU BQDB VÀ ĐANG TRONG BẢO DƯỠNG ĐỊNH KỲ</vt:lpstr>
      <vt:lpstr>CÁC TÀU BQDB VÀ ĐANG TRONG BẢO DƯỠNG ĐỊNH KỲ</vt:lpstr>
      <vt:lpstr>PowerPoint Presentation</vt:lpstr>
      <vt:lpstr>PowerPoint Presentation</vt:lpstr>
      <vt:lpstr>PowerPoint Presentation</vt:lpstr>
      <vt:lpstr>PowerPoint Presentation</vt:lpstr>
      <vt:lpstr>NHÂN NHƯỢNG TRONG TUẦN</vt:lpstr>
      <vt:lpstr>Giờ bay trung bình trong tuần các đội tàu</vt:lpstr>
      <vt:lpstr>Số chuyến bay theo ngày trong tuần các đội tàu</vt:lpstr>
      <vt:lpstr>Số chuyến bay khai thác theo ngày</vt:lpstr>
      <vt:lpstr>A321</vt:lpstr>
      <vt:lpstr>A321</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11492</cp:revision>
  <cp:lastPrinted>2019-03-27T09:25:07Z</cp:lastPrinted>
  <dcterms:created xsi:type="dcterms:W3CDTF">2018-12-27T04:50:36Z</dcterms:created>
  <dcterms:modified xsi:type="dcterms:W3CDTF">2025-01-20T02:00:26Z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