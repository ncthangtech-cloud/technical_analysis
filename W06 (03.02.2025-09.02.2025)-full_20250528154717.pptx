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slideLayouts/slideLayout3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charts/chart4.xml" ContentType="application/vnd.openxmlformats-officedocument.drawingml.chart+xml"/>
  <Override PartName="/ppt/notesSlides/notesSlide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7.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8.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5.xml" ContentType="application/vnd.openxmlformats-officedocument.presentationml.notesSlide+xml"/>
  <Override PartName="/ppt/charts/chart9.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6.xml" ContentType="application/vnd.openxmlformats-officedocument.presentationml.notesSlide+xml"/>
  <Override PartName="/ppt/charts/chart10.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27.xml" ContentType="application/vnd.openxmlformats-officedocument.presentationml.notesSlide+xml"/>
  <Override PartName="/ppt/charts/chart11.xml" ContentType="application/vnd.openxmlformats-officedocument.drawingml.chart+xml"/>
  <Override PartName="/ppt/charts/style6.xml" ContentType="application/vnd.ms-office.chartstyle+xml"/>
  <Override PartName="/ppt/charts/colors6.xml" ContentType="application/vnd.ms-office.chartcolorstyle+xml"/>
  <Override PartName="/ppt/charts/chart12.xml" ContentType="application/vnd.openxmlformats-officedocument.drawingml.chart+xml"/>
  <Override PartName="/ppt/charts/style7.xml" ContentType="application/vnd.ms-office.chartstyle+xml"/>
  <Override PartName="/ppt/charts/colors7.xml" ContentType="application/vnd.ms-office.chartcolorstyle+xml"/>
  <Override PartName="/ppt/charts/chart13.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14.xml" ContentType="application/vnd.openxmlformats-officedocument.drawingml.chart+xml"/>
  <Override PartName="/ppt/notesSlides/notesSlide33.xml" ContentType="application/vnd.openxmlformats-officedocument.presentationml.notesSlide+xml"/>
  <Override PartName="/ppt/charts/chart15.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2.xml" ContentType="application/vnd.openxmlformats-officedocument.themeOverride+xml"/>
  <Override PartName="/ppt/notesSlides/notesSlide34.xml" ContentType="application/vnd.openxmlformats-officedocument.presentationml.notesSlide+xml"/>
  <Override PartName="/ppt/charts/chart16.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3.xml" ContentType="application/vnd.openxmlformats-officedocument.themeOverride+xml"/>
  <Override PartName="/ppt/notesSlides/notesSlide35.xml" ContentType="application/vnd.openxmlformats-officedocument.presentationml.notesSlide+xml"/>
  <Override PartName="/ppt/charts/chart17.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4.xml" ContentType="application/vnd.openxmlformats-officedocument.themeOverr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8" r:id="rId4"/>
    <p:sldMasterId id="2147483677" r:id="rId5"/>
    <p:sldMasterId id="2147483687" r:id="rId6"/>
    <p:sldMasterId id="2147483700" r:id="rId7"/>
  </p:sldMasterIdLst>
  <p:notesMasterIdLst>
    <p:notesMasterId r:id="rId75"/>
  </p:notesMasterIdLst>
  <p:sldIdLst>
    <p:sldId id="11486" r:id="rId8"/>
    <p:sldId id="11487" r:id="rId9"/>
    <p:sldId id="11488" r:id="rId10"/>
    <p:sldId id="11602" r:id="rId11"/>
    <p:sldId id="11492" r:id="rId12"/>
    <p:sldId id="11493" r:id="rId13"/>
    <p:sldId id="11603" r:id="rId14"/>
    <p:sldId id="11604" r:id="rId15"/>
    <p:sldId id="11605" r:id="rId16"/>
    <p:sldId id="11505" r:id="rId17"/>
    <p:sldId id="11606" r:id="rId18"/>
    <p:sldId id="11607" r:id="rId19"/>
    <p:sldId id="11627" r:id="rId20"/>
    <p:sldId id="11628" r:id="rId21"/>
    <p:sldId id="11608" r:id="rId22"/>
    <p:sldId id="11609" r:id="rId23"/>
    <p:sldId id="11629" r:id="rId24"/>
    <p:sldId id="11631" r:id="rId25"/>
    <p:sldId id="11610" r:id="rId26"/>
    <p:sldId id="11611" r:id="rId27"/>
    <p:sldId id="11523" r:id="rId28"/>
    <p:sldId id="11612" r:id="rId29"/>
    <p:sldId id="11613" r:id="rId30"/>
    <p:sldId id="11614" r:id="rId31"/>
    <p:sldId id="11615" r:id="rId32"/>
    <p:sldId id="11616" r:id="rId33"/>
    <p:sldId id="11617" r:id="rId34"/>
    <p:sldId id="11618" r:id="rId35"/>
    <p:sldId id="11619" r:id="rId36"/>
    <p:sldId id="11620" r:id="rId37"/>
    <p:sldId id="11621" r:id="rId38"/>
    <p:sldId id="11622" r:id="rId39"/>
    <p:sldId id="11623" r:id="rId40"/>
    <p:sldId id="11624" r:id="rId41"/>
    <p:sldId id="11625" r:id="rId42"/>
    <p:sldId id="11626" r:id="rId43"/>
    <p:sldId id="11540" r:id="rId44"/>
    <p:sldId id="11578" r:id="rId45"/>
    <p:sldId id="11579" r:id="rId46"/>
    <p:sldId id="11580" r:id="rId47"/>
    <p:sldId id="11544" r:id="rId48"/>
    <p:sldId id="11545" r:id="rId49"/>
    <p:sldId id="11575" r:id="rId50"/>
    <p:sldId id="11576" r:id="rId51"/>
    <p:sldId id="11577" r:id="rId52"/>
    <p:sldId id="11581" r:id="rId53"/>
    <p:sldId id="11582" r:id="rId54"/>
    <p:sldId id="11583" r:id="rId55"/>
    <p:sldId id="11584" r:id="rId56"/>
    <p:sldId id="11585" r:id="rId57"/>
    <p:sldId id="11586" r:id="rId58"/>
    <p:sldId id="11587" r:id="rId59"/>
    <p:sldId id="11588" r:id="rId60"/>
    <p:sldId id="11589" r:id="rId61"/>
    <p:sldId id="11590" r:id="rId62"/>
    <p:sldId id="11591" r:id="rId63"/>
    <p:sldId id="11592" r:id="rId64"/>
    <p:sldId id="11593" r:id="rId65"/>
    <p:sldId id="11594" r:id="rId66"/>
    <p:sldId id="11595" r:id="rId67"/>
    <p:sldId id="11596" r:id="rId68"/>
    <p:sldId id="11597" r:id="rId69"/>
    <p:sldId id="11598" r:id="rId70"/>
    <p:sldId id="11599" r:id="rId71"/>
    <p:sldId id="11600" r:id="rId72"/>
    <p:sldId id="11601" r:id="rId73"/>
    <p:sldId id="11570" r:id="rId74"/>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uyen Dinh Thanh" initials="NDT" lastIdx="1" clrIdx="0">
    <p:extLst>
      <p:ext uri="{19B8F6BF-5375-455C-9EA6-DF929625EA0E}">
        <p15:presenceInfo xmlns:p15="http://schemas.microsoft.com/office/powerpoint/2012/main" userId="d098a10a9a17dfc3" providerId="Windows Live"/>
      </p:ext>
    </p:extLst>
  </p:cmAuthor>
  <p:cmAuthor id="2" name="MayTinhBachVuong" initials="M" lastIdx="1" clrIdx="1">
    <p:extLst>
      <p:ext uri="{19B8F6BF-5375-455C-9EA6-DF929625EA0E}">
        <p15:presenceInfo xmlns:p15="http://schemas.microsoft.com/office/powerpoint/2012/main" userId="MayTinhBachVuo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F6E"/>
    <a:srgbClr val="FFFF00"/>
    <a:srgbClr val="0099FF"/>
    <a:srgbClr val="D2A4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6499" autoAdjust="0"/>
    <p:restoredTop sz="95337" autoAdjust="0"/>
  </p:normalViewPr>
  <p:slideViewPr>
    <p:cSldViewPr>
      <p:cViewPr varScale="1">
        <p:scale>
          <a:sx n="83" d="100"/>
          <a:sy n="83" d="100"/>
        </p:scale>
        <p:origin x="86" y="96"/>
      </p:cViewPr>
      <p:guideLst>
        <p:guide orient="horz" pos="2160"/>
        <p:guide pos="3840"/>
      </p:guideLst>
    </p:cSldViewPr>
  </p:slideViewPr>
  <p:outlineViewPr>
    <p:cViewPr>
      <p:scale>
        <a:sx n="33" d="100"/>
        <a:sy n="33" d="100"/>
      </p:scale>
      <p:origin x="0" y="-268"/>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16" Type="http://schemas.openxmlformats.org/officeDocument/2006/relationships/slide" Target="slides/slide9.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slide" Target="slides/slide59.xml"/><Relationship Id="rId74" Type="http://schemas.openxmlformats.org/officeDocument/2006/relationships/slide" Target="slides/slide67.xml"/><Relationship Id="rId79" Type="http://schemas.openxmlformats.org/officeDocument/2006/relationships/theme" Target="theme/theme1.xml"/><Relationship Id="rId5" Type="http://schemas.openxmlformats.org/officeDocument/2006/relationships/slideMaster" Target="slideMasters/slideMaster2.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slide" Target="slides/slide62.xml"/><Relationship Id="rId77" Type="http://schemas.openxmlformats.org/officeDocument/2006/relationships/presProps" Target="presProps.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80"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commentAuthors" Target="commentAuthors.xml"/><Relationship Id="rId7" Type="http://schemas.openxmlformats.org/officeDocument/2006/relationships/slideMaster" Target="slideMasters/slideMaster4.xml"/><Relationship Id="rId71" Type="http://schemas.openxmlformats.org/officeDocument/2006/relationships/slide" Target="slides/slide64.xml"/><Relationship Id="rId2" Type="http://schemas.openxmlformats.org/officeDocument/2006/relationships/customXml" Target="../customXml/item2.xml"/><Relationship Id="rId29" Type="http://schemas.openxmlformats.org/officeDocument/2006/relationships/slide" Target="slides/slide22.xml"/></Relationships>
</file>

<file path=ppt/charts/_rels/chart1.xml.rels><?xml version="1.0" encoding="UTF-8" standalone="yes"?>
<Relationships xmlns="http://schemas.openxmlformats.org/package/2006/relationships"><Relationship Id="rId2" Type="http://schemas.openxmlformats.org/officeDocument/2006/relationships/oleObject" Target="file:///D:\Documents\01.%20VNA\01.%20MOC\02.%20C&#244;ng%20vi&#7879;c%20chung\03.%20B&#225;o%20c&#225;o%20tu&#7847;n\2025%20W06\W06%20(03.02.2025-09.02.2025).xlsx"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3" Type="http://schemas.openxmlformats.org/officeDocument/2006/relationships/oleObject" Target="file:///D:\Documents\01.%20VNA\01.%20MOC\02.%20C&#244;ng%20vi&#7879;c%20chung\03.%20B&#225;o%20c&#225;o%20tu&#7847;n\2025%20W06\W06%20(03.02.2025-09.02.2025).xlsx" TargetMode="External"/><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oleObject" Target="file:///D:\Documents\01.%20VNA\01.%20MOC\02.%20C&#244;ng%20vi&#7879;c%20chung\03.%20B&#225;o%20c&#225;o%20tu&#7847;n\2025%20W06\W06%20(03.02.2025-09.02.2025).xlsx" TargetMode="External"/><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1" Type="http://schemas.openxmlformats.org/officeDocument/2006/relationships/oleObject" Target="file:///D:\Documents\01.%20VNA\01.%20MOC\02.%20C&#244;ng%20vi&#7879;c%20chung\03.%20B&#225;o%20c&#225;o%20tu&#7847;n\2025%20W06\W06%20(03.02.2025-09.02.2025).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D:\Documents\01.%20VNA\01.%20MOC\02.%20C&#244;ng%20vi&#7879;c%20chung\03.%20B&#225;o%20c&#225;o%20tu&#7847;n\2025%20W06\W06%20(03.02.2025-09.02.2025).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D:\Documents\01.%20VNA\01.%20MOC\02.%20C&#244;ng%20vi&#7879;c%20chung\03.%20B&#225;o%20c&#225;o%20tu&#7847;n\2025%20W06\W06%20(03.02.2025-09.02.2025).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D:\GOOGLE%20DRIVE-cty\BAO%20CAO%20DO%20TIN%20CAY\BAO%20CAO%20TUAN\BC%20chu%20nhat\2025\06\DR\DR-W06.xlsx" TargetMode="Externa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3.xml"/><Relationship Id="rId1" Type="http://schemas.microsoft.com/office/2011/relationships/chartStyle" Target="style3.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4.xml"/><Relationship Id="rId1" Type="http://schemas.microsoft.com/office/2011/relationships/chartStyle" Target="style4.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5.xml"/><Relationship Id="rId1" Type="http://schemas.microsoft.com/office/2011/relationships/chartStyle" Target="style5.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6.xml"/><Relationship Id="rId1" Type="http://schemas.microsoft.com/office/2011/relationships/chartStyle" Target="style6.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7.xml"/><Relationship Id="rId1" Type="http://schemas.microsoft.com/office/2011/relationships/chartStyle" Target="style7.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8.xml"/><Relationship Id="rId1" Type="http://schemas.microsoft.com/office/2011/relationships/chartStyle" Target="style8.xml"/></Relationships>
</file>

<file path=ppt/charts/_rels/chart14.xml.rels><?xml version="1.0" encoding="UTF-8" standalone="yes"?>
<Relationships xmlns="http://schemas.openxmlformats.org/package/2006/relationships"><Relationship Id="rId1" Type="http://schemas.openxmlformats.org/officeDocument/2006/relationships/oleObject" Target="file:///D:\Documents\01.%20VNA\01.%20MOC\02.%20C&#244;ng%20vi&#7879;c%20chung\03.%20B&#225;o%20c&#225;o%20tu&#7847;n\2025%20W06\W06%20(03.02.2025-09.02.2025).xlsx" TargetMode="External"/></Relationships>
</file>

<file path=ppt/charts/_rels/chart15.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oleObject" Target="file:///D:\P.MOC\B&#225;o%20c&#225;o%20tu&#7847;n\L&#7883;ch%20bay%20h&#224;ng%20tu&#7847;n%202025.xlsx" TargetMode="External"/></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file:///D:\P.MOC\B&#225;o%20c&#225;o%20tu&#7847;n\L&#7883;ch%20bay%20h&#224;ng%20tu&#7847;n%202025.xlsx" TargetMode="External"/></Relationships>
</file>

<file path=ppt/charts/_rels/chart17.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oleObject" Target="file:///D:\P.MOC\B&#225;o%20c&#225;o%20tu&#7847;n\L&#7883;ch%20bay%20h&#224;ng%20tu&#7847;n%20202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defRPr sz="1600">
                <a:latin typeface="Times New Roman" panose="02020603050405020304" pitchFamily="18" charset="0"/>
                <a:cs typeface="Times New Roman" panose="02020603050405020304" pitchFamily="18" charset="0"/>
              </a:defRPr>
            </a:pPr>
            <a:r>
              <a:rPr lang="en-US" sz="1600">
                <a:latin typeface="Times New Roman" panose="02020603050405020304" pitchFamily="18" charset="0"/>
                <a:cs typeface="Times New Roman" panose="02020603050405020304" pitchFamily="18" charset="0"/>
              </a:rPr>
              <a:t>Delay</a:t>
            </a:r>
          </a:p>
        </c:rich>
      </c:tx>
      <c:layout>
        <c:manualLayout>
          <c:xMode val="edge"/>
          <c:yMode val="edge"/>
          <c:x val="0.42060411198600178"/>
          <c:y val="2.7777777777777776E-2"/>
        </c:manualLayout>
      </c:layout>
      <c:overlay val="0"/>
      <c:spPr>
        <a:noFill/>
        <a:ln>
          <a:noFill/>
        </a:ln>
        <a:effectLst/>
      </c:spPr>
    </c:title>
    <c:autoTitleDeleted val="0"/>
    <c:plotArea>
      <c:layout/>
      <c:barChart>
        <c:barDir val="col"/>
        <c:grouping val="clustered"/>
        <c:varyColors val="0"/>
        <c:ser>
          <c:idx val="0"/>
          <c:order val="0"/>
          <c:tx>
            <c:strRef>
              <c:f>'[W06 (03.02.2025-09.02.2025).xlsx]Data Chart'!$C$9</c:f>
              <c:strCache>
                <c:ptCount val="1"/>
                <c:pt idx="0">
                  <c:v>Last week</c:v>
                </c:pt>
              </c:strCache>
              <c:extLst xmlns:c15="http://schemas.microsoft.com/office/drawing/2012/chart"/>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'[W06 (03.02.2025-09.02.2025).xlsx]Data Chart'!$B$10:$B$15</c:f>
              <c:strCache>
                <c:ptCount val="6"/>
                <c:pt idx="0">
                  <c:v>A320</c:v>
                </c:pt>
                <c:pt idx="1">
                  <c:v>A321</c:v>
                </c:pt>
                <c:pt idx="2">
                  <c:v>A350</c:v>
                </c:pt>
                <c:pt idx="3">
                  <c:v>B787</c:v>
                </c:pt>
                <c:pt idx="4">
                  <c:v>ATR72</c:v>
                </c:pt>
                <c:pt idx="5">
                  <c:v>Tất cả</c:v>
                </c:pt>
              </c:strCache>
              <c:extLst xmlns:c15="http://schemas.microsoft.com/office/drawing/2012/chart"/>
            </c:strRef>
          </c:cat>
          <c:val>
            <c:numRef>
              <c:f>'[W06 (03.02.2025-09.02.2025).xlsx]Data Chart'!$C$10:$C$15</c:f>
              <c:numCache>
                <c:formatCode>General</c:formatCode>
                <c:ptCount val="6"/>
                <c:pt idx="0">
                  <c:v>0</c:v>
                </c:pt>
                <c:pt idx="1">
                  <c:v>6</c:v>
                </c:pt>
                <c:pt idx="2">
                  <c:v>4</c:v>
                </c:pt>
                <c:pt idx="3">
                  <c:v>2</c:v>
                </c:pt>
                <c:pt idx="4">
                  <c:v>0</c:v>
                </c:pt>
                <c:pt idx="5">
                  <c:v>12</c:v>
                </c:pt>
              </c:numCache>
              <c:extLst xmlns:c15="http://schemas.microsoft.com/office/drawing/2012/chart"/>
            </c:numRef>
          </c:val>
          <c:extLst xmlns:c15="http://schemas.microsoft.com/office/drawing/2012/chart">
            <c:ext xmlns:c16="http://schemas.microsoft.com/office/drawing/2014/chart" uri="{C3380CC4-5D6E-409C-BE32-E72D297353CC}">
              <c16:uniqueId val="{00000000-E885-4E3B-AB1B-D6D28C7AE7D8}"/>
            </c:ext>
          </c:extLst>
        </c:ser>
        <c:ser>
          <c:idx val="1"/>
          <c:order val="1"/>
          <c:tx>
            <c:strRef>
              <c:f>'[W06 (03.02.2025-09.02.2025).xlsx]Data Chart'!$D$9</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000">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'[W06 (03.02.2025-09.02.2025).xlsx]Data Chart'!$B$10:$B$15</c:f>
              <c:strCache>
                <c:ptCount val="6"/>
                <c:pt idx="0">
                  <c:v>A320</c:v>
                </c:pt>
                <c:pt idx="1">
                  <c:v>A321</c:v>
                </c:pt>
                <c:pt idx="2">
                  <c:v>A350</c:v>
                </c:pt>
                <c:pt idx="3">
                  <c:v>B787</c:v>
                </c:pt>
                <c:pt idx="4">
                  <c:v>ATR72</c:v>
                </c:pt>
                <c:pt idx="5">
                  <c:v>Tất cả</c:v>
                </c:pt>
              </c:strCache>
            </c:strRef>
          </c:cat>
          <c:val>
            <c:numRef>
              <c:f>'[W06 (03.02.2025-09.02.2025).xlsx]Data Chart'!$D$10:$D$15</c:f>
              <c:numCache>
                <c:formatCode>General</c:formatCode>
                <c:ptCount val="6"/>
                <c:pt idx="0">
                  <c:v>0</c:v>
                </c:pt>
                <c:pt idx="1">
                  <c:v>2</c:v>
                </c:pt>
                <c:pt idx="2">
                  <c:v>4</c:v>
                </c:pt>
                <c:pt idx="3">
                  <c:v>4</c:v>
                </c:pt>
                <c:pt idx="4">
                  <c:v>1</c:v>
                </c:pt>
                <c:pt idx="5">
                  <c:v>11</c:v>
                </c:pt>
              </c:numCache>
            </c:numRef>
          </c:val>
          <c:extLst>
            <c:ext xmlns:c16="http://schemas.microsoft.com/office/drawing/2014/chart" uri="{C3380CC4-5D6E-409C-BE32-E72D297353CC}">
              <c16:uniqueId val="{00000001-E885-4E3B-AB1B-D6D28C7AE7D8}"/>
            </c:ext>
          </c:extLst>
        </c:ser>
        <c:dLbls>
          <c:dLblPos val="outEnd"/>
          <c:showLegendKey val="0"/>
          <c:showVal val="1"/>
          <c:showCatName val="0"/>
          <c:showSerName val="0"/>
          <c:showPercent val="0"/>
          <c:showBubbleSize val="0"/>
        </c:dLbls>
        <c:gapWidth val="219"/>
        <c:overlap val="-27"/>
        <c:axId val="313732480"/>
        <c:axId val="313738360"/>
        <c:extLst/>
      </c:barChart>
      <c:catAx>
        <c:axId val="3137324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13738360"/>
        <c:crosses val="autoZero"/>
        <c:auto val="1"/>
        <c:lblAlgn val="ctr"/>
        <c:lblOffset val="100"/>
        <c:noMultiLvlLbl val="0"/>
      </c:catAx>
      <c:valAx>
        <c:axId val="3137383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13732480"/>
        <c:crosses val="autoZero"/>
        <c:crossBetween val="between"/>
        <c:majorUnit val="5"/>
      </c:valAx>
      <c:spPr>
        <a:noFill/>
        <a:ln>
          <a:noFill/>
        </a:ln>
        <a:effectLst/>
      </c:spPr>
    </c:plotArea>
    <c:legend>
      <c:legendPos val="b"/>
      <c:layout>
        <c:manualLayout>
          <c:xMode val="edge"/>
          <c:yMode val="edge"/>
          <c:x val="0.28759995625546803"/>
          <c:y val="0.89409667541557303"/>
          <c:w val="0.53172947799883274"/>
          <c:h val="7.8125546806649168E-2"/>
        </c:manualLayout>
      </c:layout>
      <c:overlay val="0"/>
      <c:spPr>
        <a:noFill/>
        <a:ln>
          <a:noFill/>
        </a:ln>
        <a:effectLst/>
      </c:spPr>
      <c:txPr>
        <a:bodyPr rot="0" vert="horz"/>
        <a:lstStyle/>
        <a:p>
          <a:pPr>
            <a:defRPr>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a:latin typeface="+mn-lt"/>
          <a:cs typeface="Times New Roman" panose="02020603050405020304" pitchFamily="18" charset="0"/>
        </a:defRPr>
      </a:pPr>
      <a:endParaRPr lang="en-US"/>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AOG</a:t>
            </a:r>
          </a:p>
        </c:rich>
      </c:tx>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'[W06 (03.02.2025-09.02.2025).xlsx]Data Chart'!$C$1</c:f>
              <c:strCache>
                <c:ptCount val="1"/>
                <c:pt idx="0">
                  <c:v>Last week</c:v>
                </c:pt>
              </c:strCache>
              <c:extLst xmlns:c15="http://schemas.microsoft.com/office/drawing/2012/chart"/>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'[W06 (03.02.2025-09.02.2025).xlsx]Data Chart'!$B$2:$B$7</c:f>
              <c:strCache>
                <c:ptCount val="6"/>
                <c:pt idx="0">
                  <c:v>A320</c:v>
                </c:pt>
                <c:pt idx="1">
                  <c:v>A321</c:v>
                </c:pt>
                <c:pt idx="2">
                  <c:v>A350</c:v>
                </c:pt>
                <c:pt idx="3">
                  <c:v>B787</c:v>
                </c:pt>
                <c:pt idx="4">
                  <c:v>ATR72</c:v>
                </c:pt>
                <c:pt idx="5">
                  <c:v>Tất cả</c:v>
                </c:pt>
              </c:strCache>
              <c:extLst xmlns:c15="http://schemas.microsoft.com/office/drawing/2012/chart"/>
            </c:strRef>
          </c:cat>
          <c:val>
            <c:numRef>
              <c:f>'[W06 (03.02.2025-09.02.2025).xlsx]Data Chart'!$C$2:$C$7</c:f>
              <c:numCache>
                <c:formatCode>General</c:formatCode>
                <c:ptCount val="6"/>
                <c:pt idx="0">
                  <c:v>0</c:v>
                </c:pt>
                <c:pt idx="1">
                  <c:v>1</c:v>
                </c:pt>
                <c:pt idx="2">
                  <c:v>0</c:v>
                </c:pt>
                <c:pt idx="3">
                  <c:v>1</c:v>
                </c:pt>
                <c:pt idx="4">
                  <c:v>0</c:v>
                </c:pt>
                <c:pt idx="5">
                  <c:v>2</c:v>
                </c:pt>
              </c:numCache>
              <c:extLst xmlns:c15="http://schemas.microsoft.com/office/drawing/2012/chart"/>
            </c:numRef>
          </c:val>
          <c:extLst xmlns:c15="http://schemas.microsoft.com/office/drawing/2012/chart">
            <c:ext xmlns:c16="http://schemas.microsoft.com/office/drawing/2014/chart" uri="{C3380CC4-5D6E-409C-BE32-E72D297353CC}">
              <c16:uniqueId val="{00000000-11A5-492B-BCD4-58440D58A4C1}"/>
            </c:ext>
          </c:extLst>
        </c:ser>
        <c:ser>
          <c:idx val="1"/>
          <c:order val="1"/>
          <c:tx>
            <c:strRef>
              <c:f>'[W06 (03.02.2025-09.02.2025).xlsx]Data Chart'!$D$1</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'[W06 (03.02.2025-09.02.2025).xlsx]Data Chart'!$B$2:$B$7</c:f>
              <c:strCache>
                <c:ptCount val="6"/>
                <c:pt idx="0">
                  <c:v>A320</c:v>
                </c:pt>
                <c:pt idx="1">
                  <c:v>A321</c:v>
                </c:pt>
                <c:pt idx="2">
                  <c:v>A350</c:v>
                </c:pt>
                <c:pt idx="3">
                  <c:v>B787</c:v>
                </c:pt>
                <c:pt idx="4">
                  <c:v>ATR72</c:v>
                </c:pt>
                <c:pt idx="5">
                  <c:v>Tất cả</c:v>
                </c:pt>
              </c:strCache>
            </c:strRef>
          </c:cat>
          <c:val>
            <c:numRef>
              <c:f>'[W06 (03.02.2025-09.02.2025).xlsx]Data Chart'!$D$2:$D$7</c:f>
              <c:numCache>
                <c:formatCode>General</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1-11A5-492B-BCD4-58440D58A4C1}"/>
            </c:ext>
          </c:extLst>
        </c:ser>
        <c:dLbls>
          <c:dLblPos val="outEnd"/>
          <c:showLegendKey val="0"/>
          <c:showVal val="1"/>
          <c:showCatName val="0"/>
          <c:showSerName val="0"/>
          <c:showPercent val="0"/>
          <c:showBubbleSize val="0"/>
        </c:dLbls>
        <c:gapWidth val="219"/>
        <c:overlap val="-27"/>
        <c:axId val="314614112"/>
        <c:axId val="314610192"/>
        <c:extLst/>
      </c:barChart>
      <c:catAx>
        <c:axId val="314614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4610192"/>
        <c:crosses val="autoZero"/>
        <c:auto val="1"/>
        <c:lblAlgn val="ctr"/>
        <c:lblOffset val="100"/>
        <c:noMultiLvlLbl val="0"/>
      </c:catAx>
      <c:valAx>
        <c:axId val="3146101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4614112"/>
        <c:crosses val="autoZero"/>
        <c:crossBetween val="between"/>
        <c:majorUnit val="3"/>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a:glow>
        <a:schemeClr val="accent1">
          <a:alpha val="40000"/>
        </a:schemeClr>
      </a:glow>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i="0" baseline="0">
                <a:solidFill>
                  <a:schemeClr val="tx1"/>
                </a:solidFill>
                <a:effectLst/>
                <a:latin typeface="Times New Roman" panose="02020603050405020304" pitchFamily="18" charset="0"/>
                <a:cs typeface="Times New Roman" panose="02020603050405020304" pitchFamily="18" charset="0"/>
              </a:rPr>
              <a:t>Thống kê ATB</a:t>
            </a:r>
            <a:endParaRPr lang="en-US" sz="1600">
              <a:solidFill>
                <a:schemeClr val="tx1"/>
              </a:solidFill>
              <a:effectLst/>
              <a:latin typeface="Times New Roman" panose="02020603050405020304" pitchFamily="18" charset="0"/>
              <a:cs typeface="Times New Roman" panose="02020603050405020304" pitchFamily="18" charset="0"/>
            </a:endParaRPr>
          </a:p>
        </c:rich>
      </c:tx>
      <c:layout/>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'[W06 (03.02.2025-09.02.2025).xlsx]Data Chart'!$C$26</c:f>
              <c:strCache>
                <c:ptCount val="1"/>
                <c:pt idx="0">
                  <c:v>Last week</c:v>
                </c:pt>
              </c:strCache>
              <c:extLst xmlns:c15="http://schemas.microsoft.com/office/drawing/2012/chart"/>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'[W06 (03.02.2025-09.02.2025).xlsx]Data Chart'!$B$27:$B$32</c:f>
              <c:strCache>
                <c:ptCount val="6"/>
                <c:pt idx="0">
                  <c:v>A320</c:v>
                </c:pt>
                <c:pt idx="1">
                  <c:v>A321</c:v>
                </c:pt>
                <c:pt idx="2">
                  <c:v>A350</c:v>
                </c:pt>
                <c:pt idx="3">
                  <c:v>B787</c:v>
                </c:pt>
                <c:pt idx="4">
                  <c:v>ATR72</c:v>
                </c:pt>
                <c:pt idx="5">
                  <c:v>Tất cả</c:v>
                </c:pt>
              </c:strCache>
              <c:extLst xmlns:c15="http://schemas.microsoft.com/office/drawing/2012/chart"/>
            </c:strRef>
          </c:cat>
          <c:val>
            <c:numRef>
              <c:f>'[W06 (03.02.2025-09.02.2025).xlsx]Data Chart'!$C$27:$C$32</c:f>
              <c:numCache>
                <c:formatCode>General</c:formatCode>
                <c:ptCount val="6"/>
                <c:pt idx="0">
                  <c:v>0</c:v>
                </c:pt>
                <c:pt idx="1">
                  <c:v>0</c:v>
                </c:pt>
                <c:pt idx="2">
                  <c:v>0</c:v>
                </c:pt>
                <c:pt idx="3">
                  <c:v>0</c:v>
                </c:pt>
                <c:pt idx="4">
                  <c:v>0</c:v>
                </c:pt>
                <c:pt idx="5">
                  <c:v>0</c:v>
                </c:pt>
              </c:numCache>
              <c:extLst xmlns:c15="http://schemas.microsoft.com/office/drawing/2012/chart"/>
            </c:numRef>
          </c:val>
          <c:extLst xmlns:c15="http://schemas.microsoft.com/office/drawing/2012/chart">
            <c:ext xmlns:c16="http://schemas.microsoft.com/office/drawing/2014/chart" uri="{C3380CC4-5D6E-409C-BE32-E72D297353CC}">
              <c16:uniqueId val="{00000000-C063-4CD3-A352-58162EAF0326}"/>
            </c:ext>
          </c:extLst>
        </c:ser>
        <c:ser>
          <c:idx val="1"/>
          <c:order val="1"/>
          <c:tx>
            <c:strRef>
              <c:f>'[W06 (03.02.2025-09.02.2025).xlsx]Data Chart'!$D$26</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'[W06 (03.02.2025-09.02.2025).xlsx]Data Chart'!$B$27:$B$32</c:f>
              <c:strCache>
                <c:ptCount val="6"/>
                <c:pt idx="0">
                  <c:v>A320</c:v>
                </c:pt>
                <c:pt idx="1">
                  <c:v>A321</c:v>
                </c:pt>
                <c:pt idx="2">
                  <c:v>A350</c:v>
                </c:pt>
                <c:pt idx="3">
                  <c:v>B787</c:v>
                </c:pt>
                <c:pt idx="4">
                  <c:v>ATR72</c:v>
                </c:pt>
                <c:pt idx="5">
                  <c:v>Tất cả</c:v>
                </c:pt>
              </c:strCache>
            </c:strRef>
          </c:cat>
          <c:val>
            <c:numRef>
              <c:f>'[W06 (03.02.2025-09.02.2025).xlsx]Data Chart'!$D$27:$D$32</c:f>
              <c:numCache>
                <c:formatCode>General</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1-C063-4CD3-A352-58162EAF0326}"/>
            </c:ext>
          </c:extLst>
        </c:ser>
        <c:dLbls>
          <c:showLegendKey val="0"/>
          <c:showVal val="0"/>
          <c:showCatName val="0"/>
          <c:showSerName val="0"/>
          <c:showPercent val="0"/>
          <c:showBubbleSize val="0"/>
        </c:dLbls>
        <c:gapWidth val="219"/>
        <c:overlap val="-27"/>
        <c:axId val="314609408"/>
        <c:axId val="314610976"/>
        <c:extLst/>
      </c:barChart>
      <c:catAx>
        <c:axId val="314609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4610976"/>
        <c:crosses val="autoZero"/>
        <c:auto val="1"/>
        <c:lblAlgn val="ctr"/>
        <c:lblOffset val="100"/>
        <c:noMultiLvlLbl val="0"/>
      </c:catAx>
      <c:valAx>
        <c:axId val="3146109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4609408"/>
        <c:crosses val="autoZero"/>
        <c:crossBetween val="between"/>
        <c:majorUnit val="1"/>
      </c:valAx>
      <c:spPr>
        <a:noFill/>
        <a:ln>
          <a:noFill/>
        </a:ln>
        <a:effectLst/>
      </c:spPr>
    </c:plotArea>
    <c:legend>
      <c:legendPos val="b"/>
      <c:layout>
        <c:manualLayout>
          <c:xMode val="edge"/>
          <c:yMode val="edge"/>
          <c:x val="0.30501405613658977"/>
          <c:y val="0.87827375237682981"/>
          <c:w val="0.50965540838670731"/>
          <c:h val="9.8401482124286316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12700" cap="flat" cmpd="sng" algn="ctr">
      <a:solidFill>
        <a:schemeClr val="tx1"/>
      </a:solid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Thống</a:t>
            </a:r>
            <a:r>
              <a:rPr lang="en-US" sz="1600" b="1" baseline="0">
                <a:solidFill>
                  <a:schemeClr val="tx1"/>
                </a:solidFill>
                <a:latin typeface="Times New Roman" panose="02020603050405020304" pitchFamily="18" charset="0"/>
                <a:cs typeface="Times New Roman" panose="02020603050405020304" pitchFamily="18" charset="0"/>
              </a:rPr>
              <a:t> kê </a:t>
            </a:r>
            <a:r>
              <a:rPr lang="en-US" sz="1600" b="1">
                <a:solidFill>
                  <a:schemeClr val="tx1"/>
                </a:solidFill>
                <a:latin typeface="Times New Roman" panose="02020603050405020304" pitchFamily="18" charset="0"/>
                <a:cs typeface="Times New Roman" panose="02020603050405020304" pitchFamily="18" charset="0"/>
              </a:rPr>
              <a:t>GTB</a:t>
            </a:r>
          </a:p>
        </c:rich>
      </c:tx>
      <c:layout/>
      <c:overlay val="0"/>
      <c:spPr>
        <a:noFill/>
        <a:ln>
          <a:noFill/>
        </a:ln>
        <a:effectLst/>
      </c:spPr>
    </c:title>
    <c:autoTitleDeleted val="0"/>
    <c:plotArea>
      <c:layout>
        <c:manualLayout>
          <c:layoutTarget val="inner"/>
          <c:xMode val="edge"/>
          <c:yMode val="edge"/>
          <c:x val="4.8553271516007079E-2"/>
          <c:y val="0.23258718451685151"/>
          <c:w val="0.92392962136768553"/>
          <c:h val="0.51878764300478664"/>
        </c:manualLayout>
      </c:layout>
      <c:barChart>
        <c:barDir val="col"/>
        <c:grouping val="clustered"/>
        <c:varyColors val="0"/>
        <c:ser>
          <c:idx val="0"/>
          <c:order val="0"/>
          <c:tx>
            <c:strRef>
              <c:f>'Data Chart'!$C$19</c:f>
              <c:strCache>
                <c:ptCount val="1"/>
                <c:pt idx="0">
                  <c:v>Last week</c:v>
                </c:pt>
              </c:strCache>
              <c:extLst xmlns:c15="http://schemas.microsoft.com/office/drawing/2012/chart"/>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Chart'!$B$20:$B$25</c:f>
              <c:strCache>
                <c:ptCount val="6"/>
                <c:pt idx="0">
                  <c:v>A320</c:v>
                </c:pt>
                <c:pt idx="1">
                  <c:v>A321</c:v>
                </c:pt>
                <c:pt idx="2">
                  <c:v>A350</c:v>
                </c:pt>
                <c:pt idx="3">
                  <c:v>B787</c:v>
                </c:pt>
                <c:pt idx="4">
                  <c:v>ATR72</c:v>
                </c:pt>
                <c:pt idx="5">
                  <c:v>Tất cả</c:v>
                </c:pt>
              </c:strCache>
              <c:extLst xmlns:c15="http://schemas.microsoft.com/office/drawing/2012/chart"/>
            </c:strRef>
          </c:cat>
          <c:val>
            <c:numRef>
              <c:f>'Data Chart'!$C$20:$C$25</c:f>
              <c:numCache>
                <c:formatCode>General</c:formatCode>
                <c:ptCount val="6"/>
                <c:pt idx="0">
                  <c:v>0</c:v>
                </c:pt>
                <c:pt idx="1">
                  <c:v>1</c:v>
                </c:pt>
                <c:pt idx="2">
                  <c:v>1</c:v>
                </c:pt>
                <c:pt idx="3">
                  <c:v>1</c:v>
                </c:pt>
                <c:pt idx="4">
                  <c:v>0</c:v>
                </c:pt>
                <c:pt idx="5">
                  <c:v>3</c:v>
                </c:pt>
              </c:numCache>
              <c:extLst xmlns:c15="http://schemas.microsoft.com/office/drawing/2012/chart"/>
            </c:numRef>
          </c:val>
          <c:extLst xmlns:c15="http://schemas.microsoft.com/office/drawing/2012/chart">
            <c:ext xmlns:c16="http://schemas.microsoft.com/office/drawing/2014/chart" uri="{C3380CC4-5D6E-409C-BE32-E72D297353CC}">
              <c16:uniqueId val="{00000000-4DB2-45E6-9B9B-BF3B15BF09DA}"/>
            </c:ext>
          </c:extLst>
        </c:ser>
        <c:ser>
          <c:idx val="1"/>
          <c:order val="1"/>
          <c:tx>
            <c:strRef>
              <c:f>'Data Chart'!$D$19</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Chart'!$B$20:$B$25</c:f>
              <c:strCache>
                <c:ptCount val="6"/>
                <c:pt idx="0">
                  <c:v>A320</c:v>
                </c:pt>
                <c:pt idx="1">
                  <c:v>A321</c:v>
                </c:pt>
                <c:pt idx="2">
                  <c:v>A350</c:v>
                </c:pt>
                <c:pt idx="3">
                  <c:v>B787</c:v>
                </c:pt>
                <c:pt idx="4">
                  <c:v>ATR72</c:v>
                </c:pt>
                <c:pt idx="5">
                  <c:v>Tất cả</c:v>
                </c:pt>
              </c:strCache>
            </c:strRef>
          </c:cat>
          <c:val>
            <c:numRef>
              <c:f>'Data Chart'!$D$20:$D$25</c:f>
              <c:numCache>
                <c:formatCode>General</c:formatCode>
                <c:ptCount val="6"/>
                <c:pt idx="0">
                  <c:v>0</c:v>
                </c:pt>
                <c:pt idx="1">
                  <c:v>0</c:v>
                </c:pt>
                <c:pt idx="2">
                  <c:v>0</c:v>
                </c:pt>
                <c:pt idx="3">
                  <c:v>1</c:v>
                </c:pt>
                <c:pt idx="4">
                  <c:v>0</c:v>
                </c:pt>
                <c:pt idx="5">
                  <c:v>1</c:v>
                </c:pt>
              </c:numCache>
            </c:numRef>
          </c:val>
          <c:extLst>
            <c:ext xmlns:c16="http://schemas.microsoft.com/office/drawing/2014/chart" uri="{C3380CC4-5D6E-409C-BE32-E72D297353CC}">
              <c16:uniqueId val="{00000001-4DB2-45E6-9B9B-BF3B15BF09DA}"/>
            </c:ext>
          </c:extLst>
        </c:ser>
        <c:dLbls>
          <c:showLegendKey val="0"/>
          <c:showVal val="0"/>
          <c:showCatName val="0"/>
          <c:showSerName val="0"/>
          <c:showPercent val="0"/>
          <c:showBubbleSize val="0"/>
        </c:dLbls>
        <c:gapWidth val="219"/>
        <c:overlap val="-27"/>
        <c:axId val="313737184"/>
        <c:axId val="313736400"/>
        <c:extLst/>
      </c:barChart>
      <c:catAx>
        <c:axId val="3137371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3736400"/>
        <c:crosses val="autoZero"/>
        <c:auto val="1"/>
        <c:lblAlgn val="ctr"/>
        <c:lblOffset val="100"/>
        <c:noMultiLvlLbl val="0"/>
      </c:catAx>
      <c:valAx>
        <c:axId val="3137364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3737184"/>
        <c:crosses val="autoZero"/>
        <c:crossBetween val="between"/>
        <c:majorUnit val="1"/>
      </c:valAx>
      <c:spPr>
        <a:noFill/>
        <a:ln>
          <a:noFill/>
        </a:ln>
        <a:effectLst/>
      </c:spPr>
    </c:plotArea>
    <c:legend>
      <c:legendPos val="b"/>
      <c:layout>
        <c:manualLayout>
          <c:xMode val="edge"/>
          <c:yMode val="edge"/>
          <c:x val="0.23472701799472892"/>
          <c:y val="0.88146435647144594"/>
          <c:w val="0.56147071762910628"/>
          <c:h val="9.517110362403696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ATB Comparison</a:t>
            </a:r>
          </a:p>
        </c:rich>
      </c:tx>
      <c:layout/>
      <c:overlay val="0"/>
      <c:spPr>
        <a:noFill/>
        <a:ln>
          <a:noFill/>
        </a:ln>
        <a:effectLst/>
      </c:spPr>
    </c:title>
    <c:autoTitleDeleted val="0"/>
    <c:plotArea>
      <c:layout/>
      <c:lineChart>
        <c:grouping val="standard"/>
        <c:varyColors val="0"/>
        <c:ser>
          <c:idx val="0"/>
          <c:order val="0"/>
          <c:tx>
            <c:v>ATB in 2024</c:v>
          </c:tx>
          <c:spPr>
            <a:ln w="19050" cap="rnd">
              <a:solidFill>
                <a:srgbClr val="FFC000"/>
              </a:solidFill>
              <a:round/>
            </a:ln>
            <a:effectLst/>
          </c:spPr>
          <c:marker>
            <c:symbol val="circle"/>
            <c:size val="5"/>
            <c:spPr>
              <a:solidFill>
                <a:srgbClr val="FFC000"/>
              </a:solidFill>
              <a:ln w="9525">
                <a:solidFill>
                  <a:srgbClr val="FFC000"/>
                </a:solidFill>
              </a:ln>
              <a:effectLst/>
            </c:spPr>
          </c:marker>
          <c:cat>
            <c:numRef>
              <c:f>'[W06 (03.02.2025-09.02.2025).xlsx]Thống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'[W06 (03.02.2025-09.02.2025).xlsx]Thống kê ATB, GTB'!$B$3:$B$54</c:f>
              <c:numCache>
                <c:formatCode>General</c:formatCode>
                <c:ptCount val="52"/>
                <c:pt idx="0">
                  <c:v>1</c:v>
                </c:pt>
                <c:pt idx="1">
                  <c:v>1</c:v>
                </c:pt>
                <c:pt idx="2">
                  <c:v>1</c:v>
                </c:pt>
                <c:pt idx="3">
                  <c:v>0</c:v>
                </c:pt>
                <c:pt idx="4">
                  <c:v>1</c:v>
                </c:pt>
                <c:pt idx="5">
                  <c:v>0</c:v>
                </c:pt>
                <c:pt idx="6">
                  <c:v>1</c:v>
                </c:pt>
                <c:pt idx="7">
                  <c:v>0</c:v>
                </c:pt>
                <c:pt idx="8">
                  <c:v>0</c:v>
                </c:pt>
                <c:pt idx="9">
                  <c:v>0</c:v>
                </c:pt>
                <c:pt idx="10">
                  <c:v>0</c:v>
                </c:pt>
                <c:pt idx="11">
                  <c:v>0</c:v>
                </c:pt>
                <c:pt idx="12">
                  <c:v>0</c:v>
                </c:pt>
                <c:pt idx="13">
                  <c:v>0</c:v>
                </c:pt>
                <c:pt idx="14">
                  <c:v>0</c:v>
                </c:pt>
                <c:pt idx="15">
                  <c:v>0</c:v>
                </c:pt>
                <c:pt idx="16">
                  <c:v>0</c:v>
                </c:pt>
                <c:pt idx="17">
                  <c:v>0</c:v>
                </c:pt>
                <c:pt idx="18">
                  <c:v>0</c:v>
                </c:pt>
                <c:pt idx="19">
                  <c:v>1</c:v>
                </c:pt>
                <c:pt idx="20">
                  <c:v>0</c:v>
                </c:pt>
                <c:pt idx="21">
                  <c:v>0</c:v>
                </c:pt>
                <c:pt idx="22">
                  <c:v>1</c:v>
                </c:pt>
                <c:pt idx="23">
                  <c:v>0</c:v>
                </c:pt>
                <c:pt idx="24">
                  <c:v>0</c:v>
                </c:pt>
                <c:pt idx="25">
                  <c:v>0</c:v>
                </c:pt>
                <c:pt idx="26">
                  <c:v>1</c:v>
                </c:pt>
                <c:pt idx="27">
                  <c:v>2</c:v>
                </c:pt>
                <c:pt idx="28">
                  <c:v>0</c:v>
                </c:pt>
                <c:pt idx="29">
                  <c:v>2</c:v>
                </c:pt>
                <c:pt idx="30">
                  <c:v>0</c:v>
                </c:pt>
                <c:pt idx="31">
                  <c:v>0</c:v>
                </c:pt>
                <c:pt idx="32">
                  <c:v>0</c:v>
                </c:pt>
                <c:pt idx="33">
                  <c:v>0</c:v>
                </c:pt>
                <c:pt idx="34">
                  <c:v>0</c:v>
                </c:pt>
                <c:pt idx="35">
                  <c:v>0</c:v>
                </c:pt>
                <c:pt idx="36">
                  <c:v>1</c:v>
                </c:pt>
                <c:pt idx="37">
                  <c:v>0</c:v>
                </c:pt>
                <c:pt idx="38">
                  <c:v>1</c:v>
                </c:pt>
                <c:pt idx="39">
                  <c:v>0</c:v>
                </c:pt>
                <c:pt idx="40">
                  <c:v>1</c:v>
                </c:pt>
                <c:pt idx="41">
                  <c:v>0</c:v>
                </c:pt>
                <c:pt idx="42">
                  <c:v>0</c:v>
                </c:pt>
                <c:pt idx="43">
                  <c:v>1</c:v>
                </c:pt>
                <c:pt idx="44">
                  <c:v>0</c:v>
                </c:pt>
                <c:pt idx="45">
                  <c:v>0</c:v>
                </c:pt>
                <c:pt idx="46">
                  <c:v>0</c:v>
                </c:pt>
                <c:pt idx="47">
                  <c:v>1</c:v>
                </c:pt>
                <c:pt idx="48">
                  <c:v>0</c:v>
                </c:pt>
                <c:pt idx="49">
                  <c:v>2</c:v>
                </c:pt>
                <c:pt idx="50">
                  <c:v>1</c:v>
                </c:pt>
                <c:pt idx="51">
                  <c:v>0</c:v>
                </c:pt>
              </c:numCache>
            </c:numRef>
          </c:val>
          <c:smooth val="0"/>
          <c:extLst>
            <c:ext xmlns:c16="http://schemas.microsoft.com/office/drawing/2014/chart" uri="{C3380CC4-5D6E-409C-BE32-E72D297353CC}">
              <c16:uniqueId val="{00000000-BD58-4D31-864E-B7A5FCB749F9}"/>
            </c:ext>
          </c:extLst>
        </c:ser>
        <c:ser>
          <c:idx val="1"/>
          <c:order val="1"/>
          <c:tx>
            <c:v>ATB in 2025</c:v>
          </c:tx>
          <c:spPr>
            <a:ln w="19050" cap="rnd">
              <a:solidFill>
                <a:srgbClr val="00B0F0"/>
              </a:solidFill>
              <a:round/>
            </a:ln>
            <a:effectLst/>
          </c:spPr>
          <c:marker>
            <c:symbol val="circle"/>
            <c:size val="5"/>
            <c:spPr>
              <a:solidFill>
                <a:srgbClr val="00B0F0"/>
              </a:solidFill>
              <a:ln w="9525">
                <a:solidFill>
                  <a:srgbClr val="00B0F0"/>
                </a:solidFill>
              </a:ln>
              <a:effectLst/>
            </c:spPr>
          </c:marker>
          <c:cat>
            <c:numRef>
              <c:f>'[W06 (03.02.2025-09.02.2025).xlsx]Thống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'[W06 (03.02.2025-09.02.2025).xlsx]Thống kê ATB, GTB'!$F$3:$F$54</c:f>
              <c:numCache>
                <c:formatCode>General</c:formatCode>
                <c:ptCount val="52"/>
                <c:pt idx="0">
                  <c:v>0</c:v>
                </c:pt>
                <c:pt idx="1">
                  <c:v>0</c:v>
                </c:pt>
                <c:pt idx="2">
                  <c:v>0</c:v>
                </c:pt>
                <c:pt idx="3">
                  <c:v>0</c:v>
                </c:pt>
                <c:pt idx="4">
                  <c:v>0</c:v>
                </c:pt>
                <c:pt idx="5">
                  <c:v>0</c:v>
                </c:pt>
              </c:numCache>
            </c:numRef>
          </c:val>
          <c:smooth val="0"/>
          <c:extLst>
            <c:ext xmlns:c16="http://schemas.microsoft.com/office/drawing/2014/chart" uri="{C3380CC4-5D6E-409C-BE32-E72D297353CC}">
              <c16:uniqueId val="{00000001-BD58-4D31-864E-B7A5FCB749F9}"/>
            </c:ext>
          </c:extLst>
        </c:ser>
        <c:dLbls>
          <c:showLegendKey val="0"/>
          <c:showVal val="0"/>
          <c:showCatName val="0"/>
          <c:showSerName val="0"/>
          <c:showPercent val="0"/>
          <c:showBubbleSize val="0"/>
        </c:dLbls>
        <c:marker val="1"/>
        <c:smooth val="0"/>
        <c:axId val="266741624"/>
        <c:axId val="267136992"/>
      </c:lineChart>
      <c:catAx>
        <c:axId val="266741624"/>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4479109594402"/>
              <c:y val="0.9044444444444445"/>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67136992"/>
        <c:crosses val="autoZero"/>
        <c:auto val="1"/>
        <c:lblAlgn val="ctr"/>
        <c:lblOffset val="100"/>
        <c:noMultiLvlLbl val="0"/>
      </c:catAx>
      <c:valAx>
        <c:axId val="267136992"/>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ATB</a:t>
                </a:r>
              </a:p>
            </c:rich>
          </c:tx>
          <c:layout>
            <c:manualLayout>
              <c:xMode val="edge"/>
              <c:yMode val="edge"/>
              <c:x val="9.2776673293571907E-3"/>
              <c:y val="0.43418862642169731"/>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66741624"/>
        <c:crosses val="autoZero"/>
        <c:crossBetween val="between"/>
        <c:majorUnit val="1"/>
        <c:minorUnit val="1"/>
      </c:valAx>
      <c:spPr>
        <a:noFill/>
        <a:ln>
          <a:solidFill>
            <a:schemeClr val="tx1">
              <a:lumMod val="25000"/>
              <a:lumOff val="75000"/>
            </a:schemeClr>
          </a:solidFill>
        </a:ln>
        <a:effectLst/>
      </c:spPr>
    </c:plotArea>
    <c:legend>
      <c:legendPos val="r"/>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GTB Comparison</a:t>
            </a:r>
          </a:p>
        </c:rich>
      </c:tx>
      <c:layout/>
      <c:overlay val="0"/>
      <c:spPr>
        <a:noFill/>
        <a:ln>
          <a:noFill/>
        </a:ln>
        <a:effectLst/>
      </c:spPr>
    </c:title>
    <c:autoTitleDeleted val="0"/>
    <c:plotArea>
      <c:layout/>
      <c:lineChart>
        <c:grouping val="standard"/>
        <c:varyColors val="0"/>
        <c:ser>
          <c:idx val="0"/>
          <c:order val="0"/>
          <c:tx>
            <c:v>GTB in 2024</c:v>
          </c:tx>
          <c:spPr>
            <a:ln w="19050" cap="rnd">
              <a:solidFill>
                <a:srgbClr val="FFC000"/>
              </a:solidFill>
              <a:round/>
            </a:ln>
            <a:effectLst/>
          </c:spPr>
          <c:marker>
            <c:symbol val="circle"/>
            <c:size val="5"/>
            <c:spPr>
              <a:solidFill>
                <a:srgbClr val="FFC000"/>
              </a:solidFill>
              <a:ln w="9525">
                <a:solidFill>
                  <a:srgbClr val="FFC000"/>
                </a:solidFill>
              </a:ln>
              <a:effectLst/>
            </c:spPr>
          </c:marker>
          <c:val>
            <c:numRef>
              <c:f>'Thống kê ATB, GTB'!$C$3:$C$54</c:f>
              <c:numCache>
                <c:formatCode>General</c:formatCode>
                <c:ptCount val="52"/>
                <c:pt idx="0">
                  <c:v>2</c:v>
                </c:pt>
                <c:pt idx="1">
                  <c:v>1</c:v>
                </c:pt>
                <c:pt idx="2">
                  <c:v>1</c:v>
                </c:pt>
                <c:pt idx="3">
                  <c:v>3</c:v>
                </c:pt>
                <c:pt idx="4">
                  <c:v>0</c:v>
                </c:pt>
                <c:pt idx="5">
                  <c:v>4</c:v>
                </c:pt>
                <c:pt idx="6">
                  <c:v>2</c:v>
                </c:pt>
                <c:pt idx="7">
                  <c:v>2</c:v>
                </c:pt>
                <c:pt idx="8">
                  <c:v>4</c:v>
                </c:pt>
                <c:pt idx="9">
                  <c:v>2</c:v>
                </c:pt>
                <c:pt idx="10">
                  <c:v>0</c:v>
                </c:pt>
                <c:pt idx="11">
                  <c:v>0</c:v>
                </c:pt>
                <c:pt idx="12">
                  <c:v>2</c:v>
                </c:pt>
                <c:pt idx="13">
                  <c:v>3</c:v>
                </c:pt>
                <c:pt idx="14">
                  <c:v>1</c:v>
                </c:pt>
                <c:pt idx="15">
                  <c:v>0</c:v>
                </c:pt>
                <c:pt idx="16">
                  <c:v>6</c:v>
                </c:pt>
                <c:pt idx="17">
                  <c:v>2</c:v>
                </c:pt>
                <c:pt idx="18">
                  <c:v>1</c:v>
                </c:pt>
                <c:pt idx="19">
                  <c:v>0</c:v>
                </c:pt>
                <c:pt idx="20">
                  <c:v>2</c:v>
                </c:pt>
                <c:pt idx="21">
                  <c:v>4</c:v>
                </c:pt>
                <c:pt idx="22">
                  <c:v>1</c:v>
                </c:pt>
                <c:pt idx="23">
                  <c:v>1</c:v>
                </c:pt>
                <c:pt idx="24">
                  <c:v>2</c:v>
                </c:pt>
                <c:pt idx="25">
                  <c:v>3</c:v>
                </c:pt>
                <c:pt idx="26">
                  <c:v>1</c:v>
                </c:pt>
                <c:pt idx="27">
                  <c:v>3</c:v>
                </c:pt>
                <c:pt idx="28">
                  <c:v>0</c:v>
                </c:pt>
                <c:pt idx="29">
                  <c:v>1</c:v>
                </c:pt>
                <c:pt idx="30">
                  <c:v>1</c:v>
                </c:pt>
                <c:pt idx="31">
                  <c:v>3</c:v>
                </c:pt>
                <c:pt idx="32">
                  <c:v>2</c:v>
                </c:pt>
                <c:pt idx="33">
                  <c:v>1</c:v>
                </c:pt>
                <c:pt idx="34">
                  <c:v>1</c:v>
                </c:pt>
                <c:pt idx="35">
                  <c:v>1</c:v>
                </c:pt>
                <c:pt idx="36">
                  <c:v>1</c:v>
                </c:pt>
                <c:pt idx="37">
                  <c:v>0</c:v>
                </c:pt>
                <c:pt idx="38">
                  <c:v>2</c:v>
                </c:pt>
                <c:pt idx="39">
                  <c:v>2</c:v>
                </c:pt>
                <c:pt idx="40">
                  <c:v>0</c:v>
                </c:pt>
                <c:pt idx="41">
                  <c:v>4</c:v>
                </c:pt>
                <c:pt idx="42">
                  <c:v>0</c:v>
                </c:pt>
                <c:pt idx="43">
                  <c:v>1</c:v>
                </c:pt>
                <c:pt idx="44">
                  <c:v>1</c:v>
                </c:pt>
                <c:pt idx="45">
                  <c:v>3</c:v>
                </c:pt>
                <c:pt idx="46">
                  <c:v>0</c:v>
                </c:pt>
                <c:pt idx="47">
                  <c:v>3</c:v>
                </c:pt>
                <c:pt idx="48">
                  <c:v>0</c:v>
                </c:pt>
                <c:pt idx="49">
                  <c:v>7</c:v>
                </c:pt>
                <c:pt idx="50">
                  <c:v>5</c:v>
                </c:pt>
                <c:pt idx="51">
                  <c:v>1</c:v>
                </c:pt>
              </c:numCache>
            </c:numRef>
          </c:val>
          <c:smooth val="0"/>
          <c:extLst>
            <c:ext xmlns:c16="http://schemas.microsoft.com/office/drawing/2014/chart" uri="{C3380CC4-5D6E-409C-BE32-E72D297353CC}">
              <c16:uniqueId val="{00000000-7BB9-4B91-A87F-7AF123B084FF}"/>
            </c:ext>
          </c:extLst>
        </c:ser>
        <c:ser>
          <c:idx val="1"/>
          <c:order val="1"/>
          <c:tx>
            <c:v>GTB in 2025</c:v>
          </c:tx>
          <c:spPr>
            <a:ln w="19050" cap="rnd">
              <a:solidFill>
                <a:srgbClr val="00B0F0"/>
              </a:solidFill>
              <a:round/>
            </a:ln>
            <a:effectLst/>
          </c:spPr>
          <c:marker>
            <c:symbol val="circle"/>
            <c:size val="5"/>
            <c:spPr>
              <a:solidFill>
                <a:srgbClr val="00B0F0"/>
              </a:solidFill>
              <a:ln w="9525">
                <a:solidFill>
                  <a:srgbClr val="00B0F0"/>
                </a:solidFill>
              </a:ln>
              <a:effectLst/>
            </c:spPr>
          </c:marker>
          <c:val>
            <c:numRef>
              <c:f>'Thống kê ATB, GTB'!$G$3:$G$54</c:f>
              <c:numCache>
                <c:formatCode>General</c:formatCode>
                <c:ptCount val="52"/>
                <c:pt idx="0">
                  <c:v>1</c:v>
                </c:pt>
                <c:pt idx="1">
                  <c:v>2</c:v>
                </c:pt>
                <c:pt idx="2">
                  <c:v>1</c:v>
                </c:pt>
                <c:pt idx="3">
                  <c:v>3</c:v>
                </c:pt>
                <c:pt idx="4">
                  <c:v>3</c:v>
                </c:pt>
                <c:pt idx="5">
                  <c:v>1</c:v>
                </c:pt>
              </c:numCache>
            </c:numRef>
          </c:val>
          <c:smooth val="0"/>
          <c:extLst>
            <c:ext xmlns:c16="http://schemas.microsoft.com/office/drawing/2014/chart" uri="{C3380CC4-5D6E-409C-BE32-E72D297353CC}">
              <c16:uniqueId val="{00000001-7BB9-4B91-A87F-7AF123B084FF}"/>
            </c:ext>
          </c:extLst>
        </c:ser>
        <c:dLbls>
          <c:showLegendKey val="0"/>
          <c:showVal val="0"/>
          <c:showCatName val="0"/>
          <c:showSerName val="0"/>
          <c:showPercent val="0"/>
          <c:showBubbleSize val="0"/>
        </c:dLbls>
        <c:marker val="1"/>
        <c:smooth val="0"/>
        <c:axId val="313596064"/>
        <c:axId val="313596448"/>
      </c:lineChart>
      <c:catAx>
        <c:axId val="313596064"/>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07953377849297"/>
              <c:y val="0.91333330300378057"/>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3596448"/>
        <c:crosses val="autoZero"/>
        <c:auto val="1"/>
        <c:lblAlgn val="ctr"/>
        <c:lblOffset val="100"/>
        <c:noMultiLvlLbl val="0"/>
      </c:catAx>
      <c:valAx>
        <c:axId val="313596448"/>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GTB</a:t>
                </a:r>
              </a:p>
            </c:rich>
          </c:tx>
          <c:layout>
            <c:manualLayout>
              <c:xMode val="edge"/>
              <c:yMode val="edge"/>
              <c:x val="9.2876556191622411E-3"/>
              <c:y val="0.42974433236897019"/>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3596064"/>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484713059516321E-2"/>
          <c:y val="6.2711374378903909E-2"/>
          <c:w val="0.92226413421295206"/>
          <c:h val="0.76374283652369968"/>
        </c:manualLayout>
      </c:layout>
      <c:barChart>
        <c:barDir val="col"/>
        <c:grouping val="clustered"/>
        <c:varyColors val="0"/>
        <c:ser>
          <c:idx val="0"/>
          <c:order val="0"/>
          <c:tx>
            <c:strRef>
              <c:f>DR!$C$3</c:f>
              <c:strCache>
                <c:ptCount val="1"/>
                <c:pt idx="0">
                  <c:v>W04 &amp; 05</c:v>
                </c:pt>
              </c:strCache>
            </c:strRef>
          </c:tx>
          <c:spPr>
            <a:solidFill>
              <a:schemeClr val="accent5">
                <a:lumMod val="50000"/>
              </a:schemeClr>
            </a:solidFill>
            <a:ln>
              <a:noFill/>
            </a:ln>
            <a:effectLst/>
          </c:spPr>
          <c:invertIfNegative val="0"/>
          <c:dLbls>
            <c:dLbl>
              <c:idx val="0"/>
              <c:layout>
                <c:manualLayout>
                  <c:x val="-4.4182621502209382E-3"/>
                  <c:y val="-1.1121491174714888E-7"/>
                </c:manualLayout>
              </c:layout>
              <c:showLegendKey val="0"/>
              <c:showVal val="1"/>
              <c:showCatName val="0"/>
              <c:showSerName val="0"/>
              <c:showPercent val="0"/>
              <c:showBubbleSize val="0"/>
              <c:extLst>
                <c:ext xmlns:c15="http://schemas.microsoft.com/office/drawing/2012/chart" uri="{CE6537A1-D6FC-4f65-9D91-7224C49458BB}">
                  <c15:layout>
                    <c:manualLayout>
                      <c:w val="4.8703937780973254E-2"/>
                      <c:h val="6.3644067796610151E-2"/>
                    </c:manualLayout>
                  </c15:layout>
                </c:ext>
                <c:ext xmlns:c16="http://schemas.microsoft.com/office/drawing/2014/chart" uri="{C3380CC4-5D6E-409C-BE32-E72D297353CC}">
                  <c16:uniqueId val="{00000000-493E-4C88-87A9-CF8D95CDF5D9}"/>
                </c:ext>
              </c:extLst>
            </c:dLbl>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DR!$C$5:$C$8</c:f>
              <c:numCache>
                <c:formatCode>0.00</c:formatCode>
                <c:ptCount val="4"/>
                <c:pt idx="0">
                  <c:v>99.813606710158439</c:v>
                </c:pt>
                <c:pt idx="1">
                  <c:v>98.325358851674636</c:v>
                </c:pt>
                <c:pt idx="2">
                  <c:v>99.742268041237111</c:v>
                </c:pt>
                <c:pt idx="3">
                  <c:v>99.626865671641795</c:v>
                </c:pt>
              </c:numCache>
            </c:numRef>
          </c:val>
          <c:extLst>
            <c:ext xmlns:c16="http://schemas.microsoft.com/office/drawing/2014/chart" uri="{C3380CC4-5D6E-409C-BE32-E72D297353CC}">
              <c16:uniqueId val="{00000001-493E-4C88-87A9-CF8D95CDF5D9}"/>
            </c:ext>
          </c:extLst>
        </c:ser>
        <c:ser>
          <c:idx val="1"/>
          <c:order val="1"/>
          <c:tx>
            <c:strRef>
              <c:f>DR!$D$3</c:f>
              <c:strCache>
                <c:ptCount val="1"/>
                <c:pt idx="0">
                  <c:v>W06</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DR!$D$5:$D$8</c:f>
              <c:numCache>
                <c:formatCode>0.00</c:formatCode>
                <c:ptCount val="4"/>
                <c:pt idx="0">
                  <c:v>99.928341096381232</c:v>
                </c:pt>
                <c:pt idx="1">
                  <c:v>98.648648648648646</c:v>
                </c:pt>
                <c:pt idx="2">
                  <c:v>99.300699300699307</c:v>
                </c:pt>
                <c:pt idx="3">
                  <c:v>99.621212121212125</c:v>
                </c:pt>
              </c:numCache>
            </c:numRef>
          </c:val>
          <c:extLst>
            <c:ext xmlns:c16="http://schemas.microsoft.com/office/drawing/2014/chart" uri="{C3380CC4-5D6E-409C-BE32-E72D297353CC}">
              <c16:uniqueId val="{00000002-493E-4C88-87A9-CF8D95CDF5D9}"/>
            </c:ext>
          </c:extLst>
        </c:ser>
        <c:ser>
          <c:idx val="2"/>
          <c:order val="3"/>
          <c:tx>
            <c:strRef>
              <c:f>DR!$F$3</c:f>
              <c:strCache>
                <c:ptCount val="1"/>
                <c:pt idx="0">
                  <c:v>Target</c:v>
                </c:pt>
              </c:strCache>
            </c:strRef>
          </c:tx>
          <c:spPr>
            <a:solidFill>
              <a:srgbClr val="FFC000"/>
            </a:solidFill>
          </c:spPr>
          <c:invertIfNegative val="0"/>
          <c:dLbls>
            <c:dLbl>
              <c:idx val="0"/>
              <c:spPr>
                <a:noFill/>
                <a:ln>
                  <a:noFill/>
                </a:ln>
                <a:effectLst/>
              </c:spPr>
              <c:txPr>
                <a:bodyPr wrap="square" lIns="38100" tIns="19050" rIns="38100" bIns="19050" anchor="ctr">
                  <a:no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493E-4C88-87A9-CF8D95CDF5D9}"/>
                </c:ext>
              </c:extLst>
            </c:dLbl>
            <c:spPr>
              <a:noFill/>
              <a:ln>
                <a:noFill/>
              </a:ln>
              <a:effectLst/>
            </c:spPr>
            <c:txPr>
              <a:bodyPr wrap="square" lIns="38100" tIns="19050" rIns="38100" bIns="19050" anchor="ctr">
                <a:sp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DR!$F$5:$F$8</c:f>
              <c:numCache>
                <c:formatCode>0.00</c:formatCode>
                <c:ptCount val="4"/>
                <c:pt idx="0">
                  <c:v>99.63</c:v>
                </c:pt>
                <c:pt idx="1">
                  <c:v>99.44</c:v>
                </c:pt>
                <c:pt idx="2">
                  <c:v>99.36</c:v>
                </c:pt>
                <c:pt idx="3">
                  <c:v>99.65</c:v>
                </c:pt>
              </c:numCache>
            </c:numRef>
          </c:val>
          <c:extLst>
            <c:ext xmlns:c16="http://schemas.microsoft.com/office/drawing/2014/chart" uri="{C3380CC4-5D6E-409C-BE32-E72D297353CC}">
              <c16:uniqueId val="{00000004-493E-4C88-87A9-CF8D95CDF5D9}"/>
            </c:ext>
          </c:extLst>
        </c:ser>
        <c:dLbls>
          <c:showLegendKey val="0"/>
          <c:showVal val="0"/>
          <c:showCatName val="0"/>
          <c:showSerName val="0"/>
          <c:showPercent val="0"/>
          <c:showBubbleSize val="0"/>
        </c:dLbls>
        <c:gapWidth val="219"/>
        <c:overlap val="-27"/>
        <c:axId val="-95521472"/>
        <c:axId val="-95499712"/>
        <c:extLst>
          <c:ext xmlns:c15="http://schemas.microsoft.com/office/drawing/2012/chart" uri="{02D57815-91ED-43cb-92C2-25804820EDAC}">
            <c15:filteredBarSeries>
              <c15:ser>
                <c:idx val="3"/>
                <c:order val="2"/>
                <c:tx>
                  <c:strRef>
                    <c:extLst>
                      <c:ext uri="{02D57815-91ED-43cb-92C2-25804820EDAC}">
                        <c15:formulaRef>
                          <c15:sqref>DR!$E$3</c15:sqref>
                        </c15:formulaRef>
                      </c:ext>
                    </c:extLst>
                    <c:strCache>
                      <c:ptCount val="1"/>
                    </c:strCache>
                  </c:strRef>
                </c:tx>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uri="{CE6537A1-D6FC-4f65-9D91-7224C49458BB}">
                      <c15:showLeaderLines val="1"/>
                    </c:ext>
                  </c:extLst>
                </c:dLbls>
                <c:cat>
                  <c:strRef>
                    <c:extLst>
                      <c:ext uri="{02D57815-91ED-43cb-92C2-25804820EDAC}">
                        <c15:formulaRef>
                          <c15:sqref>DR!$B$5:$B$8</c15:sqref>
                        </c15:formulaRef>
                      </c:ext>
                    </c:extLst>
                    <c:strCache>
                      <c:ptCount val="4"/>
                      <c:pt idx="0">
                        <c:v>A321</c:v>
                      </c:pt>
                      <c:pt idx="1">
                        <c:v>A350</c:v>
                      </c:pt>
                      <c:pt idx="2">
                        <c:v>B787</c:v>
                      </c:pt>
                      <c:pt idx="3">
                        <c:v>ATR72</c:v>
                      </c:pt>
                    </c:strCache>
                  </c:strRef>
                </c:cat>
                <c:val>
                  <c:numRef>
                    <c:extLst>
                      <c:ext uri="{02D57815-91ED-43cb-92C2-25804820EDAC}">
                        <c15:formulaRef>
                          <c15:sqref>DR!$E$5:$E$8</c15:sqref>
                        </c15:formulaRef>
                      </c:ext>
                    </c:extLst>
                    <c:numCache>
                      <c:formatCode>General</c:formatCode>
                      <c:ptCount val="4"/>
                    </c:numCache>
                  </c:numRef>
                </c:val>
                <c:extLst>
                  <c:ext xmlns:c16="http://schemas.microsoft.com/office/drawing/2014/chart" uri="{C3380CC4-5D6E-409C-BE32-E72D297353CC}">
                    <c16:uniqueId val="{00000005-493E-4C88-87A9-CF8D95CDF5D9}"/>
                  </c:ext>
                </c:extLst>
              </c15:ser>
            </c15:filteredBarSeries>
          </c:ext>
        </c:extLst>
      </c:barChart>
      <c:catAx>
        <c:axId val="-95521472"/>
        <c:scaling>
          <c:orientation val="minMax"/>
        </c:scaling>
        <c:delete val="0"/>
        <c:axPos val="b"/>
        <c:numFmt formatCode="General" sourceLinked="1"/>
        <c:majorTickMark val="none"/>
        <c:minorTickMark val="none"/>
        <c:tickLblPos val="nextTo"/>
        <c:spPr>
          <a:noFill/>
          <a:ln w="19050" cap="flat" cmpd="sng" algn="ctr">
            <a:solidFill>
              <a:srgbClr val="000000"/>
            </a:solidFill>
            <a:round/>
            <a:tailEnd type="triangle"/>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crossAx val="-95499712"/>
        <c:crosses val="autoZero"/>
        <c:auto val="1"/>
        <c:lblAlgn val="ctr"/>
        <c:lblOffset val="100"/>
        <c:noMultiLvlLbl val="0"/>
      </c:catAx>
      <c:valAx>
        <c:axId val="-95499712"/>
        <c:scaling>
          <c:orientation val="minMax"/>
          <c:max val="100"/>
          <c:min val="95"/>
        </c:scaling>
        <c:delete val="0"/>
        <c:axPos val="l"/>
        <c:numFmt formatCode="0.0" sourceLinked="0"/>
        <c:majorTickMark val="none"/>
        <c:minorTickMark val="none"/>
        <c:tickLblPos val="nextTo"/>
        <c:spPr>
          <a:noFill/>
          <a:ln w="15875">
            <a:solidFill>
              <a:srgbClr val="000000"/>
            </a:solidFill>
            <a:tailEnd type="triangle"/>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95521472"/>
        <c:crosses val="autoZero"/>
        <c:crossBetween val="between"/>
        <c:majorUnit val="1"/>
        <c:minorUnit val="0.5"/>
      </c:valAx>
      <c:spPr>
        <a:noFill/>
        <a:ln>
          <a:noFill/>
        </a:ln>
        <a:effectLst/>
      </c:spPr>
    </c:plotArea>
    <c:legend>
      <c:legendPos val="b"/>
      <c:layout>
        <c:manualLayout>
          <c:xMode val="edge"/>
          <c:yMode val="edge"/>
          <c:x val="0.33530118013598875"/>
          <c:y val="0.93235963844755665"/>
          <c:w val="0.28837344986830094"/>
          <c:h val="6.7640217261685578E-2"/>
        </c:manualLayout>
      </c:layout>
      <c:overlay val="0"/>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4789942122619287E-2"/>
          <c:y val="4.4293689684825485E-2"/>
          <c:w val="0.93681234355610998"/>
          <c:h val="0.8358298845569484"/>
        </c:manualLayout>
      </c:layout>
      <c:lineChart>
        <c:grouping val="standard"/>
        <c:varyColors val="0"/>
        <c:ser>
          <c:idx val="0"/>
          <c:order val="0"/>
          <c:tx>
            <c:strRef>
              <c:f>Sheet1!$C$8</c:f>
              <c:strCache>
                <c:ptCount val="1"/>
                <c:pt idx="0">
                  <c:v>A321CEO</c:v>
                </c:pt>
              </c:strCache>
            </c:strRef>
          </c:tx>
          <c:spPr>
            <a:ln w="19050" cap="rnd">
              <a:solidFill>
                <a:srgbClr val="FFC000"/>
              </a:solidFill>
              <a:round/>
            </a:ln>
            <a:effectLst/>
          </c:spPr>
          <c:marker>
            <c:symbol val="circle"/>
            <c:size val="20"/>
            <c:spPr>
              <a:solidFill>
                <a:srgbClr val="FFC000"/>
              </a:solidFill>
              <a:ln w="9525">
                <a:solidFill>
                  <a:srgbClr val="FFC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Sheet1!$D$8:$AC$8</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0-D6AD-4063-8EE1-45911A2334ED}"/>
            </c:ext>
          </c:extLst>
        </c:ser>
        <c:ser>
          <c:idx val="2"/>
          <c:order val="2"/>
          <c:tx>
            <c:strRef>
              <c:f>Sheet1!$C$10</c:f>
              <c:strCache>
                <c:ptCount val="1"/>
                <c:pt idx="0">
                  <c:v>A350</c:v>
                </c:pt>
              </c:strCache>
            </c:strRef>
          </c:tx>
          <c:spPr>
            <a:ln w="19050" cap="rnd">
              <a:solidFill>
                <a:srgbClr val="00B0F0"/>
              </a:solidFill>
              <a:round/>
            </a:ln>
            <a:effectLst/>
          </c:spPr>
          <c:marker>
            <c:symbol val="circle"/>
            <c:size val="23"/>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Sheet1!$D$10:$AC$10</c:f>
              <c:numCache>
                <c:formatCode>General</c:formatCode>
                <c:ptCount val="6"/>
                <c:pt idx="0">
                  <c:v>8</c:v>
                </c:pt>
                <c:pt idx="1">
                  <c:v>8</c:v>
                </c:pt>
                <c:pt idx="2">
                  <c:v>7.5</c:v>
                </c:pt>
                <c:pt idx="3">
                  <c:v>7</c:v>
                </c:pt>
                <c:pt idx="4">
                  <c:v>5.5</c:v>
                </c:pt>
                <c:pt idx="5">
                  <c:v>3</c:v>
                </c:pt>
              </c:numCache>
            </c:numRef>
          </c:val>
          <c:smooth val="0"/>
          <c:extLst>
            <c:ext xmlns:c16="http://schemas.microsoft.com/office/drawing/2014/chart" uri="{C3380CC4-5D6E-409C-BE32-E72D297353CC}">
              <c16:uniqueId val="{00000001-D6AD-4063-8EE1-45911A2334ED}"/>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Sheet1!$D$11:$AC$11</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2-D6AD-4063-8EE1-45911A2334ED}"/>
            </c:ext>
          </c:extLst>
        </c:ser>
        <c:dLbls>
          <c:dLblPos val="ctr"/>
          <c:showLegendKey val="0"/>
          <c:showVal val="1"/>
          <c:showCatName val="0"/>
          <c:showSerName val="0"/>
          <c:showPercent val="0"/>
          <c:showBubbleSize val="0"/>
        </c:dLbls>
        <c:marker val="1"/>
        <c:smooth val="0"/>
        <c:axId val="369124040"/>
        <c:axId val="369143248"/>
      </c:lineChart>
      <c:lineChart>
        <c:grouping val="standard"/>
        <c:varyColors val="0"/>
        <c:ser>
          <c:idx val="1"/>
          <c:order val="1"/>
          <c:tx>
            <c:strRef>
              <c:f>Sheet1!$C$9</c:f>
              <c:strCache>
                <c:ptCount val="1"/>
                <c:pt idx="0">
                  <c:v>A321NEO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Sheet1!$D$9:$AC$9</c:f>
              <c:numCache>
                <c:formatCode>General</c:formatCode>
                <c:ptCount val="6"/>
                <c:pt idx="0">
                  <c:v>29</c:v>
                </c:pt>
                <c:pt idx="1">
                  <c:v>28</c:v>
                </c:pt>
                <c:pt idx="2">
                  <c:v>29</c:v>
                </c:pt>
                <c:pt idx="3">
                  <c:v>27</c:v>
                </c:pt>
                <c:pt idx="4">
                  <c:v>25</c:v>
                </c:pt>
                <c:pt idx="5">
                  <c:v>22</c:v>
                </c:pt>
              </c:numCache>
            </c:numRef>
          </c:val>
          <c:smooth val="0"/>
          <c:extLst>
            <c:ext xmlns:c16="http://schemas.microsoft.com/office/drawing/2014/chart" uri="{C3380CC4-5D6E-409C-BE32-E72D297353CC}">
              <c16:uniqueId val="{00000003-D6AD-4063-8EE1-45911A2334ED}"/>
            </c:ext>
          </c:extLst>
        </c:ser>
        <c:ser>
          <c:idx val="4"/>
          <c:order val="4"/>
          <c:tx>
            <c:strRef>
              <c:f>Sheet1!$C$12</c:f>
              <c:strCache>
                <c:ptCount val="1"/>
                <c:pt idx="0">
                  <c:v>ATR72</c:v>
                </c:pt>
              </c:strCache>
            </c:strRef>
          </c:tx>
          <c:spPr>
            <a:ln w="19050" cap="rnd">
              <a:solidFill>
                <a:schemeClr val="accent4">
                  <a:lumMod val="60000"/>
                </a:schemeClr>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Sheet1!$D$12:$AC$12</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4-D6AD-4063-8EE1-45911A2334ED}"/>
            </c:ext>
          </c:extLst>
        </c:ser>
        <c:dLbls>
          <c:showLegendKey val="0"/>
          <c:showVal val="0"/>
          <c:showCatName val="0"/>
          <c:showSerName val="0"/>
          <c:showPercent val="0"/>
          <c:showBubbleSize val="0"/>
        </c:dLbls>
        <c:marker val="1"/>
        <c:smooth val="0"/>
        <c:axId val="369141680"/>
        <c:axId val="369140112"/>
      </c:lineChart>
      <c:catAx>
        <c:axId val="36912404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43248"/>
        <c:crosses val="autoZero"/>
        <c:auto val="1"/>
        <c:lblAlgn val="ctr"/>
        <c:lblOffset val="100"/>
        <c:noMultiLvlLbl val="0"/>
      </c:catAx>
      <c:valAx>
        <c:axId val="369143248"/>
        <c:scaling>
          <c:orientation val="minMax"/>
          <c:max val="20"/>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24040"/>
        <c:crosses val="autoZero"/>
        <c:crossBetween val="between"/>
      </c:valAx>
      <c:valAx>
        <c:axId val="369140112"/>
        <c:scaling>
          <c:orientation val="minMax"/>
          <c:max val="35"/>
          <c:min val="0"/>
        </c:scaling>
        <c:delete val="0"/>
        <c:axPos val="r"/>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41680"/>
        <c:crosses val="max"/>
        <c:crossBetween val="between"/>
      </c:valAx>
      <c:catAx>
        <c:axId val="369141680"/>
        <c:scaling>
          <c:orientation val="minMax"/>
        </c:scaling>
        <c:delete val="1"/>
        <c:axPos val="b"/>
        <c:numFmt formatCode="General" sourceLinked="1"/>
        <c:majorTickMark val="out"/>
        <c:minorTickMark val="none"/>
        <c:tickLblPos val="nextTo"/>
        <c:crossAx val="369140112"/>
        <c:crosses val="autoZero"/>
        <c:auto val="1"/>
        <c:lblAlgn val="ctr"/>
        <c:lblOffset val="100"/>
        <c:noMultiLvlLbl val="0"/>
      </c:catAx>
      <c:spPr>
        <a:noFill/>
        <a:ln>
          <a:noFill/>
        </a:ln>
        <a:effectLst/>
      </c:spPr>
    </c:plotArea>
    <c:legend>
      <c:legendPos val="b"/>
      <c:layout>
        <c:manualLayout>
          <c:xMode val="edge"/>
          <c:yMode val="edge"/>
          <c:x val="3.2108065818695741E-2"/>
          <c:y val="1.3638679970698371E-2"/>
          <c:w val="0.89903166467431961"/>
          <c:h val="7.3197199055431955E-2"/>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A321CEO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Sheet1!$D$7:$AM$7</c:f>
              <c:strCache>
                <c:ptCount val="12"/>
                <c:pt idx="0">
                  <c:v>Feb-W1</c:v>
                </c:pt>
                <c:pt idx="1">
                  <c:v>Feb-W2</c:v>
                </c:pt>
                <c:pt idx="2">
                  <c:v>Feb-W3</c:v>
                </c:pt>
                <c:pt idx="3">
                  <c:v>Feb-W4</c:v>
                </c:pt>
                <c:pt idx="4">
                  <c:v>Mar-W1</c:v>
                </c:pt>
                <c:pt idx="5">
                  <c:v>Mar-W2</c:v>
                </c:pt>
                <c:pt idx="6">
                  <c:v>Mar-W3</c:v>
                </c:pt>
                <c:pt idx="7">
                  <c:v>Mar-W4</c:v>
                </c:pt>
                <c:pt idx="8">
                  <c:v>Apr-W1</c:v>
                </c:pt>
                <c:pt idx="9">
                  <c:v>Apr-W2</c:v>
                </c:pt>
                <c:pt idx="10">
                  <c:v>Apr-W3</c:v>
                </c:pt>
                <c:pt idx="11">
                  <c:v>Apr-W4</c:v>
                </c:pt>
              </c:strCache>
            </c:strRef>
          </c:cat>
          <c:val>
            <c:numRef>
              <c:f>Sheet1!$D$8:$AM$8</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0-BD83-4FDB-9BCE-4410951EBD59}"/>
            </c:ext>
          </c:extLst>
        </c:ser>
        <c:ser>
          <c:idx val="1"/>
          <c:order val="1"/>
          <c:tx>
            <c:strRef>
              <c:f>Sheet1!$C$9</c:f>
              <c:strCache>
                <c:ptCount val="1"/>
                <c:pt idx="0">
                  <c:v>A321NEO</c:v>
                </c:pt>
              </c:strCache>
            </c:strRef>
          </c:tx>
          <c:spPr>
            <a:ln w="19050" cap="rnd">
              <a:solidFill>
                <a:srgbClr val="00B0F0"/>
              </a:solidFill>
              <a:round/>
            </a:ln>
            <a:effectLst/>
          </c:spPr>
          <c:marker>
            <c:symbol val="circle"/>
            <c:size val="20"/>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Sheet1!$D$7:$AM$7</c:f>
              <c:strCache>
                <c:ptCount val="12"/>
                <c:pt idx="0">
                  <c:v>Feb-W1</c:v>
                </c:pt>
                <c:pt idx="1">
                  <c:v>Feb-W2</c:v>
                </c:pt>
                <c:pt idx="2">
                  <c:v>Feb-W3</c:v>
                </c:pt>
                <c:pt idx="3">
                  <c:v>Feb-W4</c:v>
                </c:pt>
                <c:pt idx="4">
                  <c:v>Mar-W1</c:v>
                </c:pt>
                <c:pt idx="5">
                  <c:v>Mar-W2</c:v>
                </c:pt>
                <c:pt idx="6">
                  <c:v>Mar-W3</c:v>
                </c:pt>
                <c:pt idx="7">
                  <c:v>Mar-W4</c:v>
                </c:pt>
                <c:pt idx="8">
                  <c:v>Apr-W1</c:v>
                </c:pt>
                <c:pt idx="9">
                  <c:v>Apr-W2</c:v>
                </c:pt>
                <c:pt idx="10">
                  <c:v>Apr-W3</c:v>
                </c:pt>
                <c:pt idx="11">
                  <c:v>Apr-W4</c:v>
                </c:pt>
              </c:strCache>
            </c:strRef>
          </c:cat>
          <c:val>
            <c:numRef>
              <c:f>Sheet1!$D$9:$AM$9</c:f>
              <c:numCache>
                <c:formatCode>General</c:formatCode>
                <c:ptCount val="12"/>
                <c:pt idx="0">
                  <c:v>26</c:v>
                </c:pt>
                <c:pt idx="1">
                  <c:v>26</c:v>
                </c:pt>
                <c:pt idx="2">
                  <c:v>28</c:v>
                </c:pt>
                <c:pt idx="3">
                  <c:v>28</c:v>
                </c:pt>
                <c:pt idx="4">
                  <c:v>29</c:v>
                </c:pt>
                <c:pt idx="5">
                  <c:v>29</c:v>
                </c:pt>
                <c:pt idx="6">
                  <c:v>29</c:v>
                </c:pt>
                <c:pt idx="7">
                  <c:v>29</c:v>
                </c:pt>
                <c:pt idx="8">
                  <c:v>28</c:v>
                </c:pt>
                <c:pt idx="9">
                  <c:v>27</c:v>
                </c:pt>
                <c:pt idx="10">
                  <c:v>27</c:v>
                </c:pt>
                <c:pt idx="11">
                  <c:v>26</c:v>
                </c:pt>
              </c:numCache>
            </c:numRef>
          </c:val>
          <c:smooth val="0"/>
          <c:extLst>
            <c:ext xmlns:c16="http://schemas.microsoft.com/office/drawing/2014/chart" uri="{C3380CC4-5D6E-409C-BE32-E72D297353CC}">
              <c16:uniqueId val="{00000001-BD83-4FDB-9BCE-4410951EBD59}"/>
            </c:ext>
          </c:extLst>
        </c:ser>
        <c:ser>
          <c:idx val="2"/>
          <c:order val="2"/>
          <c:tx>
            <c:strRef>
              <c:f>Sheet1!$C$10</c:f>
              <c:strCache>
                <c:ptCount val="1"/>
                <c:pt idx="0">
                  <c:v>A350</c:v>
                </c:pt>
              </c:strCache>
            </c:strRef>
          </c:tx>
          <c:spPr>
            <a:ln w="19050" cap="rnd">
              <a:solidFill>
                <a:schemeClr val="accent6"/>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Sheet1!$D$7:$AM$7</c:f>
              <c:strCache>
                <c:ptCount val="12"/>
                <c:pt idx="0">
                  <c:v>Feb-W1</c:v>
                </c:pt>
                <c:pt idx="1">
                  <c:v>Feb-W2</c:v>
                </c:pt>
                <c:pt idx="2">
                  <c:v>Feb-W3</c:v>
                </c:pt>
                <c:pt idx="3">
                  <c:v>Feb-W4</c:v>
                </c:pt>
                <c:pt idx="4">
                  <c:v>Mar-W1</c:v>
                </c:pt>
                <c:pt idx="5">
                  <c:v>Mar-W2</c:v>
                </c:pt>
                <c:pt idx="6">
                  <c:v>Mar-W3</c:v>
                </c:pt>
                <c:pt idx="7">
                  <c:v>Mar-W4</c:v>
                </c:pt>
                <c:pt idx="8">
                  <c:v>Apr-W1</c:v>
                </c:pt>
                <c:pt idx="9">
                  <c:v>Apr-W2</c:v>
                </c:pt>
                <c:pt idx="10">
                  <c:v>Apr-W3</c:v>
                </c:pt>
                <c:pt idx="11">
                  <c:v>Apr-W4</c:v>
                </c:pt>
              </c:strCache>
            </c:strRef>
          </c:cat>
          <c:val>
            <c:numRef>
              <c:f>Sheet1!$D$10:$AM$10</c:f>
              <c:numCache>
                <c:formatCode>General</c:formatCode>
                <c:ptCount val="12"/>
                <c:pt idx="0">
                  <c:v>8</c:v>
                </c:pt>
                <c:pt idx="1">
                  <c:v>8</c:v>
                </c:pt>
                <c:pt idx="2">
                  <c:v>8</c:v>
                </c:pt>
                <c:pt idx="3">
                  <c:v>8</c:v>
                </c:pt>
                <c:pt idx="4">
                  <c:v>8</c:v>
                </c:pt>
                <c:pt idx="5">
                  <c:v>8</c:v>
                </c:pt>
                <c:pt idx="6">
                  <c:v>7</c:v>
                </c:pt>
                <c:pt idx="7">
                  <c:v>7</c:v>
                </c:pt>
                <c:pt idx="8">
                  <c:v>7</c:v>
                </c:pt>
                <c:pt idx="9">
                  <c:v>7</c:v>
                </c:pt>
                <c:pt idx="10">
                  <c:v>7</c:v>
                </c:pt>
                <c:pt idx="11">
                  <c:v>7</c:v>
                </c:pt>
              </c:numCache>
            </c:numRef>
          </c:val>
          <c:smooth val="0"/>
          <c:extLst>
            <c:ext xmlns:c16="http://schemas.microsoft.com/office/drawing/2014/chart" uri="{C3380CC4-5D6E-409C-BE32-E72D297353CC}">
              <c16:uniqueId val="{00000002-BD83-4FDB-9BCE-4410951EBD59}"/>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chemeClr val="accent2">
                  <a:lumMod val="50000"/>
                </a:schemeClr>
              </a:solidFill>
              <a:ln w="9525">
                <a:solidFill>
                  <a:schemeClr val="accent2">
                    <a:lumMod val="5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Sheet1!$D$7:$AM$7</c:f>
              <c:strCache>
                <c:ptCount val="12"/>
                <c:pt idx="0">
                  <c:v>Feb-W1</c:v>
                </c:pt>
                <c:pt idx="1">
                  <c:v>Feb-W2</c:v>
                </c:pt>
                <c:pt idx="2">
                  <c:v>Feb-W3</c:v>
                </c:pt>
                <c:pt idx="3">
                  <c:v>Feb-W4</c:v>
                </c:pt>
                <c:pt idx="4">
                  <c:v>Mar-W1</c:v>
                </c:pt>
                <c:pt idx="5">
                  <c:v>Mar-W2</c:v>
                </c:pt>
                <c:pt idx="6">
                  <c:v>Mar-W3</c:v>
                </c:pt>
                <c:pt idx="7">
                  <c:v>Mar-W4</c:v>
                </c:pt>
                <c:pt idx="8">
                  <c:v>Apr-W1</c:v>
                </c:pt>
                <c:pt idx="9">
                  <c:v>Apr-W2</c:v>
                </c:pt>
                <c:pt idx="10">
                  <c:v>Apr-W3</c:v>
                </c:pt>
                <c:pt idx="11">
                  <c:v>Apr-W4</c:v>
                </c:pt>
              </c:strCache>
            </c:strRef>
          </c:cat>
          <c:val>
            <c:numRef>
              <c:f>Sheet1!$D$11:$AM$11</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3-BD83-4FDB-9BCE-4410951EBD59}"/>
            </c:ext>
          </c:extLst>
        </c:ser>
        <c:ser>
          <c:idx val="4"/>
          <c:order val="4"/>
          <c:tx>
            <c:strRef>
              <c:f>Sheet1!$C$12</c:f>
              <c:strCache>
                <c:ptCount val="1"/>
                <c:pt idx="0">
                  <c:v>ATR72</c:v>
                </c:pt>
              </c:strCache>
            </c:strRef>
          </c:tx>
          <c:spPr>
            <a:ln w="19050" cap="rnd">
              <a:solidFill>
                <a:srgbClr val="FFC000"/>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Sheet1!$D$7:$AM$7</c:f>
              <c:strCache>
                <c:ptCount val="12"/>
                <c:pt idx="0">
                  <c:v>Feb-W1</c:v>
                </c:pt>
                <c:pt idx="1">
                  <c:v>Feb-W2</c:v>
                </c:pt>
                <c:pt idx="2">
                  <c:v>Feb-W3</c:v>
                </c:pt>
                <c:pt idx="3">
                  <c:v>Feb-W4</c:v>
                </c:pt>
                <c:pt idx="4">
                  <c:v>Mar-W1</c:v>
                </c:pt>
                <c:pt idx="5">
                  <c:v>Mar-W2</c:v>
                </c:pt>
                <c:pt idx="6">
                  <c:v>Mar-W3</c:v>
                </c:pt>
                <c:pt idx="7">
                  <c:v>Mar-W4</c:v>
                </c:pt>
                <c:pt idx="8">
                  <c:v>Apr-W1</c:v>
                </c:pt>
                <c:pt idx="9">
                  <c:v>Apr-W2</c:v>
                </c:pt>
                <c:pt idx="10">
                  <c:v>Apr-W3</c:v>
                </c:pt>
                <c:pt idx="11">
                  <c:v>Apr-W4</c:v>
                </c:pt>
              </c:strCache>
            </c:strRef>
          </c:cat>
          <c:val>
            <c:numRef>
              <c:f>Sheet1!$D$12:$AM$12</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4-BD83-4FDB-9BCE-4410951EBD59}"/>
            </c:ext>
          </c:extLst>
        </c:ser>
        <c:dLbls>
          <c:dLblPos val="ctr"/>
          <c:showLegendKey val="0"/>
          <c:showVal val="1"/>
          <c:showCatName val="0"/>
          <c:showSerName val="0"/>
          <c:showPercent val="0"/>
          <c:showBubbleSize val="0"/>
        </c:dLbls>
        <c:marker val="1"/>
        <c:smooth val="0"/>
        <c:axId val="369136192"/>
        <c:axId val="369138152"/>
      </c:lineChart>
      <c:catAx>
        <c:axId val="3691361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8152"/>
        <c:crosses val="autoZero"/>
        <c:auto val="1"/>
        <c:lblAlgn val="ctr"/>
        <c:lblOffset val="100"/>
        <c:tickMarkSkip val="1"/>
        <c:noMultiLvlLbl val="0"/>
      </c:catAx>
      <c:valAx>
        <c:axId val="369138152"/>
        <c:scaling>
          <c:orientation val="minMax"/>
          <c:max val="34"/>
          <c:min val="-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6192"/>
        <c:crosses val="autoZero"/>
        <c:crossBetween val="between"/>
      </c:valAx>
      <c:spPr>
        <a:noFill/>
        <a:ln>
          <a:noFill/>
        </a:ln>
        <a:effectLst/>
      </c:spPr>
    </c:plotArea>
    <c:legend>
      <c:legendPos val="b"/>
      <c:layout>
        <c:manualLayout>
          <c:xMode val="edge"/>
          <c:yMode val="edge"/>
          <c:x val="0.45427866677955575"/>
          <c:y val="0.36957218535300551"/>
          <c:w val="0.26506228656901759"/>
          <c:h val="0.21602423181857586"/>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3187351531404195E-2"/>
          <c:y val="3.1492767699191786E-2"/>
          <c:w val="0.943893299494588"/>
          <c:h val="0.90560716838710642"/>
        </c:manualLayout>
      </c:layout>
      <c:lineChart>
        <c:grouping val="standard"/>
        <c:varyColors val="0"/>
        <c:ser>
          <c:idx val="0"/>
          <c:order val="0"/>
          <c:tx>
            <c:strRef>
              <c:f>Sheet1!$B$1</c:f>
              <c:strCache>
                <c:ptCount val="1"/>
                <c:pt idx="0">
                  <c:v>KH Hiện tại</c:v>
                </c:pt>
              </c:strCache>
            </c:strRef>
          </c:tx>
          <c:spPr>
            <a:ln w="28575" cap="rnd">
              <a:solidFill>
                <a:srgbClr val="00B0F0"/>
              </a:solidFill>
              <a:round/>
            </a:ln>
            <a:effectLst/>
          </c:spPr>
          <c:marker>
            <c:symbol val="circle"/>
            <c:size val="25"/>
            <c:spPr>
              <a:solidFill>
                <a:srgbClr val="0099FF"/>
              </a:solidFill>
              <a:ln w="9525">
                <a:solidFill>
                  <a:srgbClr val="0099FF"/>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Sheet1!$A$2:$A$25</c:f>
              <c:strCache>
                <c:ptCount val="6"/>
                <c:pt idx="0">
                  <c:v>T1/25</c:v>
                </c:pt>
                <c:pt idx="1">
                  <c:v>T2</c:v>
                </c:pt>
                <c:pt idx="2">
                  <c:v>T3</c:v>
                </c:pt>
                <c:pt idx="3">
                  <c:v>T4</c:v>
                </c:pt>
                <c:pt idx="4">
                  <c:v>T5</c:v>
                </c:pt>
                <c:pt idx="5">
                  <c:v>T6</c:v>
                </c:pt>
              </c:strCache>
            </c:strRef>
          </c:cat>
          <c:val>
            <c:numRef>
              <c:f>Sheet1!$B$2:$B$25</c:f>
              <c:numCache>
                <c:formatCode>General</c:formatCode>
                <c:ptCount val="6"/>
                <c:pt idx="0">
                  <c:v>14.25</c:v>
                </c:pt>
                <c:pt idx="1">
                  <c:v>13.75</c:v>
                </c:pt>
                <c:pt idx="2">
                  <c:v>14.5</c:v>
                </c:pt>
                <c:pt idx="3">
                  <c:v>13.5</c:v>
                </c:pt>
                <c:pt idx="4">
                  <c:v>12.5</c:v>
                </c:pt>
                <c:pt idx="5">
                  <c:v>11</c:v>
                </c:pt>
              </c:numCache>
            </c:numRef>
          </c:val>
          <c:smooth val="1"/>
          <c:extLst>
            <c:ext xmlns:c16="http://schemas.microsoft.com/office/drawing/2014/chart" uri="{C3380CC4-5D6E-409C-BE32-E72D297353CC}">
              <c16:uniqueId val="{00000000-1A84-4B14-B83A-F9020AB8809D}"/>
            </c:ext>
          </c:extLst>
        </c:ser>
        <c:ser>
          <c:idx val="1"/>
          <c:order val="1"/>
          <c:tx>
            <c:strRef>
              <c:f>Sheet1!$C$1</c:f>
              <c:strCache>
                <c:ptCount val="1"/>
                <c:pt idx="0">
                  <c:v>KB gửi KHPT</c:v>
                </c:pt>
              </c:strCache>
            </c:strRef>
          </c:tx>
          <c:spPr>
            <a:ln w="28575" cap="rnd">
              <a:solidFill>
                <a:srgbClr val="C00000"/>
              </a:solidFill>
              <a:prstDash val="sysDash"/>
              <a:round/>
            </a:ln>
            <a:effectLst/>
          </c:spPr>
          <c:marker>
            <c:symbol val="circle"/>
            <c:size val="25"/>
            <c:spPr>
              <a:solidFill>
                <a:schemeClr val="bg1"/>
              </a:solidFill>
              <a:ln w="22225">
                <a:solidFill>
                  <a:srgbClr val="ED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FF0000"/>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Sheet1!$A$2:$A$25</c:f>
              <c:strCache>
                <c:ptCount val="6"/>
                <c:pt idx="0">
                  <c:v>T1/25</c:v>
                </c:pt>
                <c:pt idx="1">
                  <c:v>T2</c:v>
                </c:pt>
                <c:pt idx="2">
                  <c:v>T3</c:v>
                </c:pt>
                <c:pt idx="3">
                  <c:v>T4</c:v>
                </c:pt>
                <c:pt idx="4">
                  <c:v>T5</c:v>
                </c:pt>
                <c:pt idx="5">
                  <c:v>T6</c:v>
                </c:pt>
              </c:strCache>
            </c:strRef>
          </c:cat>
          <c:val>
            <c:numRef>
              <c:f>Sheet1!$C$2:$C$25</c:f>
              <c:numCache>
                <c:formatCode>General</c:formatCode>
                <c:ptCount val="6"/>
                <c:pt idx="0">
                  <c:v>13</c:v>
                </c:pt>
                <c:pt idx="1">
                  <c:v>12.5</c:v>
                </c:pt>
                <c:pt idx="2">
                  <c:v>14</c:v>
                </c:pt>
                <c:pt idx="3">
                  <c:v>13</c:v>
                </c:pt>
                <c:pt idx="4">
                  <c:v>13</c:v>
                </c:pt>
                <c:pt idx="5">
                  <c:v>12</c:v>
                </c:pt>
              </c:numCache>
            </c:numRef>
          </c:val>
          <c:smooth val="1"/>
          <c:extLst>
            <c:ext xmlns:c16="http://schemas.microsoft.com/office/drawing/2014/chart" uri="{C3380CC4-5D6E-409C-BE32-E72D297353CC}">
              <c16:uniqueId val="{00000001-1A84-4B14-B83A-F9020AB8809D}"/>
            </c:ext>
          </c:extLst>
        </c:ser>
        <c:ser>
          <c:idx val="3"/>
          <c:order val="2"/>
          <c:tx>
            <c:strRef>
              <c:f>Sheet1!$E$1</c:f>
              <c:strCache>
                <c:ptCount val="1"/>
                <c:pt idx="0">
                  <c:v>Giải pháp triển khai thêm để giảm 01 AOG (khả thi)</c:v>
                </c:pt>
              </c:strCache>
            </c:strRef>
          </c:tx>
          <c:spPr>
            <a:ln w="28575" cap="rnd">
              <a:solidFill>
                <a:schemeClr val="accent4"/>
              </a:solidFill>
              <a:round/>
            </a:ln>
            <a:effectLst/>
          </c:spPr>
          <c:marker>
            <c:symbol val="circle"/>
            <c:size val="3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Sheet1!$A$2:$A$25</c:f>
              <c:strCache>
                <c:ptCount val="6"/>
                <c:pt idx="0">
                  <c:v>T1/25</c:v>
                </c:pt>
                <c:pt idx="1">
                  <c:v>T2</c:v>
                </c:pt>
                <c:pt idx="2">
                  <c:v>T3</c:v>
                </c:pt>
                <c:pt idx="3">
                  <c:v>T4</c:v>
                </c:pt>
                <c:pt idx="4">
                  <c:v>T5</c:v>
                </c:pt>
                <c:pt idx="5">
                  <c:v>T6</c:v>
                </c:pt>
              </c:strCache>
            </c:strRef>
          </c:cat>
          <c:val>
            <c:numRef>
              <c:f>Sheet1!$E$2:$E$25</c:f>
            </c:numRef>
          </c:val>
          <c:smooth val="1"/>
          <c:extLst>
            <c:ext xmlns:c16="http://schemas.microsoft.com/office/drawing/2014/chart" uri="{C3380CC4-5D6E-409C-BE32-E72D297353CC}">
              <c16:uniqueId val="{00000002-1A84-4B14-B83A-F9020AB8809D}"/>
            </c:ext>
          </c:extLst>
        </c:ser>
        <c:dLbls>
          <c:showLegendKey val="0"/>
          <c:showVal val="0"/>
          <c:showCatName val="0"/>
          <c:showSerName val="0"/>
          <c:showPercent val="0"/>
          <c:showBubbleSize val="0"/>
        </c:dLbls>
        <c:marker val="1"/>
        <c:smooth val="0"/>
        <c:axId val="369140504"/>
        <c:axId val="369142464"/>
      </c:lineChart>
      <c:catAx>
        <c:axId val="3691405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69142464"/>
        <c:crosses val="autoZero"/>
        <c:auto val="1"/>
        <c:lblAlgn val="ctr"/>
        <c:lblOffset val="100"/>
        <c:noMultiLvlLbl val="0"/>
      </c:catAx>
      <c:valAx>
        <c:axId val="369142464"/>
        <c:scaling>
          <c:orientation val="minMax"/>
          <c:max val="16"/>
          <c:min val="5"/>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69140504"/>
        <c:crosses val="autoZero"/>
        <c:crossBetween val="between"/>
        <c:majorUnit val="1"/>
      </c:valAx>
      <c:spPr>
        <a:noFill/>
        <a:ln>
          <a:noFill/>
        </a:ln>
        <a:effectLst/>
      </c:spPr>
    </c:plotArea>
    <c:legend>
      <c:legendPos val="r"/>
      <c:layout>
        <c:manualLayout>
          <c:xMode val="edge"/>
          <c:yMode val="edge"/>
          <c:x val="0.74928376782223216"/>
          <c:y val="0.76358296622613808"/>
          <c:w val="0.16189253624902974"/>
          <c:h val="0.16291558268872777"/>
        </c:manualLayout>
      </c:layout>
      <c:overlay val="0"/>
      <c:spPr>
        <a:solidFill>
          <a:schemeClr val="bg1"/>
        </a:solidFill>
        <a:ln>
          <a:solidFill>
            <a:srgbClr val="0070C0"/>
          </a:solid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latin typeface="Times New Roman" panose="02020603050405020304" pitchFamily="18" charset="0"/>
              </a:rPr>
              <a:t>ĐỘI</a:t>
            </a:r>
            <a:r>
              <a:rPr lang="en-US" sz="1000" baseline="0" dirty="0">
                <a:solidFill>
                  <a:schemeClr val="tx1"/>
                </a:solidFill>
                <a:latin typeface="Times New Roman" panose="02020603050405020304" pitchFamily="18" charset="0"/>
              </a:rPr>
              <a:t> BAY B787</a:t>
            </a:r>
            <a:endParaRPr lang="en-US" sz="1000" dirty="0">
              <a:solidFill>
                <a:schemeClr val="tx1"/>
              </a:solidFill>
              <a:latin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78943944380291E-2"/>
          <c:y val="8.7481841457847848E-2"/>
          <c:w val="0.88719896978880353"/>
          <c:h val="0.79400996275743063"/>
        </c:manualLayout>
      </c:layout>
      <c:lineChart>
        <c:grouping val="standard"/>
        <c:varyColors val="0"/>
        <c:ser>
          <c:idx val="5"/>
          <c:order val="0"/>
          <c:tx>
            <c:strRef>
              <c:f>Sheet1!$G$1</c:f>
              <c:strCache>
                <c:ptCount val="1"/>
                <c:pt idx="0">
                  <c:v>B787 Available</c:v>
                </c:pt>
              </c:strCache>
            </c:strRef>
          </c:tx>
          <c:spPr>
            <a:ln w="28575" cap="rnd">
              <a:solidFill>
                <a:srgbClr val="FF0000"/>
              </a:solidFill>
              <a:round/>
            </a:ln>
            <a:effectLst/>
          </c:spPr>
          <c:marker>
            <c:symbol val="circle"/>
            <c:size val="20"/>
            <c:spPr>
              <a:solidFill>
                <a:srgbClr val="002060"/>
              </a:solidFill>
              <a:ln w="9525">
                <a:solidFill>
                  <a:srgbClr val="00206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Sheet1!$A$104:$A$115</c:f>
              <c:strCache>
                <c:ptCount val="12"/>
                <c:pt idx="0">
                  <c:v>Jan-W1</c:v>
                </c:pt>
                <c:pt idx="1">
                  <c:v>Jan-W2</c:v>
                </c:pt>
                <c:pt idx="2">
                  <c:v>Jan-W3</c:v>
                </c:pt>
                <c:pt idx="3">
                  <c:v>Jan-W4</c:v>
                </c:pt>
                <c:pt idx="4">
                  <c:v>Feb-W1</c:v>
                </c:pt>
                <c:pt idx="5">
                  <c:v>Feb-W2</c:v>
                </c:pt>
                <c:pt idx="6">
                  <c:v>Feb-W3</c:v>
                </c:pt>
                <c:pt idx="7">
                  <c:v>Feb-W4</c:v>
                </c:pt>
                <c:pt idx="8">
                  <c:v>Mar-W1</c:v>
                </c:pt>
                <c:pt idx="9">
                  <c:v>Mar-W2</c:v>
                </c:pt>
                <c:pt idx="10">
                  <c:v>Mar-W3</c:v>
                </c:pt>
                <c:pt idx="11">
                  <c:v>Mar-W4</c:v>
                </c:pt>
              </c:strCache>
            </c:strRef>
          </c:cat>
          <c:val>
            <c:numRef>
              <c:f>Sheet1!$G$104:$G$115</c:f>
              <c:numCache>
                <c:formatCode>General</c:formatCode>
                <c:ptCount val="12"/>
                <c:pt idx="0">
                  <c:v>17</c:v>
                </c:pt>
                <c:pt idx="1">
                  <c:v>17</c:v>
                </c:pt>
                <c:pt idx="2">
                  <c:v>17</c:v>
                </c:pt>
                <c:pt idx="3">
                  <c:v>17</c:v>
                </c:pt>
                <c:pt idx="4">
                  <c:v>17</c:v>
                </c:pt>
                <c:pt idx="5">
                  <c:v>17</c:v>
                </c:pt>
                <c:pt idx="6">
                  <c:v>17</c:v>
                </c:pt>
                <c:pt idx="7">
                  <c:v>17</c:v>
                </c:pt>
                <c:pt idx="8">
                  <c:v>17</c:v>
                </c:pt>
                <c:pt idx="9">
                  <c:v>17</c:v>
                </c:pt>
                <c:pt idx="10">
                  <c:v>17</c:v>
                </c:pt>
                <c:pt idx="11">
                  <c:v>17</c:v>
                </c:pt>
              </c:numCache>
            </c:numRef>
          </c:val>
          <c:smooth val="0"/>
          <c:extLst>
            <c:ext xmlns:c16="http://schemas.microsoft.com/office/drawing/2014/chart" uri="{C3380CC4-5D6E-409C-BE32-E72D297353CC}">
              <c16:uniqueId val="{00000000-39BA-43F7-838F-DB44C72A4044}"/>
            </c:ext>
          </c:extLst>
        </c:ser>
        <c:dLbls>
          <c:dLblPos val="ctr"/>
          <c:showLegendKey val="0"/>
          <c:showVal val="1"/>
          <c:showCatName val="0"/>
          <c:showSerName val="0"/>
          <c:showPercent val="0"/>
          <c:showBubbleSize val="0"/>
        </c:dLbls>
        <c:marker val="1"/>
        <c:smooth val="0"/>
        <c:axId val="322939128"/>
        <c:axId val="322941088"/>
      </c:lineChart>
      <c:catAx>
        <c:axId val="322939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322941088"/>
        <c:crosses val="autoZero"/>
        <c:auto val="1"/>
        <c:lblAlgn val="ctr"/>
        <c:lblOffset val="100"/>
        <c:noMultiLvlLbl val="0"/>
      </c:catAx>
      <c:valAx>
        <c:axId val="322941088"/>
        <c:scaling>
          <c:orientation val="minMax"/>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39128"/>
        <c:crosses val="autoZero"/>
        <c:crossBetween val="between"/>
      </c:valAx>
      <c:spPr>
        <a:noFill/>
        <a:ln>
          <a:noFill/>
        </a:ln>
        <a:effectLst/>
      </c:spPr>
    </c:plotArea>
    <c:legend>
      <c:legendPos val="b"/>
      <c:layout>
        <c:manualLayout>
          <c:xMode val="edge"/>
          <c:yMode val="edge"/>
          <c:x val="0.61250891982889899"/>
          <c:y val="0.55532237636395698"/>
          <c:w val="0.35697479887302619"/>
          <c:h val="9.3332332586484101E-2"/>
        </c:manualLayout>
      </c:layout>
      <c:overlay val="0"/>
      <c:spPr>
        <a:solidFill>
          <a:schemeClr val="bg1"/>
        </a:solidFill>
        <a:ln>
          <a:solidFill>
            <a:srgbClr val="00B0F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chemeClr val="tx1"/>
      </a:solid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US" sz="1400" b="1">
                <a:solidFill>
                  <a:schemeClr val="tx1"/>
                </a:solidFill>
              </a:rPr>
              <a:t>Số</a:t>
            </a:r>
            <a:r>
              <a:rPr lang="en-US" sz="1400" b="1" baseline="0">
                <a:solidFill>
                  <a:schemeClr val="tx1"/>
                </a:solidFill>
              </a:rPr>
              <a:t> lượng A350 thiếu động cơ</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4.7242419776671173E-2"/>
          <c:y val="0.11299273833944892"/>
          <c:w val="0.943893299494588"/>
          <c:h val="0.67116276858031643"/>
        </c:manualLayout>
      </c:layout>
      <c:lineChart>
        <c:grouping val="standard"/>
        <c:varyColors val="0"/>
        <c:ser>
          <c:idx val="0"/>
          <c:order val="0"/>
          <c:tx>
            <c:strRef>
              <c:f>Sheet1!$B$1</c:f>
              <c:strCache>
                <c:ptCount val="1"/>
                <c:pt idx="0">
                  <c:v>NL báo KHPT</c:v>
                </c:pt>
              </c:strCache>
            </c:strRef>
          </c:tx>
          <c:spPr>
            <a:ln w="28575" cap="rnd">
              <a:solidFill>
                <a:schemeClr val="accent1"/>
              </a:solidFill>
              <a:round/>
            </a:ln>
            <a:effectLst/>
          </c:spPr>
          <c:marker>
            <c:symbol val="circle"/>
            <c:size val="25"/>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Sheet1!$A$9:$A$28</c:f>
              <c:strCache>
                <c:ptCount val="16"/>
                <c:pt idx="0">
                  <c:v>Jan-W1</c:v>
                </c:pt>
                <c:pt idx="1">
                  <c:v>Jan-W2</c:v>
                </c:pt>
                <c:pt idx="2">
                  <c:v>Jan-W3</c:v>
                </c:pt>
                <c:pt idx="3">
                  <c:v>Jan-W4</c:v>
                </c:pt>
                <c:pt idx="4">
                  <c:v>Feb-W1</c:v>
                </c:pt>
                <c:pt idx="5">
                  <c:v>Feb-W2</c:v>
                </c:pt>
                <c:pt idx="6">
                  <c:v>Feb-W3</c:v>
                </c:pt>
                <c:pt idx="7">
                  <c:v>Feb-W4</c:v>
                </c:pt>
                <c:pt idx="8">
                  <c:v>Mar-W1</c:v>
                </c:pt>
                <c:pt idx="9">
                  <c:v>Mar-W2</c:v>
                </c:pt>
                <c:pt idx="10">
                  <c:v>Mar-W3</c:v>
                </c:pt>
                <c:pt idx="11">
                  <c:v>Mar-W4</c:v>
                </c:pt>
                <c:pt idx="12">
                  <c:v>Apr-W1</c:v>
                </c:pt>
                <c:pt idx="13">
                  <c:v>Apr-W2</c:v>
                </c:pt>
                <c:pt idx="14">
                  <c:v>Apr-W3</c:v>
                </c:pt>
                <c:pt idx="15">
                  <c:v>Apr-W4</c:v>
                </c:pt>
              </c:strCache>
            </c:strRef>
          </c:cat>
          <c:val>
            <c:numRef>
              <c:f>Sheet1!$B$9:$B$28</c:f>
            </c:numRef>
          </c:val>
          <c:smooth val="1"/>
          <c:extLst>
            <c:ext xmlns:c16="http://schemas.microsoft.com/office/drawing/2014/chart" uri="{C3380CC4-5D6E-409C-BE32-E72D297353CC}">
              <c16:uniqueId val="{00000000-7DB7-40A0-96F5-1D2E7AF0F464}"/>
            </c:ext>
          </c:extLst>
        </c:ser>
        <c:ser>
          <c:idx val="1"/>
          <c:order val="1"/>
          <c:tx>
            <c:strRef>
              <c:f>Sheet1!$C$1</c:f>
              <c:strCache>
                <c:ptCount val="1"/>
                <c:pt idx="0">
                  <c:v>KH hiện tại</c:v>
                </c:pt>
              </c:strCache>
            </c:strRef>
          </c:tx>
          <c:spPr>
            <a:ln w="28575"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Sheet1!$A$9:$A$28</c:f>
              <c:strCache>
                <c:ptCount val="16"/>
                <c:pt idx="0">
                  <c:v>Jan-W1</c:v>
                </c:pt>
                <c:pt idx="1">
                  <c:v>Jan-W2</c:v>
                </c:pt>
                <c:pt idx="2">
                  <c:v>Jan-W3</c:v>
                </c:pt>
                <c:pt idx="3">
                  <c:v>Jan-W4</c:v>
                </c:pt>
                <c:pt idx="4">
                  <c:v>Feb-W1</c:v>
                </c:pt>
                <c:pt idx="5">
                  <c:v>Feb-W2</c:v>
                </c:pt>
                <c:pt idx="6">
                  <c:v>Feb-W3</c:v>
                </c:pt>
                <c:pt idx="7">
                  <c:v>Feb-W4</c:v>
                </c:pt>
                <c:pt idx="8">
                  <c:v>Mar-W1</c:v>
                </c:pt>
                <c:pt idx="9">
                  <c:v>Mar-W2</c:v>
                </c:pt>
                <c:pt idx="10">
                  <c:v>Mar-W3</c:v>
                </c:pt>
                <c:pt idx="11">
                  <c:v>Mar-W4</c:v>
                </c:pt>
                <c:pt idx="12">
                  <c:v>Apr-W1</c:v>
                </c:pt>
                <c:pt idx="13">
                  <c:v>Apr-W2</c:v>
                </c:pt>
                <c:pt idx="14">
                  <c:v>Apr-W3</c:v>
                </c:pt>
                <c:pt idx="15">
                  <c:v>Apr-W4</c:v>
                </c:pt>
              </c:strCache>
            </c:strRef>
          </c:cat>
          <c:val>
            <c:numRef>
              <c:f>Sheet1!$C$9:$C$28</c:f>
              <c:numCache>
                <c:formatCode>General</c:formatCode>
                <c:ptCount val="16"/>
                <c:pt idx="0">
                  <c:v>4</c:v>
                </c:pt>
                <c:pt idx="1">
                  <c:v>4</c:v>
                </c:pt>
                <c:pt idx="2">
                  <c:v>4</c:v>
                </c:pt>
                <c:pt idx="3">
                  <c:v>4</c:v>
                </c:pt>
                <c:pt idx="4">
                  <c:v>4</c:v>
                </c:pt>
                <c:pt idx="5">
                  <c:v>4</c:v>
                </c:pt>
                <c:pt idx="6">
                  <c:v>4</c:v>
                </c:pt>
                <c:pt idx="7">
                  <c:v>4</c:v>
                </c:pt>
                <c:pt idx="8">
                  <c:v>4</c:v>
                </c:pt>
                <c:pt idx="9">
                  <c:v>4</c:v>
                </c:pt>
                <c:pt idx="10">
                  <c:v>4</c:v>
                </c:pt>
                <c:pt idx="11">
                  <c:v>4</c:v>
                </c:pt>
                <c:pt idx="12">
                  <c:v>4</c:v>
                </c:pt>
                <c:pt idx="13">
                  <c:v>4</c:v>
                </c:pt>
                <c:pt idx="14">
                  <c:v>4</c:v>
                </c:pt>
                <c:pt idx="15">
                  <c:v>4</c:v>
                </c:pt>
              </c:numCache>
            </c:numRef>
          </c:val>
          <c:smooth val="1"/>
          <c:extLst>
            <c:ext xmlns:c16="http://schemas.microsoft.com/office/drawing/2014/chart" uri="{C3380CC4-5D6E-409C-BE32-E72D297353CC}">
              <c16:uniqueId val="{00000001-7DB7-40A0-96F5-1D2E7AF0F464}"/>
            </c:ext>
          </c:extLst>
        </c:ser>
        <c:dLbls>
          <c:showLegendKey val="0"/>
          <c:showVal val="0"/>
          <c:showCatName val="0"/>
          <c:showSerName val="0"/>
          <c:showPercent val="0"/>
          <c:showBubbleSize val="0"/>
        </c:dLbls>
        <c:marker val="1"/>
        <c:smooth val="0"/>
        <c:axId val="322945400"/>
        <c:axId val="322952456"/>
      </c:lineChart>
      <c:catAx>
        <c:axId val="32294540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1" i="0" u="none" strike="noStrike" kern="1200" baseline="0">
                <a:solidFill>
                  <a:schemeClr val="tx1"/>
                </a:solidFill>
                <a:latin typeface="+mn-lt"/>
                <a:ea typeface="+mn-ea"/>
                <a:cs typeface="+mn-cs"/>
              </a:defRPr>
            </a:pPr>
            <a:endParaRPr lang="en-US"/>
          </a:p>
        </c:txPr>
        <c:crossAx val="322952456"/>
        <c:crosses val="autoZero"/>
        <c:auto val="1"/>
        <c:lblAlgn val="ctr"/>
        <c:lblOffset val="100"/>
        <c:noMultiLvlLbl val="0"/>
      </c:catAx>
      <c:valAx>
        <c:axId val="322952456"/>
        <c:scaling>
          <c:orientation val="minMax"/>
          <c:max val="5"/>
          <c:min val="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22945400"/>
        <c:crosses val="autoZero"/>
        <c:crossBetween val="between"/>
        <c:maj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accent1"/>
      </a:solid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rPr>
              <a:t>ĐỘI</a:t>
            </a:r>
            <a:r>
              <a:rPr lang="en-US" sz="1000" baseline="0" dirty="0">
                <a:solidFill>
                  <a:schemeClr val="tx1"/>
                </a:solidFill>
              </a:rPr>
              <a:t> </a:t>
            </a:r>
            <a:r>
              <a:rPr lang="en-US" sz="1000" baseline="0">
                <a:solidFill>
                  <a:schemeClr val="tx1"/>
                </a:solidFill>
              </a:rPr>
              <a:t>BAY ATR72</a:t>
            </a:r>
            <a:endParaRPr lang="en-US" sz="1000" dirty="0">
              <a:solidFill>
                <a:schemeClr val="tx1"/>
              </a:solidFill>
            </a:endParaRP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7.6741006124173256E-2"/>
          <c:y val="7.6421014126223277E-2"/>
          <c:w val="0.86908620881679688"/>
          <c:h val="0.76207697550003184"/>
        </c:manualLayout>
      </c:layout>
      <c:barChart>
        <c:barDir val="col"/>
        <c:grouping val="clustered"/>
        <c:varyColors val="0"/>
        <c:ser>
          <c:idx val="3"/>
          <c:order val="0"/>
          <c:tx>
            <c:strRef>
              <c:f>Sheet1!$E$1</c:f>
              <c:strCache>
                <c:ptCount val="1"/>
                <c:pt idx="0">
                  <c:v>ATR AOG</c:v>
                </c:pt>
              </c:strCache>
            </c:strRef>
          </c:tx>
          <c:spPr>
            <a:solidFill>
              <a:schemeClr val="accent6">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Sheet1!$E$10:$E$33</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0-5DD9-45B0-A857-E17C1999913E}"/>
            </c:ext>
          </c:extLst>
        </c:ser>
        <c:dLbls>
          <c:dLblPos val="ctr"/>
          <c:showLegendKey val="0"/>
          <c:showVal val="1"/>
          <c:showCatName val="0"/>
          <c:showSerName val="0"/>
          <c:showPercent val="0"/>
          <c:showBubbleSize val="0"/>
        </c:dLbls>
        <c:gapWidth val="150"/>
        <c:axId val="322954024"/>
        <c:axId val="322950888"/>
      </c:barChart>
      <c:lineChart>
        <c:grouping val="standard"/>
        <c:varyColors val="0"/>
        <c:ser>
          <c:idx val="4"/>
          <c:order val="1"/>
          <c:tx>
            <c:strRef>
              <c:f>Sheet1!$F$1</c:f>
              <c:strCache>
                <c:ptCount val="1"/>
                <c:pt idx="0">
                  <c:v>ATR có thể khai thác</c:v>
                </c:pt>
              </c:strCache>
            </c:strRef>
          </c:tx>
          <c:spPr>
            <a:ln w="28575" cap="rnd">
              <a:solidFill>
                <a:schemeClr val="accent5">
                  <a:lumMod val="60000"/>
                </a:schemeClr>
              </a:solidFill>
              <a:round/>
            </a:ln>
            <a:effectLst/>
          </c:spPr>
          <c:marker>
            <c:symbol val="circle"/>
            <c:size val="20"/>
            <c:spPr>
              <a:solidFill>
                <a:schemeClr val="accent5">
                  <a:lumMod val="60000"/>
                </a:schemeClr>
              </a:solidFill>
              <a:ln w="9525">
                <a:solidFill>
                  <a:schemeClr val="accent5">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Sheet1!$F$10:$F$33</c:f>
              <c:numCache>
                <c:formatCode>General</c:formatCode>
                <c:ptCount val="12"/>
                <c:pt idx="0">
                  <c:v>5</c:v>
                </c:pt>
                <c:pt idx="1">
                  <c:v>5</c:v>
                </c:pt>
                <c:pt idx="2">
                  <c:v>5</c:v>
                </c:pt>
                <c:pt idx="3">
                  <c:v>5</c:v>
                </c:pt>
                <c:pt idx="4">
                  <c:v>5</c:v>
                </c:pt>
                <c:pt idx="5">
                  <c:v>5</c:v>
                </c:pt>
                <c:pt idx="6">
                  <c:v>6</c:v>
                </c:pt>
                <c:pt idx="7">
                  <c:v>6</c:v>
                </c:pt>
                <c:pt idx="8">
                  <c:v>6</c:v>
                </c:pt>
                <c:pt idx="9">
                  <c:v>6</c:v>
                </c:pt>
                <c:pt idx="10">
                  <c:v>6</c:v>
                </c:pt>
                <c:pt idx="11">
                  <c:v>6</c:v>
                </c:pt>
              </c:numCache>
            </c:numRef>
          </c:val>
          <c:smooth val="0"/>
          <c:extLst>
            <c:ext xmlns:c16="http://schemas.microsoft.com/office/drawing/2014/chart" uri="{C3380CC4-5D6E-409C-BE32-E72D297353CC}">
              <c16:uniqueId val="{00000001-5DD9-45B0-A857-E17C1999913E}"/>
            </c:ext>
          </c:extLst>
        </c:ser>
        <c:dLbls>
          <c:showLegendKey val="0"/>
          <c:showVal val="0"/>
          <c:showCatName val="0"/>
          <c:showSerName val="0"/>
          <c:showPercent val="0"/>
          <c:showBubbleSize val="0"/>
        </c:dLbls>
        <c:marker val="1"/>
        <c:smooth val="0"/>
        <c:axId val="322954024"/>
        <c:axId val="322950888"/>
      </c:lineChart>
      <c:catAx>
        <c:axId val="322954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50888"/>
        <c:crosses val="autoZero"/>
        <c:auto val="1"/>
        <c:lblAlgn val="ctr"/>
        <c:lblOffset val="100"/>
        <c:noMultiLvlLbl val="0"/>
      </c:catAx>
      <c:valAx>
        <c:axId val="322950888"/>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322954024"/>
        <c:crosses val="autoZero"/>
        <c:crossBetween val="between"/>
      </c:valAx>
      <c:spPr>
        <a:noFill/>
        <a:ln>
          <a:noFill/>
        </a:ln>
        <a:effectLst/>
      </c:spPr>
    </c:plotArea>
    <c:legend>
      <c:legendPos val="b"/>
      <c:layout>
        <c:manualLayout>
          <c:xMode val="edge"/>
          <c:yMode val="edge"/>
          <c:x val="0.67513027291531713"/>
          <c:y val="6.004108159602075E-2"/>
          <c:w val="0.30713392618610735"/>
          <c:h val="5.4412364558412099E-2"/>
        </c:manualLayout>
      </c:layout>
      <c:overlay val="0"/>
      <c:spPr>
        <a:solidFill>
          <a:schemeClr val="bg1"/>
        </a:solidFill>
        <a:ln>
          <a:solidFill>
            <a:srgbClr val="00FF0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rgbClr val="00B050"/>
      </a:solid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600"/>
            </a:pPr>
            <a:r>
              <a:rPr lang="en-US" sz="1600"/>
              <a:t>Số nhân nhượng theo tuần</a:t>
            </a:r>
            <a:endParaRPr lang="vi-VN" sz="1600"/>
          </a:p>
        </c:rich>
      </c:tx>
      <c:overlay val="0"/>
    </c:title>
    <c:autoTitleDeleted val="0"/>
    <c:plotArea>
      <c:layout/>
      <c:barChart>
        <c:barDir val="col"/>
        <c:grouping val="clustered"/>
        <c:varyColors val="0"/>
        <c:ser>
          <c:idx val="0"/>
          <c:order val="0"/>
          <c:tx>
            <c:strRef>
              <c:f>'[W06 (03.02.2025-09.02.2025).xlsx]Data Chart'!$C$34</c:f>
              <c:strCache>
                <c:ptCount val="1"/>
                <c:pt idx="0">
                  <c:v>Last week</c:v>
                </c:pt>
              </c:strCache>
            </c:strRef>
          </c:tx>
          <c:spPr>
            <a:solidFill>
              <a:srgbClr val="FFC00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'[W06 (03.02.2025-09.02.2025).xlsx]Data Chart'!$A$35:$B$40</c:f>
              <c:strCache>
                <c:ptCount val="6"/>
                <c:pt idx="0">
                  <c:v>A320</c:v>
                </c:pt>
                <c:pt idx="1">
                  <c:v>A321</c:v>
                </c:pt>
                <c:pt idx="2">
                  <c:v>A350</c:v>
                </c:pt>
                <c:pt idx="3">
                  <c:v>B787</c:v>
                </c:pt>
                <c:pt idx="4">
                  <c:v>ATR72</c:v>
                </c:pt>
                <c:pt idx="5">
                  <c:v>Tất cả</c:v>
                </c:pt>
              </c:strCache>
            </c:strRef>
          </c:cat>
          <c:val>
            <c:numRef>
              <c:f>'[W06 (03.02.2025-09.02.2025).xlsx]Data Chart'!$C$35:$C$40</c:f>
              <c:numCache>
                <c:formatCode>General</c:formatCode>
                <c:ptCount val="6"/>
                <c:pt idx="0">
                  <c:v>0</c:v>
                </c:pt>
                <c:pt idx="1">
                  <c:v>2</c:v>
                </c:pt>
                <c:pt idx="2">
                  <c:v>0</c:v>
                </c:pt>
                <c:pt idx="3">
                  <c:v>1</c:v>
                </c:pt>
                <c:pt idx="4">
                  <c:v>0</c:v>
                </c:pt>
                <c:pt idx="5" formatCode="0">
                  <c:v>3</c:v>
                </c:pt>
              </c:numCache>
            </c:numRef>
          </c:val>
          <c:extLst>
            <c:ext xmlns:c16="http://schemas.microsoft.com/office/drawing/2014/chart" uri="{C3380CC4-5D6E-409C-BE32-E72D297353CC}">
              <c16:uniqueId val="{00000000-1362-4F08-9F8C-00741D39D1C7}"/>
            </c:ext>
          </c:extLst>
        </c:ser>
        <c:ser>
          <c:idx val="1"/>
          <c:order val="1"/>
          <c:tx>
            <c:strRef>
              <c:f>'[W06 (03.02.2025-09.02.2025).xlsx]Data Chart'!$D$34</c:f>
              <c:strCache>
                <c:ptCount val="1"/>
                <c:pt idx="0">
                  <c:v>This week</c:v>
                </c:pt>
              </c:strCache>
            </c:strRef>
          </c:tx>
          <c:spPr>
            <a:solidFill>
              <a:srgbClr val="00B0F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'[W06 (03.02.2025-09.02.2025).xlsx]Data Chart'!$A$35:$B$40</c:f>
              <c:strCache>
                <c:ptCount val="6"/>
                <c:pt idx="0">
                  <c:v>A320</c:v>
                </c:pt>
                <c:pt idx="1">
                  <c:v>A321</c:v>
                </c:pt>
                <c:pt idx="2">
                  <c:v>A350</c:v>
                </c:pt>
                <c:pt idx="3">
                  <c:v>B787</c:v>
                </c:pt>
                <c:pt idx="4">
                  <c:v>ATR72</c:v>
                </c:pt>
                <c:pt idx="5">
                  <c:v>Tất cả</c:v>
                </c:pt>
              </c:strCache>
            </c:strRef>
          </c:cat>
          <c:val>
            <c:numRef>
              <c:f>'[W06 (03.02.2025-09.02.2025).xlsx]Data Chart'!$D$35:$D$40</c:f>
              <c:numCache>
                <c:formatCode>General</c:formatCode>
                <c:ptCount val="6"/>
                <c:pt idx="0">
                  <c:v>0</c:v>
                </c:pt>
                <c:pt idx="1">
                  <c:v>4</c:v>
                </c:pt>
                <c:pt idx="2">
                  <c:v>0</c:v>
                </c:pt>
                <c:pt idx="3">
                  <c:v>2</c:v>
                </c:pt>
                <c:pt idx="4">
                  <c:v>0</c:v>
                </c:pt>
                <c:pt idx="5" formatCode="0">
                  <c:v>6</c:v>
                </c:pt>
              </c:numCache>
            </c:numRef>
          </c:val>
          <c:extLst>
            <c:ext xmlns:c16="http://schemas.microsoft.com/office/drawing/2014/chart" uri="{C3380CC4-5D6E-409C-BE32-E72D297353CC}">
              <c16:uniqueId val="{00000001-1362-4F08-9F8C-00741D39D1C7}"/>
            </c:ext>
          </c:extLst>
        </c:ser>
        <c:dLbls>
          <c:showLegendKey val="0"/>
          <c:showVal val="0"/>
          <c:showCatName val="0"/>
          <c:showSerName val="0"/>
          <c:showPercent val="0"/>
          <c:showBubbleSize val="0"/>
        </c:dLbls>
        <c:gapWidth val="150"/>
        <c:axId val="313739144"/>
        <c:axId val="313732872"/>
      </c:barChart>
      <c:catAx>
        <c:axId val="313739144"/>
        <c:scaling>
          <c:orientation val="minMax"/>
        </c:scaling>
        <c:delete val="0"/>
        <c:axPos val="b"/>
        <c:numFmt formatCode="General" sourceLinked="0"/>
        <c:majorTickMark val="out"/>
        <c:minorTickMark val="none"/>
        <c:tickLblPos val="nextTo"/>
        <c:txPr>
          <a:bodyPr/>
          <a:lstStyle/>
          <a:p>
            <a:pPr>
              <a:defRPr sz="1000">
                <a:solidFill>
                  <a:schemeClr val="tx1"/>
                </a:solidFill>
              </a:defRPr>
            </a:pPr>
            <a:endParaRPr lang="en-US"/>
          </a:p>
        </c:txPr>
        <c:crossAx val="313732872"/>
        <c:crosses val="autoZero"/>
        <c:auto val="1"/>
        <c:lblAlgn val="ctr"/>
        <c:lblOffset val="100"/>
        <c:noMultiLvlLbl val="0"/>
      </c:catAx>
      <c:valAx>
        <c:axId val="313732872"/>
        <c:scaling>
          <c:orientation val="minMax"/>
        </c:scaling>
        <c:delete val="0"/>
        <c:axPos val="l"/>
        <c:numFmt formatCode="General" sourceLinked="1"/>
        <c:majorTickMark val="out"/>
        <c:minorTickMark val="none"/>
        <c:tickLblPos val="nextTo"/>
        <c:txPr>
          <a:bodyPr/>
          <a:lstStyle/>
          <a:p>
            <a:pPr>
              <a:defRPr sz="1000">
                <a:solidFill>
                  <a:schemeClr val="tx1"/>
                </a:solidFill>
              </a:defRPr>
            </a:pPr>
            <a:endParaRPr lang="en-US"/>
          </a:p>
        </c:txPr>
        <c:crossAx val="313739144"/>
        <c:crosses val="autoZero"/>
        <c:crossBetween val="between"/>
        <c:majorUnit val="4"/>
        <c:minorUnit val="2"/>
      </c:valAx>
    </c:plotArea>
    <c:legend>
      <c:legendPos val="b"/>
      <c:overlay val="0"/>
      <c:txPr>
        <a:bodyPr/>
        <a:lstStyle/>
        <a:p>
          <a:pPr>
            <a:defRPr sz="1000"/>
          </a:pPr>
          <a:endParaRPr lang="en-US"/>
        </a:p>
      </c:txPr>
    </c:legend>
    <c:plotVisOnly val="1"/>
    <c:dispBlanksAs val="gap"/>
    <c:showDLblsOverMax val="0"/>
  </c:chart>
  <c:spPr>
    <a:ln w="12700">
      <a:solidFill>
        <a:schemeClr val="tx1"/>
      </a:solidFill>
    </a:ln>
  </c:spPr>
  <c:txPr>
    <a:bodyPr/>
    <a:lstStyle/>
    <a:p>
      <a:pPr>
        <a:defRPr sz="1200">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400" b="1">
                <a:solidFill>
                  <a:schemeClr val="tx1"/>
                </a:solidFill>
              </a:rPr>
              <a:t>Trung bình giờ bay các</a:t>
            </a:r>
            <a:r>
              <a:rPr lang="en-US" sz="1400" b="1" baseline="0">
                <a:solidFill>
                  <a:schemeClr val="tx1"/>
                </a:solidFill>
              </a:rPr>
              <a:t> đội tàu</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Week!$A$2</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Week!$E$4:$E$12</c:f>
              <c:numCache>
                <c:formatCode>[h]:mm</c:formatCode>
                <c:ptCount val="9"/>
                <c:pt idx="0">
                  <c:v>6.8928571428571464E-2</c:v>
                </c:pt>
                <c:pt idx="1">
                  <c:v>7.7444259354177508E-2</c:v>
                </c:pt>
                <c:pt idx="2">
                  <c:v>8.2565235690235855E-2</c:v>
                </c:pt>
                <c:pt idx="3">
                  <c:v>0.14180107526881719</c:v>
                </c:pt>
                <c:pt idx="4">
                  <c:v>0.24127549226441664</c:v>
                </c:pt>
                <c:pt idx="5">
                  <c:v>0.23394373673036109</c:v>
                </c:pt>
                <c:pt idx="6">
                  <c:v>0.14808006535947715</c:v>
                </c:pt>
                <c:pt idx="7">
                  <c:v>0.12710946833930736</c:v>
                </c:pt>
                <c:pt idx="8">
                  <c:v>4.3775720164609129E-2</c:v>
                </c:pt>
              </c:numCache>
            </c:numRef>
          </c:val>
          <c:extLst>
            <c:ext xmlns:c16="http://schemas.microsoft.com/office/drawing/2014/chart" uri="{C3380CC4-5D6E-409C-BE32-E72D297353CC}">
              <c16:uniqueId val="{00000000-6BF7-4668-ACF8-667F5AA47E38}"/>
            </c:ext>
          </c:extLst>
        </c:ser>
        <c:ser>
          <c:idx val="6"/>
          <c:order val="1"/>
          <c:tx>
            <c:strRef>
              <c:f>Week!$G$2</c:f>
              <c:strCache>
                <c:ptCount val="1"/>
                <c:pt idx="0">
                  <c:v>Next Week</c:v>
                </c:pt>
              </c:strCache>
            </c:strRef>
          </c:tx>
          <c:spPr>
            <a:solidFill>
              <a:schemeClr val="accent2"/>
            </a:solidFill>
            <a:ln>
              <a:solidFill>
                <a:schemeClr val="accent2"/>
              </a:solid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Week!$K$4:$K$12</c:f>
              <c:numCache>
                <c:formatCode>[h]:mm</c:formatCode>
                <c:ptCount val="9"/>
                <c:pt idx="0">
                  <c:v>6.5673289183222974E-2</c:v>
                </c:pt>
                <c:pt idx="1">
                  <c:v>7.9000280750429516E-2</c:v>
                </c:pt>
                <c:pt idx="2">
                  <c:v>9.1862189859762799E-2</c:v>
                </c:pt>
                <c:pt idx="3">
                  <c:v>0.14236111111111108</c:v>
                </c:pt>
                <c:pt idx="4">
                  <c:v>0.27820186598812574</c:v>
                </c:pt>
                <c:pt idx="5">
                  <c:v>0.2395382395382398</c:v>
                </c:pt>
                <c:pt idx="6">
                  <c:v>0.15133101851851857</c:v>
                </c:pt>
                <c:pt idx="7">
                  <c:v>0.1354629629629632</c:v>
                </c:pt>
                <c:pt idx="8">
                  <c:v>4.3353526398739232E-2</c:v>
                </c:pt>
              </c:numCache>
            </c:numRef>
          </c:val>
          <c:extLst>
            <c:ext xmlns:c16="http://schemas.microsoft.com/office/drawing/2014/chart" uri="{C3380CC4-5D6E-409C-BE32-E72D297353CC}">
              <c16:uniqueId val="{00000001-6BF7-4668-ACF8-667F5AA47E38}"/>
            </c:ext>
          </c:extLst>
        </c:ser>
        <c:dLbls>
          <c:showLegendKey val="0"/>
          <c:showVal val="0"/>
          <c:showCatName val="0"/>
          <c:showSerName val="0"/>
          <c:showPercent val="0"/>
          <c:showBubbleSize val="0"/>
        </c:dLbls>
        <c:gapWidth val="75"/>
        <c:axId val="1014707104"/>
        <c:axId val="1014707520"/>
      </c:barChart>
      <c:catAx>
        <c:axId val="101470710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520"/>
        <c:crosses val="autoZero"/>
        <c:auto val="1"/>
        <c:lblAlgn val="ctr"/>
        <c:lblOffset val="100"/>
        <c:noMultiLvlLbl val="0"/>
      </c:catAx>
      <c:valAx>
        <c:axId val="1014707520"/>
        <c:scaling>
          <c:orientation val="minMax"/>
        </c:scaling>
        <c:delete val="0"/>
        <c:axPos val="l"/>
        <c:majorGridlines>
          <c:spPr>
            <a:ln w="9525" cap="flat" cmpd="sng" algn="ctr">
              <a:solidFill>
                <a:schemeClr val="tx1">
                  <a:lumMod val="15000"/>
                  <a:lumOff val="85000"/>
                </a:schemeClr>
              </a:solidFill>
              <a:round/>
            </a:ln>
            <a:effectLst/>
          </c:spPr>
        </c:majorGridlines>
        <c:numFmt formatCode="[h]:mm"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1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2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GB" sz="1400" b="1">
                <a:solidFill>
                  <a:schemeClr val="tx1"/>
                </a:solidFill>
              </a:rPr>
              <a:t>Số chuyến bay trung bình theo ngày của các Fleet tàu bay trong tuần</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Week!$A$15</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Week!$I$17:$I$22</c:f>
              <c:numCache>
                <c:formatCode>0.00</c:formatCode>
                <c:ptCount val="6"/>
                <c:pt idx="0">
                  <c:v>8.3333333333333339</c:v>
                </c:pt>
                <c:pt idx="1">
                  <c:v>7.1465201465201469</c:v>
                </c:pt>
                <c:pt idx="2">
                  <c:v>6.7346938775510212</c:v>
                </c:pt>
                <c:pt idx="3">
                  <c:v>3.1428571428571428</c:v>
                </c:pt>
                <c:pt idx="4">
                  <c:v>3.596638655462185</c:v>
                </c:pt>
                <c:pt idx="5">
                  <c:v>7.7142857142857144</c:v>
                </c:pt>
              </c:numCache>
            </c:numRef>
          </c:val>
          <c:extLst>
            <c:ext xmlns:c16="http://schemas.microsoft.com/office/drawing/2014/chart" uri="{C3380CC4-5D6E-409C-BE32-E72D297353CC}">
              <c16:uniqueId val="{00000000-9AE7-4C5F-A02D-21E6B127F1BA}"/>
            </c:ext>
          </c:extLst>
        </c:ser>
        <c:ser>
          <c:idx val="1"/>
          <c:order val="1"/>
          <c:tx>
            <c:strRef>
              <c:f>Week!$K$15</c:f>
              <c:strCache>
                <c:ptCount val="1"/>
                <c:pt idx="0">
                  <c:v>Next Week</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Week!$S$17:$S$22</c:f>
              <c:numCache>
                <c:formatCode>0.00</c:formatCode>
                <c:ptCount val="6"/>
                <c:pt idx="0">
                  <c:v>7.1904761904761907</c:v>
                </c:pt>
                <c:pt idx="1">
                  <c:v>6.1611721611721615</c:v>
                </c:pt>
                <c:pt idx="2">
                  <c:v>4.204081632653061</c:v>
                </c:pt>
                <c:pt idx="3">
                  <c:v>2.7285714285714286</c:v>
                </c:pt>
                <c:pt idx="4">
                  <c:v>3.2605042016806718</c:v>
                </c:pt>
                <c:pt idx="5">
                  <c:v>8.0571428571428569</c:v>
                </c:pt>
              </c:numCache>
            </c:numRef>
          </c:val>
          <c:extLst>
            <c:ext xmlns:c16="http://schemas.microsoft.com/office/drawing/2014/chart" uri="{C3380CC4-5D6E-409C-BE32-E72D297353CC}">
              <c16:uniqueId val="{00000001-9AE7-4C5F-A02D-21E6B127F1BA}"/>
            </c:ext>
          </c:extLst>
        </c:ser>
        <c:dLbls>
          <c:showLegendKey val="0"/>
          <c:showVal val="1"/>
          <c:showCatName val="0"/>
          <c:showSerName val="0"/>
          <c:showPercent val="0"/>
          <c:showBubbleSize val="0"/>
        </c:dLbls>
        <c:gapWidth val="150"/>
        <c:axId val="931954720"/>
        <c:axId val="931955968"/>
      </c:barChart>
      <c:catAx>
        <c:axId val="93195472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5968"/>
        <c:crosses val="autoZero"/>
        <c:auto val="1"/>
        <c:lblAlgn val="ctr"/>
        <c:lblOffset val="100"/>
        <c:noMultiLvlLbl val="0"/>
      </c:catAx>
      <c:valAx>
        <c:axId val="93195596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47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rgbClr val="0070C0"/>
            </a:solidFill>
            <a:ln w="9525" cap="flat" cmpd="sng" algn="ctr">
              <a:solidFill>
                <a:srgbClr val="0070C0"/>
              </a:solidFill>
              <a:round/>
            </a:ln>
            <a:effectLst/>
          </c:spPr>
          <c:invertIfNegative val="0"/>
          <c:dPt>
            <c:idx val="0"/>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1-EAC9-40D5-90BF-08AF228EAE8E}"/>
              </c:ext>
            </c:extLst>
          </c:dPt>
          <c:dPt>
            <c:idx val="1"/>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3-EAC9-40D5-90BF-08AF228EAE8E}"/>
              </c:ext>
            </c:extLst>
          </c:dPt>
          <c:dPt>
            <c:idx val="2"/>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5-EAC9-40D5-90BF-08AF228EAE8E}"/>
              </c:ext>
            </c:extLst>
          </c:dPt>
          <c:dPt>
            <c:idx val="3"/>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7-EAC9-40D5-90BF-08AF228EAE8E}"/>
              </c:ext>
            </c:extLst>
          </c:dPt>
          <c:dPt>
            <c:idx val="4"/>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9-EAC9-40D5-90BF-08AF228EAE8E}"/>
              </c:ext>
            </c:extLst>
          </c:dPt>
          <c:dPt>
            <c:idx val="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B-EAC9-40D5-90BF-08AF228EAE8E}"/>
              </c:ext>
            </c:extLst>
          </c:dPt>
          <c:dPt>
            <c:idx val="6"/>
            <c:invertIfNegative val="0"/>
            <c:bubble3D val="0"/>
            <c:spPr>
              <a:solidFill>
                <a:srgbClr val="ED7D31"/>
              </a:solidFill>
              <a:ln w="9525" cap="flat" cmpd="sng" algn="ctr">
                <a:solidFill>
                  <a:srgbClr val="0070C0"/>
                </a:solidFill>
                <a:round/>
              </a:ln>
              <a:effectLst/>
            </c:spPr>
            <c:extLst>
              <c:ext xmlns:c16="http://schemas.microsoft.com/office/drawing/2014/chart" uri="{C3380CC4-5D6E-409C-BE32-E72D297353CC}">
                <c16:uniqueId val="{0000000D-EAC9-40D5-90BF-08AF228EAE8E}"/>
              </c:ext>
            </c:extLst>
          </c:dPt>
          <c:dPt>
            <c:idx val="1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F-EAC9-40D5-90BF-08AF228EAE8E}"/>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Week!$B$35:$BQ$35</c:f>
              <c:numCache>
                <c:formatCode>d\-mmm</c:formatCode>
                <c:ptCount val="68"/>
                <c:pt idx="0">
                  <c:v>45691</c:v>
                </c:pt>
                <c:pt idx="1">
                  <c:v>45692</c:v>
                </c:pt>
                <c:pt idx="2">
                  <c:v>45693</c:v>
                </c:pt>
                <c:pt idx="3">
                  <c:v>45694</c:v>
                </c:pt>
                <c:pt idx="4">
                  <c:v>45695</c:v>
                </c:pt>
                <c:pt idx="5">
                  <c:v>45696</c:v>
                </c:pt>
                <c:pt idx="6">
                  <c:v>45697</c:v>
                </c:pt>
                <c:pt idx="7">
                  <c:v>45698</c:v>
                </c:pt>
                <c:pt idx="8">
                  <c:v>45699</c:v>
                </c:pt>
                <c:pt idx="9">
                  <c:v>45700</c:v>
                </c:pt>
                <c:pt idx="10">
                  <c:v>45701</c:v>
                </c:pt>
                <c:pt idx="11">
                  <c:v>45702</c:v>
                </c:pt>
                <c:pt idx="12">
                  <c:v>45703</c:v>
                </c:pt>
                <c:pt idx="13">
                  <c:v>45704</c:v>
                </c:pt>
                <c:pt idx="14">
                  <c:v>45705</c:v>
                </c:pt>
                <c:pt idx="15">
                  <c:v>45706</c:v>
                </c:pt>
                <c:pt idx="16">
                  <c:v>45707</c:v>
                </c:pt>
                <c:pt idx="17">
                  <c:v>45708</c:v>
                </c:pt>
                <c:pt idx="18">
                  <c:v>45709</c:v>
                </c:pt>
                <c:pt idx="19">
                  <c:v>45710</c:v>
                </c:pt>
                <c:pt idx="20">
                  <c:v>45711</c:v>
                </c:pt>
                <c:pt idx="21">
                  <c:v>45712</c:v>
                </c:pt>
                <c:pt idx="22">
                  <c:v>45713</c:v>
                </c:pt>
                <c:pt idx="23">
                  <c:v>45714</c:v>
                </c:pt>
                <c:pt idx="24">
                  <c:v>45715</c:v>
                </c:pt>
                <c:pt idx="25">
                  <c:v>45716</c:v>
                </c:pt>
                <c:pt idx="26">
                  <c:v>45717</c:v>
                </c:pt>
                <c:pt idx="27">
                  <c:v>45718</c:v>
                </c:pt>
                <c:pt idx="28">
                  <c:v>45719</c:v>
                </c:pt>
                <c:pt idx="29">
                  <c:v>45720</c:v>
                </c:pt>
                <c:pt idx="30">
                  <c:v>45721</c:v>
                </c:pt>
                <c:pt idx="31">
                  <c:v>45722</c:v>
                </c:pt>
                <c:pt idx="32">
                  <c:v>45723</c:v>
                </c:pt>
                <c:pt idx="33">
                  <c:v>45724</c:v>
                </c:pt>
                <c:pt idx="34">
                  <c:v>45725</c:v>
                </c:pt>
                <c:pt idx="35">
                  <c:v>45726</c:v>
                </c:pt>
                <c:pt idx="36">
                  <c:v>45727</c:v>
                </c:pt>
                <c:pt idx="37">
                  <c:v>45728</c:v>
                </c:pt>
                <c:pt idx="38">
                  <c:v>45729</c:v>
                </c:pt>
                <c:pt idx="39">
                  <c:v>45730</c:v>
                </c:pt>
                <c:pt idx="40">
                  <c:v>45731</c:v>
                </c:pt>
                <c:pt idx="41">
                  <c:v>45732</c:v>
                </c:pt>
                <c:pt idx="42">
                  <c:v>45733</c:v>
                </c:pt>
                <c:pt idx="43">
                  <c:v>45734</c:v>
                </c:pt>
                <c:pt idx="44">
                  <c:v>45735</c:v>
                </c:pt>
                <c:pt idx="45">
                  <c:v>45736</c:v>
                </c:pt>
                <c:pt idx="46">
                  <c:v>45737</c:v>
                </c:pt>
                <c:pt idx="47">
                  <c:v>45738</c:v>
                </c:pt>
                <c:pt idx="48">
                  <c:v>45739</c:v>
                </c:pt>
                <c:pt idx="49">
                  <c:v>45740</c:v>
                </c:pt>
                <c:pt idx="50">
                  <c:v>45741</c:v>
                </c:pt>
                <c:pt idx="51">
                  <c:v>45742</c:v>
                </c:pt>
                <c:pt idx="52">
                  <c:v>45743</c:v>
                </c:pt>
                <c:pt idx="53">
                  <c:v>45744</c:v>
                </c:pt>
                <c:pt idx="54">
                  <c:v>45745</c:v>
                </c:pt>
                <c:pt idx="55">
                  <c:v>45746</c:v>
                </c:pt>
                <c:pt idx="56">
                  <c:v>45747</c:v>
                </c:pt>
              </c:numCache>
            </c:numRef>
          </c:cat>
          <c:val>
            <c:numRef>
              <c:f>Week!$B$36:$BQ$36</c:f>
              <c:numCache>
                <c:formatCode>General</c:formatCode>
                <c:ptCount val="68"/>
                <c:pt idx="0">
                  <c:v>565</c:v>
                </c:pt>
                <c:pt idx="1">
                  <c:v>566</c:v>
                </c:pt>
                <c:pt idx="2">
                  <c:v>536</c:v>
                </c:pt>
                <c:pt idx="3">
                  <c:v>537</c:v>
                </c:pt>
                <c:pt idx="4">
                  <c:v>509</c:v>
                </c:pt>
                <c:pt idx="5">
                  <c:v>484</c:v>
                </c:pt>
                <c:pt idx="6">
                  <c:v>509</c:v>
                </c:pt>
                <c:pt idx="7">
                  <c:v>480</c:v>
                </c:pt>
                <c:pt idx="8">
                  <c:v>471</c:v>
                </c:pt>
                <c:pt idx="9">
                  <c:v>470</c:v>
                </c:pt>
                <c:pt idx="10">
                  <c:v>424</c:v>
                </c:pt>
                <c:pt idx="11">
                  <c:v>423</c:v>
                </c:pt>
                <c:pt idx="12">
                  <c:v>419</c:v>
                </c:pt>
                <c:pt idx="13">
                  <c:v>442</c:v>
                </c:pt>
                <c:pt idx="14">
                  <c:v>415</c:v>
                </c:pt>
                <c:pt idx="15">
                  <c:v>402</c:v>
                </c:pt>
                <c:pt idx="16">
                  <c:v>404</c:v>
                </c:pt>
                <c:pt idx="17">
                  <c:v>402</c:v>
                </c:pt>
                <c:pt idx="18">
                  <c:v>423</c:v>
                </c:pt>
                <c:pt idx="19">
                  <c:v>415</c:v>
                </c:pt>
                <c:pt idx="20">
                  <c:v>427</c:v>
                </c:pt>
                <c:pt idx="21">
                  <c:v>406</c:v>
                </c:pt>
                <c:pt idx="22">
                  <c:v>402</c:v>
                </c:pt>
                <c:pt idx="23">
                  <c:v>408</c:v>
                </c:pt>
                <c:pt idx="24">
                  <c:v>414</c:v>
                </c:pt>
                <c:pt idx="25">
                  <c:v>408</c:v>
                </c:pt>
                <c:pt idx="26">
                  <c:v>412</c:v>
                </c:pt>
                <c:pt idx="27">
                  <c:v>416</c:v>
                </c:pt>
                <c:pt idx="28">
                  <c:v>410</c:v>
                </c:pt>
                <c:pt idx="29">
                  <c:v>413</c:v>
                </c:pt>
                <c:pt idx="30">
                  <c:v>412</c:v>
                </c:pt>
                <c:pt idx="31">
                  <c:v>414</c:v>
                </c:pt>
                <c:pt idx="32">
                  <c:v>425</c:v>
                </c:pt>
                <c:pt idx="33">
                  <c:v>427</c:v>
                </c:pt>
                <c:pt idx="34">
                  <c:v>427</c:v>
                </c:pt>
                <c:pt idx="35">
                  <c:v>420</c:v>
                </c:pt>
                <c:pt idx="36">
                  <c:v>404</c:v>
                </c:pt>
                <c:pt idx="37">
                  <c:v>409</c:v>
                </c:pt>
                <c:pt idx="38">
                  <c:v>417</c:v>
                </c:pt>
                <c:pt idx="39">
                  <c:v>426</c:v>
                </c:pt>
                <c:pt idx="40">
                  <c:v>425</c:v>
                </c:pt>
                <c:pt idx="41">
                  <c:v>426</c:v>
                </c:pt>
                <c:pt idx="42">
                  <c:v>414</c:v>
                </c:pt>
                <c:pt idx="43">
                  <c:v>414</c:v>
                </c:pt>
                <c:pt idx="44">
                  <c:v>414</c:v>
                </c:pt>
                <c:pt idx="45">
                  <c:v>419</c:v>
                </c:pt>
                <c:pt idx="46">
                  <c:v>424</c:v>
                </c:pt>
                <c:pt idx="47">
                  <c:v>418</c:v>
                </c:pt>
                <c:pt idx="48">
                  <c:v>420</c:v>
                </c:pt>
                <c:pt idx="49">
                  <c:v>417</c:v>
                </c:pt>
                <c:pt idx="50">
                  <c:v>422</c:v>
                </c:pt>
                <c:pt idx="51">
                  <c:v>415</c:v>
                </c:pt>
                <c:pt idx="52">
                  <c:v>412</c:v>
                </c:pt>
                <c:pt idx="53">
                  <c:v>417</c:v>
                </c:pt>
                <c:pt idx="54">
                  <c:v>423</c:v>
                </c:pt>
                <c:pt idx="55">
                  <c:v>419</c:v>
                </c:pt>
                <c:pt idx="56">
                  <c:v>426</c:v>
                </c:pt>
              </c:numCache>
            </c:numRef>
          </c:val>
          <c:extLst>
            <c:ext xmlns:c16="http://schemas.microsoft.com/office/drawing/2014/chart" uri="{C3380CC4-5D6E-409C-BE32-E72D297353CC}">
              <c16:uniqueId val="{00000010-EAC9-40D5-90BF-08AF228EAE8E}"/>
            </c:ext>
          </c:extLst>
        </c:ser>
        <c:dLbls>
          <c:showLegendKey val="0"/>
          <c:showVal val="1"/>
          <c:showCatName val="0"/>
          <c:showSerName val="0"/>
          <c:showPercent val="0"/>
          <c:showBubbleSize val="0"/>
        </c:dLbls>
        <c:gapWidth val="75"/>
        <c:axId val="2029441984"/>
        <c:axId val="2029444064"/>
      </c:barChart>
      <c:dateAx>
        <c:axId val="2029441984"/>
        <c:scaling>
          <c:orientation val="minMax"/>
        </c:scaling>
        <c:delete val="0"/>
        <c:axPos val="b"/>
        <c:numFmt formatCode="d\-m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4064"/>
        <c:crosses val="autoZero"/>
        <c:auto val="1"/>
        <c:lblOffset val="100"/>
        <c:baseTimeUnit val="days"/>
      </c:dateAx>
      <c:valAx>
        <c:axId val="2029444064"/>
        <c:scaling>
          <c:orientation val="minMax"/>
          <c:max val="590"/>
          <c:min val="250"/>
        </c:scaling>
        <c:delete val="0"/>
        <c:axPos val="l"/>
        <c:numFmt formatCode="General" sourceLinked="1"/>
        <c:majorTickMark val="none"/>
        <c:minorTickMark val="none"/>
        <c:tickLblPos val="nextTo"/>
        <c:spPr>
          <a:noFill/>
          <a:ln w="9525">
            <a:solidFill>
              <a:schemeClr val="tx1"/>
            </a:solid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1984"/>
        <c:crosses val="autoZero"/>
        <c:crossBetween val="between"/>
        <c:majorUnit val="30"/>
        <c:minorUnit val="5"/>
      </c:valAx>
      <c:spPr>
        <a:noFill/>
        <a:ln>
          <a:noFill/>
        </a:ln>
        <a:effectLst/>
      </c:spPr>
    </c:plotArea>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1440" tIns="45720" rIns="91440" bIns="45720" rtlCol="0"/>
          <a:lstStyle>
            <a:lvl1pPr algn="r">
              <a:defRPr sz="1200"/>
            </a:lvl1pPr>
          </a:lstStyle>
          <a:p>
            <a:fld id="{64E30043-8C10-7B47-A809-3F1C83F4798E}" type="datetimeFigureOut">
              <a:rPr lang="en-US" smtClean="0"/>
              <a:t>2/9/2025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1440" tIns="45720" rIns="91440" bIns="45720" rtlCol="0" anchor="b"/>
          <a:lstStyle>
            <a:lvl1pPr algn="r">
              <a:defRPr sz="1200"/>
            </a:lvl1pPr>
          </a:lstStyle>
          <a:p>
            <a:fld id="{19A373DA-F9AA-A644-86AE-7CBAAC246365}" type="slidenum">
              <a:rPr lang="en-US" smtClean="0"/>
              <a:t>‹#›</a:t>
            </a:fld>
            <a:endParaRPr lang="en-US"/>
          </a:p>
        </p:txBody>
      </p:sp>
    </p:spTree>
    <p:extLst>
      <p:ext uri="{BB962C8B-B14F-4D97-AF65-F5344CB8AC3E}">
        <p14:creationId xmlns:p14="http://schemas.microsoft.com/office/powerpoint/2010/main" val="3310150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301f5ae314a_0_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 name="Google Shape;24;g301f5ae314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0698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1</a:t>
            </a:fld>
            <a:endParaRPr lang="en-US"/>
          </a:p>
        </p:txBody>
      </p:sp>
    </p:spTree>
    <p:extLst>
      <p:ext uri="{BB962C8B-B14F-4D97-AF65-F5344CB8AC3E}">
        <p14:creationId xmlns:p14="http://schemas.microsoft.com/office/powerpoint/2010/main" val="2795260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9A373DA-F9AA-A644-86AE-7CBAAC246365}" type="slidenum">
              <a:rPr lang="en-US" smtClean="0"/>
              <a:t>2</a:t>
            </a:fld>
            <a:endParaRPr lang="en-US"/>
          </a:p>
        </p:txBody>
      </p:sp>
    </p:spTree>
    <p:extLst>
      <p:ext uri="{BB962C8B-B14F-4D97-AF65-F5344CB8AC3E}">
        <p14:creationId xmlns:p14="http://schemas.microsoft.com/office/powerpoint/2010/main" val="3780144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3393496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9" name="Slide Image Placeholder 1"/>
          <p:cNvSpPr>
            <a:spLocks noGrp="1" noRot="1" noChangeAspect="1"/>
          </p:cNvSpPr>
          <p:nvPr>
            <p:ph type="sldImg"/>
          </p:nvPr>
        </p:nvSpPr>
        <p:spPr/>
      </p:sp>
      <p:sp>
        <p:nvSpPr>
          <p:cNvPr id="1048600" name="Notes Placeholder 2"/>
          <p:cNvSpPr>
            <a:spLocks noGrp="1"/>
          </p:cNvSpPr>
          <p:nvPr>
            <p:ph type="body" idx="1"/>
          </p:nvPr>
        </p:nvSpPr>
        <p:spPr/>
        <p:txBody>
          <a:bodyPr/>
          <a:lstStyle/>
          <a:p>
            <a:endParaRPr lang="en-US" dirty="0"/>
          </a:p>
        </p:txBody>
      </p:sp>
      <p:sp>
        <p:nvSpPr>
          <p:cNvPr id="1048601"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19A373DA-F9AA-A644-86AE-7CBAAC24636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22172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5</a:t>
            </a:fld>
            <a:endParaRPr/>
          </a:p>
        </p:txBody>
      </p:sp>
    </p:spTree>
    <p:extLst>
      <p:ext uri="{BB962C8B-B14F-4D97-AF65-F5344CB8AC3E}">
        <p14:creationId xmlns:p14="http://schemas.microsoft.com/office/powerpoint/2010/main" val="23780550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22804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125FDB2-27E1-9377-DBBD-DFFA8321F26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D681CF1-17CC-AFF9-11AC-217D14FDF9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E6DD6C9-BAEE-6753-BE87-8E1F624984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A9790D4-8A59-6CB8-4B30-291C61C21E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415399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63CD54BE-95BE-69A8-4CAE-A912F0B9D75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66EDBD01-03BD-0FA9-CCA3-E848F168B37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D25762A1-5E62-9044-FCD1-BEEFF70E226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604FFC09-E820-8FEB-765C-0F5F4BC06BA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480138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368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A07728F-659E-4563-8681-F0461742A695}" type="slidenum">
              <a:rPr lang="en-US" altLang="en-US" smtClean="0">
                <a:solidFill>
                  <a:srgbClr val="000000"/>
                </a:solidFill>
              </a:rPr>
              <a:pPr fontAlgn="base">
                <a:spcBef>
                  <a:spcPct val="0"/>
                </a:spcBef>
                <a:spcAft>
                  <a:spcPct val="0"/>
                </a:spcAft>
              </a:pPr>
              <a:t>9</a:t>
            </a:fld>
            <a:endParaRPr lang="en-US" altLang="en-US">
              <a:solidFill>
                <a:srgbClr val="000000"/>
              </a:solidFill>
            </a:endParaRPr>
          </a:p>
        </p:txBody>
      </p:sp>
    </p:spTree>
    <p:extLst>
      <p:ext uri="{BB962C8B-B14F-4D97-AF65-F5344CB8AC3E}">
        <p14:creationId xmlns:p14="http://schemas.microsoft.com/office/powerpoint/2010/main" val="41359332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A9B2C098-1399-3AC6-C11E-41BDFEAE79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BEB6950-9C70-A6C1-BC2E-0C640CD5F3C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5E37D5B6-F191-5366-455B-BA1C5133AF4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6E1ADCC2-0F01-8374-40FF-BA8375C81A2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060622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4990346-2775-BBB3-4FD3-381ECF4A189B}"/>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BE2306B4-1384-9608-8F3F-1EB39C4FD85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FF068035-45E1-F7B2-9920-A4AE7297A74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4F44A54-5F5F-A274-54C8-967DC1EAA03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044555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12</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6545417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13</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4611435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6D6698A7-A523-FA8F-1560-38B78DE6C5C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D2FE96-8DD4-7F86-2AD5-717EFC1A57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7893F7A7-EB19-4D7A-3CFF-F28D2ED9E1F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163EDE2-855A-FFA1-3437-7A3D1A0D74D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905172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C4780C89-5707-1B85-6910-99CB84936BC7}"/>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D51FC8A4-1DB3-1101-6A0A-429D6940816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33612D9D-FB3F-1425-30A1-23D23327186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E8E8018B-B684-EE9C-1E57-A0593D7BFAF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200732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16</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3623642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17</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552159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F9B03CD1-C0E6-1C7C-34ED-254B01290D96}"/>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DBBAABCF-6E17-65AB-19CF-B8E318AFA7D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D557719-C459-58BF-9F1E-C946E9A38FE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9EE1A640-ADF2-5D4E-64B5-18E39B9B4A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4640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FC104A0-13B4-310F-A29D-C2D066A04A1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248459CD-70C2-5C9B-A2E9-60B9628C0A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46DBF351-C24B-1104-8F07-A554E6D4FF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753D8A8-F896-0803-20E6-3DC18FF98DD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044323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368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A07728F-659E-4563-8681-F0461742A695}" type="slidenum">
              <a:rPr lang="en-US" altLang="en-US" smtClean="0">
                <a:solidFill>
                  <a:srgbClr val="000000"/>
                </a:solidFill>
              </a:rPr>
              <a:pPr fontAlgn="base">
                <a:spcBef>
                  <a:spcPct val="0"/>
                </a:spcBef>
                <a:spcAft>
                  <a:spcPct val="0"/>
                </a:spcAft>
              </a:pPr>
              <a:t>20</a:t>
            </a:fld>
            <a:endParaRPr lang="en-US" altLang="en-US">
              <a:solidFill>
                <a:srgbClr val="000000"/>
              </a:solidFill>
            </a:endParaRPr>
          </a:p>
        </p:txBody>
      </p:sp>
    </p:spTree>
    <p:extLst>
      <p:ext uri="{BB962C8B-B14F-4D97-AF65-F5344CB8AC3E}">
        <p14:creationId xmlns:p14="http://schemas.microsoft.com/office/powerpoint/2010/main" val="37276371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080136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0F878AF-BBDD-C6ED-7AD5-5B685E158E0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72F52688-1CC4-541B-43BC-86DB6E07C0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ED4F4CC-70E6-F17D-4EB8-ECA86EB25F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78DA26F-93B7-623C-25F5-0AA25B41617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945913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C2FA8-72AD-740C-B2A4-D59CA329E2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13B04E-D2CA-6404-597A-92820680960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EE61739-826D-7AAF-B33B-18FF92150DF4}"/>
              </a:ext>
            </a:extLst>
          </p:cNvPr>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76FAD88-11AB-C429-5B65-435A43FFA94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666ED7-631A-46AF-B451-227D0A8685A0}"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24228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A7C44048-5E54-913D-6718-81ADD22A47C0}"/>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3F2927F-22E1-2406-3F6D-272971FBB3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F3BCC66C-F401-1539-F528-5C627ACEAA0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29AD5FCB-0938-657E-F99F-296B870A9CD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482890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E26068CF-38DB-1D6C-6DC7-F7D2D084AA39}"/>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65B994C1-1E18-D0D0-66A3-BAFA78B7E1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F0393F5-5A1F-BE21-BFE8-F6468BBE159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4DCB08EB-58F1-3868-A15A-E5412B0FB1B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142777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45BC7C4-A2AF-0A92-C797-AFA7332B9B77}"/>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1DE54FAD-9C5B-FBB2-4944-B4F81AD9AC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8D2EAB10-7BA4-F850-28F0-A084C51F228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983371B-1407-FBAF-7F23-5A67DD72E0C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040075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36</a:t>
            </a:fld>
            <a:endParaRPr/>
          </a:p>
        </p:txBody>
      </p:sp>
    </p:spTree>
    <p:extLst>
      <p:ext uri="{BB962C8B-B14F-4D97-AF65-F5344CB8AC3E}">
        <p14:creationId xmlns:p14="http://schemas.microsoft.com/office/powerpoint/2010/main" val="31917802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Pts val="1300"/>
                <a:buFont typeface="Times New Roman"/>
                <a:buNone/>
                <a:tabLst/>
                <a:defRPr/>
              </a:pPr>
              <a:t>37</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35322145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t>38</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24466087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01f5ae314a_0_37: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 name="Google Shape;63;g301f5ae314a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2130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A373DA-F9AA-A644-86AE-7CBAAC246365}" type="slidenum">
              <a:rPr lang="en-US" smtClean="0"/>
              <a:t>41</a:t>
            </a:fld>
            <a:endParaRPr lang="en-US"/>
          </a:p>
        </p:txBody>
      </p:sp>
    </p:spTree>
    <p:extLst>
      <p:ext uri="{BB962C8B-B14F-4D97-AF65-F5344CB8AC3E}">
        <p14:creationId xmlns:p14="http://schemas.microsoft.com/office/powerpoint/2010/main" val="12334997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412657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0035069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881361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1ccdae391d_0_24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g31ccdae391d_0_24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g31ccdae391d_0_24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45</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1601288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2b7222f7b3_0_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g32b7222f7b3_0_1: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g32b7222f7b3_0_1: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46</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31550667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1ccdae391d_0_27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g31ccdae391d_0_271: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g31ccdae391d_0_271: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47</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9590322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1ccdae391d_0_27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g31ccdae391d_0_27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0" name="Google Shape;180;g31ccdae391d_0_27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48</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59511403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1ccdae391d_0_28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Google Shape;187;g31ccdae391d_0_28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8" name="Google Shape;188;g31ccdae391d_0_28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49</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03349666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1ccdae391d_0_29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31ccdae391d_0_29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g31ccdae391d_0_29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50</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13256038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1ccdae391d_0_29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g31ccdae391d_0_29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g31ccdae391d_0_29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51</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50549033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1ccdae391d_0_30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 name="Google Shape;213;g31ccdae391d_0_30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4" name="Google Shape;214;g31ccdae391d_0_30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52</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97273122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1ccdae391d_0_31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g31ccdae391d_0_31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2" name="Google Shape;222;g31ccdae391d_0_31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53</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93980994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1ccdae391d_0_32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g31ccdae391d_0_32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1" name="Google Shape;231;g31ccdae391d_0_32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54</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86761051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1ccdae391d_0_33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0" name="Google Shape;240;g31ccdae391d_0_33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1" name="Google Shape;241;g31ccdae391d_0_33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55</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87755776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1ccdae391d_0_33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Google Shape;248;g31ccdae391d_0_33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 name="Google Shape;249;g31ccdae391d_0_33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56</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57277777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1ccdae391d_0_34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7" name="Google Shape;257;g31ccdae391d_0_347: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8" name="Google Shape;258;g31ccdae391d_0_347: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57</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55813082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1ccdae391d_0_35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5" name="Google Shape;265;g31ccdae391d_0_354: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g31ccdae391d_0_354: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58</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073842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1ccdae391d_0_36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3" name="Google Shape;273;g31ccdae391d_0_361: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74" name="Google Shape;274;g31ccdae391d_0_361: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59</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45397933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1ccdae391d_0_36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g31ccdae391d_0_368: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82" name="Google Shape;282;g31ccdae391d_0_368: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60</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41097289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1ccdae391d_0_37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1ccdae391d_0_375: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0" name="Google Shape;290;g31ccdae391d_0_375: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61</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45829164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1ccdae391d_0_38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8" name="Google Shape;298;g31ccdae391d_0_383: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9" name="Google Shape;299;g31ccdae391d_0_383: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62</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34451205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1ccdae391d_0_38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 name="Google Shape;305;g31ccdae391d_0_389: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306" name="Google Shape;306;g31ccdae391d_0_389: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63</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44431542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1ccdae391d_0_39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3" name="Google Shape;313;g31ccdae391d_0_396: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314" name="Google Shape;314;g31ccdae391d_0_396: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64</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51953554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1ccdae391d_0_40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1" name="Google Shape;321;g31ccdae391d_0_40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2" name="Google Shape;322;g31ccdae391d_0_40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65</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08900050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01f5ae314a_0_7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g301f5ae314a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7637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366085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1pPr>
            <a:lvl2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2pPr>
            <a:lvl3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3pPr>
            <a:lvl4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4pPr>
            <a:lvl5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imes New Roman" panose="02020603050405020304" pitchFamily="18" charset="0"/>
                <a:ea typeface="Tahoma" pitchFamily="34" charset="0"/>
                <a:cs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4190353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387442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6"/>
            <a:ext cx="5181600" cy="387442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33901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935352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799317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049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17562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916506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pic>
        <p:nvPicPr>
          <p:cNvPr id="2" name="Picture 1"/>
          <p:cNvPicPr>
            <a:picLocks noChangeAspect="1"/>
          </p:cNvPicPr>
          <p:nvPr userDrawn="1"/>
        </p:nvPicPr>
        <p:blipFill>
          <a:blip r:embed="rId3" cstate="print"/>
          <a:stretch>
            <a:fillRect/>
          </a:stretch>
        </p:blipFill>
        <p:spPr>
          <a:xfrm>
            <a:off x="7603958" y="541897"/>
            <a:ext cx="1795803" cy="544909"/>
          </a:xfrm>
          <a:prstGeom prst="rect">
            <a:avLst/>
          </a:prstGeom>
        </p:spPr>
      </p:pic>
    </p:spTree>
    <p:extLst>
      <p:ext uri="{BB962C8B-B14F-4D97-AF65-F5344CB8AC3E}">
        <p14:creationId xmlns:p14="http://schemas.microsoft.com/office/powerpoint/2010/main" val="3677509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2_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vi" smtClean="0"/>
              <a:pPr/>
              <a:t>‹#›</a:t>
            </a:fld>
            <a:endParaRPr lang="vi"/>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2769774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Montserrat" pitchFamily="2" charset="77"/>
              </a:defRPr>
            </a:lvl1pPr>
          </a:lstStyle>
          <a:p>
            <a:r>
              <a:rPr lang="en-US"/>
              <a:t>Click to edit Master title style</a:t>
            </a:r>
            <a:endParaRPr lang="en-US" dirty="0"/>
          </a:p>
        </p:txBody>
      </p:sp>
    </p:spTree>
    <p:extLst>
      <p:ext uri="{BB962C8B-B14F-4D97-AF65-F5344CB8AC3E}">
        <p14:creationId xmlns:p14="http://schemas.microsoft.com/office/powerpoint/2010/main" val="18178008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ahoma" pitchFamily="34" charset="0"/>
                <a:ea typeface="Tahoma" pitchFamily="34" charset="0"/>
                <a:cs typeface="Tahoma" pitchFamily="34" charset="0"/>
              </a:defRPr>
            </a:lvl1pPr>
            <a:lvl2pPr>
              <a:lnSpc>
                <a:spcPct val="150000"/>
              </a:lnSpc>
              <a:buFont typeface="Wingdings" pitchFamily="2" charset="2"/>
              <a:buChar char="ü"/>
              <a:defRPr sz="2000">
                <a:latin typeface="Tahoma" pitchFamily="34" charset="0"/>
                <a:ea typeface="Tahoma" pitchFamily="34" charset="0"/>
                <a:cs typeface="Tahoma" pitchFamily="34" charset="0"/>
              </a:defRPr>
            </a:lvl2pPr>
            <a:lvl3pPr>
              <a:lnSpc>
                <a:spcPct val="150000"/>
              </a:lnSpc>
              <a:buFont typeface="Wingdings" pitchFamily="2" charset="2"/>
              <a:buChar char="ü"/>
              <a:defRPr sz="2000">
                <a:latin typeface="Tahoma" pitchFamily="34" charset="0"/>
                <a:ea typeface="Tahoma" pitchFamily="34" charset="0"/>
                <a:cs typeface="Tahoma" pitchFamily="34" charset="0"/>
              </a:defRPr>
            </a:lvl3pPr>
            <a:lvl4pPr>
              <a:lnSpc>
                <a:spcPct val="150000"/>
              </a:lnSpc>
              <a:buFont typeface="Wingdings" pitchFamily="2" charset="2"/>
              <a:buChar char="ü"/>
              <a:defRPr sz="2000">
                <a:latin typeface="Tahoma" pitchFamily="34" charset="0"/>
                <a:ea typeface="Tahoma" pitchFamily="34" charset="0"/>
                <a:cs typeface="Tahoma" pitchFamily="34" charset="0"/>
              </a:defRPr>
            </a:lvl4pPr>
            <a:lvl5pPr>
              <a:lnSpc>
                <a:spcPct val="150000"/>
              </a:lnSpc>
              <a:buFont typeface="Wingdings" pitchFamily="2" charset="2"/>
              <a:buChar char="ü"/>
              <a:defRPr sz="2000">
                <a:latin typeface="Tahoma" pitchFamily="34" charset="0"/>
                <a:ea typeface="Tahoma" pitchFamily="34" charset="0"/>
                <a:cs typeface="Tahom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ahoma" pitchFamily="34" charset="0"/>
                <a:ea typeface="Tahoma" pitchFamily="34" charset="0"/>
                <a:cs typeface="Tahoma" pitchFamily="34"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spTree>
    <p:extLst>
      <p:ext uri="{BB962C8B-B14F-4D97-AF65-F5344CB8AC3E}">
        <p14:creationId xmlns:p14="http://schemas.microsoft.com/office/powerpoint/2010/main" val="26339691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Montserrat" pitchFamily="2" charset="77"/>
              </a:defRPr>
            </a:lvl1p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3874421"/>
          </a:xfrm>
        </p:spPr>
        <p:txBody>
          <a:bodyPr/>
          <a:lstStyle>
            <a:lvl1pPr>
              <a:defRPr>
                <a:latin typeface="Montserrat" pitchFamily="2" charset="77"/>
              </a:defRPr>
            </a:lvl1pPr>
            <a:lvl2pPr>
              <a:defRPr>
                <a:latin typeface="Montserrat" pitchFamily="2" charset="77"/>
              </a:defRPr>
            </a:lvl2pPr>
            <a:lvl3pPr>
              <a:defRPr>
                <a:latin typeface="Montserrat" pitchFamily="2" charset="77"/>
              </a:defRPr>
            </a:lvl3pPr>
            <a:lvl4pPr>
              <a:defRPr>
                <a:latin typeface="Montserrat" pitchFamily="2" charset="77"/>
              </a:defRPr>
            </a:lvl4pPr>
            <a:lvl5pPr>
              <a:defRPr>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6"/>
            <a:ext cx="5181600" cy="3874420"/>
          </a:xfrm>
        </p:spPr>
        <p:txBody>
          <a:bodyPr/>
          <a:lstStyle>
            <a:lvl1pPr>
              <a:defRPr>
                <a:latin typeface="Montserrat" pitchFamily="2" charset="77"/>
              </a:defRPr>
            </a:lvl1pPr>
            <a:lvl2pPr>
              <a:defRPr>
                <a:latin typeface="Montserrat" pitchFamily="2" charset="77"/>
              </a:defRPr>
            </a:lvl2pPr>
            <a:lvl3pPr>
              <a:defRPr>
                <a:latin typeface="Montserrat" pitchFamily="2" charset="77"/>
              </a:defRPr>
            </a:lvl3pPr>
            <a:lvl4pPr>
              <a:defRPr>
                <a:latin typeface="Montserrat" pitchFamily="2" charset="77"/>
              </a:defRPr>
            </a:lvl4pPr>
            <a:lvl5pPr>
              <a:defRPr>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spTree>
    <p:extLst>
      <p:ext uri="{BB962C8B-B14F-4D97-AF65-F5344CB8AC3E}">
        <p14:creationId xmlns:p14="http://schemas.microsoft.com/office/powerpoint/2010/main" val="32617483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Montserrat" pitchFamily="2" charset="77"/>
              </a:defRPr>
            </a:lvl1p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Montserrat SemiBold"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Montserrat" pitchFamily="2" charset="77"/>
              </a:defRPr>
            </a:lvl1pPr>
            <a:lvl2pPr>
              <a:defRPr>
                <a:latin typeface="Montserrat" pitchFamily="2" charset="77"/>
              </a:defRPr>
            </a:lvl2pPr>
            <a:lvl3pPr>
              <a:defRPr>
                <a:latin typeface="Montserrat" pitchFamily="2" charset="77"/>
              </a:defRPr>
            </a:lvl3pPr>
            <a:lvl4pPr>
              <a:defRPr>
                <a:latin typeface="Montserrat" pitchFamily="2" charset="77"/>
              </a:defRPr>
            </a:lvl4pPr>
            <a:lvl5pPr>
              <a:defRPr>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Montserrat SemiBold"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Montserrat" pitchFamily="2" charset="77"/>
              </a:defRPr>
            </a:lvl1pPr>
            <a:lvl2pPr>
              <a:defRPr>
                <a:latin typeface="Montserrat" pitchFamily="2" charset="77"/>
              </a:defRPr>
            </a:lvl2pPr>
            <a:lvl3pPr>
              <a:defRPr>
                <a:latin typeface="Montserrat" pitchFamily="2" charset="77"/>
              </a:defRPr>
            </a:lvl3pPr>
            <a:lvl4pPr>
              <a:defRPr>
                <a:latin typeface="Montserrat" pitchFamily="2" charset="77"/>
              </a:defRPr>
            </a:lvl4pPr>
            <a:lvl5pPr>
              <a:defRPr>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spTree>
    <p:extLst>
      <p:ext uri="{BB962C8B-B14F-4D97-AF65-F5344CB8AC3E}">
        <p14:creationId xmlns:p14="http://schemas.microsoft.com/office/powerpoint/2010/main" val="2031052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Montserrat" pitchFamily="2" charset="77"/>
              </a:defRPr>
            </a:lvl1pPr>
          </a:lstStyle>
          <a:p>
            <a:r>
              <a:rPr lang="en-US"/>
              <a:t>Click to edit Master title style</a:t>
            </a:r>
            <a:endParaRPr lang="en-US" dirty="0"/>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spTree>
    <p:extLst>
      <p:ext uri="{BB962C8B-B14F-4D97-AF65-F5344CB8AC3E}">
        <p14:creationId xmlns:p14="http://schemas.microsoft.com/office/powerpoint/2010/main" val="10052757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66711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Montserrat" pitchFamily="2" charset="77"/>
              </a:defRPr>
            </a:lvl1pPr>
            <a:lvl2pPr>
              <a:defRPr sz="2800">
                <a:latin typeface="Montserrat" pitchFamily="2" charset="77"/>
              </a:defRPr>
            </a:lvl2pPr>
            <a:lvl3pPr>
              <a:defRPr sz="2400">
                <a:latin typeface="Montserrat" pitchFamily="2" charset="77"/>
              </a:defRPr>
            </a:lvl3pPr>
            <a:lvl4pPr>
              <a:defRPr sz="2000">
                <a:latin typeface="Montserrat" pitchFamily="2" charset="77"/>
              </a:defRPr>
            </a:lvl4pPr>
            <a:lvl5pPr>
              <a:defRPr sz="2000">
                <a:latin typeface="Montserrat" pitchFamily="2" charset="77"/>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Montserra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Montserrat" pitchFamily="2" charset="77"/>
              </a:defRPr>
            </a:lvl1pPr>
          </a:lstStyle>
          <a:p>
            <a:r>
              <a:rPr lang="en-US"/>
              <a:t>Click to edit Master title style</a:t>
            </a:r>
            <a:endParaRPr lang="en-US" dirty="0"/>
          </a:p>
        </p:txBody>
      </p:sp>
    </p:spTree>
    <p:extLst>
      <p:ext uri="{BB962C8B-B14F-4D97-AF65-F5344CB8AC3E}">
        <p14:creationId xmlns:p14="http://schemas.microsoft.com/office/powerpoint/2010/main" val="31077777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Montserrat" pitchFamily="2"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Montserra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Montserrat" pitchFamily="2" charset="77"/>
              </a:defRPr>
            </a:lvl1pPr>
          </a:lstStyle>
          <a:p>
            <a:r>
              <a:rPr lang="en-US"/>
              <a:t>Click to edit Master title style</a:t>
            </a:r>
            <a:endParaRPr lang="en-US" dirty="0"/>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42086071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vi"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32347669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78"/>
        <p:cNvGrpSpPr/>
        <p:nvPr/>
      </p:nvGrpSpPr>
      <p:grpSpPr>
        <a:xfrm>
          <a:off x="0" y="0"/>
          <a:ext cx="0" cy="0"/>
          <a:chOff x="0" y="0"/>
          <a:chExt cx="0" cy="0"/>
        </a:xfrm>
      </p:grpSpPr>
      <p:sp>
        <p:nvSpPr>
          <p:cNvPr id="79" name="Google Shape;79;g31ccdae391d_0_417"/>
          <p:cNvSpPr txBox="1">
            <a:spLocks noGrp="1"/>
          </p:cNvSpPr>
          <p:nvPr>
            <p:ph type="body" idx="1"/>
          </p:nvPr>
        </p:nvSpPr>
        <p:spPr>
          <a:xfrm>
            <a:off x="838200" y="1825626"/>
            <a:ext cx="10515600" cy="38829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Montserrat"/>
                <a:ea typeface="Montserrat"/>
                <a:cs typeface="Montserrat"/>
                <a:sym typeface="Montserrat"/>
              </a:defRPr>
            </a:lvl1pPr>
            <a:lvl2pPr marL="914400" lvl="1" indent="-381000" algn="l">
              <a:lnSpc>
                <a:spcPct val="90000"/>
              </a:lnSpc>
              <a:spcBef>
                <a:spcPts val="500"/>
              </a:spcBef>
              <a:spcAft>
                <a:spcPts val="0"/>
              </a:spcAft>
              <a:buClr>
                <a:schemeClr val="dk1"/>
              </a:buClr>
              <a:buSzPts val="2400"/>
              <a:buChar char="•"/>
              <a:defRPr>
                <a:latin typeface="Montserrat"/>
                <a:ea typeface="Montserrat"/>
                <a:cs typeface="Montserrat"/>
                <a:sym typeface="Montserrat"/>
              </a:defRPr>
            </a:lvl2pPr>
            <a:lvl3pPr marL="1371600" lvl="2" indent="-355600" algn="l">
              <a:lnSpc>
                <a:spcPct val="90000"/>
              </a:lnSpc>
              <a:spcBef>
                <a:spcPts val="500"/>
              </a:spcBef>
              <a:spcAft>
                <a:spcPts val="0"/>
              </a:spcAft>
              <a:buClr>
                <a:schemeClr val="dk1"/>
              </a:buClr>
              <a:buSzPts val="2000"/>
              <a:buChar char="•"/>
              <a:defRPr>
                <a:latin typeface="Montserrat"/>
                <a:ea typeface="Montserrat"/>
                <a:cs typeface="Montserrat"/>
                <a:sym typeface="Montserrat"/>
              </a:defRPr>
            </a:lvl3pPr>
            <a:lvl4pPr marL="1828800" lvl="3"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4pPr>
            <a:lvl5pPr marL="2286000" lvl="4"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g31ccdae391d_0_4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D2A43B"/>
              </a:buClr>
              <a:buSzPts val="4400"/>
              <a:buFont typeface="Montserrat"/>
              <a:buNone/>
              <a:defRPr b="1" i="0">
                <a:solidFill>
                  <a:srgbClr val="D2A43B"/>
                </a:solidFill>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g31ccdae391d_0_41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2980274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2"/>
        <p:cNvGrpSpPr/>
        <p:nvPr/>
      </p:nvGrpSpPr>
      <p:grpSpPr>
        <a:xfrm>
          <a:off x="0" y="0"/>
          <a:ext cx="0" cy="0"/>
          <a:chOff x="0" y="0"/>
          <a:chExt cx="0" cy="0"/>
        </a:xfrm>
      </p:grpSpPr>
      <p:sp>
        <p:nvSpPr>
          <p:cNvPr id="83" name="Google Shape;83;g31ccdae391d_0_421"/>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g31ccdae391d_0_421"/>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85" name="Google Shape;85;g31ccdae391d_0_42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g31ccdae391d_0_42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g31ccdae391d_0_42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1664806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Content" type="obj">
  <p:cSld name="1_Title and Content">
    <p:spTree>
      <p:nvGrpSpPr>
        <p:cNvPr id="1" name="Shape 88"/>
        <p:cNvGrpSpPr/>
        <p:nvPr/>
      </p:nvGrpSpPr>
      <p:grpSpPr>
        <a:xfrm>
          <a:off x="0" y="0"/>
          <a:ext cx="0" cy="0"/>
          <a:chOff x="0" y="0"/>
          <a:chExt cx="0" cy="0"/>
        </a:xfrm>
      </p:grpSpPr>
      <p:sp>
        <p:nvSpPr>
          <p:cNvPr id="89" name="Google Shape;89;g31ccdae391d_0_42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g31ccdae391d_0_42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g31ccdae391d_0_42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g31ccdae391d_0_42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g31ccdae391d_0_42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4114310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94"/>
        <p:cNvGrpSpPr/>
        <p:nvPr/>
      </p:nvGrpSpPr>
      <p:grpSpPr>
        <a:xfrm>
          <a:off x="0" y="0"/>
          <a:ext cx="0" cy="0"/>
          <a:chOff x="0" y="0"/>
          <a:chExt cx="0" cy="0"/>
        </a:xfrm>
      </p:grpSpPr>
      <p:sp>
        <p:nvSpPr>
          <p:cNvPr id="95" name="Google Shape;95;g31ccdae391d_0_433"/>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g31ccdae391d_0_433"/>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97" name="Google Shape;97;g31ccdae391d_0_43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g31ccdae391d_0_43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g31ccdae391d_0_43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8245080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100"/>
        <p:cNvGrpSpPr/>
        <p:nvPr/>
      </p:nvGrpSpPr>
      <p:grpSpPr>
        <a:xfrm>
          <a:off x="0" y="0"/>
          <a:ext cx="0" cy="0"/>
          <a:chOff x="0" y="0"/>
          <a:chExt cx="0" cy="0"/>
        </a:xfrm>
      </p:grpSpPr>
      <p:sp>
        <p:nvSpPr>
          <p:cNvPr id="101" name="Google Shape;101;g31ccdae391d_0_43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g31ccdae391d_0_439"/>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g31ccdae391d_0_439"/>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g31ccdae391d_0_43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g31ccdae391d_0_43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g31ccdae391d_0_43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5096661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107"/>
        <p:cNvGrpSpPr/>
        <p:nvPr/>
      </p:nvGrpSpPr>
      <p:grpSpPr>
        <a:xfrm>
          <a:off x="0" y="0"/>
          <a:ext cx="0" cy="0"/>
          <a:chOff x="0" y="0"/>
          <a:chExt cx="0" cy="0"/>
        </a:xfrm>
      </p:grpSpPr>
      <p:sp>
        <p:nvSpPr>
          <p:cNvPr id="108" name="Google Shape;108;g31ccdae391d_0_446"/>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9" name="Google Shape;109;g31ccdae391d_0_446"/>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0" name="Google Shape;110;g31ccdae391d_0_446"/>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g31ccdae391d_0_446"/>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2" name="Google Shape;112;g31ccdae391d_0_446"/>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g31ccdae391d_0_44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g31ccdae391d_0_44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g31ccdae391d_0_44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5648212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16"/>
        <p:cNvGrpSpPr/>
        <p:nvPr/>
      </p:nvGrpSpPr>
      <p:grpSpPr>
        <a:xfrm>
          <a:off x="0" y="0"/>
          <a:ext cx="0" cy="0"/>
          <a:chOff x="0" y="0"/>
          <a:chExt cx="0" cy="0"/>
        </a:xfrm>
      </p:grpSpPr>
      <p:sp>
        <p:nvSpPr>
          <p:cNvPr id="117" name="Google Shape;117;g31ccdae391d_0_45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8" name="Google Shape;118;g31ccdae391d_0_45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9" name="Google Shape;119;g31ccdae391d_0_45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0" name="Google Shape;120;g31ccdae391d_0_45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99009283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1"/>
        <p:cNvGrpSpPr/>
        <p:nvPr/>
      </p:nvGrpSpPr>
      <p:grpSpPr>
        <a:xfrm>
          <a:off x="0" y="0"/>
          <a:ext cx="0" cy="0"/>
          <a:chOff x="0" y="0"/>
          <a:chExt cx="0" cy="0"/>
        </a:xfrm>
      </p:grpSpPr>
      <p:sp>
        <p:nvSpPr>
          <p:cNvPr id="122" name="Google Shape;122;g31ccdae391d_0_46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3" name="Google Shape;123;g31ccdae391d_0_46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4" name="Google Shape;124;g31ccdae391d_0_46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13022146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125"/>
        <p:cNvGrpSpPr/>
        <p:nvPr/>
      </p:nvGrpSpPr>
      <p:grpSpPr>
        <a:xfrm>
          <a:off x="0" y="0"/>
          <a:ext cx="0" cy="0"/>
          <a:chOff x="0" y="0"/>
          <a:chExt cx="0" cy="0"/>
        </a:xfrm>
      </p:grpSpPr>
      <p:sp>
        <p:nvSpPr>
          <p:cNvPr id="126" name="Google Shape;126;g31ccdae391d_0_464"/>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7" name="Google Shape;127;g31ccdae391d_0_464"/>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28" name="Google Shape;128;g31ccdae391d_0_464"/>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29" name="Google Shape;129;g31ccdae391d_0_46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0" name="Google Shape;130;g31ccdae391d_0_46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g31ccdae391d_0_46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1845264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132"/>
        <p:cNvGrpSpPr/>
        <p:nvPr/>
      </p:nvGrpSpPr>
      <p:grpSpPr>
        <a:xfrm>
          <a:off x="0" y="0"/>
          <a:ext cx="0" cy="0"/>
          <a:chOff x="0" y="0"/>
          <a:chExt cx="0" cy="0"/>
        </a:xfrm>
      </p:grpSpPr>
      <p:sp>
        <p:nvSpPr>
          <p:cNvPr id="133" name="Google Shape;133;g31ccdae391d_0_471"/>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4" name="Google Shape;134;g31ccdae391d_0_471"/>
          <p:cNvSpPr>
            <a:spLocks noGrp="1"/>
          </p:cNvSpPr>
          <p:nvPr>
            <p:ph type="pic" idx="2"/>
          </p:nvPr>
        </p:nvSpPr>
        <p:spPr>
          <a:xfrm>
            <a:off x="5183188" y="987425"/>
            <a:ext cx="6172200" cy="4873500"/>
          </a:xfrm>
          <a:prstGeom prst="rect">
            <a:avLst/>
          </a:prstGeom>
          <a:noFill/>
          <a:ln>
            <a:noFill/>
          </a:ln>
        </p:spPr>
      </p:sp>
      <p:sp>
        <p:nvSpPr>
          <p:cNvPr id="135" name="Google Shape;135;g31ccdae391d_0_471"/>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6" name="Google Shape;136;g31ccdae391d_0_47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7" name="Google Shape;137;g31ccdae391d_0_47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g31ccdae391d_0_47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46135121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139"/>
        <p:cNvGrpSpPr/>
        <p:nvPr/>
      </p:nvGrpSpPr>
      <p:grpSpPr>
        <a:xfrm>
          <a:off x="0" y="0"/>
          <a:ext cx="0" cy="0"/>
          <a:chOff x="0" y="0"/>
          <a:chExt cx="0" cy="0"/>
        </a:xfrm>
      </p:grpSpPr>
      <p:sp>
        <p:nvSpPr>
          <p:cNvPr id="140" name="Google Shape;140;g31ccdae391d_0_47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1" name="Google Shape;141;g31ccdae391d_0_478"/>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2" name="Google Shape;142;g31ccdae391d_0_47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3" name="Google Shape;143;g31ccdae391d_0_47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4" name="Google Shape;144;g31ccdae391d_0_47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3261576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145"/>
        <p:cNvGrpSpPr/>
        <p:nvPr/>
      </p:nvGrpSpPr>
      <p:grpSpPr>
        <a:xfrm>
          <a:off x="0" y="0"/>
          <a:ext cx="0" cy="0"/>
          <a:chOff x="0" y="0"/>
          <a:chExt cx="0" cy="0"/>
        </a:xfrm>
      </p:grpSpPr>
      <p:sp>
        <p:nvSpPr>
          <p:cNvPr id="146" name="Google Shape;146;g31ccdae391d_0_484"/>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7" name="Google Shape;147;g31ccdae391d_0_484"/>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8" name="Google Shape;148;g31ccdae391d_0_48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9" name="Google Shape;149;g31ccdae391d_0_48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0" name="Google Shape;150;g31ccdae391d_0_48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8044290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vi" smtClean="0"/>
              <a:pPr/>
              <a:t>‹#›</a:t>
            </a:fld>
            <a:endParaRPr lang="vi"/>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1554976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10" Type="http://schemas.openxmlformats.org/officeDocument/2006/relationships/theme" Target="../theme/theme2.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theme" Target="../theme/theme3.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image" Target="../media/image5.jpg"/></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EE876FE3-6897-AC45-A781-6CFE41690726}" type="datetime1">
              <a:rPr lang="en-US" smtClean="0">
                <a:solidFill>
                  <a:prstClr val="black">
                    <a:tint val="75000"/>
                  </a:prstClr>
                </a:solidFill>
              </a:rPr>
              <a:pPr/>
              <a:t>2/9/2025</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6C6B6B8D-D74E-47CD-B5EE-156060B7CD1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3394621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74"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E876FE3-6897-AC45-A781-6CFE41690726}" type="datetime1">
              <a:rPr kumimoji="0" lang="en-US" sz="120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2/9/2025</a:t>
            </a:fld>
            <a:endParaRPr kumimoji="0" lang="en-US" sz="120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Tree>
    <p:extLst>
      <p:ext uri="{BB962C8B-B14F-4D97-AF65-F5344CB8AC3E}">
        <p14:creationId xmlns:p14="http://schemas.microsoft.com/office/powerpoint/2010/main" val="732106672"/>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72"/>
        <p:cNvGrpSpPr/>
        <p:nvPr/>
      </p:nvGrpSpPr>
      <p:grpSpPr>
        <a:xfrm>
          <a:off x="0" y="0"/>
          <a:ext cx="0" cy="0"/>
          <a:chOff x="0" y="0"/>
          <a:chExt cx="0" cy="0"/>
        </a:xfrm>
      </p:grpSpPr>
      <p:sp>
        <p:nvSpPr>
          <p:cNvPr id="73" name="Google Shape;73;g31ccdae391d_0_41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g31ccdae391d_0_41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g31ccdae391d_0_41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6" name="Google Shape;76;g31ccdae391d_0_41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7" name="Google Shape;77;g31ccdae391d_0_41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511979862"/>
      </p:ext>
    </p:extLst>
  </p:cSld>
  <p:clrMap bg1="lt1" tx1="dk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fld id="{00000000-1234-1234-1234-123412341234}" type="slidenum">
              <a:rPr lang="vi" smtClean="0"/>
              <a:pPr/>
              <a:t>‹#›</a:t>
            </a:fld>
            <a:endParaRPr lang="vi"/>
          </a:p>
        </p:txBody>
      </p:sp>
    </p:spTree>
    <p:extLst>
      <p:ext uri="{BB962C8B-B14F-4D97-AF65-F5344CB8AC3E}">
        <p14:creationId xmlns:p14="http://schemas.microsoft.com/office/powerpoint/2010/main" val="3247740199"/>
      </p:ext>
    </p:extLst>
  </p:cSld>
  <p:clrMap bg1="lt1" tx1="dk1" bg2="dk2" tx2="lt2" accent1="accent1" accent2="accent2" accent3="accent3" accent4="accent4" accent5="accent5" accent6="accent6" hlink="hlink" folHlink="folHlink"/>
  <p:sldLayoutIdLst>
    <p:sldLayoutId id="214748370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3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3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3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3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chart" Target="../charts/chart8.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9.xml"/><Relationship Id="rId4" Type="http://schemas.openxmlformats.org/officeDocument/2006/relationships/chart" Target="../charts/chart15.xml"/></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9.xml"/><Relationship Id="rId4" Type="http://schemas.openxmlformats.org/officeDocument/2006/relationships/chart" Target="../charts/chart16.xml"/></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19.xml"/><Relationship Id="rId4" Type="http://schemas.openxmlformats.org/officeDocument/2006/relationships/chart" Target="../charts/chart17.xml"/></Relationships>
</file>

<file path=ppt/slides/_rels/slide4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6.xml"/><Relationship Id="rId1" Type="http://schemas.openxmlformats.org/officeDocument/2006/relationships/slideLayout" Target="../slideLayouts/slideLayout20.xml"/></Relationships>
</file>

<file path=ppt/slides/_rels/slide4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7.xml"/><Relationship Id="rId1" Type="http://schemas.openxmlformats.org/officeDocument/2006/relationships/slideLayout" Target="../slideLayouts/slideLayout2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0.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0.xml"/></Relationships>
</file>

<file path=ppt/slides/_rels/slide5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2.xml"/><Relationship Id="rId1" Type="http://schemas.openxmlformats.org/officeDocument/2006/relationships/slideLayout" Target="../slideLayouts/slideLayout20.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0.xml"/></Relationships>
</file>

<file path=ppt/slides/_rels/slide5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4.xml"/><Relationship Id="rId1" Type="http://schemas.openxmlformats.org/officeDocument/2006/relationships/slideLayout" Target="../slideLayouts/slideLayout20.xml"/></Relationships>
</file>

<file path=ppt/slides/_rels/slide5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5.xml"/><Relationship Id="rId1" Type="http://schemas.openxmlformats.org/officeDocument/2006/relationships/slideLayout" Target="../slideLayouts/slideLayout20.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0.xml"/></Relationships>
</file>

<file path=ppt/slides/_rels/slide5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7.xml"/><Relationship Id="rId1" Type="http://schemas.openxmlformats.org/officeDocument/2006/relationships/slideLayout" Target="../slideLayouts/slideLayout2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0.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0.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0.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0.xml"/></Relationships>
</file>

<file path=ppt/slides/_rels/slide6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2.xml"/><Relationship Id="rId1" Type="http://schemas.openxmlformats.org/officeDocument/2006/relationships/slideLayout" Target="../slideLayouts/slideLayout20.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0.xml"/></Relationships>
</file>

<file path=ppt/slides/_rels/slide6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4.xml"/><Relationship Id="rId1" Type="http://schemas.openxmlformats.org/officeDocument/2006/relationships/slideLayout" Target="../slideLayouts/slideLayout20.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0.xml"/></Relationships>
</file>

<file path=ppt/slides/_rels/slide6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6.xml"/><Relationship Id="rId1" Type="http://schemas.openxmlformats.org/officeDocument/2006/relationships/slideLayout" Target="../slideLayouts/slideLayout20.xml"/></Relationships>
</file>

<file path=ppt/slides/_rels/slide6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7.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pic>
        <p:nvPicPr>
          <p:cNvPr id="26" name="Google Shape;26;p3" descr="A blue background with yellow lines&#10;&#10;Description automatically generated"/>
          <p:cNvPicPr preferRelativeResize="0"/>
          <p:nvPr/>
        </p:nvPicPr>
        <p:blipFill rotWithShape="1">
          <a:blip r:embed="rId3">
            <a:alphaModFix/>
          </a:blip>
          <a:srcRect/>
          <a:stretch/>
        </p:blipFill>
        <p:spPr>
          <a:xfrm>
            <a:off x="1" y="9197"/>
            <a:ext cx="12191999" cy="6972297"/>
          </a:xfrm>
          <a:prstGeom prst="rect">
            <a:avLst/>
          </a:prstGeom>
          <a:noFill/>
          <a:ln>
            <a:noFill/>
          </a:ln>
        </p:spPr>
      </p:pic>
      <p:pic>
        <p:nvPicPr>
          <p:cNvPr id="28" name="Google Shape;28;p3" descr="A white text on a black background&#10;&#10;Description automatically generated"/>
          <p:cNvPicPr preferRelativeResize="0"/>
          <p:nvPr/>
        </p:nvPicPr>
        <p:blipFill rotWithShape="1">
          <a:blip r:embed="rId4">
            <a:alphaModFix/>
          </a:blip>
          <a:srcRect/>
          <a:stretch/>
        </p:blipFill>
        <p:spPr>
          <a:xfrm>
            <a:off x="615360" y="508566"/>
            <a:ext cx="2833825" cy="462665"/>
          </a:xfrm>
          <a:prstGeom prst="rect">
            <a:avLst/>
          </a:prstGeom>
          <a:noFill/>
          <a:ln>
            <a:noFill/>
          </a:ln>
        </p:spPr>
      </p:pic>
      <p:sp>
        <p:nvSpPr>
          <p:cNvPr id="30" name="Google Shape;30;p3"/>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0</a:t>
            </a:fld>
            <a:endParaRPr/>
          </a:p>
        </p:txBody>
      </p:sp>
      <p:sp>
        <p:nvSpPr>
          <p:cNvPr id="7" name="Title 1"/>
          <p:cNvSpPr>
            <a:spLocks noGrp="1"/>
          </p:cNvSpPr>
          <p:nvPr>
            <p:ph type="title"/>
          </p:nvPr>
        </p:nvSpPr>
        <p:spPr>
          <a:xfrm>
            <a:off x="584880" y="2667000"/>
            <a:ext cx="10417006" cy="2067564"/>
          </a:xfrm>
        </p:spPr>
        <p:txBody>
          <a:bodyPr>
            <a:normAutofit/>
          </a:bodyPr>
          <a:lstStyle/>
          <a:p>
            <a:pPr algn="ctr">
              <a:lnSpc>
                <a:spcPct val="150000"/>
              </a:lnSpc>
            </a:pP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BÁO CÁO KỸ THUẬT</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r>
            <a:b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b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Tuần </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06</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03/02/2025</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09</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02</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/202</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5</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endPar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093610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1</a:t>
            </a:fld>
            <a:endParaRPr lang="en-US"/>
          </a:p>
        </p:txBody>
      </p:sp>
      <p:sp>
        <p:nvSpPr>
          <p:cNvPr id="5" name="Title 4"/>
          <p:cNvSpPr>
            <a:spLocks noGrp="1"/>
          </p:cNvSpPr>
          <p:nvPr>
            <p:ph type="title"/>
          </p:nvPr>
        </p:nvSpPr>
        <p:spPr>
          <a:xfrm>
            <a:off x="990599" y="142581"/>
            <a:ext cx="10306011" cy="506023"/>
          </a:xfrm>
        </p:spPr>
        <p:txBody>
          <a:bodyPr>
            <a:noAutofit/>
          </a:bodyPr>
          <a:lstStyle/>
          <a:p>
            <a:pPr algn="ctr"/>
            <a:r>
              <a:rPr lang="en-US" sz="2800">
                <a:ln w="0"/>
                <a:solidFill>
                  <a:schemeClr val="accent4"/>
                </a:solidFill>
                <a:latin typeface="Times New Roman" panose="02020603050405020304" pitchFamily="18" charset="0"/>
                <a:cs typeface="Times New Roman" panose="02020603050405020304" pitchFamily="18" charset="0"/>
              </a:rPr>
              <a:t>TỔNG HỢP AOG, DELAY VÀ GTB/ATB/DIV</a:t>
            </a:r>
            <a:endParaRPr lang="vi-VN" sz="28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12" name="Chart 11">
            <a:extLst>
              <a:ext uri="{FF2B5EF4-FFF2-40B4-BE49-F238E27FC236}">
                <a16:creationId xmlns:a16="http://schemas.microsoft.com/office/drawing/2014/main" id="{00000000-0008-0000-0900-000004000000}"/>
              </a:ext>
            </a:extLst>
          </p:cNvPr>
          <p:cNvGraphicFramePr>
            <a:graphicFrameLocks/>
          </p:cNvGraphicFramePr>
          <p:nvPr/>
        </p:nvGraphicFramePr>
        <p:xfrm>
          <a:off x="6334326" y="867893"/>
          <a:ext cx="4176000" cy="2376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13">
            <a:extLst>
              <a:ext uri="{FF2B5EF4-FFF2-40B4-BE49-F238E27FC236}">
                <a16:creationId xmlns:a16="http://schemas.microsoft.com/office/drawing/2014/main" id="{00000000-0008-0000-0900-00000F000000}"/>
              </a:ext>
            </a:extLst>
          </p:cNvPr>
          <p:cNvGraphicFramePr>
            <a:graphicFrameLocks/>
          </p:cNvGraphicFramePr>
          <p:nvPr/>
        </p:nvGraphicFramePr>
        <p:xfrm>
          <a:off x="1675687" y="871703"/>
          <a:ext cx="4116705" cy="2376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5" name="Chart 14">
            <a:extLst>
              <a:ext uri="{FF2B5EF4-FFF2-40B4-BE49-F238E27FC236}">
                <a16:creationId xmlns:a16="http://schemas.microsoft.com/office/drawing/2014/main" id="{8347F7AA-5E77-475C-B68E-49E6EF5DA0A7}"/>
              </a:ext>
            </a:extLst>
          </p:cNvPr>
          <p:cNvGraphicFramePr>
            <a:graphicFrameLocks/>
          </p:cNvGraphicFramePr>
          <p:nvPr/>
        </p:nvGraphicFramePr>
        <p:xfrm>
          <a:off x="6340312" y="3614107"/>
          <a:ext cx="4176000" cy="2376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8" name="Chart 7">
            <a:extLst>
              <a:ext uri="{FF2B5EF4-FFF2-40B4-BE49-F238E27FC236}">
                <a16:creationId xmlns:a16="http://schemas.microsoft.com/office/drawing/2014/main" id="{00000000-0008-0000-0900-000005000000}"/>
              </a:ext>
            </a:extLst>
          </p:cNvPr>
          <p:cNvGraphicFramePr>
            <a:graphicFrameLocks/>
          </p:cNvGraphicFramePr>
          <p:nvPr>
            <p:extLst>
              <p:ext uri="{D42A27DB-BD31-4B8C-83A1-F6EECF244321}">
                <p14:modId xmlns:p14="http://schemas.microsoft.com/office/powerpoint/2010/main" val="3946880715"/>
              </p:ext>
            </p:extLst>
          </p:nvPr>
        </p:nvGraphicFramePr>
        <p:xfrm>
          <a:off x="1675687" y="3614107"/>
          <a:ext cx="4097655" cy="23760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368191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2</a:t>
            </a:fld>
            <a:endParaRPr lang="en-US"/>
          </a:p>
        </p:txBody>
      </p:sp>
      <p:sp>
        <p:nvSpPr>
          <p:cNvPr id="5" name="Title 4"/>
          <p:cNvSpPr>
            <a:spLocks noGrp="1"/>
          </p:cNvSpPr>
          <p:nvPr>
            <p:ph type="title"/>
          </p:nvPr>
        </p:nvSpPr>
        <p:spPr>
          <a:xfrm>
            <a:off x="1141240" y="304800"/>
            <a:ext cx="9983960" cy="429008"/>
          </a:xfrm>
        </p:spPr>
        <p:txBody>
          <a:bodyPr>
            <a:normAutofit fontScale="90000"/>
          </a:bodyPr>
          <a:lstStyle/>
          <a:p>
            <a:pPr algn="ctr"/>
            <a:r>
              <a:rPr lang="en-US" sz="2800">
                <a:ln w="0"/>
                <a:solidFill>
                  <a:srgbClr val="FFC000"/>
                </a:solidFill>
                <a:latin typeface="Times New Roman" panose="02020603050405020304" pitchFamily="18" charset="0"/>
                <a:cs typeface="Times New Roman" panose="02020603050405020304" pitchFamily="18" charset="0"/>
              </a:rPr>
              <a:t>ATB/GTB COMPARISON</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7" name="Chart 6">
            <a:extLst>
              <a:ext uri="{FF2B5EF4-FFF2-40B4-BE49-F238E27FC236}">
                <a16:creationId xmlns:a16="http://schemas.microsoft.com/office/drawing/2014/main" id="{00000000-0008-0000-0600-000004000000}"/>
              </a:ext>
            </a:extLst>
          </p:cNvPr>
          <p:cNvGraphicFramePr>
            <a:graphicFrameLocks/>
          </p:cNvGraphicFramePr>
          <p:nvPr>
            <p:extLst>
              <p:ext uri="{D42A27DB-BD31-4B8C-83A1-F6EECF244321}">
                <p14:modId xmlns:p14="http://schemas.microsoft.com/office/powerpoint/2010/main" val="2709397719"/>
              </p:ext>
            </p:extLst>
          </p:nvPr>
        </p:nvGraphicFramePr>
        <p:xfrm>
          <a:off x="1141240" y="838200"/>
          <a:ext cx="9603316" cy="2794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00000000-0008-0000-0600-000005000000}"/>
              </a:ext>
            </a:extLst>
          </p:cNvPr>
          <p:cNvGraphicFramePr>
            <a:graphicFrameLocks/>
          </p:cNvGraphicFramePr>
          <p:nvPr>
            <p:extLst>
              <p:ext uri="{D42A27DB-BD31-4B8C-83A1-F6EECF244321}">
                <p14:modId xmlns:p14="http://schemas.microsoft.com/office/powerpoint/2010/main" val="4206957066"/>
              </p:ext>
            </p:extLst>
          </p:nvPr>
        </p:nvGraphicFramePr>
        <p:xfrm>
          <a:off x="1141240" y="3736592"/>
          <a:ext cx="9593011" cy="279061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65583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Slide Number Placeholder 3"/>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p:cNvSpPr>
            <a:spLocks noGrp="1"/>
          </p:cNvSpPr>
          <p:nvPr>
            <p:ph type="title"/>
          </p:nvPr>
        </p:nvSpPr>
        <p:spPr>
          <a:xfrm>
            <a:off x="125862" y="49270"/>
            <a:ext cx="5131938" cy="636530"/>
          </a:xfrm>
        </p:spPr>
        <p:txBody>
          <a:bodyPr>
            <a:normAutofit/>
          </a:bodyPr>
          <a:lstStyle/>
          <a:p>
            <a:pPr algn="ctr" eaLnBrk="1" hangingPunct="1"/>
            <a:r>
              <a:rPr lang="en-US" altLang="en-US" sz="28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CFEE23C1-B7EA-476A-9DFD-176A034D5BAE}"/>
              </a:ext>
            </a:extLst>
          </p:cNvPr>
          <p:cNvSpPr txBox="1"/>
          <p:nvPr/>
        </p:nvSpPr>
        <p:spPr>
          <a:xfrm>
            <a:off x="228602" y="615269"/>
            <a:ext cx="115532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a:t>
            </a: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01</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graphicFrame>
        <p:nvGraphicFramePr>
          <p:cNvPr id="3" name="Table 2"/>
          <p:cNvGraphicFramePr>
            <a:graphicFrameLocks noGrp="1"/>
          </p:cNvGraphicFramePr>
          <p:nvPr>
            <p:extLst>
              <p:ext uri="{D42A27DB-BD31-4B8C-83A1-F6EECF244321}">
                <p14:modId xmlns:p14="http://schemas.microsoft.com/office/powerpoint/2010/main" val="728159269"/>
              </p:ext>
            </p:extLst>
          </p:nvPr>
        </p:nvGraphicFramePr>
        <p:xfrm>
          <a:off x="228602" y="1089938"/>
          <a:ext cx="11435483" cy="1522416"/>
        </p:xfrm>
        <a:graphic>
          <a:graphicData uri="http://schemas.openxmlformats.org/drawingml/2006/table">
            <a:tbl>
              <a:tblPr/>
              <a:tblGrid>
                <a:gridCol w="387610">
                  <a:extLst>
                    <a:ext uri="{9D8B030D-6E8A-4147-A177-3AD203B41FA5}">
                      <a16:colId xmlns:a16="http://schemas.microsoft.com/office/drawing/2014/main" val="2069637928"/>
                    </a:ext>
                  </a:extLst>
                </a:gridCol>
                <a:gridCol w="625178">
                  <a:extLst>
                    <a:ext uri="{9D8B030D-6E8A-4147-A177-3AD203B41FA5}">
                      <a16:colId xmlns:a16="http://schemas.microsoft.com/office/drawing/2014/main" val="464945370"/>
                    </a:ext>
                  </a:extLst>
                </a:gridCol>
                <a:gridCol w="462631">
                  <a:extLst>
                    <a:ext uri="{9D8B030D-6E8A-4147-A177-3AD203B41FA5}">
                      <a16:colId xmlns:a16="http://schemas.microsoft.com/office/drawing/2014/main" val="983633470"/>
                    </a:ext>
                  </a:extLst>
                </a:gridCol>
                <a:gridCol w="462631">
                  <a:extLst>
                    <a:ext uri="{9D8B030D-6E8A-4147-A177-3AD203B41FA5}">
                      <a16:colId xmlns:a16="http://schemas.microsoft.com/office/drawing/2014/main" val="3546262789"/>
                    </a:ext>
                  </a:extLst>
                </a:gridCol>
                <a:gridCol w="785181">
                  <a:extLst>
                    <a:ext uri="{9D8B030D-6E8A-4147-A177-3AD203B41FA5}">
                      <a16:colId xmlns:a16="http://schemas.microsoft.com/office/drawing/2014/main" val="1884039996"/>
                    </a:ext>
                  </a:extLst>
                </a:gridCol>
                <a:gridCol w="672468">
                  <a:extLst>
                    <a:ext uri="{9D8B030D-6E8A-4147-A177-3AD203B41FA5}">
                      <a16:colId xmlns:a16="http://schemas.microsoft.com/office/drawing/2014/main" val="3708349863"/>
                    </a:ext>
                  </a:extLst>
                </a:gridCol>
                <a:gridCol w="1062802">
                  <a:extLst>
                    <a:ext uri="{9D8B030D-6E8A-4147-A177-3AD203B41FA5}">
                      <a16:colId xmlns:a16="http://schemas.microsoft.com/office/drawing/2014/main" val="2348454438"/>
                    </a:ext>
                  </a:extLst>
                </a:gridCol>
                <a:gridCol w="625178">
                  <a:extLst>
                    <a:ext uri="{9D8B030D-6E8A-4147-A177-3AD203B41FA5}">
                      <a16:colId xmlns:a16="http://schemas.microsoft.com/office/drawing/2014/main" val="546762004"/>
                    </a:ext>
                  </a:extLst>
                </a:gridCol>
                <a:gridCol w="1938051">
                  <a:extLst>
                    <a:ext uri="{9D8B030D-6E8A-4147-A177-3AD203B41FA5}">
                      <a16:colId xmlns:a16="http://schemas.microsoft.com/office/drawing/2014/main" val="995365909"/>
                    </a:ext>
                  </a:extLst>
                </a:gridCol>
                <a:gridCol w="1512930">
                  <a:extLst>
                    <a:ext uri="{9D8B030D-6E8A-4147-A177-3AD203B41FA5}">
                      <a16:colId xmlns:a16="http://schemas.microsoft.com/office/drawing/2014/main" val="2373089142"/>
                    </a:ext>
                  </a:extLst>
                </a:gridCol>
                <a:gridCol w="462631">
                  <a:extLst>
                    <a:ext uri="{9D8B030D-6E8A-4147-A177-3AD203B41FA5}">
                      <a16:colId xmlns:a16="http://schemas.microsoft.com/office/drawing/2014/main" val="403226314"/>
                    </a:ext>
                  </a:extLst>
                </a:gridCol>
                <a:gridCol w="1975561">
                  <a:extLst>
                    <a:ext uri="{9D8B030D-6E8A-4147-A177-3AD203B41FA5}">
                      <a16:colId xmlns:a16="http://schemas.microsoft.com/office/drawing/2014/main" val="1024986741"/>
                    </a:ext>
                  </a:extLst>
                </a:gridCol>
                <a:gridCol w="462631">
                  <a:extLst>
                    <a:ext uri="{9D8B030D-6E8A-4147-A177-3AD203B41FA5}">
                      <a16:colId xmlns:a16="http://schemas.microsoft.com/office/drawing/2014/main" val="3450956892"/>
                    </a:ext>
                  </a:extLst>
                </a:gridCol>
              </a:tblGrid>
              <a:tr h="163879">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NO</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FLEET</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ROUTE</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DATE</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EVENT</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REASON</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MOC</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960306995"/>
                  </a:ext>
                </a:extLst>
              </a:tr>
              <a:tr h="1311036">
                <a:tc>
                  <a:txBody>
                    <a:bodyPr/>
                    <a:lstStyle/>
                    <a:p>
                      <a:pPr algn="ctr" fontAlgn="t"/>
                      <a:r>
                        <a:rPr lang="en-150" sz="1100" b="0" i="0" u="none" strike="noStrike">
                          <a:solidFill>
                            <a:srgbClr val="000000"/>
                          </a:solidFill>
                          <a:effectLst/>
                          <a:latin typeface="Times New Roman" panose="02020603050405020304" pitchFamily="18" charset="0"/>
                          <a:cs typeface="Times New Roman" panose="02020603050405020304" pitchFamily="18" charset="0"/>
                        </a:rPr>
                        <a:t>1</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A861</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VN37</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HAN-FRA</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150" sz="1100" b="0" i="0" u="none" strike="noStrike">
                          <a:solidFill>
                            <a:srgbClr val="000000"/>
                          </a:solidFill>
                          <a:effectLst/>
                          <a:latin typeface="Times New Roman" panose="02020603050405020304" pitchFamily="18" charset="0"/>
                          <a:cs typeface="Times New Roman" panose="02020603050405020304" pitchFamily="18" charset="0"/>
                        </a:rPr>
                        <a:t>00:03 08/02/2025</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GTB</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VN220-37 SGN-HAN-FRA (22:25-23:45) Sau khi nổ máy xong, chuẩn bị TAXI, Xuất hiện MSG R CENTER FUEL PUMP LOW PRESS; Capt reset ON/OFF Pump nil help</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Capt yêu cầu tàu quay lại bãi 25</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Thực hiện reset MMSG theo FIMS và mở ADD B1527 MEL 28-22-02A</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150" sz="1100" b="0" i="0" u="none" strike="noStrike">
                          <a:solidFill>
                            <a:srgbClr val="000000"/>
                          </a:solidFill>
                          <a:effectLst/>
                          <a:latin typeface="Times New Roman" panose="02020603050405020304" pitchFamily="18" charset="0"/>
                          <a:cs typeface="Times New Roman" panose="02020603050405020304" pitchFamily="18" charset="0"/>
                        </a:rPr>
                        <a:t>28-00</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vi-VN" sz="1100" b="0" i="0" u="none" strike="noStrike">
                          <a:solidFill>
                            <a:srgbClr val="000000"/>
                          </a:solidFill>
                          <a:effectLst/>
                          <a:latin typeface="Times New Roman" panose="02020603050405020304" pitchFamily="18" charset="0"/>
                          <a:cs typeface="Times New Roman" panose="02020603050405020304" pitchFamily="18" charset="0"/>
                        </a:rPr>
                        <a:t>Hỏng hóc có thể do Wiring, Pressure switch, Pump, Pump controller. Tuy nhiên ĐTC của 3 khối này vẫn bình thường. Số lượng tháo lắp các khối này là  Pressure switch 8; Pump 3; Controller 5. Đợi kết quả TS để đánh giá thêm</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150"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20185624"/>
                  </a:ext>
                </a:extLst>
              </a:tr>
            </a:tbl>
          </a:graphicData>
        </a:graphic>
      </p:graphicFrame>
    </p:spTree>
    <p:custDataLst>
      <p:tags r:id="rId1"/>
    </p:custDataLst>
    <p:extLst>
      <p:ext uri="{BB962C8B-B14F-4D97-AF65-F5344CB8AC3E}">
        <p14:creationId xmlns:p14="http://schemas.microsoft.com/office/powerpoint/2010/main" val="1405194848"/>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6"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t>4</a:t>
            </a:fld>
            <a:endParaRPr kumimoji="0" lang="en-US" sz="1200" b="0" i="0" u="none" strike="noStrike" kern="1200" cap="none" spc="0" normalizeH="0" baseline="0" noProof="0">
              <a:ln>
                <a:noFill/>
              </a:ln>
              <a:solidFill>
                <a:srgbClr val="D2A43B"/>
              </a:solidFill>
              <a:effectLst/>
              <a:uLnTx/>
              <a:uFillTx/>
              <a:latin typeface="Montserrat" pitchFamily="2" charset="77"/>
              <a:ea typeface="+mn-ea"/>
              <a:cs typeface="+mn-cs"/>
            </a:endParaRPr>
          </a:p>
        </p:txBody>
      </p:sp>
      <p:sp>
        <p:nvSpPr>
          <p:cNvPr id="1048595" name="Title 4"/>
          <p:cNvSpPr>
            <a:spLocks noGrp="1"/>
          </p:cNvSpPr>
          <p:nvPr>
            <p:ph type="title"/>
          </p:nvPr>
        </p:nvSpPr>
        <p:spPr>
          <a:xfrm>
            <a:off x="381000" y="290517"/>
            <a:ext cx="11277597" cy="428634"/>
          </a:xfrm>
        </p:spPr>
        <p:txBody>
          <a:bodyPr>
            <a:normAutofit fontScale="90000"/>
          </a:bodyPr>
          <a:lstStyle/>
          <a:p>
            <a:pPr algn="ctr"/>
            <a:r>
              <a:rPr kumimoji="0" lang="en-US" sz="2800" b="1" i="0" u="none" strike="noStrike" kern="1200" cap="none" spc="0" normalizeH="0" baseline="0" noProof="0">
                <a:ln>
                  <a:noFill/>
                </a:ln>
                <a:solidFill>
                  <a:srgbClr val="FFC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CÁC SỰ KIỆN </a:t>
            </a:r>
            <a:r>
              <a:rPr lang="en-US" sz="28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MOR</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055873073"/>
              </p:ext>
            </p:extLst>
          </p:nvPr>
        </p:nvGraphicFramePr>
        <p:xfrm>
          <a:off x="380999" y="838200"/>
          <a:ext cx="11277597" cy="2523340"/>
        </p:xfrm>
        <a:graphic>
          <a:graphicData uri="http://schemas.openxmlformats.org/drawingml/2006/table">
            <a:tbl>
              <a:tblPr/>
              <a:tblGrid>
                <a:gridCol w="357226">
                  <a:extLst>
                    <a:ext uri="{9D8B030D-6E8A-4147-A177-3AD203B41FA5}">
                      <a16:colId xmlns:a16="http://schemas.microsoft.com/office/drawing/2014/main" val="258899650"/>
                    </a:ext>
                  </a:extLst>
                </a:gridCol>
                <a:gridCol w="461599">
                  <a:extLst>
                    <a:ext uri="{9D8B030D-6E8A-4147-A177-3AD203B41FA5}">
                      <a16:colId xmlns:a16="http://schemas.microsoft.com/office/drawing/2014/main" val="1435075280"/>
                    </a:ext>
                  </a:extLst>
                </a:gridCol>
                <a:gridCol w="424563">
                  <a:extLst>
                    <a:ext uri="{9D8B030D-6E8A-4147-A177-3AD203B41FA5}">
                      <a16:colId xmlns:a16="http://schemas.microsoft.com/office/drawing/2014/main" val="681580622"/>
                    </a:ext>
                  </a:extLst>
                </a:gridCol>
                <a:gridCol w="559237">
                  <a:extLst>
                    <a:ext uri="{9D8B030D-6E8A-4147-A177-3AD203B41FA5}">
                      <a16:colId xmlns:a16="http://schemas.microsoft.com/office/drawing/2014/main" val="639152875"/>
                    </a:ext>
                  </a:extLst>
                </a:gridCol>
                <a:gridCol w="416147">
                  <a:extLst>
                    <a:ext uri="{9D8B030D-6E8A-4147-A177-3AD203B41FA5}">
                      <a16:colId xmlns:a16="http://schemas.microsoft.com/office/drawing/2014/main" val="4190935942"/>
                    </a:ext>
                  </a:extLst>
                </a:gridCol>
                <a:gridCol w="404022">
                  <a:extLst>
                    <a:ext uri="{9D8B030D-6E8A-4147-A177-3AD203B41FA5}">
                      <a16:colId xmlns:a16="http://schemas.microsoft.com/office/drawing/2014/main" val="1817890509"/>
                    </a:ext>
                  </a:extLst>
                </a:gridCol>
                <a:gridCol w="565630">
                  <a:extLst>
                    <a:ext uri="{9D8B030D-6E8A-4147-A177-3AD203B41FA5}">
                      <a16:colId xmlns:a16="http://schemas.microsoft.com/office/drawing/2014/main" val="3500123369"/>
                    </a:ext>
                  </a:extLst>
                </a:gridCol>
                <a:gridCol w="670343">
                  <a:extLst>
                    <a:ext uri="{9D8B030D-6E8A-4147-A177-3AD203B41FA5}">
                      <a16:colId xmlns:a16="http://schemas.microsoft.com/office/drawing/2014/main" val="1769954008"/>
                    </a:ext>
                  </a:extLst>
                </a:gridCol>
                <a:gridCol w="3736841">
                  <a:extLst>
                    <a:ext uri="{9D8B030D-6E8A-4147-A177-3AD203B41FA5}">
                      <a16:colId xmlns:a16="http://schemas.microsoft.com/office/drawing/2014/main" val="924068014"/>
                    </a:ext>
                  </a:extLst>
                </a:gridCol>
                <a:gridCol w="3312978">
                  <a:extLst>
                    <a:ext uri="{9D8B030D-6E8A-4147-A177-3AD203B41FA5}">
                      <a16:colId xmlns:a16="http://schemas.microsoft.com/office/drawing/2014/main" val="1777028991"/>
                    </a:ext>
                  </a:extLst>
                </a:gridCol>
                <a:gridCol w="369011">
                  <a:extLst>
                    <a:ext uri="{9D8B030D-6E8A-4147-A177-3AD203B41FA5}">
                      <a16:colId xmlns:a16="http://schemas.microsoft.com/office/drawing/2014/main" val="2434074185"/>
                    </a:ext>
                  </a:extLst>
                </a:gridCol>
              </a:tblGrid>
              <a:tr h="41946">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REG.</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FLEET</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YEAR</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MONTH</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DATE</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FLIGHT</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DEP-ARV</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DEFECT</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CORRECTIVE ACTION</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451179383"/>
                  </a:ext>
                </a:extLst>
              </a:tr>
              <a:tr h="194000">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A861</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150" sz="1100" b="0" i="0" u="none" strike="noStrike">
                          <a:solidFill>
                            <a:srgbClr val="000000"/>
                          </a:solidFill>
                          <a:effectLst/>
                          <a:latin typeface="Times New Roman" panose="02020603050405020304" pitchFamily="18" charset="0"/>
                          <a:cs typeface="Times New Roman" panose="02020603050405020304" pitchFamily="18" charset="0"/>
                        </a:rPr>
                        <a:t>2025</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150" sz="1100" b="0" i="0" u="none" strike="noStrike">
                          <a:solidFill>
                            <a:srgbClr val="000000"/>
                          </a:solidFill>
                          <a:effectLst/>
                          <a:latin typeface="Times New Roman" panose="02020603050405020304" pitchFamily="18" charset="0"/>
                          <a:cs typeface="Times New Roman" panose="02020603050405020304" pitchFamily="18" charset="0"/>
                        </a:rPr>
                        <a:t>02</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150" sz="1100" b="0" i="0" u="none" strike="noStrike">
                          <a:solidFill>
                            <a:srgbClr val="000000"/>
                          </a:solidFill>
                          <a:effectLst/>
                          <a:latin typeface="Times New Roman" panose="02020603050405020304" pitchFamily="18" charset="0"/>
                          <a:cs typeface="Times New Roman" panose="02020603050405020304" pitchFamily="18" charset="0"/>
                        </a:rPr>
                        <a:t>08</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VN37</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HAN-FRA</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VN220-37 </a:t>
                      </a:r>
                      <a:r>
                        <a:rPr lang="en-US" sz="1100" b="0" i="0" u="none" strike="noStrike">
                          <a:solidFill>
                            <a:srgbClr val="000000"/>
                          </a:solidFill>
                          <a:effectLst/>
                          <a:latin typeface="Times New Roman" panose="02020603050405020304" pitchFamily="18" charset="0"/>
                          <a:cs typeface="Times New Roman" panose="02020603050405020304" pitchFamily="18" charset="0"/>
                        </a:rPr>
                        <a:t>SGN-HAN-FRA (22:25-23:45) Sau khi nổ máy xong, chuẩn bị TAXI, Xuất hiện MSG R CENTER FUEL PUMP LOW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PRESS; Capt </a:t>
                      </a:r>
                      <a:r>
                        <a:rPr lang="en-US" sz="1100" b="0" i="0" u="none" strike="noStrike">
                          <a:solidFill>
                            <a:srgbClr val="000000"/>
                          </a:solidFill>
                          <a:effectLst/>
                          <a:latin typeface="Times New Roman" panose="02020603050405020304" pitchFamily="18" charset="0"/>
                          <a:cs typeface="Times New Roman" panose="02020603050405020304" pitchFamily="18" charset="0"/>
                        </a:rPr>
                        <a:t>reset ON/OFF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Pump</a:t>
                      </a:r>
                      <a:r>
                        <a:rPr lang="en-US" sz="1100" b="0" i="0" u="none" strike="noStrike" baseline="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nil help</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Thực </a:t>
                      </a:r>
                      <a:r>
                        <a:rPr lang="en-US" sz="1100" b="0" i="0" u="none" strike="noStrike">
                          <a:solidFill>
                            <a:srgbClr val="000000"/>
                          </a:solidFill>
                          <a:effectLst/>
                          <a:latin typeface="Times New Roman" panose="02020603050405020304" pitchFamily="18" charset="0"/>
                          <a:cs typeface="Times New Roman" panose="02020603050405020304" pitchFamily="18" charset="0"/>
                        </a:rPr>
                        <a:t>hiện reset MMSG theo FIMS và mở ADD B1527 MEL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28-22-02A. </a:t>
                      </a:r>
                      <a:r>
                        <a:rPr lang="en-US" sz="1100" b="0" i="0" u="none" strike="noStrike">
                          <a:solidFill>
                            <a:srgbClr val="000000"/>
                          </a:solidFill>
                          <a:effectLst/>
                          <a:latin typeface="Times New Roman" panose="02020603050405020304" pitchFamily="18" charset="0"/>
                          <a:cs typeface="Times New Roman" panose="02020603050405020304" pitchFamily="18" charset="0"/>
                        </a:rPr>
                        <a:t>EVENT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CLOSED</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150" sz="1100" b="0" i="0" u="none" strike="noStrike">
                          <a:solidFill>
                            <a:srgbClr val="000000"/>
                          </a:solidFill>
                          <a:effectLst/>
                          <a:latin typeface="Times New Roman" panose="02020603050405020304" pitchFamily="18" charset="0"/>
                          <a:cs typeface="Times New Roman" panose="02020603050405020304" pitchFamily="18" charset="0"/>
                        </a:rPr>
                        <a:t>28-00</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79588573"/>
                  </a:ext>
                </a:extLst>
              </a:tr>
              <a:tr h="41946">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A353</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A321</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150" sz="1100" b="0" i="0" u="none" strike="noStrike">
                          <a:solidFill>
                            <a:srgbClr val="000000"/>
                          </a:solidFill>
                          <a:effectLst/>
                          <a:latin typeface="Times New Roman" panose="02020603050405020304" pitchFamily="18" charset="0"/>
                          <a:cs typeface="Times New Roman" panose="02020603050405020304" pitchFamily="18" charset="0"/>
                        </a:rPr>
                        <a:t>2025</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150" sz="1100" b="0" i="0" u="none" strike="noStrike">
                          <a:solidFill>
                            <a:srgbClr val="000000"/>
                          </a:solidFill>
                          <a:effectLst/>
                          <a:latin typeface="Times New Roman" panose="02020603050405020304" pitchFamily="18" charset="0"/>
                          <a:cs typeface="Times New Roman" panose="02020603050405020304" pitchFamily="18" charset="0"/>
                        </a:rPr>
                        <a:t>02</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150" sz="1100" b="0" i="0" u="none" strike="noStrike">
                          <a:solidFill>
                            <a:srgbClr val="000000"/>
                          </a:solidFill>
                          <a:effectLst/>
                          <a:latin typeface="Times New Roman" panose="02020603050405020304" pitchFamily="18" charset="0"/>
                          <a:cs typeface="Times New Roman" panose="02020603050405020304" pitchFamily="18" charset="0"/>
                        </a:rPr>
                        <a:t>06</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PQC</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VN7850</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PQC-CXR</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TRANSIT </a:t>
                      </a:r>
                      <a:r>
                        <a:rPr lang="en-US" sz="1100" b="0" i="0" u="none" strike="noStrike">
                          <a:solidFill>
                            <a:srgbClr val="000000"/>
                          </a:solidFill>
                          <a:effectLst/>
                          <a:latin typeface="Times New Roman" panose="02020603050405020304" pitchFamily="18" charset="0"/>
                          <a:cs typeface="Times New Roman" panose="02020603050405020304" pitchFamily="18" charset="0"/>
                        </a:rPr>
                        <a:t>CHECK FOUND BIRD STRIKE AT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ENG#1</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REF </a:t>
                      </a:r>
                      <a:r>
                        <a:rPr lang="en-US" sz="1100" b="0" i="0" u="none" strike="noStrike">
                          <a:solidFill>
                            <a:srgbClr val="000000"/>
                          </a:solidFill>
                          <a:effectLst/>
                          <a:latin typeface="Times New Roman" panose="02020603050405020304" pitchFamily="18" charset="0"/>
                          <a:cs typeface="Times New Roman" panose="02020603050405020304" pitchFamily="18" charset="0"/>
                        </a:rPr>
                        <a:t>AMM 05-51-14-14-200-803A C/O INSP A/C FOUND SMALL BIRD STRIKE ON FAN BLADE ENG #1, CLEAR AND CHK SATIS</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150"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10430518"/>
                  </a:ext>
                </a:extLst>
              </a:tr>
              <a:tr h="616954">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A601</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A321</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150" sz="1100" b="0" i="0" u="none" strike="noStrike">
                          <a:solidFill>
                            <a:srgbClr val="000000"/>
                          </a:solidFill>
                          <a:effectLst/>
                          <a:latin typeface="Times New Roman" panose="02020603050405020304" pitchFamily="18" charset="0"/>
                          <a:cs typeface="Times New Roman" panose="02020603050405020304" pitchFamily="18" charset="0"/>
                        </a:rPr>
                        <a:t>2025</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150" sz="1100" b="0" i="0" u="none" strike="noStrike">
                          <a:solidFill>
                            <a:srgbClr val="000000"/>
                          </a:solidFill>
                          <a:effectLst/>
                          <a:latin typeface="Times New Roman" panose="02020603050405020304" pitchFamily="18" charset="0"/>
                          <a:cs typeface="Times New Roman" panose="02020603050405020304" pitchFamily="18" charset="0"/>
                        </a:rPr>
                        <a:t>02</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150" sz="1100" b="0" i="0" u="none" strike="noStrike">
                          <a:solidFill>
                            <a:srgbClr val="000000"/>
                          </a:solidFill>
                          <a:effectLst/>
                          <a:latin typeface="Times New Roman" panose="02020603050405020304" pitchFamily="18" charset="0"/>
                          <a:cs typeface="Times New Roman" panose="02020603050405020304" pitchFamily="18" charset="0"/>
                        </a:rPr>
                        <a:t>05</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VN7288</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SGN-VII</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FOUND A HOLE AT INNER BARREL ACCOUNTIC PANEL IC ENG#1 &lt;p&gt;DURING TRANSIT CHECK &amp;#160;FOUND A HOLE AT INNER BARREL ACCOUNTIC PANEL INLET COWL ENG 1 REF SRM 54-10-00 NOT ACCEPTABLE.&amp;#160;&lt;/p&gt;</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REPLACED </a:t>
                      </a:r>
                      <a:r>
                        <a:rPr lang="vi-VN" sz="1100" b="0" i="0" u="none" strike="noStrike">
                          <a:solidFill>
                            <a:srgbClr val="000000"/>
                          </a:solidFill>
                          <a:effectLst/>
                          <a:latin typeface="Times New Roman" panose="02020603050405020304" pitchFamily="18" charset="0"/>
                          <a:cs typeface="Times New Roman" panose="02020603050405020304" pitchFamily="18" charset="0"/>
                        </a:rPr>
                        <a:t>NEW IC ENG 1, ERU </a:t>
                      </a:r>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&amp; </a:t>
                      </a:r>
                      <a:r>
                        <a:rPr lang="vi-VN" sz="1100" b="0" i="0" u="none" strike="noStrike">
                          <a:solidFill>
                            <a:srgbClr val="000000"/>
                          </a:solidFill>
                          <a:effectLst/>
                          <a:latin typeface="Times New Roman" panose="02020603050405020304" pitchFamily="18" charset="0"/>
                          <a:cs typeface="Times New Roman" panose="02020603050405020304" pitchFamily="18" charset="0"/>
                        </a:rPr>
                        <a:t>LEAK CHECK SATIS. A/C </a:t>
                      </a:r>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SERVICEABLE</a:t>
                      </a:r>
                      <a:endParaRPr lang="vi-V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150" sz="1100" b="0" i="0" u="none" strike="noStrike">
                          <a:solidFill>
                            <a:srgbClr val="000000"/>
                          </a:solidFill>
                          <a:effectLst/>
                          <a:latin typeface="Times New Roman" panose="02020603050405020304" pitchFamily="18" charset="0"/>
                          <a:cs typeface="Times New Roman" panose="02020603050405020304" pitchFamily="18" charset="0"/>
                        </a:rPr>
                        <a:t>72-00</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34391872"/>
                  </a:ext>
                </a:extLst>
              </a:tr>
              <a:tr h="232450">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A335</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A321</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150" sz="1100" b="0" i="0" u="none" strike="noStrike">
                          <a:solidFill>
                            <a:srgbClr val="000000"/>
                          </a:solidFill>
                          <a:effectLst/>
                          <a:latin typeface="Times New Roman" panose="02020603050405020304" pitchFamily="18" charset="0"/>
                          <a:cs typeface="Times New Roman" panose="02020603050405020304" pitchFamily="18" charset="0"/>
                        </a:rPr>
                        <a:t>2025</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150" sz="1100" b="0" i="0" u="none" strike="noStrike">
                          <a:solidFill>
                            <a:srgbClr val="000000"/>
                          </a:solidFill>
                          <a:effectLst/>
                          <a:latin typeface="Times New Roman" panose="02020603050405020304" pitchFamily="18" charset="0"/>
                          <a:cs typeface="Times New Roman" panose="02020603050405020304" pitchFamily="18" charset="0"/>
                        </a:rPr>
                        <a:t>02</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150" sz="1100" b="0" i="0" u="none" strike="noStrike">
                          <a:solidFill>
                            <a:srgbClr val="000000"/>
                          </a:solidFill>
                          <a:effectLst/>
                          <a:latin typeface="Times New Roman" panose="02020603050405020304" pitchFamily="18" charset="0"/>
                          <a:cs typeface="Times New Roman" panose="02020603050405020304" pitchFamily="18" charset="0"/>
                        </a:rPr>
                        <a:t>03</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VN402</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SGN-SGN</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DURING </a:t>
                      </a:r>
                      <a:r>
                        <a:rPr lang="en-US" sz="1100" b="0" i="0" u="none" strike="noStrike">
                          <a:solidFill>
                            <a:srgbClr val="000000"/>
                          </a:solidFill>
                          <a:effectLst/>
                          <a:latin typeface="Times New Roman" panose="02020603050405020304" pitchFamily="18" charset="0"/>
                          <a:cs typeface="Times New Roman" panose="02020603050405020304" pitchFamily="18" charset="0"/>
                        </a:rPr>
                        <a:t>PRE-FLT CHECK AND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RE-FUEL </a:t>
                      </a:r>
                      <a:r>
                        <a:rPr lang="en-US" sz="1100" b="0" i="0" u="none" strike="noStrike">
                          <a:solidFill>
                            <a:srgbClr val="000000"/>
                          </a:solidFill>
                          <a:effectLst/>
                          <a:latin typeface="Times New Roman" panose="02020603050405020304" pitchFamily="18" charset="0"/>
                          <a:cs typeface="Times New Roman" panose="02020603050405020304" pitchFamily="18" charset="0"/>
                        </a:rPr>
                        <a:t>ON LH WING . FUEL IS SPILL OVER FLOW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PORT</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FINAL </a:t>
                      </a:r>
                      <a:r>
                        <a:rPr lang="en-US" sz="1100" b="0" i="0" u="none" strike="noStrike">
                          <a:solidFill>
                            <a:srgbClr val="000000"/>
                          </a:solidFill>
                          <a:effectLst/>
                          <a:latin typeface="Times New Roman" panose="02020603050405020304" pitchFamily="18" charset="0"/>
                          <a:cs typeface="Times New Roman" panose="02020603050405020304" pitchFamily="18" charset="0"/>
                        </a:rPr>
                        <a:t>ACTION:  C/O TEST AND  MANUAL TRANSFER FUEL FROM  WING TANK TO ACT,  CHECK OK A/C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SERVICEABLE.</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150" sz="1100" b="0" i="0" u="none" strike="noStrike">
                          <a:solidFill>
                            <a:srgbClr val="000000"/>
                          </a:solidFill>
                          <a:effectLst/>
                          <a:latin typeface="Times New Roman" panose="02020603050405020304" pitchFamily="18" charset="0"/>
                          <a:cs typeface="Times New Roman" panose="02020603050405020304" pitchFamily="18" charset="0"/>
                        </a:rPr>
                        <a:t>28-00</a:t>
                      </a:r>
                    </a:p>
                  </a:txBody>
                  <a:tcPr marL="1748" marR="1748" marT="174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44197236"/>
                  </a:ext>
                </a:extLst>
              </a:tr>
            </a:tbl>
          </a:graphicData>
        </a:graphic>
      </p:graphicFrame>
    </p:spTree>
    <p:extLst>
      <p:ext uri="{BB962C8B-B14F-4D97-AF65-F5344CB8AC3E}">
        <p14:creationId xmlns:p14="http://schemas.microsoft.com/office/powerpoint/2010/main" val="2167133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5</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07979" y="295296"/>
            <a:ext cx="11556838" cy="424691"/>
          </a:xfrm>
          <a:prstGeom prst="rect">
            <a:avLst/>
          </a:prstGeom>
          <a:noFill/>
          <a:ln>
            <a:noFill/>
          </a:ln>
        </p:spPr>
        <p:txBody>
          <a:bodyPr spcFirstLastPara="1" wrap="square" lIns="91433" tIns="45700" rIns="91433" bIns="45700" anchor="t" anchorCtr="0">
            <a:spAutoFit/>
          </a:bodyPr>
          <a:lstStyle/>
          <a:p>
            <a:pPr lvl="0">
              <a:lnSpc>
                <a:spcPct val="90000"/>
              </a:lnSpc>
              <a:buClr>
                <a:srgbClr val="DEA610"/>
              </a:buClr>
              <a:buSzPts val="2100"/>
            </a:pPr>
            <a:r>
              <a:rPr lang="en-US"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SemiBold"/>
              </a:rPr>
              <a:t>CÁC CHUYẾN BAY DELAY ĐẦU NGÀY VÀ DELAY DO THAY LỐP</a:t>
            </a:r>
            <a:endParaRPr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a:endParaRPr>
          </a:p>
        </p:txBody>
      </p:sp>
      <p:sp>
        <p:nvSpPr>
          <p:cNvPr id="6" name="TextBox 5">
            <a:extLst>
              <a:ext uri="{FF2B5EF4-FFF2-40B4-BE49-F238E27FC236}">
                <a16:creationId xmlns:a16="http://schemas.microsoft.com/office/drawing/2014/main" id="{2A0D8269-7016-40C9-871E-187A7FEACF1F}"/>
              </a:ext>
            </a:extLst>
          </p:cNvPr>
          <p:cNvSpPr txBox="1"/>
          <p:nvPr/>
        </p:nvSpPr>
        <p:spPr>
          <a:xfrm>
            <a:off x="302664" y="1053717"/>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ĐẦU NGÀY</a:t>
            </a:r>
          </a:p>
        </p:txBody>
      </p:sp>
      <p:sp>
        <p:nvSpPr>
          <p:cNvPr id="7" name="TextBox 6">
            <a:extLst>
              <a:ext uri="{FF2B5EF4-FFF2-40B4-BE49-F238E27FC236}">
                <a16:creationId xmlns:a16="http://schemas.microsoft.com/office/drawing/2014/main" id="{380D0EF5-CAED-4228-924A-DD9228564476}"/>
              </a:ext>
            </a:extLst>
          </p:cNvPr>
          <p:cNvSpPr txBox="1"/>
          <p:nvPr/>
        </p:nvSpPr>
        <p:spPr>
          <a:xfrm>
            <a:off x="302664" y="2467387"/>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DO THAY LỐP</a:t>
            </a:r>
          </a:p>
        </p:txBody>
      </p:sp>
      <p:graphicFrame>
        <p:nvGraphicFramePr>
          <p:cNvPr id="3" name="Table 2"/>
          <p:cNvGraphicFramePr>
            <a:graphicFrameLocks noGrp="1"/>
          </p:cNvGraphicFramePr>
          <p:nvPr>
            <p:extLst>
              <p:ext uri="{D42A27DB-BD31-4B8C-83A1-F6EECF244321}">
                <p14:modId xmlns:p14="http://schemas.microsoft.com/office/powerpoint/2010/main" val="3577143384"/>
              </p:ext>
            </p:extLst>
          </p:nvPr>
        </p:nvGraphicFramePr>
        <p:xfrm>
          <a:off x="301591" y="1389962"/>
          <a:ext cx="11463226" cy="930285"/>
        </p:xfrm>
        <a:graphic>
          <a:graphicData uri="http://schemas.openxmlformats.org/drawingml/2006/table">
            <a:tbl>
              <a:tblPr/>
              <a:tblGrid>
                <a:gridCol w="427560">
                  <a:extLst>
                    <a:ext uri="{9D8B030D-6E8A-4147-A177-3AD203B41FA5}">
                      <a16:colId xmlns:a16="http://schemas.microsoft.com/office/drawing/2014/main" val="1400939127"/>
                    </a:ext>
                  </a:extLst>
                </a:gridCol>
                <a:gridCol w="531561">
                  <a:extLst>
                    <a:ext uri="{9D8B030D-6E8A-4147-A177-3AD203B41FA5}">
                      <a16:colId xmlns:a16="http://schemas.microsoft.com/office/drawing/2014/main" val="815328117"/>
                    </a:ext>
                  </a:extLst>
                </a:gridCol>
                <a:gridCol w="381337">
                  <a:extLst>
                    <a:ext uri="{9D8B030D-6E8A-4147-A177-3AD203B41FA5}">
                      <a16:colId xmlns:a16="http://schemas.microsoft.com/office/drawing/2014/main" val="1720360630"/>
                    </a:ext>
                  </a:extLst>
                </a:gridCol>
                <a:gridCol w="1155567">
                  <a:extLst>
                    <a:ext uri="{9D8B030D-6E8A-4147-A177-3AD203B41FA5}">
                      <a16:colId xmlns:a16="http://schemas.microsoft.com/office/drawing/2014/main" val="1684777201"/>
                    </a:ext>
                  </a:extLst>
                </a:gridCol>
                <a:gridCol w="392893">
                  <a:extLst>
                    <a:ext uri="{9D8B030D-6E8A-4147-A177-3AD203B41FA5}">
                      <a16:colId xmlns:a16="http://schemas.microsoft.com/office/drawing/2014/main" val="1451179484"/>
                    </a:ext>
                  </a:extLst>
                </a:gridCol>
                <a:gridCol w="751118">
                  <a:extLst>
                    <a:ext uri="{9D8B030D-6E8A-4147-A177-3AD203B41FA5}">
                      <a16:colId xmlns:a16="http://schemas.microsoft.com/office/drawing/2014/main" val="2273417757"/>
                    </a:ext>
                  </a:extLst>
                </a:gridCol>
                <a:gridCol w="658673">
                  <a:extLst>
                    <a:ext uri="{9D8B030D-6E8A-4147-A177-3AD203B41FA5}">
                      <a16:colId xmlns:a16="http://schemas.microsoft.com/office/drawing/2014/main" val="3922052826"/>
                    </a:ext>
                  </a:extLst>
                </a:gridCol>
                <a:gridCol w="774230">
                  <a:extLst>
                    <a:ext uri="{9D8B030D-6E8A-4147-A177-3AD203B41FA5}">
                      <a16:colId xmlns:a16="http://schemas.microsoft.com/office/drawing/2014/main" val="3029852354"/>
                    </a:ext>
                  </a:extLst>
                </a:gridCol>
                <a:gridCol w="2403580">
                  <a:extLst>
                    <a:ext uri="{9D8B030D-6E8A-4147-A177-3AD203B41FA5}">
                      <a16:colId xmlns:a16="http://schemas.microsoft.com/office/drawing/2014/main" val="2636508086"/>
                    </a:ext>
                  </a:extLst>
                </a:gridCol>
                <a:gridCol w="3986707">
                  <a:extLst>
                    <a:ext uri="{9D8B030D-6E8A-4147-A177-3AD203B41FA5}">
                      <a16:colId xmlns:a16="http://schemas.microsoft.com/office/drawing/2014/main" val="1882276902"/>
                    </a:ext>
                  </a:extLst>
                </a:gridCol>
              </a:tblGrid>
              <a:tr h="289698">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39288818"/>
                  </a:ext>
                </a:extLst>
              </a:tr>
              <a:tr h="496179">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vi-VN" sz="1200" b="0" i="0" u="none" strike="noStrike" dirty="0">
                          <a:solidFill>
                            <a:srgbClr val="000000"/>
                          </a:solidFill>
                          <a:effectLst/>
                          <a:latin typeface="Times New Roman" panose="02020603050405020304" pitchFamily="18" charset="0"/>
                          <a:cs typeface="Times New Roman" panose="02020603050405020304" pitchFamily="18" charset="0"/>
                        </a:rPr>
                        <a:t>B225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vi-VN" sz="1200" b="0" i="0" u="none" strike="noStrike">
                          <a:solidFill>
                            <a:srgbClr val="000000"/>
                          </a:solidFill>
                          <a:effectLst/>
                          <a:latin typeface="Times New Roman" panose="02020603050405020304" pitchFamily="18" charset="0"/>
                          <a:cs typeface="Times New Roman" panose="02020603050405020304" pitchFamily="18" charset="0"/>
                        </a:rPr>
                        <a:t>13:20 03/02/2025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vi-VN" sz="12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vi-VN" sz="1200" b="0" i="0" u="none" strike="noStrike">
                          <a:solidFill>
                            <a:srgbClr val="000000"/>
                          </a:solidFill>
                          <a:effectLst/>
                          <a:latin typeface="Times New Roman" panose="02020603050405020304" pitchFamily="18" charset="0"/>
                          <a:cs typeface="Times New Roman" panose="02020603050405020304" pitchFamily="18" charset="0"/>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vi-VN" sz="1200" b="0" i="0" u="none" strike="noStrike" smtClean="0">
                          <a:solidFill>
                            <a:srgbClr val="000000"/>
                          </a:solidFill>
                          <a:effectLst/>
                          <a:latin typeface="Times New Roman" panose="02020603050405020304" pitchFamily="18" charset="0"/>
                          <a:cs typeface="Times New Roman" panose="02020603050405020304" pitchFamily="18" charset="0"/>
                        </a:rPr>
                        <a:t>VN1857</a:t>
                      </a:r>
                      <a:endParaRPr lang="vi-V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vi-VN" sz="1200" b="0" i="0" u="none" strike="noStrike">
                          <a:solidFill>
                            <a:srgbClr val="000000"/>
                          </a:solidFill>
                          <a:effectLst/>
                          <a:latin typeface="Times New Roman" panose="02020603050405020304" pitchFamily="18" charset="0"/>
                          <a:cs typeface="Times New Roman" panose="02020603050405020304" pitchFamily="18" charset="0"/>
                        </a:rPr>
                        <a:t>SGN-VCS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DURING </a:t>
                      </a:r>
                      <a:r>
                        <a:rPr lang="en-US" sz="1200" b="0" i="0" u="none" strike="noStrike">
                          <a:solidFill>
                            <a:srgbClr val="000000"/>
                          </a:solidFill>
                          <a:effectLst/>
                          <a:latin typeface="Times New Roman" panose="02020603050405020304" pitchFamily="18" charset="0"/>
                          <a:cs typeface="Times New Roman" panose="02020603050405020304" pitchFamily="18" charset="0"/>
                        </a:rPr>
                        <a:t>PRE-FLT </a:t>
                      </a:r>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CHECK CAPT </a:t>
                      </a:r>
                      <a:r>
                        <a:rPr lang="en-US" sz="1200" b="0" i="0" u="none" strike="noStrike">
                          <a:solidFill>
                            <a:srgbClr val="000000"/>
                          </a:solidFill>
                          <a:effectLst/>
                          <a:latin typeface="Times New Roman" panose="02020603050405020304" pitchFamily="18" charset="0"/>
                          <a:cs typeface="Times New Roman" panose="02020603050405020304" pitchFamily="18" charset="0"/>
                        </a:rPr>
                        <a:t>REPORT: INVERTER 1 </a:t>
                      </a:r>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FAULT</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200" b="0" i="0" u="none" strike="noStrike" smtClean="0">
                          <a:solidFill>
                            <a:srgbClr val="000000"/>
                          </a:solidFill>
                          <a:effectLst/>
                          <a:latin typeface="Times New Roman" panose="02020603050405020304" pitchFamily="18" charset="0"/>
                          <a:cs typeface="Times New Roman" panose="02020603050405020304" pitchFamily="18" charset="0"/>
                        </a:rPr>
                        <a:t>FINAL </a:t>
                      </a:r>
                      <a:r>
                        <a:rPr lang="vi-VN" sz="1200" b="0" i="0" u="none" strike="noStrike">
                          <a:solidFill>
                            <a:srgbClr val="000000"/>
                          </a:solidFill>
                          <a:effectLst/>
                          <a:latin typeface="Times New Roman" panose="02020603050405020304" pitchFamily="18" charset="0"/>
                          <a:cs typeface="Times New Roman" panose="02020603050405020304" pitchFamily="18" charset="0"/>
                        </a:rPr>
                        <a:t>ACTION</a:t>
                      </a:r>
                      <a:r>
                        <a:rPr lang="vi-VN" sz="1200" b="0" i="0" u="none" strike="noStrike" smtClean="0">
                          <a:solidFill>
                            <a:srgbClr val="000000"/>
                          </a:solidFill>
                          <a:effectLst/>
                          <a:latin typeface="Times New Roman" panose="02020603050405020304" pitchFamily="18" charset="0"/>
                          <a:cs typeface="Times New Roman" panose="02020603050405020304" pitchFamily="18" charset="0"/>
                        </a:rPr>
                        <a:t>:</a:t>
                      </a:r>
                      <a:endParaRPr lang="en-US" sz="1200" b="0" i="0" u="none" strike="noStrike" smtClean="0">
                        <a:solidFill>
                          <a:srgbClr val="000000"/>
                        </a:solidFill>
                        <a:effectLst/>
                        <a:latin typeface="Times New Roman" panose="02020603050405020304" pitchFamily="18" charset="0"/>
                        <a:cs typeface="Times New Roman" panose="02020603050405020304" pitchFamily="18" charset="0"/>
                      </a:endParaRPr>
                    </a:p>
                    <a:p>
                      <a:pPr algn="l" fontAlgn="b"/>
                      <a:r>
                        <a:rPr lang="vi-VN" sz="1200" b="0" i="0" u="none" strike="noStrike" smtClean="0">
                          <a:solidFill>
                            <a:srgbClr val="000000"/>
                          </a:solidFill>
                          <a:effectLst/>
                          <a:latin typeface="Times New Roman" panose="02020603050405020304" pitchFamily="18" charset="0"/>
                          <a:cs typeface="Times New Roman" panose="02020603050405020304" pitchFamily="18" charset="0"/>
                        </a:rPr>
                        <a:t>-</a:t>
                      </a:r>
                      <a:r>
                        <a:rPr lang="vi-VN" sz="1200" b="0" i="0" u="none" strike="noStrike" dirty="0">
                          <a:solidFill>
                            <a:srgbClr val="000000"/>
                          </a:solidFill>
                          <a:effectLst/>
                          <a:latin typeface="Times New Roman" panose="02020603050405020304" pitchFamily="18" charset="0"/>
                          <a:cs typeface="Times New Roman" panose="02020603050405020304" pitchFamily="18" charset="0"/>
                        </a:rPr>
                        <a:t>C/O RPLD INVERTER STATIC #1 , CHECK OK ,</a:t>
                      </a:r>
                      <a:r>
                        <a:rPr lang="vi-VN" sz="1200" b="0" i="0" u="none" strike="noStrike">
                          <a:solidFill>
                            <a:srgbClr val="000000"/>
                          </a:solidFill>
                          <a:effectLst/>
                          <a:latin typeface="Times New Roman" panose="02020603050405020304" pitchFamily="18" charset="0"/>
                          <a:cs typeface="Times New Roman" panose="02020603050405020304" pitchFamily="18" charset="0"/>
                        </a:rPr>
                        <a:t>A/C  </a:t>
                      </a:r>
                      <a:r>
                        <a:rPr lang="vi-VN" sz="1200" b="0" i="0" u="none" strike="noStrike" smtClean="0">
                          <a:solidFill>
                            <a:srgbClr val="000000"/>
                          </a:solidFill>
                          <a:effectLst/>
                          <a:latin typeface="Times New Roman" panose="02020603050405020304" pitchFamily="18" charset="0"/>
                          <a:cs typeface="Times New Roman" panose="02020603050405020304" pitchFamily="18" charset="0"/>
                        </a:rPr>
                        <a:t>SERVICEABLE</a:t>
                      </a:r>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a:t>
                      </a:r>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7811605"/>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72974132"/>
              </p:ext>
            </p:extLst>
          </p:nvPr>
        </p:nvGraphicFramePr>
        <p:xfrm>
          <a:off x="303898" y="2801323"/>
          <a:ext cx="11460918" cy="3324084"/>
        </p:xfrm>
        <a:graphic>
          <a:graphicData uri="http://schemas.openxmlformats.org/drawingml/2006/table">
            <a:tbl>
              <a:tblPr/>
              <a:tblGrid>
                <a:gridCol w="566212">
                  <a:extLst>
                    <a:ext uri="{9D8B030D-6E8A-4147-A177-3AD203B41FA5}">
                      <a16:colId xmlns:a16="http://schemas.microsoft.com/office/drawing/2014/main" val="4045100793"/>
                    </a:ext>
                  </a:extLst>
                </a:gridCol>
                <a:gridCol w="566212">
                  <a:extLst>
                    <a:ext uri="{9D8B030D-6E8A-4147-A177-3AD203B41FA5}">
                      <a16:colId xmlns:a16="http://schemas.microsoft.com/office/drawing/2014/main" val="1652234844"/>
                    </a:ext>
                  </a:extLst>
                </a:gridCol>
                <a:gridCol w="1005515">
                  <a:extLst>
                    <a:ext uri="{9D8B030D-6E8A-4147-A177-3AD203B41FA5}">
                      <a16:colId xmlns:a16="http://schemas.microsoft.com/office/drawing/2014/main" val="1400423213"/>
                    </a:ext>
                  </a:extLst>
                </a:gridCol>
                <a:gridCol w="566212">
                  <a:extLst>
                    <a:ext uri="{9D8B030D-6E8A-4147-A177-3AD203B41FA5}">
                      <a16:colId xmlns:a16="http://schemas.microsoft.com/office/drawing/2014/main" val="3660012446"/>
                    </a:ext>
                  </a:extLst>
                </a:gridCol>
                <a:gridCol w="400254">
                  <a:extLst>
                    <a:ext uri="{9D8B030D-6E8A-4147-A177-3AD203B41FA5}">
                      <a16:colId xmlns:a16="http://schemas.microsoft.com/office/drawing/2014/main" val="12374685"/>
                    </a:ext>
                  </a:extLst>
                </a:gridCol>
                <a:gridCol w="634549">
                  <a:extLst>
                    <a:ext uri="{9D8B030D-6E8A-4147-A177-3AD203B41FA5}">
                      <a16:colId xmlns:a16="http://schemas.microsoft.com/office/drawing/2014/main" val="2639714955"/>
                    </a:ext>
                  </a:extLst>
                </a:gridCol>
                <a:gridCol w="741933">
                  <a:extLst>
                    <a:ext uri="{9D8B030D-6E8A-4147-A177-3AD203B41FA5}">
                      <a16:colId xmlns:a16="http://schemas.microsoft.com/office/drawing/2014/main" val="2357613929"/>
                    </a:ext>
                  </a:extLst>
                </a:gridCol>
                <a:gridCol w="2948209">
                  <a:extLst>
                    <a:ext uri="{9D8B030D-6E8A-4147-A177-3AD203B41FA5}">
                      <a16:colId xmlns:a16="http://schemas.microsoft.com/office/drawing/2014/main" val="4084521324"/>
                    </a:ext>
                  </a:extLst>
                </a:gridCol>
                <a:gridCol w="3465610">
                  <a:extLst>
                    <a:ext uri="{9D8B030D-6E8A-4147-A177-3AD203B41FA5}">
                      <a16:colId xmlns:a16="http://schemas.microsoft.com/office/drawing/2014/main" val="3467743997"/>
                    </a:ext>
                  </a:extLst>
                </a:gridCol>
                <a:gridCol w="566212">
                  <a:extLst>
                    <a:ext uri="{9D8B030D-6E8A-4147-A177-3AD203B41FA5}">
                      <a16:colId xmlns:a16="http://schemas.microsoft.com/office/drawing/2014/main" val="3105483654"/>
                    </a:ext>
                  </a:extLst>
                </a:gridCol>
              </a:tblGrid>
              <a:tr h="370823">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FLEET</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A/C</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STA</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ROUTE</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ATA</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547802021"/>
                  </a:ext>
                </a:extLst>
              </a:tr>
              <a:tr h="247215">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A350</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A888</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150" sz="1200" b="0" i="0" u="none" strike="noStrike">
                          <a:solidFill>
                            <a:srgbClr val="000000"/>
                          </a:solidFill>
                          <a:effectLst/>
                          <a:latin typeface="Times New Roman" panose="02020603050405020304" pitchFamily="18" charset="0"/>
                          <a:cs typeface="Times New Roman" panose="02020603050405020304" pitchFamily="18" charset="0"/>
                        </a:rPr>
                        <a:t>06/02/2025 10:15</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HAN</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150" sz="1200" b="0" i="0" u="none" strike="noStrike">
                          <a:solidFill>
                            <a:srgbClr val="000000"/>
                          </a:solidFill>
                          <a:effectLst/>
                          <a:latin typeface="Times New Roman" panose="02020603050405020304" pitchFamily="18" charset="0"/>
                          <a:cs typeface="Times New Roman" panose="02020603050405020304" pitchFamily="18" charset="0"/>
                        </a:rPr>
                        <a:t>20</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VN414</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HAN-ICN</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VN7450-414 SGN-HAN-ICN (09:55-11:00) T/X check found M/W # 2 shoulder worn</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C/O replace new one check satis</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150" sz="1200" b="0" i="0" u="none" strike="noStrike">
                          <a:solidFill>
                            <a:srgbClr val="000000"/>
                          </a:solidFill>
                          <a:effectLst/>
                          <a:latin typeface="Times New Roman" panose="02020603050405020304" pitchFamily="18" charset="0"/>
                          <a:cs typeface="Times New Roman" panose="02020603050405020304" pitchFamily="18" charset="0"/>
                        </a:rPr>
                        <a:t>32-41</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6871730"/>
                  </a:ext>
                </a:extLst>
              </a:tr>
              <a:tr h="247215">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A321</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A332</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150" sz="1200" b="0" i="0" u="none" strike="noStrike">
                          <a:solidFill>
                            <a:srgbClr val="000000"/>
                          </a:solidFill>
                          <a:effectLst/>
                          <a:latin typeface="Times New Roman" panose="02020603050405020304" pitchFamily="18" charset="0"/>
                          <a:cs typeface="Times New Roman" panose="02020603050405020304" pitchFamily="18" charset="0"/>
                        </a:rPr>
                        <a:t>05/02/2025 11:56</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DAD</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150" sz="1200" b="0" i="0" u="none" strike="noStrike">
                          <a:solidFill>
                            <a:srgbClr val="000000"/>
                          </a:solidFill>
                          <a:effectLst/>
                          <a:latin typeface="Times New Roman" panose="02020603050405020304" pitchFamily="18" charset="0"/>
                          <a:cs typeface="Times New Roman" panose="02020603050405020304" pitchFamily="18" charset="0"/>
                        </a:rPr>
                        <a:t>51</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VN7053</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DAD-SGN</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AFTER FLT VN7052 FOUND MW #2 SHOULDER WORN TO LIMIT(ABNORMAL).</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C/O RPLD NEW MAIN WHEEL CHECK ALL SATIS. A/C SERVICEABLE 12H41. VN7053 DELAY 51 MINS.</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150" sz="1200" b="0" i="0" u="none" strike="noStrike">
                          <a:solidFill>
                            <a:srgbClr val="000000"/>
                          </a:solidFill>
                          <a:effectLst/>
                          <a:latin typeface="Times New Roman" panose="02020603050405020304" pitchFamily="18" charset="0"/>
                          <a:cs typeface="Times New Roman" panose="02020603050405020304" pitchFamily="18" charset="0"/>
                        </a:rPr>
                        <a:t>32-41</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91109976"/>
                  </a:ext>
                </a:extLst>
              </a:tr>
              <a:tr h="247215">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A321</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A618</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150" sz="1200" b="0" i="0" u="none" strike="noStrike">
                          <a:solidFill>
                            <a:srgbClr val="000000"/>
                          </a:solidFill>
                          <a:effectLst/>
                          <a:latin typeface="Times New Roman" panose="02020603050405020304" pitchFamily="18" charset="0"/>
                          <a:cs typeface="Times New Roman" panose="02020603050405020304" pitchFamily="18" charset="0"/>
                        </a:rPr>
                        <a:t>04/02/2025 19:09</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HAN</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150" sz="1200" b="0" i="0" u="none" strike="noStrike">
                          <a:solidFill>
                            <a:srgbClr val="000000"/>
                          </a:solidFill>
                          <a:effectLst/>
                          <a:latin typeface="Times New Roman" panose="02020603050405020304" pitchFamily="18" charset="0"/>
                          <a:cs typeface="Times New Roman" panose="02020603050405020304" pitchFamily="18" charset="0"/>
                        </a:rPr>
                        <a:t>25</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VN195</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HAN-DAD</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A618 VN614/VN195 BKK-HAN-DAD (TRANSIT): FOUND M/W #4 SHOULDER ABNORMAL WORN.</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ACTION: C/O REPLACED NEW ONE -&gt; CHECK SATIS. VN195 DELAY 25 MINS</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150"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8094339"/>
                  </a:ext>
                </a:extLst>
              </a:tr>
              <a:tr h="247215">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A321</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A329</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150" sz="1200" b="0" i="0" u="none" strike="noStrike">
                          <a:solidFill>
                            <a:srgbClr val="000000"/>
                          </a:solidFill>
                          <a:effectLst/>
                          <a:latin typeface="Times New Roman" panose="02020603050405020304" pitchFamily="18" charset="0"/>
                          <a:cs typeface="Times New Roman" panose="02020603050405020304" pitchFamily="18" charset="0"/>
                        </a:rPr>
                        <a:t>04/02/2025 16:53</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SGN</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150" sz="1200" b="0" i="0" u="none" strike="noStrike">
                          <a:solidFill>
                            <a:srgbClr val="000000"/>
                          </a:solidFill>
                          <a:effectLst/>
                          <a:latin typeface="Times New Roman" panose="02020603050405020304" pitchFamily="18" charset="0"/>
                          <a:cs typeface="Times New Roman" panose="02020603050405020304" pitchFamily="18" charset="0"/>
                        </a:rPr>
                        <a:t>25</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VN1468</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SGN-VCL</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TRANSIT CHECK FOUND MW #4 SHOULDER WORN TO LIMIT (ABNORMAL)</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C/O RPLD MW #4. SATIS. A/C SERVICEABLE</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150" sz="1200" b="0" i="0" u="none" strike="noStrike">
                          <a:solidFill>
                            <a:srgbClr val="000000"/>
                          </a:solidFill>
                          <a:effectLst/>
                          <a:latin typeface="Times New Roman" panose="02020603050405020304" pitchFamily="18" charset="0"/>
                          <a:cs typeface="Times New Roman" panose="02020603050405020304" pitchFamily="18" charset="0"/>
                        </a:rPr>
                        <a:t>32-00</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95622103"/>
                  </a:ext>
                </a:extLst>
              </a:tr>
              <a:tr h="247215">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A350</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A888</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150" sz="1200" b="0" i="0" u="none" strike="noStrike">
                          <a:solidFill>
                            <a:srgbClr val="000000"/>
                          </a:solidFill>
                          <a:effectLst/>
                          <a:latin typeface="Times New Roman" panose="02020603050405020304" pitchFamily="18" charset="0"/>
                          <a:cs typeface="Times New Roman" panose="02020603050405020304" pitchFamily="18" charset="0"/>
                        </a:rPr>
                        <a:t>04/02/2025 00:08</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HAN</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150" sz="1200" b="0" i="0" u="none" strike="noStrike">
                          <a:solidFill>
                            <a:srgbClr val="000000"/>
                          </a:solidFill>
                          <a:effectLst/>
                          <a:latin typeface="Times New Roman" panose="02020603050405020304" pitchFamily="18" charset="0"/>
                          <a:cs typeface="Times New Roman" panose="02020603050405020304" pitchFamily="18" charset="0"/>
                        </a:rPr>
                        <a:t>22</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VN334</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HAN-KIX</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T/X CHECK FOUND M/W # 4 WORN ABNORMAL</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C/O REPLACE NEW ONE I.A.W MP 32-41-62-00001-520A/720A-A.</a:t>
                      </a:r>
                      <a:br>
                        <a:rPr lang="en-US" sz="1200" b="0" i="0" u="none" strike="noStrike">
                          <a:solidFill>
                            <a:srgbClr val="000000"/>
                          </a:solidFill>
                          <a:effectLst/>
                          <a:latin typeface="Times New Roman" panose="02020603050405020304" pitchFamily="18" charset="0"/>
                          <a:cs typeface="Times New Roman" panose="02020603050405020304" pitchFamily="18" charset="0"/>
                        </a:rPr>
                      </a:br>
                      <a:r>
                        <a:rPr lang="en-US" sz="1200" b="0" i="0" u="none" strike="noStrike">
                          <a:solidFill>
                            <a:srgbClr val="000000"/>
                          </a:solidFill>
                          <a:effectLst/>
                          <a:latin typeface="Times New Roman" panose="02020603050405020304" pitchFamily="18" charset="0"/>
                          <a:cs typeface="Times New Roman" panose="02020603050405020304" pitchFamily="18" charset="0"/>
                        </a:rPr>
                        <a:t>CHECK SATIS</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150" sz="1200" b="0" i="0" u="none" strike="noStrike">
                          <a:solidFill>
                            <a:srgbClr val="000000"/>
                          </a:solidFill>
                          <a:effectLst/>
                          <a:latin typeface="Times New Roman" panose="02020603050405020304" pitchFamily="18" charset="0"/>
                          <a:cs typeface="Times New Roman" panose="02020603050405020304" pitchFamily="18" charset="0"/>
                        </a:rPr>
                        <a:t>32-41</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11379213"/>
                  </a:ext>
                </a:extLst>
              </a:tr>
            </a:tbl>
          </a:graphicData>
        </a:graphic>
      </p:graphicFrame>
    </p:spTree>
    <p:extLst>
      <p:ext uri="{BB962C8B-B14F-4D97-AF65-F5344CB8AC3E}">
        <p14:creationId xmlns:p14="http://schemas.microsoft.com/office/powerpoint/2010/main" val="550881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5B60134-59D7-B9ED-2806-C1F57EA05F77}"/>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01 (Non-tech)</a:t>
            </a:r>
          </a:p>
        </p:txBody>
      </p:sp>
      <p:sp>
        <p:nvSpPr>
          <p:cNvPr id="9" name="TextBox 8">
            <a:extLst>
              <a:ext uri="{FF2B5EF4-FFF2-40B4-BE49-F238E27FC236}">
                <a16:creationId xmlns:a16="http://schemas.microsoft.com/office/drawing/2014/main" id="{5FE3B712-9690-42A3-A50E-24E99475755A}"/>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 (Non-tech)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02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graphicFrame>
        <p:nvGraphicFramePr>
          <p:cNvPr id="3" name="Table 2">
            <a:extLst>
              <a:ext uri="{FF2B5EF4-FFF2-40B4-BE49-F238E27FC236}">
                <a16:creationId xmlns:a16="http://schemas.microsoft.com/office/drawing/2014/main" id="{A8AA4BD9-FDEC-2CC2-1A85-C72F397A4621}"/>
              </a:ext>
            </a:extLst>
          </p:cNvPr>
          <p:cNvGraphicFramePr>
            <a:graphicFrameLocks noGrp="1"/>
          </p:cNvGraphicFramePr>
          <p:nvPr>
            <p:extLst>
              <p:ext uri="{D42A27DB-BD31-4B8C-83A1-F6EECF244321}">
                <p14:modId xmlns:p14="http://schemas.microsoft.com/office/powerpoint/2010/main" val="1005988725"/>
              </p:ext>
            </p:extLst>
          </p:nvPr>
        </p:nvGraphicFramePr>
        <p:xfrm>
          <a:off x="170509" y="1553215"/>
          <a:ext cx="11670605" cy="2983320"/>
        </p:xfrm>
        <a:graphic>
          <a:graphicData uri="http://schemas.openxmlformats.org/drawingml/2006/table">
            <a:tbl>
              <a:tblPr/>
              <a:tblGrid>
                <a:gridCol w="375833">
                  <a:extLst>
                    <a:ext uri="{9D8B030D-6E8A-4147-A177-3AD203B41FA5}">
                      <a16:colId xmlns:a16="http://schemas.microsoft.com/office/drawing/2014/main" val="435942644"/>
                    </a:ext>
                  </a:extLst>
                </a:gridCol>
                <a:gridCol w="672858">
                  <a:extLst>
                    <a:ext uri="{9D8B030D-6E8A-4147-A177-3AD203B41FA5}">
                      <a16:colId xmlns:a16="http://schemas.microsoft.com/office/drawing/2014/main" val="276862112"/>
                    </a:ext>
                  </a:extLst>
                </a:gridCol>
                <a:gridCol w="1066800">
                  <a:extLst>
                    <a:ext uri="{9D8B030D-6E8A-4147-A177-3AD203B41FA5}">
                      <a16:colId xmlns:a16="http://schemas.microsoft.com/office/drawing/2014/main" val="2191467762"/>
                    </a:ext>
                  </a:extLst>
                </a:gridCol>
                <a:gridCol w="457200">
                  <a:extLst>
                    <a:ext uri="{9D8B030D-6E8A-4147-A177-3AD203B41FA5}">
                      <a16:colId xmlns:a16="http://schemas.microsoft.com/office/drawing/2014/main" val="2342651692"/>
                    </a:ext>
                  </a:extLst>
                </a:gridCol>
                <a:gridCol w="2209800">
                  <a:extLst>
                    <a:ext uri="{9D8B030D-6E8A-4147-A177-3AD203B41FA5}">
                      <a16:colId xmlns:a16="http://schemas.microsoft.com/office/drawing/2014/main" val="3654957790"/>
                    </a:ext>
                  </a:extLst>
                </a:gridCol>
                <a:gridCol w="5334000">
                  <a:extLst>
                    <a:ext uri="{9D8B030D-6E8A-4147-A177-3AD203B41FA5}">
                      <a16:colId xmlns:a16="http://schemas.microsoft.com/office/drawing/2014/main" val="3278939196"/>
                    </a:ext>
                  </a:extLst>
                </a:gridCol>
                <a:gridCol w="457200">
                  <a:extLst>
                    <a:ext uri="{9D8B030D-6E8A-4147-A177-3AD203B41FA5}">
                      <a16:colId xmlns:a16="http://schemas.microsoft.com/office/drawing/2014/main" val="3446310582"/>
                    </a:ext>
                  </a:extLst>
                </a:gridCol>
                <a:gridCol w="1096914">
                  <a:extLst>
                    <a:ext uri="{9D8B030D-6E8A-4147-A177-3AD203B41FA5}">
                      <a16:colId xmlns:a16="http://schemas.microsoft.com/office/drawing/2014/main" val="1400684824"/>
                    </a:ext>
                  </a:extLst>
                </a:gridCol>
              </a:tblGrid>
              <a:tr h="129110">
                <a:tc>
                  <a:txBody>
                    <a:bodyPr/>
                    <a:lstStyle/>
                    <a:p>
                      <a:pPr algn="ctr" fontAlgn="ctr"/>
                      <a:r>
                        <a:rPr lang="en-US" sz="1100" b="0" i="0" u="none" strike="noStrike">
                          <a:solidFill>
                            <a:srgbClr val="000000"/>
                          </a:solidFill>
                          <a:effectLst/>
                          <a:latin typeface="Times New Roman" panose="02020603050405020304" pitchFamily="18" charset="0"/>
                        </a:rPr>
                        <a:t>A/C</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OPEN DATE</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CLOSED DATE</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STA</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DEFECT</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ACTION</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ATA</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Engineering Assessment</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94249764"/>
                  </a:ext>
                </a:extLst>
              </a:tr>
              <a:tr h="2643584">
                <a:tc>
                  <a:txBody>
                    <a:bodyPr/>
                    <a:lstStyle/>
                    <a:p>
                      <a:pPr algn="l" fontAlgn="b"/>
                      <a:r>
                        <a:rPr lang="vi-VN" sz="1100" b="0" i="0" u="none" strike="noStrike" dirty="0">
                          <a:solidFill>
                            <a:srgbClr val="000000"/>
                          </a:solidFill>
                          <a:effectLst/>
                          <a:latin typeface="+mn-lt"/>
                        </a:rPr>
                        <a:t>A601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03:40 05/02/2025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17:00 05/02/2025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mn-lt"/>
                        </a:rPr>
                        <a:t>DURING </a:t>
                      </a:r>
                      <a:r>
                        <a:rPr lang="en-US" sz="1100" b="0" i="0" u="none" strike="noStrike">
                          <a:solidFill>
                            <a:srgbClr val="000000"/>
                          </a:solidFill>
                          <a:effectLst/>
                          <a:latin typeface="+mn-lt"/>
                        </a:rPr>
                        <a:t>TRANSIT CHECK </a:t>
                      </a:r>
                      <a:r>
                        <a:rPr lang="en-US" sz="1100" b="0" i="0" u="none" strike="noStrike" smtClean="0">
                          <a:solidFill>
                            <a:srgbClr val="000000"/>
                          </a:solidFill>
                          <a:effectLst/>
                          <a:latin typeface="+mn-lt"/>
                        </a:rPr>
                        <a:t>FOUND </a:t>
                      </a:r>
                      <a:r>
                        <a:rPr lang="en-US" sz="1100" b="0" i="0" u="none" strike="noStrike">
                          <a:solidFill>
                            <a:srgbClr val="000000"/>
                          </a:solidFill>
                          <a:effectLst/>
                          <a:latin typeface="+mn-lt"/>
                        </a:rPr>
                        <a:t>A HOLE AT INNER BARREL ACCOUNTIC PANEL INLET COWL ENG 1 REF SRM 54-10-00 NOT ACCEPTABLE</a:t>
                      </a:r>
                      <a:r>
                        <a:rPr lang="en-US" sz="1100" b="0" i="0" u="none" strike="noStrike" smtClean="0">
                          <a:solidFill>
                            <a:srgbClr val="000000"/>
                          </a:solidFill>
                          <a:effectLst/>
                          <a:latin typeface="+mn-lt"/>
                        </a:rPr>
                        <a:t>.</a:t>
                      </a:r>
                      <a:endParaRPr lang="en-US" sz="1100" b="0" i="0" u="none" strike="noStrike">
                        <a:solidFill>
                          <a:srgbClr val="000000"/>
                        </a:solidFill>
                        <a:effectLst/>
                        <a:latin typeface="+mn-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smtClean="0">
                          <a:solidFill>
                            <a:srgbClr val="000000"/>
                          </a:solidFill>
                          <a:effectLst/>
                          <a:latin typeface="+mn-lt"/>
                        </a:rPr>
                        <a:t>REPLACED </a:t>
                      </a:r>
                      <a:r>
                        <a:rPr lang="vi-VN" sz="1100" b="0" i="0" u="none" strike="noStrike" dirty="0">
                          <a:solidFill>
                            <a:srgbClr val="000000"/>
                          </a:solidFill>
                          <a:effectLst/>
                          <a:latin typeface="+mn-lt"/>
                        </a:rPr>
                        <a:t>NEW IC ENG 1, </a:t>
                      </a:r>
                      <a:r>
                        <a:rPr lang="vi-VN" sz="1100" b="0" i="0" u="none" strike="noStrike">
                          <a:solidFill>
                            <a:srgbClr val="000000"/>
                          </a:solidFill>
                          <a:effectLst/>
                          <a:latin typeface="+mn-lt"/>
                        </a:rPr>
                        <a:t>ERU </a:t>
                      </a:r>
                      <a:r>
                        <a:rPr lang="vi-VN" sz="1100" b="0" i="0" u="none" strike="noStrike" smtClean="0">
                          <a:solidFill>
                            <a:srgbClr val="000000"/>
                          </a:solidFill>
                          <a:effectLst/>
                          <a:latin typeface="+mn-lt"/>
                        </a:rPr>
                        <a:t>&amp; </a:t>
                      </a:r>
                      <a:r>
                        <a:rPr lang="vi-VN" sz="1100" b="0" i="0" u="none" strike="noStrike" dirty="0">
                          <a:solidFill>
                            <a:srgbClr val="000000"/>
                          </a:solidFill>
                          <a:effectLst/>
                          <a:latin typeface="+mn-lt"/>
                        </a:rPr>
                        <a:t>LEAK CHECK SATIS. </a:t>
                      </a:r>
                      <a:r>
                        <a:rPr lang="vi-VN" sz="1100" b="0" i="0" u="none" strike="noStrike">
                          <a:solidFill>
                            <a:srgbClr val="000000"/>
                          </a:solidFill>
                          <a:effectLst/>
                          <a:latin typeface="+mn-lt"/>
                        </a:rPr>
                        <a:t>A/C </a:t>
                      </a:r>
                      <a:r>
                        <a:rPr lang="vi-VN" sz="1100" b="0" i="0" u="none" strike="noStrike" smtClean="0">
                          <a:solidFill>
                            <a:srgbClr val="000000"/>
                          </a:solidFill>
                          <a:effectLst/>
                          <a:latin typeface="+mn-lt"/>
                        </a:rPr>
                        <a:t>SERVICEABLE</a:t>
                      </a:r>
                      <a:endParaRPr lang="vi-VN" sz="1100" b="0" i="0" u="none" strike="noStrike" dirty="0">
                        <a:solidFill>
                          <a:srgbClr val="000000"/>
                        </a:solidFill>
                        <a:effectLst/>
                        <a:latin typeface="+mn-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72-00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Non tech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67600614"/>
                  </a:ext>
                </a:extLst>
              </a:tr>
            </a:tbl>
          </a:graphicData>
        </a:graphic>
      </p:graphicFrame>
    </p:spTree>
    <p:extLst>
      <p:ext uri="{BB962C8B-B14F-4D97-AF65-F5344CB8AC3E}">
        <p14:creationId xmlns:p14="http://schemas.microsoft.com/office/powerpoint/2010/main" val="3476569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91F1225-FC0E-5433-C8DA-3A180CA7EE0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4F1B922-C038-04CB-CF61-EB34175F72F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85FF762-C7BE-C174-D0AA-48FABC7CA19E}"/>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56F14B7E-3168-5765-1022-FBD74E75809D}"/>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02</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E0B7B82D-1374-56D5-C3DF-62BC7E089176}"/>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 (Non-tech)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02</a:t>
            </a:r>
            <a:r>
              <a:rPr kumimoji="0" lang="en-US" sz="1600" b="1" i="0" u="none" strike="noStrike" kern="1200" cap="none" spc="0" normalizeH="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graphicFrame>
        <p:nvGraphicFramePr>
          <p:cNvPr id="5" name="Table 4">
            <a:extLst>
              <a:ext uri="{FF2B5EF4-FFF2-40B4-BE49-F238E27FC236}">
                <a16:creationId xmlns:a16="http://schemas.microsoft.com/office/drawing/2014/main" id="{A63AE000-73D5-A499-5571-75ACA673658F}"/>
              </a:ext>
            </a:extLst>
          </p:cNvPr>
          <p:cNvGraphicFramePr>
            <a:graphicFrameLocks noGrp="1"/>
          </p:cNvGraphicFramePr>
          <p:nvPr>
            <p:extLst>
              <p:ext uri="{D42A27DB-BD31-4B8C-83A1-F6EECF244321}">
                <p14:modId xmlns:p14="http://schemas.microsoft.com/office/powerpoint/2010/main" val="811531505"/>
              </p:ext>
            </p:extLst>
          </p:nvPr>
        </p:nvGraphicFramePr>
        <p:xfrm>
          <a:off x="152399" y="1570679"/>
          <a:ext cx="11688717" cy="2774626"/>
        </p:xfrm>
        <a:graphic>
          <a:graphicData uri="http://schemas.openxmlformats.org/drawingml/2006/table">
            <a:tbl>
              <a:tblPr/>
              <a:tblGrid>
                <a:gridCol w="381001">
                  <a:extLst>
                    <a:ext uri="{9D8B030D-6E8A-4147-A177-3AD203B41FA5}">
                      <a16:colId xmlns:a16="http://schemas.microsoft.com/office/drawing/2014/main" val="3316182388"/>
                    </a:ext>
                  </a:extLst>
                </a:gridCol>
                <a:gridCol w="685800">
                  <a:extLst>
                    <a:ext uri="{9D8B030D-6E8A-4147-A177-3AD203B41FA5}">
                      <a16:colId xmlns:a16="http://schemas.microsoft.com/office/drawing/2014/main" val="4104333813"/>
                    </a:ext>
                  </a:extLst>
                </a:gridCol>
                <a:gridCol w="304800">
                  <a:extLst>
                    <a:ext uri="{9D8B030D-6E8A-4147-A177-3AD203B41FA5}">
                      <a16:colId xmlns:a16="http://schemas.microsoft.com/office/drawing/2014/main" val="2544045720"/>
                    </a:ext>
                  </a:extLst>
                </a:gridCol>
                <a:gridCol w="533400">
                  <a:extLst>
                    <a:ext uri="{9D8B030D-6E8A-4147-A177-3AD203B41FA5}">
                      <a16:colId xmlns:a16="http://schemas.microsoft.com/office/drawing/2014/main" val="3951547359"/>
                    </a:ext>
                  </a:extLst>
                </a:gridCol>
                <a:gridCol w="457200">
                  <a:extLst>
                    <a:ext uri="{9D8B030D-6E8A-4147-A177-3AD203B41FA5}">
                      <a16:colId xmlns:a16="http://schemas.microsoft.com/office/drawing/2014/main" val="379936116"/>
                    </a:ext>
                  </a:extLst>
                </a:gridCol>
                <a:gridCol w="533400">
                  <a:extLst>
                    <a:ext uri="{9D8B030D-6E8A-4147-A177-3AD203B41FA5}">
                      <a16:colId xmlns:a16="http://schemas.microsoft.com/office/drawing/2014/main" val="905265164"/>
                    </a:ext>
                  </a:extLst>
                </a:gridCol>
                <a:gridCol w="1828800">
                  <a:extLst>
                    <a:ext uri="{9D8B030D-6E8A-4147-A177-3AD203B41FA5}">
                      <a16:colId xmlns:a16="http://schemas.microsoft.com/office/drawing/2014/main" val="1766184023"/>
                    </a:ext>
                  </a:extLst>
                </a:gridCol>
                <a:gridCol w="4267200">
                  <a:extLst>
                    <a:ext uri="{9D8B030D-6E8A-4147-A177-3AD203B41FA5}">
                      <a16:colId xmlns:a16="http://schemas.microsoft.com/office/drawing/2014/main" val="3411328682"/>
                    </a:ext>
                  </a:extLst>
                </a:gridCol>
                <a:gridCol w="457200">
                  <a:extLst>
                    <a:ext uri="{9D8B030D-6E8A-4147-A177-3AD203B41FA5}">
                      <a16:colId xmlns:a16="http://schemas.microsoft.com/office/drawing/2014/main" val="3312070597"/>
                    </a:ext>
                  </a:extLst>
                </a:gridCol>
                <a:gridCol w="2239916">
                  <a:extLst>
                    <a:ext uri="{9D8B030D-6E8A-4147-A177-3AD203B41FA5}">
                      <a16:colId xmlns:a16="http://schemas.microsoft.com/office/drawing/2014/main" val="1807191619"/>
                    </a:ext>
                  </a:extLst>
                </a:gridCol>
              </a:tblGrid>
              <a:tr h="29521">
                <a:tc>
                  <a:txBody>
                    <a:bodyPr/>
                    <a:lstStyle/>
                    <a:p>
                      <a:pPr algn="ctr" fontAlgn="t"/>
                      <a:r>
                        <a:rPr lang="en-US" sz="1100" b="0" i="0" u="none" strike="noStrike">
                          <a:solidFill>
                            <a:srgbClr val="000000"/>
                          </a:solidFill>
                          <a:effectLst/>
                          <a:latin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ATA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809290284"/>
                  </a:ext>
                </a:extLst>
              </a:tr>
              <a:tr h="666583">
                <a:tc>
                  <a:txBody>
                    <a:bodyPr/>
                    <a:lstStyle/>
                    <a:p>
                      <a:pPr algn="l" fontAlgn="b"/>
                      <a:r>
                        <a:rPr lang="vi-VN" sz="1100" b="0" i="0" u="none" strike="noStrike" dirty="0">
                          <a:solidFill>
                            <a:srgbClr val="000000"/>
                          </a:solidFill>
                          <a:effectLst/>
                          <a:latin typeface="+mn-lt"/>
                        </a:rPr>
                        <a:t>A602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16:15 08/02/2025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VN136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SGN-DAD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mn-lt"/>
                        </a:rPr>
                        <a:t>BOTH CARGO DOOR CAN NOT CLOSED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mn-lt"/>
                        </a:rPr>
                        <a:t>CHKD </a:t>
                      </a:r>
                      <a:r>
                        <a:rPr lang="en-US" sz="1100" b="0" i="0" u="none" strike="noStrike">
                          <a:solidFill>
                            <a:srgbClr val="000000"/>
                          </a:solidFill>
                          <a:effectLst/>
                          <a:latin typeface="+mn-lt"/>
                        </a:rPr>
                        <a:t>AND OPS BOTH CARGO DOOR  FOUND </a:t>
                      </a:r>
                      <a:r>
                        <a:rPr lang="en-US" sz="1100" b="0" i="0" u="none" strike="noStrike" smtClean="0">
                          <a:solidFill>
                            <a:srgbClr val="000000"/>
                          </a:solidFill>
                          <a:effectLst/>
                          <a:latin typeface="+mn-lt"/>
                        </a:rPr>
                        <a:t>SATIS.</a:t>
                      </a:r>
                      <a:endParaRPr lang="en-US" sz="1100" b="0" i="0" u="none" strike="noStrike">
                        <a:solidFill>
                          <a:srgbClr val="000000"/>
                        </a:solidFill>
                        <a:effectLst/>
                        <a:latin typeface="+mn-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FF0000"/>
                          </a:solidFill>
                          <a:effectLst/>
                          <a:latin typeface="+mn-lt"/>
                        </a:rPr>
                        <a:t>Không tính KPI vì tech delay = 0 min</a:t>
                      </a:r>
                      <a:r>
                        <a:rPr lang="vi-VN" sz="1100" b="0" i="0" u="none" strike="noStrike" dirty="0">
                          <a:solidFill>
                            <a:srgbClr val="000000"/>
                          </a:solidFill>
                          <a:effectLst/>
                          <a:latin typeface="+mn-lt"/>
                        </a:rPr>
                        <a:t>. </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Cửa Aft và Fwd khó đóng cùng lúc là điều hiếm khi xảy ra. Tàu A602 đã được kiểm tra dây và căn chỉnh bôi trơn từ cuối năm 2024. Hiện các cửa hoạt động bình thường.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696778"/>
                  </a:ext>
                </a:extLst>
              </a:tr>
              <a:tr h="1253323">
                <a:tc>
                  <a:txBody>
                    <a:bodyPr/>
                    <a:lstStyle/>
                    <a:p>
                      <a:pPr algn="l" fontAlgn="b"/>
                      <a:r>
                        <a:rPr lang="vi-VN" sz="1100" b="0" i="0" u="none" strike="noStrike" dirty="0">
                          <a:solidFill>
                            <a:srgbClr val="000000"/>
                          </a:solidFill>
                          <a:effectLst/>
                          <a:latin typeface="+mn-lt"/>
                        </a:rPr>
                        <a:t>A612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06:10 03/02/2025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VN242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SGN-HAN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mn-lt"/>
                        </a:rPr>
                        <a:t>DURING </a:t>
                      </a:r>
                      <a:r>
                        <a:rPr lang="en-US" sz="1100" b="0" i="0" u="none" strike="noStrike" dirty="0">
                          <a:solidFill>
                            <a:srgbClr val="000000"/>
                          </a:solidFill>
                          <a:effectLst/>
                          <a:latin typeface="+mn-lt"/>
                        </a:rPr>
                        <a:t>BOARDING MSG </a:t>
                      </a:r>
                      <a:r>
                        <a:rPr lang="en-US" sz="1100" b="0" i="0" u="none" strike="noStrike">
                          <a:solidFill>
                            <a:srgbClr val="000000"/>
                          </a:solidFill>
                          <a:effectLst/>
                          <a:latin typeface="+mn-lt"/>
                        </a:rPr>
                        <a:t>SHOWS </a:t>
                      </a:r>
                      <a:r>
                        <a:rPr lang="en-US" sz="1100" b="0" i="0" u="none" strike="noStrike" smtClean="0">
                          <a:solidFill>
                            <a:srgbClr val="000000"/>
                          </a:solidFill>
                          <a:effectLst/>
                          <a:latin typeface="+mn-lt"/>
                        </a:rPr>
                        <a:t>“BRAKE </a:t>
                      </a:r>
                      <a:r>
                        <a:rPr lang="en-US" sz="1100" b="0" i="0" u="none" strike="noStrike">
                          <a:solidFill>
                            <a:srgbClr val="000000"/>
                          </a:solidFill>
                          <a:effectLst/>
                          <a:latin typeface="+mn-lt"/>
                        </a:rPr>
                        <a:t>RELEASE </a:t>
                      </a:r>
                      <a:r>
                        <a:rPr lang="en-US" sz="1100" b="0" i="0" u="none" strike="noStrike" smtClean="0">
                          <a:solidFill>
                            <a:srgbClr val="000000"/>
                          </a:solidFill>
                          <a:effectLst/>
                          <a:latin typeface="+mn-lt"/>
                        </a:rPr>
                        <a:t>FAULT </a:t>
                      </a:r>
                      <a:r>
                        <a:rPr lang="en-US" sz="1100" b="0" i="0" u="none" strike="noStrike" dirty="0">
                          <a:solidFill>
                            <a:srgbClr val="000000"/>
                          </a:solidFill>
                          <a:effectLst/>
                          <a:latin typeface="+mn-lt"/>
                        </a:rPr>
                        <a:t>AND CB BRAKE </a:t>
                      </a:r>
                      <a:r>
                        <a:rPr lang="en-US" sz="1100" b="0" i="0" u="none" strike="noStrike">
                          <a:solidFill>
                            <a:srgbClr val="000000"/>
                          </a:solidFill>
                          <a:effectLst/>
                          <a:latin typeface="+mn-lt"/>
                        </a:rPr>
                        <a:t>FAN#1,2 </a:t>
                      </a:r>
                      <a:r>
                        <a:rPr lang="en-US" sz="1100" b="0" i="0" u="none" strike="noStrike" smtClean="0">
                          <a:solidFill>
                            <a:srgbClr val="000000"/>
                          </a:solidFill>
                          <a:effectLst/>
                          <a:latin typeface="+mn-lt"/>
                        </a:rPr>
                        <a:t>POP OUT”</a:t>
                      </a:r>
                      <a:endParaRPr lang="en-US" sz="1100" b="0" i="0" u="none" strike="noStrike" dirty="0">
                        <a:solidFill>
                          <a:srgbClr val="000000"/>
                        </a:solidFill>
                        <a:effectLst/>
                        <a:latin typeface="+mn-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smtClean="0">
                          <a:solidFill>
                            <a:srgbClr val="000000"/>
                          </a:solidFill>
                          <a:effectLst/>
                          <a:latin typeface="+mn-lt"/>
                        </a:rPr>
                        <a:t>FINAL </a:t>
                      </a:r>
                      <a:r>
                        <a:rPr lang="vi-VN" sz="1100" b="0" i="0" u="none" strike="noStrike" dirty="0">
                          <a:solidFill>
                            <a:srgbClr val="000000"/>
                          </a:solidFill>
                          <a:effectLst/>
                          <a:latin typeface="+mn-lt"/>
                        </a:rPr>
                        <a:t>ACTION: C/O REMOVE  MW1 AND CHECK BRAKE FAN JAM .  C/O DEACTIVED BRAKE#1 AND RAISED ADD FOR</a:t>
                      </a:r>
                      <a:r>
                        <a:rPr lang="vi-VN" sz="1100" b="0" i="0" u="none" strike="noStrike">
                          <a:solidFill>
                            <a:srgbClr val="000000"/>
                          </a:solidFill>
                          <a:effectLst/>
                          <a:latin typeface="+mn-lt"/>
                        </a:rPr>
                        <a:t>:   </a:t>
                      </a:r>
                      <a:r>
                        <a:rPr lang="vi-VN" sz="1100" b="0" i="0" u="none" strike="noStrike" smtClean="0">
                          <a:solidFill>
                            <a:srgbClr val="000000"/>
                          </a:solidFill>
                          <a:effectLst/>
                          <a:latin typeface="+mn-lt"/>
                        </a:rPr>
                        <a:t>B2027</a:t>
                      </a:r>
                      <a:r>
                        <a:rPr lang="en-US" sz="1100" b="0" i="0" u="none" strike="noStrike" smtClean="0">
                          <a:solidFill>
                            <a:srgbClr val="000000"/>
                          </a:solidFill>
                          <a:effectLst/>
                          <a:latin typeface="+mn-lt"/>
                        </a:rPr>
                        <a:t> </a:t>
                      </a:r>
                      <a:r>
                        <a:rPr lang="vi-VN" sz="1100" b="0" i="0" u="none" strike="noStrike" smtClean="0">
                          <a:solidFill>
                            <a:srgbClr val="000000"/>
                          </a:solidFill>
                          <a:effectLst/>
                          <a:latin typeface="+mn-lt"/>
                        </a:rPr>
                        <a:t>”</a:t>
                      </a:r>
                      <a:r>
                        <a:rPr lang="vi-VN" sz="1100" b="0" i="0" u="none" strike="noStrike" dirty="0">
                          <a:solidFill>
                            <a:srgbClr val="000000"/>
                          </a:solidFill>
                          <a:effectLst/>
                          <a:latin typeface="+mn-lt"/>
                        </a:rPr>
                        <a:t>TACHOMETER MW#1 INOP B2028 ” BRAKE#1 INOP ”.  CHECK  SATIS. </a:t>
                      </a:r>
                      <a:r>
                        <a:rPr lang="vi-VN" sz="1100" b="0" i="0" u="none" strike="noStrike">
                          <a:solidFill>
                            <a:srgbClr val="000000"/>
                          </a:solidFill>
                          <a:effectLst/>
                          <a:latin typeface="+mn-lt"/>
                        </a:rPr>
                        <a:t>A/C </a:t>
                      </a:r>
                      <a:r>
                        <a:rPr lang="vi-VN" sz="1100" b="0" i="0" u="none" strike="noStrike" smtClean="0">
                          <a:solidFill>
                            <a:srgbClr val="000000"/>
                          </a:solidFill>
                          <a:effectLst/>
                          <a:latin typeface="+mn-lt"/>
                        </a:rPr>
                        <a:t>SERVICEABLE</a:t>
                      </a:r>
                      <a:r>
                        <a:rPr lang="en-US" sz="1100" b="0" i="0" u="none" strike="noStrike" smtClean="0">
                          <a:solidFill>
                            <a:srgbClr val="000000"/>
                          </a:solidFill>
                          <a:effectLst/>
                          <a:latin typeface="+mn-lt"/>
                        </a:rPr>
                        <a:t>.</a:t>
                      </a:r>
                      <a:endParaRPr lang="vi-VN" sz="1100" b="0" i="0" u="none" strike="noStrike" dirty="0">
                        <a:solidFill>
                          <a:srgbClr val="000000"/>
                        </a:solidFill>
                        <a:effectLst/>
                        <a:latin typeface="+mn-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32-00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Hỏng hóc liên quan đến brake fan bị kẹt, nguyên nhân có thể do dị vật xâm nhập. Do môi trường hoạt động ở gần mặt đất nên và tốc độ cao nên không tránh khỏi có thể có dị vật xâm nhập. Tiếp tục theo dõi thêm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95640721"/>
                  </a:ext>
                </a:extLst>
              </a:tr>
            </a:tbl>
          </a:graphicData>
        </a:graphic>
      </p:graphicFrame>
    </p:spTree>
    <p:extLst>
      <p:ext uri="{BB962C8B-B14F-4D97-AF65-F5344CB8AC3E}">
        <p14:creationId xmlns:p14="http://schemas.microsoft.com/office/powerpoint/2010/main" val="3026209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06EDF3E-5A84-6D42-D62D-24CD259A3C3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888B80C9-5580-E52B-615B-72785A44BBD8}"/>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50B781B4-1FFF-2484-BE5E-216188AE72B1}"/>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4D4D498B-37C8-9F90-EB3A-48C95EEDC765}"/>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02</a:t>
            </a:r>
          </a:p>
        </p:txBody>
      </p:sp>
      <p:sp>
        <p:nvSpPr>
          <p:cNvPr id="9" name="TextBox 8">
            <a:extLst>
              <a:ext uri="{FF2B5EF4-FFF2-40B4-BE49-F238E27FC236}">
                <a16:creationId xmlns:a16="http://schemas.microsoft.com/office/drawing/2014/main" id="{29FE390F-711B-57C4-BC2B-8434D8FDD078}"/>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 (Non-tech)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02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graphicFrame>
        <p:nvGraphicFramePr>
          <p:cNvPr id="5" name="Table 4">
            <a:extLst>
              <a:ext uri="{FF2B5EF4-FFF2-40B4-BE49-F238E27FC236}">
                <a16:creationId xmlns:a16="http://schemas.microsoft.com/office/drawing/2014/main" id="{30EE4B3A-A77B-EF92-29D4-DCC855347B68}"/>
              </a:ext>
            </a:extLst>
          </p:cNvPr>
          <p:cNvGraphicFramePr>
            <a:graphicFrameLocks noGrp="1"/>
          </p:cNvGraphicFramePr>
          <p:nvPr>
            <p:extLst>
              <p:ext uri="{D42A27DB-BD31-4B8C-83A1-F6EECF244321}">
                <p14:modId xmlns:p14="http://schemas.microsoft.com/office/powerpoint/2010/main" val="794992654"/>
              </p:ext>
            </p:extLst>
          </p:nvPr>
        </p:nvGraphicFramePr>
        <p:xfrm>
          <a:off x="152399" y="1570679"/>
          <a:ext cx="11688717" cy="4874103"/>
        </p:xfrm>
        <a:graphic>
          <a:graphicData uri="http://schemas.openxmlformats.org/drawingml/2006/table">
            <a:tbl>
              <a:tblPr/>
              <a:tblGrid>
                <a:gridCol w="381001">
                  <a:extLst>
                    <a:ext uri="{9D8B030D-6E8A-4147-A177-3AD203B41FA5}">
                      <a16:colId xmlns:a16="http://schemas.microsoft.com/office/drawing/2014/main" val="3316182388"/>
                    </a:ext>
                  </a:extLst>
                </a:gridCol>
                <a:gridCol w="685800">
                  <a:extLst>
                    <a:ext uri="{9D8B030D-6E8A-4147-A177-3AD203B41FA5}">
                      <a16:colId xmlns:a16="http://schemas.microsoft.com/office/drawing/2014/main" val="4104333813"/>
                    </a:ext>
                  </a:extLst>
                </a:gridCol>
                <a:gridCol w="304800">
                  <a:extLst>
                    <a:ext uri="{9D8B030D-6E8A-4147-A177-3AD203B41FA5}">
                      <a16:colId xmlns:a16="http://schemas.microsoft.com/office/drawing/2014/main" val="2544045720"/>
                    </a:ext>
                  </a:extLst>
                </a:gridCol>
                <a:gridCol w="533400">
                  <a:extLst>
                    <a:ext uri="{9D8B030D-6E8A-4147-A177-3AD203B41FA5}">
                      <a16:colId xmlns:a16="http://schemas.microsoft.com/office/drawing/2014/main" val="3951547359"/>
                    </a:ext>
                  </a:extLst>
                </a:gridCol>
                <a:gridCol w="457200">
                  <a:extLst>
                    <a:ext uri="{9D8B030D-6E8A-4147-A177-3AD203B41FA5}">
                      <a16:colId xmlns:a16="http://schemas.microsoft.com/office/drawing/2014/main" val="379936116"/>
                    </a:ext>
                  </a:extLst>
                </a:gridCol>
                <a:gridCol w="533400">
                  <a:extLst>
                    <a:ext uri="{9D8B030D-6E8A-4147-A177-3AD203B41FA5}">
                      <a16:colId xmlns:a16="http://schemas.microsoft.com/office/drawing/2014/main" val="905265164"/>
                    </a:ext>
                  </a:extLst>
                </a:gridCol>
                <a:gridCol w="1143000">
                  <a:extLst>
                    <a:ext uri="{9D8B030D-6E8A-4147-A177-3AD203B41FA5}">
                      <a16:colId xmlns:a16="http://schemas.microsoft.com/office/drawing/2014/main" val="1766184023"/>
                    </a:ext>
                  </a:extLst>
                </a:gridCol>
                <a:gridCol w="2743200">
                  <a:extLst>
                    <a:ext uri="{9D8B030D-6E8A-4147-A177-3AD203B41FA5}">
                      <a16:colId xmlns:a16="http://schemas.microsoft.com/office/drawing/2014/main" val="3411328682"/>
                    </a:ext>
                  </a:extLst>
                </a:gridCol>
                <a:gridCol w="685800">
                  <a:extLst>
                    <a:ext uri="{9D8B030D-6E8A-4147-A177-3AD203B41FA5}">
                      <a16:colId xmlns:a16="http://schemas.microsoft.com/office/drawing/2014/main" val="3312070597"/>
                    </a:ext>
                  </a:extLst>
                </a:gridCol>
                <a:gridCol w="4221116">
                  <a:extLst>
                    <a:ext uri="{9D8B030D-6E8A-4147-A177-3AD203B41FA5}">
                      <a16:colId xmlns:a16="http://schemas.microsoft.com/office/drawing/2014/main" val="1807191619"/>
                    </a:ext>
                  </a:extLst>
                </a:gridCol>
              </a:tblGrid>
              <a:tr h="29521">
                <a:tc>
                  <a:txBody>
                    <a:bodyPr/>
                    <a:lstStyle/>
                    <a:p>
                      <a:pPr algn="ctr" fontAlgn="t"/>
                      <a:r>
                        <a:rPr lang="en-US" sz="1100" b="0" i="0" u="none" strike="noStrike">
                          <a:solidFill>
                            <a:srgbClr val="000000"/>
                          </a:solidFill>
                          <a:effectLst/>
                          <a:latin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ATA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809290284"/>
                  </a:ext>
                </a:extLst>
              </a:tr>
              <a:tr h="2164507">
                <a:tc>
                  <a:txBody>
                    <a:bodyPr/>
                    <a:lstStyle/>
                    <a:p>
                      <a:pPr algn="l" fontAlgn="b"/>
                      <a:r>
                        <a:rPr lang="vi-VN" sz="1100" b="0" i="0" u="none" strike="noStrike" dirty="0">
                          <a:solidFill>
                            <a:srgbClr val="000000"/>
                          </a:solidFill>
                          <a:effectLst/>
                          <a:latin typeface="+mn-lt"/>
                        </a:rPr>
                        <a:t>A335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09:00 03/02/2025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VN402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SGN-SGN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mn-lt"/>
                        </a:rPr>
                        <a:t>DURING </a:t>
                      </a:r>
                      <a:r>
                        <a:rPr lang="en-US" sz="1100" b="0" i="0" u="none" strike="noStrike" dirty="0">
                          <a:solidFill>
                            <a:srgbClr val="000000"/>
                          </a:solidFill>
                          <a:effectLst/>
                          <a:latin typeface="+mn-lt"/>
                        </a:rPr>
                        <a:t>PRE-FLT CHECK </a:t>
                      </a:r>
                      <a:r>
                        <a:rPr lang="en-US" sz="1100" b="0" i="0" u="none" strike="noStrike">
                          <a:solidFill>
                            <a:srgbClr val="000000"/>
                          </a:solidFill>
                          <a:effectLst/>
                          <a:latin typeface="+mn-lt"/>
                        </a:rPr>
                        <a:t>AND </a:t>
                      </a:r>
                      <a:r>
                        <a:rPr lang="en-US" sz="1100" b="0" i="0" u="none" strike="noStrike" smtClean="0">
                          <a:solidFill>
                            <a:srgbClr val="000000"/>
                          </a:solidFill>
                          <a:effectLst/>
                          <a:latin typeface="+mn-lt"/>
                        </a:rPr>
                        <a:t>RE-FUEL </a:t>
                      </a:r>
                      <a:r>
                        <a:rPr lang="en-US" sz="1100" b="0" i="0" u="none" strike="noStrike" dirty="0">
                          <a:solidFill>
                            <a:srgbClr val="000000"/>
                          </a:solidFill>
                          <a:effectLst/>
                          <a:latin typeface="+mn-lt"/>
                        </a:rPr>
                        <a:t>ON LH WING . FUEL IS SPILL </a:t>
                      </a:r>
                      <a:r>
                        <a:rPr lang="en-US" sz="1100" b="0" i="0" u="none" strike="noStrike">
                          <a:solidFill>
                            <a:srgbClr val="000000"/>
                          </a:solidFill>
                          <a:effectLst/>
                          <a:latin typeface="+mn-lt"/>
                        </a:rPr>
                        <a:t>OVERFLOW </a:t>
                      </a:r>
                      <a:r>
                        <a:rPr lang="en-US" sz="1100" b="0" i="0" u="none" strike="noStrike" smtClean="0">
                          <a:solidFill>
                            <a:srgbClr val="000000"/>
                          </a:solidFill>
                          <a:effectLst/>
                          <a:latin typeface="+mn-lt"/>
                        </a:rPr>
                        <a:t>PORT</a:t>
                      </a:r>
                      <a:endParaRPr lang="en-US" sz="1100" b="0" i="0" u="none" strike="noStrike" dirty="0">
                        <a:solidFill>
                          <a:srgbClr val="000000"/>
                        </a:solidFill>
                        <a:effectLst/>
                        <a:latin typeface="+mn-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smtClean="0">
                          <a:solidFill>
                            <a:srgbClr val="000000"/>
                          </a:solidFill>
                          <a:effectLst/>
                          <a:latin typeface="+mn-lt"/>
                        </a:rPr>
                        <a:t>FINAL </a:t>
                      </a:r>
                      <a:r>
                        <a:rPr lang="vi-VN" sz="1100" b="0" i="0" u="none" strike="noStrike" dirty="0">
                          <a:solidFill>
                            <a:srgbClr val="000000"/>
                          </a:solidFill>
                          <a:effectLst/>
                          <a:latin typeface="+mn-lt"/>
                        </a:rPr>
                        <a:t>ACTION:  C/O TEST AND  MANUAL TRANSFER FUEL FROM  WING TANK TO ACT,  CHECK OK </a:t>
                      </a:r>
                      <a:r>
                        <a:rPr lang="vi-VN" sz="1100" b="0" i="0" u="none" strike="noStrike">
                          <a:solidFill>
                            <a:srgbClr val="000000"/>
                          </a:solidFill>
                          <a:effectLst/>
                          <a:latin typeface="+mn-lt"/>
                        </a:rPr>
                        <a:t>A/C </a:t>
                      </a:r>
                      <a:r>
                        <a:rPr lang="vi-VN" sz="1100" b="0" i="0" u="none" strike="noStrike" smtClean="0">
                          <a:solidFill>
                            <a:srgbClr val="000000"/>
                          </a:solidFill>
                          <a:effectLst/>
                          <a:latin typeface="+mn-lt"/>
                        </a:rPr>
                        <a:t>SERVICEABLE</a:t>
                      </a:r>
                      <a:r>
                        <a:rPr lang="en-US" sz="1100" b="0" i="0" u="none" strike="noStrike" smtClean="0">
                          <a:solidFill>
                            <a:srgbClr val="000000"/>
                          </a:solidFill>
                          <a:effectLst/>
                          <a:latin typeface="+mn-lt"/>
                        </a:rPr>
                        <a:t>.</a:t>
                      </a:r>
                      <a:endParaRPr lang="vi-VN" sz="1100" b="0" i="0" u="none" strike="noStrike" dirty="0">
                        <a:solidFill>
                          <a:srgbClr val="000000"/>
                        </a:solidFill>
                        <a:effectLst/>
                        <a:latin typeface="+mn-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28-00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Hỏng ACT Fuel-Transfer-Valve Actuator (6QH) gây ACT fuel transfer valve (165QM) luôn mở (ACT fuel transfer valve (165QM) luôn đóng, valve chỉ mở khi transfer fuel từ thùng ACT tới thùng Center).</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Với trường hợp hỏng hóc trên A335, khi auto refuel, fuel cấp vào ACT tank từ ACT refuel valve 4QU bị chia làm hai phần: một phần cấp vào ACT, phần còn lại chảy sang Center tank qua ACT fuel transfer valve (165QM) do ACT fuel transfer valve (165QM) luôn mở. Khi thùng center tank full, máy tính FLSCU điều khiển ngắt quá trình automatic refuel do vậy không đủ fuel cấp vào ACT tank. Để cấp đủ fuel vào thùng ACT, NVKT chuyển nạp fuel bằng chế độ manual (nhấn nút plug trên valve 4QU), tuy nhiên lúc này một phần fuel cấp từ valve 4QU vẫn tiếp tục đi vào center tank gây tràn sang L/H vent surge tank, fuel tiếp tục ra ngoài qua NACA VENT INTAKE gây leak.</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Khi hỏng ACT Fuel-Transfer-Valve Actuator (6QH) gây ACT fuel transfer valve (165QM) luôn mở, fuel được cấp liên tục vào thùng ACT, cần thực hiện nạp manual fuel vào thùng ACT, khi lượng dầu trong thùng ACT đầy sẽ tiếp tục nạp Auto vào các thùng cánh nhằm đủ lượng dầu yêu cầu và tránh overflow gây leak.</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Khối ACT Fuel-Transfer-Valve Actuator tháo xuống từ A335 (S/N: 02116312) được sử dụng từ năm 2011, lắp lên tàu A335 từ 19/05/2019. Khối thiết bị có độ tin cậy cao, được sử dụng ở nhiều vị trí trên tàu bay. Hiện tại không có khuyến cáo từ NSX về độ tin cậy thiết bị. Đánh giá hỏng hóc đơn lẻ</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Đề xuất:</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Phổ biến kinh nghiệm cho TSV và NVKT xử lý khi có hiện tượng tương tự nhằm tránh xảy ra hiện tượng tràn dầu.</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696778"/>
                  </a:ext>
                </a:extLst>
              </a:tr>
            </a:tbl>
          </a:graphicData>
        </a:graphic>
      </p:graphicFrame>
    </p:spTree>
    <p:extLst>
      <p:ext uri="{BB962C8B-B14F-4D97-AF65-F5344CB8AC3E}">
        <p14:creationId xmlns:p14="http://schemas.microsoft.com/office/powerpoint/2010/main" val="756154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Slide Number Placeholder 3"/>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C4F79AF3-24C5-47EC-8B09-710ADAA97244}" type="slidenum">
              <a:rPr lang="en-US" altLang="en-US" sz="1200" smtClean="0">
                <a:solidFill>
                  <a:srgbClr val="D2A43B"/>
                </a:solidFill>
                <a:latin typeface="Montserrat"/>
              </a:rPr>
              <a:pPr fontAlgn="base">
                <a:lnSpc>
                  <a:spcPct val="100000"/>
                </a:lnSpc>
                <a:spcBef>
                  <a:spcPct val="0"/>
                </a:spcBef>
                <a:spcAft>
                  <a:spcPct val="0"/>
                </a:spcAft>
                <a:buFontTx/>
                <a:buNone/>
              </a:pPr>
              <a:t>9</a:t>
            </a:fld>
            <a:endParaRPr lang="en-US" altLang="en-US" sz="1200">
              <a:solidFill>
                <a:srgbClr val="D2A43B"/>
              </a:solidFill>
              <a:latin typeface="Montserrat"/>
            </a:endParaRPr>
          </a:p>
        </p:txBody>
      </p:sp>
      <p:sp>
        <p:nvSpPr>
          <p:cNvPr id="1048638" name="Title 4"/>
          <p:cNvSpPr>
            <a:spLocks noGrp="1"/>
          </p:cNvSpPr>
          <p:nvPr>
            <p:ph type="title"/>
          </p:nvPr>
        </p:nvSpPr>
        <p:spPr>
          <a:xfrm>
            <a:off x="1047482" y="228600"/>
            <a:ext cx="8686799" cy="609600"/>
          </a:xfrm>
        </p:spPr>
        <p:txBody>
          <a:bodyPr rtlCol="0">
            <a:normAutofit/>
          </a:bodyPr>
          <a:lstStyle/>
          <a:p>
            <a:pPr eaLnBrk="1" fontAlgn="auto" hangingPunct="1">
              <a:spcAft>
                <a:spcPts val="0"/>
              </a:spcAft>
              <a:defRPr/>
            </a:pPr>
            <a:r>
              <a:rPr lang="en-US" sz="2400" dirty="0">
                <a:ln w="0"/>
                <a:solidFill>
                  <a:schemeClr val="accent4"/>
                </a:solidFill>
                <a:latin typeface="Times New Roman" panose="02020603050405020304" pitchFamily="18" charset="0"/>
                <a:cs typeface="Times New Roman" panose="02020603050405020304" pitchFamily="18" charset="0"/>
              </a:rPr>
              <a:t>TÌNH TRẠNG KỸ THUẬT ĐỘI BAY A320/ A321 </a:t>
            </a:r>
            <a:endParaRPr lang="vi-VN" sz="2400" dirty="0">
              <a:ln w="0"/>
              <a:solidFill>
                <a:schemeClr val="accent4"/>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311CC99-42A4-BD10-390B-EE6B3A4DC329}"/>
              </a:ext>
            </a:extLst>
          </p:cNvPr>
          <p:cNvSpPr txBox="1"/>
          <p:nvPr/>
        </p:nvSpPr>
        <p:spPr>
          <a:xfrm>
            <a:off x="1066800" y="838200"/>
            <a:ext cx="10229811" cy="553998"/>
          </a:xfrm>
          <a:prstGeom prst="rect">
            <a:avLst/>
          </a:prstGeom>
          <a:noFill/>
        </p:spPr>
        <p:txBody>
          <a:bodyPr wrap="square">
            <a:spAutoFit/>
          </a:bodyPr>
          <a:lstStyle/>
          <a:p>
            <a:pPr lvl="0" algn="just">
              <a:defRPr/>
            </a:pPr>
            <a:r>
              <a:rPr lang="en-US" sz="1500" b="1" dirty="0" err="1">
                <a:latin typeface="Times New Roman" panose="02020603050405020304" pitchFamily="18" charset="0"/>
                <a:cs typeface="Times New Roman" panose="02020603050405020304" pitchFamily="18" charset="0"/>
              </a:rPr>
              <a:t>Nhận</a:t>
            </a:r>
            <a:r>
              <a:rPr lang="en-US" sz="1500" b="1" dirty="0">
                <a:latin typeface="Times New Roman" panose="02020603050405020304" pitchFamily="18" charset="0"/>
                <a:cs typeface="Times New Roman" panose="02020603050405020304" pitchFamily="18" charset="0"/>
              </a:rPr>
              <a:t> </a:t>
            </a:r>
            <a:r>
              <a:rPr lang="en-US" sz="1500" b="1" dirty="0" err="1">
                <a:latin typeface="Times New Roman" panose="02020603050405020304" pitchFamily="18" charset="0"/>
                <a:cs typeface="Times New Roman" panose="02020603050405020304" pitchFamily="18" charset="0"/>
              </a:rPr>
              <a:t>xét</a:t>
            </a:r>
            <a:r>
              <a:rPr lang="en-US" sz="1500" b="1">
                <a:latin typeface="Times New Roman" panose="02020603050405020304" pitchFamily="18" charset="0"/>
                <a:cs typeface="Times New Roman" panose="02020603050405020304" pitchFamily="18" charset="0"/>
              </a:rPr>
              <a:t>: </a:t>
            </a:r>
            <a:r>
              <a:rPr lang="vi-VN" sz="1500" smtClean="0">
                <a:latin typeface="Times New Roman" panose="02020603050405020304" pitchFamily="18" charset="0"/>
                <a:cs typeface="Times New Roman" panose="02020603050405020304" pitchFamily="18" charset="0"/>
              </a:rPr>
              <a:t>Trong </a:t>
            </a:r>
            <a:r>
              <a:rPr lang="vi-VN" sz="1500">
                <a:latin typeface="Times New Roman" panose="02020603050405020304" pitchFamily="18" charset="0"/>
                <a:cs typeface="Times New Roman" panose="02020603050405020304" pitchFamily="18" charset="0"/>
              </a:rPr>
              <a:t>tuần không phát sinh các trường hợp AOG do ky thuật, chỉ phát sinh trường hợp </a:t>
            </a:r>
            <a:r>
              <a:rPr lang="vi-VN" sz="1500" smtClean="0">
                <a:latin typeface="Times New Roman" panose="02020603050405020304" pitchFamily="18" charset="0"/>
                <a:cs typeface="Times New Roman" panose="02020603050405020304" pitchFamily="18" charset="0"/>
              </a:rPr>
              <a:t>AOG</a:t>
            </a:r>
            <a:r>
              <a:rPr lang="en-US" sz="1500" smtClean="0">
                <a:latin typeface="Times New Roman" panose="02020603050405020304" pitchFamily="18" charset="0"/>
                <a:cs typeface="Times New Roman" panose="02020603050405020304" pitchFamily="18" charset="0"/>
              </a:rPr>
              <a:t> (non-tech)</a:t>
            </a:r>
            <a:r>
              <a:rPr lang="vi-VN" sz="1500" smtClean="0">
                <a:latin typeface="Times New Roman" panose="02020603050405020304" pitchFamily="18" charset="0"/>
                <a:cs typeface="Times New Roman" panose="02020603050405020304" pitchFamily="18" charset="0"/>
              </a:rPr>
              <a:t> </a:t>
            </a:r>
            <a:r>
              <a:rPr lang="vi-VN" sz="1500">
                <a:latin typeface="Times New Roman" panose="02020603050405020304" pitchFamily="18" charset="0"/>
                <a:cs typeface="Times New Roman" panose="02020603050405020304" pitchFamily="18" charset="0"/>
              </a:rPr>
              <a:t>tàu A601 phát hiện có vết thủng tại panel bên trong của inlet cowl Eng1 do FOD gây ra và đã thay inler </a:t>
            </a:r>
            <a:r>
              <a:rPr lang="vi-VN" sz="1500" smtClean="0">
                <a:latin typeface="Times New Roman" panose="02020603050405020304" pitchFamily="18" charset="0"/>
                <a:cs typeface="Times New Roman" panose="02020603050405020304" pitchFamily="18" charset="0"/>
              </a:rPr>
              <a:t>cowl</a:t>
            </a:r>
            <a:r>
              <a:rPr lang="en-US" sz="1500" smtClean="0">
                <a:latin typeface="Times New Roman" panose="02020603050405020304" pitchFamily="18" charset="0"/>
                <a:cs typeface="Times New Roman" panose="02020603050405020304" pitchFamily="18" charset="0"/>
              </a:rPr>
              <a:t>.</a:t>
            </a:r>
            <a:endParaRPr lang="en-US" sz="15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0225025"/>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4C773CCA-50EF-9047-3B43-17B793B9D30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E22311FB-BEC8-026B-A2D2-6AA6A7EF2AC2}"/>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E604DA61-E459-7D42-3904-510AE3B0432E}"/>
              </a:ext>
            </a:extLst>
          </p:cNvPr>
          <p:cNvSpPr>
            <a:spLocks noGrp="1"/>
          </p:cNvSpPr>
          <p:nvPr>
            <p:ph type="title"/>
          </p:nvPr>
        </p:nvSpPr>
        <p:spPr>
          <a:xfrm>
            <a:off x="152398" y="28337"/>
            <a:ext cx="9155467" cy="551496"/>
          </a:xfrm>
        </p:spPr>
        <p:txBody>
          <a:bodyPr rtlCol="0">
            <a:noAutofit/>
          </a:bodyPr>
          <a:lstStyle/>
          <a:p>
            <a:pPr>
              <a:defRPr/>
            </a:pPr>
            <a:r>
              <a:rPr lang="en-US" dirty="0">
                <a:ln w="0"/>
                <a:solidFill>
                  <a:schemeClr val="accent4"/>
                </a:solidFill>
                <a:latin typeface="Times New Roman" panose="02020603050405020304" pitchFamily="18" charset="0"/>
                <a:cs typeface="Times New Roman" panose="02020603050405020304" pitchFamily="18" charset="0"/>
              </a:rPr>
              <a:t>TÌNH TRẠNG KỸ THUẬT ĐỘI BAY – </a:t>
            </a:r>
            <a:r>
              <a:rPr lang="vi-VN" dirty="0">
                <a:ln w="0"/>
                <a:solidFill>
                  <a:schemeClr val="accent4"/>
                </a:solidFill>
                <a:latin typeface="Times New Roman" panose="02020603050405020304" pitchFamily="18" charset="0"/>
                <a:cs typeface="Times New Roman" panose="02020603050405020304" pitchFamily="18" charset="0"/>
              </a:rPr>
              <a:t>A350</a:t>
            </a:r>
          </a:p>
        </p:txBody>
      </p:sp>
      <p:sp>
        <p:nvSpPr>
          <p:cNvPr id="4" name="TextBox 3">
            <a:extLst>
              <a:ext uri="{FF2B5EF4-FFF2-40B4-BE49-F238E27FC236}">
                <a16:creationId xmlns:a16="http://schemas.microsoft.com/office/drawing/2014/main" id="{A241D3BB-99E3-41C3-B94F-9DF60819084A}"/>
              </a:ext>
            </a:extLst>
          </p:cNvPr>
          <p:cNvSpPr txBox="1"/>
          <p:nvPr/>
        </p:nvSpPr>
        <p:spPr>
          <a:xfrm>
            <a:off x="152397" y="1236922"/>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04 </a:t>
            </a:r>
          </a:p>
        </p:txBody>
      </p:sp>
      <p:sp>
        <p:nvSpPr>
          <p:cNvPr id="8" name="TextBox 7">
            <a:extLst>
              <a:ext uri="{FF2B5EF4-FFF2-40B4-BE49-F238E27FC236}">
                <a16:creationId xmlns:a16="http://schemas.microsoft.com/office/drawing/2014/main" id="{704078EF-7094-5C98-4A5B-6721CC4526F5}"/>
              </a:ext>
            </a:extLst>
          </p:cNvPr>
          <p:cNvSpPr txBox="1"/>
          <p:nvPr/>
        </p:nvSpPr>
        <p:spPr>
          <a:xfrm>
            <a:off x="152398" y="788330"/>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		Delay: 04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graphicFrame>
        <p:nvGraphicFramePr>
          <p:cNvPr id="5" name="Table 4">
            <a:extLst>
              <a:ext uri="{FF2B5EF4-FFF2-40B4-BE49-F238E27FC236}">
                <a16:creationId xmlns:a16="http://schemas.microsoft.com/office/drawing/2014/main" id="{71C39D52-01F6-A2D5-A590-BDB2DF59F54D}"/>
              </a:ext>
            </a:extLst>
          </p:cNvPr>
          <p:cNvGraphicFramePr>
            <a:graphicFrameLocks noGrp="1"/>
          </p:cNvGraphicFramePr>
          <p:nvPr>
            <p:extLst>
              <p:ext uri="{D42A27DB-BD31-4B8C-83A1-F6EECF244321}">
                <p14:modId xmlns:p14="http://schemas.microsoft.com/office/powerpoint/2010/main" val="2081535185"/>
              </p:ext>
            </p:extLst>
          </p:nvPr>
        </p:nvGraphicFramePr>
        <p:xfrm>
          <a:off x="152397" y="1667581"/>
          <a:ext cx="11688714" cy="4889343"/>
        </p:xfrm>
        <a:graphic>
          <a:graphicData uri="http://schemas.openxmlformats.org/drawingml/2006/table">
            <a:tbl>
              <a:tblPr/>
              <a:tblGrid>
                <a:gridCol w="381003">
                  <a:extLst>
                    <a:ext uri="{9D8B030D-6E8A-4147-A177-3AD203B41FA5}">
                      <a16:colId xmlns:a16="http://schemas.microsoft.com/office/drawing/2014/main" val="1256133665"/>
                    </a:ext>
                  </a:extLst>
                </a:gridCol>
                <a:gridCol w="685800">
                  <a:extLst>
                    <a:ext uri="{9D8B030D-6E8A-4147-A177-3AD203B41FA5}">
                      <a16:colId xmlns:a16="http://schemas.microsoft.com/office/drawing/2014/main" val="4239982419"/>
                    </a:ext>
                  </a:extLst>
                </a:gridCol>
                <a:gridCol w="228600">
                  <a:extLst>
                    <a:ext uri="{9D8B030D-6E8A-4147-A177-3AD203B41FA5}">
                      <a16:colId xmlns:a16="http://schemas.microsoft.com/office/drawing/2014/main" val="1384707772"/>
                    </a:ext>
                  </a:extLst>
                </a:gridCol>
                <a:gridCol w="457200">
                  <a:extLst>
                    <a:ext uri="{9D8B030D-6E8A-4147-A177-3AD203B41FA5}">
                      <a16:colId xmlns:a16="http://schemas.microsoft.com/office/drawing/2014/main" val="2863662307"/>
                    </a:ext>
                  </a:extLst>
                </a:gridCol>
                <a:gridCol w="457200">
                  <a:extLst>
                    <a:ext uri="{9D8B030D-6E8A-4147-A177-3AD203B41FA5}">
                      <a16:colId xmlns:a16="http://schemas.microsoft.com/office/drawing/2014/main" val="1357122553"/>
                    </a:ext>
                  </a:extLst>
                </a:gridCol>
                <a:gridCol w="381000">
                  <a:extLst>
                    <a:ext uri="{9D8B030D-6E8A-4147-A177-3AD203B41FA5}">
                      <a16:colId xmlns:a16="http://schemas.microsoft.com/office/drawing/2014/main" val="2137684697"/>
                    </a:ext>
                  </a:extLst>
                </a:gridCol>
                <a:gridCol w="1828800">
                  <a:extLst>
                    <a:ext uri="{9D8B030D-6E8A-4147-A177-3AD203B41FA5}">
                      <a16:colId xmlns:a16="http://schemas.microsoft.com/office/drawing/2014/main" val="2650876194"/>
                    </a:ext>
                  </a:extLst>
                </a:gridCol>
                <a:gridCol w="4648200">
                  <a:extLst>
                    <a:ext uri="{9D8B030D-6E8A-4147-A177-3AD203B41FA5}">
                      <a16:colId xmlns:a16="http://schemas.microsoft.com/office/drawing/2014/main" val="3156420628"/>
                    </a:ext>
                  </a:extLst>
                </a:gridCol>
                <a:gridCol w="304800">
                  <a:extLst>
                    <a:ext uri="{9D8B030D-6E8A-4147-A177-3AD203B41FA5}">
                      <a16:colId xmlns:a16="http://schemas.microsoft.com/office/drawing/2014/main" val="229850816"/>
                    </a:ext>
                  </a:extLst>
                </a:gridCol>
                <a:gridCol w="2316111">
                  <a:extLst>
                    <a:ext uri="{9D8B030D-6E8A-4147-A177-3AD203B41FA5}">
                      <a16:colId xmlns:a16="http://schemas.microsoft.com/office/drawing/2014/main" val="3980041142"/>
                    </a:ext>
                  </a:extLst>
                </a:gridCol>
              </a:tblGrid>
              <a:tr h="85019">
                <a:tc>
                  <a:txBody>
                    <a:bodyPr/>
                    <a:lstStyle/>
                    <a:p>
                      <a:pPr algn="ctr" fontAlgn="t"/>
                      <a:r>
                        <a:rPr lang="en-US" sz="1000" b="0" i="0" u="none" strike="noStrike">
                          <a:solidFill>
                            <a:srgbClr val="000000"/>
                          </a:solidFill>
                          <a:effectLst/>
                          <a:latin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000" b="0" i="0" u="none" strike="noStrike">
                          <a:solidFill>
                            <a:srgbClr val="000000"/>
                          </a:solidFill>
                          <a:effectLst/>
                          <a:latin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000" b="0" i="0" u="none" strike="noStrike">
                          <a:solidFill>
                            <a:srgbClr val="000000"/>
                          </a:solidFill>
                          <a:effectLst/>
                          <a:latin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000" b="0" i="0" u="none" strike="noStrike">
                          <a:solidFill>
                            <a:srgbClr val="000000"/>
                          </a:solidFill>
                          <a:effectLst/>
                          <a:latin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000" b="0" i="0" u="none" strike="noStrike">
                          <a:solidFill>
                            <a:srgbClr val="000000"/>
                          </a:solidFill>
                          <a:effectLst/>
                          <a:latin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000" b="0" i="0" u="none" strike="noStrike">
                          <a:solidFill>
                            <a:srgbClr val="000000"/>
                          </a:solidFill>
                          <a:effectLst/>
                          <a:latin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000" b="0" i="0" u="none" strike="noStrike">
                          <a:solidFill>
                            <a:srgbClr val="000000"/>
                          </a:solidFill>
                          <a:effectLst/>
                          <a:latin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000" b="0" i="0" u="none" strike="noStrike">
                          <a:solidFill>
                            <a:srgbClr val="000000"/>
                          </a:solidFill>
                          <a:effectLst/>
                          <a:latin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000" b="0" i="0" u="none" strike="noStrike">
                          <a:solidFill>
                            <a:srgbClr val="000000"/>
                          </a:solidFill>
                          <a:effectLst/>
                          <a:latin typeface="Times New Roman" panose="02020603050405020304" pitchFamily="18" charset="0"/>
                        </a:rPr>
                        <a:t>ATA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000" b="0" i="0" u="none" strike="noStrike" dirty="0">
                          <a:solidFill>
                            <a:srgbClr val="000000"/>
                          </a:solidFill>
                          <a:effectLst/>
                          <a:latin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378657601"/>
                  </a:ext>
                </a:extLst>
              </a:tr>
              <a:tr h="338045">
                <a:tc>
                  <a:txBody>
                    <a:bodyPr/>
                    <a:lstStyle/>
                    <a:p>
                      <a:pPr algn="l" fontAlgn="b"/>
                      <a:r>
                        <a:rPr lang="vi-VN" sz="1000" b="0" i="0" u="none" strike="noStrike" dirty="0">
                          <a:solidFill>
                            <a:srgbClr val="000000"/>
                          </a:solidFill>
                          <a:effectLst/>
                          <a:latin typeface="+mn-lt"/>
                        </a:rPr>
                        <a:t>A893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000" b="0" i="0" u="none" strike="noStrike" dirty="0">
                          <a:solidFill>
                            <a:srgbClr val="000000"/>
                          </a:solidFill>
                          <a:effectLst/>
                          <a:latin typeface="+mn-lt"/>
                        </a:rPr>
                        <a:t>10:30 07/02/2025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000" b="0" i="0" u="none" strike="noStrike">
                          <a:solidFill>
                            <a:srgbClr val="000000"/>
                          </a:solidFill>
                          <a:effectLst/>
                          <a:latin typeface="+mn-lt"/>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000" b="0" i="0" u="none" strike="noStrike">
                          <a:solidFill>
                            <a:srgbClr val="000000"/>
                          </a:solidFill>
                          <a:effectLst/>
                          <a:latin typeface="+mn-lt"/>
                        </a:rPr>
                        <a:t>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000" b="0" i="0" u="none" strike="noStrike" dirty="0">
                          <a:solidFill>
                            <a:srgbClr val="000000"/>
                          </a:solidFill>
                          <a:effectLst/>
                          <a:latin typeface="+mn-lt"/>
                        </a:rPr>
                        <a:t>VN210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000" b="0" i="0" u="none" strike="noStrike" dirty="0">
                          <a:solidFill>
                            <a:srgbClr val="000000"/>
                          </a:solidFill>
                          <a:effectLst/>
                          <a:latin typeface="+mn-lt"/>
                        </a:rPr>
                        <a:t>SGN-HAN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000" b="0" i="0" u="none" strike="noStrike" smtClean="0">
                          <a:solidFill>
                            <a:srgbClr val="000000"/>
                          </a:solidFill>
                          <a:effectLst/>
                          <a:latin typeface="+mn-lt"/>
                        </a:rPr>
                        <a:t>DURING </a:t>
                      </a:r>
                      <a:r>
                        <a:rPr lang="en-US" sz="1000" b="0" i="0" u="none" strike="noStrike" dirty="0">
                          <a:solidFill>
                            <a:srgbClr val="000000"/>
                          </a:solidFill>
                          <a:effectLst/>
                          <a:latin typeface="+mn-lt"/>
                        </a:rPr>
                        <a:t>TRANSIT CHECK AND START ENGS : ENG#1 START FAULT. </a:t>
                      </a:r>
                      <a:r>
                        <a:rPr lang="en-US" sz="1000" b="0" i="0" u="none" strike="noStrike">
                          <a:solidFill>
                            <a:srgbClr val="000000"/>
                          </a:solidFill>
                          <a:effectLst/>
                          <a:latin typeface="+mn-lt"/>
                        </a:rPr>
                        <a:t>NO </a:t>
                      </a:r>
                      <a:r>
                        <a:rPr lang="en-US" sz="1000" b="0" i="0" u="none" strike="noStrike" smtClean="0">
                          <a:solidFill>
                            <a:srgbClr val="000000"/>
                          </a:solidFill>
                          <a:effectLst/>
                          <a:latin typeface="+mn-lt"/>
                        </a:rPr>
                        <a:t>GTB.</a:t>
                      </a:r>
                      <a:endParaRPr lang="en-US" sz="1000" b="0" i="0" u="none" strike="noStrike" dirty="0">
                        <a:solidFill>
                          <a:srgbClr val="000000"/>
                        </a:solidFill>
                        <a:effectLst/>
                        <a:latin typeface="+mn-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000" b="0" i="0" u="none" strike="noStrike" smtClean="0">
                          <a:solidFill>
                            <a:srgbClr val="000000"/>
                          </a:solidFill>
                          <a:effectLst/>
                          <a:latin typeface="+mn-lt"/>
                        </a:rPr>
                        <a:t>FINAL </a:t>
                      </a:r>
                      <a:r>
                        <a:rPr lang="vi-VN" sz="1000" b="0" i="0" u="none" strike="noStrike" dirty="0">
                          <a:solidFill>
                            <a:srgbClr val="000000"/>
                          </a:solidFill>
                          <a:effectLst/>
                          <a:latin typeface="+mn-lt"/>
                        </a:rPr>
                        <a:t>ACTION: </a:t>
                      </a:r>
                      <a:br>
                        <a:rPr lang="vi-VN" sz="1000" b="0" i="0" u="none" strike="noStrike" dirty="0">
                          <a:solidFill>
                            <a:srgbClr val="000000"/>
                          </a:solidFill>
                          <a:effectLst/>
                          <a:latin typeface="+mn-lt"/>
                        </a:rPr>
                      </a:br>
                      <a:r>
                        <a:rPr lang="vi-VN" sz="1000" b="0" i="0" u="none" strike="noStrike" dirty="0">
                          <a:solidFill>
                            <a:srgbClr val="000000"/>
                          </a:solidFill>
                          <a:effectLst/>
                          <a:latin typeface="+mn-lt"/>
                        </a:rPr>
                        <a:t>C/O RPLD NEW EEC , ERU AND OPS TEST , CHECK SATIS, </a:t>
                      </a:r>
                      <a:r>
                        <a:rPr lang="vi-VN" sz="1000" b="0" i="0" u="none" strike="noStrike">
                          <a:solidFill>
                            <a:srgbClr val="000000"/>
                          </a:solidFill>
                          <a:effectLst/>
                          <a:latin typeface="+mn-lt"/>
                        </a:rPr>
                        <a:t>A/C </a:t>
                      </a:r>
                      <a:r>
                        <a:rPr lang="vi-VN" sz="1000" b="0" i="0" u="none" strike="noStrike" smtClean="0">
                          <a:solidFill>
                            <a:srgbClr val="000000"/>
                          </a:solidFill>
                          <a:effectLst/>
                          <a:latin typeface="+mn-lt"/>
                        </a:rPr>
                        <a:t>SERVICEABLE</a:t>
                      </a:r>
                      <a:r>
                        <a:rPr lang="en-US" sz="1000" b="0" i="0" u="none" strike="noStrike" smtClean="0">
                          <a:solidFill>
                            <a:srgbClr val="000000"/>
                          </a:solidFill>
                          <a:effectLst/>
                          <a:latin typeface="+mn-lt"/>
                        </a:rPr>
                        <a:t>.</a:t>
                      </a:r>
                      <a:endParaRPr lang="vi-VN" sz="1000" b="0" i="0" u="none" strike="noStrike" dirty="0">
                        <a:solidFill>
                          <a:srgbClr val="000000"/>
                        </a:solidFill>
                        <a:effectLst/>
                        <a:latin typeface="+mn-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l" fontAlgn="b"/>
                      <a:r>
                        <a:rPr lang="vi-VN" sz="1000" b="0" i="0" u="none" strike="noStrike" dirty="0">
                          <a:solidFill>
                            <a:srgbClr val="000000"/>
                          </a:solidFill>
                          <a:effectLst/>
                          <a:latin typeface="+mn-lt"/>
                        </a:rPr>
                        <a:t>73-21</a:t>
                      </a:r>
                    </a:p>
                    <a:p>
                      <a:pPr algn="l" fontAlgn="b"/>
                      <a:r>
                        <a:rPr lang="vi-VN" sz="1000" b="0" i="0" u="none" strike="noStrike" dirty="0">
                          <a:solidFill>
                            <a:srgbClr val="000000"/>
                          </a:solidFill>
                          <a:effectLst/>
                          <a:latin typeface="+mn-lt"/>
                        </a:rPr>
                        <a:t> </a:t>
                      </a:r>
                    </a:p>
                    <a:p>
                      <a:pPr algn="l" fontAlgn="b"/>
                      <a:r>
                        <a:rPr lang="vi-VN" sz="1000" b="0" i="0" u="none" strike="noStrike" dirty="0">
                          <a:solidFill>
                            <a:srgbClr val="000000"/>
                          </a:solidFill>
                          <a:effectLst/>
                          <a:latin typeface="+mn-lt"/>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l" fontAlgn="b"/>
                      <a:r>
                        <a:rPr lang="vi-VN" sz="1000" b="0" i="0" u="none" strike="noStrike" dirty="0">
                          <a:solidFill>
                            <a:srgbClr val="000000"/>
                          </a:solidFill>
                          <a:effectLst/>
                          <a:latin typeface="+mn-lt"/>
                        </a:rPr>
                        <a:t>Hệ thống VSV bao gồm EEC cấp tín hiệu cho Hydro-Mechanical Unit (HMU) dẫn servo fuel từ Fuel Pump tới hai Actuator để xoay các VSV. </a:t>
                      </a:r>
                      <a:br>
                        <a:rPr lang="vi-VN" sz="1000" b="0" i="0" u="none" strike="noStrike" dirty="0">
                          <a:solidFill>
                            <a:srgbClr val="000000"/>
                          </a:solidFill>
                          <a:effectLst/>
                          <a:latin typeface="+mn-lt"/>
                        </a:rPr>
                      </a:br>
                      <a:r>
                        <a:rPr lang="vi-VN" sz="1000" b="0" i="0" u="none" strike="noStrike" dirty="0">
                          <a:solidFill>
                            <a:srgbClr val="000000"/>
                          </a:solidFill>
                          <a:effectLst/>
                          <a:latin typeface="+mn-lt"/>
                        </a:rPr>
                        <a:t/>
                      </a:r>
                      <a:br>
                        <a:rPr lang="vi-VN" sz="1000" b="0" i="0" u="none" strike="noStrike" dirty="0">
                          <a:solidFill>
                            <a:srgbClr val="000000"/>
                          </a:solidFill>
                          <a:effectLst/>
                          <a:latin typeface="+mn-lt"/>
                        </a:rPr>
                      </a:br>
                      <a:r>
                        <a:rPr lang="vi-VN" sz="1000" b="0" i="0" u="none" strike="noStrike" dirty="0">
                          <a:solidFill>
                            <a:srgbClr val="000000"/>
                          </a:solidFill>
                          <a:effectLst/>
                          <a:latin typeface="+mn-lt"/>
                        </a:rPr>
                        <a:t>TSM hướng dẫn T/S từ ngọn tới gốc, hiện động cơ đã được bôi trơn VSV, thay cả hai Actuator và kiểm tra đường ống fuel không phát hiện leak. Hỏng hóc vẫn xuất hiện lại do vậy bước tiếp theo là thực hiện thay các khối máy liên quan đến điều khiển VSV bao gồm EEC, HMU và Fuel Pump. </a:t>
                      </a:r>
                      <a:br>
                        <a:rPr lang="vi-VN" sz="1000" b="0" i="0" u="none" strike="noStrike" dirty="0">
                          <a:solidFill>
                            <a:srgbClr val="000000"/>
                          </a:solidFill>
                          <a:effectLst/>
                          <a:latin typeface="+mn-lt"/>
                        </a:rPr>
                      </a:br>
                      <a:r>
                        <a:rPr lang="vi-VN" sz="1000" b="0" i="0" u="none" strike="noStrike" dirty="0">
                          <a:solidFill>
                            <a:srgbClr val="000000"/>
                          </a:solidFill>
                          <a:effectLst/>
                          <a:latin typeface="+mn-lt"/>
                        </a:rPr>
                        <a:t>Với việc xử lý các nguyên nhân liên quan đến lỗi cơ khí nhưng không khắc phục được vấn đề nên nghi ngờ do lỗi phần mềm, cụ thể là EEC. Do động cơ spare mới sản xuất được lắp EEC có hardware không tương thích, khi lắp động cơ này lên A893 thì đã phải thay EEC bằng khối spare của VNA (used). Khối spare này được tháo năm 2024 do lỗi software (ENG MINOR FAULT), đã đi shop về. Mặc dù chưa có liên hệ giữa bệnh ENG MINOR FAULT và bệnh ENG CTL SYS FAULT hiện tại nhưng không loại trừ khả năng liên quan đến lỗi phần mềm. </a:t>
                      </a:r>
                      <a:br>
                        <a:rPr lang="vi-VN" sz="1000" b="0" i="0" u="none" strike="noStrike" dirty="0">
                          <a:solidFill>
                            <a:srgbClr val="000000"/>
                          </a:solidFill>
                          <a:effectLst/>
                          <a:latin typeface="+mn-lt"/>
                        </a:rPr>
                      </a:br>
                      <a:r>
                        <a:rPr lang="vi-VN" sz="1000" b="0" i="0" u="none" strike="noStrike" dirty="0">
                          <a:solidFill>
                            <a:srgbClr val="000000"/>
                          </a:solidFill>
                          <a:effectLst/>
                          <a:latin typeface="+mn-lt"/>
                        </a:rPr>
                        <a:t/>
                      </a:r>
                      <a:br>
                        <a:rPr lang="vi-VN" sz="1000" b="0" i="0" u="none" strike="noStrike" dirty="0">
                          <a:solidFill>
                            <a:srgbClr val="000000"/>
                          </a:solidFill>
                          <a:effectLst/>
                          <a:latin typeface="+mn-lt"/>
                        </a:rPr>
                      </a:br>
                      <a:r>
                        <a:rPr lang="vi-VN" sz="1000" b="0" i="0" u="none" strike="noStrike" dirty="0">
                          <a:solidFill>
                            <a:srgbClr val="000000"/>
                          </a:solidFill>
                          <a:effectLst/>
                          <a:latin typeface="+mn-lt"/>
                        </a:rPr>
                        <a:t>Hiện động cơ đã được thay EEC và HMU, và thực hiện bay thêm 2 chuyến nhưng chưa có cảnh báo lại, cần tiếp tục theo dõi.</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7654174"/>
                  </a:ext>
                </a:extLst>
              </a:tr>
              <a:tr h="338045">
                <a:tc>
                  <a:txBody>
                    <a:bodyPr/>
                    <a:lstStyle/>
                    <a:p>
                      <a:pPr algn="l" fontAlgn="b"/>
                      <a:r>
                        <a:rPr lang="vi-VN" sz="1000" b="0" i="0" u="none" strike="noStrike">
                          <a:solidFill>
                            <a:srgbClr val="000000"/>
                          </a:solidFill>
                          <a:effectLst/>
                          <a:latin typeface="+mn-lt"/>
                        </a:rPr>
                        <a:t>A893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000" b="0" i="0" u="none" strike="noStrike">
                          <a:solidFill>
                            <a:srgbClr val="000000"/>
                          </a:solidFill>
                          <a:effectLst/>
                          <a:latin typeface="+mn-lt"/>
                        </a:rPr>
                        <a:t>04:30 07/02/2025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000" b="0" i="0" u="none" strike="noStrike">
                          <a:solidFill>
                            <a:srgbClr val="000000"/>
                          </a:solidFill>
                          <a:effectLst/>
                          <a:latin typeface="+mn-lt"/>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000" b="0" i="0" u="none" strike="noStrike">
                          <a:solidFill>
                            <a:srgbClr val="000000"/>
                          </a:solidFill>
                          <a:effectLst/>
                          <a:latin typeface="+mn-lt"/>
                        </a:rPr>
                        <a:t>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000" b="0" i="0" u="none" strike="noStrike">
                          <a:solidFill>
                            <a:srgbClr val="000000"/>
                          </a:solidFill>
                          <a:effectLst/>
                          <a:latin typeface="+mn-lt"/>
                        </a:rPr>
                        <a:t>VN110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000" b="0" i="0" u="none" strike="noStrike">
                          <a:solidFill>
                            <a:srgbClr val="000000"/>
                          </a:solidFill>
                          <a:effectLst/>
                          <a:latin typeface="+mn-lt"/>
                        </a:rPr>
                        <a:t>SGN-HAN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000" b="0" i="0" u="none" strike="noStrike">
                          <a:solidFill>
                            <a:srgbClr val="000000"/>
                          </a:solidFill>
                          <a:effectLst/>
                          <a:latin typeface="+mn-lt"/>
                        </a:rPr>
                        <a:t>DURING ENG START DM SHOW "ENG 1 CTL SYSTEM FAULT"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000" b="0" i="0" u="none" strike="noStrike" smtClean="0">
                          <a:solidFill>
                            <a:srgbClr val="000000"/>
                          </a:solidFill>
                          <a:effectLst/>
                          <a:latin typeface="+mn-lt"/>
                        </a:rPr>
                        <a:t>RESTART </a:t>
                      </a:r>
                      <a:r>
                        <a:rPr lang="en-US" sz="1000" b="0" i="0" u="none" strike="noStrike" dirty="0">
                          <a:solidFill>
                            <a:srgbClr val="000000"/>
                          </a:solidFill>
                          <a:effectLst/>
                          <a:latin typeface="+mn-lt"/>
                        </a:rPr>
                        <a:t>ENG 3 TIME SATIS, DM GONE. </a:t>
                      </a:r>
                      <a:r>
                        <a:rPr lang="en-US" sz="1000" b="0" i="0" u="none" strike="noStrike">
                          <a:solidFill>
                            <a:srgbClr val="000000"/>
                          </a:solidFill>
                          <a:effectLst/>
                          <a:latin typeface="+mn-lt"/>
                        </a:rPr>
                        <a:t>A/C </a:t>
                      </a:r>
                      <a:r>
                        <a:rPr lang="en-US" sz="1000" b="0" i="0" u="none" strike="noStrike" smtClean="0">
                          <a:solidFill>
                            <a:srgbClr val="000000"/>
                          </a:solidFill>
                          <a:effectLst/>
                          <a:latin typeface="+mn-lt"/>
                        </a:rPr>
                        <a:t>SERVICEABLE.</a:t>
                      </a:r>
                      <a:endParaRPr lang="en-US" sz="1000" b="0" i="0" u="none" strike="noStrike" dirty="0">
                        <a:solidFill>
                          <a:srgbClr val="000000"/>
                        </a:solidFill>
                        <a:effectLst/>
                        <a:latin typeface="+mn-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pPr algn="l" fontAlgn="b"/>
                      <a:endParaRPr lang="vi-VN" sz="1100" b="0" i="0" u="none" strike="noStrike" dirty="0">
                        <a:solidFill>
                          <a:srgbClr val="000000"/>
                        </a:solidFill>
                        <a:effectLst/>
                        <a:latin typeface="+mn-lt"/>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85785222"/>
                  </a:ext>
                </a:extLst>
              </a:tr>
              <a:tr h="0">
                <a:tc>
                  <a:txBody>
                    <a:bodyPr/>
                    <a:lstStyle/>
                    <a:p>
                      <a:pPr algn="l" fontAlgn="b"/>
                      <a:r>
                        <a:rPr lang="vi-VN" sz="1000" b="0" i="0" u="none" strike="noStrike">
                          <a:solidFill>
                            <a:srgbClr val="000000"/>
                          </a:solidFill>
                          <a:effectLst/>
                          <a:latin typeface="+mn-lt"/>
                        </a:rPr>
                        <a:t>A893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000" b="0" i="0" u="none" strike="noStrike">
                          <a:solidFill>
                            <a:srgbClr val="000000"/>
                          </a:solidFill>
                          <a:effectLst/>
                          <a:latin typeface="+mn-lt"/>
                        </a:rPr>
                        <a:t>19:57 04/02/2025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000" b="0" i="0" u="none" strike="noStrike">
                          <a:solidFill>
                            <a:srgbClr val="000000"/>
                          </a:solidFill>
                          <a:effectLst/>
                          <a:latin typeface="+mn-lt"/>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000" b="0" i="0" u="none" strike="noStrike">
                          <a:solidFill>
                            <a:srgbClr val="000000"/>
                          </a:solidFill>
                          <a:effectLst/>
                          <a:latin typeface="+mn-lt"/>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000" b="0" i="0" u="none" strike="noStrike">
                          <a:solidFill>
                            <a:srgbClr val="000000"/>
                          </a:solidFill>
                          <a:effectLst/>
                          <a:latin typeface="+mn-lt"/>
                        </a:rPr>
                        <a:t>VN7221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000" b="0" i="0" u="none" strike="noStrike">
                          <a:solidFill>
                            <a:srgbClr val="000000"/>
                          </a:solidFill>
                          <a:effectLst/>
                          <a:latin typeface="+mn-lt"/>
                        </a:rPr>
                        <a:t>HAN-SGN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000" b="0" i="0" u="none" strike="noStrike" smtClean="0">
                          <a:solidFill>
                            <a:srgbClr val="000000"/>
                          </a:solidFill>
                          <a:effectLst/>
                          <a:latin typeface="+mn-lt"/>
                        </a:rPr>
                        <a:t>DURING </a:t>
                      </a:r>
                      <a:r>
                        <a:rPr lang="en-US" sz="1000" b="0" i="0" u="none" strike="noStrike">
                          <a:solidFill>
                            <a:srgbClr val="000000"/>
                          </a:solidFill>
                          <a:effectLst/>
                          <a:latin typeface="+mn-lt"/>
                        </a:rPr>
                        <a:t>ENGINE RUN UP APPEAR MSG </a:t>
                      </a:r>
                      <a:r>
                        <a:rPr lang="en-US" sz="1000" b="0" i="0" u="none" strike="noStrike" smtClean="0">
                          <a:solidFill>
                            <a:srgbClr val="000000"/>
                          </a:solidFill>
                          <a:effectLst/>
                          <a:latin typeface="+mn-lt"/>
                        </a:rPr>
                        <a:t>“ENG </a:t>
                      </a:r>
                      <a:r>
                        <a:rPr lang="en-US" sz="1000" b="0" i="0" u="none" strike="noStrike">
                          <a:solidFill>
                            <a:srgbClr val="000000"/>
                          </a:solidFill>
                          <a:effectLst/>
                          <a:latin typeface="+mn-lt"/>
                        </a:rPr>
                        <a:t>1 CTL </a:t>
                      </a:r>
                      <a:r>
                        <a:rPr lang="en-US" sz="1000" b="0" i="0" u="none" strike="noStrike" smtClean="0">
                          <a:solidFill>
                            <a:srgbClr val="000000"/>
                          </a:solidFill>
                          <a:effectLst/>
                          <a:latin typeface="+mn-lt"/>
                        </a:rPr>
                        <a:t>SYS”</a:t>
                      </a:r>
                      <a:endParaRPr lang="en-US" sz="1000" b="0" i="0" u="none" strike="noStrike">
                        <a:solidFill>
                          <a:srgbClr val="000000"/>
                        </a:solidFill>
                        <a:effectLst/>
                        <a:latin typeface="+mn-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000" b="0" i="0" u="none" strike="noStrike" smtClean="0">
                          <a:solidFill>
                            <a:srgbClr val="000000"/>
                          </a:solidFill>
                          <a:effectLst/>
                          <a:latin typeface="+mn-lt"/>
                        </a:rPr>
                        <a:t>CAPT </a:t>
                      </a:r>
                      <a:r>
                        <a:rPr lang="en-US" sz="1000" b="0" i="0" u="none" strike="noStrike" dirty="0">
                          <a:solidFill>
                            <a:srgbClr val="000000"/>
                          </a:solidFill>
                          <a:effectLst/>
                          <a:latin typeface="+mn-lt"/>
                        </a:rPr>
                        <a:t>C/O PROC ENG #</a:t>
                      </a:r>
                      <a:r>
                        <a:rPr lang="en-US" sz="1000" b="0" i="0" u="none" strike="noStrike">
                          <a:solidFill>
                            <a:srgbClr val="000000"/>
                          </a:solidFill>
                          <a:effectLst/>
                          <a:latin typeface="+mn-lt"/>
                        </a:rPr>
                        <a:t>1 </a:t>
                      </a:r>
                      <a:r>
                        <a:rPr lang="en-US" sz="1000" b="0" i="0" u="none" strike="noStrike" smtClean="0">
                          <a:solidFill>
                            <a:srgbClr val="000000"/>
                          </a:solidFill>
                          <a:effectLst/>
                          <a:latin typeface="+mn-lt"/>
                        </a:rPr>
                        <a:t>RUNUP</a:t>
                      </a:r>
                      <a:endParaRPr lang="en-US" sz="1000" b="0" i="0" u="none" strike="noStrike" dirty="0">
                        <a:solidFill>
                          <a:srgbClr val="000000"/>
                        </a:solidFill>
                        <a:effectLst/>
                        <a:latin typeface="+mn-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dirty="0"/>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pPr algn="l" fontAlgn="b"/>
                      <a:endParaRPr lang="vi-VN" sz="1100" b="0" i="0" u="none" strike="noStrike" dirty="0">
                        <a:solidFill>
                          <a:srgbClr val="000000"/>
                        </a:solidFill>
                        <a:effectLst/>
                        <a:latin typeface="+mn-lt"/>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8037782"/>
                  </a:ext>
                </a:extLst>
              </a:tr>
            </a:tbl>
          </a:graphicData>
        </a:graphic>
      </p:graphicFrame>
    </p:spTree>
    <p:extLst>
      <p:ext uri="{BB962C8B-B14F-4D97-AF65-F5344CB8AC3E}">
        <p14:creationId xmlns:p14="http://schemas.microsoft.com/office/powerpoint/2010/main" val="28478220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E25D1964-6841-AE36-E8AA-E540986DE78B}"/>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16A34C74-4910-B493-717E-17E3ED63380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7293F44-2794-EA1E-A8CE-D09364A901D3}"/>
              </a:ext>
            </a:extLst>
          </p:cNvPr>
          <p:cNvSpPr>
            <a:spLocks noGrp="1"/>
          </p:cNvSpPr>
          <p:nvPr>
            <p:ph type="title"/>
          </p:nvPr>
        </p:nvSpPr>
        <p:spPr>
          <a:xfrm>
            <a:off x="152398" y="28337"/>
            <a:ext cx="9155467" cy="551496"/>
          </a:xfrm>
        </p:spPr>
        <p:txBody>
          <a:bodyPr rtlCol="0">
            <a:noAutofit/>
          </a:bodyPr>
          <a:lstStyle/>
          <a:p>
            <a:pPr>
              <a:defRPr/>
            </a:pPr>
            <a:r>
              <a:rPr lang="en-US" dirty="0">
                <a:ln w="0"/>
                <a:solidFill>
                  <a:schemeClr val="accent4"/>
                </a:solidFill>
                <a:latin typeface="Times New Roman" panose="02020603050405020304" pitchFamily="18" charset="0"/>
                <a:cs typeface="Times New Roman" panose="02020603050405020304" pitchFamily="18" charset="0"/>
              </a:rPr>
              <a:t>TÌNH TRẠNG KỸ THUẬT ĐỘI BAY – </a:t>
            </a:r>
            <a:r>
              <a:rPr lang="vi-VN" dirty="0">
                <a:ln w="0"/>
                <a:solidFill>
                  <a:schemeClr val="accent4"/>
                </a:solidFill>
                <a:latin typeface="Times New Roman" panose="02020603050405020304" pitchFamily="18" charset="0"/>
                <a:cs typeface="Times New Roman" panose="02020603050405020304" pitchFamily="18" charset="0"/>
              </a:rPr>
              <a:t>A350</a:t>
            </a:r>
          </a:p>
        </p:txBody>
      </p:sp>
      <p:sp>
        <p:nvSpPr>
          <p:cNvPr id="4" name="TextBox 3">
            <a:extLst>
              <a:ext uri="{FF2B5EF4-FFF2-40B4-BE49-F238E27FC236}">
                <a16:creationId xmlns:a16="http://schemas.microsoft.com/office/drawing/2014/main" id="{FB5001C7-2F05-222D-8333-BDA493288730}"/>
              </a:ext>
            </a:extLst>
          </p:cNvPr>
          <p:cNvSpPr txBox="1"/>
          <p:nvPr/>
        </p:nvSpPr>
        <p:spPr>
          <a:xfrm>
            <a:off x="152397" y="1236922"/>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04 </a:t>
            </a:r>
          </a:p>
        </p:txBody>
      </p:sp>
      <p:sp>
        <p:nvSpPr>
          <p:cNvPr id="8" name="TextBox 7">
            <a:extLst>
              <a:ext uri="{FF2B5EF4-FFF2-40B4-BE49-F238E27FC236}">
                <a16:creationId xmlns:a16="http://schemas.microsoft.com/office/drawing/2014/main" id="{03315877-ED63-29C9-B018-1B116C380597}"/>
              </a:ext>
            </a:extLst>
          </p:cNvPr>
          <p:cNvSpPr txBox="1"/>
          <p:nvPr/>
        </p:nvSpPr>
        <p:spPr>
          <a:xfrm>
            <a:off x="152398" y="788330"/>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		Delay: 04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graphicFrame>
        <p:nvGraphicFramePr>
          <p:cNvPr id="5" name="Table 4">
            <a:extLst>
              <a:ext uri="{FF2B5EF4-FFF2-40B4-BE49-F238E27FC236}">
                <a16:creationId xmlns:a16="http://schemas.microsoft.com/office/drawing/2014/main" id="{425D6474-E941-D1C8-B531-CAF36AABA692}"/>
              </a:ext>
            </a:extLst>
          </p:cNvPr>
          <p:cNvGraphicFramePr>
            <a:graphicFrameLocks noGrp="1"/>
          </p:cNvGraphicFramePr>
          <p:nvPr>
            <p:extLst>
              <p:ext uri="{D42A27DB-BD31-4B8C-83A1-F6EECF244321}">
                <p14:modId xmlns:p14="http://schemas.microsoft.com/office/powerpoint/2010/main" val="1647080657"/>
              </p:ext>
            </p:extLst>
          </p:nvPr>
        </p:nvGraphicFramePr>
        <p:xfrm>
          <a:off x="152397" y="1667581"/>
          <a:ext cx="11688714" cy="3487263"/>
        </p:xfrm>
        <a:graphic>
          <a:graphicData uri="http://schemas.openxmlformats.org/drawingml/2006/table">
            <a:tbl>
              <a:tblPr/>
              <a:tblGrid>
                <a:gridCol w="381003">
                  <a:extLst>
                    <a:ext uri="{9D8B030D-6E8A-4147-A177-3AD203B41FA5}">
                      <a16:colId xmlns:a16="http://schemas.microsoft.com/office/drawing/2014/main" val="1256133665"/>
                    </a:ext>
                  </a:extLst>
                </a:gridCol>
                <a:gridCol w="685800">
                  <a:extLst>
                    <a:ext uri="{9D8B030D-6E8A-4147-A177-3AD203B41FA5}">
                      <a16:colId xmlns:a16="http://schemas.microsoft.com/office/drawing/2014/main" val="4239982419"/>
                    </a:ext>
                  </a:extLst>
                </a:gridCol>
                <a:gridCol w="381000">
                  <a:extLst>
                    <a:ext uri="{9D8B030D-6E8A-4147-A177-3AD203B41FA5}">
                      <a16:colId xmlns:a16="http://schemas.microsoft.com/office/drawing/2014/main" val="1384707772"/>
                    </a:ext>
                  </a:extLst>
                </a:gridCol>
                <a:gridCol w="457200">
                  <a:extLst>
                    <a:ext uri="{9D8B030D-6E8A-4147-A177-3AD203B41FA5}">
                      <a16:colId xmlns:a16="http://schemas.microsoft.com/office/drawing/2014/main" val="2863662307"/>
                    </a:ext>
                  </a:extLst>
                </a:gridCol>
                <a:gridCol w="533400">
                  <a:extLst>
                    <a:ext uri="{9D8B030D-6E8A-4147-A177-3AD203B41FA5}">
                      <a16:colId xmlns:a16="http://schemas.microsoft.com/office/drawing/2014/main" val="1357122553"/>
                    </a:ext>
                  </a:extLst>
                </a:gridCol>
                <a:gridCol w="762000">
                  <a:extLst>
                    <a:ext uri="{9D8B030D-6E8A-4147-A177-3AD203B41FA5}">
                      <a16:colId xmlns:a16="http://schemas.microsoft.com/office/drawing/2014/main" val="2137684697"/>
                    </a:ext>
                  </a:extLst>
                </a:gridCol>
                <a:gridCol w="1524000">
                  <a:extLst>
                    <a:ext uri="{9D8B030D-6E8A-4147-A177-3AD203B41FA5}">
                      <a16:colId xmlns:a16="http://schemas.microsoft.com/office/drawing/2014/main" val="2650876194"/>
                    </a:ext>
                  </a:extLst>
                </a:gridCol>
                <a:gridCol w="3657600">
                  <a:extLst>
                    <a:ext uri="{9D8B030D-6E8A-4147-A177-3AD203B41FA5}">
                      <a16:colId xmlns:a16="http://schemas.microsoft.com/office/drawing/2014/main" val="3156420628"/>
                    </a:ext>
                  </a:extLst>
                </a:gridCol>
                <a:gridCol w="457200">
                  <a:extLst>
                    <a:ext uri="{9D8B030D-6E8A-4147-A177-3AD203B41FA5}">
                      <a16:colId xmlns:a16="http://schemas.microsoft.com/office/drawing/2014/main" val="229850816"/>
                    </a:ext>
                  </a:extLst>
                </a:gridCol>
                <a:gridCol w="2849511">
                  <a:extLst>
                    <a:ext uri="{9D8B030D-6E8A-4147-A177-3AD203B41FA5}">
                      <a16:colId xmlns:a16="http://schemas.microsoft.com/office/drawing/2014/main" val="3980041142"/>
                    </a:ext>
                  </a:extLst>
                </a:gridCol>
              </a:tblGrid>
              <a:tr h="85019">
                <a:tc>
                  <a:txBody>
                    <a:bodyPr/>
                    <a:lstStyle/>
                    <a:p>
                      <a:pPr algn="ctr" fontAlgn="t"/>
                      <a:r>
                        <a:rPr lang="en-US" sz="1000" b="0" i="0" u="none" strike="noStrike">
                          <a:solidFill>
                            <a:srgbClr val="000000"/>
                          </a:solidFill>
                          <a:effectLst/>
                          <a:latin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000" b="0" i="0" u="none" strike="noStrike">
                          <a:solidFill>
                            <a:srgbClr val="000000"/>
                          </a:solidFill>
                          <a:effectLst/>
                          <a:latin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000" b="0" i="0" u="none" strike="noStrike">
                          <a:solidFill>
                            <a:srgbClr val="000000"/>
                          </a:solidFill>
                          <a:effectLst/>
                          <a:latin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000" b="0" i="0" u="none" strike="noStrike">
                          <a:solidFill>
                            <a:srgbClr val="000000"/>
                          </a:solidFill>
                          <a:effectLst/>
                          <a:latin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000" b="0" i="0" u="none" strike="noStrike">
                          <a:solidFill>
                            <a:srgbClr val="000000"/>
                          </a:solidFill>
                          <a:effectLst/>
                          <a:latin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000" b="0" i="0" u="none" strike="noStrike">
                          <a:solidFill>
                            <a:srgbClr val="000000"/>
                          </a:solidFill>
                          <a:effectLst/>
                          <a:latin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000" b="0" i="0" u="none" strike="noStrike">
                          <a:solidFill>
                            <a:srgbClr val="000000"/>
                          </a:solidFill>
                          <a:effectLst/>
                          <a:latin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000" b="0" i="0" u="none" strike="noStrike">
                          <a:solidFill>
                            <a:srgbClr val="000000"/>
                          </a:solidFill>
                          <a:effectLst/>
                          <a:latin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000" b="0" i="0" u="none" strike="noStrike">
                          <a:solidFill>
                            <a:srgbClr val="000000"/>
                          </a:solidFill>
                          <a:effectLst/>
                          <a:latin typeface="Times New Roman" panose="02020603050405020304" pitchFamily="18" charset="0"/>
                        </a:rPr>
                        <a:t>ATA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000" b="0" i="0" u="none" strike="noStrike" dirty="0">
                          <a:solidFill>
                            <a:srgbClr val="000000"/>
                          </a:solidFill>
                          <a:effectLst/>
                          <a:latin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378657601"/>
                  </a:ext>
                </a:extLst>
              </a:tr>
              <a:tr h="338045">
                <a:tc>
                  <a:txBody>
                    <a:bodyPr/>
                    <a:lstStyle/>
                    <a:p>
                      <a:pPr algn="l" fontAlgn="b"/>
                      <a:r>
                        <a:rPr lang="vi-VN" sz="1100" b="0" i="0" u="none" strike="noStrike" dirty="0">
                          <a:solidFill>
                            <a:srgbClr val="000000"/>
                          </a:solidFill>
                          <a:effectLst/>
                          <a:latin typeface="+mn-lt"/>
                        </a:rPr>
                        <a:t>A889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03:40 04/02/2025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VN7239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HAN-SGN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smtClean="0">
                          <a:solidFill>
                            <a:srgbClr val="000000"/>
                          </a:solidFill>
                          <a:effectLst/>
                          <a:latin typeface="+mn-lt"/>
                        </a:rPr>
                        <a:t>T/X </a:t>
                      </a:r>
                      <a:r>
                        <a:rPr lang="vi-VN" sz="1100" b="0" i="0" u="none" strike="noStrike" dirty="0">
                          <a:solidFill>
                            <a:srgbClr val="000000"/>
                          </a:solidFill>
                          <a:effectLst/>
                          <a:latin typeface="+mn-lt"/>
                        </a:rPr>
                        <a:t>DURING REFUEL APPEAR MSG MSG FUEL L TK INLET </a:t>
                      </a:r>
                      <a:r>
                        <a:rPr lang="vi-VN" sz="1100" b="0" i="0" u="none" strike="noStrike">
                          <a:solidFill>
                            <a:srgbClr val="000000"/>
                          </a:solidFill>
                          <a:effectLst/>
                          <a:latin typeface="+mn-lt"/>
                        </a:rPr>
                        <a:t>VLV </a:t>
                      </a:r>
                      <a:r>
                        <a:rPr lang="vi-VN" sz="1100" b="0" i="0" u="none" strike="noStrike" smtClean="0">
                          <a:solidFill>
                            <a:srgbClr val="000000"/>
                          </a:solidFill>
                          <a:effectLst/>
                          <a:latin typeface="+mn-lt"/>
                        </a:rPr>
                        <a:t>ELEC </a:t>
                      </a:r>
                      <a:r>
                        <a:rPr lang="vi-VN" sz="1100" b="0" i="0" u="none" strike="noStrike">
                          <a:solidFill>
                            <a:srgbClr val="000000"/>
                          </a:solidFill>
                          <a:effectLst/>
                          <a:latin typeface="+mn-lt"/>
                        </a:rPr>
                        <a:t>C/B </a:t>
                      </a:r>
                      <a:r>
                        <a:rPr lang="vi-VN" sz="1100" b="0" i="0" u="none" strike="noStrike" smtClean="0">
                          <a:solidFill>
                            <a:srgbClr val="000000"/>
                          </a:solidFill>
                          <a:effectLst/>
                          <a:latin typeface="+mn-lt"/>
                        </a:rPr>
                        <a:t>MONITORING</a:t>
                      </a:r>
                      <a:endParaRPr lang="vi-VN" sz="1100" b="0" i="0" u="none" strike="noStrike" dirty="0">
                        <a:solidFill>
                          <a:srgbClr val="000000"/>
                        </a:solidFill>
                        <a:effectLst/>
                        <a:latin typeface="+mn-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smtClean="0">
                          <a:solidFill>
                            <a:srgbClr val="000000"/>
                          </a:solidFill>
                          <a:effectLst/>
                          <a:latin typeface="+mn-lt"/>
                        </a:rPr>
                        <a:t>C/O </a:t>
                      </a:r>
                      <a:r>
                        <a:rPr lang="vi-VN" sz="1100" b="0" i="0" u="none" strike="noStrike">
                          <a:solidFill>
                            <a:srgbClr val="000000"/>
                          </a:solidFill>
                          <a:effectLst/>
                          <a:latin typeface="+mn-lt"/>
                        </a:rPr>
                        <a:t>RESET I.A.W AFI và RESET A/C </a:t>
                      </a:r>
                      <a:r>
                        <a:rPr lang="vi-VN" sz="1100" b="0" i="0" u="none" strike="noStrike" smtClean="0">
                          <a:solidFill>
                            <a:srgbClr val="000000"/>
                          </a:solidFill>
                          <a:effectLst/>
                          <a:latin typeface="+mn-lt"/>
                        </a:rPr>
                        <a:t>POWER; </a:t>
                      </a:r>
                      <a:r>
                        <a:rPr lang="vi-VN" sz="1100" b="0" i="0" u="none" strike="noStrike">
                          <a:solidFill>
                            <a:srgbClr val="000000"/>
                          </a:solidFill>
                          <a:effectLst/>
                          <a:latin typeface="+mn-lt"/>
                        </a:rPr>
                        <a:t>DM </a:t>
                      </a:r>
                      <a:r>
                        <a:rPr lang="vi-VN" sz="1100" b="0" i="0" u="none" strike="noStrike" smtClean="0">
                          <a:solidFill>
                            <a:srgbClr val="000000"/>
                          </a:solidFill>
                          <a:effectLst/>
                          <a:latin typeface="+mn-lt"/>
                        </a:rPr>
                        <a:t>GONE</a:t>
                      </a:r>
                      <a:r>
                        <a:rPr lang="en-US" sz="1100" b="0" i="0" u="none" strike="noStrike" smtClean="0">
                          <a:solidFill>
                            <a:srgbClr val="000000"/>
                          </a:solidFill>
                          <a:effectLst/>
                          <a:latin typeface="+mn-lt"/>
                        </a:rPr>
                        <a:t>.</a:t>
                      </a:r>
                      <a:r>
                        <a:rPr lang="vi-VN" sz="1100" b="0" i="0" u="none" strike="noStrike" smtClean="0">
                          <a:solidFill>
                            <a:srgbClr val="000000"/>
                          </a:solidFill>
                          <a:effectLst/>
                          <a:latin typeface="+mn-lt"/>
                        </a:rPr>
                        <a:t> EVENT CLOSED</a:t>
                      </a:r>
                      <a:endParaRPr lang="vi-VN" sz="1100" b="0" i="0" u="none" strike="noStrike">
                        <a:solidFill>
                          <a:srgbClr val="000000"/>
                        </a:solidFill>
                        <a:effectLst/>
                        <a:latin typeface="+mn-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mn-lt"/>
                        </a:rPr>
                        <a:t>28-00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mn-lt"/>
                        </a:rPr>
                        <a:t>Nghi ngờ cảnh báo giả do xuất hiện nhiều MSG khác nhau:</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MSG: FUEL L TK INLET VLV </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MSG: ELEC C/B MONITORING</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MSG: APU FLAP OPEN</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Cảnh báo biến mất sau khi reset.</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Với hỏng hóc FUEL L INLET VALVE, Airbus có đề cập trong TFU 28.25.00.035 - Fuel Valve Actuator failures (SPSA). Nguyên nhân do cầu chì bị cháy do quá dòng (resulting from a short circuit in the motor commutator) Hỏng hóc này có thể raise MEL để đưa tàu bay vào khai thác. </a:t>
                      </a:r>
                      <a:br>
                        <a:rPr lang="vi-VN" sz="1100" b="0" i="0" u="none" strike="noStrike" dirty="0">
                          <a:solidFill>
                            <a:srgbClr val="000000"/>
                          </a:solidFill>
                          <a:effectLst/>
                          <a:latin typeface="+mn-lt"/>
                        </a:rPr>
                      </a:br>
                      <a:r>
                        <a:rPr lang="vi-VN" sz="1100" b="0" i="0" u="none" strike="noStrike" dirty="0">
                          <a:solidFill>
                            <a:srgbClr val="000000"/>
                          </a:solidFill>
                          <a:effectLst/>
                          <a:latin typeface="+mn-lt"/>
                        </a:rPr>
                        <a:t>Giải pháp: Nâng cấp SPSA từ PN 2080026-104/105 lên PN 2080026-105A. Tàu bay A889 đã thực hiện nâng cấp từ 08/Aug/2024. Đã thực hiện 12/14 tàu bay (chỉ còn A893, A899 chờ VT từ FHS và chờ bố trí downtime tàu bay)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7654174"/>
                  </a:ext>
                </a:extLst>
              </a:tr>
            </a:tbl>
          </a:graphicData>
        </a:graphic>
      </p:graphicFrame>
    </p:spTree>
    <p:extLst>
      <p:ext uri="{BB962C8B-B14F-4D97-AF65-F5344CB8AC3E}">
        <p14:creationId xmlns:p14="http://schemas.microsoft.com/office/powerpoint/2010/main" val="10689005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defTabSz="1219170">
              <a:buClr>
                <a:srgbClr val="000000"/>
              </a:buClr>
            </a:pPr>
            <a:fld id="{00000000-1234-1234-1234-123412341234}" type="slidenum">
              <a:rPr lang="vi" kern="0">
                <a:solidFill>
                  <a:srgbClr val="595959"/>
                </a:solidFill>
                <a:latin typeface="Arial"/>
                <a:cs typeface="Arial"/>
                <a:sym typeface="Arial"/>
              </a:rPr>
              <a:pPr defTabSz="1219170">
                <a:buClr>
                  <a:srgbClr val="000000"/>
                </a:buClr>
              </a:pPr>
              <a:t>12</a:t>
            </a:fld>
            <a:endParaRPr kern="0">
              <a:solidFill>
                <a:srgbClr val="595959"/>
              </a:solidFill>
              <a:latin typeface="Arial"/>
              <a:cs typeface="Arial"/>
              <a:sym typeface="Arial"/>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57576" y="66595"/>
            <a:ext cx="7860513" cy="498494"/>
          </a:xfrm>
          <a:prstGeom prst="rect">
            <a:avLst/>
          </a:prstGeom>
          <a:noFill/>
          <a:ln>
            <a:noFill/>
          </a:ln>
        </p:spPr>
        <p:txBody>
          <a:bodyPr spcFirstLastPara="1" wrap="square" lIns="91433" tIns="45700" rIns="91433" bIns="45700" anchor="t" anchorCtr="0">
            <a:spAutoFit/>
          </a:bodyPr>
          <a:lstStyle/>
          <a:p>
            <a:pPr defTabSz="1219170">
              <a:lnSpc>
                <a:spcPct val="90000"/>
              </a:lnSpc>
              <a:buClr>
                <a:srgbClr val="DEA610"/>
              </a:buClr>
              <a:buSzPts val="2100"/>
              <a:defRPr/>
            </a:pPr>
            <a:r>
              <a:rPr lang="en-US" sz="2933" b="1">
                <a:ln w="0"/>
                <a:solidFill>
                  <a:srgbClr val="FFBD0E"/>
                </a:solidFill>
                <a:latin typeface="Times New Roman" panose="02020603050405020304" pitchFamily="18" charset="0"/>
                <a:cs typeface="Times New Roman" panose="02020603050405020304" pitchFamily="18" charset="0"/>
                <a:sym typeface="Montserrat SemiBold"/>
              </a:rPr>
              <a:t>TÌNH TRẠNG KỸ THUẬT ĐỘI BAY – A350</a:t>
            </a:r>
            <a:endParaRPr lang="en-US" sz="2933" b="1">
              <a:ln w="0"/>
              <a:solidFill>
                <a:srgbClr val="FFBD0E"/>
              </a:solidFill>
              <a:latin typeface="Times New Roman" panose="02020603050405020304" pitchFamily="18" charset="0"/>
              <a:cs typeface="Times New Roman" panose="02020603050405020304" pitchFamily="18" charset="0"/>
              <a:sym typeface="Montserrat"/>
            </a:endParaRPr>
          </a:p>
        </p:txBody>
      </p:sp>
      <p:graphicFrame>
        <p:nvGraphicFramePr>
          <p:cNvPr id="3" name="Table 2">
            <a:extLst>
              <a:ext uri="{FF2B5EF4-FFF2-40B4-BE49-F238E27FC236}">
                <a16:creationId xmlns:a16="http://schemas.microsoft.com/office/drawing/2014/main" id="{1488483D-2953-6293-D218-814D0D82DF85}"/>
              </a:ext>
            </a:extLst>
          </p:cNvPr>
          <p:cNvGraphicFramePr>
            <a:graphicFrameLocks noGrp="1"/>
          </p:cNvGraphicFramePr>
          <p:nvPr>
            <p:extLst/>
          </p:nvPr>
        </p:nvGraphicFramePr>
        <p:xfrm>
          <a:off x="257575" y="565154"/>
          <a:ext cx="11676850" cy="6212492"/>
        </p:xfrm>
        <a:graphic>
          <a:graphicData uri="http://schemas.openxmlformats.org/drawingml/2006/table">
            <a:tbl>
              <a:tblPr/>
              <a:tblGrid>
                <a:gridCol w="406543">
                  <a:extLst>
                    <a:ext uri="{9D8B030D-6E8A-4147-A177-3AD203B41FA5}">
                      <a16:colId xmlns:a16="http://schemas.microsoft.com/office/drawing/2014/main" val="3772747276"/>
                    </a:ext>
                  </a:extLst>
                </a:gridCol>
                <a:gridCol w="505521">
                  <a:extLst>
                    <a:ext uri="{9D8B030D-6E8A-4147-A177-3AD203B41FA5}">
                      <a16:colId xmlns:a16="http://schemas.microsoft.com/office/drawing/2014/main" val="401549227"/>
                    </a:ext>
                  </a:extLst>
                </a:gridCol>
                <a:gridCol w="594732">
                  <a:extLst>
                    <a:ext uri="{9D8B030D-6E8A-4147-A177-3AD203B41FA5}">
                      <a16:colId xmlns:a16="http://schemas.microsoft.com/office/drawing/2014/main" val="1243215116"/>
                    </a:ext>
                  </a:extLst>
                </a:gridCol>
                <a:gridCol w="1189464">
                  <a:extLst>
                    <a:ext uri="{9D8B030D-6E8A-4147-A177-3AD203B41FA5}">
                      <a16:colId xmlns:a16="http://schemas.microsoft.com/office/drawing/2014/main" val="4222332192"/>
                    </a:ext>
                  </a:extLst>
                </a:gridCol>
                <a:gridCol w="1100253">
                  <a:extLst>
                    <a:ext uri="{9D8B030D-6E8A-4147-A177-3AD203B41FA5}">
                      <a16:colId xmlns:a16="http://schemas.microsoft.com/office/drawing/2014/main" val="3765822391"/>
                    </a:ext>
                  </a:extLst>
                </a:gridCol>
                <a:gridCol w="1476917">
                  <a:extLst>
                    <a:ext uri="{9D8B030D-6E8A-4147-A177-3AD203B41FA5}">
                      <a16:colId xmlns:a16="http://schemas.microsoft.com/office/drawing/2014/main" val="3396966189"/>
                    </a:ext>
                  </a:extLst>
                </a:gridCol>
                <a:gridCol w="6403420">
                  <a:extLst>
                    <a:ext uri="{9D8B030D-6E8A-4147-A177-3AD203B41FA5}">
                      <a16:colId xmlns:a16="http://schemas.microsoft.com/office/drawing/2014/main" val="3136775845"/>
                    </a:ext>
                  </a:extLst>
                </a:gridCol>
              </a:tblGrid>
              <a:tr h="185312">
                <a:tc>
                  <a:txBody>
                    <a:bodyPr/>
                    <a:lstStyle/>
                    <a:p>
                      <a:pPr algn="ctr" fontAlgn="ctr"/>
                      <a:r>
                        <a:rPr lang="en-US" sz="1200" b="0" i="0" u="none" strike="noStrike">
                          <a:solidFill>
                            <a:srgbClr val="000000"/>
                          </a:solidFill>
                          <a:effectLst/>
                          <a:latin typeface="Calibri" panose="020F0502020204030204" pitchFamily="34" charset="0"/>
                        </a:rPr>
                        <a:t>No</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Fleet</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A/C</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Tình trạng tàu bay</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Tình trạng KT</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200" b="0" i="0" u="none" strike="noStrike">
                          <a:solidFill>
                            <a:srgbClr val="000000"/>
                          </a:solidFill>
                          <a:effectLst/>
                          <a:latin typeface="Calibri" panose="020F0502020204030204" pitchFamily="34" charset="0"/>
                        </a:rPr>
                        <a:t>Điều kiện chuyên cơ</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Ghi chú</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66882643"/>
                  </a:ext>
                </a:extLst>
              </a:tr>
              <a:tr h="208712">
                <a:tc>
                  <a:txBody>
                    <a:bodyPr/>
                    <a:lstStyle/>
                    <a:p>
                      <a:pPr algn="ctr" fontAlgn="ctr"/>
                      <a:r>
                        <a:rPr lang="en-US" sz="1200" b="0" i="0" u="none" strike="noStrike">
                          <a:solidFill>
                            <a:srgbClr val="000000"/>
                          </a:solidFill>
                          <a:effectLst/>
                          <a:latin typeface="Calibri" panose="020F0502020204030204" pitchFamily="34" charset="0"/>
                        </a:rPr>
                        <a:t>1</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A886</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BQDB</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200" b="0" i="0" u="none" strike="noStrike">
                        <a:solidFill>
                          <a:srgbClr val="000000"/>
                        </a:solidFill>
                        <a:effectLst/>
                        <a:latin typeface="Calibri" panose="020F0502020204030204" pitchFamily="34" charset="0"/>
                      </a:endParaRP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5899294"/>
                  </a:ext>
                </a:extLst>
              </a:tr>
              <a:tr h="185312">
                <a:tc>
                  <a:txBody>
                    <a:bodyPr/>
                    <a:lstStyle/>
                    <a:p>
                      <a:pPr algn="ctr" fontAlgn="ctr"/>
                      <a:r>
                        <a:rPr lang="en-US" sz="1200" b="0" i="0" u="none" strike="noStrike">
                          <a:solidFill>
                            <a:srgbClr val="000000"/>
                          </a:solidFill>
                          <a:effectLst/>
                          <a:latin typeface="Calibri" panose="020F0502020204030204" pitchFamily="34" charset="0"/>
                        </a:rPr>
                        <a:t>2</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A887</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BQDB</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SG" sz="1200" b="0" i="0" u="none" strike="noStrike">
                        <a:solidFill>
                          <a:srgbClr val="000000"/>
                        </a:solidFill>
                        <a:effectLst/>
                        <a:latin typeface="Calibri" panose="020F0502020204030204" pitchFamily="34" charset="0"/>
                      </a:endParaRP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64926232"/>
                  </a:ext>
                </a:extLst>
              </a:tr>
              <a:tr h="185312">
                <a:tc>
                  <a:txBody>
                    <a:bodyPr/>
                    <a:lstStyle/>
                    <a:p>
                      <a:pPr algn="ctr" fontAlgn="ctr"/>
                      <a:r>
                        <a:rPr lang="en-US" sz="1200" b="0" i="0" u="none" strike="noStrike">
                          <a:solidFill>
                            <a:srgbClr val="000000"/>
                          </a:solidFill>
                          <a:effectLst/>
                          <a:latin typeface="Calibri" panose="020F0502020204030204" pitchFamily="34" charset="0"/>
                        </a:rPr>
                        <a:t>3</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A888</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Calibri" panose="020F0502020204030204" pitchFamily="34" charset="0"/>
                        </a:rPr>
                        <a:t>1. AFT CARGO DOOR ACTUATOR LEAKAGES</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32805638"/>
                  </a:ext>
                </a:extLst>
              </a:tr>
              <a:tr h="368192">
                <a:tc>
                  <a:txBody>
                    <a:bodyPr/>
                    <a:lstStyle/>
                    <a:p>
                      <a:pPr algn="ctr" fontAlgn="ctr"/>
                      <a:r>
                        <a:rPr lang="en-US" sz="1200" b="0" i="0" u="none" strike="noStrike">
                          <a:solidFill>
                            <a:srgbClr val="000000"/>
                          </a:solidFill>
                          <a:effectLst/>
                          <a:latin typeface="Calibri" panose="020F0502020204030204" pitchFamily="34" charset="0"/>
                        </a:rPr>
                        <a:t>4</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A889</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Eng 1 21088 giảm tần suất soi HPT blade 1200FH/150FC</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ADD B1205 RAISED APU FLAP OPEN ON DM (DISABLE IN THE OPEN POS)</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96032999"/>
                  </a:ext>
                </a:extLst>
              </a:tr>
              <a:tr h="185312">
                <a:tc>
                  <a:txBody>
                    <a:bodyPr/>
                    <a:lstStyle/>
                    <a:p>
                      <a:pPr algn="ctr" fontAlgn="ctr"/>
                      <a:r>
                        <a:rPr lang="en-US" sz="1200" b="0" i="0" u="none" strike="noStrike">
                          <a:solidFill>
                            <a:srgbClr val="000000"/>
                          </a:solidFill>
                          <a:effectLst/>
                          <a:latin typeface="Calibri" panose="020F0502020204030204" pitchFamily="34" charset="0"/>
                        </a:rPr>
                        <a:t>5</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A890</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TR 81489576: PREVENTIVE RECOMMENDATION PACK 2 INTERNAL LEAKAGE</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0998981"/>
                  </a:ext>
                </a:extLst>
              </a:tr>
              <a:tr h="185312">
                <a:tc>
                  <a:txBody>
                    <a:bodyPr/>
                    <a:lstStyle/>
                    <a:p>
                      <a:pPr algn="ctr" fontAlgn="ctr"/>
                      <a:r>
                        <a:rPr lang="en-US" sz="1200" b="0" i="0" u="none" strike="noStrike">
                          <a:solidFill>
                            <a:srgbClr val="000000"/>
                          </a:solidFill>
                          <a:effectLst/>
                          <a:latin typeface="Calibri" panose="020F0502020204030204" pitchFamily="34" charset="0"/>
                        </a:rPr>
                        <a:t>6</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A891</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 </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90563797"/>
                  </a:ext>
                </a:extLst>
              </a:tr>
              <a:tr h="551072">
                <a:tc>
                  <a:txBody>
                    <a:bodyPr/>
                    <a:lstStyle/>
                    <a:p>
                      <a:pPr algn="ctr" fontAlgn="ctr"/>
                      <a:r>
                        <a:rPr lang="en-US" sz="1200" b="0" i="0" u="none" strike="noStrike">
                          <a:solidFill>
                            <a:srgbClr val="000000"/>
                          </a:solidFill>
                          <a:effectLst/>
                          <a:latin typeface="Calibri" panose="020F0502020204030204" pitchFamily="34" charset="0"/>
                        </a:rPr>
                        <a:t>7</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A892</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ADD B1455 RAISED THE DROOP-NOSE END-FILLING PANEL AT R/H MISSING</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ADD B1490 RAISED ENG 1 SINGLE IGNITION    </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3. B1496: DM COM OIS AVNCS REDUNDANCY</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00223574"/>
                  </a:ext>
                </a:extLst>
              </a:tr>
              <a:tr h="1099712">
                <a:tc>
                  <a:txBody>
                    <a:bodyPr/>
                    <a:lstStyle/>
                    <a:p>
                      <a:pPr algn="ctr" fontAlgn="ctr"/>
                      <a:r>
                        <a:rPr lang="en-US" sz="1200" b="0" i="0" u="none" strike="noStrike">
                          <a:solidFill>
                            <a:srgbClr val="000000"/>
                          </a:solidFill>
                          <a:effectLst/>
                          <a:latin typeface="Calibri" panose="020F0502020204030204" pitchFamily="34" charset="0"/>
                        </a:rPr>
                        <a:t>8</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A893</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ENG#2 HIGH OIL CONSUMPTION</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ADD B1309 RAISED APU INOP</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3. TR 81538590: PFC ACTUATORS NVRAM FAILURES - SERVO CTL-R INBD AIL,Y (3CR2) - ADD B1316 " F/CTL R INNTER AILERON Y- ACT" </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4. MSG ENG 1 CTL SYS, intm appeared when ENG1 start </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5. TR 81538418: PACK 1 INTERNAL LEAKAGE</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4771825"/>
                  </a:ext>
                </a:extLst>
              </a:tr>
              <a:tr h="368192">
                <a:tc>
                  <a:txBody>
                    <a:bodyPr/>
                    <a:lstStyle/>
                    <a:p>
                      <a:pPr algn="ctr" fontAlgn="ctr"/>
                      <a:r>
                        <a:rPr lang="en-US" sz="1200" b="0" i="0" u="none" strike="noStrike">
                          <a:solidFill>
                            <a:srgbClr val="000000"/>
                          </a:solidFill>
                          <a:effectLst/>
                          <a:latin typeface="Calibri" panose="020F0502020204030204" pitchFamily="34" charset="0"/>
                        </a:rPr>
                        <a:t>9</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A894</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Eng 2 21425 giảm tần suất soi HPT blade 800FH/100FC</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ADD B1090 RAISED FOR APU SINGLE FIRE LOOP</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14820292"/>
                  </a:ext>
                </a:extLst>
              </a:tr>
              <a:tr h="368192">
                <a:tc>
                  <a:txBody>
                    <a:bodyPr/>
                    <a:lstStyle/>
                    <a:p>
                      <a:pPr algn="ctr" fontAlgn="ctr"/>
                      <a:r>
                        <a:rPr lang="en-US" sz="1200" b="0" i="0" u="none" strike="noStrike">
                          <a:solidFill>
                            <a:srgbClr val="000000"/>
                          </a:solidFill>
                          <a:effectLst/>
                          <a:latin typeface="Calibri" panose="020F0502020204030204" pitchFamily="34" charset="0"/>
                        </a:rPr>
                        <a:t>10</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A895</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BQDB</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Calibri" panose="020F0502020204030204" pitchFamily="34" charset="0"/>
                        </a:rPr>
                        <a:t>1. ADD B995 RAISED ENGINE #1 SN 21604 HAVE LOW LIFE TIME </a:t>
                      </a:r>
                      <a:br>
                        <a:rPr lang="en-SG" sz="1200" b="0" i="0" u="none" strike="noStrike">
                          <a:solidFill>
                            <a:srgbClr val="000000"/>
                          </a:solidFill>
                          <a:effectLst/>
                          <a:latin typeface="Calibri" panose="020F0502020204030204" pitchFamily="34" charset="0"/>
                        </a:rPr>
                      </a:br>
                      <a:r>
                        <a:rPr lang="en-SG" sz="1200" b="0" i="0" u="none" strike="noStrike">
                          <a:solidFill>
                            <a:srgbClr val="000000"/>
                          </a:solidFill>
                          <a:effectLst/>
                          <a:latin typeface="Calibri" panose="020F0502020204030204" pitchFamily="34" charset="0"/>
                        </a:rPr>
                        <a:t>2. ADD B996 RAISED ENGINE #2 SN 21414 HAVE LOW LIFE TIME</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74353774"/>
                  </a:ext>
                </a:extLst>
              </a:tr>
              <a:tr h="733952">
                <a:tc>
                  <a:txBody>
                    <a:bodyPr/>
                    <a:lstStyle/>
                    <a:p>
                      <a:pPr algn="ctr" fontAlgn="ctr"/>
                      <a:r>
                        <a:rPr lang="en-US" sz="1200" b="0" i="0" u="none" strike="noStrike">
                          <a:solidFill>
                            <a:srgbClr val="000000"/>
                          </a:solidFill>
                          <a:effectLst/>
                          <a:latin typeface="Calibri" panose="020F0502020204030204" pitchFamily="34" charset="0"/>
                        </a:rPr>
                        <a:t>11</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A896</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ADD B954: UPPER LATCH ASSY OF COCKPIT DOOR BOLTING SYSTEM IS NOT FULLY LOCKED </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TR 81416394: PREVENTIVE RECOMMENDATION PACK 1 INTERNAL LEAKAGE</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3. DOOR 3L/H &amp; 3R/H NOISY DURING IN FLIGHT </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4. DM: F/CTL  &gt; F/CTL RUDDER G ACTUATOR SECURED</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74329075"/>
                  </a:ext>
                </a:extLst>
              </a:tr>
              <a:tr h="916832">
                <a:tc>
                  <a:txBody>
                    <a:bodyPr/>
                    <a:lstStyle/>
                    <a:p>
                      <a:pPr algn="ctr" fontAlgn="ctr"/>
                      <a:r>
                        <a:rPr lang="en-US" sz="1200" b="0" i="0" u="none" strike="noStrike">
                          <a:solidFill>
                            <a:srgbClr val="000000"/>
                          </a:solidFill>
                          <a:effectLst/>
                          <a:latin typeface="Calibri" panose="020F0502020204030204" pitchFamily="34" charset="0"/>
                        </a:rPr>
                        <a:t>12</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A897</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Eng 2 21214 giảm tần suất soi heatshield 2400FH/400FC</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A897 có logo Skyteam</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3. FM: PROBE 3-N1 TURBINE SPEED,ENG2(4088KS32)</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4. DOOR 3R/H NOISY DURING IN FLIGHT </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5. ADD B1166 “BRK #6 INOP” </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96171280"/>
                  </a:ext>
                </a:extLst>
              </a:tr>
              <a:tr h="485764">
                <a:tc>
                  <a:txBody>
                    <a:bodyPr/>
                    <a:lstStyle/>
                    <a:p>
                      <a:pPr algn="ctr" fontAlgn="ctr"/>
                      <a:r>
                        <a:rPr lang="en-US" sz="1200" b="0" i="0" u="none" strike="noStrike">
                          <a:solidFill>
                            <a:srgbClr val="000000"/>
                          </a:solidFill>
                          <a:effectLst/>
                          <a:latin typeface="Calibri" panose="020F0502020204030204" pitchFamily="34" charset="0"/>
                        </a:rPr>
                        <a:t>13</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A898</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BQDB</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Eng 1 21214 giảm tần suất soi heatshield 2400FH/400FC. Eng 2 21268 giảm tần suất soi HPT blade 800FH/100FC</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15606961"/>
                  </a:ext>
                </a:extLst>
              </a:tr>
              <a:tr h="185312">
                <a:tc>
                  <a:txBody>
                    <a:bodyPr/>
                    <a:lstStyle/>
                    <a:p>
                      <a:pPr algn="ctr" fontAlgn="ctr"/>
                      <a:r>
                        <a:rPr lang="en-US" sz="1200" b="0" i="0" u="none" strike="noStrike">
                          <a:solidFill>
                            <a:srgbClr val="000000"/>
                          </a:solidFill>
                          <a:effectLst/>
                          <a:latin typeface="Calibri" panose="020F0502020204030204" pitchFamily="34" charset="0"/>
                        </a:rPr>
                        <a:t>14</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A899</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Eng 1 21048 giảm tần suất soi HPT blade 800FH/100FC</a:t>
                      </a:r>
                    </a:p>
                  </a:txBody>
                  <a:tcPr marL="2432" marR="2432" marT="2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25948276"/>
                  </a:ext>
                </a:extLst>
              </a:tr>
            </a:tbl>
          </a:graphicData>
        </a:graphic>
      </p:graphicFrame>
    </p:spTree>
    <p:extLst>
      <p:ext uri="{BB962C8B-B14F-4D97-AF65-F5344CB8AC3E}">
        <p14:creationId xmlns:p14="http://schemas.microsoft.com/office/powerpoint/2010/main" val="41290999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defTabSz="1219170">
              <a:buClr>
                <a:srgbClr val="000000"/>
              </a:buClr>
            </a:pPr>
            <a:fld id="{00000000-1234-1234-1234-123412341234}" type="slidenum">
              <a:rPr lang="vi" kern="0">
                <a:solidFill>
                  <a:srgbClr val="595959"/>
                </a:solidFill>
                <a:latin typeface="Arial"/>
                <a:cs typeface="Arial"/>
                <a:sym typeface="Arial"/>
              </a:rPr>
              <a:pPr defTabSz="1219170">
                <a:buClr>
                  <a:srgbClr val="000000"/>
                </a:buClr>
              </a:pPr>
              <a:t>13</a:t>
            </a:fld>
            <a:endParaRPr kern="0">
              <a:solidFill>
                <a:srgbClr val="595959"/>
              </a:solidFill>
              <a:latin typeface="Arial"/>
              <a:cs typeface="Arial"/>
              <a:sym typeface="Arial"/>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12083" y="107143"/>
            <a:ext cx="8438437" cy="498494"/>
          </a:xfrm>
          <a:prstGeom prst="rect">
            <a:avLst/>
          </a:prstGeom>
          <a:noFill/>
          <a:ln>
            <a:noFill/>
          </a:ln>
        </p:spPr>
        <p:txBody>
          <a:bodyPr spcFirstLastPara="1" wrap="square" lIns="91433" tIns="45700" rIns="91433" bIns="45700" anchor="t" anchorCtr="0">
            <a:spAutoFit/>
          </a:bodyPr>
          <a:lstStyle/>
          <a:p>
            <a:pPr defTabSz="1219170">
              <a:lnSpc>
                <a:spcPct val="90000"/>
              </a:lnSpc>
              <a:buClr>
                <a:srgbClr val="DEA610"/>
              </a:buClr>
              <a:buSzPts val="2100"/>
              <a:defRPr/>
            </a:pPr>
            <a:r>
              <a:rPr lang="en-US" sz="2933" b="1">
                <a:ln w="0"/>
                <a:solidFill>
                  <a:srgbClr val="FFBD0E"/>
                </a:solidFill>
                <a:latin typeface="Times New Roman" panose="02020603050405020304" pitchFamily="18" charset="0"/>
                <a:cs typeface="Times New Roman" panose="02020603050405020304" pitchFamily="18" charset="0"/>
                <a:sym typeface="Montserrat SemiBold"/>
              </a:rPr>
              <a:t>TÌNH TRẠNG KỸ THUẬT ĐỘI BAY – A350</a:t>
            </a:r>
            <a:endParaRPr sz="2933" b="1">
              <a:ln w="0"/>
              <a:solidFill>
                <a:srgbClr val="FFBD0E"/>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5914447B-A879-4C97-AD62-7AFABAF9410A}"/>
              </a:ext>
            </a:extLst>
          </p:cNvPr>
          <p:cNvSpPr/>
          <p:nvPr/>
        </p:nvSpPr>
        <p:spPr>
          <a:xfrm>
            <a:off x="210231" y="436776"/>
            <a:ext cx="11769687" cy="6536533"/>
          </a:xfrm>
          <a:prstGeom prst="rect">
            <a:avLst/>
          </a:prstGeom>
        </p:spPr>
        <p:txBody>
          <a:bodyPr wrap="square">
            <a:spAutoFit/>
          </a:bodyPr>
          <a:lstStyle/>
          <a:p>
            <a:pPr algn="just" defTabSz="1219170"/>
            <a:r>
              <a:rPr lang="en-US" sz="1600" b="1" err="1">
                <a:solidFill>
                  <a:prstClr val="black"/>
                </a:solidFill>
                <a:latin typeface="Times New Roman" panose="02020603050405020304" pitchFamily="18" charset="0"/>
                <a:cs typeface="Times New Roman" panose="02020603050405020304" pitchFamily="18" charset="0"/>
                <a:sym typeface="Arial"/>
              </a:rPr>
              <a:t>Nhận</a:t>
            </a:r>
            <a:r>
              <a:rPr lang="en-US" sz="1600" b="1">
                <a:solidFill>
                  <a:prstClr val="black"/>
                </a:solidFill>
                <a:latin typeface="Times New Roman" panose="02020603050405020304" pitchFamily="18" charset="0"/>
                <a:cs typeface="Times New Roman" panose="02020603050405020304" pitchFamily="18" charset="0"/>
                <a:sym typeface="Arial"/>
              </a:rPr>
              <a:t> </a:t>
            </a:r>
            <a:r>
              <a:rPr lang="en-US" sz="1600" b="1" err="1">
                <a:solidFill>
                  <a:prstClr val="black"/>
                </a:solidFill>
                <a:latin typeface="Times New Roman" panose="02020603050405020304" pitchFamily="18" charset="0"/>
                <a:cs typeface="Times New Roman" panose="02020603050405020304" pitchFamily="18" charset="0"/>
                <a:sym typeface="Arial"/>
              </a:rPr>
              <a:t>xét</a:t>
            </a:r>
            <a:r>
              <a:rPr lang="en-US" sz="1600" b="1">
                <a:solidFill>
                  <a:prstClr val="black"/>
                </a:solidFill>
                <a:latin typeface="Times New Roman" panose="02020603050405020304" pitchFamily="18" charset="0"/>
                <a:cs typeface="Times New Roman" panose="02020603050405020304" pitchFamily="18" charset="0"/>
                <a:sym typeface="Arial"/>
              </a:rPr>
              <a:t>: </a:t>
            </a:r>
          </a:p>
          <a:p>
            <a:pPr marL="380990" indent="-380990" algn="just" defTabSz="1219170">
              <a:buFontTx/>
              <a:buChar char="-"/>
            </a:pPr>
            <a:r>
              <a:rPr lang="vi-VN" sz="1600">
                <a:solidFill>
                  <a:prstClr val="black"/>
                </a:solidFill>
                <a:latin typeface="Times New Roman" panose="02020603050405020304" pitchFamily="18" charset="0"/>
                <a:cs typeface="Times New Roman" panose="02020603050405020304" pitchFamily="18" charset="0"/>
                <a:sym typeface="Arial"/>
              </a:rPr>
              <a:t>Tình hình kỹ thuật đội bay A3</a:t>
            </a:r>
            <a:r>
              <a:rPr lang="en-US" sz="1600">
                <a:solidFill>
                  <a:prstClr val="black"/>
                </a:solidFill>
                <a:latin typeface="Times New Roman" panose="02020603050405020304" pitchFamily="18" charset="0"/>
                <a:cs typeface="Times New Roman" panose="02020603050405020304" pitchFamily="18" charset="0"/>
                <a:sym typeface="Arial"/>
              </a:rPr>
              <a:t>50 trong tuần 06 chưa tốt với TH hỏng hóc lặp lại của A893.</a:t>
            </a:r>
          </a:p>
          <a:p>
            <a:pPr marL="380990" indent="-380990" algn="just" defTabSz="1219170">
              <a:buFontTx/>
              <a:buChar char="-"/>
            </a:pPr>
            <a:r>
              <a:rPr lang="en-US" sz="1600" err="1">
                <a:solidFill>
                  <a:prstClr val="black"/>
                </a:solidFill>
                <a:latin typeface="Times New Roman" panose="02020603050405020304" pitchFamily="18" charset="0"/>
                <a:cs typeface="Times New Roman" panose="02020603050405020304" pitchFamily="18" charset="0"/>
                <a:sym typeface="Arial"/>
              </a:rPr>
              <a:t>Hỏng</a:t>
            </a:r>
            <a:r>
              <a:rPr lang="en-US" sz="1600">
                <a:solidFill>
                  <a:prstClr val="black"/>
                </a:solidFill>
                <a:latin typeface="Times New Roman" panose="02020603050405020304" pitchFamily="18" charset="0"/>
                <a:cs typeface="Times New Roman" panose="02020603050405020304" pitchFamily="18" charset="0"/>
                <a:sym typeface="Arial"/>
              </a:rPr>
              <a:t> </a:t>
            </a:r>
            <a:r>
              <a:rPr lang="en-US" sz="1600" err="1">
                <a:solidFill>
                  <a:prstClr val="black"/>
                </a:solidFill>
                <a:latin typeface="Times New Roman" panose="02020603050405020304" pitchFamily="18" charset="0"/>
                <a:cs typeface="Times New Roman" panose="02020603050405020304" pitchFamily="18" charset="0"/>
                <a:sym typeface="Arial"/>
              </a:rPr>
              <a:t>hóc</a:t>
            </a:r>
            <a:r>
              <a:rPr lang="en-US" sz="1600">
                <a:solidFill>
                  <a:prstClr val="black"/>
                </a:solidFill>
                <a:latin typeface="Times New Roman" panose="02020603050405020304" pitchFamily="18" charset="0"/>
                <a:cs typeface="Times New Roman" panose="02020603050405020304" pitchFamily="18" charset="0"/>
                <a:sym typeface="Arial"/>
              </a:rPr>
              <a:t> </a:t>
            </a:r>
            <a:r>
              <a:rPr lang="en-US" sz="1600" err="1">
                <a:solidFill>
                  <a:prstClr val="black"/>
                </a:solidFill>
                <a:latin typeface="Times New Roman" panose="02020603050405020304" pitchFamily="18" charset="0"/>
                <a:cs typeface="Times New Roman" panose="02020603050405020304" pitchFamily="18" charset="0"/>
                <a:sym typeface="Arial"/>
              </a:rPr>
              <a:t>nổi</a:t>
            </a:r>
            <a:r>
              <a:rPr lang="en-US" sz="1600">
                <a:solidFill>
                  <a:prstClr val="black"/>
                </a:solidFill>
                <a:latin typeface="Times New Roman" panose="02020603050405020304" pitchFamily="18" charset="0"/>
                <a:cs typeface="Times New Roman" panose="02020603050405020304" pitchFamily="18" charset="0"/>
                <a:sym typeface="Arial"/>
              </a:rPr>
              <a:t> </a:t>
            </a:r>
            <a:r>
              <a:rPr lang="en-US" sz="1600" err="1">
                <a:solidFill>
                  <a:prstClr val="black"/>
                </a:solidFill>
                <a:latin typeface="Times New Roman" panose="02020603050405020304" pitchFamily="18" charset="0"/>
                <a:cs typeface="Times New Roman" panose="02020603050405020304" pitchFamily="18" charset="0"/>
                <a:sym typeface="Arial"/>
              </a:rPr>
              <a:t>cộm</a:t>
            </a:r>
            <a:r>
              <a:rPr lang="en-US" sz="1600">
                <a:solidFill>
                  <a:prstClr val="black"/>
                </a:solidFill>
                <a:latin typeface="Times New Roman" panose="02020603050405020304" pitchFamily="18" charset="0"/>
                <a:cs typeface="Times New Roman" panose="02020603050405020304" pitchFamily="18" charset="0"/>
                <a:sym typeface="Arial"/>
              </a:rPr>
              <a:t>: </a:t>
            </a:r>
          </a:p>
          <a:p>
            <a:pPr marL="609585" lvl="1" algn="just" defTabSz="1219170"/>
            <a:r>
              <a:rPr lang="en-US" sz="1600">
                <a:solidFill>
                  <a:prstClr val="black"/>
                </a:solidFill>
                <a:latin typeface="Times New Roman" panose="02020603050405020304" pitchFamily="18" charset="0"/>
                <a:cs typeface="Times New Roman" panose="02020603050405020304" pitchFamily="18" charset="0"/>
                <a:sym typeface="Arial"/>
              </a:rPr>
              <a:t>+ A893 delay 03 chuyến bay các ngày 04, 07/02 do hỏng hóc lặp lại  </a:t>
            </a:r>
            <a:r>
              <a:rPr lang="nn-NO" sz="1600">
                <a:solidFill>
                  <a:prstClr val="black"/>
                </a:solidFill>
                <a:latin typeface="Times New Roman" panose="02020603050405020304" pitchFamily="18" charset="0"/>
                <a:cs typeface="Times New Roman" panose="02020603050405020304" pitchFamily="18" charset="0"/>
                <a:sym typeface="Arial"/>
              </a:rPr>
              <a:t>"ENG 1 CTL SYSTEM FAULT« -&gt; RESET OK. Sau đó đã bố trí dừng tàu các ngày 05 và 07/02 để khắc phục, tới nay chưa xuất hiện lại.</a:t>
            </a:r>
            <a:endParaRPr lang="en-US" sz="1600">
              <a:solidFill>
                <a:prstClr val="black"/>
              </a:solidFill>
              <a:latin typeface="Times New Roman" panose="02020603050405020304" pitchFamily="18" charset="0"/>
              <a:cs typeface="Times New Roman" panose="02020603050405020304" pitchFamily="18" charset="0"/>
              <a:sym typeface="Arial"/>
            </a:endParaRPr>
          </a:p>
          <a:p>
            <a:pPr marL="609585" lvl="1" algn="just" defTabSz="1219170"/>
            <a:r>
              <a:rPr lang="vi-VN" sz="1467">
                <a:solidFill>
                  <a:srgbClr val="FF0000"/>
                </a:solidFill>
                <a:latin typeface="Times New Roman" panose="02020603050405020304" pitchFamily="18" charset="0"/>
                <a:cs typeface="Times New Roman" panose="02020603050405020304" pitchFamily="18" charset="0"/>
                <a:sym typeface="Arial"/>
              </a:rPr>
              <a:t>Hỏng hóc:</a:t>
            </a:r>
          </a:p>
          <a:p>
            <a:pPr marL="609585" lvl="1" algn="just" defTabSz="1219170"/>
            <a:r>
              <a:rPr lang="vi-VN" sz="1467">
                <a:solidFill>
                  <a:srgbClr val="FF0000"/>
                </a:solidFill>
                <a:latin typeface="Times New Roman" panose="02020603050405020304" pitchFamily="18" charset="0"/>
                <a:cs typeface="Times New Roman" panose="02020603050405020304" pitchFamily="18" charset="0"/>
                <a:sym typeface="Arial"/>
              </a:rPr>
              <a:t>- Cảnh báo ENG CLT SYS FAULT liên quan đến lỗi hệ thống VSV. VAECO đã tiến hành troubleshoot nhiều lần tuy nhiên hỏng hóc vẫn xuất hiện lại gây Delay giữa các bước T/S. </a:t>
            </a:r>
          </a:p>
          <a:p>
            <a:pPr marL="609585" lvl="1" algn="just" defTabSz="1219170"/>
            <a:r>
              <a:rPr lang="vi-VN" sz="1467">
                <a:solidFill>
                  <a:srgbClr val="FF0000"/>
                </a:solidFill>
                <a:latin typeface="Times New Roman" panose="02020603050405020304" pitchFamily="18" charset="0"/>
                <a:cs typeface="Times New Roman" panose="02020603050405020304" pitchFamily="18" charset="0"/>
                <a:sym typeface="Arial"/>
              </a:rPr>
              <a:t>- Hệ thống VSV bao gồm EEC điều khiển tín hiệu cho Servo Valve nằm trong khối HMU để cấp servo fuel điều khiển VSV Actuator để xoay các Stator Vane. </a:t>
            </a:r>
          </a:p>
          <a:p>
            <a:pPr marL="609585" lvl="1" algn="just" defTabSz="1219170"/>
            <a:r>
              <a:rPr lang="vi-VN" sz="1467">
                <a:solidFill>
                  <a:srgbClr val="FF0000"/>
                </a:solidFill>
                <a:latin typeface="Times New Roman" panose="02020603050405020304" pitchFamily="18" charset="0"/>
                <a:cs typeface="Times New Roman" panose="02020603050405020304" pitchFamily="18" charset="0"/>
                <a:sym typeface="Arial"/>
              </a:rPr>
              <a:t>- VAECO đã tiến hành kiểm tra thay thế các thành phần theo thứ tự TSM: check leak đường ống &gt; thay RH Actuator &gt; LH Actuator &gt; HMU &amp; EEC &gt; thay Fuel Pump (chưa thực hiện). Kể từ 07/02 sau khi thay EEC và HMU, hỏng hóc chưa lặp lại. </a:t>
            </a:r>
          </a:p>
          <a:p>
            <a:pPr marL="609585" lvl="1" algn="just" defTabSz="1219170"/>
            <a:r>
              <a:rPr lang="vi-VN" sz="1467">
                <a:solidFill>
                  <a:srgbClr val="FF0000"/>
                </a:solidFill>
                <a:latin typeface="Times New Roman" panose="02020603050405020304" pitchFamily="18" charset="0"/>
                <a:cs typeface="Times New Roman" panose="02020603050405020304" pitchFamily="18" charset="0"/>
                <a:sym typeface="Arial"/>
              </a:rPr>
              <a:t>Nguyên nhân:</a:t>
            </a:r>
          </a:p>
          <a:p>
            <a:pPr marL="609585" lvl="1" algn="just" defTabSz="1219170"/>
            <a:r>
              <a:rPr lang="vi-VN" sz="1467">
                <a:solidFill>
                  <a:srgbClr val="FF0000"/>
                </a:solidFill>
                <a:latin typeface="Times New Roman" panose="02020603050405020304" pitchFamily="18" charset="0"/>
                <a:cs typeface="Times New Roman" panose="02020603050405020304" pitchFamily="18" charset="0"/>
                <a:sym typeface="Arial"/>
              </a:rPr>
              <a:t>- Thông thường lỗi liên quan đến hệ thống VSV chủ yếu do vấn đề kẹt cơ khí và có thể khắc phục sau khi bôi trơn, đối với dòng động cơ A350 hiện NSX cũng chỉ có TFU 73.20.00.045 liên quan đến vấn đề VSV bôi trơn không đủ. Tuy nhiên với động cơ tàu A893 sau khi đã xử lý các vấn đề cơ khí (check leak, bôi trơn, thay Actuator) vẫn không khắc phục được, do vậy nghi ngờ do lỗi phần mềm điều khiển. </a:t>
            </a:r>
          </a:p>
          <a:p>
            <a:pPr marL="609585" lvl="1" algn="just" defTabSz="1219170"/>
            <a:r>
              <a:rPr lang="vi-VN" sz="1467">
                <a:solidFill>
                  <a:srgbClr val="FF0000"/>
                </a:solidFill>
                <a:latin typeface="Times New Roman" panose="02020603050405020304" pitchFamily="18" charset="0"/>
                <a:cs typeface="Times New Roman" panose="02020603050405020304" pitchFamily="18" charset="0"/>
                <a:sym typeface="Arial"/>
              </a:rPr>
              <a:t>- EEC đang lắp trên động cơ là khối cũ, có TSN/CSN = 15267FH/ 3521 FC, TSR = 0. Khối này tháo năm 2024 do cảnh báo ENGINE SHORTERM MINOR FAULT (lỗi liên quan đến việc ghi dữ liệu lên bộ nhớ EEC lúc nổ máy), với kết quả kiểm tra tại shop là No Fault Found. Tuy nhiên vẫn có khả năng lỗi liên quan đến EEC do EEC của dòng động cơ này có rất nhiều vấn đề liên quan đến phần mềm kể từ khi đưa vào khai thác. </a:t>
            </a:r>
          </a:p>
          <a:p>
            <a:pPr marL="609585" lvl="1" algn="just" defTabSz="1219170"/>
            <a:r>
              <a:rPr lang="vi-VN" sz="1467">
                <a:solidFill>
                  <a:srgbClr val="FF0000"/>
                </a:solidFill>
                <a:latin typeface="Times New Roman" panose="02020603050405020304" pitchFamily="18" charset="0"/>
                <a:cs typeface="Times New Roman" panose="02020603050405020304" pitchFamily="18" charset="0"/>
                <a:sym typeface="Arial"/>
              </a:rPr>
              <a:t>- Đối với HMU là khối mới sản xuất cùng động cơ do vậy khả năng hỏng thấp hơn, tuy nhiên sẽ theo dõi kết quả kiểm tra khi gửi đi shop để đánh giá thêm. </a:t>
            </a:r>
          </a:p>
          <a:p>
            <a:pPr marL="609585" lvl="1" algn="just" defTabSz="1219170"/>
            <a:r>
              <a:rPr lang="vi-VN" sz="1467">
                <a:solidFill>
                  <a:srgbClr val="FF0000"/>
                </a:solidFill>
                <a:latin typeface="Times New Roman" panose="02020603050405020304" pitchFamily="18" charset="0"/>
                <a:cs typeface="Times New Roman" panose="02020603050405020304" pitchFamily="18" charset="0"/>
                <a:sym typeface="Arial"/>
              </a:rPr>
              <a:t>Giải pháp:</a:t>
            </a:r>
          </a:p>
          <a:p>
            <a:pPr marL="609585" lvl="1" algn="just" defTabSz="1219170"/>
            <a:r>
              <a:rPr lang="vi-VN" sz="1467">
                <a:solidFill>
                  <a:srgbClr val="FF0000"/>
                </a:solidFill>
                <a:latin typeface="Times New Roman" panose="02020603050405020304" pitchFamily="18" charset="0"/>
                <a:cs typeface="Times New Roman" panose="02020603050405020304" pitchFamily="18" charset="0"/>
                <a:sym typeface="Arial"/>
              </a:rPr>
              <a:t>- Mặc dù triển khai bôi trơn VSV không hiệu quả, tuy nhiên dạng hỏng hóc và giải pháp trong TFU 73.20.00.045 đã được nhận diện, do vậy VAECO sẽ tiến hành đặt mua tool bôi trơn chuẩn và VNA sẽ áp dụng chương trình bôi trơn chủ động với các trường hợp động cơ bị lặp lại tương tự V2500.  </a:t>
            </a:r>
          </a:p>
          <a:p>
            <a:pPr marL="609585" lvl="1" algn="just" defTabSz="1219170"/>
            <a:r>
              <a:rPr lang="vi-VN" sz="1467">
                <a:solidFill>
                  <a:srgbClr val="FF0000"/>
                </a:solidFill>
                <a:latin typeface="Times New Roman" panose="02020603050405020304" pitchFamily="18" charset="0"/>
                <a:cs typeface="Times New Roman" panose="02020603050405020304" pitchFamily="18" charset="0"/>
                <a:sym typeface="Arial"/>
              </a:rPr>
              <a:t>- Về khả năng lỗi liên quan đến EEC: KTMB sẽ tiếp tục follow với NSX và Shop để xác nhận lỗi cũng như yêu cầu giải pháp phòng ngừa cụ thể.</a:t>
            </a:r>
            <a:endParaRPr lang="en-US" sz="1467">
              <a:solidFill>
                <a:srgbClr val="FF0000"/>
              </a:solidFill>
              <a:latin typeface="Times New Roman" panose="02020603050405020304" pitchFamily="18" charset="0"/>
              <a:cs typeface="Times New Roman" panose="02020603050405020304" pitchFamily="18" charset="0"/>
              <a:sym typeface="Arial"/>
            </a:endParaRPr>
          </a:p>
          <a:p>
            <a:pPr marL="609585" lvl="1" algn="just" defTabSz="1219170"/>
            <a:r>
              <a:rPr lang="en-US" sz="1600">
                <a:solidFill>
                  <a:srgbClr val="000000"/>
                </a:solidFill>
                <a:latin typeface="Times New Roman" panose="02020603050405020304" pitchFamily="18" charset="0"/>
                <a:cs typeface="Times New Roman" panose="02020603050405020304" pitchFamily="18" charset="0"/>
                <a:sym typeface="Arial"/>
              </a:rPr>
              <a:t>+ A893 có ADD APU INOP cần thay tuy nhiên dự kiến 14/02 mới có VT.</a:t>
            </a:r>
            <a:endParaRPr lang="en-US" sz="1600">
              <a:solidFill>
                <a:srgbClr val="FF0000"/>
              </a:solidFill>
              <a:latin typeface="Times New Roman" panose="02020603050405020304" pitchFamily="18" charset="0"/>
              <a:cs typeface="Times New Roman" panose="02020603050405020304" pitchFamily="18" charset="0"/>
              <a:sym typeface="Arial"/>
            </a:endParaRPr>
          </a:p>
        </p:txBody>
      </p:sp>
    </p:spTree>
    <p:extLst>
      <p:ext uri="{BB962C8B-B14F-4D97-AF65-F5344CB8AC3E}">
        <p14:creationId xmlns:p14="http://schemas.microsoft.com/office/powerpoint/2010/main" val="35178635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2D70F59A-F75E-2F2B-E505-E3D07F7E24A1}"/>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AEA3FCE7-A57A-5EAD-1892-C0E7A4FE0C3C}"/>
              </a:ext>
            </a:extLst>
          </p:cNvPr>
          <p:cNvSpPr txBox="1">
            <a:spLocks noGrp="1"/>
          </p:cNvSpPr>
          <p:nvPr>
            <p:ph type="sldNum" idx="12"/>
          </p:nvPr>
        </p:nvSpPr>
        <p:spPr>
          <a:xfrm>
            <a:off x="11484784" y="6310756"/>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34276AA2-D940-E01C-D7BC-0F3A4DE83381}"/>
              </a:ext>
            </a:extLst>
          </p:cNvPr>
          <p:cNvSpPr>
            <a:spLocks noGrp="1"/>
          </p:cNvSpPr>
          <p:nvPr>
            <p:ph type="title"/>
          </p:nvPr>
        </p:nvSpPr>
        <p:spPr>
          <a:xfrm>
            <a:off x="228600" y="93133"/>
            <a:ext cx="9155467" cy="551496"/>
          </a:xfrm>
        </p:spPr>
        <p:txBody>
          <a:bodyPr rtlCol="0">
            <a:noAutofit/>
          </a:bodyPr>
          <a:lstStyle/>
          <a:p>
            <a:pPr>
              <a:defRPr/>
            </a:pPr>
            <a:r>
              <a:rPr lang="en-US" dirty="0">
                <a:ln w="0"/>
                <a:solidFill>
                  <a:schemeClr val="accent4"/>
                </a:solidFill>
                <a:latin typeface="Times New Roman" panose="02020603050405020304" pitchFamily="18" charset="0"/>
                <a:cs typeface="Times New Roman" panose="02020603050405020304" pitchFamily="18" charset="0"/>
              </a:rPr>
              <a:t>TÌNH TRẠNG KỸ THUẬT ĐỘI BAY – </a:t>
            </a:r>
            <a:r>
              <a:rPr lang="vi-VN" dirty="0">
                <a:ln w="0"/>
                <a:solidFill>
                  <a:schemeClr val="accent4"/>
                </a:solidFill>
                <a:latin typeface="Times New Roman" panose="02020603050405020304" pitchFamily="18" charset="0"/>
                <a:cs typeface="Times New Roman" panose="02020603050405020304" pitchFamily="18" charset="0"/>
              </a:rPr>
              <a:t>B787</a:t>
            </a:r>
          </a:p>
        </p:txBody>
      </p:sp>
      <p:sp>
        <p:nvSpPr>
          <p:cNvPr id="8" name="TextBox 7">
            <a:extLst>
              <a:ext uri="{FF2B5EF4-FFF2-40B4-BE49-F238E27FC236}">
                <a16:creationId xmlns:a16="http://schemas.microsoft.com/office/drawing/2014/main" id="{707FA246-4B8B-393F-FE30-333DDD45FBD4}"/>
              </a:ext>
            </a:extLst>
          </p:cNvPr>
          <p:cNvSpPr txBox="1"/>
          <p:nvPr/>
        </p:nvSpPr>
        <p:spPr>
          <a:xfrm>
            <a:off x="152397"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 		Delay: 04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3" name="TextBox 2">
            <a:extLst>
              <a:ext uri="{FF2B5EF4-FFF2-40B4-BE49-F238E27FC236}">
                <a16:creationId xmlns:a16="http://schemas.microsoft.com/office/drawing/2014/main" id="{D81119D0-6F80-6B55-5FD9-8175EDB24096}"/>
              </a:ext>
            </a:extLst>
          </p:cNvPr>
          <p:cNvSpPr txBox="1"/>
          <p:nvPr/>
        </p:nvSpPr>
        <p:spPr>
          <a:xfrm>
            <a:off x="152397" y="1236922"/>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04</a:t>
            </a:r>
          </a:p>
        </p:txBody>
      </p:sp>
      <p:graphicFrame>
        <p:nvGraphicFramePr>
          <p:cNvPr id="4" name="Table 3">
            <a:extLst>
              <a:ext uri="{FF2B5EF4-FFF2-40B4-BE49-F238E27FC236}">
                <a16:creationId xmlns:a16="http://schemas.microsoft.com/office/drawing/2014/main" id="{36D228A3-2957-9776-AA00-6ED0500D28D6}"/>
              </a:ext>
            </a:extLst>
          </p:cNvPr>
          <p:cNvGraphicFramePr>
            <a:graphicFrameLocks noGrp="1"/>
          </p:cNvGraphicFramePr>
          <p:nvPr>
            <p:extLst>
              <p:ext uri="{D42A27DB-BD31-4B8C-83A1-F6EECF244321}">
                <p14:modId xmlns:p14="http://schemas.microsoft.com/office/powerpoint/2010/main" val="3106418336"/>
              </p:ext>
            </p:extLst>
          </p:nvPr>
        </p:nvGraphicFramePr>
        <p:xfrm>
          <a:off x="152397" y="1774593"/>
          <a:ext cx="11688716" cy="2812647"/>
        </p:xfrm>
        <a:graphic>
          <a:graphicData uri="http://schemas.openxmlformats.org/drawingml/2006/table">
            <a:tbl>
              <a:tblPr/>
              <a:tblGrid>
                <a:gridCol w="420683">
                  <a:extLst>
                    <a:ext uri="{9D8B030D-6E8A-4147-A177-3AD203B41FA5}">
                      <a16:colId xmlns:a16="http://schemas.microsoft.com/office/drawing/2014/main" val="3532412126"/>
                    </a:ext>
                  </a:extLst>
                </a:gridCol>
                <a:gridCol w="727397">
                  <a:extLst>
                    <a:ext uri="{9D8B030D-6E8A-4147-A177-3AD203B41FA5}">
                      <a16:colId xmlns:a16="http://schemas.microsoft.com/office/drawing/2014/main" val="2246453922"/>
                    </a:ext>
                  </a:extLst>
                </a:gridCol>
                <a:gridCol w="375923">
                  <a:extLst>
                    <a:ext uri="{9D8B030D-6E8A-4147-A177-3AD203B41FA5}">
                      <a16:colId xmlns:a16="http://schemas.microsoft.com/office/drawing/2014/main" val="3831941748"/>
                    </a:ext>
                  </a:extLst>
                </a:gridCol>
                <a:gridCol w="685800">
                  <a:extLst>
                    <a:ext uri="{9D8B030D-6E8A-4147-A177-3AD203B41FA5}">
                      <a16:colId xmlns:a16="http://schemas.microsoft.com/office/drawing/2014/main" val="961761706"/>
                    </a:ext>
                  </a:extLst>
                </a:gridCol>
                <a:gridCol w="457200">
                  <a:extLst>
                    <a:ext uri="{9D8B030D-6E8A-4147-A177-3AD203B41FA5}">
                      <a16:colId xmlns:a16="http://schemas.microsoft.com/office/drawing/2014/main" val="1638648152"/>
                    </a:ext>
                  </a:extLst>
                </a:gridCol>
                <a:gridCol w="838200">
                  <a:extLst>
                    <a:ext uri="{9D8B030D-6E8A-4147-A177-3AD203B41FA5}">
                      <a16:colId xmlns:a16="http://schemas.microsoft.com/office/drawing/2014/main" val="1768356610"/>
                    </a:ext>
                  </a:extLst>
                </a:gridCol>
                <a:gridCol w="2590800">
                  <a:extLst>
                    <a:ext uri="{9D8B030D-6E8A-4147-A177-3AD203B41FA5}">
                      <a16:colId xmlns:a16="http://schemas.microsoft.com/office/drawing/2014/main" val="3401757400"/>
                    </a:ext>
                  </a:extLst>
                </a:gridCol>
                <a:gridCol w="2514600">
                  <a:extLst>
                    <a:ext uri="{9D8B030D-6E8A-4147-A177-3AD203B41FA5}">
                      <a16:colId xmlns:a16="http://schemas.microsoft.com/office/drawing/2014/main" val="3320069203"/>
                    </a:ext>
                  </a:extLst>
                </a:gridCol>
                <a:gridCol w="457200">
                  <a:extLst>
                    <a:ext uri="{9D8B030D-6E8A-4147-A177-3AD203B41FA5}">
                      <a16:colId xmlns:a16="http://schemas.microsoft.com/office/drawing/2014/main" val="4279825923"/>
                    </a:ext>
                  </a:extLst>
                </a:gridCol>
                <a:gridCol w="2620913">
                  <a:extLst>
                    <a:ext uri="{9D8B030D-6E8A-4147-A177-3AD203B41FA5}">
                      <a16:colId xmlns:a16="http://schemas.microsoft.com/office/drawing/2014/main" val="1988727542"/>
                    </a:ext>
                  </a:extLst>
                </a:gridCol>
              </a:tblGrid>
              <a:tr h="87529">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627700936"/>
                  </a:ext>
                </a:extLst>
              </a:tr>
              <a:tr h="1331349">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A861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00:03 08/02/2025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VN37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HAN-FRA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VN220-37 </a:t>
                      </a:r>
                      <a:r>
                        <a:rPr lang="vi-VN" sz="1100" b="0" i="0" u="none" strike="noStrike">
                          <a:solidFill>
                            <a:srgbClr val="000000"/>
                          </a:solidFill>
                          <a:effectLst/>
                          <a:latin typeface="Times New Roman" panose="02020603050405020304" pitchFamily="18" charset="0"/>
                          <a:cs typeface="Times New Roman" panose="02020603050405020304" pitchFamily="18" charset="0"/>
                        </a:rPr>
                        <a:t>SGN-HAN-FRA (22:25-23:45) Sau khi nổ máy xong, chuẩn bị TAXI, Xuất hiện MSG R CENTER FUEL PUMP LOW </a:t>
                      </a:r>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PRESS;Capt </a:t>
                      </a:r>
                      <a:r>
                        <a:rPr lang="vi-VN" sz="1100" b="0" i="0" u="none" strike="noStrike">
                          <a:solidFill>
                            <a:srgbClr val="000000"/>
                          </a:solidFill>
                          <a:effectLst/>
                          <a:latin typeface="Times New Roman" panose="02020603050405020304" pitchFamily="18" charset="0"/>
                          <a:cs typeface="Times New Roman" panose="02020603050405020304" pitchFamily="18" charset="0"/>
                        </a:rPr>
                        <a:t>reset ON/OFF </a:t>
                      </a:r>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Pump- </a:t>
                      </a:r>
                      <a:r>
                        <a:rPr lang="vi-VN" sz="1100" b="0" i="0" u="none" strike="noStrike">
                          <a:solidFill>
                            <a:srgbClr val="000000"/>
                          </a:solidFill>
                          <a:effectLst/>
                          <a:latin typeface="Times New Roman" panose="02020603050405020304" pitchFamily="18" charset="0"/>
                          <a:cs typeface="Times New Roman" panose="02020603050405020304" pitchFamily="18" charset="0"/>
                        </a:rPr>
                        <a:t>nil </a:t>
                      </a:r>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help</a:t>
                      </a:r>
                      <a:endParaRPr lang="vi-V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Thực </a:t>
                      </a:r>
                      <a:r>
                        <a:rPr lang="vi-VN" sz="1100" b="0" i="0" u="none" strike="noStrike">
                          <a:solidFill>
                            <a:srgbClr val="000000"/>
                          </a:solidFill>
                          <a:effectLst/>
                          <a:latin typeface="Times New Roman" panose="02020603050405020304" pitchFamily="18" charset="0"/>
                          <a:cs typeface="Times New Roman" panose="02020603050405020304" pitchFamily="18" charset="0"/>
                        </a:rPr>
                        <a:t>hiện reset MMSG theo FIMS và mở ADD B1527 MEL </a:t>
                      </a:r>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28-22-02A</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a:t>
                      </a:r>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 </a:t>
                      </a:r>
                      <a:r>
                        <a:rPr lang="vi-VN" sz="1100" b="0" i="0" u="none" strike="noStrike">
                          <a:solidFill>
                            <a:srgbClr val="000000"/>
                          </a:solidFill>
                          <a:effectLst/>
                          <a:latin typeface="Times New Roman" panose="02020603050405020304" pitchFamily="18" charset="0"/>
                          <a:cs typeface="Times New Roman" panose="02020603050405020304" pitchFamily="18" charset="0"/>
                        </a:rPr>
                        <a:t>EVENT </a:t>
                      </a:r>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CLOSED</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a:t>
                      </a:r>
                      <a:endParaRPr lang="vi-V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28-00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Hỏng hóc có thể do Wiring, Pressure switch, Pump, Pump controller. Tuy nhiên ĐTC của 3 khối này vẫn bình thường. Số lượng tháo lắp các khối này là  Pressure switch 8; Pump 3; Controller 5. Đợi kết quả TS để đánh giá thêm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6760425"/>
                  </a:ext>
                </a:extLst>
              </a:tr>
              <a:tr h="1143000">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A864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00:00 08/02/2025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VN31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SGN-FRA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AFTER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BOARDING, PURSUR INFORM ALL READING </a:t>
                      </a:r>
                      <a:r>
                        <a:rPr lang="en-US" sz="1100" b="0" i="0" u="none" strike="noStrike">
                          <a:solidFill>
                            <a:srgbClr val="000000"/>
                          </a:solidFill>
                          <a:effectLst/>
                          <a:latin typeface="Times New Roman" panose="02020603050405020304" pitchFamily="18" charset="0"/>
                          <a:cs typeface="Times New Roman" panose="02020603050405020304" pitchFamily="18" charset="0"/>
                        </a:rPr>
                        <a:t>LIGHT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CALL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FLT </a:t>
                      </a:r>
                      <a:r>
                        <a:rPr lang="en-US" sz="1100" b="0" i="0" u="none" strike="noStrike">
                          <a:solidFill>
                            <a:srgbClr val="000000"/>
                          </a:solidFill>
                          <a:effectLst/>
                          <a:latin typeface="Times New Roman" panose="02020603050405020304" pitchFamily="18" charset="0"/>
                          <a:cs typeface="Times New Roman" panose="02020603050405020304" pitchFamily="18" charset="0"/>
                        </a:rPr>
                        <a:t>ATTENDANT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INOP</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ACTION:</a:t>
                      </a:r>
                      <a:r>
                        <a:rPr lang="vi-VN" sz="1100" b="0" i="0" u="none" strike="noStrike">
                          <a:solidFill>
                            <a:srgbClr val="000000"/>
                          </a:solidFill>
                          <a:effectLst/>
                          <a:latin typeface="Times New Roman" panose="02020603050405020304" pitchFamily="18" charset="0"/>
                          <a:cs typeface="Times New Roman" panose="02020603050405020304" pitchFamily="18" charset="0"/>
                        </a:rPr>
                        <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 CHECK NO MSG ON </a:t>
                      </a:r>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EICAS</a:t>
                      </a:r>
                      <a:r>
                        <a:rPr lang="vi-VN" sz="1100" b="0" i="0" u="none" strike="noStrike">
                          <a:solidFill>
                            <a:srgbClr val="000000"/>
                          </a:solidFill>
                          <a:effectLst/>
                          <a:latin typeface="Times New Roman" panose="02020603050405020304" pitchFamily="18" charset="0"/>
                          <a:cs typeface="Times New Roman" panose="02020603050405020304" pitchFamily="18" charset="0"/>
                        </a:rPr>
                        <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 RESET CB CSS BUT NIL </a:t>
                      </a:r>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HELP</a:t>
                      </a:r>
                      <a:r>
                        <a:rPr lang="vi-VN" sz="1100" b="0" i="0" u="none" strike="noStrike">
                          <a:solidFill>
                            <a:srgbClr val="000000"/>
                          </a:solidFill>
                          <a:effectLst/>
                          <a:latin typeface="Times New Roman" panose="02020603050405020304" pitchFamily="18" charset="0"/>
                          <a:cs typeface="Times New Roman" panose="02020603050405020304" pitchFamily="18" charset="0"/>
                        </a:rPr>
                        <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 RESET IFE POWER </a:t>
                      </a:r>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CABIN </a:t>
                      </a:r>
                      <a:r>
                        <a:rPr lang="vi-VN" sz="1100" b="0" i="0" u="none" strike="noStrike">
                          <a:solidFill>
                            <a:srgbClr val="000000"/>
                          </a:solidFill>
                          <a:effectLst/>
                          <a:latin typeface="Times New Roman" panose="02020603050405020304" pitchFamily="18" charset="0"/>
                          <a:cs typeface="Times New Roman" panose="02020603050405020304" pitchFamily="18" charset="0"/>
                        </a:rPr>
                        <a:t>ULTI ON </a:t>
                      </a:r>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COCKPIT; </a:t>
                      </a:r>
                      <a:r>
                        <a:rPr lang="vi-VN" sz="1100" b="0" i="0" u="none" strike="noStrike">
                          <a:solidFill>
                            <a:srgbClr val="000000"/>
                          </a:solidFill>
                          <a:effectLst/>
                          <a:latin typeface="Times New Roman" panose="02020603050405020304" pitchFamily="18" charset="0"/>
                          <a:cs typeface="Times New Roman" panose="02020603050405020304" pitchFamily="18" charset="0"/>
                        </a:rPr>
                        <a:t>CHECK ALL SYS </a:t>
                      </a:r>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NORMAL</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 </a:t>
                      </a:r>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EVENT CLOSED</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a:t>
                      </a:r>
                      <a:endParaRPr lang="vi-V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Thực hiện reset IFE, hệ thống hoạt động trở lại bình thường. Theo dõi thêm.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26929310"/>
                  </a:ext>
                </a:extLst>
              </a:tr>
            </a:tbl>
          </a:graphicData>
        </a:graphic>
      </p:graphicFrame>
    </p:spTree>
    <p:extLst>
      <p:ext uri="{BB962C8B-B14F-4D97-AF65-F5344CB8AC3E}">
        <p14:creationId xmlns:p14="http://schemas.microsoft.com/office/powerpoint/2010/main" val="3219725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C13C312-D70A-9284-0630-88C5BE2E54A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F4FE1774-B940-81F5-D2CD-91AD731940D1}"/>
              </a:ext>
            </a:extLst>
          </p:cNvPr>
          <p:cNvSpPr txBox="1">
            <a:spLocks noGrp="1"/>
          </p:cNvSpPr>
          <p:nvPr>
            <p:ph type="sldNum" idx="12"/>
          </p:nvPr>
        </p:nvSpPr>
        <p:spPr>
          <a:xfrm>
            <a:off x="11484784" y="6310756"/>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764B7DCF-395D-81F5-8A4C-04464E428269}"/>
              </a:ext>
            </a:extLst>
          </p:cNvPr>
          <p:cNvSpPr>
            <a:spLocks noGrp="1"/>
          </p:cNvSpPr>
          <p:nvPr>
            <p:ph type="title"/>
          </p:nvPr>
        </p:nvSpPr>
        <p:spPr>
          <a:xfrm>
            <a:off x="228600" y="93133"/>
            <a:ext cx="9155467" cy="551496"/>
          </a:xfrm>
        </p:spPr>
        <p:txBody>
          <a:bodyPr rtlCol="0">
            <a:noAutofit/>
          </a:bodyPr>
          <a:lstStyle/>
          <a:p>
            <a:pPr>
              <a:defRPr/>
            </a:pPr>
            <a:r>
              <a:rPr lang="en-US" dirty="0">
                <a:ln w="0"/>
                <a:solidFill>
                  <a:schemeClr val="accent4"/>
                </a:solidFill>
                <a:latin typeface="Times New Roman" panose="02020603050405020304" pitchFamily="18" charset="0"/>
                <a:cs typeface="Times New Roman" panose="02020603050405020304" pitchFamily="18" charset="0"/>
              </a:rPr>
              <a:t>TÌNH TRẠNG KỸ THUẬT ĐỘI BAY – </a:t>
            </a:r>
            <a:r>
              <a:rPr lang="vi-VN" dirty="0">
                <a:ln w="0"/>
                <a:solidFill>
                  <a:schemeClr val="accent4"/>
                </a:solidFill>
                <a:latin typeface="Times New Roman" panose="02020603050405020304" pitchFamily="18" charset="0"/>
                <a:cs typeface="Times New Roman" panose="02020603050405020304" pitchFamily="18" charset="0"/>
              </a:rPr>
              <a:t>B787</a:t>
            </a:r>
          </a:p>
        </p:txBody>
      </p:sp>
      <p:sp>
        <p:nvSpPr>
          <p:cNvPr id="8" name="TextBox 7">
            <a:extLst>
              <a:ext uri="{FF2B5EF4-FFF2-40B4-BE49-F238E27FC236}">
                <a16:creationId xmlns:a16="http://schemas.microsoft.com/office/drawing/2014/main" id="{2CBA75BF-344D-1F77-B8E2-999461A5F905}"/>
              </a:ext>
            </a:extLst>
          </p:cNvPr>
          <p:cNvSpPr txBox="1"/>
          <p:nvPr/>
        </p:nvSpPr>
        <p:spPr>
          <a:xfrm>
            <a:off x="152397"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 		Delay: 04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3" name="TextBox 2">
            <a:extLst>
              <a:ext uri="{FF2B5EF4-FFF2-40B4-BE49-F238E27FC236}">
                <a16:creationId xmlns:a16="http://schemas.microsoft.com/office/drawing/2014/main" id="{AA90BFB6-4901-91D1-8D16-B0D8CB3D4975}"/>
              </a:ext>
            </a:extLst>
          </p:cNvPr>
          <p:cNvSpPr txBox="1"/>
          <p:nvPr/>
        </p:nvSpPr>
        <p:spPr>
          <a:xfrm>
            <a:off x="152397" y="1236922"/>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04</a:t>
            </a:r>
          </a:p>
        </p:txBody>
      </p:sp>
      <p:graphicFrame>
        <p:nvGraphicFramePr>
          <p:cNvPr id="4" name="Table 3">
            <a:extLst>
              <a:ext uri="{FF2B5EF4-FFF2-40B4-BE49-F238E27FC236}">
                <a16:creationId xmlns:a16="http://schemas.microsoft.com/office/drawing/2014/main" id="{C7B6A619-95B6-B662-3168-42E73FCE4314}"/>
              </a:ext>
            </a:extLst>
          </p:cNvPr>
          <p:cNvGraphicFramePr>
            <a:graphicFrameLocks noGrp="1"/>
          </p:cNvGraphicFramePr>
          <p:nvPr>
            <p:extLst>
              <p:ext uri="{D42A27DB-BD31-4B8C-83A1-F6EECF244321}">
                <p14:modId xmlns:p14="http://schemas.microsoft.com/office/powerpoint/2010/main" val="1512216105"/>
              </p:ext>
            </p:extLst>
          </p:nvPr>
        </p:nvGraphicFramePr>
        <p:xfrm>
          <a:off x="152397" y="1774593"/>
          <a:ext cx="11688716" cy="3207228"/>
        </p:xfrm>
        <a:graphic>
          <a:graphicData uri="http://schemas.openxmlformats.org/drawingml/2006/table">
            <a:tbl>
              <a:tblPr/>
              <a:tblGrid>
                <a:gridCol w="420683">
                  <a:extLst>
                    <a:ext uri="{9D8B030D-6E8A-4147-A177-3AD203B41FA5}">
                      <a16:colId xmlns:a16="http://schemas.microsoft.com/office/drawing/2014/main" val="3532412126"/>
                    </a:ext>
                  </a:extLst>
                </a:gridCol>
                <a:gridCol w="727397">
                  <a:extLst>
                    <a:ext uri="{9D8B030D-6E8A-4147-A177-3AD203B41FA5}">
                      <a16:colId xmlns:a16="http://schemas.microsoft.com/office/drawing/2014/main" val="2246453922"/>
                    </a:ext>
                  </a:extLst>
                </a:gridCol>
                <a:gridCol w="375923">
                  <a:extLst>
                    <a:ext uri="{9D8B030D-6E8A-4147-A177-3AD203B41FA5}">
                      <a16:colId xmlns:a16="http://schemas.microsoft.com/office/drawing/2014/main" val="3831941748"/>
                    </a:ext>
                  </a:extLst>
                </a:gridCol>
                <a:gridCol w="685800">
                  <a:extLst>
                    <a:ext uri="{9D8B030D-6E8A-4147-A177-3AD203B41FA5}">
                      <a16:colId xmlns:a16="http://schemas.microsoft.com/office/drawing/2014/main" val="961761706"/>
                    </a:ext>
                  </a:extLst>
                </a:gridCol>
                <a:gridCol w="457200">
                  <a:extLst>
                    <a:ext uri="{9D8B030D-6E8A-4147-A177-3AD203B41FA5}">
                      <a16:colId xmlns:a16="http://schemas.microsoft.com/office/drawing/2014/main" val="1638648152"/>
                    </a:ext>
                  </a:extLst>
                </a:gridCol>
                <a:gridCol w="838200">
                  <a:extLst>
                    <a:ext uri="{9D8B030D-6E8A-4147-A177-3AD203B41FA5}">
                      <a16:colId xmlns:a16="http://schemas.microsoft.com/office/drawing/2014/main" val="1768356610"/>
                    </a:ext>
                  </a:extLst>
                </a:gridCol>
                <a:gridCol w="2590800">
                  <a:extLst>
                    <a:ext uri="{9D8B030D-6E8A-4147-A177-3AD203B41FA5}">
                      <a16:colId xmlns:a16="http://schemas.microsoft.com/office/drawing/2014/main" val="3401757400"/>
                    </a:ext>
                  </a:extLst>
                </a:gridCol>
                <a:gridCol w="2514600">
                  <a:extLst>
                    <a:ext uri="{9D8B030D-6E8A-4147-A177-3AD203B41FA5}">
                      <a16:colId xmlns:a16="http://schemas.microsoft.com/office/drawing/2014/main" val="3320069203"/>
                    </a:ext>
                  </a:extLst>
                </a:gridCol>
                <a:gridCol w="457200">
                  <a:extLst>
                    <a:ext uri="{9D8B030D-6E8A-4147-A177-3AD203B41FA5}">
                      <a16:colId xmlns:a16="http://schemas.microsoft.com/office/drawing/2014/main" val="4279825923"/>
                    </a:ext>
                  </a:extLst>
                </a:gridCol>
                <a:gridCol w="2620913">
                  <a:extLst>
                    <a:ext uri="{9D8B030D-6E8A-4147-A177-3AD203B41FA5}">
                      <a16:colId xmlns:a16="http://schemas.microsoft.com/office/drawing/2014/main" val="1988727542"/>
                    </a:ext>
                  </a:extLst>
                </a:gridCol>
              </a:tblGrid>
              <a:tr h="87529">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627700936"/>
                  </a:ext>
                </a:extLst>
              </a:tr>
              <a:tr h="1331349">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A865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23:07 07/02/2025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VN428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HAN-PUS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T/X </a:t>
                      </a:r>
                      <a:r>
                        <a:rPr lang="vi-VN" sz="1100" b="0" i="0" u="none" strike="noStrike">
                          <a:solidFill>
                            <a:srgbClr val="000000"/>
                          </a:solidFill>
                          <a:effectLst/>
                          <a:latin typeface="Times New Roman" panose="02020603050405020304" pitchFamily="18" charset="0"/>
                          <a:cs typeface="Times New Roman" panose="02020603050405020304" pitchFamily="18" charset="0"/>
                        </a:rPr>
                        <a:t>Capt ghi sổ ELEC GEN SYS </a:t>
                      </a:r>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L2</a:t>
                      </a:r>
                      <a:endParaRPr lang="vi-V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Nổ </a:t>
                      </a:r>
                      <a:r>
                        <a:rPr lang="vi-VN" sz="1100" b="0" i="0" u="none" strike="noStrike">
                          <a:solidFill>
                            <a:srgbClr val="000000"/>
                          </a:solidFill>
                          <a:effectLst/>
                          <a:latin typeface="Times New Roman" panose="02020603050405020304" pitchFamily="18" charset="0"/>
                          <a:cs typeface="Times New Roman" panose="02020603050405020304" pitchFamily="18" charset="0"/>
                        </a:rPr>
                        <a:t>máy kiểm tra theo MEL 24-22-01-03A và mở ADD B1252 STS MSG ELEC GEN </a:t>
                      </a:r>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SYS L2</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a:t>
                      </a:r>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 </a:t>
                      </a:r>
                      <a:r>
                        <a:rPr lang="vi-VN" sz="1100" b="0" i="0" u="none" strike="noStrike">
                          <a:solidFill>
                            <a:srgbClr val="000000"/>
                          </a:solidFill>
                          <a:effectLst/>
                          <a:latin typeface="Times New Roman" panose="02020603050405020304" pitchFamily="18" charset="0"/>
                          <a:cs typeface="Times New Roman" panose="02020603050405020304" pitchFamily="18" charset="0"/>
                        </a:rPr>
                        <a:t>EVENT </a:t>
                      </a:r>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CLOSED</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a:t>
                      </a:r>
                      <a:endParaRPr lang="vi-V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24-22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Khối VFSG L2 PN: 7001330H03, SN: AAEF001873 là khối premod cuối cùng trên fleet B787. Khối này ban đầu lắp lên A866 từ 21/4/2017 sau đó được tháo xuống 5/6/2020 để thực hiện gửi đi nâng cấp làm mod H04 tuy nhiên do tàu A865 thời điểm đó đang có defect về VFSG đã được lắp lên A865 từ 10/6/2020 và khai thác đến tận nay. TSN=27999FH, GMTBUR=12000FH. Dự kiến sẽ thay VFSG để khắc phục.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6760425"/>
                  </a:ext>
                </a:extLst>
              </a:tr>
              <a:tr h="1143000">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A864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18:10 04/02/2025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MUC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36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VN32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MUC-SGN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GPU </a:t>
                      </a:r>
                      <a:r>
                        <a:rPr lang="en-US" sz="1100" b="0" i="0" u="none" strike="noStrike">
                          <a:solidFill>
                            <a:srgbClr val="000000"/>
                          </a:solidFill>
                          <a:effectLst/>
                          <a:latin typeface="Times New Roman" panose="02020603050405020304" pitchFamily="18" charset="0"/>
                          <a:cs typeface="Times New Roman" panose="02020603050405020304" pitchFamily="18" charset="0"/>
                        </a:rPr>
                        <a:t>PANEL LIGHT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U/S</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C/O </a:t>
                      </a:r>
                      <a:r>
                        <a:rPr lang="en-US" sz="1100" b="0" i="0" u="none" strike="noStrike">
                          <a:solidFill>
                            <a:srgbClr val="000000"/>
                          </a:solidFill>
                          <a:effectLst/>
                          <a:latin typeface="Times New Roman" panose="02020603050405020304" pitchFamily="18" charset="0"/>
                          <a:cs typeface="Times New Roman" panose="02020603050405020304" pitchFamily="18" charset="0"/>
                        </a:rPr>
                        <a:t>RAISED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C1084. </a:t>
                      </a:r>
                      <a:r>
                        <a:rPr lang="en-US" sz="1100" b="0" i="0" u="none" strike="noStrike">
                          <a:solidFill>
                            <a:srgbClr val="000000"/>
                          </a:solidFill>
                          <a:effectLst/>
                          <a:latin typeface="Times New Roman" panose="02020603050405020304" pitchFamily="18" charset="0"/>
                          <a:cs typeface="Times New Roman" panose="02020603050405020304" pitchFamily="18" charset="0"/>
                        </a:rPr>
                        <a:t>EVENT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CLOSED</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Đèn External Power Panel Lamp AVAIL không sáng khi cắm nguồn điện ngoài. Dự kiến thay LIGHT ASSY - NON DIMMER IND PN: 5-86557-203 để khắc phục. Hiện không có FTD liên quan. Không có thông tin tháo lắp ngoài kế hoạch trên fleet VNA. Theo dõi thêm.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26929310"/>
                  </a:ext>
                </a:extLst>
              </a:tr>
            </a:tbl>
          </a:graphicData>
        </a:graphic>
      </p:graphicFrame>
    </p:spTree>
    <p:extLst>
      <p:ext uri="{BB962C8B-B14F-4D97-AF65-F5344CB8AC3E}">
        <p14:creationId xmlns:p14="http://schemas.microsoft.com/office/powerpoint/2010/main" val="42279724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defTabSz="1219170">
              <a:buClr>
                <a:srgbClr val="000000"/>
              </a:buClr>
            </a:pPr>
            <a:fld id="{00000000-1234-1234-1234-123412341234}" type="slidenum">
              <a:rPr lang="vi" kern="0">
                <a:solidFill>
                  <a:srgbClr val="595959"/>
                </a:solidFill>
                <a:latin typeface="Arial"/>
                <a:cs typeface="Arial"/>
                <a:sym typeface="Arial"/>
              </a:rPr>
              <a:pPr defTabSz="1219170">
                <a:buClr>
                  <a:srgbClr val="000000"/>
                </a:buClr>
              </a:pPr>
              <a:t>16</a:t>
            </a:fld>
            <a:endParaRPr kern="0">
              <a:solidFill>
                <a:srgbClr val="595959"/>
              </a:solidFill>
              <a:latin typeface="Arial"/>
              <a:cs typeface="Arial"/>
              <a:sym typeface="Arial"/>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175690" y="2906"/>
            <a:ext cx="8474831" cy="498494"/>
          </a:xfrm>
          <a:prstGeom prst="rect">
            <a:avLst/>
          </a:prstGeom>
          <a:noFill/>
          <a:ln>
            <a:noFill/>
          </a:ln>
        </p:spPr>
        <p:txBody>
          <a:bodyPr spcFirstLastPara="1" wrap="square" lIns="91433" tIns="45700" rIns="91433" bIns="45700" anchor="t" anchorCtr="0">
            <a:spAutoFit/>
          </a:bodyPr>
          <a:lstStyle/>
          <a:p>
            <a:pPr defTabSz="1219170">
              <a:lnSpc>
                <a:spcPct val="90000"/>
              </a:lnSpc>
              <a:buClr>
                <a:srgbClr val="DEA610"/>
              </a:buClr>
              <a:buSzPts val="2100"/>
              <a:defRPr/>
            </a:pPr>
            <a:r>
              <a:rPr lang="en-US" sz="2933" b="1">
                <a:ln w="0"/>
                <a:solidFill>
                  <a:srgbClr val="FFBD0E"/>
                </a:solidFill>
                <a:latin typeface="Times New Roman" panose="02020603050405020304" pitchFamily="18" charset="0"/>
                <a:cs typeface="Times New Roman" panose="02020603050405020304" pitchFamily="18" charset="0"/>
                <a:sym typeface="Montserrat SemiBold"/>
              </a:rPr>
              <a:t>TÌNH TRẠNG KỸ THUẬT ĐỘI BAY – B787</a:t>
            </a:r>
            <a:endParaRPr lang="en-US" sz="2933" b="1">
              <a:ln w="0"/>
              <a:solidFill>
                <a:srgbClr val="FFBD0E"/>
              </a:solidFill>
              <a:latin typeface="Times New Roman" panose="02020603050405020304" pitchFamily="18" charset="0"/>
              <a:cs typeface="Times New Roman" panose="02020603050405020304" pitchFamily="18" charset="0"/>
              <a:sym typeface="Montserrat"/>
            </a:endParaRPr>
          </a:p>
        </p:txBody>
      </p:sp>
      <p:graphicFrame>
        <p:nvGraphicFramePr>
          <p:cNvPr id="3" name="Table 2">
            <a:extLst>
              <a:ext uri="{FF2B5EF4-FFF2-40B4-BE49-F238E27FC236}">
                <a16:creationId xmlns:a16="http://schemas.microsoft.com/office/drawing/2014/main" id="{1C8FA273-5FD3-373E-5300-3E88B672D478}"/>
              </a:ext>
            </a:extLst>
          </p:cNvPr>
          <p:cNvGraphicFramePr>
            <a:graphicFrameLocks noGrp="1"/>
          </p:cNvGraphicFramePr>
          <p:nvPr>
            <p:extLst/>
          </p:nvPr>
        </p:nvGraphicFramePr>
        <p:xfrm>
          <a:off x="175690" y="501462"/>
          <a:ext cx="11840624" cy="6348801"/>
        </p:xfrm>
        <a:graphic>
          <a:graphicData uri="http://schemas.openxmlformats.org/drawingml/2006/table">
            <a:tbl>
              <a:tblPr/>
              <a:tblGrid>
                <a:gridCol w="666847">
                  <a:extLst>
                    <a:ext uri="{9D8B030D-6E8A-4147-A177-3AD203B41FA5}">
                      <a16:colId xmlns:a16="http://schemas.microsoft.com/office/drawing/2014/main" val="4177122512"/>
                    </a:ext>
                  </a:extLst>
                </a:gridCol>
                <a:gridCol w="584820">
                  <a:extLst>
                    <a:ext uri="{9D8B030D-6E8A-4147-A177-3AD203B41FA5}">
                      <a16:colId xmlns:a16="http://schemas.microsoft.com/office/drawing/2014/main" val="673143914"/>
                    </a:ext>
                  </a:extLst>
                </a:gridCol>
                <a:gridCol w="773151">
                  <a:extLst>
                    <a:ext uri="{9D8B030D-6E8A-4147-A177-3AD203B41FA5}">
                      <a16:colId xmlns:a16="http://schemas.microsoft.com/office/drawing/2014/main" val="2849211201"/>
                    </a:ext>
                  </a:extLst>
                </a:gridCol>
                <a:gridCol w="1169640">
                  <a:extLst>
                    <a:ext uri="{9D8B030D-6E8A-4147-A177-3AD203B41FA5}">
                      <a16:colId xmlns:a16="http://schemas.microsoft.com/office/drawing/2014/main" val="2665776740"/>
                    </a:ext>
                  </a:extLst>
                </a:gridCol>
                <a:gridCol w="1189463">
                  <a:extLst>
                    <a:ext uri="{9D8B030D-6E8A-4147-A177-3AD203B41FA5}">
                      <a16:colId xmlns:a16="http://schemas.microsoft.com/office/drawing/2014/main" val="637469245"/>
                    </a:ext>
                  </a:extLst>
                </a:gridCol>
                <a:gridCol w="1754459">
                  <a:extLst>
                    <a:ext uri="{9D8B030D-6E8A-4147-A177-3AD203B41FA5}">
                      <a16:colId xmlns:a16="http://schemas.microsoft.com/office/drawing/2014/main" val="2463805349"/>
                    </a:ext>
                  </a:extLst>
                </a:gridCol>
                <a:gridCol w="5702244">
                  <a:extLst>
                    <a:ext uri="{9D8B030D-6E8A-4147-A177-3AD203B41FA5}">
                      <a16:colId xmlns:a16="http://schemas.microsoft.com/office/drawing/2014/main" val="2382912591"/>
                    </a:ext>
                  </a:extLst>
                </a:gridCol>
              </a:tblGrid>
              <a:tr h="186859">
                <a:tc>
                  <a:txBody>
                    <a:bodyPr/>
                    <a:lstStyle/>
                    <a:p>
                      <a:pPr algn="ctr" fontAlgn="ctr"/>
                      <a:r>
                        <a:rPr lang="en-US" sz="1200" b="0" i="0" u="none" strike="noStrike">
                          <a:solidFill>
                            <a:srgbClr val="000000"/>
                          </a:solidFill>
                          <a:effectLst/>
                          <a:latin typeface="Calibri" panose="020F0502020204030204" pitchFamily="34" charset="0"/>
                        </a:rPr>
                        <a:t>No</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Fleet</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A/C</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Tình trạng tàu bay</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Tình trạng KT</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200" b="0" i="0" u="none" strike="noStrike">
                          <a:solidFill>
                            <a:srgbClr val="000000"/>
                          </a:solidFill>
                          <a:effectLst/>
                          <a:latin typeface="Calibri" panose="020F0502020204030204" pitchFamily="34" charset="0"/>
                        </a:rPr>
                        <a:t>Điều kiện chuyên cơ</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Ghi chú</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08157605"/>
                  </a:ext>
                </a:extLst>
              </a:tr>
              <a:tr h="186859">
                <a:tc>
                  <a:txBody>
                    <a:bodyPr/>
                    <a:lstStyle/>
                    <a:p>
                      <a:pPr algn="ctr" fontAlgn="ctr"/>
                      <a:r>
                        <a:rPr lang="en-US" sz="1200" b="0" i="0" u="none" strike="noStrike">
                          <a:solidFill>
                            <a:srgbClr val="000000"/>
                          </a:solidFill>
                          <a:effectLst/>
                          <a:latin typeface="Calibri" panose="020F0502020204030204" pitchFamily="34" charset="0"/>
                        </a:rPr>
                        <a:t>1</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B787</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A861</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pt-BR" sz="1200" b="0" i="0" u="none" strike="noStrike">
                          <a:solidFill>
                            <a:srgbClr val="000000"/>
                          </a:solidFill>
                          <a:effectLst/>
                          <a:latin typeface="Calibri" panose="020F0502020204030204" pitchFamily="34" charset="0"/>
                        </a:rPr>
                        <a:t>B1527 FUEL PUMP CENTER R</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22574874"/>
                  </a:ext>
                </a:extLst>
              </a:tr>
              <a:tr h="186859">
                <a:tc>
                  <a:txBody>
                    <a:bodyPr/>
                    <a:lstStyle/>
                    <a:p>
                      <a:pPr algn="ctr" fontAlgn="ctr"/>
                      <a:r>
                        <a:rPr lang="en-US" sz="1200" b="0" i="0" u="none" strike="noStrike">
                          <a:solidFill>
                            <a:srgbClr val="000000"/>
                          </a:solidFill>
                          <a:effectLst/>
                          <a:latin typeface="Calibri" panose="020F0502020204030204" pitchFamily="34" charset="0"/>
                        </a:rPr>
                        <a:t>2</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B787</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A862</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 </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1911996"/>
                  </a:ext>
                </a:extLst>
              </a:tr>
              <a:tr h="369739">
                <a:tc>
                  <a:txBody>
                    <a:bodyPr/>
                    <a:lstStyle/>
                    <a:p>
                      <a:pPr algn="ctr" fontAlgn="ctr"/>
                      <a:r>
                        <a:rPr lang="en-US" sz="1200" b="0" i="0" u="none" strike="noStrike">
                          <a:solidFill>
                            <a:srgbClr val="000000"/>
                          </a:solidFill>
                          <a:effectLst/>
                          <a:latin typeface="Calibri" panose="020F0502020204030204" pitchFamily="34" charset="0"/>
                        </a:rPr>
                        <a:t>3</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B787</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A863</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Engine 1 (958170) HPT 1B có hỏng hóc (giảm tần suất 50FC)</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B1601 STS TAIL AIRFLOW SYS</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02920784"/>
                  </a:ext>
                </a:extLst>
              </a:tr>
              <a:tr h="206612">
                <a:tc>
                  <a:txBody>
                    <a:bodyPr/>
                    <a:lstStyle/>
                    <a:p>
                      <a:pPr algn="ctr" fontAlgn="ctr"/>
                      <a:r>
                        <a:rPr lang="en-US" sz="1200" b="0" i="0" u="none" strike="noStrike">
                          <a:solidFill>
                            <a:srgbClr val="000000"/>
                          </a:solidFill>
                          <a:effectLst/>
                          <a:latin typeface="Calibri" panose="020F0502020204030204" pitchFamily="34" charset="0"/>
                        </a:rPr>
                        <a:t>4</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B787</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A864</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Engine 2 (956577) HPT 1B có hỏng hóc (giảm tần suất 50FC)</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33604372"/>
                  </a:ext>
                </a:extLst>
              </a:tr>
              <a:tr h="735499">
                <a:tc>
                  <a:txBody>
                    <a:bodyPr/>
                    <a:lstStyle/>
                    <a:p>
                      <a:pPr algn="ctr" fontAlgn="ctr"/>
                      <a:r>
                        <a:rPr lang="en-US" sz="1200" b="0" i="0" u="none" strike="noStrike">
                          <a:solidFill>
                            <a:srgbClr val="000000"/>
                          </a:solidFill>
                          <a:effectLst/>
                          <a:latin typeface="Calibri" panose="020F0502020204030204" pitchFamily="34" charset="0"/>
                        </a:rPr>
                        <a:t>5</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B787</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A865</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B1250 LAVATORY GALLEY AIR FLOW</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B1251 LAVATORY/GALLEY FLOW DET</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B1252 ELEC GEN SYS L2/ B1253 LEC ENGINE STARTER L2</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B1254 NITROGEN GENERATION SYS ON STS</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84570737"/>
                  </a:ext>
                </a:extLst>
              </a:tr>
              <a:tr h="369739">
                <a:tc>
                  <a:txBody>
                    <a:bodyPr/>
                    <a:lstStyle/>
                    <a:p>
                      <a:pPr algn="ctr" fontAlgn="ctr"/>
                      <a:r>
                        <a:rPr lang="en-US" sz="1200" b="0" i="0" u="none" strike="noStrike">
                          <a:solidFill>
                            <a:srgbClr val="000000"/>
                          </a:solidFill>
                          <a:effectLst/>
                          <a:latin typeface="Calibri" panose="020F0502020204030204" pitchFamily="34" charset="0"/>
                        </a:rPr>
                        <a:t>6</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B787</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A866</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000000"/>
                          </a:solidFill>
                          <a:effectLst/>
                          <a:latin typeface="Calibri" panose="020F0502020204030204" pitchFamily="34" charset="0"/>
                        </a:rPr>
                        <a:t>+ Động cơ số 2 giảm tần suất soi 100 FC HPTS1B missing material theo Departure Recommendation 01643368 Revision 0.0</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11622254"/>
                  </a:ext>
                </a:extLst>
              </a:tr>
              <a:tr h="552619">
                <a:tc>
                  <a:txBody>
                    <a:bodyPr/>
                    <a:lstStyle/>
                    <a:p>
                      <a:pPr algn="ctr" fontAlgn="ctr"/>
                      <a:r>
                        <a:rPr lang="en-US" sz="1200" b="0" i="0" u="none" strike="noStrike">
                          <a:solidFill>
                            <a:srgbClr val="000000"/>
                          </a:solidFill>
                          <a:effectLst/>
                          <a:latin typeface="Calibri" panose="020F0502020204030204" pitchFamily="34" charset="0"/>
                        </a:rPr>
                        <a:t>7</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B787</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A867</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000000"/>
                          </a:solidFill>
                          <a:effectLst/>
                          <a:latin typeface="Calibri" panose="020F0502020204030204" pitchFamily="34" charset="0"/>
                        </a:rPr>
                        <a:t>+ Động cơ số 1 HPT STG 2 CRACK, giảm tần suất soi 250 FC theo DR Recommendation 01379322 Revision 0.0</a:t>
                      </a:r>
                      <a:br>
                        <a:rPr lang="vi-VN" sz="1200" b="0" i="0" u="none" strike="noStrike">
                          <a:solidFill>
                            <a:srgbClr val="000000"/>
                          </a:solidFill>
                          <a:effectLst/>
                          <a:latin typeface="Calibri" panose="020F0502020204030204" pitchFamily="34" charset="0"/>
                        </a:rPr>
                      </a:br>
                      <a:r>
                        <a:rPr lang="vi-VN" sz="1200" b="0" i="0" u="none" strike="noStrike">
                          <a:solidFill>
                            <a:srgbClr val="000000"/>
                          </a:solidFill>
                          <a:effectLst/>
                          <a:latin typeface="Calibri" panose="020F0502020204030204" pitchFamily="34" charset="0"/>
                        </a:rPr>
                        <a:t>B1528 AFT CARGO HANDLING SYS INOP </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6255745"/>
                  </a:ext>
                </a:extLst>
              </a:tr>
              <a:tr h="369739">
                <a:tc>
                  <a:txBody>
                    <a:bodyPr/>
                    <a:lstStyle/>
                    <a:p>
                      <a:pPr algn="ctr" fontAlgn="ctr"/>
                      <a:r>
                        <a:rPr lang="en-US" sz="1200" b="0" i="0" u="none" strike="noStrike">
                          <a:solidFill>
                            <a:srgbClr val="000000"/>
                          </a:solidFill>
                          <a:effectLst/>
                          <a:latin typeface="Calibri" panose="020F0502020204030204" pitchFamily="34" charset="0"/>
                        </a:rPr>
                        <a:t>8</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B787</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A868</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Calibri" panose="020F0502020204030204" pitchFamily="34" charset="0"/>
                        </a:rPr>
                        <a:t>B1061 RAISED: ENG#1 REPLACE OR RE-INSPECT NOT TO EXCEED 50 CYCLES, REF DR#02104796, EXP: 6074 FC</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13288021"/>
                  </a:ext>
                </a:extLst>
              </a:tr>
              <a:tr h="369739">
                <a:tc>
                  <a:txBody>
                    <a:bodyPr/>
                    <a:lstStyle/>
                    <a:p>
                      <a:pPr algn="ctr" fontAlgn="ctr"/>
                      <a:r>
                        <a:rPr lang="en-US" sz="1200" b="0" i="0" u="none" strike="noStrike">
                          <a:solidFill>
                            <a:srgbClr val="000000"/>
                          </a:solidFill>
                          <a:effectLst/>
                          <a:latin typeface="Calibri" panose="020F0502020204030204" pitchFamily="34" charset="0"/>
                        </a:rPr>
                        <a:t>9</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B787</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A869</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000000"/>
                          </a:solidFill>
                          <a:effectLst/>
                          <a:latin typeface="Calibri" panose="020F0502020204030204" pitchFamily="34" charset="0"/>
                        </a:rPr>
                        <a:t>+ Động cơ số 1 giảm tần suất soi 250 FC (HPT S2 blade cracks) và soi giảm tần suất 250 FC (fuel nozzle cup missing materials)</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26040390"/>
                  </a:ext>
                </a:extLst>
              </a:tr>
              <a:tr h="369739">
                <a:tc>
                  <a:txBody>
                    <a:bodyPr/>
                    <a:lstStyle/>
                    <a:p>
                      <a:pPr algn="ctr" fontAlgn="ctr"/>
                      <a:r>
                        <a:rPr lang="en-US" sz="1200" b="0" i="0" u="none" strike="noStrike">
                          <a:solidFill>
                            <a:srgbClr val="000000"/>
                          </a:solidFill>
                          <a:effectLst/>
                          <a:latin typeface="Calibri" panose="020F0502020204030204" pitchFamily="34" charset="0"/>
                        </a:rPr>
                        <a:t>10</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B787</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A870</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Calibri" panose="020F0502020204030204" pitchFamily="34" charset="0"/>
                        </a:rPr>
                        <a:t>B1374 TAIL AIRFLOW SYS</a:t>
                      </a:r>
                      <a:br>
                        <a:rPr lang="en-SG" sz="1200" b="0" i="0" u="none" strike="noStrike">
                          <a:solidFill>
                            <a:srgbClr val="000000"/>
                          </a:solidFill>
                          <a:effectLst/>
                          <a:latin typeface="Calibri" panose="020F0502020204030204" pitchFamily="34" charset="0"/>
                        </a:rPr>
                      </a:br>
                      <a:r>
                        <a:rPr lang="en-SG" sz="1200" b="0" i="0" u="none" strike="noStrike">
                          <a:solidFill>
                            <a:srgbClr val="000000"/>
                          </a:solidFill>
                          <a:effectLst/>
                          <a:latin typeface="Calibri" panose="020F0502020204030204" pitchFamily="34" charset="0"/>
                        </a:rPr>
                        <a:t>B1381 BRAKE NO1 INOP</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284517"/>
                  </a:ext>
                </a:extLst>
              </a:tr>
              <a:tr h="206612">
                <a:tc>
                  <a:txBody>
                    <a:bodyPr/>
                    <a:lstStyle/>
                    <a:p>
                      <a:pPr algn="ctr" fontAlgn="ctr"/>
                      <a:r>
                        <a:rPr lang="en-US" sz="1200" b="0" i="0" u="none" strike="noStrike">
                          <a:solidFill>
                            <a:srgbClr val="000000"/>
                          </a:solidFill>
                          <a:effectLst/>
                          <a:latin typeface="Calibri" panose="020F0502020204030204" pitchFamily="34" charset="0"/>
                        </a:rPr>
                        <a:t>11</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B787</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A871</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Engine 1 (956913) HPT 1B có hỏng hóc (giảm tần suất 50FC)</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4284654"/>
                  </a:ext>
                </a:extLst>
              </a:tr>
              <a:tr h="206612">
                <a:tc>
                  <a:txBody>
                    <a:bodyPr/>
                    <a:lstStyle/>
                    <a:p>
                      <a:pPr algn="ctr" fontAlgn="ctr"/>
                      <a:r>
                        <a:rPr lang="en-US" sz="1200" b="0" i="0" u="none" strike="noStrike">
                          <a:solidFill>
                            <a:srgbClr val="000000"/>
                          </a:solidFill>
                          <a:effectLst/>
                          <a:latin typeface="Calibri" panose="020F0502020204030204" pitchFamily="34" charset="0"/>
                        </a:rPr>
                        <a:t>12</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B787</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A872</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Calibri" panose="020F0502020204030204" pitchFamily="34" charset="0"/>
                        </a:rPr>
                        <a:t>B1253 RAISED:"REMOVE OR RE-INSPECT ENG #958395 IN 25 FC"</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15969751"/>
                  </a:ext>
                </a:extLst>
              </a:tr>
              <a:tr h="552619">
                <a:tc>
                  <a:txBody>
                    <a:bodyPr/>
                    <a:lstStyle/>
                    <a:p>
                      <a:pPr algn="ctr" fontAlgn="ctr"/>
                      <a:r>
                        <a:rPr lang="en-US" sz="1200" b="0" i="0" u="none" strike="noStrike">
                          <a:solidFill>
                            <a:srgbClr val="000000"/>
                          </a:solidFill>
                          <a:effectLst/>
                          <a:latin typeface="Calibri" panose="020F0502020204030204" pitchFamily="34" charset="0"/>
                        </a:rPr>
                        <a:t>13</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B787</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A873</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000000"/>
                          </a:solidFill>
                          <a:effectLst/>
                          <a:latin typeface="Calibri" panose="020F0502020204030204" pitchFamily="34" charset="0"/>
                        </a:rPr>
                        <a:t>+ động cơ số 2 giảm tần suất soi HPT 1nd stage 100 FC</a:t>
                      </a:r>
                      <a:br>
                        <a:rPr lang="vi-VN" sz="1200" b="0" i="0" u="none" strike="noStrike">
                          <a:solidFill>
                            <a:srgbClr val="000000"/>
                          </a:solidFill>
                          <a:effectLst/>
                          <a:latin typeface="Calibri" panose="020F0502020204030204" pitchFamily="34" charset="0"/>
                        </a:rPr>
                      </a:br>
                      <a:r>
                        <a:rPr lang="vi-VN" sz="1200" b="0" i="0" u="none" strike="noStrike">
                          <a:solidFill>
                            <a:srgbClr val="000000"/>
                          </a:solidFill>
                          <a:effectLst/>
                          <a:latin typeface="Calibri" panose="020F0502020204030204" pitchFamily="34" charset="0"/>
                        </a:rPr>
                        <a:t>B489 AFT CARGO HANDLING SYS INOP</a:t>
                      </a:r>
                      <a:br>
                        <a:rPr lang="vi-VN" sz="1200" b="0" i="0" u="none" strike="noStrike">
                          <a:solidFill>
                            <a:srgbClr val="000000"/>
                          </a:solidFill>
                          <a:effectLst/>
                          <a:latin typeface="Calibri" panose="020F0502020204030204" pitchFamily="34" charset="0"/>
                        </a:rPr>
                      </a:br>
                      <a:r>
                        <a:rPr lang="vi-VN" sz="1200" b="0" i="0" u="none" strike="noStrike">
                          <a:solidFill>
                            <a:srgbClr val="000000"/>
                          </a:solidFill>
                          <a:effectLst/>
                          <a:latin typeface="Calibri" panose="020F0502020204030204" pitchFamily="34" charset="0"/>
                        </a:rPr>
                        <a:t>B501 APU INOP DUE TO OIL LEAK</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04957192"/>
                  </a:ext>
                </a:extLst>
              </a:tr>
              <a:tr h="186859">
                <a:tc>
                  <a:txBody>
                    <a:bodyPr/>
                    <a:lstStyle/>
                    <a:p>
                      <a:pPr algn="ctr" fontAlgn="ctr"/>
                      <a:r>
                        <a:rPr lang="en-US" sz="1200" b="0" i="0" u="none" strike="noStrike">
                          <a:solidFill>
                            <a:srgbClr val="000000"/>
                          </a:solidFill>
                          <a:effectLst/>
                          <a:latin typeface="Calibri" panose="020F0502020204030204" pitchFamily="34" charset="0"/>
                        </a:rPr>
                        <a:t>14</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B787</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A874</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000000"/>
                          </a:solidFill>
                          <a:effectLst/>
                          <a:latin typeface="Calibri" panose="020F0502020204030204" pitchFamily="34" charset="0"/>
                        </a:rPr>
                        <a:t>+ động cơ số 2 giảm tần suất soi HPT 1nd stage 100 FC</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58769541"/>
                  </a:ext>
                </a:extLst>
              </a:tr>
              <a:tr h="186859">
                <a:tc>
                  <a:txBody>
                    <a:bodyPr/>
                    <a:lstStyle/>
                    <a:p>
                      <a:pPr algn="ctr" fontAlgn="ctr"/>
                      <a:r>
                        <a:rPr lang="en-US" sz="1200" b="0" i="0" u="none" strike="noStrike">
                          <a:solidFill>
                            <a:srgbClr val="000000"/>
                          </a:solidFill>
                          <a:effectLst/>
                          <a:latin typeface="Calibri" panose="020F0502020204030204" pitchFamily="34" charset="0"/>
                        </a:rPr>
                        <a:t>15</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B787</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A877</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 </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64377311"/>
                  </a:ext>
                </a:extLst>
              </a:tr>
              <a:tr h="186859">
                <a:tc>
                  <a:txBody>
                    <a:bodyPr/>
                    <a:lstStyle/>
                    <a:p>
                      <a:pPr algn="ctr" fontAlgn="ctr"/>
                      <a:r>
                        <a:rPr lang="en-US" sz="1200" b="0" i="0" u="none" strike="noStrike">
                          <a:solidFill>
                            <a:srgbClr val="000000"/>
                          </a:solidFill>
                          <a:effectLst/>
                          <a:latin typeface="Calibri" panose="020F0502020204030204" pitchFamily="34" charset="0"/>
                        </a:rPr>
                        <a:t>16</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B787</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A878</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 </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384524"/>
                  </a:ext>
                </a:extLst>
              </a:tr>
              <a:tr h="918379">
                <a:tc>
                  <a:txBody>
                    <a:bodyPr/>
                    <a:lstStyle/>
                    <a:p>
                      <a:pPr algn="ctr" fontAlgn="ctr"/>
                      <a:r>
                        <a:rPr lang="en-US" sz="1200" b="0" i="0" u="none" strike="noStrike">
                          <a:solidFill>
                            <a:srgbClr val="000000"/>
                          </a:solidFill>
                          <a:effectLst/>
                          <a:latin typeface="Calibri" panose="020F0502020204030204" pitchFamily="34" charset="0"/>
                        </a:rPr>
                        <a:t>17</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B787</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A879</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000000"/>
                          </a:solidFill>
                          <a:effectLst/>
                          <a:latin typeface="Calibri" panose="020F0502020204030204" pitchFamily="34" charset="0"/>
                        </a:rPr>
                        <a:t>+ Động cơ số 1 HPT blage stg 1 cracked giảm tần suất soi 250 FC; Động cơ số 2 HPT blage stg 1 cracked giảm tần suất soi 100 FCGE DR 01664320 Revision 0.0</a:t>
                      </a:r>
                      <a:br>
                        <a:rPr lang="vi-VN" sz="1200" b="0" i="0" u="none" strike="noStrike">
                          <a:solidFill>
                            <a:srgbClr val="000000"/>
                          </a:solidFill>
                          <a:effectLst/>
                          <a:latin typeface="Calibri" panose="020F0502020204030204" pitchFamily="34" charset="0"/>
                        </a:rPr>
                      </a:br>
                      <a:r>
                        <a:rPr lang="vi-VN" sz="1200" b="0" i="0" u="none" strike="noStrike">
                          <a:solidFill>
                            <a:srgbClr val="000000"/>
                          </a:solidFill>
                          <a:effectLst/>
                          <a:latin typeface="Calibri" panose="020F0502020204030204" pitchFamily="34" charset="0"/>
                        </a:rPr>
                        <a:t>B498 FWD CARGO HANDLING SYSTEM INOP (ELECTRICAL POWER NOT AVAIL)</a:t>
                      </a:r>
                      <a:br>
                        <a:rPr lang="vi-VN" sz="1200" b="0" i="0" u="none" strike="noStrike">
                          <a:solidFill>
                            <a:srgbClr val="000000"/>
                          </a:solidFill>
                          <a:effectLst/>
                          <a:latin typeface="Calibri" panose="020F0502020204030204" pitchFamily="34" charset="0"/>
                        </a:rPr>
                      </a:br>
                      <a:r>
                        <a:rPr lang="vi-VN" sz="1200" b="0" i="0" u="none" strike="noStrike">
                          <a:solidFill>
                            <a:srgbClr val="000000"/>
                          </a:solidFill>
                          <a:effectLst/>
                          <a:latin typeface="Calibri" panose="020F0502020204030204" pitchFamily="34" charset="0"/>
                        </a:rPr>
                        <a:t>B537 THE PORTABLE WATER SERVICE PANEL INOP</a:t>
                      </a:r>
                      <a:br>
                        <a:rPr lang="vi-VN" sz="1200" b="0" i="0" u="none" strike="noStrike">
                          <a:solidFill>
                            <a:srgbClr val="000000"/>
                          </a:solidFill>
                          <a:effectLst/>
                          <a:latin typeface="Calibri" panose="020F0502020204030204" pitchFamily="34" charset="0"/>
                        </a:rPr>
                      </a:br>
                      <a:r>
                        <a:rPr lang="vi-VN" sz="1200" b="0" i="0" u="none" strike="noStrike">
                          <a:solidFill>
                            <a:srgbClr val="000000"/>
                          </a:solidFill>
                          <a:effectLst/>
                          <a:latin typeface="Calibri" panose="020F0502020204030204" pitchFamily="34" charset="0"/>
                        </a:rPr>
                        <a:t>B540 HF LEFT TRANSMITION INOP</a:t>
                      </a:r>
                    </a:p>
                  </a:txBody>
                  <a:tcPr marL="3979" marR="3979" marT="39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5047633"/>
                  </a:ext>
                </a:extLst>
              </a:tr>
            </a:tbl>
          </a:graphicData>
        </a:graphic>
      </p:graphicFrame>
    </p:spTree>
    <p:extLst>
      <p:ext uri="{BB962C8B-B14F-4D97-AF65-F5344CB8AC3E}">
        <p14:creationId xmlns:p14="http://schemas.microsoft.com/office/powerpoint/2010/main" val="33217030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defTabSz="1219170">
              <a:buClr>
                <a:srgbClr val="000000"/>
              </a:buClr>
            </a:pPr>
            <a:fld id="{00000000-1234-1234-1234-123412341234}" type="slidenum">
              <a:rPr lang="vi" kern="0">
                <a:solidFill>
                  <a:srgbClr val="595959"/>
                </a:solidFill>
                <a:latin typeface="Arial"/>
                <a:cs typeface="Arial"/>
                <a:sym typeface="Arial"/>
              </a:rPr>
              <a:pPr defTabSz="1219170">
                <a:buClr>
                  <a:srgbClr val="000000"/>
                </a:buClr>
              </a:pPr>
              <a:t>17</a:t>
            </a:fld>
            <a:endParaRPr kern="0">
              <a:solidFill>
                <a:srgbClr val="595959"/>
              </a:solidFill>
              <a:latin typeface="Arial"/>
              <a:cs typeface="Arial"/>
              <a:sym typeface="Arial"/>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39379" y="207227"/>
            <a:ext cx="8037304" cy="498494"/>
          </a:xfrm>
          <a:prstGeom prst="rect">
            <a:avLst/>
          </a:prstGeom>
          <a:noFill/>
          <a:ln>
            <a:noFill/>
          </a:ln>
        </p:spPr>
        <p:txBody>
          <a:bodyPr spcFirstLastPara="1" wrap="square" lIns="91433" tIns="45700" rIns="91433" bIns="45700" anchor="t" anchorCtr="0">
            <a:spAutoFit/>
          </a:bodyPr>
          <a:lstStyle/>
          <a:p>
            <a:pPr defTabSz="1219170">
              <a:lnSpc>
                <a:spcPct val="90000"/>
              </a:lnSpc>
              <a:buClr>
                <a:srgbClr val="DEA610"/>
              </a:buClr>
              <a:buSzPts val="2100"/>
              <a:defRPr/>
            </a:pPr>
            <a:r>
              <a:rPr lang="en-US" sz="2933" b="1">
                <a:ln w="0"/>
                <a:solidFill>
                  <a:srgbClr val="FFBD0E"/>
                </a:solidFill>
                <a:latin typeface="Times New Roman" panose="02020603050405020304" pitchFamily="18" charset="0"/>
                <a:cs typeface="Times New Roman" panose="02020603050405020304" pitchFamily="18" charset="0"/>
                <a:sym typeface="Montserrat SemiBold"/>
              </a:rPr>
              <a:t>TÌNH TRẠNG KỸ THUẬT ĐỘI BAY – B787</a:t>
            </a:r>
            <a:endParaRPr sz="2933" b="1">
              <a:ln w="0"/>
              <a:solidFill>
                <a:srgbClr val="FFBD0E"/>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795CC2F9-72E9-47BD-A040-3231760CEEDB}"/>
              </a:ext>
            </a:extLst>
          </p:cNvPr>
          <p:cNvSpPr/>
          <p:nvPr/>
        </p:nvSpPr>
        <p:spPr>
          <a:xfrm>
            <a:off x="250650" y="594263"/>
            <a:ext cx="11690701" cy="2554545"/>
          </a:xfrm>
          <a:prstGeom prst="rect">
            <a:avLst/>
          </a:prstGeom>
        </p:spPr>
        <p:txBody>
          <a:bodyPr wrap="square">
            <a:spAutoFit/>
          </a:bodyPr>
          <a:lstStyle/>
          <a:p>
            <a:pPr algn="just" defTabSz="1219170"/>
            <a:r>
              <a:rPr lang="en-US" sz="1600" b="1" err="1">
                <a:solidFill>
                  <a:prstClr val="black"/>
                </a:solidFill>
                <a:latin typeface="Times New Roman" panose="02020603050405020304" pitchFamily="18" charset="0"/>
                <a:cs typeface="Times New Roman" panose="02020603050405020304" pitchFamily="18" charset="0"/>
                <a:sym typeface="Arial"/>
              </a:rPr>
              <a:t>Nhận</a:t>
            </a:r>
            <a:r>
              <a:rPr lang="en-US" sz="1600" b="1">
                <a:solidFill>
                  <a:prstClr val="black"/>
                </a:solidFill>
                <a:latin typeface="Times New Roman" panose="02020603050405020304" pitchFamily="18" charset="0"/>
                <a:cs typeface="Times New Roman" panose="02020603050405020304" pitchFamily="18" charset="0"/>
                <a:sym typeface="Arial"/>
              </a:rPr>
              <a:t> </a:t>
            </a:r>
            <a:r>
              <a:rPr lang="en-US" sz="1600" b="1" err="1">
                <a:solidFill>
                  <a:prstClr val="black"/>
                </a:solidFill>
                <a:latin typeface="Times New Roman" panose="02020603050405020304" pitchFamily="18" charset="0"/>
                <a:cs typeface="Times New Roman" panose="02020603050405020304" pitchFamily="18" charset="0"/>
                <a:sym typeface="Arial"/>
              </a:rPr>
              <a:t>xét</a:t>
            </a:r>
            <a:r>
              <a:rPr lang="en-US" sz="1600" b="1">
                <a:solidFill>
                  <a:prstClr val="black"/>
                </a:solidFill>
                <a:latin typeface="Times New Roman" panose="02020603050405020304" pitchFamily="18" charset="0"/>
                <a:cs typeface="Times New Roman" panose="02020603050405020304" pitchFamily="18" charset="0"/>
                <a:sym typeface="Arial"/>
              </a:rPr>
              <a:t>: </a:t>
            </a:r>
          </a:p>
          <a:p>
            <a:pPr marL="380990" indent="-380990" algn="just" defTabSz="1219170">
              <a:buFontTx/>
              <a:buChar char="-"/>
            </a:pPr>
            <a:r>
              <a:rPr lang="vi-VN" sz="1600">
                <a:solidFill>
                  <a:prstClr val="black"/>
                </a:solidFill>
                <a:latin typeface="Times New Roman" panose="02020603050405020304" pitchFamily="18" charset="0"/>
                <a:cs typeface="Times New Roman" panose="02020603050405020304" pitchFamily="18" charset="0"/>
                <a:sym typeface="Arial"/>
              </a:rPr>
              <a:t>Tình hình kỹ thuật đội bay </a:t>
            </a:r>
            <a:r>
              <a:rPr lang="en-US" sz="1600">
                <a:solidFill>
                  <a:prstClr val="black"/>
                </a:solidFill>
                <a:latin typeface="Times New Roman" panose="02020603050405020304" pitchFamily="18" charset="0"/>
                <a:cs typeface="Times New Roman" panose="02020603050405020304" pitchFamily="18" charset="0"/>
                <a:sym typeface="Arial"/>
              </a:rPr>
              <a:t>B787 trong tuần 06 tốt, chỉ có 01 TH GTB của A861 do </a:t>
            </a:r>
            <a:r>
              <a:rPr lang="en-SG" sz="1600">
                <a:solidFill>
                  <a:prstClr val="black"/>
                </a:solidFill>
                <a:latin typeface="Times New Roman" panose="02020603050405020304" pitchFamily="18" charset="0"/>
                <a:cs typeface="Times New Roman" panose="02020603050405020304" pitchFamily="18" charset="0"/>
                <a:sym typeface="Arial"/>
              </a:rPr>
              <a:t>MSG R CENTER FUEL PUMP LOW PRESS</a:t>
            </a:r>
            <a:r>
              <a:rPr lang="en-US" sz="1600">
                <a:solidFill>
                  <a:prstClr val="black"/>
                </a:solidFill>
                <a:latin typeface="Times New Roman" panose="02020603050405020304" pitchFamily="18" charset="0"/>
                <a:cs typeface="Times New Roman" panose="02020603050405020304" pitchFamily="18" charset="0"/>
                <a:sym typeface="Arial"/>
              </a:rPr>
              <a:t>. </a:t>
            </a:r>
          </a:p>
          <a:p>
            <a:pPr marL="380990" indent="-380990" algn="just" defTabSz="1219170">
              <a:buFontTx/>
              <a:buChar char="-"/>
            </a:pPr>
            <a:r>
              <a:rPr lang="en-US" sz="1600" err="1">
                <a:solidFill>
                  <a:prstClr val="black"/>
                </a:solidFill>
                <a:latin typeface="Times New Roman" panose="02020603050405020304" pitchFamily="18" charset="0"/>
                <a:cs typeface="Times New Roman" panose="02020603050405020304" pitchFamily="18" charset="0"/>
                <a:sym typeface="Arial"/>
              </a:rPr>
              <a:t>Hỏng</a:t>
            </a:r>
            <a:r>
              <a:rPr lang="en-US" sz="1600">
                <a:solidFill>
                  <a:prstClr val="black"/>
                </a:solidFill>
                <a:latin typeface="Times New Roman" panose="02020603050405020304" pitchFamily="18" charset="0"/>
                <a:cs typeface="Times New Roman" panose="02020603050405020304" pitchFamily="18" charset="0"/>
                <a:sym typeface="Arial"/>
              </a:rPr>
              <a:t> </a:t>
            </a:r>
            <a:r>
              <a:rPr lang="en-US" sz="1600" err="1">
                <a:solidFill>
                  <a:prstClr val="black"/>
                </a:solidFill>
                <a:latin typeface="Times New Roman" panose="02020603050405020304" pitchFamily="18" charset="0"/>
                <a:cs typeface="Times New Roman" panose="02020603050405020304" pitchFamily="18" charset="0"/>
                <a:sym typeface="Arial"/>
              </a:rPr>
              <a:t>hóc</a:t>
            </a:r>
            <a:r>
              <a:rPr lang="en-US" sz="1600">
                <a:solidFill>
                  <a:prstClr val="black"/>
                </a:solidFill>
                <a:latin typeface="Times New Roman" panose="02020603050405020304" pitchFamily="18" charset="0"/>
                <a:cs typeface="Times New Roman" panose="02020603050405020304" pitchFamily="18" charset="0"/>
                <a:sym typeface="Arial"/>
              </a:rPr>
              <a:t> </a:t>
            </a:r>
            <a:r>
              <a:rPr lang="en-US" sz="1600" err="1">
                <a:solidFill>
                  <a:prstClr val="black"/>
                </a:solidFill>
                <a:latin typeface="Times New Roman" panose="02020603050405020304" pitchFamily="18" charset="0"/>
                <a:cs typeface="Times New Roman" panose="02020603050405020304" pitchFamily="18" charset="0"/>
                <a:sym typeface="Arial"/>
              </a:rPr>
              <a:t>nổi</a:t>
            </a:r>
            <a:r>
              <a:rPr lang="en-US" sz="1600">
                <a:solidFill>
                  <a:prstClr val="black"/>
                </a:solidFill>
                <a:latin typeface="Times New Roman" panose="02020603050405020304" pitchFamily="18" charset="0"/>
                <a:cs typeface="Times New Roman" panose="02020603050405020304" pitchFamily="18" charset="0"/>
                <a:sym typeface="Arial"/>
              </a:rPr>
              <a:t> </a:t>
            </a:r>
            <a:r>
              <a:rPr lang="en-US" sz="1600" err="1">
                <a:solidFill>
                  <a:prstClr val="black"/>
                </a:solidFill>
                <a:latin typeface="Times New Roman" panose="02020603050405020304" pitchFamily="18" charset="0"/>
                <a:cs typeface="Times New Roman" panose="02020603050405020304" pitchFamily="18" charset="0"/>
                <a:sym typeface="Arial"/>
              </a:rPr>
              <a:t>cộm</a:t>
            </a:r>
            <a:r>
              <a:rPr lang="en-US" sz="1600">
                <a:solidFill>
                  <a:prstClr val="black"/>
                </a:solidFill>
                <a:latin typeface="Times New Roman" panose="02020603050405020304" pitchFamily="18" charset="0"/>
                <a:cs typeface="Times New Roman" panose="02020603050405020304" pitchFamily="18" charset="0"/>
                <a:sym typeface="Arial"/>
              </a:rPr>
              <a:t>: </a:t>
            </a:r>
          </a:p>
          <a:p>
            <a:pPr marL="609585" lvl="1" algn="just" defTabSz="1219170"/>
            <a:r>
              <a:rPr lang="en-SG" sz="1600">
                <a:solidFill>
                  <a:prstClr val="black"/>
                </a:solidFill>
                <a:latin typeface="Times New Roman" panose="02020603050405020304" pitchFamily="18" charset="0"/>
                <a:cs typeface="Times New Roman" panose="02020603050405020304" pitchFamily="18" charset="0"/>
                <a:sym typeface="Arial"/>
              </a:rPr>
              <a:t>+ A861 GTB VN27 HAN-FRA ngày 07/02 do MSG R CENTER FUEL PUMP LOW PRESS -&gt; CAPT RESET NIL HELP, CRS RAISE ADD B1527 MEL 28-22-02A. KH T/S tối 09/02 tại HAN</a:t>
            </a:r>
          </a:p>
          <a:p>
            <a:pPr marL="609585" lvl="1" algn="just" defTabSz="1219170"/>
            <a:r>
              <a:rPr lang="vi-VN" sz="1600">
                <a:solidFill>
                  <a:srgbClr val="FF0000"/>
                </a:solidFill>
                <a:latin typeface="Times New Roman" panose="02020603050405020304" pitchFamily="18" charset="0"/>
                <a:cs typeface="Times New Roman" panose="02020603050405020304" pitchFamily="18" charset="0"/>
                <a:sym typeface="Arial"/>
              </a:rPr>
              <a:t>Hỏng hóc có thể do Wiring, Pressure switch, Pump, Pump controller. Tuy nhiên ĐTC của 3 khối này vẫn bình thường. Số lượng tháo lắp các khối này là  Pressure switch 8; Pump 3; Controller 5. Đợi kết quả TS để đánh giá them</a:t>
            </a:r>
            <a:r>
              <a:rPr lang="en-US" sz="1600">
                <a:solidFill>
                  <a:srgbClr val="FF0000"/>
                </a:solidFill>
                <a:latin typeface="Times New Roman" panose="02020603050405020304" pitchFamily="18" charset="0"/>
                <a:cs typeface="Times New Roman" panose="02020603050405020304" pitchFamily="18" charset="0"/>
                <a:sym typeface="Arial"/>
              </a:rPr>
              <a:t>.</a:t>
            </a:r>
          </a:p>
          <a:p>
            <a:pPr marL="609585" lvl="1" algn="just" defTabSz="1219170"/>
            <a:endParaRPr lang="en-SG" sz="1600">
              <a:solidFill>
                <a:prstClr val="black"/>
              </a:solidFill>
              <a:latin typeface="Times New Roman" panose="02020603050405020304" pitchFamily="18" charset="0"/>
              <a:cs typeface="Times New Roman" panose="02020603050405020304" pitchFamily="18" charset="0"/>
              <a:sym typeface="Arial"/>
            </a:endParaRPr>
          </a:p>
          <a:p>
            <a:pPr marL="609585" lvl="1" algn="just" defTabSz="1219170"/>
            <a:r>
              <a:rPr lang="en-SG" sz="1600">
                <a:solidFill>
                  <a:prstClr val="black"/>
                </a:solidFill>
                <a:latin typeface="Times New Roman" panose="02020603050405020304" pitchFamily="18" charset="0"/>
                <a:cs typeface="Times New Roman" panose="02020603050405020304" pitchFamily="18" charset="0"/>
                <a:sym typeface="Arial"/>
              </a:rPr>
              <a:t>+ A873 APU INOP due to oil leak, cần thay APU tuy nhiên dự kiến 15/02 mới có VT.</a:t>
            </a:r>
          </a:p>
          <a:p>
            <a:pPr marL="609585" lvl="1" algn="just" defTabSz="1219170"/>
            <a:endParaRPr lang="en-SG" sz="1600">
              <a:solidFill>
                <a:srgbClr val="FF0000"/>
              </a:solidFill>
              <a:latin typeface="Times New Roman" panose="02020603050405020304" pitchFamily="18" charset="0"/>
              <a:cs typeface="Times New Roman" panose="02020603050405020304" pitchFamily="18" charset="0"/>
              <a:sym typeface="Arial"/>
            </a:endParaRPr>
          </a:p>
        </p:txBody>
      </p:sp>
    </p:spTree>
    <p:extLst>
      <p:ext uri="{BB962C8B-B14F-4D97-AF65-F5344CB8AC3E}">
        <p14:creationId xmlns:p14="http://schemas.microsoft.com/office/powerpoint/2010/main" val="77501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A476C5B5-892D-948C-6A62-5F0A81B70EE9}"/>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1270B0ED-F204-41B3-2E66-DD5670BD2625}"/>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DA890C71-1523-DF69-F2F4-F1A43D90FFFF}"/>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ATR72</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DA2E25CF-F09B-0F7D-8BE1-4832D15B9FCD}"/>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01 (Event open 02/02, close 03/02)</a:t>
            </a:r>
          </a:p>
        </p:txBody>
      </p:sp>
      <p:sp>
        <p:nvSpPr>
          <p:cNvPr id="9" name="TextBox 8">
            <a:extLst>
              <a:ext uri="{FF2B5EF4-FFF2-40B4-BE49-F238E27FC236}">
                <a16:creationId xmlns:a16="http://schemas.microsoft.com/office/drawing/2014/main" id="{861D9ECE-5420-4C7C-5994-BC6CB7BCF3FC}"/>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01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graphicFrame>
        <p:nvGraphicFramePr>
          <p:cNvPr id="3" name="Table 2">
            <a:extLst>
              <a:ext uri="{FF2B5EF4-FFF2-40B4-BE49-F238E27FC236}">
                <a16:creationId xmlns:a16="http://schemas.microsoft.com/office/drawing/2014/main" id="{360210F3-CFF2-BD11-8F2A-5BD61CB7B43C}"/>
              </a:ext>
            </a:extLst>
          </p:cNvPr>
          <p:cNvGraphicFramePr>
            <a:graphicFrameLocks noGrp="1"/>
          </p:cNvGraphicFramePr>
          <p:nvPr>
            <p:extLst>
              <p:ext uri="{D42A27DB-BD31-4B8C-83A1-F6EECF244321}">
                <p14:modId xmlns:p14="http://schemas.microsoft.com/office/powerpoint/2010/main" val="3515132088"/>
              </p:ext>
            </p:extLst>
          </p:nvPr>
        </p:nvGraphicFramePr>
        <p:xfrm>
          <a:off x="170509" y="1553215"/>
          <a:ext cx="11670606" cy="4707901"/>
        </p:xfrm>
        <a:graphic>
          <a:graphicData uri="http://schemas.openxmlformats.org/drawingml/2006/table">
            <a:tbl>
              <a:tblPr/>
              <a:tblGrid>
                <a:gridCol w="353092">
                  <a:extLst>
                    <a:ext uri="{9D8B030D-6E8A-4147-A177-3AD203B41FA5}">
                      <a16:colId xmlns:a16="http://schemas.microsoft.com/office/drawing/2014/main" val="435942644"/>
                    </a:ext>
                  </a:extLst>
                </a:gridCol>
                <a:gridCol w="353092">
                  <a:extLst>
                    <a:ext uri="{9D8B030D-6E8A-4147-A177-3AD203B41FA5}">
                      <a16:colId xmlns:a16="http://schemas.microsoft.com/office/drawing/2014/main" val="4095873262"/>
                    </a:ext>
                  </a:extLst>
                </a:gridCol>
                <a:gridCol w="353092">
                  <a:extLst>
                    <a:ext uri="{9D8B030D-6E8A-4147-A177-3AD203B41FA5}">
                      <a16:colId xmlns:a16="http://schemas.microsoft.com/office/drawing/2014/main" val="1236655573"/>
                    </a:ext>
                  </a:extLst>
                </a:gridCol>
                <a:gridCol w="446615">
                  <a:extLst>
                    <a:ext uri="{9D8B030D-6E8A-4147-A177-3AD203B41FA5}">
                      <a16:colId xmlns:a16="http://schemas.microsoft.com/office/drawing/2014/main" val="276862112"/>
                    </a:ext>
                  </a:extLst>
                </a:gridCol>
                <a:gridCol w="533400">
                  <a:extLst>
                    <a:ext uri="{9D8B030D-6E8A-4147-A177-3AD203B41FA5}">
                      <a16:colId xmlns:a16="http://schemas.microsoft.com/office/drawing/2014/main" val="2191467762"/>
                    </a:ext>
                  </a:extLst>
                </a:gridCol>
                <a:gridCol w="381000">
                  <a:extLst>
                    <a:ext uri="{9D8B030D-6E8A-4147-A177-3AD203B41FA5}">
                      <a16:colId xmlns:a16="http://schemas.microsoft.com/office/drawing/2014/main" val="2342651692"/>
                    </a:ext>
                  </a:extLst>
                </a:gridCol>
                <a:gridCol w="2133600">
                  <a:extLst>
                    <a:ext uri="{9D8B030D-6E8A-4147-A177-3AD203B41FA5}">
                      <a16:colId xmlns:a16="http://schemas.microsoft.com/office/drawing/2014/main" val="3654957790"/>
                    </a:ext>
                  </a:extLst>
                </a:gridCol>
                <a:gridCol w="3352800">
                  <a:extLst>
                    <a:ext uri="{9D8B030D-6E8A-4147-A177-3AD203B41FA5}">
                      <a16:colId xmlns:a16="http://schemas.microsoft.com/office/drawing/2014/main" val="3278939196"/>
                    </a:ext>
                  </a:extLst>
                </a:gridCol>
                <a:gridCol w="457200">
                  <a:extLst>
                    <a:ext uri="{9D8B030D-6E8A-4147-A177-3AD203B41FA5}">
                      <a16:colId xmlns:a16="http://schemas.microsoft.com/office/drawing/2014/main" val="3446310582"/>
                    </a:ext>
                  </a:extLst>
                </a:gridCol>
                <a:gridCol w="3306715">
                  <a:extLst>
                    <a:ext uri="{9D8B030D-6E8A-4147-A177-3AD203B41FA5}">
                      <a16:colId xmlns:a16="http://schemas.microsoft.com/office/drawing/2014/main" val="1400684824"/>
                    </a:ext>
                  </a:extLst>
                </a:gridCol>
              </a:tblGrid>
              <a:tr h="129110">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OPEN DATE</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CLOSED DATE</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DEFECT</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ACTION</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94249764"/>
                  </a:ext>
                </a:extLst>
              </a:tr>
              <a:tr h="2643584">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B225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18:00 02/02/2025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VN1884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SGN-BMV</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B225/VN1884/VCS-SGN</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 CAPT REPORTED PL No1 AT GI TORQUE REVERSE ~</a:t>
                      </a:r>
                      <a:r>
                        <a:rPr lang="vi-VN" sz="1100" b="0" i="0" u="none" strike="noStrike">
                          <a:solidFill>
                            <a:srgbClr val="000000"/>
                          </a:solidFill>
                          <a:effectLst/>
                          <a:latin typeface="Times New Roman" panose="02020603050405020304" pitchFamily="18" charset="0"/>
                          <a:cs typeface="Times New Roman" panose="02020603050405020304" pitchFamily="18" charset="0"/>
                        </a:rPr>
                        <a:t>10</a:t>
                      </a:r>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a:t>
                      </a:r>
                    </a:p>
                    <a:p>
                      <a:pPr algn="l" fontAlgn="b"/>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 </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MOC VASCO ĐỔI B223 </a:t>
                      </a:r>
                      <a:r>
                        <a:rPr lang="vi-VN" sz="1100" b="0" i="0" u="none" strike="noStrike">
                          <a:solidFill>
                            <a:srgbClr val="000000"/>
                          </a:solidFill>
                          <a:effectLst/>
                          <a:latin typeface="Times New Roman" panose="02020603050405020304" pitchFamily="18" charset="0"/>
                          <a:cs typeface="Times New Roman" panose="02020603050405020304" pitchFamily="18" charset="0"/>
                        </a:rPr>
                        <a:t>BAY </a:t>
                      </a:r>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THAY</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a:t>
                      </a:r>
                      <a:endParaRPr lang="vi-V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FINAL ACTION:</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 C/O ADJUSTMENT OF HMU TO </a:t>
                      </a:r>
                      <a:r>
                        <a:rPr lang="vi-VN" sz="1100" b="0" i="0" u="none" strike="noStrike">
                          <a:solidFill>
                            <a:srgbClr val="000000"/>
                          </a:solidFill>
                          <a:effectLst/>
                          <a:latin typeface="Times New Roman" panose="02020603050405020304" pitchFamily="18" charset="0"/>
                          <a:cs typeface="Times New Roman" panose="02020603050405020304" pitchFamily="18" charset="0"/>
                        </a:rPr>
                        <a:t>PVM </a:t>
                      </a:r>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RODS</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-C/O </a:t>
                      </a:r>
                      <a:r>
                        <a:rPr lang="vi-VN" sz="1100" b="0" i="0" u="none" strike="noStrike">
                          <a:solidFill>
                            <a:srgbClr val="000000"/>
                          </a:solidFill>
                          <a:effectLst/>
                          <a:latin typeface="Times New Roman" panose="02020603050405020304" pitchFamily="18" charset="0"/>
                          <a:cs typeface="Times New Roman" panose="02020603050405020304" pitchFamily="18" charset="0"/>
                        </a:rPr>
                        <a:t>RIGGING </a:t>
                      </a:r>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OIL </a:t>
                      </a:r>
                      <a:r>
                        <a:rPr lang="vi-VN" sz="1100" b="0" i="0" u="none" strike="noStrike">
                          <a:solidFill>
                            <a:srgbClr val="000000"/>
                          </a:solidFill>
                          <a:effectLst/>
                          <a:latin typeface="Times New Roman" panose="02020603050405020304" pitchFamily="18" charset="0"/>
                          <a:cs typeface="Times New Roman" panose="02020603050405020304" pitchFamily="18" charset="0"/>
                        </a:rPr>
                        <a:t>TRANSFER </a:t>
                      </a:r>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TUBE</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ERU HIGH POWER , CHECK SATIS , A/C </a:t>
                      </a:r>
                      <a:r>
                        <a:rPr lang="vi-VN" sz="1100" b="0" i="0" u="none" strike="noStrike">
                          <a:solidFill>
                            <a:srgbClr val="000000"/>
                          </a:solidFill>
                          <a:effectLst/>
                          <a:latin typeface="Times New Roman" panose="02020603050405020304" pitchFamily="18" charset="0"/>
                          <a:cs typeface="Times New Roman" panose="02020603050405020304" pitchFamily="18" charset="0"/>
                        </a:rPr>
                        <a:t>SERVICEABLE</a:t>
                      </a:r>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a:t>
                      </a:r>
                      <a:endParaRPr lang="vi-V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61-21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Hỏng hóc chênh lệch lực Torque trên tàu B225 phát sinh trong khi đang Taxi. Hỏng hóc đã được khắc phục sau khi thực hiện rigging hệ thống điều khiển bộ cánh quạt nhiều lần: HMU/PVM Rod, Oil Transfer Tube. Trước đó tàu B225 đã được thực hiện Rigging toàn bộ hệ thống điều khiển cánh quạt trước khi RTS vào tháng 12/2024 theo SO bảo dưỡng tăng cường số S0050424.</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Hỏng hóc chênh lệch lực torque, thay đổi lực torque bất thường là hỏng hóc xảy ra phổ biến trên đội bay worldwide cũng như đội bay của VNA. Theo thống kê độ tin cậy từ 2018 đến này có 12 trường hợp hỏng hóc liên quan đến chênh lệch lực torque, thay đổi lực torque bất thường (2018: 01, 2020: 03, 2021: 01, 2022: 01, 2023: 05, 2024:01). Hỏng hóc này xảy ra do nhiều nguyên nhân gây ra, trong đó nguyên nhân chính do hỏng hóc khối HMU (04 TH), PVM (02 TH), Oil Transfer Tube (01 TH). Ngoài ra còn 1 số trường hợp do liên quan đến hỏng hóc khối Torque Sensor, APTCS Test switch, Rigging hệ thống điều khiến cánh quạt...</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Hiện tại, ban KT đã phối hợp VAECO triển khai các biện pháp tăng cường bảo dưỡng phòng ngừa cho tất cả các động cơ đội tàu bay ATR72 theo SO số S0050424 với tần suất A check (750 FH) để phòng ngừa hỏng hóc này với nội dung chính sau: Rigging hệ thống điều khiển cánh quạt, thực hiện Soft-time cho khối HMU khi động cơ đi shop, vệ sinh P3 line cấp khí cho HMU.</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67600614"/>
                  </a:ext>
                </a:extLst>
              </a:tr>
            </a:tbl>
          </a:graphicData>
        </a:graphic>
      </p:graphicFrame>
    </p:spTree>
    <p:extLst>
      <p:ext uri="{BB962C8B-B14F-4D97-AF65-F5344CB8AC3E}">
        <p14:creationId xmlns:p14="http://schemas.microsoft.com/office/powerpoint/2010/main" val="18441391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554909D-4576-933D-CD81-4BA601F47856}"/>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B0B05232-48BF-3B43-E8AE-43FA6A3D88AA}"/>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84D028AA-A55C-EAF0-9D7C-9D32C1075691}"/>
              </a:ext>
            </a:extLst>
          </p:cNvPr>
          <p:cNvSpPr>
            <a:spLocks noGrp="1"/>
          </p:cNvSpPr>
          <p:nvPr>
            <p:ph type="title"/>
          </p:nvPr>
        </p:nvSpPr>
        <p:spPr>
          <a:xfrm>
            <a:off x="304800" y="96660"/>
            <a:ext cx="9155467" cy="551496"/>
          </a:xfrm>
        </p:spPr>
        <p:txBody>
          <a:bodyPr rtlCol="0">
            <a:noAutofit/>
          </a:bodyPr>
          <a:lstStyle/>
          <a:p>
            <a:pPr>
              <a:defRPr/>
            </a:pPr>
            <a:r>
              <a:rPr lang="en-US" dirty="0">
                <a:ln w="0"/>
                <a:solidFill>
                  <a:schemeClr val="accent4"/>
                </a:solidFill>
                <a:latin typeface="Times New Roman" panose="02020603050405020304" pitchFamily="18" charset="0"/>
                <a:cs typeface="Times New Roman" panose="02020603050405020304" pitchFamily="18" charset="0"/>
              </a:rPr>
              <a:t>TÌNH TRẠNG KỸ THUẬT ĐỘI BAY – ATR72</a:t>
            </a:r>
            <a:endParaRPr lang="vi-VN" dirty="0">
              <a:ln w="0"/>
              <a:solidFill>
                <a:schemeClr val="accent4"/>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6315A99-7C22-BCBB-51AE-B39776276C50}"/>
              </a:ext>
            </a:extLst>
          </p:cNvPr>
          <p:cNvSpPr txBox="1"/>
          <p:nvPr/>
        </p:nvSpPr>
        <p:spPr>
          <a:xfrm>
            <a:off x="457199" y="974924"/>
            <a:ext cx="11383915" cy="33855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01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01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sp>
        <p:nvSpPr>
          <p:cNvPr id="3" name="TextBox 2">
            <a:extLst>
              <a:ext uri="{FF2B5EF4-FFF2-40B4-BE49-F238E27FC236}">
                <a16:creationId xmlns:a16="http://schemas.microsoft.com/office/drawing/2014/main" id="{6F27D0E6-6319-F9BB-EBF8-9A0BC977766E}"/>
              </a:ext>
            </a:extLst>
          </p:cNvPr>
          <p:cNvSpPr txBox="1"/>
          <p:nvPr/>
        </p:nvSpPr>
        <p:spPr>
          <a:xfrm>
            <a:off x="457200" y="1447800"/>
            <a:ext cx="11360150" cy="33855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01</a:t>
            </a:r>
          </a:p>
        </p:txBody>
      </p:sp>
      <p:graphicFrame>
        <p:nvGraphicFramePr>
          <p:cNvPr id="6" name="Table 5">
            <a:extLst>
              <a:ext uri="{FF2B5EF4-FFF2-40B4-BE49-F238E27FC236}">
                <a16:creationId xmlns:a16="http://schemas.microsoft.com/office/drawing/2014/main" id="{92666C20-307F-48D4-06E3-46E4784DF667}"/>
              </a:ext>
            </a:extLst>
          </p:cNvPr>
          <p:cNvGraphicFramePr>
            <a:graphicFrameLocks noGrp="1"/>
          </p:cNvGraphicFramePr>
          <p:nvPr>
            <p:extLst>
              <p:ext uri="{D42A27DB-BD31-4B8C-83A1-F6EECF244321}">
                <p14:modId xmlns:p14="http://schemas.microsoft.com/office/powerpoint/2010/main" val="396137498"/>
              </p:ext>
            </p:extLst>
          </p:nvPr>
        </p:nvGraphicFramePr>
        <p:xfrm>
          <a:off x="457199" y="1923818"/>
          <a:ext cx="11360150" cy="3033245"/>
        </p:xfrm>
        <a:graphic>
          <a:graphicData uri="http://schemas.openxmlformats.org/drawingml/2006/table">
            <a:tbl>
              <a:tblPr/>
              <a:tblGrid>
                <a:gridCol w="381001">
                  <a:extLst>
                    <a:ext uri="{9D8B030D-6E8A-4147-A177-3AD203B41FA5}">
                      <a16:colId xmlns:a16="http://schemas.microsoft.com/office/drawing/2014/main" val="2102544248"/>
                    </a:ext>
                  </a:extLst>
                </a:gridCol>
                <a:gridCol w="685800">
                  <a:extLst>
                    <a:ext uri="{9D8B030D-6E8A-4147-A177-3AD203B41FA5}">
                      <a16:colId xmlns:a16="http://schemas.microsoft.com/office/drawing/2014/main" val="1963927053"/>
                    </a:ext>
                  </a:extLst>
                </a:gridCol>
                <a:gridCol w="304800">
                  <a:extLst>
                    <a:ext uri="{9D8B030D-6E8A-4147-A177-3AD203B41FA5}">
                      <a16:colId xmlns:a16="http://schemas.microsoft.com/office/drawing/2014/main" val="3840043019"/>
                    </a:ext>
                  </a:extLst>
                </a:gridCol>
                <a:gridCol w="685800">
                  <a:extLst>
                    <a:ext uri="{9D8B030D-6E8A-4147-A177-3AD203B41FA5}">
                      <a16:colId xmlns:a16="http://schemas.microsoft.com/office/drawing/2014/main" val="3600809505"/>
                    </a:ext>
                  </a:extLst>
                </a:gridCol>
                <a:gridCol w="609600">
                  <a:extLst>
                    <a:ext uri="{9D8B030D-6E8A-4147-A177-3AD203B41FA5}">
                      <a16:colId xmlns:a16="http://schemas.microsoft.com/office/drawing/2014/main" val="3227864369"/>
                    </a:ext>
                  </a:extLst>
                </a:gridCol>
                <a:gridCol w="762000">
                  <a:extLst>
                    <a:ext uri="{9D8B030D-6E8A-4147-A177-3AD203B41FA5}">
                      <a16:colId xmlns:a16="http://schemas.microsoft.com/office/drawing/2014/main" val="82454695"/>
                    </a:ext>
                  </a:extLst>
                </a:gridCol>
                <a:gridCol w="1295400">
                  <a:extLst>
                    <a:ext uri="{9D8B030D-6E8A-4147-A177-3AD203B41FA5}">
                      <a16:colId xmlns:a16="http://schemas.microsoft.com/office/drawing/2014/main" val="879352902"/>
                    </a:ext>
                  </a:extLst>
                </a:gridCol>
                <a:gridCol w="3200400">
                  <a:extLst>
                    <a:ext uri="{9D8B030D-6E8A-4147-A177-3AD203B41FA5}">
                      <a16:colId xmlns:a16="http://schemas.microsoft.com/office/drawing/2014/main" val="354175309"/>
                    </a:ext>
                  </a:extLst>
                </a:gridCol>
                <a:gridCol w="383368">
                  <a:extLst>
                    <a:ext uri="{9D8B030D-6E8A-4147-A177-3AD203B41FA5}">
                      <a16:colId xmlns:a16="http://schemas.microsoft.com/office/drawing/2014/main" val="503895615"/>
                    </a:ext>
                  </a:extLst>
                </a:gridCol>
                <a:gridCol w="3051981">
                  <a:extLst>
                    <a:ext uri="{9D8B030D-6E8A-4147-A177-3AD203B41FA5}">
                      <a16:colId xmlns:a16="http://schemas.microsoft.com/office/drawing/2014/main" val="817022626"/>
                    </a:ext>
                  </a:extLst>
                </a:gridCol>
              </a:tblGrid>
              <a:tr h="676760">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dirty="0">
                          <a:solidFill>
                            <a:srgbClr val="000000"/>
                          </a:solidFill>
                          <a:effectLst/>
                          <a:latin typeface="Times New Roman" panose="02020603050405020304" pitchFamily="18" charset="0"/>
                          <a:cs typeface="Times New Roman" panose="02020603050405020304" pitchFamily="18" charset="0"/>
                        </a:rPr>
                        <a:t>DELAY MINUTES</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dirty="0">
                          <a:solidFill>
                            <a:srgbClr val="000000"/>
                          </a:solidFill>
                          <a:effectLst/>
                          <a:latin typeface="Times New Roman" panose="02020603050405020304" pitchFamily="18" charset="0"/>
                          <a:cs typeface="Times New Roman" panose="02020603050405020304" pitchFamily="18" charset="0"/>
                        </a:rPr>
                        <a:t>ROUTINE</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307967990"/>
                  </a:ext>
                </a:extLst>
              </a:tr>
              <a:tr h="1079551">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B225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13:20 03/02/2025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VCS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SGN-VCS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DURING </a:t>
                      </a:r>
                      <a:r>
                        <a:rPr lang="en-US" sz="1100" b="0" i="0" u="none" strike="noStrike">
                          <a:solidFill>
                            <a:srgbClr val="000000"/>
                          </a:solidFill>
                          <a:effectLst/>
                          <a:latin typeface="Times New Roman" panose="02020603050405020304" pitchFamily="18" charset="0"/>
                          <a:cs typeface="Times New Roman" panose="02020603050405020304" pitchFamily="18" charset="0"/>
                        </a:rPr>
                        <a:t>PRE-FLT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CHECK CAPT </a:t>
                      </a:r>
                      <a:r>
                        <a:rPr lang="en-US" sz="1100" b="0" i="0" u="none" strike="noStrike">
                          <a:solidFill>
                            <a:srgbClr val="000000"/>
                          </a:solidFill>
                          <a:effectLst/>
                          <a:latin typeface="Times New Roman" panose="02020603050405020304" pitchFamily="18" charset="0"/>
                          <a:cs typeface="Times New Roman" panose="02020603050405020304" pitchFamily="18" charset="0"/>
                        </a:rPr>
                        <a:t>REPORT: INVERTER 1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FAULT</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FINAL </a:t>
                      </a:r>
                      <a:r>
                        <a:rPr lang="vi-VN" sz="1100" b="0" i="0" u="none" strike="noStrike">
                          <a:solidFill>
                            <a:srgbClr val="000000"/>
                          </a:solidFill>
                          <a:effectLst/>
                          <a:latin typeface="Times New Roman" panose="02020603050405020304" pitchFamily="18" charset="0"/>
                          <a:cs typeface="Times New Roman" panose="02020603050405020304" pitchFamily="18" charset="0"/>
                        </a:rPr>
                        <a:t>ACTION</a:t>
                      </a:r>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a:t>
                      </a:r>
                      <a:endParaRPr lang="en-US" sz="1100" b="0" i="0" u="none" strike="noStrike" smtClean="0">
                        <a:solidFill>
                          <a:srgbClr val="000000"/>
                        </a:solidFill>
                        <a:effectLst/>
                        <a:latin typeface="Times New Roman" panose="02020603050405020304" pitchFamily="18" charset="0"/>
                        <a:cs typeface="Times New Roman" panose="02020603050405020304" pitchFamily="18" charset="0"/>
                      </a:endParaRPr>
                    </a:p>
                    <a:p>
                      <a:pPr algn="l" fontAlgn="b"/>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C/O RPLD INVERTER STATIC #1 , CHECK OK ,</a:t>
                      </a:r>
                      <a:r>
                        <a:rPr lang="vi-VN" sz="1100" b="0" i="0" u="none" strike="noStrike">
                          <a:solidFill>
                            <a:srgbClr val="000000"/>
                          </a:solidFill>
                          <a:effectLst/>
                          <a:latin typeface="Times New Roman" panose="02020603050405020304" pitchFamily="18" charset="0"/>
                          <a:cs typeface="Times New Roman" panose="02020603050405020304" pitchFamily="18" charset="0"/>
                        </a:rPr>
                        <a:t>A/C  </a:t>
                      </a:r>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SERVICEABLE</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a:t>
                      </a:r>
                      <a:endParaRPr lang="vi-V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24-21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Ngày, 20/1 thay thế Contactor 16 PU, ngày 3/2 hỏng hóc Inverter 1 lặp lại, phải thay Inverter PN 559-012D. Khối inverter này lắp trên B225 từ 2019, TSN 9784, TSI 5267 FH.</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Về độ tin cậy của inverter, từ năm 2015 đến nay độ tin cậy tốt,  chỉ tháo 07 lần, MTBUR 38524 FH, GMTBUR 5000 FH, các khối inverter hỏng hóc chủ yếu do tuổi đời sử dụng đã lâu, thường đã được 12-15 năm, hỏng hóc đa phần do overheat ở một số điện trở, diode, ATR hiện không có TPS liên quan đến hỏng hóc này. Trường hợp hỏng hóc B225 có thể thêm yếu tố do tàu bảo quản dừng bay lâu, ảnh hưởng đến thiết bị điện, việc hỏng hóc lặp lại cũng có thể do việc T/S chưa triệt để.</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3246091"/>
                  </a:ext>
                </a:extLst>
              </a:tr>
            </a:tbl>
          </a:graphicData>
        </a:graphic>
      </p:graphicFrame>
    </p:spTree>
    <p:extLst>
      <p:ext uri="{BB962C8B-B14F-4D97-AF65-F5344CB8AC3E}">
        <p14:creationId xmlns:p14="http://schemas.microsoft.com/office/powerpoint/2010/main" val="24207901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Slide Number Placeholder 3"/>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C4F79AF3-24C5-47EC-8B09-710ADAA97244}" type="slidenum">
              <a:rPr lang="en-US" altLang="en-US" sz="1200" smtClean="0">
                <a:solidFill>
                  <a:srgbClr val="D2A43B"/>
                </a:solidFill>
                <a:latin typeface="Montserrat"/>
              </a:rPr>
              <a:pPr fontAlgn="base">
                <a:lnSpc>
                  <a:spcPct val="100000"/>
                </a:lnSpc>
                <a:spcBef>
                  <a:spcPct val="0"/>
                </a:spcBef>
                <a:spcAft>
                  <a:spcPct val="0"/>
                </a:spcAft>
                <a:buFontTx/>
                <a:buNone/>
              </a:pPr>
              <a:t>20</a:t>
            </a:fld>
            <a:endParaRPr lang="en-US" altLang="en-US" sz="1200">
              <a:solidFill>
                <a:srgbClr val="D2A43B"/>
              </a:solidFill>
              <a:latin typeface="Montserrat"/>
            </a:endParaRPr>
          </a:p>
        </p:txBody>
      </p:sp>
      <p:sp>
        <p:nvSpPr>
          <p:cNvPr id="1048638" name="Title 4"/>
          <p:cNvSpPr>
            <a:spLocks noGrp="1"/>
          </p:cNvSpPr>
          <p:nvPr>
            <p:ph type="title"/>
          </p:nvPr>
        </p:nvSpPr>
        <p:spPr>
          <a:xfrm>
            <a:off x="152400" y="76200"/>
            <a:ext cx="8686799" cy="815200"/>
          </a:xfrm>
        </p:spPr>
        <p:txBody>
          <a:bodyPr rtlCol="0">
            <a:normAutofit/>
          </a:bodyPr>
          <a:lstStyle/>
          <a:p>
            <a:pPr eaLnBrk="1" fontAlgn="auto" hangingPunct="1">
              <a:spcAft>
                <a:spcPts val="0"/>
              </a:spcAft>
              <a:defRPr/>
            </a:pPr>
            <a:r>
              <a:rPr lang="en-US" sz="2800" dirty="0">
                <a:ln w="0"/>
                <a:solidFill>
                  <a:schemeClr val="accent4"/>
                </a:solidFill>
                <a:latin typeface="Times New Roman" panose="02020603050405020304" pitchFamily="18" charset="0"/>
                <a:cs typeface="Times New Roman" panose="02020603050405020304" pitchFamily="18" charset="0"/>
              </a:rPr>
              <a:t>TÌNH TRẠNG KỸ THUẬT ĐỘI BAY ATR72 </a:t>
            </a:r>
            <a:endParaRPr lang="vi-VN" sz="2800" dirty="0">
              <a:ln w="0"/>
              <a:solidFill>
                <a:schemeClr val="accent4"/>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252C54B9-AD3B-54B9-0F8F-0728352A297E}"/>
              </a:ext>
            </a:extLst>
          </p:cNvPr>
          <p:cNvSpPr txBox="1"/>
          <p:nvPr/>
        </p:nvSpPr>
        <p:spPr>
          <a:xfrm>
            <a:off x="381000" y="762000"/>
            <a:ext cx="10287000" cy="830997"/>
          </a:xfrm>
          <a:prstGeom prst="rect">
            <a:avLst/>
          </a:prstGeom>
          <a:noFill/>
        </p:spPr>
        <p:txBody>
          <a:bodyPr wrap="square">
            <a:spAutoFit/>
          </a:bodyPr>
          <a:lstStyle/>
          <a:p>
            <a:pPr lvl="0" algn="just">
              <a:defRPr/>
            </a:pPr>
            <a:r>
              <a:rPr lang="en-US" sz="1600" b="1" dirty="0" err="1">
                <a:latin typeface="Times New Roman" panose="02020603050405020304" pitchFamily="18" charset="0"/>
                <a:cs typeface="Times New Roman" panose="02020603050405020304" pitchFamily="18" charset="0"/>
              </a:rPr>
              <a:t>Nhận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xét</a:t>
            </a:r>
            <a:r>
              <a:rPr lang="en-US" sz="1600" b="1">
                <a:latin typeface="Times New Roman" panose="02020603050405020304" pitchFamily="18" charset="0"/>
                <a:cs typeface="Times New Roman" panose="02020603050405020304" pitchFamily="18" charset="0"/>
              </a:rPr>
              <a:t>: </a:t>
            </a:r>
            <a:r>
              <a:rPr lang="en-US" sz="1600">
                <a:latin typeface="Times New Roman" panose="02020603050405020304" pitchFamily="18" charset="0"/>
                <a:cs typeface="Times New Roman" panose="02020603050405020304" pitchFamily="18" charset="0"/>
              </a:rPr>
              <a:t>Tình trạng kỹ thuật ATR72 trong tuần </a:t>
            </a:r>
            <a:r>
              <a:rPr lang="en-US" sz="1600" smtClean="0">
                <a:latin typeface="Times New Roman" panose="02020603050405020304" pitchFamily="18" charset="0"/>
                <a:cs typeface="Times New Roman" panose="02020603050405020304" pitchFamily="18" charset="0"/>
              </a:rPr>
              <a:t>tương đối tốt, chỉ </a:t>
            </a:r>
            <a:r>
              <a:rPr lang="en-US" sz="1600">
                <a:latin typeface="Times New Roman" panose="02020603050405020304" pitchFamily="18" charset="0"/>
                <a:cs typeface="Times New Roman" panose="02020603050405020304" pitchFamily="18" charset="0"/>
              </a:rPr>
              <a:t>phát </a:t>
            </a:r>
            <a:r>
              <a:rPr lang="en-US" sz="1600" err="1">
                <a:latin typeface="Times New Roman" panose="02020603050405020304" pitchFamily="18" charset="0"/>
                <a:cs typeface="Times New Roman" panose="02020603050405020304" pitchFamily="18" charset="0"/>
              </a:rPr>
              <a:t>sinh</a:t>
            </a:r>
            <a:r>
              <a:rPr lang="en-US" sz="1600">
                <a:latin typeface="Times New Roman" panose="02020603050405020304" pitchFamily="18" charset="0"/>
                <a:cs typeface="Times New Roman" panose="02020603050405020304" pitchFamily="18" charset="0"/>
              </a:rPr>
              <a:t> 01 </a:t>
            </a:r>
            <a:r>
              <a:rPr lang="en-US" sz="1600" dirty="0" err="1">
                <a:latin typeface="Times New Roman" panose="02020603050405020304" pitchFamily="18" charset="0"/>
                <a:cs typeface="Times New Roman" panose="02020603050405020304" pitchFamily="18" charset="0"/>
              </a:rPr>
              <a:t>trường</a:t>
            </a:r>
            <a:r>
              <a:rPr lang="en-US" sz="1600" dirty="0">
                <a:latin typeface="Times New Roman" panose="02020603050405020304" pitchFamily="18" charset="0"/>
                <a:cs typeface="Times New Roman" panose="02020603050405020304" pitchFamily="18" charset="0"/>
              </a:rPr>
              <a:t> </a:t>
            </a:r>
            <a:r>
              <a:rPr lang="en-US" sz="1600" err="1">
                <a:latin typeface="Times New Roman" panose="02020603050405020304" pitchFamily="18" charset="0"/>
                <a:cs typeface="Times New Roman" panose="02020603050405020304" pitchFamily="18" charset="0"/>
              </a:rPr>
              <a:t>hợp</a:t>
            </a:r>
            <a:r>
              <a:rPr lang="en-US" sz="1600">
                <a:latin typeface="Times New Roman" panose="02020603050405020304" pitchFamily="18" charset="0"/>
                <a:cs typeface="Times New Roman" panose="02020603050405020304" pitchFamily="18" charset="0"/>
              </a:rPr>
              <a:t> Delay tàu B225 tại SGN do INVERTER 1  </a:t>
            </a:r>
            <a:r>
              <a:rPr lang="en-US" sz="1600" smtClean="0">
                <a:latin typeface="Times New Roman" panose="02020603050405020304" pitchFamily="18" charset="0"/>
                <a:cs typeface="Times New Roman" panose="02020603050405020304" pitchFamily="18" charset="0"/>
              </a:rPr>
              <a:t>FAULT, đã khắc phục bằng cách thay thế khối Inverter #1. Tình trạng hệ thống điện tàu B225 thường có lỗi gần đây có thể do yếu tố bảo quản dừng bay dài ngày. Tiếp tục theo dõi thêm.</a:t>
            </a:r>
            <a:endParaRPr lang="vi-V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587204"/>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76510" y="546733"/>
            <a:ext cx="10515600" cy="444137"/>
          </a:xfrm>
        </p:spPr>
        <p:txBody>
          <a:bodyPr>
            <a:noAutofit/>
          </a:bodyPr>
          <a:lstStyle/>
          <a:p>
            <a:r>
              <a:rPr lang="en-US" sz="2800" dirty="0">
                <a:ln w="0"/>
                <a:solidFill>
                  <a:schemeClr val="accent4"/>
                </a:solidFill>
                <a:latin typeface="Times New Roman" panose="02020603050405020304" pitchFamily="18" charset="0"/>
                <a:cs typeface="Times New Roman" panose="02020603050405020304" pitchFamily="18" charset="0"/>
              </a:rPr>
              <a:t>Dispatch </a:t>
            </a:r>
            <a:r>
              <a:rPr lang="en-US" sz="2800">
                <a:ln w="0"/>
                <a:solidFill>
                  <a:schemeClr val="accent4"/>
                </a:solidFill>
                <a:latin typeface="Times New Roman" panose="02020603050405020304" pitchFamily="18" charset="0"/>
                <a:cs typeface="Times New Roman" panose="02020603050405020304" pitchFamily="18" charset="0"/>
              </a:rPr>
              <a:t>Reliability W06 </a:t>
            </a:r>
            <a:r>
              <a:rPr lang="vi-VN" sz="2800">
                <a:ln w="0"/>
                <a:solidFill>
                  <a:schemeClr val="accent4"/>
                </a:solidFill>
                <a:latin typeface="Times New Roman" panose="02020603050405020304" pitchFamily="18" charset="0"/>
                <a:cs typeface="Times New Roman" panose="02020603050405020304" pitchFamily="18" charset="0"/>
              </a:rPr>
              <a:t>(</a:t>
            </a:r>
            <a:r>
              <a:rPr lang="en-US" sz="2800">
                <a:ln w="0"/>
                <a:solidFill>
                  <a:schemeClr val="accent4"/>
                </a:solidFill>
                <a:latin typeface="Times New Roman" panose="02020603050405020304" pitchFamily="18" charset="0"/>
                <a:cs typeface="Times New Roman" panose="02020603050405020304" pitchFamily="18" charset="0"/>
              </a:rPr>
              <a:t>03/02/2025-09/02/20</a:t>
            </a:r>
            <a:r>
              <a:rPr lang="vi-VN" sz="2800">
                <a:ln w="0"/>
                <a:solidFill>
                  <a:schemeClr val="accent4"/>
                </a:solidFill>
                <a:latin typeface="Times New Roman" panose="02020603050405020304" pitchFamily="18" charset="0"/>
                <a:cs typeface="Times New Roman" panose="02020603050405020304" pitchFamily="18" charset="0"/>
              </a:rPr>
              <a:t>2</a:t>
            </a:r>
            <a:r>
              <a:rPr lang="en-US" sz="2800">
                <a:ln w="0"/>
                <a:solidFill>
                  <a:schemeClr val="accent4"/>
                </a:solidFill>
                <a:latin typeface="Times New Roman" panose="02020603050405020304" pitchFamily="18" charset="0"/>
                <a:cs typeface="Times New Roman" panose="02020603050405020304" pitchFamily="18" charset="0"/>
              </a:rPr>
              <a:t>5)</a:t>
            </a:r>
            <a:endParaRPr lang="vi-VN" sz="2800" dirty="0">
              <a:ln w="0"/>
              <a:solidFill>
                <a:schemeClr val="accent4"/>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4294967295"/>
          </p:nvPr>
        </p:nvSpPr>
        <p:spPr>
          <a:xfrm>
            <a:off x="10789920" y="5809416"/>
            <a:ext cx="56388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t>1</a:t>
            </a:r>
          </a:p>
        </p:txBody>
      </p:sp>
      <p:sp>
        <p:nvSpPr>
          <p:cNvPr id="6" name="TextBox 5"/>
          <p:cNvSpPr txBox="1"/>
          <p:nvPr/>
        </p:nvSpPr>
        <p:spPr>
          <a:xfrm>
            <a:off x="552666" y="4395787"/>
            <a:ext cx="7073084" cy="209288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Trong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tuần 06/2025 </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chỉ số độ tin cậy cất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cánh đội A321 đạt mục tiêu, đội B787 và ATR72 xấp xỉ đạt mục tiêu, riêng đội A350 không đạt mục tiêu:</a:t>
            </a:r>
            <a:endPar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A3</a:t>
            </a:r>
            <a:r>
              <a:rPr kumimoji="0" lang="vi-VN"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21</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99,93% cao hơn 0,30% </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so với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mục tiêu.</a:t>
            </a:r>
            <a:endParaRPr kumimoji="0" lang="vi-VN"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A350</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98,65% thấp  hơn 0.79% </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so với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mục tiêu do: tàu A893 có 2 sự kiện ( ENG # 1 START FAULT và ENG 1 CTL SYS FAULT), A889 xuất hiện cảnh báo MSG FUEL L TK INLET VLV cùng nhiều cảnh báo khác.</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B787: 99,30% xấp xỉ đạt mục tiêu (thấp </a:t>
            </a:r>
            <a:r>
              <a:rPr kumimoji="0" lang="vi-VN"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hơn</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0,06% </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so với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mục tiêu) do có các sự kiện: tàu A864 hệ thống IFE chập chờn, tàu A865 có cảnh báo ELEC GEN SYS L2 và A864 GPU Panel light U/S.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ATR72: 99,62% xấp xỉ đạt mục tiêu (thấp hơn 0,03% </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so với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mục tiêu) do có 01 sự kiện liên quan tới hỏng hóc INVERTER 1  FAULT  tàu B225.</a:t>
            </a:r>
            <a:endPar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5" name="Picture 1" descr="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2400" cy="1524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29C63447-9F0E-F5EB-F621-78A1848A848E}"/>
              </a:ext>
            </a:extLst>
          </p:cNvPr>
          <p:cNvGraphicFramePr>
            <a:graphicFrameLocks noGrp="1"/>
          </p:cNvGraphicFramePr>
          <p:nvPr/>
        </p:nvGraphicFramePr>
        <p:xfrm>
          <a:off x="7625750" y="4533234"/>
          <a:ext cx="4082595" cy="1272344"/>
        </p:xfrm>
        <a:graphic>
          <a:graphicData uri="http://schemas.openxmlformats.org/drawingml/2006/table">
            <a:tbl>
              <a:tblPr/>
              <a:tblGrid>
                <a:gridCol w="1255255">
                  <a:extLst>
                    <a:ext uri="{9D8B030D-6E8A-4147-A177-3AD203B41FA5}">
                      <a16:colId xmlns:a16="http://schemas.microsoft.com/office/drawing/2014/main" val="2169649306"/>
                    </a:ext>
                  </a:extLst>
                </a:gridCol>
                <a:gridCol w="1496650">
                  <a:extLst>
                    <a:ext uri="{9D8B030D-6E8A-4147-A177-3AD203B41FA5}">
                      <a16:colId xmlns:a16="http://schemas.microsoft.com/office/drawing/2014/main" val="3397981216"/>
                    </a:ext>
                  </a:extLst>
                </a:gridCol>
                <a:gridCol w="1330690">
                  <a:extLst>
                    <a:ext uri="{9D8B030D-6E8A-4147-A177-3AD203B41FA5}">
                      <a16:colId xmlns:a16="http://schemas.microsoft.com/office/drawing/2014/main" val="4123869646"/>
                    </a:ext>
                  </a:extLst>
                </a:gridCol>
              </a:tblGrid>
              <a:tr h="502724">
                <a:tc>
                  <a:txBody>
                    <a:bodyPr/>
                    <a:lstStyle/>
                    <a:p>
                      <a:pPr algn="ctr" fontAlgn="ctr"/>
                      <a:r>
                        <a:rPr lang="en-US" sz="1400" b="1" i="0" u="none" strike="noStrike" dirty="0" err="1">
                          <a:solidFill>
                            <a:srgbClr val="00B050"/>
                          </a:solidFill>
                          <a:effectLst/>
                          <a:latin typeface="Times New Roman" panose="02020603050405020304" pitchFamily="18" charset="0"/>
                        </a:rPr>
                        <a:t>Loại</a:t>
                      </a:r>
                      <a:r>
                        <a:rPr lang="en-US" sz="1400" b="1" i="0" u="none" strike="noStrike" dirty="0">
                          <a:solidFill>
                            <a:srgbClr val="00B050"/>
                          </a:solidFill>
                          <a:effectLst/>
                          <a:latin typeface="Times New Roman" panose="02020603050405020304" pitchFamily="18" charset="0"/>
                        </a:rPr>
                        <a:t> </a:t>
                      </a:r>
                      <a:r>
                        <a:rPr lang="en-US" sz="1400" b="1" i="0" u="none" strike="noStrike" dirty="0" err="1">
                          <a:solidFill>
                            <a:srgbClr val="00B050"/>
                          </a:solidFill>
                          <a:effectLst/>
                          <a:latin typeface="Times New Roman" panose="02020603050405020304" pitchFamily="18" charset="0"/>
                        </a:rPr>
                        <a:t>máy</a:t>
                      </a:r>
                      <a:r>
                        <a:rPr lang="en-US" sz="1400" b="1" i="0" u="none" strike="noStrike" dirty="0">
                          <a:solidFill>
                            <a:srgbClr val="00B050"/>
                          </a:solidFill>
                          <a:effectLst/>
                          <a:latin typeface="Times New Roman" panose="02020603050405020304" pitchFamily="18" charset="0"/>
                        </a:rPr>
                        <a:t> bay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Số chuyến chậm, </a:t>
                      </a:r>
                      <a:br>
                        <a:rPr lang="en-US" sz="1400" b="1" i="0" u="none" strike="noStrike">
                          <a:solidFill>
                            <a:srgbClr val="00B050"/>
                          </a:solidFill>
                          <a:effectLst/>
                          <a:latin typeface="Times New Roman" panose="02020603050405020304" pitchFamily="18" charset="0"/>
                        </a:rPr>
                      </a:br>
                      <a:r>
                        <a:rPr lang="en-US" sz="1400" b="1" i="0" u="none" strike="noStrike">
                          <a:solidFill>
                            <a:srgbClr val="00B050"/>
                          </a:solidFill>
                          <a:effectLst/>
                          <a:latin typeface="Times New Roman" panose="02020603050405020304" pitchFamily="18" charset="0"/>
                        </a:rPr>
                        <a:t>hủy chuyến KT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FC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8093152"/>
                  </a:ext>
                </a:extLst>
              </a:tr>
              <a:tr h="164465">
                <a:tc>
                  <a:txBody>
                    <a:bodyPr/>
                    <a:lstStyle/>
                    <a:p>
                      <a:pPr algn="l" fontAlgn="ctr"/>
                      <a:r>
                        <a:rPr lang="en-US" sz="1200" b="1" i="0" u="none" strike="noStrike">
                          <a:solidFill>
                            <a:srgbClr val="00B05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2791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406977045"/>
                  </a:ext>
                </a:extLst>
              </a:tr>
              <a:tr h="164465">
                <a:tc>
                  <a:txBody>
                    <a:bodyPr/>
                    <a:lstStyle/>
                    <a:p>
                      <a:pPr algn="l" fontAlgn="ctr"/>
                      <a:r>
                        <a:rPr lang="en-US" sz="1200" b="1" i="0" u="none" strike="noStrike" dirty="0">
                          <a:solidFill>
                            <a:srgbClr val="00B05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50568924"/>
                  </a:ext>
                </a:extLst>
              </a:tr>
              <a:tr h="164465">
                <a:tc>
                  <a:txBody>
                    <a:bodyPr/>
                    <a:lstStyle/>
                    <a:p>
                      <a:pPr algn="l" fontAlgn="ctr"/>
                      <a:r>
                        <a:rPr lang="en-US" sz="1200" b="1" i="0" u="none" strike="noStrike">
                          <a:solidFill>
                            <a:srgbClr val="00B05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429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529025990"/>
                  </a:ext>
                </a:extLst>
              </a:tr>
              <a:tr h="162092">
                <a:tc>
                  <a:txBody>
                    <a:bodyPr/>
                    <a:lstStyle/>
                    <a:p>
                      <a:pPr algn="l" fontAlgn="ctr"/>
                      <a:r>
                        <a:rPr lang="en-US" sz="1200" b="1" i="0" u="none" strike="noStrike">
                          <a:solidFill>
                            <a:srgbClr val="00B05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804591176"/>
                  </a:ext>
                </a:extLst>
              </a:tr>
            </a:tbl>
          </a:graphicData>
        </a:graphic>
      </p:graphicFrame>
      <p:graphicFrame>
        <p:nvGraphicFramePr>
          <p:cNvPr id="9" name="Chart 8"/>
          <p:cNvGraphicFramePr>
            <a:graphicFrameLocks/>
          </p:cNvGraphicFramePr>
          <p:nvPr/>
        </p:nvGraphicFramePr>
        <p:xfrm>
          <a:off x="475028" y="1152327"/>
          <a:ext cx="11155680" cy="32194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9957220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0" y="0"/>
            <a:ext cx="9312664" cy="508000"/>
          </a:xfrm>
        </p:spPr>
        <p:txBody>
          <a:bodyPr>
            <a:normAutofit fontScale="90000"/>
          </a:bodyPr>
          <a:lstStyle/>
          <a:p>
            <a:pPr eaLnBrk="1" hangingPunct="1"/>
            <a:r>
              <a:rPr lang="en-US" altLang="en-US" sz="3200" dirty="0">
                <a:solidFill>
                  <a:srgbClr val="FFC000"/>
                </a:solidFill>
                <a:latin typeface="Times New Roman" panose="02020603050405020304" pitchFamily="18" charset="0"/>
                <a:cs typeface="Times New Roman" panose="02020603050405020304" pitchFamily="18" charset="0"/>
              </a:rPr>
              <a:t>CÁC CÔNG VIỆC </a:t>
            </a:r>
            <a:r>
              <a:rPr lang="en-US" altLang="en-US" sz="3600" dirty="0">
                <a:solidFill>
                  <a:srgbClr val="FFC000"/>
                </a:solidFill>
                <a:latin typeface="Times New Roman" panose="02020603050405020304" pitchFamily="18" charset="0"/>
                <a:cs typeface="Times New Roman" panose="02020603050405020304" pitchFamily="18" charset="0"/>
              </a:rPr>
              <a:t>TRỌNG</a:t>
            </a:r>
            <a:r>
              <a:rPr lang="en-US" altLang="en-US" sz="3200" dirty="0">
                <a:solidFill>
                  <a:srgbClr val="FFC000"/>
                </a:solidFill>
                <a:latin typeface="Times New Roman" panose="02020603050405020304" pitchFamily="18" charset="0"/>
                <a:cs typeface="Times New Roman" panose="02020603050405020304" pitchFamily="18" charset="0"/>
              </a:rPr>
              <a:t> ĐIỂM TRONG TUẦN</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nvPr>
        </p:nvGraphicFramePr>
        <p:xfrm>
          <a:off x="156784" y="652239"/>
          <a:ext cx="11959016" cy="6114923"/>
        </p:xfrm>
        <a:graphic>
          <a:graphicData uri="http://schemas.openxmlformats.org/drawingml/2006/table">
            <a:tbl>
              <a:tblPr>
                <a:tableStyleId>{5C22544A-7EE6-4342-B048-85BDC9FD1C3A}</a:tableStyleId>
              </a:tblPr>
              <a:tblGrid>
                <a:gridCol w="425595">
                  <a:extLst>
                    <a:ext uri="{9D8B030D-6E8A-4147-A177-3AD203B41FA5}">
                      <a16:colId xmlns:a16="http://schemas.microsoft.com/office/drawing/2014/main" val="2758273930"/>
                    </a:ext>
                  </a:extLst>
                </a:gridCol>
                <a:gridCol w="1190968">
                  <a:extLst>
                    <a:ext uri="{9D8B030D-6E8A-4147-A177-3AD203B41FA5}">
                      <a16:colId xmlns:a16="http://schemas.microsoft.com/office/drawing/2014/main" val="221963637"/>
                    </a:ext>
                  </a:extLst>
                </a:gridCol>
                <a:gridCol w="8959973">
                  <a:extLst>
                    <a:ext uri="{9D8B030D-6E8A-4147-A177-3AD203B41FA5}">
                      <a16:colId xmlns:a16="http://schemas.microsoft.com/office/drawing/2014/main" val="426833219"/>
                    </a:ext>
                  </a:extLst>
                </a:gridCol>
                <a:gridCol w="1382480">
                  <a:extLst>
                    <a:ext uri="{9D8B030D-6E8A-4147-A177-3AD203B41FA5}">
                      <a16:colId xmlns:a16="http://schemas.microsoft.com/office/drawing/2014/main" val="3649942957"/>
                    </a:ext>
                  </a:extLst>
                </a:gridCol>
              </a:tblGrid>
              <a:tr h="525359">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1925988">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chương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trình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 CEO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NEO</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06/04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gửi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draft 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11k$/</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9k$/</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75tr,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kèm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một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số</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điều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SSA 2024: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13.5k/10k,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90M.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bao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gồm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2022.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quả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23/10: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chỉ</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16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gửi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đủ</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16 engine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Shop)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a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số</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l</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SV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2025. SSA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vẫn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giữ</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nguyên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07/11: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xác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1 Slot QT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T12 </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tổng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17 slot.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29/12: 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 PW &amp;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hành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vị</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quan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10/02: Senior Customer Support Director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của</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sẽ</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trao</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đổi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vấn</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kỹ</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thuật</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KT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sẽ</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tiếp</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tục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GTF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vấn</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khác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endPar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tăng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mức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1812270">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Genx-1B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dung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KLM</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KLM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T7/2024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28 (02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đco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956556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T11/2023 induct 12/07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956533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T01/2024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T9/2024)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xếp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total 05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còn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01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ESN 956695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a:t>
                      </a:r>
                      <a:endPar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Group C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vấn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rất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chế</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02 ĐC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đáp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ứng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T7.</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gói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787-10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sắp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Letter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787-10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T7/2024.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cao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Airshow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23/07/2025.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26/11: EVP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cập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nhật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tình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trạng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bay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Leadership</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11/2: EVP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1789745">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3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 VP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hoạch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nguồn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lực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A350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xuất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SV...). Ban KT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hợp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QLVT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đòi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như</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triển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khai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hợp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QLVT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tính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toán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draft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cao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nhằm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theo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HĐ TCA.</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Trong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buổi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MRO Asia, 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bổ</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sung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 slot QT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cuối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T10 –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T11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 AOG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giai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đoạn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17/12 SVP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CEO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tuy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đạt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đ</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cụ</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thể</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a:solidFill>
                            <a:srgbClr val="FF0000"/>
                          </a:solidFill>
                          <a:effectLst/>
                          <a:latin typeface="Times New Roman" panose="02020603050405020304" pitchFamily="18" charset="0"/>
                          <a:ea typeface="+mn-ea"/>
                          <a:cs typeface="Times New Roman" panose="02020603050405020304" pitchFamily="18" charset="0"/>
                        </a:rPr>
                        <a:t>Ngày 11/2, lãnh đạo RRFP (bên cho thuê động c</a:t>
                      </a:r>
                      <a:r>
                        <a:rPr lang="vi-VN" sz="1300" u="none" strike="noStrike" kern="1200" baseline="0">
                          <a:solidFill>
                            <a:srgbClr val="FF0000"/>
                          </a:solidFill>
                          <a:effectLst/>
                          <a:latin typeface="Times New Roman" panose="02020603050405020304" pitchFamily="18" charset="0"/>
                          <a:ea typeface="+mn-ea"/>
                          <a:cs typeface="Times New Roman" panose="02020603050405020304" pitchFamily="18" charset="0"/>
                        </a:rPr>
                        <a:t>ơ</a:t>
                      </a:r>
                      <a:r>
                        <a:rPr lang="en-US" sz="1300" u="none" strike="noStrike" kern="1200" baseline="0">
                          <a:solidFill>
                            <a:srgbClr val="FF0000"/>
                          </a:solidFill>
                          <a:effectLst/>
                          <a:latin typeface="Times New Roman" panose="02020603050405020304" pitchFamily="18" charset="0"/>
                          <a:ea typeface="+mn-ea"/>
                          <a:cs typeface="Times New Roman" panose="02020603050405020304" pitchFamily="18" charset="0"/>
                        </a:rPr>
                        <a:t>) sẽ sang làm việc với VNA. Ban KT cũng setup online meeting với RR và yêu cầu tổ chức thêm cuộc gặp trực tiếp sớm nhất (dự kiến trong T3).</a:t>
                      </a:r>
                      <a:endPar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RR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slot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c</a:t>
                      </a:r>
                      <a:r>
                        <a:rPr lang="vi-VN" sz="1300" kern="1200" dirty="0">
                          <a:solidFill>
                            <a:schemeClr val="tx1"/>
                          </a:solidFill>
                          <a:effectLst/>
                          <a:latin typeface="Times New Roman" panose="02020603050405020304" pitchFamily="18" charset="0"/>
                          <a:ea typeface="+mn-ea"/>
                          <a:cs typeface="Times New Roman" panose="02020603050405020304" pitchFamily="18" charset="0"/>
                        </a:rPr>
                        <a:t>ơ</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TAT.</a:t>
                      </a: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bl>
          </a:graphicData>
        </a:graphic>
      </p:graphicFrame>
    </p:spTree>
    <p:extLst>
      <p:ext uri="{BB962C8B-B14F-4D97-AF65-F5344CB8AC3E}">
        <p14:creationId xmlns:p14="http://schemas.microsoft.com/office/powerpoint/2010/main" val="9671232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FCDADE51-C6B9-5C4B-8E7E-2C9068925992}"/>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247D3536-C804-0133-4A2E-A846C5CD8D46}"/>
              </a:ext>
            </a:extLst>
          </p:cNvPr>
          <p:cNvSpPr>
            <a:spLocks noGrp="1"/>
          </p:cNvSpPr>
          <p:nvPr>
            <p:ph type="title"/>
          </p:nvPr>
        </p:nvSpPr>
        <p:spPr>
          <a:xfrm>
            <a:off x="771524" y="2977615"/>
            <a:ext cx="10648952" cy="627834"/>
          </a:xfrm>
          <a:noFill/>
        </p:spPr>
        <p:txBody>
          <a:bodyPr wrap="square" rtlCol="0">
            <a:spAutoFit/>
          </a:bodyPr>
          <a:lstStyle/>
          <a:p>
            <a:pPr algn="ctr"/>
            <a:r>
              <a:rPr lang="vi-VN" sz="3200" dirty="0">
                <a:ln w="0"/>
                <a:solidFill>
                  <a:srgbClr val="0070C0"/>
                </a:solidFill>
                <a:latin typeface="Times New Roman" panose="02020603050405020304" pitchFamily="18" charset="0"/>
                <a:ea typeface="+mn-ea"/>
                <a:cs typeface="Times New Roman" panose="02020603050405020304" pitchFamily="18" charset="0"/>
              </a:rPr>
              <a:t>KHẢ NĂNG CUNG ỨNG ĐỘNG CƠ</a:t>
            </a:r>
            <a:r>
              <a:rPr lang="en-US" sz="3200" dirty="0">
                <a:ln w="0"/>
                <a:solidFill>
                  <a:srgbClr val="0070C0"/>
                </a:solidFill>
                <a:latin typeface="Times New Roman" panose="02020603050405020304" pitchFamily="18" charset="0"/>
                <a:ea typeface="+mn-ea"/>
                <a:cs typeface="Times New Roman" panose="02020603050405020304" pitchFamily="18" charset="0"/>
              </a:rPr>
              <a:t>/APU</a:t>
            </a:r>
          </a:p>
        </p:txBody>
      </p:sp>
    </p:spTree>
    <p:extLst>
      <p:ext uri="{BB962C8B-B14F-4D97-AF65-F5344CB8AC3E}">
        <p14:creationId xmlns:p14="http://schemas.microsoft.com/office/powerpoint/2010/main" val="11250001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22A72-54FF-8086-CABE-943B9F79B55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4848883-0D37-D0EE-F00E-CA550378B7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0523" y="134658"/>
            <a:ext cx="537821" cy="505652"/>
          </a:xfrm>
          <a:prstGeom prst="rect">
            <a:avLst/>
          </a:prstGeom>
        </p:spPr>
      </p:pic>
      <p:sp>
        <p:nvSpPr>
          <p:cNvPr id="7" name="Title 1">
            <a:extLst>
              <a:ext uri="{FF2B5EF4-FFF2-40B4-BE49-F238E27FC236}">
                <a16:creationId xmlns:a16="http://schemas.microsoft.com/office/drawing/2014/main" id="{209F39F1-CDB6-3B62-4B32-ACAA9A730526}"/>
              </a:ext>
            </a:extLst>
          </p:cNvPr>
          <p:cNvSpPr txBox="1">
            <a:spLocks/>
          </p:cNvSpPr>
          <p:nvPr/>
        </p:nvSpPr>
        <p:spPr>
          <a:xfrm>
            <a:off x="844871" y="203761"/>
            <a:ext cx="9132732" cy="458687"/>
          </a:xfrm>
          <a:prstGeom prst="rect">
            <a:avLst/>
          </a:prstGeom>
        </p:spPr>
        <p:txBody>
          <a:bodyPr vert="horz" lIns="91440" tIns="45720" rIns="91440" bIns="45720" rtlCol="0" anchor="ctr">
            <a:noAutofit/>
          </a:bodyPr>
          <a:lstStyle>
            <a:defPPr>
              <a:defRPr lang="en-US"/>
            </a:defPPr>
            <a:lvl1pPr>
              <a:lnSpc>
                <a:spcPct val="90000"/>
              </a:lnSpc>
              <a:spcBef>
                <a:spcPct val="0"/>
              </a:spcBef>
              <a:buNone/>
              <a:defRPr sz="2800" b="1">
                <a:solidFill>
                  <a:srgbClr val="D2A43B"/>
                </a:solidFill>
                <a:latin typeface="Times New Roman" panose="02020603050405020304" pitchFamily="18" charset="0"/>
                <a:ea typeface="Tahoma" pitchFamily="34" charset="0"/>
                <a:cs typeface="Times New Roman" panose="02020603050405020304" pitchFamily="18" charset="0"/>
              </a:defRPr>
            </a:lvl1pPr>
          </a:lstStyle>
          <a:p>
            <a:pPr marL="0" marR="0" lvl="0" indent="0" algn="l" defTabSz="914377"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NHU CẦU ĐỘNG CƠ DỰ </a:t>
            </a:r>
            <a:r>
              <a:rPr kumimoji="0" lang="en-US" sz="2800" b="1" i="0" u="none" strike="noStrike" kern="1200" cap="none" spc="0" normalizeH="0" baseline="0" noProof="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PHÒNG Q1-Q2/2025</a:t>
            </a:r>
            <a:endParaRPr kumimoji="0" lang="vi-VN" sz="28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endParaRPr>
          </a:p>
        </p:txBody>
      </p:sp>
      <p:grpSp>
        <p:nvGrpSpPr>
          <p:cNvPr id="8" name="Group 7">
            <a:extLst>
              <a:ext uri="{FF2B5EF4-FFF2-40B4-BE49-F238E27FC236}">
                <a16:creationId xmlns:a16="http://schemas.microsoft.com/office/drawing/2014/main" id="{9743D403-841B-4C88-9A8E-7F9B02422512}"/>
              </a:ext>
            </a:extLst>
          </p:cNvPr>
          <p:cNvGrpSpPr/>
          <p:nvPr/>
        </p:nvGrpSpPr>
        <p:grpSpPr>
          <a:xfrm>
            <a:off x="932601" y="288236"/>
            <a:ext cx="10799027" cy="678753"/>
            <a:chOff x="1363421" y="323070"/>
            <a:chExt cx="10799027" cy="678753"/>
          </a:xfrm>
        </p:grpSpPr>
        <p:cxnSp>
          <p:nvCxnSpPr>
            <p:cNvPr id="9" name="Straight Connector 8">
              <a:extLst>
                <a:ext uri="{FF2B5EF4-FFF2-40B4-BE49-F238E27FC236}">
                  <a16:creationId xmlns:a16="http://schemas.microsoft.com/office/drawing/2014/main" id="{02D9B4C5-DC85-8A40-532D-EB022CFB7B1B}"/>
                </a:ext>
              </a:extLst>
            </p:cNvPr>
            <p:cNvCxnSpPr/>
            <p:nvPr/>
          </p:nvCxnSpPr>
          <p:spPr>
            <a:xfrm>
              <a:off x="1363421"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C0941FC1-E581-6BDB-582E-7D9D8FDE8A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709946" y="323070"/>
              <a:ext cx="452502" cy="678753"/>
            </a:xfrm>
            <a:prstGeom prst="rect">
              <a:avLst/>
            </a:prstGeom>
          </p:spPr>
        </p:pic>
      </p:grpSp>
      <p:graphicFrame>
        <p:nvGraphicFramePr>
          <p:cNvPr id="19" name="Chart 18">
            <a:extLst>
              <a:ext uri="{FF2B5EF4-FFF2-40B4-BE49-F238E27FC236}">
                <a16:creationId xmlns:a16="http://schemas.microsoft.com/office/drawing/2014/main" id="{211010DD-A36B-7A4B-2FF6-01A604A6123F}"/>
              </a:ext>
            </a:extLst>
          </p:cNvPr>
          <p:cNvGraphicFramePr>
            <a:graphicFrameLocks/>
          </p:cNvGraphicFramePr>
          <p:nvPr/>
        </p:nvGraphicFramePr>
        <p:xfrm>
          <a:off x="495300" y="801732"/>
          <a:ext cx="11236328" cy="4607249"/>
        </p:xfrm>
        <a:graphic>
          <a:graphicData uri="http://schemas.openxmlformats.org/drawingml/2006/chart">
            <c:chart xmlns:c="http://schemas.openxmlformats.org/drawingml/2006/chart" xmlns:r="http://schemas.openxmlformats.org/officeDocument/2006/relationships" r:id="rId5"/>
          </a:graphicData>
        </a:graphic>
      </p:graphicFrame>
      <p:sp>
        <p:nvSpPr>
          <p:cNvPr id="20" name="TextBox 19">
            <a:extLst>
              <a:ext uri="{FF2B5EF4-FFF2-40B4-BE49-F238E27FC236}">
                <a16:creationId xmlns:a16="http://schemas.microsoft.com/office/drawing/2014/main" id="{4DD2277F-2B8A-7B9C-24AD-6310EB414239}"/>
              </a:ext>
            </a:extLst>
          </p:cNvPr>
          <p:cNvSpPr txBox="1"/>
          <p:nvPr/>
        </p:nvSpPr>
        <p:spPr>
          <a:xfrm>
            <a:off x="477836" y="5458746"/>
            <a:ext cx="11236328" cy="1323054"/>
          </a:xfrm>
          <a:prstGeom prst="rect">
            <a:avLst/>
          </a:prstGeom>
          <a:noFill/>
          <a:ln>
            <a:solidFill>
              <a:schemeClr val="accent1"/>
            </a:solidFill>
          </a:ln>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*A321CEO: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01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phòng</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giai</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đoạn</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cao</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điểm</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Tết</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Ngày</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12/02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thêm</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phòng</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nữa</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*A321NEO</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vi-VN"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Rủi ro động cơ đi shop về muộn (thực tế đã bị shop delay nhiều lần) và rủi ro tháo động cơ ngoài KH do Vibration, Oil Leak…08 động cơ đang sửa chữa bị delay nhiều lần từ đầu tháng 12, với tổng ~ 366 days, tương ứng ~ 183 AOG days.</a:t>
            </a:r>
            <a:endParaRPr kumimoji="0" lang="en-US" sz="1333" b="0" i="0" u="none" strike="noStrike" kern="1200" cap="none" spc="0" normalizeH="0" baseline="0" noProof="0" dirty="0">
              <a:ln>
                <a:noFill/>
              </a:ln>
              <a:solidFill>
                <a:prstClr val="black"/>
              </a:solidFill>
              <a:effectLst/>
              <a:highlight>
                <a:srgbClr val="FFFF00"/>
              </a:highlight>
              <a:uLnTx/>
              <a:uFillTx/>
              <a:latin typeface="Times New Roman" panose="02020603050405020304" pitchFamily="18" charset="0"/>
              <a:ea typeface="+mn-ea"/>
              <a:cs typeface="Times New Roman" panose="02020603050405020304" pitchFamily="18"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*B787: </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Nhu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trên</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kế</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hoạch</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nhận</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02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thuê</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vào</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T9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T11.</a:t>
            </a: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*ATR: </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Nhu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này</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tính</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nhu</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nguồn</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lực</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05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gồm</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B225 RTS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T1/2025).</a:t>
            </a: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*A350</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Rủi</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ro</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tháo</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a:t>
            </a:r>
            <a:r>
              <a:rPr kumimoji="0" lang="vi-VN"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ơ</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ngoài</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KH do High oil consumption, HPT Blade</a:t>
            </a:r>
          </a:p>
        </p:txBody>
      </p:sp>
    </p:spTree>
    <p:extLst>
      <p:ext uri="{BB962C8B-B14F-4D97-AF65-F5344CB8AC3E}">
        <p14:creationId xmlns:p14="http://schemas.microsoft.com/office/powerpoint/2010/main" val="3203428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55B988DA-38D1-571B-6871-9FBC014FB168}"/>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54CB31C7-4E2E-A024-3D90-6B5B7D962E96}"/>
              </a:ext>
            </a:extLst>
          </p:cNvPr>
          <p:cNvSpPr txBox="1">
            <a:spLocks/>
          </p:cNvSpPr>
          <p:nvPr/>
        </p:nvSpPr>
        <p:spPr>
          <a:xfrm>
            <a:off x="8534400" y="637116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600" b="0" i="0" u="none" strike="noStrike" kern="1200" cap="none" spc="0" normalizeH="0" baseline="0" noProof="0">
                <a:ln>
                  <a:noFill/>
                </a:ln>
                <a:solidFill>
                  <a:srgbClr val="D2A43B"/>
                </a:solidFill>
                <a:effectLst/>
                <a:uLnTx/>
                <a:uFillTx/>
                <a:latin typeface="Times New Roman" panose="02020603050405020304" pitchFamily="18" charset="0"/>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6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Arial"/>
              <a:sym typeface="Arial"/>
            </a:endParaRPr>
          </a:p>
        </p:txBody>
      </p:sp>
      <p:sp>
        <p:nvSpPr>
          <p:cNvPr id="7" name="TextBox 6">
            <a:extLst>
              <a:ext uri="{FF2B5EF4-FFF2-40B4-BE49-F238E27FC236}">
                <a16:creationId xmlns:a16="http://schemas.microsoft.com/office/drawing/2014/main" id="{ECD7242A-6EC4-6B1A-A438-79B9107F1CD6}"/>
              </a:ext>
            </a:extLst>
          </p:cNvPr>
          <p:cNvSpPr txBox="1"/>
          <p:nvPr/>
        </p:nvSpPr>
        <p:spPr>
          <a:xfrm>
            <a:off x="203197" y="0"/>
            <a:ext cx="15341603"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NHU CẦU ĐỘNG CƠ DỰ PHÒNG CÁC </a:t>
            </a:r>
            <a:r>
              <a:rPr kumimoji="0" lang="en-US" sz="2667" b="1" i="0" u="none" strike="noStrike" kern="1200" cap="none" spc="0" normalizeH="0" baseline="0" noProof="0">
                <a:ln w="0"/>
                <a:solidFill>
                  <a:srgbClr val="FBAC00"/>
                </a:solidFill>
                <a:effectLst/>
                <a:uLnTx/>
                <a:uFillTx/>
                <a:latin typeface="Times New Roman" panose="02020603050405020304" pitchFamily="18" charset="0"/>
                <a:ea typeface="+mn-ea"/>
                <a:cs typeface="Times New Roman" panose="02020603050405020304" pitchFamily="18" charset="0"/>
              </a:rPr>
              <a:t>FLEET T2-T4/2025</a:t>
            </a:r>
            <a:endParaRPr kumimoji="0" lang="vi-VN"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8" name="Chart 7">
            <a:extLst>
              <a:ext uri="{FF2B5EF4-FFF2-40B4-BE49-F238E27FC236}">
                <a16:creationId xmlns:a16="http://schemas.microsoft.com/office/drawing/2014/main" id="{3AE6B01F-84E3-881B-E0A6-2DB2CB883A49}"/>
              </a:ext>
            </a:extLst>
          </p:cNvPr>
          <p:cNvGraphicFramePr>
            <a:graphicFrameLocks/>
          </p:cNvGraphicFramePr>
          <p:nvPr/>
        </p:nvGraphicFramePr>
        <p:xfrm>
          <a:off x="190500" y="592815"/>
          <a:ext cx="11811000" cy="4673672"/>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6E40E499-B08B-C67F-623B-F023D733338B}"/>
              </a:ext>
            </a:extLst>
          </p:cNvPr>
          <p:cNvSpPr txBox="1"/>
          <p:nvPr/>
        </p:nvSpPr>
        <p:spPr>
          <a:xfrm>
            <a:off x="190500" y="5266487"/>
            <a:ext cx="11811000" cy="1384995"/>
          </a:xfrm>
          <a:prstGeom prst="rect">
            <a:avLst/>
          </a:prstGeom>
          <a:noFill/>
          <a:ln>
            <a:solidFill>
              <a:schemeClr val="accent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Action </a:t>
            </a:r>
            <a:r>
              <a:rPr kumimoji="0" lang="en-US" sz="12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ngắn</a:t>
            </a:r>
            <a:r>
              <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hạn</a:t>
            </a:r>
            <a:r>
              <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&amp; </a:t>
            </a:r>
            <a:r>
              <a:rPr kumimoji="0" lang="en-US" sz="12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rủi</a:t>
            </a:r>
            <a:r>
              <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ro</a:t>
            </a:r>
            <a:r>
              <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nhận</a:t>
            </a:r>
            <a:r>
              <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diện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A321CEO </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02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phòng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cao</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điểm</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Tết</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Ngày</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12/02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thêm</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phòng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nữa</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A321NEO </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Rủi</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ro</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a:t>
            </a:r>
            <a:r>
              <a:rPr kumimoji="0" lang="vi-V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đi</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shop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về</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muộn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tế</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bị</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shop delay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nhiều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lần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rủi</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ro</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tháo</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a:t>
            </a:r>
            <a:r>
              <a:rPr kumimoji="0" lang="vi-V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ngoài</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KH do Vibration, Oil Leak, HPT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Balde</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vi-V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08 động cơ đang sửa chữa bị delay nhiều lần từ đầu tháng 12, với tổng ~ 366 days, tương ứng ~ 183 AOG days</a:t>
            </a:r>
            <a:r>
              <a:rPr kumimoji="0" lang="vi-VN" sz="12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a:t>
            </a:r>
            <a:endParaRPr kumimoji="0" lang="en-US" sz="1200" b="0" i="0" u="none" strike="noStrike" kern="1200" cap="none" spc="0" normalizeH="0" baseline="0" noProof="0" dirty="0">
              <a:ln>
                <a:noFill/>
              </a:ln>
              <a:solidFill>
                <a:prstClr val="black"/>
              </a:solidFill>
              <a:effectLst/>
              <a:highlight>
                <a:srgbClr val="FFFF00"/>
              </a:highlight>
              <a:uLnTx/>
              <a:uFillTx/>
              <a:latin typeface="Times New Roman" panose="02020603050405020304" pitchFamily="18" charset="0"/>
              <a:ea typeface="+mn-ea"/>
              <a:cs typeface="Times New Roman" panose="02020603050405020304" pitchFamily="18" charset="0"/>
            </a:endParaRP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B787 </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Nhu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cập</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nhật</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sau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khi</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kế</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hoạch</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nhận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thêm</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02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thuê</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T9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T12/2024.</a:t>
            </a: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A350: </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Rủi</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ro</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tháo</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a:t>
            </a:r>
            <a:r>
              <a:rPr kumimoji="0" lang="vi-V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ngoài</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KH do High oil consumption, HPT Blade</a:t>
            </a: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*ATR72: </a:t>
            </a:r>
            <a:r>
              <a:rPr kumimoji="0" lang="vi-V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B225</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dùng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ED0214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kho</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còn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151 FC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ED0241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shop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về</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kiến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giữa</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1/25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sẽ</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lấy</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ED0181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Shop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về</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thay</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ED0214.</a:t>
            </a:r>
          </a:p>
        </p:txBody>
      </p:sp>
    </p:spTree>
    <p:extLst>
      <p:ext uri="{BB962C8B-B14F-4D97-AF65-F5344CB8AC3E}">
        <p14:creationId xmlns:p14="http://schemas.microsoft.com/office/powerpoint/2010/main" val="30786372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366920A6-6915-5AA0-8C7B-86FFAA7C86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36F650-D34B-32F5-0EFD-8481BE8666F3}"/>
              </a:ext>
            </a:extLst>
          </p:cNvPr>
          <p:cNvSpPr txBox="1"/>
          <p:nvPr/>
        </p:nvSpPr>
        <p:spPr>
          <a:xfrm>
            <a:off x="690253" y="115968"/>
            <a:ext cx="14875495"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DỰ BÁO AOG </a:t>
            </a:r>
            <a:r>
              <a:rPr kumimoji="0" lang="en-US" sz="2667" b="1" i="0" u="none" strike="noStrike" kern="1200" cap="none" spc="0" normalizeH="0" baseline="0" noProof="0">
                <a:ln w="0"/>
                <a:solidFill>
                  <a:srgbClr val="FBAC00"/>
                </a:solidFill>
                <a:effectLst/>
                <a:uLnTx/>
                <a:uFillTx/>
                <a:latin typeface="Times New Roman" panose="02020603050405020304" pitchFamily="18" charset="0"/>
                <a:ea typeface="+mn-ea"/>
                <a:cs typeface="Times New Roman" panose="02020603050405020304" pitchFamily="18" charset="0"/>
              </a:rPr>
              <a:t>A321NEO 2024-T3/2025 </a:t>
            </a: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DO HPT HUB</a:t>
            </a:r>
          </a:p>
        </p:txBody>
      </p:sp>
      <p:graphicFrame>
        <p:nvGraphicFramePr>
          <p:cNvPr id="3" name="Chart 2">
            <a:extLst>
              <a:ext uri="{FF2B5EF4-FFF2-40B4-BE49-F238E27FC236}">
                <a16:creationId xmlns:a16="http://schemas.microsoft.com/office/drawing/2014/main" id="{AB08D076-E070-83E5-6CED-DDB5B772B9A8}"/>
              </a:ext>
            </a:extLst>
          </p:cNvPr>
          <p:cNvGraphicFramePr/>
          <p:nvPr/>
        </p:nvGraphicFramePr>
        <p:xfrm>
          <a:off x="690251" y="812800"/>
          <a:ext cx="11247749" cy="5765800"/>
        </p:xfrm>
        <a:graphic>
          <a:graphicData uri="http://schemas.openxmlformats.org/drawingml/2006/chart">
            <c:chart xmlns:c="http://schemas.openxmlformats.org/drawingml/2006/chart" xmlns:r="http://schemas.openxmlformats.org/officeDocument/2006/relationships" r:id="rId3"/>
          </a:graphicData>
        </a:graphic>
      </p:graphicFrame>
      <p:sp>
        <p:nvSpPr>
          <p:cNvPr id="7" name="Speech Bubble: Rectangle with Corners Rounded 6">
            <a:extLst>
              <a:ext uri="{FF2B5EF4-FFF2-40B4-BE49-F238E27FC236}">
                <a16:creationId xmlns:a16="http://schemas.microsoft.com/office/drawing/2014/main" id="{DC56874D-4E6C-1D0F-C9BC-DCA9D7A2D2DE}"/>
              </a:ext>
            </a:extLst>
          </p:cNvPr>
          <p:cNvSpPr/>
          <p:nvPr/>
        </p:nvSpPr>
        <p:spPr>
          <a:xfrm>
            <a:off x="5334000" y="4114800"/>
            <a:ext cx="3105168" cy="1023728"/>
          </a:xfrm>
          <a:prstGeom prst="wedgeRoundRectCallout">
            <a:avLst>
              <a:gd name="adj1" fmla="val -1734"/>
              <a:gd name="adj2" fmla="val -142322"/>
              <a:gd name="adj3" fmla="val 16667"/>
            </a:avLst>
          </a:prstGeom>
          <a:solidFill>
            <a:srgbClr val="FFFF00"/>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0000"/>
                </a:solidFill>
                <a:effectLst/>
                <a:uLnTx/>
                <a:uFillTx/>
                <a:latin typeface="Cambria"/>
                <a:ea typeface="+mn-ea"/>
                <a:cs typeface="Times New Roman" panose="02020603050405020304" pitchFamily="18" charset="0"/>
              </a:rPr>
              <a:t>Với việc 08 động c</a:t>
            </a:r>
            <a:r>
              <a:rPr kumimoji="0" lang="vi-VN" sz="12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ơ</a:t>
            </a:r>
            <a:r>
              <a:rPr kumimoji="0" lang="en-US" sz="1200" b="0" i="0" u="none" strike="noStrike" kern="1200" cap="none" spc="0" normalizeH="0" baseline="0" noProof="0">
                <a:ln>
                  <a:noFill/>
                </a:ln>
                <a:solidFill>
                  <a:srgbClr val="FF0000"/>
                </a:solidFill>
                <a:effectLst/>
                <a:uLnTx/>
                <a:uFillTx/>
                <a:latin typeface="Cambria"/>
                <a:ea typeface="+mn-ea"/>
                <a:cs typeface="Times New Roman" panose="02020603050405020304" pitchFamily="18" charset="0"/>
              </a:rPr>
              <a:t> bị extend thời gian sửa, TAT trung bình tăng lên cũng nh</a:t>
            </a:r>
            <a:r>
              <a:rPr kumimoji="0" lang="vi-VN" sz="12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ư</a:t>
            </a:r>
            <a:r>
              <a:rPr kumimoji="0" lang="en-US" sz="1200" b="0" i="0" u="none" strike="noStrike" kern="1200" cap="none" spc="0" normalizeH="0" baseline="0" noProof="0">
                <a:ln>
                  <a:noFill/>
                </a:ln>
                <a:solidFill>
                  <a:srgbClr val="FF0000"/>
                </a:solidFill>
                <a:effectLst/>
                <a:uLnTx/>
                <a:uFillTx/>
                <a:latin typeface="Cambria"/>
                <a:ea typeface="+mn-ea"/>
                <a:cs typeface="Times New Roman" panose="02020603050405020304" pitchFamily="18" charset="0"/>
              </a:rPr>
              <a:t> việc PW cung cấp ít slot sửa hơn dự báo: số tàu AOG năm 2024 thực tế tăng 1-2 AOG tùy thời điểm, đặc biệt nửa cuối 2024. </a:t>
            </a:r>
            <a:endParaRPr kumimoji="0" lang="en-US" sz="1200" b="0" i="0" u="none" strike="noStrike" kern="1200" cap="none" spc="0" normalizeH="0" baseline="0" noProof="0" dirty="0">
              <a:ln>
                <a:noFill/>
              </a:ln>
              <a:solidFill>
                <a:prstClr val="white"/>
              </a:solidFill>
              <a:effectLst/>
              <a:highlight>
                <a:srgbClr val="FFFF00"/>
              </a:highligh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7709321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F201DCB-0F48-45FA-23D1-D69FC207E9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7759506-148F-6ED1-3F13-4D127FBBC4FC}"/>
              </a:ext>
            </a:extLst>
          </p:cNvPr>
          <p:cNvSpPr txBox="1"/>
          <p:nvPr/>
        </p:nvSpPr>
        <p:spPr>
          <a:xfrm>
            <a:off x="153472" y="517989"/>
            <a:ext cx="4267200" cy="461665"/>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Tình</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trạng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sửa</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chữa</a:t>
            </a:r>
            <a:endPar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3" name="Table 2">
            <a:extLst>
              <a:ext uri="{FF2B5EF4-FFF2-40B4-BE49-F238E27FC236}">
                <a16:creationId xmlns:a16="http://schemas.microsoft.com/office/drawing/2014/main" id="{1AC2A46E-4E4A-6339-72C3-1800A18927D9}"/>
              </a:ext>
            </a:extLst>
          </p:cNvPr>
          <p:cNvGraphicFramePr>
            <a:graphicFrameLocks noGrp="1"/>
          </p:cNvGraphicFramePr>
          <p:nvPr/>
        </p:nvGraphicFramePr>
        <p:xfrm>
          <a:off x="162461" y="1051467"/>
          <a:ext cx="11867079" cy="5352146"/>
        </p:xfrm>
        <a:graphic>
          <a:graphicData uri="http://schemas.openxmlformats.org/drawingml/2006/table">
            <a:tbl>
              <a:tblPr firstRow="1" bandRow="1">
                <a:tableStyleId>{5C22544A-7EE6-4342-B048-85BDC9FD1C3A}</a:tableStyleId>
              </a:tblPr>
              <a:tblGrid>
                <a:gridCol w="474684">
                  <a:extLst>
                    <a:ext uri="{9D8B030D-6E8A-4147-A177-3AD203B41FA5}">
                      <a16:colId xmlns:a16="http://schemas.microsoft.com/office/drawing/2014/main" val="1598605427"/>
                    </a:ext>
                  </a:extLst>
                </a:gridCol>
                <a:gridCol w="870252">
                  <a:extLst>
                    <a:ext uri="{9D8B030D-6E8A-4147-A177-3AD203B41FA5}">
                      <a16:colId xmlns:a16="http://schemas.microsoft.com/office/drawing/2014/main" val="3845954792"/>
                    </a:ext>
                  </a:extLst>
                </a:gridCol>
                <a:gridCol w="1186707">
                  <a:extLst>
                    <a:ext uri="{9D8B030D-6E8A-4147-A177-3AD203B41FA5}">
                      <a16:colId xmlns:a16="http://schemas.microsoft.com/office/drawing/2014/main" val="2148822928"/>
                    </a:ext>
                  </a:extLst>
                </a:gridCol>
                <a:gridCol w="1265823">
                  <a:extLst>
                    <a:ext uri="{9D8B030D-6E8A-4147-A177-3AD203B41FA5}">
                      <a16:colId xmlns:a16="http://schemas.microsoft.com/office/drawing/2014/main" val="2136763095"/>
                    </a:ext>
                  </a:extLst>
                </a:gridCol>
                <a:gridCol w="1740505">
                  <a:extLst>
                    <a:ext uri="{9D8B030D-6E8A-4147-A177-3AD203B41FA5}">
                      <a16:colId xmlns:a16="http://schemas.microsoft.com/office/drawing/2014/main" val="1185879436"/>
                    </a:ext>
                  </a:extLst>
                </a:gridCol>
                <a:gridCol w="2768984">
                  <a:extLst>
                    <a:ext uri="{9D8B030D-6E8A-4147-A177-3AD203B41FA5}">
                      <a16:colId xmlns:a16="http://schemas.microsoft.com/office/drawing/2014/main" val="3807119371"/>
                    </a:ext>
                  </a:extLst>
                </a:gridCol>
                <a:gridCol w="3560124">
                  <a:extLst>
                    <a:ext uri="{9D8B030D-6E8A-4147-A177-3AD203B41FA5}">
                      <a16:colId xmlns:a16="http://schemas.microsoft.com/office/drawing/2014/main" val="3735753066"/>
                    </a:ext>
                  </a:extLst>
                </a:gridCol>
              </a:tblGrid>
              <a:tr h="450741">
                <a:tc>
                  <a:txBody>
                    <a:bodyPr/>
                    <a:lstStyle/>
                    <a:p>
                      <a:pPr algn="ctr"/>
                      <a:r>
                        <a:rPr lang="en-GB" sz="1100" dirty="0">
                          <a:latin typeface="Times New Roman" panose="02020603050405020304" pitchFamily="18" charset="0"/>
                          <a:cs typeface="Times New Roman" panose="02020603050405020304" pitchFamily="18" charset="0"/>
                        </a:rPr>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Induction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Dự</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kiến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về</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KH Sử dụng</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460013">
                <a:tc>
                  <a:txBody>
                    <a:bodyPr/>
                    <a:lstStyle/>
                    <a:p>
                      <a:pPr algn="ctr"/>
                      <a:r>
                        <a:rPr lang="en-US"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P770903</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b="0" kern="1200" dirty="0">
                          <a:solidFill>
                            <a:schemeClr val="tx1"/>
                          </a:solidFill>
                          <a:latin typeface="Times New Roman" panose="02020603050405020304" pitchFamily="18" charset="0"/>
                          <a:ea typeface="+mn-ea"/>
                          <a:cs typeface="Times New Roman" panose="02020603050405020304" pitchFamily="18" charset="0"/>
                        </a:rPr>
                        <a:t>18/07/2024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19/04/2025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kern="1200" noProof="0">
                          <a:solidFill>
                            <a:schemeClr val="tx1"/>
                          </a:solidFill>
                          <a:latin typeface="Times New Roman" panose="02020603050405020304" pitchFamily="18" charset="0"/>
                          <a:ea typeface="+mn-ea"/>
                          <a:cs typeface="Times New Roman" panose="02020603050405020304" pitchFamily="18" charset="0"/>
                        </a:rPr>
                        <a:t>RTS A616</a:t>
                      </a:r>
                      <a:endParaRPr lang="en-GB" sz="1100" b="0" kern="1200" noProof="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967959161"/>
                  </a:ext>
                </a:extLst>
              </a:tr>
              <a:tr h="697685">
                <a:tc>
                  <a:txBody>
                    <a:bodyPr/>
                    <a:lstStyle/>
                    <a:p>
                      <a:pPr algn="ctr"/>
                      <a:r>
                        <a:rPr lang="en-GB" sz="1100" dirty="0">
                          <a:latin typeface="Times New Roman" panose="02020603050405020304" pitchFamily="18" charset="0"/>
                          <a:cs typeface="Times New Roman" panose="02020603050405020304" pitchFamily="18" charset="0"/>
                        </a:rPr>
                        <a:t>2</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100" dirty="0">
                          <a:solidFill>
                            <a:schemeClr val="tx1"/>
                          </a:solidFill>
                          <a:effectLst/>
                          <a:latin typeface="Times New Roman" panose="02020603050405020304" pitchFamily="18" charset="0"/>
                          <a:cs typeface="Times New Roman" panose="02020603050405020304" pitchFamily="18" charset="0"/>
                        </a:rPr>
                        <a:t>P770904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22/04/2024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11/03/2025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A501</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Delay do post test </a:t>
                      </a:r>
                      <a:r>
                        <a:rPr lang="en-US" sz="1100">
                          <a:solidFill>
                            <a:schemeClr val="tx1"/>
                          </a:solidFill>
                          <a:latin typeface="Times New Roman" panose="02020603050405020304" pitchFamily="18" charset="0"/>
                          <a:cs typeface="Times New Roman" panose="02020603050405020304" pitchFamily="18" charset="0"/>
                        </a:rPr>
                        <a:t>BSI finding on IBR6 &amp; TB1. Re-induct, dự kiến delay sang T2/2025.</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410844604"/>
                  </a:ext>
                </a:extLst>
              </a:tr>
              <a:tr h="460013">
                <a:tc>
                  <a:txBody>
                    <a:bodyPr/>
                    <a:lstStyle/>
                    <a:p>
                      <a:pPr algn="ctr"/>
                      <a:r>
                        <a:rPr lang="en-US" sz="1100" dirty="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P771075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25/07/2024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04/03/2025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A501</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36697217"/>
                  </a:ext>
                </a:extLst>
              </a:tr>
              <a:tr h="460013">
                <a:tc>
                  <a:txBody>
                    <a:bodyPr/>
                    <a:lstStyle/>
                    <a:p>
                      <a:pPr algn="ctr"/>
                      <a:r>
                        <a:rPr lang="en-GB" sz="1100" dirty="0">
                          <a:latin typeface="Times New Roman" panose="02020603050405020304" pitchFamily="18" charset="0"/>
                          <a:cs typeface="Times New Roman" panose="02020603050405020304" pitchFamily="18" charset="0"/>
                        </a:rPr>
                        <a:t>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P771414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09/08/2024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13/02/2025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A507#2 ENG CHANGE</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518084637"/>
                  </a:ext>
                </a:extLst>
              </a:tr>
              <a:tr h="460013">
                <a:tc>
                  <a:txBody>
                    <a:bodyPr/>
                    <a:lstStyle/>
                    <a:p>
                      <a:pPr algn="ctr"/>
                      <a:r>
                        <a:rPr lang="en-GB" sz="1100" dirty="0">
                          <a:latin typeface="Times New Roman" panose="02020603050405020304" pitchFamily="18" charset="0"/>
                          <a:cs typeface="Times New Roman" panose="02020603050405020304" pitchFamily="18" charset="0"/>
                        </a:rPr>
                        <a:t>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P771130</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25/09/2024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05/04/2025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A625</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753673127"/>
                  </a:ext>
                </a:extLst>
              </a:tr>
              <a:tr h="460013">
                <a:tc>
                  <a:txBody>
                    <a:bodyPr/>
                    <a:lstStyle/>
                    <a:p>
                      <a:pPr algn="ctr"/>
                      <a:r>
                        <a:rPr lang="en-GB" sz="1100" dirty="0">
                          <a:latin typeface="Times New Roman" panose="02020603050405020304" pitchFamily="18" charset="0"/>
                          <a:cs typeface="Times New Roman" panose="02020603050405020304" pitchFamily="18" charset="0"/>
                        </a:rPr>
                        <a:t>6</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P771391</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Inducted</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11/10/2024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16/04/2025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A625</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502614763"/>
                  </a:ext>
                </a:extLst>
              </a:tr>
              <a:tr h="460013">
                <a:tc>
                  <a:txBody>
                    <a:bodyPr/>
                    <a:lstStyle/>
                    <a:p>
                      <a:pPr algn="ctr"/>
                      <a:r>
                        <a:rPr lang="en-GB" sz="1100">
                          <a:latin typeface="Times New Roman" panose="02020603050405020304" pitchFamily="18" charset="0"/>
                          <a:cs typeface="Times New Roman" panose="02020603050405020304" pitchFamily="18" charset="0"/>
                        </a:rPr>
                        <a:t>7</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P771077</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24/10/2024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07/05/2025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A616</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991877321"/>
                  </a:ext>
                </a:extLst>
              </a:tr>
              <a:tr h="460013">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P771387</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05/11/2024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29/05/2025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dirty="0">
                          <a:solidFill>
                            <a:schemeClr val="tx1"/>
                          </a:solidFill>
                          <a:effectLst/>
                          <a:latin typeface="Times New Roman" panose="02020603050405020304" pitchFamily="18" charset="0"/>
                          <a:ea typeface="+mn-ea"/>
                          <a:cs typeface="Times New Roman" panose="02020603050405020304" pitchFamily="18" charset="0"/>
                        </a:rPr>
                        <a:t>Target build ~4280 FC do HPT Hub not affected by AD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06751762"/>
                  </a:ext>
                </a:extLst>
              </a:tr>
              <a:tr h="523616">
                <a:tc>
                  <a:txBody>
                    <a:bodyPr/>
                    <a:lstStyle/>
                    <a:p>
                      <a:pPr algn="ctr"/>
                      <a:r>
                        <a:rPr lang="en-GB" sz="1100">
                          <a:solidFill>
                            <a:schemeClr val="tx1"/>
                          </a:solidFill>
                          <a:latin typeface="Times New Roman" panose="02020603050405020304" pitchFamily="18" charset="0"/>
                          <a:cs typeface="Times New Roman" panose="02020603050405020304" pitchFamily="18" charset="0"/>
                        </a:rPr>
                        <a:t>9</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P771373</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Not 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11/02/2025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09/09/2025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9968567"/>
                  </a:ext>
                </a:extLst>
              </a:tr>
              <a:tr h="460013">
                <a:tc>
                  <a:txBody>
                    <a:bodyPr/>
                    <a:lstStyle/>
                    <a:p>
                      <a:pPr algn="ctr"/>
                      <a:r>
                        <a:rPr lang="en-GB" sz="1100">
                          <a:solidFill>
                            <a:schemeClr val="tx1"/>
                          </a:solidFill>
                          <a:latin typeface="Times New Roman" panose="02020603050405020304" pitchFamily="18" charset="0"/>
                          <a:cs typeface="Times New Roman" panose="02020603050405020304" pitchFamily="18" charset="0"/>
                        </a:rPr>
                        <a:t>10</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P771041</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Not 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March/2025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TBD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TBD</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2465008"/>
                  </a:ext>
                </a:extLst>
              </a:tr>
            </a:tbl>
          </a:graphicData>
        </a:graphic>
      </p:graphicFrame>
      <p:sp>
        <p:nvSpPr>
          <p:cNvPr id="4" name="TextBox 3">
            <a:extLst>
              <a:ext uri="{FF2B5EF4-FFF2-40B4-BE49-F238E27FC236}">
                <a16:creationId xmlns:a16="http://schemas.microsoft.com/office/drawing/2014/main" id="{8E657E58-C6AA-4957-1D5D-8F4F96FE5488}"/>
              </a:ext>
            </a:extLst>
          </p:cNvPr>
          <p:cNvSpPr txBox="1"/>
          <p:nvPr/>
        </p:nvSpPr>
        <p:spPr>
          <a:xfrm>
            <a:off x="153473" y="103041"/>
            <a:ext cx="14875495"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ĐỘI BAY A321NEO</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3665378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566C40-78C1-9EC0-1727-A8DD49C3FD9B}"/>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16" name="TextBox 15">
            <a:extLst>
              <a:ext uri="{FF2B5EF4-FFF2-40B4-BE49-F238E27FC236}">
                <a16:creationId xmlns:a16="http://schemas.microsoft.com/office/drawing/2014/main" id="{A2528A14-5474-03B4-BF8A-AFDB59E54730}"/>
              </a:ext>
            </a:extLst>
          </p:cNvPr>
          <p:cNvSpPr txBox="1"/>
          <p:nvPr/>
        </p:nvSpPr>
        <p:spPr>
          <a:xfrm>
            <a:off x="0" y="431801"/>
            <a:ext cx="7890933" cy="461665"/>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Kế</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hoạch</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thay</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c</a:t>
            </a:r>
            <a:r>
              <a:rPr kumimoji="0" lang="vi-VN"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ơ</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A321NEO T2-T3/25</a:t>
            </a:r>
            <a:endPar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7" name="TextBox 16">
            <a:extLst>
              <a:ext uri="{FF2B5EF4-FFF2-40B4-BE49-F238E27FC236}">
                <a16:creationId xmlns:a16="http://schemas.microsoft.com/office/drawing/2014/main" id="{FF648BE0-3FB3-B153-2A56-6AAF25C6C6E2}"/>
              </a:ext>
            </a:extLst>
          </p:cNvPr>
          <p:cNvSpPr txBox="1"/>
          <p:nvPr/>
        </p:nvSpPr>
        <p:spPr>
          <a:xfrm>
            <a:off x="1" y="-5952"/>
            <a:ext cx="9584267"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ĐỘI BAY A321NEO</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8" name="Table 2">
            <a:extLst>
              <a:ext uri="{FF2B5EF4-FFF2-40B4-BE49-F238E27FC236}">
                <a16:creationId xmlns:a16="http://schemas.microsoft.com/office/drawing/2014/main" id="{6F2FE8BC-4850-BD1B-EABA-12CA92CD86BA}"/>
              </a:ext>
            </a:extLst>
          </p:cNvPr>
          <p:cNvGraphicFramePr>
            <a:graphicFrameLocks noGrp="1"/>
          </p:cNvGraphicFramePr>
          <p:nvPr/>
        </p:nvGraphicFramePr>
        <p:xfrm>
          <a:off x="163789" y="1032931"/>
          <a:ext cx="11864421" cy="5596465"/>
        </p:xfrm>
        <a:graphic>
          <a:graphicData uri="http://schemas.openxmlformats.org/drawingml/2006/table">
            <a:tbl>
              <a:tblPr firstRow="1" bandRow="1">
                <a:tableStyleId>{5C22544A-7EE6-4342-B048-85BDC9FD1C3A}</a:tableStyleId>
              </a:tblPr>
              <a:tblGrid>
                <a:gridCol w="518103">
                  <a:extLst>
                    <a:ext uri="{9D8B030D-6E8A-4147-A177-3AD203B41FA5}">
                      <a16:colId xmlns:a16="http://schemas.microsoft.com/office/drawing/2014/main" val="1598605427"/>
                    </a:ext>
                  </a:extLst>
                </a:gridCol>
                <a:gridCol w="1162593">
                  <a:extLst>
                    <a:ext uri="{9D8B030D-6E8A-4147-A177-3AD203B41FA5}">
                      <a16:colId xmlns:a16="http://schemas.microsoft.com/office/drawing/2014/main" val="3845954792"/>
                    </a:ext>
                  </a:extLst>
                </a:gridCol>
                <a:gridCol w="1190421">
                  <a:extLst>
                    <a:ext uri="{9D8B030D-6E8A-4147-A177-3AD203B41FA5}">
                      <a16:colId xmlns:a16="http://schemas.microsoft.com/office/drawing/2014/main" val="2148822928"/>
                    </a:ext>
                  </a:extLst>
                </a:gridCol>
                <a:gridCol w="1190421">
                  <a:extLst>
                    <a:ext uri="{9D8B030D-6E8A-4147-A177-3AD203B41FA5}">
                      <a16:colId xmlns:a16="http://schemas.microsoft.com/office/drawing/2014/main" val="2136763095"/>
                    </a:ext>
                  </a:extLst>
                </a:gridCol>
                <a:gridCol w="1190421">
                  <a:extLst>
                    <a:ext uri="{9D8B030D-6E8A-4147-A177-3AD203B41FA5}">
                      <a16:colId xmlns:a16="http://schemas.microsoft.com/office/drawing/2014/main" val="4058157000"/>
                    </a:ext>
                  </a:extLst>
                </a:gridCol>
                <a:gridCol w="1190421">
                  <a:extLst>
                    <a:ext uri="{9D8B030D-6E8A-4147-A177-3AD203B41FA5}">
                      <a16:colId xmlns:a16="http://schemas.microsoft.com/office/drawing/2014/main" val="1185879436"/>
                    </a:ext>
                  </a:extLst>
                </a:gridCol>
                <a:gridCol w="1190421">
                  <a:extLst>
                    <a:ext uri="{9D8B030D-6E8A-4147-A177-3AD203B41FA5}">
                      <a16:colId xmlns:a16="http://schemas.microsoft.com/office/drawing/2014/main" val="3807119371"/>
                    </a:ext>
                  </a:extLst>
                </a:gridCol>
                <a:gridCol w="890210">
                  <a:extLst>
                    <a:ext uri="{9D8B030D-6E8A-4147-A177-3AD203B41FA5}">
                      <a16:colId xmlns:a16="http://schemas.microsoft.com/office/drawing/2014/main" val="2251645117"/>
                    </a:ext>
                  </a:extLst>
                </a:gridCol>
                <a:gridCol w="3341410">
                  <a:extLst>
                    <a:ext uri="{9D8B030D-6E8A-4147-A177-3AD203B41FA5}">
                      <a16:colId xmlns:a16="http://schemas.microsoft.com/office/drawing/2014/main" val="3735753066"/>
                    </a:ext>
                  </a:extLst>
                </a:gridCol>
              </a:tblGrid>
              <a:tr h="529521">
                <a:tc>
                  <a:txBody>
                    <a:bodyPr/>
                    <a:lstStyle/>
                    <a:p>
                      <a:pPr algn="ctr"/>
                      <a:r>
                        <a:rPr lang="en-GB" sz="1200" dirty="0">
                          <a:latin typeface="Times New Roman" panose="02020603050405020304" pitchFamily="18" charset="0"/>
                          <a:cs typeface="Times New Roman" panose="02020603050405020304" pitchFamily="18" charset="0"/>
                        </a:rPr>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Times New Roman" panose="02020603050405020304" pitchFamily="18" charset="0"/>
                          <a:cs typeface="Times New Roman" panose="02020603050405020304" pitchFamily="18" charset="0"/>
                        </a:rPr>
                        <a:t>ESN OFF</a:t>
                      </a:r>
                      <a:endParaRPr lang="en-GB" sz="12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ESN ON</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Remove from</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Install on</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dirty="0">
                          <a:solidFill>
                            <a:schemeClr val="lt1"/>
                          </a:solidFill>
                          <a:latin typeface="Times New Roman" panose="02020603050405020304" pitchFamily="18" charset="0"/>
                          <a:ea typeface="+mn-ea"/>
                          <a:cs typeface="Times New Roman" panose="02020603050405020304" pitchFamily="18" charset="0"/>
                        </a:rPr>
                        <a:t>Removal Date</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Install Date</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Shopvisit</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200">
                          <a:latin typeface="Times New Roman" panose="02020603050405020304" pitchFamily="18" charset="0"/>
                          <a:cs typeface="Times New Roman" panose="02020603050405020304" pitchFamily="18" charset="0"/>
                        </a:rPr>
                        <a:t>Remark</a:t>
                      </a:r>
                      <a:endParaRPr lang="en-GB" sz="12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449085">
                <a:tc>
                  <a:txBody>
                    <a:bodyPr/>
                    <a:lstStyle/>
                    <a:p>
                      <a:pPr algn="ctr"/>
                      <a:r>
                        <a:rPr lang="en-US" sz="1200" b="0" i="0" u="none" strike="noStrike" kern="1200">
                          <a:solidFill>
                            <a:schemeClr val="tx1"/>
                          </a:solidFill>
                          <a:effectLst/>
                          <a:latin typeface="Calibri" panose="020F0502020204030204" pitchFamily="34" charset="0"/>
                          <a:ea typeface="+mn-ea"/>
                          <a:cs typeface="+mn-cs"/>
                        </a:rPr>
                        <a:t>1</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P772905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P771668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A620#2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A619#2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15-Feb-25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17-Feb-25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chemeClr val="tx1"/>
                          </a:solidFill>
                          <a:effectLst/>
                          <a:latin typeface="Calibri" panose="020F0502020204030204" pitchFamily="34" charset="0"/>
                        </a:rPr>
                        <a:t>Swap engine with A619, A620 </a:t>
                      </a:r>
                      <a:r>
                        <a:rPr lang="en-US" sz="1200" b="0" i="0" u="none" strike="noStrike" dirty="0" err="1">
                          <a:solidFill>
                            <a:schemeClr val="tx1"/>
                          </a:solidFill>
                          <a:effectLst/>
                          <a:latin typeface="Calibri" panose="020F0502020204030204" pitchFamily="34" charset="0"/>
                        </a:rPr>
                        <a:t>dừng</a:t>
                      </a:r>
                      <a:r>
                        <a:rPr lang="en-US" sz="1200" b="0" i="0" u="none" strike="noStrike" dirty="0">
                          <a:solidFill>
                            <a:schemeClr val="tx1"/>
                          </a:solidFill>
                          <a:effectLst/>
                          <a:latin typeface="Calibri" panose="020F0502020204030204" pitchFamily="34" charset="0"/>
                        </a:rPr>
                        <a:t> </a:t>
                      </a:r>
                      <a:r>
                        <a:rPr lang="en-US" sz="1200" b="0" i="0" u="none" strike="noStrike" dirty="0" err="1">
                          <a:solidFill>
                            <a:schemeClr val="tx1"/>
                          </a:solidFill>
                          <a:effectLst/>
                          <a:latin typeface="Calibri" panose="020F0502020204030204" pitchFamily="34" charset="0"/>
                        </a:rPr>
                        <a:t>làm</a:t>
                      </a:r>
                      <a:r>
                        <a:rPr lang="en-US" sz="1200" b="0" i="0" u="none" strike="noStrike" dirty="0">
                          <a:solidFill>
                            <a:schemeClr val="tx1"/>
                          </a:solidFill>
                          <a:effectLst/>
                          <a:latin typeface="Calibri" panose="020F0502020204030204" pitchFamily="34" charset="0"/>
                        </a:rPr>
                        <a:t> check</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83596114"/>
                  </a:ext>
                </a:extLst>
              </a:tr>
              <a:tr h="457702">
                <a:tc>
                  <a:txBody>
                    <a:bodyPr/>
                    <a:lstStyle/>
                    <a:p>
                      <a:pPr algn="ctr"/>
                      <a:r>
                        <a:rPr lang="en-GB" sz="1200" b="0" i="0" u="none" strike="noStrike" kern="1200">
                          <a:solidFill>
                            <a:schemeClr val="tx1"/>
                          </a:solidFill>
                          <a:effectLst/>
                          <a:latin typeface="Calibri" panose="020F0502020204030204" pitchFamily="34" charset="0"/>
                          <a:ea typeface="+mn-ea"/>
                          <a:cs typeface="+mn-cs"/>
                        </a:rPr>
                        <a:t>2</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P771668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P772905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A619#2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A620#2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chemeClr val="tx1"/>
                          </a:solidFill>
                          <a:effectLst/>
                          <a:latin typeface="Calibri" panose="020F0502020204030204" pitchFamily="34" charset="0"/>
                        </a:rPr>
                        <a:t>15-Feb-25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17-Feb-25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chemeClr val="tx1"/>
                          </a:solidFill>
                          <a:effectLst/>
                          <a:latin typeface="Calibri" panose="020F0502020204030204" pitchFamily="34" charset="0"/>
                        </a:rPr>
                        <a:t>Swap engine with A620, A619 </a:t>
                      </a:r>
                      <a:r>
                        <a:rPr lang="en-US" sz="1200" b="0" i="0" u="none" strike="noStrike" dirty="0" err="1">
                          <a:solidFill>
                            <a:schemeClr val="tx1"/>
                          </a:solidFill>
                          <a:effectLst/>
                          <a:latin typeface="Calibri" panose="020F0502020204030204" pitchFamily="34" charset="0"/>
                        </a:rPr>
                        <a:t>tiếp</a:t>
                      </a:r>
                      <a:r>
                        <a:rPr lang="en-US" sz="1200" b="0" i="0" u="none" strike="noStrike" dirty="0">
                          <a:solidFill>
                            <a:schemeClr val="tx1"/>
                          </a:solidFill>
                          <a:effectLst/>
                          <a:latin typeface="Calibri" panose="020F0502020204030204" pitchFamily="34" charset="0"/>
                        </a:rPr>
                        <a:t> </a:t>
                      </a:r>
                      <a:r>
                        <a:rPr lang="en-US" sz="1200" b="0" i="0" u="none" strike="noStrike" dirty="0" err="1">
                          <a:solidFill>
                            <a:schemeClr val="tx1"/>
                          </a:solidFill>
                          <a:effectLst/>
                          <a:latin typeface="Calibri" panose="020F0502020204030204" pitchFamily="34" charset="0"/>
                        </a:rPr>
                        <a:t>tục</a:t>
                      </a:r>
                      <a:r>
                        <a:rPr lang="en-US" sz="1200" b="0" i="0" u="none" strike="noStrike" dirty="0">
                          <a:solidFill>
                            <a:schemeClr val="tx1"/>
                          </a:solidFill>
                          <a:effectLst/>
                          <a:latin typeface="Calibri" panose="020F0502020204030204" pitchFamily="34" charset="0"/>
                        </a:rPr>
                        <a:t> </a:t>
                      </a:r>
                      <a:r>
                        <a:rPr lang="en-US" sz="1200" b="0" i="0" u="none" strike="noStrike" dirty="0" err="1">
                          <a:solidFill>
                            <a:schemeClr val="tx1"/>
                          </a:solidFill>
                          <a:effectLst/>
                          <a:latin typeface="Calibri" panose="020F0502020204030204" pitchFamily="34" charset="0"/>
                        </a:rPr>
                        <a:t>khai</a:t>
                      </a:r>
                      <a:r>
                        <a:rPr lang="en-US" sz="1200" b="0" i="0" u="none" strike="noStrike" dirty="0">
                          <a:solidFill>
                            <a:schemeClr val="tx1"/>
                          </a:solidFill>
                          <a:effectLst/>
                          <a:latin typeface="Calibri" panose="020F0502020204030204" pitchFamily="34" charset="0"/>
                        </a:rPr>
                        <a:t> </a:t>
                      </a:r>
                      <a:r>
                        <a:rPr lang="en-US" sz="1200" b="0" i="0" u="none" strike="noStrike" dirty="0" err="1">
                          <a:solidFill>
                            <a:schemeClr val="tx1"/>
                          </a:solidFill>
                          <a:effectLst/>
                          <a:latin typeface="Calibri" panose="020F0502020204030204" pitchFamily="34" charset="0"/>
                        </a:rPr>
                        <a:t>thác</a:t>
                      </a:r>
                      <a:endParaRPr lang="en-US" sz="1200" b="0" i="0" u="none" strike="noStrike" dirty="0">
                        <a:solidFill>
                          <a:schemeClr val="tx1"/>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19894405"/>
                  </a:ext>
                </a:extLst>
              </a:tr>
              <a:tr h="457702">
                <a:tc>
                  <a:txBody>
                    <a:bodyPr/>
                    <a:lstStyle/>
                    <a:p>
                      <a:pPr algn="ctr"/>
                      <a:r>
                        <a:rPr lang="en-GB" sz="1200" b="0" i="0" u="none" strike="noStrike" kern="1200">
                          <a:solidFill>
                            <a:schemeClr val="tx1"/>
                          </a:solidFill>
                          <a:effectLst/>
                          <a:latin typeface="Calibri" panose="020F0502020204030204" pitchFamily="34" charset="0"/>
                          <a:ea typeface="+mn-ea"/>
                          <a:cs typeface="+mn-cs"/>
                        </a:rPr>
                        <a:t>3</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P771488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a:t>
                      </a:r>
                      <a:r>
                        <a:rPr lang="vi-VN" sz="1200" b="0" i="0" u="none" strike="noStrike">
                          <a:solidFill>
                            <a:schemeClr val="tx1"/>
                          </a:solidFill>
                          <a:effectLst/>
                          <a:latin typeface="Calibri" panose="020F0502020204030204" pitchFamily="34" charset="0"/>
                        </a:rPr>
                        <a:t>414</a:t>
                      </a:r>
                      <a:endParaRPr lang="en-US" sz="1200" b="0" i="0" u="none" strike="noStrike">
                        <a:solidFill>
                          <a:schemeClr val="tx1"/>
                        </a:solidFill>
                        <a:effectLst/>
                        <a:latin typeface="Calibri" panose="020F0502020204030204" pitchFamily="34" charset="0"/>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A507#2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A507#2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26-Feb-25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28-Feb-25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a:t>
                      </a:r>
                      <a:endParaRPr lang="en-GB" sz="1200" b="0" i="0" u="none" strike="noStrike" kern="1200" noProof="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6505085"/>
                  </a:ext>
                </a:extLst>
              </a:tr>
              <a:tr h="457702">
                <a:tc>
                  <a:txBody>
                    <a:bodyPr/>
                    <a:lstStyle/>
                    <a:p>
                      <a:pPr algn="ctr"/>
                      <a:r>
                        <a:rPr lang="en-GB" sz="1200" b="0" i="0" u="none" strike="noStrike" kern="1200">
                          <a:solidFill>
                            <a:schemeClr val="tx1"/>
                          </a:solidFill>
                          <a:effectLst/>
                          <a:latin typeface="Calibri" panose="020F0502020204030204" pitchFamily="34" charset="0"/>
                          <a:ea typeface="+mn-ea"/>
                          <a:cs typeface="+mn-cs"/>
                        </a:rPr>
                        <a:t>4</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chemeClr val="tx1"/>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P771488</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chemeClr val="tx1"/>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A623#1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5-Mar-25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INSTALLATION</a:t>
                      </a:r>
                      <a:endParaRPr lang="en-GB" sz="1200" b="0" i="0" u="none" strike="noStrike" kern="1200" noProof="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2066291"/>
                  </a:ext>
                </a:extLst>
              </a:tr>
              <a:tr h="457702">
                <a:tc>
                  <a:txBody>
                    <a:bodyPr/>
                    <a:lstStyle/>
                    <a:p>
                      <a:pPr algn="ctr"/>
                      <a:r>
                        <a:rPr lang="en-GB" sz="1200" b="0" i="0" u="none" strike="noStrike" kern="1200">
                          <a:solidFill>
                            <a:schemeClr val="tx1"/>
                          </a:solidFill>
                          <a:effectLst/>
                          <a:latin typeface="Calibri" panose="020F0502020204030204" pitchFamily="34" charset="0"/>
                          <a:ea typeface="+mn-ea"/>
                          <a:cs typeface="+mn-cs"/>
                        </a:rPr>
                        <a:t>5</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P771041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A616#2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20-Feb-25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ENG REMOVAL</a:t>
                      </a: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 QT Shop Visit</a:t>
                      </a:r>
                      <a:endParaRPr kumimoji="0" lang="en-GB"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4227953"/>
                  </a:ext>
                </a:extLst>
              </a:tr>
              <a:tr h="498541">
                <a:tc>
                  <a:txBody>
                    <a:bodyPr/>
                    <a:lstStyle/>
                    <a:p>
                      <a:pPr algn="ctr"/>
                      <a:r>
                        <a:rPr lang="en-GB" sz="1200" b="0" i="0" u="none" strike="noStrike" kern="1200">
                          <a:solidFill>
                            <a:schemeClr val="tx1"/>
                          </a:solidFill>
                          <a:effectLst/>
                          <a:latin typeface="Calibri" panose="020F0502020204030204" pitchFamily="34" charset="0"/>
                          <a:ea typeface="+mn-ea"/>
                          <a:cs typeface="+mn-cs"/>
                        </a:rPr>
                        <a:t>6</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P771090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A616#1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8-Mar-25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ENG REMOVAL</a:t>
                      </a:r>
                      <a:endPar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Rob for A506#2 for 7 day engine run-up interval</a:t>
                      </a:r>
                      <a:endParaRPr kumimoji="0" lang="en-GB"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1565641"/>
                  </a:ext>
                </a:extLst>
              </a:tr>
              <a:tr h="457702">
                <a:tc>
                  <a:txBody>
                    <a:bodyPr/>
                    <a:lstStyle/>
                    <a:p>
                      <a:pPr algn="ctr"/>
                      <a:r>
                        <a:rPr lang="en-GB" sz="1200" b="0" i="0" u="none" strike="noStrike" kern="1200">
                          <a:solidFill>
                            <a:schemeClr val="tx1"/>
                          </a:solidFill>
                          <a:effectLst/>
                          <a:latin typeface="Calibri" panose="020F0502020204030204" pitchFamily="34" charset="0"/>
                          <a:ea typeface="+mn-ea"/>
                          <a:cs typeface="+mn-cs"/>
                        </a:rPr>
                        <a:t>7</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P771423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cap="none">
                          <a:solidFill>
                            <a:schemeClr val="tx1"/>
                          </a:solidFill>
                          <a:effectLst/>
                          <a:latin typeface="Calibri" panose="020F0502020204030204" pitchFamily="34" charset="0"/>
                          <a:ea typeface="+mn-ea"/>
                          <a:cs typeface="+mn-cs"/>
                          <a:sym typeface="Arial"/>
                        </a:rPr>
                        <a:t>P771090</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A506#2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Calibri" panose="020F0502020204030204" pitchFamily="34" charset="0"/>
                        </a:rPr>
                        <a:t>A506#2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Calibri" panose="020F0502020204030204" pitchFamily="34" charset="0"/>
                        </a:rPr>
                        <a:t>8-Mar-25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Calibri" panose="020F0502020204030204" pitchFamily="34" charset="0"/>
                        </a:rPr>
                        <a:t>10-Mar-25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QT Shop Visit</a:t>
                      </a:r>
                      <a:endParaRPr kumimoji="0" lang="en-GB"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4390368"/>
                  </a:ext>
                </a:extLst>
              </a:tr>
              <a:tr h="457702">
                <a:tc>
                  <a:txBody>
                    <a:bodyPr/>
                    <a:lstStyle/>
                    <a:p>
                      <a:pPr algn="ctr"/>
                      <a:r>
                        <a:rPr lang="en-GB" sz="1200" b="0" i="0" u="none" strike="noStrike" kern="1200">
                          <a:solidFill>
                            <a:schemeClr val="tx1"/>
                          </a:solidFill>
                          <a:effectLst/>
                          <a:latin typeface="Calibri" panose="020F0502020204030204" pitchFamily="34" charset="0"/>
                          <a:ea typeface="+mn-ea"/>
                          <a:cs typeface="+mn-cs"/>
                        </a:rPr>
                        <a:t>8</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P771110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cap="none">
                          <a:solidFill>
                            <a:schemeClr val="tx1"/>
                          </a:solidFill>
                          <a:effectLst/>
                          <a:latin typeface="Calibri" panose="020F0502020204030204" pitchFamily="34" charset="0"/>
                          <a:ea typeface="+mn-ea"/>
                          <a:cs typeface="+mn-cs"/>
                          <a:sym typeface="Arial"/>
                        </a:rPr>
                        <a:t>P771075</a:t>
                      </a:r>
                      <a:endParaRPr lang="en-US" sz="1200" b="0" i="0" u="none" strike="noStrike" cap="none">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A501#2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A501#2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3-Mar-25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5-Mar-25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RTS</a:t>
                      </a:r>
                      <a:endParaRPr kumimoji="0" lang="en-GB"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2644935"/>
                  </a:ext>
                </a:extLst>
              </a:tr>
              <a:tr h="457702">
                <a:tc>
                  <a:txBody>
                    <a:bodyPr/>
                    <a:lstStyle/>
                    <a:p>
                      <a:pPr algn="ctr"/>
                      <a:r>
                        <a:rPr lang="vi-VN" sz="1200" b="0" i="0" u="none" strike="noStrike" kern="1200">
                          <a:solidFill>
                            <a:schemeClr val="tx1"/>
                          </a:solidFill>
                          <a:effectLst/>
                          <a:latin typeface="Calibri" panose="020F0502020204030204" pitchFamily="34" charset="0"/>
                          <a:ea typeface="+mn-ea"/>
                          <a:cs typeface="+mn-cs"/>
                        </a:rPr>
                        <a:t>9</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P771131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cap="none">
                          <a:solidFill>
                            <a:schemeClr val="tx1"/>
                          </a:solidFill>
                          <a:effectLst/>
                          <a:latin typeface="Calibri" panose="020F0502020204030204" pitchFamily="34" charset="0"/>
                          <a:ea typeface="+mn-ea"/>
                          <a:cs typeface="+mn-cs"/>
                          <a:sym typeface="Arial"/>
                        </a:rPr>
                        <a:t>P770904</a:t>
                      </a:r>
                      <a:endParaRPr lang="en-US" sz="1200" b="0" i="0" u="none" strike="noStrike" cap="none">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A501#1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A501#1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10-Mar-25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12-Mar-25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RTS</a:t>
                      </a:r>
                      <a:endParaRPr kumimoji="0" lang="en-GB"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1236811"/>
                  </a:ext>
                </a:extLst>
              </a:tr>
              <a:tr h="457702">
                <a:tc>
                  <a:txBody>
                    <a:bodyPr/>
                    <a:lstStyle/>
                    <a:p>
                      <a:pPr algn="ctr"/>
                      <a:r>
                        <a:rPr lang="en-GB" sz="1200" b="0" i="0" u="none" strike="noStrike" kern="1200">
                          <a:solidFill>
                            <a:schemeClr val="tx1"/>
                          </a:solidFill>
                          <a:effectLst/>
                          <a:latin typeface="Calibri" panose="020F0502020204030204" pitchFamily="34" charset="0"/>
                          <a:ea typeface="+mn-ea"/>
                          <a:cs typeface="+mn-cs"/>
                        </a:rPr>
                        <a:t>10</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P771177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P771110</a:t>
                      </a:r>
                      <a:endParaRPr lang="en-US" sz="1200" b="0" i="0" u="none" strike="noStrike" cap="none">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A622#1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A622#1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Calibri" panose="020F0502020204030204" pitchFamily="34" charset="0"/>
                        </a:rPr>
                        <a:t>7-Mar-25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9-Mar-25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INSTALLATION</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5520155"/>
                  </a:ext>
                </a:extLst>
              </a:tr>
              <a:tr h="457702">
                <a:tc>
                  <a:txBody>
                    <a:bodyPr/>
                    <a:lstStyle/>
                    <a:p>
                      <a:pPr algn="ctr"/>
                      <a:r>
                        <a:rPr lang="en-GB" sz="1200" b="0" i="0" u="none" strike="noStrike" kern="1200">
                          <a:solidFill>
                            <a:schemeClr val="tx1"/>
                          </a:solidFill>
                          <a:effectLst/>
                          <a:latin typeface="Calibri" panose="020F0502020204030204" pitchFamily="34" charset="0"/>
                          <a:ea typeface="+mn-ea"/>
                          <a:cs typeface="+mn-cs"/>
                        </a:rPr>
                        <a:t>11</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P771131</a:t>
                      </a:r>
                      <a:endParaRPr lang="en-US" sz="1200" b="0" i="0" u="none" strike="noStrike" cap="none">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a:solidFill>
                            <a:srgbClr val="000000"/>
                          </a:solidFill>
                          <a:effectLst/>
                          <a:latin typeface="Calibri" panose="020F0502020204030204" pitchFamily="34" charset="0"/>
                        </a:rPr>
                        <a:t>A623#2</a:t>
                      </a:r>
                      <a:endParaRPr lang="en-US" sz="12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15-Mar-25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INSTALLATION</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1110417"/>
                  </a:ext>
                </a:extLst>
              </a:tr>
            </a:tbl>
          </a:graphicData>
        </a:graphic>
      </p:graphicFrame>
    </p:spTree>
    <p:extLst>
      <p:ext uri="{BB962C8B-B14F-4D97-AF65-F5344CB8AC3E}">
        <p14:creationId xmlns:p14="http://schemas.microsoft.com/office/powerpoint/2010/main" val="24083714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AF8DC-DB52-2B80-A0CB-44CC8F1F6223}"/>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4" name="TextBox 3">
            <a:extLst>
              <a:ext uri="{FF2B5EF4-FFF2-40B4-BE49-F238E27FC236}">
                <a16:creationId xmlns:a16="http://schemas.microsoft.com/office/drawing/2014/main" id="{6A298D6A-885F-D023-4F90-0DB964121D89}"/>
              </a:ext>
            </a:extLst>
          </p:cNvPr>
          <p:cNvSpPr txBox="1"/>
          <p:nvPr/>
        </p:nvSpPr>
        <p:spPr>
          <a:xfrm>
            <a:off x="2867825" y="145192"/>
            <a:ext cx="576409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DAA600"/>
                </a:solidFill>
                <a:effectLst/>
                <a:uLnTx/>
                <a:uFillTx/>
                <a:latin typeface="Times New Roman" panose="02020603050405020304" pitchFamily="18" charset="0"/>
                <a:ea typeface="+mn-ea"/>
                <a:cs typeface="Times New Roman" panose="02020603050405020304" pitchFamily="18" charset="0"/>
              </a:rPr>
              <a:t>ĐỘI BAY A321CEO</a:t>
            </a:r>
            <a:endParaRPr kumimoji="0" lang="en-GB" sz="2400" b="1" i="0" u="none" strike="noStrike" kern="1200" cap="none" spc="0" normalizeH="0" baseline="0" noProof="0" dirty="0">
              <a:ln>
                <a:noFill/>
              </a:ln>
              <a:solidFill>
                <a:srgbClr val="DAA6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7" name="Table 2">
            <a:extLst>
              <a:ext uri="{FF2B5EF4-FFF2-40B4-BE49-F238E27FC236}">
                <a16:creationId xmlns:a16="http://schemas.microsoft.com/office/drawing/2014/main" id="{7BBB0B2C-0AB6-AE2A-F08B-65F49223079D}"/>
              </a:ext>
            </a:extLst>
          </p:cNvPr>
          <p:cNvGraphicFramePr>
            <a:graphicFrameLocks noGrp="1"/>
          </p:cNvGraphicFramePr>
          <p:nvPr/>
        </p:nvGraphicFramePr>
        <p:xfrm>
          <a:off x="185138" y="1041725"/>
          <a:ext cx="5339361" cy="3638990"/>
        </p:xfrm>
        <a:graphic>
          <a:graphicData uri="http://schemas.openxmlformats.org/drawingml/2006/table">
            <a:tbl>
              <a:tblPr firstRow="1" bandRow="1">
                <a:tableStyleId>{5C22544A-7EE6-4342-B048-85BDC9FD1C3A}</a:tableStyleId>
              </a:tblPr>
              <a:tblGrid>
                <a:gridCol w="430883">
                  <a:extLst>
                    <a:ext uri="{9D8B030D-6E8A-4147-A177-3AD203B41FA5}">
                      <a16:colId xmlns:a16="http://schemas.microsoft.com/office/drawing/2014/main" val="1598605427"/>
                    </a:ext>
                  </a:extLst>
                </a:gridCol>
                <a:gridCol w="701211">
                  <a:extLst>
                    <a:ext uri="{9D8B030D-6E8A-4147-A177-3AD203B41FA5}">
                      <a16:colId xmlns:a16="http://schemas.microsoft.com/office/drawing/2014/main" val="3845954792"/>
                    </a:ext>
                  </a:extLst>
                </a:gridCol>
                <a:gridCol w="1023768">
                  <a:extLst>
                    <a:ext uri="{9D8B030D-6E8A-4147-A177-3AD203B41FA5}">
                      <a16:colId xmlns:a16="http://schemas.microsoft.com/office/drawing/2014/main" val="2148822928"/>
                    </a:ext>
                  </a:extLst>
                </a:gridCol>
                <a:gridCol w="872619">
                  <a:extLst>
                    <a:ext uri="{9D8B030D-6E8A-4147-A177-3AD203B41FA5}">
                      <a16:colId xmlns:a16="http://schemas.microsoft.com/office/drawing/2014/main" val="1185879436"/>
                    </a:ext>
                  </a:extLst>
                </a:gridCol>
                <a:gridCol w="2310880">
                  <a:extLst>
                    <a:ext uri="{9D8B030D-6E8A-4147-A177-3AD203B41FA5}">
                      <a16:colId xmlns:a16="http://schemas.microsoft.com/office/drawing/2014/main" val="3328294324"/>
                    </a:ext>
                  </a:extLst>
                </a:gridCol>
              </a:tblGrid>
              <a:tr h="259882">
                <a:tc>
                  <a:txBody>
                    <a:bodyPr/>
                    <a:lstStyle/>
                    <a:p>
                      <a:pPr algn="ct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Ngày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xong</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195070">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V15851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28/01/2024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12/02/2025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10/02)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4237589"/>
                  </a:ext>
                </a:extLst>
              </a:tr>
              <a:tr h="173734">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2</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V17951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26/12/2024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Đã</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giao</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Vaeco</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4525903"/>
                  </a:ext>
                </a:extLst>
              </a:tr>
              <a:tr h="259882">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3</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V16037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15/03/2025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22/03/2025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5220057"/>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V16338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15/04/2025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22/04/2025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30/04/2025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13/05/2025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V16456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26/04/2025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03/05/2025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V12505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19/03/2025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26/03/2025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26533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26/05/2025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08/06/2025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V16799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07/06/2025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14/06/2025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7"/>
                  </a:ext>
                </a:extLst>
              </a:tr>
              <a:tr h="19699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8"/>
                  </a:ext>
                </a:extLst>
              </a:tr>
              <a:tr h="19892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0"/>
                  </a:ext>
                </a:extLst>
              </a:tr>
              <a:tr h="245444">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1"/>
                  </a:ext>
                </a:extLst>
              </a:tr>
              <a:tr h="1565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V17403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2"/>
                  </a:ext>
                </a:extLst>
              </a:tr>
            </a:tbl>
          </a:graphicData>
        </a:graphic>
      </p:graphicFrame>
      <p:sp>
        <p:nvSpPr>
          <p:cNvPr id="10" name="TextBox 9">
            <a:extLst>
              <a:ext uri="{FF2B5EF4-FFF2-40B4-BE49-F238E27FC236}">
                <a16:creationId xmlns:a16="http://schemas.microsoft.com/office/drawing/2014/main" id="{065B7C68-FAE0-542E-3B49-CC53ADF9B04A}"/>
              </a:ext>
            </a:extLst>
          </p:cNvPr>
          <p:cNvSpPr txBox="1"/>
          <p:nvPr/>
        </p:nvSpPr>
        <p:spPr>
          <a:xfrm>
            <a:off x="6731101" y="606857"/>
            <a:ext cx="37882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Kế</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hoạch</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đội</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A321CEO Q1-Q2/2025</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1" name="TextBox 10">
            <a:extLst>
              <a:ext uri="{FF2B5EF4-FFF2-40B4-BE49-F238E27FC236}">
                <a16:creationId xmlns:a16="http://schemas.microsoft.com/office/drawing/2014/main" id="{694FDAB8-BE54-1FE3-A128-4924718F86B6}"/>
              </a:ext>
            </a:extLst>
          </p:cNvPr>
          <p:cNvSpPr txBox="1"/>
          <p:nvPr/>
        </p:nvSpPr>
        <p:spPr>
          <a:xfrm>
            <a:off x="953116" y="626875"/>
            <a:ext cx="369203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Các</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động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đã</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tháo</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đang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sửa</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chữa</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798A4453-6D37-A3D5-A532-1D65A56E72A5}"/>
              </a:ext>
            </a:extLst>
          </p:cNvPr>
          <p:cNvGraphicFramePr>
            <a:graphicFrameLocks noGrp="1"/>
          </p:cNvGraphicFramePr>
          <p:nvPr/>
        </p:nvGraphicFramePr>
        <p:xfrm>
          <a:off x="5737199" y="1035392"/>
          <a:ext cx="6207275" cy="2071693"/>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V11752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A354#2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14-16/03/2025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V15851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3960055"/>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V15876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A610#1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13-15/04/2025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V17951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V11694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A359#1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17-19/04/2025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V12505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V16570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A329#2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20-22/04/2025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V16037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236180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V16512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A357#2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05-07/05/2025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V16338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804926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V11704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A606#2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15-17/05/2025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V16456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607678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V15935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A392#2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10-12/06/2025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688097"/>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A398#1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28-30/06/2025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Tháo</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Willis,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V17403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0194852"/>
                  </a:ext>
                </a:extLst>
              </a:tr>
            </a:tbl>
          </a:graphicData>
        </a:graphic>
      </p:graphicFrame>
      <p:sp>
        <p:nvSpPr>
          <p:cNvPr id="3" name="TextBox 2">
            <a:extLst>
              <a:ext uri="{FF2B5EF4-FFF2-40B4-BE49-F238E27FC236}">
                <a16:creationId xmlns:a16="http://schemas.microsoft.com/office/drawing/2014/main" id="{4DE6CC1A-C4DC-6FC8-06CD-779939B6893C}"/>
              </a:ext>
            </a:extLst>
          </p:cNvPr>
          <p:cNvSpPr txBox="1"/>
          <p:nvPr/>
        </p:nvSpPr>
        <p:spPr>
          <a:xfrm>
            <a:off x="7340536" y="3378394"/>
            <a:ext cx="258275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Tình</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trạng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thuê</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E7616FB-C309-B068-5BA6-2EC84567F23C}"/>
              </a:ext>
            </a:extLst>
          </p:cNvPr>
          <p:cNvGraphicFramePr>
            <a:graphicFrameLocks noGrp="1"/>
          </p:cNvGraphicFramePr>
          <p:nvPr/>
        </p:nvGraphicFramePr>
        <p:xfrm>
          <a:off x="5760208" y="3861966"/>
          <a:ext cx="6207275" cy="2519367"/>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V17365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SMBC</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31/12/2025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162735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T7/2025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V18818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27/12/2025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429295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V15346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03/01/2026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64767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V15369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053351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V18874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680001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V18977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14/03/2026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97111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V13187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07/04/2026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5628123"/>
                  </a:ext>
                </a:extLst>
              </a:tr>
            </a:tbl>
          </a:graphicData>
        </a:graphic>
      </p:graphicFrame>
    </p:spTree>
    <p:extLst>
      <p:ext uri="{BB962C8B-B14F-4D97-AF65-F5344CB8AC3E}">
        <p14:creationId xmlns:p14="http://schemas.microsoft.com/office/powerpoint/2010/main" val="5648253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D3F78-EE7A-6244-EF60-C9D5576F3B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8AFE3E-3844-01D3-D72D-0F4786BACA0F}"/>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3" name="Slide Number Placeholder 3">
            <a:extLst>
              <a:ext uri="{FF2B5EF4-FFF2-40B4-BE49-F238E27FC236}">
                <a16:creationId xmlns:a16="http://schemas.microsoft.com/office/drawing/2014/main" id="{BB68B28C-7DC1-3513-7C03-97417DFFBE37}"/>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endParaRPr>
          </a:p>
        </p:txBody>
      </p:sp>
      <p:graphicFrame>
        <p:nvGraphicFramePr>
          <p:cNvPr id="4" name="Chart 3">
            <a:extLst>
              <a:ext uri="{FF2B5EF4-FFF2-40B4-BE49-F238E27FC236}">
                <a16:creationId xmlns:a16="http://schemas.microsoft.com/office/drawing/2014/main" id="{C6B0DA9E-4175-8F90-5644-7AB7D854EA46}"/>
              </a:ext>
            </a:extLst>
          </p:cNvPr>
          <p:cNvGraphicFramePr/>
          <p:nvPr/>
        </p:nvGraphicFramePr>
        <p:xfrm>
          <a:off x="6867116" y="445510"/>
          <a:ext cx="5236309" cy="4256509"/>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B830FD37-0C62-DD9A-7EAB-6CFC0D17CDB3}"/>
              </a:ext>
            </a:extLst>
          </p:cNvPr>
          <p:cNvSpPr txBox="1"/>
          <p:nvPr/>
        </p:nvSpPr>
        <p:spPr>
          <a:xfrm>
            <a:off x="88571" y="4702019"/>
            <a:ext cx="12014855" cy="1898468"/>
          </a:xfrm>
          <a:prstGeom prst="rect">
            <a:avLst/>
          </a:prstGeom>
          <a:solidFill>
            <a:schemeClr val="bg1"/>
          </a:solidFill>
        </p:spPr>
        <p:style>
          <a:lnRef idx="2">
            <a:schemeClr val="dk1"/>
          </a:lnRef>
          <a:fillRef idx="1">
            <a:schemeClr val="lt1"/>
          </a:fillRef>
          <a:effectRef idx="0">
            <a:schemeClr val="dk1"/>
          </a:effectRef>
          <a:fontRef idx="minor">
            <a:schemeClr val="dk1"/>
          </a:fontRef>
        </p:style>
        <p:txBody>
          <a:bodyPr wrap="square" rtlCol="0">
            <a:spAutoFit/>
          </a:bodyPr>
          <a:lstStyle/>
          <a:p>
            <a:pPr marL="380990" marR="0" lvl="0" indent="-380990" algn="l" defTabSz="1219170" rtl="0" eaLnBrk="1" fontAlgn="auto" latinLnBrk="0" hangingPunct="1">
              <a:lnSpc>
                <a:spcPct val="100000"/>
              </a:lnSpc>
              <a:spcBef>
                <a:spcPts val="0"/>
              </a:spcBef>
              <a:spcAft>
                <a:spcPts val="0"/>
              </a:spcAft>
              <a:buClrTx/>
              <a:buSzTx/>
              <a:buFontTx/>
              <a:buChar char="-"/>
              <a:tabLst/>
              <a:defRPr/>
            </a:pP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phòng</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958541 – SGN.</a:t>
            </a:r>
          </a:p>
          <a:p>
            <a:pPr marL="380990" marR="0" lvl="0" indent="-380990" algn="l" defTabSz="1219170" rtl="0" eaLnBrk="1" fontAlgn="auto" latinLnBrk="0" hangingPunct="1">
              <a:lnSpc>
                <a:spcPct val="100000"/>
              </a:lnSpc>
              <a:spcBef>
                <a:spcPts val="0"/>
              </a:spcBef>
              <a:spcAft>
                <a:spcPts val="0"/>
              </a:spcAft>
              <a:buClrTx/>
              <a:buSzTx/>
              <a:buFontTx/>
              <a:buChar char="-"/>
              <a:tabLst/>
              <a:defRPr/>
            </a:pP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on-watch:</a:t>
            </a:r>
            <a:endParaRPr kumimoji="0" lang="en-US" sz="1467" b="0" i="0" u="none" strike="noStrike" kern="1200" cap="none" spc="0" normalizeH="0" baseline="0" noProof="0" dirty="0">
              <a:ln>
                <a:noFill/>
              </a:ln>
              <a:solidFill>
                <a:srgbClr val="FF9933"/>
              </a:solidFill>
              <a:effectLst/>
              <a:uLnTx/>
              <a:uFillTx/>
              <a:latin typeface="Times New Roman" panose="02020603050405020304" pitchFamily="18" charset="0"/>
              <a:ea typeface="+mn-ea"/>
              <a:cs typeface="Times New Roman" panose="02020603050405020304" pitchFamily="18" charset="0"/>
            </a:endParaRPr>
          </a:p>
          <a:p>
            <a:pPr marL="990575" marR="0" lvl="0" indent="-38099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67"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958395 (A872) – Remove in 25 </a:t>
            </a:r>
            <a:r>
              <a:rPr kumimoji="0" lang="en-US" sz="1467"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cyc</a:t>
            </a:r>
            <a:r>
              <a:rPr kumimoji="0" lang="en-US" sz="1467"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or reinspect; </a:t>
            </a:r>
            <a:r>
              <a:rPr kumimoji="0" lang="en-US" sz="1467"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Thực</a:t>
            </a:r>
            <a:r>
              <a:rPr kumimoji="0" lang="en-US" sz="1467"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hiện</a:t>
            </a:r>
            <a:r>
              <a:rPr kumimoji="0" lang="en-US" sz="1467"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thay</a:t>
            </a:r>
            <a:r>
              <a:rPr kumimoji="0" lang="en-US" sz="1467"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động</a:t>
            </a:r>
            <a:r>
              <a:rPr kumimoji="0" lang="en-US" sz="1467"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cơ</a:t>
            </a:r>
            <a:r>
              <a:rPr kumimoji="0" lang="en-US" sz="1467"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từ</a:t>
            </a:r>
            <a:r>
              <a:rPr kumimoji="0" lang="en-US" sz="1467"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11/02/2025;</a:t>
            </a:r>
          </a:p>
          <a:p>
            <a:pPr marL="990575" marR="0" lvl="0" indent="-38099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956913 (A871) – Remove in 50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cyc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or reinspect; </a:t>
            </a:r>
          </a:p>
          <a:p>
            <a:pPr marL="990575" marR="0" lvl="0" indent="-38099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958170 (A863) – Remove in 50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cyc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or reinspect; </a:t>
            </a:r>
          </a:p>
          <a:p>
            <a:pPr marL="990575" marR="0" lvl="0" indent="-38099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956769 (A868) – Remove in 50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cyc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or reinspect; </a:t>
            </a:r>
            <a:endPar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endParaRPr>
          </a:p>
          <a:p>
            <a:pPr marL="990575" marR="0" lvl="1" indent="-38099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956577 (A864) – Repetitive 50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cyc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990575" marR="0" lvl="1" indent="-38099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100 cycle – 02 ĐC;  150 cycle – 01 ĐC; 250 cycle – 02 ĐC. </a:t>
            </a:r>
          </a:p>
        </p:txBody>
      </p:sp>
      <p:graphicFrame>
        <p:nvGraphicFramePr>
          <p:cNvPr id="6" name="Table 5">
            <a:extLst>
              <a:ext uri="{FF2B5EF4-FFF2-40B4-BE49-F238E27FC236}">
                <a16:creationId xmlns:a16="http://schemas.microsoft.com/office/drawing/2014/main" id="{66BC6617-EF33-BB90-B1C0-6DFD65C9FC16}"/>
              </a:ext>
            </a:extLst>
          </p:cNvPr>
          <p:cNvGraphicFramePr>
            <a:graphicFrameLocks noGrp="1"/>
          </p:cNvGraphicFramePr>
          <p:nvPr/>
        </p:nvGraphicFramePr>
        <p:xfrm>
          <a:off x="88572" y="445510"/>
          <a:ext cx="6778543" cy="4256510"/>
        </p:xfrm>
        <a:graphic>
          <a:graphicData uri="http://schemas.openxmlformats.org/drawingml/2006/table">
            <a:tbl>
              <a:tblPr firstRow="1" bandRow="1">
                <a:tableStyleId>{7DF18680-E054-41AD-8BC1-D1AEF772440D}</a:tableStyleId>
              </a:tblPr>
              <a:tblGrid>
                <a:gridCol w="680205">
                  <a:extLst>
                    <a:ext uri="{9D8B030D-6E8A-4147-A177-3AD203B41FA5}">
                      <a16:colId xmlns:a16="http://schemas.microsoft.com/office/drawing/2014/main" val="1598605427"/>
                    </a:ext>
                  </a:extLst>
                </a:gridCol>
                <a:gridCol w="669252">
                  <a:extLst>
                    <a:ext uri="{9D8B030D-6E8A-4147-A177-3AD203B41FA5}">
                      <a16:colId xmlns:a16="http://schemas.microsoft.com/office/drawing/2014/main" val="3845954792"/>
                    </a:ext>
                  </a:extLst>
                </a:gridCol>
                <a:gridCol w="849128">
                  <a:extLst>
                    <a:ext uri="{9D8B030D-6E8A-4147-A177-3AD203B41FA5}">
                      <a16:colId xmlns:a16="http://schemas.microsoft.com/office/drawing/2014/main" val="3803391337"/>
                    </a:ext>
                  </a:extLst>
                </a:gridCol>
                <a:gridCol w="1797456">
                  <a:extLst>
                    <a:ext uri="{9D8B030D-6E8A-4147-A177-3AD203B41FA5}">
                      <a16:colId xmlns:a16="http://schemas.microsoft.com/office/drawing/2014/main" val="2148822928"/>
                    </a:ext>
                  </a:extLst>
                </a:gridCol>
                <a:gridCol w="954581">
                  <a:extLst>
                    <a:ext uri="{9D8B030D-6E8A-4147-A177-3AD203B41FA5}">
                      <a16:colId xmlns:a16="http://schemas.microsoft.com/office/drawing/2014/main" val="1106888684"/>
                    </a:ext>
                  </a:extLst>
                </a:gridCol>
                <a:gridCol w="721013">
                  <a:extLst>
                    <a:ext uri="{9D8B030D-6E8A-4147-A177-3AD203B41FA5}">
                      <a16:colId xmlns:a16="http://schemas.microsoft.com/office/drawing/2014/main" val="1185879436"/>
                    </a:ext>
                  </a:extLst>
                </a:gridCol>
                <a:gridCol w="1106908">
                  <a:extLst>
                    <a:ext uri="{9D8B030D-6E8A-4147-A177-3AD203B41FA5}">
                      <a16:colId xmlns:a16="http://schemas.microsoft.com/office/drawing/2014/main" val="558551088"/>
                    </a:ext>
                  </a:extLst>
                </a:gridCol>
              </a:tblGrid>
              <a:tr h="467909">
                <a:tc>
                  <a:txBody>
                    <a:bodyPr/>
                    <a:lstStyle/>
                    <a:p>
                      <a:pPr algn="ctr" fontAlgn="ctr"/>
                      <a:r>
                        <a:rPr lang="en-US" sz="1200" u="none" strike="noStrike" dirty="0">
                          <a:solidFill>
                            <a:schemeClr val="bg1"/>
                          </a:solidFill>
                          <a:effectLst/>
                          <a:latin typeface="+mn-lt"/>
                        </a:rPr>
                        <a:t>Engine SV</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a:solidFill>
                            <a:schemeClr val="bg1"/>
                          </a:solidFill>
                          <a:effectLst/>
                          <a:latin typeface="+mn-lt"/>
                        </a:rPr>
                        <a:t>Shop</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err="1">
                          <a:solidFill>
                            <a:schemeClr val="bg1"/>
                          </a:solidFill>
                          <a:effectLst/>
                          <a:latin typeface="Calibri" panose="020F0502020204030204" pitchFamily="34" charset="0"/>
                          <a:cs typeface="Calibri" panose="020F0502020204030204" pitchFamily="34" charset="0"/>
                        </a:rPr>
                        <a:t>Ngày</a:t>
                      </a:r>
                      <a:r>
                        <a:rPr lang="en-US" sz="1200" b="1" i="0" u="none" strike="noStrike" dirty="0">
                          <a:solidFill>
                            <a:schemeClr val="bg1"/>
                          </a:solidFill>
                          <a:effectLst/>
                          <a:latin typeface="Calibri" panose="020F0502020204030204" pitchFamily="34" charset="0"/>
                          <a:cs typeface="Calibri" panose="020F0502020204030204" pitchFamily="34" charset="0"/>
                        </a:rPr>
                        <a:t> </a:t>
                      </a:r>
                      <a:r>
                        <a:rPr lang="en-US" sz="1200" b="1" i="0" u="none" strike="noStrike" dirty="0" err="1">
                          <a:solidFill>
                            <a:schemeClr val="bg1"/>
                          </a:solidFill>
                          <a:effectLst/>
                          <a:latin typeface="Calibri" panose="020F0502020204030204" pitchFamily="34" charset="0"/>
                          <a:cs typeface="Calibri" panose="020F0502020204030204" pitchFamily="34" charset="0"/>
                        </a:rPr>
                        <a:t>tháo</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vi-VN" sz="1200" u="none" strike="noStrike" dirty="0">
                          <a:solidFill>
                            <a:schemeClr val="bg1"/>
                          </a:solidFill>
                          <a:effectLst/>
                          <a:latin typeface="Calibri" panose="020F0502020204030204" pitchFamily="34" charset="0"/>
                          <a:cs typeface="Calibri" panose="020F0502020204030204" pitchFamily="34" charset="0"/>
                        </a:rPr>
                        <a:t>Ngày sửa xong </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về</a:t>
                      </a:r>
                      <a:r>
                        <a:rPr lang="en-US" sz="1200" b="1" u="none" strike="noStrike" dirty="0">
                          <a:solidFill>
                            <a:schemeClr val="bg1"/>
                          </a:solidFill>
                          <a:effectLst/>
                          <a:latin typeface="+mn-lt"/>
                        </a:rPr>
                        <a:t> </a:t>
                      </a:r>
                    </a:p>
                    <a:p>
                      <a:pPr algn="ctr" fontAlgn="ctr"/>
                      <a:r>
                        <a:rPr lang="en-US" sz="1200" b="1" u="none" strike="noStrike" dirty="0">
                          <a:solidFill>
                            <a:schemeClr val="bg1"/>
                          </a:solidFill>
                          <a:effectLst/>
                          <a:latin typeface="+mn-lt"/>
                        </a:rPr>
                        <a:t>(+7 </a:t>
                      </a: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vc</a:t>
                      </a:r>
                      <a:r>
                        <a:rPr lang="en-US" sz="1200" b="1" u="none" strike="noStrike" dirty="0">
                          <a:solidFill>
                            <a:schemeClr val="bg1"/>
                          </a:solidFill>
                          <a:effectLst/>
                          <a:latin typeface="+mn-lt"/>
                        </a:rPr>
                        <a:t>)</a:t>
                      </a:r>
                      <a:endParaRPr lang="vi-VN"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err="1">
                          <a:solidFill>
                            <a:schemeClr val="bg1"/>
                          </a:solidFill>
                          <a:effectLst/>
                          <a:latin typeface="+mn-lt"/>
                        </a:rPr>
                        <a:t>Dùng</a:t>
                      </a:r>
                      <a:r>
                        <a:rPr lang="en-US" sz="1200" u="none" strike="noStrike" dirty="0">
                          <a:solidFill>
                            <a:schemeClr val="bg1"/>
                          </a:solidFill>
                          <a:effectLst/>
                          <a:latin typeface="+mn-lt"/>
                        </a:rPr>
                        <a:t> </a:t>
                      </a:r>
                      <a:r>
                        <a:rPr lang="en-US" sz="1200" u="none" strike="noStrike" dirty="0" err="1">
                          <a:solidFill>
                            <a:schemeClr val="bg1"/>
                          </a:solidFill>
                          <a:effectLst/>
                          <a:latin typeface="+mn-lt"/>
                        </a:rPr>
                        <a:t>cho</a:t>
                      </a:r>
                      <a:r>
                        <a:rPr lang="en-US" sz="1200" u="none" strike="noStrike" dirty="0">
                          <a:solidFill>
                            <a:schemeClr val="bg1"/>
                          </a:solidFill>
                          <a:effectLst/>
                          <a:latin typeface="+mn-lt"/>
                        </a:rPr>
                        <a:t> </a:t>
                      </a:r>
                      <a:r>
                        <a:rPr lang="en-US" sz="1200" u="none" strike="noStrike" dirty="0" err="1">
                          <a:solidFill>
                            <a:schemeClr val="bg1"/>
                          </a:solidFill>
                          <a:effectLst/>
                          <a:latin typeface="+mn-lt"/>
                        </a:rPr>
                        <a:t>tàu</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tháo</a:t>
                      </a:r>
                      <a:r>
                        <a:rPr lang="en-US" sz="1200" b="1" u="none" strike="noStrike" dirty="0">
                          <a:solidFill>
                            <a:schemeClr val="bg1"/>
                          </a:solidFill>
                          <a:effectLst/>
                          <a:latin typeface="+mn-lt"/>
                        </a:rPr>
                        <a:t> ĐC </a:t>
                      </a:r>
                      <a:r>
                        <a:rPr lang="en-US" sz="1200" b="1" u="none" strike="noStrike" dirty="0" err="1">
                          <a:solidFill>
                            <a:schemeClr val="bg1"/>
                          </a:solidFill>
                          <a:effectLst/>
                          <a:latin typeface="+mn-lt"/>
                        </a:rPr>
                        <a:t>tiếp</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theo</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234812354"/>
                  </a:ext>
                </a:extLst>
              </a:tr>
              <a:tr h="409987">
                <a:tc>
                  <a:txBody>
                    <a:bodyPr/>
                    <a:lstStyle/>
                    <a:p>
                      <a:pPr algn="ctr" fontAlgn="ctr"/>
                      <a:r>
                        <a:rPr lang="en-US" sz="1200" b="0" u="none" strike="noStrike" dirty="0">
                          <a:solidFill>
                            <a:schemeClr val="tx1"/>
                          </a:solidFill>
                          <a:effectLst/>
                          <a:latin typeface="+mn-lt"/>
                        </a:rPr>
                        <a:t>956556</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20/11/2023</a:t>
                      </a:r>
                    </a:p>
                  </a:txBody>
                  <a:tcPr marL="12700" marR="12700" marT="12700" marB="0" anchor="ctr"/>
                </a:tc>
                <a:tc>
                  <a:txBody>
                    <a:bodyPr/>
                    <a:lstStyle/>
                    <a:p>
                      <a:pPr algn="ctr" fontAlgn="ctr"/>
                      <a:r>
                        <a:rPr lang="en-US" sz="1200" u="none" strike="noStrike" dirty="0">
                          <a:solidFill>
                            <a:schemeClr val="tx1"/>
                          </a:solidFill>
                          <a:effectLst/>
                          <a:latin typeface="+mn-lt"/>
                        </a:rPr>
                        <a:t>End of Mar/2025</a:t>
                      </a:r>
                    </a:p>
                    <a:p>
                      <a:pPr algn="ctr" fontAlgn="ctr"/>
                      <a:r>
                        <a:rPr lang="en-US" sz="1200" u="none" strike="noStrike" dirty="0">
                          <a:solidFill>
                            <a:schemeClr val="tx1"/>
                          </a:solidFill>
                          <a:effectLst/>
                          <a:latin typeface="+mn-lt"/>
                        </a:rPr>
                        <a:t>Induct 12/08/2024</a:t>
                      </a:r>
                      <a:endParaRPr lang="en-US" sz="120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10276437"/>
                  </a:ext>
                </a:extLst>
              </a:tr>
              <a:tr h="428984">
                <a:tc>
                  <a:txBody>
                    <a:bodyPr/>
                    <a:lstStyle/>
                    <a:p>
                      <a:pPr algn="ctr" fontAlgn="ctr"/>
                      <a:r>
                        <a:rPr lang="en-US" sz="1200" b="0" u="none" strike="noStrike" dirty="0">
                          <a:solidFill>
                            <a:schemeClr val="tx1"/>
                          </a:solidFill>
                          <a:effectLst/>
                          <a:latin typeface="+mn-lt"/>
                        </a:rPr>
                        <a:t>956533</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26/01/2024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TBD</a:t>
                      </a:r>
                    </a:p>
                    <a:p>
                      <a:pPr algn="ctr" fontAlgn="ctr"/>
                      <a:r>
                        <a:rPr lang="en-US" sz="1200" b="0" u="none" strike="noStrike" dirty="0">
                          <a:solidFill>
                            <a:schemeClr val="tx1"/>
                          </a:solidFill>
                          <a:effectLst/>
                          <a:latin typeface="+mn-lt"/>
                          <a:cs typeface="Times New Roman" panose="02020603050405020304" pitchFamily="18" charset="0"/>
                        </a:rPr>
                        <a:t>Induct 05/10/2024</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80068930"/>
                  </a:ext>
                </a:extLst>
              </a:tr>
              <a:tr h="470767">
                <a:tc>
                  <a:txBody>
                    <a:bodyPr/>
                    <a:lstStyle/>
                    <a:p>
                      <a:pPr algn="ctr" fontAlgn="ctr"/>
                      <a:r>
                        <a:rPr lang="en-US" sz="1200" b="0" u="none" strike="noStrike" dirty="0">
                          <a:solidFill>
                            <a:schemeClr val="tx1"/>
                          </a:solidFill>
                          <a:effectLst/>
                          <a:latin typeface="+mn-lt"/>
                        </a:rPr>
                        <a:t>956569</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28/07/2024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TBD</a:t>
                      </a:r>
                    </a:p>
                    <a:p>
                      <a:pPr algn="ctr" fontAlgn="ctr"/>
                      <a:r>
                        <a:rPr lang="en-US" sz="1200" b="0" u="none" strike="noStrike" dirty="0">
                          <a:solidFill>
                            <a:schemeClr val="tx1"/>
                          </a:solidFill>
                          <a:effectLst/>
                          <a:latin typeface="+mn-lt"/>
                          <a:cs typeface="Times New Roman" panose="02020603050405020304" pitchFamily="18" charset="0"/>
                        </a:rPr>
                        <a:t>Induct 12/11/2024</a:t>
                      </a:r>
                    </a:p>
                  </a:txBody>
                  <a:tcPr marL="12700" marR="12700" marT="12700" marB="0" anchor="ctr"/>
                </a:tc>
                <a:tc>
                  <a:txBody>
                    <a:bodyPr/>
                    <a:lstStyle/>
                    <a:p>
                      <a:pPr marL="0" algn="ctr" defTabSz="914400" rtl="0" eaLnBrk="1" fontAlgn="ctr" latinLnBrk="0" hangingPunct="1"/>
                      <a:r>
                        <a:rPr lang="en-US" sz="1200" b="0" i="0" u="none" strike="noStrike" dirty="0">
                          <a:solidFill>
                            <a:schemeClr val="tx1"/>
                          </a:solidFill>
                          <a:effectLst/>
                          <a:latin typeface="+mn-lt"/>
                          <a:cs typeface="Times New Roman" panose="02020603050405020304" pitchFamily="18" charset="0"/>
                        </a:rPr>
                        <a:t>TBD</a:t>
                      </a:r>
                      <a:endParaRPr lang="en-US" sz="1200" b="1" i="0" u="none" strike="noStrike" kern="1200" dirty="0">
                        <a:solidFill>
                          <a:srgbClr val="0070C0"/>
                        </a:solidFill>
                        <a:effectLst/>
                        <a:latin typeface="+mn-lt"/>
                        <a:ea typeface="+mn-ea"/>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8617102"/>
                  </a:ext>
                </a:extLst>
              </a:tr>
              <a:tr h="404556">
                <a:tc>
                  <a:txBody>
                    <a:bodyPr/>
                    <a:lstStyle/>
                    <a:p>
                      <a:pPr algn="ctr" fontAlgn="ctr"/>
                      <a:r>
                        <a:rPr lang="en-US" sz="1200" b="0" i="0" u="none" strike="noStrike" dirty="0">
                          <a:solidFill>
                            <a:schemeClr val="tx1"/>
                          </a:solidFill>
                          <a:effectLst/>
                          <a:latin typeface="+mn-lt"/>
                          <a:cs typeface="Times New Roman" panose="02020603050405020304" pitchFamily="18" charset="0"/>
                        </a:rPr>
                        <a:t>958398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GEEVES</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21/06/2024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TBD</a:t>
                      </a:r>
                    </a:p>
                    <a:p>
                      <a:pPr algn="ctr" fontAlgn="ctr"/>
                      <a:r>
                        <a:rPr lang="en-US" sz="1200" b="0" u="none" strike="noStrike" dirty="0">
                          <a:solidFill>
                            <a:schemeClr val="tx1"/>
                          </a:solidFill>
                          <a:effectLst/>
                          <a:latin typeface="+mn-lt"/>
                          <a:cs typeface="Times New Roman" panose="02020603050405020304" pitchFamily="18" charset="0"/>
                        </a:rPr>
                        <a:t>Induct 17/07/2024</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endParaRPr lang="en-US" sz="1200" b="1" i="0" u="none" strike="noStrike" dirty="0">
                        <a:solidFill>
                          <a:srgbClr val="0070C0"/>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rgbClr val="00B050"/>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rgbClr val="00B05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168631574"/>
                  </a:ext>
                </a:extLst>
              </a:tr>
              <a:tr h="423872">
                <a:tc>
                  <a:txBody>
                    <a:bodyPr/>
                    <a:lstStyle/>
                    <a:p>
                      <a:pPr algn="ctr" fontAlgn="ctr"/>
                      <a:r>
                        <a:rPr lang="en-US" sz="1200" b="0" i="0" u="none" strike="noStrike" dirty="0">
                          <a:solidFill>
                            <a:schemeClr val="tx1"/>
                          </a:solidFill>
                          <a:effectLst/>
                          <a:latin typeface="+mn-lt"/>
                          <a:cs typeface="Times New Roman" panose="02020603050405020304" pitchFamily="18" charset="0"/>
                        </a:rPr>
                        <a:t>956599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05/09/2024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TBD</a:t>
                      </a:r>
                    </a:p>
                    <a:p>
                      <a:pPr algn="ctr" fontAlgn="ctr"/>
                      <a:r>
                        <a:rPr lang="en-US" sz="1200" b="0" u="none" strike="noStrike" dirty="0">
                          <a:solidFill>
                            <a:schemeClr val="tx1"/>
                          </a:solidFill>
                          <a:effectLst/>
                          <a:latin typeface="+mn-lt"/>
                          <a:cs typeface="Times New Roman" panose="02020603050405020304" pitchFamily="18" charset="0"/>
                        </a:rPr>
                        <a:t>Induct 26/11/2024</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167051134"/>
                  </a:ext>
                </a:extLst>
              </a:tr>
              <a:tr h="378460">
                <a:tc>
                  <a:txBody>
                    <a:bodyPr/>
                    <a:lstStyle/>
                    <a:p>
                      <a:pPr algn="ctr" fontAlgn="ctr"/>
                      <a:r>
                        <a:rPr lang="en-US" sz="1200" b="0" i="0" u="none" strike="noStrike" dirty="0">
                          <a:solidFill>
                            <a:schemeClr val="tx1"/>
                          </a:solidFill>
                          <a:effectLst/>
                          <a:latin typeface="+mn-lt"/>
                          <a:cs typeface="Times New Roman" panose="02020603050405020304" pitchFamily="18" charset="0"/>
                        </a:rPr>
                        <a:t>958537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 CAL</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17/09/2024</a:t>
                      </a:r>
                    </a:p>
                  </a:txBody>
                  <a:tcPr marL="12700" marR="12700" marT="12700" marB="0" anchor="ctr"/>
                </a:tc>
                <a:tc>
                  <a:txBody>
                    <a:bodyPr/>
                    <a:lstStyle/>
                    <a:p>
                      <a:pPr algn="ctr" fontAlgn="ctr"/>
                      <a:r>
                        <a:rPr lang="en-US" sz="1200" b="1" u="none" strike="noStrike" dirty="0">
                          <a:solidFill>
                            <a:schemeClr val="tx1"/>
                          </a:solidFill>
                          <a:effectLst/>
                          <a:latin typeface="+mn-lt"/>
                          <a:cs typeface="Times New Roman" panose="02020603050405020304" pitchFamily="18" charset="0"/>
                        </a:rPr>
                        <a:t>22/Feb/2025</a:t>
                      </a:r>
                    </a:p>
                    <a:p>
                      <a:pPr algn="ctr" fontAlgn="ctr"/>
                      <a:r>
                        <a:rPr lang="en-US" sz="1200" b="0" u="none" strike="noStrike" dirty="0">
                          <a:solidFill>
                            <a:schemeClr val="tx1"/>
                          </a:solidFill>
                          <a:effectLst/>
                          <a:latin typeface="+mn-lt"/>
                          <a:cs typeface="Times New Roman" panose="02020603050405020304" pitchFamily="18" charset="0"/>
                        </a:rPr>
                        <a:t>Induct 04/11</a:t>
                      </a:r>
                    </a:p>
                  </a:txBody>
                  <a:tcPr marL="12700" marR="12700" marT="12700" marB="0" anchor="ctr"/>
                </a:tc>
                <a:tc>
                  <a:txBody>
                    <a:bodyPr/>
                    <a:lstStyle/>
                    <a:p>
                      <a:pPr algn="ctr" fontAlgn="ctr"/>
                      <a:r>
                        <a:rPr lang="en-US" sz="1200" b="1" i="0" u="none" strike="noStrike" dirty="0">
                          <a:solidFill>
                            <a:schemeClr val="tx1"/>
                          </a:solidFill>
                          <a:effectLst/>
                          <a:latin typeface="+mn-lt"/>
                          <a:cs typeface="Times New Roman" panose="02020603050405020304" pitchFamily="18" charset="0"/>
                        </a:rPr>
                        <a:t>28/Feb/25</a:t>
                      </a:r>
                    </a:p>
                  </a:txBody>
                  <a:tcPr marL="12700" marR="12700" marT="12700" marB="0" anchor="ctr"/>
                </a:tc>
                <a:tc>
                  <a:txBody>
                    <a:bodyPr/>
                    <a:lstStyle/>
                    <a:p>
                      <a:pPr algn="ctr" fontAlgn="ctr"/>
                      <a:endParaRPr lang="en-US" sz="1200" b="0" i="0" u="none" strike="noStrike" dirty="0">
                        <a:solidFill>
                          <a:srgbClr val="008ECC"/>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rgbClr val="008ECC"/>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80115374"/>
                  </a:ext>
                </a:extLst>
              </a:tr>
              <a:tr h="400604">
                <a:tc>
                  <a:txBody>
                    <a:bodyPr/>
                    <a:lstStyle/>
                    <a:p>
                      <a:pPr algn="ctr" fontAlgn="ctr"/>
                      <a:r>
                        <a:rPr lang="en-US" sz="1200" b="0" i="0" u="none" strike="noStrike" dirty="0">
                          <a:solidFill>
                            <a:schemeClr val="tx1"/>
                          </a:solidFill>
                          <a:effectLst/>
                          <a:latin typeface="+mn-lt"/>
                          <a:cs typeface="Times New Roman" panose="02020603050405020304" pitchFamily="18" charset="0"/>
                        </a:rPr>
                        <a:t>956947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13/11/2024</a:t>
                      </a:r>
                    </a:p>
                  </a:txBody>
                  <a:tcPr marL="12700" marR="12700" marT="12700" marB="0" anchor="ctr"/>
                </a:tc>
                <a:tc>
                  <a:txBody>
                    <a:bodyPr/>
                    <a:lstStyle/>
                    <a:p>
                      <a:pPr algn="ctr" fontAlgn="ctr"/>
                      <a:r>
                        <a:rPr lang="en-US" sz="1200" b="0" u="none" strike="noStrike" dirty="0">
                          <a:solidFill>
                            <a:srgbClr val="BF0000"/>
                          </a:solidFill>
                          <a:effectLst/>
                          <a:latin typeface="+mn-lt"/>
                          <a:cs typeface="Times New Roman" panose="02020603050405020304" pitchFamily="18" charset="0"/>
                        </a:rPr>
                        <a:t>Induct 04/Mar        </a:t>
                      </a:r>
                    </a:p>
                    <a:p>
                      <a:pPr algn="ctr" fontAlgn="ctr"/>
                      <a:r>
                        <a:rPr lang="en-US" sz="1200" b="0" u="none" strike="noStrike" dirty="0">
                          <a:solidFill>
                            <a:srgbClr val="BF0000"/>
                          </a:solidFill>
                          <a:effectLst/>
                          <a:latin typeface="+mn-lt"/>
                          <a:cs typeface="Times New Roman" panose="02020603050405020304" pitchFamily="18" charset="0"/>
                        </a:rPr>
                        <a:t>(KH </a:t>
                      </a:r>
                      <a:r>
                        <a:rPr lang="en-US" sz="1200" b="0" u="none" strike="noStrike" dirty="0" err="1">
                          <a:solidFill>
                            <a:srgbClr val="BF0000"/>
                          </a:solidFill>
                          <a:effectLst/>
                          <a:latin typeface="+mn-lt"/>
                          <a:cs typeface="Times New Roman" panose="02020603050405020304" pitchFamily="18" charset="0"/>
                        </a:rPr>
                        <a:t>cũ</a:t>
                      </a:r>
                      <a:r>
                        <a:rPr lang="en-US" sz="1200" b="0" u="none" strike="noStrike" dirty="0">
                          <a:solidFill>
                            <a:srgbClr val="BF0000"/>
                          </a:solidFill>
                          <a:effectLst/>
                          <a:latin typeface="+mn-lt"/>
                          <a:cs typeface="Times New Roman" panose="02020603050405020304" pitchFamily="18" charset="0"/>
                        </a:rPr>
                        <a:t> 16/12)</a:t>
                      </a:r>
                    </a:p>
                  </a:txBody>
                  <a:tcPr marL="12700" marR="12700" marT="12700" marB="0" anchor="ctr"/>
                </a:tc>
                <a:tc>
                  <a:txBody>
                    <a:bodyPr/>
                    <a:lstStyle/>
                    <a:p>
                      <a:pPr algn="ctr" fontAlgn="ctr"/>
                      <a:r>
                        <a:rPr lang="en-US" sz="1200" b="0" i="0" u="none" strike="noStrike" dirty="0">
                          <a:solidFill>
                            <a:srgbClr val="BF0000"/>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90409908"/>
                  </a:ext>
                </a:extLst>
              </a:tr>
              <a:tr h="400604">
                <a:tc>
                  <a:txBody>
                    <a:bodyPr/>
                    <a:lstStyle/>
                    <a:p>
                      <a:pPr algn="ctr" fontAlgn="ctr"/>
                      <a:r>
                        <a:rPr lang="en-US" sz="1200" b="0" i="0" u="none" strike="noStrike" dirty="0">
                          <a:solidFill>
                            <a:schemeClr val="tx1"/>
                          </a:solidFill>
                          <a:effectLst/>
                          <a:latin typeface="+mn-lt"/>
                          <a:cs typeface="Times New Roman" panose="02020603050405020304" pitchFamily="18" charset="0"/>
                        </a:rPr>
                        <a:t>956534</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15/12/2024</a:t>
                      </a:r>
                    </a:p>
                  </a:txBody>
                  <a:tcPr marL="12700" marR="12700" marT="12700" marB="0" anchor="ctr"/>
                </a:tc>
                <a:tc>
                  <a:txBody>
                    <a:bodyPr/>
                    <a:lstStyle/>
                    <a:p>
                      <a:pPr algn="ctr" fontAlgn="ctr"/>
                      <a:r>
                        <a:rPr lang="en-US" sz="1200" b="0" u="none" strike="noStrike" dirty="0">
                          <a:solidFill>
                            <a:srgbClr val="ED0000"/>
                          </a:solidFill>
                          <a:effectLst/>
                          <a:latin typeface="+mn-lt"/>
                          <a:cs typeface="Times New Roman" panose="02020603050405020304" pitchFamily="18" charset="0"/>
                        </a:rPr>
                        <a:t>TBD</a:t>
                      </a:r>
                      <a:br>
                        <a:rPr lang="en-US" sz="1200" b="0" u="none" strike="noStrike" dirty="0">
                          <a:solidFill>
                            <a:srgbClr val="ED0000"/>
                          </a:solidFill>
                          <a:effectLst/>
                          <a:latin typeface="+mn-lt"/>
                          <a:cs typeface="Times New Roman" panose="02020603050405020304" pitchFamily="18" charset="0"/>
                        </a:rPr>
                      </a:br>
                      <a:r>
                        <a:rPr lang="en-US" sz="1200" b="0" u="none" strike="noStrike" dirty="0">
                          <a:solidFill>
                            <a:srgbClr val="ED0000"/>
                          </a:solidFill>
                          <a:effectLst/>
                          <a:latin typeface="+mn-lt"/>
                          <a:cs typeface="Times New Roman" panose="02020603050405020304" pitchFamily="18" charset="0"/>
                        </a:rPr>
                        <a:t>Induction TBD</a:t>
                      </a:r>
                    </a:p>
                  </a:txBody>
                  <a:tcPr marL="12700" marR="12700" marT="12700" marB="0" anchor="ctr"/>
                </a:tc>
                <a:tc>
                  <a:txBody>
                    <a:bodyPr/>
                    <a:lstStyle/>
                    <a:p>
                      <a:pPr algn="ctr" fontAlgn="ctr"/>
                      <a:r>
                        <a:rPr lang="en-US" sz="1200" b="0" i="0" u="none" strike="noStrike" dirty="0">
                          <a:solidFill>
                            <a:srgbClr val="ED0000"/>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64472465"/>
                  </a:ext>
                </a:extLst>
              </a:tr>
              <a:tr h="470767">
                <a:tc>
                  <a:txBody>
                    <a:bodyPr/>
                    <a:lstStyle/>
                    <a:p>
                      <a:pPr algn="ctr" fontAlgn="ctr"/>
                      <a:r>
                        <a:rPr lang="en-US" sz="1200" b="0" i="0" u="none" strike="noStrike" dirty="0">
                          <a:solidFill>
                            <a:schemeClr val="tx1"/>
                          </a:solidFill>
                          <a:effectLst/>
                          <a:latin typeface="+mn-lt"/>
                          <a:cs typeface="Times New Roman" panose="02020603050405020304" pitchFamily="18" charset="0"/>
                        </a:rPr>
                        <a:t>958541</a:t>
                      </a:r>
                    </a:p>
                  </a:txBody>
                  <a:tcPr marL="12700" marR="12700" marT="1270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 CAL</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mn-lt"/>
                          <a:cs typeface="Times New Roman" panose="02020603050405020304" pitchFamily="18" charset="0"/>
                        </a:rPr>
                        <a:t>15/09/2024</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1" u="none" strike="noStrike" dirty="0">
                          <a:solidFill>
                            <a:srgbClr val="006C00"/>
                          </a:solidFill>
                          <a:effectLst/>
                          <a:latin typeface="+mn-lt"/>
                          <a:cs typeface="Times New Roman" panose="02020603050405020304" pitchFamily="18" charset="0"/>
                        </a:rPr>
                        <a:t>31/12/2024</a:t>
                      </a:r>
                    </a:p>
                    <a:p>
                      <a:pPr algn="ctr" fontAlgn="ctr"/>
                      <a:r>
                        <a:rPr lang="en-US" sz="1200" b="1" u="none" strike="noStrike" dirty="0">
                          <a:solidFill>
                            <a:srgbClr val="006C00"/>
                          </a:solidFill>
                          <a:effectLst/>
                          <a:latin typeface="+mn-lt"/>
                          <a:cs typeface="Times New Roman" panose="02020603050405020304" pitchFamily="18" charset="0"/>
                        </a:rPr>
                        <a:t>Induct 02/10/2024</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1" i="0" u="none" strike="noStrike" dirty="0">
                          <a:solidFill>
                            <a:srgbClr val="006C00"/>
                          </a:solidFill>
                          <a:effectLst/>
                          <a:latin typeface="+mn-lt"/>
                          <a:cs typeface="Times New Roman" panose="02020603050405020304" pitchFamily="18" charset="0"/>
                        </a:rPr>
                        <a:t>12/01/2025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rgbClr val="FF0000"/>
                        </a:solidFill>
                        <a:effectLst/>
                        <a:latin typeface="+mn-lt"/>
                        <a:cs typeface="Times New Roman" panose="02020603050405020304" pitchFamily="18" charset="0"/>
                      </a:endParaRP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rgbClr val="FF000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9697906"/>
                  </a:ext>
                </a:extLst>
              </a:tr>
            </a:tbl>
          </a:graphicData>
        </a:graphic>
      </p:graphicFrame>
      <p:sp>
        <p:nvSpPr>
          <p:cNvPr id="7" name="TextBox 6">
            <a:extLst>
              <a:ext uri="{FF2B5EF4-FFF2-40B4-BE49-F238E27FC236}">
                <a16:creationId xmlns:a16="http://schemas.microsoft.com/office/drawing/2014/main" id="{1D51DD3A-A3BC-37D8-A7BC-C2D1AAF32241}"/>
              </a:ext>
            </a:extLst>
          </p:cNvPr>
          <p:cNvSpPr txBox="1"/>
          <p:nvPr/>
        </p:nvSpPr>
        <p:spPr>
          <a:xfrm>
            <a:off x="-80108" y="-47303"/>
            <a:ext cx="14875495"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vi-VN"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KHẢ NĂNG CUNG ỨNG ĐỘNG CƠ </a:t>
            </a: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ĐỘI BAY B787</a:t>
            </a:r>
            <a:endParaRPr kumimoji="0" lang="vi-VN"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42026542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1B87A-D677-E2CD-D388-4756C0FD6622}"/>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3" name="Slide Number Placeholder 3">
            <a:extLst>
              <a:ext uri="{FF2B5EF4-FFF2-40B4-BE49-F238E27FC236}">
                <a16:creationId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600" b="0" i="0" u="none" strike="noStrike" kern="1200" cap="none" spc="0" normalizeH="0" baseline="0" noProof="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6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id="{EF695E52-C896-9BB0-D877-6900CC294C68}"/>
              </a:ext>
            </a:extLst>
          </p:cNvPr>
          <p:cNvSpPr txBox="1"/>
          <p:nvPr/>
        </p:nvSpPr>
        <p:spPr>
          <a:xfrm>
            <a:off x="59590" y="0"/>
            <a:ext cx="14875495"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A350</a:t>
            </a:r>
            <a:endParaRPr kumimoji="0" lang="vi-VN"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5" name="Table 4">
            <a:extLst>
              <a:ext uri="{FF2B5EF4-FFF2-40B4-BE49-F238E27FC236}">
                <a16:creationId xmlns:a16="http://schemas.microsoft.com/office/drawing/2014/main" id="{9BAFF210-6A48-BE4D-D3F6-9B8EEEA5040F}"/>
              </a:ext>
            </a:extLst>
          </p:cNvPr>
          <p:cNvGraphicFramePr>
            <a:graphicFrameLocks noGrp="1"/>
          </p:cNvGraphicFramePr>
          <p:nvPr/>
        </p:nvGraphicFramePr>
        <p:xfrm>
          <a:off x="59590" y="875396"/>
          <a:ext cx="5905159" cy="3230880"/>
        </p:xfrm>
        <a:graphic>
          <a:graphicData uri="http://schemas.openxmlformats.org/drawingml/2006/table">
            <a:tbl>
              <a:tblPr firstRow="1" bandRow="1">
                <a:tableStyleId>{5C22544A-7EE6-4342-B048-85BDC9FD1C3A}</a:tableStyleId>
              </a:tblPr>
              <a:tblGrid>
                <a:gridCol w="1042345">
                  <a:extLst>
                    <a:ext uri="{9D8B030D-6E8A-4147-A177-3AD203B41FA5}">
                      <a16:colId xmlns:a16="http://schemas.microsoft.com/office/drawing/2014/main" val="1930757539"/>
                    </a:ext>
                  </a:extLst>
                </a:gridCol>
                <a:gridCol w="1565065">
                  <a:extLst>
                    <a:ext uri="{9D8B030D-6E8A-4147-A177-3AD203B41FA5}">
                      <a16:colId xmlns:a16="http://schemas.microsoft.com/office/drawing/2014/main" val="1674463010"/>
                    </a:ext>
                  </a:extLst>
                </a:gridCol>
                <a:gridCol w="1334759">
                  <a:extLst>
                    <a:ext uri="{9D8B030D-6E8A-4147-A177-3AD203B41FA5}">
                      <a16:colId xmlns:a16="http://schemas.microsoft.com/office/drawing/2014/main" val="1549944897"/>
                    </a:ext>
                  </a:extLst>
                </a:gridCol>
                <a:gridCol w="942235">
                  <a:extLst>
                    <a:ext uri="{9D8B030D-6E8A-4147-A177-3AD203B41FA5}">
                      <a16:colId xmlns:a16="http://schemas.microsoft.com/office/drawing/2014/main" val="3687717734"/>
                    </a:ext>
                  </a:extLst>
                </a:gridCol>
                <a:gridCol w="1020755">
                  <a:extLst>
                    <a:ext uri="{9D8B030D-6E8A-4147-A177-3AD203B41FA5}">
                      <a16:colId xmlns:a16="http://schemas.microsoft.com/office/drawing/2014/main" val="4100307886"/>
                    </a:ext>
                  </a:extLst>
                </a:gridCol>
              </a:tblGrid>
              <a:tr h="164309">
                <a:tc>
                  <a:txBody>
                    <a:bodyPr/>
                    <a:lstStyle/>
                    <a:p>
                      <a:r>
                        <a:rPr lang="en-US" sz="1200">
                          <a:latin typeface="Times New Roman" panose="02020603050405020304" pitchFamily="18" charset="0"/>
                          <a:cs typeface="Times New Roman" panose="02020603050405020304" pitchFamily="18" charset="0"/>
                        </a:rPr>
                        <a:t>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Status</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sửa</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err="1">
                          <a:latin typeface="Times New Roman" panose="02020603050405020304" pitchFamily="18" charset="0"/>
                          <a:cs typeface="Times New Roman" panose="02020603050405020304" pitchFamily="18" charset="0"/>
                        </a:rPr>
                        <a:t>Ngày</a:t>
                      </a:r>
                      <a:r>
                        <a:rPr lang="en-US" sz="1200">
                          <a:latin typeface="Times New Roman" panose="02020603050405020304" pitchFamily="18" charset="0"/>
                          <a:cs typeface="Times New Roman" panose="02020603050405020304" pitchFamily="18" charset="0"/>
                        </a:rPr>
                        <a:t> xong</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0">
                <a:tc>
                  <a:txBody>
                    <a:bodyPr/>
                    <a:lstStyle/>
                    <a:p>
                      <a:r>
                        <a:rPr lang="en-US" sz="1200" b="1" dirty="0">
                          <a:latin typeface="Times New Roman" panose="02020603050405020304" pitchFamily="18" charset="0"/>
                          <a:cs typeface="Times New Roman" panose="02020603050405020304" pitchFamily="18" charset="0"/>
                        </a:rPr>
                        <a:t>21047</a:t>
                      </a: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N3 </a:t>
                      </a:r>
                      <a:r>
                        <a:rPr lang="en-GB" sz="1200" dirty="0">
                          <a:latin typeface="Times New Roman" panose="02020603050405020304" pitchFamily="18" charset="0"/>
                          <a:cs typeface="Times New Roman" panose="02020603050405020304" pitchFamily="18" charset="0"/>
                        </a:rPr>
                        <a:t>– 2RF</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14/08/24</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02/03/</a:t>
                      </a:r>
                      <a:r>
                        <a:rPr lang="vi-VN" sz="1200" b="0" dirty="0">
                          <a:solidFill>
                            <a:schemeClr val="tx1"/>
                          </a:solidFill>
                          <a:latin typeface="Times New Roman" panose="02020603050405020304" pitchFamily="18" charset="0"/>
                          <a:cs typeface="Times New Roman" panose="02020603050405020304" pitchFamily="18" charset="0"/>
                        </a:rPr>
                        <a:t>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12/03/</a:t>
                      </a:r>
                      <a:r>
                        <a:rPr lang="vi-VN" sz="1200" b="0" dirty="0">
                          <a:solidFill>
                            <a:schemeClr val="tx1"/>
                          </a:solidFill>
                          <a:latin typeface="Times New Roman" panose="02020603050405020304" pitchFamily="18" charset="0"/>
                          <a:cs typeface="Times New Roman" panose="02020603050405020304" pitchFamily="18" charset="0"/>
                        </a:rPr>
                        <a:t>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082573017"/>
                  </a:ext>
                </a:extLst>
              </a:tr>
              <a:tr h="0">
                <a:tc>
                  <a:txBody>
                    <a:bodyPr/>
                    <a:lstStyle/>
                    <a:p>
                      <a:r>
                        <a:rPr lang="en-US" sz="1200" b="1">
                          <a:latin typeface="Times New Roman" panose="02020603050405020304" pitchFamily="18" charset="0"/>
                          <a:cs typeface="Times New Roman" panose="02020603050405020304" pitchFamily="18" charset="0"/>
                        </a:rPr>
                        <a:t>21043</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N3 </a:t>
                      </a:r>
                      <a:r>
                        <a:rPr lang="en-US" sz="1200" dirty="0">
                          <a:latin typeface="Times New Roman" panose="02020603050405020304" pitchFamily="18" charset="0"/>
                          <a:cs typeface="Times New Roman" panose="02020603050405020304" pitchFamily="18" charset="0"/>
                        </a:rPr>
                        <a:t>– 2RF</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14/11/24</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02/06/25</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10/06/25</a:t>
                      </a:r>
                    </a:p>
                  </a:txBody>
                  <a:tcPr marL="121920" marR="121920" marT="60960" marB="60960" anchor="ctr"/>
                </a:tc>
                <a:extLst>
                  <a:ext uri="{0D108BD9-81ED-4DB2-BD59-A6C34878D82A}">
                    <a16:rowId xmlns:a16="http://schemas.microsoft.com/office/drawing/2014/main" val="83465224"/>
                  </a:ext>
                </a:extLst>
              </a:tr>
              <a:tr h="164309">
                <a:tc>
                  <a:txBody>
                    <a:bodyPr/>
                    <a:lstStyle/>
                    <a:p>
                      <a:r>
                        <a:rPr lang="en-US" sz="1200" b="1" dirty="0">
                          <a:latin typeface="Times New Roman" panose="02020603050405020304" pitchFamily="18" charset="0"/>
                          <a:cs typeface="Times New Roman" panose="02020603050405020304" pitchFamily="18" charset="0"/>
                        </a:rPr>
                        <a:t>21316</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 </a:t>
                      </a:r>
                      <a:r>
                        <a:rPr lang="en-US" sz="1200" dirty="0">
                          <a:latin typeface="Times New Roman" panose="02020603050405020304" pitchFamily="18" charset="0"/>
                          <a:cs typeface="Times New Roman" panose="02020603050405020304" pitchFamily="18" charset="0"/>
                        </a:rPr>
                        <a:t>– QT</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20/11/24</a:t>
                      </a:r>
                    </a:p>
                  </a:txBody>
                  <a:tcPr marL="121920" marR="121920" marT="60960" marB="60960" anchor="ctr"/>
                </a:tc>
                <a:tc>
                  <a:txBody>
                    <a:bodyPr/>
                    <a:lstStyle/>
                    <a:p>
                      <a:r>
                        <a:rPr lang="en-US" sz="1200" b="1">
                          <a:solidFill>
                            <a:srgbClr val="FF0000"/>
                          </a:solidFill>
                          <a:latin typeface="Times New Roman" panose="02020603050405020304" pitchFamily="18" charset="0"/>
                          <a:cs typeface="Times New Roman" panose="02020603050405020304" pitchFamily="18" charset="0"/>
                        </a:rPr>
                        <a:t>11/01/25</a:t>
                      </a:r>
                      <a:endParaRPr lang="en-US" sz="1200" b="1" dirty="0">
                        <a:solidFill>
                          <a:srgbClr val="FF0000"/>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1">
                          <a:solidFill>
                            <a:srgbClr val="FF0000"/>
                          </a:solidFill>
                          <a:latin typeface="Times New Roman" panose="02020603050405020304" pitchFamily="18" charset="0"/>
                          <a:cs typeface="Times New Roman" panose="02020603050405020304" pitchFamily="18" charset="0"/>
                        </a:rPr>
                        <a:t>23/02/25</a:t>
                      </a:r>
                      <a:endParaRPr lang="en-US" sz="1200" b="1" dirty="0">
                        <a:solidFill>
                          <a:srgbClr val="FF0000"/>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218884716"/>
                  </a:ext>
                </a:extLst>
              </a:tr>
              <a:tr h="0">
                <a:tc>
                  <a:txBody>
                    <a:bodyPr/>
                    <a:lstStyle/>
                    <a:p>
                      <a:r>
                        <a:rPr lang="en-US" sz="1200" b="1">
                          <a:latin typeface="Times New Roman" panose="02020603050405020304" pitchFamily="18" charset="0"/>
                          <a:cs typeface="Times New Roman" panose="02020603050405020304" pitchFamily="18" charset="0"/>
                        </a:rPr>
                        <a:t>21137</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N3 – 2RF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12/12/24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20/06/25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30/06/25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733553736"/>
                  </a:ext>
                </a:extLst>
              </a:tr>
              <a:tr h="164309">
                <a:tc>
                  <a:txBody>
                    <a:bodyPr/>
                    <a:lstStyle/>
                    <a:p>
                      <a:r>
                        <a:rPr lang="en-US" sz="1200" b="1">
                          <a:latin typeface="Times New Roman" panose="02020603050405020304" pitchFamily="18" charset="0"/>
                          <a:cs typeface="Times New Roman" panose="02020603050405020304" pitchFamily="18" charset="0"/>
                        </a:rPr>
                        <a:t>21422</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1RF – HAESL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21/12/24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algn="l" defTabSz="914400" rtl="0" eaLnBrk="1" latinLnBrk="0" hangingPunct="1"/>
                      <a:r>
                        <a:rPr lang="en-US" sz="1200" b="0" kern="1200">
                          <a:solidFill>
                            <a:schemeClr val="tx1"/>
                          </a:solidFill>
                          <a:latin typeface="Times New Roman" panose="02020603050405020304" pitchFamily="18" charset="0"/>
                          <a:ea typeface="+mn-ea"/>
                          <a:cs typeface="Times New Roman" panose="02020603050405020304" pitchFamily="18" charset="0"/>
                        </a:rPr>
                        <a:t>30/03/25</a:t>
                      </a:r>
                      <a:endParaRPr lang="en-US" sz="1200" b="0"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tc>
                <a:tc>
                  <a:txBody>
                    <a:bodyPr/>
                    <a:lstStyle/>
                    <a:p>
                      <a:pPr marL="0" algn="l" defTabSz="914400" rtl="0" eaLnBrk="1" latinLnBrk="0" hangingPunct="1"/>
                      <a:r>
                        <a:rPr lang="en-US" sz="1200" b="0" kern="1200">
                          <a:solidFill>
                            <a:schemeClr val="tx1"/>
                          </a:solidFill>
                          <a:latin typeface="Times New Roman" panose="02020603050405020304" pitchFamily="18" charset="0"/>
                          <a:ea typeface="+mn-ea"/>
                          <a:cs typeface="Times New Roman" panose="02020603050405020304" pitchFamily="18" charset="0"/>
                        </a:rPr>
                        <a:t>10/04/25</a:t>
                      </a:r>
                      <a:endParaRPr lang="en-US" sz="1200" b="0"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tc>
                <a:extLst>
                  <a:ext uri="{0D108BD9-81ED-4DB2-BD59-A6C34878D82A}">
                    <a16:rowId xmlns:a16="http://schemas.microsoft.com/office/drawing/2014/main" val="875011403"/>
                  </a:ext>
                </a:extLst>
              </a:tr>
              <a:tr h="164309">
                <a:tc>
                  <a:txBody>
                    <a:bodyPr/>
                    <a:lstStyle/>
                    <a:p>
                      <a:r>
                        <a:rPr lang="en-US" sz="1200" b="1">
                          <a:latin typeface="Times New Roman" panose="02020603050405020304" pitchFamily="18" charset="0"/>
                          <a:cs typeface="Times New Roman" panose="02020603050405020304" pitchFamily="18" charset="0"/>
                        </a:rPr>
                        <a:t>21201</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 – 2RF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28/12/24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29/04/25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17/04/25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727372545"/>
                  </a:ext>
                </a:extLst>
              </a:tr>
              <a:tr h="164309">
                <a:tc>
                  <a:txBody>
                    <a:bodyPr/>
                    <a:lstStyle/>
                    <a:p>
                      <a:r>
                        <a:rPr lang="en-US" sz="1200" b="1">
                          <a:latin typeface="Times New Roman" panose="02020603050405020304" pitchFamily="18" charset="0"/>
                          <a:cs typeface="Times New Roman" panose="02020603050405020304" pitchFamily="18" charset="0"/>
                        </a:rPr>
                        <a:t>21584</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SAESL – 1RF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23/01/25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23/05/25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02/06/25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29074625"/>
                  </a:ext>
                </a:extLst>
              </a:tr>
              <a:tr h="164309">
                <a:tc>
                  <a:txBody>
                    <a:bodyPr/>
                    <a:lstStyle/>
                    <a:p>
                      <a:r>
                        <a:rPr lang="en-US" sz="1200" b="1">
                          <a:latin typeface="Times New Roman" panose="02020603050405020304" pitchFamily="18" charset="0"/>
                          <a:cs typeface="Times New Roman" panose="02020603050405020304" pitchFamily="18" charset="0"/>
                        </a:rPr>
                        <a:t>21269</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 – QT</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27/01/25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13/04/25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23/04/25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733130508"/>
                  </a:ext>
                </a:extLst>
              </a:tr>
              <a:tr h="164309">
                <a:tc>
                  <a:txBody>
                    <a:bodyPr/>
                    <a:lstStyle/>
                    <a:p>
                      <a:r>
                        <a:rPr lang="en-US" sz="1200" b="1">
                          <a:latin typeface="Times New Roman" panose="02020603050405020304" pitchFamily="18" charset="0"/>
                          <a:cs typeface="Times New Roman" panose="02020603050405020304" pitchFamily="18" charset="0"/>
                        </a:rPr>
                        <a:t>21040</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HAESL-2RF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07/02/25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07/06/25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17/06/25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135666374"/>
                  </a:ext>
                </a:extLst>
              </a:tr>
            </a:tbl>
          </a:graphicData>
        </a:graphic>
      </p:graphicFrame>
      <p:graphicFrame>
        <p:nvGraphicFramePr>
          <p:cNvPr id="6" name="Table 5">
            <a:extLst>
              <a:ext uri="{FF2B5EF4-FFF2-40B4-BE49-F238E27FC236}">
                <a16:creationId xmlns:a16="http://schemas.microsoft.com/office/drawing/2014/main" id="{7BFB9EC9-2DB3-4DC1-4221-D1E337486ABA}"/>
              </a:ext>
            </a:extLst>
          </p:cNvPr>
          <p:cNvGraphicFramePr>
            <a:graphicFrameLocks noGrp="1"/>
          </p:cNvGraphicFramePr>
          <p:nvPr/>
        </p:nvGraphicFramePr>
        <p:xfrm>
          <a:off x="86463" y="4685550"/>
          <a:ext cx="5867400" cy="2133600"/>
        </p:xfrm>
        <a:graphic>
          <a:graphicData uri="http://schemas.openxmlformats.org/drawingml/2006/table">
            <a:tbl>
              <a:tblPr firstRow="1" bandRow="1">
                <a:tableStyleId>{21E4AEA4-8DFA-4A89-87EB-49C32662AFE0}</a:tableStyleId>
              </a:tblPr>
              <a:tblGrid>
                <a:gridCol w="979469">
                  <a:extLst>
                    <a:ext uri="{9D8B030D-6E8A-4147-A177-3AD203B41FA5}">
                      <a16:colId xmlns:a16="http://schemas.microsoft.com/office/drawing/2014/main" val="1930757539"/>
                    </a:ext>
                  </a:extLst>
                </a:gridCol>
                <a:gridCol w="1042096">
                  <a:extLst>
                    <a:ext uri="{9D8B030D-6E8A-4147-A177-3AD203B41FA5}">
                      <a16:colId xmlns:a16="http://schemas.microsoft.com/office/drawing/2014/main" val="1674463010"/>
                    </a:ext>
                  </a:extLst>
                </a:gridCol>
                <a:gridCol w="1823000">
                  <a:extLst>
                    <a:ext uri="{9D8B030D-6E8A-4147-A177-3AD203B41FA5}">
                      <a16:colId xmlns:a16="http://schemas.microsoft.com/office/drawing/2014/main" val="1549944897"/>
                    </a:ext>
                  </a:extLst>
                </a:gridCol>
                <a:gridCol w="2022835">
                  <a:extLst>
                    <a:ext uri="{9D8B030D-6E8A-4147-A177-3AD203B41FA5}">
                      <a16:colId xmlns:a16="http://schemas.microsoft.com/office/drawing/2014/main" val="3366431274"/>
                    </a:ext>
                  </a:extLst>
                </a:gridCol>
              </a:tblGrid>
              <a:tr h="238699">
                <a:tc>
                  <a:txBody>
                    <a:bodyPr/>
                    <a:lstStyle/>
                    <a:p>
                      <a:r>
                        <a:rPr lang="en-US" sz="1200">
                          <a:latin typeface="Times New Roman" panose="02020603050405020304" pitchFamily="18" charset="0"/>
                          <a:cs typeface="Times New Roman" panose="02020603050405020304" pitchFamily="18" charset="0"/>
                        </a:rPr>
                        <a:t>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Status</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sửa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Remark</a:t>
                      </a:r>
                    </a:p>
                  </a:txBody>
                  <a:tcPr marL="121920" marR="121920" marT="60960" marB="60960" anchor="ctr"/>
                </a:tc>
                <a:extLst>
                  <a:ext uri="{0D108BD9-81ED-4DB2-BD59-A6C34878D82A}">
                    <a16:rowId xmlns:a16="http://schemas.microsoft.com/office/drawing/2014/main" val="1532058823"/>
                  </a:ext>
                </a:extLst>
              </a:tr>
              <a:tr h="238699">
                <a:tc>
                  <a:txBody>
                    <a:bodyPr/>
                    <a:lstStyle/>
                    <a:p>
                      <a:r>
                        <a:rPr lang="en-GB" sz="1200" b="1" dirty="0">
                          <a:latin typeface="Times New Roman" panose="02020603050405020304" pitchFamily="18" charset="0"/>
                          <a:cs typeface="Times New Roman" panose="02020603050405020304" pitchFamily="18" charset="0"/>
                        </a:rPr>
                        <a:t>21035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Times New Roman" panose="02020603050405020304" pitchFamily="18" charset="0"/>
                          <a:cs typeface="Times New Roman" panose="02020603050405020304" pitchFamily="18" charset="0"/>
                        </a:rPr>
                        <a:t>A887</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Tàu BQDB</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tc>
                <a:extLst>
                  <a:ext uri="{0D108BD9-81ED-4DB2-BD59-A6C34878D82A}">
                    <a16:rowId xmlns:a16="http://schemas.microsoft.com/office/drawing/2014/main" val="4282079846"/>
                  </a:ext>
                </a:extLst>
              </a:tr>
              <a:tr h="247506">
                <a:tc>
                  <a:txBody>
                    <a:bodyPr/>
                    <a:lstStyle/>
                    <a:p>
                      <a:r>
                        <a:rPr lang="en-GB" sz="1200" b="1" dirty="0">
                          <a:latin typeface="Times New Roman" panose="02020603050405020304" pitchFamily="18" charset="0"/>
                          <a:cs typeface="Times New Roman" panose="02020603050405020304" pitchFamily="18" charset="0"/>
                        </a:rPr>
                        <a:t>21268</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A898</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2025</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BQDB</a:t>
                      </a:r>
                    </a:p>
                  </a:txBody>
                  <a:tcPr marL="121920" marR="121920" marT="60960" marB="60960" anchor="ctr"/>
                </a:tc>
                <a:extLst>
                  <a:ext uri="{0D108BD9-81ED-4DB2-BD59-A6C34878D82A}">
                    <a16:rowId xmlns:a16="http://schemas.microsoft.com/office/drawing/2014/main" val="4177050543"/>
                  </a:ext>
                </a:extLst>
              </a:tr>
              <a:tr h="238699">
                <a:tc>
                  <a:txBody>
                    <a:bodyPr/>
                    <a:lstStyle/>
                    <a:p>
                      <a:r>
                        <a:rPr lang="en-GB" sz="1200" b="1" dirty="0">
                          <a:latin typeface="Times New Roman" panose="02020603050405020304" pitchFamily="18" charset="0"/>
                          <a:cs typeface="Times New Roman" panose="02020603050405020304" pitchFamily="18" charset="0"/>
                        </a:rPr>
                        <a:t>21136</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A898</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2025</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BQDB</a:t>
                      </a:r>
                    </a:p>
                  </a:txBody>
                  <a:tcPr marL="121920" marR="121920" marT="60960" marB="60960" anchor="ctr"/>
                </a:tc>
                <a:extLst>
                  <a:ext uri="{0D108BD9-81ED-4DB2-BD59-A6C34878D82A}">
                    <a16:rowId xmlns:a16="http://schemas.microsoft.com/office/drawing/2014/main" val="4001673644"/>
                  </a:ext>
                </a:extLst>
              </a:tr>
              <a:tr h="238699">
                <a:tc>
                  <a:txBody>
                    <a:bodyPr/>
                    <a:lstStyle/>
                    <a:p>
                      <a:r>
                        <a:rPr lang="en-GB" sz="1200" b="1" dirty="0">
                          <a:latin typeface="Times New Roman" panose="02020603050405020304" pitchFamily="18" charset="0"/>
                          <a:cs typeface="Times New Roman" panose="02020603050405020304" pitchFamily="18" charset="0"/>
                        </a:rPr>
                        <a:t>21414</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Off-Wing</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T2/25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927641313"/>
                  </a:ext>
                </a:extLst>
              </a:tr>
              <a:tr h="238699">
                <a:tc>
                  <a:txBody>
                    <a:bodyPr/>
                    <a:lstStyle/>
                    <a:p>
                      <a:r>
                        <a:rPr lang="en-GB" sz="1200" b="1" dirty="0">
                          <a:latin typeface="Times New Roman" panose="02020603050405020304" pitchFamily="18" charset="0"/>
                          <a:cs typeface="Times New Roman" panose="02020603050405020304" pitchFamily="18" charset="0"/>
                        </a:rPr>
                        <a:t>21604</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Off-Wing</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T3/25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63729012"/>
                  </a:ext>
                </a:extLst>
              </a:tr>
              <a:tr h="238699">
                <a:tc>
                  <a:txBody>
                    <a:bodyPr/>
                    <a:lstStyle/>
                    <a:p>
                      <a:r>
                        <a:rPr lang="en-GB" sz="1200" b="1">
                          <a:latin typeface="Times New Roman" panose="02020603050405020304" pitchFamily="18" charset="0"/>
                          <a:cs typeface="Times New Roman" panose="02020603050405020304" pitchFamily="18" charset="0"/>
                        </a:rPr>
                        <a:t>21024</a:t>
                      </a:r>
                      <a:endParaRPr lang="en-GB"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Off-Wing</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T4/25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958768938"/>
                  </a:ext>
                </a:extLst>
              </a:tr>
            </a:tbl>
          </a:graphicData>
        </a:graphic>
      </p:graphicFrame>
      <p:sp>
        <p:nvSpPr>
          <p:cNvPr id="7" name="TextBox 6">
            <a:extLst>
              <a:ext uri="{FF2B5EF4-FFF2-40B4-BE49-F238E27FC236}">
                <a16:creationId xmlns:a16="http://schemas.microsoft.com/office/drawing/2014/main" id="{3665DF89-9C1E-039A-24B3-2AC39417A7A0}"/>
              </a:ext>
            </a:extLst>
          </p:cNvPr>
          <p:cNvSpPr txBox="1"/>
          <p:nvPr/>
        </p:nvSpPr>
        <p:spPr>
          <a:xfrm>
            <a:off x="-486043" y="380920"/>
            <a:ext cx="6705299" cy="420564"/>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Các</a:t>
            </a:r>
            <a:r>
              <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2133" b="1" i="0" u="none" strike="noStrike" kern="1200" cap="none" spc="0" normalizeH="0" baseline="0" noProof="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GB" sz="2133"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 đang trong shop (09 động c</a:t>
            </a:r>
            <a:r>
              <a:rPr kumimoji="0" lang="en-US" sz="2133"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ơ)</a:t>
            </a:r>
            <a:endPar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8" name="TextBox 7">
            <a:extLst>
              <a:ext uri="{FF2B5EF4-FFF2-40B4-BE49-F238E27FC236}">
                <a16:creationId xmlns:a16="http://schemas.microsoft.com/office/drawing/2014/main" id="{19C2447A-358B-03A9-2203-B477C2215D4C}"/>
              </a:ext>
            </a:extLst>
          </p:cNvPr>
          <p:cNvSpPr txBox="1"/>
          <p:nvPr/>
        </p:nvSpPr>
        <p:spPr>
          <a:xfrm>
            <a:off x="422467" y="4180188"/>
            <a:ext cx="5195392" cy="420564"/>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Các</a:t>
            </a:r>
            <a:r>
              <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2133" b="1" i="0" u="none" strike="noStrike" kern="1200" cap="none" spc="0" normalizeH="0" baseline="0" noProof="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GB" sz="2133"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 đến hạn tháo (06 </a:t>
            </a:r>
            <a:r>
              <a:rPr kumimoji="0" lang="en-GB"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p>
        </p:txBody>
      </p:sp>
      <p:sp>
        <p:nvSpPr>
          <p:cNvPr id="10" name="TextBox 9">
            <a:extLst>
              <a:ext uri="{FF2B5EF4-FFF2-40B4-BE49-F238E27FC236}">
                <a16:creationId xmlns:a16="http://schemas.microsoft.com/office/drawing/2014/main" id="{E1A7F173-F863-E486-EAEF-8B51EDF0DABA}"/>
              </a:ext>
            </a:extLst>
          </p:cNvPr>
          <p:cNvSpPr txBox="1"/>
          <p:nvPr/>
        </p:nvSpPr>
        <p:spPr>
          <a:xfrm>
            <a:off x="6495328" y="2727634"/>
            <a:ext cx="5167083" cy="461665"/>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Số tàu AOG</a:t>
            </a:r>
            <a:endPar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1" name="Chart 10">
            <a:extLst>
              <a:ext uri="{FF2B5EF4-FFF2-40B4-BE49-F238E27FC236}">
                <a16:creationId xmlns:a16="http://schemas.microsoft.com/office/drawing/2014/main" id="{39ED28EB-EF54-433B-60B3-87892499A24D}"/>
              </a:ext>
            </a:extLst>
          </p:cNvPr>
          <p:cNvGraphicFramePr/>
          <p:nvPr/>
        </p:nvGraphicFramePr>
        <p:xfrm>
          <a:off x="6274810" y="3133124"/>
          <a:ext cx="5808956" cy="209027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Table 11">
            <a:extLst>
              <a:ext uri="{FF2B5EF4-FFF2-40B4-BE49-F238E27FC236}">
                <a16:creationId xmlns:a16="http://schemas.microsoft.com/office/drawing/2014/main" id="{4BCF0C24-45DA-44DA-8EDA-2C6618ED53DE}"/>
              </a:ext>
            </a:extLst>
          </p:cNvPr>
          <p:cNvGraphicFramePr>
            <a:graphicFrameLocks noGrp="1"/>
          </p:cNvGraphicFramePr>
          <p:nvPr/>
        </p:nvGraphicFramePr>
        <p:xfrm>
          <a:off x="6229534" y="907137"/>
          <a:ext cx="5625452" cy="1706880"/>
        </p:xfrm>
        <a:graphic>
          <a:graphicData uri="http://schemas.openxmlformats.org/drawingml/2006/table">
            <a:tbl>
              <a:tblPr firstRow="1" bandRow="1">
                <a:tableStyleId>{93296810-A885-4BE3-A3E7-6D5BEEA58F35}</a:tableStyleId>
              </a:tblPr>
              <a:tblGrid>
                <a:gridCol w="1004609">
                  <a:extLst>
                    <a:ext uri="{9D8B030D-6E8A-4147-A177-3AD203B41FA5}">
                      <a16:colId xmlns:a16="http://schemas.microsoft.com/office/drawing/2014/main" val="1930757539"/>
                    </a:ext>
                  </a:extLst>
                </a:gridCol>
                <a:gridCol w="4620843">
                  <a:extLst>
                    <a:ext uri="{9D8B030D-6E8A-4147-A177-3AD203B41FA5}">
                      <a16:colId xmlns:a16="http://schemas.microsoft.com/office/drawing/2014/main" val="1674463010"/>
                    </a:ext>
                  </a:extLst>
                </a:gridCol>
              </a:tblGrid>
              <a:tr h="191279">
                <a:tc>
                  <a:txBody>
                    <a:bodyPr/>
                    <a:lstStyle/>
                    <a:p>
                      <a:r>
                        <a:rPr lang="en-US" sz="1200">
                          <a:latin typeface="Times New Roman" panose="02020603050405020304" pitchFamily="18" charset="0"/>
                          <a:cs typeface="Times New Roman" panose="02020603050405020304" pitchFamily="18" charset="0"/>
                        </a:rPr>
                        <a:t>Tàu</a:t>
                      </a: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Tình trạng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191279">
                <a:tc>
                  <a:txBody>
                    <a:bodyPr/>
                    <a:lstStyle/>
                    <a:p>
                      <a:r>
                        <a:rPr lang="en-US" sz="1200">
                          <a:latin typeface="Times New Roman" panose="02020603050405020304" pitchFamily="18" charset="0"/>
                          <a:cs typeface="Times New Roman" panose="02020603050405020304" pitchFamily="18" charset="0"/>
                        </a:rPr>
                        <a:t>A886</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Trống 2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082573017"/>
                  </a:ext>
                </a:extLst>
              </a:tr>
              <a:tr h="306046">
                <a:tc>
                  <a:txBody>
                    <a:bodyPr/>
                    <a:lstStyle/>
                    <a:p>
                      <a:r>
                        <a:rPr lang="en-US" sz="1200">
                          <a:latin typeface="Times New Roman" panose="02020603050405020304" pitchFamily="18" charset="0"/>
                          <a:cs typeface="Times New Roman" panose="02020603050405020304" pitchFamily="18" charset="0"/>
                        </a:rPr>
                        <a:t>A887</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Trống 1 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1 động c</a:t>
                      </a:r>
                      <a:r>
                        <a:rPr lang="vi-VN" sz="1200">
                          <a:latin typeface="Times New Roman" panose="02020603050405020304" pitchFamily="18" charset="0"/>
                          <a:cs typeface="Times New Roman" panose="02020603050405020304" pitchFamily="18" charset="0"/>
                        </a:rPr>
                        <a:t>ơ</a:t>
                      </a:r>
                      <a:r>
                        <a:rPr lang="en-US" sz="1200">
                          <a:latin typeface="Times New Roman" panose="02020603050405020304" pitchFamily="18" charset="0"/>
                          <a:cs typeface="Times New Roman" panose="02020603050405020304" pitchFamily="18" charset="0"/>
                        </a:rPr>
                        <a:t> đến hạn kiểm tra LPT</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3465224"/>
                  </a:ext>
                </a:extLst>
              </a:tr>
              <a:tr h="270381">
                <a:tc>
                  <a:txBody>
                    <a:bodyPr/>
                    <a:lstStyle/>
                    <a:p>
                      <a:r>
                        <a:rPr lang="en-US" sz="1200">
                          <a:latin typeface="Times New Roman" panose="02020603050405020304" pitchFamily="18" charset="0"/>
                          <a:cs typeface="Times New Roman" panose="02020603050405020304" pitchFamily="18" charset="0"/>
                        </a:rPr>
                        <a:t>A895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Trống 2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218884716"/>
                  </a:ext>
                </a:extLst>
              </a:tr>
              <a:tr h="191279">
                <a:tc>
                  <a:txBody>
                    <a:bodyPr/>
                    <a:lstStyle/>
                    <a:p>
                      <a:r>
                        <a:rPr lang="en-US" sz="1200">
                          <a:latin typeface="Times New Roman" panose="02020603050405020304" pitchFamily="18" charset="0"/>
                          <a:cs typeface="Times New Roman" panose="02020603050405020304" pitchFamily="18" charset="0"/>
                        </a:rPr>
                        <a:t>A898</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2 động c</a:t>
                      </a:r>
                      <a:r>
                        <a:rPr lang="vi-VN" sz="1200">
                          <a:latin typeface="Times New Roman" panose="02020603050405020304" pitchFamily="18" charset="0"/>
                          <a:cs typeface="Times New Roman" panose="02020603050405020304" pitchFamily="18" charset="0"/>
                        </a:rPr>
                        <a:t>ơ</a:t>
                      </a:r>
                      <a:r>
                        <a:rPr lang="en-US" sz="1200">
                          <a:latin typeface="Times New Roman" panose="02020603050405020304" pitchFamily="18" charset="0"/>
                          <a:cs typeface="Times New Roman" panose="02020603050405020304" pitchFamily="18" charset="0"/>
                        </a:rPr>
                        <a:t> đến hạn kiểm tra LPT</a:t>
                      </a:r>
                    </a:p>
                  </a:txBody>
                  <a:tcPr marL="121920" marR="121920" marT="60960" marB="60960" anchor="ctr"/>
                </a:tc>
                <a:extLst>
                  <a:ext uri="{0D108BD9-81ED-4DB2-BD59-A6C34878D82A}">
                    <a16:rowId xmlns:a16="http://schemas.microsoft.com/office/drawing/2014/main" val="1733553736"/>
                  </a:ext>
                </a:extLst>
              </a:tr>
            </a:tbl>
          </a:graphicData>
        </a:graphic>
      </p:graphicFrame>
      <p:sp>
        <p:nvSpPr>
          <p:cNvPr id="13" name="TextBox 12">
            <a:extLst>
              <a:ext uri="{FF2B5EF4-FFF2-40B4-BE49-F238E27FC236}">
                <a16:creationId xmlns:a16="http://schemas.microsoft.com/office/drawing/2014/main" id="{90C76007-F5F9-4B91-90BD-15B1D817EC54}"/>
              </a:ext>
            </a:extLst>
          </p:cNvPr>
          <p:cNvSpPr txBox="1"/>
          <p:nvPr/>
        </p:nvSpPr>
        <p:spPr>
          <a:xfrm>
            <a:off x="6014053" y="423991"/>
            <a:ext cx="6705299" cy="420564"/>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Các tàu đang AOG (04 tàu)</a:t>
            </a:r>
            <a:endPar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4" name="Table 13">
            <a:extLst>
              <a:ext uri="{FF2B5EF4-FFF2-40B4-BE49-F238E27FC236}">
                <a16:creationId xmlns:a16="http://schemas.microsoft.com/office/drawing/2014/main" id="{D9F410EA-3499-42B9-9D33-D1C7A580DB12}"/>
              </a:ext>
            </a:extLst>
          </p:cNvPr>
          <p:cNvGraphicFramePr>
            <a:graphicFrameLocks noGrp="1"/>
          </p:cNvGraphicFramePr>
          <p:nvPr/>
        </p:nvGraphicFramePr>
        <p:xfrm>
          <a:off x="6238135" y="5982604"/>
          <a:ext cx="5867401" cy="736241"/>
        </p:xfrm>
        <a:graphic>
          <a:graphicData uri="http://schemas.openxmlformats.org/drawingml/2006/table">
            <a:tbl>
              <a:tblPr firstRow="1" bandRow="1">
                <a:tableStyleId>{93296810-A885-4BE3-A3E7-6D5BEEA58F35}</a:tableStyleId>
              </a:tblPr>
              <a:tblGrid>
                <a:gridCol w="696879">
                  <a:extLst>
                    <a:ext uri="{9D8B030D-6E8A-4147-A177-3AD203B41FA5}">
                      <a16:colId xmlns:a16="http://schemas.microsoft.com/office/drawing/2014/main" val="4208667331"/>
                    </a:ext>
                  </a:extLst>
                </a:gridCol>
                <a:gridCol w="5170522">
                  <a:extLst>
                    <a:ext uri="{9D8B030D-6E8A-4147-A177-3AD203B41FA5}">
                      <a16:colId xmlns:a16="http://schemas.microsoft.com/office/drawing/2014/main" val="1351526185"/>
                    </a:ext>
                  </a:extLst>
                </a:gridCol>
              </a:tblGrid>
              <a:tr h="249088">
                <a:tc>
                  <a:txBody>
                    <a:bodyPr/>
                    <a:lstStyle/>
                    <a:p>
                      <a:pPr algn="ctr" fontAlgn="t"/>
                      <a:r>
                        <a:rPr lang="en-US" sz="1200" b="1" i="0" u="none" strike="noStrike" dirty="0" err="1">
                          <a:solidFill>
                            <a:schemeClr val="bg1"/>
                          </a:solidFill>
                          <a:effectLst/>
                          <a:latin typeface="Times New Roman" panose="02020603050405020304" pitchFamily="18" charset="0"/>
                        </a:rPr>
                        <a:t>Tàu</a:t>
                      </a:r>
                      <a:endParaRPr lang="en-US" sz="1200" b="1" i="0" u="none" strike="noStrike" dirty="0">
                        <a:solidFill>
                          <a:schemeClr val="bg1"/>
                        </a:solidFill>
                        <a:effectLst/>
                        <a:latin typeface="Times New Roman" panose="02020603050405020304" pitchFamily="18" charset="0"/>
                      </a:endParaRPr>
                    </a:p>
                  </a:txBody>
                  <a:tcPr marL="8467" marR="8467" marT="8467" marB="0" anchor="ctr"/>
                </a:tc>
                <a:tc>
                  <a:txBody>
                    <a:bodyPr/>
                    <a:lstStyle/>
                    <a:p>
                      <a:pPr algn="ctr" fontAlgn="t"/>
                      <a:r>
                        <a:rPr lang="en-US" sz="1200" b="1" i="0" u="none" strike="noStrike" dirty="0" err="1">
                          <a:solidFill>
                            <a:schemeClr val="bg1"/>
                          </a:solidFill>
                          <a:effectLst/>
                          <a:latin typeface="Times New Roman" panose="02020603050405020304" pitchFamily="18" charset="0"/>
                        </a:rPr>
                        <a:t>Phương</a:t>
                      </a:r>
                      <a:r>
                        <a:rPr lang="en-US" sz="1200" b="1" i="0" u="none" strike="noStrike" dirty="0">
                          <a:solidFill>
                            <a:schemeClr val="bg1"/>
                          </a:solidFill>
                          <a:effectLst/>
                          <a:latin typeface="Times New Roman" panose="02020603050405020304" pitchFamily="18" charset="0"/>
                        </a:rPr>
                        <a:t> </a:t>
                      </a:r>
                      <a:r>
                        <a:rPr lang="en-US" sz="1200" b="1" i="0" u="none" strike="noStrike" dirty="0" err="1">
                          <a:solidFill>
                            <a:schemeClr val="bg1"/>
                          </a:solidFill>
                          <a:effectLst/>
                          <a:latin typeface="Times New Roman" panose="02020603050405020304" pitchFamily="18" charset="0"/>
                        </a:rPr>
                        <a:t>án</a:t>
                      </a:r>
                      <a:endParaRPr lang="en-US" sz="1200" b="1" i="0" u="none" strike="noStrike" dirty="0">
                        <a:solidFill>
                          <a:schemeClr val="bg1"/>
                        </a:solidFill>
                        <a:effectLst/>
                        <a:latin typeface="Times New Roman" panose="02020603050405020304" pitchFamily="18" charset="0"/>
                      </a:endParaRPr>
                    </a:p>
                  </a:txBody>
                  <a:tcPr marL="8467" marR="8467" marT="8467" marB="0" anchor="ctr"/>
                </a:tc>
                <a:extLst>
                  <a:ext uri="{0D108BD9-81ED-4DB2-BD59-A6C34878D82A}">
                    <a16:rowId xmlns:a16="http://schemas.microsoft.com/office/drawing/2014/main" val="1286781906"/>
                  </a:ext>
                </a:extLst>
              </a:tr>
              <a:tr h="487153">
                <a:tc>
                  <a:txBody>
                    <a:bodyPr/>
                    <a:lstStyle/>
                    <a:p>
                      <a:pPr algn="ctr" fontAlgn="ctr"/>
                      <a:r>
                        <a:rPr lang="en-US" sz="1200" b="0" i="0" u="none" strike="noStrike">
                          <a:solidFill>
                            <a:schemeClr val="tx1"/>
                          </a:solidFill>
                          <a:effectLst/>
                          <a:latin typeface="Times New Roman" panose="02020603050405020304" pitchFamily="18" charset="0"/>
                        </a:rPr>
                        <a:t>A899</a:t>
                      </a:r>
                      <a:endParaRPr lang="en-US" sz="1200" b="0" i="0" u="none" strike="noStrike" dirty="0">
                        <a:solidFill>
                          <a:schemeClr val="tx1"/>
                        </a:solidFill>
                        <a:effectLst/>
                        <a:latin typeface="Times New Roman" panose="02020603050405020304" pitchFamily="18" charset="0"/>
                      </a:endParaRPr>
                    </a:p>
                  </a:txBody>
                  <a:tcPr marL="8467" marR="8467" marT="8467"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latin typeface="Times New Roman" panose="02020603050405020304" pitchFamily="18" charset="0"/>
                          <a:cs typeface="Times New Roman" panose="02020603050405020304" pitchFamily="18" charset="0"/>
                        </a:rPr>
                        <a:t>Thay động c</a:t>
                      </a:r>
                      <a:r>
                        <a:rPr lang="vi-VN" sz="1200">
                          <a:solidFill>
                            <a:schemeClr val="tx1"/>
                          </a:solidFill>
                          <a:latin typeface="Times New Roman" panose="02020603050405020304" pitchFamily="18" charset="0"/>
                          <a:cs typeface="Times New Roman" panose="02020603050405020304" pitchFamily="18" charset="0"/>
                        </a:rPr>
                        <a:t>ơ</a:t>
                      </a:r>
                      <a:r>
                        <a:rPr lang="en-US" sz="1200">
                          <a:solidFill>
                            <a:schemeClr val="tx1"/>
                          </a:solidFill>
                          <a:latin typeface="Times New Roman" panose="02020603050405020304" pitchFamily="18" charset="0"/>
                          <a:cs typeface="Times New Roman" panose="02020603050405020304" pitchFamily="18" charset="0"/>
                        </a:rPr>
                        <a:t> 21048 do hết LLP. Dự kiên 23/2 có động c</a:t>
                      </a:r>
                      <a:r>
                        <a:rPr lang="vi-VN" sz="1200">
                          <a:solidFill>
                            <a:schemeClr val="tx1"/>
                          </a:solidFill>
                          <a:latin typeface="Times New Roman" panose="02020603050405020304" pitchFamily="18" charset="0"/>
                          <a:cs typeface="Times New Roman" panose="02020603050405020304" pitchFamily="18" charset="0"/>
                        </a:rPr>
                        <a:t>ơ</a:t>
                      </a:r>
                      <a:r>
                        <a:rPr lang="en-US" sz="1200">
                          <a:solidFill>
                            <a:schemeClr val="tx1"/>
                          </a:solidFill>
                          <a:latin typeface="Times New Roman" panose="02020603050405020304" pitchFamily="18" charset="0"/>
                          <a:cs typeface="Times New Roman" panose="02020603050405020304" pitchFamily="18" charset="0"/>
                        </a:rPr>
                        <a:t> đi shop về để thay thế. </a:t>
                      </a:r>
                      <a:endParaRPr lang="en-US" sz="1200" dirty="0">
                        <a:solidFill>
                          <a:schemeClr val="tx1"/>
                        </a:solidFill>
                        <a:latin typeface="Times New Roman" panose="02020603050405020304" pitchFamily="18" charset="0"/>
                        <a:cs typeface="Times New Roman" panose="02020603050405020304" pitchFamily="18" charset="0"/>
                      </a:endParaRPr>
                    </a:p>
                  </a:txBody>
                  <a:tcPr marL="8467" marR="8467" marT="8467" marB="0" anchor="ctr"/>
                </a:tc>
                <a:extLst>
                  <a:ext uri="{0D108BD9-81ED-4DB2-BD59-A6C34878D82A}">
                    <a16:rowId xmlns:a16="http://schemas.microsoft.com/office/drawing/2014/main" val="3138330128"/>
                  </a:ext>
                </a:extLst>
              </a:tr>
            </a:tbl>
          </a:graphicData>
        </a:graphic>
      </p:graphicFrame>
      <p:sp>
        <p:nvSpPr>
          <p:cNvPr id="15" name="TextBox 14">
            <a:extLst>
              <a:ext uri="{FF2B5EF4-FFF2-40B4-BE49-F238E27FC236}">
                <a16:creationId xmlns:a16="http://schemas.microsoft.com/office/drawing/2014/main" id="{70D2EB9E-D0C2-460A-95BF-57FFF64A893D}"/>
              </a:ext>
            </a:extLst>
          </p:cNvPr>
          <p:cNvSpPr txBox="1"/>
          <p:nvPr/>
        </p:nvSpPr>
        <p:spPr>
          <a:xfrm>
            <a:off x="6274810" y="5284077"/>
            <a:ext cx="5808956" cy="615553"/>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Kế</a:t>
            </a:r>
            <a:r>
              <a:rPr kumimoji="0" lang="en-US" sz="20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0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hoạch</a:t>
            </a:r>
            <a:r>
              <a:rPr kumimoji="0" lang="en-US" sz="20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0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thay</a:t>
            </a:r>
            <a:r>
              <a:rPr kumimoji="0" lang="en-US" sz="20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0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20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c</a:t>
            </a:r>
            <a:r>
              <a:rPr kumimoji="0" lang="vi-VN" sz="20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ơ</a:t>
            </a:r>
            <a:r>
              <a:rPr kumimoji="0" lang="en-US" sz="20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A350 </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r>
              <a:rPr kumimoji="0" lang="en-US" sz="1400" b="1" i="1"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các</a:t>
            </a:r>
            <a:r>
              <a:rPr kumimoji="0" lang="en-US" sz="1400" b="1"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400" b="1" i="1"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tàu</a:t>
            </a:r>
            <a:r>
              <a:rPr kumimoji="0" lang="en-US" sz="1400" b="1"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400" b="1" i="1"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ảnh</a:t>
            </a:r>
            <a:r>
              <a:rPr kumimoji="0" lang="en-US" sz="1400" b="1"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h</a:t>
            </a:r>
            <a:r>
              <a:rPr kumimoji="0" lang="vi-VN" sz="1400" b="1"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ư</a:t>
            </a:r>
            <a:r>
              <a:rPr kumimoji="0" lang="en-US" sz="1400" b="1" i="1"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ởng</a:t>
            </a:r>
            <a:r>
              <a:rPr kumimoji="0" lang="en-US" sz="1400" b="1"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400" b="1" i="1"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nguồn</a:t>
            </a:r>
            <a:r>
              <a:rPr kumimoji="0" lang="en-US" sz="1400" b="1"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400" b="1" i="1"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lực</a:t>
            </a:r>
            <a:r>
              <a:rPr kumimoji="0" lang="en-US" sz="1400" b="1"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endParaRPr kumimoji="0" lang="en-GB" sz="2000" b="1"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5875949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6EF2E-39D3-88C6-5607-59E0B3AACB2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A0A6B4-0D57-91D1-E90B-8552E0AD5555}"/>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8" name="Slide Number Placeholder 3">
            <a:extLst>
              <a:ext uri="{FF2B5EF4-FFF2-40B4-BE49-F238E27FC236}">
                <a16:creationId xmlns:a16="http://schemas.microsoft.com/office/drawing/2014/main" id="{A871A205-15F4-FDCC-D904-DBF790C95818}"/>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600" b="0" i="0" u="none" strike="noStrike" kern="1200" cap="none" spc="0" normalizeH="0" baseline="0" noProof="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6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endParaRPr>
          </a:p>
        </p:txBody>
      </p:sp>
      <p:sp>
        <p:nvSpPr>
          <p:cNvPr id="9" name="TextBox 8">
            <a:extLst>
              <a:ext uri="{FF2B5EF4-FFF2-40B4-BE49-F238E27FC236}">
                <a16:creationId xmlns:a16="http://schemas.microsoft.com/office/drawing/2014/main" id="{45661717-286B-9E25-9E8B-05A140AC533E}"/>
              </a:ext>
            </a:extLst>
          </p:cNvPr>
          <p:cNvSpPr txBox="1"/>
          <p:nvPr/>
        </p:nvSpPr>
        <p:spPr>
          <a:xfrm>
            <a:off x="317020" y="5056389"/>
            <a:ext cx="11557960" cy="371255"/>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marR="0" lvl="0" indent="-380990" algn="l" defTabSz="121917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Từ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11/2024,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với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05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do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K6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thuê</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khô</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B220.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7/2025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sẽ</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trở</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lại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06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sau</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K6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trả</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B220.</a:t>
            </a:r>
          </a:p>
        </p:txBody>
      </p:sp>
      <p:graphicFrame>
        <p:nvGraphicFramePr>
          <p:cNvPr id="10" name="Chart 9">
            <a:extLst>
              <a:ext uri="{FF2B5EF4-FFF2-40B4-BE49-F238E27FC236}">
                <a16:creationId xmlns:a16="http://schemas.microsoft.com/office/drawing/2014/main" id="{76DFC592-D88A-43FC-09E5-06AD8D727013}"/>
              </a:ext>
            </a:extLst>
          </p:cNvPr>
          <p:cNvGraphicFramePr/>
          <p:nvPr/>
        </p:nvGraphicFramePr>
        <p:xfrm>
          <a:off x="295373" y="770468"/>
          <a:ext cx="11557960" cy="4216400"/>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0AA8E0DF-2FF0-D5DB-6896-3F1AD07908A4}"/>
              </a:ext>
            </a:extLst>
          </p:cNvPr>
          <p:cNvSpPr txBox="1"/>
          <p:nvPr/>
        </p:nvSpPr>
        <p:spPr>
          <a:xfrm>
            <a:off x="0" y="88859"/>
            <a:ext cx="11142133"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vi-VN"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KHẢ NĂNG CUNG ỨNG ĐỘNG CƠ </a:t>
            </a: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ĐỘI BAY ATR72</a:t>
            </a:r>
            <a:endParaRPr kumimoji="0" lang="vi-VN"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0249435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C0E34002-24DE-E466-318F-A982D9E240D3}"/>
              </a:ext>
            </a:extLst>
          </p:cNvPr>
          <p:cNvSpPr txBox="1"/>
          <p:nvPr/>
        </p:nvSpPr>
        <p:spPr>
          <a:xfrm>
            <a:off x="0" y="475864"/>
            <a:ext cx="4165600" cy="461665"/>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Tình</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trạng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sửa</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chữa</a:t>
            </a:r>
            <a:endPar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4" name="Table 2">
            <a:extLst>
              <a:ext uri="{FF2B5EF4-FFF2-40B4-BE49-F238E27FC236}">
                <a16:creationId xmlns:a16="http://schemas.microsoft.com/office/drawing/2014/main" id="{C9E599B2-7A6B-AE61-6B47-ABFA60F331B8}"/>
              </a:ext>
            </a:extLst>
          </p:cNvPr>
          <p:cNvGraphicFramePr>
            <a:graphicFrameLocks noGrp="1"/>
          </p:cNvGraphicFramePr>
          <p:nvPr/>
        </p:nvGraphicFramePr>
        <p:xfrm>
          <a:off x="291533" y="1134199"/>
          <a:ext cx="11460202" cy="1863582"/>
        </p:xfrm>
        <a:graphic>
          <a:graphicData uri="http://schemas.openxmlformats.org/drawingml/2006/table">
            <a:tbl>
              <a:tblPr firstRow="1" bandRow="1">
                <a:tableStyleId>{5C22544A-7EE6-4342-B048-85BDC9FD1C3A}</a:tableStyleId>
              </a:tblPr>
              <a:tblGrid>
                <a:gridCol w="533157">
                  <a:extLst>
                    <a:ext uri="{9D8B030D-6E8A-4147-A177-3AD203B41FA5}">
                      <a16:colId xmlns:a16="http://schemas.microsoft.com/office/drawing/2014/main" val="1598605427"/>
                    </a:ext>
                  </a:extLst>
                </a:gridCol>
                <a:gridCol w="1147672">
                  <a:extLst>
                    <a:ext uri="{9D8B030D-6E8A-4147-A177-3AD203B41FA5}">
                      <a16:colId xmlns:a16="http://schemas.microsoft.com/office/drawing/2014/main" val="3845954792"/>
                    </a:ext>
                  </a:extLst>
                </a:gridCol>
                <a:gridCol w="1298823">
                  <a:extLst>
                    <a:ext uri="{9D8B030D-6E8A-4147-A177-3AD203B41FA5}">
                      <a16:colId xmlns:a16="http://schemas.microsoft.com/office/drawing/2014/main" val="2148822928"/>
                    </a:ext>
                  </a:extLst>
                </a:gridCol>
                <a:gridCol w="2062836">
                  <a:extLst>
                    <a:ext uri="{9D8B030D-6E8A-4147-A177-3AD203B41FA5}">
                      <a16:colId xmlns:a16="http://schemas.microsoft.com/office/drawing/2014/main" val="2136763095"/>
                    </a:ext>
                  </a:extLst>
                </a:gridCol>
                <a:gridCol w="2139239">
                  <a:extLst>
                    <a:ext uri="{9D8B030D-6E8A-4147-A177-3AD203B41FA5}">
                      <a16:colId xmlns:a16="http://schemas.microsoft.com/office/drawing/2014/main" val="1185879436"/>
                    </a:ext>
                  </a:extLst>
                </a:gridCol>
                <a:gridCol w="1986435">
                  <a:extLst>
                    <a:ext uri="{9D8B030D-6E8A-4147-A177-3AD203B41FA5}">
                      <a16:colId xmlns:a16="http://schemas.microsoft.com/office/drawing/2014/main" val="3807119371"/>
                    </a:ext>
                  </a:extLst>
                </a:gridCol>
                <a:gridCol w="2292040">
                  <a:extLst>
                    <a:ext uri="{9D8B030D-6E8A-4147-A177-3AD203B41FA5}">
                      <a16:colId xmlns:a16="http://schemas.microsoft.com/office/drawing/2014/main" val="3735753066"/>
                    </a:ext>
                  </a:extLst>
                </a:gridCol>
              </a:tblGrid>
              <a:tr h="709240">
                <a:tc>
                  <a:txBody>
                    <a:bodyPr/>
                    <a:lstStyle/>
                    <a:p>
                      <a:pPr algn="ctr"/>
                      <a:r>
                        <a:rPr lang="en-GB" sz="1500">
                          <a:latin typeface="Times New Roman" panose="02020603050405020304" pitchFamily="18" charset="0"/>
                          <a:cs typeface="Times New Roman" panose="02020603050405020304" pitchFamily="18" charset="0"/>
                        </a:rPr>
                        <a:t>No.</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Times New Roman" panose="02020603050405020304" pitchFamily="18" charset="0"/>
                          <a:cs typeface="Times New Roman" panose="02020603050405020304" pitchFamily="18" charset="0"/>
                        </a:rPr>
                        <a:t>ESN</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Times New Roman" panose="02020603050405020304" pitchFamily="18" charset="0"/>
                          <a:cs typeface="Times New Roman" panose="02020603050405020304" pitchFamily="18" charset="0"/>
                        </a:rPr>
                        <a:t>Status</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Induction</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err="1">
                          <a:latin typeface="Times New Roman" panose="02020603050405020304" pitchFamily="18" charset="0"/>
                          <a:cs typeface="Times New Roman" panose="02020603050405020304" pitchFamily="18" charset="0"/>
                        </a:rPr>
                        <a:t>Dự</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kiến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về</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KH Sử dụng</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Remark</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577171">
                <a:tc>
                  <a:txBody>
                    <a:bodyPr/>
                    <a:lstStyle/>
                    <a:p>
                      <a:pPr algn="ctr"/>
                      <a:r>
                        <a:rPr lang="vi-VN" sz="1500">
                          <a:latin typeface="Times New Roman" panose="02020603050405020304" pitchFamily="18" charset="0"/>
                          <a:cs typeface="Times New Roman" panose="02020603050405020304" pitchFamily="18" charset="0"/>
                        </a:rPr>
                        <a:t>1</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5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ED0239</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16/10/2024</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15/04/2025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N/A</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227979002"/>
                  </a:ext>
                </a:extLst>
              </a:tr>
              <a:tr h="577171">
                <a:tc>
                  <a:txBody>
                    <a:bodyPr/>
                    <a:lstStyle/>
                    <a:p>
                      <a:pPr algn="ctr"/>
                      <a:r>
                        <a:rPr lang="vi-VN" sz="1500">
                          <a:latin typeface="Times New Roman" panose="02020603050405020304" pitchFamily="18" charset="0"/>
                          <a:cs typeface="Times New Roman" panose="02020603050405020304" pitchFamily="18" charset="0"/>
                        </a:rPr>
                        <a:t>2</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ED238</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Not 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24/01/2025</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7893171"/>
                  </a:ext>
                </a:extLst>
              </a:tr>
            </a:tbl>
          </a:graphicData>
        </a:graphic>
      </p:graphicFrame>
      <p:sp>
        <p:nvSpPr>
          <p:cNvPr id="15" name="TextBox 14">
            <a:extLst>
              <a:ext uri="{FF2B5EF4-FFF2-40B4-BE49-F238E27FC236}">
                <a16:creationId xmlns:a16="http://schemas.microsoft.com/office/drawing/2014/main" id="{A3B0CE8D-D087-9B22-2C61-0CD1AD45567F}"/>
              </a:ext>
            </a:extLst>
          </p:cNvPr>
          <p:cNvSpPr txBox="1"/>
          <p:nvPr/>
        </p:nvSpPr>
        <p:spPr>
          <a:xfrm>
            <a:off x="1" y="805"/>
            <a:ext cx="11418041"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ĐỘI BAY ATR</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
        <p:nvSpPr>
          <p:cNvPr id="16" name="TextBox 15">
            <a:extLst>
              <a:ext uri="{FF2B5EF4-FFF2-40B4-BE49-F238E27FC236}">
                <a16:creationId xmlns:a16="http://schemas.microsoft.com/office/drawing/2014/main" id="{86965A40-485F-F6CF-1E94-FB69A37B616A}"/>
              </a:ext>
            </a:extLst>
          </p:cNvPr>
          <p:cNvSpPr txBox="1"/>
          <p:nvPr/>
        </p:nvSpPr>
        <p:spPr>
          <a:xfrm>
            <a:off x="0" y="3198167"/>
            <a:ext cx="7239699" cy="461665"/>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Tình</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trạng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cơ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đội</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bay</a:t>
            </a:r>
            <a:endPar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7" name="TextBox 16">
            <a:extLst>
              <a:ext uri="{FF2B5EF4-FFF2-40B4-BE49-F238E27FC236}">
                <a16:creationId xmlns:a16="http://schemas.microsoft.com/office/drawing/2014/main" id="{E8A28E79-E20A-AF25-AF54-BB552A4A1E80}"/>
              </a:ext>
            </a:extLst>
          </p:cNvPr>
          <p:cNvSpPr txBox="1"/>
          <p:nvPr/>
        </p:nvSpPr>
        <p:spPr>
          <a:xfrm>
            <a:off x="76200" y="3733800"/>
            <a:ext cx="11460201" cy="1692771"/>
          </a:xfrm>
          <a:prstGeom prst="rect">
            <a:avLst/>
          </a:prstGeom>
          <a:noFill/>
        </p:spPr>
        <p:txBody>
          <a:bodyPr wrap="square" rtlCol="0">
            <a:spAutoFit/>
          </a:bodyPr>
          <a:lstStyle/>
          <a:p>
            <a:pPr marL="380990" marR="0" lvl="0" indent="-380990"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không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ED0217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hỏng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HPT Vane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còn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38 FH), ED0233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hết</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LLP,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còn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78 FC), ED0214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hết</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LLP, </a:t>
            </a:r>
            <a:r>
              <a:rPr kumimoji="0" lang="en-US" sz="1600" b="0" i="0" u="none" strike="noStrike" kern="1200" cap="none" spc="0" normalizeH="0" baseline="0" noProof="0" err="1">
                <a:ln>
                  <a:noFill/>
                </a:ln>
                <a:solidFill>
                  <a:prstClr val="black"/>
                </a:solidFill>
                <a:effectLst/>
                <a:uLnTx/>
                <a:uFillTx/>
                <a:latin typeface="Times New Roman" panose="02020603050405020304" pitchFamily="18" charset="0"/>
                <a:ea typeface="+mn-ea"/>
                <a:cs typeface="Times New Roman" panose="02020603050405020304" pitchFamily="18" charset="0"/>
              </a:rPr>
              <a:t>còn</a:t>
            </a:r>
            <a:r>
              <a:rPr kumimoji="0" lang="en-US"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39 FC)</a:t>
            </a:r>
          </a:p>
          <a:p>
            <a:pPr marL="380990" marR="0" lvl="0" indent="-380990"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Động cơ dự phòng: ED0192. KH Stagger sau cao điểm tết.</a:t>
            </a:r>
          </a:p>
          <a:p>
            <a:pPr marL="380990" marR="0" lvl="0" indent="-380990"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it-IT"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Động </a:t>
            </a:r>
            <a:r>
              <a:rPr kumimoji="0" lang="it-IT"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cơ thuê: ED0321, ED0036 và ED0715</a:t>
            </a:r>
          </a:p>
          <a:p>
            <a:pPr marL="380990" marR="0" lvl="0" indent="-380990"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it-IT"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Động cơ cao giờ: NIL</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40004473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EBBF0-4138-B510-1979-FBCC81398ABF}"/>
            </a:ext>
          </a:extLst>
        </p:cNvPr>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3AEDC4A0-D9E4-308A-B81A-C497E56EC867}"/>
              </a:ext>
            </a:extLst>
          </p:cNvPr>
          <p:cNvSpPr>
            <a:spLocks noGrp="1"/>
          </p:cNvSpPr>
          <p:nvPr>
            <p:ph type="sldNum" sz="quarter" idx="12"/>
          </p:nvPr>
        </p:nvSpPr>
        <p:spPr>
          <a:xfrm>
            <a:off x="11469279" y="8154511"/>
            <a:ext cx="3657600" cy="486833"/>
          </a:xfrm>
        </p:spPr>
        <p:txBody>
          <a:bodyPr>
            <a:normAutofit/>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D2A43B"/>
                </a:solidFill>
                <a:effectLst/>
                <a:uLnTx/>
                <a:uFillTx/>
                <a:latin typeface="Montserrat" pitchFamily="2" charset="77"/>
                <a:ea typeface="+mn-ea"/>
                <a:cs typeface="+mn-cs"/>
              </a:rPr>
              <a:t>1</a:t>
            </a:r>
          </a:p>
        </p:txBody>
      </p:sp>
      <p:sp>
        <p:nvSpPr>
          <p:cNvPr id="4" name="TextBox 3">
            <a:extLst>
              <a:ext uri="{FF2B5EF4-FFF2-40B4-BE49-F238E27FC236}">
                <a16:creationId xmlns:a16="http://schemas.microsoft.com/office/drawing/2014/main" id="{5039FD0F-D84D-F582-FC95-7FD457F3C903}"/>
              </a:ext>
            </a:extLst>
          </p:cNvPr>
          <p:cNvSpPr txBox="1"/>
          <p:nvPr/>
        </p:nvSpPr>
        <p:spPr>
          <a:xfrm>
            <a:off x="61186" y="565752"/>
            <a:ext cx="12054615" cy="1077218"/>
          </a:xfrm>
          <a:prstGeom prst="rect">
            <a:avLst/>
          </a:prstGeom>
          <a:noFill/>
          <a:ln>
            <a:solidFill>
              <a:schemeClr val="tx1"/>
            </a:solidFill>
          </a:ln>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03/02/2025 – 09/02/2025:</a:t>
            </a:r>
          </a:p>
          <a:p>
            <a:pPr marL="380990" marR="0" lvl="0" indent="-380990" algn="l" defTabSz="1219170" rtl="0" eaLnBrk="1" fontAlgn="auto" latinLnBrk="0" hangingPunct="1">
              <a:lnSpc>
                <a:spcPct val="100000"/>
              </a:lnSpc>
              <a:spcBef>
                <a:spcPts val="0"/>
              </a:spcBef>
              <a:spcAft>
                <a:spcPts val="0"/>
              </a:spcAft>
              <a:buClrTx/>
              <a:buSzTx/>
              <a:buFont typeface="Times New Roman" panose="02020603050405020304" pitchFamily="18" charset="0"/>
              <a:buChar char="⁃"/>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Phát</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sinh</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tuần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A356, A329.</a:t>
            </a:r>
          </a:p>
          <a:p>
            <a:pPr marL="380990" marR="0" lvl="0" indent="-380990" algn="l" defTabSz="914400" rtl="0" eaLnBrk="1" fontAlgn="auto" latinLnBrk="0" hangingPunct="1">
              <a:lnSpc>
                <a:spcPct val="100000"/>
              </a:lnSpc>
              <a:spcBef>
                <a:spcPts val="0"/>
              </a:spcBef>
              <a:spcAft>
                <a:spcPts val="0"/>
              </a:spcAft>
              <a:buClrTx/>
              <a:buSzTx/>
              <a:buFont typeface="Times New Roman" panose="02020603050405020304" pitchFamily="18" charset="0"/>
              <a:buChar char="⁃"/>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khắc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phục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A605-A606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thay</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Packing), A621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thay</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Lube Module), A614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thay</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Filter), A878 (fill-up oil + Ops test).</a:t>
            </a:r>
          </a:p>
          <a:p>
            <a:pPr marL="380990" marR="0" lvl="0" indent="-380990" algn="l" defTabSz="1219170" rtl="0" eaLnBrk="1" fontAlgn="auto" latinLnBrk="0" hangingPunct="1">
              <a:lnSpc>
                <a:spcPct val="100000"/>
              </a:lnSpc>
              <a:spcBef>
                <a:spcPts val="0"/>
              </a:spcBef>
              <a:spcAft>
                <a:spcPts val="0"/>
              </a:spcAft>
              <a:buClrTx/>
              <a:buSzTx/>
              <a:buFont typeface="Times New Roman" panose="02020603050405020304" pitchFamily="18" charset="0"/>
              <a:buChar char="⁃"/>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04 APU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chờ</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khắc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phục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A873, A893, A356, A329.</a:t>
            </a:r>
          </a:p>
        </p:txBody>
      </p:sp>
      <p:graphicFrame>
        <p:nvGraphicFramePr>
          <p:cNvPr id="3" name="Table 2">
            <a:extLst>
              <a:ext uri="{FF2B5EF4-FFF2-40B4-BE49-F238E27FC236}">
                <a16:creationId xmlns:a16="http://schemas.microsoft.com/office/drawing/2014/main" id="{6684DBD8-A2D2-50A1-B1FB-698DABA16090}"/>
              </a:ext>
            </a:extLst>
          </p:cNvPr>
          <p:cNvGraphicFramePr>
            <a:graphicFrameLocks noGrp="1"/>
          </p:cNvGraphicFramePr>
          <p:nvPr>
            <p:extLst/>
          </p:nvPr>
        </p:nvGraphicFramePr>
        <p:xfrm>
          <a:off x="61186" y="1787548"/>
          <a:ext cx="12054615" cy="4852205"/>
        </p:xfrm>
        <a:graphic>
          <a:graphicData uri="http://schemas.openxmlformats.org/drawingml/2006/table">
            <a:tbl>
              <a:tblPr firstRow="1" firstCol="1" bandRow="1">
                <a:tableStyleId>{5C22544A-7EE6-4342-B048-85BDC9FD1C3A}</a:tableStyleId>
              </a:tblPr>
              <a:tblGrid>
                <a:gridCol w="635792">
                  <a:extLst>
                    <a:ext uri="{9D8B030D-6E8A-4147-A177-3AD203B41FA5}">
                      <a16:colId xmlns:a16="http://schemas.microsoft.com/office/drawing/2014/main" val="1827702162"/>
                    </a:ext>
                  </a:extLst>
                </a:gridCol>
                <a:gridCol w="1715656">
                  <a:extLst>
                    <a:ext uri="{9D8B030D-6E8A-4147-A177-3AD203B41FA5}">
                      <a16:colId xmlns:a16="http://schemas.microsoft.com/office/drawing/2014/main" val="2395768341"/>
                    </a:ext>
                  </a:extLst>
                </a:gridCol>
                <a:gridCol w="4013376">
                  <a:extLst>
                    <a:ext uri="{9D8B030D-6E8A-4147-A177-3AD203B41FA5}">
                      <a16:colId xmlns:a16="http://schemas.microsoft.com/office/drawing/2014/main" val="4155011410"/>
                    </a:ext>
                  </a:extLst>
                </a:gridCol>
                <a:gridCol w="5689791">
                  <a:extLst>
                    <a:ext uri="{9D8B030D-6E8A-4147-A177-3AD203B41FA5}">
                      <a16:colId xmlns:a16="http://schemas.microsoft.com/office/drawing/2014/main" val="1412321077"/>
                    </a:ext>
                  </a:extLst>
                </a:gridCol>
              </a:tblGrid>
              <a:tr h="321625">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pPr>
                      <a:r>
                        <a:rPr lang="en-US" sz="1500" b="1" kern="1200" dirty="0">
                          <a:solidFill>
                            <a:schemeClr val="tx1"/>
                          </a:solidFill>
                          <a:effectLst/>
                          <a:latin typeface="Times New Roman" panose="02020603050405020304" pitchFamily="18" charset="0"/>
                          <a:ea typeface="+mn-ea"/>
                          <a:cs typeface="Times New Roman" panose="02020603050405020304" pitchFamily="18" charset="0"/>
                        </a:rPr>
                        <a:t>Issue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Troubleshoot action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Note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5328572"/>
                  </a:ext>
                </a:extLst>
              </a:tr>
              <a:tr h="1132645">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A873</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INOP</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28/01.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Cần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theo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khuyến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của</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NSX.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thay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thế</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ngày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15/02.</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A321:</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từ</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đã</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lên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kế</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hoạch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thay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khai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2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04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A350: Hiện tại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2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thay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A893.</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tab pos="388620" algn="l"/>
                        </a:tabLst>
                        <a:defRPr/>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B787:</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2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thay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A873.</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Triển khai </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TI-2023-1002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khi T/S APU bad smell.</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Đề nghị Vaeco cho kiểm tra ngay khi tàu N/S đối với các tàu có báo bad smell và cung cấp WO T/S kịp thời. </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Tổ bay chưa tuân thủ điền và gửi report SIC khi có event, đã nêu trong cuộc họp KT-Khai thác, để nghị nghiêm túc thực hiện.</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Đã thống nhất quy trình khắc phục APU bad smell. Vaeco ra TI mở ADD “APU Bleed bad smell for Air conditioning”, tổ bay được phép sử dụng APU để khởi động động cơ. Hạn ADD 6 tháng, Vaeco tiếp tục lên lịch T/S. Đã cập nhật nội dung vào FON22/061 R03. </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6034225"/>
                  </a:ext>
                </a:extLst>
              </a:tr>
              <a:tr h="1132645">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A893</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AUTO SHUTDOWN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31/01.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Cần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do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Power Section.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thay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thế</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ngày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15/02.</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485791511"/>
                  </a:ext>
                </a:extLst>
              </a:tr>
              <a:tr h="1132645">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A356</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GEN INOP</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04/02. KH T/S 09/02.</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tc>
                <a:extLst>
                  <a:ext uri="{0D108BD9-81ED-4DB2-BD59-A6C34878D82A}">
                    <a16:rowId xmlns:a16="http://schemas.microsoft.com/office/drawing/2014/main" val="3144562193"/>
                  </a:ext>
                </a:extLst>
              </a:tr>
              <a:tr h="1132645">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A329</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AUTO SHUTDOWN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09/02. KH T/S 09/02.</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36160297"/>
                  </a:ext>
                </a:extLst>
              </a:tr>
            </a:tbl>
          </a:graphicData>
        </a:graphic>
      </p:graphicFrame>
      <p:sp>
        <p:nvSpPr>
          <p:cNvPr id="5" name="TextBox 4">
            <a:extLst>
              <a:ext uri="{FF2B5EF4-FFF2-40B4-BE49-F238E27FC236}">
                <a16:creationId xmlns:a16="http://schemas.microsoft.com/office/drawing/2014/main" id="{C90E461A-8FB3-5729-0D39-FAC90BDE96E0}"/>
              </a:ext>
            </a:extLst>
          </p:cNvPr>
          <p:cNvSpPr txBox="1"/>
          <p:nvPr/>
        </p:nvSpPr>
        <p:spPr>
          <a:xfrm>
            <a:off x="0" y="4175"/>
            <a:ext cx="10155179"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HỎNG HÓC APU TRONG TUẦN</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7629519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84535-CFCE-183F-8794-12D95900EC70}"/>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44E34AA5-0AD7-89EB-D556-85A4E3C161E2}"/>
              </a:ext>
            </a:extLst>
          </p:cNvPr>
          <p:cNvGraphicFramePr>
            <a:graphicFrameLocks noGrp="1"/>
          </p:cNvGraphicFramePr>
          <p:nvPr/>
        </p:nvGraphicFramePr>
        <p:xfrm>
          <a:off x="548320" y="609601"/>
          <a:ext cx="11169547" cy="4599134"/>
        </p:xfrm>
        <a:graphic>
          <a:graphicData uri="http://schemas.openxmlformats.org/drawingml/2006/table">
            <a:tbl>
              <a:tblPr firstRow="1" bandRow="1">
                <a:tableStyleId>{7DF18680-E054-41AD-8BC1-D1AEF772440D}</a:tableStyleId>
              </a:tblPr>
              <a:tblGrid>
                <a:gridCol w="1801539">
                  <a:extLst>
                    <a:ext uri="{9D8B030D-6E8A-4147-A177-3AD203B41FA5}">
                      <a16:colId xmlns:a16="http://schemas.microsoft.com/office/drawing/2014/main" val="1598605427"/>
                    </a:ext>
                  </a:extLst>
                </a:gridCol>
                <a:gridCol w="1692295">
                  <a:extLst>
                    <a:ext uri="{9D8B030D-6E8A-4147-A177-3AD203B41FA5}">
                      <a16:colId xmlns:a16="http://schemas.microsoft.com/office/drawing/2014/main" val="3845954792"/>
                    </a:ext>
                  </a:extLst>
                </a:gridCol>
                <a:gridCol w="3352017">
                  <a:extLst>
                    <a:ext uri="{9D8B030D-6E8A-4147-A177-3AD203B41FA5}">
                      <a16:colId xmlns:a16="http://schemas.microsoft.com/office/drawing/2014/main" val="2148822928"/>
                    </a:ext>
                  </a:extLst>
                </a:gridCol>
                <a:gridCol w="2161848">
                  <a:extLst>
                    <a:ext uri="{9D8B030D-6E8A-4147-A177-3AD203B41FA5}">
                      <a16:colId xmlns:a16="http://schemas.microsoft.com/office/drawing/2014/main" val="1106888684"/>
                    </a:ext>
                  </a:extLst>
                </a:gridCol>
                <a:gridCol w="2161848">
                  <a:extLst>
                    <a:ext uri="{9D8B030D-6E8A-4147-A177-3AD203B41FA5}">
                      <a16:colId xmlns:a16="http://schemas.microsoft.com/office/drawing/2014/main" val="571731565"/>
                    </a:ext>
                  </a:extLst>
                </a:gridCol>
              </a:tblGrid>
              <a:tr h="439904">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APU S/N</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Shop</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a:solidFill>
                            <a:schemeClr val="bg1"/>
                          </a:solidFill>
                          <a:effectLst/>
                          <a:latin typeface="Times New Roman" panose="02020603050405020304" pitchFamily="18" charset="0"/>
                          <a:cs typeface="Times New Roman" panose="02020603050405020304" pitchFamily="18" charset="0"/>
                        </a:rPr>
                        <a:t>Induction date</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Dự</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kiến</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ngày</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về</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a:solidFill>
                            <a:schemeClr val="bg1"/>
                          </a:solidFill>
                          <a:effectLst/>
                          <a:latin typeface="Times New Roman" panose="02020603050405020304" pitchFamily="18" charset="0"/>
                          <a:cs typeface="Times New Roman" panose="02020603050405020304" pitchFamily="18" charset="0"/>
                        </a:rPr>
                        <a:t>Dự kiến dùng cho tàu</a:t>
                      </a:r>
                      <a:endParaRPr lang="vi-VN"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extLst>
                  <a:ext uri="{0D108BD9-81ED-4DB2-BD59-A6C34878D82A}">
                    <a16:rowId xmlns:a16="http://schemas.microsoft.com/office/drawing/2014/main" val="1234812354"/>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P-4541</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EPCOR</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22-May-24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05-Mar-24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A616</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716492321"/>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P-8524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07-Nov-24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21-Feb-25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A329</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287019261"/>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Not inducted</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N/A</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A617</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841585950"/>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P-5535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AMECO</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19-Aug-24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14-Feb-24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A619</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127734706"/>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P-4708</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AMECO</a:t>
                      </a:r>
                      <a:endPar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17-Dec-24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17-Feb-25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A614</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702873862"/>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P-5222</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AMECO</a:t>
                      </a:r>
                      <a:endPar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17-Dec-24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17-Feb-25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A615</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28517020"/>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HSC-</a:t>
                      </a:r>
                      <a:r>
                        <a:rPr lang="en-US" sz="1500" b="0" i="0" u="none" strike="noStrike" dirty="0" err="1">
                          <a:solidFill>
                            <a:schemeClr val="tx1"/>
                          </a:solidFill>
                          <a:effectLst/>
                          <a:latin typeface="Times New Roman" panose="02020603050405020304" pitchFamily="18" charset="0"/>
                          <a:cs typeface="Times New Roman" panose="02020603050405020304" pitchFamily="18" charset="0"/>
                        </a:rPr>
                        <a:t>E1525371PL</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03-Dec-24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15-Feb-25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A873</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1251250973"/>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PWC-Z925500</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22-Dec-24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15-Mar-25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A871</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3190860515"/>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P-00124</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02-Oct-24</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15-Feb-25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A893</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2064948272"/>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P-00255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10-Oct-24</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20-Mar-25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A886</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148885825"/>
                  </a:ext>
                </a:extLst>
              </a:tr>
            </a:tbl>
          </a:graphicData>
        </a:graphic>
      </p:graphicFrame>
      <p:sp>
        <p:nvSpPr>
          <p:cNvPr id="3" name="TextBox 2">
            <a:extLst>
              <a:ext uri="{FF2B5EF4-FFF2-40B4-BE49-F238E27FC236}">
                <a16:creationId xmlns:a16="http://schemas.microsoft.com/office/drawing/2014/main" id="{683815DC-3726-60C6-9F9A-C1A095C6A727}"/>
              </a:ext>
            </a:extLst>
          </p:cNvPr>
          <p:cNvSpPr txBox="1"/>
          <p:nvPr/>
        </p:nvSpPr>
        <p:spPr>
          <a:xfrm>
            <a:off x="508019" y="5151765"/>
            <a:ext cx="11169547" cy="1241622"/>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8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8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990575" marR="0" lvl="1" indent="-38099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bay A321: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Không</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có</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rủi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ro</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ảnh</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hưởng</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khai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thác</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a:p>
            <a:pPr marL="990575" marR="0" lvl="1" indent="-38099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Đội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bay A350: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Không</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có</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rủi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ro</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ảnh</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hưởng</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khai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thác</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a:p>
            <a:pPr marL="990575" marR="0" lvl="1" indent="-38099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Đội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bay B787: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Không</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có</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rủi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ro</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ảnh</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hưởng</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khai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thác</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p:txBody>
      </p:sp>
      <p:sp>
        <p:nvSpPr>
          <p:cNvPr id="4" name="TextBox 3">
            <a:extLst>
              <a:ext uri="{FF2B5EF4-FFF2-40B4-BE49-F238E27FC236}">
                <a16:creationId xmlns:a16="http://schemas.microsoft.com/office/drawing/2014/main" id="{2A0F6081-1E4E-10D7-02C6-BC54E456A673}"/>
              </a:ext>
            </a:extLst>
          </p:cNvPr>
          <p:cNvSpPr txBox="1"/>
          <p:nvPr/>
        </p:nvSpPr>
        <p:spPr>
          <a:xfrm>
            <a:off x="1" y="1"/>
            <a:ext cx="7521623"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SỬA CHỮA APU TẠI SHOP</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6009122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36</a:t>
            </a:fld>
            <a:endParaRPr dirty="0"/>
          </a:p>
        </p:txBody>
      </p:sp>
      <p:sp>
        <p:nvSpPr>
          <p:cNvPr id="76" name="Google Shape;76;p2"/>
          <p:cNvSpPr txBox="1">
            <a:spLocks noGrp="1"/>
          </p:cNvSpPr>
          <p:nvPr>
            <p:ph type="title"/>
          </p:nvPr>
        </p:nvSpPr>
        <p:spPr>
          <a:xfrm>
            <a:off x="838200" y="499056"/>
            <a:ext cx="10287000"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b="1" dirty="0">
                <a:solidFill>
                  <a:srgbClr val="FFC000"/>
                </a:solidFill>
                <a:latin typeface="Times New Roman" panose="02020603050405020304" pitchFamily="18" charset="0"/>
                <a:cs typeface="Times New Roman" panose="02020603050405020304" pitchFamily="18" charset="0"/>
              </a:rPr>
              <a:t>CÁC TÀU BQDB VÀ ĐANG TRONG BẢO DƯỠNG </a:t>
            </a:r>
            <a:r>
              <a:rPr lang="en-US" b="1">
                <a:solidFill>
                  <a:srgbClr val="FFC000"/>
                </a:solidFill>
                <a:latin typeface="Times New Roman" panose="02020603050405020304" pitchFamily="18" charset="0"/>
                <a:cs typeface="Times New Roman" panose="02020603050405020304" pitchFamily="18" charset="0"/>
              </a:rPr>
              <a:t>ĐỊNH KỲ</a:t>
            </a:r>
            <a:endParaRPr b="0" dirty="0">
              <a:solidFill>
                <a:srgbClr val="FFC000"/>
              </a:solidFill>
              <a:latin typeface="Times New Roman" panose="02020603050405020304" pitchFamily="18" charset="0"/>
              <a:cs typeface="Times New Roman" panose="02020603050405020304" pitchFamily="18" charset="0"/>
            </a:endParaRPr>
          </a:p>
        </p:txBody>
      </p:sp>
      <p:sp>
        <p:nvSpPr>
          <p:cNvPr id="2" name="Google Shape;75;p2">
            <a:extLst>
              <a:ext uri="{FF2B5EF4-FFF2-40B4-BE49-F238E27FC236}">
                <a16:creationId xmlns:a16="http://schemas.microsoft.com/office/drawing/2014/main" id="{0DF58EE6-4E3F-AD4F-B490-92D47A32E347}"/>
              </a:ext>
            </a:extLst>
          </p:cNvPr>
          <p:cNvSpPr txBox="1">
            <a:spLocks/>
          </p:cNvSpPr>
          <p:nvPr/>
        </p:nvSpPr>
        <p:spPr>
          <a:xfrm>
            <a:off x="685800" y="990600"/>
            <a:ext cx="10820399" cy="5867400"/>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a:t>I</a:t>
            </a:r>
            <a:r>
              <a:rPr lang="en-US" sz="2000" smtClean="0"/>
              <a:t>.  CHECK</a:t>
            </a:r>
            <a:r>
              <a:rPr lang="en-US" sz="2000"/>
              <a:t>: NIL</a:t>
            </a:r>
          </a:p>
          <a:p>
            <a:pPr marL="0" indent="0">
              <a:buNone/>
            </a:pPr>
            <a:endParaRPr lang="en-US" sz="2000" smtClean="0"/>
          </a:p>
          <a:p>
            <a:pPr marL="0" indent="0">
              <a:buNone/>
            </a:pPr>
            <a:r>
              <a:rPr lang="en-US" sz="2000" smtClean="0"/>
              <a:t>II.  A/C </a:t>
            </a:r>
            <a:r>
              <a:rPr lang="en-US" sz="2000"/>
              <a:t>STB CĐT:</a:t>
            </a:r>
          </a:p>
          <a:p>
            <a:pPr marL="0" indent="0">
              <a:buNone/>
            </a:pPr>
            <a:r>
              <a:rPr lang="en-US" sz="2000"/>
              <a:t>1. A509/HAN: DP-CĐT 6FC</a:t>
            </a:r>
          </a:p>
          <a:p>
            <a:pPr marL="0" indent="0">
              <a:buNone/>
            </a:pPr>
            <a:r>
              <a:rPr lang="en-US" sz="2000"/>
              <a:t>2. A625/SGN: DP-CĐT 17FC</a:t>
            </a:r>
          </a:p>
          <a:p>
            <a:pPr marL="0" indent="0">
              <a:buNone/>
            </a:pPr>
            <a:r>
              <a:rPr lang="en-US" sz="2000"/>
              <a:t>3. A508/HAN: DP-CĐT 10 FC</a:t>
            </a:r>
          </a:p>
          <a:p>
            <a:pPr marL="0" indent="0">
              <a:buNone/>
            </a:pPr>
            <a:endParaRPr lang="en-US" sz="2000" smtClean="0"/>
          </a:p>
          <a:p>
            <a:pPr marL="0" indent="0">
              <a:buNone/>
            </a:pPr>
            <a:r>
              <a:rPr lang="en-US" sz="2000" smtClean="0"/>
              <a:t>III.  TÀU BQDB:</a:t>
            </a:r>
            <a:r>
              <a:rPr lang="en-US" sz="2000"/>
              <a:t> </a:t>
            </a:r>
          </a:p>
          <a:p>
            <a:r>
              <a:rPr lang="es-ES" sz="2000"/>
              <a:t>HAN: A501, A503, A505, A510, A511, A622, A623, A624, A886, A887, A898, A895.</a:t>
            </a:r>
          </a:p>
          <a:p>
            <a:pPr marL="0" indent="0">
              <a:buNone/>
            </a:pPr>
            <a:r>
              <a:rPr lang="es-ES" sz="2000"/>
              <a:t>1. A624/HAN- ENG1CHG +ENG2CHG +MO18+ C01+C03+ Y01+Y06+ EA18-EA24+ RTS: 14/12-17/01, EXT 15/02.</a:t>
            </a:r>
          </a:p>
          <a:p>
            <a:pPr marL="0" indent="0">
              <a:buNone/>
            </a:pPr>
            <a:r>
              <a:rPr lang="es-ES" sz="2000"/>
              <a:t>2. A501: EC06+EC01+C03+Y06+EA04-EA10 (27/11-28/02).</a:t>
            </a:r>
          </a:p>
          <a:p>
            <a:pPr marL="0" indent="0">
              <a:buNone/>
            </a:pPr>
            <a:r>
              <a:rPr lang="es-ES" sz="2000" smtClean="0"/>
              <a:t>3. </a:t>
            </a:r>
            <a:r>
              <a:rPr lang="es-ES" sz="2000"/>
              <a:t>A616/SGN- RTS, EA05: 09/02-18/02.</a:t>
            </a:r>
          </a:p>
          <a:p>
            <a:r>
              <a:rPr lang="es-ES" sz="2000" smtClean="0"/>
              <a:t>SGN</a:t>
            </a:r>
            <a:r>
              <a:rPr lang="es-ES" sz="2000"/>
              <a:t>: A616, A617.</a:t>
            </a:r>
            <a:endParaRPr lang="en-US"/>
          </a:p>
        </p:txBody>
      </p:sp>
    </p:spTree>
    <p:extLst>
      <p:ext uri="{BB962C8B-B14F-4D97-AF65-F5344CB8AC3E}">
        <p14:creationId xmlns:p14="http://schemas.microsoft.com/office/powerpoint/2010/main" val="30957355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5" name="Title 1">
            <a:extLst>
              <a:ext uri="{FF2B5EF4-FFF2-40B4-BE49-F238E27FC236}">
                <a16:creationId xmlns:a16="http://schemas.microsoft.com/office/drawing/2014/main" id="{5781951A-75AB-4FD9-911A-99894057CF57}"/>
              </a:ext>
            </a:extLst>
          </p:cNvPr>
          <p:cNvSpPr txBox="1">
            <a:spLocks/>
          </p:cNvSpPr>
          <p:nvPr/>
        </p:nvSpPr>
        <p:spPr>
          <a:xfrm>
            <a:off x="369435" y="214911"/>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NGUỒN LỰC TÀU BAY – A321</a:t>
            </a:r>
          </a:p>
        </p:txBody>
      </p:sp>
      <p:graphicFrame>
        <p:nvGraphicFramePr>
          <p:cNvPr id="3" name="Table 2"/>
          <p:cNvGraphicFramePr>
            <a:graphicFrameLocks noGrp="1"/>
          </p:cNvGraphicFramePr>
          <p:nvPr>
            <p:extLst/>
          </p:nvPr>
        </p:nvGraphicFramePr>
        <p:xfrm>
          <a:off x="457200" y="1295400"/>
          <a:ext cx="11212965" cy="4648200"/>
        </p:xfrm>
        <a:graphic>
          <a:graphicData uri="http://schemas.openxmlformats.org/drawingml/2006/table">
            <a:tbl>
              <a:tblPr/>
              <a:tblGrid>
                <a:gridCol w="340199">
                  <a:extLst>
                    <a:ext uri="{9D8B030D-6E8A-4147-A177-3AD203B41FA5}">
                      <a16:colId xmlns:a16="http://schemas.microsoft.com/office/drawing/2014/main" val="3682048439"/>
                    </a:ext>
                  </a:extLst>
                </a:gridCol>
                <a:gridCol w="2395002">
                  <a:extLst>
                    <a:ext uri="{9D8B030D-6E8A-4147-A177-3AD203B41FA5}">
                      <a16:colId xmlns:a16="http://schemas.microsoft.com/office/drawing/2014/main" val="3935380582"/>
                    </a:ext>
                  </a:extLst>
                </a:gridCol>
                <a:gridCol w="503494">
                  <a:extLst>
                    <a:ext uri="{9D8B030D-6E8A-4147-A177-3AD203B41FA5}">
                      <a16:colId xmlns:a16="http://schemas.microsoft.com/office/drawing/2014/main" val="4224675046"/>
                    </a:ext>
                  </a:extLst>
                </a:gridCol>
                <a:gridCol w="503494">
                  <a:extLst>
                    <a:ext uri="{9D8B030D-6E8A-4147-A177-3AD203B41FA5}">
                      <a16:colId xmlns:a16="http://schemas.microsoft.com/office/drawing/2014/main" val="4152372154"/>
                    </a:ext>
                  </a:extLst>
                </a:gridCol>
                <a:gridCol w="517103">
                  <a:extLst>
                    <a:ext uri="{9D8B030D-6E8A-4147-A177-3AD203B41FA5}">
                      <a16:colId xmlns:a16="http://schemas.microsoft.com/office/drawing/2014/main" val="1028369384"/>
                    </a:ext>
                  </a:extLst>
                </a:gridCol>
                <a:gridCol w="517103">
                  <a:extLst>
                    <a:ext uri="{9D8B030D-6E8A-4147-A177-3AD203B41FA5}">
                      <a16:colId xmlns:a16="http://schemas.microsoft.com/office/drawing/2014/main" val="427837209"/>
                    </a:ext>
                  </a:extLst>
                </a:gridCol>
                <a:gridCol w="517103">
                  <a:extLst>
                    <a:ext uri="{9D8B030D-6E8A-4147-A177-3AD203B41FA5}">
                      <a16:colId xmlns:a16="http://schemas.microsoft.com/office/drawing/2014/main" val="523300684"/>
                    </a:ext>
                  </a:extLst>
                </a:gridCol>
                <a:gridCol w="517103">
                  <a:extLst>
                    <a:ext uri="{9D8B030D-6E8A-4147-A177-3AD203B41FA5}">
                      <a16:colId xmlns:a16="http://schemas.microsoft.com/office/drawing/2014/main" val="1476338408"/>
                    </a:ext>
                  </a:extLst>
                </a:gridCol>
                <a:gridCol w="517103">
                  <a:extLst>
                    <a:ext uri="{9D8B030D-6E8A-4147-A177-3AD203B41FA5}">
                      <a16:colId xmlns:a16="http://schemas.microsoft.com/office/drawing/2014/main" val="139231823"/>
                    </a:ext>
                  </a:extLst>
                </a:gridCol>
                <a:gridCol w="517103">
                  <a:extLst>
                    <a:ext uri="{9D8B030D-6E8A-4147-A177-3AD203B41FA5}">
                      <a16:colId xmlns:a16="http://schemas.microsoft.com/office/drawing/2014/main" val="4147608583"/>
                    </a:ext>
                  </a:extLst>
                </a:gridCol>
                <a:gridCol w="517103">
                  <a:extLst>
                    <a:ext uri="{9D8B030D-6E8A-4147-A177-3AD203B41FA5}">
                      <a16:colId xmlns:a16="http://schemas.microsoft.com/office/drawing/2014/main" val="3159726174"/>
                    </a:ext>
                  </a:extLst>
                </a:gridCol>
                <a:gridCol w="517103">
                  <a:extLst>
                    <a:ext uri="{9D8B030D-6E8A-4147-A177-3AD203B41FA5}">
                      <a16:colId xmlns:a16="http://schemas.microsoft.com/office/drawing/2014/main" val="2500309852"/>
                    </a:ext>
                  </a:extLst>
                </a:gridCol>
                <a:gridCol w="517103">
                  <a:extLst>
                    <a:ext uri="{9D8B030D-6E8A-4147-A177-3AD203B41FA5}">
                      <a16:colId xmlns:a16="http://schemas.microsoft.com/office/drawing/2014/main" val="4118202229"/>
                    </a:ext>
                  </a:extLst>
                </a:gridCol>
                <a:gridCol w="2816849">
                  <a:extLst>
                    <a:ext uri="{9D8B030D-6E8A-4147-A177-3AD203B41FA5}">
                      <a16:colId xmlns:a16="http://schemas.microsoft.com/office/drawing/2014/main" val="2022896632"/>
                    </a:ext>
                  </a:extLst>
                </a:gridCol>
              </a:tblGrid>
              <a:tr h="414794">
                <a:tc gridSpan="14">
                  <a:txBody>
                    <a:bodyPr/>
                    <a:lstStyle/>
                    <a:p>
                      <a:pPr algn="ctr" fontAlgn="ctr"/>
                      <a:r>
                        <a:rPr lang="en-US" sz="1600" b="1" i="0" u="none" strike="noStrike" dirty="0">
                          <a:solidFill>
                            <a:srgbClr val="000000"/>
                          </a:solidFill>
                          <a:effectLst/>
                          <a:latin typeface="Times New Roman" panose="02020603050405020304" pitchFamily="18" charset="0"/>
                          <a:cs typeface="Times New Roman" panose="02020603050405020304" pitchFamily="18" charset="0"/>
                        </a:rPr>
                        <a:t>NGUỒN LỰC </a:t>
                      </a:r>
                      <a:r>
                        <a:rPr lang="en-US" sz="1600" b="1" i="0" u="none" strike="noStrike">
                          <a:solidFill>
                            <a:srgbClr val="000000"/>
                          </a:solidFill>
                          <a:effectLst/>
                          <a:latin typeface="Times New Roman" panose="02020603050405020304" pitchFamily="18" charset="0"/>
                          <a:cs typeface="Times New Roman" panose="02020603050405020304" pitchFamily="18" charset="0"/>
                        </a:rPr>
                        <a:t>KỸ </a:t>
                      </a:r>
                      <a:r>
                        <a:rPr lang="en-US" sz="1600" b="1" i="0" u="none" strike="noStrike" smtClean="0">
                          <a:solidFill>
                            <a:srgbClr val="000000"/>
                          </a:solidFill>
                          <a:effectLst/>
                          <a:latin typeface="Times New Roman" panose="02020603050405020304" pitchFamily="18" charset="0"/>
                          <a:cs typeface="Times New Roman" panose="02020603050405020304" pitchFamily="18" charset="0"/>
                        </a:rPr>
                        <a:t>THUẬT </a:t>
                      </a:r>
                      <a:r>
                        <a:rPr lang="en-US" sz="1600" b="1" i="0" u="none" strike="noStrike" dirty="0">
                          <a:solidFill>
                            <a:srgbClr val="000000"/>
                          </a:solidFill>
                          <a:effectLst/>
                          <a:latin typeface="Times New Roman" panose="02020603050405020304" pitchFamily="18" charset="0"/>
                          <a:cs typeface="Times New Roman" panose="02020603050405020304" pitchFamily="18" charset="0"/>
                        </a:rPr>
                        <a:t>FLEET A321 (UPDATED 09/02)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94289119"/>
                  </a:ext>
                </a:extLst>
              </a:tr>
              <a:tr h="502780">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Feb-25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Mar-25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Apr-25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May-25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Jun-25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Jul-25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Aug-25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Sep-25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Oct-25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Nov-25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Note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588819421"/>
                  </a:ext>
                </a:extLst>
              </a:tr>
              <a:tr h="774281">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a:solidFill>
                            <a:srgbClr val="000000"/>
                          </a:solidFill>
                          <a:effectLst/>
                          <a:latin typeface="Times New Roman" panose="02020603050405020304" pitchFamily="18" charset="0"/>
                          <a:cs typeface="Times New Roman" panose="02020603050405020304" pitchFamily="18" charset="0"/>
                        </a:rPr>
                        <a:t>A321 NEO AOG</a:t>
                      </a:r>
                      <a:br>
                        <a:rPr lang="pt-BR" sz="1200" b="1" i="0" u="none" strike="noStrike">
                          <a:solidFill>
                            <a:srgbClr val="000000"/>
                          </a:solidFill>
                          <a:effectLst/>
                          <a:latin typeface="Times New Roman" panose="02020603050405020304" pitchFamily="18" charset="0"/>
                          <a:cs typeface="Times New Roman" panose="02020603050405020304" pitchFamily="18" charset="0"/>
                        </a:rPr>
                      </a:br>
                      <a:r>
                        <a:rPr lang="pt-BR" sz="1200" b="1" i="0" u="none" strike="noStrike">
                          <a:solidFill>
                            <a:srgbClr val="000000"/>
                          </a:solidFill>
                          <a:effectLst/>
                          <a:latin typeface="Times New Roman" panose="02020603050405020304" pitchFamily="18" charset="0"/>
                          <a:cs typeface="Times New Roman" panose="02020603050405020304" pitchFamily="18" charset="0"/>
                        </a:rPr>
                        <a:t>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14.50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13.50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02/2025: thêm 01 tàu dừng do ENG về muộn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1493161"/>
                  </a:ext>
                </a:extLst>
              </a:tr>
              <a:tr h="703892">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pt-BR" sz="1200" b="1" i="0" u="none" strike="noStrike">
                          <a:solidFill>
                            <a:srgbClr val="000000"/>
                          </a:solidFill>
                          <a:effectLst/>
                          <a:latin typeface="Times New Roman" panose="02020603050405020304" pitchFamily="18" charset="0"/>
                          <a:cs typeface="Times New Roman" panose="02020603050405020304" pitchFamily="18" charset="0"/>
                        </a:rPr>
                        <a:t>A321 CEO AOG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737788816"/>
                  </a:ext>
                </a:extLst>
              </a:tr>
              <a:tr h="925115">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A321 dừng thực hiện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1.80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000000"/>
                          </a:solidFill>
                          <a:effectLst/>
                          <a:latin typeface="Times New Roman" panose="02020603050405020304" pitchFamily="18" charset="0"/>
                          <a:cs typeface="Times New Roman" panose="02020603050405020304" pitchFamily="18" charset="0"/>
                        </a:rPr>
                        <a:t>- Giảm 0.3 tàu dừng BD từ 18-27/03 để bay bù A870 sơn cánh.</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9694331"/>
                  </a:ext>
                </a:extLst>
              </a:tr>
              <a:tr h="663669">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Tổng số tàu A321 Dừng</a:t>
                      </a:r>
                      <a:br>
                        <a:rPr lang="en-US" sz="1200" b="1" i="0" u="none" strike="noStrike">
                          <a:solidFill>
                            <a:srgbClr val="000000"/>
                          </a:solidFill>
                          <a:effectLst/>
                          <a:latin typeface="Times New Roman" panose="02020603050405020304" pitchFamily="18" charset="0"/>
                          <a:cs typeface="Times New Roman" panose="02020603050405020304" pitchFamily="18" charset="0"/>
                        </a:rPr>
                      </a:br>
                      <a:r>
                        <a:rPr lang="en-US" sz="1200" b="1" i="0" u="none" strike="noStrike">
                          <a:solidFill>
                            <a:srgbClr val="000000"/>
                          </a:solidFill>
                          <a:effectLst/>
                          <a:latin typeface="Times New Roman" panose="02020603050405020304" pitchFamily="18" charset="0"/>
                          <a:cs typeface="Times New Roman" panose="02020603050405020304" pitchFamily="18" charset="0"/>
                        </a:rPr>
                        <a:t>(Do thiếu ENG + BD)</a:t>
                      </a:r>
                      <a:br>
                        <a:rPr lang="en-US" sz="1200" b="1" i="0" u="none" strike="noStrike">
                          <a:solidFill>
                            <a:srgbClr val="000000"/>
                          </a:solidFill>
                          <a:effectLst/>
                          <a:latin typeface="Times New Roman" panose="02020603050405020304" pitchFamily="18" charset="0"/>
                          <a:cs typeface="Times New Roman" panose="02020603050405020304" pitchFamily="18" charset="0"/>
                        </a:rPr>
                      </a:br>
                      <a:r>
                        <a:rPr lang="en-US" sz="1200" b="1" i="0" u="none" strike="noStrike">
                          <a:solidFill>
                            <a:srgbClr val="000000"/>
                          </a:solidFill>
                          <a:effectLst/>
                          <a:latin typeface="Times New Roman" panose="02020603050405020304" pitchFamily="18" charset="0"/>
                          <a:cs typeface="Times New Roman" panose="02020603050405020304" pitchFamily="18" charset="0"/>
                        </a:rPr>
                        <a:t>(4) = (1) + (2) +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14.50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16.30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15.50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12.50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9147324"/>
                  </a:ext>
                </a:extLst>
              </a:tr>
              <a:tr h="663669">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Tổng số tàu A321 thực tế có thể khai thác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48.7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49.5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dirty="0">
                          <a:solidFill>
                            <a:srgbClr val="FF0000"/>
                          </a:solidFill>
                          <a:effectLst/>
                          <a:latin typeface="Times New Roman" panose="02020603050405020304" pitchFamily="18" charset="0"/>
                          <a:cs typeface="Times New Roman" panose="02020603050405020304" pitchFamily="18" charset="0"/>
                        </a:rPr>
                        <a:t>Chưa bao gồm các tàu thuê ướt khai thác cao điểm têt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96068964"/>
                  </a:ext>
                </a:extLst>
              </a:tr>
            </a:tbl>
          </a:graphicData>
        </a:graphic>
      </p:graphicFrame>
    </p:spTree>
    <p:extLst>
      <p:ext uri="{BB962C8B-B14F-4D97-AF65-F5344CB8AC3E}">
        <p14:creationId xmlns:p14="http://schemas.microsoft.com/office/powerpoint/2010/main" val="18268825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Title 1">
            <a:extLst>
              <a:ext uri="{FF2B5EF4-FFF2-40B4-BE49-F238E27FC236}">
                <a16:creationId xmlns:a16="http://schemas.microsoft.com/office/drawing/2014/main" id="{5781951A-75AB-4FD9-911A-99894057CF57}"/>
              </a:ext>
            </a:extLst>
          </p:cNvPr>
          <p:cNvSpPr txBox="1">
            <a:spLocks/>
          </p:cNvSpPr>
          <p:nvPr/>
        </p:nvSpPr>
        <p:spPr>
          <a:xfrm>
            <a:off x="457200" y="152400"/>
            <a:ext cx="9792802"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NGUỒN LỰC TÀU BAY – A350/B787</a:t>
            </a:r>
          </a:p>
        </p:txBody>
      </p:sp>
      <p:graphicFrame>
        <p:nvGraphicFramePr>
          <p:cNvPr id="3" name="Table 2"/>
          <p:cNvGraphicFramePr>
            <a:graphicFrameLocks noGrp="1"/>
          </p:cNvGraphicFramePr>
          <p:nvPr>
            <p:extLst/>
          </p:nvPr>
        </p:nvGraphicFramePr>
        <p:xfrm>
          <a:off x="533400" y="1143000"/>
          <a:ext cx="11245868" cy="4676390"/>
        </p:xfrm>
        <a:graphic>
          <a:graphicData uri="http://schemas.openxmlformats.org/drawingml/2006/table">
            <a:tbl>
              <a:tblPr/>
              <a:tblGrid>
                <a:gridCol w="376508">
                  <a:extLst>
                    <a:ext uri="{9D8B030D-6E8A-4147-A177-3AD203B41FA5}">
                      <a16:colId xmlns:a16="http://schemas.microsoft.com/office/drawing/2014/main" val="1636249874"/>
                    </a:ext>
                  </a:extLst>
                </a:gridCol>
                <a:gridCol w="2574828">
                  <a:extLst>
                    <a:ext uri="{9D8B030D-6E8A-4147-A177-3AD203B41FA5}">
                      <a16:colId xmlns:a16="http://schemas.microsoft.com/office/drawing/2014/main" val="264493740"/>
                    </a:ext>
                  </a:extLst>
                </a:gridCol>
                <a:gridCol w="449380">
                  <a:extLst>
                    <a:ext uri="{9D8B030D-6E8A-4147-A177-3AD203B41FA5}">
                      <a16:colId xmlns:a16="http://schemas.microsoft.com/office/drawing/2014/main" val="3713829794"/>
                    </a:ext>
                  </a:extLst>
                </a:gridCol>
                <a:gridCol w="524573">
                  <a:extLst>
                    <a:ext uri="{9D8B030D-6E8A-4147-A177-3AD203B41FA5}">
                      <a16:colId xmlns:a16="http://schemas.microsoft.com/office/drawing/2014/main" val="1135597128"/>
                    </a:ext>
                  </a:extLst>
                </a:gridCol>
                <a:gridCol w="461526">
                  <a:extLst>
                    <a:ext uri="{9D8B030D-6E8A-4147-A177-3AD203B41FA5}">
                      <a16:colId xmlns:a16="http://schemas.microsoft.com/office/drawing/2014/main" val="2409128334"/>
                    </a:ext>
                  </a:extLst>
                </a:gridCol>
                <a:gridCol w="538163">
                  <a:extLst>
                    <a:ext uri="{9D8B030D-6E8A-4147-A177-3AD203B41FA5}">
                      <a16:colId xmlns:a16="http://schemas.microsoft.com/office/drawing/2014/main" val="2199766069"/>
                    </a:ext>
                  </a:extLst>
                </a:gridCol>
                <a:gridCol w="461526">
                  <a:extLst>
                    <a:ext uri="{9D8B030D-6E8A-4147-A177-3AD203B41FA5}">
                      <a16:colId xmlns:a16="http://schemas.microsoft.com/office/drawing/2014/main" val="1401775673"/>
                    </a:ext>
                  </a:extLst>
                </a:gridCol>
                <a:gridCol w="461526">
                  <a:extLst>
                    <a:ext uri="{9D8B030D-6E8A-4147-A177-3AD203B41FA5}">
                      <a16:colId xmlns:a16="http://schemas.microsoft.com/office/drawing/2014/main" val="1834515600"/>
                    </a:ext>
                  </a:extLst>
                </a:gridCol>
                <a:gridCol w="485816">
                  <a:extLst>
                    <a:ext uri="{9D8B030D-6E8A-4147-A177-3AD203B41FA5}">
                      <a16:colId xmlns:a16="http://schemas.microsoft.com/office/drawing/2014/main" val="1488871864"/>
                    </a:ext>
                  </a:extLst>
                </a:gridCol>
                <a:gridCol w="485816">
                  <a:extLst>
                    <a:ext uri="{9D8B030D-6E8A-4147-A177-3AD203B41FA5}">
                      <a16:colId xmlns:a16="http://schemas.microsoft.com/office/drawing/2014/main" val="1954714728"/>
                    </a:ext>
                  </a:extLst>
                </a:gridCol>
                <a:gridCol w="461526">
                  <a:extLst>
                    <a:ext uri="{9D8B030D-6E8A-4147-A177-3AD203B41FA5}">
                      <a16:colId xmlns:a16="http://schemas.microsoft.com/office/drawing/2014/main" val="883846750"/>
                    </a:ext>
                  </a:extLst>
                </a:gridCol>
                <a:gridCol w="503237">
                  <a:extLst>
                    <a:ext uri="{9D8B030D-6E8A-4147-A177-3AD203B41FA5}">
                      <a16:colId xmlns:a16="http://schemas.microsoft.com/office/drawing/2014/main" val="954242441"/>
                    </a:ext>
                  </a:extLst>
                </a:gridCol>
                <a:gridCol w="485816">
                  <a:extLst>
                    <a:ext uri="{9D8B030D-6E8A-4147-A177-3AD203B41FA5}">
                      <a16:colId xmlns:a16="http://schemas.microsoft.com/office/drawing/2014/main" val="2183067537"/>
                    </a:ext>
                  </a:extLst>
                </a:gridCol>
                <a:gridCol w="2975627">
                  <a:extLst>
                    <a:ext uri="{9D8B030D-6E8A-4147-A177-3AD203B41FA5}">
                      <a16:colId xmlns:a16="http://schemas.microsoft.com/office/drawing/2014/main" val="2969387642"/>
                    </a:ext>
                  </a:extLst>
                </a:gridCol>
              </a:tblGrid>
              <a:tr h="331550">
                <a:tc gridSpan="14">
                  <a:txBody>
                    <a:bodyPr/>
                    <a:lstStyle/>
                    <a:p>
                      <a:pPr algn="ctr" fontAlgn="ctr"/>
                      <a:r>
                        <a:rPr lang="en-US" sz="1600" b="1" i="0" u="none" strike="noStrike" dirty="0">
                          <a:solidFill>
                            <a:srgbClr val="000000"/>
                          </a:solidFill>
                          <a:effectLst/>
                          <a:latin typeface="Times New Roman" panose="02020603050405020304" pitchFamily="18" charset="0"/>
                          <a:cs typeface="Times New Roman" panose="02020603050405020304" pitchFamily="18" charset="0"/>
                        </a:rPr>
                        <a:t>NGUỒN LỰC </a:t>
                      </a:r>
                      <a:r>
                        <a:rPr lang="en-US" sz="1600" b="1" i="0" u="none" strike="noStrike">
                          <a:solidFill>
                            <a:srgbClr val="000000"/>
                          </a:solidFill>
                          <a:effectLst/>
                          <a:latin typeface="Times New Roman" panose="02020603050405020304" pitchFamily="18" charset="0"/>
                          <a:cs typeface="Times New Roman" panose="02020603050405020304" pitchFamily="18" charset="0"/>
                        </a:rPr>
                        <a:t>KỸ </a:t>
                      </a:r>
                      <a:r>
                        <a:rPr lang="en-US" sz="1600" b="1" i="0" u="none" strike="noStrike" smtClean="0">
                          <a:solidFill>
                            <a:srgbClr val="000000"/>
                          </a:solidFill>
                          <a:effectLst/>
                          <a:latin typeface="Times New Roman" panose="02020603050405020304" pitchFamily="18" charset="0"/>
                          <a:cs typeface="Times New Roman" panose="02020603050405020304" pitchFamily="18" charset="0"/>
                        </a:rPr>
                        <a:t>THUẬT </a:t>
                      </a:r>
                      <a:r>
                        <a:rPr lang="en-US" sz="1600" b="1" i="0" u="none" strike="noStrike" dirty="0">
                          <a:solidFill>
                            <a:srgbClr val="000000"/>
                          </a:solidFill>
                          <a:effectLst/>
                          <a:latin typeface="Times New Roman" panose="02020603050405020304" pitchFamily="18" charset="0"/>
                          <a:cs typeface="Times New Roman" panose="02020603050405020304" pitchFamily="18" charset="0"/>
                        </a:rPr>
                        <a:t>A350/B787 (updated 09/02)</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46161170"/>
                  </a:ext>
                </a:extLst>
              </a:tr>
              <a:tr h="313465">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Feb-25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Mar-25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Apr-25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May-25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Jun-25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Jul-25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Aug-25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Sep-25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Oct-25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Nov-25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Note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083521297"/>
                  </a:ext>
                </a:extLst>
              </a:tr>
              <a:tr h="434030">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a:solidFill>
                            <a:srgbClr val="000000"/>
                          </a:solidFill>
                          <a:effectLst/>
                          <a:latin typeface="Times New Roman" panose="02020603050405020304" pitchFamily="18" charset="0"/>
                          <a:cs typeface="Times New Roman" panose="02020603050405020304" pitchFamily="18" charset="0"/>
                        </a:rPr>
                        <a:t>A350 AOG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67140801"/>
                  </a:ext>
                </a:extLst>
              </a:tr>
              <a:tr h="401878">
                <a:tc>
                  <a:txBody>
                    <a:bodyPr/>
                    <a:lstStyle/>
                    <a:p>
                      <a:pPr algn="ctr"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A350 dừng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800600360"/>
                  </a:ext>
                </a:extLst>
              </a:tr>
              <a:tr h="401878">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A350 </a:t>
                      </a:r>
                      <a:r>
                        <a:rPr lang="en-US" sz="1200" b="1" i="0" u="none" strike="noStrike" dirty="0" err="1">
                          <a:solidFill>
                            <a:srgbClr val="000000"/>
                          </a:solidFill>
                          <a:effectLst/>
                          <a:latin typeface="Times New Roman" panose="02020603050405020304" pitchFamily="18" charset="0"/>
                          <a:cs typeface="Times New Roman" panose="02020603050405020304" pitchFamily="18" charset="0"/>
                        </a:rPr>
                        <a:t>Dừng</a:t>
                      </a:r>
                      <a:r>
                        <a:rPr lang="en-US" sz="1200" b="1" i="0" u="none" strike="noStrike" dirty="0">
                          <a:solidFill>
                            <a:srgbClr val="000000"/>
                          </a:solidFill>
                          <a:effectLst/>
                          <a:latin typeface="Times New Roman" panose="02020603050405020304" pitchFamily="18" charset="0"/>
                          <a:cs typeface="Times New Roman" panose="02020603050405020304" pitchFamily="18" charset="0"/>
                        </a:rPr>
                        <a:t> (ENG + BD)</a:t>
                      </a:r>
                      <a:br>
                        <a:rPr lang="en-US" sz="1200" b="1" i="0" u="none" strike="noStrike" dirty="0">
                          <a:solidFill>
                            <a:srgbClr val="000000"/>
                          </a:solidFill>
                          <a:effectLst/>
                          <a:latin typeface="Times New Roman" panose="02020603050405020304" pitchFamily="18" charset="0"/>
                          <a:cs typeface="Times New Roman" panose="02020603050405020304" pitchFamily="18" charset="0"/>
                        </a:rPr>
                      </a:br>
                      <a:r>
                        <a:rPr lang="en-US" sz="1200" b="1" i="0" u="none" strike="noStrike" dirty="0">
                          <a:solidFill>
                            <a:srgbClr val="000000"/>
                          </a:solidFill>
                          <a:effectLst/>
                          <a:latin typeface="Times New Roman" panose="02020603050405020304" pitchFamily="18" charset="0"/>
                          <a:cs typeface="Times New Roman" panose="02020603050405020304" pitchFamily="18" charset="0"/>
                        </a:rPr>
                        <a:t>(3) = (1) +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33787782"/>
                  </a:ext>
                </a:extLst>
              </a:tr>
              <a:tr h="401878">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A350 </a:t>
                      </a:r>
                      <a:r>
                        <a:rPr lang="en-US" sz="1200" b="1" i="0" u="none" strike="noStrike" dirty="0" err="1">
                          <a:solidFill>
                            <a:srgbClr val="000000"/>
                          </a:solidFill>
                          <a:effectLst/>
                          <a:latin typeface="Times New Roman" panose="02020603050405020304" pitchFamily="18" charset="0"/>
                          <a:cs typeface="Times New Roman" panose="02020603050405020304" pitchFamily="18" charset="0"/>
                        </a:rPr>
                        <a:t>thực</a:t>
                      </a:r>
                      <a:r>
                        <a:rPr lang="en-US" sz="1200" b="1" i="0" u="none" strike="noStrike" dirty="0">
                          <a:solidFill>
                            <a:srgbClr val="000000"/>
                          </a:solidFill>
                          <a:effectLst/>
                          <a:latin typeface="Times New Roman" panose="02020603050405020304" pitchFamily="18" charset="0"/>
                          <a:cs typeface="Times New Roman" panose="02020603050405020304" pitchFamily="18" charset="0"/>
                        </a:rPr>
                        <a:t> </a:t>
                      </a:r>
                      <a:r>
                        <a:rPr lang="en-US" sz="1200" b="1" i="0" u="none" strike="noStrike" dirty="0" err="1">
                          <a:solidFill>
                            <a:srgbClr val="000000"/>
                          </a:solidFill>
                          <a:effectLst/>
                          <a:latin typeface="Times New Roman" panose="02020603050405020304" pitchFamily="18" charset="0"/>
                          <a:cs typeface="Times New Roman" panose="02020603050405020304" pitchFamily="18" charset="0"/>
                        </a:rPr>
                        <a:t>tế</a:t>
                      </a:r>
                      <a:r>
                        <a:rPr lang="en-US" sz="1200" b="1" i="0" u="none" strike="noStrike" dirty="0">
                          <a:solidFill>
                            <a:srgbClr val="000000"/>
                          </a:solidFill>
                          <a:effectLst/>
                          <a:latin typeface="Times New Roman" panose="02020603050405020304" pitchFamily="18" charset="0"/>
                          <a:cs typeface="Times New Roman" panose="02020603050405020304" pitchFamily="18" charset="0"/>
                        </a:rPr>
                        <a:t> </a:t>
                      </a:r>
                      <a:r>
                        <a:rPr lang="en-US" sz="1200" b="1" i="0" u="none" strike="noStrike" dirty="0" err="1">
                          <a:solidFill>
                            <a:srgbClr val="000000"/>
                          </a:solidFill>
                          <a:effectLst/>
                          <a:latin typeface="Times New Roman" panose="02020603050405020304" pitchFamily="18" charset="0"/>
                          <a:cs typeface="Times New Roman" panose="02020603050405020304" pitchFamily="18" charset="0"/>
                        </a:rPr>
                        <a:t>có</a:t>
                      </a:r>
                      <a:r>
                        <a:rPr lang="en-US" sz="1200" b="1" i="0" u="none" strike="noStrike" dirty="0">
                          <a:solidFill>
                            <a:srgbClr val="000000"/>
                          </a:solidFill>
                          <a:effectLst/>
                          <a:latin typeface="Times New Roman" panose="02020603050405020304" pitchFamily="18" charset="0"/>
                          <a:cs typeface="Times New Roman" panose="02020603050405020304" pitchFamily="18" charset="0"/>
                        </a:rPr>
                        <a:t> </a:t>
                      </a:r>
                      <a:r>
                        <a:rPr lang="en-US" sz="1200" b="1" i="0" u="none" strike="noStrike" dirty="0" err="1">
                          <a:solidFill>
                            <a:srgbClr val="000000"/>
                          </a:solidFill>
                          <a:effectLst/>
                          <a:latin typeface="Times New Roman" panose="02020603050405020304" pitchFamily="18" charset="0"/>
                          <a:cs typeface="Times New Roman" panose="02020603050405020304" pitchFamily="18" charset="0"/>
                        </a:rPr>
                        <a:t>thể</a:t>
                      </a:r>
                      <a:r>
                        <a:rPr lang="en-US" sz="1200" b="1" i="0" u="none" strike="noStrike" dirty="0">
                          <a:solidFill>
                            <a:srgbClr val="000000"/>
                          </a:solidFill>
                          <a:effectLst/>
                          <a:latin typeface="Times New Roman" panose="02020603050405020304" pitchFamily="18" charset="0"/>
                          <a:cs typeface="Times New Roman" panose="02020603050405020304" pitchFamily="18" charset="0"/>
                        </a:rPr>
                        <a:t> </a:t>
                      </a:r>
                      <a:r>
                        <a:rPr lang="en-US" sz="1200" b="1" i="0" u="none" strike="noStrike" dirty="0" err="1">
                          <a:solidFill>
                            <a:srgbClr val="000000"/>
                          </a:solidFill>
                          <a:effectLst/>
                          <a:latin typeface="Times New Roman" panose="02020603050405020304" pitchFamily="18" charset="0"/>
                          <a:cs typeface="Times New Roman" panose="02020603050405020304" pitchFamily="18" charset="0"/>
                        </a:rPr>
                        <a:t>khai</a:t>
                      </a:r>
                      <a:r>
                        <a:rPr lang="en-US" sz="1200" b="1" i="0" u="none" strike="noStrike" dirty="0">
                          <a:solidFill>
                            <a:srgbClr val="000000"/>
                          </a:solidFill>
                          <a:effectLst/>
                          <a:latin typeface="Times New Roman" panose="02020603050405020304" pitchFamily="18" charset="0"/>
                          <a:cs typeface="Times New Roman" panose="02020603050405020304" pitchFamily="18" charset="0"/>
                        </a:rPr>
                        <a:t> </a:t>
                      </a:r>
                      <a:r>
                        <a:rPr lang="en-US" sz="1200" b="1" i="0" u="none" strike="noStrike" dirty="0" err="1">
                          <a:solidFill>
                            <a:srgbClr val="000000"/>
                          </a:solidFill>
                          <a:effectLst/>
                          <a:latin typeface="Times New Roman" panose="02020603050405020304" pitchFamily="18" charset="0"/>
                          <a:cs typeface="Times New Roman" panose="02020603050405020304" pitchFamily="18" charset="0"/>
                        </a:rPr>
                        <a:t>thác</a:t>
                      </a:r>
                      <a:r>
                        <a:rPr lang="en-US" sz="1200" b="1" i="0" u="none" strike="noStrike" dirty="0">
                          <a:solidFill>
                            <a:srgbClr val="000000"/>
                          </a:solidFill>
                          <a:effectLst/>
                          <a:latin typeface="Times New Roman" panose="02020603050405020304" pitchFamily="18" charset="0"/>
                          <a:cs typeface="Times New Roman" panose="02020603050405020304" pitchFamily="18" charset="0"/>
                        </a:rPr>
                        <a:t/>
                      </a:r>
                      <a:br>
                        <a:rPr lang="en-US" sz="1200" b="1" i="0" u="none" strike="noStrike" dirty="0">
                          <a:solidFill>
                            <a:srgbClr val="000000"/>
                          </a:solidFill>
                          <a:effectLst/>
                          <a:latin typeface="Times New Roman" panose="02020603050405020304" pitchFamily="18" charset="0"/>
                          <a:cs typeface="Times New Roman" panose="02020603050405020304" pitchFamily="18" charset="0"/>
                        </a:rPr>
                      </a:br>
                      <a:r>
                        <a:rPr lang="en-US" sz="1200" b="1" i="0" u="none" strike="noStrike" dirty="0">
                          <a:solidFill>
                            <a:srgbClr val="000000"/>
                          </a:solidFill>
                          <a:effectLst/>
                          <a:latin typeface="Times New Roman" panose="02020603050405020304" pitchFamily="18" charset="0"/>
                          <a:cs typeface="Times New Roman" panose="02020603050405020304" pitchFamily="18" charset="0"/>
                        </a:rPr>
                        <a:t>(4) = 14 -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317370457"/>
                  </a:ext>
                </a:extLst>
              </a:tr>
              <a:tr h="382321">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dirty="0">
                          <a:solidFill>
                            <a:srgbClr val="000000"/>
                          </a:solidFill>
                          <a:effectLst/>
                          <a:latin typeface="Times New Roman" panose="02020603050405020304" pitchFamily="18" charset="0"/>
                          <a:cs typeface="Times New Roman" panose="02020603050405020304" pitchFamily="18" charset="0"/>
                        </a:rPr>
                        <a:t>B787 rủi ro AOG do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61437020"/>
                  </a:ext>
                </a:extLst>
              </a:tr>
              <a:tr h="401878">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B787 dừng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vi-VN" sz="1200" b="0" i="0" u="none" strike="noStrike" dirty="0">
                          <a:solidFill>
                            <a:schemeClr val="tx1"/>
                          </a:solidFill>
                          <a:effectLst/>
                          <a:latin typeface="Times New Roman" panose="02020603050405020304" pitchFamily="18" charset="0"/>
                          <a:cs typeface="Times New Roman" panose="02020603050405020304" pitchFamily="18" charset="0"/>
                        </a:rPr>
                        <a:t>03/2025: tăng 0.3 tàu dừng do bổ sung sơn cánh A870 từ 18-27/03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587251946"/>
                  </a:ext>
                </a:extLst>
              </a:tr>
              <a:tr h="401878">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nb-NO" sz="1200" b="1" i="0" u="none" strike="noStrike">
                          <a:solidFill>
                            <a:srgbClr val="000000"/>
                          </a:solidFill>
                          <a:effectLst/>
                          <a:latin typeface="Times New Roman" panose="02020603050405020304" pitchFamily="18" charset="0"/>
                          <a:cs typeface="Times New Roman" panose="02020603050405020304" pitchFamily="18" charset="0"/>
                        </a:rPr>
                        <a:t>B787 Dừng (ENG + BD)</a:t>
                      </a:r>
                      <a:br>
                        <a:rPr lang="nb-NO" sz="1200" b="1" i="0" u="none" strike="noStrike">
                          <a:solidFill>
                            <a:srgbClr val="000000"/>
                          </a:solidFill>
                          <a:effectLst/>
                          <a:latin typeface="Times New Roman" panose="02020603050405020304" pitchFamily="18" charset="0"/>
                          <a:cs typeface="Times New Roman" panose="02020603050405020304" pitchFamily="18" charset="0"/>
                        </a:rPr>
                      </a:br>
                      <a:r>
                        <a:rPr lang="nb-NO" sz="1200" b="1" i="0" u="none" strike="noStrike">
                          <a:solidFill>
                            <a:srgbClr val="000000"/>
                          </a:solidFill>
                          <a:effectLst/>
                          <a:latin typeface="Times New Roman" panose="02020603050405020304" pitchFamily="18" charset="0"/>
                          <a:cs typeface="Times New Roman" panose="02020603050405020304" pitchFamily="18" charset="0"/>
                        </a:rPr>
                        <a:t>(7) = (5) + (6)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86197364"/>
                  </a:ext>
                </a:extLst>
              </a:tr>
              <a:tr h="401878">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B787 thực tế có thể khai thác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415788958"/>
                  </a:ext>
                </a:extLst>
              </a:tr>
              <a:tr h="401878">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A350/B787 dừng ( ENG + BD)</a:t>
                      </a:r>
                      <a:br>
                        <a:rPr lang="en-US" sz="1200" b="1" i="0" u="none" strike="noStrike">
                          <a:solidFill>
                            <a:srgbClr val="000000"/>
                          </a:solidFill>
                          <a:effectLst/>
                          <a:latin typeface="Times New Roman" panose="02020603050405020304" pitchFamily="18" charset="0"/>
                          <a:cs typeface="Times New Roman" panose="02020603050405020304" pitchFamily="18" charset="0"/>
                        </a:rPr>
                      </a:br>
                      <a:r>
                        <a:rPr lang="en-US" sz="1200" b="1" i="0" u="none" strike="noStrike">
                          <a:solidFill>
                            <a:srgbClr val="000000"/>
                          </a:solidFill>
                          <a:effectLst/>
                          <a:latin typeface="Times New Roman" panose="02020603050405020304" pitchFamily="18" charset="0"/>
                          <a:cs typeface="Times New Roman" panose="02020603050405020304" pitchFamily="18" charset="0"/>
                        </a:rPr>
                        <a:t>(9) = (3) + (7)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6.6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8094851"/>
                  </a:ext>
                </a:extLst>
              </a:tr>
              <a:tr h="401878">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A350/B787 thực tế có thể khai thác</a:t>
                      </a:r>
                      <a:br>
                        <a:rPr lang="en-US" sz="1200" b="1" i="0" u="none" strike="noStrike">
                          <a:solidFill>
                            <a:srgbClr val="000000"/>
                          </a:solidFill>
                          <a:effectLst/>
                          <a:latin typeface="Times New Roman" panose="02020603050405020304" pitchFamily="18" charset="0"/>
                          <a:cs typeface="Times New Roman" panose="02020603050405020304" pitchFamily="18" charset="0"/>
                        </a:rPr>
                      </a:br>
                      <a:r>
                        <a:rPr lang="en-US" sz="1200" b="1" i="0" u="none" strike="noStrike">
                          <a:solidFill>
                            <a:srgbClr val="000000"/>
                          </a:solidFill>
                          <a:effectLst/>
                          <a:latin typeface="Times New Roman" panose="02020603050405020304" pitchFamily="18" charset="0"/>
                          <a:cs typeface="Times New Roman" panose="02020603050405020304" pitchFamily="18" charset="0"/>
                        </a:rPr>
                        <a:t>(10) = (8) + (4)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25.3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28.5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284634678"/>
                  </a:ext>
                </a:extLst>
              </a:tr>
            </a:tbl>
          </a:graphicData>
        </a:graphic>
      </p:graphicFrame>
    </p:spTree>
    <p:extLst>
      <p:ext uri="{BB962C8B-B14F-4D97-AF65-F5344CB8AC3E}">
        <p14:creationId xmlns:p14="http://schemas.microsoft.com/office/powerpoint/2010/main" val="17393995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12"/>
          </p:nvPr>
        </p:nvSpPr>
        <p:spPr>
          <a:xfrm>
            <a:off x="8581061" y="6162545"/>
            <a:ext cx="2743200" cy="365125"/>
          </a:xfrm>
        </p:spPr>
        <p:txBody>
          <a:bodyPr>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1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1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21" name="TextBox 20"/>
          <p:cNvSpPr txBox="1"/>
          <p:nvPr/>
        </p:nvSpPr>
        <p:spPr>
          <a:xfrm>
            <a:off x="7070" y="39402"/>
            <a:ext cx="12184930" cy="507831"/>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lvl1pPr algn="ctr" eaLnBrk="0" fontAlgn="auto" hangingPunct="0">
              <a:spcBef>
                <a:spcPts val="0"/>
              </a:spcBef>
              <a:spcAft>
                <a:spcPts val="0"/>
              </a:spcAft>
              <a:defRPr sz="3600" b="1" i="0">
                <a:ln w="0"/>
                <a:solidFill>
                  <a:srgbClr val="FFC000"/>
                </a:solidFill>
                <a:latin typeface="Times New Roman" panose="02020603050405020304" pitchFamily="18" charset="0"/>
                <a:ea typeface="+mn-ea"/>
                <a:cs typeface="Times New Roman" panose="02020603050405020304" pitchFamily="18" charset="0"/>
              </a:defRPr>
            </a:lvl1pPr>
            <a:lvl2pPr algn="ctr" eaLnBrk="0" hangingPunct="0">
              <a:defRPr sz="4400">
                <a:solidFill>
                  <a:srgbClr val="404040"/>
                </a:solidFill>
                <a:latin typeface="Calibri" pitchFamily="34" charset="0"/>
                <a:cs typeface="ＭＳ Ｐゴシック" charset="0"/>
              </a:defRPr>
            </a:lvl2pPr>
            <a:lvl3pPr algn="ctr" eaLnBrk="0" hangingPunct="0">
              <a:defRPr sz="4400">
                <a:solidFill>
                  <a:srgbClr val="404040"/>
                </a:solidFill>
                <a:latin typeface="Calibri" pitchFamily="34" charset="0"/>
                <a:cs typeface="ＭＳ Ｐゴシック" charset="0"/>
              </a:defRPr>
            </a:lvl3pPr>
            <a:lvl4pPr algn="ctr" eaLnBrk="0" hangingPunct="0">
              <a:defRPr sz="4400">
                <a:solidFill>
                  <a:srgbClr val="404040"/>
                </a:solidFill>
                <a:latin typeface="Calibri" pitchFamily="34" charset="0"/>
                <a:cs typeface="ＭＳ Ｐゴシック" charset="0"/>
              </a:defRPr>
            </a:lvl4pPr>
            <a:lvl5pPr algn="ctr" eaLnBrk="0" hangingPunct="0">
              <a:defRPr sz="4400">
                <a:solidFill>
                  <a:srgbClr val="404040"/>
                </a:solidFill>
                <a:latin typeface="Calibri" pitchFamily="34" charset="0"/>
                <a:cs typeface="ＭＳ Ｐゴシック" charset="0"/>
              </a:defRPr>
            </a:lvl5pPr>
            <a:lvl6pPr marL="457200" algn="ctr" fontAlgn="base">
              <a:spcBef>
                <a:spcPct val="0"/>
              </a:spcBef>
              <a:spcAft>
                <a:spcPct val="0"/>
              </a:spcAft>
              <a:defRPr sz="4400">
                <a:solidFill>
                  <a:schemeClr val="bg1"/>
                </a:solidFill>
                <a:latin typeface="Calibri" pitchFamily="34" charset="0"/>
              </a:defRPr>
            </a:lvl6pPr>
            <a:lvl7pPr marL="914400" algn="ctr" fontAlgn="base">
              <a:spcBef>
                <a:spcPct val="0"/>
              </a:spcBef>
              <a:spcAft>
                <a:spcPct val="0"/>
              </a:spcAft>
              <a:defRPr sz="4400">
                <a:solidFill>
                  <a:schemeClr val="bg1"/>
                </a:solidFill>
                <a:latin typeface="Calibri" pitchFamily="34" charset="0"/>
              </a:defRPr>
            </a:lvl7pPr>
            <a:lvl8pPr marL="1371600" algn="ctr" fontAlgn="base">
              <a:spcBef>
                <a:spcPct val="0"/>
              </a:spcBef>
              <a:spcAft>
                <a:spcPct val="0"/>
              </a:spcAft>
              <a:defRPr sz="4400">
                <a:solidFill>
                  <a:schemeClr val="bg1"/>
                </a:solidFill>
                <a:latin typeface="Calibri" pitchFamily="34" charset="0"/>
              </a:defRPr>
            </a:lvl8pPr>
            <a:lvl9pPr marL="1828800" algn="ctr" fontAlgn="base">
              <a:spcBef>
                <a:spcPct val="0"/>
              </a:spcBef>
              <a:spcAft>
                <a:spcPct val="0"/>
              </a:spcAft>
              <a:defRPr sz="4400">
                <a:solidFill>
                  <a:schemeClr val="bg1"/>
                </a:solidFill>
                <a:latin typeface="Calibri" pitchFamily="34" charset="0"/>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sz="2700" b="1" i="0" u="none" strike="noStrike" kern="1200" cap="none" spc="0" normalizeH="0" baseline="0" noProof="0" dirty="0">
                <a:ln w="0"/>
                <a:solidFill>
                  <a:srgbClr val="FFC000"/>
                </a:solidFill>
                <a:effectLst/>
                <a:uLnTx/>
                <a:uFillTx/>
                <a:latin typeface="Times New Roman" panose="02020603050405020304" pitchFamily="18" charset="0"/>
                <a:ea typeface="+mn-ea"/>
                <a:cs typeface="Times New Roman" panose="02020603050405020304" pitchFamily="18" charset="0"/>
              </a:rPr>
              <a:t>HỎNG HÓC CABIN ẢNH HƯỞNG KHAI THÁC VÀ PTVT – TUẦN </a:t>
            </a:r>
            <a:r>
              <a:rPr kumimoji="0" lang="en-US" sz="2700" b="1" i="0" u="none" strike="noStrike" kern="1200" cap="none" spc="0" normalizeH="0" baseline="0" noProof="0" dirty="0" smtClean="0">
                <a:ln w="0"/>
                <a:solidFill>
                  <a:srgbClr val="FFC000"/>
                </a:solidFill>
                <a:effectLst/>
                <a:uLnTx/>
                <a:uFillTx/>
                <a:latin typeface="Times New Roman" panose="02020603050405020304" pitchFamily="18" charset="0"/>
                <a:ea typeface="+mn-ea"/>
                <a:cs typeface="Times New Roman" panose="02020603050405020304" pitchFamily="18" charset="0"/>
              </a:rPr>
              <a:t>06</a:t>
            </a:r>
            <a:endParaRPr kumimoji="0" lang="vi-VN" sz="2700" b="1" i="0" u="none" strike="noStrike" kern="1200" cap="none" spc="0" normalizeH="0" baseline="0" noProof="0" dirty="0">
              <a:ln w="0"/>
              <a:solidFill>
                <a:srgbClr val="FFC000"/>
              </a:solidFill>
              <a:effectLst/>
              <a:uLnTx/>
              <a:uFillTx/>
              <a:latin typeface="Times New Roman" panose="02020603050405020304" pitchFamily="18" charset="0"/>
              <a:ea typeface="+mn-ea"/>
              <a:cs typeface="Times New Roman" panose="02020603050405020304" pitchFamily="18" charset="0"/>
            </a:endParaRPr>
          </a:p>
        </p:txBody>
      </p:sp>
      <p:sp>
        <p:nvSpPr>
          <p:cNvPr id="24" name="TextBox 23"/>
          <p:cNvSpPr txBox="1"/>
          <p:nvPr/>
        </p:nvSpPr>
        <p:spPr>
          <a:xfrm>
            <a:off x="348662" y="4148913"/>
            <a:ext cx="10876298" cy="2512996"/>
          </a:xfrm>
          <a:prstGeom prst="rect">
            <a:avLst/>
          </a:prstGeom>
          <a:noFill/>
        </p:spPr>
        <p:style>
          <a:lnRef idx="2">
            <a:schemeClr val="accent6"/>
          </a:lnRef>
          <a:fillRef idx="1">
            <a:schemeClr val="lt1"/>
          </a:fillRef>
          <a:effectRef idx="0">
            <a:schemeClr val="accent6"/>
          </a:effectRef>
          <a:fontRef idx="minor">
            <a:schemeClr val="dk1"/>
          </a:fontRef>
        </p:style>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1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Nội</a:t>
            </a: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dung </a:t>
            </a:r>
            <a:r>
              <a:rPr kumimoji="0" lang="en-US" sz="11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khác</a:t>
            </a: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285750" marR="0" lvl="0" indent="-285750" algn="l" defTabSz="914400" rtl="0" eaLnBrk="1" fontAlgn="auto" latinLnBrk="0" hangingPunct="1">
              <a:lnSpc>
                <a:spcPct val="130000"/>
              </a:lnSpc>
              <a:spcBef>
                <a:spcPts val="0"/>
              </a:spcBef>
              <a:spcAft>
                <a:spcPts val="0"/>
              </a:spcAft>
              <a:buClrTx/>
              <a:buSzTx/>
              <a:buFontTx/>
              <a:buChar char="-"/>
              <a:tabLst/>
              <a:defRPr/>
            </a:pP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Tháo PCU 787: </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Đã thực hiện 07 tàu A861, A862 ,A863, A865, A866, A867, A868 (trong tuần thực hiện 01 tàu ) =&gt; tiếp tục thực hiện 04 tàu còn lại sau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cao</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điểm</a:t>
            </a:r>
            <a:endPar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30000"/>
              </a:lnSpc>
              <a:spcBef>
                <a:spcPts val="0"/>
              </a:spcBef>
              <a:spcAft>
                <a:spcPts val="0"/>
              </a:spcAft>
              <a:buClrTx/>
              <a:buSzTx/>
              <a:buFontTx/>
              <a:buChar char="-"/>
              <a:tabLst/>
              <a:defRPr/>
            </a:pP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IFC 10 tàu A350: </a:t>
            </a:r>
          </a:p>
          <a:p>
            <a:pPr marL="742950" marR="0" lvl="1" indent="-285750" algn="l" defTabSz="914400" rtl="0" eaLnBrk="1" fontAlgn="auto" latinLnBrk="0" hangingPunct="1">
              <a:lnSpc>
                <a:spcPct val="130000"/>
              </a:lnSpc>
              <a:spcBef>
                <a:spcPts val="0"/>
              </a:spcBef>
              <a:spcAft>
                <a:spcPts val="0"/>
              </a:spcAft>
              <a:buClrTx/>
              <a:buSzTx/>
              <a:buFontTx/>
              <a:buChar char="-"/>
              <a:tabLst/>
              <a:defRPr/>
            </a:pP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Đã phát PO mua vật tư dự phòng, PO mua tài liệu TSM. Vật tư dự phòng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bắt</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đầu</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giao 2/2025, MPS và FSAT ban giao 3/2025.</a:t>
            </a:r>
          </a:p>
          <a:p>
            <a:pPr marL="742950" marR="0" lvl="1" indent="-285750" algn="l" defTabSz="914400" rtl="0" eaLnBrk="1" fontAlgn="auto" latinLnBrk="0" hangingPunct="1">
              <a:lnSpc>
                <a:spcPct val="130000"/>
              </a:lnSpc>
              <a:spcBef>
                <a:spcPts val="0"/>
              </a:spcBef>
              <a:spcAft>
                <a:spcPts val="0"/>
              </a:spcAft>
              <a:buClrTx/>
              <a:buSzTx/>
              <a:buFontTx/>
              <a:buChar char="-"/>
              <a:tabLst/>
              <a:defRPr/>
            </a:pP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Đã gửi 02 shipset tàu bảo quản đi nâng cấp firmwarre, TAT 60-70 ngày =&gt; tiếp tục giục Thales &amp; Honeywell,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vật</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tư</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đến</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shop</a:t>
            </a:r>
          </a:p>
          <a:p>
            <a:pPr marL="742950" marR="0" lvl="1" indent="-285750" algn="l" defTabSz="914400" rtl="0" eaLnBrk="1" fontAlgn="auto" latinLnBrk="0" hangingPunct="1">
              <a:lnSpc>
                <a:spcPct val="130000"/>
              </a:lnSpc>
              <a:spcBef>
                <a:spcPts val="0"/>
              </a:spcBef>
              <a:spcAft>
                <a:spcPts val="0"/>
              </a:spcAft>
              <a:buClrTx/>
              <a:buSzTx/>
              <a:buFontTx/>
              <a:buChar char="-"/>
              <a:tabLst/>
              <a:defRPr/>
            </a:pP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02 antena gửi sửa chữa shop dự kiến về đầu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tháng</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3/2025: </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01 </a:t>
            </a:r>
            <a:r>
              <a:rPr kumimoji="0" lang="en-US" sz="1100" b="0" i="0" u="none" strike="noStrike" kern="1200" cap="none" spc="0" normalizeH="0" baseline="0" noProof="0" dirty="0" err="1" smtClean="0">
                <a:ln>
                  <a:noFill/>
                </a:ln>
                <a:solidFill>
                  <a:srgbClr val="FF0000"/>
                </a:solidFill>
                <a:effectLst/>
                <a:uLnTx/>
                <a:uFillTx/>
                <a:latin typeface="Times New Roman" panose="02020603050405020304" pitchFamily="18" charset="0"/>
                <a:ea typeface="+mn-ea"/>
                <a:cs typeface="Times New Roman" panose="02020603050405020304" pitchFamily="18" charset="0"/>
              </a:rPr>
              <a:t>khối</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 exchange </a:t>
            </a:r>
            <a:r>
              <a:rPr kumimoji="0" lang="en-US" sz="1100" b="0" i="0" u="none" strike="noStrike" kern="1200" cap="none" spc="0" normalizeH="0" baseline="0" noProof="0" dirty="0" err="1" smtClean="0">
                <a:ln>
                  <a:noFill/>
                </a:ln>
                <a:solidFill>
                  <a:srgbClr val="FF0000"/>
                </a:solidFill>
                <a:effectLst/>
                <a:uLnTx/>
                <a:uFillTx/>
                <a:latin typeface="Times New Roman" panose="02020603050405020304" pitchFamily="18" charset="0"/>
                <a:ea typeface="+mn-ea"/>
                <a:cs typeface="Times New Roman" panose="02020603050405020304" pitchFamily="18" charset="0"/>
              </a:rPr>
              <a:t>đã</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smtClean="0">
                <a:ln>
                  <a:noFill/>
                </a:ln>
                <a:solidFill>
                  <a:srgbClr val="FF0000"/>
                </a:solidFill>
                <a:effectLst/>
                <a:uLnTx/>
                <a:uFillTx/>
                <a:latin typeface="Times New Roman" panose="02020603050405020304" pitchFamily="18" charset="0"/>
                <a:ea typeface="+mn-ea"/>
                <a:cs typeface="Times New Roman" panose="02020603050405020304" pitchFamily="18" charset="0"/>
              </a:rPr>
              <a:t>về</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smtClean="0">
                <a:ln>
                  <a:noFill/>
                </a:ln>
                <a:solidFill>
                  <a:srgbClr val="FF0000"/>
                </a:solidFill>
                <a:effectLst/>
                <a:uLnTx/>
                <a:uFillTx/>
                <a:latin typeface="Times New Roman" panose="02020603050405020304" pitchFamily="18" charset="0"/>
                <a:ea typeface="+mn-ea"/>
                <a:cs typeface="Times New Roman" panose="02020603050405020304" pitchFamily="18" charset="0"/>
              </a:rPr>
              <a:t>thay</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smtClean="0">
                <a:ln>
                  <a:noFill/>
                </a:ln>
                <a:solidFill>
                  <a:srgbClr val="FF0000"/>
                </a:solidFill>
                <a:effectLst/>
                <a:uLnTx/>
                <a:uFillTx/>
                <a:latin typeface="Times New Roman" panose="02020603050405020304" pitchFamily="18" charset="0"/>
                <a:ea typeface="+mn-ea"/>
                <a:cs typeface="Times New Roman" panose="02020603050405020304" pitchFamily="18" charset="0"/>
              </a:rPr>
              <a:t>cho</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 A893 A check </a:t>
            </a:r>
            <a:r>
              <a:rPr kumimoji="0" lang="en-US" sz="1100" b="0" i="0" u="none" strike="noStrike" kern="1200" cap="none" spc="0" normalizeH="0" baseline="0" noProof="0" dirty="0" err="1" smtClean="0">
                <a:ln>
                  <a:noFill/>
                </a:ln>
                <a:solidFill>
                  <a:srgbClr val="FF0000"/>
                </a:solidFill>
                <a:effectLst/>
                <a:uLnTx/>
                <a:uFillTx/>
                <a:latin typeface="Times New Roman" panose="02020603050405020304" pitchFamily="18" charset="0"/>
                <a:ea typeface="+mn-ea"/>
                <a:cs typeface="Times New Roman" panose="02020603050405020304" pitchFamily="18" charset="0"/>
              </a:rPr>
              <a:t>đầu</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smtClean="0">
                <a:ln>
                  <a:noFill/>
                </a:ln>
                <a:solidFill>
                  <a:srgbClr val="FF0000"/>
                </a:solidFill>
                <a:effectLst/>
                <a:uLnTx/>
                <a:uFillTx/>
                <a:latin typeface="Times New Roman" panose="02020603050405020304" pitchFamily="18" charset="0"/>
                <a:ea typeface="+mn-ea"/>
                <a:cs typeface="Times New Roman" panose="02020603050405020304" pitchFamily="18" charset="0"/>
              </a:rPr>
              <a:t>tháng</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 3, 01 </a:t>
            </a:r>
            <a:r>
              <a:rPr kumimoji="0" lang="en-US" sz="1100" b="0" i="0" u="none" strike="noStrike" kern="1200" cap="none" spc="0" normalizeH="0" baseline="0" noProof="0" dirty="0" err="1" smtClean="0">
                <a:ln>
                  <a:noFill/>
                </a:ln>
                <a:solidFill>
                  <a:srgbClr val="FF0000"/>
                </a:solidFill>
                <a:effectLst/>
                <a:uLnTx/>
                <a:uFillTx/>
                <a:latin typeface="Times New Roman" panose="02020603050405020304" pitchFamily="18" charset="0"/>
                <a:ea typeface="+mn-ea"/>
                <a:cs typeface="Times New Roman" panose="02020603050405020304" pitchFamily="18" charset="0"/>
              </a:rPr>
              <a:t>khối</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smtClean="0">
                <a:ln>
                  <a:noFill/>
                </a:ln>
                <a:solidFill>
                  <a:srgbClr val="FF0000"/>
                </a:solidFill>
                <a:effectLst/>
                <a:uLnTx/>
                <a:uFillTx/>
                <a:latin typeface="Times New Roman" panose="02020603050405020304" pitchFamily="18" charset="0"/>
                <a:ea typeface="+mn-ea"/>
                <a:cs typeface="Times New Roman" panose="02020603050405020304" pitchFamily="18" charset="0"/>
              </a:rPr>
              <a:t>chờ</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 exchange approval</a:t>
            </a:r>
          </a:p>
          <a:p>
            <a:pPr marL="742950" marR="0" lvl="1" indent="-285750" algn="l" defTabSz="914400" rtl="0" eaLnBrk="1" fontAlgn="auto" latinLnBrk="0" hangingPunct="1">
              <a:lnSpc>
                <a:spcPct val="130000"/>
              </a:lnSpc>
              <a:spcBef>
                <a:spcPts val="0"/>
              </a:spcBef>
              <a:spcAft>
                <a:spcPts val="0"/>
              </a:spcAft>
              <a:buClrTx/>
              <a:buSzTx/>
              <a:buFontTx/>
              <a:buChar char="-"/>
              <a:tabLst/>
              <a:defRPr/>
            </a:pPr>
            <a:r>
              <a:rPr kumimoji="0" lang="en-US" sz="11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rPr>
              <a:t>Đào</a:t>
            </a:r>
            <a:r>
              <a:rPr kumimoji="0" lang="en-US" sz="11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tạo IFC VAECO dự kiến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tháng</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19-20/2/2025</a:t>
            </a:r>
          </a:p>
          <a:p>
            <a:pPr marL="285750" marR="0" lvl="0" indent="-285750" algn="l" defTabSz="914400" rtl="0" eaLnBrk="1" fontAlgn="auto" latinLnBrk="0" hangingPunct="1">
              <a:lnSpc>
                <a:spcPct val="130000"/>
              </a:lnSpc>
              <a:spcBef>
                <a:spcPts val="0"/>
              </a:spcBef>
              <a:spcAft>
                <a:spcPts val="0"/>
              </a:spcAft>
              <a:buClrTx/>
              <a:buSzTx/>
              <a:buFontTx/>
              <a:buChar char="-"/>
              <a:tabLst/>
              <a:defRPr/>
            </a:pP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CĐCH ghế 23 tàu A321CEO:</a:t>
            </a:r>
          </a:p>
          <a:p>
            <a:pPr marL="742950" marR="0" lvl="1" indent="-285750" algn="l" defTabSz="914400" rtl="0" eaLnBrk="1" fontAlgn="auto" latinLnBrk="0" hangingPunct="1">
              <a:lnSpc>
                <a:spcPct val="130000"/>
              </a:lnSpc>
              <a:spcBef>
                <a:spcPts val="0"/>
              </a:spcBef>
              <a:spcAft>
                <a:spcPts val="0"/>
              </a:spcAft>
              <a:buClrTx/>
              <a:buSzTx/>
              <a:buFontTx/>
              <a:buChar char="-"/>
              <a:tabLst/>
              <a:defRPr/>
            </a:pP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Đã phát HSYC lần 1,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tổ</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làm rõ bản chào lần 1 của đối tác. Trong các đối tác tham gia chào giá, AIB: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mới</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chào</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ROM.</a:t>
            </a:r>
          </a:p>
          <a:p>
            <a:pPr marL="742950" marR="0" lvl="1" indent="-285750" algn="l" defTabSz="914400" rtl="0" eaLnBrk="1" fontAlgn="auto" latinLnBrk="0" hangingPunct="1">
              <a:lnSpc>
                <a:spcPct val="130000"/>
              </a:lnSpc>
              <a:spcBef>
                <a:spcPts val="0"/>
              </a:spcBef>
              <a:spcAft>
                <a:spcPts val="0"/>
              </a:spcAft>
              <a:buClrTx/>
              <a:buSzTx/>
              <a:buFontTx/>
              <a:buChar char="-"/>
              <a:tabLst/>
              <a:defRPr/>
            </a:pP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Tổ</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trình</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HSYC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lần</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chờ</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duyệt</a:t>
            </a:r>
            <a:endPar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auto" latinLnBrk="0" hangingPunct="1">
              <a:lnSpc>
                <a:spcPct val="130000"/>
              </a:lnSpc>
              <a:spcBef>
                <a:spcPts val="0"/>
              </a:spcBef>
              <a:spcAft>
                <a:spcPts val="0"/>
              </a:spcAft>
              <a:buClrTx/>
              <a:buSzTx/>
              <a:buFontTx/>
              <a:buChar char="-"/>
              <a:tabLst/>
              <a:defRPr/>
            </a:pPr>
            <a:r>
              <a:rPr kumimoji="0" lang="en-US" sz="11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Tổ</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smtClean="0">
                <a:ln>
                  <a:noFill/>
                </a:ln>
                <a:solidFill>
                  <a:srgbClr val="FF0000"/>
                </a:solidFill>
                <a:effectLst/>
                <a:uLnTx/>
                <a:uFillTx/>
                <a:latin typeface="Times New Roman" panose="02020603050405020304" pitchFamily="18" charset="0"/>
                <a:ea typeface="+mn-ea"/>
                <a:cs typeface="Times New Roman" panose="02020603050405020304" pitchFamily="18" charset="0"/>
              </a:rPr>
              <a:t>đã</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smtClean="0">
                <a:ln>
                  <a:noFill/>
                </a:ln>
                <a:solidFill>
                  <a:srgbClr val="FF0000"/>
                </a:solidFill>
                <a:effectLst/>
                <a:uLnTx/>
                <a:uFillTx/>
                <a:latin typeface="Times New Roman" panose="02020603050405020304" pitchFamily="18" charset="0"/>
                <a:ea typeface="+mn-ea"/>
                <a:cs typeface="Times New Roman" panose="02020603050405020304" pitchFamily="18" charset="0"/>
              </a:rPr>
              <a:t>gửi</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bản chào lần 2 trong </a:t>
            </a:r>
            <a:r>
              <a:rPr kumimoji="0" lang="en-US" sz="11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tuần</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06/2025, deadline 10/2/2025</a:t>
            </a:r>
            <a:endPar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sp>
        <p:nvSpPr>
          <p:cNvPr id="22" name="TextBox 21"/>
          <p:cNvSpPr txBox="1"/>
          <p:nvPr/>
        </p:nvSpPr>
        <p:spPr>
          <a:xfrm>
            <a:off x="366570" y="3141696"/>
            <a:ext cx="10862852" cy="938719"/>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Galley:</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Hỏng hóc wine chiller</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còn </a:t>
            </a:r>
            <a:r>
              <a:rPr kumimoji="0" lang="en-US" sz="11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hỏng</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11 ea.</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Tiến</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sửa</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chữa</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tại</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shop</a:t>
            </a:r>
          </a:p>
          <a:p>
            <a:pPr marL="742950" marR="0" lvl="1" indent="-285750" algn="l" defTabSz="914400" rtl="0" eaLnBrk="1" fontAlgn="auto" latinLnBrk="0" hangingPunct="1">
              <a:lnSpc>
                <a:spcPct val="100000"/>
              </a:lnSpc>
              <a:spcBef>
                <a:spcPts val="0"/>
              </a:spcBef>
              <a:spcAft>
                <a:spcPts val="0"/>
              </a:spcAft>
              <a:buClr>
                <a:srgbClr val="000000"/>
              </a:buClr>
              <a:buSzPts val="1300"/>
              <a:buFont typeface="Arial" panose="020B0604020202020204" pitchFamily="34" charset="0"/>
              <a:buChar char="•"/>
              <a:tabLst/>
              <a:defRPr/>
            </a:pPr>
            <a:r>
              <a:rPr kumimoji="0" lang="vi-VN"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Chiller B787: </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05</a:t>
            </a:r>
            <a:r>
              <a:rPr kumimoji="0" lang="vi-VN"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ADD; </a:t>
            </a:r>
            <a:r>
              <a:rPr kumimoji="0" lang="en-US" sz="1100" b="0" i="0" u="none" strike="noStrike" kern="1200" cap="none" spc="0" normalizeH="0" baseline="0" noProof="0" dirty="0">
                <a:ln>
                  <a:noFill/>
                </a:ln>
                <a:solidFill>
                  <a:prstClr val="black"/>
                </a:solidFill>
                <a:effectLst/>
                <a:uLnTx/>
                <a:uFillTx/>
                <a:latin typeface="Times New Roman"/>
                <a:ea typeface="Times New Roman"/>
                <a:cs typeface="Times New Roman"/>
                <a:sym typeface="Times New Roman"/>
              </a:rPr>
              <a:t>04RO </a:t>
            </a:r>
            <a:r>
              <a:rPr kumimoji="0" lang="vi-VN"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chưa có EDD</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01RO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EDD 15/2</a:t>
            </a:r>
          </a:p>
          <a:p>
            <a:pPr marL="742950" marR="0" lvl="1" indent="-285750" algn="l" defTabSz="914400" rtl="0" eaLnBrk="1" fontAlgn="auto" latinLnBrk="0" hangingPunct="1">
              <a:lnSpc>
                <a:spcPct val="100000"/>
              </a:lnSpc>
              <a:spcBef>
                <a:spcPts val="0"/>
              </a:spcBef>
              <a:spcAft>
                <a:spcPts val="0"/>
              </a:spcAft>
              <a:buClr>
                <a:srgbClr val="000000"/>
              </a:buClr>
              <a:buSzPts val="1300"/>
              <a:buFont typeface="Arial" panose="020B0604020202020204" pitchFamily="34" charset="0"/>
              <a:buChar char="•"/>
              <a:tabLst/>
              <a:defRPr/>
            </a:pPr>
            <a:r>
              <a:rPr kumimoji="0" lang="vi-VN"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Chiller A350: </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06  ADD; </a:t>
            </a:r>
            <a:r>
              <a:rPr kumimoji="0" lang="en-US" sz="1100" b="0" i="0" u="none" strike="noStrike" kern="1200" cap="none" spc="0" normalizeH="0" baseline="0" noProof="0" dirty="0">
                <a:ln>
                  <a:noFill/>
                </a:ln>
                <a:solidFill>
                  <a:prstClr val="black"/>
                </a:solidFill>
                <a:effectLst/>
                <a:uLnTx/>
                <a:uFillTx/>
                <a:latin typeface="Times New Roman"/>
                <a:ea typeface="+mn-ea"/>
                <a:cs typeface="Times New Roman"/>
                <a:sym typeface="Times New Roman"/>
              </a:rPr>
              <a:t>05</a:t>
            </a:r>
            <a:r>
              <a:rPr kumimoji="0" lang="en-US" sz="1100" b="0" i="0" u="none" strike="noStrike" kern="1200" cap="none" spc="0" normalizeH="0" baseline="0" noProof="0" dirty="0">
                <a:ln>
                  <a:noFill/>
                </a:ln>
                <a:solidFill>
                  <a:prstClr val="black"/>
                </a:solidFill>
                <a:effectLst/>
                <a:uLnTx/>
                <a:uFillTx/>
                <a:latin typeface="Times New Roman"/>
                <a:ea typeface="Times New Roman"/>
                <a:cs typeface="Times New Roman"/>
                <a:sym typeface="Times New Roman"/>
              </a:rPr>
              <a:t> RO, </a:t>
            </a:r>
            <a:r>
              <a:rPr kumimoji="0" lang="vi-VN"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chưa có EDD</a:t>
            </a:r>
            <a:endParaRPr kumimoji="0" lang="en-US" sz="1100" b="0" i="0" u="none" strike="noStrike" kern="1200" cap="none" spc="0" normalizeH="0" baseline="0" noProof="0" dirty="0">
              <a:ln>
                <a:noFill/>
              </a:ln>
              <a:solidFill>
                <a:prstClr val="black"/>
              </a:solidFill>
              <a:effectLst/>
              <a:uLnTx/>
              <a:uFillTx/>
              <a:latin typeface="Times New Roman"/>
              <a:ea typeface="+mn-ea"/>
              <a:cs typeface="Times New Roman"/>
              <a:sym typeface="Times New Roman"/>
            </a:endParaRPr>
          </a:p>
          <a:p>
            <a:pPr marL="285750" marR="0" lvl="0" indent="-285750" algn="l" defTabSz="914400" rtl="0" eaLnBrk="1" fontAlgn="auto" latinLnBrk="0" hangingPunct="1">
              <a:lnSpc>
                <a:spcPct val="100000"/>
              </a:lnSpc>
              <a:spcBef>
                <a:spcPts val="0"/>
              </a:spcBef>
              <a:spcAft>
                <a:spcPts val="0"/>
              </a:spcAft>
              <a:buClr>
                <a:srgbClr val="000000"/>
              </a:buClr>
              <a:buSzPts val="1300"/>
              <a:buFont typeface="Times New Roman" panose="02020603050405020304" pitchFamily="18" charset="0"/>
              <a:buChar char="⁃"/>
              <a:tabLst/>
              <a:defRPr/>
            </a:pP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Hỏng</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hóc</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oven: </a:t>
            </a:r>
            <a:r>
              <a:rPr kumimoji="0" lang="en-US" sz="11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hỏng</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hóc</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13ea</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khắc</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phục</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07ea</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tồn</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05ea</a:t>
            </a:r>
            <a:endPar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sp>
        <p:nvSpPr>
          <p:cNvPr id="23" name="TextBox 22"/>
          <p:cNvSpPr txBox="1"/>
          <p:nvPr/>
        </p:nvSpPr>
        <p:spPr>
          <a:xfrm>
            <a:off x="366570" y="1860589"/>
            <a:ext cx="10867915" cy="615553"/>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IFE: Thales SVDU (A350/B787): </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replaced </a:t>
            </a:r>
            <a:r>
              <a:rPr kumimoji="0" lang="en-GB" sz="1100" b="1"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2</a:t>
            </a:r>
            <a:r>
              <a:rPr kumimoji="0" lang="en-US" sz="1100" b="1"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70</a:t>
            </a: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7</a:t>
            </a:r>
            <a:r>
              <a:rPr kumimoji="0" lang="en-GB" sz="1100" b="1"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/3</a:t>
            </a:r>
            <a:r>
              <a:rPr kumimoji="0" lang="en-US" sz="1100" b="1"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090 </a:t>
            </a: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SVDU (</a:t>
            </a:r>
            <a:r>
              <a:rPr kumimoji="0" lang="en-US" sz="11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còn</a:t>
            </a:r>
            <a:r>
              <a:rPr kumimoji="0" lang="en-US" sz="11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1"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383 </a:t>
            </a: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INOP SVDU). </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Trong </a:t>
            </a:r>
            <a:r>
              <a:rPr kumimoji="0" lang="en-US" sz="11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tuần</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4&amp;5:  hỏng </a:t>
            </a:r>
            <a:r>
              <a:rPr kumimoji="0" lang="en-US" sz="11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mới</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10 </a:t>
            </a:r>
            <a:r>
              <a:rPr kumimoji="0" lang="en-US" sz="11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ea</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khắc </a:t>
            </a:r>
            <a:r>
              <a:rPr kumimoji="0" lang="en-US" sz="11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phục</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25ea</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Hỏng hóc đội bay A350: đã được khắc phục và kiểm soát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Hỏng hóc tồn đọng: tập trung đội bay B787, số lượng quay vòng ít (50ea).</a:t>
            </a:r>
          </a:p>
        </p:txBody>
      </p:sp>
      <p:sp>
        <p:nvSpPr>
          <p:cNvPr id="25" name="TextBox 24"/>
          <p:cNvSpPr txBox="1"/>
          <p:nvPr/>
        </p:nvSpPr>
        <p:spPr>
          <a:xfrm>
            <a:off x="366570" y="2519413"/>
            <a:ext cx="10860609" cy="60016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LAV:</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Toilet Assy</a:t>
            </a:r>
            <a:r>
              <a:rPr kumimoji="0" lang="en-US" sz="11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hỏng</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03 </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ea, khắc </a:t>
            </a:r>
            <a:r>
              <a:rPr kumimoji="0" lang="en-US" sz="11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phục</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01ea</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tồn</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02ea</a:t>
            </a:r>
            <a:endPar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Faucet Assy: </a:t>
            </a:r>
            <a:r>
              <a:rPr kumimoji="0" lang="en-US" sz="11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hỏng</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02ea</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khắc </a:t>
            </a:r>
            <a:r>
              <a:rPr kumimoji="0" lang="en-US" sz="11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phục</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1ea</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tồn</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02ea</a:t>
            </a:r>
            <a:endPar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sp>
        <p:nvSpPr>
          <p:cNvPr id="26" name="TextBox 25"/>
          <p:cNvSpPr txBox="1"/>
          <p:nvPr/>
        </p:nvSpPr>
        <p:spPr>
          <a:xfrm>
            <a:off x="364349" y="762000"/>
            <a:ext cx="10844923" cy="43088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ADD ảnh hưởng dịch vụ </a:t>
            </a:r>
            <a:r>
              <a:rPr kumimoji="0" lang="en-US" sz="11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tuần</a:t>
            </a: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1"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06: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Tổng</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247, </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khắc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phục</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92ADD </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=&gt; tồn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đọng</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1"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155ADD</a:t>
            </a:r>
            <a:r>
              <a:rPr kumimoji="0" lang="en-US" sz="11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smtClean="0">
                <a:ln>
                  <a:noFill/>
                </a:ln>
                <a:solidFill>
                  <a:prstClr val="black">
                    <a:lumMod val="65000"/>
                    <a:lumOff val="35000"/>
                  </a:prstClr>
                </a:solidFill>
                <a:effectLst/>
                <a:uLnTx/>
                <a:uFillTx/>
                <a:latin typeface="Times New Roman" panose="02020603050405020304" pitchFamily="18" charset="0"/>
                <a:ea typeface="+mn-ea"/>
                <a:cs typeface="Times New Roman" panose="02020603050405020304" pitchFamily="18" charset="0"/>
              </a:rPr>
              <a:t>(</a:t>
            </a:r>
            <a:r>
              <a:rPr kumimoji="0" lang="en-US" sz="1100" b="0" i="0" u="none" strike="noStrike" kern="1200" cap="none" spc="0" normalizeH="0" baseline="0" noProof="0" dirty="0" err="1" smtClean="0">
                <a:ln>
                  <a:noFill/>
                </a:ln>
                <a:solidFill>
                  <a:prstClr val="black">
                    <a:lumMod val="65000"/>
                    <a:lumOff val="35000"/>
                  </a:prstClr>
                </a:solidFill>
                <a:effectLst/>
                <a:uLnTx/>
                <a:uFillTx/>
                <a:latin typeface="Times New Roman" panose="02020603050405020304" pitchFamily="18" charset="0"/>
                <a:ea typeface="+mn-ea"/>
                <a:cs typeface="Times New Roman" panose="02020603050405020304" pitchFamily="18" charset="0"/>
              </a:rPr>
              <a:t>tăng</a:t>
            </a:r>
            <a:r>
              <a:rPr kumimoji="0" lang="en-US" sz="1100" b="0" i="0" u="none" strike="noStrike" kern="1200" cap="none" spc="0" normalizeH="0" baseline="0" noProof="0" dirty="0" smtClean="0">
                <a:ln>
                  <a:noFill/>
                </a:ln>
                <a:solidFill>
                  <a:prstClr val="black">
                    <a:lumMod val="65000"/>
                    <a:lumOff val="35000"/>
                  </a:prstClr>
                </a:solidFill>
                <a:effectLst/>
                <a:uLnTx/>
                <a:uFillTx/>
                <a:latin typeface="Times New Roman" panose="02020603050405020304" pitchFamily="18" charset="0"/>
                <a:ea typeface="+mn-ea"/>
                <a:cs typeface="Times New Roman" panose="02020603050405020304" pitchFamily="18" charset="0"/>
              </a:rPr>
              <a:t> 1% </a:t>
            </a:r>
            <a:r>
              <a:rPr kumimoji="0" lang="en-US" sz="1100" b="0" i="0" u="none" strike="noStrike" kern="1200" cap="none" spc="0" normalizeH="0" baseline="0" noProof="0" dirty="0">
                <a:ln>
                  <a:noFill/>
                </a:ln>
                <a:solidFill>
                  <a:prstClr val="black">
                    <a:lumMod val="65000"/>
                    <a:lumOff val="35000"/>
                  </a:prstClr>
                </a:solidFill>
                <a:effectLst/>
                <a:uLnTx/>
                <a:uFillTx/>
                <a:latin typeface="Times New Roman" panose="02020603050405020304" pitchFamily="18" charset="0"/>
                <a:ea typeface="+mn-ea"/>
                <a:cs typeface="Times New Roman" panose="02020603050405020304" pitchFamily="18" charset="0"/>
              </a:rPr>
              <a:t>so với </a:t>
            </a:r>
            <a:r>
              <a:rPr kumimoji="0" lang="en-US" sz="1100" b="0" i="0" u="none" strike="noStrike" kern="1200" cap="none" spc="0" normalizeH="0" baseline="0" noProof="0" dirty="0" err="1">
                <a:ln>
                  <a:noFill/>
                </a:ln>
                <a:solidFill>
                  <a:prstClr val="black">
                    <a:lumMod val="65000"/>
                    <a:lumOff val="35000"/>
                  </a:prstClr>
                </a:solidFill>
                <a:effectLst/>
                <a:uLnTx/>
                <a:uFillTx/>
                <a:latin typeface="Times New Roman" panose="02020603050405020304" pitchFamily="18" charset="0"/>
                <a:ea typeface="+mn-ea"/>
                <a:cs typeface="Times New Roman" panose="02020603050405020304" pitchFamily="18" charset="0"/>
              </a:rPr>
              <a:t>tuần</a:t>
            </a:r>
            <a:r>
              <a:rPr kumimoji="0" lang="en-US" sz="1100" b="0" i="0" u="none" strike="noStrike" kern="1200" cap="none" spc="0" normalizeH="0" baseline="0" noProof="0" dirty="0">
                <a:ln>
                  <a:noFill/>
                </a:ln>
                <a:solidFill>
                  <a:prstClr val="black">
                    <a:lumMod val="65000"/>
                    <a:lumOff val="35000"/>
                  </a:prstClr>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smtClean="0">
                <a:ln>
                  <a:noFill/>
                </a:ln>
                <a:solidFill>
                  <a:prstClr val="black">
                    <a:lumMod val="65000"/>
                    <a:lumOff val="35000"/>
                  </a:prstClr>
                </a:solidFill>
                <a:effectLst/>
                <a:uLnTx/>
                <a:uFillTx/>
                <a:latin typeface="Times New Roman" panose="02020603050405020304" pitchFamily="18" charset="0"/>
                <a:ea typeface="+mn-ea"/>
                <a:cs typeface="Times New Roman" panose="02020603050405020304" pitchFamily="18" charset="0"/>
              </a:rPr>
              <a:t>5/2025</a:t>
            </a:r>
            <a:r>
              <a:rPr kumimoji="0" lang="en-US" sz="1100" b="0" i="0" u="none" strike="noStrike" kern="1200" cap="none" spc="0" normalizeH="0" baseline="0" noProof="0" dirty="0">
                <a:ln>
                  <a:noFill/>
                </a:ln>
                <a:solidFill>
                  <a:prstClr val="black">
                    <a:lumMod val="65000"/>
                    <a:lumOff val="35000"/>
                  </a:prstClr>
                </a:solidFill>
                <a:effectLst/>
                <a:uLnTx/>
                <a:uFillTx/>
                <a:latin typeface="Times New Roman" panose="02020603050405020304" pitchFamily="18" charset="0"/>
                <a:ea typeface="+mn-ea"/>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Tuy</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số</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CB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tăng</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cao</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điểm</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tết</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err="1">
                <a:ln>
                  <a:noFill/>
                </a:ln>
                <a:solidFill>
                  <a:prstClr val="black"/>
                </a:solidFill>
                <a:effectLst/>
                <a:uLnTx/>
                <a:uFillTx/>
                <a:latin typeface="Times New Roman" panose="02020603050405020304" pitchFamily="18" charset="0"/>
                <a:ea typeface="+mn-ea"/>
                <a:cs typeface="Times New Roman" panose="02020603050405020304" pitchFamily="18" charset="0"/>
              </a:rPr>
              <a:t>tuần</a:t>
            </a: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04&amp;05&amp;06,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nhưng</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số</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hỏng</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hóc</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được</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kiểm</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soát</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xu</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hướng</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đi</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ngang</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giảm</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nhẹ</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p:txBody>
      </p:sp>
      <p:sp>
        <p:nvSpPr>
          <p:cNvPr id="27" name="TextBox 26"/>
          <p:cNvSpPr txBox="1"/>
          <p:nvPr/>
        </p:nvSpPr>
        <p:spPr>
          <a:xfrm>
            <a:off x="375533" y="1233251"/>
            <a:ext cx="10867915" cy="60016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Hỏng hóc Ghế thuộc diện cắt khách </a:t>
            </a:r>
            <a:r>
              <a:rPr kumimoji="0" lang="en-US" sz="11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tuần</a:t>
            </a: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100" b="1"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06</a:t>
            </a:r>
            <a:endPar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Ghế C</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hỏng</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02, </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đã khắc </a:t>
            </a:r>
            <a:r>
              <a:rPr kumimoji="0" lang="en-US" sz="11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phục</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01, </a:t>
            </a:r>
            <a:r>
              <a:rPr kumimoji="0" lang="en-US" sz="11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tồn</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02.</a:t>
            </a:r>
            <a:endPar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Ghế Y</a:t>
            </a:r>
            <a:r>
              <a:rPr kumimoji="0" lang="en-US" sz="11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hỏng</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07, </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đã khắc </a:t>
            </a:r>
            <a:r>
              <a:rPr kumimoji="0" lang="en-US" sz="11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phục</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07, </a:t>
            </a:r>
            <a:r>
              <a:rPr kumimoji="0" lang="en-US" sz="11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tồn</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00</a:t>
            </a:r>
            <a:r>
              <a:rPr kumimoji="0" lang="en-US" sz="11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1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9153703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6"/>
          <p:cNvSpPr txBox="1"/>
          <p:nvPr/>
        </p:nvSpPr>
        <p:spPr>
          <a:xfrm>
            <a:off x="761998" y="527600"/>
            <a:ext cx="10820401" cy="543635"/>
          </a:xfrm>
          <a:prstGeom prst="rect">
            <a:avLst/>
          </a:prstGeom>
          <a:noFill/>
          <a:ln>
            <a:noFill/>
          </a:ln>
        </p:spPr>
        <p:txBody>
          <a:bodyPr spcFirstLastPara="1" wrap="square" lIns="91433" tIns="45700" rIns="91433" bIns="45700" anchor="t" anchorCtr="0">
            <a:spAutoFit/>
          </a:bodyPr>
          <a:lstStyle/>
          <a:p>
            <a:pPr lvl="0"/>
            <a:r>
              <a:rPr lang="en-US" sz="2800" b="1" dirty="0">
                <a:ln w="0"/>
                <a:solidFill>
                  <a:srgbClr val="FBAC00"/>
                </a:solidFill>
                <a:latin typeface="Times New Roman" panose="02020603050405020304" pitchFamily="18" charset="0"/>
                <a:cs typeface="Times New Roman" panose="02020603050405020304" pitchFamily="18" charset="0"/>
              </a:rPr>
              <a:t>CÔNG TÁC BÁN TRẢ/TIẾP NHẬN/BÀN GIAO TÀU BAY</a:t>
            </a:r>
            <a:endParaRPr sz="2800" dirty="0"/>
          </a:p>
        </p:txBody>
      </p:sp>
      <p:sp>
        <p:nvSpPr>
          <p:cNvPr id="66" name="Google Shape;66;p6"/>
          <p:cNvSpPr txBox="1"/>
          <p:nvPr/>
        </p:nvSpPr>
        <p:spPr>
          <a:xfrm>
            <a:off x="761999" y="1317577"/>
            <a:ext cx="10820401" cy="4893607"/>
          </a:xfrm>
          <a:prstGeom prst="rect">
            <a:avLst/>
          </a:prstGeom>
          <a:noFill/>
          <a:ln>
            <a:noFill/>
          </a:ln>
        </p:spPr>
        <p:txBody>
          <a:bodyPr spcFirstLastPara="1" wrap="square" lIns="91433" tIns="45700" rIns="91433" bIns="45700" anchor="t" anchorCtr="0">
            <a:spAutoFit/>
          </a:bodyPr>
          <a:lstStyle/>
          <a:p>
            <a:pPr algn="just"/>
            <a:r>
              <a:rPr lang="en-US" sz="1600" b="1" dirty="0">
                <a:latin typeface="Times New Roman" panose="02020603050405020304" pitchFamily="18" charset="0"/>
                <a:cs typeface="Times New Roman" panose="02020603050405020304" pitchFamily="18" charset="0"/>
              </a:rPr>
              <a:t>1</a:t>
            </a:r>
            <a:r>
              <a:rPr lang="en-US" sz="1600" b="1">
                <a:latin typeface="Times New Roman" panose="02020603050405020304" pitchFamily="18" charset="0"/>
                <a:cs typeface="Times New Roman" panose="02020603050405020304" pitchFamily="18" charset="0"/>
              </a:rPr>
              <a:t>. </a:t>
            </a:r>
            <a:r>
              <a:rPr lang="en-US" sz="1600" b="1" smtClean="0">
                <a:latin typeface="Times New Roman" panose="02020603050405020304" pitchFamily="18" charset="0"/>
                <a:cs typeface="Times New Roman" panose="02020603050405020304" pitchFamily="18" charset="0"/>
              </a:rPr>
              <a:t> TÀU </a:t>
            </a:r>
            <a:r>
              <a:rPr lang="en-US" sz="1600" b="1" dirty="0">
                <a:latin typeface="Times New Roman" panose="02020603050405020304" pitchFamily="18" charset="0"/>
                <a:cs typeface="Times New Roman" panose="02020603050405020304" pitchFamily="18" charset="0"/>
              </a:rPr>
              <a:t>BAY THUÊ ƯỚT </a:t>
            </a:r>
          </a:p>
          <a:p>
            <a:pPr lvl="1" algn="just"/>
            <a:r>
              <a:rPr lang="en-US" sz="1600" smtClean="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VNA </a:t>
            </a:r>
            <a:r>
              <a:rPr lang="en-US" sz="1600" dirty="0" err="1">
                <a:latin typeface="Times New Roman" panose="02020603050405020304" pitchFamily="18" charset="0"/>
                <a:cs typeface="Times New Roman" panose="02020603050405020304" pitchFamily="18" charset="0"/>
              </a:rPr>
              <a:t>đã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03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bay A320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ướt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của</a:t>
            </a:r>
            <a:r>
              <a:rPr lang="en-US" sz="1600" dirty="0">
                <a:latin typeface="Times New Roman" panose="02020603050405020304" pitchFamily="18" charset="0"/>
                <a:cs typeface="Times New Roman" panose="02020603050405020304" pitchFamily="18" charset="0"/>
              </a:rPr>
              <a:t> Avion </a:t>
            </a:r>
            <a:r>
              <a:rPr lang="en-US" sz="1600" dirty="0" err="1">
                <a:latin typeface="Times New Roman" panose="02020603050405020304" pitchFamily="18" charset="0"/>
                <a:cs typeface="Times New Roman" panose="02020603050405020304" pitchFamily="18" charset="0"/>
              </a:rPr>
              <a:t>để</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tăng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cường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cao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điểm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Tết</a:t>
            </a:r>
            <a:r>
              <a:rPr lang="en-US" sz="1600" dirty="0">
                <a:latin typeface="Times New Roman" panose="02020603050405020304" pitchFamily="18" charset="0"/>
                <a:cs typeface="Times New Roman" panose="02020603050405020304" pitchFamily="18" charset="0"/>
              </a:rPr>
              <a:t>: 03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bay </a:t>
            </a:r>
            <a:r>
              <a:rPr lang="en-US" sz="1600" dirty="0" err="1">
                <a:latin typeface="Times New Roman" panose="02020603050405020304" pitchFamily="18" charset="0"/>
                <a:cs typeface="Times New Roman" panose="02020603050405020304" pitchFamily="18" charset="0"/>
              </a:rPr>
              <a:t>số</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đăng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ký</a:t>
            </a:r>
            <a:r>
              <a:rPr lang="en-US" sz="1600" dirty="0">
                <a:latin typeface="Times New Roman" panose="02020603050405020304" pitchFamily="18" charset="0"/>
                <a:cs typeface="Times New Roman" panose="02020603050405020304" pitchFamily="18" charset="0"/>
              </a:rPr>
              <a:t> 9H-MLE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9H-MLO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9H-MLY. Ba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bay </a:t>
            </a:r>
            <a:r>
              <a:rPr lang="en-US" sz="1600" dirty="0" err="1">
                <a:latin typeface="Times New Roman" panose="02020603050405020304" pitchFamily="18" charset="0"/>
                <a:cs typeface="Times New Roman" panose="02020603050405020304" pitchFamily="18" charset="0"/>
              </a:rPr>
              <a:t>hiện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đang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ướt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cho</a:t>
            </a:r>
            <a:r>
              <a:rPr lang="en-US" sz="1600" dirty="0">
                <a:latin typeface="Times New Roman" panose="02020603050405020304" pitchFamily="18" charset="0"/>
                <a:cs typeface="Times New Roman" panose="02020603050405020304" pitchFamily="18" charset="0"/>
              </a:rPr>
              <a:t> VNA, </a:t>
            </a:r>
            <a:r>
              <a:rPr lang="en-US" sz="1600" dirty="0" err="1">
                <a:latin typeface="Times New Roman" panose="02020603050405020304" pitchFamily="18" charset="0"/>
                <a:cs typeface="Times New Roman" panose="02020603050405020304" pitchFamily="18" charset="0"/>
              </a:rPr>
              <a:t>dự</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kiến</a:t>
            </a:r>
            <a:r>
              <a:rPr lang="en-US" sz="1600" dirty="0">
                <a:latin typeface="Times New Roman" panose="02020603050405020304" pitchFamily="18" charset="0"/>
                <a:cs typeface="Times New Roman" panose="02020603050405020304" pitchFamily="18" charset="0"/>
              </a:rPr>
              <a:t> bay </a:t>
            </a:r>
            <a:r>
              <a:rPr lang="en-US" sz="1600" dirty="0" err="1">
                <a:latin typeface="Times New Roman" panose="02020603050405020304" pitchFamily="18" charset="0"/>
                <a:cs typeface="Times New Roman" panose="02020603050405020304" pitchFamily="18" charset="0"/>
              </a:rPr>
              <a:t>hết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cao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điểm</a:t>
            </a:r>
            <a:r>
              <a:rPr lang="en-US" sz="1600" dirty="0">
                <a:latin typeface="Times New Roman" panose="02020603050405020304" pitchFamily="18" charset="0"/>
                <a:cs typeface="Times New Roman" panose="02020603050405020304" pitchFamily="18" charset="0"/>
              </a:rPr>
              <a:t> </a:t>
            </a:r>
            <a:r>
              <a:rPr lang="en-US" sz="1600" err="1">
                <a:latin typeface="Times New Roman" panose="02020603050405020304" pitchFamily="18" charset="0"/>
                <a:cs typeface="Times New Roman" panose="02020603050405020304" pitchFamily="18" charset="0"/>
              </a:rPr>
              <a:t>Tết</a:t>
            </a:r>
            <a:r>
              <a:rPr lang="en-US" sz="1600" smtClean="0">
                <a:latin typeface="Times New Roman" panose="02020603050405020304" pitchFamily="18" charset="0"/>
                <a:cs typeface="Times New Roman" panose="02020603050405020304" pitchFamily="18" charset="0"/>
              </a:rPr>
              <a:t>.</a:t>
            </a:r>
          </a:p>
          <a:p>
            <a:pPr lvl="2" algn="just"/>
            <a:endParaRPr lang="en-US" sz="1600" b="1">
              <a:latin typeface="Times New Roman" panose="02020603050405020304" pitchFamily="18" charset="0"/>
              <a:cs typeface="Times New Roman" panose="02020603050405020304" pitchFamily="18" charset="0"/>
            </a:endParaRPr>
          </a:p>
          <a:p>
            <a:pPr lvl="0" algn="just"/>
            <a:r>
              <a:rPr lang="en-US" sz="1600" b="1">
                <a:latin typeface="Times New Roman" panose="02020603050405020304" pitchFamily="18" charset="0"/>
                <a:cs typeface="Times New Roman" panose="02020603050405020304" pitchFamily="18" charset="0"/>
              </a:rPr>
              <a:t>2. </a:t>
            </a:r>
            <a:r>
              <a:rPr lang="en-US" sz="1600" b="1" smtClean="0">
                <a:latin typeface="Times New Roman" panose="02020603050405020304" pitchFamily="18" charset="0"/>
                <a:cs typeface="Times New Roman" panose="02020603050405020304" pitchFamily="18" charset="0"/>
              </a:rPr>
              <a:t> GIA </a:t>
            </a:r>
            <a:r>
              <a:rPr lang="en-US" sz="1600" b="1">
                <a:latin typeface="Times New Roman" panose="02020603050405020304" pitchFamily="18" charset="0"/>
                <a:cs typeface="Times New Roman" panose="02020603050405020304" pitchFamily="18" charset="0"/>
              </a:rPr>
              <a:t>HẠN THUÊ 10 TÀU VALC </a:t>
            </a:r>
          </a:p>
          <a:p>
            <a:pPr algn="just"/>
            <a:r>
              <a:rPr lang="en-US" sz="1600">
                <a:latin typeface="Times New Roman" panose="02020603050405020304" pitchFamily="18" charset="0"/>
                <a:cs typeface="Times New Roman" panose="02020603050405020304" pitchFamily="18" charset="0"/>
              </a:rPr>
              <a:t>VNA và VALC đã đồng ý gia hạn tạm thời 10 tàu thuê đến hết 31/03/2025. Hiện có 02 đối tác quan tâm tới mua và cho thuê lại tàu bay là Arena và FTAI</a:t>
            </a:r>
          </a:p>
          <a:p>
            <a:pPr lvl="0" algn="just"/>
            <a:r>
              <a:rPr lang="en-US" sz="1600">
                <a:latin typeface="Times New Roman" panose="02020603050405020304" pitchFamily="18" charset="0"/>
                <a:cs typeface="Times New Roman" panose="02020603050405020304" pitchFamily="18" charset="0"/>
              </a:rPr>
              <a:t>2.1 </a:t>
            </a:r>
            <a:r>
              <a:rPr lang="en-US" sz="1600" smtClean="0">
                <a:latin typeface="Times New Roman" panose="02020603050405020304" pitchFamily="18" charset="0"/>
                <a:cs typeface="Times New Roman" panose="02020603050405020304" pitchFamily="18" charset="0"/>
              </a:rPr>
              <a:t> Arena</a:t>
            </a:r>
            <a:r>
              <a:rPr lang="en-US" sz="1600">
                <a:latin typeface="Times New Roman" panose="02020603050405020304" pitchFamily="18" charset="0"/>
                <a:cs typeface="Times New Roman" panose="02020603050405020304" pitchFamily="18" charset="0"/>
              </a:rPr>
              <a:t>: Bản chào gia hạn thuê 10 tàu A321 với thời gian trung bình 5 năm, hiện đang trong quá trình đàm phán gia hạn. Cơ bản đã đàm phán thống nhất các nội dung liên quan tới KT</a:t>
            </a:r>
          </a:p>
          <a:p>
            <a:pPr lvl="0" algn="just"/>
            <a:r>
              <a:rPr lang="en-US" sz="1600">
                <a:latin typeface="Times New Roman" panose="02020603050405020304" pitchFamily="18" charset="0"/>
                <a:cs typeface="Times New Roman" panose="02020603050405020304" pitchFamily="18" charset="0"/>
              </a:rPr>
              <a:t>Các vấn đề lớn / cơ bản Arena đang đề xuất:</a:t>
            </a:r>
          </a:p>
          <a:p>
            <a:pPr lvl="1" algn="just">
              <a:spcBef>
                <a:spcPts val="600"/>
              </a:spcBef>
              <a:spcAft>
                <a:spcPts val="600"/>
              </a:spcAft>
            </a:pPr>
            <a:r>
              <a:rPr lang="en-US" sz="1600">
                <a:latin typeface="Times New Roman" panose="02020603050405020304" pitchFamily="18" charset="0"/>
                <a:cs typeface="Times New Roman" panose="02020603050405020304" pitchFamily="18" charset="0"/>
              </a:rPr>
              <a:t>a. </a:t>
            </a:r>
            <a:r>
              <a:rPr lang="en-US" sz="1600" smtClean="0">
                <a:latin typeface="Times New Roman" panose="02020603050405020304" pitchFamily="18" charset="0"/>
                <a:cs typeface="Times New Roman" panose="02020603050405020304" pitchFamily="18" charset="0"/>
              </a:rPr>
              <a:t> </a:t>
            </a:r>
            <a:r>
              <a:rPr lang="vi-VN" sz="1600" smtClean="0">
                <a:latin typeface="Times New Roman" panose="02020603050405020304" pitchFamily="18" charset="0"/>
                <a:cs typeface="Times New Roman" panose="02020603050405020304" pitchFamily="18" charset="0"/>
              </a:rPr>
              <a:t>10 </a:t>
            </a:r>
            <a:r>
              <a:rPr lang="vi-VN" sz="1600">
                <a:latin typeface="Times New Roman" panose="02020603050405020304" pitchFamily="18" charset="0"/>
                <a:cs typeface="Times New Roman" panose="02020603050405020304" pitchFamily="18" charset="0"/>
              </a:rPr>
              <a:t>tàu bay cần được duy trì khả năng khai thác sau khi hết hợp đồng gia hạn với Arena.</a:t>
            </a:r>
          </a:p>
          <a:p>
            <a:pPr lvl="1" algn="just">
              <a:spcBef>
                <a:spcPts val="600"/>
              </a:spcBef>
              <a:spcAft>
                <a:spcPts val="600"/>
              </a:spcAft>
            </a:pPr>
            <a:r>
              <a:rPr lang="en-US" sz="1600">
                <a:latin typeface="Times New Roman" panose="02020603050405020304" pitchFamily="18" charset="0"/>
                <a:cs typeface="Times New Roman" panose="02020603050405020304" pitchFamily="18" charset="0"/>
              </a:rPr>
              <a:t>b</a:t>
            </a:r>
            <a:r>
              <a:rPr lang="en-US" sz="1600" smtClean="0">
                <a:latin typeface="Times New Roman" panose="02020603050405020304" pitchFamily="18" charset="0"/>
                <a:cs typeface="Times New Roman" panose="02020603050405020304" pitchFamily="18" charset="0"/>
              </a:rPr>
              <a:t>.  </a:t>
            </a:r>
            <a:r>
              <a:rPr lang="vi-VN" sz="1600" smtClean="0">
                <a:latin typeface="Times New Roman" panose="02020603050405020304" pitchFamily="18" charset="0"/>
                <a:cs typeface="Times New Roman" panose="02020603050405020304" pitchFamily="18" charset="0"/>
              </a:rPr>
              <a:t>Thực </a:t>
            </a:r>
            <a:r>
              <a:rPr lang="vi-VN" sz="1600">
                <a:latin typeface="Times New Roman" panose="02020603050405020304" pitchFamily="18" charset="0"/>
                <a:cs typeface="Times New Roman" panose="02020603050405020304" pitchFamily="18" charset="0"/>
              </a:rPr>
              <a:t>hiện balancing quỹ bảo dưỡng sau khi kết thúc gia hạn thuê.</a:t>
            </a:r>
          </a:p>
          <a:p>
            <a:pPr lvl="1" algn="just">
              <a:spcBef>
                <a:spcPts val="600"/>
              </a:spcBef>
              <a:spcAft>
                <a:spcPts val="600"/>
              </a:spcAft>
            </a:pPr>
            <a:r>
              <a:rPr lang="en-US" sz="1600">
                <a:latin typeface="Times New Roman" panose="02020603050405020304" pitchFamily="18" charset="0"/>
                <a:cs typeface="Times New Roman" panose="02020603050405020304" pitchFamily="18" charset="0"/>
              </a:rPr>
              <a:t>c</a:t>
            </a:r>
            <a:r>
              <a:rPr lang="en-US" sz="1600" smtClean="0">
                <a:latin typeface="Times New Roman" panose="02020603050405020304" pitchFamily="18" charset="0"/>
                <a:cs typeface="Times New Roman" panose="02020603050405020304" pitchFamily="18" charset="0"/>
              </a:rPr>
              <a:t>.  </a:t>
            </a:r>
            <a:r>
              <a:rPr lang="vi-VN" sz="1600" smtClean="0">
                <a:latin typeface="Times New Roman" panose="02020603050405020304" pitchFamily="18" charset="0"/>
                <a:cs typeface="Times New Roman" panose="02020603050405020304" pitchFamily="18" charset="0"/>
              </a:rPr>
              <a:t>Đồng </a:t>
            </a:r>
            <a:r>
              <a:rPr lang="vi-VN" sz="1600">
                <a:latin typeface="Times New Roman" panose="02020603050405020304" pitchFamily="18" charset="0"/>
                <a:cs typeface="Times New Roman" panose="02020603050405020304" pitchFamily="18" charset="0"/>
              </a:rPr>
              <a:t>ý giảm MR và đề xuất phương án buy-out</a:t>
            </a:r>
            <a:r>
              <a:rPr lang="en-US" sz="1600">
                <a:latin typeface="Times New Roman" panose="02020603050405020304" pitchFamily="18" charset="0"/>
                <a:cs typeface="Times New Roman" panose="02020603050405020304" pitchFamily="18" charset="0"/>
              </a:rPr>
              <a:t> </a:t>
            </a:r>
            <a:r>
              <a:rPr lang="vi-VN" sz="1600">
                <a:latin typeface="Times New Roman" panose="02020603050405020304" pitchFamily="18" charset="0"/>
                <a:cs typeface="Times New Roman" panose="02020603050405020304" pitchFamily="18" charset="0"/>
              </a:rPr>
              <a:t>cho </a:t>
            </a:r>
            <a:r>
              <a:rPr lang="en-US" sz="1600">
                <a:latin typeface="Times New Roman" panose="02020603050405020304" pitchFamily="18" charset="0"/>
                <a:cs typeface="Times New Roman" panose="02020603050405020304" pitchFamily="18" charset="0"/>
              </a:rPr>
              <a:t>một số </a:t>
            </a:r>
            <a:r>
              <a:rPr lang="vi-VN" sz="1600">
                <a:latin typeface="Times New Roman" panose="02020603050405020304" pitchFamily="18" charset="0"/>
                <a:cs typeface="Times New Roman" panose="02020603050405020304" pitchFamily="18" charset="0"/>
              </a:rPr>
              <a:t>điều kiện trả</a:t>
            </a:r>
            <a:r>
              <a:rPr lang="en-US" sz="1600" smtClean="0">
                <a:latin typeface="Times New Roman" panose="02020603050405020304" pitchFamily="18" charset="0"/>
                <a:cs typeface="Times New Roman" panose="02020603050405020304" pitchFamily="18" charset="0"/>
              </a:rPr>
              <a:t>.</a:t>
            </a:r>
          </a:p>
          <a:p>
            <a:pPr algn="just">
              <a:spcBef>
                <a:spcPts val="600"/>
              </a:spcBef>
              <a:spcAft>
                <a:spcPts val="600"/>
              </a:spcAft>
            </a:pPr>
            <a:r>
              <a:rPr lang="en-US" sz="1600" smtClean="0">
                <a:latin typeface="Times New Roman" panose="02020603050405020304" pitchFamily="18" charset="0"/>
                <a:cs typeface="Times New Roman" panose="02020603050405020304" pitchFamily="18" charset="0"/>
              </a:rPr>
              <a:t>2.2  FTAI</a:t>
            </a:r>
            <a:r>
              <a:rPr lang="en-US" sz="1600">
                <a:latin typeface="Times New Roman" panose="02020603050405020304" pitchFamily="18" charset="0"/>
                <a:cs typeface="Times New Roman" panose="02020603050405020304" pitchFamily="18" charset="0"/>
              </a:rPr>
              <a:t>: Bản chào thuê 10 tàu A321 với điều kiện trả là As-is, có đảm bảo hỗ trợ động cơ khai thác đến hết run-out. Không phải thực hiện đóng quỹ ngoại trừ động cơ. Bàn chào có nhiều thuận lợi cho VNA trong quá trình khai thác và trả tàu bay. </a:t>
            </a:r>
          </a:p>
          <a:p>
            <a:pPr lvl="2"/>
            <a:endParaRPr lang="en-US" sz="1600" b="1" smtClean="0">
              <a:solidFill>
                <a:srgbClr val="006880"/>
              </a:solidFill>
              <a:latin typeface="Times New Roman" panose="02020603050405020304" pitchFamily="18" charset="0"/>
              <a:cs typeface="Times New Roman" panose="02020603050405020304" pitchFamily="18" charset="0"/>
            </a:endParaRPr>
          </a:p>
          <a:p>
            <a:endParaRPr sz="1600" b="1" dirty="0">
              <a:solidFill>
                <a:srgbClr val="006880"/>
              </a:solidFill>
              <a:latin typeface="Times New Roman" panose="02020603050405020304" pitchFamily="18" charset="0"/>
              <a:cs typeface="Times New Roman" panose="02020603050405020304" pitchFamily="18" charset="0"/>
            </a:endParaRPr>
          </a:p>
        </p:txBody>
      </p:sp>
      <p:sp>
        <p:nvSpPr>
          <p:cNvPr id="76" name="Google Shape;76;p6"/>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40</a:t>
            </a:fld>
            <a:endParaRPr/>
          </a:p>
        </p:txBody>
      </p:sp>
    </p:spTree>
    <p:extLst>
      <p:ext uri="{BB962C8B-B14F-4D97-AF65-F5344CB8AC3E}">
        <p14:creationId xmlns:p14="http://schemas.microsoft.com/office/powerpoint/2010/main" val="33482613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41</a:t>
            </a:fld>
            <a:endParaRPr lang="en-US"/>
          </a:p>
        </p:txBody>
      </p:sp>
      <p:sp>
        <p:nvSpPr>
          <p:cNvPr id="5" name="Title 4"/>
          <p:cNvSpPr>
            <a:spLocks noGrp="1"/>
          </p:cNvSpPr>
          <p:nvPr>
            <p:ph type="title"/>
          </p:nvPr>
        </p:nvSpPr>
        <p:spPr>
          <a:xfrm>
            <a:off x="228600" y="460710"/>
            <a:ext cx="5663033" cy="482045"/>
          </a:xfrm>
        </p:spPr>
        <p:txBody>
          <a:bodyPr>
            <a:noAutofit/>
          </a:bodyPr>
          <a:lstStyle/>
          <a:p>
            <a:r>
              <a:rPr lang="en-US" sz="2400">
                <a:ln w="0"/>
                <a:solidFill>
                  <a:srgbClr val="FFC000"/>
                </a:solidFill>
                <a:latin typeface="Times New Roman" panose="02020603050405020304" pitchFamily="18" charset="0"/>
                <a:ea typeface="+mn-ea"/>
                <a:cs typeface="Times New Roman" panose="02020603050405020304" pitchFamily="18" charset="0"/>
              </a:rPr>
              <a:t>NHÂN NHƯỢNG TRONG TUẦN</a:t>
            </a:r>
            <a:endParaRPr lang="vi-VN" sz="2400" dirty="0">
              <a:ln w="0"/>
              <a:solidFill>
                <a:srgbClr val="FFC000"/>
              </a:solidFill>
              <a:latin typeface="Times New Roman" panose="02020603050405020304" pitchFamily="18" charset="0"/>
              <a:ea typeface="+mn-ea"/>
              <a:cs typeface="Times New Roman" panose="02020603050405020304" pitchFamily="18" charset="0"/>
            </a:endParaRPr>
          </a:p>
        </p:txBody>
      </p:sp>
      <p:graphicFrame>
        <p:nvGraphicFramePr>
          <p:cNvPr id="7" name="Chart 6">
            <a:extLst>
              <a:ext uri="{FF2B5EF4-FFF2-40B4-BE49-F238E27FC236}">
                <a16:creationId xmlns:a16="http://schemas.microsoft.com/office/drawing/2014/main" id="{00000000-0008-0000-0900-000007000000}"/>
              </a:ext>
            </a:extLst>
          </p:cNvPr>
          <p:cNvGraphicFramePr>
            <a:graphicFrameLocks/>
          </p:cNvGraphicFramePr>
          <p:nvPr>
            <p:extLst>
              <p:ext uri="{D42A27DB-BD31-4B8C-83A1-F6EECF244321}">
                <p14:modId xmlns:p14="http://schemas.microsoft.com/office/powerpoint/2010/main" val="1192862488"/>
              </p:ext>
            </p:extLst>
          </p:nvPr>
        </p:nvGraphicFramePr>
        <p:xfrm>
          <a:off x="4038600" y="910098"/>
          <a:ext cx="4116876" cy="235937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093029778"/>
              </p:ext>
            </p:extLst>
          </p:nvPr>
        </p:nvGraphicFramePr>
        <p:xfrm>
          <a:off x="533400" y="3352800"/>
          <a:ext cx="11125201" cy="2560448"/>
        </p:xfrm>
        <a:graphic>
          <a:graphicData uri="http://schemas.openxmlformats.org/drawingml/2006/table">
            <a:tbl>
              <a:tblPr/>
              <a:tblGrid>
                <a:gridCol w="216640">
                  <a:extLst>
                    <a:ext uri="{9D8B030D-6E8A-4147-A177-3AD203B41FA5}">
                      <a16:colId xmlns:a16="http://schemas.microsoft.com/office/drawing/2014/main" val="134946999"/>
                    </a:ext>
                  </a:extLst>
                </a:gridCol>
                <a:gridCol w="1385179">
                  <a:extLst>
                    <a:ext uri="{9D8B030D-6E8A-4147-A177-3AD203B41FA5}">
                      <a16:colId xmlns:a16="http://schemas.microsoft.com/office/drawing/2014/main" val="592940241"/>
                    </a:ext>
                  </a:extLst>
                </a:gridCol>
                <a:gridCol w="446409">
                  <a:extLst>
                    <a:ext uri="{9D8B030D-6E8A-4147-A177-3AD203B41FA5}">
                      <a16:colId xmlns:a16="http://schemas.microsoft.com/office/drawing/2014/main" val="2227361977"/>
                    </a:ext>
                  </a:extLst>
                </a:gridCol>
                <a:gridCol w="481421">
                  <a:extLst>
                    <a:ext uri="{9D8B030D-6E8A-4147-A177-3AD203B41FA5}">
                      <a16:colId xmlns:a16="http://schemas.microsoft.com/office/drawing/2014/main" val="1404359328"/>
                    </a:ext>
                  </a:extLst>
                </a:gridCol>
                <a:gridCol w="5580106">
                  <a:extLst>
                    <a:ext uri="{9D8B030D-6E8A-4147-A177-3AD203B41FA5}">
                      <a16:colId xmlns:a16="http://schemas.microsoft.com/office/drawing/2014/main" val="2749628636"/>
                    </a:ext>
                  </a:extLst>
                </a:gridCol>
                <a:gridCol w="538316">
                  <a:extLst>
                    <a:ext uri="{9D8B030D-6E8A-4147-A177-3AD203B41FA5}">
                      <a16:colId xmlns:a16="http://schemas.microsoft.com/office/drawing/2014/main" val="786127686"/>
                    </a:ext>
                  </a:extLst>
                </a:gridCol>
                <a:gridCol w="702437">
                  <a:extLst>
                    <a:ext uri="{9D8B030D-6E8A-4147-A177-3AD203B41FA5}">
                      <a16:colId xmlns:a16="http://schemas.microsoft.com/office/drawing/2014/main" val="3321423885"/>
                    </a:ext>
                  </a:extLst>
                </a:gridCol>
                <a:gridCol w="1400498">
                  <a:extLst>
                    <a:ext uri="{9D8B030D-6E8A-4147-A177-3AD203B41FA5}">
                      <a16:colId xmlns:a16="http://schemas.microsoft.com/office/drawing/2014/main" val="586899498"/>
                    </a:ext>
                  </a:extLst>
                </a:gridCol>
                <a:gridCol w="374195">
                  <a:extLst>
                    <a:ext uri="{9D8B030D-6E8A-4147-A177-3AD203B41FA5}">
                      <a16:colId xmlns:a16="http://schemas.microsoft.com/office/drawing/2014/main" val="1424423656"/>
                    </a:ext>
                  </a:extLst>
                </a:gridCol>
              </a:tblGrid>
              <a:tr h="137534">
                <a:tc gridSpan="9">
                  <a:txBody>
                    <a:bodyPr/>
                    <a:lstStyle/>
                    <a:p>
                      <a:pPr algn="ctr" fontAlgn="ctr"/>
                      <a:r>
                        <a:rPr lang="vi-VN" sz="1100" b="1" i="0" u="none" strike="noStrike">
                          <a:solidFill>
                            <a:srgbClr val="000000"/>
                          </a:solidFill>
                          <a:effectLst/>
                          <a:latin typeface="Times New Roman" panose="02020603050405020304" pitchFamily="18" charset="0"/>
                        </a:rPr>
                        <a:t>BẢNG TỔNG HỢP VÀ THEO DÕI NHÂN NHƯỢNG - VIETNAM AIRLINES</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41138314"/>
                  </a:ext>
                </a:extLst>
              </a:tr>
              <a:tr h="137534">
                <a:tc>
                  <a:txBody>
                    <a:bodyPr/>
                    <a:lstStyle/>
                    <a:p>
                      <a:pPr algn="ctr" fontAlgn="ctr"/>
                      <a:r>
                        <a:rPr lang="en-US" sz="1100" b="1" i="0" u="none" strike="noStrike">
                          <a:solidFill>
                            <a:srgbClr val="000000"/>
                          </a:solidFill>
                          <a:effectLst/>
                          <a:latin typeface="Times New Roman" panose="02020603050405020304" pitchFamily="18" charset="0"/>
                        </a:rPr>
                        <a:t>No</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Concession No.</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Type</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Reg</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Description</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Issued By</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Issued Date</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ADD/CHK/Task No</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Status</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1976115"/>
                  </a:ext>
                </a:extLst>
              </a:tr>
              <a:tr h="137534">
                <a:tc>
                  <a:txBody>
                    <a:bodyPr/>
                    <a:lstStyle/>
                    <a:p>
                      <a:pPr algn="ctr" fontAlgn="ctr"/>
                      <a:r>
                        <a:rPr lang="en-150" sz="1100" b="0" i="0" u="none" strike="noStrike">
                          <a:solidFill>
                            <a:srgbClr val="000000"/>
                          </a:solidFill>
                          <a:effectLst/>
                          <a:latin typeface="Times New Roman" panose="02020603050405020304" pitchFamily="18" charset="0"/>
                        </a:rPr>
                        <a:t>1</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100" b="0" i="0" u="none" strike="noStrike">
                          <a:solidFill>
                            <a:srgbClr val="000000"/>
                          </a:solidFill>
                          <a:effectLst/>
                          <a:latin typeface="Times New Roman" panose="02020603050405020304" pitchFamily="18" charset="0"/>
                        </a:rPr>
                        <a:t>620-01/25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Task</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A620</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DUE TO LACK OF RESOURCE, SCHEDULE OF GROUP AMP NEEDS TO BE EXTENED</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SQD</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7-Feb-2025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AMP</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100" b="0" i="0" u="none" strike="noStrike">
                          <a:solidFill>
                            <a:srgbClr val="000000"/>
                          </a:solidFill>
                          <a:effectLst/>
                          <a:latin typeface="Times New Roman" panose="02020603050405020304" pitchFamily="18" charset="0"/>
                        </a:rPr>
                        <a:t> </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61513109"/>
                  </a:ext>
                </a:extLst>
              </a:tr>
              <a:tr h="137534">
                <a:tc>
                  <a:txBody>
                    <a:bodyPr/>
                    <a:lstStyle/>
                    <a:p>
                      <a:pPr algn="ctr" fontAlgn="ctr"/>
                      <a:r>
                        <a:rPr lang="en-150" sz="1100" b="0" i="0" u="none" strike="noStrike">
                          <a:solidFill>
                            <a:srgbClr val="000000"/>
                          </a:solidFill>
                          <a:effectLst/>
                          <a:latin typeface="Times New Roman" panose="02020603050405020304" pitchFamily="18" charset="0"/>
                        </a:rPr>
                        <a:t>2</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100" b="0" i="0" u="none" strike="noStrike">
                          <a:solidFill>
                            <a:srgbClr val="000000"/>
                          </a:solidFill>
                          <a:effectLst/>
                          <a:latin typeface="Times New Roman" panose="02020603050405020304" pitchFamily="18" charset="0"/>
                        </a:rPr>
                        <a:t>601-01/25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Task</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A601</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DUE TO LACK OF SPARE PART,SCHEDULE OF AMP TASKS NEEDS TO BE EXTENDED</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SQD</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7-Feb-2025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AMP</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100" b="0" i="0" u="none" strike="noStrike">
                          <a:solidFill>
                            <a:srgbClr val="000000"/>
                          </a:solidFill>
                          <a:effectLst/>
                          <a:latin typeface="Times New Roman" panose="02020603050405020304" pitchFamily="18" charset="0"/>
                        </a:rPr>
                        <a:t> </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55769"/>
                  </a:ext>
                </a:extLst>
              </a:tr>
              <a:tr h="263606">
                <a:tc>
                  <a:txBody>
                    <a:bodyPr/>
                    <a:lstStyle/>
                    <a:p>
                      <a:pPr algn="ctr" fontAlgn="ctr"/>
                      <a:r>
                        <a:rPr lang="en-150" sz="1100" b="0" i="0" u="none" strike="noStrike">
                          <a:solidFill>
                            <a:srgbClr val="000000"/>
                          </a:solidFill>
                          <a:effectLst/>
                          <a:latin typeface="Times New Roman" panose="02020603050405020304" pitchFamily="18" charset="0"/>
                        </a:rPr>
                        <a:t>3</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100" b="0" i="0" u="none" strike="noStrike">
                          <a:solidFill>
                            <a:srgbClr val="000000"/>
                          </a:solidFill>
                          <a:effectLst/>
                          <a:latin typeface="Times New Roman" panose="02020603050405020304" pitchFamily="18" charset="0"/>
                        </a:rPr>
                        <a:t>620-02/25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Task</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A620</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DUE TO LACK OF RESOURCE, SCHEDULE OF GROUP CMP TASKS OF A620 NEEDS TO BE EXTENDED.</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SQD</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100" b="0" i="0" u="none" strike="noStrike">
                          <a:solidFill>
                            <a:srgbClr val="000000"/>
                          </a:solidFill>
                          <a:effectLst/>
                          <a:latin typeface="Times New Roman" panose="02020603050405020304" pitchFamily="18" charset="0"/>
                        </a:rPr>
                        <a:t>2/-0/2025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CMP</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100" b="0" i="0" u="none" strike="noStrike">
                          <a:solidFill>
                            <a:srgbClr val="000000"/>
                          </a:solidFill>
                          <a:effectLst/>
                          <a:latin typeface="Times New Roman" panose="02020603050405020304" pitchFamily="18" charset="0"/>
                        </a:rPr>
                        <a:t> </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5535283"/>
                  </a:ext>
                </a:extLst>
              </a:tr>
              <a:tr h="527213">
                <a:tc>
                  <a:txBody>
                    <a:bodyPr/>
                    <a:lstStyle/>
                    <a:p>
                      <a:pPr algn="ctr" fontAlgn="ctr"/>
                      <a:r>
                        <a:rPr lang="en-150" sz="1100" b="0" i="0" u="none" strike="noStrike">
                          <a:solidFill>
                            <a:srgbClr val="000000"/>
                          </a:solidFill>
                          <a:effectLst/>
                          <a:latin typeface="Times New Roman" panose="02020603050405020304" pitchFamily="18" charset="0"/>
                        </a:rPr>
                        <a:t>4</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100" b="0" i="0" u="none" strike="noStrike">
                          <a:solidFill>
                            <a:srgbClr val="000000"/>
                          </a:solidFill>
                          <a:effectLst/>
                          <a:latin typeface="Times New Roman" panose="02020603050405020304" pitchFamily="18" charset="0"/>
                        </a:rPr>
                        <a:t>873-02/25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ADD</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A873</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ADD B501: APU INOP DUE TO OIL LEAK REF MEL 49-11-01 REV 09, CAT C, EXP: 07 FEB 2025- OPS LIMIT:EDTO BEYOND 180 MINUTES IS NOT CONDUCTEDNEED GPU, ACU</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ADD B502 RAISED: EDTO BEYOND 180 MINS IS NOT CONDUCTED, REF LMM: 2.9.6, EXP: 07 FEB 2025.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SQD</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6-Feb-2025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ADD</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100" b="0" i="0" u="none" strike="noStrike">
                          <a:solidFill>
                            <a:srgbClr val="000000"/>
                          </a:solidFill>
                          <a:effectLst/>
                          <a:latin typeface="Times New Roman" panose="02020603050405020304" pitchFamily="18" charset="0"/>
                        </a:rPr>
                        <a:t> </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58355312"/>
                  </a:ext>
                </a:extLst>
              </a:tr>
              <a:tr h="137534">
                <a:tc>
                  <a:txBody>
                    <a:bodyPr/>
                    <a:lstStyle/>
                    <a:p>
                      <a:pPr algn="ctr" fontAlgn="ctr"/>
                      <a:r>
                        <a:rPr lang="en-150" sz="1100" b="0" i="0" u="none" strike="noStrike">
                          <a:solidFill>
                            <a:srgbClr val="000000"/>
                          </a:solidFill>
                          <a:effectLst/>
                          <a:latin typeface="Times New Roman" panose="02020603050405020304" pitchFamily="18" charset="0"/>
                        </a:rPr>
                        <a:t>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100" b="0" i="0" u="none" strike="noStrike">
                          <a:solidFill>
                            <a:srgbClr val="000000"/>
                          </a:solidFill>
                          <a:effectLst/>
                          <a:latin typeface="Times New Roman" panose="02020603050405020304" pitchFamily="18" charset="0"/>
                        </a:rPr>
                        <a:t>870-01/25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ADD</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A870</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ADD B1378 RECIRC FAN LOWER L, REF MEL 21-25-01-02-02 REV 09, CAT C, EXP 05-02-2025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SQD</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4-Feb-2025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ADD</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100" b="0" i="0" u="none" strike="noStrike">
                          <a:solidFill>
                            <a:srgbClr val="000000"/>
                          </a:solidFill>
                          <a:effectLst/>
                          <a:latin typeface="Times New Roman" panose="02020603050405020304" pitchFamily="18" charset="0"/>
                        </a:rPr>
                        <a:t> </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1338646"/>
                  </a:ext>
                </a:extLst>
              </a:tr>
              <a:tr h="263606">
                <a:tc>
                  <a:txBody>
                    <a:bodyPr/>
                    <a:lstStyle/>
                    <a:p>
                      <a:pPr algn="ctr" fontAlgn="ctr"/>
                      <a:r>
                        <a:rPr lang="en-150" sz="1100" b="0" i="0" u="none" strike="noStrike">
                          <a:solidFill>
                            <a:srgbClr val="000000"/>
                          </a:solidFill>
                          <a:effectLst/>
                          <a:latin typeface="Times New Roman" panose="02020603050405020304" pitchFamily="18" charset="0"/>
                        </a:rPr>
                        <a:t>6</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100" b="0" i="0" u="none" strike="noStrike">
                          <a:solidFill>
                            <a:srgbClr val="000000"/>
                          </a:solidFill>
                          <a:effectLst/>
                          <a:latin typeface="Times New Roman" panose="02020603050405020304" pitchFamily="18" charset="0"/>
                        </a:rPr>
                        <a:t>323-01/25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ADD</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A323</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ADD B2917 "ENG#1 BLEED HP VALVE WRONG INDICATION" I.A.W MEL 36-07-03A (REV DEC 2024) (REOPEN ADD B2909) DEADLINE 03-02-2025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SQD</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3-Feb-2025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ADD</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100" b="0" i="0" u="none" strike="noStrike">
                          <a:solidFill>
                            <a:srgbClr val="000000"/>
                          </a:solidFill>
                          <a:effectLst/>
                          <a:latin typeface="Times New Roman" panose="02020603050405020304" pitchFamily="18" charset="0"/>
                        </a:rPr>
                        <a:t> </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2172335"/>
                  </a:ext>
                </a:extLst>
              </a:tr>
            </a:tbl>
          </a:graphicData>
        </a:graphic>
      </p:graphicFrame>
    </p:spTree>
    <p:extLst>
      <p:ext uri="{BB962C8B-B14F-4D97-AF65-F5344CB8AC3E}">
        <p14:creationId xmlns:p14="http://schemas.microsoft.com/office/powerpoint/2010/main" val="31779567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7" name="Title 4"/>
          <p:cNvSpPr>
            <a:spLocks noGrp="1"/>
          </p:cNvSpPr>
          <p:nvPr>
            <p:ph type="title"/>
          </p:nvPr>
        </p:nvSpPr>
        <p:spPr>
          <a:xfrm>
            <a:off x="1059507" y="520783"/>
            <a:ext cx="10370492" cy="560972"/>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Giờ bay trung bình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extLst/>
          </p:nvPr>
        </p:nvGraphicFramePr>
        <p:xfrm>
          <a:off x="1059507" y="3904055"/>
          <a:ext cx="4954432" cy="2793501"/>
        </p:xfrm>
        <a:graphic>
          <a:graphicData uri="http://schemas.openxmlformats.org/drawingml/2006/table">
            <a:tbl>
              <a:tblPr/>
              <a:tblGrid>
                <a:gridCol w="792709">
                  <a:extLst>
                    <a:ext uri="{9D8B030D-6E8A-4147-A177-3AD203B41FA5}">
                      <a16:colId xmlns:a16="http://schemas.microsoft.com/office/drawing/2014/main" val="4293334556"/>
                    </a:ext>
                  </a:extLst>
                </a:gridCol>
                <a:gridCol w="1118287">
                  <a:extLst>
                    <a:ext uri="{9D8B030D-6E8A-4147-A177-3AD203B41FA5}">
                      <a16:colId xmlns:a16="http://schemas.microsoft.com/office/drawing/2014/main" val="3593396119"/>
                    </a:ext>
                  </a:extLst>
                </a:gridCol>
                <a:gridCol w="948420">
                  <a:extLst>
                    <a:ext uri="{9D8B030D-6E8A-4147-A177-3AD203B41FA5}">
                      <a16:colId xmlns:a16="http://schemas.microsoft.com/office/drawing/2014/main" val="1444269426"/>
                    </a:ext>
                  </a:extLst>
                </a:gridCol>
                <a:gridCol w="990886">
                  <a:extLst>
                    <a:ext uri="{9D8B030D-6E8A-4147-A177-3AD203B41FA5}">
                      <a16:colId xmlns:a16="http://schemas.microsoft.com/office/drawing/2014/main" val="2696731085"/>
                    </a:ext>
                  </a:extLst>
                </a:gridCol>
                <a:gridCol w="1104130">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This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5929344"/>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2964238"/>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289:30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175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151.09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1951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653:55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4455108"/>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914:55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881:30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302:05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567:25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186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283:40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9" name="Table 8"/>
          <p:cNvGraphicFramePr>
            <a:graphicFrameLocks noGrp="1"/>
          </p:cNvGraphicFramePr>
          <p:nvPr>
            <p:extLst/>
          </p:nvPr>
        </p:nvGraphicFramePr>
        <p:xfrm>
          <a:off x="6312510" y="3904053"/>
          <a:ext cx="5117489" cy="2793501"/>
        </p:xfrm>
        <a:graphic>
          <a:graphicData uri="http://schemas.openxmlformats.org/drawingml/2006/table">
            <a:tbl>
              <a:tblPr/>
              <a:tblGrid>
                <a:gridCol w="818798">
                  <a:extLst>
                    <a:ext uri="{9D8B030D-6E8A-4147-A177-3AD203B41FA5}">
                      <a16:colId xmlns:a16="http://schemas.microsoft.com/office/drawing/2014/main" val="4293334556"/>
                    </a:ext>
                  </a:extLst>
                </a:gridCol>
                <a:gridCol w="1155092">
                  <a:extLst>
                    <a:ext uri="{9D8B030D-6E8A-4147-A177-3AD203B41FA5}">
                      <a16:colId xmlns:a16="http://schemas.microsoft.com/office/drawing/2014/main" val="3593396119"/>
                    </a:ext>
                  </a:extLst>
                </a:gridCol>
                <a:gridCol w="979634">
                  <a:extLst>
                    <a:ext uri="{9D8B030D-6E8A-4147-A177-3AD203B41FA5}">
                      <a16:colId xmlns:a16="http://schemas.microsoft.com/office/drawing/2014/main" val="1444269426"/>
                    </a:ext>
                  </a:extLst>
                </a:gridCol>
                <a:gridCol w="1023497">
                  <a:extLst>
                    <a:ext uri="{9D8B030D-6E8A-4147-A177-3AD203B41FA5}">
                      <a16:colId xmlns:a16="http://schemas.microsoft.com/office/drawing/2014/main" val="2696731085"/>
                    </a:ext>
                  </a:extLst>
                </a:gridCol>
                <a:gridCol w="1140468">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Next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8078206"/>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2051267"/>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238:00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132.88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1682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454:10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884690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205:00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874:40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885:20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305:05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487:40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293:25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10" name="Chart 9"/>
          <p:cNvGraphicFramePr>
            <a:graphicFrameLocks/>
          </p:cNvGraphicFramePr>
          <p:nvPr>
            <p:extLst/>
          </p:nvPr>
        </p:nvGraphicFramePr>
        <p:xfrm>
          <a:off x="1059507" y="1219200"/>
          <a:ext cx="10370492" cy="243363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128246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1068301" y="441128"/>
            <a:ext cx="10515600" cy="558906"/>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Số chuyến bay theo ngày trong </a:t>
            </a:r>
            <a:r>
              <a:rPr lang="en-US" sz="2400">
                <a:ln w="0"/>
                <a:solidFill>
                  <a:schemeClr val="accent4"/>
                </a:solidFill>
                <a:latin typeface="Times New Roman" panose="02020603050405020304" pitchFamily="18" charset="0"/>
                <a:cs typeface="Times New Roman" panose="02020603050405020304" pitchFamily="18" charset="0"/>
              </a:rPr>
              <a:t>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nvPr>
        </p:nvGraphicFramePr>
        <p:xfrm>
          <a:off x="925417" y="3601492"/>
          <a:ext cx="5166913" cy="3074728"/>
        </p:xfrm>
        <a:graphic>
          <a:graphicData uri="http://schemas.openxmlformats.org/drawingml/2006/table">
            <a:tbl>
              <a:tblPr/>
              <a:tblGrid>
                <a:gridCol w="508916">
                  <a:extLst>
                    <a:ext uri="{9D8B030D-6E8A-4147-A177-3AD203B41FA5}">
                      <a16:colId xmlns:a16="http://schemas.microsoft.com/office/drawing/2014/main" val="4007203340"/>
                    </a:ext>
                  </a:extLst>
                </a:gridCol>
                <a:gridCol w="664419">
                  <a:extLst>
                    <a:ext uri="{9D8B030D-6E8A-4147-A177-3AD203B41FA5}">
                      <a16:colId xmlns:a16="http://schemas.microsoft.com/office/drawing/2014/main" val="426832351"/>
                    </a:ext>
                  </a:extLst>
                </a:gridCol>
                <a:gridCol w="558394">
                  <a:extLst>
                    <a:ext uri="{9D8B030D-6E8A-4147-A177-3AD203B41FA5}">
                      <a16:colId xmlns:a16="http://schemas.microsoft.com/office/drawing/2014/main" val="1721542108"/>
                    </a:ext>
                  </a:extLst>
                </a:gridCol>
                <a:gridCol w="558394">
                  <a:extLst>
                    <a:ext uri="{9D8B030D-6E8A-4147-A177-3AD203B41FA5}">
                      <a16:colId xmlns:a16="http://schemas.microsoft.com/office/drawing/2014/main" val="1471932876"/>
                    </a:ext>
                  </a:extLst>
                </a:gridCol>
                <a:gridCol w="558394">
                  <a:extLst>
                    <a:ext uri="{9D8B030D-6E8A-4147-A177-3AD203B41FA5}">
                      <a16:colId xmlns:a16="http://schemas.microsoft.com/office/drawing/2014/main" val="4014421323"/>
                    </a:ext>
                  </a:extLst>
                </a:gridCol>
                <a:gridCol w="558394">
                  <a:extLst>
                    <a:ext uri="{9D8B030D-6E8A-4147-A177-3AD203B41FA5}">
                      <a16:colId xmlns:a16="http://schemas.microsoft.com/office/drawing/2014/main" val="3056975398"/>
                    </a:ext>
                  </a:extLst>
                </a:gridCol>
                <a:gridCol w="558394">
                  <a:extLst>
                    <a:ext uri="{9D8B030D-6E8A-4147-A177-3AD203B41FA5}">
                      <a16:colId xmlns:a16="http://schemas.microsoft.com/office/drawing/2014/main" val="3963358169"/>
                    </a:ext>
                  </a:extLst>
                </a:gridCol>
                <a:gridCol w="643214">
                  <a:extLst>
                    <a:ext uri="{9D8B030D-6E8A-4147-A177-3AD203B41FA5}">
                      <a16:colId xmlns:a16="http://schemas.microsoft.com/office/drawing/2014/main" val="2287965264"/>
                    </a:ext>
                  </a:extLst>
                </a:gridCol>
                <a:gridCol w="558394">
                  <a:extLst>
                    <a:ext uri="{9D8B030D-6E8A-4147-A177-3AD203B41FA5}">
                      <a16:colId xmlns:a16="http://schemas.microsoft.com/office/drawing/2014/main" val="280549794"/>
                    </a:ext>
                  </a:extLst>
                </a:gridCol>
              </a:tblGrid>
              <a:tr h="316070">
                <a:tc gridSpan="9">
                  <a:txBody>
                    <a:bodyPr/>
                    <a:lstStyle/>
                    <a:p>
                      <a:pPr algn="ctr" fontAlgn="ctr"/>
                      <a:r>
                        <a:rPr lang="en-US" sz="1400" b="0" i="0" u="none" strike="noStrike">
                          <a:solidFill>
                            <a:srgbClr val="000000"/>
                          </a:solidFill>
                          <a:effectLst/>
                          <a:latin typeface="Times New Roman" panose="02020603050405020304" pitchFamily="18" charset="0"/>
                        </a:rPr>
                        <a:t>This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1903382"/>
                  </a:ext>
                </a:extLst>
              </a:tr>
              <a:tr h="316070">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03-Feb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04-Feb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05-Feb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06-Feb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07-Feb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08-Feb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09-Feb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160127"/>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A320</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1804899"/>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CEO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6.85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5196478"/>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5283256"/>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2940620"/>
                  </a:ext>
                </a:extLst>
              </a:tr>
              <a:tr h="316070">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001083"/>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332843"/>
                  </a:ext>
                </a:extLst>
              </a:tr>
            </a:tbl>
          </a:graphicData>
        </a:graphic>
      </p:graphicFrame>
      <p:graphicFrame>
        <p:nvGraphicFramePr>
          <p:cNvPr id="6" name="Table 5"/>
          <p:cNvGraphicFramePr>
            <a:graphicFrameLocks noGrp="1"/>
          </p:cNvGraphicFramePr>
          <p:nvPr>
            <p:extLst/>
          </p:nvPr>
        </p:nvGraphicFramePr>
        <p:xfrm>
          <a:off x="6323684" y="3601491"/>
          <a:ext cx="5122840" cy="3074728"/>
        </p:xfrm>
        <a:graphic>
          <a:graphicData uri="http://schemas.openxmlformats.org/drawingml/2006/table">
            <a:tbl>
              <a:tblPr/>
              <a:tblGrid>
                <a:gridCol w="594680">
                  <a:extLst>
                    <a:ext uri="{9D8B030D-6E8A-4147-A177-3AD203B41FA5}">
                      <a16:colId xmlns:a16="http://schemas.microsoft.com/office/drawing/2014/main" val="3551115474"/>
                    </a:ext>
                  </a:extLst>
                </a:gridCol>
                <a:gridCol w="566020">
                  <a:extLst>
                    <a:ext uri="{9D8B030D-6E8A-4147-A177-3AD203B41FA5}">
                      <a16:colId xmlns:a16="http://schemas.microsoft.com/office/drawing/2014/main" val="1314180557"/>
                    </a:ext>
                  </a:extLst>
                </a:gridCol>
                <a:gridCol w="566020">
                  <a:extLst>
                    <a:ext uri="{9D8B030D-6E8A-4147-A177-3AD203B41FA5}">
                      <a16:colId xmlns:a16="http://schemas.microsoft.com/office/drawing/2014/main" val="2680264810"/>
                    </a:ext>
                  </a:extLst>
                </a:gridCol>
                <a:gridCol w="566020">
                  <a:extLst>
                    <a:ext uri="{9D8B030D-6E8A-4147-A177-3AD203B41FA5}">
                      <a16:colId xmlns:a16="http://schemas.microsoft.com/office/drawing/2014/main" val="184617242"/>
                    </a:ext>
                  </a:extLst>
                </a:gridCol>
                <a:gridCol w="566020">
                  <a:extLst>
                    <a:ext uri="{9D8B030D-6E8A-4147-A177-3AD203B41FA5}">
                      <a16:colId xmlns:a16="http://schemas.microsoft.com/office/drawing/2014/main" val="3552461699"/>
                    </a:ext>
                  </a:extLst>
                </a:gridCol>
                <a:gridCol w="566020">
                  <a:extLst>
                    <a:ext uri="{9D8B030D-6E8A-4147-A177-3AD203B41FA5}">
                      <a16:colId xmlns:a16="http://schemas.microsoft.com/office/drawing/2014/main" val="3621213656"/>
                    </a:ext>
                  </a:extLst>
                </a:gridCol>
                <a:gridCol w="566020">
                  <a:extLst>
                    <a:ext uri="{9D8B030D-6E8A-4147-A177-3AD203B41FA5}">
                      <a16:colId xmlns:a16="http://schemas.microsoft.com/office/drawing/2014/main" val="4002416887"/>
                    </a:ext>
                  </a:extLst>
                </a:gridCol>
                <a:gridCol w="566020">
                  <a:extLst>
                    <a:ext uri="{9D8B030D-6E8A-4147-A177-3AD203B41FA5}">
                      <a16:colId xmlns:a16="http://schemas.microsoft.com/office/drawing/2014/main" val="2192548362"/>
                    </a:ext>
                  </a:extLst>
                </a:gridCol>
                <a:gridCol w="566020">
                  <a:extLst>
                    <a:ext uri="{9D8B030D-6E8A-4147-A177-3AD203B41FA5}">
                      <a16:colId xmlns:a16="http://schemas.microsoft.com/office/drawing/2014/main" val="604295541"/>
                    </a:ext>
                  </a:extLst>
                </a:gridCol>
              </a:tblGrid>
              <a:tr h="273744">
                <a:tc gridSpan="9">
                  <a:txBody>
                    <a:bodyPr/>
                    <a:lstStyle/>
                    <a:p>
                      <a:pPr algn="ctr" fontAlgn="ctr"/>
                      <a:r>
                        <a:rPr lang="en-US" sz="1400" b="0" i="0" u="none" strike="noStrike" smtClean="0">
                          <a:solidFill>
                            <a:srgbClr val="000000"/>
                          </a:solidFill>
                          <a:effectLst/>
                          <a:latin typeface="Times New Roman" panose="02020603050405020304" pitchFamily="18" charset="0"/>
                        </a:rPr>
                        <a:t>Next </a:t>
                      </a:r>
                      <a:r>
                        <a:rPr lang="en-US" sz="1400" b="0" i="0" u="none" strike="noStrike">
                          <a:solidFill>
                            <a:srgbClr val="000000"/>
                          </a:solidFill>
                          <a:effectLst/>
                          <a:latin typeface="Times New Roman" panose="02020603050405020304" pitchFamily="18" charset="0"/>
                        </a:rPr>
                        <a:t>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73633610"/>
                  </a:ext>
                </a:extLst>
              </a:tr>
              <a:tr h="338389">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11-Feb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12-Feb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13-Feb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14-Feb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15-Feb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16-Feb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4169036"/>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A320</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3065108"/>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CEO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5.85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7632801"/>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38142930"/>
                  </a:ext>
                </a:extLst>
              </a:tr>
              <a:tr h="339912">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9221019"/>
                  </a:ext>
                </a:extLst>
              </a:tr>
              <a:tr h="344439">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3.47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2154933"/>
                  </a:ext>
                </a:extLst>
              </a:tr>
              <a:tr h="273744">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5859539"/>
                  </a:ext>
                </a:extLst>
              </a:tr>
            </a:tbl>
          </a:graphicData>
        </a:graphic>
      </p:graphicFrame>
      <p:graphicFrame>
        <p:nvGraphicFramePr>
          <p:cNvPr id="8" name="Chart 7"/>
          <p:cNvGraphicFramePr>
            <a:graphicFrameLocks/>
          </p:cNvGraphicFramePr>
          <p:nvPr>
            <p:extLst/>
          </p:nvPr>
        </p:nvGraphicFramePr>
        <p:xfrm>
          <a:off x="925418" y="1219200"/>
          <a:ext cx="10521106" cy="220050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6278399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983673" y="508342"/>
            <a:ext cx="10549845" cy="552707"/>
          </a:xfrm>
        </p:spPr>
        <p:txBody>
          <a:bodyPr>
            <a:noAutofit/>
          </a:bodyPr>
          <a:lstStyle/>
          <a:p>
            <a:pPr algn="ctr"/>
            <a:r>
              <a:rPr lang="en-GB" sz="2400">
                <a:ln w="0"/>
                <a:solidFill>
                  <a:schemeClr val="accent4"/>
                </a:solidFill>
                <a:latin typeface="Times New Roman" panose="02020603050405020304" pitchFamily="18" charset="0"/>
                <a:cs typeface="Times New Roman" panose="02020603050405020304" pitchFamily="18" charset="0"/>
              </a:rPr>
              <a:t>S</a:t>
            </a:r>
            <a:r>
              <a:rPr lang="en-GB" sz="2400" smtClean="0">
                <a:ln w="0"/>
                <a:solidFill>
                  <a:schemeClr val="accent4"/>
                </a:solidFill>
                <a:latin typeface="Times New Roman" panose="02020603050405020304" pitchFamily="18" charset="0"/>
                <a:cs typeface="Times New Roman" panose="02020603050405020304" pitchFamily="18" charset="0"/>
              </a:rPr>
              <a:t>ố chuyến bay khai thác theo ngày</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7" name="Chart 6"/>
          <p:cNvGraphicFramePr>
            <a:graphicFrameLocks/>
          </p:cNvGraphicFramePr>
          <p:nvPr>
            <p:extLst/>
          </p:nvPr>
        </p:nvGraphicFramePr>
        <p:xfrm>
          <a:off x="838201" y="1219200"/>
          <a:ext cx="10820400" cy="51816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2653977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1ccdae391d_0_248"/>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57" name="Google Shape;157;g31ccdae391d_0_24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45</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158" name="Google Shape;158;g31ccdae391d_0_248"/>
          <p:cNvSpPr/>
          <p:nvPr/>
        </p:nvSpPr>
        <p:spPr>
          <a:xfrm>
            <a:off x="475582"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Tình trạng vật tư cho hỏng hóc trên đội bay</a:t>
            </a:r>
            <a:endParaRPr kumimoji="0"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Tàu AOG: NIL</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Tình hình tàu check: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NIL.</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10000"/>
              </a:lnSpc>
              <a:spcBef>
                <a:spcPts val="60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Hỏng hóc ảnh hưởng khai thác: </a:t>
            </a: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91440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pic>
        <p:nvPicPr>
          <p:cNvPr id="159" name="Google Shape;159;g31ccdae391d_0_248"/>
          <p:cNvPicPr preferRelativeResize="0"/>
          <p:nvPr/>
        </p:nvPicPr>
        <p:blipFill>
          <a:blip r:embed="rId3">
            <a:alphaModFix/>
          </a:blip>
          <a:stretch>
            <a:fillRect/>
          </a:stretch>
        </p:blipFill>
        <p:spPr>
          <a:xfrm>
            <a:off x="400050" y="1916475"/>
            <a:ext cx="11391900" cy="2000250"/>
          </a:xfrm>
          <a:prstGeom prst="rect">
            <a:avLst/>
          </a:prstGeom>
          <a:noFill/>
          <a:ln>
            <a:noFill/>
          </a:ln>
        </p:spPr>
      </p:pic>
    </p:spTree>
    <p:extLst>
      <p:ext uri="{BB962C8B-B14F-4D97-AF65-F5344CB8AC3E}">
        <p14:creationId xmlns:p14="http://schemas.microsoft.com/office/powerpoint/2010/main" val="15483540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2b7222f7b3_0_1"/>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66" name="Google Shape;166;g32b7222f7b3_0_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46</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167" name="Google Shape;167;g32b7222f7b3_0_1"/>
          <p:cNvSpPr/>
          <p:nvPr/>
        </p:nvSpPr>
        <p:spPr>
          <a:xfrm>
            <a:off x="475582"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Tình trạng vật tư cho hỏng hóc trên đội bay</a:t>
            </a:r>
            <a:endParaRPr kumimoji="0"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10000"/>
              </a:lnSpc>
              <a:spcBef>
                <a:spcPts val="60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Hỏng hóc B defect hết hạn trong 10 ngày cần giục vật tư (đã loại các defect có stock):</a:t>
            </a: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91440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pic>
        <p:nvPicPr>
          <p:cNvPr id="168" name="Google Shape;168;g32b7222f7b3_0_1"/>
          <p:cNvPicPr preferRelativeResize="0"/>
          <p:nvPr/>
        </p:nvPicPr>
        <p:blipFill>
          <a:blip r:embed="rId3">
            <a:alphaModFix/>
          </a:blip>
          <a:stretch>
            <a:fillRect/>
          </a:stretch>
        </p:blipFill>
        <p:spPr>
          <a:xfrm>
            <a:off x="1035925" y="1461113"/>
            <a:ext cx="9144000" cy="5324475"/>
          </a:xfrm>
          <a:prstGeom prst="rect">
            <a:avLst/>
          </a:prstGeom>
          <a:noFill/>
          <a:ln>
            <a:noFill/>
          </a:ln>
        </p:spPr>
      </p:pic>
    </p:spTree>
    <p:extLst>
      <p:ext uri="{BB962C8B-B14F-4D97-AF65-F5344CB8AC3E}">
        <p14:creationId xmlns:p14="http://schemas.microsoft.com/office/powerpoint/2010/main" val="75647120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g31ccdae391d_0_271"/>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75" name="Google Shape;175;g31ccdae391d_0_27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47</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176" name="Google Shape;176;g31ccdae391d_0_271"/>
          <p:cNvGraphicFramePr/>
          <p:nvPr/>
        </p:nvGraphicFramePr>
        <p:xfrm>
          <a:off x="489114" y="611396"/>
          <a:ext cx="11570675" cy="4203202"/>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946125">
                  <a:extLst>
                    <a:ext uri="{9D8B030D-6E8A-4147-A177-3AD203B41FA5}">
                      <a16:colId xmlns:a16="http://schemas.microsoft.com/office/drawing/2014/main" val="20001"/>
                    </a:ext>
                  </a:extLst>
                </a:gridCol>
                <a:gridCol w="1285550">
                  <a:extLst>
                    <a:ext uri="{9D8B030D-6E8A-4147-A177-3AD203B41FA5}">
                      <a16:colId xmlns:a16="http://schemas.microsoft.com/office/drawing/2014/main" val="20002"/>
                    </a:ext>
                  </a:extLst>
                </a:gridCol>
                <a:gridCol w="5174925">
                  <a:extLst>
                    <a:ext uri="{9D8B030D-6E8A-4147-A177-3AD203B41FA5}">
                      <a16:colId xmlns:a16="http://schemas.microsoft.com/office/drawing/2014/main" val="20003"/>
                    </a:ext>
                  </a:extLst>
                </a:gridCol>
                <a:gridCol w="2422800">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r>
                        <a:rPr lang="en-US" sz="2000" b="1" u="none" strike="noStrike" cap="none">
                          <a:solidFill>
                            <a:srgbClr val="FF0000"/>
                          </a:solidFill>
                          <a:latin typeface="Times New Roman"/>
                          <a:ea typeface="Times New Roman"/>
                          <a:cs typeface="Times New Roman"/>
                          <a:sym typeface="Times New Roman"/>
                        </a:rPr>
                        <a:t>DANH MỤC VẬT TƯ CRITICAL</a:t>
                      </a:r>
                      <a:endParaRPr sz="2000" u="none" strike="noStrike" cap="none"/>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STT</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Tên thiết bị</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P/N</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Tình trạng vật tư</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Note</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4202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FDRV</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17300G11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2ea alt PN </a:t>
                      </a:r>
                      <a:r>
                        <a:rPr lang="en-US" sz="1600" u="none" strike="noStrike" cap="none">
                          <a:solidFill>
                            <a:schemeClr val="dk1"/>
                          </a:solidFill>
                          <a:latin typeface="Times New Roman"/>
                          <a:ea typeface="Times New Roman"/>
                          <a:cs typeface="Times New Roman"/>
                          <a:sym typeface="Times New Roman"/>
                        </a:rPr>
                        <a:t>17300G12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4177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SSTU</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321000M03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NIL, mới gửi đi sửa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04400">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CNA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745-1101-507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16325">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4</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LH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665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5</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RH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NIL</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373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6</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AIR INLET COWL</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745-3400-507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2ea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IPCV NEO</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5325192 (1020925-3)</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2ea </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Rob từ NEO bảo quản</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8</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EIU NEO</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777461-1-1</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a:latin typeface="Times New Roman"/>
                          <a:ea typeface="Times New Roman"/>
                          <a:cs typeface="Times New Roman"/>
                          <a:sym typeface="Times New Roman"/>
                        </a:rPr>
                        <a:t>stock 4ea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Rob từ NEO bảo quản</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60188723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g31ccdae391d_0_278"/>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TÌNH TRẠNG APU LRU </a:t>
            </a:r>
            <a:r>
              <a:rPr lang="en-US" sz="2800">
                <a:solidFill>
                  <a:schemeClr val="accent4"/>
                </a:solidFill>
                <a:latin typeface="Times New Roman"/>
                <a:ea typeface="Times New Roman"/>
                <a:cs typeface="Times New Roman"/>
                <a:sym typeface="Times New Roman"/>
              </a:rPr>
              <a:t>A321 </a:t>
            </a:r>
            <a:endParaRPr sz="2800">
              <a:solidFill>
                <a:srgbClr val="FFC000"/>
              </a:solidFill>
              <a:latin typeface="Times New Roman"/>
              <a:ea typeface="Times New Roman"/>
              <a:cs typeface="Times New Roman"/>
              <a:sym typeface="Times New Roman"/>
            </a:endParaRPr>
          </a:p>
        </p:txBody>
      </p:sp>
      <p:sp>
        <p:nvSpPr>
          <p:cNvPr id="183" name="Google Shape;183;g31ccdae391d_0_27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48</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184" name="Google Shape;184;g31ccdae391d_0_278"/>
          <p:cNvGraphicFramePr/>
          <p:nvPr/>
        </p:nvGraphicFramePr>
        <p:xfrm>
          <a:off x="558675" y="462325"/>
          <a:ext cx="10287000" cy="6130632"/>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2130900">
                  <a:extLst>
                    <a:ext uri="{9D8B030D-6E8A-4147-A177-3AD203B41FA5}">
                      <a16:colId xmlns:a16="http://schemas.microsoft.com/office/drawing/2014/main" val="20001"/>
                    </a:ext>
                  </a:extLst>
                </a:gridCol>
                <a:gridCol w="2382725">
                  <a:extLst>
                    <a:ext uri="{9D8B030D-6E8A-4147-A177-3AD203B41FA5}">
                      <a16:colId xmlns:a16="http://schemas.microsoft.com/office/drawing/2014/main" val="20002"/>
                    </a:ext>
                  </a:extLst>
                </a:gridCol>
                <a:gridCol w="1051825">
                  <a:extLst>
                    <a:ext uri="{9D8B030D-6E8A-4147-A177-3AD203B41FA5}">
                      <a16:colId xmlns:a16="http://schemas.microsoft.com/office/drawing/2014/main" val="20003"/>
                    </a:ext>
                  </a:extLst>
                </a:gridCol>
                <a:gridCol w="4338700">
                  <a:extLst>
                    <a:ext uri="{9D8B030D-6E8A-4147-A177-3AD203B41FA5}">
                      <a16:colId xmlns:a16="http://schemas.microsoft.com/office/drawing/2014/main" val="20004"/>
                    </a:ext>
                  </a:extLst>
                </a:gridCol>
              </a:tblGrid>
              <a:tr h="381000">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it</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Part number</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Description</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MBK level</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status</a:t>
                      </a:r>
                      <a:endParaRPr sz="1800"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106-1-1100-02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ACTUATOR-APU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r>
                        <a:rPr lang="en-US" sz="1300">
                          <a:solidFill>
                            <a:schemeClr val="dk1"/>
                          </a:solidFill>
                          <a:latin typeface="Times New Roman"/>
                          <a:ea typeface="Times New Roman"/>
                          <a:cs typeface="Times New Roman"/>
                          <a:sym typeface="Times New Roman"/>
                        </a:rPr>
                        <a:t> đang đặt mua nhưng Airbuskhông có stock</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160494-1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OIL COOLER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2704506-2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MOTOR STARTER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đang đặt mua nhưng honeywell không có stock</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3291238-2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VALVE-SURGE CONTROL</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3291432-1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LOAD CONTROL VALVE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a:t>
                      </a:r>
                      <a:r>
                        <a:rPr lang="en-US" sz="1300" u="none" strike="noStrike" cap="none">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5"/>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6</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3616140-10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FAN ASSY-OIL COOLING</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6"/>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7</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3876287-1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DATA MEMORY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7"/>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8</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3886188-3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IGV ACTUATOR APU131-9A</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8"/>
                  </a:ext>
                </a:extLst>
              </a:tr>
              <a:tr h="3416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9</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3888058-5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EXCITER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1ea, </a:t>
                      </a:r>
                      <a:r>
                        <a:rPr lang="en-US" sz="1300">
                          <a:solidFill>
                            <a:schemeClr val="dk1"/>
                          </a:solidFill>
                          <a:latin typeface="Times New Roman"/>
                          <a:ea typeface="Times New Roman"/>
                          <a:cs typeface="Times New Roman"/>
                          <a:sym typeface="Times New Roman"/>
                        </a:rPr>
                        <a:t> đang đặt mua nhưng honeywell không có stock</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9"/>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3888394-221205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ECB</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a:t>
                      </a:r>
                      <a:r>
                        <a:rPr lang="en-US" sz="1300" u="none" strike="noStrike" cap="none">
                          <a:solidFill>
                            <a:schemeClr val="dk1"/>
                          </a:solidFill>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4131020-4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LUBE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1RO có TAT tại Honeywell dài</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441921-5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CONTROL FUEL UNIT</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BA03604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GENERATOR-APU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3"/>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3860864-1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CLUTCH ASSY</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 </a:t>
                      </a:r>
                      <a:r>
                        <a:rPr lang="en-US" sz="1300">
                          <a:solidFill>
                            <a:schemeClr val="dk1"/>
                          </a:solidFill>
                          <a:latin typeface="Times New Roman"/>
                          <a:ea typeface="Times New Roman"/>
                          <a:cs typeface="Times New Roman"/>
                          <a:sym typeface="Times New Roman"/>
                        </a:rPr>
                        <a:t>đang đặt mua nhưng honeywell không có stock</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248871577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g31ccdae391d_0_285"/>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CÁC VẬT TƯ VƯỚNG MẮC KHÁC</a:t>
            </a:r>
            <a:endParaRPr sz="2800">
              <a:solidFill>
                <a:srgbClr val="FFC000"/>
              </a:solidFill>
              <a:latin typeface="Times New Roman"/>
              <a:ea typeface="Times New Roman"/>
              <a:cs typeface="Times New Roman"/>
              <a:sym typeface="Times New Roman"/>
            </a:endParaRPr>
          </a:p>
        </p:txBody>
      </p:sp>
      <p:sp>
        <p:nvSpPr>
          <p:cNvPr id="191" name="Google Shape;191;g31ccdae391d_0_28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49</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192" name="Google Shape;192;g31ccdae391d_0_285"/>
          <p:cNvGraphicFramePr/>
          <p:nvPr/>
        </p:nvGraphicFramePr>
        <p:xfrm>
          <a:off x="438751" y="690871"/>
          <a:ext cx="11570675" cy="3855160"/>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442775">
                  <a:extLst>
                    <a:ext uri="{9D8B030D-6E8A-4147-A177-3AD203B41FA5}">
                      <a16:colId xmlns:a16="http://schemas.microsoft.com/office/drawing/2014/main" val="20001"/>
                    </a:ext>
                  </a:extLst>
                </a:gridCol>
                <a:gridCol w="1263625">
                  <a:extLst>
                    <a:ext uri="{9D8B030D-6E8A-4147-A177-3AD203B41FA5}">
                      <a16:colId xmlns:a16="http://schemas.microsoft.com/office/drawing/2014/main" val="20002"/>
                    </a:ext>
                  </a:extLst>
                </a:gridCol>
                <a:gridCol w="4061500">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STT</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Tên thiết bị</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P/N</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Hỏng hóc</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u="none" strike="noStrike" cap="none">
                          <a:latin typeface="Times New Roman"/>
                          <a:ea typeface="Times New Roman"/>
                          <a:cs typeface="Times New Roman"/>
                          <a:sym typeface="Times New Roman"/>
                        </a:rPr>
                        <a:t>Tình trạng</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020850">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Rotating mech MLG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4133801011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nhiều tuy nhiên ST cấp hàng chậm với lý do các thiết bị gửi đi sửa chữa có TAT dài, PO mua mới tới OEM Safran có leadtime dài. Hiện đã phải dừng chương trình kiểm tra theo khuyến cáo của OEM để có đủ vật tư cho các tàu tháo bảo quản.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Stock </a:t>
                      </a:r>
                      <a:r>
                        <a:rPr lang="en-US" sz="1150">
                          <a:latin typeface="Times New Roman"/>
                          <a:ea typeface="Times New Roman"/>
                          <a:cs typeface="Times New Roman"/>
                          <a:sym typeface="Times New Roman"/>
                        </a:rPr>
                        <a:t>1ea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a:latin typeface="Times New Roman"/>
                          <a:ea typeface="Times New Roman"/>
                          <a:cs typeface="Times New Roman"/>
                          <a:sym typeface="Times New Roman"/>
                        </a:rPr>
                        <a:t>Hiện mua 6ea nhưng Safran không có stock, đang giục đối tác cấp hàng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850725">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2</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Các thiết bị IFE của Panasonic:</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LCD</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VSEB</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RD-AV9844-01</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RD-KA3303-05</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phát sinh nhiều trong khai thác trong khi Panasonic sửa chữa có TAT dài, chủ yếu với lý do thiếu PTVT sửa chữa, thay thế. Các PTVT này hiện đều là đời cũ, VSEB đã dừng sản xuất. </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Phối hợp với Panasonic để đổi PTVT, rút ngắn TAT</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Đề nghị Ban KT xem xét phương án tìm PN thay thế</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680575">
                <a:tc>
                  <a:txBody>
                    <a:bodyPr/>
                    <a:lstStyle/>
                    <a:p>
                      <a:pPr marL="0" marR="0" lvl="0" indent="0" algn="ctr"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Jetpipe</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745-1107-503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Thiết bị nằm trên CNA, hỏng hóc nặng crack, không sửa được tại Vaeco. Gửi đi sửa chữa có TAT dài. Có 3 cấp độ hỏng: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Disbond: TAT nhanh (&lt;30 ngày), chi phí sửa thấp (8k - 10k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1 vị trí: TAT khoảng 40-50 ngày, chi phí sửa khoảng 20k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2 vị trí trở lên: TAT dài 60-80 ngày, chi phí sửa &gt;40kUSD </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50"/>
                        <a:buFont typeface="Times New Roman"/>
                        <a:buNone/>
                      </a:pPr>
                      <a:r>
                        <a:rPr lang="en-US" sz="1150" u="none" strike="noStrike" cap="none">
                          <a:latin typeface="Times New Roman"/>
                          <a:ea typeface="Times New Roman"/>
                          <a:cs typeface="Times New Roman"/>
                          <a:sym typeface="Times New Roman"/>
                        </a:rPr>
                        <a:t>Tình trạng kho: stock </a:t>
                      </a:r>
                      <a:r>
                        <a:rPr lang="en-US" sz="1150">
                          <a:latin typeface="Times New Roman"/>
                          <a:ea typeface="Times New Roman"/>
                          <a:cs typeface="Times New Roman"/>
                          <a:sym typeface="Times New Roman"/>
                        </a:rPr>
                        <a:t>1ea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 </a:t>
                      </a:r>
                      <a:r>
                        <a:rPr lang="en-US" sz="1150" u="none" strike="noStrike" cap="none">
                          <a:latin typeface="Times New Roman"/>
                          <a:ea typeface="Times New Roman"/>
                          <a:cs typeface="Times New Roman"/>
                          <a:sym typeface="Times New Roman"/>
                        </a:rPr>
                        <a:t>Đề nghị VAECO có đánh giá hỏng hóc (SDR) sớm và gửi Ban QLVT để hỏi repair cap và chọn cơ sở sửa chữa phù hợp.</a:t>
                      </a:r>
                      <a:endParaRPr sz="115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a:t>
                      </a:r>
                      <a:r>
                        <a:rPr lang="en-US" sz="1150" b="0" i="0" u="none" strike="noStrike" cap="none">
                          <a:solidFill>
                            <a:srgbClr val="000000"/>
                          </a:solidFill>
                          <a:latin typeface="Times New Roman"/>
                          <a:ea typeface="Times New Roman"/>
                          <a:cs typeface="Times New Roman"/>
                          <a:sym typeface="Times New Roman"/>
                        </a:rPr>
                        <a:t>Ban QLVT tiếp tục làm việc với</a:t>
                      </a:r>
                      <a:r>
                        <a:rPr lang="en-US" sz="1150" u="none" strike="noStrike" cap="none">
                          <a:latin typeface="Times New Roman"/>
                          <a:ea typeface="Times New Roman"/>
                          <a:cs typeface="Times New Roman"/>
                          <a:sym typeface="Times New Roman"/>
                        </a:rPr>
                        <a:t> cơ sở sửa chữa để rút ngắn TAT</a:t>
                      </a:r>
                      <a:r>
                        <a:rPr lang="en-US" sz="1150" b="0" i="0" u="none" strike="noStrike" cap="none">
                          <a:solidFill>
                            <a:srgbClr val="000000"/>
                          </a:solidFill>
                          <a:latin typeface="Times New Roman"/>
                          <a:ea typeface="Times New Roman"/>
                          <a:cs typeface="Times New Roman"/>
                          <a:sym typeface="Times New Roman"/>
                        </a:rPr>
                        <a:t/>
                      </a:r>
                      <a:br>
                        <a:rPr lang="en-US" sz="1150" b="0" i="0" u="none" strike="noStrike" cap="none">
                          <a:solidFill>
                            <a:srgbClr val="000000"/>
                          </a:solidFill>
                          <a:latin typeface="Times New Roman"/>
                          <a:ea typeface="Times New Roman"/>
                          <a:cs typeface="Times New Roman"/>
                          <a:sym typeface="Times New Roman"/>
                        </a:rPr>
                      </a:br>
                      <a:r>
                        <a:rPr lang="en-US" sz="1150" b="0" i="0" u="none" strike="noStrike" cap="none">
                          <a:solidFill>
                            <a:srgbClr val="000000"/>
                          </a:solidFill>
                          <a:latin typeface="Times New Roman"/>
                          <a:ea typeface="Times New Roman"/>
                          <a:cs typeface="Times New Roman"/>
                          <a:sym typeface="Times New Roman"/>
                        </a:rPr>
                        <a:t>- Đề nghị Ban KT/Vaeco có giải pháp hạn chế hỏng hóc</a:t>
                      </a:r>
                      <a:r>
                        <a:rPr lang="en-US" sz="1150" u="none" strike="noStrike" cap="none">
                          <a:latin typeface="Times New Roman"/>
                          <a:ea typeface="Times New Roman"/>
                          <a:cs typeface="Times New Roman"/>
                          <a:sym typeface="Times New Roman"/>
                        </a:rPr>
                        <a:t> bằng các phương án kiểm tra chủ động, thay thế khi bị disbond sẽ tiết kiệm chi phí sửa và TAT ngắn.</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Với các hỏng hóc phát sinh, đề nghị xem xét phương án mở defect để Ban QLVT chủ động phương án cung ứng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57543274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g31ccdae391d_0_292"/>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VƯỚNG MẮC VẬT TƯ VAECO</a:t>
            </a:r>
            <a:endParaRPr sz="2800">
              <a:solidFill>
                <a:srgbClr val="FFC000"/>
              </a:solidFill>
              <a:latin typeface="Times New Roman"/>
              <a:ea typeface="Times New Roman"/>
              <a:cs typeface="Times New Roman"/>
              <a:sym typeface="Times New Roman"/>
            </a:endParaRPr>
          </a:p>
        </p:txBody>
      </p:sp>
      <p:sp>
        <p:nvSpPr>
          <p:cNvPr id="199" name="Google Shape;199;g31ccdae391d_0_29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50</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00" name="Google Shape;200;g31ccdae391d_0_292"/>
          <p:cNvGraphicFramePr/>
          <p:nvPr/>
        </p:nvGraphicFramePr>
        <p:xfrm>
          <a:off x="414739" y="1604714"/>
          <a:ext cx="11570675" cy="1823565"/>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429625">
                  <a:extLst>
                    <a:ext uri="{9D8B030D-6E8A-4147-A177-3AD203B41FA5}">
                      <a16:colId xmlns:a16="http://schemas.microsoft.com/office/drawing/2014/main" val="20001"/>
                    </a:ext>
                  </a:extLst>
                </a:gridCol>
                <a:gridCol w="1269800">
                  <a:extLst>
                    <a:ext uri="{9D8B030D-6E8A-4147-A177-3AD203B41FA5}">
                      <a16:colId xmlns:a16="http://schemas.microsoft.com/office/drawing/2014/main" val="20002"/>
                    </a:ext>
                  </a:extLst>
                </a:gridCol>
                <a:gridCol w="4068475">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r>
                        <a:rPr lang="en-US" sz="1500" b="1" u="none" strike="noStrike" cap="none">
                          <a:solidFill>
                            <a:srgbClr val="FF0000"/>
                          </a:solidFill>
                          <a:latin typeface="Times New Roman"/>
                          <a:ea typeface="Times New Roman"/>
                          <a:cs typeface="Times New Roman"/>
                          <a:sym typeface="Times New Roman"/>
                        </a:rPr>
                        <a:t>A321 – VAECO</a:t>
                      </a:r>
                      <a:endParaRPr sz="1400" u="none" strike="noStrike" cap="none"/>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Tên thiết bị</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Hỏng hóc</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850725">
                <a:tc>
                  <a:txBody>
                    <a:bodyPr/>
                    <a:lstStyle/>
                    <a:p>
                      <a:pPr marL="0" marR="0" lvl="0" indent="0" algn="ctr"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1</a:t>
                      </a:r>
                      <a:endParaRPr sz="1150"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solidFill>
                            <a:schemeClr val="dk1"/>
                          </a:solidFill>
                          <a:highlight>
                            <a:srgbClr val="FFFFFF"/>
                          </a:highlight>
                          <a:latin typeface="Times New Roman"/>
                          <a:ea typeface="Times New Roman"/>
                          <a:cs typeface="Times New Roman"/>
                          <a:sym typeface="Times New Roman"/>
                        </a:rPr>
                        <a:t>BELOW</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solidFill>
                            <a:schemeClr val="dk1"/>
                          </a:solidFill>
                          <a:highlight>
                            <a:srgbClr val="FFFFFF"/>
                          </a:highlight>
                          <a:latin typeface="Times New Roman"/>
                          <a:ea typeface="Times New Roman"/>
                          <a:cs typeface="Times New Roman"/>
                          <a:sym typeface="Times New Roman"/>
                        </a:rPr>
                        <a:t>D2157160120000</a:t>
                      </a:r>
                      <a:endParaRPr sz="1150" u="none" strike="noStrike" cap="none">
                        <a:solidFill>
                          <a:schemeClr val="dk1"/>
                        </a:solidFill>
                        <a:highlight>
                          <a:srgbClr val="FFFFFF"/>
                        </a:highlight>
                        <a:latin typeface="Times New Roman"/>
                        <a:ea typeface="Times New Roman"/>
                        <a:cs typeface="Times New Roman"/>
                        <a:sym typeface="Times New Roman"/>
                      </a:endParaRPr>
                    </a:p>
                    <a:p>
                      <a:pPr marL="0" marR="0" lvl="0" indent="0" algn="l" rtl="0">
                        <a:spcBef>
                          <a:spcPts val="0"/>
                        </a:spcBef>
                        <a:spcAft>
                          <a:spcPts val="0"/>
                        </a:spcAft>
                        <a:buClr>
                          <a:schemeClr val="dk1"/>
                        </a:buClr>
                        <a:buSzPts val="1150"/>
                        <a:buFont typeface="Arial"/>
                        <a:buNone/>
                      </a:pPr>
                      <a:r>
                        <a:rPr lang="en-US" sz="1150" u="none" strike="noStrike" cap="none">
                          <a:solidFill>
                            <a:schemeClr val="dk1"/>
                          </a:solidFill>
                          <a:highlight>
                            <a:schemeClr val="lt1"/>
                          </a:highlight>
                          <a:latin typeface="Times New Roman"/>
                          <a:ea typeface="Times New Roman"/>
                          <a:cs typeface="Times New Roman"/>
                          <a:sym typeface="Times New Roman"/>
                        </a:rPr>
                        <a:t>D2157160000000</a:t>
                      </a:r>
                      <a:endParaRPr sz="1150" u="none" strike="noStrike" cap="none">
                        <a:solidFill>
                          <a:schemeClr val="dk1"/>
                        </a:solidFill>
                        <a:highlight>
                          <a:srgbClr val="FFFFFF"/>
                        </a:highlight>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gây A359 AOG hỏng Bellow của hệ thống Pack. Các tàu trong check có task kiểm tra hệ thống Pack đều phát hiện ra hỏng Bellow. Ngoài ra, Ban KT triển khai việc kiểm tra chủ động nhưng Airbus không cấp được hàng.</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VAECO vẫn mua dự phòng nhưng gần đây Airbus cấp hàng chậm.</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Tình trạng:</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PN D2157160120000 stock 5ea</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PN D2157160000000 stock 3EA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Clr>
                          <a:schemeClr val="dk1"/>
                        </a:buClr>
                        <a:buSzPts val="1400"/>
                        <a:buFont typeface="Arial"/>
                        <a:buChar char="-"/>
                      </a:pPr>
                      <a:r>
                        <a:rPr lang="en-US" sz="1150" u="none" strike="noStrike" cap="none">
                          <a:solidFill>
                            <a:schemeClr val="dk1"/>
                          </a:solidFill>
                          <a:latin typeface="Times New Roman"/>
                          <a:ea typeface="Times New Roman"/>
                          <a:cs typeface="Times New Roman"/>
                          <a:sym typeface="Times New Roman"/>
                        </a:rPr>
                        <a:t>Ban QLVT đã hỗ trợ claim Airbus đồng thời tìm kiếm nguồn cung ứng giúp VAECO tuy nhiên việc cung ứng vẫn rất khó khăn do thiếu raw materials, Airbus chỉ cấp hàng AOG và chưa đồng ý cấp cho chương trình đánh chặn. Hiện Airbus chưa có dự kiến ngày ship</a:t>
                      </a:r>
                      <a:endParaRPr sz="115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89005494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g31ccdae391d_0_29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07" name="Google Shape;207;g31ccdae391d_0_29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51</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08" name="Google Shape;208;g31ccdae391d_0_299"/>
          <p:cNvSpPr/>
          <p:nvPr/>
        </p:nvSpPr>
        <p:spPr>
          <a:xfrm>
            <a:off x="533407" y="742682"/>
            <a:ext cx="11164800" cy="57189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Tình trạng đơn hàng Pooling: 21 đơn hàng quá hạn trong tổng số 38 đơn hàng đang open</a:t>
            </a:r>
            <a:endParaRPr kumimoji="0" sz="2000" b="1" i="0" u="none" strike="noStrike" kern="0" cap="none" spc="0" normalizeH="0" baseline="0" noProof="0">
              <a:ln>
                <a:noFill/>
              </a:ln>
              <a:solidFill>
                <a:srgbClr val="FF0000"/>
              </a:solidFill>
              <a:effectLst/>
              <a:uLnTx/>
              <a:uFillTx/>
              <a:latin typeface="Arial"/>
              <a:ea typeface="Arial"/>
              <a:cs typeface="Arial"/>
              <a:sym typeface="Arial"/>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lấp đầy kho MBK: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overdue 14 LO / total  17 LO</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khác (Defect, Hardtime):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overdue 07 EO / total 21 EO </a:t>
            </a:r>
            <a:endParaRPr kumimoji="0" sz="1500" b="0" i="0" u="none" strike="noStrike" kern="0" cap="none" spc="0" normalizeH="0" baseline="0" noProof="0">
              <a:ln>
                <a:noFill/>
              </a:ln>
              <a:solidFill>
                <a:srgbClr val="1F497D"/>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Pts val="1500"/>
              <a:buFont typeface="Arial"/>
              <a:buNone/>
              <a:tabLst/>
              <a:defRPr/>
            </a:pPr>
            <a:endParaRPr kumimoji="0" sz="15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209" name="Google Shape;209;g31ccdae391d_0_299"/>
          <p:cNvSpPr txBox="1"/>
          <p:nvPr/>
        </p:nvSpPr>
        <p:spPr>
          <a:xfrm>
            <a:off x="3529775" y="5809425"/>
            <a:ext cx="14100" cy="885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endParaRPr kumimoji="0" sz="2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210" name="Google Shape;210;g31ccdae391d_0_299"/>
          <p:cNvPicPr preferRelativeResize="0"/>
          <p:nvPr/>
        </p:nvPicPr>
        <p:blipFill>
          <a:blip r:embed="rId3">
            <a:alphaModFix/>
          </a:blip>
          <a:stretch>
            <a:fillRect/>
          </a:stretch>
        </p:blipFill>
        <p:spPr>
          <a:xfrm>
            <a:off x="2028825" y="1871474"/>
            <a:ext cx="7633099" cy="4638875"/>
          </a:xfrm>
          <a:prstGeom prst="rect">
            <a:avLst/>
          </a:prstGeom>
          <a:noFill/>
          <a:ln>
            <a:noFill/>
          </a:ln>
        </p:spPr>
      </p:pic>
    </p:spTree>
    <p:extLst>
      <p:ext uri="{BB962C8B-B14F-4D97-AF65-F5344CB8AC3E}">
        <p14:creationId xmlns:p14="http://schemas.microsoft.com/office/powerpoint/2010/main" val="224548744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g31ccdae391d_0_308"/>
          <p:cNvSpPr txBox="1">
            <a:spLocks noGrp="1"/>
          </p:cNvSpPr>
          <p:nvPr>
            <p:ph type="title"/>
          </p:nvPr>
        </p:nvSpPr>
        <p:spPr>
          <a:xfrm>
            <a:off x="941350" y="16547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17" name="Google Shape;217;g31ccdae391d_0_30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52</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18" name="Google Shape;218;g31ccdae391d_0_308"/>
          <p:cNvGraphicFramePr/>
          <p:nvPr/>
        </p:nvGraphicFramePr>
        <p:xfrm>
          <a:off x="607288" y="787650"/>
          <a:ext cx="11227800" cy="4578145"/>
        </p:xfrm>
        <a:graphic>
          <a:graphicData uri="http://schemas.openxmlformats.org/drawingml/2006/table">
            <a:tbl>
              <a:tblPr>
                <a:noFill/>
              </a:tblPr>
              <a:tblGrid>
                <a:gridCol w="756400">
                  <a:extLst>
                    <a:ext uri="{9D8B030D-6E8A-4147-A177-3AD203B41FA5}">
                      <a16:colId xmlns:a16="http://schemas.microsoft.com/office/drawing/2014/main" val="20000"/>
                    </a:ext>
                  </a:extLst>
                </a:gridCol>
                <a:gridCol w="1531850">
                  <a:extLst>
                    <a:ext uri="{9D8B030D-6E8A-4147-A177-3AD203B41FA5}">
                      <a16:colId xmlns:a16="http://schemas.microsoft.com/office/drawing/2014/main" val="20001"/>
                    </a:ext>
                  </a:extLst>
                </a:gridCol>
                <a:gridCol w="1753750">
                  <a:extLst>
                    <a:ext uri="{9D8B030D-6E8A-4147-A177-3AD203B41FA5}">
                      <a16:colId xmlns:a16="http://schemas.microsoft.com/office/drawing/2014/main" val="20002"/>
                    </a:ext>
                  </a:extLst>
                </a:gridCol>
                <a:gridCol w="3592900">
                  <a:extLst>
                    <a:ext uri="{9D8B030D-6E8A-4147-A177-3AD203B41FA5}">
                      <a16:colId xmlns:a16="http://schemas.microsoft.com/office/drawing/2014/main" val="20003"/>
                    </a:ext>
                  </a:extLst>
                </a:gridCol>
                <a:gridCol w="3592900">
                  <a:extLst>
                    <a:ext uri="{9D8B030D-6E8A-4147-A177-3AD203B41FA5}">
                      <a16:colId xmlns:a16="http://schemas.microsoft.com/office/drawing/2014/main" val="20004"/>
                    </a:ext>
                  </a:extLst>
                </a:gridCol>
              </a:tblGrid>
              <a:tr h="273700">
                <a:tc gridSpan="5">
                  <a:txBody>
                    <a:bodyPr/>
                    <a:lstStyle/>
                    <a:p>
                      <a:pPr marL="0" marR="0" lvl="0" indent="0" algn="ctr" rtl="0">
                        <a:lnSpc>
                          <a:spcPct val="100000"/>
                        </a:lnSpc>
                        <a:spcBef>
                          <a:spcPts val="0"/>
                        </a:spcBef>
                        <a:spcAft>
                          <a:spcPts val="0"/>
                        </a:spcAft>
                        <a:buClr>
                          <a:srgbClr val="000000"/>
                        </a:buClr>
                        <a:buSzPts val="1600"/>
                        <a:buFont typeface="Arial"/>
                        <a:buNone/>
                      </a:pPr>
                      <a:r>
                        <a:rPr lang="en-US" sz="1600" b="1" u="none" strike="noStrike" cap="none">
                          <a:solidFill>
                            <a:srgbClr val="FF0000"/>
                          </a:solidFill>
                          <a:latin typeface="Times New Roman"/>
                          <a:ea typeface="Times New Roman"/>
                          <a:cs typeface="Times New Roman"/>
                          <a:sym typeface="Times New Roman"/>
                        </a:rPr>
                        <a:t> </a:t>
                      </a:r>
                      <a:endParaRPr sz="1600" b="1" i="0" u="none" strike="noStrike" cap="none">
                        <a:solidFill>
                          <a:srgbClr val="FF0000"/>
                        </a:solidFill>
                        <a:latin typeface="Times New Roman"/>
                        <a:ea typeface="Times New Roman"/>
                        <a:cs typeface="Times New Roman"/>
                        <a:sym typeface="Times New Roman"/>
                      </a:endParaRPr>
                    </a:p>
                  </a:txBody>
                  <a:tcPr marL="7800" marR="7800" marT="78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052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Lưu ý</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FMU</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 7000546H14</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gây APU INOP.</a:t>
                      </a:r>
                      <a:endParaRPr sz="130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Không có hỏng hóc.</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02ea in stock.</a:t>
                      </a:r>
                      <a:endParaRPr sz="1300" u="none" strike="noStrike" cap="none">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600-2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cả fleet B787 có 0</a:t>
                      </a:r>
                      <a:r>
                        <a:rPr lang="en-US" sz="1300">
                          <a:latin typeface="Times New Roman"/>
                          <a:ea typeface="Times New Roman"/>
                          <a:cs typeface="Times New Roman"/>
                          <a:sym typeface="Times New Roman"/>
                        </a:rPr>
                        <a:t>3</a:t>
                      </a:r>
                      <a:r>
                        <a:rPr lang="en-US" sz="1300" u="none" strike="noStrike" cap="none">
                          <a:latin typeface="Times New Roman"/>
                          <a:ea typeface="Times New Roman"/>
                          <a:cs typeface="Times New Roman"/>
                          <a:sym typeface="Times New Roman"/>
                        </a:rPr>
                        <a:t> hỏng hóc. </a:t>
                      </a:r>
                      <a:endParaRPr sz="1300" u="none" strike="noStrike" cap="none">
                        <a:latin typeface="Times New Roman"/>
                        <a:ea typeface="Times New Roman"/>
                        <a:cs typeface="Times New Roman"/>
                        <a:sym typeface="Times New Roman"/>
                      </a:endParaRPr>
                    </a:p>
                  </a:txBody>
                  <a:tcPr marL="7800" marR="7800" marT="7800" marB="0" anchor="ctr">
                    <a:lnR w="9525" cap="flat" cmpd="sng">
                      <a:solidFill>
                        <a:schemeClr val="dk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NIL stock</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a:t>
                      </a:r>
                      <a:r>
                        <a:rPr lang="en-US" sz="1300" u="none" strike="noStrike" cap="none">
                          <a:latin typeface="Times New Roman"/>
                          <a:ea typeface="Times New Roman"/>
                          <a:cs typeface="Times New Roman"/>
                          <a:sym typeface="Times New Roman"/>
                        </a:rPr>
                        <a:t>0</a:t>
                      </a:r>
                      <a:r>
                        <a:rPr lang="en-US" sz="1300">
                          <a:latin typeface="Times New Roman"/>
                          <a:ea typeface="Times New Roman"/>
                          <a:cs typeface="Times New Roman"/>
                          <a:sym typeface="Times New Roman"/>
                        </a:rPr>
                        <a:t>5</a:t>
                      </a:r>
                      <a:r>
                        <a:rPr lang="en-US" sz="1300" u="none" strike="noStrike" cap="none">
                          <a:latin typeface="Times New Roman"/>
                          <a:ea typeface="Times New Roman"/>
                          <a:cs typeface="Times New Roman"/>
                          <a:sym typeface="Times New Roman"/>
                        </a:rPr>
                        <a:t>RO:</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+ 01ea EDD 20/02, 01ea EDD 10Mar.</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+ 0ea chưa có EDD.</a:t>
                      </a:r>
                      <a:endParaRPr sz="1300">
                        <a:latin typeface="Times New Roman"/>
                        <a:ea typeface="Times New Roman"/>
                        <a:cs typeface="Times New Roman"/>
                        <a:sym typeface="Times New Roman"/>
                      </a:endParaRPr>
                    </a:p>
                    <a:p>
                      <a:pPr marL="0" lvl="0" indent="0" algn="l" rtl="0">
                        <a:spcBef>
                          <a:spcPts val="0"/>
                        </a:spcBef>
                        <a:spcAft>
                          <a:spcPts val="0"/>
                        </a:spcAft>
                        <a:buClr>
                          <a:schemeClr val="dk1"/>
                        </a:buClr>
                        <a:buSzPts val="1300"/>
                        <a:buFont typeface="Arial"/>
                        <a:buNone/>
                      </a:pPr>
                      <a:r>
                        <a:rPr lang="en-US" sz="1300">
                          <a:solidFill>
                            <a:schemeClr val="dk1"/>
                          </a:solidFill>
                          <a:latin typeface="Times New Roman"/>
                          <a:ea typeface="Times New Roman"/>
                          <a:cs typeface="Times New Roman"/>
                          <a:sym typeface="Times New Roman"/>
                        </a:rPr>
                        <a:t>+ 01ea vào shop tuần 07.</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Times New Roman"/>
                        <a:ea typeface="Times New Roman"/>
                        <a:cs typeface="Times New Roman"/>
                        <a:sym typeface="Times New Roman"/>
                      </a:endParaRPr>
                    </a:p>
                  </a:txBody>
                  <a:tcPr marL="7800" marR="7800" marT="78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316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VFSG</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200">
                          <a:solidFill>
                            <a:schemeClr val="dk1"/>
                          </a:solidFill>
                          <a:latin typeface="Times New Roman"/>
                          <a:ea typeface="Times New Roman"/>
                          <a:cs typeface="Times New Roman"/>
                          <a:sym typeface="Times New Roman"/>
                        </a:rPr>
                        <a:t>7001330H04</a:t>
                      </a:r>
                      <a:endParaRPr sz="1200" u="none" strike="noStrike" cap="none">
                        <a:solidFill>
                          <a:schemeClr val="dk1"/>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Nếu phát sinh hỏng hóc sẽ chỉ mở được 03 ngày.</a:t>
                      </a:r>
                      <a:endParaRPr sz="1300">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Arial"/>
                        <a:buNone/>
                      </a:pPr>
                      <a:r>
                        <a:rPr lang="en-US" sz="1200">
                          <a:solidFill>
                            <a:schemeClr val="dk1"/>
                          </a:solidFill>
                          <a:latin typeface="Times New Roman"/>
                          <a:ea typeface="Times New Roman"/>
                          <a:cs typeface="Times New Roman"/>
                          <a:sym typeface="Times New Roman"/>
                        </a:rPr>
                        <a:t>- 01ea in stock.</a:t>
                      </a:r>
                      <a:endParaRPr sz="1200">
                        <a:solidFill>
                          <a:schemeClr val="dk1"/>
                        </a:solidFill>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286825">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 </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Tailcone light</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Card Led</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30-2968-3</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32-4188-3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Nguồn cung hàng chậm, delay shop Honeywell.</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Hiện không có hỏng hóc.</a:t>
                      </a:r>
                      <a:endParaRPr sz="1300">
                        <a:latin typeface="Times New Roman"/>
                        <a:ea typeface="Times New Roman"/>
                        <a:cs typeface="Times New Roman"/>
                        <a:sym typeface="Times New Roman"/>
                      </a:endParaRPr>
                    </a:p>
                    <a:p>
                      <a:pPr marL="0" marR="0" lvl="0" indent="0" algn="l" rtl="0">
                        <a:spcBef>
                          <a:spcPts val="0"/>
                        </a:spcBef>
                        <a:spcAft>
                          <a:spcPts val="0"/>
                        </a:spcAft>
                        <a:buNone/>
                      </a:pPr>
                      <a:r>
                        <a:rPr lang="en-US" sz="1300">
                          <a:latin typeface="Times New Roman"/>
                          <a:ea typeface="Times New Roman"/>
                          <a:cs typeface="Times New Roman"/>
                          <a:sym typeface="Times New Roman"/>
                        </a:rPr>
                        <a:t>-Card led: </a:t>
                      </a:r>
                      <a:endParaRPr sz="1300" u="none" strike="noStrike" cap="none">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01ea in stock.</a:t>
                      </a:r>
                      <a:endParaRPr sz="130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+ 02ea PO  EDD 10/2025.</a:t>
                      </a:r>
                      <a:endParaRPr sz="1300">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8165584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g31ccdae391d_0_315"/>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25" name="Google Shape;225;g31ccdae391d_0_31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53</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26" name="Google Shape;226;g31ccdae391d_0_315"/>
          <p:cNvSpPr/>
          <p:nvPr/>
        </p:nvSpPr>
        <p:spPr>
          <a:xfrm>
            <a:off x="500990"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endParaRPr kumimoji="0"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457200" marR="0" lvl="0" indent="-355600" algn="just" defTabSz="914400" rtl="0" eaLnBrk="1" fontAlgn="auto" latinLnBrk="0" hangingPunct="1">
              <a:lnSpc>
                <a:spcPct val="100000"/>
              </a:lnSpc>
              <a:spcBef>
                <a:spcPts val="0"/>
              </a:spcBef>
              <a:spcAft>
                <a:spcPts val="0"/>
              </a:spcAft>
              <a:buClr>
                <a:srgbClr val="FF0000"/>
              </a:buClr>
              <a:buSzPts val="2000"/>
              <a:buFont typeface="Times New Roman"/>
              <a:buChar char="-"/>
              <a:tabLst/>
              <a:defRPr/>
            </a:pP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Một</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số</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PTVT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cần</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lưu</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ý</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00000"/>
              </a:lnSpc>
              <a:spcBef>
                <a:spcPts val="0"/>
              </a:spcBef>
              <a:spcAft>
                <a:spcPts val="0"/>
              </a:spcAft>
              <a:buClr>
                <a:srgbClr val="000000"/>
              </a:buClr>
              <a:buSzPts val="1600"/>
              <a:buFont typeface="Times New Roman"/>
              <a:buChar char="+"/>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PTVT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thay</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nhiều</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VFSG, GPM, NSG, CAC, Pump Pack, FMU, GWIV,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Tailcone</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light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hỏng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hóc</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rất</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nhiều</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sub card led). </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55600" algn="just" defTabSz="914400" rtl="0" eaLnBrk="1" fontAlgn="auto" latinLnBrk="0" hangingPunct="1">
              <a:lnSpc>
                <a:spcPct val="100000"/>
              </a:lnSpc>
              <a:spcBef>
                <a:spcPts val="0"/>
              </a:spcBef>
              <a:spcAft>
                <a:spcPts val="0"/>
              </a:spcAft>
              <a:buClr>
                <a:srgbClr val="FF0000"/>
              </a:buClr>
              <a:buSzPts val="2000"/>
              <a:buFont typeface="Times New Roman"/>
              <a:buChar char="-"/>
              <a:tabLst/>
              <a:defRPr/>
            </a:pP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Hỏng</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hóc</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ảnh</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hưởng</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cần</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lưu</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ý:</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A861 - FUEL PUMP CENTER R: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chờ</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T/S.</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A865 - ELEC GEN SYS L2 / ELEC ENGINE STARTER L2: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đã</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GCU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VFSG.</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A873 - APU INOP: APU EST SGN 15Feb.</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A879 - THE PORTABLE WATER SER-VICE PANEL INOP: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đã</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Panel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nhập</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08/02).</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A870 - BRAKE NO1 INOP: Brake </a:t>
            </a:r>
            <a:r>
              <a:rPr kumimoji="0" lang="en-US" sz="16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về</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SGN trong </a:t>
            </a:r>
            <a:r>
              <a:rPr kumimoji="0" lang="en-US" sz="16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tuần</a:t>
            </a:r>
            <a:r>
              <a:rPr kumimoji="0" lang="en-US" sz="1600" b="0" i="0" u="none" strike="noStrike" kern="0" cap="none" spc="0" normalizeH="0" baseline="0" noProof="0" smtClean="0">
                <a:ln>
                  <a:noFill/>
                </a:ln>
                <a:solidFill>
                  <a:srgbClr val="000000"/>
                </a:solidFill>
                <a:effectLst/>
                <a:uLnTx/>
                <a:uFillTx/>
                <a:latin typeface="Times New Roman"/>
                <a:ea typeface="Times New Roman"/>
                <a:cs typeface="Times New Roman"/>
                <a:sym typeface="Times New Roman"/>
              </a:rPr>
              <a:t> 7.</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p:txBody>
      </p:sp>
      <p:pic>
        <p:nvPicPr>
          <p:cNvPr id="227" name="Google Shape;227;g31ccdae391d_0_315"/>
          <p:cNvPicPr preferRelativeResize="0"/>
          <p:nvPr/>
        </p:nvPicPr>
        <p:blipFill>
          <a:blip r:embed="rId3">
            <a:alphaModFix/>
          </a:blip>
          <a:stretch>
            <a:fillRect/>
          </a:stretch>
        </p:blipFill>
        <p:spPr>
          <a:xfrm>
            <a:off x="1452563" y="3429000"/>
            <a:ext cx="9134475" cy="2743200"/>
          </a:xfrm>
          <a:prstGeom prst="rect">
            <a:avLst/>
          </a:prstGeom>
          <a:noFill/>
          <a:ln>
            <a:noFill/>
          </a:ln>
        </p:spPr>
      </p:pic>
    </p:spTree>
    <p:extLst>
      <p:ext uri="{BB962C8B-B14F-4D97-AF65-F5344CB8AC3E}">
        <p14:creationId xmlns:p14="http://schemas.microsoft.com/office/powerpoint/2010/main" val="141337291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g31ccdae391d_0_32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34" name="Google Shape;234;g31ccdae391d_0_32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54</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35" name="Google Shape;235;g31ccdae391d_0_32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Tình trạng đơn hàng Pooling: 33 đơn hàng quá hạn trong tổng số 44 đơn hàng đang open</a:t>
            </a:r>
            <a:endParaRPr kumimoji="0" sz="2000" b="1" i="0" u="none" strike="noStrike" kern="0" cap="none" spc="0" normalizeH="0" baseline="0" noProof="0">
              <a:ln>
                <a:noFill/>
              </a:ln>
              <a:solidFill>
                <a:srgbClr val="FF0000"/>
              </a:solidFill>
              <a:effectLst/>
              <a:uLnTx/>
              <a:uFillTx/>
              <a:latin typeface="Arial"/>
              <a:ea typeface="Arial"/>
              <a:cs typeface="Arial"/>
              <a:sym typeface="Arial"/>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lấp đầy kho OSS: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10 overdue LO / total 11 LO</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khác (Defect, Hardtime):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23 overdue EO / total  31 EO </a:t>
            </a:r>
            <a:endParaRPr kumimoji="0" sz="1500" b="0" i="0" u="none" strike="noStrike" kern="0" cap="none" spc="0" normalizeH="0" baseline="0" noProof="0">
              <a:ln>
                <a:noFill/>
              </a:ln>
              <a:solidFill>
                <a:srgbClr val="1F497D"/>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10000"/>
              </a:lnSpc>
              <a:spcBef>
                <a:spcPts val="60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Tình trạng đơn hàng pool trong 4 tuần gần nhất:</a:t>
            </a: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236" name="Google Shape;236;g31ccdae391d_0_32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endParaRPr kumimoji="0" sz="2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237" name="Google Shape;237;g31ccdae391d_0_323"/>
          <p:cNvPicPr preferRelativeResize="0"/>
          <p:nvPr/>
        </p:nvPicPr>
        <p:blipFill>
          <a:blip r:embed="rId3">
            <a:alphaModFix/>
          </a:blip>
          <a:stretch>
            <a:fillRect/>
          </a:stretch>
        </p:blipFill>
        <p:spPr>
          <a:xfrm>
            <a:off x="2662250" y="2056925"/>
            <a:ext cx="6594849" cy="4520100"/>
          </a:xfrm>
          <a:prstGeom prst="rect">
            <a:avLst/>
          </a:prstGeom>
          <a:noFill/>
          <a:ln>
            <a:noFill/>
          </a:ln>
        </p:spPr>
      </p:pic>
    </p:spTree>
    <p:extLst>
      <p:ext uri="{BB962C8B-B14F-4D97-AF65-F5344CB8AC3E}">
        <p14:creationId xmlns:p14="http://schemas.microsoft.com/office/powerpoint/2010/main" val="191593449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g31ccdae391d_0_332"/>
          <p:cNvSpPr txBox="1">
            <a:spLocks noGrp="1"/>
          </p:cNvSpPr>
          <p:nvPr>
            <p:ph type="title"/>
          </p:nvPr>
        </p:nvSpPr>
        <p:spPr>
          <a:xfrm>
            <a:off x="941350" y="-6312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44" name="Google Shape;244;g31ccdae391d_0_33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55</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45" name="Google Shape;245;g31ccdae391d_0_332"/>
          <p:cNvGraphicFramePr/>
          <p:nvPr>
            <p:extLst/>
          </p:nvPr>
        </p:nvGraphicFramePr>
        <p:xfrm>
          <a:off x="474783" y="301869"/>
          <a:ext cx="11561850" cy="5404125"/>
        </p:xfrm>
        <a:graphic>
          <a:graphicData uri="http://schemas.openxmlformats.org/drawingml/2006/table">
            <a:tbl>
              <a:tblPr>
                <a:noFill/>
              </a:tblPr>
              <a:tblGrid>
                <a:gridCol w="778900">
                  <a:extLst>
                    <a:ext uri="{9D8B030D-6E8A-4147-A177-3AD203B41FA5}">
                      <a16:colId xmlns:a16="http://schemas.microsoft.com/office/drawing/2014/main" val="20000"/>
                    </a:ext>
                  </a:extLst>
                </a:gridCol>
                <a:gridCol w="1783525">
                  <a:extLst>
                    <a:ext uri="{9D8B030D-6E8A-4147-A177-3AD203B41FA5}">
                      <a16:colId xmlns:a16="http://schemas.microsoft.com/office/drawing/2014/main" val="20001"/>
                    </a:ext>
                  </a:extLst>
                </a:gridCol>
                <a:gridCol w="1599825">
                  <a:extLst>
                    <a:ext uri="{9D8B030D-6E8A-4147-A177-3AD203B41FA5}">
                      <a16:colId xmlns:a16="http://schemas.microsoft.com/office/drawing/2014/main" val="20002"/>
                    </a:ext>
                  </a:extLst>
                </a:gridCol>
                <a:gridCol w="3699800">
                  <a:extLst>
                    <a:ext uri="{9D8B030D-6E8A-4147-A177-3AD203B41FA5}">
                      <a16:colId xmlns:a16="http://schemas.microsoft.com/office/drawing/2014/main" val="20003"/>
                    </a:ext>
                  </a:extLst>
                </a:gridCol>
                <a:gridCol w="3699800">
                  <a:extLst>
                    <a:ext uri="{9D8B030D-6E8A-4147-A177-3AD203B41FA5}">
                      <a16:colId xmlns:a16="http://schemas.microsoft.com/office/drawing/2014/main" val="20004"/>
                    </a:ext>
                  </a:extLst>
                </a:gridCol>
              </a:tblGrid>
              <a:tr h="338375">
                <a:tc gridSpan="5">
                  <a:txBody>
                    <a:bodyPr/>
                    <a:lstStyle/>
                    <a:p>
                      <a:pPr marL="0" marR="0" lvl="0" indent="0" algn="ctr" rtl="0">
                        <a:lnSpc>
                          <a:spcPct val="100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3837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Hỏng hóc</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1385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Spoiler Servo control</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FCRM</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CA67003-018/020/025</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CA71323-016 / -015</a:t>
                      </a:r>
                      <a:endParaRPr sz="1300" u="none" strike="noStrike" cap="none" dirty="0">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nhiều</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trên</a:t>
                      </a:r>
                      <a:r>
                        <a:rPr lang="en-US" sz="1300" u="none" strike="noStrike" cap="none" dirty="0">
                          <a:latin typeface="Times New Roman"/>
                          <a:ea typeface="Times New Roman"/>
                          <a:cs typeface="Times New Roman"/>
                          <a:sym typeface="Times New Roman"/>
                        </a:rPr>
                        <a:t> fleet A350. </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Spoiler Servo:</a:t>
                      </a:r>
                      <a:r>
                        <a:rPr lang="en-US" sz="1300">
                          <a:latin typeface="Times New Roman"/>
                          <a:ea typeface="Times New Roman"/>
                          <a:cs typeface="Times New Roman"/>
                          <a:sym typeface="Times New Roman"/>
                        </a:rPr>
                        <a:t> 01ea in  stock.</a:t>
                      </a: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FCRM: </a:t>
                      </a:r>
                      <a:r>
                        <a:rPr lang="en-US" sz="1300" u="none" strike="noStrike" cap="none">
                          <a:solidFill>
                            <a:schemeClr val="dk1"/>
                          </a:solidFill>
                          <a:latin typeface="Times New Roman"/>
                          <a:ea typeface="Times New Roman"/>
                          <a:cs typeface="Times New Roman"/>
                          <a:sym typeface="Times New Roman"/>
                        </a:rPr>
                        <a:t>0</a:t>
                      </a:r>
                      <a:r>
                        <a:rPr lang="en-US" sz="1300">
                          <a:solidFill>
                            <a:schemeClr val="dk1"/>
                          </a:solidFill>
                          <a:latin typeface="Times New Roman"/>
                          <a:ea typeface="Times New Roman"/>
                          <a:cs typeface="Times New Roman"/>
                          <a:sym typeface="Times New Roman"/>
                        </a:rPr>
                        <a:t>3</a:t>
                      </a:r>
                      <a:r>
                        <a:rPr lang="en-US" sz="1300" u="none" strike="noStrike" cap="none">
                          <a:solidFill>
                            <a:schemeClr val="dk1"/>
                          </a:solidFill>
                          <a:latin typeface="Times New Roman"/>
                          <a:ea typeface="Times New Roman"/>
                          <a:cs typeface="Times New Roman"/>
                          <a:sym typeface="Times New Roman"/>
                        </a:rPr>
                        <a:t>a in stock</a:t>
                      </a:r>
                      <a:r>
                        <a:rPr lang="en-US" sz="1300">
                          <a:solidFill>
                            <a:schemeClr val="dk1"/>
                          </a:solidFill>
                          <a:latin typeface="Times New Roman"/>
                          <a:ea typeface="Times New Roman"/>
                          <a:cs typeface="Times New Roman"/>
                          <a:sym typeface="Times New Roman"/>
                        </a:rPr>
                        <a:t>.</a:t>
                      </a:r>
                      <a:r>
                        <a:rPr lang="en-US" sz="1300">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extLst>
                  <a:ext uri="{0D108BD9-81ED-4DB2-BD59-A6C34878D82A}">
                    <a16:rowId xmlns:a16="http://schemas.microsoft.com/office/drawing/2014/main" val="10002"/>
                  </a:ext>
                </a:extLst>
              </a:tr>
              <a:tr h="13118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688-6/688-6-00-100</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cần 1</a:t>
                      </a:r>
                      <a:r>
                        <a:rPr lang="en-US" sz="1300">
                          <a:latin typeface="Times New Roman"/>
                          <a:ea typeface="Times New Roman"/>
                          <a:cs typeface="Times New Roman"/>
                          <a:sym typeface="Times New Roman"/>
                        </a:rPr>
                        <a:t>8</a:t>
                      </a:r>
                      <a:r>
                        <a:rPr lang="en-US" sz="1300" u="none" strike="noStrike" cap="none">
                          <a:latin typeface="Times New Roman"/>
                          <a:ea typeface="Times New Roman"/>
                          <a:cs typeface="Times New Roman"/>
                          <a:sym typeface="Times New Roman"/>
                        </a:rPr>
                        <a:t>ea (</a:t>
                      </a:r>
                      <a:r>
                        <a:rPr lang="en-US" sz="1300">
                          <a:latin typeface="Times New Roman"/>
                          <a:ea typeface="Times New Roman"/>
                          <a:cs typeface="Times New Roman"/>
                          <a:sym typeface="Times New Roman"/>
                        </a:rPr>
                        <a:t>10</a:t>
                      </a:r>
                      <a:r>
                        <a:rPr lang="en-US" sz="1300" u="none" strike="noStrike" cap="none">
                          <a:latin typeface="Times New Roman"/>
                          <a:ea typeface="Times New Roman"/>
                          <a:cs typeface="Times New Roman"/>
                          <a:sym typeface="Times New Roman"/>
                        </a:rPr>
                        <a:t> hỏng hóc + 08 cho tàu bảo quản).</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- 0</a:t>
                      </a:r>
                      <a:r>
                        <a:rPr lang="en-US" sz="1300">
                          <a:solidFill>
                            <a:schemeClr val="dk1"/>
                          </a:solidFill>
                          <a:latin typeface="Times New Roman"/>
                          <a:ea typeface="Times New Roman"/>
                          <a:cs typeface="Times New Roman"/>
                          <a:sym typeface="Times New Roman"/>
                        </a:rPr>
                        <a:t>2</a:t>
                      </a:r>
                      <a:r>
                        <a:rPr lang="en-US" sz="1300" u="none" strike="noStrike" cap="none">
                          <a:solidFill>
                            <a:schemeClr val="dk1"/>
                          </a:solidFill>
                          <a:latin typeface="Times New Roman"/>
                          <a:ea typeface="Times New Roman"/>
                          <a:cs typeface="Times New Roman"/>
                          <a:sym typeface="Times New Roman"/>
                        </a:rPr>
                        <a:t>ea in stock</a:t>
                      </a:r>
                      <a:endParaRPr sz="13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a:t>
                      </a:r>
                      <a:r>
                        <a:rPr lang="en-US" sz="1300" u="none" strike="noStrike" cap="none">
                          <a:solidFill>
                            <a:schemeClr val="dk1"/>
                          </a:solidFill>
                          <a:latin typeface="Times New Roman"/>
                          <a:ea typeface="Times New Roman"/>
                          <a:cs typeface="Times New Roman"/>
                          <a:sym typeface="Times New Roman"/>
                        </a:rPr>
                        <a:t>1</a:t>
                      </a:r>
                      <a:r>
                        <a:rPr lang="en-US" sz="1300">
                          <a:solidFill>
                            <a:schemeClr val="dk1"/>
                          </a:solidFill>
                          <a:latin typeface="Times New Roman"/>
                          <a:ea typeface="Times New Roman"/>
                          <a:cs typeface="Times New Roman"/>
                          <a:sym typeface="Times New Roman"/>
                        </a:rPr>
                        <a:t>3</a:t>
                      </a:r>
                      <a:r>
                        <a:rPr lang="en-US" sz="1300" u="none" strike="noStrike" cap="none">
                          <a:solidFill>
                            <a:schemeClr val="dk1"/>
                          </a:solidFill>
                          <a:latin typeface="Times New Roman"/>
                          <a:ea typeface="Times New Roman"/>
                          <a:cs typeface="Times New Roman"/>
                          <a:sym typeface="Times New Roman"/>
                        </a:rPr>
                        <a:t>RO, trong đó: </a:t>
                      </a:r>
                      <a:endParaRPr sz="13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solidFill>
                            <a:schemeClr val="dk1"/>
                          </a:solidFill>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04ea EDD 24/02.</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+ 09ea EDD 27/03.</a:t>
                      </a:r>
                      <a:endParaRPr sz="13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endParaRPr sz="1300" u="none" strike="noStrike" cap="none">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3"/>
                  </a:ext>
                </a:extLst>
              </a:tr>
              <a:tr h="1138500">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EDP</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53098-06</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phát sinh sẽ phải cắt tải, tiềm ẩn AOG.</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Vẫn hỏng hóc nhiều trên fleet A350. </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solidFill>
                            <a:schemeClr val="dk1"/>
                          </a:solidFill>
                          <a:latin typeface="Times New Roman"/>
                          <a:ea typeface="Times New Roman"/>
                          <a:cs typeface="Times New Roman"/>
                          <a:sym typeface="Times New Roman"/>
                        </a:rPr>
                        <a:t>+ 0</a:t>
                      </a:r>
                      <a:r>
                        <a:rPr lang="en-US" sz="1300" dirty="0">
                          <a:solidFill>
                            <a:schemeClr val="dk1"/>
                          </a:solidFill>
                          <a:latin typeface="Times New Roman"/>
                          <a:ea typeface="Times New Roman"/>
                          <a:cs typeface="Times New Roman"/>
                          <a:sym typeface="Times New Roman"/>
                        </a:rPr>
                        <a:t>7</a:t>
                      </a:r>
                      <a:r>
                        <a:rPr lang="en-US" sz="1300" u="none" strike="noStrike" cap="none" dirty="0">
                          <a:solidFill>
                            <a:schemeClr val="dk1"/>
                          </a:solidFill>
                          <a:latin typeface="Times New Roman"/>
                          <a:ea typeface="Times New Roman"/>
                          <a:cs typeface="Times New Roman"/>
                          <a:sym typeface="Times New Roman"/>
                        </a:rPr>
                        <a:t>ea in stock (06ea </a:t>
                      </a:r>
                      <a:r>
                        <a:rPr lang="en-US" sz="1300" u="none" strike="noStrike" cap="none" dirty="0" err="1">
                          <a:solidFill>
                            <a:schemeClr val="dk1"/>
                          </a:solidFill>
                          <a:latin typeface="Times New Roman"/>
                          <a:ea typeface="Times New Roman"/>
                          <a:cs typeface="Times New Roman"/>
                          <a:sym typeface="Times New Roman"/>
                        </a:rPr>
                        <a:t>của</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tàu</a:t>
                      </a:r>
                      <a:r>
                        <a:rPr lang="en-US" sz="1300" u="none" strike="noStrike" cap="none" dirty="0">
                          <a:solidFill>
                            <a:schemeClr val="dk1"/>
                          </a:solidFill>
                          <a:latin typeface="Times New Roman"/>
                          <a:ea typeface="Times New Roman"/>
                          <a:cs typeface="Times New Roman"/>
                          <a:sym typeface="Times New Roman"/>
                        </a:rPr>
                        <a:t> BQ</a:t>
                      </a:r>
                      <a:r>
                        <a:rPr lang="en-US" sz="1300" u="none" strike="noStrike" cap="none" dirty="0" smtClean="0">
                          <a:solidFill>
                            <a:schemeClr val="dk1"/>
                          </a:solidFill>
                          <a:latin typeface="Times New Roman"/>
                          <a:ea typeface="Times New Roman"/>
                          <a:cs typeface="Times New Roman"/>
                          <a:sym typeface="Times New Roman"/>
                        </a:rPr>
                        <a:t>).</a:t>
                      </a:r>
                      <a:endParaRPr sz="1300" u="none" strike="noStrike" cap="none"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4"/>
                  </a:ext>
                </a:extLst>
              </a:tr>
              <a:tr h="1138500">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VCRU, Motor Controller</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Calibri"/>
                        <a:buNone/>
                      </a:pP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ảnh hưởng đến hệ thống chiller của tàu bay.</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TAT sửa chữa tại shop Honeywell rất dài (vẫn chưa được cải thiện) dẫn đến việc cung ứng hàng của Airbus rất chậm.</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solidFill>
                            <a:schemeClr val="dk1"/>
                          </a:solidFill>
                          <a:latin typeface="Times New Roman"/>
                          <a:ea typeface="Times New Roman"/>
                          <a:cs typeface="Times New Roman"/>
                          <a:sym typeface="Times New Roman"/>
                        </a:rPr>
                        <a:t>Nhiều</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tàu</a:t>
                      </a:r>
                      <a:r>
                        <a:rPr lang="en-US" sz="1300" u="none" strike="noStrike" cap="none" dirty="0">
                          <a:solidFill>
                            <a:schemeClr val="dk1"/>
                          </a:solidFill>
                          <a:latin typeface="Times New Roman"/>
                          <a:ea typeface="Times New Roman"/>
                          <a:cs typeface="Times New Roman"/>
                          <a:sym typeface="Times New Roman"/>
                        </a:rPr>
                        <a:t> A350 </a:t>
                      </a:r>
                      <a:r>
                        <a:rPr lang="en-US" sz="1300" u="none" strike="noStrike" cap="none" dirty="0" err="1">
                          <a:solidFill>
                            <a:schemeClr val="dk1"/>
                          </a:solidFill>
                          <a:latin typeface="Times New Roman"/>
                          <a:ea typeface="Times New Roman"/>
                          <a:cs typeface="Times New Roman"/>
                          <a:sym typeface="Times New Roman"/>
                        </a:rPr>
                        <a:t>có</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mssg</a:t>
                      </a:r>
                      <a:r>
                        <a:rPr lang="en-US" sz="1300" u="none" strike="noStrike" cap="none" dirty="0">
                          <a:solidFill>
                            <a:schemeClr val="dk1"/>
                          </a:solidFill>
                          <a:latin typeface="Times New Roman"/>
                          <a:ea typeface="Times New Roman"/>
                          <a:cs typeface="Times New Roman"/>
                          <a:sym typeface="Times New Roman"/>
                        </a:rPr>
                        <a:t> VCRU </a:t>
                      </a:r>
                      <a:r>
                        <a:rPr lang="en-US" sz="1300" u="none" strike="noStrike" cap="none" dirty="0" err="1">
                          <a:solidFill>
                            <a:schemeClr val="dk1"/>
                          </a:solidFill>
                          <a:latin typeface="Times New Roman"/>
                          <a:ea typeface="Times New Roman"/>
                          <a:cs typeface="Times New Roman"/>
                          <a:sym typeface="Times New Roman"/>
                        </a:rPr>
                        <a:t>và</a:t>
                      </a:r>
                      <a:r>
                        <a:rPr lang="en-US" sz="1300" u="none" strike="noStrike" cap="none" dirty="0">
                          <a:solidFill>
                            <a:schemeClr val="dk1"/>
                          </a:solidFill>
                          <a:latin typeface="Times New Roman"/>
                          <a:ea typeface="Times New Roman"/>
                          <a:cs typeface="Times New Roman"/>
                          <a:sym typeface="Times New Roman"/>
                        </a:rPr>
                        <a:t> controller.</a:t>
                      </a:r>
                      <a:endParaRPr sz="130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err="1">
                          <a:solidFill>
                            <a:schemeClr val="dk1"/>
                          </a:solidFill>
                          <a:latin typeface="Times New Roman"/>
                          <a:ea typeface="Times New Roman"/>
                          <a:cs typeface="Times New Roman"/>
                          <a:sym typeface="Times New Roman"/>
                        </a:rPr>
                        <a:t>Hiện</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chưa</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có</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lịch</a:t>
                      </a:r>
                      <a:r>
                        <a:rPr lang="en-US" sz="1300" dirty="0">
                          <a:solidFill>
                            <a:schemeClr val="dk1"/>
                          </a:solidFill>
                          <a:latin typeface="Times New Roman"/>
                          <a:ea typeface="Times New Roman"/>
                          <a:cs typeface="Times New Roman"/>
                          <a:sym typeface="Times New Roman"/>
                        </a:rPr>
                        <a:t> ship </a:t>
                      </a:r>
                      <a:r>
                        <a:rPr lang="en-US" sz="1300" dirty="0" err="1">
                          <a:solidFill>
                            <a:schemeClr val="dk1"/>
                          </a:solidFill>
                          <a:latin typeface="Times New Roman"/>
                          <a:ea typeface="Times New Roman"/>
                          <a:cs typeface="Times New Roman"/>
                          <a:sym typeface="Times New Roman"/>
                        </a:rPr>
                        <a:t>từ</a:t>
                      </a:r>
                      <a:r>
                        <a:rPr lang="en-US" sz="1300" dirty="0">
                          <a:solidFill>
                            <a:schemeClr val="dk1"/>
                          </a:solidFill>
                          <a:latin typeface="Times New Roman"/>
                          <a:ea typeface="Times New Roman"/>
                          <a:cs typeface="Times New Roman"/>
                          <a:sym typeface="Times New Roman"/>
                        </a:rPr>
                        <a:t> FHS.</a:t>
                      </a:r>
                      <a:endParaRPr sz="1300"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9681276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g31ccdae391d_0_33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52" name="Google Shape;252;g31ccdae391d_0_33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56</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53" name="Google Shape;253;g31ccdae391d_0_339"/>
          <p:cNvSpPr/>
          <p:nvPr/>
        </p:nvSpPr>
        <p:spPr>
          <a:xfrm>
            <a:off x="500990" y="742682"/>
            <a:ext cx="11164800" cy="5718900"/>
          </a:xfrm>
          <a:prstGeom prst="rect">
            <a:avLst/>
          </a:prstGeom>
          <a:noFill/>
          <a:ln>
            <a:noFill/>
          </a:ln>
        </p:spPr>
        <p:txBody>
          <a:bodyPr spcFirstLastPara="1" wrap="square" lIns="91425" tIns="45700" rIns="91425" bIns="45700" anchor="t" anchorCtr="0">
            <a:noAutofit/>
          </a:bodyPr>
          <a:lstStyle/>
          <a:p>
            <a:pPr marL="457200" marR="0" lvl="0" indent="-355600" algn="just" defTabSz="914400" rtl="0" eaLnBrk="1" fontAlgn="auto" latinLnBrk="0" hangingPunct="1">
              <a:lnSpc>
                <a:spcPct val="100000"/>
              </a:lnSpc>
              <a:spcBef>
                <a:spcPts val="0"/>
              </a:spcBef>
              <a:spcAft>
                <a:spcPts val="0"/>
              </a:spcAft>
              <a:buClr>
                <a:srgbClr val="FF0000"/>
              </a:buClr>
              <a:buSzPts val="2000"/>
              <a:buFont typeface="Times New Roman"/>
              <a:buChar char="-"/>
              <a:tabLst/>
              <a:defRPr/>
            </a:pP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Một</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số</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PTVT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cần</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lưu</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ý:</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Một</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số</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thiết</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bị</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pooling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của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OEM Honeywell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liên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quan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hệ</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thống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Chiller (VCRU, Motor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Controler</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vẫn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rất</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dài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914400" marR="0" lvl="0" indent="-330200" algn="just" defTabSz="914400" rtl="0" eaLnBrk="1" fontAlgn="auto" latinLnBrk="0" hangingPunct="1">
              <a:lnSpc>
                <a:spcPct val="100000"/>
              </a:lnSpc>
              <a:spcBef>
                <a:spcPts val="0"/>
              </a:spcBef>
              <a:spcAft>
                <a:spcPts val="0"/>
              </a:spcAft>
              <a:buClr>
                <a:srgbClr val="000000"/>
              </a:buClr>
              <a:buSzPts val="1600"/>
              <a:buFont typeface="Times New Roman"/>
              <a:buChar char="+"/>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EDP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vẫn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hỏng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hóc</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nhiều</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457200" marR="0" lvl="0" indent="-355600" algn="just" defTabSz="914400" rtl="0" eaLnBrk="1" fontAlgn="auto" latinLnBrk="0" hangingPunct="1">
              <a:lnSpc>
                <a:spcPct val="100000"/>
              </a:lnSpc>
              <a:spcBef>
                <a:spcPts val="0"/>
              </a:spcBef>
              <a:spcAft>
                <a:spcPts val="0"/>
              </a:spcAft>
              <a:buClr>
                <a:srgbClr val="FF0000"/>
              </a:buClr>
              <a:buSzPts val="2000"/>
              <a:buFont typeface="Times New Roman"/>
              <a:buChar char="-"/>
              <a:tabLst/>
              <a:defRPr/>
            </a:pP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Hỏng</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hóc</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ảnh</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hưởng</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cần</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lưu</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ý:</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A897- BRK #7 IS DEACTIVATED: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đã</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phanh</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A893 </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F/CTL R INNTER AILERON Y- </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ACT: </a:t>
            </a:r>
            <a:r>
              <a:rPr kumimoji="0" lang="en-US" sz="16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đã</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có</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Servo. </a:t>
            </a: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A893 </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APU </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INOP: EST HAN 14/02.</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pic>
        <p:nvPicPr>
          <p:cNvPr id="254" name="Google Shape;254;g31ccdae391d_0_339"/>
          <p:cNvPicPr preferRelativeResize="0"/>
          <p:nvPr/>
        </p:nvPicPr>
        <p:blipFill>
          <a:blip r:embed="rId3">
            <a:alphaModFix/>
          </a:blip>
          <a:stretch>
            <a:fillRect/>
          </a:stretch>
        </p:blipFill>
        <p:spPr>
          <a:xfrm>
            <a:off x="644500" y="3185416"/>
            <a:ext cx="10933149" cy="1622800"/>
          </a:xfrm>
          <a:prstGeom prst="rect">
            <a:avLst/>
          </a:prstGeom>
          <a:noFill/>
          <a:ln>
            <a:noFill/>
          </a:ln>
        </p:spPr>
      </p:pic>
    </p:spTree>
    <p:extLst>
      <p:ext uri="{BB962C8B-B14F-4D97-AF65-F5344CB8AC3E}">
        <p14:creationId xmlns:p14="http://schemas.microsoft.com/office/powerpoint/2010/main" val="264924650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g31ccdae391d_0_347"/>
          <p:cNvSpPr txBox="1">
            <a:spLocks noGrp="1"/>
          </p:cNvSpPr>
          <p:nvPr>
            <p:ph type="title"/>
          </p:nvPr>
        </p:nvSpPr>
        <p:spPr>
          <a:xfrm>
            <a:off x="276335" y="-18089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ATR</a:t>
            </a:r>
            <a:endParaRPr sz="2800">
              <a:solidFill>
                <a:srgbClr val="FFC000"/>
              </a:solidFill>
              <a:latin typeface="Times New Roman"/>
              <a:ea typeface="Times New Roman"/>
              <a:cs typeface="Times New Roman"/>
              <a:sym typeface="Times New Roman"/>
            </a:endParaRPr>
          </a:p>
        </p:txBody>
      </p:sp>
      <p:sp>
        <p:nvSpPr>
          <p:cNvPr id="261" name="Google Shape;261;g31ccdae391d_0_34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57</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62" name="Google Shape;262;g31ccdae391d_0_347"/>
          <p:cNvGraphicFramePr/>
          <p:nvPr/>
        </p:nvGraphicFramePr>
        <p:xfrm>
          <a:off x="439614" y="221847"/>
          <a:ext cx="11611325" cy="6311045"/>
        </p:xfrm>
        <a:graphic>
          <a:graphicData uri="http://schemas.openxmlformats.org/drawingml/2006/table">
            <a:tbl>
              <a:tblPr>
                <a:noFill/>
              </a:tblPr>
              <a:tblGrid>
                <a:gridCol w="548675">
                  <a:extLst>
                    <a:ext uri="{9D8B030D-6E8A-4147-A177-3AD203B41FA5}">
                      <a16:colId xmlns:a16="http://schemas.microsoft.com/office/drawing/2014/main" val="20000"/>
                    </a:ext>
                  </a:extLst>
                </a:gridCol>
                <a:gridCol w="1774900">
                  <a:extLst>
                    <a:ext uri="{9D8B030D-6E8A-4147-A177-3AD203B41FA5}">
                      <a16:colId xmlns:a16="http://schemas.microsoft.com/office/drawing/2014/main" val="20001"/>
                    </a:ext>
                  </a:extLst>
                </a:gridCol>
                <a:gridCol w="1550950">
                  <a:extLst>
                    <a:ext uri="{9D8B030D-6E8A-4147-A177-3AD203B41FA5}">
                      <a16:colId xmlns:a16="http://schemas.microsoft.com/office/drawing/2014/main" val="20002"/>
                    </a:ext>
                  </a:extLst>
                </a:gridCol>
                <a:gridCol w="2501400">
                  <a:extLst>
                    <a:ext uri="{9D8B030D-6E8A-4147-A177-3AD203B41FA5}">
                      <a16:colId xmlns:a16="http://schemas.microsoft.com/office/drawing/2014/main" val="20003"/>
                    </a:ext>
                  </a:extLst>
                </a:gridCol>
                <a:gridCol w="5235400">
                  <a:extLst>
                    <a:ext uri="{9D8B030D-6E8A-4147-A177-3AD203B41FA5}">
                      <a16:colId xmlns:a16="http://schemas.microsoft.com/office/drawing/2014/main" val="20004"/>
                    </a:ext>
                  </a:extLst>
                </a:gridCol>
              </a:tblGrid>
              <a:tr h="2184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84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Tình trạng</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Blade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R815505-6/-9</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a:solidFill>
                            <a:schemeClr val="dk1"/>
                          </a:solidFill>
                          <a:latin typeface="Times New Roman"/>
                          <a:ea typeface="Times New Roman"/>
                          <a:cs typeface="Times New Roman"/>
                          <a:sym typeface="Times New Roman"/>
                        </a:rPr>
                        <a:t>05</a:t>
                      </a:r>
                      <a:r>
                        <a:rPr lang="en-US" sz="1400" u="none" strike="noStrike" cap="none">
                          <a:solidFill>
                            <a:schemeClr val="dk1"/>
                          </a:solidFill>
                          <a:latin typeface="Times New Roman"/>
                          <a:ea typeface="Times New Roman"/>
                          <a:cs typeface="Times New Roman"/>
                          <a:sym typeface="Times New Roman"/>
                        </a:rPr>
                        <a:t>EA: STK SGN (</a:t>
                      </a:r>
                      <a:r>
                        <a:rPr lang="en-US">
                          <a:solidFill>
                            <a:schemeClr val="dk1"/>
                          </a:solidFill>
                          <a:latin typeface="Times New Roman"/>
                          <a:ea typeface="Times New Roman"/>
                          <a:cs typeface="Times New Roman"/>
                          <a:sym typeface="Times New Roman"/>
                        </a:rPr>
                        <a:t>p/n</a:t>
                      </a:r>
                      <a:r>
                        <a:rPr lang="en-US" sz="1400" u="none" strike="noStrike" cap="none">
                          <a:solidFill>
                            <a:schemeClr val="dk1"/>
                          </a:solidFill>
                          <a:latin typeface="Times New Roman"/>
                          <a:ea typeface="Times New Roman"/>
                          <a:cs typeface="Times New Roman"/>
                          <a:sym typeface="Times New Roman"/>
                        </a:rPr>
                        <a:t> R815505-9)</a:t>
                      </a:r>
                      <a:endParaRPr sz="14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0</a:t>
                      </a:r>
                      <a:r>
                        <a:rPr lang="en-US">
                          <a:latin typeface="Times New Roman"/>
                          <a:ea typeface="Times New Roman"/>
                          <a:cs typeface="Times New Roman"/>
                          <a:sym typeface="Times New Roman"/>
                        </a:rPr>
                        <a:t>1</a:t>
                      </a:r>
                      <a:r>
                        <a:rPr lang="en-US" sz="1400" u="none" strike="noStrike" cap="none">
                          <a:latin typeface="Times New Roman"/>
                          <a:ea typeface="Times New Roman"/>
                          <a:cs typeface="Times New Roman"/>
                          <a:sym typeface="Times New Roman"/>
                        </a:rPr>
                        <a:t>EA</a:t>
                      </a:r>
                      <a:r>
                        <a:rPr lang="en-US">
                          <a:latin typeface="Times New Roman"/>
                          <a:ea typeface="Times New Roman"/>
                          <a:cs typeface="Times New Roman"/>
                          <a:sym typeface="Times New Roman"/>
                        </a:rPr>
                        <a:t> PO: đang vận chuyển từ SIN về</a:t>
                      </a:r>
                      <a:r>
                        <a:rPr lang="en-US" sz="1400" u="none" strike="noStrike" cap="none">
                          <a:latin typeface="Times New Roman"/>
                          <a:ea typeface="Times New Roman"/>
                          <a:cs typeface="Times New Roman"/>
                          <a:sym typeface="Times New Roman"/>
                        </a:rPr>
                        <a:t/>
                      </a:r>
                      <a:br>
                        <a:rPr lang="en-US" sz="1400" u="none" strike="noStrike" cap="none">
                          <a:latin typeface="Times New Roman"/>
                          <a:ea typeface="Times New Roman"/>
                          <a:cs typeface="Times New Roman"/>
                          <a:sym typeface="Times New Roman"/>
                        </a:rPr>
                      </a:br>
                      <a:r>
                        <a:rPr lang="en-US" sz="1400" u="none" strike="noStrike" cap="none">
                          <a:latin typeface="Times New Roman"/>
                          <a:ea typeface="Times New Roman"/>
                          <a:cs typeface="Times New Roman"/>
                          <a:sym typeface="Times New Roman"/>
                        </a:rPr>
                        <a:t>01</a:t>
                      </a:r>
                      <a:r>
                        <a:rPr lang="en-US">
                          <a:latin typeface="Times New Roman"/>
                          <a:ea typeface="Times New Roman"/>
                          <a:cs typeface="Times New Roman"/>
                          <a:sym typeface="Times New Roman"/>
                        </a:rPr>
                        <a:t>EA YO: đang vận chuyển từ Mỹ về</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Hub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815470-2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01PO: Chưa có EDD </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Actuator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815585-7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End Wing-Left </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S5741212100810</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01EA: STK SGN P/N S5741212100810</a:t>
                      </a:r>
                      <a:endParaRPr sz="140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a:t>
                      </a:r>
                      <a:r>
                        <a:rPr lang="en-US">
                          <a:solidFill>
                            <a:schemeClr val="dk1"/>
                          </a:solidFill>
                          <a:latin typeface="Times New Roman"/>
                          <a:ea typeface="Times New Roman"/>
                          <a:cs typeface="Times New Roman"/>
                          <a:sym typeface="Times New Roman"/>
                        </a:rPr>
                        <a:t>1</a:t>
                      </a:r>
                      <a:r>
                        <a:rPr lang="en-US" sz="1400" u="none" strike="noStrike" cap="none">
                          <a:solidFill>
                            <a:schemeClr val="dk1"/>
                          </a:solidFill>
                          <a:latin typeface="Times New Roman"/>
                          <a:ea typeface="Times New Roman"/>
                          <a:cs typeface="Times New Roman"/>
                          <a:sym typeface="Times New Roman"/>
                        </a:rPr>
                        <a:t>EA: STK SGN P/N 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1098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P.E.C</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816332-5-401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a:solidFill>
                            <a:schemeClr val="dk1"/>
                          </a:solidFill>
                          <a:latin typeface="Times New Roman"/>
                          <a:ea typeface="Times New Roman"/>
                          <a:cs typeface="Times New Roman"/>
                          <a:sym typeface="Times New Roman"/>
                        </a:rPr>
                        <a:t>02EA: STK SGN</a:t>
                      </a: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594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MLG Shock Absorber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D23188000-5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Hyd Leak</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STK = 0</a:t>
                      </a:r>
                      <a:br>
                        <a:rPr lang="en-US">
                          <a:solidFill>
                            <a:schemeClr val="dk1"/>
                          </a:solidFill>
                          <a:latin typeface="Times New Roman"/>
                          <a:ea typeface="Times New Roman"/>
                          <a:cs typeface="Times New Roman"/>
                          <a:sym typeface="Times New Roman"/>
                        </a:rPr>
                      </a:br>
                      <a:r>
                        <a:rPr lang="en-US">
                          <a:solidFill>
                            <a:schemeClr val="dk1"/>
                          </a:solidFill>
                          <a:latin typeface="Times New Roman"/>
                          <a:ea typeface="Times New Roman"/>
                          <a:cs typeface="Times New Roman"/>
                          <a:sym typeface="Times New Roman"/>
                        </a:rPr>
                        <a:t>NO ORDER OUTSIDE</a:t>
                      </a: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7428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AFCS Computer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7003974-606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DASH ON ADU; CONNECTOR FOUND LOOSEN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01RO: đang vận chuyển từ Pháp về (hàng đổi)</a:t>
                      </a: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01RO: chưa có thông tin</a:t>
                      </a: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98048595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g31ccdae391d_0_354"/>
          <p:cNvSpPr txBox="1">
            <a:spLocks noGrp="1"/>
          </p:cNvSpPr>
          <p:nvPr>
            <p:ph type="title"/>
          </p:nvPr>
        </p:nvSpPr>
        <p:spPr>
          <a:xfrm>
            <a:off x="276335" y="12391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Phanh, bánh lốp cho các đội bay</a:t>
            </a:r>
            <a:endParaRPr sz="2800">
              <a:solidFill>
                <a:srgbClr val="FFC000"/>
              </a:solidFill>
              <a:latin typeface="Times New Roman"/>
              <a:ea typeface="Times New Roman"/>
              <a:cs typeface="Times New Roman"/>
              <a:sym typeface="Times New Roman"/>
            </a:endParaRPr>
          </a:p>
        </p:txBody>
      </p:sp>
      <p:sp>
        <p:nvSpPr>
          <p:cNvPr id="269" name="Google Shape;269;g31ccdae391d_0_354"/>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58</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70" name="Google Shape;270;g31ccdae391d_0_354"/>
          <p:cNvGraphicFramePr/>
          <p:nvPr/>
        </p:nvGraphicFramePr>
        <p:xfrm>
          <a:off x="392714" y="718223"/>
          <a:ext cx="11570675" cy="5310995"/>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235450">
                  <a:extLst>
                    <a:ext uri="{9D8B030D-6E8A-4147-A177-3AD203B41FA5}">
                      <a16:colId xmlns:a16="http://schemas.microsoft.com/office/drawing/2014/main" val="20001"/>
                    </a:ext>
                  </a:extLst>
                </a:gridCol>
                <a:gridCol w="1470950">
                  <a:extLst>
                    <a:ext uri="{9D8B030D-6E8A-4147-A177-3AD203B41FA5}">
                      <a16:colId xmlns:a16="http://schemas.microsoft.com/office/drawing/2014/main" val="20002"/>
                    </a:ext>
                  </a:extLst>
                </a:gridCol>
                <a:gridCol w="4061500">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2155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55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Giải pháp và kiến nghị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286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Lốp cho các đội bay</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Lốp các loại đủ dự phòng cho khai thác cao </a:t>
                      </a:r>
                      <a:r>
                        <a:rPr lang="en-US">
                          <a:latin typeface="Times New Roman"/>
                          <a:ea typeface="Times New Roman"/>
                          <a:cs typeface="Times New Roman"/>
                          <a:sym typeface="Times New Roman"/>
                        </a:rPr>
                        <a:t>điểm tết.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-Ban QLVT </a:t>
                      </a:r>
                      <a:r>
                        <a:rPr lang="en-US">
                          <a:latin typeface="Times New Roman"/>
                          <a:ea typeface="Times New Roman"/>
                          <a:cs typeface="Times New Roman"/>
                          <a:sym typeface="Times New Roman"/>
                        </a:rPr>
                        <a:t>tiếp tục </a:t>
                      </a:r>
                      <a:r>
                        <a:rPr lang="en-US" sz="1400" u="none" strike="noStrike" cap="none">
                          <a:latin typeface="Times New Roman"/>
                          <a:ea typeface="Times New Roman"/>
                          <a:cs typeface="Times New Roman"/>
                          <a:sym typeface="Times New Roman"/>
                        </a:rPr>
                        <a:t>thúc đẩy lốp về </a:t>
                      </a:r>
                      <a:r>
                        <a:rPr lang="en-US">
                          <a:latin typeface="Times New Roman"/>
                          <a:ea typeface="Times New Roman"/>
                          <a:cs typeface="Times New Roman"/>
                          <a:sym typeface="Times New Roman"/>
                        </a:rPr>
                        <a:t>dự phòng</a:t>
                      </a:r>
                      <a:r>
                        <a:rPr lang="en-US" sz="1400" u="none" strike="noStrike" cap="none">
                          <a:latin typeface="Times New Roman"/>
                          <a:ea typeface="Times New Roman"/>
                          <a:cs typeface="Times New Roman"/>
                          <a:sym typeface="Times New Roman"/>
                        </a:rPr>
                        <a:t> </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48297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cho Đội bay B787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C20648000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Kho có </a:t>
                      </a:r>
                      <a:r>
                        <a:rPr lang="en-US">
                          <a:latin typeface="Times New Roman"/>
                          <a:ea typeface="Times New Roman"/>
                          <a:cs typeface="Times New Roman"/>
                          <a:sym typeface="Times New Roman"/>
                        </a:rPr>
                        <a:t>0e</a:t>
                      </a:r>
                      <a:r>
                        <a:rPr lang="en-US" sz="1400" u="none" strike="noStrike" cap="none">
                          <a:latin typeface="Times New Roman"/>
                          <a:ea typeface="Times New Roman"/>
                          <a:cs typeface="Times New Roman"/>
                          <a:sym typeface="Times New Roman"/>
                        </a:rPr>
                        <a:t>a dự phòng. </a:t>
                      </a:r>
                      <a:r>
                        <a:rPr lang="en-US">
                          <a:latin typeface="Times New Roman"/>
                          <a:ea typeface="Times New Roman"/>
                          <a:cs typeface="Times New Roman"/>
                          <a:sym typeface="Times New Roman"/>
                        </a:rPr>
                        <a:t>Dự kiến</a:t>
                      </a:r>
                      <a:r>
                        <a:rPr lang="en-US" sz="1400" u="none" strike="noStrike" cap="none">
                          <a:latin typeface="Times New Roman"/>
                          <a:ea typeface="Times New Roman"/>
                          <a:cs typeface="Times New Roman"/>
                          <a:sym typeface="Times New Roman"/>
                        </a:rPr>
                        <a:t> 0</a:t>
                      </a:r>
                      <a:r>
                        <a:rPr lang="en-US">
                          <a:latin typeface="Times New Roman"/>
                          <a:ea typeface="Times New Roman"/>
                          <a:cs typeface="Times New Roman"/>
                          <a:sym typeface="Times New Roman"/>
                        </a:rPr>
                        <a:t>2ea về trong tuần 07.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Ban QLVT đang làm việc với Safran thúc đẩy</a:t>
                      </a:r>
                      <a:r>
                        <a:rPr lang="en-US" sz="1400" u="none" strike="noStrike" cap="none">
                          <a:latin typeface="Times New Roman"/>
                          <a:ea typeface="Times New Roman"/>
                          <a:cs typeface="Times New Roman"/>
                          <a:sym typeface="Times New Roman"/>
                        </a:rPr>
                        <a:t> các </a:t>
                      </a:r>
                      <a:r>
                        <a:rPr lang="en-US" sz="1400" b="0" i="0" u="none" strike="noStrike" cap="none">
                          <a:solidFill>
                            <a:srgbClr val="000000"/>
                          </a:solidFill>
                          <a:latin typeface="Times New Roman"/>
                          <a:ea typeface="Times New Roman"/>
                          <a:cs typeface="Times New Roman"/>
                          <a:sym typeface="Times New Roman"/>
                        </a:rPr>
                        <a:t>cụm phanh đang sửa chữa về</a:t>
                      </a:r>
                      <a:r>
                        <a:rPr lang="en-US" sz="1400" u="none" strike="noStrike" cap="none">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Tần suất thay phanh B787 đang gia tăng, Ban QLVT đã đề nghị Ban KT và VAECO cập nhật kế hoạch thay phanh cho 3 tháng tới  và rà soát làm stagger </a:t>
                      </a:r>
                      <a:r>
                        <a:rPr lang="en-US" sz="1400" u="none" strike="noStrike" cap="none">
                          <a:solidFill>
                            <a:schemeClr val="dk1"/>
                          </a:solidFill>
                          <a:latin typeface="Times New Roman"/>
                          <a:ea typeface="Times New Roman"/>
                          <a:cs typeface="Times New Roman"/>
                          <a:sym typeface="Times New Roman"/>
                        </a:rPr>
                        <a:t>để tránh tình trạng thay phanh hàng loạt</a:t>
                      </a:r>
                      <a:r>
                        <a:rPr lang="en-US">
                          <a:solidFill>
                            <a:schemeClr val="dk1"/>
                          </a:solidFill>
                          <a:latin typeface="Times New Roman"/>
                          <a:ea typeface="Times New Roman"/>
                          <a:cs typeface="Times New Roman"/>
                          <a:sym typeface="Times New Roman"/>
                        </a:rPr>
                        <a:t> những</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1224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A350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2-1756-1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Kho có 04 ea dự phòng.</a:t>
                      </a:r>
                      <a:endParaRPr sz="1400" u="none" strike="noStrike" cap="none">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Times New Roman"/>
                          <a:ea typeface="Times New Roman"/>
                          <a:cs typeface="Times New Roman"/>
                          <a:sym typeface="Times New Roman"/>
                        </a:rPr>
                        <a:t> - Tần suất thay phanh A350 đang gia tăng rất nhanh, Ban QLVT đã đề nghị Ban KT và VAECO cập nhật kế hoạch thay phanh cho 3 tháng tới và rà soát làm stagger để tránh tình trạng thay phanh hàng loạt.</a:t>
                      </a:r>
                      <a:r>
                        <a:rPr lang="en-US" sz="1400" u="none" strike="noStrike" cap="none">
                          <a:latin typeface="Times New Roman"/>
                          <a:ea typeface="Times New Roman"/>
                          <a:cs typeface="Times New Roman"/>
                          <a:sym typeface="Times New Roman"/>
                        </a:rPr>
                        <a:t/>
                      </a:r>
                      <a:br>
                        <a:rPr lang="en-US" sz="1400" u="none" strike="noStrike" cap="none">
                          <a:latin typeface="Times New Roman"/>
                          <a:ea typeface="Times New Roman"/>
                          <a:cs typeface="Times New Roman"/>
                          <a:sym typeface="Times New Roman"/>
                        </a:rPr>
                      </a:b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4360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A321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C20534100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Kho có </a:t>
                      </a:r>
                      <a:r>
                        <a:rPr lang="en-US">
                          <a:latin typeface="Times New Roman"/>
                          <a:ea typeface="Times New Roman"/>
                          <a:cs typeface="Times New Roman"/>
                          <a:sym typeface="Times New Roman"/>
                        </a:rPr>
                        <a:t>03 </a:t>
                      </a:r>
                      <a:r>
                        <a:rPr lang="en-US" sz="1400" u="none" strike="noStrike" cap="none">
                          <a:latin typeface="Times New Roman"/>
                          <a:ea typeface="Times New Roman"/>
                          <a:cs typeface="Times New Roman"/>
                          <a:sym typeface="Times New Roman"/>
                        </a:rPr>
                        <a:t>ea</a:t>
                      </a:r>
                      <a:r>
                        <a:rPr lang="en-US" sz="1400" u="none" strike="noStrike" cap="none">
                          <a:solidFill>
                            <a:schemeClr val="dk1"/>
                          </a:solidFill>
                          <a:latin typeface="Times New Roman"/>
                          <a:ea typeface="Times New Roman"/>
                          <a:cs typeface="Times New Roman"/>
                          <a:sym typeface="Times New Roman"/>
                        </a:rPr>
                        <a:t> dự phòng</a:t>
                      </a:r>
                      <a:r>
                        <a:rPr lang="en-US">
                          <a:solidFill>
                            <a:schemeClr val="dk1"/>
                          </a:solidFill>
                          <a:latin typeface="Times New Roman"/>
                          <a:ea typeface="Times New Roman"/>
                          <a:cs typeface="Times New Roman"/>
                          <a:sym typeface="Times New Roman"/>
                        </a:rPr>
                        <a:t>, dự kiến 10ea ra shop trong tuần 07.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r>
                        <a:rPr lang="en-US" sz="1400" u="none" strike="noStrike" cap="none">
                          <a:latin typeface="Times New Roman"/>
                          <a:ea typeface="Times New Roman"/>
                          <a:cs typeface="Times New Roman"/>
                          <a:sym typeface="Times New Roman"/>
                        </a:rPr>
                        <a:t>Ban QLVT đang tiếp tục  thúc đẩy các heat sink A321 về để phục vụ bảo dưỡng phanh A321.</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a:t>
                      </a:r>
                      <a:r>
                        <a:rPr lang="en-US" sz="1400" u="none" strike="noStrike" cap="none">
                          <a:solidFill>
                            <a:schemeClr val="dk1"/>
                          </a:solidFill>
                          <a:latin typeface="Times New Roman"/>
                          <a:ea typeface="Times New Roman"/>
                          <a:cs typeface="Times New Roman"/>
                          <a:sym typeface="Times New Roman"/>
                        </a:rPr>
                        <a:t>Ban QLVT đã đề nghị Ban KT và VAECO cập nhật kế hoạch làm stagger phanh A321 tránh việc thay phanh hàng loạt.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65801328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g31ccdae391d_0_361"/>
          <p:cNvSpPr txBox="1">
            <a:spLocks noGrp="1"/>
          </p:cNvSpPr>
          <p:nvPr>
            <p:ph type="title"/>
          </p:nvPr>
        </p:nvSpPr>
        <p:spPr>
          <a:xfrm>
            <a:off x="913579" y="37903"/>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77" name="Google Shape;277;g31ccdae391d_0_36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59</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78" name="Google Shape;278;g31ccdae391d_0_361"/>
          <p:cNvSpPr/>
          <p:nvPr/>
        </p:nvSpPr>
        <p:spPr>
          <a:xfrm>
            <a:off x="609900" y="801438"/>
            <a:ext cx="10972200" cy="66267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1" i="0" u="none" strike="noStrike" kern="0" cap="none" spc="0" normalizeH="0" baseline="0" noProof="0" dirty="0">
                <a:ln>
                  <a:noFill/>
                </a:ln>
                <a:solidFill>
                  <a:srgbClr val="FF0000"/>
                </a:solidFill>
                <a:effectLst/>
                <a:highlight>
                  <a:srgbClr val="FFFFFF"/>
                </a:highlight>
                <a:uLnTx/>
                <a:uFillTx/>
                <a:latin typeface="Times New Roman"/>
                <a:ea typeface="Times New Roman"/>
                <a:cs typeface="Times New Roman"/>
                <a:sym typeface="Times New Roman"/>
              </a:rPr>
              <a:t>Đội bay A350:</a:t>
            </a:r>
            <a:endParaRPr kumimoji="0" sz="1500" b="1" i="0" u="none" strike="noStrike" kern="0" cap="none" spc="0" normalizeH="0" baseline="0" noProof="0" dirty="0">
              <a:ln>
                <a:noFill/>
              </a:ln>
              <a:solidFill>
                <a:srgbClr val="FF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phòng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03ea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dài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hạn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&amp; 03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ngắn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hạn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+ 01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new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giao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HAN 22/01).</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trong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kho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shop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chữa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06ea (03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21047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21043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21317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N3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02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21422 &amp; 21316 &amp; 21201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HAESL). </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Tháng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smtClean="0">
                <a:ln>
                  <a:noFill/>
                </a:ln>
                <a:solidFill>
                  <a:srgbClr val="000000"/>
                </a:solidFill>
                <a:effectLst/>
                <a:highlight>
                  <a:srgbClr val="FFFFFF"/>
                </a:highlight>
                <a:uLnTx/>
                <a:uFillTx/>
                <a:latin typeface="Times New Roman"/>
                <a:ea typeface="Times New Roman"/>
                <a:cs typeface="Times New Roman"/>
                <a:sym typeface="Times New Roman"/>
              </a:rPr>
              <a:t>1 </a:t>
            </a:r>
            <a:r>
              <a:rPr kumimoji="0" lang="en-US" sz="1500" b="0" i="0" u="none" strike="noStrike" kern="0" cap="none" spc="0" normalizeH="0" baseline="0" noProof="0" dirty="0" err="1" smtClean="0">
                <a:ln>
                  <a:noFill/>
                </a:ln>
                <a:solidFill>
                  <a:srgbClr val="000000"/>
                </a:solidFill>
                <a:effectLst/>
                <a:highlight>
                  <a:srgbClr val="FFFFFF"/>
                </a:highlight>
                <a:uLnTx/>
                <a:uFillTx/>
                <a:latin typeface="Times New Roman"/>
                <a:ea typeface="Times New Roman"/>
                <a:cs typeface="Times New Roman"/>
                <a:sym typeface="Times New Roman"/>
              </a:rPr>
              <a:t>thêm</a:t>
            </a:r>
            <a:r>
              <a:rPr kumimoji="0" lang="en-US" sz="1500" b="0" i="0" u="none" strike="noStrike" kern="0" cap="none" spc="0" normalizeH="0" baseline="0" noProof="0" dirty="0" smtClean="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02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induction (01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HAESL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01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SEASL).</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Đã</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xếp</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chuyển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01 core engine stand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từ</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N3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về</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để</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swap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tháo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tiếp</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gửi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shop.</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1" i="0" u="none" strike="noStrike" kern="0" cap="none" spc="0" normalizeH="0" baseline="0" noProof="0" dirty="0">
                <a:ln>
                  <a:noFill/>
                </a:ln>
                <a:solidFill>
                  <a:srgbClr val="FF0000"/>
                </a:solidFill>
                <a:effectLst/>
                <a:highlight>
                  <a:srgbClr val="FFFFFF"/>
                </a:highlight>
                <a:uLnTx/>
                <a:uFillTx/>
                <a:latin typeface="Times New Roman"/>
                <a:ea typeface="Times New Roman"/>
                <a:cs typeface="Times New Roman"/>
                <a:sym typeface="Times New Roman"/>
              </a:rPr>
              <a:t>- Đội bay B787:</a:t>
            </a:r>
            <a:endParaRPr kumimoji="0" sz="1500" b="1" i="0" u="none" strike="noStrike" kern="0" cap="none" spc="0" normalizeH="0" baseline="0" noProof="0" dirty="0">
              <a:ln>
                <a:noFill/>
              </a:ln>
              <a:solidFill>
                <a:srgbClr val="FF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phòng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07ea (2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sở</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hữu</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dài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hạn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ngắn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smtClean="0">
                <a:ln>
                  <a:noFill/>
                </a:ln>
                <a:solidFill>
                  <a:srgbClr val="000000"/>
                </a:solidFill>
                <a:effectLst/>
                <a:highlight>
                  <a:srgbClr val="FFFFFF"/>
                </a:highlight>
                <a:uLnTx/>
                <a:uFillTx/>
                <a:latin typeface="Times New Roman"/>
                <a:ea typeface="Times New Roman"/>
                <a:cs typeface="Times New Roman"/>
                <a:sym typeface="Times New Roman"/>
              </a:rPr>
              <a:t>hạn</a:t>
            </a:r>
            <a:r>
              <a:rPr kumimoji="0" lang="en-US" sz="1500" b="0" i="0" u="none" strike="noStrike" kern="0" cap="none" spc="0" normalizeH="0" baseline="0" noProof="0" dirty="0" smtClean="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đã</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ký</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thêm</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02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đc</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với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Aercap</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trong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kho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NIL</a:t>
            </a:r>
            <a:endParaRPr kumimoji="0" sz="1500" b="1"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shop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chữa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+05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ở KLM shop : 956556, 956569, 956533, 956599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956947.</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+02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ở GE shop :958398 (delay in GEEVES), 958537. </a:t>
            </a:r>
            <a:endParaRPr kumimoji="0" sz="1500" b="0" i="0" u="none" strike="noStrike" kern="0" cap="none" spc="0" normalizeH="0" baseline="0" noProof="0" dirty="0">
              <a:ln>
                <a:noFill/>
              </a:ln>
              <a:solidFill>
                <a:srgbClr val="000000"/>
              </a:solidFill>
              <a:effectLst/>
              <a:highlight>
                <a:srgbClr val="FFFF00"/>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đáp</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ứng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KH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2024-2025: B787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có</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04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phòng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05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của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Aercap</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(956933; 958266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958934 958966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956626)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kiến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cần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01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nữa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Q1 trong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năm</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2025.  </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211236189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g31ccdae391d_0_368"/>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85" name="Google Shape;285;g31ccdae391d_0_36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60</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86" name="Google Shape;286;g31ccdae391d_0_368"/>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 Đội bay A321 Ceo:</a:t>
            </a: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dự phòng: 13 (3 sở hữu, 10 thuê ngắn hạn)</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trong kho: 01ea V17951</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US chờ chuyển đi: 04ea gồm V15858 (dk 9/2 ship đi MTUZ), V16517 (dk 13/2 ship đi AMECO), V17403(dk 14/2 ship đi MTUZ), V16694 (dk 9/2 ship đi MTUZ) -  HAN</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động cơ đang sửa tại shop: 08ea</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Động cơ thuê đang hoàn tất thủ tục hoàn trả đối tác: V12175 (WILLIS) - đã giao WILLIS 18/11/2024, V18951- đã giao WILLIS 6/1/2025, đang hoàn thiện thủ tục</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a:t>
            </a:r>
            <a:r>
              <a:rPr kumimoji="0" lang="en-US"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Vướng mắc:</a:t>
            </a: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Danh mục missing part list của động cơ sửa chữa về</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a:t>
            </a:r>
            <a:r>
              <a:rPr kumimoji="0" lang="en-US"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Giải pháp:</a:t>
            </a: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Thúc đẩy việc sửa chữa động cơ tại shop</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Làm việc với Ban KT về KH động cơ về, tháo trả.</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216644932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g31ccdae391d_0_375"/>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93" name="Google Shape;293;g31ccdae391d_0_37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61</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94" name="Google Shape;294;g31ccdae391d_0_375"/>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 Tình trạng trả động cơ thuê 2024</a:t>
            </a: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pic>
        <p:nvPicPr>
          <p:cNvPr id="295" name="Google Shape;295;g31ccdae391d_0_375"/>
          <p:cNvPicPr preferRelativeResize="0"/>
          <p:nvPr/>
        </p:nvPicPr>
        <p:blipFill>
          <a:blip r:embed="rId3">
            <a:alphaModFix/>
          </a:blip>
          <a:stretch>
            <a:fillRect/>
          </a:stretch>
        </p:blipFill>
        <p:spPr>
          <a:xfrm>
            <a:off x="657450" y="1476113"/>
            <a:ext cx="11178450" cy="3718536"/>
          </a:xfrm>
          <a:prstGeom prst="rect">
            <a:avLst/>
          </a:prstGeom>
          <a:noFill/>
          <a:ln>
            <a:noFill/>
          </a:ln>
        </p:spPr>
      </p:pic>
    </p:spTree>
    <p:extLst>
      <p:ext uri="{BB962C8B-B14F-4D97-AF65-F5344CB8AC3E}">
        <p14:creationId xmlns:p14="http://schemas.microsoft.com/office/powerpoint/2010/main" val="173787049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g31ccdae391d_0_38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62</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302" name="Google Shape;302;g31ccdae391d_0_383"/>
          <p:cNvSpPr/>
          <p:nvPr/>
        </p:nvSpPr>
        <p:spPr>
          <a:xfrm>
            <a:off x="576275" y="228600"/>
            <a:ext cx="11051100" cy="6059400"/>
          </a:xfrm>
          <a:prstGeom prst="rect">
            <a:avLst/>
          </a:prstGeom>
          <a:noFill/>
          <a:ln>
            <a:noFill/>
          </a:ln>
        </p:spPr>
        <p:txBody>
          <a:bodyPr spcFirstLastPara="1" wrap="square" lIns="91425" tIns="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 Đội bay A321 Neo:</a:t>
            </a:r>
            <a:endParaRPr kumimoji="0" sz="15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dự phòng: 05ea (2 sở hữu (đang SLB), 2 dài hạn và 01 thuê ngắn hạn thuê của PW).</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trong kho: NIL.</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động cơ sửa chữa: có 8 động cơ đang sửa (06 tại ESA và 02 tại IHI)</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Trong đó: </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P771373:  Thiếu hụt khí tài. Dự kiến Induct tại IHI lùi xuống 18/2/2025.</a:t>
            </a:r>
            <a:b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b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P771414: Dự kiến 08/02 giao VAECO HAN</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P770903: Thiếu hụt khí tài gây ảnh hưởng TAT. Đang tiến hành collect vận chuyển gửi shop trước G3. </a:t>
            </a:r>
            <a:b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br>
            <a:endParaRPr kumimoji="0"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Vướng mắc:</a:t>
            </a:r>
            <a:endParaRPr kumimoji="0"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TAT tại shop kéo dài, hiện do shop quá tải các động cơ tháo cung phải đợi slot lên đến 200 ngày.</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Các động cơ A321 NEO tháo đi sửa trước đây không có đc lắp lên, khi tháo trả đc thuê thiếu nhiều LRUs đang đi cùng đc sửa.</a:t>
            </a:r>
            <a:b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b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Khoảng thời gian cao điểm nghỉ lễ, thiếu hụt phụ tùng vật liệu, sự gia tăng các lỗi Rejection trong kiểm tra sau thử nghiệm.</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Giải pháp:</a:t>
            </a:r>
            <a:endParaRPr kumimoji="0"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Thúc đẩy động cơ sửa chữa tại shop.</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Tổ chức họp và tìm giải pháp với Ban KT, VAECO với danh mục MPL đc tháo khi gửi đi sửa.</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426527822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g31ccdae391d_0_38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63</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309" name="Google Shape;309;g31ccdae391d_0_389"/>
          <p:cNvSpPr/>
          <p:nvPr/>
        </p:nvSpPr>
        <p:spPr>
          <a:xfrm>
            <a:off x="652475" y="-304800"/>
            <a:ext cx="11051100" cy="73638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500" b="1" i="0" u="sng"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1" i="0" u="sng"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Đội bay ATR:</a:t>
            </a:r>
            <a:endParaRPr kumimoji="0"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dự phòng: 06:  03 ENG sở hữu, 03 ENG thuê ngắn hạn: (ED0321) (ED0036) (ED0715). </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ED0238 đang sửa tại shop PWC tại SING.</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ED0239 đang sửa tại SA.</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Vướng mắc/ Khó khăn:</a:t>
            </a:r>
            <a:endParaRPr kumimoji="0"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Các shop vẫn đang gặp trình trạng thiếu part, dẫn đến TAT bị kéo dài tại cả 02 shop</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Giải pháp:</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Tiếp tục theo sát các động cơ đang sửa chữa tại PWC và StandardAero.</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1" i="0" u="sng"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1" i="0" u="sng"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pic>
        <p:nvPicPr>
          <p:cNvPr id="310" name="Google Shape;310;g31ccdae391d_0_389"/>
          <p:cNvPicPr preferRelativeResize="0"/>
          <p:nvPr/>
        </p:nvPicPr>
        <p:blipFill>
          <a:blip r:embed="rId3">
            <a:alphaModFix/>
          </a:blip>
          <a:stretch>
            <a:fillRect/>
          </a:stretch>
        </p:blipFill>
        <p:spPr>
          <a:xfrm>
            <a:off x="285225" y="2512693"/>
            <a:ext cx="11621550" cy="2935556"/>
          </a:xfrm>
          <a:prstGeom prst="rect">
            <a:avLst/>
          </a:prstGeom>
          <a:noFill/>
          <a:ln>
            <a:noFill/>
          </a:ln>
        </p:spPr>
      </p:pic>
    </p:spTree>
    <p:extLst>
      <p:ext uri="{BB962C8B-B14F-4D97-AF65-F5344CB8AC3E}">
        <p14:creationId xmlns:p14="http://schemas.microsoft.com/office/powerpoint/2010/main" val="1813698701"/>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g31ccdae391d_0_396"/>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Kế hoạch động cơ </a:t>
            </a:r>
            <a:endParaRPr sz="2800">
              <a:solidFill>
                <a:srgbClr val="FFC000"/>
              </a:solidFill>
              <a:latin typeface="Times New Roman"/>
              <a:ea typeface="Times New Roman"/>
              <a:cs typeface="Times New Roman"/>
              <a:sym typeface="Times New Roman"/>
            </a:endParaRPr>
          </a:p>
        </p:txBody>
      </p:sp>
      <p:sp>
        <p:nvSpPr>
          <p:cNvPr id="317" name="Google Shape;317;g31ccdae391d_0_396"/>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64</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318" name="Google Shape;318;g31ccdae391d_0_396"/>
          <p:cNvSpPr/>
          <p:nvPr/>
        </p:nvSpPr>
        <p:spPr>
          <a:xfrm>
            <a:off x="609900" y="268038"/>
            <a:ext cx="10972200" cy="66267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A350: </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NIL stock.</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914400" marR="0" lvl="0" indent="0" algn="just" defTabSz="914400" rtl="0" eaLnBrk="1" fontAlgn="auto" latinLnBrk="0" hangingPunct="1">
              <a:lnSpc>
                <a:spcPct val="115000"/>
              </a:lnSpc>
              <a:spcBef>
                <a:spcPts val="0"/>
              </a:spcBef>
              <a:spcAft>
                <a:spcPts val="0"/>
              </a:spcAft>
              <a:buClr>
                <a:srgbClr val="000000"/>
              </a:buClr>
              <a:buSzTx/>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B787:</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01 in stock (958541).</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956537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GE_CAL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xong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16/02</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956556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KLM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xong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cuối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3/2025</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A321 CEO </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trong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2: V15851 (12/02/2025).</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l"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A321 NEO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r>
            <a:b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br>
            <a:r>
              <a:rPr kumimoji="0" lang="en-US" sz="15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P771414: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giao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VAECO HAN 08/02 </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91440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ATR:</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01 stock (ED0192).</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+ED0239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StandardAero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release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09/04/2025</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+ED0238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PWC: induct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24/01/2025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chưa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400493764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g31ccdae391d_0_403"/>
          <p:cNvSpPr txBox="1">
            <a:spLocks noGrp="1"/>
          </p:cNvSpPr>
          <p:nvPr>
            <p:ph type="title"/>
          </p:nvPr>
        </p:nvSpPr>
        <p:spPr>
          <a:xfrm>
            <a:off x="372775" y="0"/>
            <a:ext cx="9759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APU</a:t>
            </a:r>
            <a:endParaRPr sz="2800">
              <a:solidFill>
                <a:srgbClr val="FFC000"/>
              </a:solidFill>
              <a:latin typeface="Times New Roman"/>
              <a:ea typeface="Times New Roman"/>
              <a:cs typeface="Times New Roman"/>
              <a:sym typeface="Times New Roman"/>
            </a:endParaRPr>
          </a:p>
        </p:txBody>
      </p:sp>
      <p:sp>
        <p:nvSpPr>
          <p:cNvPr id="325" name="Google Shape;325;g31ccdae391d_0_403"/>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65</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326" name="Google Shape;326;g31ccdae391d_0_403"/>
          <p:cNvSpPr txBox="1"/>
          <p:nvPr/>
        </p:nvSpPr>
        <p:spPr>
          <a:xfrm>
            <a:off x="7059775" y="425750"/>
            <a:ext cx="4085700" cy="5445000"/>
          </a:xfrm>
          <a:prstGeom prst="rect">
            <a:avLst/>
          </a:prstGeom>
          <a:noFill/>
          <a:ln>
            <a:noFill/>
          </a:ln>
        </p:spPr>
        <p:txBody>
          <a:bodyPr spcFirstLastPara="1" wrap="square" lIns="91425" tIns="91425" rIns="91425" bIns="91425" anchor="t" anchorCtr="0">
            <a:spAutoFit/>
          </a:bodyPr>
          <a:lstStyle/>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APU A321 </a:t>
            </a:r>
            <a:endParaRPr kumimoji="0"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700"/>
              <a:buFont typeface="Arial"/>
              <a:buNone/>
              <a:tabLst/>
              <a:defRPr/>
            </a:pPr>
            <a:r>
              <a:rPr kumimoji="0" lang="en-US"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STK:  02 APU tại HAN. </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400"/>
              <a:buFont typeface="Arial"/>
              <a:buNone/>
              <a:tabLst/>
              <a:defRPr/>
            </a:pP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Tháng 2: dk 01ea về HAN.</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APU A350</a:t>
            </a: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STK: NIL.</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+ 01 APU đang sửa chữa tai shop Lufth. (P-00255)</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APU P-00124 dự kiến về HAN ngày 14/02/2025 về thay cho A893.</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+LUTH đang gặp tình trạng khó khăn trong chuỗi cung ứng nên chưa confirm được ngày về của APU P-00255.</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APU B787 </a:t>
            </a: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STK: 0 APU</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+ 02 APU đang sửa tại shop PW Poland, trong đó 01ea ( HSC-E1525371PL) dự kiến giao SGN 15/02 dùng thay cho A873.</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+01 EA PWC gặp tình trạng kho khăn trong chuỗi cung ứng nên chưa confirm được ngày dk về.</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pic>
        <p:nvPicPr>
          <p:cNvPr id="327" name="Google Shape;327;g31ccdae391d_0_403"/>
          <p:cNvPicPr preferRelativeResize="0"/>
          <p:nvPr/>
        </p:nvPicPr>
        <p:blipFill>
          <a:blip r:embed="rId3">
            <a:alphaModFix/>
          </a:blip>
          <a:stretch>
            <a:fillRect/>
          </a:stretch>
        </p:blipFill>
        <p:spPr>
          <a:xfrm>
            <a:off x="499775" y="528925"/>
            <a:ext cx="6361744" cy="6057899"/>
          </a:xfrm>
          <a:prstGeom prst="rect">
            <a:avLst/>
          </a:prstGeom>
          <a:noFill/>
          <a:ln>
            <a:noFill/>
          </a:ln>
        </p:spPr>
      </p:pic>
    </p:spTree>
    <p:extLst>
      <p:ext uri="{BB962C8B-B14F-4D97-AF65-F5344CB8AC3E}">
        <p14:creationId xmlns:p14="http://schemas.microsoft.com/office/powerpoint/2010/main" val="1076231878"/>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8" descr="A blue background with yellow lines&#10;&#10;Description automatically generated"/>
          <p:cNvPicPr preferRelativeResize="0"/>
          <p:nvPr/>
        </p:nvPicPr>
        <p:blipFill rotWithShape="1">
          <a:blip r:embed="rId3">
            <a:alphaModFix/>
          </a:blip>
          <a:srcRect/>
          <a:stretch/>
        </p:blipFill>
        <p:spPr>
          <a:xfrm>
            <a:off x="0" y="1"/>
            <a:ext cx="12192000" cy="6972300"/>
          </a:xfrm>
          <a:prstGeom prst="rect">
            <a:avLst/>
          </a:prstGeom>
          <a:noFill/>
          <a:ln>
            <a:noFill/>
          </a:ln>
        </p:spPr>
      </p:pic>
      <p:sp>
        <p:nvSpPr>
          <p:cNvPr id="107" name="Google Shape;107;p8"/>
          <p:cNvSpPr txBox="1"/>
          <p:nvPr/>
        </p:nvSpPr>
        <p:spPr>
          <a:xfrm>
            <a:off x="1051901" y="2781528"/>
            <a:ext cx="6795451" cy="2800726"/>
          </a:xfrm>
          <a:prstGeom prst="rect">
            <a:avLst/>
          </a:prstGeom>
          <a:noFill/>
          <a:ln>
            <a:noFill/>
          </a:ln>
        </p:spPr>
        <p:txBody>
          <a:bodyPr spcFirstLastPara="1" wrap="square" lIns="91433" tIns="45700" rIns="91433" bIns="45700" anchor="t" anchorCtr="0">
            <a:spAutoFit/>
          </a:bodyPr>
          <a:lstStyle/>
          <a:p>
            <a:r>
              <a:rPr lang="vi" sz="8800" b="1" i="1">
                <a:solidFill>
                  <a:schemeClr val="lt1"/>
                </a:solidFill>
                <a:latin typeface="Montserrat SemiBold"/>
                <a:ea typeface="Montserrat SemiBold"/>
                <a:cs typeface="Montserrat SemiBold"/>
                <a:sym typeface="Montserrat SemiBold"/>
              </a:rPr>
              <a:t>THANK YOU</a:t>
            </a:r>
            <a:endParaRPr sz="8800" b="1" i="1">
              <a:solidFill>
                <a:schemeClr val="lt1"/>
              </a:solidFill>
              <a:latin typeface="Montserrat SemiBold"/>
              <a:ea typeface="Montserrat SemiBold"/>
              <a:cs typeface="Montserrat SemiBold"/>
              <a:sym typeface="Montserrat SemiBold"/>
            </a:endParaRPr>
          </a:p>
        </p:txBody>
      </p:sp>
      <p:sp>
        <p:nvSpPr>
          <p:cNvPr id="108" name="Google Shape;108;p8"/>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66</a:t>
            </a:fld>
            <a:endParaRPr/>
          </a:p>
        </p:txBody>
      </p:sp>
    </p:spTree>
    <p:extLst>
      <p:ext uri="{BB962C8B-B14F-4D97-AF65-F5344CB8AC3E}">
        <p14:creationId xmlns:p14="http://schemas.microsoft.com/office/powerpoint/2010/main" val="290603841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2.xml><?xml version="1.0" encoding="utf-8"?>
<a:theme xmlns:a="http://schemas.openxmlformats.org/drawingml/2006/main" name="1_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Tahom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4981C"/>
      </a:accent1>
      <a:accent2>
        <a:srgbClr val="212121"/>
      </a:accent2>
      <a:accent3>
        <a:srgbClr val="9CD6DF"/>
      </a:accent3>
      <a:accent4>
        <a:srgbClr val="FFBD0E"/>
      </a:accent4>
      <a:accent5>
        <a:srgbClr val="0097A7"/>
      </a:accent5>
      <a:accent6>
        <a:srgbClr val="DEA610"/>
      </a:accent6>
      <a:hlink>
        <a:srgbClr val="00688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OLD_ID xmlns="e189f61e-1295-4779-a752-040c7fad5177" xsi:nil="true"/>
    <ItemId xmlns="e189f61e-1295-4779-a752-040c7fad5177">0</ItemId>
    <FileName xmlns="e189f61e-1295-4779-a752-040c7fad5177">VNA _ Master template _ 16_9 _ ENG.pptx</FileName>
    <SubLibName xmlns="b6015720-aa74-4be3-ba0d-eab08776cb9b" xsi:nil="true"/>
    <ListName xmlns="e189f61e-1295-4779-a752-040c7fad5177">Com_Notice</ListNam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EF5E1C733973145B1493C5B4700F6CB" ma:contentTypeVersion="5" ma:contentTypeDescription="Create a new document." ma:contentTypeScope="" ma:versionID="312a50383655f8b07477a4ad72a81636">
  <xsd:schema xmlns:xsd="http://www.w3.org/2001/XMLSchema" xmlns:xs="http://www.w3.org/2001/XMLSchema" xmlns:p="http://schemas.microsoft.com/office/2006/metadata/properties" xmlns:ns2="e189f61e-1295-4779-a752-040c7fad5177" xmlns:ns3="b6015720-aa74-4be3-ba0d-eab08776cb9b" targetNamespace="http://schemas.microsoft.com/office/2006/metadata/properties" ma:root="true" ma:fieldsID="5bce5304ba9987326d96874970ac3c5b" ns2:_="" ns3:_="">
    <xsd:import namespace="e189f61e-1295-4779-a752-040c7fad5177"/>
    <xsd:import namespace="b6015720-aa74-4be3-ba0d-eab08776cb9b"/>
    <xsd:element name="properties">
      <xsd:complexType>
        <xsd:sequence>
          <xsd:element name="documentManagement">
            <xsd:complexType>
              <xsd:all>
                <xsd:element ref="ns2:ListName" minOccurs="0"/>
                <xsd:element ref="ns2:ItemId" minOccurs="0"/>
                <xsd:element ref="ns2:FileName" minOccurs="0"/>
                <xsd:element ref="ns2:OLD_ID" minOccurs="0"/>
                <xsd:element ref="ns3:SubLib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89f61e-1295-4779-a752-040c7fad5177" elementFormDefault="qualified">
    <xsd:import namespace="http://schemas.microsoft.com/office/2006/documentManagement/types"/>
    <xsd:import namespace="http://schemas.microsoft.com/office/infopath/2007/PartnerControls"/>
    <xsd:element name="ListName" ma:index="8" nillable="true" ma:displayName="ListName" ma:internalName="ListName">
      <xsd:simpleType>
        <xsd:restriction base="dms:Text">
          <xsd:maxLength value="255"/>
        </xsd:restriction>
      </xsd:simpleType>
    </xsd:element>
    <xsd:element name="ItemId" ma:index="9" nillable="true" ma:displayName="ItemId" ma:internalName="ItemId">
      <xsd:simpleType>
        <xsd:restriction base="dms:Text">
          <xsd:maxLength value="255"/>
        </xsd:restriction>
      </xsd:simpleType>
    </xsd:element>
    <xsd:element name="FileName" ma:index="10" nillable="true" ma:displayName="FileName" ma:internalName="FileName">
      <xsd:simpleType>
        <xsd:restriction base="dms:Text">
          <xsd:maxLength value="255"/>
        </xsd:restriction>
      </xsd:simpleType>
    </xsd:element>
    <xsd:element name="OLD_ID" ma:index="11" nillable="true" ma:displayName="OLD_ID" ma:internalName="OLD_ID">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b6015720-aa74-4be3-ba0d-eab08776cb9b" elementFormDefault="qualified">
    <xsd:import namespace="http://schemas.microsoft.com/office/2006/documentManagement/types"/>
    <xsd:import namespace="http://schemas.microsoft.com/office/infopath/2007/PartnerControls"/>
    <xsd:element name="SubLibName" ma:index="12" nillable="true" ma:displayName="SubLibName" ma:internalName="SubLibNam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B911D9C-B9DB-42A8-B756-3CC928D5245C}">
  <ds:schemaRefs>
    <ds:schemaRef ds:uri="http://schemas.microsoft.com/sharepoint/v3/contenttype/forms"/>
  </ds:schemaRefs>
</ds:datastoreItem>
</file>

<file path=customXml/itemProps2.xml><?xml version="1.0" encoding="utf-8"?>
<ds:datastoreItem xmlns:ds="http://schemas.openxmlformats.org/officeDocument/2006/customXml" ds:itemID="{7CE18D4A-261A-4850-B6EF-E8D1177C057C}">
  <ds:schemaRefs>
    <ds:schemaRef ds:uri="http://www.w3.org/XML/1998/namespace"/>
    <ds:schemaRef ds:uri="http://schemas.microsoft.com/office/2006/documentManagement/types"/>
    <ds:schemaRef ds:uri="http://purl.org/dc/terms/"/>
    <ds:schemaRef ds:uri="e189f61e-1295-4779-a752-040c7fad5177"/>
    <ds:schemaRef ds:uri="http://schemas.openxmlformats.org/package/2006/metadata/core-properties"/>
    <ds:schemaRef ds:uri="http://schemas.microsoft.com/office/2006/metadata/properties"/>
    <ds:schemaRef ds:uri="http://schemas.microsoft.com/office/infopath/2007/PartnerControls"/>
    <ds:schemaRef ds:uri="http://purl.org/dc/elements/1.1/"/>
    <ds:schemaRef ds:uri="b6015720-aa74-4be3-ba0d-eab08776cb9b"/>
    <ds:schemaRef ds:uri="http://purl.org/dc/dcmitype/"/>
  </ds:schemaRefs>
</ds:datastoreItem>
</file>

<file path=customXml/itemProps3.xml><?xml version="1.0" encoding="utf-8"?>
<ds:datastoreItem xmlns:ds="http://schemas.openxmlformats.org/officeDocument/2006/customXml" ds:itemID="{EA328AF4-E0C3-4533-80B7-C0A1C2FFEA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89f61e-1295-4779-a752-040c7fad5177"/>
    <ds:schemaRef ds:uri="b6015720-aa74-4be3-ba0d-eab08776cb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72649</TotalTime>
  <Words>12761</Words>
  <Application>Microsoft Office PowerPoint</Application>
  <PresentationFormat>Widescreen</PresentationFormat>
  <Paragraphs>2631</Paragraphs>
  <Slides>67</Slides>
  <Notes>57</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67</vt:i4>
      </vt:variant>
    </vt:vector>
  </HeadingPairs>
  <TitlesOfParts>
    <vt:vector size="80" baseType="lpstr">
      <vt:lpstr>MS PGothic</vt:lpstr>
      <vt:lpstr>Arial</vt:lpstr>
      <vt:lpstr>Calibri</vt:lpstr>
      <vt:lpstr>Cambria</vt:lpstr>
      <vt:lpstr>Montserrat</vt:lpstr>
      <vt:lpstr>Montserrat SemiBold</vt:lpstr>
      <vt:lpstr>Tahoma</vt:lpstr>
      <vt:lpstr>Times New Roman</vt:lpstr>
      <vt:lpstr>Wingdings</vt:lpstr>
      <vt:lpstr>16-9 MASTER TEMPLATE</vt:lpstr>
      <vt:lpstr>1_16-9 MASTER TEMPLATE</vt:lpstr>
      <vt:lpstr>Office Theme</vt:lpstr>
      <vt:lpstr>Simple Light</vt:lpstr>
      <vt:lpstr>BÁO CÁO KỸ THUẬT (Tuần 06: 03/02/2025 – 09/02/2025)</vt:lpstr>
      <vt:lpstr>TỔNG HỢP AOG, DELAY VÀ GTB/ATB/DIV</vt:lpstr>
      <vt:lpstr>ATB/GTB COMPARISON</vt:lpstr>
      <vt:lpstr>CÁC SỰ KIỆN ATB/GTB/DIV</vt:lpstr>
      <vt:lpstr>CÁC SỰ KIỆN MOR</vt:lpstr>
      <vt:lpstr>PowerPoint Presentation</vt:lpstr>
      <vt:lpstr>TÌNH TRẠNG KỸ THUẬT ĐỘI BAY – A320/A321</vt:lpstr>
      <vt:lpstr>TÌNH TRẠNG KỸ THUẬT ĐỘI BAY – A320/A321</vt:lpstr>
      <vt:lpstr>TÌNH TRẠNG KỸ THUẬT ĐỘI BAY – A320/A321</vt:lpstr>
      <vt:lpstr>TÌNH TRẠNG KỸ THUẬT ĐỘI BAY A320/ A321 </vt:lpstr>
      <vt:lpstr>TÌNH TRẠNG KỸ THUẬT ĐỘI BAY – A350</vt:lpstr>
      <vt:lpstr>TÌNH TRẠNG KỸ THUẬT ĐỘI BAY – A350</vt:lpstr>
      <vt:lpstr>PowerPoint Presentation</vt:lpstr>
      <vt:lpstr>PowerPoint Presentation</vt:lpstr>
      <vt:lpstr>TÌNH TRẠNG KỸ THUẬT ĐỘI BAY – B787</vt:lpstr>
      <vt:lpstr>TÌNH TRẠNG KỸ THUẬT ĐỘI BAY – B787</vt:lpstr>
      <vt:lpstr>PowerPoint Presentation</vt:lpstr>
      <vt:lpstr>PowerPoint Presentation</vt:lpstr>
      <vt:lpstr>TÌNH TRẠNG KỸ THUẬT ĐỘI BAY – ATR72</vt:lpstr>
      <vt:lpstr>TÌNH TRẠNG KỸ THUẬT ĐỘI BAY – ATR72</vt:lpstr>
      <vt:lpstr>TÌNH TRẠNG KỸ THUẬT ĐỘI BAY ATR72 </vt:lpstr>
      <vt:lpstr>Dispatch Reliability W06 (03/02/2025-09/02/2025)</vt:lpstr>
      <vt:lpstr>CÁC CÔNG VIỆC TRỌNG ĐIỂM TRONG TUẦN</vt:lpstr>
      <vt:lpstr>KHẢ NĂNG CUNG ỨNG ĐỘNG CƠ/APU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CÁC TÀU BQDB VÀ ĐANG TRONG BẢO DƯỠNG ĐỊNH KỲ</vt:lpstr>
      <vt:lpstr>PowerPoint Presentation</vt:lpstr>
      <vt:lpstr>PowerPoint Presentation</vt:lpstr>
      <vt:lpstr>PowerPoint Presentation</vt:lpstr>
      <vt:lpstr>PowerPoint Presentation</vt:lpstr>
      <vt:lpstr>NHÂN NHƯỢNG TRONG TUẦN</vt:lpstr>
      <vt:lpstr>Giờ bay trung bình trong tuần các đội tàu</vt:lpstr>
      <vt:lpstr>Số chuyến bay theo ngày trong tuần các đội tàu</vt:lpstr>
      <vt:lpstr>Số chuyến bay khai thác theo ngày</vt:lpstr>
      <vt:lpstr>A321</vt:lpstr>
      <vt:lpstr>A321</vt:lpstr>
      <vt:lpstr>A321</vt:lpstr>
      <vt:lpstr>TÌNH TRẠNG APU LRU A321 </vt:lpstr>
      <vt:lpstr>A321 CÁC VẬT TƯ VƯỚNG MẮC KHÁC</vt:lpstr>
      <vt:lpstr>A321 VƯỚNG MẮC VẬT TƯ VAECO</vt:lpstr>
      <vt:lpstr>B787</vt:lpstr>
      <vt:lpstr>B787</vt:lpstr>
      <vt:lpstr>B787</vt:lpstr>
      <vt:lpstr>A350</vt:lpstr>
      <vt:lpstr>A350</vt:lpstr>
      <vt:lpstr>A350</vt:lpstr>
      <vt:lpstr>ATR</vt:lpstr>
      <vt:lpstr>Phanh, bánh lốp cho các đội bay</vt:lpstr>
      <vt:lpstr>Động cơ</vt:lpstr>
      <vt:lpstr>Động cơ</vt:lpstr>
      <vt:lpstr>Động cơ</vt:lpstr>
      <vt:lpstr>PowerPoint Presentation</vt:lpstr>
      <vt:lpstr>PowerPoint Presentation</vt:lpstr>
      <vt:lpstr>Kế hoạch động cơ </vt:lpstr>
      <vt:lpstr>APU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VNA _ Master template _ 16_9 _ ENG.pptx</dc:title>
  <dc:creator>Vu Chi Thanh-Tech</dc:creator>
  <cp:lastModifiedBy>Vu Chi Thanh</cp:lastModifiedBy>
  <cp:revision>11540</cp:revision>
  <cp:lastPrinted>2019-03-27T09:25:07Z</cp:lastPrinted>
  <dcterms:created xsi:type="dcterms:W3CDTF">2018-12-27T04:50:36Z</dcterms:created>
  <dcterms:modified xsi:type="dcterms:W3CDTF">2025-02-09T15:13:35Z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0x0101002EF5E1C733973145B1493C5B4700F6CB</vt:lpwstr>
  </property>
</Properties>
</file>